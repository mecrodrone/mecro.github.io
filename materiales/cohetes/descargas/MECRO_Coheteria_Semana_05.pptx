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ad4ff6f11904333" /><Relationship Type="http://schemas.openxmlformats.org/officeDocument/2006/relationships/extended-properties" Target="/docProps/app.xml" Id="Rd8d36661c3d54703" /><Relationship Type="http://schemas.openxmlformats.org/officeDocument/2006/relationships/officeDocument" Target="/ppt/presentation.xml" Id="R3a5e7383a71c4aff" /></Relationships>
</file>

<file path=ppt/presentation.xml><?xml version="1.0" encoding="utf-8"?>
<p:presentation xmlns:p="http://schemas.openxmlformats.org/presentationml/2006/main">
  <p:sldMasterIdLst>
    <p:sldMasterId xmlns:r="http://schemas.openxmlformats.org/officeDocument/2006/relationships" id="2147483648" r:id="R6c1b014baeed4e68"/>
  </p:sldMasterIdLst>
  <p:notesMasterIdLst>
    <p:notesMasterId xmlns:r="http://schemas.openxmlformats.org/officeDocument/2006/relationships" r:id="Rd33b288400394808"/>
  </p:notesMasterIdLst>
  <p:sldIdLst>
    <p:sldId xmlns:r="http://schemas.openxmlformats.org/officeDocument/2006/relationships" id="256" r:id="R0cd9072ee8194e85"/>
    <p:sldId xmlns:r="http://schemas.openxmlformats.org/officeDocument/2006/relationships" id="257" r:id="Rfd92061bd58f4028"/>
    <p:sldId xmlns:r="http://schemas.openxmlformats.org/officeDocument/2006/relationships" id="258" r:id="R922841c0c9784c42"/>
    <p:sldId xmlns:r="http://schemas.openxmlformats.org/officeDocument/2006/relationships" id="259" r:id="Rc33dcd44fe604166"/>
    <p:sldId xmlns:r="http://schemas.openxmlformats.org/officeDocument/2006/relationships" id="260" r:id="Ra0146bac4e264876"/>
    <p:sldId xmlns:r="http://schemas.openxmlformats.org/officeDocument/2006/relationships" id="261" r:id="R2e52c44ec5ed42ba"/>
    <p:sldId xmlns:r="http://schemas.openxmlformats.org/officeDocument/2006/relationships" id="262" r:id="Re6445756e1944db4"/>
    <p:sldId xmlns:r="http://schemas.openxmlformats.org/officeDocument/2006/relationships" id="263" r:id="R302828a9988f459c"/>
    <p:sldId xmlns:r="http://schemas.openxmlformats.org/officeDocument/2006/relationships" id="264" r:id="Rc939d6497edf45a5"/>
    <p:sldId xmlns:r="http://schemas.openxmlformats.org/officeDocument/2006/relationships" id="265" r:id="R70eeb686079a44f2"/>
    <p:sldId xmlns:r="http://schemas.openxmlformats.org/officeDocument/2006/relationships" id="266" r:id="Rc50e3a0cb76c4404"/>
    <p:sldId xmlns:r="http://schemas.openxmlformats.org/officeDocument/2006/relationships" id="267" r:id="R01a15ae9dac64023"/>
    <p:sldId xmlns:r="http://schemas.openxmlformats.org/officeDocument/2006/relationships" id="268" r:id="R2fa9d2c03aa143d5"/>
    <p:sldId xmlns:r="http://schemas.openxmlformats.org/officeDocument/2006/relationships" id="269" r:id="R8c9e9d338d0a44d0"/>
    <p:sldId xmlns:r="http://schemas.openxmlformats.org/officeDocument/2006/relationships" id="270" r:id="R5c33a03d59264955"/>
    <p:sldId xmlns:r="http://schemas.openxmlformats.org/officeDocument/2006/relationships" id="271" r:id="Rc54c7ab370854908"/>
    <p:sldId xmlns:r="http://schemas.openxmlformats.org/officeDocument/2006/relationships" id="272" r:id="R820ccbf569194ae2"/>
    <p:sldId xmlns:r="http://schemas.openxmlformats.org/officeDocument/2006/relationships" id="273" r:id="R452b9f03607345d4"/>
    <p:sldId xmlns:r="http://schemas.openxmlformats.org/officeDocument/2006/relationships" id="274" r:id="R78f0ac51a86c4281"/>
    <p:sldId xmlns:r="http://schemas.openxmlformats.org/officeDocument/2006/relationships" id="275" r:id="Rf8f856931a6f41b6"/>
    <p:sldId xmlns:r="http://schemas.openxmlformats.org/officeDocument/2006/relationships" id="276" r:id="Rf5a7807a224440ea"/>
    <p:sldId xmlns:r="http://schemas.openxmlformats.org/officeDocument/2006/relationships" id="277" r:id="R8c36087dccac4368"/>
    <p:sldId xmlns:r="http://schemas.openxmlformats.org/officeDocument/2006/relationships" id="278" r:id="R3737b4477ca645f1"/>
    <p:sldId xmlns:r="http://schemas.openxmlformats.org/officeDocument/2006/relationships" id="279" r:id="Rc539319d80504486"/>
    <p:sldId xmlns:r="http://schemas.openxmlformats.org/officeDocument/2006/relationships" id="280" r:id="R6892f7e5e36447aa"/>
    <p:sldId xmlns:r="http://schemas.openxmlformats.org/officeDocument/2006/relationships" id="281" r:id="Rcf56fb1c829a4920"/>
    <p:sldId xmlns:r="http://schemas.openxmlformats.org/officeDocument/2006/relationships" id="282" r:id="R29766cd8972c4a03"/>
    <p:sldId xmlns:r="http://schemas.openxmlformats.org/officeDocument/2006/relationships" id="283" r:id="R497155bd99dc4a88"/>
    <p:sldId xmlns:r="http://schemas.openxmlformats.org/officeDocument/2006/relationships" id="284" r:id="R980cc145f8ec460f"/>
    <p:sldId xmlns:r="http://schemas.openxmlformats.org/officeDocument/2006/relationships" id="285" r:id="Rf119988c362a48e2"/>
    <p:sldId xmlns:r="http://schemas.openxmlformats.org/officeDocument/2006/relationships" id="286" r:id="R8d592da2005241cb"/>
    <p:sldId xmlns:r="http://schemas.openxmlformats.org/officeDocument/2006/relationships" id="287" r:id="R0312accbe4814dbc"/>
    <p:sldId xmlns:r="http://schemas.openxmlformats.org/officeDocument/2006/relationships" id="288" r:id="R957abe7797024a2e"/>
    <p:sldId xmlns:r="http://schemas.openxmlformats.org/officeDocument/2006/relationships" id="289" r:id="Rfbd0cf498e8546f5"/>
    <p:sldId xmlns:r="http://schemas.openxmlformats.org/officeDocument/2006/relationships" id="290" r:id="R3e232afd3f1c4ec7"/>
    <p:sldId xmlns:r="http://schemas.openxmlformats.org/officeDocument/2006/relationships" id="291" r:id="Re6cc24bdc6f74dd4"/>
    <p:sldId xmlns:r="http://schemas.openxmlformats.org/officeDocument/2006/relationships" id="292" r:id="Rc9ff721438eb4542"/>
    <p:sldId xmlns:r="http://schemas.openxmlformats.org/officeDocument/2006/relationships" id="293" r:id="Rdd795de2b30c4520"/>
    <p:sldId xmlns:r="http://schemas.openxmlformats.org/officeDocument/2006/relationships" id="294" r:id="R6b3e59ec0fe2444e"/>
    <p:sldId xmlns:r="http://schemas.openxmlformats.org/officeDocument/2006/relationships" id="295" r:id="Rd05bcf191d834d1c"/>
    <p:sldId xmlns:r="http://schemas.openxmlformats.org/officeDocument/2006/relationships" id="296" r:id="R2ef1029d0ab74742"/>
    <p:sldId xmlns:r="http://schemas.openxmlformats.org/officeDocument/2006/relationships" id="297" r:id="R52a772edc3784a43"/>
    <p:sldId xmlns:r="http://schemas.openxmlformats.org/officeDocument/2006/relationships" id="298" r:id="R7a21c3bec7da48d1"/>
    <p:sldId xmlns:r="http://schemas.openxmlformats.org/officeDocument/2006/relationships" id="299" r:id="Re9cfb793d7eb4ec4"/>
    <p:sldId xmlns:r="http://schemas.openxmlformats.org/officeDocument/2006/relationships" id="300" r:id="R7454375cb52d4591"/>
    <p:sldId xmlns:r="http://schemas.openxmlformats.org/officeDocument/2006/relationships" id="301" r:id="R3c6ae635e57141d3"/>
    <p:sldId xmlns:r="http://schemas.openxmlformats.org/officeDocument/2006/relationships" id="302" r:id="R115166e3e8444108"/>
    <p:sldId xmlns:r="http://schemas.openxmlformats.org/officeDocument/2006/relationships" id="303" r:id="Rbc2d608ec79649d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b85c052c80a494e" /><Relationship Type="http://schemas.openxmlformats.org/officeDocument/2006/relationships/slideMaster" Target="/ppt/slideMasters/slideMaster1.xml" Id="R6c1b014baeed4e68" /><Relationship Type="http://schemas.openxmlformats.org/officeDocument/2006/relationships/notesMaster" Target="/ppt/notesMasters/notesMaster1.xml" Id="Rd33b288400394808" /><Relationship Type="http://schemas.openxmlformats.org/officeDocument/2006/relationships/presProps" Target="/ppt/presProps.xml" Id="Raf7c7ecacfec4604" /><Relationship Type="http://schemas.openxmlformats.org/officeDocument/2006/relationships/tableStyles" Target="/ppt/tableStyles.xml" Id="R30c496824efc41ee" /><Relationship Type="http://schemas.openxmlformats.org/officeDocument/2006/relationships/slide" Target="/ppt/slides/slide1.xml" Id="R0cd9072ee8194e85" /><Relationship Type="http://schemas.openxmlformats.org/officeDocument/2006/relationships/slide" Target="/ppt/slides/slide2.xml" Id="Rfd92061bd58f4028" /><Relationship Type="http://schemas.openxmlformats.org/officeDocument/2006/relationships/slide" Target="/ppt/slides/slide3.xml" Id="R922841c0c9784c42" /><Relationship Type="http://schemas.openxmlformats.org/officeDocument/2006/relationships/slide" Target="/ppt/slides/slide4.xml" Id="Rc33dcd44fe604166" /><Relationship Type="http://schemas.openxmlformats.org/officeDocument/2006/relationships/slide" Target="/ppt/slides/slide5.xml" Id="Ra0146bac4e264876" /><Relationship Type="http://schemas.openxmlformats.org/officeDocument/2006/relationships/slide" Target="/ppt/slides/slide6.xml" Id="R2e52c44ec5ed42ba" /><Relationship Type="http://schemas.openxmlformats.org/officeDocument/2006/relationships/slide" Target="/ppt/slides/slide7.xml" Id="Re6445756e1944db4" /><Relationship Type="http://schemas.openxmlformats.org/officeDocument/2006/relationships/slide" Target="/ppt/slides/slide8.xml" Id="R302828a9988f459c" /><Relationship Type="http://schemas.openxmlformats.org/officeDocument/2006/relationships/slide" Target="/ppt/slides/slide9.xml" Id="Rc939d6497edf45a5" /><Relationship Type="http://schemas.openxmlformats.org/officeDocument/2006/relationships/slide" Target="/ppt/slides/slide10.xml" Id="R70eeb686079a44f2" /><Relationship Type="http://schemas.openxmlformats.org/officeDocument/2006/relationships/slide" Target="/ppt/slides/slide11.xml" Id="Rc50e3a0cb76c4404" /><Relationship Type="http://schemas.openxmlformats.org/officeDocument/2006/relationships/slide" Target="/ppt/slides/slide12.xml" Id="R01a15ae9dac64023" /><Relationship Type="http://schemas.openxmlformats.org/officeDocument/2006/relationships/slide" Target="/ppt/slides/slide13.xml" Id="R2fa9d2c03aa143d5" /><Relationship Type="http://schemas.openxmlformats.org/officeDocument/2006/relationships/slide" Target="/ppt/slides/slide14.xml" Id="R8c9e9d338d0a44d0" /><Relationship Type="http://schemas.openxmlformats.org/officeDocument/2006/relationships/slide" Target="/ppt/slides/slide15.xml" Id="R5c33a03d59264955" /><Relationship Type="http://schemas.openxmlformats.org/officeDocument/2006/relationships/slide" Target="/ppt/slides/slide16.xml" Id="Rc54c7ab370854908" /><Relationship Type="http://schemas.openxmlformats.org/officeDocument/2006/relationships/slide" Target="/ppt/slides/slide17.xml" Id="R820ccbf569194ae2" /><Relationship Type="http://schemas.openxmlformats.org/officeDocument/2006/relationships/slide" Target="/ppt/slides/slide18.xml" Id="R452b9f03607345d4" /><Relationship Type="http://schemas.openxmlformats.org/officeDocument/2006/relationships/slide" Target="/ppt/slides/slide19.xml" Id="R78f0ac51a86c4281" /><Relationship Type="http://schemas.openxmlformats.org/officeDocument/2006/relationships/slide" Target="/ppt/slides/slide20.xml" Id="Rf8f856931a6f41b6" /><Relationship Type="http://schemas.openxmlformats.org/officeDocument/2006/relationships/slide" Target="/ppt/slides/slide21.xml" Id="Rf5a7807a224440ea" /><Relationship Type="http://schemas.openxmlformats.org/officeDocument/2006/relationships/slide" Target="/ppt/slides/slide22.xml" Id="R8c36087dccac4368" /><Relationship Type="http://schemas.openxmlformats.org/officeDocument/2006/relationships/slide" Target="/ppt/slides/slide23.xml" Id="R3737b4477ca645f1" /><Relationship Type="http://schemas.openxmlformats.org/officeDocument/2006/relationships/slide" Target="/ppt/slides/slide24.xml" Id="Rc539319d80504486" /><Relationship Type="http://schemas.openxmlformats.org/officeDocument/2006/relationships/slide" Target="/ppt/slides/slide25.xml" Id="R6892f7e5e36447aa" /><Relationship Type="http://schemas.openxmlformats.org/officeDocument/2006/relationships/slide" Target="/ppt/slides/slide26.xml" Id="Rcf56fb1c829a4920" /><Relationship Type="http://schemas.openxmlformats.org/officeDocument/2006/relationships/slide" Target="/ppt/slides/slide27.xml" Id="R29766cd8972c4a03" /><Relationship Type="http://schemas.openxmlformats.org/officeDocument/2006/relationships/slide" Target="/ppt/slides/slide28.xml" Id="R497155bd99dc4a88" /><Relationship Type="http://schemas.openxmlformats.org/officeDocument/2006/relationships/slide" Target="/ppt/slides/slide29.xml" Id="R980cc145f8ec460f" /><Relationship Type="http://schemas.openxmlformats.org/officeDocument/2006/relationships/slide" Target="/ppt/slides/slide30.xml" Id="Rf119988c362a48e2" /><Relationship Type="http://schemas.openxmlformats.org/officeDocument/2006/relationships/slide" Target="/ppt/slides/slide31.xml" Id="R8d592da2005241cb" /><Relationship Type="http://schemas.openxmlformats.org/officeDocument/2006/relationships/slide" Target="/ppt/slides/slide32.xml" Id="R0312accbe4814dbc" /><Relationship Type="http://schemas.openxmlformats.org/officeDocument/2006/relationships/slide" Target="/ppt/slides/slide33.xml" Id="R957abe7797024a2e" /><Relationship Type="http://schemas.openxmlformats.org/officeDocument/2006/relationships/slide" Target="/ppt/slides/slide34.xml" Id="Rfbd0cf498e8546f5" /><Relationship Type="http://schemas.openxmlformats.org/officeDocument/2006/relationships/slide" Target="/ppt/slides/slide35.xml" Id="R3e232afd3f1c4ec7" /><Relationship Type="http://schemas.openxmlformats.org/officeDocument/2006/relationships/slide" Target="/ppt/slides/slide36.xml" Id="Re6cc24bdc6f74dd4" /><Relationship Type="http://schemas.openxmlformats.org/officeDocument/2006/relationships/slide" Target="/ppt/slides/slide37.xml" Id="Rc9ff721438eb4542" /><Relationship Type="http://schemas.openxmlformats.org/officeDocument/2006/relationships/slide" Target="/ppt/slides/slide38.xml" Id="Rdd795de2b30c4520" /><Relationship Type="http://schemas.openxmlformats.org/officeDocument/2006/relationships/slide" Target="/ppt/slides/slide39.xml" Id="R6b3e59ec0fe2444e" /><Relationship Type="http://schemas.openxmlformats.org/officeDocument/2006/relationships/slide" Target="/ppt/slides/slide40.xml" Id="Rd05bcf191d834d1c" /><Relationship Type="http://schemas.openxmlformats.org/officeDocument/2006/relationships/slide" Target="/ppt/slides/slide41.xml" Id="R2ef1029d0ab74742" /><Relationship Type="http://schemas.openxmlformats.org/officeDocument/2006/relationships/slide" Target="/ppt/slides/slide42.xml" Id="R52a772edc3784a43" /><Relationship Type="http://schemas.openxmlformats.org/officeDocument/2006/relationships/slide" Target="/ppt/slides/slide43.xml" Id="R7a21c3bec7da48d1" /><Relationship Type="http://schemas.openxmlformats.org/officeDocument/2006/relationships/slide" Target="/ppt/slides/slide44.xml" Id="Re9cfb793d7eb4ec4" /><Relationship Type="http://schemas.openxmlformats.org/officeDocument/2006/relationships/slide" Target="/ppt/slides/slide45.xml" Id="R7454375cb52d4591" /><Relationship Type="http://schemas.openxmlformats.org/officeDocument/2006/relationships/slide" Target="/ppt/slides/slide46.xml" Id="R3c6ae635e57141d3" /><Relationship Type="http://schemas.openxmlformats.org/officeDocument/2006/relationships/slide" Target="/ppt/slides/slide47.xml" Id="R115166e3e8444108" /><Relationship Type="http://schemas.openxmlformats.org/officeDocument/2006/relationships/slide" Target="/ppt/slides/slide48.xml" Id="Rbc2d608ec79649d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138a2c33775407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3e0713a9f6e407c" /><Relationship Type="http://schemas.openxmlformats.org/officeDocument/2006/relationships/notesMaster" Target="/ppt/notesMasters/notesMaster1.xml" Id="Rd00135597f0b42d5" /></Relationships>
</file>

<file path=ppt/notesSlides/_rels/notesSlide2.xml.rels>&#65279;<?xml version="1.0" encoding="utf-8"?><Relationships xmlns="http://schemas.openxmlformats.org/package/2006/relationships"><Relationship Type="http://schemas.openxmlformats.org/officeDocument/2006/relationships/slide" Target="/ppt/slides/slide2.xml" Id="R7e2260b13f7643c8" /><Relationship Type="http://schemas.openxmlformats.org/officeDocument/2006/relationships/notesMaster" Target="/ppt/notesMasters/notesMaster1.xml" Id="Rd1ff871e22d34941" /></Relationships>
</file>

<file path=ppt/notesSlides/_rels/notesSlide3.xml.rels>&#65279;<?xml version="1.0" encoding="utf-8"?><Relationships xmlns="http://schemas.openxmlformats.org/package/2006/relationships"><Relationship Type="http://schemas.openxmlformats.org/officeDocument/2006/relationships/slide" Target="/ppt/slides/slide3.xml" Id="R947b5e84e93e4998" /><Relationship Type="http://schemas.openxmlformats.org/officeDocument/2006/relationships/notesMaster" Target="/ppt/notesMasters/notesMaster1.xml" Id="Re7083de08aba4729" /></Relationships>
</file>

<file path=ppt/notesSlides/_rels/notesSlide4.xml.rels>&#65279;<?xml version="1.0" encoding="utf-8"?><Relationships xmlns="http://schemas.openxmlformats.org/package/2006/relationships"><Relationship Type="http://schemas.openxmlformats.org/officeDocument/2006/relationships/slide" Target="/ppt/slides/slide4.xml" Id="R1371c18c05534742" /><Relationship Type="http://schemas.openxmlformats.org/officeDocument/2006/relationships/notesMaster" Target="/ppt/notesMasters/notesMaster1.xml" Id="R8c1f1c565bce48aa" /></Relationships>
</file>

<file path=ppt/notesSlides/_rels/notesSlide5.xml.rels>&#65279;<?xml version="1.0" encoding="utf-8"?><Relationships xmlns="http://schemas.openxmlformats.org/package/2006/relationships"><Relationship Type="http://schemas.openxmlformats.org/officeDocument/2006/relationships/slide" Target="/ppt/slides/slide5.xml" Id="Rfd3ac69f68c0440d" /><Relationship Type="http://schemas.openxmlformats.org/officeDocument/2006/relationships/notesMaster" Target="/ppt/notesMasters/notesMaster1.xml" Id="Ra037d2d4ac604336" /></Relationships>
</file>

<file path=ppt/notesSlides/_rels/notesSlide6.xml.rels>&#65279;<?xml version="1.0" encoding="utf-8"?><Relationships xmlns="http://schemas.openxmlformats.org/package/2006/relationships"><Relationship Type="http://schemas.openxmlformats.org/officeDocument/2006/relationships/slide" Target="/ppt/slides/slide6.xml" Id="R1268ac8d0f5c4d7f" /><Relationship Type="http://schemas.openxmlformats.org/officeDocument/2006/relationships/notesMaster" Target="/ppt/notesMasters/notesMaster1.xml" Id="R3d4c2092e2b2484b" /></Relationships>
</file>

<file path=ppt/notesSlides/_rels/notesSlide7.xml.rels>&#65279;<?xml version="1.0" encoding="utf-8"?><Relationships xmlns="http://schemas.openxmlformats.org/package/2006/relationships"><Relationship Type="http://schemas.openxmlformats.org/officeDocument/2006/relationships/slide" Target="/ppt/slides/slide7.xml" Id="R32ddd99663ec4162" /><Relationship Type="http://schemas.openxmlformats.org/officeDocument/2006/relationships/notesMaster" Target="/ppt/notesMasters/notesMaster1.xml" Id="R37945c8697bf4739" /></Relationships>
</file>

<file path=ppt/notesSlides/_rels/notesSlide8.xml.rels>&#65279;<?xml version="1.0" encoding="utf-8"?><Relationships xmlns="http://schemas.openxmlformats.org/package/2006/relationships"><Relationship Type="http://schemas.openxmlformats.org/officeDocument/2006/relationships/slide" Target="/ppt/slides/slide8.xml" Id="Rf17eae97ed934517" /><Relationship Type="http://schemas.openxmlformats.org/officeDocument/2006/relationships/notesMaster" Target="/ppt/notesMasters/notesMaster1.xml" Id="Rb9a57da028d4488f" /></Relationships>
</file>

<file path=ppt/notesSlides/_rels/notesSlide9.xml.rels>&#65279;<?xml version="1.0" encoding="utf-8"?><Relationships xmlns="http://schemas.openxmlformats.org/package/2006/relationships"><Relationship Type="http://schemas.openxmlformats.org/officeDocument/2006/relationships/slide" Target="/ppt/slides/slide9.xml" Id="R72ec4acc532a4007" /><Relationship Type="http://schemas.openxmlformats.org/officeDocument/2006/relationships/notesMaster" Target="/ppt/notesMasters/notesMaster1.xml" Id="Rec750366a68244a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946c648c2794e24" /><Relationship Type="http://schemas.openxmlformats.org/officeDocument/2006/relationships/notesMaster" Target="/ppt/notesMasters/notesMaster1.xml" Id="Rc11300e9ddc642d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157431f02a240a6" /><Relationship Type="http://schemas.openxmlformats.org/officeDocument/2006/relationships/notesMaster" Target="/ppt/notesMasters/notesMaster1.xml" Id="R6bcdf774c5cd49b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aec50f0d3ec4aea" /><Relationship Type="http://schemas.openxmlformats.org/officeDocument/2006/relationships/notesMaster" Target="/ppt/notesMasters/notesMaster1.xml" Id="R0bce3811da1e4e1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f020459e8324b57" /><Relationship Type="http://schemas.openxmlformats.org/officeDocument/2006/relationships/notesMaster" Target="/ppt/notesMasters/notesMaster1.xml" Id="R7e99c1c7e2e344a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eda08097383480c" /><Relationship Type="http://schemas.openxmlformats.org/officeDocument/2006/relationships/notesMaster" Target="/ppt/notesMasters/notesMaster1.xml" Id="Re81085d57dcf435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3b27f0f0f044349" /><Relationship Type="http://schemas.openxmlformats.org/officeDocument/2006/relationships/notesMaster" Target="/ppt/notesMasters/notesMaster1.xml" Id="R80f5ac80488f4fc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a85f3e75c6546f7" /><Relationship Type="http://schemas.openxmlformats.org/officeDocument/2006/relationships/notesMaster" Target="/ppt/notesMasters/notesMaster1.xml" Id="R5389f4d66d6d40e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7e6cdcf2fa6402c" /><Relationship Type="http://schemas.openxmlformats.org/officeDocument/2006/relationships/notesMaster" Target="/ppt/notesMasters/notesMaster1.xml" Id="Ra2f871b414004ea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36e19f3ffca409a" /><Relationship Type="http://schemas.openxmlformats.org/officeDocument/2006/relationships/notesMaster" Target="/ppt/notesMasters/notesMaster1.xml" Id="R6abaab947f5745e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0d02bba19bb480a" /><Relationship Type="http://schemas.openxmlformats.org/officeDocument/2006/relationships/notesMaster" Target="/ppt/notesMasters/notesMaster1.xml" Id="R5e39fc5c94b54b9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a5676a5c450422a" /><Relationship Type="http://schemas.openxmlformats.org/officeDocument/2006/relationships/notesMaster" Target="/ppt/notesMasters/notesMaster1.xml" Id="Rcdf230b13e174f0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2e8f016d900482e" /><Relationship Type="http://schemas.openxmlformats.org/officeDocument/2006/relationships/notesMaster" Target="/ppt/notesMasters/notesMaster1.xml" Id="Ra2ac38c523b141a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21f98c671f94b52" /><Relationship Type="http://schemas.openxmlformats.org/officeDocument/2006/relationships/notesMaster" Target="/ppt/notesMasters/notesMaster1.xml" Id="R3d330eb854ba4aa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f8818c4447742f3" /><Relationship Type="http://schemas.openxmlformats.org/officeDocument/2006/relationships/notesMaster" Target="/ppt/notesMasters/notesMaster1.xml" Id="R6e646bc6211f425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e0bbf33a20940b3" /><Relationship Type="http://schemas.openxmlformats.org/officeDocument/2006/relationships/notesMaster" Target="/ppt/notesMasters/notesMaster1.xml" Id="R1f154b149c1e406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aa76566d21e4c4f" /><Relationship Type="http://schemas.openxmlformats.org/officeDocument/2006/relationships/notesMaster" Target="/ppt/notesMasters/notesMaster1.xml" Id="R843a682ef1ee4b8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bd9793ba5954857" /><Relationship Type="http://schemas.openxmlformats.org/officeDocument/2006/relationships/notesMaster" Target="/ppt/notesMasters/notesMaster1.xml" Id="R3c06566061ae4bc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2d485c7b5a248aa" /><Relationship Type="http://schemas.openxmlformats.org/officeDocument/2006/relationships/notesMaster" Target="/ppt/notesMasters/notesMaster1.xml" Id="R9919c295148142e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01150922b6a4e14" /><Relationship Type="http://schemas.openxmlformats.org/officeDocument/2006/relationships/notesMaster" Target="/ppt/notesMasters/notesMaster1.xml" Id="R215fa1cc5e95410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82429111e1f43b2" /><Relationship Type="http://schemas.openxmlformats.org/officeDocument/2006/relationships/notesMaster" Target="/ppt/notesMasters/notesMaster1.xml" Id="Radcacf09348f4db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01f58f3f21b4b4e" /><Relationship Type="http://schemas.openxmlformats.org/officeDocument/2006/relationships/notesMaster" Target="/ppt/notesMasters/notesMaster1.xml" Id="R03a7f172035e4c9d"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936ff6addfa4941" /><Relationship Type="http://schemas.openxmlformats.org/officeDocument/2006/relationships/notesMaster" Target="/ppt/notesMasters/notesMaster1.xml" Id="Rc533da73c5e147d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95a19f6391a94728" /><Relationship Type="http://schemas.openxmlformats.org/officeDocument/2006/relationships/notesMaster" Target="/ppt/notesMasters/notesMaster1.xml" Id="Rdc067ae7d62d43f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63444a82a804671" /><Relationship Type="http://schemas.openxmlformats.org/officeDocument/2006/relationships/notesMaster" Target="/ppt/notesMasters/notesMaster1.xml" Id="Reecaa1b05c294a97"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a425da871b924091" /><Relationship Type="http://schemas.openxmlformats.org/officeDocument/2006/relationships/notesMaster" Target="/ppt/notesMasters/notesMaster1.xml" Id="Rbcd873707bc440ee"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f278fe0d8b843a1" /><Relationship Type="http://schemas.openxmlformats.org/officeDocument/2006/relationships/notesMaster" Target="/ppt/notesMasters/notesMaster1.xml" Id="Rdb8243bf0d24448c"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c2a7a29330ea422e" /><Relationship Type="http://schemas.openxmlformats.org/officeDocument/2006/relationships/notesMaster" Target="/ppt/notesMasters/notesMaster1.xml" Id="R4fffd0679e8c4f60"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48fc8ed3b2704563" /><Relationship Type="http://schemas.openxmlformats.org/officeDocument/2006/relationships/notesMaster" Target="/ppt/notesMasters/notesMaster1.xml" Id="R5738d20fd554435d"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a296432f1ca547ea" /><Relationship Type="http://schemas.openxmlformats.org/officeDocument/2006/relationships/notesMaster" Target="/ppt/notesMasters/notesMaster1.xml" Id="R9c86f6b687c946b2"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a95d7f903b6c4960" /><Relationship Type="http://schemas.openxmlformats.org/officeDocument/2006/relationships/notesMaster" Target="/ppt/notesMasters/notesMaster1.xml" Id="R5d3e294d88f3485f"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794b55a3648e4baf" /><Relationship Type="http://schemas.openxmlformats.org/officeDocument/2006/relationships/notesMaster" Target="/ppt/notesMasters/notesMaster1.xml" Id="R04ac8b94a268483d"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56c2a289bed64395" /><Relationship Type="http://schemas.openxmlformats.org/officeDocument/2006/relationships/notesMaster" Target="/ppt/notesMasters/notesMaster1.xml" Id="R1cc1c8496def42df"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3b7f7d89ac8049d0" /><Relationship Type="http://schemas.openxmlformats.org/officeDocument/2006/relationships/notesMaster" Target="/ppt/notesMasters/notesMaster1.xml" Id="R64ea744adb484d6f"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052bd9c8661543e9" /><Relationship Type="http://schemas.openxmlformats.org/officeDocument/2006/relationships/notesMaster" Target="/ppt/notesMasters/notesMaster1.xml" Id="Rf96a77494c244101"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5cc80f70b22e4b5c" /><Relationship Type="http://schemas.openxmlformats.org/officeDocument/2006/relationships/notesMaster" Target="/ppt/notesMasters/notesMaster1.xml" Id="R9c8612d933cc4042"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bb2140c8f6f140f8" /><Relationship Type="http://schemas.openxmlformats.org/officeDocument/2006/relationships/notesMaster" Target="/ppt/notesMasters/notesMaster1.xml" Id="R95252d9f059c4597"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38800f5f5dcf4187" /><Relationship Type="http://schemas.openxmlformats.org/officeDocument/2006/relationships/notesMaster" Target="/ppt/notesMasters/notesMaster1.xml" Id="Rc5d912ccd74c412d"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4f0df57342e64358" /><Relationship Type="http://schemas.openxmlformats.org/officeDocument/2006/relationships/notesMaster" Target="/ppt/notesMasters/notesMaster1.xml" Id="R5d41ca2df7404138"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0c5f14080a104ec1" /><Relationship Type="http://schemas.openxmlformats.org/officeDocument/2006/relationships/notesMaster" Target="/ppt/notesMasters/notesMaster1.xml" Id="R9184534bac8e4f1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9: Primera simulación completa en OpenRocket.</a:t>
            </a:r>
          </a:p>
          <a:p xmlns:a="http://schemas.openxmlformats.org/drawingml/2006/main">
            <a:r>
              <a:t>En línea, 2 h. Tramo del núcleo: 3 min.</a:t>
            </a:r>
          </a:p>
          <a:p xmlns:a="http://schemas.openxmlformats.org/drawingml/2006/main">
            <a:r>
              <a:t/>
            </a:r>
          </a:p>
          <a:p xmlns:a="http://schemas.openxmlformats.org/drawingml/2006/main">
            <a:r>
              <a:t>Muestra una curva con fin de empuje y apogeo separados y pide explicar qué ocurre entre ambos.</a:t>
            </a:r>
          </a:p>
          <a:p xmlns:a="http://schemas.openxmlformats.org/drawingml/2006/main">
            <a:r>
              <a:t/>
            </a:r>
          </a:p>
          <a:p xmlns:a="http://schemas.openxmlformats.org/drawingml/2006/main">
            <a:r>
              <a:t>Resultado: Configurar el modelo completo, ejecutar una simulación guiada y leer sus fases sin confundir predicción con observación.</a:t>
            </a:r>
          </a:p>
          <a:p xmlns:a="http://schemas.openxmlformats.org/drawingml/2006/main">
            <a:r>
              <a:t>Misión: Obtener una predicción útil para revisar el conjunto y preparar comparaciones.</a:t>
            </a:r>
          </a:p>
          <a:p xmlns:a="http://schemas.openxmlformats.org/drawingml/2006/main">
            <a:r>
              <a:t>Entrega: Archivo completo, condiciones, gráficas y CSV exportado.</a:t>
            </a:r>
          </a:p>
          <a:p xmlns:a="http://schemas.openxmlformats.org/drawingml/2006/main">
            <a:r>
              <a:t/>
            </a:r>
          </a:p>
          <a:p xmlns:a="http://schemas.openxmlformats.org/drawingml/2006/main">
            <a:r>
              <a:t>Preguntas y respuestas</a:t>
            </a:r>
          </a:p>
          <a:p xmlns:a="http://schemas.openxmlformats.org/drawingml/2006/main">
            <a:r>
              <a:t>¿El motor empuja hasta el apogeo?</a:t>
            </a:r>
          </a:p>
          <a:p xmlns:a="http://schemas.openxmlformats.org/drawingml/2006/main">
            <a:r>
              <a:t>No necesariamente; el vehículo puede seguir subiendo después de terminar el empuje.</a:t>
            </a:r>
          </a:p>
          <a:p xmlns:a="http://schemas.openxmlformats.org/drawingml/2006/main">
            <a:r>
              <a:t/>
            </a:r>
          </a:p>
          <a:p xmlns:a="http://schemas.openxmlformats.org/drawingml/2006/main">
            <a:r>
              <a:t>¿Una predicción es una medición?</a:t>
            </a:r>
          </a:p>
          <a:p xmlns:a="http://schemas.openxmlformats.org/drawingml/2006/main">
            <a:r>
              <a:t>No. Se compara después con observaciones identificadas.</a:t>
            </a:r>
          </a:p>
          <a:p xmlns:a="http://schemas.openxmlformats.org/drawingml/2006/main">
            <a:r>
              <a:t/>
            </a:r>
          </a:p>
          <a:p xmlns:a="http://schemas.openxmlformats.org/drawingml/2006/main">
            <a:r>
              <a:t>¿Puedo atribuir a la nariz una diferencia si cambié el motor?</a:t>
            </a:r>
          </a:p>
          <a:p xmlns:a="http://schemas.openxmlformats.org/drawingml/2006/main">
            <a:r>
              <a:t>No sin separar o explicar esos cambios.</a:t>
            </a:r>
          </a:p>
          <a:p xmlns:a="http://schemas.openxmlformats.org/drawingml/2006/main">
            <a:r>
              <a:t/>
            </a:r>
          </a:p>
          <a:p xmlns:a="http://schemas.openxmlformats.org/drawingml/2006/main">
            <a:r>
              <a:t>Fuentes</a:t>
            </a:r>
          </a:p>
          <a:p xmlns:a="http://schemas.openxmlformats.org/drawingml/2006/main">
            <a:r>
              <a:t>OpenRocket. Getting Started. https://openrocket.readthedocs.io/en/latest/setup/getting_started.html</a:t>
            </a:r>
          </a:p>
          <a:p xmlns:a="http://schemas.openxmlformats.org/drawingml/2006/main">
            <a:r>
              <a:t>OpenRocket. Advanced Flight Simulation. https://openrocket.readthedocs.io/en/latest/user_guide/advanced_flight_simulation.html</a:t>
            </a:r>
          </a:p>
          <a:p xmlns:a="http://schemas.openxmlformats.org/drawingml/2006/main">
            <a:r>
              <a:t>NASA Glenn. Flight of a Model Rocket. https://www1.grc.nasa.gov/beginners-guide-to-aeronautics/flight-of-a-model-rocket/</a:t>
            </a:r>
          </a:p>
          <a:p xmlns:a="http://schemas.openxmlformats.org/drawingml/2006/main">
            <a:r>
              <a:t>Lectura: MECRO_Coheteria_Clase_09.pdf.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9: Primera simulación completa en OpenRocket.</a:t>
            </a:r>
          </a:p>
          <a:p xmlns:a="http://schemas.openxmlformats.org/drawingml/2006/main">
            <a:r>
              <a:t>En línea, 2 h. Tramo del núcleo: 4 min.</a:t>
            </a:r>
          </a:p>
          <a:p xmlns:a="http://schemas.openxmlformats.org/drawingml/2006/main">
            <a:r>
              <a:t/>
            </a:r>
          </a:p>
          <a:p xmlns:a="http://schemas.openxmlformats.org/drawingml/2006/main">
            <a:r>
              <a:t>La primera geometría de la clase 1 enseñó a colocar piezas. Una simulación de vuelo necesita más información: componentes interiores, masas, configuración comercial, recuperación y condiciones de salida. El programa puede calcular con un archivo incompleto, pero el resultado describirá ese archivo y no el cohete que se está construyendo.</a:t>
            </a:r>
          </a:p>
          <a:p xmlns:a="http://schemas.openxmlformats.org/drawingml/2006/main">
            <a:r>
              <a:t/>
            </a:r>
          </a:p>
          <a:p xmlns:a="http://schemas.openxmlformats.org/drawingml/2006/main">
            <a:r>
              <a:t>El objetivo no es obtener la cifra más alta. Es contar con una predicción que podamos entender, conservar y revisar cuando el objeto esté terminado.</a:t>
            </a:r>
          </a:p>
          <a:p xmlns:a="http://schemas.openxmlformats.org/drawingml/2006/main">
            <a:r>
              <a:t/>
            </a:r>
          </a:p>
          <a:p xmlns:a="http://schemas.openxmlformats.org/drawingml/2006/main">
            <a:r>
              <a:t>Una simulación conecta entradas con una predicción mediante un modelo. Las entradas describen piezas, masas, motor, recuperación y ambiente. El resultado puede verse muy preciso en pantalla aunque una entrada sea equivocada. La tarea inicial consiste en hacer corresponder el archivo con el objeto previsto. Esta revisión es parte del trabajo técnico, no un trámite anterior a la parte interesante. Permite entender después qué significa una curva y qué limitaciones tiene.</a:t>
            </a:r>
          </a:p>
          <a:p xmlns:a="http://schemas.openxmlformats.org/drawingml/2006/main">
            <a:r>
              <a:t>Pregunta para el grupo: ¿El archivo contiene el conjunto real?</a:t>
            </a:r>
          </a:p>
          <a:p xmlns:a="http://schemas.openxmlformats.org/drawingml/2006/main">
            <a:r>
              <a:t/>
            </a:r>
          </a:p>
          <a:p xmlns:a="http://schemas.openxmlformats.org/drawingml/2006/main">
            <a:r>
              <a:t>Resultado: Configurar el modelo completo, ejecutar una simulación guiada y leer sus fases sin confundir predicción con observación.</a:t>
            </a:r>
          </a:p>
          <a:p xmlns:a="http://schemas.openxmlformats.org/drawingml/2006/main">
            <a:r>
              <a:t>Misión: Obtener una predicción útil para revisar el conjunto y preparar comparaciones.</a:t>
            </a:r>
          </a:p>
          <a:p xmlns:a="http://schemas.openxmlformats.org/drawingml/2006/main">
            <a:r>
              <a:t>Entrega: Archivo completo, condiciones, gráficas y CSV exportado.</a:t>
            </a:r>
          </a:p>
          <a:p xmlns:a="http://schemas.openxmlformats.org/drawingml/2006/main">
            <a:r>
              <a:t/>
            </a:r>
          </a:p>
          <a:p xmlns:a="http://schemas.openxmlformats.org/drawingml/2006/main">
            <a:r>
              <a:t>Preguntas y respuestas</a:t>
            </a:r>
          </a:p>
          <a:p xmlns:a="http://schemas.openxmlformats.org/drawingml/2006/main">
            <a:r>
              <a:t>¿El motor empuja hasta el apogeo?</a:t>
            </a:r>
          </a:p>
          <a:p xmlns:a="http://schemas.openxmlformats.org/drawingml/2006/main">
            <a:r>
              <a:t>No necesariamente; el vehículo puede seguir subiendo después de terminar el empuje.</a:t>
            </a:r>
          </a:p>
          <a:p xmlns:a="http://schemas.openxmlformats.org/drawingml/2006/main">
            <a:r>
              <a:t/>
            </a:r>
          </a:p>
          <a:p xmlns:a="http://schemas.openxmlformats.org/drawingml/2006/main">
            <a:r>
              <a:t>¿Una predicción es una medición?</a:t>
            </a:r>
          </a:p>
          <a:p xmlns:a="http://schemas.openxmlformats.org/drawingml/2006/main">
            <a:r>
              <a:t>No. Se compara después con observaciones identificadas.</a:t>
            </a:r>
          </a:p>
          <a:p xmlns:a="http://schemas.openxmlformats.org/drawingml/2006/main">
            <a:r>
              <a:t/>
            </a:r>
          </a:p>
          <a:p xmlns:a="http://schemas.openxmlformats.org/drawingml/2006/main">
            <a:r>
              <a:t>¿Puedo atribuir a la nariz una diferencia si cambié el motor?</a:t>
            </a:r>
          </a:p>
          <a:p xmlns:a="http://schemas.openxmlformats.org/drawingml/2006/main">
            <a:r>
              <a:t>No sin separar o explicar esos cambios.</a:t>
            </a:r>
          </a:p>
          <a:p xmlns:a="http://schemas.openxmlformats.org/drawingml/2006/main">
            <a:r>
              <a:t/>
            </a:r>
          </a:p>
          <a:p xmlns:a="http://schemas.openxmlformats.org/drawingml/2006/main">
            <a:r>
              <a:t>Fuentes</a:t>
            </a:r>
          </a:p>
          <a:p xmlns:a="http://schemas.openxmlformats.org/drawingml/2006/main">
            <a:r>
              <a:t>OpenRocket. Getting Started. https://openrocket.readthedocs.io/en/latest/setup/getting_started.html</a:t>
            </a:r>
          </a:p>
          <a:p xmlns:a="http://schemas.openxmlformats.org/drawingml/2006/main">
            <a:r>
              <a:t>OpenRocket. Advanced Flight Simulation. https://openrocket.readthedocs.io/en/latest/user_guide/advanced_flight_simulation.html</a:t>
            </a:r>
          </a:p>
          <a:p xmlns:a="http://schemas.openxmlformats.org/drawingml/2006/main">
            <a:r>
              <a:t>NASA Glenn. Flight of a Model Rocket. https://www1.grc.nasa.gov/beginners-guide-to-aeronautics/flight-of-a-model-rocket/</a:t>
            </a:r>
          </a:p>
          <a:p xmlns:a="http://schemas.openxmlformats.org/drawingml/2006/main">
            <a:r>
              <a:t>Lectura: MECRO_Coheteria_Clase_09.pdf.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9: Primera simulación completa en OpenRocket.</a:t>
            </a:r>
          </a:p>
          <a:p xmlns:a="http://schemas.openxmlformats.org/drawingml/2006/main">
            <a:r>
              <a:t>En línea, 2 h. Tramo del núcleo: 4 min.</a:t>
            </a:r>
          </a:p>
          <a:p xmlns:a="http://schemas.openxmlformats.org/drawingml/2006/main">
            <a:r>
              <a:t/>
            </a:r>
          </a:p>
          <a:p xmlns:a="http://schemas.openxmlformats.org/drawingml/2006/main">
            <a:r>
              <a:t>Pestaña de simulaciones del manual de OpenRocket. Los resultados pertenecen a su ejemplo, no al proyecto del equipo.</a:t>
            </a:r>
          </a:p>
          <a:p xmlns:a="http://schemas.openxmlformats.org/drawingml/2006/main">
            <a:r>
              <a:t>Localizar en la imagen las partes relacionadas con la pregunta.</a:t>
            </a:r>
          </a:p>
          <a:p xmlns:a="http://schemas.openxmlformats.org/drawingml/2006/main">
            <a:r>
              <a:t>¿El archivo contiene el conjunto real?</a:t>
            </a:r>
          </a:p>
          <a:p xmlns:a="http://schemas.openxmlformats.org/drawingml/2006/main">
            <a:r>
              <a:t/>
            </a:r>
          </a:p>
          <a:p xmlns:a="http://schemas.openxmlformats.org/drawingml/2006/main">
            <a:r>
              <a:t>Resultado: Configurar el modelo completo, ejecutar una simulación guiada y leer sus fases sin confundir predicción con observación.</a:t>
            </a:r>
          </a:p>
          <a:p xmlns:a="http://schemas.openxmlformats.org/drawingml/2006/main">
            <a:r>
              <a:t>Misión: Obtener una predicción útil para revisar el conjunto y preparar comparaciones.</a:t>
            </a:r>
          </a:p>
          <a:p xmlns:a="http://schemas.openxmlformats.org/drawingml/2006/main">
            <a:r>
              <a:t>Entrega: Archivo completo, condiciones, gráficas y CSV exportado.</a:t>
            </a:r>
          </a:p>
          <a:p xmlns:a="http://schemas.openxmlformats.org/drawingml/2006/main">
            <a:r>
              <a:t/>
            </a:r>
          </a:p>
          <a:p xmlns:a="http://schemas.openxmlformats.org/drawingml/2006/main">
            <a:r>
              <a:t>Preguntas y respuestas</a:t>
            </a:r>
          </a:p>
          <a:p xmlns:a="http://schemas.openxmlformats.org/drawingml/2006/main">
            <a:r>
              <a:t>¿El motor empuja hasta el apogeo?</a:t>
            </a:r>
          </a:p>
          <a:p xmlns:a="http://schemas.openxmlformats.org/drawingml/2006/main">
            <a:r>
              <a:t>No necesariamente; el vehículo puede seguir subiendo después de terminar el empuje.</a:t>
            </a:r>
          </a:p>
          <a:p xmlns:a="http://schemas.openxmlformats.org/drawingml/2006/main">
            <a:r>
              <a:t/>
            </a:r>
          </a:p>
          <a:p xmlns:a="http://schemas.openxmlformats.org/drawingml/2006/main">
            <a:r>
              <a:t>¿Una predicción es una medición?</a:t>
            </a:r>
          </a:p>
          <a:p xmlns:a="http://schemas.openxmlformats.org/drawingml/2006/main">
            <a:r>
              <a:t>No. Se compara después con observaciones identificadas.</a:t>
            </a:r>
          </a:p>
          <a:p xmlns:a="http://schemas.openxmlformats.org/drawingml/2006/main">
            <a:r>
              <a:t/>
            </a:r>
          </a:p>
          <a:p xmlns:a="http://schemas.openxmlformats.org/drawingml/2006/main">
            <a:r>
              <a:t>¿Puedo atribuir a la nariz una diferencia si cambié el motor?</a:t>
            </a:r>
          </a:p>
          <a:p xmlns:a="http://schemas.openxmlformats.org/drawingml/2006/main">
            <a:r>
              <a:t>No sin separar o explicar esos cambios.</a:t>
            </a:r>
          </a:p>
          <a:p xmlns:a="http://schemas.openxmlformats.org/drawingml/2006/main">
            <a:r>
              <a:t/>
            </a:r>
          </a:p>
          <a:p xmlns:a="http://schemas.openxmlformats.org/drawingml/2006/main">
            <a:r>
              <a:t>Fuentes</a:t>
            </a:r>
          </a:p>
          <a:p xmlns:a="http://schemas.openxmlformats.org/drawingml/2006/main">
            <a:r>
              <a:t>OpenRocket. Getting Started. https://openrocket.readthedocs.io/en/latest/setup/getting_started.html</a:t>
            </a:r>
          </a:p>
          <a:p xmlns:a="http://schemas.openxmlformats.org/drawingml/2006/main">
            <a:r>
              <a:t>OpenRocket. Advanced Flight Simulation. https://openrocket.readthedocs.io/en/latest/user_guide/advanced_flight_simulation.html</a:t>
            </a:r>
          </a:p>
          <a:p xmlns:a="http://schemas.openxmlformats.org/drawingml/2006/main">
            <a:r>
              <a:t>NASA Glenn. Flight of a Model Rocket. https://www1.grc.nasa.gov/beginners-guide-to-aeronautics/flight-of-a-model-rocket/</a:t>
            </a:r>
          </a:p>
          <a:p xmlns:a="http://schemas.openxmlformats.org/drawingml/2006/main">
            <a:r>
              <a:t>Lectura: MECRO_Coheteria_Clase_09.pdf.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9: Primera simulación completa en OpenRocket.</a:t>
            </a:r>
          </a:p>
          <a:p xmlns:a="http://schemas.openxmlformats.org/drawingml/2006/main">
            <a:r>
              <a:t>En línea, 2 h. Tramo del núcleo: 5 min.</a:t>
            </a:r>
          </a:p>
          <a:p xmlns:a="http://schemas.openxmlformats.org/drawingml/2006/main">
            <a:r>
              <a:t/>
            </a:r>
          </a:p>
          <a:p xmlns:a="http://schemas.openxmlformats.org/drawingml/2006/main">
            <a:r>
              <a:t>Grupo / Comprobación</a:t>
            </a:r>
          </a:p>
          <a:p xmlns:a="http://schemas.openxmlformats.org/drawingml/2006/main">
            <a:r>
              <a:t>Geometría / Coincide con el plano y las piezas</a:t>
            </a:r>
          </a:p>
          <a:p xmlns:a="http://schemas.openxmlformats.org/drawingml/2006/main">
            <a:r>
              <a:t>Masas / Incluyen los elementos del conjunto</a:t>
            </a:r>
          </a:p>
          <a:p xmlns:a="http://schemas.openxmlformats.org/drawingml/2006/main">
            <a:r>
              <a:t>Motor comercial / Referencia y configuración correctas</a:t>
            </a:r>
          </a:p>
          <a:p xmlns:a="http://schemas.openxmlformats.org/drawingml/2006/main">
            <a:r>
              <a:t>Recuperación / Sistema y evento representados</a:t>
            </a:r>
          </a:p>
          <a:p xmlns:a="http://schemas.openxmlformats.org/drawingml/2006/main">
            <a:r>
              <a:t>Condiciones / Lugar y condiciones declarados</a:t>
            </a:r>
          </a:p>
          <a:p xmlns:a="http://schemas.openxmlformats.org/drawingml/2006/main">
            <a:r>
              <a:t>Justificar una alternativa con la misión y señalar la comprobación necesaria.</a:t>
            </a:r>
          </a:p>
          <a:p xmlns:a="http://schemas.openxmlformats.org/drawingml/2006/main">
            <a:r>
              <a:t/>
            </a:r>
          </a:p>
          <a:p xmlns:a="http://schemas.openxmlformats.org/drawingml/2006/main">
            <a:r>
              <a:t>Resultado: Configurar el modelo completo, ejecutar una simulación guiada y leer sus fases sin confundir predicción con observación.</a:t>
            </a:r>
          </a:p>
          <a:p xmlns:a="http://schemas.openxmlformats.org/drawingml/2006/main">
            <a:r>
              <a:t>Misión: Obtener una predicción útil para revisar el conjunto y preparar comparaciones.</a:t>
            </a:r>
          </a:p>
          <a:p xmlns:a="http://schemas.openxmlformats.org/drawingml/2006/main">
            <a:r>
              <a:t>Entrega: Archivo completo, condiciones, gráficas y CSV exportado.</a:t>
            </a:r>
          </a:p>
          <a:p xmlns:a="http://schemas.openxmlformats.org/drawingml/2006/main">
            <a:r>
              <a:t/>
            </a:r>
          </a:p>
          <a:p xmlns:a="http://schemas.openxmlformats.org/drawingml/2006/main">
            <a:r>
              <a:t>Preguntas y respuestas</a:t>
            </a:r>
          </a:p>
          <a:p xmlns:a="http://schemas.openxmlformats.org/drawingml/2006/main">
            <a:r>
              <a:t>¿El motor empuja hasta el apogeo?</a:t>
            </a:r>
          </a:p>
          <a:p xmlns:a="http://schemas.openxmlformats.org/drawingml/2006/main">
            <a:r>
              <a:t>No necesariamente; el vehículo puede seguir subiendo después de terminar el empuje.</a:t>
            </a:r>
          </a:p>
          <a:p xmlns:a="http://schemas.openxmlformats.org/drawingml/2006/main">
            <a:r>
              <a:t/>
            </a:r>
          </a:p>
          <a:p xmlns:a="http://schemas.openxmlformats.org/drawingml/2006/main">
            <a:r>
              <a:t>¿Una predicción es una medición?</a:t>
            </a:r>
          </a:p>
          <a:p xmlns:a="http://schemas.openxmlformats.org/drawingml/2006/main">
            <a:r>
              <a:t>No. Se compara después con observaciones identificadas.</a:t>
            </a:r>
          </a:p>
          <a:p xmlns:a="http://schemas.openxmlformats.org/drawingml/2006/main">
            <a:r>
              <a:t/>
            </a:r>
          </a:p>
          <a:p xmlns:a="http://schemas.openxmlformats.org/drawingml/2006/main">
            <a:r>
              <a:t>¿Puedo atribuir a la nariz una diferencia si cambié el motor?</a:t>
            </a:r>
          </a:p>
          <a:p xmlns:a="http://schemas.openxmlformats.org/drawingml/2006/main">
            <a:r>
              <a:t>No sin separar o explicar esos cambios.</a:t>
            </a:r>
          </a:p>
          <a:p xmlns:a="http://schemas.openxmlformats.org/drawingml/2006/main">
            <a:r>
              <a:t/>
            </a:r>
          </a:p>
          <a:p xmlns:a="http://schemas.openxmlformats.org/drawingml/2006/main">
            <a:r>
              <a:t>Fuentes</a:t>
            </a:r>
          </a:p>
          <a:p xmlns:a="http://schemas.openxmlformats.org/drawingml/2006/main">
            <a:r>
              <a:t>OpenRocket. Getting Started. https://openrocket.readthedocs.io/en/latest/setup/getting_started.html</a:t>
            </a:r>
          </a:p>
          <a:p xmlns:a="http://schemas.openxmlformats.org/drawingml/2006/main">
            <a:r>
              <a:t>OpenRocket. Advanced Flight Simulation. https://openrocket.readthedocs.io/en/latest/user_guide/advanced_flight_simulation.html</a:t>
            </a:r>
          </a:p>
          <a:p xmlns:a="http://schemas.openxmlformats.org/drawingml/2006/main">
            <a:r>
              <a:t>NASA Glenn. Flight of a Model Rocket. https://www1.grc.nasa.gov/beginners-guide-to-aeronautics/flight-of-a-model-rocket/</a:t>
            </a:r>
          </a:p>
          <a:p xmlns:a="http://schemas.openxmlformats.org/drawingml/2006/main">
            <a:r>
              <a:t>Lectura: MECRO_Coheteria_Clase_09.pdf.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9: Primera simulación completa en OpenRocket.</a:t>
            </a:r>
          </a:p>
          <a:p xmlns:a="http://schemas.openxmlformats.org/drawingml/2006/main">
            <a:r>
              <a:t>En línea, 2 h. Tramo del núcleo: 4 min.</a:t>
            </a:r>
          </a:p>
          <a:p xmlns:a="http://schemas.openxmlformats.org/drawingml/2006/main">
            <a:r>
              <a:t/>
            </a:r>
          </a:p>
          <a:p xmlns:a="http://schemas.openxmlformats.org/drawingml/2006/main">
            <a:r>
              <a:t>La fase impulsada termina cuando cesa el empuje. El cohete puede seguir subiendo después, mientras pierde velocidad. La altura máxima se llama apogeo. Después llega el descenso y el sistema de recuperación cumple su función. Separar esos eventos evita pensar que el motor empuja hasta la altura máxima.</a:t>
            </a:r>
          </a:p>
          <a:p xmlns:a="http://schemas.openxmlformats.org/drawingml/2006/main">
            <a:r>
              <a:t/>
            </a:r>
          </a:p>
          <a:p xmlns:a="http://schemas.openxmlformats.org/drawingml/2006/main">
            <a:r>
              <a:t>Una sola gráfica de altura puede ocultar un evento importante. En esta clase se leerán pocas variables, con unidades y marcas de eventos. No hace falta estudiar decenas de curvas para revisar un primer vehículo. [FL, OR3]</a:t>
            </a:r>
          </a:p>
          <a:p xmlns:a="http://schemas.openxmlformats.org/drawingml/2006/main">
            <a:r>
              <a:t/>
            </a:r>
          </a:p>
          <a:p xmlns:a="http://schemas.openxmlformats.org/drawingml/2006/main">
            <a:r>
              <a:t>Altura, velocidad y aceleración responden a preguntas distintas. La altura indica posición vertical respecto al origen elegido. La velocidad indica cómo cambia esa posición. La aceleración indica cómo cambia la velocidad. El vehículo puede seguir ascendiendo después de terminar el empuje porque todavía tiene velocidad hacia arriba. Cerca del punto más alto, esa componente de velocidad pasa por cero antes del descenso. Identificar esos momentos en una gráfica ayuda más al principiante que memorizar nombres de curvas.</a:t>
            </a:r>
          </a:p>
          <a:p xmlns:a="http://schemas.openxmlformats.org/drawingml/2006/main">
            <a:r>
              <a:t>Pregunta para el grupo: ¿Por qué sube después de terminar el empuje?</a:t>
            </a:r>
          </a:p>
          <a:p xmlns:a="http://schemas.openxmlformats.org/drawingml/2006/main">
            <a:r>
              <a:t/>
            </a:r>
          </a:p>
          <a:p xmlns:a="http://schemas.openxmlformats.org/drawingml/2006/main">
            <a:r>
              <a:t>Resultado: Configurar el modelo completo, ejecutar una simulación guiada y leer sus fases sin confundir predicción con observación.</a:t>
            </a:r>
          </a:p>
          <a:p xmlns:a="http://schemas.openxmlformats.org/drawingml/2006/main">
            <a:r>
              <a:t>Misión: Obtener una predicción útil para revisar el conjunto y preparar comparaciones.</a:t>
            </a:r>
          </a:p>
          <a:p xmlns:a="http://schemas.openxmlformats.org/drawingml/2006/main">
            <a:r>
              <a:t>Entrega: Archivo completo, condiciones, gráficas y CSV exportado.</a:t>
            </a:r>
          </a:p>
          <a:p xmlns:a="http://schemas.openxmlformats.org/drawingml/2006/main">
            <a:r>
              <a:t/>
            </a:r>
          </a:p>
          <a:p xmlns:a="http://schemas.openxmlformats.org/drawingml/2006/main">
            <a:r>
              <a:t>Preguntas y respuestas</a:t>
            </a:r>
          </a:p>
          <a:p xmlns:a="http://schemas.openxmlformats.org/drawingml/2006/main">
            <a:r>
              <a:t>¿El motor empuja hasta el apogeo?</a:t>
            </a:r>
          </a:p>
          <a:p xmlns:a="http://schemas.openxmlformats.org/drawingml/2006/main">
            <a:r>
              <a:t>No necesariamente; el vehículo puede seguir subiendo después de terminar el empuje.</a:t>
            </a:r>
          </a:p>
          <a:p xmlns:a="http://schemas.openxmlformats.org/drawingml/2006/main">
            <a:r>
              <a:t/>
            </a:r>
          </a:p>
          <a:p xmlns:a="http://schemas.openxmlformats.org/drawingml/2006/main">
            <a:r>
              <a:t>¿Una predicción es una medición?</a:t>
            </a:r>
          </a:p>
          <a:p xmlns:a="http://schemas.openxmlformats.org/drawingml/2006/main">
            <a:r>
              <a:t>No. Se compara después con observaciones identificadas.</a:t>
            </a:r>
          </a:p>
          <a:p xmlns:a="http://schemas.openxmlformats.org/drawingml/2006/main">
            <a:r>
              <a:t/>
            </a:r>
          </a:p>
          <a:p xmlns:a="http://schemas.openxmlformats.org/drawingml/2006/main">
            <a:r>
              <a:t>¿Puedo atribuir a la nariz una diferencia si cambié el motor?</a:t>
            </a:r>
          </a:p>
          <a:p xmlns:a="http://schemas.openxmlformats.org/drawingml/2006/main">
            <a:r>
              <a:t>No sin separar o explicar esos cambios.</a:t>
            </a:r>
          </a:p>
          <a:p xmlns:a="http://schemas.openxmlformats.org/drawingml/2006/main">
            <a:r>
              <a:t/>
            </a:r>
          </a:p>
          <a:p xmlns:a="http://schemas.openxmlformats.org/drawingml/2006/main">
            <a:r>
              <a:t>Fuentes</a:t>
            </a:r>
          </a:p>
          <a:p xmlns:a="http://schemas.openxmlformats.org/drawingml/2006/main">
            <a:r>
              <a:t>OpenRocket. Getting Started. https://openrocket.readthedocs.io/en/latest/setup/getting_started.html</a:t>
            </a:r>
          </a:p>
          <a:p xmlns:a="http://schemas.openxmlformats.org/drawingml/2006/main">
            <a:r>
              <a:t>OpenRocket. Advanced Flight Simulation. https://openrocket.readthedocs.io/en/latest/user_guide/advanced_flight_simulation.html</a:t>
            </a:r>
          </a:p>
          <a:p xmlns:a="http://schemas.openxmlformats.org/drawingml/2006/main">
            <a:r>
              <a:t>NASA Glenn. Flight of a Model Rocket. https://www1.grc.nasa.gov/beginners-guide-to-aeronautics/flight-of-a-model-rocket/</a:t>
            </a:r>
          </a:p>
          <a:p xmlns:a="http://schemas.openxmlformats.org/drawingml/2006/main">
            <a:r>
              <a:t>Lectura: MECRO_Coheteria_Clase_09.pdf.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9: Primera simulación completa en OpenRocket.</a:t>
            </a:r>
          </a:p>
          <a:p xmlns:a="http://schemas.openxmlformats.org/drawingml/2006/main">
            <a:r>
              <a:t>En línea, 2 h. Tramo del núcleo: 4 min.</a:t>
            </a:r>
          </a:p>
          <a:p xmlns:a="http://schemas.openxmlformats.org/drawingml/2006/main">
            <a:r>
              <a:t/>
            </a:r>
          </a:p>
          <a:p xmlns:a="http://schemas.openxmlformats.org/drawingml/2006/main">
            <a:r>
              <a:t>NASA Glenn: fases de vuelo de un modelo. La trayectoria dibujada es ilustrativa y no fija una trayectoria para el proyecto.</a:t>
            </a:r>
          </a:p>
          <a:p xmlns:a="http://schemas.openxmlformats.org/drawingml/2006/main">
            <a:r>
              <a:t>Localizar en la imagen las partes relacionadas con la pregunta.</a:t>
            </a:r>
          </a:p>
          <a:p xmlns:a="http://schemas.openxmlformats.org/drawingml/2006/main">
            <a:r>
              <a:t>¿Por qué sube después de terminar el empuje?</a:t>
            </a:r>
          </a:p>
          <a:p xmlns:a="http://schemas.openxmlformats.org/drawingml/2006/main">
            <a:r>
              <a:t/>
            </a:r>
          </a:p>
          <a:p xmlns:a="http://schemas.openxmlformats.org/drawingml/2006/main">
            <a:r>
              <a:t>Resultado: Configurar el modelo completo, ejecutar una simulación guiada y leer sus fases sin confundir predicción con observación.</a:t>
            </a:r>
          </a:p>
          <a:p xmlns:a="http://schemas.openxmlformats.org/drawingml/2006/main">
            <a:r>
              <a:t>Misión: Obtener una predicción útil para revisar el conjunto y preparar comparaciones.</a:t>
            </a:r>
          </a:p>
          <a:p xmlns:a="http://schemas.openxmlformats.org/drawingml/2006/main">
            <a:r>
              <a:t>Entrega: Archivo completo, condiciones, gráficas y CSV exportado.</a:t>
            </a:r>
          </a:p>
          <a:p xmlns:a="http://schemas.openxmlformats.org/drawingml/2006/main">
            <a:r>
              <a:t/>
            </a:r>
          </a:p>
          <a:p xmlns:a="http://schemas.openxmlformats.org/drawingml/2006/main">
            <a:r>
              <a:t>Preguntas y respuestas</a:t>
            </a:r>
          </a:p>
          <a:p xmlns:a="http://schemas.openxmlformats.org/drawingml/2006/main">
            <a:r>
              <a:t>¿El motor empuja hasta el apogeo?</a:t>
            </a:r>
          </a:p>
          <a:p xmlns:a="http://schemas.openxmlformats.org/drawingml/2006/main">
            <a:r>
              <a:t>No necesariamente; el vehículo puede seguir subiendo después de terminar el empuje.</a:t>
            </a:r>
          </a:p>
          <a:p xmlns:a="http://schemas.openxmlformats.org/drawingml/2006/main">
            <a:r>
              <a:t/>
            </a:r>
          </a:p>
          <a:p xmlns:a="http://schemas.openxmlformats.org/drawingml/2006/main">
            <a:r>
              <a:t>¿Una predicción es una medición?</a:t>
            </a:r>
          </a:p>
          <a:p xmlns:a="http://schemas.openxmlformats.org/drawingml/2006/main">
            <a:r>
              <a:t>No. Se compara después con observaciones identificadas.</a:t>
            </a:r>
          </a:p>
          <a:p xmlns:a="http://schemas.openxmlformats.org/drawingml/2006/main">
            <a:r>
              <a:t/>
            </a:r>
          </a:p>
          <a:p xmlns:a="http://schemas.openxmlformats.org/drawingml/2006/main">
            <a:r>
              <a:t>¿Puedo atribuir a la nariz una diferencia si cambié el motor?</a:t>
            </a:r>
          </a:p>
          <a:p xmlns:a="http://schemas.openxmlformats.org/drawingml/2006/main">
            <a:r>
              <a:t>No sin separar o explicar esos cambios.</a:t>
            </a:r>
          </a:p>
          <a:p xmlns:a="http://schemas.openxmlformats.org/drawingml/2006/main">
            <a:r>
              <a:t/>
            </a:r>
          </a:p>
          <a:p xmlns:a="http://schemas.openxmlformats.org/drawingml/2006/main">
            <a:r>
              <a:t>Fuentes</a:t>
            </a:r>
          </a:p>
          <a:p xmlns:a="http://schemas.openxmlformats.org/drawingml/2006/main">
            <a:r>
              <a:t>OpenRocket. Getting Started. https://openrocket.readthedocs.io/en/latest/setup/getting_started.html</a:t>
            </a:r>
          </a:p>
          <a:p xmlns:a="http://schemas.openxmlformats.org/drawingml/2006/main">
            <a:r>
              <a:t>OpenRocket. Advanced Flight Simulation. https://openrocket.readthedocs.io/en/latest/user_guide/advanced_flight_simulation.html</a:t>
            </a:r>
          </a:p>
          <a:p xmlns:a="http://schemas.openxmlformats.org/drawingml/2006/main">
            <a:r>
              <a:t>NASA Glenn. Flight of a Model Rocket. https://www1.grc.nasa.gov/beginners-guide-to-aeronautics/flight-of-a-model-rocket/</a:t>
            </a:r>
          </a:p>
          <a:p xmlns:a="http://schemas.openxmlformats.org/drawingml/2006/main">
            <a:r>
              <a:t>Lectura: MECRO_Coheteria_Clase_09.pdf.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9: Primera simulación completa en OpenRocket.</a:t>
            </a:r>
          </a:p>
          <a:p xmlns:a="http://schemas.openxmlformats.org/drawingml/2006/main">
            <a:r>
              <a:t>En línea, 2 h. Tramo del núcleo: 5 min.</a:t>
            </a:r>
          </a:p>
          <a:p xmlns:a="http://schemas.openxmlformats.org/drawingml/2006/main">
            <a:r>
              <a:t/>
            </a:r>
          </a:p>
          <a:p xmlns:a="http://schemas.openxmlformats.org/drawingml/2006/main">
            <a:r>
              <a:t>Variable / Pregunta sencilla</a:t>
            </a:r>
          </a:p>
          <a:p xmlns:a="http://schemas.openxmlformats.org/drawingml/2006/main">
            <a:r>
              <a:t>Altura / ¿Cuándo llega al punto más alto?</a:t>
            </a:r>
          </a:p>
          <a:p xmlns:a="http://schemas.openxmlformats.org/drawingml/2006/main">
            <a:r>
              <a:t>Velocidad vertical / ¿Cuándo deja de subir?</a:t>
            </a:r>
          </a:p>
          <a:p xmlns:a="http://schemas.openxmlformats.org/drawingml/2006/main">
            <a:r>
              <a:t>Empuje / ¿Cuándo termina la fase impulsada?</a:t>
            </a:r>
          </a:p>
          <a:p xmlns:a="http://schemas.openxmlformats.org/drawingml/2006/main">
            <a:r>
              <a:t>Evento de recuperación / ¿Dónde aparece respecto al apogeo?</a:t>
            </a:r>
          </a:p>
          <a:p xmlns:a="http://schemas.openxmlformats.org/drawingml/2006/main">
            <a:r>
              <a:t>Justificar una alternativa con la misión y señalar la comprobación necesaria.</a:t>
            </a:r>
          </a:p>
          <a:p xmlns:a="http://schemas.openxmlformats.org/drawingml/2006/main">
            <a:r>
              <a:t/>
            </a:r>
          </a:p>
          <a:p xmlns:a="http://schemas.openxmlformats.org/drawingml/2006/main">
            <a:r>
              <a:t>Resultado: Configurar el modelo completo, ejecutar una simulación guiada y leer sus fases sin confundir predicción con observación.</a:t>
            </a:r>
          </a:p>
          <a:p xmlns:a="http://schemas.openxmlformats.org/drawingml/2006/main">
            <a:r>
              <a:t>Misión: Obtener una predicción útil para revisar el conjunto y preparar comparaciones.</a:t>
            </a:r>
          </a:p>
          <a:p xmlns:a="http://schemas.openxmlformats.org/drawingml/2006/main">
            <a:r>
              <a:t>Entrega: Archivo completo, condiciones, gráficas y CSV exportado.</a:t>
            </a:r>
          </a:p>
          <a:p xmlns:a="http://schemas.openxmlformats.org/drawingml/2006/main">
            <a:r>
              <a:t/>
            </a:r>
          </a:p>
          <a:p xmlns:a="http://schemas.openxmlformats.org/drawingml/2006/main">
            <a:r>
              <a:t>Preguntas y respuestas</a:t>
            </a:r>
          </a:p>
          <a:p xmlns:a="http://schemas.openxmlformats.org/drawingml/2006/main">
            <a:r>
              <a:t>¿El motor empuja hasta el apogeo?</a:t>
            </a:r>
          </a:p>
          <a:p xmlns:a="http://schemas.openxmlformats.org/drawingml/2006/main">
            <a:r>
              <a:t>No necesariamente; el vehículo puede seguir subiendo después de terminar el empuje.</a:t>
            </a:r>
          </a:p>
          <a:p xmlns:a="http://schemas.openxmlformats.org/drawingml/2006/main">
            <a:r>
              <a:t/>
            </a:r>
          </a:p>
          <a:p xmlns:a="http://schemas.openxmlformats.org/drawingml/2006/main">
            <a:r>
              <a:t>¿Una predicción es una medición?</a:t>
            </a:r>
          </a:p>
          <a:p xmlns:a="http://schemas.openxmlformats.org/drawingml/2006/main">
            <a:r>
              <a:t>No. Se compara después con observaciones identificadas.</a:t>
            </a:r>
          </a:p>
          <a:p xmlns:a="http://schemas.openxmlformats.org/drawingml/2006/main">
            <a:r>
              <a:t/>
            </a:r>
          </a:p>
          <a:p xmlns:a="http://schemas.openxmlformats.org/drawingml/2006/main">
            <a:r>
              <a:t>¿Puedo atribuir a la nariz una diferencia si cambié el motor?</a:t>
            </a:r>
          </a:p>
          <a:p xmlns:a="http://schemas.openxmlformats.org/drawingml/2006/main">
            <a:r>
              <a:t>No sin separar o explicar esos cambios.</a:t>
            </a:r>
          </a:p>
          <a:p xmlns:a="http://schemas.openxmlformats.org/drawingml/2006/main">
            <a:r>
              <a:t/>
            </a:r>
          </a:p>
          <a:p xmlns:a="http://schemas.openxmlformats.org/drawingml/2006/main">
            <a:r>
              <a:t>Fuentes</a:t>
            </a:r>
          </a:p>
          <a:p xmlns:a="http://schemas.openxmlformats.org/drawingml/2006/main">
            <a:r>
              <a:t>OpenRocket. Getting Started. https://openrocket.readthedocs.io/en/latest/setup/getting_started.html</a:t>
            </a:r>
          </a:p>
          <a:p xmlns:a="http://schemas.openxmlformats.org/drawingml/2006/main">
            <a:r>
              <a:t>OpenRocket. Advanced Flight Simulation. https://openrocket.readthedocs.io/en/latest/user_guide/advanced_flight_simulation.html</a:t>
            </a:r>
          </a:p>
          <a:p xmlns:a="http://schemas.openxmlformats.org/drawingml/2006/main">
            <a:r>
              <a:t>NASA Glenn. Flight of a Model Rocket. https://www1.grc.nasa.gov/beginners-guide-to-aeronautics/flight-of-a-model-rocket/</a:t>
            </a:r>
          </a:p>
          <a:p xmlns:a="http://schemas.openxmlformats.org/drawingml/2006/main">
            <a:r>
              <a:t>Lectura: MECRO_Coheteria_Clase_09.pdf.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9: Primera simulación completa en OpenRocket.</a:t>
            </a:r>
          </a:p>
          <a:p xmlns:a="http://schemas.openxmlformats.org/drawingml/2006/main">
            <a:r>
              <a:t>En línea, 2 h. Tramo del núcleo: 4 min.</a:t>
            </a:r>
          </a:p>
          <a:p xmlns:a="http://schemas.openxmlformats.org/drawingml/2006/main">
            <a:r>
              <a:t/>
            </a:r>
          </a:p>
          <a:p xmlns:a="http://schemas.openxmlformats.org/drawingml/2006/main">
            <a:r>
              <a:t>Una configuración relaciona el vehículo con un motor comercial y sus eventos. Debe tener un nombre que permita reconocer qué se simuló. Si cambias la nariz, la masa o el motor, conserva una versión diferente. Sobrescribir el archivo cada vez hace difícil explicar después por qué cambió una predicción.</a:t>
            </a:r>
          </a:p>
          <a:p xmlns:a="http://schemas.openxmlformats.org/drawingml/2006/main">
            <a:r>
              <a:t/>
            </a:r>
          </a:p>
          <a:p xmlns:a="http://schemas.openxmlformats.org/drawingml/2006/main">
            <a:r>
              <a:t>Ayer se simuló un archivo sin acabado y hoy se pesa el modelo con acabado y otras uniones.</a:t>
            </a:r>
          </a:p>
          <a:p xmlns:a="http://schemas.openxmlformats.org/drawingml/2006/main">
            <a:r>
              <a:t/>
            </a:r>
          </a:p>
          <a:p xmlns:a="http://schemas.openxmlformats.org/drawingml/2006/main">
            <a:r>
              <a:t>El responsable revisa las condiciones operativas. El alumno aprende a representarlas y a detectar entradas incoherentes; no necesita decidir por su cuenta una condición de lanzamiento.</a:t>
            </a:r>
          </a:p>
          <a:p xmlns:a="http://schemas.openxmlformats.org/drawingml/2006/main">
            <a:r>
              <a:t/>
            </a:r>
          </a:p>
          <a:p xmlns:a="http://schemas.openxmlformats.org/drawingml/2006/main">
            <a:r>
              <a:t>Los avisos del programa se leen como preguntas sobre el modelo. Un evento extraño puede revelar un dispositivo de recuperación configurado con una referencia equivocada o una pieza omitida. Cambiar varias entradas hasta que desaparezca un aviso dificulta aprender qué lo causó. El equipo guarda una referencia, revisa una condición y vuelve a ejecutar, registrando la razón de cada modificación.</a:t>
            </a:r>
          </a:p>
          <a:p xmlns:a="http://schemas.openxmlformats.org/drawingml/2006/main">
            <a:r>
              <a:t>Pregunta para el grupo: ¿Qué cambió desde la simulación anterior?</a:t>
            </a:r>
          </a:p>
          <a:p xmlns:a="http://schemas.openxmlformats.org/drawingml/2006/main">
            <a:r>
              <a:t/>
            </a:r>
          </a:p>
          <a:p xmlns:a="http://schemas.openxmlformats.org/drawingml/2006/main">
            <a:r>
              <a:t>Resultado: Configurar el modelo completo, ejecutar una simulación guiada y leer sus fases sin confundir predicción con observación.</a:t>
            </a:r>
          </a:p>
          <a:p xmlns:a="http://schemas.openxmlformats.org/drawingml/2006/main">
            <a:r>
              <a:t>Misión: Obtener una predicción útil para revisar el conjunto y preparar comparaciones.</a:t>
            </a:r>
          </a:p>
          <a:p xmlns:a="http://schemas.openxmlformats.org/drawingml/2006/main">
            <a:r>
              <a:t>Entrega: Archivo completo, condiciones, gráficas y CSV exportado.</a:t>
            </a:r>
          </a:p>
          <a:p xmlns:a="http://schemas.openxmlformats.org/drawingml/2006/main">
            <a:r>
              <a:t/>
            </a:r>
          </a:p>
          <a:p xmlns:a="http://schemas.openxmlformats.org/drawingml/2006/main">
            <a:r>
              <a:t>Preguntas y respuestas</a:t>
            </a:r>
          </a:p>
          <a:p xmlns:a="http://schemas.openxmlformats.org/drawingml/2006/main">
            <a:r>
              <a:t>¿El motor empuja hasta el apogeo?</a:t>
            </a:r>
          </a:p>
          <a:p xmlns:a="http://schemas.openxmlformats.org/drawingml/2006/main">
            <a:r>
              <a:t>No necesariamente; el vehículo puede seguir subiendo después de terminar el empuje.</a:t>
            </a:r>
          </a:p>
          <a:p xmlns:a="http://schemas.openxmlformats.org/drawingml/2006/main">
            <a:r>
              <a:t/>
            </a:r>
          </a:p>
          <a:p xmlns:a="http://schemas.openxmlformats.org/drawingml/2006/main">
            <a:r>
              <a:t>¿Una predicción es una medición?</a:t>
            </a:r>
          </a:p>
          <a:p xmlns:a="http://schemas.openxmlformats.org/drawingml/2006/main">
            <a:r>
              <a:t>No. Se compara después con observaciones identificadas.</a:t>
            </a:r>
          </a:p>
          <a:p xmlns:a="http://schemas.openxmlformats.org/drawingml/2006/main">
            <a:r>
              <a:t/>
            </a:r>
          </a:p>
          <a:p xmlns:a="http://schemas.openxmlformats.org/drawingml/2006/main">
            <a:r>
              <a:t>¿Puedo atribuir a la nariz una diferencia si cambié el motor?</a:t>
            </a:r>
          </a:p>
          <a:p xmlns:a="http://schemas.openxmlformats.org/drawingml/2006/main">
            <a:r>
              <a:t>No sin separar o explicar esos cambios.</a:t>
            </a:r>
          </a:p>
          <a:p xmlns:a="http://schemas.openxmlformats.org/drawingml/2006/main">
            <a:r>
              <a:t/>
            </a:r>
          </a:p>
          <a:p xmlns:a="http://schemas.openxmlformats.org/drawingml/2006/main">
            <a:r>
              <a:t>Fuentes</a:t>
            </a:r>
          </a:p>
          <a:p xmlns:a="http://schemas.openxmlformats.org/drawingml/2006/main">
            <a:r>
              <a:t>OpenRocket. Getting Started. https://openrocket.readthedocs.io/en/latest/setup/getting_started.html</a:t>
            </a:r>
          </a:p>
          <a:p xmlns:a="http://schemas.openxmlformats.org/drawingml/2006/main">
            <a:r>
              <a:t>OpenRocket. Advanced Flight Simulation. https://openrocket.readthedocs.io/en/latest/user_guide/advanced_flight_simulation.html</a:t>
            </a:r>
          </a:p>
          <a:p xmlns:a="http://schemas.openxmlformats.org/drawingml/2006/main">
            <a:r>
              <a:t>NASA Glenn. Flight of a Model Rocket. https://www1.grc.nasa.gov/beginners-guide-to-aeronautics/flight-of-a-model-rocket/</a:t>
            </a:r>
          </a:p>
          <a:p xmlns:a="http://schemas.openxmlformats.org/drawingml/2006/main">
            <a:r>
              <a:t>Lectura: MECRO_Coheteria_Clase_09.pdf.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9: Primera simulación completa en OpenRocket.</a:t>
            </a:r>
          </a:p>
          <a:p xmlns:a="http://schemas.openxmlformats.org/drawingml/2006/main">
            <a:r>
              <a:t>En línea, 2 h. Tramo del núcleo: 4 min.</a:t>
            </a:r>
          </a:p>
          <a:p xmlns:a="http://schemas.openxmlformats.org/drawingml/2006/main">
            <a:r>
              <a:t/>
            </a:r>
          </a:p>
          <a:p xmlns:a="http://schemas.openxmlformats.org/drawingml/2006/main">
            <a:r>
              <a:t>¿Qué cambió desde la simulación anterior?</a:t>
            </a:r>
          </a:p>
          <a:p xmlns:a="http://schemas.openxmlformats.org/drawingml/2006/main">
            <a:r>
              <a:t>Pedir una respuesta antes de consultar la explicación de la lectura.</a:t>
            </a:r>
          </a:p>
          <a:p xmlns:a="http://schemas.openxmlformats.org/drawingml/2006/main">
            <a:r>
              <a:t/>
            </a:r>
          </a:p>
          <a:p xmlns:a="http://schemas.openxmlformats.org/drawingml/2006/main">
            <a:r>
              <a:t>Resultado: Configurar el modelo completo, ejecutar una simulación guiada y leer sus fases sin confundir predicción con observación.</a:t>
            </a:r>
          </a:p>
          <a:p xmlns:a="http://schemas.openxmlformats.org/drawingml/2006/main">
            <a:r>
              <a:t>Misión: Obtener una predicción útil para revisar el conjunto y preparar comparaciones.</a:t>
            </a:r>
          </a:p>
          <a:p xmlns:a="http://schemas.openxmlformats.org/drawingml/2006/main">
            <a:r>
              <a:t>Entrega: Archivo completo, condiciones, gráficas y CSV exportado.</a:t>
            </a:r>
          </a:p>
          <a:p xmlns:a="http://schemas.openxmlformats.org/drawingml/2006/main">
            <a:r>
              <a:t/>
            </a:r>
          </a:p>
          <a:p xmlns:a="http://schemas.openxmlformats.org/drawingml/2006/main">
            <a:r>
              <a:t>Preguntas y respuestas</a:t>
            </a:r>
          </a:p>
          <a:p xmlns:a="http://schemas.openxmlformats.org/drawingml/2006/main">
            <a:r>
              <a:t>¿El motor empuja hasta el apogeo?</a:t>
            </a:r>
          </a:p>
          <a:p xmlns:a="http://schemas.openxmlformats.org/drawingml/2006/main">
            <a:r>
              <a:t>No necesariamente; el vehículo puede seguir subiendo después de terminar el empuje.</a:t>
            </a:r>
          </a:p>
          <a:p xmlns:a="http://schemas.openxmlformats.org/drawingml/2006/main">
            <a:r>
              <a:t/>
            </a:r>
          </a:p>
          <a:p xmlns:a="http://schemas.openxmlformats.org/drawingml/2006/main">
            <a:r>
              <a:t>¿Una predicción es una medición?</a:t>
            </a:r>
          </a:p>
          <a:p xmlns:a="http://schemas.openxmlformats.org/drawingml/2006/main">
            <a:r>
              <a:t>No. Se compara después con observaciones identificadas.</a:t>
            </a:r>
          </a:p>
          <a:p xmlns:a="http://schemas.openxmlformats.org/drawingml/2006/main">
            <a:r>
              <a:t/>
            </a:r>
          </a:p>
          <a:p xmlns:a="http://schemas.openxmlformats.org/drawingml/2006/main">
            <a:r>
              <a:t>¿Puedo atribuir a la nariz una diferencia si cambié el motor?</a:t>
            </a:r>
          </a:p>
          <a:p xmlns:a="http://schemas.openxmlformats.org/drawingml/2006/main">
            <a:r>
              <a:t>No sin separar o explicar esos cambios.</a:t>
            </a:r>
          </a:p>
          <a:p xmlns:a="http://schemas.openxmlformats.org/drawingml/2006/main">
            <a:r>
              <a:t/>
            </a:r>
          </a:p>
          <a:p xmlns:a="http://schemas.openxmlformats.org/drawingml/2006/main">
            <a:r>
              <a:t>Fuentes</a:t>
            </a:r>
          </a:p>
          <a:p xmlns:a="http://schemas.openxmlformats.org/drawingml/2006/main">
            <a:r>
              <a:t>OpenRocket. Getting Started. https://openrocket.readthedocs.io/en/latest/setup/getting_started.html</a:t>
            </a:r>
          </a:p>
          <a:p xmlns:a="http://schemas.openxmlformats.org/drawingml/2006/main">
            <a:r>
              <a:t>OpenRocket. Advanced Flight Simulation. https://openrocket.readthedocs.io/en/latest/user_guide/advanced_flight_simulation.html</a:t>
            </a:r>
          </a:p>
          <a:p xmlns:a="http://schemas.openxmlformats.org/drawingml/2006/main">
            <a:r>
              <a:t>NASA Glenn. Flight of a Model Rocket. https://www1.grc.nasa.gov/beginners-guide-to-aeronautics/flight-of-a-model-rocket/</a:t>
            </a:r>
          </a:p>
          <a:p xmlns:a="http://schemas.openxmlformats.org/drawingml/2006/main">
            <a:r>
              <a:t>Lectura: MECRO_Coheteria_Clase_09.pdf.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9: Primera simulación completa en OpenRocket.</a:t>
            </a:r>
          </a:p>
          <a:p xmlns:a="http://schemas.openxmlformats.org/drawingml/2006/main">
            <a:r>
              <a:t>En línea, 2 h. Tramo del núcleo: 5 min.</a:t>
            </a:r>
          </a:p>
          <a:p xmlns:a="http://schemas.openxmlformats.org/drawingml/2006/main">
            <a:r>
              <a:t/>
            </a:r>
          </a:p>
          <a:p xmlns:a="http://schemas.openxmlformats.org/drawingml/2006/main">
            <a:r>
              <a:t>Guarda una copia del archivo revisado con nombre CONFIG_A.</a:t>
            </a:r>
          </a:p>
          <a:p xmlns:a="http://schemas.openxmlformats.org/drawingml/2006/main">
            <a:r>
              <a:t>Selecciona el conjunto comercial indicado por el docente y comprueba su referencia completa.</a:t>
            </a:r>
          </a:p>
          <a:p xmlns:a="http://schemas.openxmlformats.org/drawingml/2006/main">
            <a:r>
              <a:t>Verifica la representación de recuperación y los eventos que corresponden al sistema elegido.</a:t>
            </a:r>
          </a:p>
          <a:p xmlns:a="http://schemas.openxmlformats.org/drawingml/2006/main">
            <a:r>
              <a:t>Registra las condiciones de la simulación. No uses valores por defecto sin leer qué significan.</a:t>
            </a:r>
          </a:p>
          <a:p xmlns:a="http://schemas.openxmlformats.org/drawingml/2006/main">
            <a:r>
              <a:t>Describe la guía de salida utilizada por el equipo docente y su correspondencia en el modelo.</a:t>
            </a:r>
          </a:p>
          <a:p xmlns:a="http://schemas.openxmlformats.org/drawingml/2006/main">
            <a:r>
              <a:t>Comprobar un paso en el objeto o programa antes de continuar.</a:t>
            </a:r>
          </a:p>
          <a:p xmlns:a="http://schemas.openxmlformats.org/drawingml/2006/main">
            <a:r>
              <a:t/>
            </a:r>
          </a:p>
          <a:p xmlns:a="http://schemas.openxmlformats.org/drawingml/2006/main">
            <a:r>
              <a:t>Resultado: Configurar el modelo completo, ejecutar una simulación guiada y leer sus fases sin confundir predicción con observación.</a:t>
            </a:r>
          </a:p>
          <a:p xmlns:a="http://schemas.openxmlformats.org/drawingml/2006/main">
            <a:r>
              <a:t>Misión: Obtener una predicción útil para revisar el conjunto y preparar comparaciones.</a:t>
            </a:r>
          </a:p>
          <a:p xmlns:a="http://schemas.openxmlformats.org/drawingml/2006/main">
            <a:r>
              <a:t>Entrega: Archivo completo, condiciones, gráficas y CSV exportado.</a:t>
            </a:r>
          </a:p>
          <a:p xmlns:a="http://schemas.openxmlformats.org/drawingml/2006/main">
            <a:r>
              <a:t/>
            </a:r>
          </a:p>
          <a:p xmlns:a="http://schemas.openxmlformats.org/drawingml/2006/main">
            <a:r>
              <a:t>Preguntas y respuestas</a:t>
            </a:r>
          </a:p>
          <a:p xmlns:a="http://schemas.openxmlformats.org/drawingml/2006/main">
            <a:r>
              <a:t>¿El motor empuja hasta el apogeo?</a:t>
            </a:r>
          </a:p>
          <a:p xmlns:a="http://schemas.openxmlformats.org/drawingml/2006/main">
            <a:r>
              <a:t>No necesariamente; el vehículo puede seguir subiendo después de terminar el empuje.</a:t>
            </a:r>
          </a:p>
          <a:p xmlns:a="http://schemas.openxmlformats.org/drawingml/2006/main">
            <a:r>
              <a:t/>
            </a:r>
          </a:p>
          <a:p xmlns:a="http://schemas.openxmlformats.org/drawingml/2006/main">
            <a:r>
              <a:t>¿Una predicción es una medición?</a:t>
            </a:r>
          </a:p>
          <a:p xmlns:a="http://schemas.openxmlformats.org/drawingml/2006/main">
            <a:r>
              <a:t>No. Se compara después con observaciones identificadas.</a:t>
            </a:r>
          </a:p>
          <a:p xmlns:a="http://schemas.openxmlformats.org/drawingml/2006/main">
            <a:r>
              <a:t/>
            </a:r>
          </a:p>
          <a:p xmlns:a="http://schemas.openxmlformats.org/drawingml/2006/main">
            <a:r>
              <a:t>¿Puedo atribuir a la nariz una diferencia si cambié el motor?</a:t>
            </a:r>
          </a:p>
          <a:p xmlns:a="http://schemas.openxmlformats.org/drawingml/2006/main">
            <a:r>
              <a:t>No sin separar o explicar esos cambios.</a:t>
            </a:r>
          </a:p>
          <a:p xmlns:a="http://schemas.openxmlformats.org/drawingml/2006/main">
            <a:r>
              <a:t/>
            </a:r>
          </a:p>
          <a:p xmlns:a="http://schemas.openxmlformats.org/drawingml/2006/main">
            <a:r>
              <a:t>Fuentes</a:t>
            </a:r>
          </a:p>
          <a:p xmlns:a="http://schemas.openxmlformats.org/drawingml/2006/main">
            <a:r>
              <a:t>OpenRocket. Getting Started. https://openrocket.readthedocs.io/en/latest/setup/getting_started.html</a:t>
            </a:r>
          </a:p>
          <a:p xmlns:a="http://schemas.openxmlformats.org/drawingml/2006/main">
            <a:r>
              <a:t>OpenRocket. Advanced Flight Simulation. https://openrocket.readthedocs.io/en/latest/user_guide/advanced_flight_simulation.html</a:t>
            </a:r>
          </a:p>
          <a:p xmlns:a="http://schemas.openxmlformats.org/drawingml/2006/main">
            <a:r>
              <a:t>NASA Glenn. Flight of a Model Rocket. https://www1.grc.nasa.gov/beginners-guide-to-aeronautics/flight-of-a-model-rocket/</a:t>
            </a:r>
          </a:p>
          <a:p xmlns:a="http://schemas.openxmlformats.org/drawingml/2006/main">
            <a:r>
              <a:t>Lectura: MECRO_Coheteria_Clase_09.pdf.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9: Primera simulación completa en OpenRocket.</a:t>
            </a:r>
          </a:p>
          <a:p xmlns:a="http://schemas.openxmlformats.org/drawingml/2006/main">
            <a:r>
              <a:t>En línea, 2 h. Tramo del núcleo: 4 min.</a:t>
            </a:r>
          </a:p>
          <a:p xmlns:a="http://schemas.openxmlformats.org/drawingml/2006/main">
            <a:r>
              <a:t/>
            </a:r>
          </a:p>
          <a:p xmlns:a="http://schemas.openxmlformats.org/drawingml/2006/main">
            <a:r>
              <a:t>Las capturas de este material pertenecen al manual oficial. Cada equipo crea y ejecuta su propio archivo en clase. Una fila de apogeo aislada no sustituye la configuración ni las gráficas que permiten interpretarla. [OR3]</a:t>
            </a:r>
          </a:p>
          <a:p xmlns:a="http://schemas.openxmlformats.org/drawingml/2006/main">
            <a:r>
              <a:t/>
            </a:r>
          </a:p>
          <a:p xmlns:a="http://schemas.openxmlformats.org/drawingml/2006/main">
            <a:r>
              <a:t>La exportación convierte una imagen de pantalla en un registro que se puede revisar. Cada columna necesita nombre, unidad y referencia de tiempo. Dos puntos de una misma curva permiten describir una tendencia sin atribuirle una causa que no se comprobó. El equipo relaciona un evento de la secuencia con su zona en el gráfico y conserva las condiciones de la ejecución. Así otra persona puede abrir el archivo y entender qué se quiso observar.</a:t>
            </a:r>
          </a:p>
          <a:p xmlns:a="http://schemas.openxmlformats.org/drawingml/2006/main">
            <a:r>
              <a:t>Pregunta para el grupo: ¿Qué evento buscarás en Plot / Export?</a:t>
            </a:r>
          </a:p>
          <a:p xmlns:a="http://schemas.openxmlformats.org/drawingml/2006/main">
            <a:r>
              <a:t/>
            </a:r>
          </a:p>
          <a:p xmlns:a="http://schemas.openxmlformats.org/drawingml/2006/main">
            <a:r>
              <a:t>Resultado: Configurar el modelo completo, ejecutar una simulación guiada y leer sus fases sin confundir predicción con observación.</a:t>
            </a:r>
          </a:p>
          <a:p xmlns:a="http://schemas.openxmlformats.org/drawingml/2006/main">
            <a:r>
              <a:t>Misión: Obtener una predicción útil para revisar el conjunto y preparar comparaciones.</a:t>
            </a:r>
          </a:p>
          <a:p xmlns:a="http://schemas.openxmlformats.org/drawingml/2006/main">
            <a:r>
              <a:t>Entrega: Archivo completo, condiciones, gráficas y CSV exportado.</a:t>
            </a:r>
          </a:p>
          <a:p xmlns:a="http://schemas.openxmlformats.org/drawingml/2006/main">
            <a:r>
              <a:t/>
            </a:r>
          </a:p>
          <a:p xmlns:a="http://schemas.openxmlformats.org/drawingml/2006/main">
            <a:r>
              <a:t>Preguntas y respuestas</a:t>
            </a:r>
          </a:p>
          <a:p xmlns:a="http://schemas.openxmlformats.org/drawingml/2006/main">
            <a:r>
              <a:t>¿El motor empuja hasta el apogeo?</a:t>
            </a:r>
          </a:p>
          <a:p xmlns:a="http://schemas.openxmlformats.org/drawingml/2006/main">
            <a:r>
              <a:t>No necesariamente; el vehículo puede seguir subiendo después de terminar el empuje.</a:t>
            </a:r>
          </a:p>
          <a:p xmlns:a="http://schemas.openxmlformats.org/drawingml/2006/main">
            <a:r>
              <a:t/>
            </a:r>
          </a:p>
          <a:p xmlns:a="http://schemas.openxmlformats.org/drawingml/2006/main">
            <a:r>
              <a:t>¿Una predicción es una medición?</a:t>
            </a:r>
          </a:p>
          <a:p xmlns:a="http://schemas.openxmlformats.org/drawingml/2006/main">
            <a:r>
              <a:t>No. Se compara después con observaciones identificadas.</a:t>
            </a:r>
          </a:p>
          <a:p xmlns:a="http://schemas.openxmlformats.org/drawingml/2006/main">
            <a:r>
              <a:t/>
            </a:r>
          </a:p>
          <a:p xmlns:a="http://schemas.openxmlformats.org/drawingml/2006/main">
            <a:r>
              <a:t>¿Puedo atribuir a la nariz una diferencia si cambié el motor?</a:t>
            </a:r>
          </a:p>
          <a:p xmlns:a="http://schemas.openxmlformats.org/drawingml/2006/main">
            <a:r>
              <a:t>No sin separar o explicar esos cambios.</a:t>
            </a:r>
          </a:p>
          <a:p xmlns:a="http://schemas.openxmlformats.org/drawingml/2006/main">
            <a:r>
              <a:t/>
            </a:r>
          </a:p>
          <a:p xmlns:a="http://schemas.openxmlformats.org/drawingml/2006/main">
            <a:r>
              <a:t>Fuentes</a:t>
            </a:r>
          </a:p>
          <a:p xmlns:a="http://schemas.openxmlformats.org/drawingml/2006/main">
            <a:r>
              <a:t>OpenRocket. Getting Started. https://openrocket.readthedocs.io/en/latest/setup/getting_started.html</a:t>
            </a:r>
          </a:p>
          <a:p xmlns:a="http://schemas.openxmlformats.org/drawingml/2006/main">
            <a:r>
              <a:t>OpenRocket. Advanced Flight Simulation. https://openrocket.readthedocs.io/en/latest/user_guide/advanced_flight_simulation.html</a:t>
            </a:r>
          </a:p>
          <a:p xmlns:a="http://schemas.openxmlformats.org/drawingml/2006/main">
            <a:r>
              <a:t>NASA Glenn. Flight of a Model Rocket. https://www1.grc.nasa.gov/beginners-guide-to-aeronautics/flight-of-a-model-rocket/</a:t>
            </a:r>
          </a:p>
          <a:p xmlns:a="http://schemas.openxmlformats.org/drawingml/2006/main">
            <a:r>
              <a:t>Lectura: MECRO_Coheteria_Clase_09.pdf.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9: Primera simulación completa en OpenRocket.</a:t>
            </a:r>
          </a:p>
          <a:p xmlns:a="http://schemas.openxmlformats.org/drawingml/2006/main">
            <a:r>
              <a:t>En línea, 2 h. Tramo del núcleo: 4 min.</a:t>
            </a:r>
          </a:p>
          <a:p xmlns:a="http://schemas.openxmlformats.org/drawingml/2006/main">
            <a:r>
              <a:t/>
            </a:r>
          </a:p>
          <a:p xmlns:a="http://schemas.openxmlformats.org/drawingml/2006/main">
            <a:r>
              <a:t>Botón Plot / Export en la documentación de OpenRocket. Permite pasar de la fila de resultados a las variables del vuelo.</a:t>
            </a:r>
          </a:p>
          <a:p xmlns:a="http://schemas.openxmlformats.org/drawingml/2006/main">
            <a:r>
              <a:t>Localizar en la imagen las partes relacionadas con la pregunta.</a:t>
            </a:r>
          </a:p>
          <a:p xmlns:a="http://schemas.openxmlformats.org/drawingml/2006/main">
            <a:r>
              <a:t>¿Qué evento buscarás en Plot / Export?</a:t>
            </a:r>
          </a:p>
          <a:p xmlns:a="http://schemas.openxmlformats.org/drawingml/2006/main">
            <a:r>
              <a:t/>
            </a:r>
          </a:p>
          <a:p xmlns:a="http://schemas.openxmlformats.org/drawingml/2006/main">
            <a:r>
              <a:t>Resultado: Configurar el modelo completo, ejecutar una simulación guiada y leer sus fases sin confundir predicción con observación.</a:t>
            </a:r>
          </a:p>
          <a:p xmlns:a="http://schemas.openxmlformats.org/drawingml/2006/main">
            <a:r>
              <a:t>Misión: Obtener una predicción útil para revisar el conjunto y preparar comparaciones.</a:t>
            </a:r>
          </a:p>
          <a:p xmlns:a="http://schemas.openxmlformats.org/drawingml/2006/main">
            <a:r>
              <a:t>Entrega: Archivo completo, condiciones, gráficas y CSV exportado.</a:t>
            </a:r>
          </a:p>
          <a:p xmlns:a="http://schemas.openxmlformats.org/drawingml/2006/main">
            <a:r>
              <a:t/>
            </a:r>
          </a:p>
          <a:p xmlns:a="http://schemas.openxmlformats.org/drawingml/2006/main">
            <a:r>
              <a:t>Preguntas y respuestas</a:t>
            </a:r>
          </a:p>
          <a:p xmlns:a="http://schemas.openxmlformats.org/drawingml/2006/main">
            <a:r>
              <a:t>¿El motor empuja hasta el apogeo?</a:t>
            </a:r>
          </a:p>
          <a:p xmlns:a="http://schemas.openxmlformats.org/drawingml/2006/main">
            <a:r>
              <a:t>No necesariamente; el vehículo puede seguir subiendo después de terminar el empuje.</a:t>
            </a:r>
          </a:p>
          <a:p xmlns:a="http://schemas.openxmlformats.org/drawingml/2006/main">
            <a:r>
              <a:t/>
            </a:r>
          </a:p>
          <a:p xmlns:a="http://schemas.openxmlformats.org/drawingml/2006/main">
            <a:r>
              <a:t>¿Una predicción es una medición?</a:t>
            </a:r>
          </a:p>
          <a:p xmlns:a="http://schemas.openxmlformats.org/drawingml/2006/main">
            <a:r>
              <a:t>No. Se compara después con observaciones identificadas.</a:t>
            </a:r>
          </a:p>
          <a:p xmlns:a="http://schemas.openxmlformats.org/drawingml/2006/main">
            <a:r>
              <a:t/>
            </a:r>
          </a:p>
          <a:p xmlns:a="http://schemas.openxmlformats.org/drawingml/2006/main">
            <a:r>
              <a:t>¿Puedo atribuir a la nariz una diferencia si cambié el motor?</a:t>
            </a:r>
          </a:p>
          <a:p xmlns:a="http://schemas.openxmlformats.org/drawingml/2006/main">
            <a:r>
              <a:t>No sin separar o explicar esos cambios.</a:t>
            </a:r>
          </a:p>
          <a:p xmlns:a="http://schemas.openxmlformats.org/drawingml/2006/main">
            <a:r>
              <a:t/>
            </a:r>
          </a:p>
          <a:p xmlns:a="http://schemas.openxmlformats.org/drawingml/2006/main">
            <a:r>
              <a:t>Fuentes</a:t>
            </a:r>
          </a:p>
          <a:p xmlns:a="http://schemas.openxmlformats.org/drawingml/2006/main">
            <a:r>
              <a:t>OpenRocket. Getting Started. https://openrocket.readthedocs.io/en/latest/setup/getting_started.html</a:t>
            </a:r>
          </a:p>
          <a:p xmlns:a="http://schemas.openxmlformats.org/drawingml/2006/main">
            <a:r>
              <a:t>OpenRocket. Advanced Flight Simulation. https://openrocket.readthedocs.io/en/latest/user_guide/advanced_flight_simulation.html</a:t>
            </a:r>
          </a:p>
          <a:p xmlns:a="http://schemas.openxmlformats.org/drawingml/2006/main">
            <a:r>
              <a:t>NASA Glenn. Flight of a Model Rocket. https://www1.grc.nasa.gov/beginners-guide-to-aeronautics/flight-of-a-model-rocket/</a:t>
            </a:r>
          </a:p>
          <a:p xmlns:a="http://schemas.openxmlformats.org/drawingml/2006/main">
            <a:r>
              <a:t>Lectura: MECRO_Coheteria_Clase_09.pdf.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9: Primera simulación completa en OpenRocket.</a:t>
            </a:r>
          </a:p>
          <a:p xmlns:a="http://schemas.openxmlformats.org/drawingml/2006/main">
            <a:r>
              <a:t>En línea, 2 h. Tramo del núcleo: 5 min.</a:t>
            </a:r>
          </a:p>
          <a:p xmlns:a="http://schemas.openxmlformats.org/drawingml/2006/main">
            <a:r>
              <a:t/>
            </a:r>
          </a:p>
          <a:p xmlns:a="http://schemas.openxmlformats.org/drawingml/2006/main">
            <a:r>
              <a:t>Crea o edita la simulación correspondiente a CONFIG_A y revisa las condiciones de entrada.</a:t>
            </a:r>
          </a:p>
          <a:p xmlns:a="http://schemas.openxmlformats.org/drawingml/2006/main">
            <a:r>
              <a:t>Ejecuta según la interfaz de la versión instalada y lee avisos antes de aceptar los resultados.</a:t>
            </a:r>
          </a:p>
          <a:p xmlns:a="http://schemas.openxmlformats.org/drawingml/2006/main">
            <a:r>
              <a:t>Abre Plot / Export y elige tiempo en el eje horizontal.</a:t>
            </a:r>
          </a:p>
          <a:p xmlns:a="http://schemas.openxmlformats.org/drawingml/2006/main">
            <a:r>
              <a:t>Representa altura y velocidad vertical con sus unidades. Activa las marcas de eventos relevantes.</a:t>
            </a:r>
          </a:p>
          <a:p xmlns:a="http://schemas.openxmlformats.org/drawingml/2006/main">
            <a:r>
              <a:t>Anota apogeo, fin de empuje y evento de recuperación. Comprueba que pertenecen a la misma simulación.</a:t>
            </a:r>
          </a:p>
          <a:p xmlns:a="http://schemas.openxmlformats.org/drawingml/2006/main">
            <a:r>
              <a:t>Exporta un CSV con tiempo, variables seleccionadas y las condiciones guardadas en el expediente.</a:t>
            </a:r>
          </a:p>
          <a:p xmlns:a="http://schemas.openxmlformats.org/drawingml/2006/main">
            <a:r>
              <a:t>Comprobar un paso en el objeto o programa antes de continuar.</a:t>
            </a:r>
          </a:p>
          <a:p xmlns:a="http://schemas.openxmlformats.org/drawingml/2006/main">
            <a:r>
              <a:t/>
            </a:r>
          </a:p>
          <a:p xmlns:a="http://schemas.openxmlformats.org/drawingml/2006/main">
            <a:r>
              <a:t>Resultado: Configurar el modelo completo, ejecutar una simulación guiada y leer sus fases sin confundir predicción con observación.</a:t>
            </a:r>
          </a:p>
          <a:p xmlns:a="http://schemas.openxmlformats.org/drawingml/2006/main">
            <a:r>
              <a:t>Misión: Obtener una predicción útil para revisar el conjunto y preparar comparaciones.</a:t>
            </a:r>
          </a:p>
          <a:p xmlns:a="http://schemas.openxmlformats.org/drawingml/2006/main">
            <a:r>
              <a:t>Entrega: Archivo completo, condiciones, gráficas y CSV exportado.</a:t>
            </a:r>
          </a:p>
          <a:p xmlns:a="http://schemas.openxmlformats.org/drawingml/2006/main">
            <a:r>
              <a:t/>
            </a:r>
          </a:p>
          <a:p xmlns:a="http://schemas.openxmlformats.org/drawingml/2006/main">
            <a:r>
              <a:t>Preguntas y respuestas</a:t>
            </a:r>
          </a:p>
          <a:p xmlns:a="http://schemas.openxmlformats.org/drawingml/2006/main">
            <a:r>
              <a:t>¿El motor empuja hasta el apogeo?</a:t>
            </a:r>
          </a:p>
          <a:p xmlns:a="http://schemas.openxmlformats.org/drawingml/2006/main">
            <a:r>
              <a:t>No necesariamente; el vehículo puede seguir subiendo después de terminar el empuje.</a:t>
            </a:r>
          </a:p>
          <a:p xmlns:a="http://schemas.openxmlformats.org/drawingml/2006/main">
            <a:r>
              <a:t/>
            </a:r>
          </a:p>
          <a:p xmlns:a="http://schemas.openxmlformats.org/drawingml/2006/main">
            <a:r>
              <a:t>¿Una predicción es una medición?</a:t>
            </a:r>
          </a:p>
          <a:p xmlns:a="http://schemas.openxmlformats.org/drawingml/2006/main">
            <a:r>
              <a:t>No. Se compara después con observaciones identificadas.</a:t>
            </a:r>
          </a:p>
          <a:p xmlns:a="http://schemas.openxmlformats.org/drawingml/2006/main">
            <a:r>
              <a:t/>
            </a:r>
          </a:p>
          <a:p xmlns:a="http://schemas.openxmlformats.org/drawingml/2006/main">
            <a:r>
              <a:t>¿Puedo atribuir a la nariz una diferencia si cambié el motor?</a:t>
            </a:r>
          </a:p>
          <a:p xmlns:a="http://schemas.openxmlformats.org/drawingml/2006/main">
            <a:r>
              <a:t>No sin separar o explicar esos cambios.</a:t>
            </a:r>
          </a:p>
          <a:p xmlns:a="http://schemas.openxmlformats.org/drawingml/2006/main">
            <a:r>
              <a:t/>
            </a:r>
          </a:p>
          <a:p xmlns:a="http://schemas.openxmlformats.org/drawingml/2006/main">
            <a:r>
              <a:t>Fuentes</a:t>
            </a:r>
          </a:p>
          <a:p xmlns:a="http://schemas.openxmlformats.org/drawingml/2006/main">
            <a:r>
              <a:t>OpenRocket. Getting Started. https://openrocket.readthedocs.io/en/latest/setup/getting_started.html</a:t>
            </a:r>
          </a:p>
          <a:p xmlns:a="http://schemas.openxmlformats.org/drawingml/2006/main">
            <a:r>
              <a:t>OpenRocket. Advanced Flight Simulation. https://openrocket.readthedocs.io/en/latest/user_guide/advanced_flight_simulation.html</a:t>
            </a:r>
          </a:p>
          <a:p xmlns:a="http://schemas.openxmlformats.org/drawingml/2006/main">
            <a:r>
              <a:t>NASA Glenn. Flight of a Model Rocket. https://www1.grc.nasa.gov/beginners-guide-to-aeronautics/flight-of-a-model-rocket/</a:t>
            </a:r>
          </a:p>
          <a:p xmlns:a="http://schemas.openxmlformats.org/drawingml/2006/main">
            <a:r>
              <a:t>Lectura: MECRO_Coheteria_Clase_09.pdf.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9: Primera simulación completa en OpenRocket.</a:t>
            </a:r>
          </a:p>
          <a:p xmlns:a="http://schemas.openxmlformats.org/drawingml/2006/main">
            <a:r>
              <a:t>En línea, 2 h. Tramo del núcleo: 4 min.</a:t>
            </a:r>
          </a:p>
          <a:p xmlns:a="http://schemas.openxmlformats.org/drawingml/2006/main">
            <a:r>
              <a:t/>
            </a:r>
          </a:p>
          <a:p xmlns:a="http://schemas.openxmlformats.org/drawingml/2006/main">
            <a:r>
              <a:t>Para comparar narices o aletas, comienza con una copia del modelo completo. Conserva motor, condiciones y entradas comunes. Si el cambio de geometría implica otra masa real, puedes estudiar dos preguntas: el cambio geométrico idealizado y el cambio del objeto que realmente fabricarías. Debes indicar cuál estás respondiendo.</a:t>
            </a:r>
          </a:p>
          <a:p xmlns:a="http://schemas.openxmlformats.org/drawingml/2006/main">
            <a:r>
              <a:t/>
            </a:r>
          </a:p>
          <a:p xmlns:a="http://schemas.openxmlformats.org/drawingml/2006/main">
            <a:r>
              <a:t>Ejercicio: dos configuraciones didácticas predicen 80 y 82 m, pero la segunda también usa otro motor y otra masa.</a:t>
            </a:r>
          </a:p>
          <a:p xmlns:a="http://schemas.openxmlformats.org/drawingml/2006/main">
            <a:r>
              <a:t/>
            </a:r>
          </a:p>
          <a:p xmlns:a="http://schemas.openxmlformats.org/drawingml/2006/main">
            <a:r>
              <a:t>No se ofrece un resultado universal de rendimiento para cada forma. La práctica enseña a construir una comparación válida dentro del modelo que el equipo está utilizando.</a:t>
            </a:r>
          </a:p>
          <a:p xmlns:a="http://schemas.openxmlformats.org/drawingml/2006/main">
            <a:r>
              <a:t/>
            </a:r>
          </a:p>
          <a:p xmlns:a="http://schemas.openxmlformats.org/drawingml/2006/main">
            <a:r>
              <a:t>Una comparación por misión puede dar una decisión diferente a la búsqueda de una cifra de altura. Para aprender a construir, una alternativa de resultado parecido puede ser preferible si ya tiene un encaje repetible y un repuesto. Para el demostrador científico puede pesar el acceso a la carga. Los resultados del programa se incorporan a esa decisión junto con la ficha de taller; no borran los otros requisitos del proyecto.</a:t>
            </a:r>
          </a:p>
          <a:p xmlns:a="http://schemas.openxmlformats.org/drawingml/2006/main">
            <a:r>
              <a:t>Pregunta para el grupo: ¿A qué cambio puedes atribuir la diferencia?</a:t>
            </a:r>
          </a:p>
          <a:p xmlns:a="http://schemas.openxmlformats.org/drawingml/2006/main">
            <a:r>
              <a:t/>
            </a:r>
          </a:p>
          <a:p xmlns:a="http://schemas.openxmlformats.org/drawingml/2006/main">
            <a:r>
              <a:t>Resultado: Configurar el modelo completo, ejecutar una simulación guiada y leer sus fases sin confundir predicción con observación.</a:t>
            </a:r>
          </a:p>
          <a:p xmlns:a="http://schemas.openxmlformats.org/drawingml/2006/main">
            <a:r>
              <a:t>Misión: Obtener una predicción útil para revisar el conjunto y preparar comparaciones.</a:t>
            </a:r>
          </a:p>
          <a:p xmlns:a="http://schemas.openxmlformats.org/drawingml/2006/main">
            <a:r>
              <a:t>Entrega: Archivo completo, condiciones, gráficas y CSV exportado.</a:t>
            </a:r>
          </a:p>
          <a:p xmlns:a="http://schemas.openxmlformats.org/drawingml/2006/main">
            <a:r>
              <a:t/>
            </a:r>
          </a:p>
          <a:p xmlns:a="http://schemas.openxmlformats.org/drawingml/2006/main">
            <a:r>
              <a:t>Preguntas y respuestas</a:t>
            </a:r>
          </a:p>
          <a:p xmlns:a="http://schemas.openxmlformats.org/drawingml/2006/main">
            <a:r>
              <a:t>¿El motor empuja hasta el apogeo?</a:t>
            </a:r>
          </a:p>
          <a:p xmlns:a="http://schemas.openxmlformats.org/drawingml/2006/main">
            <a:r>
              <a:t>No necesariamente; el vehículo puede seguir subiendo después de terminar el empuje.</a:t>
            </a:r>
          </a:p>
          <a:p xmlns:a="http://schemas.openxmlformats.org/drawingml/2006/main">
            <a:r>
              <a:t/>
            </a:r>
          </a:p>
          <a:p xmlns:a="http://schemas.openxmlformats.org/drawingml/2006/main">
            <a:r>
              <a:t>¿Una predicción es una medición?</a:t>
            </a:r>
          </a:p>
          <a:p xmlns:a="http://schemas.openxmlformats.org/drawingml/2006/main">
            <a:r>
              <a:t>No. Se compara después con observaciones identificadas.</a:t>
            </a:r>
          </a:p>
          <a:p xmlns:a="http://schemas.openxmlformats.org/drawingml/2006/main">
            <a:r>
              <a:t/>
            </a:r>
          </a:p>
          <a:p xmlns:a="http://schemas.openxmlformats.org/drawingml/2006/main">
            <a:r>
              <a:t>¿Puedo atribuir a la nariz una diferencia si cambié el motor?</a:t>
            </a:r>
          </a:p>
          <a:p xmlns:a="http://schemas.openxmlformats.org/drawingml/2006/main">
            <a:r>
              <a:t>No sin separar o explicar esos cambios.</a:t>
            </a:r>
          </a:p>
          <a:p xmlns:a="http://schemas.openxmlformats.org/drawingml/2006/main">
            <a:r>
              <a:t/>
            </a:r>
          </a:p>
          <a:p xmlns:a="http://schemas.openxmlformats.org/drawingml/2006/main">
            <a:r>
              <a:t>Fuentes</a:t>
            </a:r>
          </a:p>
          <a:p xmlns:a="http://schemas.openxmlformats.org/drawingml/2006/main">
            <a:r>
              <a:t>OpenRocket. Getting Started. https://openrocket.readthedocs.io/en/latest/setup/getting_started.html</a:t>
            </a:r>
          </a:p>
          <a:p xmlns:a="http://schemas.openxmlformats.org/drawingml/2006/main">
            <a:r>
              <a:t>OpenRocket. Advanced Flight Simulation. https://openrocket.readthedocs.io/en/latest/user_guide/advanced_flight_simulation.html</a:t>
            </a:r>
          </a:p>
          <a:p xmlns:a="http://schemas.openxmlformats.org/drawingml/2006/main">
            <a:r>
              <a:t>NASA Glenn. Flight of a Model Rocket. https://www1.grc.nasa.gov/beginners-guide-to-aeronautics/flight-of-a-model-rocket/</a:t>
            </a:r>
          </a:p>
          <a:p xmlns:a="http://schemas.openxmlformats.org/drawingml/2006/main">
            <a:r>
              <a:t>Lectura: MECRO_Coheteria_Clase_09.pdf.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9: Primera simulación completa en OpenRocket.</a:t>
            </a:r>
          </a:p>
          <a:p xmlns:a="http://schemas.openxmlformats.org/drawingml/2006/main">
            <a:r>
              <a:t>En línea, 2 h. Tramo del núcleo: 4 min.</a:t>
            </a:r>
          </a:p>
          <a:p xmlns:a="http://schemas.openxmlformats.org/drawingml/2006/main">
            <a:r>
              <a:t/>
            </a:r>
          </a:p>
          <a:p xmlns:a="http://schemas.openxmlformats.org/drawingml/2006/main">
            <a:r>
              <a:t>Dato / A / B</a:t>
            </a:r>
          </a:p>
          <a:p xmlns:a="http://schemas.openxmlformats.org/drawingml/2006/main">
            <a:r>
              <a:t>Archivo y revisión / Identificar / Identificar</a:t>
            </a:r>
          </a:p>
          <a:p xmlns:a="http://schemas.openxmlformats.org/drawingml/2006/main">
            <a:r>
              <a:t>Cambio propuesto / Referencia / Describir</a:t>
            </a:r>
          </a:p>
          <a:p xmlns:a="http://schemas.openxmlformats.org/drawingml/2006/main">
            <a:r>
              <a:t>Motor y condiciones / Conservar / Confirmar</a:t>
            </a:r>
          </a:p>
          <a:p xmlns:a="http://schemas.openxmlformats.org/drawingml/2006/main">
            <a:r>
              <a:t>Masa y configuración / Registrar / Registrar</a:t>
            </a:r>
          </a:p>
          <a:p xmlns:a="http://schemas.openxmlformats.org/drawingml/2006/main">
            <a:r>
              <a:t>Resultados y avisos / Exportar / Exportar</a:t>
            </a:r>
          </a:p>
          <a:p xmlns:a="http://schemas.openxmlformats.org/drawingml/2006/main">
            <a:r>
              <a:t>Comparar dos filas y justificar con la misión.</a:t>
            </a:r>
          </a:p>
          <a:p xmlns:a="http://schemas.openxmlformats.org/drawingml/2006/main">
            <a:r>
              <a:t/>
            </a:r>
          </a:p>
          <a:p xmlns:a="http://schemas.openxmlformats.org/drawingml/2006/main">
            <a:r>
              <a:t>Resultado: Configurar el modelo completo, ejecutar una simulación guiada y leer sus fases sin confundir predicción con observación.</a:t>
            </a:r>
          </a:p>
          <a:p xmlns:a="http://schemas.openxmlformats.org/drawingml/2006/main">
            <a:r>
              <a:t>Misión: Obtener una predicción útil para revisar el conjunto y preparar comparaciones.</a:t>
            </a:r>
          </a:p>
          <a:p xmlns:a="http://schemas.openxmlformats.org/drawingml/2006/main">
            <a:r>
              <a:t>Entrega: Archivo completo, condiciones, gráficas y CSV exportado.</a:t>
            </a:r>
          </a:p>
          <a:p xmlns:a="http://schemas.openxmlformats.org/drawingml/2006/main">
            <a:r>
              <a:t/>
            </a:r>
          </a:p>
          <a:p xmlns:a="http://schemas.openxmlformats.org/drawingml/2006/main">
            <a:r>
              <a:t>Preguntas y respuestas</a:t>
            </a:r>
          </a:p>
          <a:p xmlns:a="http://schemas.openxmlformats.org/drawingml/2006/main">
            <a:r>
              <a:t>¿El motor empuja hasta el apogeo?</a:t>
            </a:r>
          </a:p>
          <a:p xmlns:a="http://schemas.openxmlformats.org/drawingml/2006/main">
            <a:r>
              <a:t>No necesariamente; el vehículo puede seguir subiendo después de terminar el empuje.</a:t>
            </a:r>
          </a:p>
          <a:p xmlns:a="http://schemas.openxmlformats.org/drawingml/2006/main">
            <a:r>
              <a:t/>
            </a:r>
          </a:p>
          <a:p xmlns:a="http://schemas.openxmlformats.org/drawingml/2006/main">
            <a:r>
              <a:t>¿Una predicción es una medición?</a:t>
            </a:r>
          </a:p>
          <a:p xmlns:a="http://schemas.openxmlformats.org/drawingml/2006/main">
            <a:r>
              <a:t>No. Se compara después con observaciones identificadas.</a:t>
            </a:r>
          </a:p>
          <a:p xmlns:a="http://schemas.openxmlformats.org/drawingml/2006/main">
            <a:r>
              <a:t/>
            </a:r>
          </a:p>
          <a:p xmlns:a="http://schemas.openxmlformats.org/drawingml/2006/main">
            <a:r>
              <a:t>¿Puedo atribuir a la nariz una diferencia si cambié el motor?</a:t>
            </a:r>
          </a:p>
          <a:p xmlns:a="http://schemas.openxmlformats.org/drawingml/2006/main">
            <a:r>
              <a:t>No sin separar o explicar esos cambios.</a:t>
            </a:r>
          </a:p>
          <a:p xmlns:a="http://schemas.openxmlformats.org/drawingml/2006/main">
            <a:r>
              <a:t/>
            </a:r>
          </a:p>
          <a:p xmlns:a="http://schemas.openxmlformats.org/drawingml/2006/main">
            <a:r>
              <a:t>Fuentes</a:t>
            </a:r>
          </a:p>
          <a:p xmlns:a="http://schemas.openxmlformats.org/drawingml/2006/main">
            <a:r>
              <a:t>OpenRocket. Getting Started. https://openrocket.readthedocs.io/en/latest/setup/getting_started.html</a:t>
            </a:r>
          </a:p>
          <a:p xmlns:a="http://schemas.openxmlformats.org/drawingml/2006/main">
            <a:r>
              <a:t>OpenRocket. Advanced Flight Simulation. https://openrocket.readthedocs.io/en/latest/user_guide/advanced_flight_simulation.html</a:t>
            </a:r>
          </a:p>
          <a:p xmlns:a="http://schemas.openxmlformats.org/drawingml/2006/main">
            <a:r>
              <a:t>NASA Glenn. Flight of a Model Rocket. https://www1.grc.nasa.gov/beginners-guide-to-aeronautics/flight-of-a-model-rocket/</a:t>
            </a:r>
          </a:p>
          <a:p xmlns:a="http://schemas.openxmlformats.org/drawingml/2006/main">
            <a:r>
              <a:t>Lectura: MECRO_Coheteria_Clase_09.pdf.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9: Primera simulación completa en OpenRocket.</a:t>
            </a:r>
          </a:p>
          <a:p xmlns:a="http://schemas.openxmlformats.org/drawingml/2006/main">
            <a:r>
              <a:t>En línea, 2 h. Tramo del núcleo: 5 min.</a:t>
            </a:r>
          </a:p>
          <a:p xmlns:a="http://schemas.openxmlformats.org/drawingml/2006/main">
            <a:r>
              <a:t/>
            </a:r>
          </a:p>
          <a:p xmlns:a="http://schemas.openxmlformats.org/drawingml/2006/main">
            <a:r>
              <a:t>Caso</a:t>
            </a:r>
          </a:p>
          <a:p xmlns:a="http://schemas.openxmlformats.org/drawingml/2006/main">
            <a:r>
              <a:t>Ejercicio: dos configuraciones didácticas predicen 80 y 82 m, pero la segunda también usa otro motor y otra masa.</a:t>
            </a:r>
          </a:p>
          <a:p xmlns:a="http://schemas.openxmlformats.org/drawingml/2006/main">
            <a:r>
              <a:t>Explicación</a:t>
            </a:r>
          </a:p>
          <a:p xmlns:a="http://schemas.openxmlformats.org/drawingml/2006/main">
            <a:r>
              <a:t>No se puede atribuir la diferencia exclusivamente a la nariz. La comparación mezcló cambios. Recupera una referencia común o explica que se compararon dos configuraciones completas.</a:t>
            </a:r>
          </a:p>
          <a:p xmlns:a="http://schemas.openxmlformats.org/drawingml/2006/main">
            <a:r>
              <a:t>Dar tiempo para responder antes de presentar la solución oralmente.</a:t>
            </a:r>
          </a:p>
          <a:p xmlns:a="http://schemas.openxmlformats.org/drawingml/2006/main">
            <a:r>
              <a:t/>
            </a:r>
          </a:p>
          <a:p xmlns:a="http://schemas.openxmlformats.org/drawingml/2006/main">
            <a:r>
              <a:t>Resultado: Configurar el modelo completo, ejecutar una simulación guiada y leer sus fases sin confundir predicción con observación.</a:t>
            </a:r>
          </a:p>
          <a:p xmlns:a="http://schemas.openxmlformats.org/drawingml/2006/main">
            <a:r>
              <a:t>Misión: Obtener una predicción útil para revisar el conjunto y preparar comparaciones.</a:t>
            </a:r>
          </a:p>
          <a:p xmlns:a="http://schemas.openxmlformats.org/drawingml/2006/main">
            <a:r>
              <a:t>Entrega: Archivo completo, condiciones, gráficas y CSV exportado.</a:t>
            </a:r>
          </a:p>
          <a:p xmlns:a="http://schemas.openxmlformats.org/drawingml/2006/main">
            <a:r>
              <a:t/>
            </a:r>
          </a:p>
          <a:p xmlns:a="http://schemas.openxmlformats.org/drawingml/2006/main">
            <a:r>
              <a:t>Preguntas y respuestas</a:t>
            </a:r>
          </a:p>
          <a:p xmlns:a="http://schemas.openxmlformats.org/drawingml/2006/main">
            <a:r>
              <a:t>¿El motor empuja hasta el apogeo?</a:t>
            </a:r>
          </a:p>
          <a:p xmlns:a="http://schemas.openxmlformats.org/drawingml/2006/main">
            <a:r>
              <a:t>No necesariamente; el vehículo puede seguir subiendo después de terminar el empuje.</a:t>
            </a:r>
          </a:p>
          <a:p xmlns:a="http://schemas.openxmlformats.org/drawingml/2006/main">
            <a:r>
              <a:t/>
            </a:r>
          </a:p>
          <a:p xmlns:a="http://schemas.openxmlformats.org/drawingml/2006/main">
            <a:r>
              <a:t>¿Una predicción es una medición?</a:t>
            </a:r>
          </a:p>
          <a:p xmlns:a="http://schemas.openxmlformats.org/drawingml/2006/main">
            <a:r>
              <a:t>No. Se compara después con observaciones identificadas.</a:t>
            </a:r>
          </a:p>
          <a:p xmlns:a="http://schemas.openxmlformats.org/drawingml/2006/main">
            <a:r>
              <a:t/>
            </a:r>
          </a:p>
          <a:p xmlns:a="http://schemas.openxmlformats.org/drawingml/2006/main">
            <a:r>
              <a:t>¿Puedo atribuir a la nariz una diferencia si cambié el motor?</a:t>
            </a:r>
          </a:p>
          <a:p xmlns:a="http://schemas.openxmlformats.org/drawingml/2006/main">
            <a:r>
              <a:t>No sin separar o explicar esos cambios.</a:t>
            </a:r>
          </a:p>
          <a:p xmlns:a="http://schemas.openxmlformats.org/drawingml/2006/main">
            <a:r>
              <a:t/>
            </a:r>
          </a:p>
          <a:p xmlns:a="http://schemas.openxmlformats.org/drawingml/2006/main">
            <a:r>
              <a:t>Fuentes</a:t>
            </a:r>
          </a:p>
          <a:p xmlns:a="http://schemas.openxmlformats.org/drawingml/2006/main">
            <a:r>
              <a:t>OpenRocket. Getting Started. https://openrocket.readthedocs.io/en/latest/setup/getting_started.html</a:t>
            </a:r>
          </a:p>
          <a:p xmlns:a="http://schemas.openxmlformats.org/drawingml/2006/main">
            <a:r>
              <a:t>OpenRocket. Advanced Flight Simulation. https://openrocket.readthedocs.io/en/latest/user_guide/advanced_flight_simulation.html</a:t>
            </a:r>
          </a:p>
          <a:p xmlns:a="http://schemas.openxmlformats.org/drawingml/2006/main">
            <a:r>
              <a:t>NASA Glenn. Flight of a Model Rocket. https://www1.grc.nasa.gov/beginners-guide-to-aeronautics/flight-of-a-model-rocket/</a:t>
            </a:r>
          </a:p>
          <a:p xmlns:a="http://schemas.openxmlformats.org/drawingml/2006/main">
            <a:r>
              <a:t>Lectura: MECRO_Coheteria_Clase_09.pdf.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9: Primera simulación completa en OpenRocket.</a:t>
            </a:r>
          </a:p>
          <a:p xmlns:a="http://schemas.openxmlformats.org/drawingml/2006/main">
            <a:r>
              <a:t>En línea, 2 h. Tramo del núcleo: 4 min.</a:t>
            </a:r>
          </a:p>
          <a:p xmlns:a="http://schemas.openxmlformats.org/drawingml/2006/main">
            <a:r>
              <a:t/>
            </a:r>
          </a:p>
          <a:p xmlns:a="http://schemas.openxmlformats.org/drawingml/2006/main">
            <a:r>
              <a:t>El resultado de un simulador es una predicción. El objeto fabricado, el ambiente y la operación pueden diferir de las entradas. Por eso antes del vuelo se revisa la correspondencia entre archivo y conjunto final. Después se comparan observaciones que realmente se hayan registrado.</a:t>
            </a:r>
          </a:p>
          <a:p xmlns:a="http://schemas.openxmlformats.org/drawingml/2006/main">
            <a:r>
              <a:t/>
            </a:r>
          </a:p>
          <a:p xmlns:a="http://schemas.openxmlformats.org/drawingml/2006/main">
            <a:r>
              <a:t>“En CONFIG_A, con estas entradas, el programa predice este evento. La masa del conjunto todavía debe actualizarse después del montaje”.</a:t>
            </a:r>
          </a:p>
          <a:p xmlns:a="http://schemas.openxmlformats.org/drawingml/2006/main">
            <a:r>
              <a:t/>
            </a:r>
          </a:p>
          <a:p xmlns:a="http://schemas.openxmlformats.org/drawingml/2006/main">
            <a:r>
              <a:t>Entrega el archivo completo, una captura de las condiciones, las gráficas elegidas y el CSV. Señala un aviso o limitación que hayas revisado. La tarea de clase consiste en explicar el resultado, no únicamente en hacer clic en simular.</a:t>
            </a:r>
          </a:p>
          <a:p xmlns:a="http://schemas.openxmlformats.org/drawingml/2006/main">
            <a:r>
              <a:t>Pregunta para el grupo: ¿Qué es predicción y qué es observación?</a:t>
            </a:r>
          </a:p>
          <a:p xmlns:a="http://schemas.openxmlformats.org/drawingml/2006/main">
            <a:r>
              <a:t/>
            </a:r>
          </a:p>
          <a:p xmlns:a="http://schemas.openxmlformats.org/drawingml/2006/main">
            <a:r>
              <a:t>Resultado: Configurar el modelo completo, ejecutar una simulación guiada y leer sus fases sin confundir predicción con observación.</a:t>
            </a:r>
          </a:p>
          <a:p xmlns:a="http://schemas.openxmlformats.org/drawingml/2006/main">
            <a:r>
              <a:t>Misión: Obtener una predicción útil para revisar el conjunto y preparar comparaciones.</a:t>
            </a:r>
          </a:p>
          <a:p xmlns:a="http://schemas.openxmlformats.org/drawingml/2006/main">
            <a:r>
              <a:t>Entrega: Archivo completo, condiciones, gráficas y CSV exportado.</a:t>
            </a:r>
          </a:p>
          <a:p xmlns:a="http://schemas.openxmlformats.org/drawingml/2006/main">
            <a:r>
              <a:t/>
            </a:r>
          </a:p>
          <a:p xmlns:a="http://schemas.openxmlformats.org/drawingml/2006/main">
            <a:r>
              <a:t>Preguntas y respuestas</a:t>
            </a:r>
          </a:p>
          <a:p xmlns:a="http://schemas.openxmlformats.org/drawingml/2006/main">
            <a:r>
              <a:t>¿El motor empuja hasta el apogeo?</a:t>
            </a:r>
          </a:p>
          <a:p xmlns:a="http://schemas.openxmlformats.org/drawingml/2006/main">
            <a:r>
              <a:t>No necesariamente; el vehículo puede seguir subiendo después de terminar el empuje.</a:t>
            </a:r>
          </a:p>
          <a:p xmlns:a="http://schemas.openxmlformats.org/drawingml/2006/main">
            <a:r>
              <a:t/>
            </a:r>
          </a:p>
          <a:p xmlns:a="http://schemas.openxmlformats.org/drawingml/2006/main">
            <a:r>
              <a:t>¿Una predicción es una medición?</a:t>
            </a:r>
          </a:p>
          <a:p xmlns:a="http://schemas.openxmlformats.org/drawingml/2006/main">
            <a:r>
              <a:t>No. Se compara después con observaciones identificadas.</a:t>
            </a:r>
          </a:p>
          <a:p xmlns:a="http://schemas.openxmlformats.org/drawingml/2006/main">
            <a:r>
              <a:t/>
            </a:r>
          </a:p>
          <a:p xmlns:a="http://schemas.openxmlformats.org/drawingml/2006/main">
            <a:r>
              <a:t>¿Puedo atribuir a la nariz una diferencia si cambié el motor?</a:t>
            </a:r>
          </a:p>
          <a:p xmlns:a="http://schemas.openxmlformats.org/drawingml/2006/main">
            <a:r>
              <a:t>No sin separar o explicar esos cambios.</a:t>
            </a:r>
          </a:p>
          <a:p xmlns:a="http://schemas.openxmlformats.org/drawingml/2006/main">
            <a:r>
              <a:t/>
            </a:r>
          </a:p>
          <a:p xmlns:a="http://schemas.openxmlformats.org/drawingml/2006/main">
            <a:r>
              <a:t>Fuentes</a:t>
            </a:r>
          </a:p>
          <a:p xmlns:a="http://schemas.openxmlformats.org/drawingml/2006/main">
            <a:r>
              <a:t>OpenRocket. Getting Started. https://openrocket.readthedocs.io/en/latest/setup/getting_started.html</a:t>
            </a:r>
          </a:p>
          <a:p xmlns:a="http://schemas.openxmlformats.org/drawingml/2006/main">
            <a:r>
              <a:t>OpenRocket. Advanced Flight Simulation. https://openrocket.readthedocs.io/en/latest/user_guide/advanced_flight_simulation.html</a:t>
            </a:r>
          </a:p>
          <a:p xmlns:a="http://schemas.openxmlformats.org/drawingml/2006/main">
            <a:r>
              <a:t>NASA Glenn. Flight of a Model Rocket. https://www1.grc.nasa.gov/beginners-guide-to-aeronautics/flight-of-a-model-rocket/</a:t>
            </a:r>
          </a:p>
          <a:p xmlns:a="http://schemas.openxmlformats.org/drawingml/2006/main">
            <a:r>
              <a:t>Lectura: MECRO_Coheteria_Clase_09.pdf.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9: Primera simulación completa en OpenRocket.</a:t>
            </a:r>
          </a:p>
          <a:p xmlns:a="http://schemas.openxmlformats.org/drawingml/2006/main">
            <a:r>
              <a:t>En línea, 2 h. Tramo del núcleo: 4 min.</a:t>
            </a:r>
          </a:p>
          <a:p xmlns:a="http://schemas.openxmlformats.org/drawingml/2006/main">
            <a:r>
              <a:t/>
            </a:r>
          </a:p>
          <a:p xmlns:a="http://schemas.openxmlformats.org/drawingml/2006/main">
            <a:r>
              <a:t>Gráfica del ejemplo oficial de OpenRocket. Los valores y curvas corresponden a ese ejemplo y se usan para aprender a leer eventos.</a:t>
            </a:r>
          </a:p>
          <a:p xmlns:a="http://schemas.openxmlformats.org/drawingml/2006/main">
            <a:r>
              <a:t>Localizar en la imagen las partes relacionadas con la pregunta.</a:t>
            </a:r>
          </a:p>
          <a:p xmlns:a="http://schemas.openxmlformats.org/drawingml/2006/main">
            <a:r>
              <a:t>¿Qué es predicción y qué es observación?</a:t>
            </a:r>
          </a:p>
          <a:p xmlns:a="http://schemas.openxmlformats.org/drawingml/2006/main">
            <a:r>
              <a:t/>
            </a:r>
          </a:p>
          <a:p xmlns:a="http://schemas.openxmlformats.org/drawingml/2006/main">
            <a:r>
              <a:t>Resultado: Configurar el modelo completo, ejecutar una simulación guiada y leer sus fases sin confundir predicción con observación.</a:t>
            </a:r>
          </a:p>
          <a:p xmlns:a="http://schemas.openxmlformats.org/drawingml/2006/main">
            <a:r>
              <a:t>Misión: Obtener una predicción útil para revisar el conjunto y preparar comparaciones.</a:t>
            </a:r>
          </a:p>
          <a:p xmlns:a="http://schemas.openxmlformats.org/drawingml/2006/main">
            <a:r>
              <a:t>Entrega: Archivo completo, condiciones, gráficas y CSV exportado.</a:t>
            </a:r>
          </a:p>
          <a:p xmlns:a="http://schemas.openxmlformats.org/drawingml/2006/main">
            <a:r>
              <a:t/>
            </a:r>
          </a:p>
          <a:p xmlns:a="http://schemas.openxmlformats.org/drawingml/2006/main">
            <a:r>
              <a:t>Preguntas y respuestas</a:t>
            </a:r>
          </a:p>
          <a:p xmlns:a="http://schemas.openxmlformats.org/drawingml/2006/main">
            <a:r>
              <a:t>¿El motor empuja hasta el apogeo?</a:t>
            </a:r>
          </a:p>
          <a:p xmlns:a="http://schemas.openxmlformats.org/drawingml/2006/main">
            <a:r>
              <a:t>No necesariamente; el vehículo puede seguir subiendo después de terminar el empuje.</a:t>
            </a:r>
          </a:p>
          <a:p xmlns:a="http://schemas.openxmlformats.org/drawingml/2006/main">
            <a:r>
              <a:t/>
            </a:r>
          </a:p>
          <a:p xmlns:a="http://schemas.openxmlformats.org/drawingml/2006/main">
            <a:r>
              <a:t>¿Una predicción es una medición?</a:t>
            </a:r>
          </a:p>
          <a:p xmlns:a="http://schemas.openxmlformats.org/drawingml/2006/main">
            <a:r>
              <a:t>No. Se compara después con observaciones identificadas.</a:t>
            </a:r>
          </a:p>
          <a:p xmlns:a="http://schemas.openxmlformats.org/drawingml/2006/main">
            <a:r>
              <a:t/>
            </a:r>
          </a:p>
          <a:p xmlns:a="http://schemas.openxmlformats.org/drawingml/2006/main">
            <a:r>
              <a:t>¿Puedo atribuir a la nariz una diferencia si cambié el motor?</a:t>
            </a:r>
          </a:p>
          <a:p xmlns:a="http://schemas.openxmlformats.org/drawingml/2006/main">
            <a:r>
              <a:t>No sin separar o explicar esos cambios.</a:t>
            </a:r>
          </a:p>
          <a:p xmlns:a="http://schemas.openxmlformats.org/drawingml/2006/main">
            <a:r>
              <a:t/>
            </a:r>
          </a:p>
          <a:p xmlns:a="http://schemas.openxmlformats.org/drawingml/2006/main">
            <a:r>
              <a:t>Fuentes</a:t>
            </a:r>
          </a:p>
          <a:p xmlns:a="http://schemas.openxmlformats.org/drawingml/2006/main">
            <a:r>
              <a:t>OpenRocket. Getting Started. https://openrocket.readthedocs.io/en/latest/setup/getting_started.html</a:t>
            </a:r>
          </a:p>
          <a:p xmlns:a="http://schemas.openxmlformats.org/drawingml/2006/main">
            <a:r>
              <a:t>OpenRocket. Advanced Flight Simulation. https://openrocket.readthedocs.io/en/latest/user_guide/advanced_flight_simulation.html</a:t>
            </a:r>
          </a:p>
          <a:p xmlns:a="http://schemas.openxmlformats.org/drawingml/2006/main">
            <a:r>
              <a:t>NASA Glenn. Flight of a Model Rocket. https://www1.grc.nasa.gov/beginners-guide-to-aeronautics/flight-of-a-model-rocket/</a:t>
            </a:r>
          </a:p>
          <a:p xmlns:a="http://schemas.openxmlformats.org/drawingml/2006/main">
            <a:r>
              <a:t>Lectura: MECRO_Coheteria_Clase_09.pdf.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9: Primera simulación completa en OpenRocket.</a:t>
            </a:r>
          </a:p>
          <a:p xmlns:a="http://schemas.openxmlformats.org/drawingml/2006/main">
            <a:r>
              <a:t>En línea, 2 h. Tramo del núcleo: 5 min.</a:t>
            </a:r>
          </a:p>
          <a:p xmlns:a="http://schemas.openxmlformats.org/drawingml/2006/main">
            <a:r>
              <a:t/>
            </a:r>
          </a:p>
          <a:p xmlns:a="http://schemas.openxmlformats.org/drawingml/2006/main">
            <a:r>
              <a:t>Caso</a:t>
            </a:r>
          </a:p>
          <a:p xmlns:a="http://schemas.openxmlformats.org/drawingml/2006/main">
            <a:r>
              <a:t>“En CONFIG_A, con estas entradas, el programa predice este evento. La masa del conjunto todavía debe actualizarse después del montaje”.</a:t>
            </a:r>
          </a:p>
          <a:p xmlns:a="http://schemas.openxmlformats.org/drawingml/2006/main">
            <a:r>
              <a:t>Explicación</a:t>
            </a:r>
          </a:p>
          <a:p xmlns:a="http://schemas.openxmlformats.org/drawingml/2006/main">
            <a:r>
              <a:t>La frase permite usar la predicción sin presentarla como garantía. También identifica una acción concreta para mejorarla antes de la jornada.</a:t>
            </a:r>
          </a:p>
          <a:p xmlns:a="http://schemas.openxmlformats.org/drawingml/2006/main">
            <a:r>
              <a:t>Dar tiempo para responder antes de presentar la solución oralmente.</a:t>
            </a:r>
          </a:p>
          <a:p xmlns:a="http://schemas.openxmlformats.org/drawingml/2006/main">
            <a:r>
              <a:t/>
            </a:r>
          </a:p>
          <a:p xmlns:a="http://schemas.openxmlformats.org/drawingml/2006/main">
            <a:r>
              <a:t>Resultado: Configurar el modelo completo, ejecutar una simulación guiada y leer sus fases sin confundir predicción con observación.</a:t>
            </a:r>
          </a:p>
          <a:p xmlns:a="http://schemas.openxmlformats.org/drawingml/2006/main">
            <a:r>
              <a:t>Misión: Obtener una predicción útil para revisar el conjunto y preparar comparaciones.</a:t>
            </a:r>
          </a:p>
          <a:p xmlns:a="http://schemas.openxmlformats.org/drawingml/2006/main">
            <a:r>
              <a:t>Entrega: Archivo completo, condiciones, gráficas y CSV exportado.</a:t>
            </a:r>
          </a:p>
          <a:p xmlns:a="http://schemas.openxmlformats.org/drawingml/2006/main">
            <a:r>
              <a:t/>
            </a:r>
          </a:p>
          <a:p xmlns:a="http://schemas.openxmlformats.org/drawingml/2006/main">
            <a:r>
              <a:t>Preguntas y respuestas</a:t>
            </a:r>
          </a:p>
          <a:p xmlns:a="http://schemas.openxmlformats.org/drawingml/2006/main">
            <a:r>
              <a:t>¿El motor empuja hasta el apogeo?</a:t>
            </a:r>
          </a:p>
          <a:p xmlns:a="http://schemas.openxmlformats.org/drawingml/2006/main">
            <a:r>
              <a:t>No necesariamente; el vehículo puede seguir subiendo después de terminar el empuje.</a:t>
            </a:r>
          </a:p>
          <a:p xmlns:a="http://schemas.openxmlformats.org/drawingml/2006/main">
            <a:r>
              <a:t/>
            </a:r>
          </a:p>
          <a:p xmlns:a="http://schemas.openxmlformats.org/drawingml/2006/main">
            <a:r>
              <a:t>¿Una predicción es una medición?</a:t>
            </a:r>
          </a:p>
          <a:p xmlns:a="http://schemas.openxmlformats.org/drawingml/2006/main">
            <a:r>
              <a:t>No. Se compara después con observaciones identificadas.</a:t>
            </a:r>
          </a:p>
          <a:p xmlns:a="http://schemas.openxmlformats.org/drawingml/2006/main">
            <a:r>
              <a:t/>
            </a:r>
          </a:p>
          <a:p xmlns:a="http://schemas.openxmlformats.org/drawingml/2006/main">
            <a:r>
              <a:t>¿Puedo atribuir a la nariz una diferencia si cambié el motor?</a:t>
            </a:r>
          </a:p>
          <a:p xmlns:a="http://schemas.openxmlformats.org/drawingml/2006/main">
            <a:r>
              <a:t>No sin separar o explicar esos cambios.</a:t>
            </a:r>
          </a:p>
          <a:p xmlns:a="http://schemas.openxmlformats.org/drawingml/2006/main">
            <a:r>
              <a:t/>
            </a:r>
          </a:p>
          <a:p xmlns:a="http://schemas.openxmlformats.org/drawingml/2006/main">
            <a:r>
              <a:t>Fuentes</a:t>
            </a:r>
          </a:p>
          <a:p xmlns:a="http://schemas.openxmlformats.org/drawingml/2006/main">
            <a:r>
              <a:t>OpenRocket. Getting Started. https://openrocket.readthedocs.io/en/latest/setup/getting_started.html</a:t>
            </a:r>
          </a:p>
          <a:p xmlns:a="http://schemas.openxmlformats.org/drawingml/2006/main">
            <a:r>
              <a:t>OpenRocket. Advanced Flight Simulation. https://openrocket.readthedocs.io/en/latest/user_guide/advanced_flight_simulation.html</a:t>
            </a:r>
          </a:p>
          <a:p xmlns:a="http://schemas.openxmlformats.org/drawingml/2006/main">
            <a:r>
              <a:t>NASA Glenn. Flight of a Model Rocket. https://www1.grc.nasa.gov/beginners-guide-to-aeronautics/flight-of-a-model-rocket/</a:t>
            </a:r>
          </a:p>
          <a:p xmlns:a="http://schemas.openxmlformats.org/drawingml/2006/main">
            <a:r>
              <a:t>Lectura: MECRO_Coheteria_Clase_09.pdf.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9: Primera simulación completa en OpenRocket.</a:t>
            </a:r>
          </a:p>
          <a:p xmlns:a="http://schemas.openxmlformats.org/drawingml/2006/main">
            <a:r>
              <a:t>En línea, 2 h. Tramo del núcleo: 12 min.</a:t>
            </a:r>
          </a:p>
          <a:p xmlns:a="http://schemas.openxmlformats.org/drawingml/2006/main">
            <a:r>
              <a:t/>
            </a:r>
          </a:p>
          <a:p xmlns:a="http://schemas.openxmlformats.org/drawingml/2006/main">
            <a:r>
              <a:t>Revisar configuración y entradas del vehículo completo.</a:t>
            </a:r>
          </a:p>
          <a:p xmlns:a="http://schemas.openxmlformats.org/drawingml/2006/main">
            <a:r>
              <a:t>Ejecutar una simulación guiada y leer avisos.</a:t>
            </a:r>
          </a:p>
          <a:p xmlns:a="http://schemas.openxmlformats.org/drawingml/2006/main">
            <a:r>
              <a:t>Identificar fases y eventos en pocas variables.</a:t>
            </a:r>
          </a:p>
          <a:p xmlns:a="http://schemas.openxmlformats.org/drawingml/2006/main">
            <a:r>
              <a:t>Exportar resultados y conservar sus condiciones.</a:t>
            </a:r>
          </a:p>
          <a:p xmlns:a="http://schemas.openxmlformats.org/drawingml/2006/main">
            <a:r>
              <a:t>Rotar los roles y conservar al menos una evidencia revisable.</a:t>
            </a:r>
          </a:p>
          <a:p xmlns:a="http://schemas.openxmlformats.org/drawingml/2006/main">
            <a:r>
              <a:t/>
            </a:r>
          </a:p>
          <a:p xmlns:a="http://schemas.openxmlformats.org/drawingml/2006/main">
            <a:r>
              <a:t>Resultado: Configurar el modelo completo, ejecutar una simulación guiada y leer sus fases sin confundir predicción con observación.</a:t>
            </a:r>
          </a:p>
          <a:p xmlns:a="http://schemas.openxmlformats.org/drawingml/2006/main">
            <a:r>
              <a:t>Misión: Obtener una predicción útil para revisar el conjunto y preparar comparaciones.</a:t>
            </a:r>
          </a:p>
          <a:p xmlns:a="http://schemas.openxmlformats.org/drawingml/2006/main">
            <a:r>
              <a:t>Entrega: Archivo completo, condiciones, gráficas y CSV exportado.</a:t>
            </a:r>
          </a:p>
          <a:p xmlns:a="http://schemas.openxmlformats.org/drawingml/2006/main">
            <a:r>
              <a:t/>
            </a:r>
          </a:p>
          <a:p xmlns:a="http://schemas.openxmlformats.org/drawingml/2006/main">
            <a:r>
              <a:t>Preguntas y respuestas</a:t>
            </a:r>
          </a:p>
          <a:p xmlns:a="http://schemas.openxmlformats.org/drawingml/2006/main">
            <a:r>
              <a:t>¿El motor empuja hasta el apogeo?</a:t>
            </a:r>
          </a:p>
          <a:p xmlns:a="http://schemas.openxmlformats.org/drawingml/2006/main">
            <a:r>
              <a:t>No necesariamente; el vehículo puede seguir subiendo después de terminar el empuje.</a:t>
            </a:r>
          </a:p>
          <a:p xmlns:a="http://schemas.openxmlformats.org/drawingml/2006/main">
            <a:r>
              <a:t/>
            </a:r>
          </a:p>
          <a:p xmlns:a="http://schemas.openxmlformats.org/drawingml/2006/main">
            <a:r>
              <a:t>¿Una predicción es una medición?</a:t>
            </a:r>
          </a:p>
          <a:p xmlns:a="http://schemas.openxmlformats.org/drawingml/2006/main">
            <a:r>
              <a:t>No. Se compara después con observaciones identificadas.</a:t>
            </a:r>
          </a:p>
          <a:p xmlns:a="http://schemas.openxmlformats.org/drawingml/2006/main">
            <a:r>
              <a:t/>
            </a:r>
          </a:p>
          <a:p xmlns:a="http://schemas.openxmlformats.org/drawingml/2006/main">
            <a:r>
              <a:t>¿Puedo atribuir a la nariz una diferencia si cambié el motor?</a:t>
            </a:r>
          </a:p>
          <a:p xmlns:a="http://schemas.openxmlformats.org/drawingml/2006/main">
            <a:r>
              <a:t>No sin separar o explicar esos cambios.</a:t>
            </a:r>
          </a:p>
          <a:p xmlns:a="http://schemas.openxmlformats.org/drawingml/2006/main">
            <a:r>
              <a:t/>
            </a:r>
          </a:p>
          <a:p xmlns:a="http://schemas.openxmlformats.org/drawingml/2006/main">
            <a:r>
              <a:t>Fuentes</a:t>
            </a:r>
          </a:p>
          <a:p xmlns:a="http://schemas.openxmlformats.org/drawingml/2006/main">
            <a:r>
              <a:t>OpenRocket. Getting Started. https://openrocket.readthedocs.io/en/latest/setup/getting_started.html</a:t>
            </a:r>
          </a:p>
          <a:p xmlns:a="http://schemas.openxmlformats.org/drawingml/2006/main">
            <a:r>
              <a:t>OpenRocket. Advanced Flight Simulation. https://openrocket.readthedocs.io/en/latest/user_guide/advanced_flight_simulation.html</a:t>
            </a:r>
          </a:p>
          <a:p xmlns:a="http://schemas.openxmlformats.org/drawingml/2006/main">
            <a:r>
              <a:t>NASA Glenn. Flight of a Model Rocket. https://www1.grc.nasa.gov/beginners-guide-to-aeronautics/flight-of-a-model-rocket/</a:t>
            </a:r>
          </a:p>
          <a:p xmlns:a="http://schemas.openxmlformats.org/drawingml/2006/main">
            <a:r>
              <a:t>Lectura: MECRO_Coheteria_Clase_09.pdf.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9: Primera simulación completa en OpenRocket.</a:t>
            </a:r>
          </a:p>
          <a:p xmlns:a="http://schemas.openxmlformats.org/drawingml/2006/main">
            <a:r>
              <a:t>En línea, 2 h. Tramo del núcleo: 10 min.</a:t>
            </a:r>
          </a:p>
          <a:p xmlns:a="http://schemas.openxmlformats.org/drawingml/2006/main">
            <a:r>
              <a:t/>
            </a:r>
          </a:p>
          <a:p xmlns:a="http://schemas.openxmlformats.org/drawingml/2006/main">
            <a:r>
              <a:t>Cada equipo prepara una decisión y una evidencia. No aceptar una preferencia sin relacionarla con la misión.</a:t>
            </a:r>
          </a:p>
          <a:p xmlns:a="http://schemas.openxmlformats.org/drawingml/2006/main">
            <a:r>
              <a:t>Archivo completo, condiciones, gráficas y CSV exportado.</a:t>
            </a:r>
          </a:p>
          <a:p xmlns:a="http://schemas.openxmlformats.org/drawingml/2006/main">
            <a:r>
              <a:t/>
            </a:r>
          </a:p>
          <a:p xmlns:a="http://schemas.openxmlformats.org/drawingml/2006/main">
            <a:r>
              <a:t>Resultado: Configurar el modelo completo, ejecutar una simulación guiada y leer sus fases sin confundir predicción con observación.</a:t>
            </a:r>
          </a:p>
          <a:p xmlns:a="http://schemas.openxmlformats.org/drawingml/2006/main">
            <a:r>
              <a:t>Misión: Obtener una predicción útil para revisar el conjunto y preparar comparaciones.</a:t>
            </a:r>
          </a:p>
          <a:p xmlns:a="http://schemas.openxmlformats.org/drawingml/2006/main">
            <a:r>
              <a:t>Entrega: Archivo completo, condiciones, gráficas y CSV exportado.</a:t>
            </a:r>
          </a:p>
          <a:p xmlns:a="http://schemas.openxmlformats.org/drawingml/2006/main">
            <a:r>
              <a:t/>
            </a:r>
          </a:p>
          <a:p xmlns:a="http://schemas.openxmlformats.org/drawingml/2006/main">
            <a:r>
              <a:t>Preguntas y respuestas</a:t>
            </a:r>
          </a:p>
          <a:p xmlns:a="http://schemas.openxmlformats.org/drawingml/2006/main">
            <a:r>
              <a:t>¿El motor empuja hasta el apogeo?</a:t>
            </a:r>
          </a:p>
          <a:p xmlns:a="http://schemas.openxmlformats.org/drawingml/2006/main">
            <a:r>
              <a:t>No necesariamente; el vehículo puede seguir subiendo después de terminar el empuje.</a:t>
            </a:r>
          </a:p>
          <a:p xmlns:a="http://schemas.openxmlformats.org/drawingml/2006/main">
            <a:r>
              <a:t/>
            </a:r>
          </a:p>
          <a:p xmlns:a="http://schemas.openxmlformats.org/drawingml/2006/main">
            <a:r>
              <a:t>¿Una predicción es una medición?</a:t>
            </a:r>
          </a:p>
          <a:p xmlns:a="http://schemas.openxmlformats.org/drawingml/2006/main">
            <a:r>
              <a:t>No. Se compara después con observaciones identificadas.</a:t>
            </a:r>
          </a:p>
          <a:p xmlns:a="http://schemas.openxmlformats.org/drawingml/2006/main">
            <a:r>
              <a:t/>
            </a:r>
          </a:p>
          <a:p xmlns:a="http://schemas.openxmlformats.org/drawingml/2006/main">
            <a:r>
              <a:t>¿Puedo atribuir a la nariz una diferencia si cambié el motor?</a:t>
            </a:r>
          </a:p>
          <a:p xmlns:a="http://schemas.openxmlformats.org/drawingml/2006/main">
            <a:r>
              <a:t>No sin separar o explicar esos cambios.</a:t>
            </a:r>
          </a:p>
          <a:p xmlns:a="http://schemas.openxmlformats.org/drawingml/2006/main">
            <a:r>
              <a:t/>
            </a:r>
          </a:p>
          <a:p xmlns:a="http://schemas.openxmlformats.org/drawingml/2006/main">
            <a:r>
              <a:t>Fuentes</a:t>
            </a:r>
          </a:p>
          <a:p xmlns:a="http://schemas.openxmlformats.org/drawingml/2006/main">
            <a:r>
              <a:t>OpenRocket. Getting Started. https://openrocket.readthedocs.io/en/latest/setup/getting_started.html</a:t>
            </a:r>
          </a:p>
          <a:p xmlns:a="http://schemas.openxmlformats.org/drawingml/2006/main">
            <a:r>
              <a:t>OpenRocket. Advanced Flight Simulation. https://openrocket.readthedocs.io/en/latest/user_guide/advanced_flight_simulation.html</a:t>
            </a:r>
          </a:p>
          <a:p xmlns:a="http://schemas.openxmlformats.org/drawingml/2006/main">
            <a:r>
              <a:t>NASA Glenn. Flight of a Model Rocket. https://www1.grc.nasa.gov/beginners-guide-to-aeronautics/flight-of-a-model-rocket/</a:t>
            </a:r>
          </a:p>
          <a:p xmlns:a="http://schemas.openxmlformats.org/drawingml/2006/main">
            <a:r>
              <a:t>Lectura: MECRO_Coheteria_Clase_09.pdf.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9: Primera simulación completa en OpenRocket.</a:t>
            </a:r>
          </a:p>
          <a:p xmlns:a="http://schemas.openxmlformats.org/drawingml/2006/main">
            <a:r>
              <a:t>En línea, 2 h. Tramo del núcleo: 7 min.</a:t>
            </a:r>
          </a:p>
          <a:p xmlns:a="http://schemas.openxmlformats.org/drawingml/2006/main">
            <a:r>
              <a:t/>
            </a:r>
          </a:p>
          <a:p xmlns:a="http://schemas.openxmlformats.org/drawingml/2006/main">
            <a:r>
              <a:t>Primero respuesta individual, después discusión por equipos.</a:t>
            </a:r>
          </a:p>
          <a:p xmlns:a="http://schemas.openxmlformats.org/drawingml/2006/main">
            <a:r>
              <a:t>¿El motor empuja hasta el apogeo?</a:t>
            </a:r>
          </a:p>
          <a:p xmlns:a="http://schemas.openxmlformats.org/drawingml/2006/main">
            <a:r>
              <a:t>No necesariamente; el vehículo puede seguir subiendo después de terminar el empuje.</a:t>
            </a:r>
          </a:p>
          <a:p xmlns:a="http://schemas.openxmlformats.org/drawingml/2006/main">
            <a:r>
              <a:t/>
            </a:r>
          </a:p>
          <a:p xmlns:a="http://schemas.openxmlformats.org/drawingml/2006/main">
            <a:r>
              <a:t>¿Una predicción es una medición?</a:t>
            </a:r>
          </a:p>
          <a:p xmlns:a="http://schemas.openxmlformats.org/drawingml/2006/main">
            <a:r>
              <a:t>No. Se compara después con observaciones identificadas.</a:t>
            </a:r>
          </a:p>
          <a:p xmlns:a="http://schemas.openxmlformats.org/drawingml/2006/main">
            <a:r>
              <a:t/>
            </a:r>
          </a:p>
          <a:p xmlns:a="http://schemas.openxmlformats.org/drawingml/2006/main">
            <a:r>
              <a:t>¿Puedo atribuir a la nariz una diferencia si cambié el motor?</a:t>
            </a:r>
          </a:p>
          <a:p xmlns:a="http://schemas.openxmlformats.org/drawingml/2006/main">
            <a:r>
              <a:t>No sin separar o explicar esos cambios.</a:t>
            </a:r>
          </a:p>
          <a:p xmlns:a="http://schemas.openxmlformats.org/drawingml/2006/main">
            <a:r>
              <a:t/>
            </a:r>
          </a:p>
          <a:p xmlns:a="http://schemas.openxmlformats.org/drawingml/2006/main">
            <a:r>
              <a:t>Resultado: Configurar el modelo completo, ejecutar una simulación guiada y leer sus fases sin confundir predicción con observación.</a:t>
            </a:r>
          </a:p>
          <a:p xmlns:a="http://schemas.openxmlformats.org/drawingml/2006/main">
            <a:r>
              <a:t>Misión: Obtener una predicción útil para revisar el conjunto y preparar comparaciones.</a:t>
            </a:r>
          </a:p>
          <a:p xmlns:a="http://schemas.openxmlformats.org/drawingml/2006/main">
            <a:r>
              <a:t>Entrega: Archivo completo, condiciones, gráficas y CSV exportado.</a:t>
            </a:r>
          </a:p>
          <a:p xmlns:a="http://schemas.openxmlformats.org/drawingml/2006/main">
            <a:r>
              <a:t/>
            </a:r>
          </a:p>
          <a:p xmlns:a="http://schemas.openxmlformats.org/drawingml/2006/main">
            <a:r>
              <a:t>Preguntas y respuestas</a:t>
            </a:r>
          </a:p>
          <a:p xmlns:a="http://schemas.openxmlformats.org/drawingml/2006/main">
            <a:r>
              <a:t>¿El motor empuja hasta el apogeo?</a:t>
            </a:r>
          </a:p>
          <a:p xmlns:a="http://schemas.openxmlformats.org/drawingml/2006/main">
            <a:r>
              <a:t>No necesariamente; el vehículo puede seguir subiendo después de terminar el empuje.</a:t>
            </a:r>
          </a:p>
          <a:p xmlns:a="http://schemas.openxmlformats.org/drawingml/2006/main">
            <a:r>
              <a:t/>
            </a:r>
          </a:p>
          <a:p xmlns:a="http://schemas.openxmlformats.org/drawingml/2006/main">
            <a:r>
              <a:t>¿Una predicción es una medición?</a:t>
            </a:r>
          </a:p>
          <a:p xmlns:a="http://schemas.openxmlformats.org/drawingml/2006/main">
            <a:r>
              <a:t>No. Se compara después con observaciones identificadas.</a:t>
            </a:r>
          </a:p>
          <a:p xmlns:a="http://schemas.openxmlformats.org/drawingml/2006/main">
            <a:r>
              <a:t/>
            </a:r>
          </a:p>
          <a:p xmlns:a="http://schemas.openxmlformats.org/drawingml/2006/main">
            <a:r>
              <a:t>¿Puedo atribuir a la nariz una diferencia si cambié el motor?</a:t>
            </a:r>
          </a:p>
          <a:p xmlns:a="http://schemas.openxmlformats.org/drawingml/2006/main">
            <a:r>
              <a:t>No sin separar o explicar esos cambios.</a:t>
            </a:r>
          </a:p>
          <a:p xmlns:a="http://schemas.openxmlformats.org/drawingml/2006/main">
            <a:r>
              <a:t/>
            </a:r>
          </a:p>
          <a:p xmlns:a="http://schemas.openxmlformats.org/drawingml/2006/main">
            <a:r>
              <a:t>Fuentes</a:t>
            </a:r>
          </a:p>
          <a:p xmlns:a="http://schemas.openxmlformats.org/drawingml/2006/main">
            <a:r>
              <a:t>OpenRocket. Getting Started. https://openrocket.readthedocs.io/en/latest/setup/getting_started.html</a:t>
            </a:r>
          </a:p>
          <a:p xmlns:a="http://schemas.openxmlformats.org/drawingml/2006/main">
            <a:r>
              <a:t>OpenRocket. Advanced Flight Simulation. https://openrocket.readthedocs.io/en/latest/user_guide/advanced_flight_simulation.html</a:t>
            </a:r>
          </a:p>
          <a:p xmlns:a="http://schemas.openxmlformats.org/drawingml/2006/main">
            <a:r>
              <a:t>NASA Glenn. Flight of a Model Rocket. https://www1.grc.nasa.gov/beginners-guide-to-aeronautics/flight-of-a-model-rocket/</a:t>
            </a:r>
          </a:p>
          <a:p xmlns:a="http://schemas.openxmlformats.org/drawingml/2006/main">
            <a:r>
              <a:t>Lectura: MECRO_Coheteria_Clase_09.pdf.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9: Primera simulación completa en OpenRocket.</a:t>
            </a:r>
          </a:p>
          <a:p xmlns:a="http://schemas.openxmlformats.org/drawingml/2006/main">
            <a:r>
              <a:t>En línea, 2 h. Tramo del núcleo: 5 min.</a:t>
            </a:r>
          </a:p>
          <a:p xmlns:a="http://schemas.openxmlformats.org/drawingml/2006/main">
            <a:r>
              <a:t/>
            </a:r>
          </a:p>
          <a:p xmlns:a="http://schemas.openxmlformats.org/drawingml/2006/main">
            <a:r>
              <a:t>Pedir un ejemplo del objeto o del archivo para una de las respuestas.</a:t>
            </a:r>
          </a:p>
          <a:p xmlns:a="http://schemas.openxmlformats.org/drawingml/2006/main">
            <a:r>
              <a:t/>
            </a:r>
          </a:p>
          <a:p xmlns:a="http://schemas.openxmlformats.org/drawingml/2006/main">
            <a:r>
              <a:t>Resultado: Configurar el modelo completo, ejecutar una simulación guiada y leer sus fases sin confundir predicción con observación.</a:t>
            </a:r>
          </a:p>
          <a:p xmlns:a="http://schemas.openxmlformats.org/drawingml/2006/main">
            <a:r>
              <a:t>Misión: Obtener una predicción útil para revisar el conjunto y preparar comparaciones.</a:t>
            </a:r>
          </a:p>
          <a:p xmlns:a="http://schemas.openxmlformats.org/drawingml/2006/main">
            <a:r>
              <a:t>Entrega: Archivo completo, condiciones, gráficas y CSV exportado.</a:t>
            </a:r>
          </a:p>
          <a:p xmlns:a="http://schemas.openxmlformats.org/drawingml/2006/main">
            <a:r>
              <a:t/>
            </a:r>
          </a:p>
          <a:p xmlns:a="http://schemas.openxmlformats.org/drawingml/2006/main">
            <a:r>
              <a:t>Preguntas y respuestas</a:t>
            </a:r>
          </a:p>
          <a:p xmlns:a="http://schemas.openxmlformats.org/drawingml/2006/main">
            <a:r>
              <a:t>¿El motor empuja hasta el apogeo?</a:t>
            </a:r>
          </a:p>
          <a:p xmlns:a="http://schemas.openxmlformats.org/drawingml/2006/main">
            <a:r>
              <a:t>No necesariamente; el vehículo puede seguir subiendo después de terminar el empuje.</a:t>
            </a:r>
          </a:p>
          <a:p xmlns:a="http://schemas.openxmlformats.org/drawingml/2006/main">
            <a:r>
              <a:t/>
            </a:r>
          </a:p>
          <a:p xmlns:a="http://schemas.openxmlformats.org/drawingml/2006/main">
            <a:r>
              <a:t>¿Una predicción es una medición?</a:t>
            </a:r>
          </a:p>
          <a:p xmlns:a="http://schemas.openxmlformats.org/drawingml/2006/main">
            <a:r>
              <a:t>No. Se compara después con observaciones identificadas.</a:t>
            </a:r>
          </a:p>
          <a:p xmlns:a="http://schemas.openxmlformats.org/drawingml/2006/main">
            <a:r>
              <a:t/>
            </a:r>
          </a:p>
          <a:p xmlns:a="http://schemas.openxmlformats.org/drawingml/2006/main">
            <a:r>
              <a:t>¿Puedo atribuir a la nariz una diferencia si cambié el motor?</a:t>
            </a:r>
          </a:p>
          <a:p xmlns:a="http://schemas.openxmlformats.org/drawingml/2006/main">
            <a:r>
              <a:t>No sin separar o explicar esos cambios.</a:t>
            </a:r>
          </a:p>
          <a:p xmlns:a="http://schemas.openxmlformats.org/drawingml/2006/main">
            <a:r>
              <a:t/>
            </a:r>
          </a:p>
          <a:p xmlns:a="http://schemas.openxmlformats.org/drawingml/2006/main">
            <a:r>
              <a:t>Fuentes</a:t>
            </a:r>
          </a:p>
          <a:p xmlns:a="http://schemas.openxmlformats.org/drawingml/2006/main">
            <a:r>
              <a:t>OpenRocket. Getting Started. https://openrocket.readthedocs.io/en/latest/setup/getting_started.html</a:t>
            </a:r>
          </a:p>
          <a:p xmlns:a="http://schemas.openxmlformats.org/drawingml/2006/main">
            <a:r>
              <a:t>OpenRocket. Advanced Flight Simulation. https://openrocket.readthedocs.io/en/latest/user_guide/advanced_flight_simulation.html</a:t>
            </a:r>
          </a:p>
          <a:p xmlns:a="http://schemas.openxmlformats.org/drawingml/2006/main">
            <a:r>
              <a:t>NASA Glenn. Flight of a Model Rocket. https://www1.grc.nasa.gov/beginners-guide-to-aeronautics/flight-of-a-model-rocket/</a:t>
            </a:r>
          </a:p>
          <a:p xmlns:a="http://schemas.openxmlformats.org/drawingml/2006/main">
            <a:r>
              <a:t>Lectura: MECRO_Coheteria_Clase_09.pdf.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9: Primera simulación completa en OpenRocket.</a:t>
            </a:r>
          </a:p>
          <a:p xmlns:a="http://schemas.openxmlformats.org/drawingml/2006/main">
            <a:r>
              <a:t>En línea, 2 h. Tramo del núcleo: 5 min.</a:t>
            </a:r>
          </a:p>
          <a:p xmlns:a="http://schemas.openxmlformats.org/drawingml/2006/main">
            <a:r>
              <a:t/>
            </a:r>
          </a:p>
          <a:p xmlns:a="http://schemas.openxmlformats.org/drawingml/2006/main">
            <a:r>
              <a:t>Archivo completo, condiciones, gráficas y CSV exportado.</a:t>
            </a:r>
          </a:p>
          <a:p xmlns:a="http://schemas.openxmlformats.org/drawingml/2006/main">
            <a:r>
              <a:t>Las fuentes enlazadas de la lectura permiten ampliar la explicación sin exigir cálculo avanzado.</a:t>
            </a:r>
          </a:p>
          <a:p xmlns:a="http://schemas.openxmlformats.org/drawingml/2006/main">
            <a:r>
              <a:t/>
            </a:r>
          </a:p>
          <a:p xmlns:a="http://schemas.openxmlformats.org/drawingml/2006/main">
            <a:r>
              <a:t>Resultado: Configurar el modelo completo, ejecutar una simulación guiada y leer sus fases sin confundir predicción con observación.</a:t>
            </a:r>
          </a:p>
          <a:p xmlns:a="http://schemas.openxmlformats.org/drawingml/2006/main">
            <a:r>
              <a:t>Misión: Obtener una predicción útil para revisar el conjunto y preparar comparaciones.</a:t>
            </a:r>
          </a:p>
          <a:p xmlns:a="http://schemas.openxmlformats.org/drawingml/2006/main">
            <a:r>
              <a:t>Entrega: Archivo completo, condiciones, gráficas y CSV exportado.</a:t>
            </a:r>
          </a:p>
          <a:p xmlns:a="http://schemas.openxmlformats.org/drawingml/2006/main">
            <a:r>
              <a:t/>
            </a:r>
          </a:p>
          <a:p xmlns:a="http://schemas.openxmlformats.org/drawingml/2006/main">
            <a:r>
              <a:t>Preguntas y respuestas</a:t>
            </a:r>
          </a:p>
          <a:p xmlns:a="http://schemas.openxmlformats.org/drawingml/2006/main">
            <a:r>
              <a:t>¿El motor empuja hasta el apogeo?</a:t>
            </a:r>
          </a:p>
          <a:p xmlns:a="http://schemas.openxmlformats.org/drawingml/2006/main">
            <a:r>
              <a:t>No necesariamente; el vehículo puede seguir subiendo después de terminar el empuje.</a:t>
            </a:r>
          </a:p>
          <a:p xmlns:a="http://schemas.openxmlformats.org/drawingml/2006/main">
            <a:r>
              <a:t/>
            </a:r>
          </a:p>
          <a:p xmlns:a="http://schemas.openxmlformats.org/drawingml/2006/main">
            <a:r>
              <a:t>¿Una predicción es una medición?</a:t>
            </a:r>
          </a:p>
          <a:p xmlns:a="http://schemas.openxmlformats.org/drawingml/2006/main">
            <a:r>
              <a:t>No. Se compara después con observaciones identificadas.</a:t>
            </a:r>
          </a:p>
          <a:p xmlns:a="http://schemas.openxmlformats.org/drawingml/2006/main">
            <a:r>
              <a:t/>
            </a:r>
          </a:p>
          <a:p xmlns:a="http://schemas.openxmlformats.org/drawingml/2006/main">
            <a:r>
              <a:t>¿Puedo atribuir a la nariz una diferencia si cambié el motor?</a:t>
            </a:r>
          </a:p>
          <a:p xmlns:a="http://schemas.openxmlformats.org/drawingml/2006/main">
            <a:r>
              <a:t>No sin separar o explicar esos cambios.</a:t>
            </a:r>
          </a:p>
          <a:p xmlns:a="http://schemas.openxmlformats.org/drawingml/2006/main">
            <a:r>
              <a:t/>
            </a:r>
          </a:p>
          <a:p xmlns:a="http://schemas.openxmlformats.org/drawingml/2006/main">
            <a:r>
              <a:t>Fuentes</a:t>
            </a:r>
          </a:p>
          <a:p xmlns:a="http://schemas.openxmlformats.org/drawingml/2006/main">
            <a:r>
              <a:t>OpenRocket. Getting Started. https://openrocket.readthedocs.io/en/latest/setup/getting_started.html</a:t>
            </a:r>
          </a:p>
          <a:p xmlns:a="http://schemas.openxmlformats.org/drawingml/2006/main">
            <a:r>
              <a:t>OpenRocket. Advanced Flight Simulation. https://openrocket.readthedocs.io/en/latest/user_guide/advanced_flight_simulation.html</a:t>
            </a:r>
          </a:p>
          <a:p xmlns:a="http://schemas.openxmlformats.org/drawingml/2006/main">
            <a:r>
              <a:t>NASA Glenn. Flight of a Model Rocket. https://www1.grc.nasa.gov/beginners-guide-to-aeronautics/flight-of-a-model-rocket/</a:t>
            </a:r>
          </a:p>
          <a:p xmlns:a="http://schemas.openxmlformats.org/drawingml/2006/main">
            <a:r>
              <a:t>Lectura: MECRO_Coheteria_Clase_09.pdf.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10: Materiales y compuestos sobre piezas reales.</a:t>
            </a:r>
          </a:p>
          <a:p xmlns:a="http://schemas.openxmlformats.org/drawingml/2006/main">
            <a:r>
              <a:t>En línea, 2 h. Tramo del núcleo: 3 min.</a:t>
            </a:r>
          </a:p>
          <a:p xmlns:a="http://schemas.openxmlformats.org/drawingml/2006/main">
            <a:r>
              <a:t/>
            </a:r>
          </a:p>
          <a:p xmlns:a="http://schemas.openxmlformats.org/drawingml/2006/main">
            <a:r>
              <a:t>Pon dos piezas con distinto espesor sobre la mesa y pregunta qué se puede concluir antes de nombrar el material.</a:t>
            </a:r>
          </a:p>
          <a:p xmlns:a="http://schemas.openxmlformats.org/drawingml/2006/main">
            <a:r>
              <a:t/>
            </a:r>
          </a:p>
          <a:p xmlns:a="http://schemas.openxmlformats.org/drawingml/2006/main">
            <a:r>
              <a:t>Resultado: Comparar materiales por función, fabricación y reparación sin asignarles una superioridad universal.</a:t>
            </a:r>
          </a:p>
          <a:p xmlns:a="http://schemas.openxmlformats.org/drawingml/2006/main">
            <a:r>
              <a:t>Misión: Elegir materiales que el equipo pueda fabricar y comprobar con sus recursos.</a:t>
            </a:r>
          </a:p>
          <a:p xmlns:a="http://schemas.openxmlformats.org/drawingml/2006/main">
            <a:r>
              <a:t>Entrega: Tabla de selección por pieza, fotos y observaciones de banco.</a:t>
            </a:r>
          </a:p>
          <a:p xmlns:a="http://schemas.openxmlformats.org/drawingml/2006/main">
            <a:r>
              <a:t/>
            </a:r>
          </a:p>
          <a:p xmlns:a="http://schemas.openxmlformats.org/drawingml/2006/main">
            <a:r>
              <a:t>Preguntas y respuestas</a:t>
            </a:r>
          </a:p>
          <a:p xmlns:a="http://schemas.openxmlformats.org/drawingml/2006/main">
            <a:r>
              <a:t>¿Más rigidez observada demuestra mejor material si cambia el espesor?</a:t>
            </a:r>
          </a:p>
          <a:p xmlns:a="http://schemas.openxmlformats.org/drawingml/2006/main">
            <a:r>
              <a:t>No. Se están comparando piezas y condiciones diferentes.</a:t>
            </a:r>
          </a:p>
          <a:p xmlns:a="http://schemas.openxmlformats.org/drawingml/2006/main">
            <a:r>
              <a:t/>
            </a:r>
          </a:p>
          <a:p xmlns:a="http://schemas.openxmlformats.org/drawingml/2006/main">
            <a:r>
              <a:t>¿PLA con fibra corta equivale a una placa de tejido?</a:t>
            </a:r>
          </a:p>
          <a:p xmlns:a="http://schemas.openxmlformats.org/drawingml/2006/main">
            <a:r>
              <a:t>No. La estructura del refuerzo y el proceso son distintos.</a:t>
            </a:r>
          </a:p>
          <a:p xmlns:a="http://schemas.openxmlformats.org/drawingml/2006/main">
            <a:r>
              <a:t/>
            </a:r>
          </a:p>
          <a:p xmlns:a="http://schemas.openxmlformats.org/drawingml/2006/main">
            <a:r>
              <a:t>¿Qué debe explicar la selección?</a:t>
            </a:r>
          </a:p>
          <a:p xmlns:a="http://schemas.openxmlformats.org/drawingml/2006/main">
            <a:r>
              <a:t>Función de la pieza, proceso disponible y comprobación.</a:t>
            </a:r>
          </a:p>
          <a:p xmlns:a="http://schemas.openxmlformats.org/drawingml/2006/main">
            <a:r>
              <a:t/>
            </a:r>
          </a:p>
          <a:p xmlns:a="http://schemas.openxmlformats.org/drawingml/2006/main">
            <a:r>
              <a:t>Fuentes</a:t>
            </a:r>
          </a:p>
          <a:p xmlns:a="http://schemas.openxmlformats.org/drawingml/2006/main">
            <a:r>
              <a:t>Prusa Research. PLA. https://help.prusa3d.com/article/pla_2062</a:t>
            </a:r>
          </a:p>
          <a:p xmlns:a="http://schemas.openxmlformats.org/drawingml/2006/main">
            <a:r>
              <a:t>Prusa Research. PETG. https://help.prusa3d.com/article/petg_2059</a:t>
            </a:r>
          </a:p>
          <a:p xmlns:a="http://schemas.openxmlformats.org/drawingml/2006/main">
            <a:r>
              <a:t>Prusa Research. Composite materials. https://help.prusa3d.com/article/composite-materials-filled-with-carbon-kevlar-or-glass_167387</a:t>
            </a:r>
          </a:p>
          <a:p xmlns:a="http://schemas.openxmlformats.org/drawingml/2006/main">
            <a:r>
              <a:t>Prusa Research. Modeling with 3D printing in mind. https://help.prusa3d.com/article/modeling-with-3d-printing-in-mind_164135</a:t>
            </a:r>
          </a:p>
          <a:p xmlns:a="http://schemas.openxmlformats.org/drawingml/2006/main">
            <a:r>
              <a:t>Apogee Components. Peak of Flight 629. https://www.apogeerockets.com/education/downloads/Newsletter629.pdf</a:t>
            </a:r>
          </a:p>
          <a:p xmlns:a="http://schemas.openxmlformats.org/drawingml/2006/main">
            <a:r>
              <a:t>Lectura: MECRO_Coheteria_Clase_10.pdf.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10: Materiales y compuestos sobre piezas reales.</a:t>
            </a:r>
          </a:p>
          <a:p xmlns:a="http://schemas.openxmlformats.org/drawingml/2006/main">
            <a:r>
              <a:t>En línea, 2 h. Tramo del núcleo: 4 min.</a:t>
            </a:r>
          </a:p>
          <a:p xmlns:a="http://schemas.openxmlformats.org/drawingml/2006/main">
            <a:r>
              <a:t/>
            </a:r>
          </a:p>
          <a:p xmlns:a="http://schemas.openxmlformats.org/drawingml/2006/main">
            <a:r>
              <a:t>El taller puede reunir un tubo de cartón, una aleta de madera ligera, una pieza impresa y muestras de compuestos. Antes de decir cuál es “mejor”, hay que identificar qué pieza resolverá cada una. Un material útil para un cuerpo no tiene por qué ser la opción más conveniente para un útil de montaje o una tapa.</a:t>
            </a:r>
          </a:p>
          <a:p xmlns:a="http://schemas.openxmlformats.org/drawingml/2006/main">
            <a:r>
              <a:t/>
            </a:r>
          </a:p>
          <a:p xmlns:a="http://schemas.openxmlformats.org/drawingml/2006/main">
            <a:r>
              <a:t>Las comparaciones se hacen sobre muestras identificadas. Dos placas con distinto espesor no permiten atribuir a la fibra toda la diferencia de rigidez que se observa.</a:t>
            </a:r>
          </a:p>
          <a:p xmlns:a="http://schemas.openxmlformats.org/drawingml/2006/main">
            <a:r>
              <a:t/>
            </a:r>
          </a:p>
          <a:p xmlns:a="http://schemas.openxmlformats.org/drawingml/2006/main">
            <a:r>
              <a:t>Elegir material comienza por la función de una pieza. El cuerpo debe conservar geometría y espacio; una aleta debe mantener su forma y su unión; una nariz necesita una interfaz que pueda fabricarse y revisarse. Una misma familia de material puede servir en una función y resultar incómoda en otra. Sostener muestras, observar bordes y comparar cómo se trabajan permite empezar esta discusión sin asignar propiedades ideales a un objeto que no se ha caracterizado.</a:t>
            </a:r>
          </a:p>
          <a:p xmlns:a="http://schemas.openxmlformats.org/drawingml/2006/main">
            <a:r>
              <a:t>Pregunta para el grupo: ¿Qué pieza resolvería esta muestra?</a:t>
            </a:r>
          </a:p>
          <a:p xmlns:a="http://schemas.openxmlformats.org/drawingml/2006/main">
            <a:r>
              <a:t/>
            </a:r>
          </a:p>
          <a:p xmlns:a="http://schemas.openxmlformats.org/drawingml/2006/main">
            <a:r>
              <a:t>Resultado: Comparar materiales por función, fabricación y reparación sin asignarles una superioridad universal.</a:t>
            </a:r>
          </a:p>
          <a:p xmlns:a="http://schemas.openxmlformats.org/drawingml/2006/main">
            <a:r>
              <a:t>Misión: Elegir materiales que el equipo pueda fabricar y comprobar con sus recursos.</a:t>
            </a:r>
          </a:p>
          <a:p xmlns:a="http://schemas.openxmlformats.org/drawingml/2006/main">
            <a:r>
              <a:t>Entrega: Tabla de selección por pieza, fotos y observaciones de banco.</a:t>
            </a:r>
          </a:p>
          <a:p xmlns:a="http://schemas.openxmlformats.org/drawingml/2006/main">
            <a:r>
              <a:t/>
            </a:r>
          </a:p>
          <a:p xmlns:a="http://schemas.openxmlformats.org/drawingml/2006/main">
            <a:r>
              <a:t>Preguntas y respuestas</a:t>
            </a:r>
          </a:p>
          <a:p xmlns:a="http://schemas.openxmlformats.org/drawingml/2006/main">
            <a:r>
              <a:t>¿Más rigidez observada demuestra mejor material si cambia el espesor?</a:t>
            </a:r>
          </a:p>
          <a:p xmlns:a="http://schemas.openxmlformats.org/drawingml/2006/main">
            <a:r>
              <a:t>No. Se están comparando piezas y condiciones diferentes.</a:t>
            </a:r>
          </a:p>
          <a:p xmlns:a="http://schemas.openxmlformats.org/drawingml/2006/main">
            <a:r>
              <a:t/>
            </a:r>
          </a:p>
          <a:p xmlns:a="http://schemas.openxmlformats.org/drawingml/2006/main">
            <a:r>
              <a:t>¿PLA con fibra corta equivale a una placa de tejido?</a:t>
            </a:r>
          </a:p>
          <a:p xmlns:a="http://schemas.openxmlformats.org/drawingml/2006/main">
            <a:r>
              <a:t>No. La estructura del refuerzo y el proceso son distintos.</a:t>
            </a:r>
          </a:p>
          <a:p xmlns:a="http://schemas.openxmlformats.org/drawingml/2006/main">
            <a:r>
              <a:t/>
            </a:r>
          </a:p>
          <a:p xmlns:a="http://schemas.openxmlformats.org/drawingml/2006/main">
            <a:r>
              <a:t>¿Qué debe explicar la selección?</a:t>
            </a:r>
          </a:p>
          <a:p xmlns:a="http://schemas.openxmlformats.org/drawingml/2006/main">
            <a:r>
              <a:t>Función de la pieza, proceso disponible y comprobación.</a:t>
            </a:r>
          </a:p>
          <a:p xmlns:a="http://schemas.openxmlformats.org/drawingml/2006/main">
            <a:r>
              <a:t/>
            </a:r>
          </a:p>
          <a:p xmlns:a="http://schemas.openxmlformats.org/drawingml/2006/main">
            <a:r>
              <a:t>Fuentes</a:t>
            </a:r>
          </a:p>
          <a:p xmlns:a="http://schemas.openxmlformats.org/drawingml/2006/main">
            <a:r>
              <a:t>Prusa Research. PLA. https://help.prusa3d.com/article/pla_2062</a:t>
            </a:r>
          </a:p>
          <a:p xmlns:a="http://schemas.openxmlformats.org/drawingml/2006/main">
            <a:r>
              <a:t>Prusa Research. PETG. https://help.prusa3d.com/article/petg_2059</a:t>
            </a:r>
          </a:p>
          <a:p xmlns:a="http://schemas.openxmlformats.org/drawingml/2006/main">
            <a:r>
              <a:t>Prusa Research. Composite materials. https://help.prusa3d.com/article/composite-materials-filled-with-carbon-kevlar-or-glass_167387</a:t>
            </a:r>
          </a:p>
          <a:p xmlns:a="http://schemas.openxmlformats.org/drawingml/2006/main">
            <a:r>
              <a:t>Prusa Research. Modeling with 3D printing in mind. https://help.prusa3d.com/article/modeling-with-3d-printing-in-mind_164135</a:t>
            </a:r>
          </a:p>
          <a:p xmlns:a="http://schemas.openxmlformats.org/drawingml/2006/main">
            <a:r>
              <a:t>Apogee Components. Peak of Flight 629. https://www.apogeerockets.com/education/downloads/Newsletter629.pdf</a:t>
            </a:r>
          </a:p>
          <a:p xmlns:a="http://schemas.openxmlformats.org/drawingml/2006/main">
            <a:r>
              <a:t>Lectura: MECRO_Coheteria_Clase_10.pdf.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10: Materiales y compuestos sobre piezas reales.</a:t>
            </a:r>
          </a:p>
          <a:p xmlns:a="http://schemas.openxmlformats.org/drawingml/2006/main">
            <a:r>
              <a:t>En línea, 2 h. Tramo del núcleo: 4 min.</a:t>
            </a:r>
          </a:p>
          <a:p xmlns:a="http://schemas.openxmlformats.org/drawingml/2006/main">
            <a:r>
              <a:t/>
            </a:r>
          </a:p>
          <a:p xmlns:a="http://schemas.openxmlformats.org/drawingml/2006/main">
            <a:r>
              <a:t>Prusa Research: superficies de piezas impresas. El proceso también participa de lo que observamos al comparar materiales.</a:t>
            </a:r>
          </a:p>
          <a:p xmlns:a="http://schemas.openxmlformats.org/drawingml/2006/main">
            <a:r>
              <a:t>Localizar en la imagen las partes relacionadas con la pregunta.</a:t>
            </a:r>
          </a:p>
          <a:p xmlns:a="http://schemas.openxmlformats.org/drawingml/2006/main">
            <a:r>
              <a:t>¿Qué pieza resolvería esta muestra?</a:t>
            </a:r>
          </a:p>
          <a:p xmlns:a="http://schemas.openxmlformats.org/drawingml/2006/main">
            <a:r>
              <a:t/>
            </a:r>
          </a:p>
          <a:p xmlns:a="http://schemas.openxmlformats.org/drawingml/2006/main">
            <a:r>
              <a:t>Resultado: Comparar materiales por función, fabricación y reparación sin asignarles una superioridad universal.</a:t>
            </a:r>
          </a:p>
          <a:p xmlns:a="http://schemas.openxmlformats.org/drawingml/2006/main">
            <a:r>
              <a:t>Misión: Elegir materiales que el equipo pueda fabricar y comprobar con sus recursos.</a:t>
            </a:r>
          </a:p>
          <a:p xmlns:a="http://schemas.openxmlformats.org/drawingml/2006/main">
            <a:r>
              <a:t>Entrega: Tabla de selección por pieza, fotos y observaciones de banco.</a:t>
            </a:r>
          </a:p>
          <a:p xmlns:a="http://schemas.openxmlformats.org/drawingml/2006/main">
            <a:r>
              <a:t/>
            </a:r>
          </a:p>
          <a:p xmlns:a="http://schemas.openxmlformats.org/drawingml/2006/main">
            <a:r>
              <a:t>Preguntas y respuestas</a:t>
            </a:r>
          </a:p>
          <a:p xmlns:a="http://schemas.openxmlformats.org/drawingml/2006/main">
            <a:r>
              <a:t>¿Más rigidez observada demuestra mejor material si cambia el espesor?</a:t>
            </a:r>
          </a:p>
          <a:p xmlns:a="http://schemas.openxmlformats.org/drawingml/2006/main">
            <a:r>
              <a:t>No. Se están comparando piezas y condiciones diferentes.</a:t>
            </a:r>
          </a:p>
          <a:p xmlns:a="http://schemas.openxmlformats.org/drawingml/2006/main">
            <a:r>
              <a:t/>
            </a:r>
          </a:p>
          <a:p xmlns:a="http://schemas.openxmlformats.org/drawingml/2006/main">
            <a:r>
              <a:t>¿PLA con fibra corta equivale a una placa de tejido?</a:t>
            </a:r>
          </a:p>
          <a:p xmlns:a="http://schemas.openxmlformats.org/drawingml/2006/main">
            <a:r>
              <a:t>No. La estructura del refuerzo y el proceso son distintos.</a:t>
            </a:r>
          </a:p>
          <a:p xmlns:a="http://schemas.openxmlformats.org/drawingml/2006/main">
            <a:r>
              <a:t/>
            </a:r>
          </a:p>
          <a:p xmlns:a="http://schemas.openxmlformats.org/drawingml/2006/main">
            <a:r>
              <a:t>¿Qué debe explicar la selección?</a:t>
            </a:r>
          </a:p>
          <a:p xmlns:a="http://schemas.openxmlformats.org/drawingml/2006/main">
            <a:r>
              <a:t>Función de la pieza, proceso disponible y comprobación.</a:t>
            </a:r>
          </a:p>
          <a:p xmlns:a="http://schemas.openxmlformats.org/drawingml/2006/main">
            <a:r>
              <a:t/>
            </a:r>
          </a:p>
          <a:p xmlns:a="http://schemas.openxmlformats.org/drawingml/2006/main">
            <a:r>
              <a:t>Fuentes</a:t>
            </a:r>
          </a:p>
          <a:p xmlns:a="http://schemas.openxmlformats.org/drawingml/2006/main">
            <a:r>
              <a:t>Prusa Research. PLA. https://help.prusa3d.com/article/pla_2062</a:t>
            </a:r>
          </a:p>
          <a:p xmlns:a="http://schemas.openxmlformats.org/drawingml/2006/main">
            <a:r>
              <a:t>Prusa Research. PETG. https://help.prusa3d.com/article/petg_2059</a:t>
            </a:r>
          </a:p>
          <a:p xmlns:a="http://schemas.openxmlformats.org/drawingml/2006/main">
            <a:r>
              <a:t>Prusa Research. Composite materials. https://help.prusa3d.com/article/composite-materials-filled-with-carbon-kevlar-or-glass_167387</a:t>
            </a:r>
          </a:p>
          <a:p xmlns:a="http://schemas.openxmlformats.org/drawingml/2006/main">
            <a:r>
              <a:t>Prusa Research. Modeling with 3D printing in mind. https://help.prusa3d.com/article/modeling-with-3d-printing-in-mind_164135</a:t>
            </a:r>
          </a:p>
          <a:p xmlns:a="http://schemas.openxmlformats.org/drawingml/2006/main">
            <a:r>
              <a:t>Apogee Components. Peak of Flight 629. https://www.apogeerockets.com/education/downloads/Newsletter629.pdf</a:t>
            </a:r>
          </a:p>
          <a:p xmlns:a="http://schemas.openxmlformats.org/drawingml/2006/main">
            <a:r>
              <a:t>Lectura: MECRO_Coheteria_Clase_10.pdf.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10: Materiales y compuestos sobre piezas reales.</a:t>
            </a:r>
          </a:p>
          <a:p xmlns:a="http://schemas.openxmlformats.org/drawingml/2006/main">
            <a:r>
              <a:t>En línea, 2 h. Tramo del núcleo: 5 min.</a:t>
            </a:r>
          </a:p>
          <a:p xmlns:a="http://schemas.openxmlformats.org/drawingml/2006/main">
            <a:r>
              <a:t/>
            </a:r>
          </a:p>
          <a:p xmlns:a="http://schemas.openxmlformats.org/drawingml/2006/main">
            <a:r>
              <a:t>Pregunta / Relación con el proyecto</a:t>
            </a:r>
          </a:p>
          <a:p xmlns:a="http://schemas.openxmlformats.org/drawingml/2006/main">
            <a:r>
              <a:t>¿Cuánto pesa la pieza? / Masa que entra al vehículo</a:t>
            </a:r>
          </a:p>
          <a:p xmlns:a="http://schemas.openxmlformats.org/drawingml/2006/main">
            <a:r>
              <a:t>¿Se deforma o se marca? / Manipulación y montaje</a:t>
            </a:r>
          </a:p>
          <a:p xmlns:a="http://schemas.openxmlformats.org/drawingml/2006/main">
            <a:r>
              <a:t>¿Cómo se une? / Proceso y compatibilidad</a:t>
            </a:r>
          </a:p>
          <a:p xmlns:a="http://schemas.openxmlformats.org/drawingml/2006/main">
            <a:r>
              <a:t>¿Cómo se repara? / Reutilización y repuestos</a:t>
            </a:r>
          </a:p>
          <a:p xmlns:a="http://schemas.openxmlformats.org/drawingml/2006/main">
            <a:r>
              <a:t>Justificar una alternativa con la misión y señalar la comprobación necesaria.</a:t>
            </a:r>
          </a:p>
          <a:p xmlns:a="http://schemas.openxmlformats.org/drawingml/2006/main">
            <a:r>
              <a:t/>
            </a:r>
          </a:p>
          <a:p xmlns:a="http://schemas.openxmlformats.org/drawingml/2006/main">
            <a:r>
              <a:t>Resultado: Comparar materiales por función, fabricación y reparación sin asignarles una superioridad universal.</a:t>
            </a:r>
          </a:p>
          <a:p xmlns:a="http://schemas.openxmlformats.org/drawingml/2006/main">
            <a:r>
              <a:t>Misión: Elegir materiales que el equipo pueda fabricar y comprobar con sus recursos.</a:t>
            </a:r>
          </a:p>
          <a:p xmlns:a="http://schemas.openxmlformats.org/drawingml/2006/main">
            <a:r>
              <a:t>Entrega: Tabla de selección por pieza, fotos y observaciones de banco.</a:t>
            </a:r>
          </a:p>
          <a:p xmlns:a="http://schemas.openxmlformats.org/drawingml/2006/main">
            <a:r>
              <a:t/>
            </a:r>
          </a:p>
          <a:p xmlns:a="http://schemas.openxmlformats.org/drawingml/2006/main">
            <a:r>
              <a:t>Preguntas y respuestas</a:t>
            </a:r>
          </a:p>
          <a:p xmlns:a="http://schemas.openxmlformats.org/drawingml/2006/main">
            <a:r>
              <a:t>¿Más rigidez observada demuestra mejor material si cambia el espesor?</a:t>
            </a:r>
          </a:p>
          <a:p xmlns:a="http://schemas.openxmlformats.org/drawingml/2006/main">
            <a:r>
              <a:t>No. Se están comparando piezas y condiciones diferentes.</a:t>
            </a:r>
          </a:p>
          <a:p xmlns:a="http://schemas.openxmlformats.org/drawingml/2006/main">
            <a:r>
              <a:t/>
            </a:r>
          </a:p>
          <a:p xmlns:a="http://schemas.openxmlformats.org/drawingml/2006/main">
            <a:r>
              <a:t>¿PLA con fibra corta equivale a una placa de tejido?</a:t>
            </a:r>
          </a:p>
          <a:p xmlns:a="http://schemas.openxmlformats.org/drawingml/2006/main">
            <a:r>
              <a:t>No. La estructura del refuerzo y el proceso son distintos.</a:t>
            </a:r>
          </a:p>
          <a:p xmlns:a="http://schemas.openxmlformats.org/drawingml/2006/main">
            <a:r>
              <a:t/>
            </a:r>
          </a:p>
          <a:p xmlns:a="http://schemas.openxmlformats.org/drawingml/2006/main">
            <a:r>
              <a:t>¿Qué debe explicar la selección?</a:t>
            </a:r>
          </a:p>
          <a:p xmlns:a="http://schemas.openxmlformats.org/drawingml/2006/main">
            <a:r>
              <a:t>Función de la pieza, proceso disponible y comprobación.</a:t>
            </a:r>
          </a:p>
          <a:p xmlns:a="http://schemas.openxmlformats.org/drawingml/2006/main">
            <a:r>
              <a:t/>
            </a:r>
          </a:p>
          <a:p xmlns:a="http://schemas.openxmlformats.org/drawingml/2006/main">
            <a:r>
              <a:t>Fuentes</a:t>
            </a:r>
          </a:p>
          <a:p xmlns:a="http://schemas.openxmlformats.org/drawingml/2006/main">
            <a:r>
              <a:t>Prusa Research. PLA. https://help.prusa3d.com/article/pla_2062</a:t>
            </a:r>
          </a:p>
          <a:p xmlns:a="http://schemas.openxmlformats.org/drawingml/2006/main">
            <a:r>
              <a:t>Prusa Research. PETG. https://help.prusa3d.com/article/petg_2059</a:t>
            </a:r>
          </a:p>
          <a:p xmlns:a="http://schemas.openxmlformats.org/drawingml/2006/main">
            <a:r>
              <a:t>Prusa Research. Composite materials. https://help.prusa3d.com/article/composite-materials-filled-with-carbon-kevlar-or-glass_167387</a:t>
            </a:r>
          </a:p>
          <a:p xmlns:a="http://schemas.openxmlformats.org/drawingml/2006/main">
            <a:r>
              <a:t>Prusa Research. Modeling with 3D printing in mind. https://help.prusa3d.com/article/modeling-with-3d-printing-in-mind_164135</a:t>
            </a:r>
          </a:p>
          <a:p xmlns:a="http://schemas.openxmlformats.org/drawingml/2006/main">
            <a:r>
              <a:t>Apogee Components. Peak of Flight 629. https://www.apogeerockets.com/education/downloads/Newsletter629.pdf</a:t>
            </a:r>
          </a:p>
          <a:p xmlns:a="http://schemas.openxmlformats.org/drawingml/2006/main">
            <a:r>
              <a:t>Lectura: MECRO_Coheteria_Clase_10.pdf.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10: Materiales y compuestos sobre piezas reales.</a:t>
            </a:r>
          </a:p>
          <a:p xmlns:a="http://schemas.openxmlformats.org/drawingml/2006/main">
            <a:r>
              <a:t>En línea, 2 h. Tramo del núcleo: 4 min.</a:t>
            </a:r>
          </a:p>
          <a:p xmlns:a="http://schemas.openxmlformats.org/drawingml/2006/main">
            <a:r>
              <a:t/>
            </a:r>
          </a:p>
          <a:p xmlns:a="http://schemas.openxmlformats.org/drawingml/2006/main">
            <a:r>
              <a:t>En la madera, la dirección de la veta puede influir en cómo se comporta una aleta. En el tubo, el estado del borde y la humedad pueden alterar el encaje. En una impresión, el material y la orientación participan juntos. Estas observaciones son más útiles para el primer proyecto que comparar valores aislados de una tabla sin saber a qué muestra pertenecen.</a:t>
            </a:r>
          </a:p>
          <a:p xmlns:a="http://schemas.openxmlformats.org/drawingml/2006/main">
            <a:r>
              <a:t/>
            </a:r>
          </a:p>
          <a:p xmlns:a="http://schemas.openxmlformats.org/drawingml/2006/main">
            <a:r>
              <a:t>Dos útiles mantienen la alineación de las piezas: uno está impreso y otro se prepara con material de taller.</a:t>
            </a:r>
          </a:p>
          <a:p xmlns:a="http://schemas.openxmlformats.org/drawingml/2006/main">
            <a:r>
              <a:t/>
            </a:r>
          </a:p>
          <a:p xmlns:a="http://schemas.openxmlformats.org/drawingml/2006/main">
            <a:r>
              <a:t>El equipo conserva la ficha del material y la identificación del proceso. Las propiedades de una familia orientan la elección, pero no sustituyen la revisión del objeto que se construyó. [PLA, PETG]</a:t>
            </a:r>
          </a:p>
          <a:p xmlns:a="http://schemas.openxmlformats.org/drawingml/2006/main">
            <a:r>
              <a:t/>
            </a:r>
          </a:p>
          <a:p xmlns:a="http://schemas.openxmlformats.org/drawingml/2006/main">
            <a:r>
              <a:t>Rigidez y resistencia tienen significados diferentes. La rigidez se relaciona con cuánto cambia la forma ante una solicitación. La resistencia se relaciona con el nivel de solicitación que puede soportarse antes de un modo de fallo definido. La geometría también influye en lo que observamos. Por eso una placa más gruesa puede deformarse menos sin que hayamos demostrado que su material tiene una propiedad superior. En el banco se describe exactamente la muestra y la tarea realizada.</a:t>
            </a:r>
          </a:p>
          <a:p xmlns:a="http://schemas.openxmlformats.org/drawingml/2006/main">
            <a:r>
              <a:t>Pregunta para el grupo: ¿Comparaste también espesor y proceso?</a:t>
            </a:r>
          </a:p>
          <a:p xmlns:a="http://schemas.openxmlformats.org/drawingml/2006/main">
            <a:r>
              <a:t/>
            </a:r>
          </a:p>
          <a:p xmlns:a="http://schemas.openxmlformats.org/drawingml/2006/main">
            <a:r>
              <a:t>Resultado: Comparar materiales por función, fabricación y reparación sin asignarles una superioridad universal.</a:t>
            </a:r>
          </a:p>
          <a:p xmlns:a="http://schemas.openxmlformats.org/drawingml/2006/main">
            <a:r>
              <a:t>Misión: Elegir materiales que el equipo pueda fabricar y comprobar con sus recursos.</a:t>
            </a:r>
          </a:p>
          <a:p xmlns:a="http://schemas.openxmlformats.org/drawingml/2006/main">
            <a:r>
              <a:t>Entrega: Tabla de selección por pieza, fotos y observaciones de banco.</a:t>
            </a:r>
          </a:p>
          <a:p xmlns:a="http://schemas.openxmlformats.org/drawingml/2006/main">
            <a:r>
              <a:t/>
            </a:r>
          </a:p>
          <a:p xmlns:a="http://schemas.openxmlformats.org/drawingml/2006/main">
            <a:r>
              <a:t>Preguntas y respuestas</a:t>
            </a:r>
          </a:p>
          <a:p xmlns:a="http://schemas.openxmlformats.org/drawingml/2006/main">
            <a:r>
              <a:t>¿Más rigidez observada demuestra mejor material si cambia el espesor?</a:t>
            </a:r>
          </a:p>
          <a:p xmlns:a="http://schemas.openxmlformats.org/drawingml/2006/main">
            <a:r>
              <a:t>No. Se están comparando piezas y condiciones diferentes.</a:t>
            </a:r>
          </a:p>
          <a:p xmlns:a="http://schemas.openxmlformats.org/drawingml/2006/main">
            <a:r>
              <a:t/>
            </a:r>
          </a:p>
          <a:p xmlns:a="http://schemas.openxmlformats.org/drawingml/2006/main">
            <a:r>
              <a:t>¿PLA con fibra corta equivale a una placa de tejido?</a:t>
            </a:r>
          </a:p>
          <a:p xmlns:a="http://schemas.openxmlformats.org/drawingml/2006/main">
            <a:r>
              <a:t>No. La estructura del refuerzo y el proceso son distintos.</a:t>
            </a:r>
          </a:p>
          <a:p xmlns:a="http://schemas.openxmlformats.org/drawingml/2006/main">
            <a:r>
              <a:t/>
            </a:r>
          </a:p>
          <a:p xmlns:a="http://schemas.openxmlformats.org/drawingml/2006/main">
            <a:r>
              <a:t>¿Qué debe explicar la selección?</a:t>
            </a:r>
          </a:p>
          <a:p xmlns:a="http://schemas.openxmlformats.org/drawingml/2006/main">
            <a:r>
              <a:t>Función de la pieza, proceso disponible y comprobación.</a:t>
            </a:r>
          </a:p>
          <a:p xmlns:a="http://schemas.openxmlformats.org/drawingml/2006/main">
            <a:r>
              <a:t/>
            </a:r>
          </a:p>
          <a:p xmlns:a="http://schemas.openxmlformats.org/drawingml/2006/main">
            <a:r>
              <a:t>Fuentes</a:t>
            </a:r>
          </a:p>
          <a:p xmlns:a="http://schemas.openxmlformats.org/drawingml/2006/main">
            <a:r>
              <a:t>Prusa Research. PLA. https://help.prusa3d.com/article/pla_2062</a:t>
            </a:r>
          </a:p>
          <a:p xmlns:a="http://schemas.openxmlformats.org/drawingml/2006/main">
            <a:r>
              <a:t>Prusa Research. PETG. https://help.prusa3d.com/article/petg_2059</a:t>
            </a:r>
          </a:p>
          <a:p xmlns:a="http://schemas.openxmlformats.org/drawingml/2006/main">
            <a:r>
              <a:t>Prusa Research. Composite materials. https://help.prusa3d.com/article/composite-materials-filled-with-carbon-kevlar-or-glass_167387</a:t>
            </a:r>
          </a:p>
          <a:p xmlns:a="http://schemas.openxmlformats.org/drawingml/2006/main">
            <a:r>
              <a:t>Prusa Research. Modeling with 3D printing in mind. https://help.prusa3d.com/article/modeling-with-3d-printing-in-mind_164135</a:t>
            </a:r>
          </a:p>
          <a:p xmlns:a="http://schemas.openxmlformats.org/drawingml/2006/main">
            <a:r>
              <a:t>Apogee Components. Peak of Flight 629. https://www.apogeerockets.com/education/downloads/Newsletter629.pdf</a:t>
            </a:r>
          </a:p>
          <a:p xmlns:a="http://schemas.openxmlformats.org/drawingml/2006/main">
            <a:r>
              <a:t>Lectura: MECRO_Coheteria_Clase_10.pdf.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10: Materiales y compuestos sobre piezas reales.</a:t>
            </a:r>
          </a:p>
          <a:p xmlns:a="http://schemas.openxmlformats.org/drawingml/2006/main">
            <a:r>
              <a:t>En línea, 2 h. Tramo del núcleo: 4 min.</a:t>
            </a:r>
          </a:p>
          <a:p xmlns:a="http://schemas.openxmlformats.org/drawingml/2006/main">
            <a:r>
              <a:t/>
            </a:r>
          </a:p>
          <a:p xmlns:a="http://schemas.openxmlformats.org/drawingml/2006/main">
            <a:r>
              <a:t>Opción / Qué puede facilitar / Qué revisar en la pieza</a:t>
            </a:r>
          </a:p>
          <a:p xmlns:a="http://schemas.openxmlformats.org/drawingml/2006/main">
            <a:r>
              <a:t>Cartón ligero / Cuerpo disponible y liviano / Circularidad, humedad y uniones</a:t>
            </a:r>
          </a:p>
          <a:p xmlns:a="http://schemas.openxmlformats.org/drawingml/2006/main">
            <a:r>
              <a:t>Madera ligera / Corte y repetición de aletas / Veta, borde y espesor</a:t>
            </a:r>
          </a:p>
          <a:p xmlns:a="http://schemas.openxmlformats.org/drawingml/2006/main">
            <a:r>
              <a:t>PLA / Prototipos y detalles geométricos / Fragilidad, calor y capas</a:t>
            </a:r>
          </a:p>
          <a:p xmlns:a="http://schemas.openxmlformats.org/drawingml/2006/main">
            <a:r>
              <a:t>PETG / Piezas funcionales según diseño / Deformación, ajuste y acabado</a:t>
            </a:r>
          </a:p>
          <a:p xmlns:a="http://schemas.openxmlformats.org/drawingml/2006/main">
            <a:r>
              <a:t>Comparar dos filas y justificar con la misión.</a:t>
            </a:r>
          </a:p>
          <a:p xmlns:a="http://schemas.openxmlformats.org/drawingml/2006/main">
            <a:r>
              <a:t/>
            </a:r>
          </a:p>
          <a:p xmlns:a="http://schemas.openxmlformats.org/drawingml/2006/main">
            <a:r>
              <a:t>Resultado: Comparar materiales por función, fabricación y reparación sin asignarles una superioridad universal.</a:t>
            </a:r>
          </a:p>
          <a:p xmlns:a="http://schemas.openxmlformats.org/drawingml/2006/main">
            <a:r>
              <a:t>Misión: Elegir materiales que el equipo pueda fabricar y comprobar con sus recursos.</a:t>
            </a:r>
          </a:p>
          <a:p xmlns:a="http://schemas.openxmlformats.org/drawingml/2006/main">
            <a:r>
              <a:t>Entrega: Tabla de selección por pieza, fotos y observaciones de banco.</a:t>
            </a:r>
          </a:p>
          <a:p xmlns:a="http://schemas.openxmlformats.org/drawingml/2006/main">
            <a:r>
              <a:t/>
            </a:r>
          </a:p>
          <a:p xmlns:a="http://schemas.openxmlformats.org/drawingml/2006/main">
            <a:r>
              <a:t>Preguntas y respuestas</a:t>
            </a:r>
          </a:p>
          <a:p xmlns:a="http://schemas.openxmlformats.org/drawingml/2006/main">
            <a:r>
              <a:t>¿Más rigidez observada demuestra mejor material si cambia el espesor?</a:t>
            </a:r>
          </a:p>
          <a:p xmlns:a="http://schemas.openxmlformats.org/drawingml/2006/main">
            <a:r>
              <a:t>No. Se están comparando piezas y condiciones diferentes.</a:t>
            </a:r>
          </a:p>
          <a:p xmlns:a="http://schemas.openxmlformats.org/drawingml/2006/main">
            <a:r>
              <a:t/>
            </a:r>
          </a:p>
          <a:p xmlns:a="http://schemas.openxmlformats.org/drawingml/2006/main">
            <a:r>
              <a:t>¿PLA con fibra corta equivale a una placa de tejido?</a:t>
            </a:r>
          </a:p>
          <a:p xmlns:a="http://schemas.openxmlformats.org/drawingml/2006/main">
            <a:r>
              <a:t>No. La estructura del refuerzo y el proceso son distintos.</a:t>
            </a:r>
          </a:p>
          <a:p xmlns:a="http://schemas.openxmlformats.org/drawingml/2006/main">
            <a:r>
              <a:t/>
            </a:r>
          </a:p>
          <a:p xmlns:a="http://schemas.openxmlformats.org/drawingml/2006/main">
            <a:r>
              <a:t>¿Qué debe explicar la selección?</a:t>
            </a:r>
          </a:p>
          <a:p xmlns:a="http://schemas.openxmlformats.org/drawingml/2006/main">
            <a:r>
              <a:t>Función de la pieza, proceso disponible y comprobación.</a:t>
            </a:r>
          </a:p>
          <a:p xmlns:a="http://schemas.openxmlformats.org/drawingml/2006/main">
            <a:r>
              <a:t/>
            </a:r>
          </a:p>
          <a:p xmlns:a="http://schemas.openxmlformats.org/drawingml/2006/main">
            <a:r>
              <a:t>Fuentes</a:t>
            </a:r>
          </a:p>
          <a:p xmlns:a="http://schemas.openxmlformats.org/drawingml/2006/main">
            <a:r>
              <a:t>Prusa Research. PLA. https://help.prusa3d.com/article/pla_2062</a:t>
            </a:r>
          </a:p>
          <a:p xmlns:a="http://schemas.openxmlformats.org/drawingml/2006/main">
            <a:r>
              <a:t>Prusa Research. PETG. https://help.prusa3d.com/article/petg_2059</a:t>
            </a:r>
          </a:p>
          <a:p xmlns:a="http://schemas.openxmlformats.org/drawingml/2006/main">
            <a:r>
              <a:t>Prusa Research. Composite materials. https://help.prusa3d.com/article/composite-materials-filled-with-carbon-kevlar-or-glass_167387</a:t>
            </a:r>
          </a:p>
          <a:p xmlns:a="http://schemas.openxmlformats.org/drawingml/2006/main">
            <a:r>
              <a:t>Prusa Research. Modeling with 3D printing in mind. https://help.prusa3d.com/article/modeling-with-3d-printing-in-mind_164135</a:t>
            </a:r>
          </a:p>
          <a:p xmlns:a="http://schemas.openxmlformats.org/drawingml/2006/main">
            <a:r>
              <a:t>Apogee Components. Peak of Flight 629. https://www.apogeerockets.com/education/downloads/Newsletter629.pdf</a:t>
            </a:r>
          </a:p>
          <a:p xmlns:a="http://schemas.openxmlformats.org/drawingml/2006/main">
            <a:r>
              <a:t>Lectura: MECRO_Coheteria_Clase_10.pdf.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10: Materiales y compuestos sobre piezas reales.</a:t>
            </a:r>
          </a:p>
          <a:p xmlns:a="http://schemas.openxmlformats.org/drawingml/2006/main">
            <a:r>
              <a:t>En línea, 2 h. Tramo del núcleo: 5 min.</a:t>
            </a:r>
          </a:p>
          <a:p xmlns:a="http://schemas.openxmlformats.org/drawingml/2006/main">
            <a:r>
              <a:t/>
            </a:r>
          </a:p>
          <a:p xmlns:a="http://schemas.openxmlformats.org/drawingml/2006/main">
            <a:r>
              <a:t>Caso</a:t>
            </a:r>
          </a:p>
          <a:p xmlns:a="http://schemas.openxmlformats.org/drawingml/2006/main">
            <a:r>
              <a:t>Dos útiles mantienen la alineación de las piezas: uno está impreso y otro se prepara con material de taller.</a:t>
            </a:r>
          </a:p>
          <a:p xmlns:a="http://schemas.openxmlformats.org/drawingml/2006/main">
            <a:r>
              <a:t>Explicación</a:t>
            </a:r>
          </a:p>
          <a:p xmlns:a="http://schemas.openxmlformats.org/drawingml/2006/main">
            <a:r>
              <a:t>Compara repetibilidad, tiempo de preparación, ajuste y posibilidad de modificarlo. Un útil puede elegirse por comodidad de fabricación aunque nunca vaya a formar parte del cohete.</a:t>
            </a:r>
          </a:p>
          <a:p xmlns:a="http://schemas.openxmlformats.org/drawingml/2006/main">
            <a:r>
              <a:t>Dar tiempo para responder antes de presentar la solución oralmente.</a:t>
            </a:r>
          </a:p>
          <a:p xmlns:a="http://schemas.openxmlformats.org/drawingml/2006/main">
            <a:r>
              <a:t/>
            </a:r>
          </a:p>
          <a:p xmlns:a="http://schemas.openxmlformats.org/drawingml/2006/main">
            <a:r>
              <a:t>Resultado: Comparar materiales por función, fabricación y reparación sin asignarles una superioridad universal.</a:t>
            </a:r>
          </a:p>
          <a:p xmlns:a="http://schemas.openxmlformats.org/drawingml/2006/main">
            <a:r>
              <a:t>Misión: Elegir materiales que el equipo pueda fabricar y comprobar con sus recursos.</a:t>
            </a:r>
          </a:p>
          <a:p xmlns:a="http://schemas.openxmlformats.org/drawingml/2006/main">
            <a:r>
              <a:t>Entrega: Tabla de selección por pieza, fotos y observaciones de banco.</a:t>
            </a:r>
          </a:p>
          <a:p xmlns:a="http://schemas.openxmlformats.org/drawingml/2006/main">
            <a:r>
              <a:t/>
            </a:r>
          </a:p>
          <a:p xmlns:a="http://schemas.openxmlformats.org/drawingml/2006/main">
            <a:r>
              <a:t>Preguntas y respuestas</a:t>
            </a:r>
          </a:p>
          <a:p xmlns:a="http://schemas.openxmlformats.org/drawingml/2006/main">
            <a:r>
              <a:t>¿Más rigidez observada demuestra mejor material si cambia el espesor?</a:t>
            </a:r>
          </a:p>
          <a:p xmlns:a="http://schemas.openxmlformats.org/drawingml/2006/main">
            <a:r>
              <a:t>No. Se están comparando piezas y condiciones diferentes.</a:t>
            </a:r>
          </a:p>
          <a:p xmlns:a="http://schemas.openxmlformats.org/drawingml/2006/main">
            <a:r>
              <a:t/>
            </a:r>
          </a:p>
          <a:p xmlns:a="http://schemas.openxmlformats.org/drawingml/2006/main">
            <a:r>
              <a:t>¿PLA con fibra corta equivale a una placa de tejido?</a:t>
            </a:r>
          </a:p>
          <a:p xmlns:a="http://schemas.openxmlformats.org/drawingml/2006/main">
            <a:r>
              <a:t>No. La estructura del refuerzo y el proceso son distintos.</a:t>
            </a:r>
          </a:p>
          <a:p xmlns:a="http://schemas.openxmlformats.org/drawingml/2006/main">
            <a:r>
              <a:t/>
            </a:r>
          </a:p>
          <a:p xmlns:a="http://schemas.openxmlformats.org/drawingml/2006/main">
            <a:r>
              <a:t>¿Qué debe explicar la selección?</a:t>
            </a:r>
          </a:p>
          <a:p xmlns:a="http://schemas.openxmlformats.org/drawingml/2006/main">
            <a:r>
              <a:t>Función de la pieza, proceso disponible y comprobación.</a:t>
            </a:r>
          </a:p>
          <a:p xmlns:a="http://schemas.openxmlformats.org/drawingml/2006/main">
            <a:r>
              <a:t/>
            </a:r>
          </a:p>
          <a:p xmlns:a="http://schemas.openxmlformats.org/drawingml/2006/main">
            <a:r>
              <a:t>Fuentes</a:t>
            </a:r>
          </a:p>
          <a:p xmlns:a="http://schemas.openxmlformats.org/drawingml/2006/main">
            <a:r>
              <a:t>Prusa Research. PLA. https://help.prusa3d.com/article/pla_2062</a:t>
            </a:r>
          </a:p>
          <a:p xmlns:a="http://schemas.openxmlformats.org/drawingml/2006/main">
            <a:r>
              <a:t>Prusa Research. PETG. https://help.prusa3d.com/article/petg_2059</a:t>
            </a:r>
          </a:p>
          <a:p xmlns:a="http://schemas.openxmlformats.org/drawingml/2006/main">
            <a:r>
              <a:t>Prusa Research. Composite materials. https://help.prusa3d.com/article/composite-materials-filled-with-carbon-kevlar-or-glass_167387</a:t>
            </a:r>
          </a:p>
          <a:p xmlns:a="http://schemas.openxmlformats.org/drawingml/2006/main">
            <a:r>
              <a:t>Prusa Research. Modeling with 3D printing in mind. https://help.prusa3d.com/article/modeling-with-3d-printing-in-mind_164135</a:t>
            </a:r>
          </a:p>
          <a:p xmlns:a="http://schemas.openxmlformats.org/drawingml/2006/main">
            <a:r>
              <a:t>Apogee Components. Peak of Flight 629. https://www.apogeerockets.com/education/downloads/Newsletter629.pdf</a:t>
            </a:r>
          </a:p>
          <a:p xmlns:a="http://schemas.openxmlformats.org/drawingml/2006/main">
            <a:r>
              <a:t>Lectura: MECRO_Coheteria_Clase_10.pdf.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10: Materiales y compuestos sobre piezas reales.</a:t>
            </a:r>
          </a:p>
          <a:p xmlns:a="http://schemas.openxmlformats.org/drawingml/2006/main">
            <a:r>
              <a:t>En línea, 2 h. Tramo del núcleo: 4 min.</a:t>
            </a:r>
          </a:p>
          <a:p xmlns:a="http://schemas.openxmlformats.org/drawingml/2006/main">
            <a:r>
              <a:t/>
            </a:r>
          </a:p>
          <a:p xmlns:a="http://schemas.openxmlformats.org/drawingml/2006/main">
            <a:r>
              <a:t>Un compuesto combina un refuerzo y una matriz. En un laminado con tejido, las fibras se organizan en direcciones reconocibles y la matriz las mantiene unidas y transmite esfuerzos. En un filamento con fibras cortas, el refuerzo está distribuido de otra manera. Usar la palabra “carbono” para ambos no los vuelve equivalentes.</a:t>
            </a:r>
          </a:p>
          <a:p xmlns:a="http://schemas.openxmlformats.org/drawingml/2006/main">
            <a:r>
              <a:t/>
            </a:r>
          </a:p>
          <a:p xmlns:a="http://schemas.openxmlformats.org/drawingml/2006/main">
            <a:r>
              <a:t>El carbono puede aportar rigidez específica en aplicaciones adecuadas y el vidrio puede ser una alternativa útil y accesible. En este curso ninguna de esas frases decide por sí sola el material. Importan la pieza completa, su geometría, el proceso disponible, las uniones y la misión. Se revisan muestras preparadas y fichas concretas.</a:t>
            </a:r>
          </a:p>
          <a:p xmlns:a="http://schemas.openxmlformats.org/drawingml/2006/main">
            <a:r>
              <a:t/>
            </a:r>
          </a:p>
          <a:p xmlns:a="http://schemas.openxmlformats.org/drawingml/2006/main">
            <a:r>
              <a:t>Esta clase no se convierte en un curso de cálculo de laminados. El alumno debe reconocer cómo está hecha una muestra, para qué la consideraría y qué evidencia necesitaría antes de usarla. [CF]</a:t>
            </a:r>
          </a:p>
          <a:p xmlns:a="http://schemas.openxmlformats.org/drawingml/2006/main">
            <a:r>
              <a:t/>
            </a:r>
          </a:p>
          <a:p xmlns:a="http://schemas.openxmlformats.org/drawingml/2006/main">
            <a:r>
              <a:t>El nombre de una fibra no define la cantidad de refuerzo, su orientación o la calidad de la matriz. Un acabado exterior parecido puede esconder procesos diferentes. Antes de comparar una placa comprada con una pieza preparada en taller, identifica qué información existe sobre cada una. Si falta una ficha o no se conoce su fabricación, esa incertidumbre forma parte de la elección. No se rellena asignando las propiedades del material más parecido.</a:t>
            </a:r>
          </a:p>
          <a:p xmlns:a="http://schemas.openxmlformats.org/drawingml/2006/main">
            <a:r>
              <a:t>Pregunta para el grupo: ¿Tejido y filamento con fibra corta son equivalentes?</a:t>
            </a:r>
          </a:p>
          <a:p xmlns:a="http://schemas.openxmlformats.org/drawingml/2006/main">
            <a:r>
              <a:t/>
            </a:r>
          </a:p>
          <a:p xmlns:a="http://schemas.openxmlformats.org/drawingml/2006/main">
            <a:r>
              <a:t>Resultado: Comparar materiales por función, fabricación y reparación sin asignarles una superioridad universal.</a:t>
            </a:r>
          </a:p>
          <a:p xmlns:a="http://schemas.openxmlformats.org/drawingml/2006/main">
            <a:r>
              <a:t>Misión: Elegir materiales que el equipo pueda fabricar y comprobar con sus recursos.</a:t>
            </a:r>
          </a:p>
          <a:p xmlns:a="http://schemas.openxmlformats.org/drawingml/2006/main">
            <a:r>
              <a:t>Entrega: Tabla de selección por pieza, fotos y observaciones de banco.</a:t>
            </a:r>
          </a:p>
          <a:p xmlns:a="http://schemas.openxmlformats.org/drawingml/2006/main">
            <a:r>
              <a:t/>
            </a:r>
          </a:p>
          <a:p xmlns:a="http://schemas.openxmlformats.org/drawingml/2006/main">
            <a:r>
              <a:t>Preguntas y respuestas</a:t>
            </a:r>
          </a:p>
          <a:p xmlns:a="http://schemas.openxmlformats.org/drawingml/2006/main">
            <a:r>
              <a:t>¿Más rigidez observada demuestra mejor material si cambia el espesor?</a:t>
            </a:r>
          </a:p>
          <a:p xmlns:a="http://schemas.openxmlformats.org/drawingml/2006/main">
            <a:r>
              <a:t>No. Se están comparando piezas y condiciones diferentes.</a:t>
            </a:r>
          </a:p>
          <a:p xmlns:a="http://schemas.openxmlformats.org/drawingml/2006/main">
            <a:r>
              <a:t/>
            </a:r>
          </a:p>
          <a:p xmlns:a="http://schemas.openxmlformats.org/drawingml/2006/main">
            <a:r>
              <a:t>¿PLA con fibra corta equivale a una placa de tejido?</a:t>
            </a:r>
          </a:p>
          <a:p xmlns:a="http://schemas.openxmlformats.org/drawingml/2006/main">
            <a:r>
              <a:t>No. La estructura del refuerzo y el proceso son distintos.</a:t>
            </a:r>
          </a:p>
          <a:p xmlns:a="http://schemas.openxmlformats.org/drawingml/2006/main">
            <a:r>
              <a:t/>
            </a:r>
          </a:p>
          <a:p xmlns:a="http://schemas.openxmlformats.org/drawingml/2006/main">
            <a:r>
              <a:t>¿Qué debe explicar la selección?</a:t>
            </a:r>
          </a:p>
          <a:p xmlns:a="http://schemas.openxmlformats.org/drawingml/2006/main">
            <a:r>
              <a:t>Función de la pieza, proceso disponible y comprobación.</a:t>
            </a:r>
          </a:p>
          <a:p xmlns:a="http://schemas.openxmlformats.org/drawingml/2006/main">
            <a:r>
              <a:t/>
            </a:r>
          </a:p>
          <a:p xmlns:a="http://schemas.openxmlformats.org/drawingml/2006/main">
            <a:r>
              <a:t>Fuentes</a:t>
            </a:r>
          </a:p>
          <a:p xmlns:a="http://schemas.openxmlformats.org/drawingml/2006/main">
            <a:r>
              <a:t>Prusa Research. PLA. https://help.prusa3d.com/article/pla_2062</a:t>
            </a:r>
          </a:p>
          <a:p xmlns:a="http://schemas.openxmlformats.org/drawingml/2006/main">
            <a:r>
              <a:t>Prusa Research. PETG. https://help.prusa3d.com/article/petg_2059</a:t>
            </a:r>
          </a:p>
          <a:p xmlns:a="http://schemas.openxmlformats.org/drawingml/2006/main">
            <a:r>
              <a:t>Prusa Research. Composite materials. https://help.prusa3d.com/article/composite-materials-filled-with-carbon-kevlar-or-glass_167387</a:t>
            </a:r>
          </a:p>
          <a:p xmlns:a="http://schemas.openxmlformats.org/drawingml/2006/main">
            <a:r>
              <a:t>Prusa Research. Modeling with 3D printing in mind. https://help.prusa3d.com/article/modeling-with-3d-printing-in-mind_164135</a:t>
            </a:r>
          </a:p>
          <a:p xmlns:a="http://schemas.openxmlformats.org/drawingml/2006/main">
            <a:r>
              <a:t>Apogee Components. Peak of Flight 629. https://www.apogeerockets.com/education/downloads/Newsletter629.pdf</a:t>
            </a:r>
          </a:p>
          <a:p xmlns:a="http://schemas.openxmlformats.org/drawingml/2006/main">
            <a:r>
              <a:t>Lectura: MECRO_Coheteria_Clase_10.pdf.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10: Materiales y compuestos sobre piezas reales.</a:t>
            </a:r>
          </a:p>
          <a:p xmlns:a="http://schemas.openxmlformats.org/drawingml/2006/main">
            <a:r>
              <a:t>En línea, 2 h. Tramo del núcleo: 4 min.</a:t>
            </a:r>
          </a:p>
          <a:p xmlns:a="http://schemas.openxmlformats.org/drawingml/2006/main">
            <a:r>
              <a:t/>
            </a:r>
          </a:p>
          <a:p xmlns:a="http://schemas.openxmlformats.org/drawingml/2006/main">
            <a:r>
              <a:t>Muestra / Qué observar / Qué evitar concluir</a:t>
            </a:r>
          </a:p>
          <a:p xmlns:a="http://schemas.openxmlformats.org/drawingml/2006/main">
            <a:r>
              <a:t>Vidrio con resina / Tejido, acabado, espesor y masa / Que todo vidrio se comporta igual</a:t>
            </a:r>
          </a:p>
          <a:p xmlns:a="http://schemas.openxmlformats.org/drawingml/2006/main">
            <a:r>
              <a:t>Carbono con resina / Orientación, pieza y unión / Que siempre hace falta en un modelo pequeño</a:t>
            </a:r>
          </a:p>
          <a:p xmlns:a="http://schemas.openxmlformats.org/drawingml/2006/main">
            <a:r>
              <a:t>Filamento con fibra corta / Matriz, impresión y capas / Que equivale a un laminado de tejido</a:t>
            </a:r>
          </a:p>
          <a:p xmlns:a="http://schemas.openxmlformats.org/drawingml/2006/main">
            <a:r>
              <a:t>Comparar dos filas y justificar con la misión.</a:t>
            </a:r>
          </a:p>
          <a:p xmlns:a="http://schemas.openxmlformats.org/drawingml/2006/main">
            <a:r>
              <a:t/>
            </a:r>
          </a:p>
          <a:p xmlns:a="http://schemas.openxmlformats.org/drawingml/2006/main">
            <a:r>
              <a:t>Resultado: Comparar materiales por función, fabricación y reparación sin asignarles una superioridad universal.</a:t>
            </a:r>
          </a:p>
          <a:p xmlns:a="http://schemas.openxmlformats.org/drawingml/2006/main">
            <a:r>
              <a:t>Misión: Elegir materiales que el equipo pueda fabricar y comprobar con sus recursos.</a:t>
            </a:r>
          </a:p>
          <a:p xmlns:a="http://schemas.openxmlformats.org/drawingml/2006/main">
            <a:r>
              <a:t>Entrega: Tabla de selección por pieza, fotos y observaciones de banco.</a:t>
            </a:r>
          </a:p>
          <a:p xmlns:a="http://schemas.openxmlformats.org/drawingml/2006/main">
            <a:r>
              <a:t/>
            </a:r>
          </a:p>
          <a:p xmlns:a="http://schemas.openxmlformats.org/drawingml/2006/main">
            <a:r>
              <a:t>Preguntas y respuestas</a:t>
            </a:r>
          </a:p>
          <a:p xmlns:a="http://schemas.openxmlformats.org/drawingml/2006/main">
            <a:r>
              <a:t>¿Más rigidez observada demuestra mejor material si cambia el espesor?</a:t>
            </a:r>
          </a:p>
          <a:p xmlns:a="http://schemas.openxmlformats.org/drawingml/2006/main">
            <a:r>
              <a:t>No. Se están comparando piezas y condiciones diferentes.</a:t>
            </a:r>
          </a:p>
          <a:p xmlns:a="http://schemas.openxmlformats.org/drawingml/2006/main">
            <a:r>
              <a:t/>
            </a:r>
          </a:p>
          <a:p xmlns:a="http://schemas.openxmlformats.org/drawingml/2006/main">
            <a:r>
              <a:t>¿PLA con fibra corta equivale a una placa de tejido?</a:t>
            </a:r>
          </a:p>
          <a:p xmlns:a="http://schemas.openxmlformats.org/drawingml/2006/main">
            <a:r>
              <a:t>No. La estructura del refuerzo y el proceso son distintos.</a:t>
            </a:r>
          </a:p>
          <a:p xmlns:a="http://schemas.openxmlformats.org/drawingml/2006/main">
            <a:r>
              <a:t/>
            </a:r>
          </a:p>
          <a:p xmlns:a="http://schemas.openxmlformats.org/drawingml/2006/main">
            <a:r>
              <a:t>¿Qué debe explicar la selección?</a:t>
            </a:r>
          </a:p>
          <a:p xmlns:a="http://schemas.openxmlformats.org/drawingml/2006/main">
            <a:r>
              <a:t>Función de la pieza, proceso disponible y comprobación.</a:t>
            </a:r>
          </a:p>
          <a:p xmlns:a="http://schemas.openxmlformats.org/drawingml/2006/main">
            <a:r>
              <a:t/>
            </a:r>
          </a:p>
          <a:p xmlns:a="http://schemas.openxmlformats.org/drawingml/2006/main">
            <a:r>
              <a:t>Fuentes</a:t>
            </a:r>
          </a:p>
          <a:p xmlns:a="http://schemas.openxmlformats.org/drawingml/2006/main">
            <a:r>
              <a:t>Prusa Research. PLA. https://help.prusa3d.com/article/pla_2062</a:t>
            </a:r>
          </a:p>
          <a:p xmlns:a="http://schemas.openxmlformats.org/drawingml/2006/main">
            <a:r>
              <a:t>Prusa Research. PETG. https://help.prusa3d.com/article/petg_2059</a:t>
            </a:r>
          </a:p>
          <a:p xmlns:a="http://schemas.openxmlformats.org/drawingml/2006/main">
            <a:r>
              <a:t>Prusa Research. Composite materials. https://help.prusa3d.com/article/composite-materials-filled-with-carbon-kevlar-or-glass_167387</a:t>
            </a:r>
          </a:p>
          <a:p xmlns:a="http://schemas.openxmlformats.org/drawingml/2006/main">
            <a:r>
              <a:t>Prusa Research. Modeling with 3D printing in mind. https://help.prusa3d.com/article/modeling-with-3d-printing-in-mind_164135</a:t>
            </a:r>
          </a:p>
          <a:p xmlns:a="http://schemas.openxmlformats.org/drawingml/2006/main">
            <a:r>
              <a:t>Apogee Components. Peak of Flight 629. https://www.apogeerockets.com/education/downloads/Newsletter629.pdf</a:t>
            </a:r>
          </a:p>
          <a:p xmlns:a="http://schemas.openxmlformats.org/drawingml/2006/main">
            <a:r>
              <a:t>Lectura: MECRO_Coheteria_Clase_10.pdf.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10: Materiales y compuestos sobre piezas reales.</a:t>
            </a:r>
          </a:p>
          <a:p xmlns:a="http://schemas.openxmlformats.org/drawingml/2006/main">
            <a:r>
              <a:t>En línea, 2 h. Tramo del núcleo: 5 min.</a:t>
            </a:r>
          </a:p>
          <a:p xmlns:a="http://schemas.openxmlformats.org/drawingml/2006/main">
            <a:r>
              <a:t/>
            </a:r>
          </a:p>
          <a:p xmlns:a="http://schemas.openxmlformats.org/drawingml/2006/main">
            <a:r>
              <a:t>¿Tejido y filamento con fibra corta son equivalentes?</a:t>
            </a:r>
          </a:p>
          <a:p xmlns:a="http://schemas.openxmlformats.org/drawingml/2006/main">
            <a:r>
              <a:t>Relacionar la explicación con una decisión del proyecto.</a:t>
            </a:r>
          </a:p>
          <a:p xmlns:a="http://schemas.openxmlformats.org/drawingml/2006/main">
            <a:r>
              <a:t/>
            </a:r>
          </a:p>
          <a:p xmlns:a="http://schemas.openxmlformats.org/drawingml/2006/main">
            <a:r>
              <a:t>Resultado: Comparar materiales por función, fabricación y reparación sin asignarles una superioridad universal.</a:t>
            </a:r>
          </a:p>
          <a:p xmlns:a="http://schemas.openxmlformats.org/drawingml/2006/main">
            <a:r>
              <a:t>Misión: Elegir materiales que el equipo pueda fabricar y comprobar con sus recursos.</a:t>
            </a:r>
          </a:p>
          <a:p xmlns:a="http://schemas.openxmlformats.org/drawingml/2006/main">
            <a:r>
              <a:t>Entrega: Tabla de selección por pieza, fotos y observaciones de banco.</a:t>
            </a:r>
          </a:p>
          <a:p xmlns:a="http://schemas.openxmlformats.org/drawingml/2006/main">
            <a:r>
              <a:t/>
            </a:r>
          </a:p>
          <a:p xmlns:a="http://schemas.openxmlformats.org/drawingml/2006/main">
            <a:r>
              <a:t>Preguntas y respuestas</a:t>
            </a:r>
          </a:p>
          <a:p xmlns:a="http://schemas.openxmlformats.org/drawingml/2006/main">
            <a:r>
              <a:t>¿Más rigidez observada demuestra mejor material si cambia el espesor?</a:t>
            </a:r>
          </a:p>
          <a:p xmlns:a="http://schemas.openxmlformats.org/drawingml/2006/main">
            <a:r>
              <a:t>No. Se están comparando piezas y condiciones diferentes.</a:t>
            </a:r>
          </a:p>
          <a:p xmlns:a="http://schemas.openxmlformats.org/drawingml/2006/main">
            <a:r>
              <a:t/>
            </a:r>
          </a:p>
          <a:p xmlns:a="http://schemas.openxmlformats.org/drawingml/2006/main">
            <a:r>
              <a:t>¿PLA con fibra corta equivale a una placa de tejido?</a:t>
            </a:r>
          </a:p>
          <a:p xmlns:a="http://schemas.openxmlformats.org/drawingml/2006/main">
            <a:r>
              <a:t>No. La estructura del refuerzo y el proceso son distintos.</a:t>
            </a:r>
          </a:p>
          <a:p xmlns:a="http://schemas.openxmlformats.org/drawingml/2006/main">
            <a:r>
              <a:t/>
            </a:r>
          </a:p>
          <a:p xmlns:a="http://schemas.openxmlformats.org/drawingml/2006/main">
            <a:r>
              <a:t>¿Qué debe explicar la selección?</a:t>
            </a:r>
          </a:p>
          <a:p xmlns:a="http://schemas.openxmlformats.org/drawingml/2006/main">
            <a:r>
              <a:t>Función de la pieza, proceso disponible y comprobación.</a:t>
            </a:r>
          </a:p>
          <a:p xmlns:a="http://schemas.openxmlformats.org/drawingml/2006/main">
            <a:r>
              <a:t/>
            </a:r>
          </a:p>
          <a:p xmlns:a="http://schemas.openxmlformats.org/drawingml/2006/main">
            <a:r>
              <a:t>Fuentes</a:t>
            </a:r>
          </a:p>
          <a:p xmlns:a="http://schemas.openxmlformats.org/drawingml/2006/main">
            <a:r>
              <a:t>Prusa Research. PLA. https://help.prusa3d.com/article/pla_2062</a:t>
            </a:r>
          </a:p>
          <a:p xmlns:a="http://schemas.openxmlformats.org/drawingml/2006/main">
            <a:r>
              <a:t>Prusa Research. PETG. https://help.prusa3d.com/article/petg_2059</a:t>
            </a:r>
          </a:p>
          <a:p xmlns:a="http://schemas.openxmlformats.org/drawingml/2006/main">
            <a:r>
              <a:t>Prusa Research. Composite materials. https://help.prusa3d.com/article/composite-materials-filled-with-carbon-kevlar-or-glass_167387</a:t>
            </a:r>
          </a:p>
          <a:p xmlns:a="http://schemas.openxmlformats.org/drawingml/2006/main">
            <a:r>
              <a:t>Prusa Research. Modeling with 3D printing in mind. https://help.prusa3d.com/article/modeling-with-3d-printing-in-mind_164135</a:t>
            </a:r>
          </a:p>
          <a:p xmlns:a="http://schemas.openxmlformats.org/drawingml/2006/main">
            <a:r>
              <a:t>Apogee Components. Peak of Flight 629. https://www.apogeerockets.com/education/downloads/Newsletter629.pdf</a:t>
            </a:r>
          </a:p>
          <a:p xmlns:a="http://schemas.openxmlformats.org/drawingml/2006/main">
            <a:r>
              <a:t>Lectura: MECRO_Coheteria_Clase_10.pdf.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10: Materiales y compuestos sobre piezas reales.</a:t>
            </a:r>
          </a:p>
          <a:p xmlns:a="http://schemas.openxmlformats.org/drawingml/2006/main">
            <a:r>
              <a:t>En línea, 2 h. Tramo del núcleo: 4 min.</a:t>
            </a:r>
          </a:p>
          <a:p xmlns:a="http://schemas.openxmlformats.org/drawingml/2006/main">
            <a:r>
              <a:t/>
            </a:r>
          </a:p>
          <a:p xmlns:a="http://schemas.openxmlformats.org/drawingml/2006/main">
            <a:r>
              <a:t>El docente prepara muestras para una observación de banco, sin utilizar piezas críticas del vehículo para descubrir su límite de rotura. La tarea puede ser observar masa, espesor, recuperación después de una manipulación moderada y facilidad de unión en una muestra separada. El criterio se fija antes de comparar.</a:t>
            </a:r>
          </a:p>
          <a:p xmlns:a="http://schemas.openxmlformats.org/drawingml/2006/main">
            <a:r>
              <a:t/>
            </a:r>
          </a:p>
          <a:p xmlns:a="http://schemas.openxmlformats.org/drawingml/2006/main">
            <a:r>
              <a:t>La placa A se deforma menos que B, pero también tiene el doble de espesor y otra forma de apoyo.</a:t>
            </a:r>
          </a:p>
          <a:p xmlns:a="http://schemas.openxmlformats.org/drawingml/2006/main">
            <a:r>
              <a:t/>
            </a:r>
          </a:p>
          <a:p xmlns:a="http://schemas.openxmlformats.org/drawingml/2006/main">
            <a:r>
              <a:t>Una prueba sencilla puede ser rigurosa si su pregunta y sus límites son claros. No necesita llamarse ensayo estructural de certificación.</a:t>
            </a:r>
          </a:p>
          <a:p xmlns:a="http://schemas.openxmlformats.org/drawingml/2006/main">
            <a:r>
              <a:t/>
            </a:r>
          </a:p>
          <a:p xmlns:a="http://schemas.openxmlformats.org/drawingml/2006/main">
            <a:r>
              <a:t>Una observación útil conserva condiciones que otro equipo pueda repetir. Se identifica la muestra, se explica cómo se apoyó y se aplica únicamente la tarea de banco definida por el docente. Si la tarea es comparar un encaje o la calidad del borde, no hace falta romper la pieza. Una prueba informal ayuda a elegir y a descubrir dificultades de fabricación. Para afirmar una propiedad mecánica numérica se necesitaría otro método y otra evidencia.</a:t>
            </a:r>
          </a:p>
          <a:p xmlns:a="http://schemas.openxmlformats.org/drawingml/2006/main">
            <a:r>
              <a:t>Pregunta para el grupo: ¿Las muestras se observaron bajo condiciones semejantes?</a:t>
            </a:r>
          </a:p>
          <a:p xmlns:a="http://schemas.openxmlformats.org/drawingml/2006/main">
            <a:r>
              <a:t/>
            </a:r>
          </a:p>
          <a:p xmlns:a="http://schemas.openxmlformats.org/drawingml/2006/main">
            <a:r>
              <a:t>Resultado: Comparar materiales por función, fabricación y reparación sin asignarles una superioridad universal.</a:t>
            </a:r>
          </a:p>
          <a:p xmlns:a="http://schemas.openxmlformats.org/drawingml/2006/main">
            <a:r>
              <a:t>Misión: Elegir materiales que el equipo pueda fabricar y comprobar con sus recursos.</a:t>
            </a:r>
          </a:p>
          <a:p xmlns:a="http://schemas.openxmlformats.org/drawingml/2006/main">
            <a:r>
              <a:t>Entrega: Tabla de selección por pieza, fotos y observaciones de banco.</a:t>
            </a:r>
          </a:p>
          <a:p xmlns:a="http://schemas.openxmlformats.org/drawingml/2006/main">
            <a:r>
              <a:t/>
            </a:r>
          </a:p>
          <a:p xmlns:a="http://schemas.openxmlformats.org/drawingml/2006/main">
            <a:r>
              <a:t>Preguntas y respuestas</a:t>
            </a:r>
          </a:p>
          <a:p xmlns:a="http://schemas.openxmlformats.org/drawingml/2006/main">
            <a:r>
              <a:t>¿Más rigidez observada demuestra mejor material si cambia el espesor?</a:t>
            </a:r>
          </a:p>
          <a:p xmlns:a="http://schemas.openxmlformats.org/drawingml/2006/main">
            <a:r>
              <a:t>No. Se están comparando piezas y condiciones diferentes.</a:t>
            </a:r>
          </a:p>
          <a:p xmlns:a="http://schemas.openxmlformats.org/drawingml/2006/main">
            <a:r>
              <a:t/>
            </a:r>
          </a:p>
          <a:p xmlns:a="http://schemas.openxmlformats.org/drawingml/2006/main">
            <a:r>
              <a:t>¿PLA con fibra corta equivale a una placa de tejido?</a:t>
            </a:r>
          </a:p>
          <a:p xmlns:a="http://schemas.openxmlformats.org/drawingml/2006/main">
            <a:r>
              <a:t>No. La estructura del refuerzo y el proceso son distintos.</a:t>
            </a:r>
          </a:p>
          <a:p xmlns:a="http://schemas.openxmlformats.org/drawingml/2006/main">
            <a:r>
              <a:t/>
            </a:r>
          </a:p>
          <a:p xmlns:a="http://schemas.openxmlformats.org/drawingml/2006/main">
            <a:r>
              <a:t>¿Qué debe explicar la selección?</a:t>
            </a:r>
          </a:p>
          <a:p xmlns:a="http://schemas.openxmlformats.org/drawingml/2006/main">
            <a:r>
              <a:t>Función de la pieza, proceso disponible y comprobación.</a:t>
            </a:r>
          </a:p>
          <a:p xmlns:a="http://schemas.openxmlformats.org/drawingml/2006/main">
            <a:r>
              <a:t/>
            </a:r>
          </a:p>
          <a:p xmlns:a="http://schemas.openxmlformats.org/drawingml/2006/main">
            <a:r>
              <a:t>Fuentes</a:t>
            </a:r>
          </a:p>
          <a:p xmlns:a="http://schemas.openxmlformats.org/drawingml/2006/main">
            <a:r>
              <a:t>Prusa Research. PLA. https://help.prusa3d.com/article/pla_2062</a:t>
            </a:r>
          </a:p>
          <a:p xmlns:a="http://schemas.openxmlformats.org/drawingml/2006/main">
            <a:r>
              <a:t>Prusa Research. PETG. https://help.prusa3d.com/article/petg_2059</a:t>
            </a:r>
          </a:p>
          <a:p xmlns:a="http://schemas.openxmlformats.org/drawingml/2006/main">
            <a:r>
              <a:t>Prusa Research. Composite materials. https://help.prusa3d.com/article/composite-materials-filled-with-carbon-kevlar-or-glass_167387</a:t>
            </a:r>
          </a:p>
          <a:p xmlns:a="http://schemas.openxmlformats.org/drawingml/2006/main">
            <a:r>
              <a:t>Prusa Research. Modeling with 3D printing in mind. https://help.prusa3d.com/article/modeling-with-3d-printing-in-mind_164135</a:t>
            </a:r>
          </a:p>
          <a:p xmlns:a="http://schemas.openxmlformats.org/drawingml/2006/main">
            <a:r>
              <a:t>Apogee Components. Peak of Flight 629. https://www.apogeerockets.com/education/downloads/Newsletter629.pdf</a:t>
            </a:r>
          </a:p>
          <a:p xmlns:a="http://schemas.openxmlformats.org/drawingml/2006/main">
            <a:r>
              <a:t>Lectura: MECRO_Coheteria_Clase_10.pdf.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10: Materiales y compuestos sobre piezas reales.</a:t>
            </a:r>
          </a:p>
          <a:p xmlns:a="http://schemas.openxmlformats.org/drawingml/2006/main">
            <a:r>
              <a:t>En línea, 2 h. Tramo del núcleo: 4 min.</a:t>
            </a:r>
          </a:p>
          <a:p xmlns:a="http://schemas.openxmlformats.org/drawingml/2006/main">
            <a:r>
              <a:t/>
            </a:r>
          </a:p>
          <a:p xmlns:a="http://schemas.openxmlformats.org/drawingml/2006/main">
            <a:r>
              <a:t>¿Las muestras se observaron bajo condiciones semejantes?</a:t>
            </a:r>
          </a:p>
          <a:p xmlns:a="http://schemas.openxmlformats.org/drawingml/2006/main">
            <a:r>
              <a:t>Pedir una respuesta antes de consultar la explicación de la lectura.</a:t>
            </a:r>
          </a:p>
          <a:p xmlns:a="http://schemas.openxmlformats.org/drawingml/2006/main">
            <a:r>
              <a:t/>
            </a:r>
          </a:p>
          <a:p xmlns:a="http://schemas.openxmlformats.org/drawingml/2006/main">
            <a:r>
              <a:t>Resultado: Comparar materiales por función, fabricación y reparación sin asignarles una superioridad universal.</a:t>
            </a:r>
          </a:p>
          <a:p xmlns:a="http://schemas.openxmlformats.org/drawingml/2006/main">
            <a:r>
              <a:t>Misión: Elegir materiales que el equipo pueda fabricar y comprobar con sus recursos.</a:t>
            </a:r>
          </a:p>
          <a:p xmlns:a="http://schemas.openxmlformats.org/drawingml/2006/main">
            <a:r>
              <a:t>Entrega: Tabla de selección por pieza, fotos y observaciones de banco.</a:t>
            </a:r>
          </a:p>
          <a:p xmlns:a="http://schemas.openxmlformats.org/drawingml/2006/main">
            <a:r>
              <a:t/>
            </a:r>
          </a:p>
          <a:p xmlns:a="http://schemas.openxmlformats.org/drawingml/2006/main">
            <a:r>
              <a:t>Preguntas y respuestas</a:t>
            </a:r>
          </a:p>
          <a:p xmlns:a="http://schemas.openxmlformats.org/drawingml/2006/main">
            <a:r>
              <a:t>¿Más rigidez observada demuestra mejor material si cambia el espesor?</a:t>
            </a:r>
          </a:p>
          <a:p xmlns:a="http://schemas.openxmlformats.org/drawingml/2006/main">
            <a:r>
              <a:t>No. Se están comparando piezas y condiciones diferentes.</a:t>
            </a:r>
          </a:p>
          <a:p xmlns:a="http://schemas.openxmlformats.org/drawingml/2006/main">
            <a:r>
              <a:t/>
            </a:r>
          </a:p>
          <a:p xmlns:a="http://schemas.openxmlformats.org/drawingml/2006/main">
            <a:r>
              <a:t>¿PLA con fibra corta equivale a una placa de tejido?</a:t>
            </a:r>
          </a:p>
          <a:p xmlns:a="http://schemas.openxmlformats.org/drawingml/2006/main">
            <a:r>
              <a:t>No. La estructura del refuerzo y el proceso son distintos.</a:t>
            </a:r>
          </a:p>
          <a:p xmlns:a="http://schemas.openxmlformats.org/drawingml/2006/main">
            <a:r>
              <a:t/>
            </a:r>
          </a:p>
          <a:p xmlns:a="http://schemas.openxmlformats.org/drawingml/2006/main">
            <a:r>
              <a:t>¿Qué debe explicar la selección?</a:t>
            </a:r>
          </a:p>
          <a:p xmlns:a="http://schemas.openxmlformats.org/drawingml/2006/main">
            <a:r>
              <a:t>Función de la pieza, proceso disponible y comprobación.</a:t>
            </a:r>
          </a:p>
          <a:p xmlns:a="http://schemas.openxmlformats.org/drawingml/2006/main">
            <a:r>
              <a:t/>
            </a:r>
          </a:p>
          <a:p xmlns:a="http://schemas.openxmlformats.org/drawingml/2006/main">
            <a:r>
              <a:t>Fuentes</a:t>
            </a:r>
          </a:p>
          <a:p xmlns:a="http://schemas.openxmlformats.org/drawingml/2006/main">
            <a:r>
              <a:t>Prusa Research. PLA. https://help.prusa3d.com/article/pla_2062</a:t>
            </a:r>
          </a:p>
          <a:p xmlns:a="http://schemas.openxmlformats.org/drawingml/2006/main">
            <a:r>
              <a:t>Prusa Research. PETG. https://help.prusa3d.com/article/petg_2059</a:t>
            </a:r>
          </a:p>
          <a:p xmlns:a="http://schemas.openxmlformats.org/drawingml/2006/main">
            <a:r>
              <a:t>Prusa Research. Composite materials. https://help.prusa3d.com/article/composite-materials-filled-with-carbon-kevlar-or-glass_167387</a:t>
            </a:r>
          </a:p>
          <a:p xmlns:a="http://schemas.openxmlformats.org/drawingml/2006/main">
            <a:r>
              <a:t>Prusa Research. Modeling with 3D printing in mind. https://help.prusa3d.com/article/modeling-with-3d-printing-in-mind_164135</a:t>
            </a:r>
          </a:p>
          <a:p xmlns:a="http://schemas.openxmlformats.org/drawingml/2006/main">
            <a:r>
              <a:t>Apogee Components. Peak of Flight 629. https://www.apogeerockets.com/education/downloads/Newsletter629.pdf</a:t>
            </a:r>
          </a:p>
          <a:p xmlns:a="http://schemas.openxmlformats.org/drawingml/2006/main">
            <a:r>
              <a:t>Lectura: MECRO_Coheteria_Clase_10.pdf.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10: Materiales y compuestos sobre piezas reales.</a:t>
            </a:r>
          </a:p>
          <a:p xmlns:a="http://schemas.openxmlformats.org/drawingml/2006/main">
            <a:r>
              <a:t>En línea, 2 h. Tramo del núcleo: 5 min.</a:t>
            </a:r>
          </a:p>
          <a:p xmlns:a="http://schemas.openxmlformats.org/drawingml/2006/main">
            <a:r>
              <a:t/>
            </a:r>
          </a:p>
          <a:p xmlns:a="http://schemas.openxmlformats.org/drawingml/2006/main">
            <a:r>
              <a:t>Identifica material, espesor y dimensiones de cada muestra.</a:t>
            </a:r>
          </a:p>
          <a:p xmlns:a="http://schemas.openxmlformats.org/drawingml/2006/main">
            <a:r>
              <a:t>Pesa cada una y registra el estado previo.</a:t>
            </a:r>
          </a:p>
          <a:p xmlns:a="http://schemas.openxmlformats.org/drawingml/2006/main">
            <a:r>
              <a:t>Aplica solo la tarea de observación de banco definida por el docente, de forma semejante en todas.</a:t>
            </a:r>
          </a:p>
          <a:p xmlns:a="http://schemas.openxmlformats.org/drawingml/2006/main">
            <a:r>
              <a:t>Describe lo observado sin asignar una causa que no hayas comprobado.</a:t>
            </a:r>
          </a:p>
          <a:p xmlns:a="http://schemas.openxmlformats.org/drawingml/2006/main">
            <a:r>
              <a:t>Revisa si las muestras son comparables y qué diferencia impide una conclusión directa.</a:t>
            </a:r>
          </a:p>
          <a:p xmlns:a="http://schemas.openxmlformats.org/drawingml/2006/main">
            <a:r>
              <a:t>Elige una aplicación del proyecto para cada opción que tenga sentido.</a:t>
            </a:r>
          </a:p>
          <a:p xmlns:a="http://schemas.openxmlformats.org/drawingml/2006/main">
            <a:r>
              <a:t>Comprobar un paso en el objeto o programa antes de continuar.</a:t>
            </a:r>
          </a:p>
          <a:p xmlns:a="http://schemas.openxmlformats.org/drawingml/2006/main">
            <a:r>
              <a:t/>
            </a:r>
          </a:p>
          <a:p xmlns:a="http://schemas.openxmlformats.org/drawingml/2006/main">
            <a:r>
              <a:t>Resultado: Comparar materiales por función, fabricación y reparación sin asignarles una superioridad universal.</a:t>
            </a:r>
          </a:p>
          <a:p xmlns:a="http://schemas.openxmlformats.org/drawingml/2006/main">
            <a:r>
              <a:t>Misión: Elegir materiales que el equipo pueda fabricar y comprobar con sus recursos.</a:t>
            </a:r>
          </a:p>
          <a:p xmlns:a="http://schemas.openxmlformats.org/drawingml/2006/main">
            <a:r>
              <a:t>Entrega: Tabla de selección por pieza, fotos y observaciones de banco.</a:t>
            </a:r>
          </a:p>
          <a:p xmlns:a="http://schemas.openxmlformats.org/drawingml/2006/main">
            <a:r>
              <a:t/>
            </a:r>
          </a:p>
          <a:p xmlns:a="http://schemas.openxmlformats.org/drawingml/2006/main">
            <a:r>
              <a:t>Preguntas y respuestas</a:t>
            </a:r>
          </a:p>
          <a:p xmlns:a="http://schemas.openxmlformats.org/drawingml/2006/main">
            <a:r>
              <a:t>¿Más rigidez observada demuestra mejor material si cambia el espesor?</a:t>
            </a:r>
          </a:p>
          <a:p xmlns:a="http://schemas.openxmlformats.org/drawingml/2006/main">
            <a:r>
              <a:t>No. Se están comparando piezas y condiciones diferentes.</a:t>
            </a:r>
          </a:p>
          <a:p xmlns:a="http://schemas.openxmlformats.org/drawingml/2006/main">
            <a:r>
              <a:t/>
            </a:r>
          </a:p>
          <a:p xmlns:a="http://schemas.openxmlformats.org/drawingml/2006/main">
            <a:r>
              <a:t>¿PLA con fibra corta equivale a una placa de tejido?</a:t>
            </a:r>
          </a:p>
          <a:p xmlns:a="http://schemas.openxmlformats.org/drawingml/2006/main">
            <a:r>
              <a:t>No. La estructura del refuerzo y el proceso son distintos.</a:t>
            </a:r>
          </a:p>
          <a:p xmlns:a="http://schemas.openxmlformats.org/drawingml/2006/main">
            <a:r>
              <a:t/>
            </a:r>
          </a:p>
          <a:p xmlns:a="http://schemas.openxmlformats.org/drawingml/2006/main">
            <a:r>
              <a:t>¿Qué debe explicar la selección?</a:t>
            </a:r>
          </a:p>
          <a:p xmlns:a="http://schemas.openxmlformats.org/drawingml/2006/main">
            <a:r>
              <a:t>Función de la pieza, proceso disponible y comprobación.</a:t>
            </a:r>
          </a:p>
          <a:p xmlns:a="http://schemas.openxmlformats.org/drawingml/2006/main">
            <a:r>
              <a:t/>
            </a:r>
          </a:p>
          <a:p xmlns:a="http://schemas.openxmlformats.org/drawingml/2006/main">
            <a:r>
              <a:t>Fuentes</a:t>
            </a:r>
          </a:p>
          <a:p xmlns:a="http://schemas.openxmlformats.org/drawingml/2006/main">
            <a:r>
              <a:t>Prusa Research. PLA. https://help.prusa3d.com/article/pla_2062</a:t>
            </a:r>
          </a:p>
          <a:p xmlns:a="http://schemas.openxmlformats.org/drawingml/2006/main">
            <a:r>
              <a:t>Prusa Research. PETG. https://help.prusa3d.com/article/petg_2059</a:t>
            </a:r>
          </a:p>
          <a:p xmlns:a="http://schemas.openxmlformats.org/drawingml/2006/main">
            <a:r>
              <a:t>Prusa Research. Composite materials. https://help.prusa3d.com/article/composite-materials-filled-with-carbon-kevlar-or-glass_167387</a:t>
            </a:r>
          </a:p>
          <a:p xmlns:a="http://schemas.openxmlformats.org/drawingml/2006/main">
            <a:r>
              <a:t>Prusa Research. Modeling with 3D printing in mind. https://help.prusa3d.com/article/modeling-with-3d-printing-in-mind_164135</a:t>
            </a:r>
          </a:p>
          <a:p xmlns:a="http://schemas.openxmlformats.org/drawingml/2006/main">
            <a:r>
              <a:t>Apogee Components. Peak of Flight 629. https://www.apogeerockets.com/education/downloads/Newsletter629.pdf</a:t>
            </a:r>
          </a:p>
          <a:p xmlns:a="http://schemas.openxmlformats.org/drawingml/2006/main">
            <a:r>
              <a:t>Lectura: MECRO_Coheteria_Clase_10.pdf.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10: Materiales y compuestos sobre piezas reales.</a:t>
            </a:r>
          </a:p>
          <a:p xmlns:a="http://schemas.openxmlformats.org/drawingml/2006/main">
            <a:r>
              <a:t>En línea, 2 h. Tramo del núcleo: 4 min.</a:t>
            </a:r>
          </a:p>
          <a:p xmlns:a="http://schemas.openxmlformats.org/drawingml/2006/main">
            <a:r>
              <a:t/>
            </a:r>
          </a:p>
          <a:p xmlns:a="http://schemas.openxmlformats.org/drawingml/2006/main">
            <a:r>
              <a:t>El equipo debe poder decir por qué una opción sencilla cumple la función o por qué necesita otra. Añadir un compuesto especializado sin una necesidad clara puede complicar uniones, fabricación y reposición. Para el primer cohete interesa completar bien el conjunto y aprender a revisar sus piezas.</a:t>
            </a:r>
          </a:p>
          <a:p xmlns:a="http://schemas.openxmlformats.org/drawingml/2006/main">
            <a:r>
              <a:t/>
            </a:r>
          </a:p>
          <a:p xmlns:a="http://schemas.openxmlformats.org/drawingml/2006/main">
            <a:r>
              <a:t>Se propone sustituir una pieza que ya cumple su función por otra más costosa, sin una diferencia de misión definida.</a:t>
            </a:r>
          </a:p>
          <a:p xmlns:a="http://schemas.openxmlformats.org/drawingml/2006/main">
            <a:r>
              <a:t/>
            </a:r>
          </a:p>
          <a:p xmlns:a="http://schemas.openxmlformats.org/drawingml/2006/main">
            <a:r>
              <a:t>La facilidad de reparar también se demuestra con una tarea. Una pieza de repuesto puede ser barata en material, pero difícil de cambiar sin afectar las otras uniones. El equipo puede presentar una maqueta separada de esa interfaz y explicar el acceso necesario. Esta revisión conecta material y mantenimiento con la misión de reutilización, sin necesidad de romper el prototipo ni calcular una resistencia última.</a:t>
            </a:r>
          </a:p>
          <a:p xmlns:a="http://schemas.openxmlformats.org/drawingml/2006/main">
            <a:r>
              <a:t>Pregunta para el grupo: ¿Qué problema resolvería un material más especializado?</a:t>
            </a:r>
          </a:p>
          <a:p xmlns:a="http://schemas.openxmlformats.org/drawingml/2006/main">
            <a:r>
              <a:t/>
            </a:r>
          </a:p>
          <a:p xmlns:a="http://schemas.openxmlformats.org/drawingml/2006/main">
            <a:r>
              <a:t>Resultado: Comparar materiales por función, fabricación y reparación sin asignarles una superioridad universal.</a:t>
            </a:r>
          </a:p>
          <a:p xmlns:a="http://schemas.openxmlformats.org/drawingml/2006/main">
            <a:r>
              <a:t>Misión: Elegir materiales que el equipo pueda fabricar y comprobar con sus recursos.</a:t>
            </a:r>
          </a:p>
          <a:p xmlns:a="http://schemas.openxmlformats.org/drawingml/2006/main">
            <a:r>
              <a:t>Entrega: Tabla de selección por pieza, fotos y observaciones de banco.</a:t>
            </a:r>
          </a:p>
          <a:p xmlns:a="http://schemas.openxmlformats.org/drawingml/2006/main">
            <a:r>
              <a:t/>
            </a:r>
          </a:p>
          <a:p xmlns:a="http://schemas.openxmlformats.org/drawingml/2006/main">
            <a:r>
              <a:t>Preguntas y respuestas</a:t>
            </a:r>
          </a:p>
          <a:p xmlns:a="http://schemas.openxmlformats.org/drawingml/2006/main">
            <a:r>
              <a:t>¿Más rigidez observada demuestra mejor material si cambia el espesor?</a:t>
            </a:r>
          </a:p>
          <a:p xmlns:a="http://schemas.openxmlformats.org/drawingml/2006/main">
            <a:r>
              <a:t>No. Se están comparando piezas y condiciones diferentes.</a:t>
            </a:r>
          </a:p>
          <a:p xmlns:a="http://schemas.openxmlformats.org/drawingml/2006/main">
            <a:r>
              <a:t/>
            </a:r>
          </a:p>
          <a:p xmlns:a="http://schemas.openxmlformats.org/drawingml/2006/main">
            <a:r>
              <a:t>¿PLA con fibra corta equivale a una placa de tejido?</a:t>
            </a:r>
          </a:p>
          <a:p xmlns:a="http://schemas.openxmlformats.org/drawingml/2006/main">
            <a:r>
              <a:t>No. La estructura del refuerzo y el proceso son distintos.</a:t>
            </a:r>
          </a:p>
          <a:p xmlns:a="http://schemas.openxmlformats.org/drawingml/2006/main">
            <a:r>
              <a:t/>
            </a:r>
          </a:p>
          <a:p xmlns:a="http://schemas.openxmlformats.org/drawingml/2006/main">
            <a:r>
              <a:t>¿Qué debe explicar la selección?</a:t>
            </a:r>
          </a:p>
          <a:p xmlns:a="http://schemas.openxmlformats.org/drawingml/2006/main">
            <a:r>
              <a:t>Función de la pieza, proceso disponible y comprobación.</a:t>
            </a:r>
          </a:p>
          <a:p xmlns:a="http://schemas.openxmlformats.org/drawingml/2006/main">
            <a:r>
              <a:t/>
            </a:r>
          </a:p>
          <a:p xmlns:a="http://schemas.openxmlformats.org/drawingml/2006/main">
            <a:r>
              <a:t>Fuentes</a:t>
            </a:r>
          </a:p>
          <a:p xmlns:a="http://schemas.openxmlformats.org/drawingml/2006/main">
            <a:r>
              <a:t>Prusa Research. PLA. https://help.prusa3d.com/article/pla_2062</a:t>
            </a:r>
          </a:p>
          <a:p xmlns:a="http://schemas.openxmlformats.org/drawingml/2006/main">
            <a:r>
              <a:t>Prusa Research. PETG. https://help.prusa3d.com/article/petg_2059</a:t>
            </a:r>
          </a:p>
          <a:p xmlns:a="http://schemas.openxmlformats.org/drawingml/2006/main">
            <a:r>
              <a:t>Prusa Research. Composite materials. https://help.prusa3d.com/article/composite-materials-filled-with-carbon-kevlar-or-glass_167387</a:t>
            </a:r>
          </a:p>
          <a:p xmlns:a="http://schemas.openxmlformats.org/drawingml/2006/main">
            <a:r>
              <a:t>Prusa Research. Modeling with 3D printing in mind. https://help.prusa3d.com/article/modeling-with-3d-printing-in-mind_164135</a:t>
            </a:r>
          </a:p>
          <a:p xmlns:a="http://schemas.openxmlformats.org/drawingml/2006/main">
            <a:r>
              <a:t>Apogee Components. Peak of Flight 629. https://www.apogeerockets.com/education/downloads/Newsletter629.pdf</a:t>
            </a:r>
          </a:p>
          <a:p xmlns:a="http://schemas.openxmlformats.org/drawingml/2006/main">
            <a:r>
              <a:t>Lectura: MECRO_Coheteria_Clase_10.pdf.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10: Materiales y compuestos sobre piezas reales.</a:t>
            </a:r>
          </a:p>
          <a:p xmlns:a="http://schemas.openxmlformats.org/drawingml/2006/main">
            <a:r>
              <a:t>En línea, 2 h. Tramo del núcleo: 4 min.</a:t>
            </a:r>
          </a:p>
          <a:p xmlns:a="http://schemas.openxmlformats.org/drawingml/2006/main">
            <a:r>
              <a:t/>
            </a:r>
          </a:p>
          <a:p xmlns:a="http://schemas.openxmlformats.org/drawingml/2006/main">
            <a:r>
              <a:t>Prusa Research: el proceso de impresión afecta el acabado funcional. Es una evidencia de fabricación, no una propiedad universal del material.</a:t>
            </a:r>
          </a:p>
          <a:p xmlns:a="http://schemas.openxmlformats.org/drawingml/2006/main">
            <a:r>
              <a:t>Localizar en la imagen las partes relacionadas con la pregunta.</a:t>
            </a:r>
          </a:p>
          <a:p xmlns:a="http://schemas.openxmlformats.org/drawingml/2006/main">
            <a:r>
              <a:t>¿Qué problema resolvería un material más especializado?</a:t>
            </a:r>
          </a:p>
          <a:p xmlns:a="http://schemas.openxmlformats.org/drawingml/2006/main">
            <a:r>
              <a:t/>
            </a:r>
          </a:p>
          <a:p xmlns:a="http://schemas.openxmlformats.org/drawingml/2006/main">
            <a:r>
              <a:t>Resultado: Comparar materiales por función, fabricación y reparación sin asignarles una superioridad universal.</a:t>
            </a:r>
          </a:p>
          <a:p xmlns:a="http://schemas.openxmlformats.org/drawingml/2006/main">
            <a:r>
              <a:t>Misión: Elegir materiales que el equipo pueda fabricar y comprobar con sus recursos.</a:t>
            </a:r>
          </a:p>
          <a:p xmlns:a="http://schemas.openxmlformats.org/drawingml/2006/main">
            <a:r>
              <a:t>Entrega: Tabla de selección por pieza, fotos y observaciones de banco.</a:t>
            </a:r>
          </a:p>
          <a:p xmlns:a="http://schemas.openxmlformats.org/drawingml/2006/main">
            <a:r>
              <a:t/>
            </a:r>
          </a:p>
          <a:p xmlns:a="http://schemas.openxmlformats.org/drawingml/2006/main">
            <a:r>
              <a:t>Preguntas y respuestas</a:t>
            </a:r>
          </a:p>
          <a:p xmlns:a="http://schemas.openxmlformats.org/drawingml/2006/main">
            <a:r>
              <a:t>¿Más rigidez observada demuestra mejor material si cambia el espesor?</a:t>
            </a:r>
          </a:p>
          <a:p xmlns:a="http://schemas.openxmlformats.org/drawingml/2006/main">
            <a:r>
              <a:t>No. Se están comparando piezas y condiciones diferentes.</a:t>
            </a:r>
          </a:p>
          <a:p xmlns:a="http://schemas.openxmlformats.org/drawingml/2006/main">
            <a:r>
              <a:t/>
            </a:r>
          </a:p>
          <a:p xmlns:a="http://schemas.openxmlformats.org/drawingml/2006/main">
            <a:r>
              <a:t>¿PLA con fibra corta equivale a una placa de tejido?</a:t>
            </a:r>
          </a:p>
          <a:p xmlns:a="http://schemas.openxmlformats.org/drawingml/2006/main">
            <a:r>
              <a:t>No. La estructura del refuerzo y el proceso son distintos.</a:t>
            </a:r>
          </a:p>
          <a:p xmlns:a="http://schemas.openxmlformats.org/drawingml/2006/main">
            <a:r>
              <a:t/>
            </a:r>
          </a:p>
          <a:p xmlns:a="http://schemas.openxmlformats.org/drawingml/2006/main">
            <a:r>
              <a:t>¿Qué debe explicar la selección?</a:t>
            </a:r>
          </a:p>
          <a:p xmlns:a="http://schemas.openxmlformats.org/drawingml/2006/main">
            <a:r>
              <a:t>Función de la pieza, proceso disponible y comprobación.</a:t>
            </a:r>
          </a:p>
          <a:p xmlns:a="http://schemas.openxmlformats.org/drawingml/2006/main">
            <a:r>
              <a:t/>
            </a:r>
          </a:p>
          <a:p xmlns:a="http://schemas.openxmlformats.org/drawingml/2006/main">
            <a:r>
              <a:t>Fuentes</a:t>
            </a:r>
          </a:p>
          <a:p xmlns:a="http://schemas.openxmlformats.org/drawingml/2006/main">
            <a:r>
              <a:t>Prusa Research. PLA. https://help.prusa3d.com/article/pla_2062</a:t>
            </a:r>
          </a:p>
          <a:p xmlns:a="http://schemas.openxmlformats.org/drawingml/2006/main">
            <a:r>
              <a:t>Prusa Research. PETG. https://help.prusa3d.com/article/petg_2059</a:t>
            </a:r>
          </a:p>
          <a:p xmlns:a="http://schemas.openxmlformats.org/drawingml/2006/main">
            <a:r>
              <a:t>Prusa Research. Composite materials. https://help.prusa3d.com/article/composite-materials-filled-with-carbon-kevlar-or-glass_167387</a:t>
            </a:r>
          </a:p>
          <a:p xmlns:a="http://schemas.openxmlformats.org/drawingml/2006/main">
            <a:r>
              <a:t>Prusa Research. Modeling with 3D printing in mind. https://help.prusa3d.com/article/modeling-with-3d-printing-in-mind_164135</a:t>
            </a:r>
          </a:p>
          <a:p xmlns:a="http://schemas.openxmlformats.org/drawingml/2006/main">
            <a:r>
              <a:t>Apogee Components. Peak of Flight 629. https://www.apogeerockets.com/education/downloads/Newsletter629.pdf</a:t>
            </a:r>
          </a:p>
          <a:p xmlns:a="http://schemas.openxmlformats.org/drawingml/2006/main">
            <a:r>
              <a:t>Lectura: MECRO_Coheteria_Clase_10.pdf.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10: Materiales y compuestos sobre piezas reales.</a:t>
            </a:r>
          </a:p>
          <a:p xmlns:a="http://schemas.openxmlformats.org/drawingml/2006/main">
            <a:r>
              <a:t>En línea, 2 h. Tramo del núcleo: 5 min.</a:t>
            </a:r>
          </a:p>
          <a:p xmlns:a="http://schemas.openxmlformats.org/drawingml/2006/main">
            <a:r>
              <a:t/>
            </a:r>
          </a:p>
          <a:p xmlns:a="http://schemas.openxmlformats.org/drawingml/2006/main">
            <a:r>
              <a:t>Caso</a:t>
            </a:r>
          </a:p>
          <a:p xmlns:a="http://schemas.openxmlformats.org/drawingml/2006/main">
            <a:r>
              <a:t>Se propone sustituir una pieza que ya cumple su función por otra más costosa, sin una diferencia de misión definida.</a:t>
            </a:r>
          </a:p>
          <a:p xmlns:a="http://schemas.openxmlformats.org/drawingml/2006/main">
            <a:r>
              <a:t>Explicación</a:t>
            </a:r>
          </a:p>
          <a:p xmlns:a="http://schemas.openxmlformats.org/drawingml/2006/main">
            <a:r>
              <a:t>Antes de cambiar, identifica el problema que resolvería. Si no existe una necesidad comprobable, conserva la referencia y dedica el recurso a una pieza o revisión pendiente.</a:t>
            </a:r>
          </a:p>
          <a:p xmlns:a="http://schemas.openxmlformats.org/drawingml/2006/main">
            <a:r>
              <a:t>Dar tiempo para responder antes de presentar la solución oralmente.</a:t>
            </a:r>
          </a:p>
          <a:p xmlns:a="http://schemas.openxmlformats.org/drawingml/2006/main">
            <a:r>
              <a:t/>
            </a:r>
          </a:p>
          <a:p xmlns:a="http://schemas.openxmlformats.org/drawingml/2006/main">
            <a:r>
              <a:t>Resultado: Comparar materiales por función, fabricación y reparación sin asignarles una superioridad universal.</a:t>
            </a:r>
          </a:p>
          <a:p xmlns:a="http://schemas.openxmlformats.org/drawingml/2006/main">
            <a:r>
              <a:t>Misión: Elegir materiales que el equipo pueda fabricar y comprobar con sus recursos.</a:t>
            </a:r>
          </a:p>
          <a:p xmlns:a="http://schemas.openxmlformats.org/drawingml/2006/main">
            <a:r>
              <a:t>Entrega: Tabla de selección por pieza, fotos y observaciones de banco.</a:t>
            </a:r>
          </a:p>
          <a:p xmlns:a="http://schemas.openxmlformats.org/drawingml/2006/main">
            <a:r>
              <a:t/>
            </a:r>
          </a:p>
          <a:p xmlns:a="http://schemas.openxmlformats.org/drawingml/2006/main">
            <a:r>
              <a:t>Preguntas y respuestas</a:t>
            </a:r>
          </a:p>
          <a:p xmlns:a="http://schemas.openxmlformats.org/drawingml/2006/main">
            <a:r>
              <a:t>¿Más rigidez observada demuestra mejor material si cambia el espesor?</a:t>
            </a:r>
          </a:p>
          <a:p xmlns:a="http://schemas.openxmlformats.org/drawingml/2006/main">
            <a:r>
              <a:t>No. Se están comparando piezas y condiciones diferentes.</a:t>
            </a:r>
          </a:p>
          <a:p xmlns:a="http://schemas.openxmlformats.org/drawingml/2006/main">
            <a:r>
              <a:t/>
            </a:r>
          </a:p>
          <a:p xmlns:a="http://schemas.openxmlformats.org/drawingml/2006/main">
            <a:r>
              <a:t>¿PLA con fibra corta equivale a una placa de tejido?</a:t>
            </a:r>
          </a:p>
          <a:p xmlns:a="http://schemas.openxmlformats.org/drawingml/2006/main">
            <a:r>
              <a:t>No. La estructura del refuerzo y el proceso son distintos.</a:t>
            </a:r>
          </a:p>
          <a:p xmlns:a="http://schemas.openxmlformats.org/drawingml/2006/main">
            <a:r>
              <a:t/>
            </a:r>
          </a:p>
          <a:p xmlns:a="http://schemas.openxmlformats.org/drawingml/2006/main">
            <a:r>
              <a:t>¿Qué debe explicar la selección?</a:t>
            </a:r>
          </a:p>
          <a:p xmlns:a="http://schemas.openxmlformats.org/drawingml/2006/main">
            <a:r>
              <a:t>Función de la pieza, proceso disponible y comprobación.</a:t>
            </a:r>
          </a:p>
          <a:p xmlns:a="http://schemas.openxmlformats.org/drawingml/2006/main">
            <a:r>
              <a:t/>
            </a:r>
          </a:p>
          <a:p xmlns:a="http://schemas.openxmlformats.org/drawingml/2006/main">
            <a:r>
              <a:t>Fuentes</a:t>
            </a:r>
          </a:p>
          <a:p xmlns:a="http://schemas.openxmlformats.org/drawingml/2006/main">
            <a:r>
              <a:t>Prusa Research. PLA. https://help.prusa3d.com/article/pla_2062</a:t>
            </a:r>
          </a:p>
          <a:p xmlns:a="http://schemas.openxmlformats.org/drawingml/2006/main">
            <a:r>
              <a:t>Prusa Research. PETG. https://help.prusa3d.com/article/petg_2059</a:t>
            </a:r>
          </a:p>
          <a:p xmlns:a="http://schemas.openxmlformats.org/drawingml/2006/main">
            <a:r>
              <a:t>Prusa Research. Composite materials. https://help.prusa3d.com/article/composite-materials-filled-with-carbon-kevlar-or-glass_167387</a:t>
            </a:r>
          </a:p>
          <a:p xmlns:a="http://schemas.openxmlformats.org/drawingml/2006/main">
            <a:r>
              <a:t>Prusa Research. Modeling with 3D printing in mind. https://help.prusa3d.com/article/modeling-with-3d-printing-in-mind_164135</a:t>
            </a:r>
          </a:p>
          <a:p xmlns:a="http://schemas.openxmlformats.org/drawingml/2006/main">
            <a:r>
              <a:t>Apogee Components. Peak of Flight 629. https://www.apogeerockets.com/education/downloads/Newsletter629.pdf</a:t>
            </a:r>
          </a:p>
          <a:p xmlns:a="http://schemas.openxmlformats.org/drawingml/2006/main">
            <a:r>
              <a:t>Lectura: MECRO_Coheteria_Clase_10.pdf.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10: Materiales y compuestos sobre piezas reales.</a:t>
            </a:r>
          </a:p>
          <a:p xmlns:a="http://schemas.openxmlformats.org/drawingml/2006/main">
            <a:r>
              <a:t>En línea, 2 h. Tramo del núcleo: 4 min.</a:t>
            </a:r>
          </a:p>
          <a:p xmlns:a="http://schemas.openxmlformats.org/drawingml/2006/main">
            <a:r>
              <a:t/>
            </a:r>
          </a:p>
          <a:p xmlns:a="http://schemas.openxmlformats.org/drawingml/2006/main">
            <a:r>
              <a:t>La decisión final combina observación y necesidades del proyecto. El alumno no tiene que memorizar módulos elásticos de materiales. Sí debe distinguir el peso de una pieza, su estado, el proceso que la produjo y la forma en que se conectará con las otras.</a:t>
            </a:r>
          </a:p>
          <a:p xmlns:a="http://schemas.openxmlformats.org/drawingml/2006/main">
            <a:r>
              <a:t/>
            </a:r>
          </a:p>
          <a:p xmlns:a="http://schemas.openxmlformats.org/drawingml/2006/main">
            <a:r>
              <a:t>“Para nuestras aletas elegimos esta opción porque pudimos repetir el contorno y revisar la unión con el útil. Esta otra muestra quedará como referencia para una futura versión”.</a:t>
            </a:r>
          </a:p>
          <a:p xmlns:a="http://schemas.openxmlformats.org/drawingml/2006/main">
            <a:r>
              <a:t/>
            </a:r>
          </a:p>
          <a:p xmlns:a="http://schemas.openxmlformats.org/drawingml/2006/main">
            <a:r>
              <a:t>Entrega una tabla por pieza con material, proceso, masa conocida o pendiente, motivo y comprobación. Incluye una fotografía de las muestras identificadas. La comparación debe ser comprensible para un compañero que no estuvo en la mesa.</a:t>
            </a:r>
          </a:p>
          <a:p xmlns:a="http://schemas.openxmlformats.org/drawingml/2006/main">
            <a:r>
              <a:t>Pregunta para el grupo: ¿La elección cambia si necesitas reponer una pieza?</a:t>
            </a:r>
          </a:p>
          <a:p xmlns:a="http://schemas.openxmlformats.org/drawingml/2006/main">
            <a:r>
              <a:t/>
            </a:r>
          </a:p>
          <a:p xmlns:a="http://schemas.openxmlformats.org/drawingml/2006/main">
            <a:r>
              <a:t>Resultado: Comparar materiales por función, fabricación y reparación sin asignarles una superioridad universal.</a:t>
            </a:r>
          </a:p>
          <a:p xmlns:a="http://schemas.openxmlformats.org/drawingml/2006/main">
            <a:r>
              <a:t>Misión: Elegir materiales que el equipo pueda fabricar y comprobar con sus recursos.</a:t>
            </a:r>
          </a:p>
          <a:p xmlns:a="http://schemas.openxmlformats.org/drawingml/2006/main">
            <a:r>
              <a:t>Entrega: Tabla de selección por pieza, fotos y observaciones de banco.</a:t>
            </a:r>
          </a:p>
          <a:p xmlns:a="http://schemas.openxmlformats.org/drawingml/2006/main">
            <a:r>
              <a:t/>
            </a:r>
          </a:p>
          <a:p xmlns:a="http://schemas.openxmlformats.org/drawingml/2006/main">
            <a:r>
              <a:t>Preguntas y respuestas</a:t>
            </a:r>
          </a:p>
          <a:p xmlns:a="http://schemas.openxmlformats.org/drawingml/2006/main">
            <a:r>
              <a:t>¿Más rigidez observada demuestra mejor material si cambia el espesor?</a:t>
            </a:r>
          </a:p>
          <a:p xmlns:a="http://schemas.openxmlformats.org/drawingml/2006/main">
            <a:r>
              <a:t>No. Se están comparando piezas y condiciones diferentes.</a:t>
            </a:r>
          </a:p>
          <a:p xmlns:a="http://schemas.openxmlformats.org/drawingml/2006/main">
            <a:r>
              <a:t/>
            </a:r>
          </a:p>
          <a:p xmlns:a="http://schemas.openxmlformats.org/drawingml/2006/main">
            <a:r>
              <a:t>¿PLA con fibra corta equivale a una placa de tejido?</a:t>
            </a:r>
          </a:p>
          <a:p xmlns:a="http://schemas.openxmlformats.org/drawingml/2006/main">
            <a:r>
              <a:t>No. La estructura del refuerzo y el proceso son distintos.</a:t>
            </a:r>
          </a:p>
          <a:p xmlns:a="http://schemas.openxmlformats.org/drawingml/2006/main">
            <a:r>
              <a:t/>
            </a:r>
          </a:p>
          <a:p xmlns:a="http://schemas.openxmlformats.org/drawingml/2006/main">
            <a:r>
              <a:t>¿Qué debe explicar la selección?</a:t>
            </a:r>
          </a:p>
          <a:p xmlns:a="http://schemas.openxmlformats.org/drawingml/2006/main">
            <a:r>
              <a:t>Función de la pieza, proceso disponible y comprobación.</a:t>
            </a:r>
          </a:p>
          <a:p xmlns:a="http://schemas.openxmlformats.org/drawingml/2006/main">
            <a:r>
              <a:t/>
            </a:r>
          </a:p>
          <a:p xmlns:a="http://schemas.openxmlformats.org/drawingml/2006/main">
            <a:r>
              <a:t>Fuentes</a:t>
            </a:r>
          </a:p>
          <a:p xmlns:a="http://schemas.openxmlformats.org/drawingml/2006/main">
            <a:r>
              <a:t>Prusa Research. PLA. https://help.prusa3d.com/article/pla_2062</a:t>
            </a:r>
          </a:p>
          <a:p xmlns:a="http://schemas.openxmlformats.org/drawingml/2006/main">
            <a:r>
              <a:t>Prusa Research. PETG. https://help.prusa3d.com/article/petg_2059</a:t>
            </a:r>
          </a:p>
          <a:p xmlns:a="http://schemas.openxmlformats.org/drawingml/2006/main">
            <a:r>
              <a:t>Prusa Research. Composite materials. https://help.prusa3d.com/article/composite-materials-filled-with-carbon-kevlar-or-glass_167387</a:t>
            </a:r>
          </a:p>
          <a:p xmlns:a="http://schemas.openxmlformats.org/drawingml/2006/main">
            <a:r>
              <a:t>Prusa Research. Modeling with 3D printing in mind. https://help.prusa3d.com/article/modeling-with-3d-printing-in-mind_164135</a:t>
            </a:r>
          </a:p>
          <a:p xmlns:a="http://schemas.openxmlformats.org/drawingml/2006/main">
            <a:r>
              <a:t>Apogee Components. Peak of Flight 629. https://www.apogeerockets.com/education/downloads/Newsletter629.pdf</a:t>
            </a:r>
          </a:p>
          <a:p xmlns:a="http://schemas.openxmlformats.org/drawingml/2006/main">
            <a:r>
              <a:t>Lectura: MECRO_Coheteria_Clase_10.pdf.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10: Materiales y compuestos sobre piezas reales.</a:t>
            </a:r>
          </a:p>
          <a:p xmlns:a="http://schemas.openxmlformats.org/drawingml/2006/main">
            <a:r>
              <a:t>En línea, 2 h. Tramo del núcleo: 4 min.</a:t>
            </a:r>
          </a:p>
          <a:p xmlns:a="http://schemas.openxmlformats.org/drawingml/2006/main">
            <a:r>
              <a:t/>
            </a:r>
          </a:p>
          <a:p xmlns:a="http://schemas.openxmlformats.org/drawingml/2006/main">
            <a:r>
              <a:t>Misión / Prioridades razonables</a:t>
            </a:r>
          </a:p>
          <a:p xmlns:a="http://schemas.openxmlformats.org/drawingml/2006/main">
            <a:r>
              <a:t>Aprendizaje / Fabricación comprensible, costo y disponibilidad</a:t>
            </a:r>
          </a:p>
          <a:p xmlns:a="http://schemas.openxmlformats.org/drawingml/2006/main">
            <a:r>
              <a:t>Reutilización / Revisión, repuestos y reparación</a:t>
            </a:r>
          </a:p>
          <a:p xmlns:a="http://schemas.openxmlformats.org/drawingml/2006/main">
            <a:r>
              <a:t>Carga docente / Interfaces, acceso y condiciones del conjunto</a:t>
            </a:r>
          </a:p>
          <a:p xmlns:a="http://schemas.openxmlformats.org/drawingml/2006/main">
            <a:r>
              <a:t>Comparar dos filas y justificar con la misión.</a:t>
            </a:r>
          </a:p>
          <a:p xmlns:a="http://schemas.openxmlformats.org/drawingml/2006/main">
            <a:r>
              <a:t/>
            </a:r>
          </a:p>
          <a:p xmlns:a="http://schemas.openxmlformats.org/drawingml/2006/main">
            <a:r>
              <a:t>Resultado: Comparar materiales por función, fabricación y reparación sin asignarles una superioridad universal.</a:t>
            </a:r>
          </a:p>
          <a:p xmlns:a="http://schemas.openxmlformats.org/drawingml/2006/main">
            <a:r>
              <a:t>Misión: Elegir materiales que el equipo pueda fabricar y comprobar con sus recursos.</a:t>
            </a:r>
          </a:p>
          <a:p xmlns:a="http://schemas.openxmlformats.org/drawingml/2006/main">
            <a:r>
              <a:t>Entrega: Tabla de selección por pieza, fotos y observaciones de banco.</a:t>
            </a:r>
          </a:p>
          <a:p xmlns:a="http://schemas.openxmlformats.org/drawingml/2006/main">
            <a:r>
              <a:t/>
            </a:r>
          </a:p>
          <a:p xmlns:a="http://schemas.openxmlformats.org/drawingml/2006/main">
            <a:r>
              <a:t>Preguntas y respuestas</a:t>
            </a:r>
          </a:p>
          <a:p xmlns:a="http://schemas.openxmlformats.org/drawingml/2006/main">
            <a:r>
              <a:t>¿Más rigidez observada demuestra mejor material si cambia el espesor?</a:t>
            </a:r>
          </a:p>
          <a:p xmlns:a="http://schemas.openxmlformats.org/drawingml/2006/main">
            <a:r>
              <a:t>No. Se están comparando piezas y condiciones diferentes.</a:t>
            </a:r>
          </a:p>
          <a:p xmlns:a="http://schemas.openxmlformats.org/drawingml/2006/main">
            <a:r>
              <a:t/>
            </a:r>
          </a:p>
          <a:p xmlns:a="http://schemas.openxmlformats.org/drawingml/2006/main">
            <a:r>
              <a:t>¿PLA con fibra corta equivale a una placa de tejido?</a:t>
            </a:r>
          </a:p>
          <a:p xmlns:a="http://schemas.openxmlformats.org/drawingml/2006/main">
            <a:r>
              <a:t>No. La estructura del refuerzo y el proceso son distintos.</a:t>
            </a:r>
          </a:p>
          <a:p xmlns:a="http://schemas.openxmlformats.org/drawingml/2006/main">
            <a:r>
              <a:t/>
            </a:r>
          </a:p>
          <a:p xmlns:a="http://schemas.openxmlformats.org/drawingml/2006/main">
            <a:r>
              <a:t>¿Qué debe explicar la selección?</a:t>
            </a:r>
          </a:p>
          <a:p xmlns:a="http://schemas.openxmlformats.org/drawingml/2006/main">
            <a:r>
              <a:t>Función de la pieza, proceso disponible y comprobación.</a:t>
            </a:r>
          </a:p>
          <a:p xmlns:a="http://schemas.openxmlformats.org/drawingml/2006/main">
            <a:r>
              <a:t/>
            </a:r>
          </a:p>
          <a:p xmlns:a="http://schemas.openxmlformats.org/drawingml/2006/main">
            <a:r>
              <a:t>Fuentes</a:t>
            </a:r>
          </a:p>
          <a:p xmlns:a="http://schemas.openxmlformats.org/drawingml/2006/main">
            <a:r>
              <a:t>Prusa Research. PLA. https://help.prusa3d.com/article/pla_2062</a:t>
            </a:r>
          </a:p>
          <a:p xmlns:a="http://schemas.openxmlformats.org/drawingml/2006/main">
            <a:r>
              <a:t>Prusa Research. PETG. https://help.prusa3d.com/article/petg_2059</a:t>
            </a:r>
          </a:p>
          <a:p xmlns:a="http://schemas.openxmlformats.org/drawingml/2006/main">
            <a:r>
              <a:t>Prusa Research. Composite materials. https://help.prusa3d.com/article/composite-materials-filled-with-carbon-kevlar-or-glass_167387</a:t>
            </a:r>
          </a:p>
          <a:p xmlns:a="http://schemas.openxmlformats.org/drawingml/2006/main">
            <a:r>
              <a:t>Prusa Research. Modeling with 3D printing in mind. https://help.prusa3d.com/article/modeling-with-3d-printing-in-mind_164135</a:t>
            </a:r>
          </a:p>
          <a:p xmlns:a="http://schemas.openxmlformats.org/drawingml/2006/main">
            <a:r>
              <a:t>Apogee Components. Peak of Flight 629. https://www.apogeerockets.com/education/downloads/Newsletter629.pdf</a:t>
            </a:r>
          </a:p>
          <a:p xmlns:a="http://schemas.openxmlformats.org/drawingml/2006/main">
            <a:r>
              <a:t>Lectura: MECRO_Coheteria_Clase_10.pdf.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10: Materiales y compuestos sobre piezas reales.</a:t>
            </a:r>
          </a:p>
          <a:p xmlns:a="http://schemas.openxmlformats.org/drawingml/2006/main">
            <a:r>
              <a:t>En línea, 2 h. Tramo del núcleo: 5 min.</a:t>
            </a:r>
          </a:p>
          <a:p xmlns:a="http://schemas.openxmlformats.org/drawingml/2006/main">
            <a:r>
              <a:t/>
            </a:r>
          </a:p>
          <a:p xmlns:a="http://schemas.openxmlformats.org/drawingml/2006/main">
            <a:r>
              <a:t>Caso</a:t>
            </a:r>
          </a:p>
          <a:p xmlns:a="http://schemas.openxmlformats.org/drawingml/2006/main">
            <a:r>
              <a:t>“Para nuestras aletas elegimos esta opción porque pudimos repetir el contorno y revisar la unión con el útil. Esta otra muestra quedará como referencia para una futura versión”.</a:t>
            </a:r>
          </a:p>
          <a:p xmlns:a="http://schemas.openxmlformats.org/drawingml/2006/main">
            <a:r>
              <a:t>Explicación</a:t>
            </a:r>
          </a:p>
          <a:p xmlns:a="http://schemas.openxmlformats.org/drawingml/2006/main">
            <a:r>
              <a:t>La explicación vincula material, función y evidencia. Puede mejorarse con medidas adicionales, pero ya es más útil que “usamos carbono porque es profesional”.</a:t>
            </a:r>
          </a:p>
          <a:p xmlns:a="http://schemas.openxmlformats.org/drawingml/2006/main">
            <a:r>
              <a:t>Dar tiempo para responder antes de presentar la solución oralmente.</a:t>
            </a:r>
          </a:p>
          <a:p xmlns:a="http://schemas.openxmlformats.org/drawingml/2006/main">
            <a:r>
              <a:t/>
            </a:r>
          </a:p>
          <a:p xmlns:a="http://schemas.openxmlformats.org/drawingml/2006/main">
            <a:r>
              <a:t>Resultado: Comparar materiales por función, fabricación y reparación sin asignarles una superioridad universal.</a:t>
            </a:r>
          </a:p>
          <a:p xmlns:a="http://schemas.openxmlformats.org/drawingml/2006/main">
            <a:r>
              <a:t>Misión: Elegir materiales que el equipo pueda fabricar y comprobar con sus recursos.</a:t>
            </a:r>
          </a:p>
          <a:p xmlns:a="http://schemas.openxmlformats.org/drawingml/2006/main">
            <a:r>
              <a:t>Entrega: Tabla de selección por pieza, fotos y observaciones de banco.</a:t>
            </a:r>
          </a:p>
          <a:p xmlns:a="http://schemas.openxmlformats.org/drawingml/2006/main">
            <a:r>
              <a:t/>
            </a:r>
          </a:p>
          <a:p xmlns:a="http://schemas.openxmlformats.org/drawingml/2006/main">
            <a:r>
              <a:t>Preguntas y respuestas</a:t>
            </a:r>
          </a:p>
          <a:p xmlns:a="http://schemas.openxmlformats.org/drawingml/2006/main">
            <a:r>
              <a:t>¿Más rigidez observada demuestra mejor material si cambia el espesor?</a:t>
            </a:r>
          </a:p>
          <a:p xmlns:a="http://schemas.openxmlformats.org/drawingml/2006/main">
            <a:r>
              <a:t>No. Se están comparando piezas y condiciones diferentes.</a:t>
            </a:r>
          </a:p>
          <a:p xmlns:a="http://schemas.openxmlformats.org/drawingml/2006/main">
            <a:r>
              <a:t/>
            </a:r>
          </a:p>
          <a:p xmlns:a="http://schemas.openxmlformats.org/drawingml/2006/main">
            <a:r>
              <a:t>¿PLA con fibra corta equivale a una placa de tejido?</a:t>
            </a:r>
          </a:p>
          <a:p xmlns:a="http://schemas.openxmlformats.org/drawingml/2006/main">
            <a:r>
              <a:t>No. La estructura del refuerzo y el proceso son distintos.</a:t>
            </a:r>
          </a:p>
          <a:p xmlns:a="http://schemas.openxmlformats.org/drawingml/2006/main">
            <a:r>
              <a:t/>
            </a:r>
          </a:p>
          <a:p xmlns:a="http://schemas.openxmlformats.org/drawingml/2006/main">
            <a:r>
              <a:t>¿Qué debe explicar la selección?</a:t>
            </a:r>
          </a:p>
          <a:p xmlns:a="http://schemas.openxmlformats.org/drawingml/2006/main">
            <a:r>
              <a:t>Función de la pieza, proceso disponible y comprobación.</a:t>
            </a:r>
          </a:p>
          <a:p xmlns:a="http://schemas.openxmlformats.org/drawingml/2006/main">
            <a:r>
              <a:t/>
            </a:r>
          </a:p>
          <a:p xmlns:a="http://schemas.openxmlformats.org/drawingml/2006/main">
            <a:r>
              <a:t>Fuentes</a:t>
            </a:r>
          </a:p>
          <a:p xmlns:a="http://schemas.openxmlformats.org/drawingml/2006/main">
            <a:r>
              <a:t>Prusa Research. PLA. https://help.prusa3d.com/article/pla_2062</a:t>
            </a:r>
          </a:p>
          <a:p xmlns:a="http://schemas.openxmlformats.org/drawingml/2006/main">
            <a:r>
              <a:t>Prusa Research. PETG. https://help.prusa3d.com/article/petg_2059</a:t>
            </a:r>
          </a:p>
          <a:p xmlns:a="http://schemas.openxmlformats.org/drawingml/2006/main">
            <a:r>
              <a:t>Prusa Research. Composite materials. https://help.prusa3d.com/article/composite-materials-filled-with-carbon-kevlar-or-glass_167387</a:t>
            </a:r>
          </a:p>
          <a:p xmlns:a="http://schemas.openxmlformats.org/drawingml/2006/main">
            <a:r>
              <a:t>Prusa Research. Modeling with 3D printing in mind. https://help.prusa3d.com/article/modeling-with-3d-printing-in-mind_164135</a:t>
            </a:r>
          </a:p>
          <a:p xmlns:a="http://schemas.openxmlformats.org/drawingml/2006/main">
            <a:r>
              <a:t>Apogee Components. Peak of Flight 629. https://www.apogeerockets.com/education/downloads/Newsletter629.pdf</a:t>
            </a:r>
          </a:p>
          <a:p xmlns:a="http://schemas.openxmlformats.org/drawingml/2006/main">
            <a:r>
              <a:t>Lectura: MECRO_Coheteria_Clase_10.pdf.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10: Materiales y compuestos sobre piezas reales.</a:t>
            </a:r>
          </a:p>
          <a:p xmlns:a="http://schemas.openxmlformats.org/drawingml/2006/main">
            <a:r>
              <a:t>En línea, 2 h. Tramo del núcleo: 12 min.</a:t>
            </a:r>
          </a:p>
          <a:p xmlns:a="http://schemas.openxmlformats.org/drawingml/2006/main">
            <a:r>
              <a:t/>
            </a:r>
          </a:p>
          <a:p xmlns:a="http://schemas.openxmlformats.org/drawingml/2006/main">
            <a:r>
              <a:t>Preparar una mesa de muestras identificadas.</a:t>
            </a:r>
          </a:p>
          <a:p xmlns:a="http://schemas.openxmlformats.org/drawingml/2006/main">
            <a:r>
              <a:t>Comparar materiales conservando condiciones de la observación.</a:t>
            </a:r>
          </a:p>
          <a:p xmlns:a="http://schemas.openxmlformats.org/drawingml/2006/main">
            <a:r>
              <a:t>Distinguir tejido con resina y filamento con fibras cortas.</a:t>
            </a:r>
          </a:p>
          <a:p xmlns:a="http://schemas.openxmlformats.org/drawingml/2006/main">
            <a:r>
              <a:t>Completar el mapa de selección por pieza.</a:t>
            </a:r>
          </a:p>
          <a:p xmlns:a="http://schemas.openxmlformats.org/drawingml/2006/main">
            <a:r>
              <a:t>Rotar los roles y conservar al menos una evidencia revisable.</a:t>
            </a:r>
          </a:p>
          <a:p xmlns:a="http://schemas.openxmlformats.org/drawingml/2006/main">
            <a:r>
              <a:t/>
            </a:r>
          </a:p>
          <a:p xmlns:a="http://schemas.openxmlformats.org/drawingml/2006/main">
            <a:r>
              <a:t>Resultado: Comparar materiales por función, fabricación y reparación sin asignarles una superioridad universal.</a:t>
            </a:r>
          </a:p>
          <a:p xmlns:a="http://schemas.openxmlformats.org/drawingml/2006/main">
            <a:r>
              <a:t>Misión: Elegir materiales que el equipo pueda fabricar y comprobar con sus recursos.</a:t>
            </a:r>
          </a:p>
          <a:p xmlns:a="http://schemas.openxmlformats.org/drawingml/2006/main">
            <a:r>
              <a:t>Entrega: Tabla de selección por pieza, fotos y observaciones de banco.</a:t>
            </a:r>
          </a:p>
          <a:p xmlns:a="http://schemas.openxmlformats.org/drawingml/2006/main">
            <a:r>
              <a:t/>
            </a:r>
          </a:p>
          <a:p xmlns:a="http://schemas.openxmlformats.org/drawingml/2006/main">
            <a:r>
              <a:t>Preguntas y respuestas</a:t>
            </a:r>
          </a:p>
          <a:p xmlns:a="http://schemas.openxmlformats.org/drawingml/2006/main">
            <a:r>
              <a:t>¿Más rigidez observada demuestra mejor material si cambia el espesor?</a:t>
            </a:r>
          </a:p>
          <a:p xmlns:a="http://schemas.openxmlformats.org/drawingml/2006/main">
            <a:r>
              <a:t>No. Se están comparando piezas y condiciones diferentes.</a:t>
            </a:r>
          </a:p>
          <a:p xmlns:a="http://schemas.openxmlformats.org/drawingml/2006/main">
            <a:r>
              <a:t/>
            </a:r>
          </a:p>
          <a:p xmlns:a="http://schemas.openxmlformats.org/drawingml/2006/main">
            <a:r>
              <a:t>¿PLA con fibra corta equivale a una placa de tejido?</a:t>
            </a:r>
          </a:p>
          <a:p xmlns:a="http://schemas.openxmlformats.org/drawingml/2006/main">
            <a:r>
              <a:t>No. La estructura del refuerzo y el proceso son distintos.</a:t>
            </a:r>
          </a:p>
          <a:p xmlns:a="http://schemas.openxmlformats.org/drawingml/2006/main">
            <a:r>
              <a:t/>
            </a:r>
          </a:p>
          <a:p xmlns:a="http://schemas.openxmlformats.org/drawingml/2006/main">
            <a:r>
              <a:t>¿Qué debe explicar la selección?</a:t>
            </a:r>
          </a:p>
          <a:p xmlns:a="http://schemas.openxmlformats.org/drawingml/2006/main">
            <a:r>
              <a:t>Función de la pieza, proceso disponible y comprobación.</a:t>
            </a:r>
          </a:p>
          <a:p xmlns:a="http://schemas.openxmlformats.org/drawingml/2006/main">
            <a:r>
              <a:t/>
            </a:r>
          </a:p>
          <a:p xmlns:a="http://schemas.openxmlformats.org/drawingml/2006/main">
            <a:r>
              <a:t>Fuentes</a:t>
            </a:r>
          </a:p>
          <a:p xmlns:a="http://schemas.openxmlformats.org/drawingml/2006/main">
            <a:r>
              <a:t>Prusa Research. PLA. https://help.prusa3d.com/article/pla_2062</a:t>
            </a:r>
          </a:p>
          <a:p xmlns:a="http://schemas.openxmlformats.org/drawingml/2006/main">
            <a:r>
              <a:t>Prusa Research. PETG. https://help.prusa3d.com/article/petg_2059</a:t>
            </a:r>
          </a:p>
          <a:p xmlns:a="http://schemas.openxmlformats.org/drawingml/2006/main">
            <a:r>
              <a:t>Prusa Research. Composite materials. https://help.prusa3d.com/article/composite-materials-filled-with-carbon-kevlar-or-glass_167387</a:t>
            </a:r>
          </a:p>
          <a:p xmlns:a="http://schemas.openxmlformats.org/drawingml/2006/main">
            <a:r>
              <a:t>Prusa Research. Modeling with 3D printing in mind. https://help.prusa3d.com/article/modeling-with-3d-printing-in-mind_164135</a:t>
            </a:r>
          </a:p>
          <a:p xmlns:a="http://schemas.openxmlformats.org/drawingml/2006/main">
            <a:r>
              <a:t>Apogee Components. Peak of Flight 629. https://www.apogeerockets.com/education/downloads/Newsletter629.pdf</a:t>
            </a:r>
          </a:p>
          <a:p xmlns:a="http://schemas.openxmlformats.org/drawingml/2006/main">
            <a:r>
              <a:t>Lectura: MECRO_Coheteria_Clase_10.pdf.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10: Materiales y compuestos sobre piezas reales.</a:t>
            </a:r>
          </a:p>
          <a:p xmlns:a="http://schemas.openxmlformats.org/drawingml/2006/main">
            <a:r>
              <a:t>En línea, 2 h. Tramo del núcleo: 10 min.</a:t>
            </a:r>
          </a:p>
          <a:p xmlns:a="http://schemas.openxmlformats.org/drawingml/2006/main">
            <a:r>
              <a:t/>
            </a:r>
          </a:p>
          <a:p xmlns:a="http://schemas.openxmlformats.org/drawingml/2006/main">
            <a:r>
              <a:t>Cada equipo prepara una decisión y una evidencia. No aceptar una preferencia sin relacionarla con la misión.</a:t>
            </a:r>
          </a:p>
          <a:p xmlns:a="http://schemas.openxmlformats.org/drawingml/2006/main">
            <a:r>
              <a:t>Tabla de selección por pieza, fotos y observaciones de banco.</a:t>
            </a:r>
          </a:p>
          <a:p xmlns:a="http://schemas.openxmlformats.org/drawingml/2006/main">
            <a:r>
              <a:t/>
            </a:r>
          </a:p>
          <a:p xmlns:a="http://schemas.openxmlformats.org/drawingml/2006/main">
            <a:r>
              <a:t>Resultado: Comparar materiales por función, fabricación y reparación sin asignarles una superioridad universal.</a:t>
            </a:r>
          </a:p>
          <a:p xmlns:a="http://schemas.openxmlformats.org/drawingml/2006/main">
            <a:r>
              <a:t>Misión: Elegir materiales que el equipo pueda fabricar y comprobar con sus recursos.</a:t>
            </a:r>
          </a:p>
          <a:p xmlns:a="http://schemas.openxmlformats.org/drawingml/2006/main">
            <a:r>
              <a:t>Entrega: Tabla de selección por pieza, fotos y observaciones de banco.</a:t>
            </a:r>
          </a:p>
          <a:p xmlns:a="http://schemas.openxmlformats.org/drawingml/2006/main">
            <a:r>
              <a:t/>
            </a:r>
          </a:p>
          <a:p xmlns:a="http://schemas.openxmlformats.org/drawingml/2006/main">
            <a:r>
              <a:t>Preguntas y respuestas</a:t>
            </a:r>
          </a:p>
          <a:p xmlns:a="http://schemas.openxmlformats.org/drawingml/2006/main">
            <a:r>
              <a:t>¿Más rigidez observada demuestra mejor material si cambia el espesor?</a:t>
            </a:r>
          </a:p>
          <a:p xmlns:a="http://schemas.openxmlformats.org/drawingml/2006/main">
            <a:r>
              <a:t>No. Se están comparando piezas y condiciones diferentes.</a:t>
            </a:r>
          </a:p>
          <a:p xmlns:a="http://schemas.openxmlformats.org/drawingml/2006/main">
            <a:r>
              <a:t/>
            </a:r>
          </a:p>
          <a:p xmlns:a="http://schemas.openxmlformats.org/drawingml/2006/main">
            <a:r>
              <a:t>¿PLA con fibra corta equivale a una placa de tejido?</a:t>
            </a:r>
          </a:p>
          <a:p xmlns:a="http://schemas.openxmlformats.org/drawingml/2006/main">
            <a:r>
              <a:t>No. La estructura del refuerzo y el proceso son distintos.</a:t>
            </a:r>
          </a:p>
          <a:p xmlns:a="http://schemas.openxmlformats.org/drawingml/2006/main">
            <a:r>
              <a:t/>
            </a:r>
          </a:p>
          <a:p xmlns:a="http://schemas.openxmlformats.org/drawingml/2006/main">
            <a:r>
              <a:t>¿Qué debe explicar la selección?</a:t>
            </a:r>
          </a:p>
          <a:p xmlns:a="http://schemas.openxmlformats.org/drawingml/2006/main">
            <a:r>
              <a:t>Función de la pieza, proceso disponible y comprobación.</a:t>
            </a:r>
          </a:p>
          <a:p xmlns:a="http://schemas.openxmlformats.org/drawingml/2006/main">
            <a:r>
              <a:t/>
            </a:r>
          </a:p>
          <a:p xmlns:a="http://schemas.openxmlformats.org/drawingml/2006/main">
            <a:r>
              <a:t>Fuentes</a:t>
            </a:r>
          </a:p>
          <a:p xmlns:a="http://schemas.openxmlformats.org/drawingml/2006/main">
            <a:r>
              <a:t>Prusa Research. PLA. https://help.prusa3d.com/article/pla_2062</a:t>
            </a:r>
          </a:p>
          <a:p xmlns:a="http://schemas.openxmlformats.org/drawingml/2006/main">
            <a:r>
              <a:t>Prusa Research. PETG. https://help.prusa3d.com/article/petg_2059</a:t>
            </a:r>
          </a:p>
          <a:p xmlns:a="http://schemas.openxmlformats.org/drawingml/2006/main">
            <a:r>
              <a:t>Prusa Research. Composite materials. https://help.prusa3d.com/article/composite-materials-filled-with-carbon-kevlar-or-glass_167387</a:t>
            </a:r>
          </a:p>
          <a:p xmlns:a="http://schemas.openxmlformats.org/drawingml/2006/main">
            <a:r>
              <a:t>Prusa Research. Modeling with 3D printing in mind. https://help.prusa3d.com/article/modeling-with-3d-printing-in-mind_164135</a:t>
            </a:r>
          </a:p>
          <a:p xmlns:a="http://schemas.openxmlformats.org/drawingml/2006/main">
            <a:r>
              <a:t>Apogee Components. Peak of Flight 629. https://www.apogeerockets.com/education/downloads/Newsletter629.pdf</a:t>
            </a:r>
          </a:p>
          <a:p xmlns:a="http://schemas.openxmlformats.org/drawingml/2006/main">
            <a:r>
              <a:t>Lectura: MECRO_Coheteria_Clase_10.pdf.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10: Materiales y compuestos sobre piezas reales.</a:t>
            </a:r>
          </a:p>
          <a:p xmlns:a="http://schemas.openxmlformats.org/drawingml/2006/main">
            <a:r>
              <a:t>En línea, 2 h. Tramo del núcleo: 7 min.</a:t>
            </a:r>
          </a:p>
          <a:p xmlns:a="http://schemas.openxmlformats.org/drawingml/2006/main">
            <a:r>
              <a:t/>
            </a:r>
          </a:p>
          <a:p xmlns:a="http://schemas.openxmlformats.org/drawingml/2006/main">
            <a:r>
              <a:t>Primero respuesta individual, después discusión por equipos.</a:t>
            </a:r>
          </a:p>
          <a:p xmlns:a="http://schemas.openxmlformats.org/drawingml/2006/main">
            <a:r>
              <a:t>¿Más rigidez observada demuestra mejor material si cambia el espesor?</a:t>
            </a:r>
          </a:p>
          <a:p xmlns:a="http://schemas.openxmlformats.org/drawingml/2006/main">
            <a:r>
              <a:t>No. Se están comparando piezas y condiciones diferentes.</a:t>
            </a:r>
          </a:p>
          <a:p xmlns:a="http://schemas.openxmlformats.org/drawingml/2006/main">
            <a:r>
              <a:t/>
            </a:r>
          </a:p>
          <a:p xmlns:a="http://schemas.openxmlformats.org/drawingml/2006/main">
            <a:r>
              <a:t>¿PLA con fibra corta equivale a una placa de tejido?</a:t>
            </a:r>
          </a:p>
          <a:p xmlns:a="http://schemas.openxmlformats.org/drawingml/2006/main">
            <a:r>
              <a:t>No. La estructura del refuerzo y el proceso son distintos.</a:t>
            </a:r>
          </a:p>
          <a:p xmlns:a="http://schemas.openxmlformats.org/drawingml/2006/main">
            <a:r>
              <a:t/>
            </a:r>
          </a:p>
          <a:p xmlns:a="http://schemas.openxmlformats.org/drawingml/2006/main">
            <a:r>
              <a:t>¿Qué debe explicar la selección?</a:t>
            </a:r>
          </a:p>
          <a:p xmlns:a="http://schemas.openxmlformats.org/drawingml/2006/main">
            <a:r>
              <a:t>Función de la pieza, proceso disponible y comprobación.</a:t>
            </a:r>
          </a:p>
          <a:p xmlns:a="http://schemas.openxmlformats.org/drawingml/2006/main">
            <a:r>
              <a:t/>
            </a:r>
          </a:p>
          <a:p xmlns:a="http://schemas.openxmlformats.org/drawingml/2006/main">
            <a:r>
              <a:t>Resultado: Comparar materiales por función, fabricación y reparación sin asignarles una superioridad universal.</a:t>
            </a:r>
          </a:p>
          <a:p xmlns:a="http://schemas.openxmlformats.org/drawingml/2006/main">
            <a:r>
              <a:t>Misión: Elegir materiales que el equipo pueda fabricar y comprobar con sus recursos.</a:t>
            </a:r>
          </a:p>
          <a:p xmlns:a="http://schemas.openxmlformats.org/drawingml/2006/main">
            <a:r>
              <a:t>Entrega: Tabla de selección por pieza, fotos y observaciones de banco.</a:t>
            </a:r>
          </a:p>
          <a:p xmlns:a="http://schemas.openxmlformats.org/drawingml/2006/main">
            <a:r>
              <a:t/>
            </a:r>
          </a:p>
          <a:p xmlns:a="http://schemas.openxmlformats.org/drawingml/2006/main">
            <a:r>
              <a:t>Preguntas y respuestas</a:t>
            </a:r>
          </a:p>
          <a:p xmlns:a="http://schemas.openxmlformats.org/drawingml/2006/main">
            <a:r>
              <a:t>¿Más rigidez observada demuestra mejor material si cambia el espesor?</a:t>
            </a:r>
          </a:p>
          <a:p xmlns:a="http://schemas.openxmlformats.org/drawingml/2006/main">
            <a:r>
              <a:t>No. Se están comparando piezas y condiciones diferentes.</a:t>
            </a:r>
          </a:p>
          <a:p xmlns:a="http://schemas.openxmlformats.org/drawingml/2006/main">
            <a:r>
              <a:t/>
            </a:r>
          </a:p>
          <a:p xmlns:a="http://schemas.openxmlformats.org/drawingml/2006/main">
            <a:r>
              <a:t>¿PLA con fibra corta equivale a una placa de tejido?</a:t>
            </a:r>
          </a:p>
          <a:p xmlns:a="http://schemas.openxmlformats.org/drawingml/2006/main">
            <a:r>
              <a:t>No. La estructura del refuerzo y el proceso son distintos.</a:t>
            </a:r>
          </a:p>
          <a:p xmlns:a="http://schemas.openxmlformats.org/drawingml/2006/main">
            <a:r>
              <a:t/>
            </a:r>
          </a:p>
          <a:p xmlns:a="http://schemas.openxmlformats.org/drawingml/2006/main">
            <a:r>
              <a:t>¿Qué debe explicar la selección?</a:t>
            </a:r>
          </a:p>
          <a:p xmlns:a="http://schemas.openxmlformats.org/drawingml/2006/main">
            <a:r>
              <a:t>Función de la pieza, proceso disponible y comprobación.</a:t>
            </a:r>
          </a:p>
          <a:p xmlns:a="http://schemas.openxmlformats.org/drawingml/2006/main">
            <a:r>
              <a:t/>
            </a:r>
          </a:p>
          <a:p xmlns:a="http://schemas.openxmlformats.org/drawingml/2006/main">
            <a:r>
              <a:t>Fuentes</a:t>
            </a:r>
          </a:p>
          <a:p xmlns:a="http://schemas.openxmlformats.org/drawingml/2006/main">
            <a:r>
              <a:t>Prusa Research. PLA. https://help.prusa3d.com/article/pla_2062</a:t>
            </a:r>
          </a:p>
          <a:p xmlns:a="http://schemas.openxmlformats.org/drawingml/2006/main">
            <a:r>
              <a:t>Prusa Research. PETG. https://help.prusa3d.com/article/petg_2059</a:t>
            </a:r>
          </a:p>
          <a:p xmlns:a="http://schemas.openxmlformats.org/drawingml/2006/main">
            <a:r>
              <a:t>Prusa Research. Composite materials. https://help.prusa3d.com/article/composite-materials-filled-with-carbon-kevlar-or-glass_167387</a:t>
            </a:r>
          </a:p>
          <a:p xmlns:a="http://schemas.openxmlformats.org/drawingml/2006/main">
            <a:r>
              <a:t>Prusa Research. Modeling with 3D printing in mind. https://help.prusa3d.com/article/modeling-with-3d-printing-in-mind_164135</a:t>
            </a:r>
          </a:p>
          <a:p xmlns:a="http://schemas.openxmlformats.org/drawingml/2006/main">
            <a:r>
              <a:t>Apogee Components. Peak of Flight 629. https://www.apogeerockets.com/education/downloads/Newsletter629.pdf</a:t>
            </a:r>
          </a:p>
          <a:p xmlns:a="http://schemas.openxmlformats.org/drawingml/2006/main">
            <a:r>
              <a:t>Lectura: MECRO_Coheteria_Clase_10.pdf.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10: Materiales y compuestos sobre piezas reales.</a:t>
            </a:r>
          </a:p>
          <a:p xmlns:a="http://schemas.openxmlformats.org/drawingml/2006/main">
            <a:r>
              <a:t>En línea, 2 h. Tramo del núcleo: 5 min.</a:t>
            </a:r>
          </a:p>
          <a:p xmlns:a="http://schemas.openxmlformats.org/drawingml/2006/main">
            <a:r>
              <a:t/>
            </a:r>
          </a:p>
          <a:p xmlns:a="http://schemas.openxmlformats.org/drawingml/2006/main">
            <a:r>
              <a:t>Pedir un ejemplo del objeto o del archivo para una de las respuestas.</a:t>
            </a:r>
          </a:p>
          <a:p xmlns:a="http://schemas.openxmlformats.org/drawingml/2006/main">
            <a:r>
              <a:t/>
            </a:r>
          </a:p>
          <a:p xmlns:a="http://schemas.openxmlformats.org/drawingml/2006/main">
            <a:r>
              <a:t>Resultado: Comparar materiales por función, fabricación y reparación sin asignarles una superioridad universal.</a:t>
            </a:r>
          </a:p>
          <a:p xmlns:a="http://schemas.openxmlformats.org/drawingml/2006/main">
            <a:r>
              <a:t>Misión: Elegir materiales que el equipo pueda fabricar y comprobar con sus recursos.</a:t>
            </a:r>
          </a:p>
          <a:p xmlns:a="http://schemas.openxmlformats.org/drawingml/2006/main">
            <a:r>
              <a:t>Entrega: Tabla de selección por pieza, fotos y observaciones de banco.</a:t>
            </a:r>
          </a:p>
          <a:p xmlns:a="http://schemas.openxmlformats.org/drawingml/2006/main">
            <a:r>
              <a:t/>
            </a:r>
          </a:p>
          <a:p xmlns:a="http://schemas.openxmlformats.org/drawingml/2006/main">
            <a:r>
              <a:t>Preguntas y respuestas</a:t>
            </a:r>
          </a:p>
          <a:p xmlns:a="http://schemas.openxmlformats.org/drawingml/2006/main">
            <a:r>
              <a:t>¿Más rigidez observada demuestra mejor material si cambia el espesor?</a:t>
            </a:r>
          </a:p>
          <a:p xmlns:a="http://schemas.openxmlformats.org/drawingml/2006/main">
            <a:r>
              <a:t>No. Se están comparando piezas y condiciones diferentes.</a:t>
            </a:r>
          </a:p>
          <a:p xmlns:a="http://schemas.openxmlformats.org/drawingml/2006/main">
            <a:r>
              <a:t/>
            </a:r>
          </a:p>
          <a:p xmlns:a="http://schemas.openxmlformats.org/drawingml/2006/main">
            <a:r>
              <a:t>¿PLA con fibra corta equivale a una placa de tejido?</a:t>
            </a:r>
          </a:p>
          <a:p xmlns:a="http://schemas.openxmlformats.org/drawingml/2006/main">
            <a:r>
              <a:t>No. La estructura del refuerzo y el proceso son distintos.</a:t>
            </a:r>
          </a:p>
          <a:p xmlns:a="http://schemas.openxmlformats.org/drawingml/2006/main">
            <a:r>
              <a:t/>
            </a:r>
          </a:p>
          <a:p xmlns:a="http://schemas.openxmlformats.org/drawingml/2006/main">
            <a:r>
              <a:t>¿Qué debe explicar la selección?</a:t>
            </a:r>
          </a:p>
          <a:p xmlns:a="http://schemas.openxmlformats.org/drawingml/2006/main">
            <a:r>
              <a:t>Función de la pieza, proceso disponible y comprobación.</a:t>
            </a:r>
          </a:p>
          <a:p xmlns:a="http://schemas.openxmlformats.org/drawingml/2006/main">
            <a:r>
              <a:t/>
            </a:r>
          </a:p>
          <a:p xmlns:a="http://schemas.openxmlformats.org/drawingml/2006/main">
            <a:r>
              <a:t>Fuentes</a:t>
            </a:r>
          </a:p>
          <a:p xmlns:a="http://schemas.openxmlformats.org/drawingml/2006/main">
            <a:r>
              <a:t>Prusa Research. PLA. https://help.prusa3d.com/article/pla_2062</a:t>
            </a:r>
          </a:p>
          <a:p xmlns:a="http://schemas.openxmlformats.org/drawingml/2006/main">
            <a:r>
              <a:t>Prusa Research. PETG. https://help.prusa3d.com/article/petg_2059</a:t>
            </a:r>
          </a:p>
          <a:p xmlns:a="http://schemas.openxmlformats.org/drawingml/2006/main">
            <a:r>
              <a:t>Prusa Research. Composite materials. https://help.prusa3d.com/article/composite-materials-filled-with-carbon-kevlar-or-glass_167387</a:t>
            </a:r>
          </a:p>
          <a:p xmlns:a="http://schemas.openxmlformats.org/drawingml/2006/main">
            <a:r>
              <a:t>Prusa Research. Modeling with 3D printing in mind. https://help.prusa3d.com/article/modeling-with-3d-printing-in-mind_164135</a:t>
            </a:r>
          </a:p>
          <a:p xmlns:a="http://schemas.openxmlformats.org/drawingml/2006/main">
            <a:r>
              <a:t>Apogee Components. Peak of Flight 629. https://www.apogeerockets.com/education/downloads/Newsletter629.pdf</a:t>
            </a:r>
          </a:p>
          <a:p xmlns:a="http://schemas.openxmlformats.org/drawingml/2006/main">
            <a:r>
              <a:t>Lectura: MECRO_Coheteria_Clase_10.pdf.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10: Materiales y compuestos sobre piezas reales.</a:t>
            </a:r>
          </a:p>
          <a:p xmlns:a="http://schemas.openxmlformats.org/drawingml/2006/main">
            <a:r>
              <a:t>En línea, 2 h. Tramo del núcleo: 5 min.</a:t>
            </a:r>
          </a:p>
          <a:p xmlns:a="http://schemas.openxmlformats.org/drawingml/2006/main">
            <a:r>
              <a:t/>
            </a:r>
          </a:p>
          <a:p xmlns:a="http://schemas.openxmlformats.org/drawingml/2006/main">
            <a:r>
              <a:t>Tabla de selección por pieza, fotos y observaciones de banco.</a:t>
            </a:r>
          </a:p>
          <a:p xmlns:a="http://schemas.openxmlformats.org/drawingml/2006/main">
            <a:r>
              <a:t>Las fuentes enlazadas de la lectura permiten ampliar la explicación sin exigir cálculo avanzado.</a:t>
            </a:r>
          </a:p>
          <a:p xmlns:a="http://schemas.openxmlformats.org/drawingml/2006/main">
            <a:r>
              <a:t/>
            </a:r>
          </a:p>
          <a:p xmlns:a="http://schemas.openxmlformats.org/drawingml/2006/main">
            <a:r>
              <a:t>Resultado: Comparar materiales por función, fabricación y reparación sin asignarles una superioridad universal.</a:t>
            </a:r>
          </a:p>
          <a:p xmlns:a="http://schemas.openxmlformats.org/drawingml/2006/main">
            <a:r>
              <a:t>Misión: Elegir materiales que el equipo pueda fabricar y comprobar con sus recursos.</a:t>
            </a:r>
          </a:p>
          <a:p xmlns:a="http://schemas.openxmlformats.org/drawingml/2006/main">
            <a:r>
              <a:t>Entrega: Tabla de selección por pieza, fotos y observaciones de banco.</a:t>
            </a:r>
          </a:p>
          <a:p xmlns:a="http://schemas.openxmlformats.org/drawingml/2006/main">
            <a:r>
              <a:t/>
            </a:r>
          </a:p>
          <a:p xmlns:a="http://schemas.openxmlformats.org/drawingml/2006/main">
            <a:r>
              <a:t>Preguntas y respuestas</a:t>
            </a:r>
          </a:p>
          <a:p xmlns:a="http://schemas.openxmlformats.org/drawingml/2006/main">
            <a:r>
              <a:t>¿Más rigidez observada demuestra mejor material si cambia el espesor?</a:t>
            </a:r>
          </a:p>
          <a:p xmlns:a="http://schemas.openxmlformats.org/drawingml/2006/main">
            <a:r>
              <a:t>No. Se están comparando piezas y condiciones diferentes.</a:t>
            </a:r>
          </a:p>
          <a:p xmlns:a="http://schemas.openxmlformats.org/drawingml/2006/main">
            <a:r>
              <a:t/>
            </a:r>
          </a:p>
          <a:p xmlns:a="http://schemas.openxmlformats.org/drawingml/2006/main">
            <a:r>
              <a:t>¿PLA con fibra corta equivale a una placa de tejido?</a:t>
            </a:r>
          </a:p>
          <a:p xmlns:a="http://schemas.openxmlformats.org/drawingml/2006/main">
            <a:r>
              <a:t>No. La estructura del refuerzo y el proceso son distintos.</a:t>
            </a:r>
          </a:p>
          <a:p xmlns:a="http://schemas.openxmlformats.org/drawingml/2006/main">
            <a:r>
              <a:t/>
            </a:r>
          </a:p>
          <a:p xmlns:a="http://schemas.openxmlformats.org/drawingml/2006/main">
            <a:r>
              <a:t>¿Qué debe explicar la selección?</a:t>
            </a:r>
          </a:p>
          <a:p xmlns:a="http://schemas.openxmlformats.org/drawingml/2006/main">
            <a:r>
              <a:t>Función de la pieza, proceso disponible y comprobación.</a:t>
            </a:r>
          </a:p>
          <a:p xmlns:a="http://schemas.openxmlformats.org/drawingml/2006/main">
            <a:r>
              <a:t/>
            </a:r>
          </a:p>
          <a:p xmlns:a="http://schemas.openxmlformats.org/drawingml/2006/main">
            <a:r>
              <a:t>Fuentes</a:t>
            </a:r>
          </a:p>
          <a:p xmlns:a="http://schemas.openxmlformats.org/drawingml/2006/main">
            <a:r>
              <a:t>Prusa Research. PLA. https://help.prusa3d.com/article/pla_2062</a:t>
            </a:r>
          </a:p>
          <a:p xmlns:a="http://schemas.openxmlformats.org/drawingml/2006/main">
            <a:r>
              <a:t>Prusa Research. PETG. https://help.prusa3d.com/article/petg_2059</a:t>
            </a:r>
          </a:p>
          <a:p xmlns:a="http://schemas.openxmlformats.org/drawingml/2006/main">
            <a:r>
              <a:t>Prusa Research. Composite materials. https://help.prusa3d.com/article/composite-materials-filled-with-carbon-kevlar-or-glass_167387</a:t>
            </a:r>
          </a:p>
          <a:p xmlns:a="http://schemas.openxmlformats.org/drawingml/2006/main">
            <a:r>
              <a:t>Prusa Research. Modeling with 3D printing in mind. https://help.prusa3d.com/article/modeling-with-3d-printing-in-mind_164135</a:t>
            </a:r>
          </a:p>
          <a:p xmlns:a="http://schemas.openxmlformats.org/drawingml/2006/main">
            <a:r>
              <a:t>Apogee Components. Peak of Flight 629. https://www.apogeerockets.com/education/downloads/Newsletter629.pdf</a:t>
            </a:r>
          </a:p>
          <a:p xmlns:a="http://schemas.openxmlformats.org/drawingml/2006/main">
            <a:r>
              <a:t>Lectura: MECRO_Coheteria_Clase_10.pdf.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f3740234d3d435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8ba81ccd12b4b8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84e407908d742c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18ee1c7e00e4f7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f0a0810c05b463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606d479db884a8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18C8098-2DF0-4FDF-88E0-49A4C0317C6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BA37E2B-8A0D-4C0A-A036-5CB50961FB9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6AD41D6-137F-4C61-B0BA-F1422A202DA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17A86C8-ECD3-420B-8E4C-B10DAB01AE2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F918940-94A3-4A84-AD15-716881C8D3A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07A29C4-F6D5-40B6-8F73-7EE70C8217C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E4EE698-2FDD-48DD-A001-06C9C9DB9A6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9121276-D83E-480A-9796-598C99C76A5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B218E04-89B5-45B4-B167-9C51E4875B4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6FE8AA2-BC8B-443B-B1EF-601E21A920F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0cb9710a1234a8b" /><Relationship Type="http://schemas.openxmlformats.org/officeDocument/2006/relationships/slideLayout" Target="/ppt/slideLayouts/slideLayout1.xml" Id="Rf749ccabe4564a78" /><Relationship Type="http://schemas.openxmlformats.org/officeDocument/2006/relationships/slideLayout" Target="/ppt/slideLayouts/slideLayout2.xml" Id="Red59d869cfee4e8c" /><Relationship Type="http://schemas.openxmlformats.org/officeDocument/2006/relationships/slideLayout" Target="/ppt/slideLayouts/slideLayout3.xml" Id="R1b723e7a40c34b6b" /><Relationship Type="http://schemas.openxmlformats.org/officeDocument/2006/relationships/slideLayout" Target="/ppt/slideLayouts/slideLayout4.xml" Id="R117e379816154651" /><Relationship Type="http://schemas.openxmlformats.org/officeDocument/2006/relationships/slideLayout" Target="/ppt/slideLayouts/slideLayout5.xml" Id="R2942803966144981" /><Relationship Type="http://schemas.openxmlformats.org/officeDocument/2006/relationships/slideLayout" Target="/ppt/slideLayouts/slideLayout6.xml" Id="R8ea51be5bb144ff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749ccabe4564a78"/>
    <p:sldLayoutId xmlns:r="http://schemas.openxmlformats.org/officeDocument/2006/relationships" id="2147483650" r:id="Red59d869cfee4e8c"/>
    <p:sldLayoutId xmlns:r="http://schemas.openxmlformats.org/officeDocument/2006/relationships" id="2147483651" r:id="R1b723e7a40c34b6b"/>
    <p:sldLayoutId xmlns:r="http://schemas.openxmlformats.org/officeDocument/2006/relationships" id="2147483652" r:id="R117e379816154651"/>
    <p:sldLayoutId xmlns:r="http://schemas.openxmlformats.org/officeDocument/2006/relationships" id="2147483653" r:id="R2942803966144981"/>
    <p:sldLayoutId xmlns:r="http://schemas.openxmlformats.org/officeDocument/2006/relationships" id="2147483654" r:id="R8ea51be5bb144ff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d9efd6cdb63429b" /><Relationship Type="http://schemas.openxmlformats.org/officeDocument/2006/relationships/image" Target="/ppt/media/image.png" Id="R27ba0ad58b8f45d8" /><Relationship Type="http://schemas.openxmlformats.org/officeDocument/2006/relationships/notesSlide" Target="/ppt/notesSlides/notesSlide1.xml" Id="R29680f0de94743a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db2744cfc314914" /><Relationship Type="http://schemas.openxmlformats.org/officeDocument/2006/relationships/image" Target="/ppt/media/image2.png" Id="R4daa7d0b29424e36" /><Relationship Type="http://schemas.openxmlformats.org/officeDocument/2006/relationships/notesSlide" Target="/ppt/notesSlides/notesSlide2.xml" Id="R17135cbb35344f6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9d4670105234a16" /><Relationship Type="http://schemas.openxmlformats.org/officeDocument/2006/relationships/image" Target="/ppt/media/image3.png" Id="R279d4f3c80154982" /><Relationship Type="http://schemas.openxmlformats.org/officeDocument/2006/relationships/image" Target="/ppt/media/image4.png" Id="Radcb87f8e1794e8e" /><Relationship Type="http://schemas.openxmlformats.org/officeDocument/2006/relationships/notesSlide" Target="/ppt/notesSlides/notesSlide3.xml" Id="Re8e0cec7f2a3482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bee8ac283ce4f6e" /><Relationship Type="http://schemas.openxmlformats.org/officeDocument/2006/relationships/image" Target="/ppt/media/image5.png" Id="R380599f1ae384502" /><Relationship Type="http://schemas.openxmlformats.org/officeDocument/2006/relationships/notesSlide" Target="/ppt/notesSlides/notesSlide4.xml" Id="R1c6c0b22e8274fd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be034a82ce94096" /><Relationship Type="http://schemas.openxmlformats.org/officeDocument/2006/relationships/image" Target="/ppt/media/image6.png" Id="Rc9296b3760c1438b" /><Relationship Type="http://schemas.openxmlformats.org/officeDocument/2006/relationships/notesSlide" Target="/ppt/notesSlides/notesSlide5.xml" Id="R36abd3683dc5489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ca77ec4cccc4e0f" /><Relationship Type="http://schemas.openxmlformats.org/officeDocument/2006/relationships/image" Target="/ppt/media/image7.png" Id="Rdd9184f9b0d94dd1" /><Relationship Type="http://schemas.openxmlformats.org/officeDocument/2006/relationships/image" Target="/ppt/media/image8.png" Id="R4b030f9f46464746" /><Relationship Type="http://schemas.openxmlformats.org/officeDocument/2006/relationships/notesSlide" Target="/ppt/notesSlides/notesSlide6.xml" Id="R886bfe0340ae447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a54357bdec148a9" /><Relationship Type="http://schemas.openxmlformats.org/officeDocument/2006/relationships/image" Target="/ppt/media/image9.png" Id="R8d057b723b124c73" /><Relationship Type="http://schemas.openxmlformats.org/officeDocument/2006/relationships/notesSlide" Target="/ppt/notesSlides/notesSlide7.xml" Id="Reaa71c00e1ee4d9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2dbc375d4bf456c" /><Relationship Type="http://schemas.openxmlformats.org/officeDocument/2006/relationships/image" Target="/ppt/media/image10.png" Id="Rc1dd49e868a2420b" /><Relationship Type="http://schemas.openxmlformats.org/officeDocument/2006/relationships/notesSlide" Target="/ppt/notesSlides/notesSlide8.xml" Id="R1517f8802125466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836d1c5f7974f28" /><Relationship Type="http://schemas.openxmlformats.org/officeDocument/2006/relationships/image" Target="/ppt/media/image11.png" Id="R9f9419a9b56345a6" /><Relationship Type="http://schemas.openxmlformats.org/officeDocument/2006/relationships/notesSlide" Target="/ppt/notesSlides/notesSlide9.xml" Id="R0cbefc4ffd6046b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e7e0c1b957646e3" /><Relationship Type="http://schemas.openxmlformats.org/officeDocument/2006/relationships/image" Target="/ppt/media/image12.png" Id="R9722e929a0624dbc" /><Relationship Type="http://schemas.openxmlformats.org/officeDocument/2006/relationships/notesSlide" Target="/ppt/notesSlides/notesSlide10.xml" Id="R095ebac19913472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5c69f39a755475d" /><Relationship Type="http://schemas.openxmlformats.org/officeDocument/2006/relationships/image" Target="/ppt/media/image13.png" Id="R2501092a4e7245d4" /><Relationship Type="http://schemas.openxmlformats.org/officeDocument/2006/relationships/notesSlide" Target="/ppt/notesSlides/notesSlide11.xml" Id="R630bf8e155254a4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55dc230b2e04544" /><Relationship Type="http://schemas.openxmlformats.org/officeDocument/2006/relationships/image" Target="/ppt/media/image14.png" Id="Rcf39a4c3e67c45df" /><Relationship Type="http://schemas.openxmlformats.org/officeDocument/2006/relationships/image" Target="/ppt/media/image15.png" Id="R55fa7bab77764b1b" /><Relationship Type="http://schemas.openxmlformats.org/officeDocument/2006/relationships/notesSlide" Target="/ppt/notesSlides/notesSlide12.xml" Id="R3a89bb661f66493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25738c297574414" /><Relationship Type="http://schemas.openxmlformats.org/officeDocument/2006/relationships/image" Target="/ppt/media/image16.png" Id="R56fc2ef4d1f749a9" /><Relationship Type="http://schemas.openxmlformats.org/officeDocument/2006/relationships/notesSlide" Target="/ppt/notesSlides/notesSlide13.xml" Id="R946be213316e4cd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1615eb2080248f5" /><Relationship Type="http://schemas.openxmlformats.org/officeDocument/2006/relationships/image" Target="/ppt/media/image17.png" Id="Rdabaeb0eb9e8460f" /><Relationship Type="http://schemas.openxmlformats.org/officeDocument/2006/relationships/notesSlide" Target="/ppt/notesSlides/notesSlide14.xml" Id="R3360d8a7adce4dd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e9d88097be144d9" /><Relationship Type="http://schemas.openxmlformats.org/officeDocument/2006/relationships/image" Target="/ppt/media/image18.png" Id="R862489f37cf6425c" /><Relationship Type="http://schemas.openxmlformats.org/officeDocument/2006/relationships/notesSlide" Target="/ppt/notesSlides/notesSlide15.xml" Id="R7788fedd42634de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bc35729fd084c8c" /><Relationship Type="http://schemas.openxmlformats.org/officeDocument/2006/relationships/image" Target="/ppt/media/image19.png" Id="Rbf00bfdeda3444c2" /><Relationship Type="http://schemas.openxmlformats.org/officeDocument/2006/relationships/notesSlide" Target="/ppt/notesSlides/notesSlide16.xml" Id="R29a750d663a940c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f6436149293340ba" /><Relationship Type="http://schemas.openxmlformats.org/officeDocument/2006/relationships/image" Target="/ppt/media/image20.png" Id="R5f10b423c8a446be" /><Relationship Type="http://schemas.openxmlformats.org/officeDocument/2006/relationships/notesSlide" Target="/ppt/notesSlides/notesSlide17.xml" Id="Rbd7cd1f325cb499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fae320e8cf64fb6" /><Relationship Type="http://schemas.openxmlformats.org/officeDocument/2006/relationships/image" Target="/ppt/media/image21.png" Id="Rcdffff03c5d243de" /><Relationship Type="http://schemas.openxmlformats.org/officeDocument/2006/relationships/image" Target="/ppt/media/image22.png" Id="R3924853293294bc4" /><Relationship Type="http://schemas.openxmlformats.org/officeDocument/2006/relationships/notesSlide" Target="/ppt/notesSlides/notesSlide18.xml" Id="R66bef15217a24ad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ffc08223fa9548b8" /><Relationship Type="http://schemas.openxmlformats.org/officeDocument/2006/relationships/image" Target="/ppt/media/image23.png" Id="R5dec09fe04b34283" /><Relationship Type="http://schemas.openxmlformats.org/officeDocument/2006/relationships/notesSlide" Target="/ppt/notesSlides/notesSlide19.xml" Id="Rb5b365fcd43d4da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6d9dc4813c7a4ded" /><Relationship Type="http://schemas.openxmlformats.org/officeDocument/2006/relationships/image" Target="/ppt/media/image24.png" Id="R25c64ae457b74132" /><Relationship Type="http://schemas.openxmlformats.org/officeDocument/2006/relationships/notesSlide" Target="/ppt/notesSlides/notesSlide20.xml" Id="Rf38ce0c92c924e9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29ba358874f2439a" /><Relationship Type="http://schemas.openxmlformats.org/officeDocument/2006/relationships/image" Target="/ppt/media/image25.png" Id="R2f1f26c37eaf4834" /><Relationship Type="http://schemas.openxmlformats.org/officeDocument/2006/relationships/notesSlide" Target="/ppt/notesSlides/notesSlide21.xml" Id="Rc9d00c524136487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d6475256d1784c49" /><Relationship Type="http://schemas.openxmlformats.org/officeDocument/2006/relationships/image" Target="/ppt/media/image26.png" Id="R0320b464f7364310" /><Relationship Type="http://schemas.openxmlformats.org/officeDocument/2006/relationships/notesSlide" Target="/ppt/notesSlides/notesSlide22.xml" Id="R45f0815c22ab432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bb8571f20a5a433d" /><Relationship Type="http://schemas.openxmlformats.org/officeDocument/2006/relationships/image" Target="/ppt/media/image27.png" Id="Rde922a9cd44f4541" /><Relationship Type="http://schemas.openxmlformats.org/officeDocument/2006/relationships/notesSlide" Target="/ppt/notesSlides/notesSlide23.xml" Id="Re2f11322379843d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24db437c4a0b493a" /><Relationship Type="http://schemas.openxmlformats.org/officeDocument/2006/relationships/image" Target="/ppt/media/image28.png" Id="R1df17cdb7e554d8f" /><Relationship Type="http://schemas.openxmlformats.org/officeDocument/2006/relationships/notesSlide" Target="/ppt/notesSlides/notesSlide24.xml" Id="R8a3a9510cc52492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d2fdc5e9f0214b6f" /><Relationship Type="http://schemas.openxmlformats.org/officeDocument/2006/relationships/image" Target="/ppt/media/image29.png" Id="Rb22d390f06b54528" /><Relationship Type="http://schemas.openxmlformats.org/officeDocument/2006/relationships/notesSlide" Target="/ppt/notesSlides/notesSlide25.xml" Id="R663dd5122da4457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f91c617e29ca4c28" /><Relationship Type="http://schemas.openxmlformats.org/officeDocument/2006/relationships/image" Target="/ppt/media/image30.png" Id="Rea5ea07e38ce4512" /><Relationship Type="http://schemas.openxmlformats.org/officeDocument/2006/relationships/notesSlide" Target="/ppt/notesSlides/notesSlide26.xml" Id="R3689266e97db4fa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e6febca871a348ca" /><Relationship Type="http://schemas.openxmlformats.org/officeDocument/2006/relationships/image" Target="/ppt/media/image31.png" Id="Rf7de4c9e98294df0" /><Relationship Type="http://schemas.openxmlformats.org/officeDocument/2006/relationships/image" Target="/ppt/media/image32.png" Id="R1861c8c1a6204579" /><Relationship Type="http://schemas.openxmlformats.org/officeDocument/2006/relationships/notesSlide" Target="/ppt/notesSlides/notesSlide27.xml" Id="R665a9b8512c2421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473a1b54980d4292" /><Relationship Type="http://schemas.openxmlformats.org/officeDocument/2006/relationships/image" Target="/ppt/media/image33.png" Id="R33c45afd847c4ca5" /><Relationship Type="http://schemas.openxmlformats.org/officeDocument/2006/relationships/notesSlide" Target="/ppt/notesSlides/notesSlide28.xml" Id="Rb784867970c0490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4380481312b34adc" /><Relationship Type="http://schemas.openxmlformats.org/officeDocument/2006/relationships/image" Target="/ppt/media/image34.png" Id="R9fb1f088c724408b" /><Relationship Type="http://schemas.openxmlformats.org/officeDocument/2006/relationships/notesSlide" Target="/ppt/notesSlides/notesSlide29.xml" Id="R6733dbc40098486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0453f3265de347d5" /><Relationship Type="http://schemas.openxmlformats.org/officeDocument/2006/relationships/image" Target="/ppt/media/image35.png" Id="R72f307c5efd14c49" /><Relationship Type="http://schemas.openxmlformats.org/officeDocument/2006/relationships/notesSlide" Target="/ppt/notesSlides/notesSlide30.xml" Id="R16083412b0124675"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b6a2289bfbe548fc" /><Relationship Type="http://schemas.openxmlformats.org/officeDocument/2006/relationships/image" Target="/ppt/media/image36.png" Id="R7c12816864a94362" /><Relationship Type="http://schemas.openxmlformats.org/officeDocument/2006/relationships/notesSlide" Target="/ppt/notesSlides/notesSlide31.xml" Id="R94d3681b122d4adc"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07f7e566c772449a" /><Relationship Type="http://schemas.openxmlformats.org/officeDocument/2006/relationships/image" Target="/ppt/media/image37.png" Id="R4ccfea9852224677" /><Relationship Type="http://schemas.openxmlformats.org/officeDocument/2006/relationships/notesSlide" Target="/ppt/notesSlides/notesSlide32.xml" Id="Rd4e7ca96557f4efc"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f556b9c961de4dbc" /><Relationship Type="http://schemas.openxmlformats.org/officeDocument/2006/relationships/image" Target="/ppt/media/image38.png" Id="R7ed71c4a10a740a0" /><Relationship Type="http://schemas.openxmlformats.org/officeDocument/2006/relationships/notesSlide" Target="/ppt/notesSlides/notesSlide33.xml" Id="R980ac5f742674a6d"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ca3b1c8234ea4f8c" /><Relationship Type="http://schemas.openxmlformats.org/officeDocument/2006/relationships/image" Target="/ppt/media/image39.png" Id="R0134fff080d647de" /><Relationship Type="http://schemas.openxmlformats.org/officeDocument/2006/relationships/notesSlide" Target="/ppt/notesSlides/notesSlide34.xml" Id="Re7668de53feb46fd"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710434e9379d4009" /><Relationship Type="http://schemas.openxmlformats.org/officeDocument/2006/relationships/image" Target="/ppt/media/image40.png" Id="R40540cf0c5354a0e" /><Relationship Type="http://schemas.openxmlformats.org/officeDocument/2006/relationships/notesSlide" Target="/ppt/notesSlides/notesSlide35.xml" Id="R8278c56a57df4bd3"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de085639fd4d432a" /><Relationship Type="http://schemas.openxmlformats.org/officeDocument/2006/relationships/image" Target="/ppt/media/image41.png" Id="R447b1d850bde4635" /><Relationship Type="http://schemas.openxmlformats.org/officeDocument/2006/relationships/notesSlide" Target="/ppt/notesSlides/notesSlide36.xml" Id="R170455cb630e4d37"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c20287dbf6a94f34" /><Relationship Type="http://schemas.openxmlformats.org/officeDocument/2006/relationships/image" Target="/ppt/media/image42.png" Id="R19b8a595ea7f4425" /><Relationship Type="http://schemas.openxmlformats.org/officeDocument/2006/relationships/notesSlide" Target="/ppt/notesSlides/notesSlide37.xml" Id="R3f45e72be8c3431f"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a1873f016b7e46ff" /><Relationship Type="http://schemas.openxmlformats.org/officeDocument/2006/relationships/image" Target="/ppt/media/image43.png" Id="R98fc2bfcdbea489f" /><Relationship Type="http://schemas.openxmlformats.org/officeDocument/2006/relationships/notesSlide" Target="/ppt/notesSlides/notesSlide38.xml" Id="R3c7918be17ba451c"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f775cb8d7e954ac7" /><Relationship Type="http://schemas.openxmlformats.org/officeDocument/2006/relationships/image" Target="/ppt/media/image44.png" Id="R9e786d5fdc3641c5" /><Relationship Type="http://schemas.openxmlformats.org/officeDocument/2006/relationships/image" Target="/ppt/media/image45.png" Id="Rf25c9970a23e4dda" /><Relationship Type="http://schemas.openxmlformats.org/officeDocument/2006/relationships/notesSlide" Target="/ppt/notesSlides/notesSlide39.xml" Id="R3a93f45d5ffb4ac3"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a09ae2d4d9a74631" /><Relationship Type="http://schemas.openxmlformats.org/officeDocument/2006/relationships/image" Target="/ppt/media/image46.png" Id="R0698e732e2834030" /><Relationship Type="http://schemas.openxmlformats.org/officeDocument/2006/relationships/notesSlide" Target="/ppt/notesSlides/notesSlide40.xml" Id="R0c71052e99844da6"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13ee78f887eb44ef" /><Relationship Type="http://schemas.openxmlformats.org/officeDocument/2006/relationships/image" Target="/ppt/media/image47.png" Id="Rde1f6a2653e4454a" /><Relationship Type="http://schemas.openxmlformats.org/officeDocument/2006/relationships/notesSlide" Target="/ppt/notesSlides/notesSlide41.xml" Id="Re7b03ea54dda4796"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20e1a578599f4aa2" /><Relationship Type="http://schemas.openxmlformats.org/officeDocument/2006/relationships/image" Target="/ppt/media/image48.png" Id="R6c041668fb164dc4" /><Relationship Type="http://schemas.openxmlformats.org/officeDocument/2006/relationships/notesSlide" Target="/ppt/notesSlides/notesSlide42.xml" Id="Rfd62b479485c474e"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2e0b95d4d98e4df7" /><Relationship Type="http://schemas.openxmlformats.org/officeDocument/2006/relationships/image" Target="/ppt/media/image49.png" Id="R6ec1f69681ee4ce6" /><Relationship Type="http://schemas.openxmlformats.org/officeDocument/2006/relationships/notesSlide" Target="/ppt/notesSlides/notesSlide43.xml" Id="R6f1e641bab7d407e"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ac21aae2f25c4d98" /><Relationship Type="http://schemas.openxmlformats.org/officeDocument/2006/relationships/image" Target="/ppt/media/image50.png" Id="Raabcfd8e402c43f3" /><Relationship Type="http://schemas.openxmlformats.org/officeDocument/2006/relationships/notesSlide" Target="/ppt/notesSlides/notesSlide44.xml" Id="R31f1f5e6a86b49b7"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9401b1542ee1433f" /><Relationship Type="http://schemas.openxmlformats.org/officeDocument/2006/relationships/image" Target="/ppt/media/image51.png" Id="R2a2717e8fee74d7b" /><Relationship Type="http://schemas.openxmlformats.org/officeDocument/2006/relationships/notesSlide" Target="/ppt/notesSlides/notesSlide45.xml" Id="R1e0e17d3a9224ee0"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acab53fc4fbb47d1" /><Relationship Type="http://schemas.openxmlformats.org/officeDocument/2006/relationships/image" Target="/ppt/media/image52.png" Id="R149068126e0f41a2" /><Relationship Type="http://schemas.openxmlformats.org/officeDocument/2006/relationships/notesSlide" Target="/ppt/notesSlides/notesSlide46.xml" Id="R38a2b5a57dc14d96"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5656b8c3fc9b4a59" /><Relationship Type="http://schemas.openxmlformats.org/officeDocument/2006/relationships/image" Target="/ppt/media/image53.png" Id="R0604fe16b89249c9" /><Relationship Type="http://schemas.openxmlformats.org/officeDocument/2006/relationships/notesSlide" Target="/ppt/notesSlides/notesSlide47.xml" Id="Rc10d75fcf0734f6e"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b55603b08fdb4f22" /><Relationship Type="http://schemas.openxmlformats.org/officeDocument/2006/relationships/image" Target="/ppt/media/image54.png" Id="R57ace718cadc4a60" /><Relationship Type="http://schemas.openxmlformats.org/officeDocument/2006/relationships/notesSlide" Target="/ppt/notesSlides/notesSlide48.xml" Id="R1a79bfa6959a4015" /></Relationships>
</file>

<file path=ppt/slides/slide1.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7AFCF7D-6094-4551-A990-E8AA65E202DB}"/>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Primera simulación completa en OpenRocket</a:t>
            </a:r>
          </a:p>
        </p:txBody>
      </p:sp>
      <p:pic>
        <p:nvPicPr>
          <p:cNvPr id="2" name="">
            <a:extLst xmlns:a="http://schemas.openxmlformats.org/drawingml/2006/main">
              <a:ext uri="{FF2B5EF4-FFF2-40B4-BE49-F238E27FC236}">
                <a16:creationId xmlns:a16="http://schemas.microsoft.com/office/drawing/2014/main" id="{BA01085F-DBB8-41FD-BB29-6255181AFCD6}"/>
              </a:ext>
            </a:extLst>
          </p:cNvPr>
          <p:cNvPicPr>
            <a:picLocks xmlns:a="http://schemas.openxmlformats.org/drawingml/2006/main" noChangeAspect="1"/>
          </p:cNvPicPr>
          <p:nvPr/>
        </p:nvPicPr>
        <p:blipFill>
          <a:blip xmlns:r="http://schemas.openxmlformats.org/officeDocument/2006/relationships" xmlns:a="http://schemas.openxmlformats.org/drawingml/2006/main" r:embed="R27ba0ad58b8f45d8"/>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5737843-F252-40CB-B665-429DDD5E1AC6}"/>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5   CLASE 09   01/24</a:t>
            </a:r>
          </a:p>
        </p:txBody>
      </p:sp>
      <p:sp>
        <p:nvSpPr>
          <p:cNvPr id="4" name="">
            <a:extLst xmlns:a="http://schemas.openxmlformats.org/drawingml/2006/main">
              <a:ext uri="{FF2B5EF4-FFF2-40B4-BE49-F238E27FC236}">
                <a16:creationId xmlns:a16="http://schemas.microsoft.com/office/drawing/2014/main" id="{0DF20708-DC42-4397-8502-A4AF8A6168C8}"/>
              </a:ext>
            </a:extLst>
          </p:cNvPr>
          <p:cNvSpPr>
            <a:spLocks xmlns:a="http://schemas.openxmlformats.org/drawingml/2006/main" noGrp="1"/>
          </p:cNvSpPr>
          <p:nvPr/>
        </p:nvSpPr>
        <p:spPr>
          <a:xfrm xmlns:a="http://schemas.openxmlformats.org/drawingml/2006/main">
            <a:off x="590550" y="1762125"/>
            <a:ext cx="10715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Configurar el modelo completo, ejecutar una simulación guiada y leer sus fases sin confundir predicción con observación.</a:t>
            </a:r>
          </a:p>
        </p:txBody>
      </p:sp>
      <p:sp>
        <p:nvSpPr>
          <p:cNvPr id="5" name="">
            <a:extLst xmlns:a="http://schemas.openxmlformats.org/drawingml/2006/main">
              <a:ext uri="{FF2B5EF4-FFF2-40B4-BE49-F238E27FC236}">
                <a16:creationId xmlns:a16="http://schemas.microsoft.com/office/drawing/2014/main" id="{DE891B75-AEFB-407F-81C0-E8A4CA5658D6}"/>
              </a:ext>
            </a:extLst>
          </p:cNvPr>
          <p:cNvSpPr>
            <a:spLocks xmlns:a="http://schemas.openxmlformats.org/drawingml/2006/main" noGrp="1"/>
          </p:cNvSpPr>
          <p:nvPr/>
        </p:nvSpPr>
        <p:spPr>
          <a:xfrm xmlns:a="http://schemas.openxmlformats.org/drawingml/2006/main">
            <a:off x="590550" y="3705225"/>
            <a:ext cx="10715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CFCF8"/>
                </a:solidFill>
                <a:latin typeface="Arial"/>
                <a:ea typeface="Arial"/>
                <a:cs typeface="Arial"/>
              </a:defRPr>
            </a:defPPr>
            <a:lvl1pPr>
              <a:defRPr sz="2325" b="0">
                <a:solidFill>
                  <a:srgbClr val="FCFCF8"/>
                </a:solidFill>
                <a:latin typeface="Arial"/>
                <a:ea typeface="Arial"/>
                <a:cs typeface="Arial"/>
              </a:defRPr>
            </a:lvl1pPr>
            <a:lvl2pPr>
              <a:defRPr sz="2325" b="0">
                <a:solidFill>
                  <a:srgbClr val="FCFCF8"/>
                </a:solidFill>
                <a:latin typeface="Arial"/>
                <a:ea typeface="Arial"/>
                <a:cs typeface="Arial"/>
              </a:defRPr>
            </a:lvl2pPr>
            <a:lvl3pPr>
              <a:defRPr sz="2325" b="0">
                <a:solidFill>
                  <a:srgbClr val="FCFCF8"/>
                </a:solidFill>
                <a:latin typeface="Arial"/>
                <a:ea typeface="Arial"/>
                <a:cs typeface="Arial"/>
              </a:defRPr>
            </a:lvl3pPr>
            <a:lvl4pPr>
              <a:defRPr sz="2325" b="0">
                <a:solidFill>
                  <a:srgbClr val="FCFCF8"/>
                </a:solidFill>
                <a:latin typeface="Arial"/>
                <a:ea typeface="Arial"/>
                <a:cs typeface="Arial"/>
              </a:defRPr>
            </a:lvl4pPr>
            <a:lvl5pPr>
              <a:defRPr sz="2325" b="0">
                <a:solidFill>
                  <a:srgbClr val="FCFCF8"/>
                </a:solidFill>
                <a:latin typeface="Arial"/>
                <a:ea typeface="Arial"/>
                <a:cs typeface="Arial"/>
              </a:defRPr>
            </a:lvl5pPr>
            <a:lvl6pPr>
              <a:defRPr sz="2325" b="0">
                <a:solidFill>
                  <a:srgbClr val="FCFCF8"/>
                </a:solidFill>
                <a:latin typeface="Arial"/>
                <a:ea typeface="Arial"/>
                <a:cs typeface="Arial"/>
              </a:defRPr>
            </a:lvl6pPr>
            <a:lvl7pPr>
              <a:defRPr sz="2325" b="0">
                <a:solidFill>
                  <a:srgbClr val="FCFCF8"/>
                </a:solidFill>
                <a:latin typeface="Arial"/>
                <a:ea typeface="Arial"/>
                <a:cs typeface="Arial"/>
              </a:defRPr>
            </a:lvl7pPr>
            <a:lvl8pPr>
              <a:defRPr sz="2325" b="0">
                <a:solidFill>
                  <a:srgbClr val="FCFCF8"/>
                </a:solidFill>
                <a:latin typeface="Arial"/>
                <a:ea typeface="Arial"/>
                <a:cs typeface="Arial"/>
              </a:defRPr>
            </a:lvl8pPr>
            <a:lvl9pPr>
              <a:defRPr sz="2325" b="0">
                <a:solidFill>
                  <a:srgbClr val="FCFCF8"/>
                </a:solidFill>
                <a:latin typeface="Arial"/>
                <a:ea typeface="Arial"/>
                <a:cs typeface="Arial"/>
              </a:defRPr>
            </a:lvl9pPr>
          </a:lstStyle>
          <a:p xmlns:a="http://schemas.openxmlformats.org/drawingml/2006/main">
            <a:pPr>
              <a:defRPr sz="2325" b="0">
                <a:solidFill>
                  <a:srgbClr val="FCFCF8"/>
                </a:solidFill>
                <a:latin typeface="Arial"/>
                <a:ea typeface="Arial"/>
                <a:cs typeface="Arial"/>
              </a:defRPr>
            </a:pPr>
            <a:r>
              <a:rPr sz="2325" b="0">
                <a:solidFill>
                  <a:srgbClr val="FCFCF8"/>
                </a:solidFill>
                <a:latin typeface="Arial"/>
                <a:ea typeface="Arial"/>
                <a:cs typeface="Arial"/>
              </a:rPr>
              <a:t>Obtener una predicción útil para revisar el conjunto y preparar comparaciones.</a:t>
            </a:r>
          </a:p>
        </p:txBody>
      </p:sp>
      <p:sp>
        <p:nvSpPr>
          <p:cNvPr id="6" name="">
            <a:extLst xmlns:a="http://schemas.openxmlformats.org/drawingml/2006/main">
              <a:ext uri="{FF2B5EF4-FFF2-40B4-BE49-F238E27FC236}">
                <a16:creationId xmlns:a16="http://schemas.microsoft.com/office/drawing/2014/main" id="{0A0E676E-F105-4240-9218-4F930DD9849F}"/>
              </a:ext>
            </a:extLst>
          </p:cNvPr>
          <p:cNvSpPr>
            <a:spLocks xmlns:a="http://schemas.openxmlformats.org/drawingml/2006/main" noGrp="1"/>
          </p:cNvSpPr>
          <p:nvPr/>
        </p:nvSpPr>
        <p:spPr>
          <a:xfrm xmlns:a="http://schemas.openxmlformats.org/drawingml/2006/main">
            <a:off x="590550" y="5648325"/>
            <a:ext cx="1071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8C8C1"/>
                </a:solidFill>
                <a:latin typeface="Consolas"/>
                <a:ea typeface="Consolas"/>
                <a:cs typeface="Consolas"/>
              </a:defRPr>
            </a:defPPr>
            <a:lvl1pPr>
              <a:defRPr sz="1800" b="0">
                <a:solidFill>
                  <a:srgbClr val="B8C8C1"/>
                </a:solidFill>
                <a:latin typeface="Consolas"/>
                <a:ea typeface="Consolas"/>
                <a:cs typeface="Consolas"/>
              </a:defRPr>
            </a:lvl1pPr>
            <a:lvl2pPr>
              <a:defRPr sz="1800" b="0">
                <a:solidFill>
                  <a:srgbClr val="B8C8C1"/>
                </a:solidFill>
                <a:latin typeface="Consolas"/>
                <a:ea typeface="Consolas"/>
                <a:cs typeface="Consolas"/>
              </a:defRPr>
            </a:lvl2pPr>
            <a:lvl3pPr>
              <a:defRPr sz="1800" b="0">
                <a:solidFill>
                  <a:srgbClr val="B8C8C1"/>
                </a:solidFill>
                <a:latin typeface="Consolas"/>
                <a:ea typeface="Consolas"/>
                <a:cs typeface="Consolas"/>
              </a:defRPr>
            </a:lvl3pPr>
            <a:lvl4pPr>
              <a:defRPr sz="1800" b="0">
                <a:solidFill>
                  <a:srgbClr val="B8C8C1"/>
                </a:solidFill>
                <a:latin typeface="Consolas"/>
                <a:ea typeface="Consolas"/>
                <a:cs typeface="Consolas"/>
              </a:defRPr>
            </a:lvl4pPr>
            <a:lvl5pPr>
              <a:defRPr sz="1800" b="0">
                <a:solidFill>
                  <a:srgbClr val="B8C8C1"/>
                </a:solidFill>
                <a:latin typeface="Consolas"/>
                <a:ea typeface="Consolas"/>
                <a:cs typeface="Consolas"/>
              </a:defRPr>
            </a:lvl5pPr>
            <a:lvl6pPr>
              <a:defRPr sz="1800" b="0">
                <a:solidFill>
                  <a:srgbClr val="B8C8C1"/>
                </a:solidFill>
                <a:latin typeface="Consolas"/>
                <a:ea typeface="Consolas"/>
                <a:cs typeface="Consolas"/>
              </a:defRPr>
            </a:lvl6pPr>
            <a:lvl7pPr>
              <a:defRPr sz="1800" b="0">
                <a:solidFill>
                  <a:srgbClr val="B8C8C1"/>
                </a:solidFill>
                <a:latin typeface="Consolas"/>
                <a:ea typeface="Consolas"/>
                <a:cs typeface="Consolas"/>
              </a:defRPr>
            </a:lvl7pPr>
            <a:lvl8pPr>
              <a:defRPr sz="1800" b="0">
                <a:solidFill>
                  <a:srgbClr val="B8C8C1"/>
                </a:solidFill>
                <a:latin typeface="Consolas"/>
                <a:ea typeface="Consolas"/>
                <a:cs typeface="Consolas"/>
              </a:defRPr>
            </a:lvl8pPr>
            <a:lvl9pPr>
              <a:defRPr sz="1800" b="0">
                <a:solidFill>
                  <a:srgbClr val="B8C8C1"/>
                </a:solidFill>
                <a:latin typeface="Consolas"/>
                <a:ea typeface="Consolas"/>
                <a:cs typeface="Consolas"/>
              </a:defRPr>
            </a:lvl9pPr>
          </a:lstStyle>
          <a:p xmlns:a="http://schemas.openxmlformats.org/drawingml/2006/main">
            <a:pPr>
              <a:defRPr sz="1800" b="0">
                <a:solidFill>
                  <a:srgbClr val="B8C8C1"/>
                </a:solidFill>
                <a:latin typeface="Consolas"/>
                <a:ea typeface="Consolas"/>
                <a:cs typeface="Consolas"/>
              </a:defRPr>
            </a:pPr>
            <a:r>
              <a:rPr sz="1800" b="0">
                <a:solidFill>
                  <a:srgbClr val="B8C8C1"/>
                </a:solidFill>
                <a:latin typeface="Consolas"/>
                <a:ea typeface="Consolas"/>
                <a:cs typeface="Consolas"/>
              </a:rPr>
              <a:t>EN LÍNEA   2 HORAS</a:t>
            </a:r>
          </a:p>
        </p:txBody>
      </p:sp>
    </p:spTree>
    <p:extLst>
      <p:ext uri="{BB962C8B-B14F-4D97-AF65-F5344CB8AC3E}">
        <p14:creationId xmlns:p14="http://schemas.microsoft.com/office/powerpoint/2010/main" val="1586015893"/>
      </p:ext>
    </p:extLst>
  </p:cSld>
</p:sld>
</file>

<file path=ppt/slides/slide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2C6B114-3437-436E-800B-15D5522699CE}"/>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Qué debe estar completo antes de simular</a:t>
            </a:r>
          </a:p>
        </p:txBody>
      </p:sp>
      <p:pic>
        <p:nvPicPr>
          <p:cNvPr id="2" name="">
            <a:extLst xmlns:a="http://schemas.openxmlformats.org/drawingml/2006/main">
              <a:ext uri="{FF2B5EF4-FFF2-40B4-BE49-F238E27FC236}">
                <a16:creationId xmlns:a16="http://schemas.microsoft.com/office/drawing/2014/main" id="{E4FF6E9D-A0A7-45DF-8068-97BF79DAB55F}"/>
              </a:ext>
            </a:extLst>
          </p:cNvPr>
          <p:cNvPicPr>
            <a:picLocks xmlns:a="http://schemas.openxmlformats.org/drawingml/2006/main" noChangeAspect="1"/>
          </p:cNvPicPr>
          <p:nvPr/>
        </p:nvPicPr>
        <p:blipFill>
          <a:blip xmlns:r="http://schemas.openxmlformats.org/officeDocument/2006/relationships" xmlns:a="http://schemas.openxmlformats.org/drawingml/2006/main" r:embed="R4daa7d0b29424e36"/>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BEF401E-D76B-4450-9D0B-8C06A5C9973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09   02/24</a:t>
            </a:r>
          </a:p>
        </p:txBody>
      </p:sp>
      <p:sp>
        <p:nvSpPr>
          <p:cNvPr id="4" name="">
            <a:extLst xmlns:a="http://schemas.openxmlformats.org/drawingml/2006/main">
              <a:ext uri="{FF2B5EF4-FFF2-40B4-BE49-F238E27FC236}">
                <a16:creationId xmlns:a16="http://schemas.microsoft.com/office/drawing/2014/main" id="{D875D9FC-E0BA-4411-A95A-D86DD81CEB54}"/>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La primera geometría de la clase 1 enseñó a colocar piezas. Una simulación de vuelo necesita más información: componentes interiores, masas, configuración comercial, recuperación y condiciones de salida. El programa puede calcular con un archivo incompleto, pero el resultado describirá ese archivo y no el cohete que se está construyendo.</a:t>
            </a:r>
          </a:p>
        </p:txBody>
      </p:sp>
    </p:spTree>
    <p:extLst>
      <p:ext uri="{BB962C8B-B14F-4D97-AF65-F5344CB8AC3E}">
        <p14:creationId xmlns:p14="http://schemas.microsoft.com/office/powerpoint/2010/main" val="556650400"/>
      </p:ext>
    </p:extLst>
  </p:cSld>
</p:sld>
</file>

<file path=ppt/slides/slide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5D76F02-D84E-42BB-A443-382B329CD0E2}"/>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Qué debe estar completo antes de simular</a:t>
            </a:r>
          </a:p>
        </p:txBody>
      </p:sp>
      <p:pic>
        <p:nvPicPr>
          <p:cNvPr id="2" name="">
            <a:extLst xmlns:a="http://schemas.openxmlformats.org/drawingml/2006/main">
              <a:ext uri="{FF2B5EF4-FFF2-40B4-BE49-F238E27FC236}">
                <a16:creationId xmlns:a16="http://schemas.microsoft.com/office/drawing/2014/main" id="{5B9B7AE7-F19A-48FC-B886-EDB8F25BBBD4}"/>
              </a:ext>
            </a:extLst>
          </p:cNvPr>
          <p:cNvPicPr>
            <a:picLocks xmlns:a="http://schemas.openxmlformats.org/drawingml/2006/main" noChangeAspect="1"/>
          </p:cNvPicPr>
          <p:nvPr/>
        </p:nvPicPr>
        <p:blipFill>
          <a:blip xmlns:r="http://schemas.openxmlformats.org/officeDocument/2006/relationships" xmlns:a="http://schemas.openxmlformats.org/drawingml/2006/main" r:embed="R279d4f3c80154982"/>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FFAD3B9-27AC-4C3B-A31B-99D900A1C3B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09   03/24</a:t>
            </a:r>
          </a:p>
        </p:txBody>
      </p:sp>
      <p:pic>
        <p:nvPicPr>
          <p:cNvPr id="4" name="">
            <a:extLst xmlns:a="http://schemas.openxmlformats.org/drawingml/2006/main">
              <a:ext uri="{FF2B5EF4-FFF2-40B4-BE49-F238E27FC236}">
                <a16:creationId xmlns:a16="http://schemas.microsoft.com/office/drawing/2014/main" id="{D7E1298F-844C-456B-BDC0-5D5B3E78C7EF}"/>
              </a:ext>
            </a:extLst>
          </p:cNvPr>
          <p:cNvPicPr>
            <a:picLocks xmlns:a="http://schemas.openxmlformats.org/drawingml/2006/main" noChangeAspect="1"/>
          </p:cNvPicPr>
          <p:nvPr/>
        </p:nvPicPr>
        <p:blipFill>
          <a:blip xmlns:r="http://schemas.openxmlformats.org/officeDocument/2006/relationships" xmlns:a="http://schemas.openxmlformats.org/drawingml/2006/main" r:embed="Radcb87f8e1794e8e"/>
          <a:stretch xmlns:a="http://schemas.openxmlformats.org/drawingml/2006/main"/>
        </p:blipFill>
        <p:spPr>
          <a:xfrm xmlns:a="http://schemas.openxmlformats.org/drawingml/2006/main">
            <a:off x="1279525" y="1657350"/>
            <a:ext cx="6032500" cy="39814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38ECAA5-4275-4B60-96FA-272DB185ED21}"/>
              </a:ext>
            </a:extLst>
          </p:cNvPr>
          <p:cNvSpPr>
            <a:spLocks xmlns:a="http://schemas.openxmlformats.org/drawingml/2006/main" noGrp="1"/>
          </p:cNvSpPr>
          <p:nvPr/>
        </p:nvSpPr>
        <p:spPr>
          <a:xfrm xmlns:a="http://schemas.openxmlformats.org/drawingml/2006/main">
            <a:off x="8315325" y="1781175"/>
            <a:ext cx="3248025" cy="3590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244F3D"/>
                </a:solidFill>
                <a:latin typeface="Arial"/>
                <a:ea typeface="Arial"/>
                <a:cs typeface="Arial"/>
              </a:defRPr>
            </a:defPPr>
            <a:lvl1pPr>
              <a:defRPr sz="2325" b="1">
                <a:solidFill>
                  <a:srgbClr val="244F3D"/>
                </a:solidFill>
                <a:latin typeface="Arial"/>
                <a:ea typeface="Arial"/>
                <a:cs typeface="Arial"/>
              </a:defRPr>
            </a:lvl1pPr>
            <a:lvl2pPr>
              <a:defRPr sz="2325" b="1">
                <a:solidFill>
                  <a:srgbClr val="244F3D"/>
                </a:solidFill>
                <a:latin typeface="Arial"/>
                <a:ea typeface="Arial"/>
                <a:cs typeface="Arial"/>
              </a:defRPr>
            </a:lvl2pPr>
            <a:lvl3pPr>
              <a:defRPr sz="2325" b="1">
                <a:solidFill>
                  <a:srgbClr val="244F3D"/>
                </a:solidFill>
                <a:latin typeface="Arial"/>
                <a:ea typeface="Arial"/>
                <a:cs typeface="Arial"/>
              </a:defRPr>
            </a:lvl3pPr>
            <a:lvl4pPr>
              <a:defRPr sz="2325" b="1">
                <a:solidFill>
                  <a:srgbClr val="244F3D"/>
                </a:solidFill>
                <a:latin typeface="Arial"/>
                <a:ea typeface="Arial"/>
                <a:cs typeface="Arial"/>
              </a:defRPr>
            </a:lvl4pPr>
            <a:lvl5pPr>
              <a:defRPr sz="2325" b="1">
                <a:solidFill>
                  <a:srgbClr val="244F3D"/>
                </a:solidFill>
                <a:latin typeface="Arial"/>
                <a:ea typeface="Arial"/>
                <a:cs typeface="Arial"/>
              </a:defRPr>
            </a:lvl5pPr>
            <a:lvl6pPr>
              <a:defRPr sz="2325" b="1">
                <a:solidFill>
                  <a:srgbClr val="244F3D"/>
                </a:solidFill>
                <a:latin typeface="Arial"/>
                <a:ea typeface="Arial"/>
                <a:cs typeface="Arial"/>
              </a:defRPr>
            </a:lvl6pPr>
            <a:lvl7pPr>
              <a:defRPr sz="2325" b="1">
                <a:solidFill>
                  <a:srgbClr val="244F3D"/>
                </a:solidFill>
                <a:latin typeface="Arial"/>
                <a:ea typeface="Arial"/>
                <a:cs typeface="Arial"/>
              </a:defRPr>
            </a:lvl7pPr>
            <a:lvl8pPr>
              <a:defRPr sz="2325" b="1">
                <a:solidFill>
                  <a:srgbClr val="244F3D"/>
                </a:solidFill>
                <a:latin typeface="Arial"/>
                <a:ea typeface="Arial"/>
                <a:cs typeface="Arial"/>
              </a:defRPr>
            </a:lvl8pPr>
            <a:lvl9pPr>
              <a:defRPr sz="2325" b="1">
                <a:solidFill>
                  <a:srgbClr val="244F3D"/>
                </a:solidFill>
                <a:latin typeface="Arial"/>
                <a:ea typeface="Arial"/>
                <a:cs typeface="Arial"/>
              </a:defRPr>
            </a:lvl9pPr>
          </a:lstStyle>
          <a:p xmlns:a="http://schemas.openxmlformats.org/drawingml/2006/main">
            <a:pPr>
              <a:defRPr sz="2325" b="1">
                <a:solidFill>
                  <a:srgbClr val="244F3D"/>
                </a:solidFill>
                <a:latin typeface="Arial"/>
                <a:ea typeface="Arial"/>
                <a:cs typeface="Arial"/>
              </a:defRPr>
            </a:pPr>
            <a:r>
              <a:rPr sz="2325" b="1">
                <a:solidFill>
                  <a:srgbClr val="244F3D"/>
                </a:solidFill>
                <a:latin typeface="Arial"/>
                <a:ea typeface="Arial"/>
                <a:cs typeface="Arial"/>
              </a:rPr>
              <a:t>¿El archivo contiene el conjunto real?</a:t>
            </a:r>
          </a:p>
        </p:txBody>
      </p:sp>
      <p:sp>
        <p:nvSpPr>
          <p:cNvPr id="6" name="">
            <a:extLst xmlns:a="http://schemas.openxmlformats.org/drawingml/2006/main">
              <a:ext uri="{FF2B5EF4-FFF2-40B4-BE49-F238E27FC236}">
                <a16:creationId xmlns:a16="http://schemas.microsoft.com/office/drawing/2014/main" id="{2D6DB43A-255F-4055-A85F-58DDD1012A4A}"/>
              </a:ext>
            </a:extLst>
          </p:cNvPr>
          <p:cNvSpPr>
            <a:spLocks xmlns:a="http://schemas.openxmlformats.org/drawingml/2006/main" noGrp="1"/>
          </p:cNvSpPr>
          <p:nvPr/>
        </p:nvSpPr>
        <p:spPr>
          <a:xfrm xmlns:a="http://schemas.openxmlformats.org/drawingml/2006/main">
            <a:off x="590550" y="58483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8665F"/>
                </a:solidFill>
                <a:latin typeface="Arial"/>
                <a:ea typeface="Arial"/>
                <a:cs typeface="Arial"/>
              </a:defRPr>
            </a:defPPr>
            <a:lvl1pPr>
              <a:defRPr sz="1350" b="0">
                <a:solidFill>
                  <a:srgbClr val="58665F"/>
                </a:solidFill>
                <a:latin typeface="Arial"/>
                <a:ea typeface="Arial"/>
                <a:cs typeface="Arial"/>
              </a:defRPr>
            </a:lvl1pPr>
            <a:lvl2pPr>
              <a:defRPr sz="1350" b="0">
                <a:solidFill>
                  <a:srgbClr val="58665F"/>
                </a:solidFill>
                <a:latin typeface="Arial"/>
                <a:ea typeface="Arial"/>
                <a:cs typeface="Arial"/>
              </a:defRPr>
            </a:lvl2pPr>
            <a:lvl3pPr>
              <a:defRPr sz="1350" b="0">
                <a:solidFill>
                  <a:srgbClr val="58665F"/>
                </a:solidFill>
                <a:latin typeface="Arial"/>
                <a:ea typeface="Arial"/>
                <a:cs typeface="Arial"/>
              </a:defRPr>
            </a:lvl3pPr>
            <a:lvl4pPr>
              <a:defRPr sz="1350" b="0">
                <a:solidFill>
                  <a:srgbClr val="58665F"/>
                </a:solidFill>
                <a:latin typeface="Arial"/>
                <a:ea typeface="Arial"/>
                <a:cs typeface="Arial"/>
              </a:defRPr>
            </a:lvl4pPr>
            <a:lvl5pPr>
              <a:defRPr sz="1350" b="0">
                <a:solidFill>
                  <a:srgbClr val="58665F"/>
                </a:solidFill>
                <a:latin typeface="Arial"/>
                <a:ea typeface="Arial"/>
                <a:cs typeface="Arial"/>
              </a:defRPr>
            </a:lvl5pPr>
            <a:lvl6pPr>
              <a:defRPr sz="1350" b="0">
                <a:solidFill>
                  <a:srgbClr val="58665F"/>
                </a:solidFill>
                <a:latin typeface="Arial"/>
                <a:ea typeface="Arial"/>
                <a:cs typeface="Arial"/>
              </a:defRPr>
            </a:lvl6pPr>
            <a:lvl7pPr>
              <a:defRPr sz="1350" b="0">
                <a:solidFill>
                  <a:srgbClr val="58665F"/>
                </a:solidFill>
                <a:latin typeface="Arial"/>
                <a:ea typeface="Arial"/>
                <a:cs typeface="Arial"/>
              </a:defRPr>
            </a:lvl7pPr>
            <a:lvl8pPr>
              <a:defRPr sz="1350" b="0">
                <a:solidFill>
                  <a:srgbClr val="58665F"/>
                </a:solidFill>
                <a:latin typeface="Arial"/>
                <a:ea typeface="Arial"/>
                <a:cs typeface="Arial"/>
              </a:defRPr>
            </a:lvl8pPr>
            <a:lvl9pPr>
              <a:defRPr sz="1350" b="0">
                <a:solidFill>
                  <a:srgbClr val="58665F"/>
                </a:solidFill>
                <a:latin typeface="Arial"/>
                <a:ea typeface="Arial"/>
                <a:cs typeface="Arial"/>
              </a:defRPr>
            </a:lvl9pPr>
          </a:lstStyle>
          <a:p xmlns:a="http://schemas.openxmlformats.org/drawingml/2006/main">
            <a:pPr>
              <a:defRPr sz="1350" b="0">
                <a:solidFill>
                  <a:srgbClr val="58665F"/>
                </a:solidFill>
                <a:latin typeface="Arial"/>
                <a:ea typeface="Arial"/>
                <a:cs typeface="Arial"/>
              </a:defRPr>
            </a:pPr>
            <a:r>
              <a:rPr sz="1350" b="0">
                <a:solidFill>
                  <a:srgbClr val="58665F"/>
                </a:solidFill>
                <a:latin typeface="Arial"/>
                <a:ea typeface="Arial"/>
                <a:cs typeface="Arial"/>
              </a:rPr>
              <a:t>Pestaña de simulaciones del manual de OpenRocket. Los resultados pertenecen a su ejemplo, no al proyecto del equipo.</a:t>
            </a:r>
          </a:p>
        </p:txBody>
      </p:sp>
    </p:spTree>
    <p:extLst>
      <p:ext uri="{BB962C8B-B14F-4D97-AF65-F5344CB8AC3E}">
        <p14:creationId xmlns:p14="http://schemas.microsoft.com/office/powerpoint/2010/main" val="841438106"/>
      </p:ext>
    </p:extLst>
  </p:cSld>
</p:sld>
</file>

<file path=ppt/slides/slide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1AD6034-5DBC-4AC3-BF19-B21523D2372D}"/>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Entradas que debe revisar el equipo</a:t>
            </a:r>
          </a:p>
        </p:txBody>
      </p:sp>
      <p:pic>
        <p:nvPicPr>
          <p:cNvPr id="2" name="">
            <a:extLst xmlns:a="http://schemas.openxmlformats.org/drawingml/2006/main">
              <a:ext uri="{FF2B5EF4-FFF2-40B4-BE49-F238E27FC236}">
                <a16:creationId xmlns:a16="http://schemas.microsoft.com/office/drawing/2014/main" id="{E0D57BA2-967F-4013-B66B-1D700142FFC3}"/>
              </a:ext>
            </a:extLst>
          </p:cNvPr>
          <p:cNvPicPr>
            <a:picLocks xmlns:a="http://schemas.openxmlformats.org/drawingml/2006/main" noChangeAspect="1"/>
          </p:cNvPicPr>
          <p:nvPr/>
        </p:nvPicPr>
        <p:blipFill>
          <a:blip xmlns:r="http://schemas.openxmlformats.org/officeDocument/2006/relationships" xmlns:a="http://schemas.openxmlformats.org/drawingml/2006/main" r:embed="R380599f1ae384502"/>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F3D2044-63D7-4F00-90FD-FAB1F9A041C4}"/>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09   04/24</a:t>
            </a:r>
          </a:p>
        </p:txBody>
      </p:sp>
      <p:graphicFrame>
        <p:nvGraphicFramePr>
          <p:cNvPr id="4" name="">
            <a:extLst xmlns:a="http://schemas.openxmlformats.org/drawingml/2006/main">
              <a:ext uri="{FF2B5EF4-FFF2-40B4-BE49-F238E27FC236}">
                <a16:creationId xmlns:a16="http://schemas.microsoft.com/office/drawing/2014/main" id="{1277EB12-E2E0-49A7-8198-BF63B83C455E}"/>
              </a:ext>
            </a:extLst>
          </p:cNvPr>
          <p:cNvGraphicFramePr/>
          <p:nvPr/>
        </p:nvGraphicFramePr>
        <p:xfrm>
          <a:off xmlns:a="http://schemas.openxmlformats.org/drawingml/2006/main" x="590550" y="1752600"/>
          <a:ext xmlns:a="http://schemas.openxmlformats.org/drawingml/2006/main" cx="11010900" cy="3952875"/>
        </p:xfrm>
        <a:graphic xmlns:a="http://schemas.openxmlformats.org/drawingml/2006/main">
          <a:graphicData uri="http://schemas.openxmlformats.org/drawingml/2006/table">
            <a:tbl>
              <a:tblPr/>
              <a:tblGrid>
                <a:gridCol w="5505450"/>
                <a:gridCol w="5505450"/>
              </a:tblGrid>
              <a:tr h="658813">
                <a:tc>
                  <a:txBody>
                    <a:bodyPr/>
                    <a:lstStyle/>
                    <a:p>
                      <a:r>
                        <a:rPr sz="2025" b="1">
                          <a:solidFill>
                            <a:srgbClr val="FFFFFF"/>
                          </a:solidFill>
                          <a:latin typeface="Arial"/>
                          <a:ea typeface="Arial"/>
                          <a:cs typeface="Arial"/>
                        </a:rPr>
                        <a:t>Grupo</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Comprobación</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658813">
                <a:tc>
                  <a:txBody>
                    <a:bodyPr/>
                    <a:lstStyle/>
                    <a:p>
                      <a:r>
                        <a:rPr sz="2025" b="0">
                          <a:solidFill>
                            <a:srgbClr val="14231E"/>
                          </a:solidFill>
                          <a:latin typeface="Arial"/>
                          <a:ea typeface="Arial"/>
                          <a:cs typeface="Arial"/>
                        </a:rPr>
                        <a:t>Geometría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Coincide con el plano y las piezas</a:t>
                      </a:r>
                    </a:p>
                  </a:txBody>
                  <a:tcPr marL="91440" marR="91440" marT="45720" marB="45720">
                    <a:lnR w="9525">
                      <a:solidFill>
                        <a:srgbClr val="BFCEC3"/>
                      </a:solidFill>
                      <a:prstDash val="solid"/>
                    </a:lnR>
                    <a:lnB w="9525">
                      <a:solidFill>
                        <a:srgbClr val="BFCEC3"/>
                      </a:solidFill>
                      <a:prstDash val="solid"/>
                    </a:lnB>
                    <a:solidFill>
                      <a:srgbClr val="EAF3EC"/>
                    </a:solidFill>
                  </a:tcPr>
                </a:tc>
              </a:tr>
              <a:tr h="658813">
                <a:tc>
                  <a:txBody>
                    <a:bodyPr/>
                    <a:lstStyle/>
                    <a:p>
                      <a:r>
                        <a:rPr sz="2025" b="0">
                          <a:solidFill>
                            <a:srgbClr val="14231E"/>
                          </a:solidFill>
                          <a:latin typeface="Arial"/>
                          <a:ea typeface="Arial"/>
                          <a:cs typeface="Arial"/>
                        </a:rPr>
                        <a:t>Masas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Incluyen los elementos del conjunto</a:t>
                      </a:r>
                    </a:p>
                  </a:txBody>
                  <a:tcPr marL="91440" marR="91440" marT="45720" marB="45720">
                    <a:lnR w="9525">
                      <a:solidFill>
                        <a:srgbClr val="BFCEC3"/>
                      </a:solidFill>
                      <a:prstDash val="solid"/>
                    </a:lnR>
                    <a:lnB w="9525">
                      <a:solidFill>
                        <a:srgbClr val="BFCEC3"/>
                      </a:solidFill>
                      <a:prstDash val="solid"/>
                    </a:lnB>
                    <a:solidFill>
                      <a:srgbClr val="FCFCF8"/>
                    </a:solidFill>
                  </a:tcPr>
                </a:tc>
              </a:tr>
              <a:tr h="658813">
                <a:tc>
                  <a:txBody>
                    <a:bodyPr/>
                    <a:lstStyle/>
                    <a:p>
                      <a:r>
                        <a:rPr sz="2025" b="0">
                          <a:solidFill>
                            <a:srgbClr val="14231E"/>
                          </a:solidFill>
                          <a:latin typeface="Arial"/>
                          <a:ea typeface="Arial"/>
                          <a:cs typeface="Arial"/>
                        </a:rPr>
                        <a:t>Motor comercial</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Referencia y configuración correctas</a:t>
                      </a:r>
                    </a:p>
                  </a:txBody>
                  <a:tcPr marL="91440" marR="91440" marT="45720" marB="45720">
                    <a:lnR w="9525">
                      <a:solidFill>
                        <a:srgbClr val="BFCEC3"/>
                      </a:solidFill>
                      <a:prstDash val="solid"/>
                    </a:lnR>
                    <a:lnB w="9525">
                      <a:solidFill>
                        <a:srgbClr val="BFCEC3"/>
                      </a:solidFill>
                      <a:prstDash val="solid"/>
                    </a:lnB>
                    <a:solidFill>
                      <a:srgbClr val="EAF3EC"/>
                    </a:solidFill>
                  </a:tcPr>
                </a:tc>
              </a:tr>
              <a:tr h="658813">
                <a:tc>
                  <a:txBody>
                    <a:bodyPr/>
                    <a:lstStyle/>
                    <a:p>
                      <a:r>
                        <a:rPr sz="2025" b="0">
                          <a:solidFill>
                            <a:srgbClr val="14231E"/>
                          </a:solidFill>
                          <a:latin typeface="Arial"/>
                          <a:ea typeface="Arial"/>
                          <a:cs typeface="Arial"/>
                        </a:rPr>
                        <a:t>Recuperación</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Sistema y evento representados</a:t>
                      </a:r>
                    </a:p>
                  </a:txBody>
                  <a:tcPr marL="91440" marR="91440" marT="45720" marB="45720">
                    <a:lnR w="9525">
                      <a:solidFill>
                        <a:srgbClr val="BFCEC3"/>
                      </a:solidFill>
                      <a:prstDash val="solid"/>
                    </a:lnR>
                    <a:lnB w="9525">
                      <a:solidFill>
                        <a:srgbClr val="BFCEC3"/>
                      </a:solidFill>
                      <a:prstDash val="solid"/>
                    </a:lnB>
                    <a:solidFill>
                      <a:srgbClr val="FCFCF8"/>
                    </a:solidFill>
                  </a:tcPr>
                </a:tc>
              </a:tr>
              <a:tr h="658813">
                <a:tc>
                  <a:txBody>
                    <a:bodyPr/>
                    <a:lstStyle/>
                    <a:p>
                      <a:r>
                        <a:rPr sz="2025" b="0">
                          <a:solidFill>
                            <a:srgbClr val="14231E"/>
                          </a:solidFill>
                          <a:latin typeface="Arial"/>
                          <a:ea typeface="Arial"/>
                          <a:cs typeface="Arial"/>
                        </a:rPr>
                        <a:t>Condiciones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Lugar y condiciones declarados</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795366264"/>
      </p:ext>
    </p:extLst>
  </p:cSld>
</p:sld>
</file>

<file path=ppt/slides/slide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B5F289B-7411-4E44-9EBB-90DE2ECA485E}"/>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Leer el vuelo como una secuencia</a:t>
            </a:r>
          </a:p>
        </p:txBody>
      </p:sp>
      <p:pic>
        <p:nvPicPr>
          <p:cNvPr id="2" name="">
            <a:extLst xmlns:a="http://schemas.openxmlformats.org/drawingml/2006/main">
              <a:ext uri="{FF2B5EF4-FFF2-40B4-BE49-F238E27FC236}">
                <a16:creationId xmlns:a16="http://schemas.microsoft.com/office/drawing/2014/main" id="{5DAE068E-0E9B-4972-B1F2-14D47CC915D8}"/>
              </a:ext>
            </a:extLst>
          </p:cNvPr>
          <p:cNvPicPr>
            <a:picLocks xmlns:a="http://schemas.openxmlformats.org/drawingml/2006/main" noChangeAspect="1"/>
          </p:cNvPicPr>
          <p:nvPr/>
        </p:nvPicPr>
        <p:blipFill>
          <a:blip xmlns:r="http://schemas.openxmlformats.org/officeDocument/2006/relationships" xmlns:a="http://schemas.openxmlformats.org/drawingml/2006/main" r:embed="Rc9296b3760c1438b"/>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06612E1-ECF3-4BD4-9983-02098B93213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09   05/24</a:t>
            </a:r>
          </a:p>
        </p:txBody>
      </p:sp>
      <p:sp>
        <p:nvSpPr>
          <p:cNvPr id="4" name="">
            <a:extLst xmlns:a="http://schemas.openxmlformats.org/drawingml/2006/main">
              <a:ext uri="{FF2B5EF4-FFF2-40B4-BE49-F238E27FC236}">
                <a16:creationId xmlns:a16="http://schemas.microsoft.com/office/drawing/2014/main" id="{4AAFBF48-CC1C-43C6-8D08-9729954A4029}"/>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La fase impulsada termina cuando cesa el empuje. El cohete puede seguir subiendo después, mientras pierde velocidad. La altura máxima se llama apogeo. Después llega el descenso y el sistema de recuperación cumple su función. Separar esos eventos evita pensar que el motor empuja hasta la altura máxima.</a:t>
            </a:r>
          </a:p>
        </p:txBody>
      </p:sp>
    </p:spTree>
    <p:extLst>
      <p:ext uri="{BB962C8B-B14F-4D97-AF65-F5344CB8AC3E}">
        <p14:creationId xmlns:p14="http://schemas.microsoft.com/office/powerpoint/2010/main" val="543136889"/>
      </p:ext>
    </p:extLst>
  </p:cSld>
</p:sld>
</file>

<file path=ppt/slides/slide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49FB9EB-BCDC-4C95-A062-B13B73F1989B}"/>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Leer el vuelo como una secuencia</a:t>
            </a:r>
          </a:p>
        </p:txBody>
      </p:sp>
      <p:pic>
        <p:nvPicPr>
          <p:cNvPr id="2" name="">
            <a:extLst xmlns:a="http://schemas.openxmlformats.org/drawingml/2006/main">
              <a:ext uri="{FF2B5EF4-FFF2-40B4-BE49-F238E27FC236}">
                <a16:creationId xmlns:a16="http://schemas.microsoft.com/office/drawing/2014/main" id="{E3CC1B31-9234-41DF-A410-6BE2F9FB5F07}"/>
              </a:ext>
            </a:extLst>
          </p:cNvPr>
          <p:cNvPicPr>
            <a:picLocks xmlns:a="http://schemas.openxmlformats.org/drawingml/2006/main" noChangeAspect="1"/>
          </p:cNvPicPr>
          <p:nvPr/>
        </p:nvPicPr>
        <p:blipFill>
          <a:blip xmlns:r="http://schemas.openxmlformats.org/officeDocument/2006/relationships" xmlns:a="http://schemas.openxmlformats.org/drawingml/2006/main" r:embed="Rdd9184f9b0d94dd1"/>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7B41A0D-2A2F-4DDF-BFAF-3C0F0054ED26}"/>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09   06/24</a:t>
            </a:r>
          </a:p>
        </p:txBody>
      </p:sp>
      <p:pic>
        <p:nvPicPr>
          <p:cNvPr id="4" name="">
            <a:extLst xmlns:a="http://schemas.openxmlformats.org/drawingml/2006/main">
              <a:ext uri="{FF2B5EF4-FFF2-40B4-BE49-F238E27FC236}">
                <a16:creationId xmlns:a16="http://schemas.microsoft.com/office/drawing/2014/main" id="{12B2E490-0614-48CC-978A-603C59985CAB}"/>
              </a:ext>
            </a:extLst>
          </p:cNvPr>
          <p:cNvPicPr>
            <a:picLocks xmlns:a="http://schemas.openxmlformats.org/drawingml/2006/main" noChangeAspect="1"/>
          </p:cNvPicPr>
          <p:nvPr/>
        </p:nvPicPr>
        <p:blipFill>
          <a:blip xmlns:r="http://schemas.openxmlformats.org/officeDocument/2006/relationships" xmlns:a="http://schemas.openxmlformats.org/drawingml/2006/main" r:embed="R4b030f9f46464746"/>
          <a:stretch xmlns:a="http://schemas.openxmlformats.org/drawingml/2006/main"/>
        </p:blipFill>
        <p:spPr>
          <a:xfrm xmlns:a="http://schemas.openxmlformats.org/drawingml/2006/main">
            <a:off x="1209380" y="1657350"/>
            <a:ext cx="6172791" cy="39814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950B52A-5DF5-415C-A063-4F70A92D61C8}"/>
              </a:ext>
            </a:extLst>
          </p:cNvPr>
          <p:cNvSpPr>
            <a:spLocks xmlns:a="http://schemas.openxmlformats.org/drawingml/2006/main" noGrp="1"/>
          </p:cNvSpPr>
          <p:nvPr/>
        </p:nvSpPr>
        <p:spPr>
          <a:xfrm xmlns:a="http://schemas.openxmlformats.org/drawingml/2006/main">
            <a:off x="8315325" y="1781175"/>
            <a:ext cx="3248025" cy="3590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244F3D"/>
                </a:solidFill>
                <a:latin typeface="Arial"/>
                <a:ea typeface="Arial"/>
                <a:cs typeface="Arial"/>
              </a:defRPr>
            </a:defPPr>
            <a:lvl1pPr>
              <a:defRPr sz="2325" b="1">
                <a:solidFill>
                  <a:srgbClr val="244F3D"/>
                </a:solidFill>
                <a:latin typeface="Arial"/>
                <a:ea typeface="Arial"/>
                <a:cs typeface="Arial"/>
              </a:defRPr>
            </a:lvl1pPr>
            <a:lvl2pPr>
              <a:defRPr sz="2325" b="1">
                <a:solidFill>
                  <a:srgbClr val="244F3D"/>
                </a:solidFill>
                <a:latin typeface="Arial"/>
                <a:ea typeface="Arial"/>
                <a:cs typeface="Arial"/>
              </a:defRPr>
            </a:lvl2pPr>
            <a:lvl3pPr>
              <a:defRPr sz="2325" b="1">
                <a:solidFill>
                  <a:srgbClr val="244F3D"/>
                </a:solidFill>
                <a:latin typeface="Arial"/>
                <a:ea typeface="Arial"/>
                <a:cs typeface="Arial"/>
              </a:defRPr>
            </a:lvl3pPr>
            <a:lvl4pPr>
              <a:defRPr sz="2325" b="1">
                <a:solidFill>
                  <a:srgbClr val="244F3D"/>
                </a:solidFill>
                <a:latin typeface="Arial"/>
                <a:ea typeface="Arial"/>
                <a:cs typeface="Arial"/>
              </a:defRPr>
            </a:lvl4pPr>
            <a:lvl5pPr>
              <a:defRPr sz="2325" b="1">
                <a:solidFill>
                  <a:srgbClr val="244F3D"/>
                </a:solidFill>
                <a:latin typeface="Arial"/>
                <a:ea typeface="Arial"/>
                <a:cs typeface="Arial"/>
              </a:defRPr>
            </a:lvl5pPr>
            <a:lvl6pPr>
              <a:defRPr sz="2325" b="1">
                <a:solidFill>
                  <a:srgbClr val="244F3D"/>
                </a:solidFill>
                <a:latin typeface="Arial"/>
                <a:ea typeface="Arial"/>
                <a:cs typeface="Arial"/>
              </a:defRPr>
            </a:lvl6pPr>
            <a:lvl7pPr>
              <a:defRPr sz="2325" b="1">
                <a:solidFill>
                  <a:srgbClr val="244F3D"/>
                </a:solidFill>
                <a:latin typeface="Arial"/>
                <a:ea typeface="Arial"/>
                <a:cs typeface="Arial"/>
              </a:defRPr>
            </a:lvl7pPr>
            <a:lvl8pPr>
              <a:defRPr sz="2325" b="1">
                <a:solidFill>
                  <a:srgbClr val="244F3D"/>
                </a:solidFill>
                <a:latin typeface="Arial"/>
                <a:ea typeface="Arial"/>
                <a:cs typeface="Arial"/>
              </a:defRPr>
            </a:lvl8pPr>
            <a:lvl9pPr>
              <a:defRPr sz="2325" b="1">
                <a:solidFill>
                  <a:srgbClr val="244F3D"/>
                </a:solidFill>
                <a:latin typeface="Arial"/>
                <a:ea typeface="Arial"/>
                <a:cs typeface="Arial"/>
              </a:defRPr>
            </a:lvl9pPr>
          </a:lstStyle>
          <a:p xmlns:a="http://schemas.openxmlformats.org/drawingml/2006/main">
            <a:pPr>
              <a:defRPr sz="2325" b="1">
                <a:solidFill>
                  <a:srgbClr val="244F3D"/>
                </a:solidFill>
                <a:latin typeface="Arial"/>
                <a:ea typeface="Arial"/>
                <a:cs typeface="Arial"/>
              </a:defRPr>
            </a:pPr>
            <a:r>
              <a:rPr sz="2325" b="1">
                <a:solidFill>
                  <a:srgbClr val="244F3D"/>
                </a:solidFill>
                <a:latin typeface="Arial"/>
                <a:ea typeface="Arial"/>
                <a:cs typeface="Arial"/>
              </a:rPr>
              <a:t>¿Por qué sube después de terminar el empuje?</a:t>
            </a:r>
          </a:p>
        </p:txBody>
      </p:sp>
      <p:sp>
        <p:nvSpPr>
          <p:cNvPr id="6" name="">
            <a:extLst xmlns:a="http://schemas.openxmlformats.org/drawingml/2006/main">
              <a:ext uri="{FF2B5EF4-FFF2-40B4-BE49-F238E27FC236}">
                <a16:creationId xmlns:a16="http://schemas.microsoft.com/office/drawing/2014/main" id="{C430009C-5CDF-4089-BA41-CE226930E479}"/>
              </a:ext>
            </a:extLst>
          </p:cNvPr>
          <p:cNvSpPr>
            <a:spLocks xmlns:a="http://schemas.openxmlformats.org/drawingml/2006/main" noGrp="1"/>
          </p:cNvSpPr>
          <p:nvPr/>
        </p:nvSpPr>
        <p:spPr>
          <a:xfrm xmlns:a="http://schemas.openxmlformats.org/drawingml/2006/main">
            <a:off x="590550" y="58483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8665F"/>
                </a:solidFill>
                <a:latin typeface="Arial"/>
                <a:ea typeface="Arial"/>
                <a:cs typeface="Arial"/>
              </a:defRPr>
            </a:defPPr>
            <a:lvl1pPr>
              <a:defRPr sz="1350" b="0">
                <a:solidFill>
                  <a:srgbClr val="58665F"/>
                </a:solidFill>
                <a:latin typeface="Arial"/>
                <a:ea typeface="Arial"/>
                <a:cs typeface="Arial"/>
              </a:defRPr>
            </a:lvl1pPr>
            <a:lvl2pPr>
              <a:defRPr sz="1350" b="0">
                <a:solidFill>
                  <a:srgbClr val="58665F"/>
                </a:solidFill>
                <a:latin typeface="Arial"/>
                <a:ea typeface="Arial"/>
                <a:cs typeface="Arial"/>
              </a:defRPr>
            </a:lvl2pPr>
            <a:lvl3pPr>
              <a:defRPr sz="1350" b="0">
                <a:solidFill>
                  <a:srgbClr val="58665F"/>
                </a:solidFill>
                <a:latin typeface="Arial"/>
                <a:ea typeface="Arial"/>
                <a:cs typeface="Arial"/>
              </a:defRPr>
            </a:lvl3pPr>
            <a:lvl4pPr>
              <a:defRPr sz="1350" b="0">
                <a:solidFill>
                  <a:srgbClr val="58665F"/>
                </a:solidFill>
                <a:latin typeface="Arial"/>
                <a:ea typeface="Arial"/>
                <a:cs typeface="Arial"/>
              </a:defRPr>
            </a:lvl4pPr>
            <a:lvl5pPr>
              <a:defRPr sz="1350" b="0">
                <a:solidFill>
                  <a:srgbClr val="58665F"/>
                </a:solidFill>
                <a:latin typeface="Arial"/>
                <a:ea typeface="Arial"/>
                <a:cs typeface="Arial"/>
              </a:defRPr>
            </a:lvl5pPr>
            <a:lvl6pPr>
              <a:defRPr sz="1350" b="0">
                <a:solidFill>
                  <a:srgbClr val="58665F"/>
                </a:solidFill>
                <a:latin typeface="Arial"/>
                <a:ea typeface="Arial"/>
                <a:cs typeface="Arial"/>
              </a:defRPr>
            </a:lvl6pPr>
            <a:lvl7pPr>
              <a:defRPr sz="1350" b="0">
                <a:solidFill>
                  <a:srgbClr val="58665F"/>
                </a:solidFill>
                <a:latin typeface="Arial"/>
                <a:ea typeface="Arial"/>
                <a:cs typeface="Arial"/>
              </a:defRPr>
            </a:lvl7pPr>
            <a:lvl8pPr>
              <a:defRPr sz="1350" b="0">
                <a:solidFill>
                  <a:srgbClr val="58665F"/>
                </a:solidFill>
                <a:latin typeface="Arial"/>
                <a:ea typeface="Arial"/>
                <a:cs typeface="Arial"/>
              </a:defRPr>
            </a:lvl8pPr>
            <a:lvl9pPr>
              <a:defRPr sz="1350" b="0">
                <a:solidFill>
                  <a:srgbClr val="58665F"/>
                </a:solidFill>
                <a:latin typeface="Arial"/>
                <a:ea typeface="Arial"/>
                <a:cs typeface="Arial"/>
              </a:defRPr>
            </a:lvl9pPr>
          </a:lstStyle>
          <a:p xmlns:a="http://schemas.openxmlformats.org/drawingml/2006/main">
            <a:pPr>
              <a:defRPr sz="1350" b="0">
                <a:solidFill>
                  <a:srgbClr val="58665F"/>
                </a:solidFill>
                <a:latin typeface="Arial"/>
                <a:ea typeface="Arial"/>
                <a:cs typeface="Arial"/>
              </a:defRPr>
            </a:pPr>
            <a:r>
              <a:rPr sz="1350" b="0">
                <a:solidFill>
                  <a:srgbClr val="58665F"/>
                </a:solidFill>
                <a:latin typeface="Arial"/>
                <a:ea typeface="Arial"/>
                <a:cs typeface="Arial"/>
              </a:rPr>
              <a:t>NASA Glenn: fases de vuelo de un modelo. La trayectoria dibujada es ilustrativa y no fija una trayectoria para el proyecto.</a:t>
            </a:r>
          </a:p>
        </p:txBody>
      </p:sp>
    </p:spTree>
    <p:extLst>
      <p:ext uri="{BB962C8B-B14F-4D97-AF65-F5344CB8AC3E}">
        <p14:creationId xmlns:p14="http://schemas.microsoft.com/office/powerpoint/2010/main" val="1565395876"/>
      </p:ext>
    </p:extLst>
  </p:cSld>
</p:sld>
</file>

<file path=ppt/slides/slide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3E84C75-D1C7-4F59-A9C1-08D9BBF0624C}"/>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Qué se lee en las gráficas</a:t>
            </a:r>
          </a:p>
        </p:txBody>
      </p:sp>
      <p:pic>
        <p:nvPicPr>
          <p:cNvPr id="2" name="">
            <a:extLst xmlns:a="http://schemas.openxmlformats.org/drawingml/2006/main">
              <a:ext uri="{FF2B5EF4-FFF2-40B4-BE49-F238E27FC236}">
                <a16:creationId xmlns:a16="http://schemas.microsoft.com/office/drawing/2014/main" id="{FD9D379A-9E29-4C9C-8C88-9CCC4A809EFC}"/>
              </a:ext>
            </a:extLst>
          </p:cNvPr>
          <p:cNvPicPr>
            <a:picLocks xmlns:a="http://schemas.openxmlformats.org/drawingml/2006/main" noChangeAspect="1"/>
          </p:cNvPicPr>
          <p:nvPr/>
        </p:nvPicPr>
        <p:blipFill>
          <a:blip xmlns:r="http://schemas.openxmlformats.org/officeDocument/2006/relationships" xmlns:a="http://schemas.openxmlformats.org/drawingml/2006/main" r:embed="R8d057b723b124c7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784368A-8D32-45AC-9FCD-B7FCB22A53B5}"/>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09   07/24</a:t>
            </a:r>
          </a:p>
        </p:txBody>
      </p:sp>
      <p:graphicFrame>
        <p:nvGraphicFramePr>
          <p:cNvPr id="4" name="">
            <a:extLst xmlns:a="http://schemas.openxmlformats.org/drawingml/2006/main">
              <a:ext uri="{FF2B5EF4-FFF2-40B4-BE49-F238E27FC236}">
                <a16:creationId xmlns:a16="http://schemas.microsoft.com/office/drawing/2014/main" id="{E38F8A33-E8A2-412E-87E4-D8438F58BCD0}"/>
              </a:ext>
            </a:extLst>
          </p:cNvPr>
          <p:cNvGraphicFramePr/>
          <p:nvPr/>
        </p:nvGraphicFramePr>
        <p:xfrm>
          <a:off xmlns:a="http://schemas.openxmlformats.org/drawingml/2006/main" x="590550" y="1752600"/>
          <a:ext xmlns:a="http://schemas.openxmlformats.org/drawingml/2006/main" cx="11010900" cy="3590925"/>
        </p:xfrm>
        <a:graphic xmlns:a="http://schemas.openxmlformats.org/drawingml/2006/main">
          <a:graphicData uri="http://schemas.openxmlformats.org/drawingml/2006/table">
            <a:tbl>
              <a:tblPr/>
              <a:tblGrid>
                <a:gridCol w="5505450"/>
                <a:gridCol w="5505450"/>
              </a:tblGrid>
              <a:tr h="718185">
                <a:tc>
                  <a:txBody>
                    <a:bodyPr/>
                    <a:lstStyle/>
                    <a:p>
                      <a:r>
                        <a:rPr sz="2025" b="1">
                          <a:solidFill>
                            <a:srgbClr val="FFFFFF"/>
                          </a:solidFill>
                          <a:latin typeface="Arial"/>
                          <a:ea typeface="Arial"/>
                          <a:cs typeface="Arial"/>
                        </a:rPr>
                        <a:t>Variable</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Pregunta sencilla</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18185">
                <a:tc>
                  <a:txBody>
                    <a:bodyPr/>
                    <a:lstStyle/>
                    <a:p>
                      <a:r>
                        <a:rPr sz="2025" b="0">
                          <a:solidFill>
                            <a:srgbClr val="14231E"/>
                          </a:solidFill>
                          <a:latin typeface="Arial"/>
                          <a:ea typeface="Arial"/>
                          <a:cs typeface="Arial"/>
                        </a:rPr>
                        <a:t>Altura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¿Cuándo llega al punto más alto?</a:t>
                      </a:r>
                    </a:p>
                  </a:txBody>
                  <a:tcPr marL="91440" marR="91440" marT="45720" marB="45720">
                    <a:lnR w="9525">
                      <a:solidFill>
                        <a:srgbClr val="BFCEC3"/>
                      </a:solidFill>
                      <a:prstDash val="solid"/>
                    </a:lnR>
                    <a:lnB w="9525">
                      <a:solidFill>
                        <a:srgbClr val="BFCEC3"/>
                      </a:solidFill>
                      <a:prstDash val="solid"/>
                    </a:lnB>
                    <a:solidFill>
                      <a:srgbClr val="EAF3EC"/>
                    </a:solidFill>
                  </a:tcPr>
                </a:tc>
              </a:tr>
              <a:tr h="718185">
                <a:tc>
                  <a:txBody>
                    <a:bodyPr/>
                    <a:lstStyle/>
                    <a:p>
                      <a:r>
                        <a:rPr sz="2025" b="0">
                          <a:solidFill>
                            <a:srgbClr val="14231E"/>
                          </a:solidFill>
                          <a:latin typeface="Arial"/>
                          <a:ea typeface="Arial"/>
                          <a:cs typeface="Arial"/>
                        </a:rPr>
                        <a:t>Velocidad vertical</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¿Cuándo deja de subir?</a:t>
                      </a:r>
                    </a:p>
                  </a:txBody>
                  <a:tcPr marL="91440" marR="91440" marT="45720" marB="45720">
                    <a:lnR w="9525">
                      <a:solidFill>
                        <a:srgbClr val="BFCEC3"/>
                      </a:solidFill>
                      <a:prstDash val="solid"/>
                    </a:lnR>
                    <a:lnB w="9525">
                      <a:solidFill>
                        <a:srgbClr val="BFCEC3"/>
                      </a:solidFill>
                      <a:prstDash val="solid"/>
                    </a:lnB>
                    <a:solidFill>
                      <a:srgbClr val="FCFCF8"/>
                    </a:solidFill>
                  </a:tcPr>
                </a:tc>
              </a:tr>
              <a:tr h="718185">
                <a:tc>
                  <a:txBody>
                    <a:bodyPr/>
                    <a:lstStyle/>
                    <a:p>
                      <a:r>
                        <a:rPr sz="2025" b="0">
                          <a:solidFill>
                            <a:srgbClr val="14231E"/>
                          </a:solidFill>
                          <a:latin typeface="Arial"/>
                          <a:ea typeface="Arial"/>
                          <a:cs typeface="Arial"/>
                        </a:rPr>
                        <a:t>Empuje</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¿Cuándo termina la fase impulsada?</a:t>
                      </a:r>
                    </a:p>
                  </a:txBody>
                  <a:tcPr marL="91440" marR="91440" marT="45720" marB="45720">
                    <a:lnR w="9525">
                      <a:solidFill>
                        <a:srgbClr val="BFCEC3"/>
                      </a:solidFill>
                      <a:prstDash val="solid"/>
                    </a:lnR>
                    <a:lnB w="9525">
                      <a:solidFill>
                        <a:srgbClr val="BFCEC3"/>
                      </a:solidFill>
                      <a:prstDash val="solid"/>
                    </a:lnB>
                    <a:solidFill>
                      <a:srgbClr val="EAF3EC"/>
                    </a:solidFill>
                  </a:tcPr>
                </a:tc>
              </a:tr>
              <a:tr h="718185">
                <a:tc>
                  <a:txBody>
                    <a:bodyPr/>
                    <a:lstStyle/>
                    <a:p>
                      <a:r>
                        <a:rPr sz="2025" b="0">
                          <a:solidFill>
                            <a:srgbClr val="14231E"/>
                          </a:solidFill>
                          <a:latin typeface="Arial"/>
                          <a:ea typeface="Arial"/>
                          <a:cs typeface="Arial"/>
                        </a:rPr>
                        <a:t>Evento de recuperación</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¿Dónde aparece respecto al apogeo?</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1298712928"/>
      </p:ext>
    </p:extLst>
  </p:cSld>
</p:sld>
</file>

<file path=ppt/slides/slide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B6CC825-C6C5-41A7-B2C3-24E7BB654F47}"/>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Preparar una configuración identificada</a:t>
            </a:r>
          </a:p>
        </p:txBody>
      </p:sp>
      <p:pic>
        <p:nvPicPr>
          <p:cNvPr id="2" name="">
            <a:extLst xmlns:a="http://schemas.openxmlformats.org/drawingml/2006/main">
              <a:ext uri="{FF2B5EF4-FFF2-40B4-BE49-F238E27FC236}">
                <a16:creationId xmlns:a16="http://schemas.microsoft.com/office/drawing/2014/main" id="{4E406BF9-B778-4DA2-806F-B511ABD686D4}"/>
              </a:ext>
            </a:extLst>
          </p:cNvPr>
          <p:cNvPicPr>
            <a:picLocks xmlns:a="http://schemas.openxmlformats.org/drawingml/2006/main" noChangeAspect="1"/>
          </p:cNvPicPr>
          <p:nvPr/>
        </p:nvPicPr>
        <p:blipFill>
          <a:blip xmlns:r="http://schemas.openxmlformats.org/officeDocument/2006/relationships" xmlns:a="http://schemas.openxmlformats.org/drawingml/2006/main" r:embed="Rc1dd49e868a2420b"/>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C34CC03-229A-47CF-826B-93ACE3B9A2B6}"/>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09   08/24</a:t>
            </a:r>
          </a:p>
        </p:txBody>
      </p:sp>
      <p:sp>
        <p:nvSpPr>
          <p:cNvPr id="4" name="">
            <a:extLst xmlns:a="http://schemas.openxmlformats.org/drawingml/2006/main">
              <a:ext uri="{FF2B5EF4-FFF2-40B4-BE49-F238E27FC236}">
                <a16:creationId xmlns:a16="http://schemas.microsoft.com/office/drawing/2014/main" id="{71A6BB9B-94EB-409F-BA8B-081622A7954C}"/>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Una configuración relaciona el vehículo con un motor comercial y sus eventos. Debe tener un nombre que permita reconocer qué se simuló. Si cambias la nariz, la masa o el motor, conserva una versión diferente. Sobrescribir el archivo cada vez hace difícil explicar después por qué cambió una predicción.</a:t>
            </a:r>
          </a:p>
        </p:txBody>
      </p:sp>
    </p:spTree>
    <p:extLst>
      <p:ext uri="{BB962C8B-B14F-4D97-AF65-F5344CB8AC3E}">
        <p14:creationId xmlns:p14="http://schemas.microsoft.com/office/powerpoint/2010/main" val="1775616499"/>
      </p:ext>
    </p:extLst>
  </p:cSld>
</p:sld>
</file>

<file path=ppt/slides/slide9.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8EC7D96-2D67-4390-BBFE-704FA669E13C}"/>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Pregunta del equipo</a:t>
            </a:r>
          </a:p>
        </p:txBody>
      </p:sp>
      <p:pic>
        <p:nvPicPr>
          <p:cNvPr id="2" name="">
            <a:extLst xmlns:a="http://schemas.openxmlformats.org/drawingml/2006/main">
              <a:ext uri="{FF2B5EF4-FFF2-40B4-BE49-F238E27FC236}">
                <a16:creationId xmlns:a16="http://schemas.microsoft.com/office/drawing/2014/main" id="{4E1750DA-1CAC-41CF-B7D8-7431B82DF68D}"/>
              </a:ext>
            </a:extLst>
          </p:cNvPr>
          <p:cNvPicPr>
            <a:picLocks xmlns:a="http://schemas.openxmlformats.org/drawingml/2006/main" noChangeAspect="1"/>
          </p:cNvPicPr>
          <p:nvPr/>
        </p:nvPicPr>
        <p:blipFill>
          <a:blip xmlns:r="http://schemas.openxmlformats.org/officeDocument/2006/relationships" xmlns:a="http://schemas.openxmlformats.org/drawingml/2006/main" r:embed="R9f9419a9b56345a6"/>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D4701B0-4EC3-462A-99C4-566F921B52A5}"/>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5   CLASE 09   09/24</a:t>
            </a:r>
          </a:p>
        </p:txBody>
      </p:sp>
      <p:sp>
        <p:nvSpPr>
          <p:cNvPr id="4" name="">
            <a:extLst xmlns:a="http://schemas.openxmlformats.org/drawingml/2006/main">
              <a:ext uri="{FF2B5EF4-FFF2-40B4-BE49-F238E27FC236}">
                <a16:creationId xmlns:a16="http://schemas.microsoft.com/office/drawing/2014/main" id="{3012F05B-4462-4E93-A39C-B04087FA2423}"/>
              </a:ext>
            </a:extLst>
          </p:cNvPr>
          <p:cNvSpPr>
            <a:spLocks xmlns:a="http://schemas.openxmlformats.org/drawingml/2006/main" noGrp="1"/>
          </p:cNvSpPr>
          <p:nvPr/>
        </p:nvSpPr>
        <p:spPr>
          <a:xfrm xmlns:a="http://schemas.openxmlformats.org/drawingml/2006/main">
            <a:off x="590550" y="1800225"/>
            <a:ext cx="10715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AEF4BB"/>
                </a:solidFill>
                <a:latin typeface="Arial"/>
                <a:ea typeface="Arial"/>
                <a:cs typeface="Arial"/>
              </a:defRPr>
            </a:defPPr>
            <a:lvl1pPr>
              <a:defRPr sz="3075" b="1">
                <a:solidFill>
                  <a:srgbClr val="AEF4BB"/>
                </a:solidFill>
                <a:latin typeface="Arial"/>
                <a:ea typeface="Arial"/>
                <a:cs typeface="Arial"/>
              </a:defRPr>
            </a:lvl1pPr>
            <a:lvl2pPr>
              <a:defRPr sz="3075" b="1">
                <a:solidFill>
                  <a:srgbClr val="AEF4BB"/>
                </a:solidFill>
                <a:latin typeface="Arial"/>
                <a:ea typeface="Arial"/>
                <a:cs typeface="Arial"/>
              </a:defRPr>
            </a:lvl2pPr>
            <a:lvl3pPr>
              <a:defRPr sz="3075" b="1">
                <a:solidFill>
                  <a:srgbClr val="AEF4BB"/>
                </a:solidFill>
                <a:latin typeface="Arial"/>
                <a:ea typeface="Arial"/>
                <a:cs typeface="Arial"/>
              </a:defRPr>
            </a:lvl3pPr>
            <a:lvl4pPr>
              <a:defRPr sz="3075" b="1">
                <a:solidFill>
                  <a:srgbClr val="AEF4BB"/>
                </a:solidFill>
                <a:latin typeface="Arial"/>
                <a:ea typeface="Arial"/>
                <a:cs typeface="Arial"/>
              </a:defRPr>
            </a:lvl4pPr>
            <a:lvl5pPr>
              <a:defRPr sz="3075" b="1">
                <a:solidFill>
                  <a:srgbClr val="AEF4BB"/>
                </a:solidFill>
                <a:latin typeface="Arial"/>
                <a:ea typeface="Arial"/>
                <a:cs typeface="Arial"/>
              </a:defRPr>
            </a:lvl5pPr>
            <a:lvl6pPr>
              <a:defRPr sz="3075" b="1">
                <a:solidFill>
                  <a:srgbClr val="AEF4BB"/>
                </a:solidFill>
                <a:latin typeface="Arial"/>
                <a:ea typeface="Arial"/>
                <a:cs typeface="Arial"/>
              </a:defRPr>
            </a:lvl6pPr>
            <a:lvl7pPr>
              <a:defRPr sz="3075" b="1">
                <a:solidFill>
                  <a:srgbClr val="AEF4BB"/>
                </a:solidFill>
                <a:latin typeface="Arial"/>
                <a:ea typeface="Arial"/>
                <a:cs typeface="Arial"/>
              </a:defRPr>
            </a:lvl7pPr>
            <a:lvl8pPr>
              <a:defRPr sz="3075" b="1">
                <a:solidFill>
                  <a:srgbClr val="AEF4BB"/>
                </a:solidFill>
                <a:latin typeface="Arial"/>
                <a:ea typeface="Arial"/>
                <a:cs typeface="Arial"/>
              </a:defRPr>
            </a:lvl8pPr>
            <a:lvl9pPr>
              <a:defRPr sz="3075" b="1">
                <a:solidFill>
                  <a:srgbClr val="AEF4BB"/>
                </a:solidFill>
                <a:latin typeface="Arial"/>
                <a:ea typeface="Arial"/>
                <a:cs typeface="Arial"/>
              </a:defRPr>
            </a:lvl9pPr>
          </a:lstStyle>
          <a:p xmlns:a="http://schemas.openxmlformats.org/drawingml/2006/main">
            <a:pPr>
              <a:defRPr sz="3075" b="1">
                <a:solidFill>
                  <a:srgbClr val="AEF4BB"/>
                </a:solidFill>
                <a:latin typeface="Arial"/>
                <a:ea typeface="Arial"/>
                <a:cs typeface="Arial"/>
              </a:defRPr>
            </a:pPr>
            <a:r>
              <a:rPr sz="3075" b="1">
                <a:solidFill>
                  <a:srgbClr val="AEF4BB"/>
                </a:solidFill>
                <a:latin typeface="Arial"/>
                <a:ea typeface="Arial"/>
                <a:cs typeface="Arial"/>
              </a:rPr>
              <a:t>¿Qué cambió desde la simulación anterior?</a:t>
            </a:r>
          </a:p>
        </p:txBody>
      </p:sp>
      <p:sp>
        <p:nvSpPr>
          <p:cNvPr id="5" name="">
            <a:extLst xmlns:a="http://schemas.openxmlformats.org/drawingml/2006/main">
              <a:ext uri="{FF2B5EF4-FFF2-40B4-BE49-F238E27FC236}">
                <a16:creationId xmlns:a16="http://schemas.microsoft.com/office/drawing/2014/main" id="{1A7A17CB-43EB-4372-94FA-9D18D112CB6B}"/>
              </a:ext>
            </a:extLst>
          </p:cNvPr>
          <p:cNvSpPr>
            <a:spLocks xmlns:a="http://schemas.openxmlformats.org/drawingml/2006/main" noGrp="1"/>
          </p:cNvSpPr>
          <p:nvPr/>
        </p:nvSpPr>
        <p:spPr>
          <a:xfrm xmlns:a="http://schemas.openxmlformats.org/drawingml/2006/main">
            <a:off x="590550" y="3800475"/>
            <a:ext cx="10715625"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CFCF8"/>
                </a:solidFill>
                <a:latin typeface="Arial"/>
                <a:ea typeface="Arial"/>
                <a:cs typeface="Arial"/>
              </a:defRPr>
            </a:defPPr>
            <a:lvl1pPr>
              <a:defRPr sz="2100" b="0">
                <a:solidFill>
                  <a:srgbClr val="FCFCF8"/>
                </a:solidFill>
                <a:latin typeface="Arial"/>
                <a:ea typeface="Arial"/>
                <a:cs typeface="Arial"/>
              </a:defRPr>
            </a:lvl1pPr>
            <a:lvl2pPr>
              <a:defRPr sz="2100" b="0">
                <a:solidFill>
                  <a:srgbClr val="FCFCF8"/>
                </a:solidFill>
                <a:latin typeface="Arial"/>
                <a:ea typeface="Arial"/>
                <a:cs typeface="Arial"/>
              </a:defRPr>
            </a:lvl2pPr>
            <a:lvl3pPr>
              <a:defRPr sz="2100" b="0">
                <a:solidFill>
                  <a:srgbClr val="FCFCF8"/>
                </a:solidFill>
                <a:latin typeface="Arial"/>
                <a:ea typeface="Arial"/>
                <a:cs typeface="Arial"/>
              </a:defRPr>
            </a:lvl3pPr>
            <a:lvl4pPr>
              <a:defRPr sz="2100" b="0">
                <a:solidFill>
                  <a:srgbClr val="FCFCF8"/>
                </a:solidFill>
                <a:latin typeface="Arial"/>
                <a:ea typeface="Arial"/>
                <a:cs typeface="Arial"/>
              </a:defRPr>
            </a:lvl4pPr>
            <a:lvl5pPr>
              <a:defRPr sz="2100" b="0">
                <a:solidFill>
                  <a:srgbClr val="FCFCF8"/>
                </a:solidFill>
                <a:latin typeface="Arial"/>
                <a:ea typeface="Arial"/>
                <a:cs typeface="Arial"/>
              </a:defRPr>
            </a:lvl5pPr>
            <a:lvl6pPr>
              <a:defRPr sz="2100" b="0">
                <a:solidFill>
                  <a:srgbClr val="FCFCF8"/>
                </a:solidFill>
                <a:latin typeface="Arial"/>
                <a:ea typeface="Arial"/>
                <a:cs typeface="Arial"/>
              </a:defRPr>
            </a:lvl6pPr>
            <a:lvl7pPr>
              <a:defRPr sz="2100" b="0">
                <a:solidFill>
                  <a:srgbClr val="FCFCF8"/>
                </a:solidFill>
                <a:latin typeface="Arial"/>
                <a:ea typeface="Arial"/>
                <a:cs typeface="Arial"/>
              </a:defRPr>
            </a:lvl7pPr>
            <a:lvl8pPr>
              <a:defRPr sz="2100" b="0">
                <a:solidFill>
                  <a:srgbClr val="FCFCF8"/>
                </a:solidFill>
                <a:latin typeface="Arial"/>
                <a:ea typeface="Arial"/>
                <a:cs typeface="Arial"/>
              </a:defRPr>
            </a:lvl8pPr>
            <a:lvl9pPr>
              <a:defRPr sz="2100" b="0">
                <a:solidFill>
                  <a:srgbClr val="FCFCF8"/>
                </a:solidFill>
                <a:latin typeface="Arial"/>
                <a:ea typeface="Arial"/>
                <a:cs typeface="Arial"/>
              </a:defRPr>
            </a:lvl9pPr>
          </a:lstStyle>
          <a:p xmlns:a="http://schemas.openxmlformats.org/drawingml/2006/main">
            <a:pPr>
              <a:defRPr sz="2100" b="0">
                <a:solidFill>
                  <a:srgbClr val="FCFCF8"/>
                </a:solidFill>
                <a:latin typeface="Arial"/>
                <a:ea typeface="Arial"/>
                <a:cs typeface="Arial"/>
              </a:defRPr>
            </a:pPr>
            <a:r>
              <a:rPr sz="2100" b="0">
                <a:solidFill>
                  <a:srgbClr val="FCFCF8"/>
                </a:solidFill>
                <a:latin typeface="Arial"/>
                <a:ea typeface="Arial"/>
                <a:cs typeface="Arial"/>
              </a:rPr>
              <a:t>El responsable revisa las condiciones operativas. El alumno aprende a representarlas y a detectar entradas incoherentes; no necesita decidir por su cuenta una condición de lanzamiento.</a:t>
            </a:r>
          </a:p>
        </p:txBody>
      </p:sp>
    </p:spTree>
    <p:extLst>
      <p:ext uri="{BB962C8B-B14F-4D97-AF65-F5344CB8AC3E}">
        <p14:creationId xmlns:p14="http://schemas.microsoft.com/office/powerpoint/2010/main" val="651369476"/>
      </p:ext>
    </p:extLst>
  </p:cSld>
</p:sld>
</file>

<file path=ppt/slides/slide1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61BB718-F055-4FDF-B4B9-FC77B66B5CAC}"/>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Preparar una configuración identificada</a:t>
            </a:r>
          </a:p>
        </p:txBody>
      </p:sp>
      <p:pic>
        <p:nvPicPr>
          <p:cNvPr id="2" name="">
            <a:extLst xmlns:a="http://schemas.openxmlformats.org/drawingml/2006/main">
              <a:ext uri="{FF2B5EF4-FFF2-40B4-BE49-F238E27FC236}">
                <a16:creationId xmlns:a16="http://schemas.microsoft.com/office/drawing/2014/main" id="{79221041-F326-43B5-8526-767283E8B8E7}"/>
              </a:ext>
            </a:extLst>
          </p:cNvPr>
          <p:cNvPicPr>
            <a:picLocks xmlns:a="http://schemas.openxmlformats.org/drawingml/2006/main" noChangeAspect="1"/>
          </p:cNvPicPr>
          <p:nvPr/>
        </p:nvPicPr>
        <p:blipFill>
          <a:blip xmlns:r="http://schemas.openxmlformats.org/officeDocument/2006/relationships" xmlns:a="http://schemas.openxmlformats.org/drawingml/2006/main" r:embed="R9722e929a0624dbc"/>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31C63F3-D5AE-4A2C-958D-D880B67EB29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09   10/24</a:t>
            </a:r>
          </a:p>
        </p:txBody>
      </p:sp>
      <p:sp>
        <p:nvSpPr>
          <p:cNvPr id="4" name="">
            <a:extLst xmlns:a="http://schemas.openxmlformats.org/drawingml/2006/main">
              <a:ext uri="{FF2B5EF4-FFF2-40B4-BE49-F238E27FC236}">
                <a16:creationId xmlns:a16="http://schemas.microsoft.com/office/drawing/2014/main" id="{10316148-8BC0-4A75-A6A3-3F19D8EB2D65}"/>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4231E"/>
                </a:solidFill>
                <a:latin typeface="Arial"/>
                <a:ea typeface="Arial"/>
                <a:cs typeface="Arial"/>
              </a:defRPr>
            </a:defPPr>
            <a:lvl1pPr>
              <a:defRPr sz="1950" b="0">
                <a:solidFill>
                  <a:srgbClr val="14231E"/>
                </a:solidFill>
                <a:latin typeface="Arial"/>
                <a:ea typeface="Arial"/>
                <a:cs typeface="Arial"/>
              </a:defRPr>
            </a:lvl1pPr>
            <a:lvl2pPr>
              <a:defRPr sz="1950" b="0">
                <a:solidFill>
                  <a:srgbClr val="14231E"/>
                </a:solidFill>
                <a:latin typeface="Arial"/>
                <a:ea typeface="Arial"/>
                <a:cs typeface="Arial"/>
              </a:defRPr>
            </a:lvl2pPr>
            <a:lvl3pPr>
              <a:defRPr sz="1950" b="0">
                <a:solidFill>
                  <a:srgbClr val="14231E"/>
                </a:solidFill>
                <a:latin typeface="Arial"/>
                <a:ea typeface="Arial"/>
                <a:cs typeface="Arial"/>
              </a:defRPr>
            </a:lvl3pPr>
            <a:lvl4pPr>
              <a:defRPr sz="1950" b="0">
                <a:solidFill>
                  <a:srgbClr val="14231E"/>
                </a:solidFill>
                <a:latin typeface="Arial"/>
                <a:ea typeface="Arial"/>
                <a:cs typeface="Arial"/>
              </a:defRPr>
            </a:lvl4pPr>
            <a:lvl5pPr>
              <a:defRPr sz="1950" b="0">
                <a:solidFill>
                  <a:srgbClr val="14231E"/>
                </a:solidFill>
                <a:latin typeface="Arial"/>
                <a:ea typeface="Arial"/>
                <a:cs typeface="Arial"/>
              </a:defRPr>
            </a:lvl5pPr>
            <a:lvl6pPr>
              <a:defRPr sz="1950" b="0">
                <a:solidFill>
                  <a:srgbClr val="14231E"/>
                </a:solidFill>
                <a:latin typeface="Arial"/>
                <a:ea typeface="Arial"/>
                <a:cs typeface="Arial"/>
              </a:defRPr>
            </a:lvl6pPr>
            <a:lvl7pPr>
              <a:defRPr sz="1950" b="0">
                <a:solidFill>
                  <a:srgbClr val="14231E"/>
                </a:solidFill>
                <a:latin typeface="Arial"/>
                <a:ea typeface="Arial"/>
                <a:cs typeface="Arial"/>
              </a:defRPr>
            </a:lvl7pPr>
            <a:lvl8pPr>
              <a:defRPr sz="1950" b="0">
                <a:solidFill>
                  <a:srgbClr val="14231E"/>
                </a:solidFill>
                <a:latin typeface="Arial"/>
                <a:ea typeface="Arial"/>
                <a:cs typeface="Arial"/>
              </a:defRPr>
            </a:lvl8pPr>
            <a:lvl9pPr>
              <a:defRPr sz="1950" b="0">
                <a:solidFill>
                  <a:srgbClr val="14231E"/>
                </a:solidFill>
                <a:latin typeface="Arial"/>
                <a:ea typeface="Arial"/>
                <a:cs typeface="Arial"/>
              </a:defRPr>
            </a:lvl9pPr>
          </a:lstStyle>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1. Guarda una copia del archivo revisado con nombre CONFIG_A.</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2. Selecciona el conjunto comercial indicado por el docente y comprueba su referencia completa.</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3. Verifica la representación de recuperación y los eventos que corresponden al sistema elegido.</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4. Registra las condiciones de la simulación. No uses valores por defecto sin leer qué significan.</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5. Describe la guía de salida utilizada por el equipo docente y su correspondencia en el modelo.</a:t>
            </a:r>
          </a:p>
        </p:txBody>
      </p:sp>
    </p:spTree>
    <p:extLst>
      <p:ext uri="{BB962C8B-B14F-4D97-AF65-F5344CB8AC3E}">
        <p14:creationId xmlns:p14="http://schemas.microsoft.com/office/powerpoint/2010/main" val="2109401956"/>
      </p:ext>
    </p:extLst>
  </p:cSld>
</p:sld>
</file>

<file path=ppt/slides/slide1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78A14A3-A327-4DEA-A714-7453499CA723}"/>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ejecutar, mirar y exportar</a:t>
            </a:r>
          </a:p>
        </p:txBody>
      </p:sp>
      <p:pic>
        <p:nvPicPr>
          <p:cNvPr id="2" name="">
            <a:extLst xmlns:a="http://schemas.openxmlformats.org/drawingml/2006/main">
              <a:ext uri="{FF2B5EF4-FFF2-40B4-BE49-F238E27FC236}">
                <a16:creationId xmlns:a16="http://schemas.microsoft.com/office/drawing/2014/main" id="{83E1BF74-BADF-4C85-ADC8-FE79C7A73F45}"/>
              </a:ext>
            </a:extLst>
          </p:cNvPr>
          <p:cNvPicPr>
            <a:picLocks xmlns:a="http://schemas.openxmlformats.org/drawingml/2006/main" noChangeAspect="1"/>
          </p:cNvPicPr>
          <p:nvPr/>
        </p:nvPicPr>
        <p:blipFill>
          <a:blip xmlns:r="http://schemas.openxmlformats.org/officeDocument/2006/relationships" xmlns:a="http://schemas.openxmlformats.org/drawingml/2006/main" r:embed="R2501092a4e7245d4"/>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937DF31-A073-4AFD-8BB9-91BF86314F9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09   11/24</a:t>
            </a:r>
          </a:p>
        </p:txBody>
      </p:sp>
      <p:sp>
        <p:nvSpPr>
          <p:cNvPr id="4" name="">
            <a:extLst xmlns:a="http://schemas.openxmlformats.org/drawingml/2006/main">
              <a:ext uri="{FF2B5EF4-FFF2-40B4-BE49-F238E27FC236}">
                <a16:creationId xmlns:a16="http://schemas.microsoft.com/office/drawing/2014/main" id="{FE0C1EEB-5F05-430B-9137-241E6EE74AD7}"/>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Las capturas de este material pertenecen al manual oficial. Cada equipo crea y ejecuta su propio archivo en clase. Una fila de apogeo aislada no sustituye la configuración ni las gráficas que permiten interpretarla. [OR3]</a:t>
            </a:r>
          </a:p>
        </p:txBody>
      </p:sp>
    </p:spTree>
    <p:extLst>
      <p:ext uri="{BB962C8B-B14F-4D97-AF65-F5344CB8AC3E}">
        <p14:creationId xmlns:p14="http://schemas.microsoft.com/office/powerpoint/2010/main" val="688792292"/>
      </p:ext>
    </p:extLst>
  </p:cSld>
</p:sld>
</file>

<file path=ppt/slides/slide1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0497D88-7012-4E0E-A50D-259D591E254F}"/>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ejecutar, mirar y exportar</a:t>
            </a:r>
          </a:p>
        </p:txBody>
      </p:sp>
      <p:pic>
        <p:nvPicPr>
          <p:cNvPr id="2" name="">
            <a:extLst xmlns:a="http://schemas.openxmlformats.org/drawingml/2006/main">
              <a:ext uri="{FF2B5EF4-FFF2-40B4-BE49-F238E27FC236}">
                <a16:creationId xmlns:a16="http://schemas.microsoft.com/office/drawing/2014/main" id="{35D88B63-31BC-47EB-8E3A-EC8F306A9234}"/>
              </a:ext>
            </a:extLst>
          </p:cNvPr>
          <p:cNvPicPr>
            <a:picLocks xmlns:a="http://schemas.openxmlformats.org/drawingml/2006/main" noChangeAspect="1"/>
          </p:cNvPicPr>
          <p:nvPr/>
        </p:nvPicPr>
        <p:blipFill>
          <a:blip xmlns:r="http://schemas.openxmlformats.org/officeDocument/2006/relationships" xmlns:a="http://schemas.openxmlformats.org/drawingml/2006/main" r:embed="Rcf39a4c3e67c45d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9B16A3A-B0CE-42B9-9DF1-145F15FE4940}"/>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09   12/24</a:t>
            </a:r>
          </a:p>
        </p:txBody>
      </p:sp>
      <p:pic>
        <p:nvPicPr>
          <p:cNvPr id="4" name="">
            <a:extLst xmlns:a="http://schemas.openxmlformats.org/drawingml/2006/main">
              <a:ext uri="{FF2B5EF4-FFF2-40B4-BE49-F238E27FC236}">
                <a16:creationId xmlns:a16="http://schemas.microsoft.com/office/drawing/2014/main" id="{A90DEDF0-4F15-4226-8BFE-A1D45AF2A996}"/>
              </a:ext>
            </a:extLst>
          </p:cNvPr>
          <p:cNvPicPr>
            <a:picLocks xmlns:a="http://schemas.openxmlformats.org/drawingml/2006/main" noChangeAspect="1"/>
          </p:cNvPicPr>
          <p:nvPr/>
        </p:nvPicPr>
        <p:blipFill>
          <a:blip xmlns:r="http://schemas.openxmlformats.org/officeDocument/2006/relationships" xmlns:a="http://schemas.openxmlformats.org/drawingml/2006/main" r:embed="R55fa7bab77764b1b"/>
          <a:stretch xmlns:a="http://schemas.openxmlformats.org/drawingml/2006/main"/>
        </p:blipFill>
        <p:spPr>
          <a:xfrm xmlns:a="http://schemas.openxmlformats.org/drawingml/2006/main">
            <a:off x="590550" y="1785113"/>
            <a:ext cx="7410450" cy="37259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FC9E626-39B1-47B6-915A-4A721C3A6092}"/>
              </a:ext>
            </a:extLst>
          </p:cNvPr>
          <p:cNvSpPr>
            <a:spLocks xmlns:a="http://schemas.openxmlformats.org/drawingml/2006/main" noGrp="1"/>
          </p:cNvSpPr>
          <p:nvPr/>
        </p:nvSpPr>
        <p:spPr>
          <a:xfrm xmlns:a="http://schemas.openxmlformats.org/drawingml/2006/main">
            <a:off x="8315325" y="1781175"/>
            <a:ext cx="3248025" cy="3590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244F3D"/>
                </a:solidFill>
                <a:latin typeface="Arial"/>
                <a:ea typeface="Arial"/>
                <a:cs typeface="Arial"/>
              </a:defRPr>
            </a:defPPr>
            <a:lvl1pPr>
              <a:defRPr sz="2325" b="1">
                <a:solidFill>
                  <a:srgbClr val="244F3D"/>
                </a:solidFill>
                <a:latin typeface="Arial"/>
                <a:ea typeface="Arial"/>
                <a:cs typeface="Arial"/>
              </a:defRPr>
            </a:lvl1pPr>
            <a:lvl2pPr>
              <a:defRPr sz="2325" b="1">
                <a:solidFill>
                  <a:srgbClr val="244F3D"/>
                </a:solidFill>
                <a:latin typeface="Arial"/>
                <a:ea typeface="Arial"/>
                <a:cs typeface="Arial"/>
              </a:defRPr>
            </a:lvl2pPr>
            <a:lvl3pPr>
              <a:defRPr sz="2325" b="1">
                <a:solidFill>
                  <a:srgbClr val="244F3D"/>
                </a:solidFill>
                <a:latin typeface="Arial"/>
                <a:ea typeface="Arial"/>
                <a:cs typeface="Arial"/>
              </a:defRPr>
            </a:lvl3pPr>
            <a:lvl4pPr>
              <a:defRPr sz="2325" b="1">
                <a:solidFill>
                  <a:srgbClr val="244F3D"/>
                </a:solidFill>
                <a:latin typeface="Arial"/>
                <a:ea typeface="Arial"/>
                <a:cs typeface="Arial"/>
              </a:defRPr>
            </a:lvl4pPr>
            <a:lvl5pPr>
              <a:defRPr sz="2325" b="1">
                <a:solidFill>
                  <a:srgbClr val="244F3D"/>
                </a:solidFill>
                <a:latin typeface="Arial"/>
                <a:ea typeface="Arial"/>
                <a:cs typeface="Arial"/>
              </a:defRPr>
            </a:lvl5pPr>
            <a:lvl6pPr>
              <a:defRPr sz="2325" b="1">
                <a:solidFill>
                  <a:srgbClr val="244F3D"/>
                </a:solidFill>
                <a:latin typeface="Arial"/>
                <a:ea typeface="Arial"/>
                <a:cs typeface="Arial"/>
              </a:defRPr>
            </a:lvl6pPr>
            <a:lvl7pPr>
              <a:defRPr sz="2325" b="1">
                <a:solidFill>
                  <a:srgbClr val="244F3D"/>
                </a:solidFill>
                <a:latin typeface="Arial"/>
                <a:ea typeface="Arial"/>
                <a:cs typeface="Arial"/>
              </a:defRPr>
            </a:lvl7pPr>
            <a:lvl8pPr>
              <a:defRPr sz="2325" b="1">
                <a:solidFill>
                  <a:srgbClr val="244F3D"/>
                </a:solidFill>
                <a:latin typeface="Arial"/>
                <a:ea typeface="Arial"/>
                <a:cs typeface="Arial"/>
              </a:defRPr>
            </a:lvl8pPr>
            <a:lvl9pPr>
              <a:defRPr sz="2325" b="1">
                <a:solidFill>
                  <a:srgbClr val="244F3D"/>
                </a:solidFill>
                <a:latin typeface="Arial"/>
                <a:ea typeface="Arial"/>
                <a:cs typeface="Arial"/>
              </a:defRPr>
            </a:lvl9pPr>
          </a:lstStyle>
          <a:p xmlns:a="http://schemas.openxmlformats.org/drawingml/2006/main">
            <a:pPr>
              <a:defRPr sz="2325" b="1">
                <a:solidFill>
                  <a:srgbClr val="244F3D"/>
                </a:solidFill>
                <a:latin typeface="Arial"/>
                <a:ea typeface="Arial"/>
                <a:cs typeface="Arial"/>
              </a:defRPr>
            </a:pPr>
            <a:r>
              <a:rPr sz="2325" b="1">
                <a:solidFill>
                  <a:srgbClr val="244F3D"/>
                </a:solidFill>
                <a:latin typeface="Arial"/>
                <a:ea typeface="Arial"/>
                <a:cs typeface="Arial"/>
              </a:rPr>
              <a:t>¿Qué evento buscarás en Plot / Export?</a:t>
            </a:r>
          </a:p>
        </p:txBody>
      </p:sp>
      <p:sp>
        <p:nvSpPr>
          <p:cNvPr id="6" name="">
            <a:extLst xmlns:a="http://schemas.openxmlformats.org/drawingml/2006/main">
              <a:ext uri="{FF2B5EF4-FFF2-40B4-BE49-F238E27FC236}">
                <a16:creationId xmlns:a16="http://schemas.microsoft.com/office/drawing/2014/main" id="{B3B932B4-94A4-400A-BE9F-DDBC4FF35F64}"/>
              </a:ext>
            </a:extLst>
          </p:cNvPr>
          <p:cNvSpPr>
            <a:spLocks xmlns:a="http://schemas.openxmlformats.org/drawingml/2006/main" noGrp="1"/>
          </p:cNvSpPr>
          <p:nvPr/>
        </p:nvSpPr>
        <p:spPr>
          <a:xfrm xmlns:a="http://schemas.openxmlformats.org/drawingml/2006/main">
            <a:off x="590550" y="58483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8665F"/>
                </a:solidFill>
                <a:latin typeface="Arial"/>
                <a:ea typeface="Arial"/>
                <a:cs typeface="Arial"/>
              </a:defRPr>
            </a:defPPr>
            <a:lvl1pPr>
              <a:defRPr sz="1350" b="0">
                <a:solidFill>
                  <a:srgbClr val="58665F"/>
                </a:solidFill>
                <a:latin typeface="Arial"/>
                <a:ea typeface="Arial"/>
                <a:cs typeface="Arial"/>
              </a:defRPr>
            </a:lvl1pPr>
            <a:lvl2pPr>
              <a:defRPr sz="1350" b="0">
                <a:solidFill>
                  <a:srgbClr val="58665F"/>
                </a:solidFill>
                <a:latin typeface="Arial"/>
                <a:ea typeface="Arial"/>
                <a:cs typeface="Arial"/>
              </a:defRPr>
            </a:lvl2pPr>
            <a:lvl3pPr>
              <a:defRPr sz="1350" b="0">
                <a:solidFill>
                  <a:srgbClr val="58665F"/>
                </a:solidFill>
                <a:latin typeface="Arial"/>
                <a:ea typeface="Arial"/>
                <a:cs typeface="Arial"/>
              </a:defRPr>
            </a:lvl3pPr>
            <a:lvl4pPr>
              <a:defRPr sz="1350" b="0">
                <a:solidFill>
                  <a:srgbClr val="58665F"/>
                </a:solidFill>
                <a:latin typeface="Arial"/>
                <a:ea typeface="Arial"/>
                <a:cs typeface="Arial"/>
              </a:defRPr>
            </a:lvl4pPr>
            <a:lvl5pPr>
              <a:defRPr sz="1350" b="0">
                <a:solidFill>
                  <a:srgbClr val="58665F"/>
                </a:solidFill>
                <a:latin typeface="Arial"/>
                <a:ea typeface="Arial"/>
                <a:cs typeface="Arial"/>
              </a:defRPr>
            </a:lvl5pPr>
            <a:lvl6pPr>
              <a:defRPr sz="1350" b="0">
                <a:solidFill>
                  <a:srgbClr val="58665F"/>
                </a:solidFill>
                <a:latin typeface="Arial"/>
                <a:ea typeface="Arial"/>
                <a:cs typeface="Arial"/>
              </a:defRPr>
            </a:lvl6pPr>
            <a:lvl7pPr>
              <a:defRPr sz="1350" b="0">
                <a:solidFill>
                  <a:srgbClr val="58665F"/>
                </a:solidFill>
                <a:latin typeface="Arial"/>
                <a:ea typeface="Arial"/>
                <a:cs typeface="Arial"/>
              </a:defRPr>
            </a:lvl7pPr>
            <a:lvl8pPr>
              <a:defRPr sz="1350" b="0">
                <a:solidFill>
                  <a:srgbClr val="58665F"/>
                </a:solidFill>
                <a:latin typeface="Arial"/>
                <a:ea typeface="Arial"/>
                <a:cs typeface="Arial"/>
              </a:defRPr>
            </a:lvl8pPr>
            <a:lvl9pPr>
              <a:defRPr sz="1350" b="0">
                <a:solidFill>
                  <a:srgbClr val="58665F"/>
                </a:solidFill>
                <a:latin typeface="Arial"/>
                <a:ea typeface="Arial"/>
                <a:cs typeface="Arial"/>
              </a:defRPr>
            </a:lvl9pPr>
          </a:lstStyle>
          <a:p xmlns:a="http://schemas.openxmlformats.org/drawingml/2006/main">
            <a:pPr>
              <a:defRPr sz="1350" b="0">
                <a:solidFill>
                  <a:srgbClr val="58665F"/>
                </a:solidFill>
                <a:latin typeface="Arial"/>
                <a:ea typeface="Arial"/>
                <a:cs typeface="Arial"/>
              </a:defRPr>
            </a:pPr>
            <a:r>
              <a:rPr sz="1350" b="0">
                <a:solidFill>
                  <a:srgbClr val="58665F"/>
                </a:solidFill>
                <a:latin typeface="Arial"/>
                <a:ea typeface="Arial"/>
                <a:cs typeface="Arial"/>
              </a:rPr>
              <a:t>Botón Plot / Export en la documentación de OpenRocket. Permite pasar de la fila de resultados a las variables del vuelo.</a:t>
            </a:r>
          </a:p>
        </p:txBody>
      </p:sp>
    </p:spTree>
    <p:extLst>
      <p:ext uri="{BB962C8B-B14F-4D97-AF65-F5344CB8AC3E}">
        <p14:creationId xmlns:p14="http://schemas.microsoft.com/office/powerpoint/2010/main" val="968719065"/>
      </p:ext>
    </p:extLst>
  </p:cSld>
</p:sld>
</file>

<file path=ppt/slides/slide1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37405AB-0724-4F22-AEE1-CA609A51960E}"/>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ejecutar, mirar y exportar</a:t>
            </a:r>
          </a:p>
        </p:txBody>
      </p:sp>
      <p:pic>
        <p:nvPicPr>
          <p:cNvPr id="2" name="">
            <a:extLst xmlns:a="http://schemas.openxmlformats.org/drawingml/2006/main">
              <a:ext uri="{FF2B5EF4-FFF2-40B4-BE49-F238E27FC236}">
                <a16:creationId xmlns:a16="http://schemas.microsoft.com/office/drawing/2014/main" id="{04F5194A-E195-409D-8FB7-39041B05B4C1}"/>
              </a:ext>
            </a:extLst>
          </p:cNvPr>
          <p:cNvPicPr>
            <a:picLocks xmlns:a="http://schemas.openxmlformats.org/drawingml/2006/main" noChangeAspect="1"/>
          </p:cNvPicPr>
          <p:nvPr/>
        </p:nvPicPr>
        <p:blipFill>
          <a:blip xmlns:r="http://schemas.openxmlformats.org/officeDocument/2006/relationships" xmlns:a="http://schemas.openxmlformats.org/drawingml/2006/main" r:embed="R56fc2ef4d1f749a9"/>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C277112-328B-4FCD-AE37-87199B2B6361}"/>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09   13/24</a:t>
            </a:r>
          </a:p>
        </p:txBody>
      </p:sp>
      <p:sp>
        <p:nvSpPr>
          <p:cNvPr id="4" name="">
            <a:extLst xmlns:a="http://schemas.openxmlformats.org/drawingml/2006/main">
              <a:ext uri="{FF2B5EF4-FFF2-40B4-BE49-F238E27FC236}">
                <a16:creationId xmlns:a16="http://schemas.microsoft.com/office/drawing/2014/main" id="{0410CB16-F946-49E5-89BB-4A38735487FF}"/>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4231E"/>
                </a:solidFill>
                <a:latin typeface="Arial"/>
                <a:ea typeface="Arial"/>
                <a:cs typeface="Arial"/>
              </a:defRPr>
            </a:defPPr>
            <a:lvl1pPr>
              <a:defRPr sz="1950" b="0">
                <a:solidFill>
                  <a:srgbClr val="14231E"/>
                </a:solidFill>
                <a:latin typeface="Arial"/>
                <a:ea typeface="Arial"/>
                <a:cs typeface="Arial"/>
              </a:defRPr>
            </a:lvl1pPr>
            <a:lvl2pPr>
              <a:defRPr sz="1950" b="0">
                <a:solidFill>
                  <a:srgbClr val="14231E"/>
                </a:solidFill>
                <a:latin typeface="Arial"/>
                <a:ea typeface="Arial"/>
                <a:cs typeface="Arial"/>
              </a:defRPr>
            </a:lvl2pPr>
            <a:lvl3pPr>
              <a:defRPr sz="1950" b="0">
                <a:solidFill>
                  <a:srgbClr val="14231E"/>
                </a:solidFill>
                <a:latin typeface="Arial"/>
                <a:ea typeface="Arial"/>
                <a:cs typeface="Arial"/>
              </a:defRPr>
            </a:lvl3pPr>
            <a:lvl4pPr>
              <a:defRPr sz="1950" b="0">
                <a:solidFill>
                  <a:srgbClr val="14231E"/>
                </a:solidFill>
                <a:latin typeface="Arial"/>
                <a:ea typeface="Arial"/>
                <a:cs typeface="Arial"/>
              </a:defRPr>
            </a:lvl4pPr>
            <a:lvl5pPr>
              <a:defRPr sz="1950" b="0">
                <a:solidFill>
                  <a:srgbClr val="14231E"/>
                </a:solidFill>
                <a:latin typeface="Arial"/>
                <a:ea typeface="Arial"/>
                <a:cs typeface="Arial"/>
              </a:defRPr>
            </a:lvl5pPr>
            <a:lvl6pPr>
              <a:defRPr sz="1950" b="0">
                <a:solidFill>
                  <a:srgbClr val="14231E"/>
                </a:solidFill>
                <a:latin typeface="Arial"/>
                <a:ea typeface="Arial"/>
                <a:cs typeface="Arial"/>
              </a:defRPr>
            </a:lvl6pPr>
            <a:lvl7pPr>
              <a:defRPr sz="1950" b="0">
                <a:solidFill>
                  <a:srgbClr val="14231E"/>
                </a:solidFill>
                <a:latin typeface="Arial"/>
                <a:ea typeface="Arial"/>
                <a:cs typeface="Arial"/>
              </a:defRPr>
            </a:lvl7pPr>
            <a:lvl8pPr>
              <a:defRPr sz="1950" b="0">
                <a:solidFill>
                  <a:srgbClr val="14231E"/>
                </a:solidFill>
                <a:latin typeface="Arial"/>
                <a:ea typeface="Arial"/>
                <a:cs typeface="Arial"/>
              </a:defRPr>
            </a:lvl8pPr>
            <a:lvl9pPr>
              <a:defRPr sz="1950" b="0">
                <a:solidFill>
                  <a:srgbClr val="14231E"/>
                </a:solidFill>
                <a:latin typeface="Arial"/>
                <a:ea typeface="Arial"/>
                <a:cs typeface="Arial"/>
              </a:defRPr>
            </a:lvl9pPr>
          </a:lstStyle>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1. Crea o edita la simulación correspondiente a CONFIG_A y revisa las condiciones de entrada.</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2. Ejecuta según la interfaz de la versión instalada y lee avisos antes de aceptar los resultados.</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3. Abre Plot / Export y elige tiempo en el eje horizontal.</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4. Representa altura y velocidad vertical con sus unidades. Activa las marcas de eventos relevantes.</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5. Anota apogeo, fin de empuje y evento de recuperación. Comprueba que pertenecen a la misma simulación.</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6. Exporta un CSV con tiempo, variables seleccionadas y las condiciones guardadas en el expediente.</a:t>
            </a:r>
          </a:p>
        </p:txBody>
      </p:sp>
    </p:spTree>
    <p:extLst>
      <p:ext uri="{BB962C8B-B14F-4D97-AF65-F5344CB8AC3E}">
        <p14:creationId xmlns:p14="http://schemas.microsoft.com/office/powerpoint/2010/main" val="945153105"/>
      </p:ext>
    </p:extLst>
  </p:cSld>
</p:sld>
</file>

<file path=ppt/slides/slide1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C760D93-6086-44E9-88C0-A36CCFBA19AC}"/>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Una comparación que no mezcle cambios</a:t>
            </a:r>
          </a:p>
        </p:txBody>
      </p:sp>
      <p:pic>
        <p:nvPicPr>
          <p:cNvPr id="2" name="">
            <a:extLst xmlns:a="http://schemas.openxmlformats.org/drawingml/2006/main">
              <a:ext uri="{FF2B5EF4-FFF2-40B4-BE49-F238E27FC236}">
                <a16:creationId xmlns:a16="http://schemas.microsoft.com/office/drawing/2014/main" id="{E227ECFD-DF2A-4CCC-ABC8-80202C114133}"/>
              </a:ext>
            </a:extLst>
          </p:cNvPr>
          <p:cNvPicPr>
            <a:picLocks xmlns:a="http://schemas.openxmlformats.org/drawingml/2006/main" noChangeAspect="1"/>
          </p:cNvPicPr>
          <p:nvPr/>
        </p:nvPicPr>
        <p:blipFill>
          <a:blip xmlns:r="http://schemas.openxmlformats.org/officeDocument/2006/relationships" xmlns:a="http://schemas.openxmlformats.org/drawingml/2006/main" r:embed="Rdabaeb0eb9e8460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FC86667-5B0A-4BA8-AFB6-BD429A2B0AB2}"/>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09   14/24</a:t>
            </a:r>
          </a:p>
        </p:txBody>
      </p:sp>
      <p:sp>
        <p:nvSpPr>
          <p:cNvPr id="4" name="">
            <a:extLst xmlns:a="http://schemas.openxmlformats.org/drawingml/2006/main">
              <a:ext uri="{FF2B5EF4-FFF2-40B4-BE49-F238E27FC236}">
                <a16:creationId xmlns:a16="http://schemas.microsoft.com/office/drawing/2014/main" id="{5A4DD2E0-50C9-45A3-BDDF-411772AE345B}"/>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Para comparar narices o aletas, comienza con una copia del modelo completo. Conserva motor, condiciones y entradas comunes. Si el cambio de geometría implica otra masa real, puedes estudiar dos preguntas: el cambio geométrico idealizado y el cambio del objeto que realmente fabricarías. Debes indicar cuál estás respondiendo.</a:t>
            </a:r>
          </a:p>
        </p:txBody>
      </p:sp>
    </p:spTree>
    <p:extLst>
      <p:ext uri="{BB962C8B-B14F-4D97-AF65-F5344CB8AC3E}">
        <p14:creationId xmlns:p14="http://schemas.microsoft.com/office/powerpoint/2010/main" val="1427444649"/>
      </p:ext>
    </p:extLst>
  </p:cSld>
</p:sld>
</file>

<file path=ppt/slides/slide1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D4F1626-BC25-45F3-9F43-130D10FBD25D}"/>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Registro de la comparación</a:t>
            </a:r>
          </a:p>
        </p:txBody>
      </p:sp>
      <p:pic>
        <p:nvPicPr>
          <p:cNvPr id="2" name="">
            <a:extLst xmlns:a="http://schemas.openxmlformats.org/drawingml/2006/main">
              <a:ext uri="{FF2B5EF4-FFF2-40B4-BE49-F238E27FC236}">
                <a16:creationId xmlns:a16="http://schemas.microsoft.com/office/drawing/2014/main" id="{6AB61FDD-5522-4216-8D90-3E68C45A7425}"/>
              </a:ext>
            </a:extLst>
          </p:cNvPr>
          <p:cNvPicPr>
            <a:picLocks xmlns:a="http://schemas.openxmlformats.org/drawingml/2006/main" noChangeAspect="1"/>
          </p:cNvPicPr>
          <p:nvPr/>
        </p:nvPicPr>
        <p:blipFill>
          <a:blip xmlns:r="http://schemas.openxmlformats.org/officeDocument/2006/relationships" xmlns:a="http://schemas.openxmlformats.org/drawingml/2006/main" r:embed="R862489f37cf6425c"/>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D9C7618-338C-4001-BB51-DDD60E110A5B}"/>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09   15/24</a:t>
            </a:r>
          </a:p>
        </p:txBody>
      </p:sp>
      <p:graphicFrame>
        <p:nvGraphicFramePr>
          <p:cNvPr id="4" name="">
            <a:extLst xmlns:a="http://schemas.openxmlformats.org/drawingml/2006/main">
              <a:ext uri="{FF2B5EF4-FFF2-40B4-BE49-F238E27FC236}">
                <a16:creationId xmlns:a16="http://schemas.microsoft.com/office/drawing/2014/main" id="{B091378A-F31A-445D-BD5D-CEE0A10AEAA1}"/>
              </a:ext>
            </a:extLst>
          </p:cNvPr>
          <p:cNvGraphicFramePr/>
          <p:nvPr/>
        </p:nvGraphicFramePr>
        <p:xfrm>
          <a:off xmlns:a="http://schemas.openxmlformats.org/drawingml/2006/main" x="590550" y="1752600"/>
          <a:ext xmlns:a="http://schemas.openxmlformats.org/drawingml/2006/main" cx="11010900" cy="3952875"/>
        </p:xfrm>
        <a:graphic xmlns:a="http://schemas.openxmlformats.org/drawingml/2006/main">
          <a:graphicData uri="http://schemas.openxmlformats.org/drawingml/2006/table">
            <a:tbl>
              <a:tblPr/>
              <a:tblGrid>
                <a:gridCol w="2143125"/>
                <a:gridCol w="4524375"/>
                <a:gridCol w="4343400"/>
              </a:tblGrid>
              <a:tr h="658813">
                <a:tc>
                  <a:txBody>
                    <a:bodyPr/>
                    <a:lstStyle/>
                    <a:p>
                      <a:r>
                        <a:rPr sz="2025" b="1">
                          <a:solidFill>
                            <a:srgbClr val="FFFFFF"/>
                          </a:solidFill>
                          <a:latin typeface="Arial"/>
                          <a:ea typeface="Arial"/>
                          <a:cs typeface="Arial"/>
                        </a:rPr>
                        <a:t>Dato</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A</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B</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658813">
                <a:tc>
                  <a:txBody>
                    <a:bodyPr/>
                    <a:lstStyle/>
                    <a:p>
                      <a:r>
                        <a:rPr sz="2025" b="0">
                          <a:solidFill>
                            <a:srgbClr val="14231E"/>
                          </a:solidFill>
                          <a:latin typeface="Arial"/>
                          <a:ea typeface="Arial"/>
                          <a:cs typeface="Arial"/>
                        </a:rPr>
                        <a:t>Archivo y revisión</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Identificar</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Identificar</a:t>
                      </a:r>
                    </a:p>
                  </a:txBody>
                  <a:tcPr marL="91440" marR="91440" marT="45720" marB="45720">
                    <a:lnR w="9525">
                      <a:solidFill>
                        <a:srgbClr val="BFCEC3"/>
                      </a:solidFill>
                      <a:prstDash val="solid"/>
                    </a:lnR>
                    <a:lnB w="9525">
                      <a:solidFill>
                        <a:srgbClr val="BFCEC3"/>
                      </a:solidFill>
                      <a:prstDash val="solid"/>
                    </a:lnB>
                    <a:solidFill>
                      <a:srgbClr val="EAF3EC"/>
                    </a:solidFill>
                  </a:tcPr>
                </a:tc>
              </a:tr>
              <a:tr h="658813">
                <a:tc>
                  <a:txBody>
                    <a:bodyPr/>
                    <a:lstStyle/>
                    <a:p>
                      <a:r>
                        <a:rPr sz="2025" b="0">
                          <a:solidFill>
                            <a:srgbClr val="14231E"/>
                          </a:solidFill>
                          <a:latin typeface="Arial"/>
                          <a:ea typeface="Arial"/>
                          <a:cs typeface="Arial"/>
                        </a:rPr>
                        <a:t>Cambio propuesto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Referencia</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Describir</a:t>
                      </a:r>
                    </a:p>
                  </a:txBody>
                  <a:tcPr marL="91440" marR="91440" marT="45720" marB="45720">
                    <a:lnR w="9525">
                      <a:solidFill>
                        <a:srgbClr val="BFCEC3"/>
                      </a:solidFill>
                      <a:prstDash val="solid"/>
                    </a:lnR>
                    <a:lnB w="9525">
                      <a:solidFill>
                        <a:srgbClr val="BFCEC3"/>
                      </a:solidFill>
                      <a:prstDash val="solid"/>
                    </a:lnB>
                    <a:solidFill>
                      <a:srgbClr val="FCFCF8"/>
                    </a:solidFill>
                  </a:tcPr>
                </a:tc>
              </a:tr>
              <a:tr h="658813">
                <a:tc>
                  <a:txBody>
                    <a:bodyPr/>
                    <a:lstStyle/>
                    <a:p>
                      <a:r>
                        <a:rPr sz="2025" b="0">
                          <a:solidFill>
                            <a:srgbClr val="14231E"/>
                          </a:solidFill>
                          <a:latin typeface="Arial"/>
                          <a:ea typeface="Arial"/>
                          <a:cs typeface="Arial"/>
                        </a:rPr>
                        <a:t>Motor y condiciones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Conservar</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Confirmar</a:t>
                      </a:r>
                    </a:p>
                  </a:txBody>
                  <a:tcPr marL="91440" marR="91440" marT="45720" marB="45720">
                    <a:lnR w="9525">
                      <a:solidFill>
                        <a:srgbClr val="BFCEC3"/>
                      </a:solidFill>
                      <a:prstDash val="solid"/>
                    </a:lnR>
                    <a:lnB w="9525">
                      <a:solidFill>
                        <a:srgbClr val="BFCEC3"/>
                      </a:solidFill>
                      <a:prstDash val="solid"/>
                    </a:lnB>
                    <a:solidFill>
                      <a:srgbClr val="EAF3EC"/>
                    </a:solidFill>
                  </a:tcPr>
                </a:tc>
              </a:tr>
              <a:tr h="658813">
                <a:tc>
                  <a:txBody>
                    <a:bodyPr/>
                    <a:lstStyle/>
                    <a:p>
                      <a:r>
                        <a:rPr sz="2025" b="0">
                          <a:solidFill>
                            <a:srgbClr val="14231E"/>
                          </a:solidFill>
                          <a:latin typeface="Arial"/>
                          <a:ea typeface="Arial"/>
                          <a:cs typeface="Arial"/>
                        </a:rPr>
                        <a:t>Masa y configuración</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Registrar</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Registrar</a:t>
                      </a:r>
                    </a:p>
                  </a:txBody>
                  <a:tcPr marL="91440" marR="91440" marT="45720" marB="45720">
                    <a:lnR w="9525">
                      <a:solidFill>
                        <a:srgbClr val="BFCEC3"/>
                      </a:solidFill>
                      <a:prstDash val="solid"/>
                    </a:lnR>
                    <a:lnB w="9525">
                      <a:solidFill>
                        <a:srgbClr val="BFCEC3"/>
                      </a:solidFill>
                      <a:prstDash val="solid"/>
                    </a:lnB>
                    <a:solidFill>
                      <a:srgbClr val="FCFCF8"/>
                    </a:solidFill>
                  </a:tcPr>
                </a:tc>
              </a:tr>
              <a:tr h="658813">
                <a:tc>
                  <a:txBody>
                    <a:bodyPr/>
                    <a:lstStyle/>
                    <a:p>
                      <a:r>
                        <a:rPr sz="2025" b="0">
                          <a:solidFill>
                            <a:srgbClr val="14231E"/>
                          </a:solidFill>
                          <a:latin typeface="Arial"/>
                          <a:ea typeface="Arial"/>
                          <a:cs typeface="Arial"/>
                        </a:rPr>
                        <a:t>Resultados y avisos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Exportar</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Exportar</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317630108"/>
      </p:ext>
    </p:extLst>
  </p:cSld>
</p:sld>
</file>

<file path=ppt/slides/slide16.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16105B5-4CCA-4642-BB83-859FA9EA5BE0}"/>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Dos predicciones parecidas</a:t>
            </a:r>
          </a:p>
        </p:txBody>
      </p:sp>
      <p:pic>
        <p:nvPicPr>
          <p:cNvPr id="2" name="">
            <a:extLst xmlns:a="http://schemas.openxmlformats.org/drawingml/2006/main">
              <a:ext uri="{FF2B5EF4-FFF2-40B4-BE49-F238E27FC236}">
                <a16:creationId xmlns:a16="http://schemas.microsoft.com/office/drawing/2014/main" id="{11C35CEB-E522-4EC7-9E02-1A7AE6719A41}"/>
              </a:ext>
            </a:extLst>
          </p:cNvPr>
          <p:cNvPicPr>
            <a:picLocks xmlns:a="http://schemas.openxmlformats.org/drawingml/2006/main" noChangeAspect="1"/>
          </p:cNvPicPr>
          <p:nvPr/>
        </p:nvPicPr>
        <p:blipFill>
          <a:blip xmlns:r="http://schemas.openxmlformats.org/officeDocument/2006/relationships" xmlns:a="http://schemas.openxmlformats.org/drawingml/2006/main" r:embed="Rbf00bfdeda3444c2"/>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0C55468-D053-4BAD-A6CA-642ED1886BBE}"/>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5   CLASE 09   16/24</a:t>
            </a:r>
          </a:p>
        </p:txBody>
      </p:sp>
      <p:sp>
        <p:nvSpPr>
          <p:cNvPr id="4" name="">
            <a:extLst xmlns:a="http://schemas.openxmlformats.org/drawingml/2006/main">
              <a:ext uri="{FF2B5EF4-FFF2-40B4-BE49-F238E27FC236}">
                <a16:creationId xmlns:a16="http://schemas.microsoft.com/office/drawing/2014/main" id="{0761978D-FA6A-4939-8945-B78D0B6AC989}"/>
              </a:ext>
            </a:extLst>
          </p:cNvPr>
          <p:cNvSpPr>
            <a:spLocks xmlns:a="http://schemas.openxmlformats.org/drawingml/2006/main" noGrp="1"/>
          </p:cNvSpPr>
          <p:nvPr/>
        </p:nvSpPr>
        <p:spPr>
          <a:xfrm xmlns:a="http://schemas.openxmlformats.org/drawingml/2006/main">
            <a:off x="590550" y="1809750"/>
            <a:ext cx="107156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Ejercicio: dos configuraciones didácticas predicen 80 y 82 m, pero la segunda también usa otro motor y otra masa.</a:t>
            </a:r>
          </a:p>
        </p:txBody>
      </p:sp>
      <p:sp>
        <p:nvSpPr>
          <p:cNvPr id="5" name="">
            <a:extLst xmlns:a="http://schemas.openxmlformats.org/drawingml/2006/main">
              <a:ext uri="{FF2B5EF4-FFF2-40B4-BE49-F238E27FC236}">
                <a16:creationId xmlns:a16="http://schemas.microsoft.com/office/drawing/2014/main" id="{E3F27C78-238E-4158-94E1-2306270E8679}"/>
              </a:ext>
            </a:extLst>
          </p:cNvPr>
          <p:cNvSpPr>
            <a:spLocks xmlns:a="http://schemas.openxmlformats.org/drawingml/2006/main" noGrp="1"/>
          </p:cNvSpPr>
          <p:nvPr/>
        </p:nvSpPr>
        <p:spPr>
          <a:xfrm xmlns:a="http://schemas.openxmlformats.org/drawingml/2006/main">
            <a:off x="590550" y="4629150"/>
            <a:ext cx="10715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¿A qué cambio puedes atribuir la diferencia?</a:t>
            </a:r>
          </a:p>
        </p:txBody>
      </p:sp>
    </p:spTree>
    <p:extLst>
      <p:ext uri="{BB962C8B-B14F-4D97-AF65-F5344CB8AC3E}">
        <p14:creationId xmlns:p14="http://schemas.microsoft.com/office/powerpoint/2010/main" val="1394463889"/>
      </p:ext>
    </p:extLst>
  </p:cSld>
</p:sld>
</file>

<file path=ppt/slides/slide1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ECFE376-8A73-4B99-840A-F42D16ABDF80}"/>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Interpretar sin prometer el vuelo real</a:t>
            </a:r>
          </a:p>
        </p:txBody>
      </p:sp>
      <p:pic>
        <p:nvPicPr>
          <p:cNvPr id="2" name="">
            <a:extLst xmlns:a="http://schemas.openxmlformats.org/drawingml/2006/main">
              <a:ext uri="{FF2B5EF4-FFF2-40B4-BE49-F238E27FC236}">
                <a16:creationId xmlns:a16="http://schemas.microsoft.com/office/drawing/2014/main" id="{1F2AD19C-1E44-4A69-A9B1-570F9A6930B2}"/>
              </a:ext>
            </a:extLst>
          </p:cNvPr>
          <p:cNvPicPr>
            <a:picLocks xmlns:a="http://schemas.openxmlformats.org/drawingml/2006/main" noChangeAspect="1"/>
          </p:cNvPicPr>
          <p:nvPr/>
        </p:nvPicPr>
        <p:blipFill>
          <a:blip xmlns:r="http://schemas.openxmlformats.org/officeDocument/2006/relationships" xmlns:a="http://schemas.openxmlformats.org/drawingml/2006/main" r:embed="R5f10b423c8a446be"/>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8B62824-0CAA-448F-B588-55364B60F6D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09   17/24</a:t>
            </a:r>
          </a:p>
        </p:txBody>
      </p:sp>
      <p:sp>
        <p:nvSpPr>
          <p:cNvPr id="4" name="">
            <a:extLst xmlns:a="http://schemas.openxmlformats.org/drawingml/2006/main">
              <a:ext uri="{FF2B5EF4-FFF2-40B4-BE49-F238E27FC236}">
                <a16:creationId xmlns:a16="http://schemas.microsoft.com/office/drawing/2014/main" id="{86F4C434-0182-4A54-84C5-16E55443A49D}"/>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El resultado de un simulador es una predicción. El objeto fabricado, el ambiente y la operación pueden diferir de las entradas. Por eso antes del vuelo se revisa la correspondencia entre archivo y conjunto final. Después se comparan observaciones que realmente se hayan registrado.</a:t>
            </a:r>
          </a:p>
        </p:txBody>
      </p:sp>
    </p:spTree>
    <p:extLst>
      <p:ext uri="{BB962C8B-B14F-4D97-AF65-F5344CB8AC3E}">
        <p14:creationId xmlns:p14="http://schemas.microsoft.com/office/powerpoint/2010/main" val="1246757398"/>
      </p:ext>
    </p:extLst>
  </p:cSld>
</p:sld>
</file>

<file path=ppt/slides/slide1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4CEBD99-B426-4230-9B0A-E10458E4089E}"/>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Interpretar sin prometer el vuelo real</a:t>
            </a:r>
          </a:p>
        </p:txBody>
      </p:sp>
      <p:pic>
        <p:nvPicPr>
          <p:cNvPr id="2" name="">
            <a:extLst xmlns:a="http://schemas.openxmlformats.org/drawingml/2006/main">
              <a:ext uri="{FF2B5EF4-FFF2-40B4-BE49-F238E27FC236}">
                <a16:creationId xmlns:a16="http://schemas.microsoft.com/office/drawing/2014/main" id="{42D6246D-3A6E-4946-9A4E-A5FD8308B502}"/>
              </a:ext>
            </a:extLst>
          </p:cNvPr>
          <p:cNvPicPr>
            <a:picLocks xmlns:a="http://schemas.openxmlformats.org/drawingml/2006/main" noChangeAspect="1"/>
          </p:cNvPicPr>
          <p:nvPr/>
        </p:nvPicPr>
        <p:blipFill>
          <a:blip xmlns:r="http://schemas.openxmlformats.org/officeDocument/2006/relationships" xmlns:a="http://schemas.openxmlformats.org/drawingml/2006/main" r:embed="Rcdffff03c5d243de"/>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6218F58-3084-4118-892E-286DFF18238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09   18/24</a:t>
            </a:r>
          </a:p>
        </p:txBody>
      </p:sp>
      <p:pic>
        <p:nvPicPr>
          <p:cNvPr id="4" name="">
            <a:extLst xmlns:a="http://schemas.openxmlformats.org/drawingml/2006/main">
              <a:ext uri="{FF2B5EF4-FFF2-40B4-BE49-F238E27FC236}">
                <a16:creationId xmlns:a16="http://schemas.microsoft.com/office/drawing/2014/main" id="{163431E4-0109-4364-9875-019D16E8C50B}"/>
              </a:ext>
            </a:extLst>
          </p:cNvPr>
          <p:cNvPicPr>
            <a:picLocks xmlns:a="http://schemas.openxmlformats.org/drawingml/2006/main" noChangeAspect="1"/>
          </p:cNvPicPr>
          <p:nvPr/>
        </p:nvPicPr>
        <p:blipFill>
          <a:blip xmlns:r="http://schemas.openxmlformats.org/officeDocument/2006/relationships" xmlns:a="http://schemas.openxmlformats.org/drawingml/2006/main" r:embed="R3924853293294bc4"/>
          <a:stretch xmlns:a="http://schemas.openxmlformats.org/drawingml/2006/main"/>
        </p:blipFill>
        <p:spPr>
          <a:xfrm xmlns:a="http://schemas.openxmlformats.org/drawingml/2006/main">
            <a:off x="1296566" y="1657350"/>
            <a:ext cx="5998418" cy="39814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A30CEE6-D85D-46F5-B66B-9FD3CDD1FF20}"/>
              </a:ext>
            </a:extLst>
          </p:cNvPr>
          <p:cNvSpPr>
            <a:spLocks xmlns:a="http://schemas.openxmlformats.org/drawingml/2006/main" noGrp="1"/>
          </p:cNvSpPr>
          <p:nvPr/>
        </p:nvSpPr>
        <p:spPr>
          <a:xfrm xmlns:a="http://schemas.openxmlformats.org/drawingml/2006/main">
            <a:off x="8315325" y="1781175"/>
            <a:ext cx="3248025" cy="3590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244F3D"/>
                </a:solidFill>
                <a:latin typeface="Arial"/>
                <a:ea typeface="Arial"/>
                <a:cs typeface="Arial"/>
              </a:defRPr>
            </a:defPPr>
            <a:lvl1pPr>
              <a:defRPr sz="2325" b="1">
                <a:solidFill>
                  <a:srgbClr val="244F3D"/>
                </a:solidFill>
                <a:latin typeface="Arial"/>
                <a:ea typeface="Arial"/>
                <a:cs typeface="Arial"/>
              </a:defRPr>
            </a:lvl1pPr>
            <a:lvl2pPr>
              <a:defRPr sz="2325" b="1">
                <a:solidFill>
                  <a:srgbClr val="244F3D"/>
                </a:solidFill>
                <a:latin typeface="Arial"/>
                <a:ea typeface="Arial"/>
                <a:cs typeface="Arial"/>
              </a:defRPr>
            </a:lvl2pPr>
            <a:lvl3pPr>
              <a:defRPr sz="2325" b="1">
                <a:solidFill>
                  <a:srgbClr val="244F3D"/>
                </a:solidFill>
                <a:latin typeface="Arial"/>
                <a:ea typeface="Arial"/>
                <a:cs typeface="Arial"/>
              </a:defRPr>
            </a:lvl3pPr>
            <a:lvl4pPr>
              <a:defRPr sz="2325" b="1">
                <a:solidFill>
                  <a:srgbClr val="244F3D"/>
                </a:solidFill>
                <a:latin typeface="Arial"/>
                <a:ea typeface="Arial"/>
                <a:cs typeface="Arial"/>
              </a:defRPr>
            </a:lvl4pPr>
            <a:lvl5pPr>
              <a:defRPr sz="2325" b="1">
                <a:solidFill>
                  <a:srgbClr val="244F3D"/>
                </a:solidFill>
                <a:latin typeface="Arial"/>
                <a:ea typeface="Arial"/>
                <a:cs typeface="Arial"/>
              </a:defRPr>
            </a:lvl5pPr>
            <a:lvl6pPr>
              <a:defRPr sz="2325" b="1">
                <a:solidFill>
                  <a:srgbClr val="244F3D"/>
                </a:solidFill>
                <a:latin typeface="Arial"/>
                <a:ea typeface="Arial"/>
                <a:cs typeface="Arial"/>
              </a:defRPr>
            </a:lvl6pPr>
            <a:lvl7pPr>
              <a:defRPr sz="2325" b="1">
                <a:solidFill>
                  <a:srgbClr val="244F3D"/>
                </a:solidFill>
                <a:latin typeface="Arial"/>
                <a:ea typeface="Arial"/>
                <a:cs typeface="Arial"/>
              </a:defRPr>
            </a:lvl7pPr>
            <a:lvl8pPr>
              <a:defRPr sz="2325" b="1">
                <a:solidFill>
                  <a:srgbClr val="244F3D"/>
                </a:solidFill>
                <a:latin typeface="Arial"/>
                <a:ea typeface="Arial"/>
                <a:cs typeface="Arial"/>
              </a:defRPr>
            </a:lvl8pPr>
            <a:lvl9pPr>
              <a:defRPr sz="2325" b="1">
                <a:solidFill>
                  <a:srgbClr val="244F3D"/>
                </a:solidFill>
                <a:latin typeface="Arial"/>
                <a:ea typeface="Arial"/>
                <a:cs typeface="Arial"/>
              </a:defRPr>
            </a:lvl9pPr>
          </a:lstStyle>
          <a:p xmlns:a="http://schemas.openxmlformats.org/drawingml/2006/main">
            <a:pPr>
              <a:defRPr sz="2325" b="1">
                <a:solidFill>
                  <a:srgbClr val="244F3D"/>
                </a:solidFill>
                <a:latin typeface="Arial"/>
                <a:ea typeface="Arial"/>
                <a:cs typeface="Arial"/>
              </a:defRPr>
            </a:pPr>
            <a:r>
              <a:rPr sz="2325" b="1">
                <a:solidFill>
                  <a:srgbClr val="244F3D"/>
                </a:solidFill>
                <a:latin typeface="Arial"/>
                <a:ea typeface="Arial"/>
                <a:cs typeface="Arial"/>
              </a:rPr>
              <a:t>¿Qué es predicción y qué es observación?</a:t>
            </a:r>
          </a:p>
        </p:txBody>
      </p:sp>
      <p:sp>
        <p:nvSpPr>
          <p:cNvPr id="6" name="">
            <a:extLst xmlns:a="http://schemas.openxmlformats.org/drawingml/2006/main">
              <a:ext uri="{FF2B5EF4-FFF2-40B4-BE49-F238E27FC236}">
                <a16:creationId xmlns:a16="http://schemas.microsoft.com/office/drawing/2014/main" id="{DC0BC6DC-BD25-4206-A8D9-DFF91FDCC700}"/>
              </a:ext>
            </a:extLst>
          </p:cNvPr>
          <p:cNvSpPr>
            <a:spLocks xmlns:a="http://schemas.openxmlformats.org/drawingml/2006/main" noGrp="1"/>
          </p:cNvSpPr>
          <p:nvPr/>
        </p:nvSpPr>
        <p:spPr>
          <a:xfrm xmlns:a="http://schemas.openxmlformats.org/drawingml/2006/main">
            <a:off x="590550" y="58483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8665F"/>
                </a:solidFill>
                <a:latin typeface="Arial"/>
                <a:ea typeface="Arial"/>
                <a:cs typeface="Arial"/>
              </a:defRPr>
            </a:defPPr>
            <a:lvl1pPr>
              <a:defRPr sz="1350" b="0">
                <a:solidFill>
                  <a:srgbClr val="58665F"/>
                </a:solidFill>
                <a:latin typeface="Arial"/>
                <a:ea typeface="Arial"/>
                <a:cs typeface="Arial"/>
              </a:defRPr>
            </a:lvl1pPr>
            <a:lvl2pPr>
              <a:defRPr sz="1350" b="0">
                <a:solidFill>
                  <a:srgbClr val="58665F"/>
                </a:solidFill>
                <a:latin typeface="Arial"/>
                <a:ea typeface="Arial"/>
                <a:cs typeface="Arial"/>
              </a:defRPr>
            </a:lvl2pPr>
            <a:lvl3pPr>
              <a:defRPr sz="1350" b="0">
                <a:solidFill>
                  <a:srgbClr val="58665F"/>
                </a:solidFill>
                <a:latin typeface="Arial"/>
                <a:ea typeface="Arial"/>
                <a:cs typeface="Arial"/>
              </a:defRPr>
            </a:lvl3pPr>
            <a:lvl4pPr>
              <a:defRPr sz="1350" b="0">
                <a:solidFill>
                  <a:srgbClr val="58665F"/>
                </a:solidFill>
                <a:latin typeface="Arial"/>
                <a:ea typeface="Arial"/>
                <a:cs typeface="Arial"/>
              </a:defRPr>
            </a:lvl4pPr>
            <a:lvl5pPr>
              <a:defRPr sz="1350" b="0">
                <a:solidFill>
                  <a:srgbClr val="58665F"/>
                </a:solidFill>
                <a:latin typeface="Arial"/>
                <a:ea typeface="Arial"/>
                <a:cs typeface="Arial"/>
              </a:defRPr>
            </a:lvl5pPr>
            <a:lvl6pPr>
              <a:defRPr sz="1350" b="0">
                <a:solidFill>
                  <a:srgbClr val="58665F"/>
                </a:solidFill>
                <a:latin typeface="Arial"/>
                <a:ea typeface="Arial"/>
                <a:cs typeface="Arial"/>
              </a:defRPr>
            </a:lvl6pPr>
            <a:lvl7pPr>
              <a:defRPr sz="1350" b="0">
                <a:solidFill>
                  <a:srgbClr val="58665F"/>
                </a:solidFill>
                <a:latin typeface="Arial"/>
                <a:ea typeface="Arial"/>
                <a:cs typeface="Arial"/>
              </a:defRPr>
            </a:lvl7pPr>
            <a:lvl8pPr>
              <a:defRPr sz="1350" b="0">
                <a:solidFill>
                  <a:srgbClr val="58665F"/>
                </a:solidFill>
                <a:latin typeface="Arial"/>
                <a:ea typeface="Arial"/>
                <a:cs typeface="Arial"/>
              </a:defRPr>
            </a:lvl8pPr>
            <a:lvl9pPr>
              <a:defRPr sz="1350" b="0">
                <a:solidFill>
                  <a:srgbClr val="58665F"/>
                </a:solidFill>
                <a:latin typeface="Arial"/>
                <a:ea typeface="Arial"/>
                <a:cs typeface="Arial"/>
              </a:defRPr>
            </a:lvl9pPr>
          </a:lstStyle>
          <a:p xmlns:a="http://schemas.openxmlformats.org/drawingml/2006/main">
            <a:pPr>
              <a:defRPr sz="1350" b="0">
                <a:solidFill>
                  <a:srgbClr val="58665F"/>
                </a:solidFill>
                <a:latin typeface="Arial"/>
                <a:ea typeface="Arial"/>
                <a:cs typeface="Arial"/>
              </a:defRPr>
            </a:pPr>
            <a:r>
              <a:rPr sz="1350" b="0">
                <a:solidFill>
                  <a:srgbClr val="58665F"/>
                </a:solidFill>
                <a:latin typeface="Arial"/>
                <a:ea typeface="Arial"/>
                <a:cs typeface="Arial"/>
              </a:rPr>
              <a:t>Gráfica del ejemplo oficial de OpenRocket. Los valores y curvas corresponden a ese ejemplo y se usan para aprender a leer eventos.</a:t>
            </a:r>
          </a:p>
        </p:txBody>
      </p:sp>
    </p:spTree>
    <p:extLst>
      <p:ext uri="{BB962C8B-B14F-4D97-AF65-F5344CB8AC3E}">
        <p14:creationId xmlns:p14="http://schemas.microsoft.com/office/powerpoint/2010/main" val="430565889"/>
      </p:ext>
    </p:extLst>
  </p:cSld>
</p:sld>
</file>

<file path=ppt/slides/slide19.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9EEA7EF-E113-48BD-816B-92F9A083CD58}"/>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Una frase que sí ayuda al docente</a:t>
            </a:r>
          </a:p>
        </p:txBody>
      </p:sp>
      <p:pic>
        <p:nvPicPr>
          <p:cNvPr id="2" name="">
            <a:extLst xmlns:a="http://schemas.openxmlformats.org/drawingml/2006/main">
              <a:ext uri="{FF2B5EF4-FFF2-40B4-BE49-F238E27FC236}">
                <a16:creationId xmlns:a16="http://schemas.microsoft.com/office/drawing/2014/main" id="{CA52EF3F-E9AC-43CB-B523-A8D97024298F}"/>
              </a:ext>
            </a:extLst>
          </p:cNvPr>
          <p:cNvPicPr>
            <a:picLocks xmlns:a="http://schemas.openxmlformats.org/drawingml/2006/main" noChangeAspect="1"/>
          </p:cNvPicPr>
          <p:nvPr/>
        </p:nvPicPr>
        <p:blipFill>
          <a:blip xmlns:r="http://schemas.openxmlformats.org/officeDocument/2006/relationships" xmlns:a="http://schemas.openxmlformats.org/drawingml/2006/main" r:embed="R5dec09fe04b3428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F35D70B-96DA-408B-A15B-F7303CB743CB}"/>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5   CLASE 09   19/24</a:t>
            </a:r>
          </a:p>
        </p:txBody>
      </p:sp>
      <p:sp>
        <p:nvSpPr>
          <p:cNvPr id="4" name="">
            <a:extLst xmlns:a="http://schemas.openxmlformats.org/drawingml/2006/main">
              <a:ext uri="{FF2B5EF4-FFF2-40B4-BE49-F238E27FC236}">
                <a16:creationId xmlns:a16="http://schemas.microsoft.com/office/drawing/2014/main" id="{601008E6-D7EC-4FE8-B571-1F5B6855F5A5}"/>
              </a:ext>
            </a:extLst>
          </p:cNvPr>
          <p:cNvSpPr>
            <a:spLocks xmlns:a="http://schemas.openxmlformats.org/drawingml/2006/main" noGrp="1"/>
          </p:cNvSpPr>
          <p:nvPr/>
        </p:nvSpPr>
        <p:spPr>
          <a:xfrm xmlns:a="http://schemas.openxmlformats.org/drawingml/2006/main">
            <a:off x="590550" y="1809750"/>
            <a:ext cx="107156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“En CONFIG_A, con estas entradas, el programa predice este evento. La masa del conjunto todavía debe actualizarse después del montaje”.</a:t>
            </a:r>
          </a:p>
        </p:txBody>
      </p:sp>
      <p:sp>
        <p:nvSpPr>
          <p:cNvPr id="5" name="">
            <a:extLst xmlns:a="http://schemas.openxmlformats.org/drawingml/2006/main">
              <a:ext uri="{FF2B5EF4-FFF2-40B4-BE49-F238E27FC236}">
                <a16:creationId xmlns:a16="http://schemas.microsoft.com/office/drawing/2014/main" id="{93D75E4A-98FF-484E-BFF3-3E65EBF4ED3A}"/>
              </a:ext>
            </a:extLst>
          </p:cNvPr>
          <p:cNvSpPr>
            <a:spLocks xmlns:a="http://schemas.openxmlformats.org/drawingml/2006/main" noGrp="1"/>
          </p:cNvSpPr>
          <p:nvPr/>
        </p:nvSpPr>
        <p:spPr>
          <a:xfrm xmlns:a="http://schemas.openxmlformats.org/drawingml/2006/main">
            <a:off x="590550" y="4629150"/>
            <a:ext cx="10715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¿Qué es predicción y qué es observación?</a:t>
            </a:r>
          </a:p>
        </p:txBody>
      </p:sp>
    </p:spTree>
    <p:extLst>
      <p:ext uri="{BB962C8B-B14F-4D97-AF65-F5344CB8AC3E}">
        <p14:creationId xmlns:p14="http://schemas.microsoft.com/office/powerpoint/2010/main" val="1736943464"/>
      </p:ext>
    </p:extLst>
  </p:cSld>
</p:sld>
</file>

<file path=ppt/slides/slide2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FC1E67B-A504-4BFE-93B0-619992BECF64}"/>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Trabajo guiado del equipo</a:t>
            </a:r>
          </a:p>
        </p:txBody>
      </p:sp>
      <p:pic>
        <p:nvPicPr>
          <p:cNvPr id="2" name="">
            <a:extLst xmlns:a="http://schemas.openxmlformats.org/drawingml/2006/main">
              <a:ext uri="{FF2B5EF4-FFF2-40B4-BE49-F238E27FC236}">
                <a16:creationId xmlns:a16="http://schemas.microsoft.com/office/drawing/2014/main" id="{676F26D1-5BD6-4528-800E-294E4D28A934}"/>
              </a:ext>
            </a:extLst>
          </p:cNvPr>
          <p:cNvPicPr>
            <a:picLocks xmlns:a="http://schemas.openxmlformats.org/drawingml/2006/main" noChangeAspect="1"/>
          </p:cNvPicPr>
          <p:nvPr/>
        </p:nvPicPr>
        <p:blipFill>
          <a:blip xmlns:r="http://schemas.openxmlformats.org/officeDocument/2006/relationships" xmlns:a="http://schemas.openxmlformats.org/drawingml/2006/main" r:embed="R25c64ae457b74132"/>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56D5AEE-0A64-43DC-B2FF-37152992C4E4}"/>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09   20/24</a:t>
            </a:r>
          </a:p>
        </p:txBody>
      </p:sp>
      <p:sp>
        <p:nvSpPr>
          <p:cNvPr id="4" name="">
            <a:extLst xmlns:a="http://schemas.openxmlformats.org/drawingml/2006/main">
              <a:ext uri="{FF2B5EF4-FFF2-40B4-BE49-F238E27FC236}">
                <a16:creationId xmlns:a16="http://schemas.microsoft.com/office/drawing/2014/main" id="{54897745-2FD2-4D24-A385-3981C5ED70CD}"/>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4231E"/>
                </a:solidFill>
                <a:latin typeface="Arial"/>
                <a:ea typeface="Arial"/>
                <a:cs typeface="Arial"/>
              </a:defRPr>
            </a:defPPr>
            <a:lvl1pPr>
              <a:defRPr sz="2250" b="0">
                <a:solidFill>
                  <a:srgbClr val="14231E"/>
                </a:solidFill>
                <a:latin typeface="Arial"/>
                <a:ea typeface="Arial"/>
                <a:cs typeface="Arial"/>
              </a:defRPr>
            </a:lvl1pPr>
            <a:lvl2pPr>
              <a:defRPr sz="2250" b="0">
                <a:solidFill>
                  <a:srgbClr val="14231E"/>
                </a:solidFill>
                <a:latin typeface="Arial"/>
                <a:ea typeface="Arial"/>
                <a:cs typeface="Arial"/>
              </a:defRPr>
            </a:lvl2pPr>
            <a:lvl3pPr>
              <a:defRPr sz="2250" b="0">
                <a:solidFill>
                  <a:srgbClr val="14231E"/>
                </a:solidFill>
                <a:latin typeface="Arial"/>
                <a:ea typeface="Arial"/>
                <a:cs typeface="Arial"/>
              </a:defRPr>
            </a:lvl3pPr>
            <a:lvl4pPr>
              <a:defRPr sz="2250" b="0">
                <a:solidFill>
                  <a:srgbClr val="14231E"/>
                </a:solidFill>
                <a:latin typeface="Arial"/>
                <a:ea typeface="Arial"/>
                <a:cs typeface="Arial"/>
              </a:defRPr>
            </a:lvl4pPr>
            <a:lvl5pPr>
              <a:defRPr sz="2250" b="0">
                <a:solidFill>
                  <a:srgbClr val="14231E"/>
                </a:solidFill>
                <a:latin typeface="Arial"/>
                <a:ea typeface="Arial"/>
                <a:cs typeface="Arial"/>
              </a:defRPr>
            </a:lvl5pPr>
            <a:lvl6pPr>
              <a:defRPr sz="2250" b="0">
                <a:solidFill>
                  <a:srgbClr val="14231E"/>
                </a:solidFill>
                <a:latin typeface="Arial"/>
                <a:ea typeface="Arial"/>
                <a:cs typeface="Arial"/>
              </a:defRPr>
            </a:lvl6pPr>
            <a:lvl7pPr>
              <a:defRPr sz="2250" b="0">
                <a:solidFill>
                  <a:srgbClr val="14231E"/>
                </a:solidFill>
                <a:latin typeface="Arial"/>
                <a:ea typeface="Arial"/>
                <a:cs typeface="Arial"/>
              </a:defRPr>
            </a:lvl7pPr>
            <a:lvl8pPr>
              <a:defRPr sz="2250" b="0">
                <a:solidFill>
                  <a:srgbClr val="14231E"/>
                </a:solidFill>
                <a:latin typeface="Arial"/>
                <a:ea typeface="Arial"/>
                <a:cs typeface="Arial"/>
              </a:defRPr>
            </a:lvl8pPr>
            <a:lvl9pPr>
              <a:defRPr sz="2250" b="0">
                <a:solidFill>
                  <a:srgbClr val="14231E"/>
                </a:solidFill>
                <a:latin typeface="Arial"/>
                <a:ea typeface="Arial"/>
                <a:cs typeface="Arial"/>
              </a:defRPr>
            </a:lvl9pPr>
          </a:lstStyle>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1. Revisar configuración y entradas del vehículo completo.</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2. Ejecutar una simulación guiada y leer avisos.</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3. Identificar fases y eventos en pocas variables.</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4. Exportar resultados y conservar sus condiciones.</a:t>
            </a:r>
          </a:p>
        </p:txBody>
      </p:sp>
    </p:spTree>
    <p:extLst>
      <p:ext uri="{BB962C8B-B14F-4D97-AF65-F5344CB8AC3E}">
        <p14:creationId xmlns:p14="http://schemas.microsoft.com/office/powerpoint/2010/main" val="479889861"/>
      </p:ext>
    </p:extLst>
  </p:cSld>
</p:sld>
</file>

<file path=ppt/slides/slide21.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B1E5CB1-DA0C-48FB-A82C-70BBEDA34BED}"/>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Decisión según la misión</a:t>
            </a:r>
          </a:p>
        </p:txBody>
      </p:sp>
      <p:pic>
        <p:nvPicPr>
          <p:cNvPr id="2" name="">
            <a:extLst xmlns:a="http://schemas.openxmlformats.org/drawingml/2006/main">
              <a:ext uri="{FF2B5EF4-FFF2-40B4-BE49-F238E27FC236}">
                <a16:creationId xmlns:a16="http://schemas.microsoft.com/office/drawing/2014/main" id="{BB15E8A1-A246-46E6-8D8A-5C8B78F57D40}"/>
              </a:ext>
            </a:extLst>
          </p:cNvPr>
          <p:cNvPicPr>
            <a:picLocks xmlns:a="http://schemas.openxmlformats.org/drawingml/2006/main" noChangeAspect="1"/>
          </p:cNvPicPr>
          <p:nvPr/>
        </p:nvPicPr>
        <p:blipFill>
          <a:blip xmlns:r="http://schemas.openxmlformats.org/officeDocument/2006/relationships" xmlns:a="http://schemas.openxmlformats.org/drawingml/2006/main" r:embed="R2f1f26c37eaf4834"/>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847327C-FBB2-4347-A38E-08891A8A6A3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5   CLASE 09   21/24</a:t>
            </a:r>
          </a:p>
        </p:txBody>
      </p:sp>
      <p:sp>
        <p:nvSpPr>
          <p:cNvPr id="4" name="">
            <a:extLst xmlns:a="http://schemas.openxmlformats.org/drawingml/2006/main">
              <a:ext uri="{FF2B5EF4-FFF2-40B4-BE49-F238E27FC236}">
                <a16:creationId xmlns:a16="http://schemas.microsoft.com/office/drawing/2014/main" id="{6C382641-2BC7-4A0F-9BB4-A62E237560E2}"/>
              </a:ext>
            </a:extLst>
          </p:cNvPr>
          <p:cNvSpPr>
            <a:spLocks xmlns:a="http://schemas.openxmlformats.org/drawingml/2006/main" noGrp="1"/>
          </p:cNvSpPr>
          <p:nvPr/>
        </p:nvSpPr>
        <p:spPr>
          <a:xfrm xmlns:a="http://schemas.openxmlformats.org/drawingml/2006/main">
            <a:off x="590550" y="1771650"/>
            <a:ext cx="10715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75" b="1">
                <a:solidFill>
                  <a:srgbClr val="AEF4BB"/>
                </a:solidFill>
                <a:latin typeface="Arial"/>
                <a:ea typeface="Arial"/>
                <a:cs typeface="Arial"/>
              </a:defRPr>
            </a:defPPr>
            <a:lvl1pPr>
              <a:defRPr sz="2775" b="1">
                <a:solidFill>
                  <a:srgbClr val="AEF4BB"/>
                </a:solidFill>
                <a:latin typeface="Arial"/>
                <a:ea typeface="Arial"/>
                <a:cs typeface="Arial"/>
              </a:defRPr>
            </a:lvl1pPr>
            <a:lvl2pPr>
              <a:defRPr sz="2775" b="1">
                <a:solidFill>
                  <a:srgbClr val="AEF4BB"/>
                </a:solidFill>
                <a:latin typeface="Arial"/>
                <a:ea typeface="Arial"/>
                <a:cs typeface="Arial"/>
              </a:defRPr>
            </a:lvl2pPr>
            <a:lvl3pPr>
              <a:defRPr sz="2775" b="1">
                <a:solidFill>
                  <a:srgbClr val="AEF4BB"/>
                </a:solidFill>
                <a:latin typeface="Arial"/>
                <a:ea typeface="Arial"/>
                <a:cs typeface="Arial"/>
              </a:defRPr>
            </a:lvl3pPr>
            <a:lvl4pPr>
              <a:defRPr sz="2775" b="1">
                <a:solidFill>
                  <a:srgbClr val="AEF4BB"/>
                </a:solidFill>
                <a:latin typeface="Arial"/>
                <a:ea typeface="Arial"/>
                <a:cs typeface="Arial"/>
              </a:defRPr>
            </a:lvl4pPr>
            <a:lvl5pPr>
              <a:defRPr sz="2775" b="1">
                <a:solidFill>
                  <a:srgbClr val="AEF4BB"/>
                </a:solidFill>
                <a:latin typeface="Arial"/>
                <a:ea typeface="Arial"/>
                <a:cs typeface="Arial"/>
              </a:defRPr>
            </a:lvl5pPr>
            <a:lvl6pPr>
              <a:defRPr sz="2775" b="1">
                <a:solidFill>
                  <a:srgbClr val="AEF4BB"/>
                </a:solidFill>
                <a:latin typeface="Arial"/>
                <a:ea typeface="Arial"/>
                <a:cs typeface="Arial"/>
              </a:defRPr>
            </a:lvl6pPr>
            <a:lvl7pPr>
              <a:defRPr sz="2775" b="1">
                <a:solidFill>
                  <a:srgbClr val="AEF4BB"/>
                </a:solidFill>
                <a:latin typeface="Arial"/>
                <a:ea typeface="Arial"/>
                <a:cs typeface="Arial"/>
              </a:defRPr>
            </a:lvl7pPr>
            <a:lvl8pPr>
              <a:defRPr sz="2775" b="1">
                <a:solidFill>
                  <a:srgbClr val="AEF4BB"/>
                </a:solidFill>
                <a:latin typeface="Arial"/>
                <a:ea typeface="Arial"/>
                <a:cs typeface="Arial"/>
              </a:defRPr>
            </a:lvl8pPr>
            <a:lvl9pPr>
              <a:defRPr sz="2775" b="1">
                <a:solidFill>
                  <a:srgbClr val="AEF4BB"/>
                </a:solidFill>
                <a:latin typeface="Arial"/>
                <a:ea typeface="Arial"/>
                <a:cs typeface="Arial"/>
              </a:defRPr>
            </a:lvl9pPr>
          </a:lstStyle>
          <a:p xmlns:a="http://schemas.openxmlformats.org/drawingml/2006/main">
            <a:pPr>
              <a:defRPr sz="2775" b="1">
                <a:solidFill>
                  <a:srgbClr val="AEF4BB"/>
                </a:solidFill>
                <a:latin typeface="Arial"/>
                <a:ea typeface="Arial"/>
                <a:cs typeface="Arial"/>
              </a:defRPr>
            </a:pPr>
            <a:r>
              <a:rPr sz="2775" b="1">
                <a:solidFill>
                  <a:srgbClr val="AEF4BB"/>
                </a:solidFill>
                <a:latin typeface="Arial"/>
                <a:ea typeface="Arial"/>
                <a:cs typeface="Arial"/>
              </a:rPr>
              <a:t>Obtener una predicción útil para revisar el conjunto y preparar comparaciones.</a:t>
            </a:r>
          </a:p>
        </p:txBody>
      </p:sp>
      <p:sp>
        <p:nvSpPr>
          <p:cNvPr id="5" name="">
            <a:extLst xmlns:a="http://schemas.openxmlformats.org/drawingml/2006/main">
              <a:ext uri="{FF2B5EF4-FFF2-40B4-BE49-F238E27FC236}">
                <a16:creationId xmlns:a16="http://schemas.microsoft.com/office/drawing/2014/main" id="{7450C6A8-30B5-4B09-A85B-83DFAE463614}"/>
              </a:ext>
            </a:extLst>
          </p:cNvPr>
          <p:cNvSpPr>
            <a:spLocks xmlns:a="http://schemas.openxmlformats.org/drawingml/2006/main" noGrp="1"/>
          </p:cNvSpPr>
          <p:nvPr/>
        </p:nvSpPr>
        <p:spPr>
          <a:xfrm xmlns:a="http://schemas.openxmlformats.org/drawingml/2006/main">
            <a:off x="590550" y="3638550"/>
            <a:ext cx="107156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0">
                <a:solidFill>
                  <a:srgbClr val="FCFCF8"/>
                </a:solidFill>
                <a:latin typeface="Arial"/>
                <a:ea typeface="Arial"/>
                <a:cs typeface="Arial"/>
              </a:defRPr>
            </a:defPPr>
            <a:lvl1pPr>
              <a:defRPr sz="2625" b="0">
                <a:solidFill>
                  <a:srgbClr val="FCFCF8"/>
                </a:solidFill>
                <a:latin typeface="Arial"/>
                <a:ea typeface="Arial"/>
                <a:cs typeface="Arial"/>
              </a:defRPr>
            </a:lvl1pPr>
            <a:lvl2pPr>
              <a:defRPr sz="2625" b="0">
                <a:solidFill>
                  <a:srgbClr val="FCFCF8"/>
                </a:solidFill>
                <a:latin typeface="Arial"/>
                <a:ea typeface="Arial"/>
                <a:cs typeface="Arial"/>
              </a:defRPr>
            </a:lvl2pPr>
            <a:lvl3pPr>
              <a:defRPr sz="2625" b="0">
                <a:solidFill>
                  <a:srgbClr val="FCFCF8"/>
                </a:solidFill>
                <a:latin typeface="Arial"/>
                <a:ea typeface="Arial"/>
                <a:cs typeface="Arial"/>
              </a:defRPr>
            </a:lvl3pPr>
            <a:lvl4pPr>
              <a:defRPr sz="2625" b="0">
                <a:solidFill>
                  <a:srgbClr val="FCFCF8"/>
                </a:solidFill>
                <a:latin typeface="Arial"/>
                <a:ea typeface="Arial"/>
                <a:cs typeface="Arial"/>
              </a:defRPr>
            </a:lvl4pPr>
            <a:lvl5pPr>
              <a:defRPr sz="2625" b="0">
                <a:solidFill>
                  <a:srgbClr val="FCFCF8"/>
                </a:solidFill>
                <a:latin typeface="Arial"/>
                <a:ea typeface="Arial"/>
                <a:cs typeface="Arial"/>
              </a:defRPr>
            </a:lvl5pPr>
            <a:lvl6pPr>
              <a:defRPr sz="2625" b="0">
                <a:solidFill>
                  <a:srgbClr val="FCFCF8"/>
                </a:solidFill>
                <a:latin typeface="Arial"/>
                <a:ea typeface="Arial"/>
                <a:cs typeface="Arial"/>
              </a:defRPr>
            </a:lvl6pPr>
            <a:lvl7pPr>
              <a:defRPr sz="2625" b="0">
                <a:solidFill>
                  <a:srgbClr val="FCFCF8"/>
                </a:solidFill>
                <a:latin typeface="Arial"/>
                <a:ea typeface="Arial"/>
                <a:cs typeface="Arial"/>
              </a:defRPr>
            </a:lvl7pPr>
            <a:lvl8pPr>
              <a:defRPr sz="2625" b="0">
                <a:solidFill>
                  <a:srgbClr val="FCFCF8"/>
                </a:solidFill>
                <a:latin typeface="Arial"/>
                <a:ea typeface="Arial"/>
                <a:cs typeface="Arial"/>
              </a:defRPr>
            </a:lvl8pPr>
            <a:lvl9pPr>
              <a:defRPr sz="2625" b="0">
                <a:solidFill>
                  <a:srgbClr val="FCFCF8"/>
                </a:solidFill>
                <a:latin typeface="Arial"/>
                <a:ea typeface="Arial"/>
                <a:cs typeface="Arial"/>
              </a:defRPr>
            </a:lvl9pPr>
          </a:lstStyle>
          <a:p xmlns:a="http://schemas.openxmlformats.org/drawingml/2006/main">
            <a:pPr>
              <a:defRPr sz="2625" b="0">
                <a:solidFill>
                  <a:srgbClr val="FCFCF8"/>
                </a:solidFill>
                <a:latin typeface="Arial"/>
                <a:ea typeface="Arial"/>
                <a:cs typeface="Arial"/>
              </a:defRPr>
            </a:pPr>
            <a:r>
              <a:rPr sz="2625" b="0">
                <a:solidFill>
                  <a:srgbClr val="FCFCF8"/>
                </a:solidFill>
                <a:latin typeface="Arial"/>
                <a:ea typeface="Arial"/>
                <a:cs typeface="Arial"/>
              </a:rPr>
              <a:t>¿Qué es predicción y qué es observación?</a:t>
            </a:r>
          </a:p>
        </p:txBody>
      </p:sp>
      <p:sp>
        <p:nvSpPr>
          <p:cNvPr id="6" name="">
            <a:extLst xmlns:a="http://schemas.openxmlformats.org/drawingml/2006/main">
              <a:ext uri="{FF2B5EF4-FFF2-40B4-BE49-F238E27FC236}">
                <a16:creationId xmlns:a16="http://schemas.microsoft.com/office/drawing/2014/main" id="{B2F4BBEB-5053-4870-8F07-F2CDAD35A8A2}"/>
              </a:ext>
            </a:extLst>
          </p:cNvPr>
          <p:cNvSpPr>
            <a:spLocks xmlns:a="http://schemas.openxmlformats.org/drawingml/2006/main" noGrp="1"/>
          </p:cNvSpPr>
          <p:nvPr/>
        </p:nvSpPr>
        <p:spPr>
          <a:xfrm xmlns:a="http://schemas.openxmlformats.org/drawingml/2006/main">
            <a:off x="590550" y="5486400"/>
            <a:ext cx="10715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B8C8C1"/>
                </a:solidFill>
                <a:latin typeface="Arial"/>
                <a:ea typeface="Arial"/>
                <a:cs typeface="Arial"/>
              </a:defRPr>
            </a:defPPr>
            <a:lvl1pPr>
              <a:defRPr sz="2175" b="0">
                <a:solidFill>
                  <a:srgbClr val="B8C8C1"/>
                </a:solidFill>
                <a:latin typeface="Arial"/>
                <a:ea typeface="Arial"/>
                <a:cs typeface="Arial"/>
              </a:defRPr>
            </a:lvl1pPr>
            <a:lvl2pPr>
              <a:defRPr sz="2175" b="0">
                <a:solidFill>
                  <a:srgbClr val="B8C8C1"/>
                </a:solidFill>
                <a:latin typeface="Arial"/>
                <a:ea typeface="Arial"/>
                <a:cs typeface="Arial"/>
              </a:defRPr>
            </a:lvl2pPr>
            <a:lvl3pPr>
              <a:defRPr sz="2175" b="0">
                <a:solidFill>
                  <a:srgbClr val="B8C8C1"/>
                </a:solidFill>
                <a:latin typeface="Arial"/>
                <a:ea typeface="Arial"/>
                <a:cs typeface="Arial"/>
              </a:defRPr>
            </a:lvl3pPr>
            <a:lvl4pPr>
              <a:defRPr sz="2175" b="0">
                <a:solidFill>
                  <a:srgbClr val="B8C8C1"/>
                </a:solidFill>
                <a:latin typeface="Arial"/>
                <a:ea typeface="Arial"/>
                <a:cs typeface="Arial"/>
              </a:defRPr>
            </a:lvl4pPr>
            <a:lvl5pPr>
              <a:defRPr sz="2175" b="0">
                <a:solidFill>
                  <a:srgbClr val="B8C8C1"/>
                </a:solidFill>
                <a:latin typeface="Arial"/>
                <a:ea typeface="Arial"/>
                <a:cs typeface="Arial"/>
              </a:defRPr>
            </a:lvl5pPr>
            <a:lvl6pPr>
              <a:defRPr sz="2175" b="0">
                <a:solidFill>
                  <a:srgbClr val="B8C8C1"/>
                </a:solidFill>
                <a:latin typeface="Arial"/>
                <a:ea typeface="Arial"/>
                <a:cs typeface="Arial"/>
              </a:defRPr>
            </a:lvl6pPr>
            <a:lvl7pPr>
              <a:defRPr sz="2175" b="0">
                <a:solidFill>
                  <a:srgbClr val="B8C8C1"/>
                </a:solidFill>
                <a:latin typeface="Arial"/>
                <a:ea typeface="Arial"/>
                <a:cs typeface="Arial"/>
              </a:defRPr>
            </a:lvl7pPr>
            <a:lvl8pPr>
              <a:defRPr sz="2175" b="0">
                <a:solidFill>
                  <a:srgbClr val="B8C8C1"/>
                </a:solidFill>
                <a:latin typeface="Arial"/>
                <a:ea typeface="Arial"/>
                <a:cs typeface="Arial"/>
              </a:defRPr>
            </a:lvl8pPr>
            <a:lvl9pPr>
              <a:defRPr sz="2175" b="0">
                <a:solidFill>
                  <a:srgbClr val="B8C8C1"/>
                </a:solidFill>
                <a:latin typeface="Arial"/>
                <a:ea typeface="Arial"/>
                <a:cs typeface="Arial"/>
              </a:defRPr>
            </a:lvl9pPr>
          </a:lstStyle>
          <a:p xmlns:a="http://schemas.openxmlformats.org/drawingml/2006/main">
            <a:pPr>
              <a:defRPr sz="2175" b="0">
                <a:solidFill>
                  <a:srgbClr val="B8C8C1"/>
                </a:solidFill>
                <a:latin typeface="Arial"/>
                <a:ea typeface="Arial"/>
                <a:cs typeface="Arial"/>
              </a:defRPr>
            </a:pPr>
            <a:r>
              <a:rPr sz="2175" b="0">
                <a:solidFill>
                  <a:srgbClr val="B8C8C1"/>
                </a:solidFill>
                <a:latin typeface="Arial"/>
                <a:ea typeface="Arial"/>
                <a:cs typeface="Arial"/>
              </a:rPr>
              <a:t>Explica tu elección con una pieza, un archivo o un dato de la clase.</a:t>
            </a:r>
          </a:p>
        </p:txBody>
      </p:sp>
    </p:spTree>
    <p:extLst>
      <p:ext uri="{BB962C8B-B14F-4D97-AF65-F5344CB8AC3E}">
        <p14:creationId xmlns:p14="http://schemas.microsoft.com/office/powerpoint/2010/main" val="1630098995"/>
      </p:ext>
    </p:extLst>
  </p:cSld>
</p:sld>
</file>

<file path=ppt/slides/slide22.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700716F-8AFC-4181-AD8A-8257A06D08D8}"/>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Tres preguntas para cerrar</a:t>
            </a:r>
          </a:p>
        </p:txBody>
      </p:sp>
      <p:pic>
        <p:nvPicPr>
          <p:cNvPr id="2" name="">
            <a:extLst xmlns:a="http://schemas.openxmlformats.org/drawingml/2006/main">
              <a:ext uri="{FF2B5EF4-FFF2-40B4-BE49-F238E27FC236}">
                <a16:creationId xmlns:a16="http://schemas.microsoft.com/office/drawing/2014/main" id="{AF95143C-0F02-44C9-94D5-978E7B6F9492}"/>
              </a:ext>
            </a:extLst>
          </p:cNvPr>
          <p:cNvPicPr>
            <a:picLocks xmlns:a="http://schemas.openxmlformats.org/drawingml/2006/main" noChangeAspect="1"/>
          </p:cNvPicPr>
          <p:nvPr/>
        </p:nvPicPr>
        <p:blipFill>
          <a:blip xmlns:r="http://schemas.openxmlformats.org/officeDocument/2006/relationships" xmlns:a="http://schemas.openxmlformats.org/drawingml/2006/main" r:embed="R0320b464f736431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2599083-F7E9-4875-B384-DFC46CE70BE1}"/>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5   CLASE 09   22/24</a:t>
            </a:r>
          </a:p>
        </p:txBody>
      </p:sp>
      <p:sp>
        <p:nvSpPr>
          <p:cNvPr id="4" name="">
            <a:extLst xmlns:a="http://schemas.openxmlformats.org/drawingml/2006/main">
              <a:ext uri="{FF2B5EF4-FFF2-40B4-BE49-F238E27FC236}">
                <a16:creationId xmlns:a16="http://schemas.microsoft.com/office/drawing/2014/main" id="{E81DBA15-E493-4852-BDC1-9F2038E7C9FD}"/>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1. ¿El motor empuja hasta el apogeo?</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2. ¿Una predicción es una medición?</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3. ¿Puedo atribuir a la nariz una diferencia si cambié el motor?</a:t>
            </a:r>
          </a:p>
        </p:txBody>
      </p:sp>
    </p:spTree>
    <p:extLst>
      <p:ext uri="{BB962C8B-B14F-4D97-AF65-F5344CB8AC3E}">
        <p14:creationId xmlns:p14="http://schemas.microsoft.com/office/powerpoint/2010/main" val="1219836265"/>
      </p:ext>
    </p:extLst>
  </p:cSld>
</p:sld>
</file>

<file path=ppt/slides/slide2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B35A51D-5684-453D-9FB1-D2A83E71B700}"/>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Cómo explicar las respuestas</a:t>
            </a:r>
          </a:p>
        </p:txBody>
      </p:sp>
      <p:pic>
        <p:nvPicPr>
          <p:cNvPr id="2" name="">
            <a:extLst xmlns:a="http://schemas.openxmlformats.org/drawingml/2006/main">
              <a:ext uri="{FF2B5EF4-FFF2-40B4-BE49-F238E27FC236}">
                <a16:creationId xmlns:a16="http://schemas.microsoft.com/office/drawing/2014/main" id="{453322BB-0940-4CCD-A504-F4B030DB4B8F}"/>
              </a:ext>
            </a:extLst>
          </p:cNvPr>
          <p:cNvPicPr>
            <a:picLocks xmlns:a="http://schemas.openxmlformats.org/drawingml/2006/main" noChangeAspect="1"/>
          </p:cNvPicPr>
          <p:nvPr/>
        </p:nvPicPr>
        <p:blipFill>
          <a:blip xmlns:r="http://schemas.openxmlformats.org/officeDocument/2006/relationships" xmlns:a="http://schemas.openxmlformats.org/drawingml/2006/main" r:embed="Rde922a9cd44f4541"/>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973CD60-CBCD-4F89-843B-2ACB210E87CB}"/>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09   23/24</a:t>
            </a:r>
          </a:p>
        </p:txBody>
      </p:sp>
      <p:sp>
        <p:nvSpPr>
          <p:cNvPr id="4" name="">
            <a:extLst xmlns:a="http://schemas.openxmlformats.org/drawingml/2006/main">
              <a:ext uri="{FF2B5EF4-FFF2-40B4-BE49-F238E27FC236}">
                <a16:creationId xmlns:a16="http://schemas.microsoft.com/office/drawing/2014/main" id="{AE5DE2F7-A946-4662-9CAF-ADA3C4CEFD69}"/>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1. No necesariamente; el vehículo puede seguir subiendo después de terminar el empuje.</a:t>
            </a:r>
          </a:p>
          <a:p xmlns:a="http://schemas.openxmlformats.org/drawingml/2006/main">
            <a:r>
              <a:t/>
            </a:r>
          </a:p>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2. No. Se compara después con observaciones identificadas.</a:t>
            </a:r>
          </a:p>
          <a:p xmlns:a="http://schemas.openxmlformats.org/drawingml/2006/main">
            <a:r>
              <a:t/>
            </a:r>
          </a:p>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3. No sin separar o explicar esos cambios.</a:t>
            </a:r>
          </a:p>
        </p:txBody>
      </p:sp>
    </p:spTree>
    <p:extLst>
      <p:ext uri="{BB962C8B-B14F-4D97-AF65-F5344CB8AC3E}">
        <p14:creationId xmlns:p14="http://schemas.microsoft.com/office/powerpoint/2010/main" val="365068664"/>
      </p:ext>
    </p:extLst>
  </p:cSld>
</p:sld>
</file>

<file path=ppt/slides/slide24.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9EA6557-4291-43ED-A273-2ADAA522BC5B}"/>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Entrega de la clase</a:t>
            </a:r>
          </a:p>
        </p:txBody>
      </p:sp>
      <p:pic>
        <p:nvPicPr>
          <p:cNvPr id="2" name="">
            <a:extLst xmlns:a="http://schemas.openxmlformats.org/drawingml/2006/main">
              <a:ext uri="{FF2B5EF4-FFF2-40B4-BE49-F238E27FC236}">
                <a16:creationId xmlns:a16="http://schemas.microsoft.com/office/drawing/2014/main" id="{D0A44BE2-E310-4A19-8BF0-FD1C22823730}"/>
              </a:ext>
            </a:extLst>
          </p:cNvPr>
          <p:cNvPicPr>
            <a:picLocks xmlns:a="http://schemas.openxmlformats.org/drawingml/2006/main" noChangeAspect="1"/>
          </p:cNvPicPr>
          <p:nvPr/>
        </p:nvPicPr>
        <p:blipFill>
          <a:blip xmlns:r="http://schemas.openxmlformats.org/officeDocument/2006/relationships" xmlns:a="http://schemas.openxmlformats.org/drawingml/2006/main" r:embed="R1df17cdb7e554d8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6F7739A-4F13-44F0-B2C5-BE861546A932}"/>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5   CLASE 09   24/24</a:t>
            </a:r>
          </a:p>
        </p:txBody>
      </p:sp>
      <p:sp>
        <p:nvSpPr>
          <p:cNvPr id="4" name="">
            <a:extLst xmlns:a="http://schemas.openxmlformats.org/drawingml/2006/main">
              <a:ext uri="{FF2B5EF4-FFF2-40B4-BE49-F238E27FC236}">
                <a16:creationId xmlns:a16="http://schemas.microsoft.com/office/drawing/2014/main" id="{B90B8D10-BFB9-41E2-8B17-0886BADD88A8}"/>
              </a:ext>
            </a:extLst>
          </p:cNvPr>
          <p:cNvSpPr>
            <a:spLocks xmlns:a="http://schemas.openxmlformats.org/drawingml/2006/main" noGrp="1"/>
          </p:cNvSpPr>
          <p:nvPr/>
        </p:nvSpPr>
        <p:spPr>
          <a:xfrm xmlns:a="http://schemas.openxmlformats.org/drawingml/2006/main">
            <a:off x="590550" y="1800225"/>
            <a:ext cx="10715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1">
                <a:solidFill>
                  <a:srgbClr val="AEF4BB"/>
                </a:solidFill>
                <a:latin typeface="Arial"/>
                <a:ea typeface="Arial"/>
                <a:cs typeface="Arial"/>
              </a:defRPr>
            </a:defPPr>
            <a:lvl1pPr>
              <a:defRPr sz="2925" b="1">
                <a:solidFill>
                  <a:srgbClr val="AEF4BB"/>
                </a:solidFill>
                <a:latin typeface="Arial"/>
                <a:ea typeface="Arial"/>
                <a:cs typeface="Arial"/>
              </a:defRPr>
            </a:lvl1pPr>
            <a:lvl2pPr>
              <a:defRPr sz="2925" b="1">
                <a:solidFill>
                  <a:srgbClr val="AEF4BB"/>
                </a:solidFill>
                <a:latin typeface="Arial"/>
                <a:ea typeface="Arial"/>
                <a:cs typeface="Arial"/>
              </a:defRPr>
            </a:lvl2pPr>
            <a:lvl3pPr>
              <a:defRPr sz="2925" b="1">
                <a:solidFill>
                  <a:srgbClr val="AEF4BB"/>
                </a:solidFill>
                <a:latin typeface="Arial"/>
                <a:ea typeface="Arial"/>
                <a:cs typeface="Arial"/>
              </a:defRPr>
            </a:lvl3pPr>
            <a:lvl4pPr>
              <a:defRPr sz="2925" b="1">
                <a:solidFill>
                  <a:srgbClr val="AEF4BB"/>
                </a:solidFill>
                <a:latin typeface="Arial"/>
                <a:ea typeface="Arial"/>
                <a:cs typeface="Arial"/>
              </a:defRPr>
            </a:lvl4pPr>
            <a:lvl5pPr>
              <a:defRPr sz="2925" b="1">
                <a:solidFill>
                  <a:srgbClr val="AEF4BB"/>
                </a:solidFill>
                <a:latin typeface="Arial"/>
                <a:ea typeface="Arial"/>
                <a:cs typeface="Arial"/>
              </a:defRPr>
            </a:lvl5pPr>
            <a:lvl6pPr>
              <a:defRPr sz="2925" b="1">
                <a:solidFill>
                  <a:srgbClr val="AEF4BB"/>
                </a:solidFill>
                <a:latin typeface="Arial"/>
                <a:ea typeface="Arial"/>
                <a:cs typeface="Arial"/>
              </a:defRPr>
            </a:lvl6pPr>
            <a:lvl7pPr>
              <a:defRPr sz="2925" b="1">
                <a:solidFill>
                  <a:srgbClr val="AEF4BB"/>
                </a:solidFill>
                <a:latin typeface="Arial"/>
                <a:ea typeface="Arial"/>
                <a:cs typeface="Arial"/>
              </a:defRPr>
            </a:lvl7pPr>
            <a:lvl8pPr>
              <a:defRPr sz="2925" b="1">
                <a:solidFill>
                  <a:srgbClr val="AEF4BB"/>
                </a:solidFill>
                <a:latin typeface="Arial"/>
                <a:ea typeface="Arial"/>
                <a:cs typeface="Arial"/>
              </a:defRPr>
            </a:lvl8pPr>
            <a:lvl9pPr>
              <a:defRPr sz="2925" b="1">
                <a:solidFill>
                  <a:srgbClr val="AEF4BB"/>
                </a:solidFill>
                <a:latin typeface="Arial"/>
                <a:ea typeface="Arial"/>
                <a:cs typeface="Arial"/>
              </a:defRPr>
            </a:lvl9pPr>
          </a:lstStyle>
          <a:p xmlns:a="http://schemas.openxmlformats.org/drawingml/2006/main">
            <a:pPr>
              <a:defRPr sz="2925" b="1">
                <a:solidFill>
                  <a:srgbClr val="AEF4BB"/>
                </a:solidFill>
                <a:latin typeface="Arial"/>
                <a:ea typeface="Arial"/>
                <a:cs typeface="Arial"/>
              </a:defRPr>
            </a:pPr>
            <a:r>
              <a:rPr sz="2925" b="1">
                <a:solidFill>
                  <a:srgbClr val="AEF4BB"/>
                </a:solidFill>
                <a:latin typeface="Arial"/>
                <a:ea typeface="Arial"/>
                <a:cs typeface="Arial"/>
              </a:rPr>
              <a:t>Archivo completo, condiciones, gráficas y CSV exportado.</a:t>
            </a:r>
          </a:p>
        </p:txBody>
      </p:sp>
      <p:sp>
        <p:nvSpPr>
          <p:cNvPr id="5" name="">
            <a:extLst xmlns:a="http://schemas.openxmlformats.org/drawingml/2006/main">
              <a:ext uri="{FF2B5EF4-FFF2-40B4-BE49-F238E27FC236}">
                <a16:creationId xmlns:a16="http://schemas.microsoft.com/office/drawing/2014/main" id="{15C83B22-799F-4834-9418-E039BE73C71B}"/>
              </a:ext>
            </a:extLst>
          </p:cNvPr>
          <p:cNvSpPr>
            <a:spLocks xmlns:a="http://schemas.openxmlformats.org/drawingml/2006/main" noGrp="1"/>
          </p:cNvSpPr>
          <p:nvPr/>
        </p:nvSpPr>
        <p:spPr>
          <a:xfrm xmlns:a="http://schemas.openxmlformats.org/drawingml/2006/main">
            <a:off x="590550" y="4314825"/>
            <a:ext cx="1071562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CFCF8"/>
                </a:solidFill>
                <a:latin typeface="Arial"/>
                <a:ea typeface="Arial"/>
                <a:cs typeface="Arial"/>
              </a:defRPr>
            </a:defPPr>
            <a:lvl1pPr>
              <a:defRPr sz="2325" b="0">
                <a:solidFill>
                  <a:srgbClr val="FCFCF8"/>
                </a:solidFill>
                <a:latin typeface="Arial"/>
                <a:ea typeface="Arial"/>
                <a:cs typeface="Arial"/>
              </a:defRPr>
            </a:lvl1pPr>
            <a:lvl2pPr>
              <a:defRPr sz="2325" b="0">
                <a:solidFill>
                  <a:srgbClr val="FCFCF8"/>
                </a:solidFill>
                <a:latin typeface="Arial"/>
                <a:ea typeface="Arial"/>
                <a:cs typeface="Arial"/>
              </a:defRPr>
            </a:lvl2pPr>
            <a:lvl3pPr>
              <a:defRPr sz="2325" b="0">
                <a:solidFill>
                  <a:srgbClr val="FCFCF8"/>
                </a:solidFill>
                <a:latin typeface="Arial"/>
                <a:ea typeface="Arial"/>
                <a:cs typeface="Arial"/>
              </a:defRPr>
            </a:lvl3pPr>
            <a:lvl4pPr>
              <a:defRPr sz="2325" b="0">
                <a:solidFill>
                  <a:srgbClr val="FCFCF8"/>
                </a:solidFill>
                <a:latin typeface="Arial"/>
                <a:ea typeface="Arial"/>
                <a:cs typeface="Arial"/>
              </a:defRPr>
            </a:lvl4pPr>
            <a:lvl5pPr>
              <a:defRPr sz="2325" b="0">
                <a:solidFill>
                  <a:srgbClr val="FCFCF8"/>
                </a:solidFill>
                <a:latin typeface="Arial"/>
                <a:ea typeface="Arial"/>
                <a:cs typeface="Arial"/>
              </a:defRPr>
            </a:lvl5pPr>
            <a:lvl6pPr>
              <a:defRPr sz="2325" b="0">
                <a:solidFill>
                  <a:srgbClr val="FCFCF8"/>
                </a:solidFill>
                <a:latin typeface="Arial"/>
                <a:ea typeface="Arial"/>
                <a:cs typeface="Arial"/>
              </a:defRPr>
            </a:lvl6pPr>
            <a:lvl7pPr>
              <a:defRPr sz="2325" b="0">
                <a:solidFill>
                  <a:srgbClr val="FCFCF8"/>
                </a:solidFill>
                <a:latin typeface="Arial"/>
                <a:ea typeface="Arial"/>
                <a:cs typeface="Arial"/>
              </a:defRPr>
            </a:lvl7pPr>
            <a:lvl8pPr>
              <a:defRPr sz="2325" b="0">
                <a:solidFill>
                  <a:srgbClr val="FCFCF8"/>
                </a:solidFill>
                <a:latin typeface="Arial"/>
                <a:ea typeface="Arial"/>
                <a:cs typeface="Arial"/>
              </a:defRPr>
            </a:lvl8pPr>
            <a:lvl9pPr>
              <a:defRPr sz="2325" b="0">
                <a:solidFill>
                  <a:srgbClr val="FCFCF8"/>
                </a:solidFill>
                <a:latin typeface="Arial"/>
                <a:ea typeface="Arial"/>
                <a:cs typeface="Arial"/>
              </a:defRPr>
            </a:lvl9pPr>
          </a:lstStyle>
          <a:p xmlns:a="http://schemas.openxmlformats.org/drawingml/2006/main">
            <a:pPr>
              <a:defRPr sz="2325" b="0">
                <a:solidFill>
                  <a:srgbClr val="FCFCF8"/>
                </a:solidFill>
                <a:latin typeface="Arial"/>
                <a:ea typeface="Arial"/>
                <a:cs typeface="Arial"/>
              </a:defRPr>
            </a:pPr>
            <a:r>
              <a:rPr sz="2325" b="0">
                <a:solidFill>
                  <a:srgbClr val="FCFCF8"/>
                </a:solidFill>
                <a:latin typeface="Arial"/>
                <a:ea typeface="Arial"/>
                <a:cs typeface="Arial"/>
              </a:rPr>
              <a:t>Conserva la revisión del equipo y señala qué comprobación sigue pendiente.</a:t>
            </a:r>
          </a:p>
        </p:txBody>
      </p:sp>
    </p:spTree>
    <p:extLst>
      <p:ext uri="{BB962C8B-B14F-4D97-AF65-F5344CB8AC3E}">
        <p14:creationId xmlns:p14="http://schemas.microsoft.com/office/powerpoint/2010/main" val="1303432992"/>
      </p:ext>
    </p:extLst>
  </p:cSld>
</p:sld>
</file>

<file path=ppt/slides/slide25.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4570077-C5AC-4306-97E3-90FCE9DDA5B6}"/>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Materiales y compuestos sobre piezas reales</a:t>
            </a:r>
          </a:p>
        </p:txBody>
      </p:sp>
      <p:pic>
        <p:nvPicPr>
          <p:cNvPr id="2" name="">
            <a:extLst xmlns:a="http://schemas.openxmlformats.org/drawingml/2006/main">
              <a:ext uri="{FF2B5EF4-FFF2-40B4-BE49-F238E27FC236}">
                <a16:creationId xmlns:a16="http://schemas.microsoft.com/office/drawing/2014/main" id="{116C7FCB-78A1-4221-B781-C1401C1E903F}"/>
              </a:ext>
            </a:extLst>
          </p:cNvPr>
          <p:cNvPicPr>
            <a:picLocks xmlns:a="http://schemas.openxmlformats.org/drawingml/2006/main" noChangeAspect="1"/>
          </p:cNvPicPr>
          <p:nvPr/>
        </p:nvPicPr>
        <p:blipFill>
          <a:blip xmlns:r="http://schemas.openxmlformats.org/officeDocument/2006/relationships" xmlns:a="http://schemas.openxmlformats.org/drawingml/2006/main" r:embed="Rb22d390f06b54528"/>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1691813-6339-4A2E-AD8E-A3CA7C81E74B}"/>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5   CLASE 10   01/24</a:t>
            </a:r>
          </a:p>
        </p:txBody>
      </p:sp>
      <p:sp>
        <p:nvSpPr>
          <p:cNvPr id="4" name="">
            <a:extLst xmlns:a="http://schemas.openxmlformats.org/drawingml/2006/main">
              <a:ext uri="{FF2B5EF4-FFF2-40B4-BE49-F238E27FC236}">
                <a16:creationId xmlns:a16="http://schemas.microsoft.com/office/drawing/2014/main" id="{D0110EF4-2F14-44EF-B81D-57A30D9BF88E}"/>
              </a:ext>
            </a:extLst>
          </p:cNvPr>
          <p:cNvSpPr>
            <a:spLocks xmlns:a="http://schemas.openxmlformats.org/drawingml/2006/main" noGrp="1"/>
          </p:cNvSpPr>
          <p:nvPr/>
        </p:nvSpPr>
        <p:spPr>
          <a:xfrm xmlns:a="http://schemas.openxmlformats.org/drawingml/2006/main">
            <a:off x="590550" y="1762125"/>
            <a:ext cx="10715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Comparar materiales por función, fabricación y reparación sin asignarles una superioridad universal.</a:t>
            </a:r>
          </a:p>
        </p:txBody>
      </p:sp>
      <p:sp>
        <p:nvSpPr>
          <p:cNvPr id="5" name="">
            <a:extLst xmlns:a="http://schemas.openxmlformats.org/drawingml/2006/main">
              <a:ext uri="{FF2B5EF4-FFF2-40B4-BE49-F238E27FC236}">
                <a16:creationId xmlns:a16="http://schemas.microsoft.com/office/drawing/2014/main" id="{BBF15E7A-9C14-4148-8EC5-5A95D2CA38A7}"/>
              </a:ext>
            </a:extLst>
          </p:cNvPr>
          <p:cNvSpPr>
            <a:spLocks xmlns:a="http://schemas.openxmlformats.org/drawingml/2006/main" noGrp="1"/>
          </p:cNvSpPr>
          <p:nvPr/>
        </p:nvSpPr>
        <p:spPr>
          <a:xfrm xmlns:a="http://schemas.openxmlformats.org/drawingml/2006/main">
            <a:off x="590550" y="3705225"/>
            <a:ext cx="10715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CFCF8"/>
                </a:solidFill>
                <a:latin typeface="Arial"/>
                <a:ea typeface="Arial"/>
                <a:cs typeface="Arial"/>
              </a:defRPr>
            </a:defPPr>
            <a:lvl1pPr>
              <a:defRPr sz="2325" b="0">
                <a:solidFill>
                  <a:srgbClr val="FCFCF8"/>
                </a:solidFill>
                <a:latin typeface="Arial"/>
                <a:ea typeface="Arial"/>
                <a:cs typeface="Arial"/>
              </a:defRPr>
            </a:lvl1pPr>
            <a:lvl2pPr>
              <a:defRPr sz="2325" b="0">
                <a:solidFill>
                  <a:srgbClr val="FCFCF8"/>
                </a:solidFill>
                <a:latin typeface="Arial"/>
                <a:ea typeface="Arial"/>
                <a:cs typeface="Arial"/>
              </a:defRPr>
            </a:lvl2pPr>
            <a:lvl3pPr>
              <a:defRPr sz="2325" b="0">
                <a:solidFill>
                  <a:srgbClr val="FCFCF8"/>
                </a:solidFill>
                <a:latin typeface="Arial"/>
                <a:ea typeface="Arial"/>
                <a:cs typeface="Arial"/>
              </a:defRPr>
            </a:lvl3pPr>
            <a:lvl4pPr>
              <a:defRPr sz="2325" b="0">
                <a:solidFill>
                  <a:srgbClr val="FCFCF8"/>
                </a:solidFill>
                <a:latin typeface="Arial"/>
                <a:ea typeface="Arial"/>
                <a:cs typeface="Arial"/>
              </a:defRPr>
            </a:lvl4pPr>
            <a:lvl5pPr>
              <a:defRPr sz="2325" b="0">
                <a:solidFill>
                  <a:srgbClr val="FCFCF8"/>
                </a:solidFill>
                <a:latin typeface="Arial"/>
                <a:ea typeface="Arial"/>
                <a:cs typeface="Arial"/>
              </a:defRPr>
            </a:lvl5pPr>
            <a:lvl6pPr>
              <a:defRPr sz="2325" b="0">
                <a:solidFill>
                  <a:srgbClr val="FCFCF8"/>
                </a:solidFill>
                <a:latin typeface="Arial"/>
                <a:ea typeface="Arial"/>
                <a:cs typeface="Arial"/>
              </a:defRPr>
            </a:lvl6pPr>
            <a:lvl7pPr>
              <a:defRPr sz="2325" b="0">
                <a:solidFill>
                  <a:srgbClr val="FCFCF8"/>
                </a:solidFill>
                <a:latin typeface="Arial"/>
                <a:ea typeface="Arial"/>
                <a:cs typeface="Arial"/>
              </a:defRPr>
            </a:lvl7pPr>
            <a:lvl8pPr>
              <a:defRPr sz="2325" b="0">
                <a:solidFill>
                  <a:srgbClr val="FCFCF8"/>
                </a:solidFill>
                <a:latin typeface="Arial"/>
                <a:ea typeface="Arial"/>
                <a:cs typeface="Arial"/>
              </a:defRPr>
            </a:lvl8pPr>
            <a:lvl9pPr>
              <a:defRPr sz="2325" b="0">
                <a:solidFill>
                  <a:srgbClr val="FCFCF8"/>
                </a:solidFill>
                <a:latin typeface="Arial"/>
                <a:ea typeface="Arial"/>
                <a:cs typeface="Arial"/>
              </a:defRPr>
            </a:lvl9pPr>
          </a:lstStyle>
          <a:p xmlns:a="http://schemas.openxmlformats.org/drawingml/2006/main">
            <a:pPr>
              <a:defRPr sz="2325" b="0">
                <a:solidFill>
                  <a:srgbClr val="FCFCF8"/>
                </a:solidFill>
                <a:latin typeface="Arial"/>
                <a:ea typeface="Arial"/>
                <a:cs typeface="Arial"/>
              </a:defRPr>
            </a:pPr>
            <a:r>
              <a:rPr sz="2325" b="0">
                <a:solidFill>
                  <a:srgbClr val="FCFCF8"/>
                </a:solidFill>
                <a:latin typeface="Arial"/>
                <a:ea typeface="Arial"/>
                <a:cs typeface="Arial"/>
              </a:rPr>
              <a:t>Elegir materiales que el equipo pueda fabricar y comprobar con sus recursos.</a:t>
            </a:r>
          </a:p>
        </p:txBody>
      </p:sp>
      <p:sp>
        <p:nvSpPr>
          <p:cNvPr id="6" name="">
            <a:extLst xmlns:a="http://schemas.openxmlformats.org/drawingml/2006/main">
              <a:ext uri="{FF2B5EF4-FFF2-40B4-BE49-F238E27FC236}">
                <a16:creationId xmlns:a16="http://schemas.microsoft.com/office/drawing/2014/main" id="{84DBE93A-4892-461C-B8FE-6C5DE2A28D49}"/>
              </a:ext>
            </a:extLst>
          </p:cNvPr>
          <p:cNvSpPr>
            <a:spLocks xmlns:a="http://schemas.openxmlformats.org/drawingml/2006/main" noGrp="1"/>
          </p:cNvSpPr>
          <p:nvPr/>
        </p:nvSpPr>
        <p:spPr>
          <a:xfrm xmlns:a="http://schemas.openxmlformats.org/drawingml/2006/main">
            <a:off x="590550" y="5648325"/>
            <a:ext cx="1071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8C8C1"/>
                </a:solidFill>
                <a:latin typeface="Consolas"/>
                <a:ea typeface="Consolas"/>
                <a:cs typeface="Consolas"/>
              </a:defRPr>
            </a:defPPr>
            <a:lvl1pPr>
              <a:defRPr sz="1800" b="0">
                <a:solidFill>
                  <a:srgbClr val="B8C8C1"/>
                </a:solidFill>
                <a:latin typeface="Consolas"/>
                <a:ea typeface="Consolas"/>
                <a:cs typeface="Consolas"/>
              </a:defRPr>
            </a:lvl1pPr>
            <a:lvl2pPr>
              <a:defRPr sz="1800" b="0">
                <a:solidFill>
                  <a:srgbClr val="B8C8C1"/>
                </a:solidFill>
                <a:latin typeface="Consolas"/>
                <a:ea typeface="Consolas"/>
                <a:cs typeface="Consolas"/>
              </a:defRPr>
            </a:lvl2pPr>
            <a:lvl3pPr>
              <a:defRPr sz="1800" b="0">
                <a:solidFill>
                  <a:srgbClr val="B8C8C1"/>
                </a:solidFill>
                <a:latin typeface="Consolas"/>
                <a:ea typeface="Consolas"/>
                <a:cs typeface="Consolas"/>
              </a:defRPr>
            </a:lvl3pPr>
            <a:lvl4pPr>
              <a:defRPr sz="1800" b="0">
                <a:solidFill>
                  <a:srgbClr val="B8C8C1"/>
                </a:solidFill>
                <a:latin typeface="Consolas"/>
                <a:ea typeface="Consolas"/>
                <a:cs typeface="Consolas"/>
              </a:defRPr>
            </a:lvl4pPr>
            <a:lvl5pPr>
              <a:defRPr sz="1800" b="0">
                <a:solidFill>
                  <a:srgbClr val="B8C8C1"/>
                </a:solidFill>
                <a:latin typeface="Consolas"/>
                <a:ea typeface="Consolas"/>
                <a:cs typeface="Consolas"/>
              </a:defRPr>
            </a:lvl5pPr>
            <a:lvl6pPr>
              <a:defRPr sz="1800" b="0">
                <a:solidFill>
                  <a:srgbClr val="B8C8C1"/>
                </a:solidFill>
                <a:latin typeface="Consolas"/>
                <a:ea typeface="Consolas"/>
                <a:cs typeface="Consolas"/>
              </a:defRPr>
            </a:lvl6pPr>
            <a:lvl7pPr>
              <a:defRPr sz="1800" b="0">
                <a:solidFill>
                  <a:srgbClr val="B8C8C1"/>
                </a:solidFill>
                <a:latin typeface="Consolas"/>
                <a:ea typeface="Consolas"/>
                <a:cs typeface="Consolas"/>
              </a:defRPr>
            </a:lvl7pPr>
            <a:lvl8pPr>
              <a:defRPr sz="1800" b="0">
                <a:solidFill>
                  <a:srgbClr val="B8C8C1"/>
                </a:solidFill>
                <a:latin typeface="Consolas"/>
                <a:ea typeface="Consolas"/>
                <a:cs typeface="Consolas"/>
              </a:defRPr>
            </a:lvl8pPr>
            <a:lvl9pPr>
              <a:defRPr sz="1800" b="0">
                <a:solidFill>
                  <a:srgbClr val="B8C8C1"/>
                </a:solidFill>
                <a:latin typeface="Consolas"/>
                <a:ea typeface="Consolas"/>
                <a:cs typeface="Consolas"/>
              </a:defRPr>
            </a:lvl9pPr>
          </a:lstStyle>
          <a:p xmlns:a="http://schemas.openxmlformats.org/drawingml/2006/main">
            <a:pPr>
              <a:defRPr sz="1800" b="0">
                <a:solidFill>
                  <a:srgbClr val="B8C8C1"/>
                </a:solidFill>
                <a:latin typeface="Consolas"/>
                <a:ea typeface="Consolas"/>
                <a:cs typeface="Consolas"/>
              </a:defRPr>
            </a:pPr>
            <a:r>
              <a:rPr sz="1800" b="0">
                <a:solidFill>
                  <a:srgbClr val="B8C8C1"/>
                </a:solidFill>
                <a:latin typeface="Consolas"/>
                <a:ea typeface="Consolas"/>
                <a:cs typeface="Consolas"/>
              </a:rPr>
              <a:t>EN LÍNEA   2 HORAS</a:t>
            </a:r>
          </a:p>
        </p:txBody>
      </p:sp>
    </p:spTree>
    <p:extLst>
      <p:ext uri="{BB962C8B-B14F-4D97-AF65-F5344CB8AC3E}">
        <p14:creationId xmlns:p14="http://schemas.microsoft.com/office/powerpoint/2010/main" val="1169327162"/>
      </p:ext>
    </p:extLst>
  </p:cSld>
</p:sld>
</file>

<file path=ppt/slides/slide2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E9873C4-CC9B-445D-80A0-3E78E3355502}"/>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Una mesa de muestras, no una lista de materiales famosos</a:t>
            </a:r>
          </a:p>
        </p:txBody>
      </p:sp>
      <p:pic>
        <p:nvPicPr>
          <p:cNvPr id="2" name="">
            <a:extLst xmlns:a="http://schemas.openxmlformats.org/drawingml/2006/main">
              <a:ext uri="{FF2B5EF4-FFF2-40B4-BE49-F238E27FC236}">
                <a16:creationId xmlns:a16="http://schemas.microsoft.com/office/drawing/2014/main" id="{D74CC133-2A34-4B14-990F-86D1D5051247}"/>
              </a:ext>
            </a:extLst>
          </p:cNvPr>
          <p:cNvPicPr>
            <a:picLocks xmlns:a="http://schemas.openxmlformats.org/drawingml/2006/main" noChangeAspect="1"/>
          </p:cNvPicPr>
          <p:nvPr/>
        </p:nvPicPr>
        <p:blipFill>
          <a:blip xmlns:r="http://schemas.openxmlformats.org/officeDocument/2006/relationships" xmlns:a="http://schemas.openxmlformats.org/drawingml/2006/main" r:embed="Rea5ea07e38ce4512"/>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134E054-27E2-416B-B922-AD76E3BBFDA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10   02/24</a:t>
            </a:r>
          </a:p>
        </p:txBody>
      </p:sp>
      <p:sp>
        <p:nvSpPr>
          <p:cNvPr id="4" name="">
            <a:extLst xmlns:a="http://schemas.openxmlformats.org/drawingml/2006/main">
              <a:ext uri="{FF2B5EF4-FFF2-40B4-BE49-F238E27FC236}">
                <a16:creationId xmlns:a16="http://schemas.microsoft.com/office/drawing/2014/main" id="{CF373A0C-7FF2-4E3D-BCFF-34D82BFFD147}"/>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El taller puede reunir un tubo de cartón, una aleta de madera ligera, una pieza impresa y muestras de compuestos. Antes de decir cuál es “mejor”, hay que identificar qué pieza resolverá cada una. Un material útil para un cuerpo no tiene por qué ser la opción más conveniente para un útil de montaje o una tapa.</a:t>
            </a:r>
          </a:p>
        </p:txBody>
      </p:sp>
    </p:spTree>
    <p:extLst>
      <p:ext uri="{BB962C8B-B14F-4D97-AF65-F5344CB8AC3E}">
        <p14:creationId xmlns:p14="http://schemas.microsoft.com/office/powerpoint/2010/main" val="1688617688"/>
      </p:ext>
    </p:extLst>
  </p:cSld>
</p:sld>
</file>

<file path=ppt/slides/slide2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9A9F802-C627-4205-8E83-26A6B7C566B4}"/>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Una mesa de muestras, no una lista de materiales famosos</a:t>
            </a:r>
          </a:p>
        </p:txBody>
      </p:sp>
      <p:pic>
        <p:nvPicPr>
          <p:cNvPr id="2" name="">
            <a:extLst xmlns:a="http://schemas.openxmlformats.org/drawingml/2006/main">
              <a:ext uri="{FF2B5EF4-FFF2-40B4-BE49-F238E27FC236}">
                <a16:creationId xmlns:a16="http://schemas.microsoft.com/office/drawing/2014/main" id="{A78A9E28-158F-4FC5-A2D2-DBFF3376A5FD}"/>
              </a:ext>
            </a:extLst>
          </p:cNvPr>
          <p:cNvPicPr>
            <a:picLocks xmlns:a="http://schemas.openxmlformats.org/drawingml/2006/main" noChangeAspect="1"/>
          </p:cNvPicPr>
          <p:nvPr/>
        </p:nvPicPr>
        <p:blipFill>
          <a:blip xmlns:r="http://schemas.openxmlformats.org/officeDocument/2006/relationships" xmlns:a="http://schemas.openxmlformats.org/drawingml/2006/main" r:embed="Rf7de4c9e98294df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7265279-7E02-42F2-B94E-5B7025D8392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10   03/24</a:t>
            </a:r>
          </a:p>
        </p:txBody>
      </p:sp>
      <p:pic>
        <p:nvPicPr>
          <p:cNvPr id="4" name="">
            <a:extLst xmlns:a="http://schemas.openxmlformats.org/drawingml/2006/main">
              <a:ext uri="{FF2B5EF4-FFF2-40B4-BE49-F238E27FC236}">
                <a16:creationId xmlns:a16="http://schemas.microsoft.com/office/drawing/2014/main" id="{7150E0A2-25CE-4042-9E6C-B4916269CC90}"/>
              </a:ext>
            </a:extLst>
          </p:cNvPr>
          <p:cNvPicPr>
            <a:picLocks xmlns:a="http://schemas.openxmlformats.org/drawingml/2006/main" noChangeAspect="1"/>
          </p:cNvPicPr>
          <p:nvPr/>
        </p:nvPicPr>
        <p:blipFill>
          <a:blip xmlns:r="http://schemas.openxmlformats.org/officeDocument/2006/relationships" xmlns:a="http://schemas.openxmlformats.org/drawingml/2006/main" r:embed="R1861c8c1a6204579"/>
          <a:stretch xmlns:a="http://schemas.openxmlformats.org/drawingml/2006/main"/>
        </p:blipFill>
        <p:spPr>
          <a:xfrm xmlns:a="http://schemas.openxmlformats.org/drawingml/2006/main">
            <a:off x="590550" y="2185837"/>
            <a:ext cx="7410450" cy="2924477"/>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E344D01-F488-45C0-B8A7-77516D7512A9}"/>
              </a:ext>
            </a:extLst>
          </p:cNvPr>
          <p:cNvSpPr>
            <a:spLocks xmlns:a="http://schemas.openxmlformats.org/drawingml/2006/main" noGrp="1"/>
          </p:cNvSpPr>
          <p:nvPr/>
        </p:nvSpPr>
        <p:spPr>
          <a:xfrm xmlns:a="http://schemas.openxmlformats.org/drawingml/2006/main">
            <a:off x="8315325" y="1781175"/>
            <a:ext cx="3248025" cy="3590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244F3D"/>
                </a:solidFill>
                <a:latin typeface="Arial"/>
                <a:ea typeface="Arial"/>
                <a:cs typeface="Arial"/>
              </a:defRPr>
            </a:defPPr>
            <a:lvl1pPr>
              <a:defRPr sz="2325" b="1">
                <a:solidFill>
                  <a:srgbClr val="244F3D"/>
                </a:solidFill>
                <a:latin typeface="Arial"/>
                <a:ea typeface="Arial"/>
                <a:cs typeface="Arial"/>
              </a:defRPr>
            </a:lvl1pPr>
            <a:lvl2pPr>
              <a:defRPr sz="2325" b="1">
                <a:solidFill>
                  <a:srgbClr val="244F3D"/>
                </a:solidFill>
                <a:latin typeface="Arial"/>
                <a:ea typeface="Arial"/>
                <a:cs typeface="Arial"/>
              </a:defRPr>
            </a:lvl2pPr>
            <a:lvl3pPr>
              <a:defRPr sz="2325" b="1">
                <a:solidFill>
                  <a:srgbClr val="244F3D"/>
                </a:solidFill>
                <a:latin typeface="Arial"/>
                <a:ea typeface="Arial"/>
                <a:cs typeface="Arial"/>
              </a:defRPr>
            </a:lvl3pPr>
            <a:lvl4pPr>
              <a:defRPr sz="2325" b="1">
                <a:solidFill>
                  <a:srgbClr val="244F3D"/>
                </a:solidFill>
                <a:latin typeface="Arial"/>
                <a:ea typeface="Arial"/>
                <a:cs typeface="Arial"/>
              </a:defRPr>
            </a:lvl4pPr>
            <a:lvl5pPr>
              <a:defRPr sz="2325" b="1">
                <a:solidFill>
                  <a:srgbClr val="244F3D"/>
                </a:solidFill>
                <a:latin typeface="Arial"/>
                <a:ea typeface="Arial"/>
                <a:cs typeface="Arial"/>
              </a:defRPr>
            </a:lvl5pPr>
            <a:lvl6pPr>
              <a:defRPr sz="2325" b="1">
                <a:solidFill>
                  <a:srgbClr val="244F3D"/>
                </a:solidFill>
                <a:latin typeface="Arial"/>
                <a:ea typeface="Arial"/>
                <a:cs typeface="Arial"/>
              </a:defRPr>
            </a:lvl6pPr>
            <a:lvl7pPr>
              <a:defRPr sz="2325" b="1">
                <a:solidFill>
                  <a:srgbClr val="244F3D"/>
                </a:solidFill>
                <a:latin typeface="Arial"/>
                <a:ea typeface="Arial"/>
                <a:cs typeface="Arial"/>
              </a:defRPr>
            </a:lvl7pPr>
            <a:lvl8pPr>
              <a:defRPr sz="2325" b="1">
                <a:solidFill>
                  <a:srgbClr val="244F3D"/>
                </a:solidFill>
                <a:latin typeface="Arial"/>
                <a:ea typeface="Arial"/>
                <a:cs typeface="Arial"/>
              </a:defRPr>
            </a:lvl8pPr>
            <a:lvl9pPr>
              <a:defRPr sz="2325" b="1">
                <a:solidFill>
                  <a:srgbClr val="244F3D"/>
                </a:solidFill>
                <a:latin typeface="Arial"/>
                <a:ea typeface="Arial"/>
                <a:cs typeface="Arial"/>
              </a:defRPr>
            </a:lvl9pPr>
          </a:lstStyle>
          <a:p xmlns:a="http://schemas.openxmlformats.org/drawingml/2006/main">
            <a:pPr>
              <a:defRPr sz="2325" b="1">
                <a:solidFill>
                  <a:srgbClr val="244F3D"/>
                </a:solidFill>
                <a:latin typeface="Arial"/>
                <a:ea typeface="Arial"/>
                <a:cs typeface="Arial"/>
              </a:defRPr>
            </a:pPr>
            <a:r>
              <a:rPr sz="2325" b="1">
                <a:solidFill>
                  <a:srgbClr val="244F3D"/>
                </a:solidFill>
                <a:latin typeface="Arial"/>
                <a:ea typeface="Arial"/>
                <a:cs typeface="Arial"/>
              </a:rPr>
              <a:t>¿Qué pieza resolvería esta muestra?</a:t>
            </a:r>
          </a:p>
        </p:txBody>
      </p:sp>
      <p:sp>
        <p:nvSpPr>
          <p:cNvPr id="6" name="">
            <a:extLst xmlns:a="http://schemas.openxmlformats.org/drawingml/2006/main">
              <a:ext uri="{FF2B5EF4-FFF2-40B4-BE49-F238E27FC236}">
                <a16:creationId xmlns:a16="http://schemas.microsoft.com/office/drawing/2014/main" id="{8685DE88-A462-4946-AC35-5EA10825CDA1}"/>
              </a:ext>
            </a:extLst>
          </p:cNvPr>
          <p:cNvSpPr>
            <a:spLocks xmlns:a="http://schemas.openxmlformats.org/drawingml/2006/main" noGrp="1"/>
          </p:cNvSpPr>
          <p:nvPr/>
        </p:nvSpPr>
        <p:spPr>
          <a:xfrm xmlns:a="http://schemas.openxmlformats.org/drawingml/2006/main">
            <a:off x="590550" y="58483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8665F"/>
                </a:solidFill>
                <a:latin typeface="Arial"/>
                <a:ea typeface="Arial"/>
                <a:cs typeface="Arial"/>
              </a:defRPr>
            </a:defPPr>
            <a:lvl1pPr>
              <a:defRPr sz="1350" b="0">
                <a:solidFill>
                  <a:srgbClr val="58665F"/>
                </a:solidFill>
                <a:latin typeface="Arial"/>
                <a:ea typeface="Arial"/>
                <a:cs typeface="Arial"/>
              </a:defRPr>
            </a:lvl1pPr>
            <a:lvl2pPr>
              <a:defRPr sz="1350" b="0">
                <a:solidFill>
                  <a:srgbClr val="58665F"/>
                </a:solidFill>
                <a:latin typeface="Arial"/>
                <a:ea typeface="Arial"/>
                <a:cs typeface="Arial"/>
              </a:defRPr>
            </a:lvl2pPr>
            <a:lvl3pPr>
              <a:defRPr sz="1350" b="0">
                <a:solidFill>
                  <a:srgbClr val="58665F"/>
                </a:solidFill>
                <a:latin typeface="Arial"/>
                <a:ea typeface="Arial"/>
                <a:cs typeface="Arial"/>
              </a:defRPr>
            </a:lvl3pPr>
            <a:lvl4pPr>
              <a:defRPr sz="1350" b="0">
                <a:solidFill>
                  <a:srgbClr val="58665F"/>
                </a:solidFill>
                <a:latin typeface="Arial"/>
                <a:ea typeface="Arial"/>
                <a:cs typeface="Arial"/>
              </a:defRPr>
            </a:lvl4pPr>
            <a:lvl5pPr>
              <a:defRPr sz="1350" b="0">
                <a:solidFill>
                  <a:srgbClr val="58665F"/>
                </a:solidFill>
                <a:latin typeface="Arial"/>
                <a:ea typeface="Arial"/>
                <a:cs typeface="Arial"/>
              </a:defRPr>
            </a:lvl5pPr>
            <a:lvl6pPr>
              <a:defRPr sz="1350" b="0">
                <a:solidFill>
                  <a:srgbClr val="58665F"/>
                </a:solidFill>
                <a:latin typeface="Arial"/>
                <a:ea typeface="Arial"/>
                <a:cs typeface="Arial"/>
              </a:defRPr>
            </a:lvl6pPr>
            <a:lvl7pPr>
              <a:defRPr sz="1350" b="0">
                <a:solidFill>
                  <a:srgbClr val="58665F"/>
                </a:solidFill>
                <a:latin typeface="Arial"/>
                <a:ea typeface="Arial"/>
                <a:cs typeface="Arial"/>
              </a:defRPr>
            </a:lvl7pPr>
            <a:lvl8pPr>
              <a:defRPr sz="1350" b="0">
                <a:solidFill>
                  <a:srgbClr val="58665F"/>
                </a:solidFill>
                <a:latin typeface="Arial"/>
                <a:ea typeface="Arial"/>
                <a:cs typeface="Arial"/>
              </a:defRPr>
            </a:lvl8pPr>
            <a:lvl9pPr>
              <a:defRPr sz="1350" b="0">
                <a:solidFill>
                  <a:srgbClr val="58665F"/>
                </a:solidFill>
                <a:latin typeface="Arial"/>
                <a:ea typeface="Arial"/>
                <a:cs typeface="Arial"/>
              </a:defRPr>
            </a:lvl9pPr>
          </a:lstStyle>
          <a:p xmlns:a="http://schemas.openxmlformats.org/drawingml/2006/main">
            <a:pPr>
              <a:defRPr sz="1350" b="0">
                <a:solidFill>
                  <a:srgbClr val="58665F"/>
                </a:solidFill>
                <a:latin typeface="Arial"/>
                <a:ea typeface="Arial"/>
                <a:cs typeface="Arial"/>
              </a:defRPr>
            </a:pPr>
            <a:r>
              <a:rPr sz="1350" b="0">
                <a:solidFill>
                  <a:srgbClr val="58665F"/>
                </a:solidFill>
                <a:latin typeface="Arial"/>
                <a:ea typeface="Arial"/>
                <a:cs typeface="Arial"/>
              </a:rPr>
              <a:t>Prusa Research: superficies de piezas impresas. El proceso también participa de lo que observamos al comparar materiales.</a:t>
            </a:r>
          </a:p>
        </p:txBody>
      </p:sp>
    </p:spTree>
    <p:extLst>
      <p:ext uri="{BB962C8B-B14F-4D97-AF65-F5344CB8AC3E}">
        <p14:creationId xmlns:p14="http://schemas.microsoft.com/office/powerpoint/2010/main" val="1222371795"/>
      </p:ext>
    </p:extLst>
  </p:cSld>
</p:sld>
</file>

<file path=ppt/slides/slide2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BE10E7E-6E56-4AC3-ADBD-6A5067C69511}"/>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Preguntas para tocar y observar</a:t>
            </a:r>
          </a:p>
        </p:txBody>
      </p:sp>
      <p:pic>
        <p:nvPicPr>
          <p:cNvPr id="2" name="">
            <a:extLst xmlns:a="http://schemas.openxmlformats.org/drawingml/2006/main">
              <a:ext uri="{FF2B5EF4-FFF2-40B4-BE49-F238E27FC236}">
                <a16:creationId xmlns:a16="http://schemas.microsoft.com/office/drawing/2014/main" id="{5486E081-4EC0-4904-B3A9-37F5E8730774}"/>
              </a:ext>
            </a:extLst>
          </p:cNvPr>
          <p:cNvPicPr>
            <a:picLocks xmlns:a="http://schemas.openxmlformats.org/drawingml/2006/main" noChangeAspect="1"/>
          </p:cNvPicPr>
          <p:nvPr/>
        </p:nvPicPr>
        <p:blipFill>
          <a:blip xmlns:r="http://schemas.openxmlformats.org/officeDocument/2006/relationships" xmlns:a="http://schemas.openxmlformats.org/drawingml/2006/main" r:embed="R33c45afd847c4ca5"/>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73BA030-1539-4515-A990-5F33EAEC70B8}"/>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10   04/24</a:t>
            </a:r>
          </a:p>
        </p:txBody>
      </p:sp>
      <p:graphicFrame>
        <p:nvGraphicFramePr>
          <p:cNvPr id="4" name="">
            <a:extLst xmlns:a="http://schemas.openxmlformats.org/drawingml/2006/main">
              <a:ext uri="{FF2B5EF4-FFF2-40B4-BE49-F238E27FC236}">
                <a16:creationId xmlns:a16="http://schemas.microsoft.com/office/drawing/2014/main" id="{8617FE4D-C4D1-426F-B31B-7D11E6F2501E}"/>
              </a:ext>
            </a:extLst>
          </p:cNvPr>
          <p:cNvGraphicFramePr/>
          <p:nvPr/>
        </p:nvGraphicFramePr>
        <p:xfrm>
          <a:off xmlns:a="http://schemas.openxmlformats.org/drawingml/2006/main" x="590550" y="1752600"/>
          <a:ext xmlns:a="http://schemas.openxmlformats.org/drawingml/2006/main" cx="11010900" cy="3590925"/>
        </p:xfrm>
        <a:graphic xmlns:a="http://schemas.openxmlformats.org/drawingml/2006/main">
          <a:graphicData uri="http://schemas.openxmlformats.org/drawingml/2006/table">
            <a:tbl>
              <a:tblPr/>
              <a:tblGrid>
                <a:gridCol w="5505450"/>
                <a:gridCol w="5505450"/>
              </a:tblGrid>
              <a:tr h="718185">
                <a:tc>
                  <a:txBody>
                    <a:bodyPr/>
                    <a:lstStyle/>
                    <a:p>
                      <a:r>
                        <a:rPr sz="2025" b="1">
                          <a:solidFill>
                            <a:srgbClr val="FFFFFF"/>
                          </a:solidFill>
                          <a:latin typeface="Arial"/>
                          <a:ea typeface="Arial"/>
                          <a:cs typeface="Arial"/>
                        </a:rPr>
                        <a:t>Pregunta</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Relación con el proyecto</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18185">
                <a:tc>
                  <a:txBody>
                    <a:bodyPr/>
                    <a:lstStyle/>
                    <a:p>
                      <a:r>
                        <a:rPr sz="2025" b="0">
                          <a:solidFill>
                            <a:srgbClr val="14231E"/>
                          </a:solidFill>
                          <a:latin typeface="Arial"/>
                          <a:ea typeface="Arial"/>
                          <a:cs typeface="Arial"/>
                        </a:rPr>
                        <a:t>¿Cuánto pesa la pieza?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Masa que entra al vehículo</a:t>
                      </a:r>
                    </a:p>
                  </a:txBody>
                  <a:tcPr marL="91440" marR="91440" marT="45720" marB="45720">
                    <a:lnR w="9525">
                      <a:solidFill>
                        <a:srgbClr val="BFCEC3"/>
                      </a:solidFill>
                      <a:prstDash val="solid"/>
                    </a:lnR>
                    <a:lnB w="9525">
                      <a:solidFill>
                        <a:srgbClr val="BFCEC3"/>
                      </a:solidFill>
                      <a:prstDash val="solid"/>
                    </a:lnB>
                    <a:solidFill>
                      <a:srgbClr val="EAF3EC"/>
                    </a:solidFill>
                  </a:tcPr>
                </a:tc>
              </a:tr>
              <a:tr h="718185">
                <a:tc>
                  <a:txBody>
                    <a:bodyPr/>
                    <a:lstStyle/>
                    <a:p>
                      <a:r>
                        <a:rPr sz="2025" b="0">
                          <a:solidFill>
                            <a:srgbClr val="14231E"/>
                          </a:solidFill>
                          <a:latin typeface="Arial"/>
                          <a:ea typeface="Arial"/>
                          <a:cs typeface="Arial"/>
                        </a:rPr>
                        <a:t>¿Se deforma o se marca?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Manipulación y montaje</a:t>
                      </a:r>
                    </a:p>
                  </a:txBody>
                  <a:tcPr marL="91440" marR="91440" marT="45720" marB="45720">
                    <a:lnR w="9525">
                      <a:solidFill>
                        <a:srgbClr val="BFCEC3"/>
                      </a:solidFill>
                      <a:prstDash val="solid"/>
                    </a:lnR>
                    <a:lnB w="9525">
                      <a:solidFill>
                        <a:srgbClr val="BFCEC3"/>
                      </a:solidFill>
                      <a:prstDash val="solid"/>
                    </a:lnB>
                    <a:solidFill>
                      <a:srgbClr val="FCFCF8"/>
                    </a:solidFill>
                  </a:tcPr>
                </a:tc>
              </a:tr>
              <a:tr h="718185">
                <a:tc>
                  <a:txBody>
                    <a:bodyPr/>
                    <a:lstStyle/>
                    <a:p>
                      <a:r>
                        <a:rPr sz="2025" b="0">
                          <a:solidFill>
                            <a:srgbClr val="14231E"/>
                          </a:solidFill>
                          <a:latin typeface="Arial"/>
                          <a:ea typeface="Arial"/>
                          <a:cs typeface="Arial"/>
                        </a:rPr>
                        <a:t>¿Cómo se une?</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Proceso y compatibilidad</a:t>
                      </a:r>
                    </a:p>
                  </a:txBody>
                  <a:tcPr marL="91440" marR="91440" marT="45720" marB="45720">
                    <a:lnR w="9525">
                      <a:solidFill>
                        <a:srgbClr val="BFCEC3"/>
                      </a:solidFill>
                      <a:prstDash val="solid"/>
                    </a:lnR>
                    <a:lnB w="9525">
                      <a:solidFill>
                        <a:srgbClr val="BFCEC3"/>
                      </a:solidFill>
                      <a:prstDash val="solid"/>
                    </a:lnB>
                    <a:solidFill>
                      <a:srgbClr val="EAF3EC"/>
                    </a:solidFill>
                  </a:tcPr>
                </a:tc>
              </a:tr>
              <a:tr h="718185">
                <a:tc>
                  <a:txBody>
                    <a:bodyPr/>
                    <a:lstStyle/>
                    <a:p>
                      <a:r>
                        <a:rPr sz="2025" b="0">
                          <a:solidFill>
                            <a:srgbClr val="14231E"/>
                          </a:solidFill>
                          <a:latin typeface="Arial"/>
                          <a:ea typeface="Arial"/>
                          <a:cs typeface="Arial"/>
                        </a:rPr>
                        <a:t>¿Cómo se repara?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Reutilización y repuestos</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1561746402"/>
      </p:ext>
    </p:extLst>
  </p:cSld>
</p:sld>
</file>

<file path=ppt/slides/slide2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1597564-5811-4835-A0FF-B986738E8A27}"/>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Madera, cartón y polímeros impresos</a:t>
            </a:r>
          </a:p>
        </p:txBody>
      </p:sp>
      <p:pic>
        <p:nvPicPr>
          <p:cNvPr id="2" name="">
            <a:extLst xmlns:a="http://schemas.openxmlformats.org/drawingml/2006/main">
              <a:ext uri="{FF2B5EF4-FFF2-40B4-BE49-F238E27FC236}">
                <a16:creationId xmlns:a16="http://schemas.microsoft.com/office/drawing/2014/main" id="{2831D072-E4D7-4E48-85F1-DD9CC64616BC}"/>
              </a:ext>
            </a:extLst>
          </p:cNvPr>
          <p:cNvPicPr>
            <a:picLocks xmlns:a="http://schemas.openxmlformats.org/drawingml/2006/main" noChangeAspect="1"/>
          </p:cNvPicPr>
          <p:nvPr/>
        </p:nvPicPr>
        <p:blipFill>
          <a:blip xmlns:r="http://schemas.openxmlformats.org/officeDocument/2006/relationships" xmlns:a="http://schemas.openxmlformats.org/drawingml/2006/main" r:embed="R9fb1f088c724408b"/>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7FA2ED6-D22B-4A7B-9549-AA9AD2C7070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10   05/24</a:t>
            </a:r>
          </a:p>
        </p:txBody>
      </p:sp>
      <p:sp>
        <p:nvSpPr>
          <p:cNvPr id="4" name="">
            <a:extLst xmlns:a="http://schemas.openxmlformats.org/drawingml/2006/main">
              <a:ext uri="{FF2B5EF4-FFF2-40B4-BE49-F238E27FC236}">
                <a16:creationId xmlns:a16="http://schemas.microsoft.com/office/drawing/2014/main" id="{938F815B-862C-4182-97C9-C66F37DE89CF}"/>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En la madera, la dirección de la veta puede influir en cómo se comporta una aleta. En el tubo, el estado del borde y la humedad pueden alterar el encaje. En una impresión, el material y la orientación participan juntos. Estas observaciones son más útiles para el primer proyecto que comparar valores aislados de una tabla sin saber a qué muestra pertenecen.</a:t>
            </a:r>
          </a:p>
        </p:txBody>
      </p:sp>
    </p:spTree>
    <p:extLst>
      <p:ext uri="{BB962C8B-B14F-4D97-AF65-F5344CB8AC3E}">
        <p14:creationId xmlns:p14="http://schemas.microsoft.com/office/powerpoint/2010/main" val="1660820205"/>
      </p:ext>
    </p:extLst>
  </p:cSld>
</p:sld>
</file>

<file path=ppt/slides/slide3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99B25D2-F138-4A52-ACF9-B2D08F902D34}"/>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Comparación inicial por proceso</a:t>
            </a:r>
          </a:p>
        </p:txBody>
      </p:sp>
      <p:pic>
        <p:nvPicPr>
          <p:cNvPr id="2" name="">
            <a:extLst xmlns:a="http://schemas.openxmlformats.org/drawingml/2006/main">
              <a:ext uri="{FF2B5EF4-FFF2-40B4-BE49-F238E27FC236}">
                <a16:creationId xmlns:a16="http://schemas.microsoft.com/office/drawing/2014/main" id="{00A15A30-3A1B-4575-BF90-B3AE607AF7E9}"/>
              </a:ext>
            </a:extLst>
          </p:cNvPr>
          <p:cNvPicPr>
            <a:picLocks xmlns:a="http://schemas.openxmlformats.org/drawingml/2006/main" noChangeAspect="1"/>
          </p:cNvPicPr>
          <p:nvPr/>
        </p:nvPicPr>
        <p:blipFill>
          <a:blip xmlns:r="http://schemas.openxmlformats.org/officeDocument/2006/relationships" xmlns:a="http://schemas.openxmlformats.org/drawingml/2006/main" r:embed="R72f307c5efd14c49"/>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6C50BCC-609B-47FE-9E3B-6D8D8D57D3B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10   06/24</a:t>
            </a:r>
          </a:p>
        </p:txBody>
      </p:sp>
      <p:graphicFrame>
        <p:nvGraphicFramePr>
          <p:cNvPr id="4" name="">
            <a:extLst xmlns:a="http://schemas.openxmlformats.org/drawingml/2006/main">
              <a:ext uri="{FF2B5EF4-FFF2-40B4-BE49-F238E27FC236}">
                <a16:creationId xmlns:a16="http://schemas.microsoft.com/office/drawing/2014/main" id="{B6D1444B-B850-41D6-9B2C-31130BE9D796}"/>
              </a:ext>
            </a:extLst>
          </p:cNvPr>
          <p:cNvGraphicFramePr/>
          <p:nvPr/>
        </p:nvGraphicFramePr>
        <p:xfrm>
          <a:off xmlns:a="http://schemas.openxmlformats.org/drawingml/2006/main" x="590550" y="1752600"/>
          <a:ext xmlns:a="http://schemas.openxmlformats.org/drawingml/2006/main" cx="11010900" cy="3590925"/>
        </p:xfrm>
        <a:graphic xmlns:a="http://schemas.openxmlformats.org/drawingml/2006/main">
          <a:graphicData uri="http://schemas.openxmlformats.org/drawingml/2006/table">
            <a:tbl>
              <a:tblPr/>
              <a:tblGrid>
                <a:gridCol w="2143125"/>
                <a:gridCol w="4524375"/>
                <a:gridCol w="4343400"/>
              </a:tblGrid>
              <a:tr h="718185">
                <a:tc>
                  <a:txBody>
                    <a:bodyPr/>
                    <a:lstStyle/>
                    <a:p>
                      <a:r>
                        <a:rPr sz="2025" b="1">
                          <a:solidFill>
                            <a:srgbClr val="FFFFFF"/>
                          </a:solidFill>
                          <a:latin typeface="Arial"/>
                          <a:ea typeface="Arial"/>
                          <a:cs typeface="Arial"/>
                        </a:rPr>
                        <a:t>Opción</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Qué puede facilitar</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Qué revisar en la pieza</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18185">
                <a:tc>
                  <a:txBody>
                    <a:bodyPr/>
                    <a:lstStyle/>
                    <a:p>
                      <a:r>
                        <a:rPr sz="2025" b="0">
                          <a:solidFill>
                            <a:srgbClr val="14231E"/>
                          </a:solidFill>
                          <a:latin typeface="Arial"/>
                          <a:ea typeface="Arial"/>
                          <a:cs typeface="Arial"/>
                        </a:rPr>
                        <a:t>Cartón ligero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Cuerpo disponible y liviano</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Circularidad, humedad y uniones</a:t>
                      </a:r>
                    </a:p>
                  </a:txBody>
                  <a:tcPr marL="91440" marR="91440" marT="45720" marB="45720">
                    <a:lnR w="9525">
                      <a:solidFill>
                        <a:srgbClr val="BFCEC3"/>
                      </a:solidFill>
                      <a:prstDash val="solid"/>
                    </a:lnR>
                    <a:lnB w="9525">
                      <a:solidFill>
                        <a:srgbClr val="BFCEC3"/>
                      </a:solidFill>
                      <a:prstDash val="solid"/>
                    </a:lnB>
                    <a:solidFill>
                      <a:srgbClr val="EAF3EC"/>
                    </a:solidFill>
                  </a:tcPr>
                </a:tc>
              </a:tr>
              <a:tr h="718185">
                <a:tc>
                  <a:txBody>
                    <a:bodyPr/>
                    <a:lstStyle/>
                    <a:p>
                      <a:r>
                        <a:rPr sz="2025" b="0">
                          <a:solidFill>
                            <a:srgbClr val="14231E"/>
                          </a:solidFill>
                          <a:latin typeface="Arial"/>
                          <a:ea typeface="Arial"/>
                          <a:cs typeface="Arial"/>
                        </a:rPr>
                        <a:t>Madera ligera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Corte y repetición de aletas</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Veta, borde y espesor</a:t>
                      </a:r>
                    </a:p>
                  </a:txBody>
                  <a:tcPr marL="91440" marR="91440" marT="45720" marB="45720">
                    <a:lnR w="9525">
                      <a:solidFill>
                        <a:srgbClr val="BFCEC3"/>
                      </a:solidFill>
                      <a:prstDash val="solid"/>
                    </a:lnR>
                    <a:lnB w="9525">
                      <a:solidFill>
                        <a:srgbClr val="BFCEC3"/>
                      </a:solidFill>
                      <a:prstDash val="solid"/>
                    </a:lnB>
                    <a:solidFill>
                      <a:srgbClr val="FCFCF8"/>
                    </a:solidFill>
                  </a:tcPr>
                </a:tc>
              </a:tr>
              <a:tr h="718185">
                <a:tc>
                  <a:txBody>
                    <a:bodyPr/>
                    <a:lstStyle/>
                    <a:p>
                      <a:r>
                        <a:rPr sz="2025" b="0">
                          <a:solidFill>
                            <a:srgbClr val="14231E"/>
                          </a:solidFill>
                          <a:latin typeface="Arial"/>
                          <a:ea typeface="Arial"/>
                          <a:cs typeface="Arial"/>
                        </a:rPr>
                        <a:t>PLA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Prototipos y detalles geométricos</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Fragilidad, calor y capas</a:t>
                      </a:r>
                    </a:p>
                  </a:txBody>
                  <a:tcPr marL="91440" marR="91440" marT="45720" marB="45720">
                    <a:lnR w="9525">
                      <a:solidFill>
                        <a:srgbClr val="BFCEC3"/>
                      </a:solidFill>
                      <a:prstDash val="solid"/>
                    </a:lnR>
                    <a:lnB w="9525">
                      <a:solidFill>
                        <a:srgbClr val="BFCEC3"/>
                      </a:solidFill>
                      <a:prstDash val="solid"/>
                    </a:lnB>
                    <a:solidFill>
                      <a:srgbClr val="EAF3EC"/>
                    </a:solidFill>
                  </a:tcPr>
                </a:tc>
              </a:tr>
              <a:tr h="718185">
                <a:tc>
                  <a:txBody>
                    <a:bodyPr/>
                    <a:lstStyle/>
                    <a:p>
                      <a:r>
                        <a:rPr sz="2025" b="0">
                          <a:solidFill>
                            <a:srgbClr val="14231E"/>
                          </a:solidFill>
                          <a:latin typeface="Arial"/>
                          <a:ea typeface="Arial"/>
                          <a:cs typeface="Arial"/>
                        </a:rPr>
                        <a:t>PETG</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Piezas funcionales según diseño</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Deformación, ajuste y acabado</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272531807"/>
      </p:ext>
    </p:extLst>
  </p:cSld>
</p:sld>
</file>

<file path=ppt/slides/slide31.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F11657E-6EEC-4AF4-9753-524E49D0FADC}"/>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Misma función, proceso diferente</a:t>
            </a:r>
          </a:p>
        </p:txBody>
      </p:sp>
      <p:pic>
        <p:nvPicPr>
          <p:cNvPr id="2" name="">
            <a:extLst xmlns:a="http://schemas.openxmlformats.org/drawingml/2006/main">
              <a:ext uri="{FF2B5EF4-FFF2-40B4-BE49-F238E27FC236}">
                <a16:creationId xmlns:a16="http://schemas.microsoft.com/office/drawing/2014/main" id="{B8379E26-F78D-4A08-AB4B-8E56426833C0}"/>
              </a:ext>
            </a:extLst>
          </p:cNvPr>
          <p:cNvPicPr>
            <a:picLocks xmlns:a="http://schemas.openxmlformats.org/drawingml/2006/main" noChangeAspect="1"/>
          </p:cNvPicPr>
          <p:nvPr/>
        </p:nvPicPr>
        <p:blipFill>
          <a:blip xmlns:r="http://schemas.openxmlformats.org/officeDocument/2006/relationships" xmlns:a="http://schemas.openxmlformats.org/drawingml/2006/main" r:embed="R7c12816864a94362"/>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A3305F1-4C8A-48B5-80A4-600FDE8B6DD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5   CLASE 10   07/24</a:t>
            </a:r>
          </a:p>
        </p:txBody>
      </p:sp>
      <p:sp>
        <p:nvSpPr>
          <p:cNvPr id="4" name="">
            <a:extLst xmlns:a="http://schemas.openxmlformats.org/drawingml/2006/main">
              <a:ext uri="{FF2B5EF4-FFF2-40B4-BE49-F238E27FC236}">
                <a16:creationId xmlns:a16="http://schemas.microsoft.com/office/drawing/2014/main" id="{A95D72FC-FB8E-4301-BAE2-BD5F1C754B5D}"/>
              </a:ext>
            </a:extLst>
          </p:cNvPr>
          <p:cNvSpPr>
            <a:spLocks xmlns:a="http://schemas.openxmlformats.org/drawingml/2006/main" noGrp="1"/>
          </p:cNvSpPr>
          <p:nvPr/>
        </p:nvSpPr>
        <p:spPr>
          <a:xfrm xmlns:a="http://schemas.openxmlformats.org/drawingml/2006/main">
            <a:off x="590550" y="1809750"/>
            <a:ext cx="107156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Dos útiles mantienen la alineación de las piezas: uno está impreso y otro se prepara con material de taller.</a:t>
            </a:r>
          </a:p>
        </p:txBody>
      </p:sp>
      <p:sp>
        <p:nvSpPr>
          <p:cNvPr id="5" name="">
            <a:extLst xmlns:a="http://schemas.openxmlformats.org/drawingml/2006/main">
              <a:ext uri="{FF2B5EF4-FFF2-40B4-BE49-F238E27FC236}">
                <a16:creationId xmlns:a16="http://schemas.microsoft.com/office/drawing/2014/main" id="{FF44097E-00D2-4496-A563-B3C7A0881731}"/>
              </a:ext>
            </a:extLst>
          </p:cNvPr>
          <p:cNvSpPr>
            <a:spLocks xmlns:a="http://schemas.openxmlformats.org/drawingml/2006/main" noGrp="1"/>
          </p:cNvSpPr>
          <p:nvPr/>
        </p:nvSpPr>
        <p:spPr>
          <a:xfrm xmlns:a="http://schemas.openxmlformats.org/drawingml/2006/main">
            <a:off x="590550" y="4629150"/>
            <a:ext cx="10715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¿Comparaste también espesor y proceso?</a:t>
            </a:r>
          </a:p>
        </p:txBody>
      </p:sp>
    </p:spTree>
    <p:extLst>
      <p:ext uri="{BB962C8B-B14F-4D97-AF65-F5344CB8AC3E}">
        <p14:creationId xmlns:p14="http://schemas.microsoft.com/office/powerpoint/2010/main" val="2011904521"/>
      </p:ext>
    </p:extLst>
  </p:cSld>
</p:sld>
</file>

<file path=ppt/slides/slide3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BA77F36-3BE8-4AA6-9B5B-8A2BD9EE2392}"/>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Qué significa compuesto</a:t>
            </a:r>
          </a:p>
        </p:txBody>
      </p:sp>
      <p:pic>
        <p:nvPicPr>
          <p:cNvPr id="2" name="">
            <a:extLst xmlns:a="http://schemas.openxmlformats.org/drawingml/2006/main">
              <a:ext uri="{FF2B5EF4-FFF2-40B4-BE49-F238E27FC236}">
                <a16:creationId xmlns:a16="http://schemas.microsoft.com/office/drawing/2014/main" id="{DBBF6B47-6C13-4EDB-82C8-074F215D748F}"/>
              </a:ext>
            </a:extLst>
          </p:cNvPr>
          <p:cNvPicPr>
            <a:picLocks xmlns:a="http://schemas.openxmlformats.org/drawingml/2006/main" noChangeAspect="1"/>
          </p:cNvPicPr>
          <p:nvPr/>
        </p:nvPicPr>
        <p:blipFill>
          <a:blip xmlns:r="http://schemas.openxmlformats.org/officeDocument/2006/relationships" xmlns:a="http://schemas.openxmlformats.org/drawingml/2006/main" r:embed="R4ccfea9852224677"/>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09A9E0F-2ED1-40F1-97EE-EF6FAF453B91}"/>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10   08/24</a:t>
            </a:r>
          </a:p>
        </p:txBody>
      </p:sp>
      <p:sp>
        <p:nvSpPr>
          <p:cNvPr id="4" name="">
            <a:extLst xmlns:a="http://schemas.openxmlformats.org/drawingml/2006/main">
              <a:ext uri="{FF2B5EF4-FFF2-40B4-BE49-F238E27FC236}">
                <a16:creationId xmlns:a16="http://schemas.microsoft.com/office/drawing/2014/main" id="{10B9F34C-4626-4D72-8F99-E60895EB9F58}"/>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Un compuesto combina un refuerzo y una matriz. En un laminado con tejido, las fibras se organizan en direcciones reconocibles y la matriz las mantiene unidas y transmite esfuerzos. En un filamento con fibras cortas, el refuerzo está distribuido de otra manera. Usar la palabra “carbono” para ambos no los vuelve equivalentes.</a:t>
            </a:r>
          </a:p>
        </p:txBody>
      </p:sp>
    </p:spTree>
    <p:extLst>
      <p:ext uri="{BB962C8B-B14F-4D97-AF65-F5344CB8AC3E}">
        <p14:creationId xmlns:p14="http://schemas.microsoft.com/office/powerpoint/2010/main" val="2125963313"/>
      </p:ext>
    </p:extLst>
  </p:cSld>
</p:sld>
</file>

<file path=ppt/slides/slide3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D864B34-EDAC-4223-AEA3-50AFCA39F0A6}"/>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Comparación conceptual de muestras</a:t>
            </a:r>
          </a:p>
        </p:txBody>
      </p:sp>
      <p:pic>
        <p:nvPicPr>
          <p:cNvPr id="2" name="">
            <a:extLst xmlns:a="http://schemas.openxmlformats.org/drawingml/2006/main">
              <a:ext uri="{FF2B5EF4-FFF2-40B4-BE49-F238E27FC236}">
                <a16:creationId xmlns:a16="http://schemas.microsoft.com/office/drawing/2014/main" id="{5D66F934-5B91-4D9F-9FAC-FC475C6F1EE8}"/>
              </a:ext>
            </a:extLst>
          </p:cNvPr>
          <p:cNvPicPr>
            <a:picLocks xmlns:a="http://schemas.openxmlformats.org/drawingml/2006/main" noChangeAspect="1"/>
          </p:cNvPicPr>
          <p:nvPr/>
        </p:nvPicPr>
        <p:blipFill>
          <a:blip xmlns:r="http://schemas.openxmlformats.org/officeDocument/2006/relationships" xmlns:a="http://schemas.openxmlformats.org/drawingml/2006/main" r:embed="R7ed71c4a10a740a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2EFE80B-6BC2-46CD-9E13-B732E4C7BAE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10   09/24</a:t>
            </a:r>
          </a:p>
        </p:txBody>
      </p:sp>
      <p:graphicFrame>
        <p:nvGraphicFramePr>
          <p:cNvPr id="4" name="">
            <a:extLst xmlns:a="http://schemas.openxmlformats.org/drawingml/2006/main">
              <a:ext uri="{FF2B5EF4-FFF2-40B4-BE49-F238E27FC236}">
                <a16:creationId xmlns:a16="http://schemas.microsoft.com/office/drawing/2014/main" id="{CCF4B6AC-5E75-42EA-A58D-731BB3ED8741}"/>
              </a:ext>
            </a:extLst>
          </p:cNvPr>
          <p:cNvGraphicFramePr/>
          <p:nvPr/>
        </p:nvGraphicFramePr>
        <p:xfrm>
          <a:off xmlns:a="http://schemas.openxmlformats.org/drawingml/2006/main" x="590550" y="1752600"/>
          <a:ext xmlns:a="http://schemas.openxmlformats.org/drawingml/2006/main" cx="11010900" cy="3590925"/>
        </p:xfrm>
        <a:graphic xmlns:a="http://schemas.openxmlformats.org/drawingml/2006/main">
          <a:graphicData uri="http://schemas.openxmlformats.org/drawingml/2006/table">
            <a:tbl>
              <a:tblPr/>
              <a:tblGrid>
                <a:gridCol w="2143125"/>
                <a:gridCol w="4524375"/>
                <a:gridCol w="4343400"/>
              </a:tblGrid>
              <a:tr h="897731">
                <a:tc>
                  <a:txBody>
                    <a:bodyPr/>
                    <a:lstStyle/>
                    <a:p>
                      <a:r>
                        <a:rPr sz="2025" b="1">
                          <a:solidFill>
                            <a:srgbClr val="FFFFFF"/>
                          </a:solidFill>
                          <a:latin typeface="Arial"/>
                          <a:ea typeface="Arial"/>
                          <a:cs typeface="Arial"/>
                        </a:rPr>
                        <a:t>Muestra</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Qué observar</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Qué evitar concluir</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897731">
                <a:tc>
                  <a:txBody>
                    <a:bodyPr/>
                    <a:lstStyle/>
                    <a:p>
                      <a:r>
                        <a:rPr sz="2025" b="0">
                          <a:solidFill>
                            <a:srgbClr val="14231E"/>
                          </a:solidFill>
                          <a:latin typeface="Arial"/>
                          <a:ea typeface="Arial"/>
                          <a:cs typeface="Arial"/>
                        </a:rPr>
                        <a:t>Vidrio con resina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Tejido, acabado, espesor y masa</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Que todo vidrio se comporta igual</a:t>
                      </a:r>
                    </a:p>
                  </a:txBody>
                  <a:tcPr marL="91440" marR="91440" marT="45720" marB="45720">
                    <a:lnR w="9525">
                      <a:solidFill>
                        <a:srgbClr val="BFCEC3"/>
                      </a:solidFill>
                      <a:prstDash val="solid"/>
                    </a:lnR>
                    <a:lnB w="9525">
                      <a:solidFill>
                        <a:srgbClr val="BFCEC3"/>
                      </a:solidFill>
                      <a:prstDash val="solid"/>
                    </a:lnB>
                    <a:solidFill>
                      <a:srgbClr val="EAF3EC"/>
                    </a:solidFill>
                  </a:tcPr>
                </a:tc>
              </a:tr>
              <a:tr h="897731">
                <a:tc>
                  <a:txBody>
                    <a:bodyPr/>
                    <a:lstStyle/>
                    <a:p>
                      <a:r>
                        <a:rPr sz="2025" b="0">
                          <a:solidFill>
                            <a:srgbClr val="14231E"/>
                          </a:solidFill>
                          <a:latin typeface="Arial"/>
                          <a:ea typeface="Arial"/>
                          <a:cs typeface="Arial"/>
                        </a:rPr>
                        <a:t>Carbono con resina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Orientación, pieza y unión</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Que siempre hace falta en un modelo pequeño</a:t>
                      </a:r>
                    </a:p>
                  </a:txBody>
                  <a:tcPr marL="91440" marR="91440" marT="45720" marB="45720">
                    <a:lnR w="9525">
                      <a:solidFill>
                        <a:srgbClr val="BFCEC3"/>
                      </a:solidFill>
                      <a:prstDash val="solid"/>
                    </a:lnR>
                    <a:lnB w="9525">
                      <a:solidFill>
                        <a:srgbClr val="BFCEC3"/>
                      </a:solidFill>
                      <a:prstDash val="solid"/>
                    </a:lnB>
                    <a:solidFill>
                      <a:srgbClr val="FCFCF8"/>
                    </a:solidFill>
                  </a:tcPr>
                </a:tc>
              </a:tr>
              <a:tr h="897731">
                <a:tc>
                  <a:txBody>
                    <a:bodyPr/>
                    <a:lstStyle/>
                    <a:p>
                      <a:r>
                        <a:rPr sz="2025" b="0">
                          <a:solidFill>
                            <a:srgbClr val="14231E"/>
                          </a:solidFill>
                          <a:latin typeface="Arial"/>
                          <a:ea typeface="Arial"/>
                          <a:cs typeface="Arial"/>
                        </a:rPr>
                        <a:t>Filamento con fibra corta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Matriz, impresión y capas</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Que equivale a un laminado de tejido</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1192237212"/>
      </p:ext>
    </p:extLst>
  </p:cSld>
</p:sld>
</file>

<file path=ppt/slides/slide3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C716207-F75C-4589-8650-28B43837C8F6}"/>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Qué significa compuesto</a:t>
            </a:r>
          </a:p>
        </p:txBody>
      </p:sp>
      <p:pic>
        <p:nvPicPr>
          <p:cNvPr id="2" name="">
            <a:extLst xmlns:a="http://schemas.openxmlformats.org/drawingml/2006/main">
              <a:ext uri="{FF2B5EF4-FFF2-40B4-BE49-F238E27FC236}">
                <a16:creationId xmlns:a16="http://schemas.microsoft.com/office/drawing/2014/main" id="{5DF404DC-6922-42D9-8156-0D00D73D07B4}"/>
              </a:ext>
            </a:extLst>
          </p:cNvPr>
          <p:cNvPicPr>
            <a:picLocks xmlns:a="http://schemas.openxmlformats.org/drawingml/2006/main" noChangeAspect="1"/>
          </p:cNvPicPr>
          <p:nvPr/>
        </p:nvPicPr>
        <p:blipFill>
          <a:blip xmlns:r="http://schemas.openxmlformats.org/officeDocument/2006/relationships" xmlns:a="http://schemas.openxmlformats.org/drawingml/2006/main" r:embed="R0134fff080d647de"/>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A27E80B-C783-448E-AE3B-DE822746F03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10   10/24</a:t>
            </a:r>
          </a:p>
        </p:txBody>
      </p:sp>
      <p:sp>
        <p:nvSpPr>
          <p:cNvPr id="4" name="">
            <a:extLst xmlns:a="http://schemas.openxmlformats.org/drawingml/2006/main">
              <a:ext uri="{FF2B5EF4-FFF2-40B4-BE49-F238E27FC236}">
                <a16:creationId xmlns:a16="http://schemas.microsoft.com/office/drawing/2014/main" id="{90D5A292-8D05-4F9B-B817-864AFBB2FB50}"/>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El nombre de una fibra no define la cantidad de refuerzo, su orientación o la calidad de la matriz. Un acabado exterior parecido puede esconder procesos diferentes. Antes de comparar una placa comprada con una pieza preparada en taller, identifica qué información existe sobre cada una. Si falta una ficha o no se conoce su fabricación, esa incertidumbre forma parte de la elección. No se rellena asignando las propiedades del material más parecido.</a:t>
            </a:r>
          </a:p>
        </p:txBody>
      </p:sp>
    </p:spTree>
    <p:extLst>
      <p:ext uri="{BB962C8B-B14F-4D97-AF65-F5344CB8AC3E}">
        <p14:creationId xmlns:p14="http://schemas.microsoft.com/office/powerpoint/2010/main" val="1305637608"/>
      </p:ext>
    </p:extLst>
  </p:cSld>
</p:sld>
</file>

<file path=ppt/slides/slide3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EB6FC3D-39F5-4A37-AD96-3987B47D953F}"/>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Comparar con una tarea sencilla y definida</a:t>
            </a:r>
          </a:p>
        </p:txBody>
      </p:sp>
      <p:pic>
        <p:nvPicPr>
          <p:cNvPr id="2" name="">
            <a:extLst xmlns:a="http://schemas.openxmlformats.org/drawingml/2006/main">
              <a:ext uri="{FF2B5EF4-FFF2-40B4-BE49-F238E27FC236}">
                <a16:creationId xmlns:a16="http://schemas.microsoft.com/office/drawing/2014/main" id="{30923033-D2EA-458A-AF58-9BD8B81DFA4F}"/>
              </a:ext>
            </a:extLst>
          </p:cNvPr>
          <p:cNvPicPr>
            <a:picLocks xmlns:a="http://schemas.openxmlformats.org/drawingml/2006/main" noChangeAspect="1"/>
          </p:cNvPicPr>
          <p:nvPr/>
        </p:nvPicPr>
        <p:blipFill>
          <a:blip xmlns:r="http://schemas.openxmlformats.org/officeDocument/2006/relationships" xmlns:a="http://schemas.openxmlformats.org/drawingml/2006/main" r:embed="R40540cf0c5354a0e"/>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0F5110E-47BC-47B6-94CE-EDED26EFD138}"/>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10   11/24</a:t>
            </a:r>
          </a:p>
        </p:txBody>
      </p:sp>
      <p:sp>
        <p:nvSpPr>
          <p:cNvPr id="4" name="">
            <a:extLst xmlns:a="http://schemas.openxmlformats.org/drawingml/2006/main">
              <a:ext uri="{FF2B5EF4-FFF2-40B4-BE49-F238E27FC236}">
                <a16:creationId xmlns:a16="http://schemas.microsoft.com/office/drawing/2014/main" id="{C20A93FA-2692-4256-A276-5F234A743D6D}"/>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El docente prepara muestras para una observación de banco, sin utilizar piezas críticas del vehículo para descubrir su límite de rotura. La tarea puede ser observar masa, espesor, recuperación después de una manipulación moderada y facilidad de unión en una muestra separada. El criterio se fija antes de comparar.</a:t>
            </a:r>
          </a:p>
        </p:txBody>
      </p:sp>
    </p:spTree>
    <p:extLst>
      <p:ext uri="{BB962C8B-B14F-4D97-AF65-F5344CB8AC3E}">
        <p14:creationId xmlns:p14="http://schemas.microsoft.com/office/powerpoint/2010/main" val="700960837"/>
      </p:ext>
    </p:extLst>
  </p:cSld>
</p:sld>
</file>

<file path=ppt/slides/slide36.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B0E7F78-D5F7-4453-80AE-D95A48852E88}"/>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Pregunta del equipo</a:t>
            </a:r>
          </a:p>
        </p:txBody>
      </p:sp>
      <p:pic>
        <p:nvPicPr>
          <p:cNvPr id="2" name="">
            <a:extLst xmlns:a="http://schemas.openxmlformats.org/drawingml/2006/main">
              <a:ext uri="{FF2B5EF4-FFF2-40B4-BE49-F238E27FC236}">
                <a16:creationId xmlns:a16="http://schemas.microsoft.com/office/drawing/2014/main" id="{C00BAD20-2830-474D-8A94-A1FB996FB677}"/>
              </a:ext>
            </a:extLst>
          </p:cNvPr>
          <p:cNvPicPr>
            <a:picLocks xmlns:a="http://schemas.openxmlformats.org/drawingml/2006/main" noChangeAspect="1"/>
          </p:cNvPicPr>
          <p:nvPr/>
        </p:nvPicPr>
        <p:blipFill>
          <a:blip xmlns:r="http://schemas.openxmlformats.org/officeDocument/2006/relationships" xmlns:a="http://schemas.openxmlformats.org/drawingml/2006/main" r:embed="R447b1d850bde4635"/>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473C793-D073-43C8-8A2A-126BA9BA5F78}"/>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5   CLASE 10   12/24</a:t>
            </a:r>
          </a:p>
        </p:txBody>
      </p:sp>
      <p:sp>
        <p:nvSpPr>
          <p:cNvPr id="4" name="">
            <a:extLst xmlns:a="http://schemas.openxmlformats.org/drawingml/2006/main">
              <a:ext uri="{FF2B5EF4-FFF2-40B4-BE49-F238E27FC236}">
                <a16:creationId xmlns:a16="http://schemas.microsoft.com/office/drawing/2014/main" id="{8C093484-A1F6-4F0F-83C5-57679F15DDEE}"/>
              </a:ext>
            </a:extLst>
          </p:cNvPr>
          <p:cNvSpPr>
            <a:spLocks xmlns:a="http://schemas.openxmlformats.org/drawingml/2006/main" noGrp="1"/>
          </p:cNvSpPr>
          <p:nvPr/>
        </p:nvSpPr>
        <p:spPr>
          <a:xfrm xmlns:a="http://schemas.openxmlformats.org/drawingml/2006/main">
            <a:off x="590550" y="1800225"/>
            <a:ext cx="10715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AEF4BB"/>
                </a:solidFill>
                <a:latin typeface="Arial"/>
                <a:ea typeface="Arial"/>
                <a:cs typeface="Arial"/>
              </a:defRPr>
            </a:defPPr>
            <a:lvl1pPr>
              <a:defRPr sz="3075" b="1">
                <a:solidFill>
                  <a:srgbClr val="AEF4BB"/>
                </a:solidFill>
                <a:latin typeface="Arial"/>
                <a:ea typeface="Arial"/>
                <a:cs typeface="Arial"/>
              </a:defRPr>
            </a:lvl1pPr>
            <a:lvl2pPr>
              <a:defRPr sz="3075" b="1">
                <a:solidFill>
                  <a:srgbClr val="AEF4BB"/>
                </a:solidFill>
                <a:latin typeface="Arial"/>
                <a:ea typeface="Arial"/>
                <a:cs typeface="Arial"/>
              </a:defRPr>
            </a:lvl2pPr>
            <a:lvl3pPr>
              <a:defRPr sz="3075" b="1">
                <a:solidFill>
                  <a:srgbClr val="AEF4BB"/>
                </a:solidFill>
                <a:latin typeface="Arial"/>
                <a:ea typeface="Arial"/>
                <a:cs typeface="Arial"/>
              </a:defRPr>
            </a:lvl3pPr>
            <a:lvl4pPr>
              <a:defRPr sz="3075" b="1">
                <a:solidFill>
                  <a:srgbClr val="AEF4BB"/>
                </a:solidFill>
                <a:latin typeface="Arial"/>
                <a:ea typeface="Arial"/>
                <a:cs typeface="Arial"/>
              </a:defRPr>
            </a:lvl4pPr>
            <a:lvl5pPr>
              <a:defRPr sz="3075" b="1">
                <a:solidFill>
                  <a:srgbClr val="AEF4BB"/>
                </a:solidFill>
                <a:latin typeface="Arial"/>
                <a:ea typeface="Arial"/>
                <a:cs typeface="Arial"/>
              </a:defRPr>
            </a:lvl5pPr>
            <a:lvl6pPr>
              <a:defRPr sz="3075" b="1">
                <a:solidFill>
                  <a:srgbClr val="AEF4BB"/>
                </a:solidFill>
                <a:latin typeface="Arial"/>
                <a:ea typeface="Arial"/>
                <a:cs typeface="Arial"/>
              </a:defRPr>
            </a:lvl6pPr>
            <a:lvl7pPr>
              <a:defRPr sz="3075" b="1">
                <a:solidFill>
                  <a:srgbClr val="AEF4BB"/>
                </a:solidFill>
                <a:latin typeface="Arial"/>
                <a:ea typeface="Arial"/>
                <a:cs typeface="Arial"/>
              </a:defRPr>
            </a:lvl7pPr>
            <a:lvl8pPr>
              <a:defRPr sz="3075" b="1">
                <a:solidFill>
                  <a:srgbClr val="AEF4BB"/>
                </a:solidFill>
                <a:latin typeface="Arial"/>
                <a:ea typeface="Arial"/>
                <a:cs typeface="Arial"/>
              </a:defRPr>
            </a:lvl8pPr>
            <a:lvl9pPr>
              <a:defRPr sz="3075" b="1">
                <a:solidFill>
                  <a:srgbClr val="AEF4BB"/>
                </a:solidFill>
                <a:latin typeface="Arial"/>
                <a:ea typeface="Arial"/>
                <a:cs typeface="Arial"/>
              </a:defRPr>
            </a:lvl9pPr>
          </a:lstStyle>
          <a:p xmlns:a="http://schemas.openxmlformats.org/drawingml/2006/main">
            <a:pPr>
              <a:defRPr sz="3075" b="1">
                <a:solidFill>
                  <a:srgbClr val="AEF4BB"/>
                </a:solidFill>
                <a:latin typeface="Arial"/>
                <a:ea typeface="Arial"/>
                <a:cs typeface="Arial"/>
              </a:defRPr>
            </a:pPr>
            <a:r>
              <a:rPr sz="3075" b="1">
                <a:solidFill>
                  <a:srgbClr val="AEF4BB"/>
                </a:solidFill>
                <a:latin typeface="Arial"/>
                <a:ea typeface="Arial"/>
                <a:cs typeface="Arial"/>
              </a:rPr>
              <a:t>¿Las muestras se observaron bajo condiciones semejantes?</a:t>
            </a:r>
          </a:p>
        </p:txBody>
      </p:sp>
      <p:sp>
        <p:nvSpPr>
          <p:cNvPr id="5" name="">
            <a:extLst xmlns:a="http://schemas.openxmlformats.org/drawingml/2006/main">
              <a:ext uri="{FF2B5EF4-FFF2-40B4-BE49-F238E27FC236}">
                <a16:creationId xmlns:a16="http://schemas.microsoft.com/office/drawing/2014/main" id="{C928723C-7C10-493E-9DEF-12260FCA7AD1}"/>
              </a:ext>
            </a:extLst>
          </p:cNvPr>
          <p:cNvSpPr>
            <a:spLocks xmlns:a="http://schemas.openxmlformats.org/drawingml/2006/main" noGrp="1"/>
          </p:cNvSpPr>
          <p:nvPr/>
        </p:nvSpPr>
        <p:spPr>
          <a:xfrm xmlns:a="http://schemas.openxmlformats.org/drawingml/2006/main">
            <a:off x="590550" y="3800475"/>
            <a:ext cx="10715625"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CFCF8"/>
                </a:solidFill>
                <a:latin typeface="Arial"/>
                <a:ea typeface="Arial"/>
                <a:cs typeface="Arial"/>
              </a:defRPr>
            </a:defPPr>
            <a:lvl1pPr>
              <a:defRPr sz="2100" b="0">
                <a:solidFill>
                  <a:srgbClr val="FCFCF8"/>
                </a:solidFill>
                <a:latin typeface="Arial"/>
                <a:ea typeface="Arial"/>
                <a:cs typeface="Arial"/>
              </a:defRPr>
            </a:lvl1pPr>
            <a:lvl2pPr>
              <a:defRPr sz="2100" b="0">
                <a:solidFill>
                  <a:srgbClr val="FCFCF8"/>
                </a:solidFill>
                <a:latin typeface="Arial"/>
                <a:ea typeface="Arial"/>
                <a:cs typeface="Arial"/>
              </a:defRPr>
            </a:lvl2pPr>
            <a:lvl3pPr>
              <a:defRPr sz="2100" b="0">
                <a:solidFill>
                  <a:srgbClr val="FCFCF8"/>
                </a:solidFill>
                <a:latin typeface="Arial"/>
                <a:ea typeface="Arial"/>
                <a:cs typeface="Arial"/>
              </a:defRPr>
            </a:lvl3pPr>
            <a:lvl4pPr>
              <a:defRPr sz="2100" b="0">
                <a:solidFill>
                  <a:srgbClr val="FCFCF8"/>
                </a:solidFill>
                <a:latin typeface="Arial"/>
                <a:ea typeface="Arial"/>
                <a:cs typeface="Arial"/>
              </a:defRPr>
            </a:lvl4pPr>
            <a:lvl5pPr>
              <a:defRPr sz="2100" b="0">
                <a:solidFill>
                  <a:srgbClr val="FCFCF8"/>
                </a:solidFill>
                <a:latin typeface="Arial"/>
                <a:ea typeface="Arial"/>
                <a:cs typeface="Arial"/>
              </a:defRPr>
            </a:lvl5pPr>
            <a:lvl6pPr>
              <a:defRPr sz="2100" b="0">
                <a:solidFill>
                  <a:srgbClr val="FCFCF8"/>
                </a:solidFill>
                <a:latin typeface="Arial"/>
                <a:ea typeface="Arial"/>
                <a:cs typeface="Arial"/>
              </a:defRPr>
            </a:lvl6pPr>
            <a:lvl7pPr>
              <a:defRPr sz="2100" b="0">
                <a:solidFill>
                  <a:srgbClr val="FCFCF8"/>
                </a:solidFill>
                <a:latin typeface="Arial"/>
                <a:ea typeface="Arial"/>
                <a:cs typeface="Arial"/>
              </a:defRPr>
            </a:lvl7pPr>
            <a:lvl8pPr>
              <a:defRPr sz="2100" b="0">
                <a:solidFill>
                  <a:srgbClr val="FCFCF8"/>
                </a:solidFill>
                <a:latin typeface="Arial"/>
                <a:ea typeface="Arial"/>
                <a:cs typeface="Arial"/>
              </a:defRPr>
            </a:lvl8pPr>
            <a:lvl9pPr>
              <a:defRPr sz="2100" b="0">
                <a:solidFill>
                  <a:srgbClr val="FCFCF8"/>
                </a:solidFill>
                <a:latin typeface="Arial"/>
                <a:ea typeface="Arial"/>
                <a:cs typeface="Arial"/>
              </a:defRPr>
            </a:lvl9pPr>
          </a:lstStyle>
          <a:p xmlns:a="http://schemas.openxmlformats.org/drawingml/2006/main">
            <a:pPr>
              <a:defRPr sz="2100" b="0">
                <a:solidFill>
                  <a:srgbClr val="FCFCF8"/>
                </a:solidFill>
                <a:latin typeface="Arial"/>
                <a:ea typeface="Arial"/>
                <a:cs typeface="Arial"/>
              </a:defRPr>
            </a:pPr>
            <a:r>
              <a:rPr sz="2100" b="0">
                <a:solidFill>
                  <a:srgbClr val="FCFCF8"/>
                </a:solidFill>
                <a:latin typeface="Arial"/>
                <a:ea typeface="Arial"/>
                <a:cs typeface="Arial"/>
              </a:rPr>
              <a:t>Una prueba sencilla puede ser rigurosa si su pregunta y sus límites son claros. No necesita llamarse ensayo estructural de certificación.</a:t>
            </a:r>
          </a:p>
        </p:txBody>
      </p:sp>
    </p:spTree>
    <p:extLst>
      <p:ext uri="{BB962C8B-B14F-4D97-AF65-F5344CB8AC3E}">
        <p14:creationId xmlns:p14="http://schemas.microsoft.com/office/powerpoint/2010/main" val="507152628"/>
      </p:ext>
    </p:extLst>
  </p:cSld>
</p:sld>
</file>

<file path=ppt/slides/slide3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5948BE7-1138-42C4-9C00-666CA1221988}"/>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Comparar con una tarea sencilla y definida</a:t>
            </a:r>
          </a:p>
        </p:txBody>
      </p:sp>
      <p:pic>
        <p:nvPicPr>
          <p:cNvPr id="2" name="">
            <a:extLst xmlns:a="http://schemas.openxmlformats.org/drawingml/2006/main">
              <a:ext uri="{FF2B5EF4-FFF2-40B4-BE49-F238E27FC236}">
                <a16:creationId xmlns:a16="http://schemas.microsoft.com/office/drawing/2014/main" id="{B63C5AAD-A3B0-4F52-BD46-7760EB3A463C}"/>
              </a:ext>
            </a:extLst>
          </p:cNvPr>
          <p:cNvPicPr>
            <a:picLocks xmlns:a="http://schemas.openxmlformats.org/drawingml/2006/main" noChangeAspect="1"/>
          </p:cNvPicPr>
          <p:nvPr/>
        </p:nvPicPr>
        <p:blipFill>
          <a:blip xmlns:r="http://schemas.openxmlformats.org/officeDocument/2006/relationships" xmlns:a="http://schemas.openxmlformats.org/drawingml/2006/main" r:embed="R19b8a595ea7f4425"/>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54A0F17-9912-4610-B5C6-2861D2FE656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10   13/24</a:t>
            </a:r>
          </a:p>
        </p:txBody>
      </p:sp>
      <p:sp>
        <p:nvSpPr>
          <p:cNvPr id="4" name="">
            <a:extLst xmlns:a="http://schemas.openxmlformats.org/drawingml/2006/main">
              <a:ext uri="{FF2B5EF4-FFF2-40B4-BE49-F238E27FC236}">
                <a16:creationId xmlns:a16="http://schemas.microsoft.com/office/drawing/2014/main" id="{D19F8C7D-798C-482B-9F79-35C8FC13ECEA}"/>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4231E"/>
                </a:solidFill>
                <a:latin typeface="Arial"/>
                <a:ea typeface="Arial"/>
                <a:cs typeface="Arial"/>
              </a:defRPr>
            </a:defPPr>
            <a:lvl1pPr>
              <a:defRPr sz="1950" b="0">
                <a:solidFill>
                  <a:srgbClr val="14231E"/>
                </a:solidFill>
                <a:latin typeface="Arial"/>
                <a:ea typeface="Arial"/>
                <a:cs typeface="Arial"/>
              </a:defRPr>
            </a:lvl1pPr>
            <a:lvl2pPr>
              <a:defRPr sz="1950" b="0">
                <a:solidFill>
                  <a:srgbClr val="14231E"/>
                </a:solidFill>
                <a:latin typeface="Arial"/>
                <a:ea typeface="Arial"/>
                <a:cs typeface="Arial"/>
              </a:defRPr>
            </a:lvl2pPr>
            <a:lvl3pPr>
              <a:defRPr sz="1950" b="0">
                <a:solidFill>
                  <a:srgbClr val="14231E"/>
                </a:solidFill>
                <a:latin typeface="Arial"/>
                <a:ea typeface="Arial"/>
                <a:cs typeface="Arial"/>
              </a:defRPr>
            </a:lvl3pPr>
            <a:lvl4pPr>
              <a:defRPr sz="1950" b="0">
                <a:solidFill>
                  <a:srgbClr val="14231E"/>
                </a:solidFill>
                <a:latin typeface="Arial"/>
                <a:ea typeface="Arial"/>
                <a:cs typeface="Arial"/>
              </a:defRPr>
            </a:lvl4pPr>
            <a:lvl5pPr>
              <a:defRPr sz="1950" b="0">
                <a:solidFill>
                  <a:srgbClr val="14231E"/>
                </a:solidFill>
                <a:latin typeface="Arial"/>
                <a:ea typeface="Arial"/>
                <a:cs typeface="Arial"/>
              </a:defRPr>
            </a:lvl5pPr>
            <a:lvl6pPr>
              <a:defRPr sz="1950" b="0">
                <a:solidFill>
                  <a:srgbClr val="14231E"/>
                </a:solidFill>
                <a:latin typeface="Arial"/>
                <a:ea typeface="Arial"/>
                <a:cs typeface="Arial"/>
              </a:defRPr>
            </a:lvl6pPr>
            <a:lvl7pPr>
              <a:defRPr sz="1950" b="0">
                <a:solidFill>
                  <a:srgbClr val="14231E"/>
                </a:solidFill>
                <a:latin typeface="Arial"/>
                <a:ea typeface="Arial"/>
                <a:cs typeface="Arial"/>
              </a:defRPr>
            </a:lvl7pPr>
            <a:lvl8pPr>
              <a:defRPr sz="1950" b="0">
                <a:solidFill>
                  <a:srgbClr val="14231E"/>
                </a:solidFill>
                <a:latin typeface="Arial"/>
                <a:ea typeface="Arial"/>
                <a:cs typeface="Arial"/>
              </a:defRPr>
            </a:lvl8pPr>
            <a:lvl9pPr>
              <a:defRPr sz="1950" b="0">
                <a:solidFill>
                  <a:srgbClr val="14231E"/>
                </a:solidFill>
                <a:latin typeface="Arial"/>
                <a:ea typeface="Arial"/>
                <a:cs typeface="Arial"/>
              </a:defRPr>
            </a:lvl9pPr>
          </a:lstStyle>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1. Identifica material, espesor y dimensiones de cada muestra.</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2. Pesa cada una y registra el estado previo.</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3. Aplica solo la tarea de observación de banco definida por el docente, de forma semejante en todas.</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4. Describe lo observado sin asignar una causa que no hayas comprobado.</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5. Revisa si las muestras son comparables y qué diferencia impide una conclusión directa.</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6. Elige una aplicación del proyecto para cada opción que tenga sentido.</a:t>
            </a:r>
          </a:p>
        </p:txBody>
      </p:sp>
    </p:spTree>
    <p:extLst>
      <p:ext uri="{BB962C8B-B14F-4D97-AF65-F5344CB8AC3E}">
        <p14:creationId xmlns:p14="http://schemas.microsoft.com/office/powerpoint/2010/main" val="2136106896"/>
      </p:ext>
    </p:extLst>
  </p:cSld>
</p:sld>
</file>

<file path=ppt/slides/slide3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4B79387-D6A0-4030-A351-C4972A553D4A}"/>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La decisión se toma pieza por pieza</a:t>
            </a:r>
          </a:p>
        </p:txBody>
      </p:sp>
      <p:pic>
        <p:nvPicPr>
          <p:cNvPr id="2" name="">
            <a:extLst xmlns:a="http://schemas.openxmlformats.org/drawingml/2006/main">
              <a:ext uri="{FF2B5EF4-FFF2-40B4-BE49-F238E27FC236}">
                <a16:creationId xmlns:a16="http://schemas.microsoft.com/office/drawing/2014/main" id="{F6C6DB2E-687B-468C-9B4F-1154D176B0F4}"/>
              </a:ext>
            </a:extLst>
          </p:cNvPr>
          <p:cNvPicPr>
            <a:picLocks xmlns:a="http://schemas.openxmlformats.org/drawingml/2006/main" noChangeAspect="1"/>
          </p:cNvPicPr>
          <p:nvPr/>
        </p:nvPicPr>
        <p:blipFill>
          <a:blip xmlns:r="http://schemas.openxmlformats.org/officeDocument/2006/relationships" xmlns:a="http://schemas.openxmlformats.org/drawingml/2006/main" r:embed="R98fc2bfcdbea489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AEA1748-FED0-4B50-875D-C87A71430672}"/>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10   14/24</a:t>
            </a:r>
          </a:p>
        </p:txBody>
      </p:sp>
      <p:sp>
        <p:nvSpPr>
          <p:cNvPr id="4" name="">
            <a:extLst xmlns:a="http://schemas.openxmlformats.org/drawingml/2006/main">
              <a:ext uri="{FF2B5EF4-FFF2-40B4-BE49-F238E27FC236}">
                <a16:creationId xmlns:a16="http://schemas.microsoft.com/office/drawing/2014/main" id="{285DE741-1977-4A78-9CC1-8BD92DE57A78}"/>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El equipo debe poder decir por qué una opción sencilla cumple la función o por qué necesita otra. Añadir un compuesto especializado sin una necesidad clara puede complicar uniones, fabricación y reposición. Para el primer cohete interesa completar bien el conjunto y aprender a revisar sus piezas.</a:t>
            </a:r>
          </a:p>
        </p:txBody>
      </p:sp>
    </p:spTree>
    <p:extLst>
      <p:ext uri="{BB962C8B-B14F-4D97-AF65-F5344CB8AC3E}">
        <p14:creationId xmlns:p14="http://schemas.microsoft.com/office/powerpoint/2010/main" val="1750203409"/>
      </p:ext>
    </p:extLst>
  </p:cSld>
</p:sld>
</file>

<file path=ppt/slides/slide3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FDB07D7-E971-4467-AE9A-5B263F262822}"/>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La decisión se toma pieza por pieza</a:t>
            </a:r>
          </a:p>
        </p:txBody>
      </p:sp>
      <p:pic>
        <p:nvPicPr>
          <p:cNvPr id="2" name="">
            <a:extLst xmlns:a="http://schemas.openxmlformats.org/drawingml/2006/main">
              <a:ext uri="{FF2B5EF4-FFF2-40B4-BE49-F238E27FC236}">
                <a16:creationId xmlns:a16="http://schemas.microsoft.com/office/drawing/2014/main" id="{224D8523-96BE-47B8-B02B-53E90E4383E7}"/>
              </a:ext>
            </a:extLst>
          </p:cNvPr>
          <p:cNvPicPr>
            <a:picLocks xmlns:a="http://schemas.openxmlformats.org/drawingml/2006/main" noChangeAspect="1"/>
          </p:cNvPicPr>
          <p:nvPr/>
        </p:nvPicPr>
        <p:blipFill>
          <a:blip xmlns:r="http://schemas.openxmlformats.org/officeDocument/2006/relationships" xmlns:a="http://schemas.openxmlformats.org/drawingml/2006/main" r:embed="R9e786d5fdc3641c5"/>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98E9212-0449-4D04-8E9B-4B7F11C5BED8}"/>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10   15/24</a:t>
            </a:r>
          </a:p>
        </p:txBody>
      </p:sp>
      <p:pic>
        <p:nvPicPr>
          <p:cNvPr id="4" name="">
            <a:extLst xmlns:a="http://schemas.openxmlformats.org/drawingml/2006/main">
              <a:ext uri="{FF2B5EF4-FFF2-40B4-BE49-F238E27FC236}">
                <a16:creationId xmlns:a16="http://schemas.microsoft.com/office/drawing/2014/main" id="{D404D027-A492-4A90-B555-C08294AD5406}"/>
              </a:ext>
            </a:extLst>
          </p:cNvPr>
          <p:cNvPicPr>
            <a:picLocks xmlns:a="http://schemas.openxmlformats.org/drawingml/2006/main" noChangeAspect="1"/>
          </p:cNvPicPr>
          <p:nvPr/>
        </p:nvPicPr>
        <p:blipFill>
          <a:blip xmlns:r="http://schemas.openxmlformats.org/officeDocument/2006/relationships" xmlns:a="http://schemas.openxmlformats.org/drawingml/2006/main" r:embed="Rf25c9970a23e4dda"/>
          <a:stretch xmlns:a="http://schemas.openxmlformats.org/drawingml/2006/main"/>
        </p:blipFill>
        <p:spPr>
          <a:xfrm xmlns:a="http://schemas.openxmlformats.org/drawingml/2006/main">
            <a:off x="590550" y="1892725"/>
            <a:ext cx="7410450" cy="3510701"/>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0952063-C521-4C4B-93AC-99C14A492402}"/>
              </a:ext>
            </a:extLst>
          </p:cNvPr>
          <p:cNvSpPr>
            <a:spLocks xmlns:a="http://schemas.openxmlformats.org/drawingml/2006/main" noGrp="1"/>
          </p:cNvSpPr>
          <p:nvPr/>
        </p:nvSpPr>
        <p:spPr>
          <a:xfrm xmlns:a="http://schemas.openxmlformats.org/drawingml/2006/main">
            <a:off x="8315325" y="1781175"/>
            <a:ext cx="3248025" cy="3590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244F3D"/>
                </a:solidFill>
                <a:latin typeface="Arial"/>
                <a:ea typeface="Arial"/>
                <a:cs typeface="Arial"/>
              </a:defRPr>
            </a:defPPr>
            <a:lvl1pPr>
              <a:defRPr sz="2325" b="1">
                <a:solidFill>
                  <a:srgbClr val="244F3D"/>
                </a:solidFill>
                <a:latin typeface="Arial"/>
                <a:ea typeface="Arial"/>
                <a:cs typeface="Arial"/>
              </a:defRPr>
            </a:lvl1pPr>
            <a:lvl2pPr>
              <a:defRPr sz="2325" b="1">
                <a:solidFill>
                  <a:srgbClr val="244F3D"/>
                </a:solidFill>
                <a:latin typeface="Arial"/>
                <a:ea typeface="Arial"/>
                <a:cs typeface="Arial"/>
              </a:defRPr>
            </a:lvl2pPr>
            <a:lvl3pPr>
              <a:defRPr sz="2325" b="1">
                <a:solidFill>
                  <a:srgbClr val="244F3D"/>
                </a:solidFill>
                <a:latin typeface="Arial"/>
                <a:ea typeface="Arial"/>
                <a:cs typeface="Arial"/>
              </a:defRPr>
            </a:lvl3pPr>
            <a:lvl4pPr>
              <a:defRPr sz="2325" b="1">
                <a:solidFill>
                  <a:srgbClr val="244F3D"/>
                </a:solidFill>
                <a:latin typeface="Arial"/>
                <a:ea typeface="Arial"/>
                <a:cs typeface="Arial"/>
              </a:defRPr>
            </a:lvl4pPr>
            <a:lvl5pPr>
              <a:defRPr sz="2325" b="1">
                <a:solidFill>
                  <a:srgbClr val="244F3D"/>
                </a:solidFill>
                <a:latin typeface="Arial"/>
                <a:ea typeface="Arial"/>
                <a:cs typeface="Arial"/>
              </a:defRPr>
            </a:lvl5pPr>
            <a:lvl6pPr>
              <a:defRPr sz="2325" b="1">
                <a:solidFill>
                  <a:srgbClr val="244F3D"/>
                </a:solidFill>
                <a:latin typeface="Arial"/>
                <a:ea typeface="Arial"/>
                <a:cs typeface="Arial"/>
              </a:defRPr>
            </a:lvl6pPr>
            <a:lvl7pPr>
              <a:defRPr sz="2325" b="1">
                <a:solidFill>
                  <a:srgbClr val="244F3D"/>
                </a:solidFill>
                <a:latin typeface="Arial"/>
                <a:ea typeface="Arial"/>
                <a:cs typeface="Arial"/>
              </a:defRPr>
            </a:lvl7pPr>
            <a:lvl8pPr>
              <a:defRPr sz="2325" b="1">
                <a:solidFill>
                  <a:srgbClr val="244F3D"/>
                </a:solidFill>
                <a:latin typeface="Arial"/>
                <a:ea typeface="Arial"/>
                <a:cs typeface="Arial"/>
              </a:defRPr>
            </a:lvl8pPr>
            <a:lvl9pPr>
              <a:defRPr sz="2325" b="1">
                <a:solidFill>
                  <a:srgbClr val="244F3D"/>
                </a:solidFill>
                <a:latin typeface="Arial"/>
                <a:ea typeface="Arial"/>
                <a:cs typeface="Arial"/>
              </a:defRPr>
            </a:lvl9pPr>
          </a:lstStyle>
          <a:p xmlns:a="http://schemas.openxmlformats.org/drawingml/2006/main">
            <a:pPr>
              <a:defRPr sz="2325" b="1">
                <a:solidFill>
                  <a:srgbClr val="244F3D"/>
                </a:solidFill>
                <a:latin typeface="Arial"/>
                <a:ea typeface="Arial"/>
                <a:cs typeface="Arial"/>
              </a:defRPr>
            </a:pPr>
            <a:r>
              <a:rPr sz="2325" b="1">
                <a:solidFill>
                  <a:srgbClr val="244F3D"/>
                </a:solidFill>
                <a:latin typeface="Arial"/>
                <a:ea typeface="Arial"/>
                <a:cs typeface="Arial"/>
              </a:rPr>
              <a:t>¿Qué problema resolvería un material más especializado?</a:t>
            </a:r>
          </a:p>
        </p:txBody>
      </p:sp>
      <p:sp>
        <p:nvSpPr>
          <p:cNvPr id="6" name="">
            <a:extLst xmlns:a="http://schemas.openxmlformats.org/drawingml/2006/main">
              <a:ext uri="{FF2B5EF4-FFF2-40B4-BE49-F238E27FC236}">
                <a16:creationId xmlns:a16="http://schemas.microsoft.com/office/drawing/2014/main" id="{91113683-E5D3-46AA-A709-EFFFCA08987E}"/>
              </a:ext>
            </a:extLst>
          </p:cNvPr>
          <p:cNvSpPr>
            <a:spLocks xmlns:a="http://schemas.openxmlformats.org/drawingml/2006/main" noGrp="1"/>
          </p:cNvSpPr>
          <p:nvPr/>
        </p:nvSpPr>
        <p:spPr>
          <a:xfrm xmlns:a="http://schemas.openxmlformats.org/drawingml/2006/main">
            <a:off x="590550" y="58483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8665F"/>
                </a:solidFill>
                <a:latin typeface="Arial"/>
                <a:ea typeface="Arial"/>
                <a:cs typeface="Arial"/>
              </a:defRPr>
            </a:defPPr>
            <a:lvl1pPr>
              <a:defRPr sz="1350" b="0">
                <a:solidFill>
                  <a:srgbClr val="58665F"/>
                </a:solidFill>
                <a:latin typeface="Arial"/>
                <a:ea typeface="Arial"/>
                <a:cs typeface="Arial"/>
              </a:defRPr>
            </a:lvl1pPr>
            <a:lvl2pPr>
              <a:defRPr sz="1350" b="0">
                <a:solidFill>
                  <a:srgbClr val="58665F"/>
                </a:solidFill>
                <a:latin typeface="Arial"/>
                <a:ea typeface="Arial"/>
                <a:cs typeface="Arial"/>
              </a:defRPr>
            </a:lvl2pPr>
            <a:lvl3pPr>
              <a:defRPr sz="1350" b="0">
                <a:solidFill>
                  <a:srgbClr val="58665F"/>
                </a:solidFill>
                <a:latin typeface="Arial"/>
                <a:ea typeface="Arial"/>
                <a:cs typeface="Arial"/>
              </a:defRPr>
            </a:lvl3pPr>
            <a:lvl4pPr>
              <a:defRPr sz="1350" b="0">
                <a:solidFill>
                  <a:srgbClr val="58665F"/>
                </a:solidFill>
                <a:latin typeface="Arial"/>
                <a:ea typeface="Arial"/>
                <a:cs typeface="Arial"/>
              </a:defRPr>
            </a:lvl4pPr>
            <a:lvl5pPr>
              <a:defRPr sz="1350" b="0">
                <a:solidFill>
                  <a:srgbClr val="58665F"/>
                </a:solidFill>
                <a:latin typeface="Arial"/>
                <a:ea typeface="Arial"/>
                <a:cs typeface="Arial"/>
              </a:defRPr>
            </a:lvl5pPr>
            <a:lvl6pPr>
              <a:defRPr sz="1350" b="0">
                <a:solidFill>
                  <a:srgbClr val="58665F"/>
                </a:solidFill>
                <a:latin typeface="Arial"/>
                <a:ea typeface="Arial"/>
                <a:cs typeface="Arial"/>
              </a:defRPr>
            </a:lvl6pPr>
            <a:lvl7pPr>
              <a:defRPr sz="1350" b="0">
                <a:solidFill>
                  <a:srgbClr val="58665F"/>
                </a:solidFill>
                <a:latin typeface="Arial"/>
                <a:ea typeface="Arial"/>
                <a:cs typeface="Arial"/>
              </a:defRPr>
            </a:lvl7pPr>
            <a:lvl8pPr>
              <a:defRPr sz="1350" b="0">
                <a:solidFill>
                  <a:srgbClr val="58665F"/>
                </a:solidFill>
                <a:latin typeface="Arial"/>
                <a:ea typeface="Arial"/>
                <a:cs typeface="Arial"/>
              </a:defRPr>
            </a:lvl8pPr>
            <a:lvl9pPr>
              <a:defRPr sz="1350" b="0">
                <a:solidFill>
                  <a:srgbClr val="58665F"/>
                </a:solidFill>
                <a:latin typeface="Arial"/>
                <a:ea typeface="Arial"/>
                <a:cs typeface="Arial"/>
              </a:defRPr>
            </a:lvl9pPr>
          </a:lstStyle>
          <a:p xmlns:a="http://schemas.openxmlformats.org/drawingml/2006/main">
            <a:pPr>
              <a:defRPr sz="1350" b="0">
                <a:solidFill>
                  <a:srgbClr val="58665F"/>
                </a:solidFill>
                <a:latin typeface="Arial"/>
                <a:ea typeface="Arial"/>
                <a:cs typeface="Arial"/>
              </a:defRPr>
            </a:pPr>
            <a:r>
              <a:rPr sz="1350" b="0">
                <a:solidFill>
                  <a:srgbClr val="58665F"/>
                </a:solidFill>
                <a:latin typeface="Arial"/>
                <a:ea typeface="Arial"/>
                <a:cs typeface="Arial"/>
              </a:rPr>
              <a:t>Prusa Research: el proceso de impresión afecta el acabado funcional. Es una evidencia de fabricación, no una propiedad universal del material.</a:t>
            </a:r>
          </a:p>
        </p:txBody>
      </p:sp>
    </p:spTree>
    <p:extLst>
      <p:ext uri="{BB962C8B-B14F-4D97-AF65-F5344CB8AC3E}">
        <p14:creationId xmlns:p14="http://schemas.microsoft.com/office/powerpoint/2010/main" val="1193643679"/>
      </p:ext>
    </p:extLst>
  </p:cSld>
</p:sld>
</file>

<file path=ppt/slides/slide40.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C7FDFF3-65EB-4547-BABB-A0CA443ED8C0}"/>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Una mejora que no conviene todavía</a:t>
            </a:r>
          </a:p>
        </p:txBody>
      </p:sp>
      <p:pic>
        <p:nvPicPr>
          <p:cNvPr id="2" name="">
            <a:extLst xmlns:a="http://schemas.openxmlformats.org/drawingml/2006/main">
              <a:ext uri="{FF2B5EF4-FFF2-40B4-BE49-F238E27FC236}">
                <a16:creationId xmlns:a16="http://schemas.microsoft.com/office/drawing/2014/main" id="{509633A8-BB43-48FC-A98C-C6051440E01B}"/>
              </a:ext>
            </a:extLst>
          </p:cNvPr>
          <p:cNvPicPr>
            <a:picLocks xmlns:a="http://schemas.openxmlformats.org/drawingml/2006/main" noChangeAspect="1"/>
          </p:cNvPicPr>
          <p:nvPr/>
        </p:nvPicPr>
        <p:blipFill>
          <a:blip xmlns:r="http://schemas.openxmlformats.org/officeDocument/2006/relationships" xmlns:a="http://schemas.openxmlformats.org/drawingml/2006/main" r:embed="R0698e732e283403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01B89C1-152C-4370-B34E-BA550538FF8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5   CLASE 10   16/24</a:t>
            </a:r>
          </a:p>
        </p:txBody>
      </p:sp>
      <p:sp>
        <p:nvSpPr>
          <p:cNvPr id="4" name="">
            <a:extLst xmlns:a="http://schemas.openxmlformats.org/drawingml/2006/main">
              <a:ext uri="{FF2B5EF4-FFF2-40B4-BE49-F238E27FC236}">
                <a16:creationId xmlns:a16="http://schemas.microsoft.com/office/drawing/2014/main" id="{E4DDC179-F71E-4939-993B-CB2D3383C432}"/>
              </a:ext>
            </a:extLst>
          </p:cNvPr>
          <p:cNvSpPr>
            <a:spLocks xmlns:a="http://schemas.openxmlformats.org/drawingml/2006/main" noGrp="1"/>
          </p:cNvSpPr>
          <p:nvPr/>
        </p:nvSpPr>
        <p:spPr>
          <a:xfrm xmlns:a="http://schemas.openxmlformats.org/drawingml/2006/main">
            <a:off x="590550" y="1809750"/>
            <a:ext cx="107156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Se propone sustituir una pieza que ya cumple su función por otra más costosa, sin una diferencia de misión definida.</a:t>
            </a:r>
          </a:p>
        </p:txBody>
      </p:sp>
      <p:sp>
        <p:nvSpPr>
          <p:cNvPr id="5" name="">
            <a:extLst xmlns:a="http://schemas.openxmlformats.org/drawingml/2006/main">
              <a:ext uri="{FF2B5EF4-FFF2-40B4-BE49-F238E27FC236}">
                <a16:creationId xmlns:a16="http://schemas.microsoft.com/office/drawing/2014/main" id="{EC8F3E51-F5A0-4144-BD80-E934F666DC65}"/>
              </a:ext>
            </a:extLst>
          </p:cNvPr>
          <p:cNvSpPr>
            <a:spLocks xmlns:a="http://schemas.openxmlformats.org/drawingml/2006/main" noGrp="1"/>
          </p:cNvSpPr>
          <p:nvPr/>
        </p:nvSpPr>
        <p:spPr>
          <a:xfrm xmlns:a="http://schemas.openxmlformats.org/drawingml/2006/main">
            <a:off x="590550" y="4629150"/>
            <a:ext cx="10715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¿Qué problema resolvería un material más especializado?</a:t>
            </a:r>
          </a:p>
        </p:txBody>
      </p:sp>
    </p:spTree>
    <p:extLst>
      <p:ext uri="{BB962C8B-B14F-4D97-AF65-F5344CB8AC3E}">
        <p14:creationId xmlns:p14="http://schemas.microsoft.com/office/powerpoint/2010/main" val="1125797848"/>
      </p:ext>
    </p:extLst>
  </p:cSld>
</p:sld>
</file>

<file path=ppt/slides/slide4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BE90852-31FC-473C-8C1B-8C30DDED511B}"/>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Misión de aprendizaje, reutilización o carga</a:t>
            </a:r>
          </a:p>
        </p:txBody>
      </p:sp>
      <p:pic>
        <p:nvPicPr>
          <p:cNvPr id="2" name="">
            <a:extLst xmlns:a="http://schemas.openxmlformats.org/drawingml/2006/main">
              <a:ext uri="{FF2B5EF4-FFF2-40B4-BE49-F238E27FC236}">
                <a16:creationId xmlns:a16="http://schemas.microsoft.com/office/drawing/2014/main" id="{463944DE-ED2A-4D45-9DB0-30686ECAB1A1}"/>
              </a:ext>
            </a:extLst>
          </p:cNvPr>
          <p:cNvPicPr>
            <a:picLocks xmlns:a="http://schemas.openxmlformats.org/drawingml/2006/main" noChangeAspect="1"/>
          </p:cNvPicPr>
          <p:nvPr/>
        </p:nvPicPr>
        <p:blipFill>
          <a:blip xmlns:r="http://schemas.openxmlformats.org/officeDocument/2006/relationships" xmlns:a="http://schemas.openxmlformats.org/drawingml/2006/main" r:embed="Rde1f6a2653e4454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E3A8719-A1B1-4EB1-B7CA-793E11726FD4}"/>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10   17/24</a:t>
            </a:r>
          </a:p>
        </p:txBody>
      </p:sp>
      <p:sp>
        <p:nvSpPr>
          <p:cNvPr id="4" name="">
            <a:extLst xmlns:a="http://schemas.openxmlformats.org/drawingml/2006/main">
              <a:ext uri="{FF2B5EF4-FFF2-40B4-BE49-F238E27FC236}">
                <a16:creationId xmlns:a16="http://schemas.microsoft.com/office/drawing/2014/main" id="{22C79B91-513B-4718-B7C3-3B49900E01C0}"/>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La decisión final combina observación y necesidades del proyecto. El alumno no tiene que memorizar módulos elásticos de materiales. Sí debe distinguir el peso de una pieza, su estado, el proceso que la produjo y la forma en que se conectará con las otras.</a:t>
            </a:r>
          </a:p>
        </p:txBody>
      </p:sp>
    </p:spTree>
    <p:extLst>
      <p:ext uri="{BB962C8B-B14F-4D97-AF65-F5344CB8AC3E}">
        <p14:creationId xmlns:p14="http://schemas.microsoft.com/office/powerpoint/2010/main" val="139682584"/>
      </p:ext>
    </p:extLst>
  </p:cSld>
</p:sld>
</file>

<file path=ppt/slides/slide4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D130671-D830-466F-AFAB-FD6D54B9EF09}"/>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Qué pesa en la comparación</a:t>
            </a:r>
          </a:p>
        </p:txBody>
      </p:sp>
      <p:pic>
        <p:nvPicPr>
          <p:cNvPr id="2" name="">
            <a:extLst xmlns:a="http://schemas.openxmlformats.org/drawingml/2006/main">
              <a:ext uri="{FF2B5EF4-FFF2-40B4-BE49-F238E27FC236}">
                <a16:creationId xmlns:a16="http://schemas.microsoft.com/office/drawing/2014/main" id="{CECDCAC2-F63D-4BF0-8C2C-CA0BCA76D4C3}"/>
              </a:ext>
            </a:extLst>
          </p:cNvPr>
          <p:cNvPicPr>
            <a:picLocks xmlns:a="http://schemas.openxmlformats.org/drawingml/2006/main" noChangeAspect="1"/>
          </p:cNvPicPr>
          <p:nvPr/>
        </p:nvPicPr>
        <p:blipFill>
          <a:blip xmlns:r="http://schemas.openxmlformats.org/officeDocument/2006/relationships" xmlns:a="http://schemas.openxmlformats.org/drawingml/2006/main" r:embed="R6c041668fb164dc4"/>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A1E0AC6-8007-492F-A412-F6489EDC148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10   18/24</a:t>
            </a:r>
          </a:p>
        </p:txBody>
      </p:sp>
      <p:graphicFrame>
        <p:nvGraphicFramePr>
          <p:cNvPr id="4" name="">
            <a:extLst xmlns:a="http://schemas.openxmlformats.org/drawingml/2006/main">
              <a:ext uri="{FF2B5EF4-FFF2-40B4-BE49-F238E27FC236}">
                <a16:creationId xmlns:a16="http://schemas.microsoft.com/office/drawing/2014/main" id="{1FD0790B-8CAA-4677-BE1B-2022F6633697}"/>
              </a:ext>
            </a:extLst>
          </p:cNvPr>
          <p:cNvGraphicFramePr/>
          <p:nvPr/>
        </p:nvGraphicFramePr>
        <p:xfrm>
          <a:off xmlns:a="http://schemas.openxmlformats.org/drawingml/2006/main" x="590550" y="1752600"/>
          <a:ext xmlns:a="http://schemas.openxmlformats.org/drawingml/2006/main" cx="11010900" cy="3590925"/>
        </p:xfrm>
        <a:graphic xmlns:a="http://schemas.openxmlformats.org/drawingml/2006/main">
          <a:graphicData uri="http://schemas.openxmlformats.org/drawingml/2006/table">
            <a:tbl>
              <a:tblPr/>
              <a:tblGrid>
                <a:gridCol w="5505450"/>
                <a:gridCol w="5505450"/>
              </a:tblGrid>
              <a:tr h="897731">
                <a:tc>
                  <a:txBody>
                    <a:bodyPr/>
                    <a:lstStyle/>
                    <a:p>
                      <a:r>
                        <a:rPr sz="2025" b="1">
                          <a:solidFill>
                            <a:srgbClr val="FFFFFF"/>
                          </a:solidFill>
                          <a:latin typeface="Arial"/>
                          <a:ea typeface="Arial"/>
                          <a:cs typeface="Arial"/>
                        </a:rPr>
                        <a:t>Misión</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Prioridades razonables</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897731">
                <a:tc>
                  <a:txBody>
                    <a:bodyPr/>
                    <a:lstStyle/>
                    <a:p>
                      <a:r>
                        <a:rPr sz="2025" b="0">
                          <a:solidFill>
                            <a:srgbClr val="14231E"/>
                          </a:solidFill>
                          <a:latin typeface="Arial"/>
                          <a:ea typeface="Arial"/>
                          <a:cs typeface="Arial"/>
                        </a:rPr>
                        <a:t>Aprendizaje</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Fabricación comprensible, costo y disponibilidad</a:t>
                      </a:r>
                    </a:p>
                  </a:txBody>
                  <a:tcPr marL="91440" marR="91440" marT="45720" marB="45720">
                    <a:lnR w="9525">
                      <a:solidFill>
                        <a:srgbClr val="BFCEC3"/>
                      </a:solidFill>
                      <a:prstDash val="solid"/>
                    </a:lnR>
                    <a:lnB w="9525">
                      <a:solidFill>
                        <a:srgbClr val="BFCEC3"/>
                      </a:solidFill>
                      <a:prstDash val="solid"/>
                    </a:lnB>
                    <a:solidFill>
                      <a:srgbClr val="EAF3EC"/>
                    </a:solidFill>
                  </a:tcPr>
                </a:tc>
              </a:tr>
              <a:tr h="897731">
                <a:tc>
                  <a:txBody>
                    <a:bodyPr/>
                    <a:lstStyle/>
                    <a:p>
                      <a:r>
                        <a:rPr sz="2025" b="0">
                          <a:solidFill>
                            <a:srgbClr val="14231E"/>
                          </a:solidFill>
                          <a:latin typeface="Arial"/>
                          <a:ea typeface="Arial"/>
                          <a:cs typeface="Arial"/>
                        </a:rPr>
                        <a:t>Reutilización</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Revisión, repuestos y reparación</a:t>
                      </a:r>
                    </a:p>
                  </a:txBody>
                  <a:tcPr marL="91440" marR="91440" marT="45720" marB="45720">
                    <a:lnR w="9525">
                      <a:solidFill>
                        <a:srgbClr val="BFCEC3"/>
                      </a:solidFill>
                      <a:prstDash val="solid"/>
                    </a:lnR>
                    <a:lnB w="9525">
                      <a:solidFill>
                        <a:srgbClr val="BFCEC3"/>
                      </a:solidFill>
                      <a:prstDash val="solid"/>
                    </a:lnB>
                    <a:solidFill>
                      <a:srgbClr val="FCFCF8"/>
                    </a:solidFill>
                  </a:tcPr>
                </a:tc>
              </a:tr>
              <a:tr h="897731">
                <a:tc>
                  <a:txBody>
                    <a:bodyPr/>
                    <a:lstStyle/>
                    <a:p>
                      <a:r>
                        <a:rPr sz="2025" b="0">
                          <a:solidFill>
                            <a:srgbClr val="14231E"/>
                          </a:solidFill>
                          <a:latin typeface="Arial"/>
                          <a:ea typeface="Arial"/>
                          <a:cs typeface="Arial"/>
                        </a:rPr>
                        <a:t>Carga docente</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Interfaces, acceso y condiciones del conjunto</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1276777998"/>
      </p:ext>
    </p:extLst>
  </p:cSld>
</p:sld>
</file>

<file path=ppt/slides/slide43.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59F0C3B-1CBE-4F50-B2DD-36C5F639FE8C}"/>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Cómo documentar la elección</a:t>
            </a:r>
          </a:p>
        </p:txBody>
      </p:sp>
      <p:pic>
        <p:nvPicPr>
          <p:cNvPr id="2" name="">
            <a:extLst xmlns:a="http://schemas.openxmlformats.org/drawingml/2006/main">
              <a:ext uri="{FF2B5EF4-FFF2-40B4-BE49-F238E27FC236}">
                <a16:creationId xmlns:a16="http://schemas.microsoft.com/office/drawing/2014/main" id="{621BC630-6D90-4D8C-B39B-6CAAB5222F47}"/>
              </a:ext>
            </a:extLst>
          </p:cNvPr>
          <p:cNvPicPr>
            <a:picLocks xmlns:a="http://schemas.openxmlformats.org/drawingml/2006/main" noChangeAspect="1"/>
          </p:cNvPicPr>
          <p:nvPr/>
        </p:nvPicPr>
        <p:blipFill>
          <a:blip xmlns:r="http://schemas.openxmlformats.org/officeDocument/2006/relationships" xmlns:a="http://schemas.openxmlformats.org/drawingml/2006/main" r:embed="R6ec1f69681ee4ce6"/>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E342808-42DD-4D94-8B17-5B0DB0130BD2}"/>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5   CLASE 10   19/24</a:t>
            </a:r>
          </a:p>
        </p:txBody>
      </p:sp>
      <p:sp>
        <p:nvSpPr>
          <p:cNvPr id="4" name="">
            <a:extLst xmlns:a="http://schemas.openxmlformats.org/drawingml/2006/main">
              <a:ext uri="{FF2B5EF4-FFF2-40B4-BE49-F238E27FC236}">
                <a16:creationId xmlns:a16="http://schemas.microsoft.com/office/drawing/2014/main" id="{2C3235DF-67CF-4BDB-A95A-A0FAA22117A0}"/>
              </a:ext>
            </a:extLst>
          </p:cNvPr>
          <p:cNvSpPr>
            <a:spLocks xmlns:a="http://schemas.openxmlformats.org/drawingml/2006/main" noGrp="1"/>
          </p:cNvSpPr>
          <p:nvPr/>
        </p:nvSpPr>
        <p:spPr>
          <a:xfrm xmlns:a="http://schemas.openxmlformats.org/drawingml/2006/main">
            <a:off x="590550" y="1809750"/>
            <a:ext cx="107156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“Para nuestras aletas elegimos esta opción porque pudimos repetir el contorno y revisar la unión con el útil. Esta otra muestra quedará como referencia para una futura versión”.</a:t>
            </a:r>
          </a:p>
        </p:txBody>
      </p:sp>
      <p:sp>
        <p:nvSpPr>
          <p:cNvPr id="5" name="">
            <a:extLst xmlns:a="http://schemas.openxmlformats.org/drawingml/2006/main">
              <a:ext uri="{FF2B5EF4-FFF2-40B4-BE49-F238E27FC236}">
                <a16:creationId xmlns:a16="http://schemas.microsoft.com/office/drawing/2014/main" id="{94CCA994-F85A-4DE2-9223-52E9CE002FD9}"/>
              </a:ext>
            </a:extLst>
          </p:cNvPr>
          <p:cNvSpPr>
            <a:spLocks xmlns:a="http://schemas.openxmlformats.org/drawingml/2006/main" noGrp="1"/>
          </p:cNvSpPr>
          <p:nvPr/>
        </p:nvSpPr>
        <p:spPr>
          <a:xfrm xmlns:a="http://schemas.openxmlformats.org/drawingml/2006/main">
            <a:off x="590550" y="4629150"/>
            <a:ext cx="10715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¿La elección cambia si necesitas reponer una pieza?</a:t>
            </a:r>
          </a:p>
        </p:txBody>
      </p:sp>
    </p:spTree>
    <p:extLst>
      <p:ext uri="{BB962C8B-B14F-4D97-AF65-F5344CB8AC3E}">
        <p14:creationId xmlns:p14="http://schemas.microsoft.com/office/powerpoint/2010/main" val="229229203"/>
      </p:ext>
    </p:extLst>
  </p:cSld>
</p:sld>
</file>

<file path=ppt/slides/slide4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C609F32-D268-400B-B7FF-BE47A8625B60}"/>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Trabajo guiado del equipo</a:t>
            </a:r>
          </a:p>
        </p:txBody>
      </p:sp>
      <p:pic>
        <p:nvPicPr>
          <p:cNvPr id="2" name="">
            <a:extLst xmlns:a="http://schemas.openxmlformats.org/drawingml/2006/main">
              <a:ext uri="{FF2B5EF4-FFF2-40B4-BE49-F238E27FC236}">
                <a16:creationId xmlns:a16="http://schemas.microsoft.com/office/drawing/2014/main" id="{0C08D41C-B727-451B-825E-E551552AC371}"/>
              </a:ext>
            </a:extLst>
          </p:cNvPr>
          <p:cNvPicPr>
            <a:picLocks xmlns:a="http://schemas.openxmlformats.org/drawingml/2006/main" noChangeAspect="1"/>
          </p:cNvPicPr>
          <p:nvPr/>
        </p:nvPicPr>
        <p:blipFill>
          <a:blip xmlns:r="http://schemas.openxmlformats.org/officeDocument/2006/relationships" xmlns:a="http://schemas.openxmlformats.org/drawingml/2006/main" r:embed="Raabcfd8e402c43f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9C27826-DD46-4652-9648-09347C197FF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10   20/24</a:t>
            </a:r>
          </a:p>
        </p:txBody>
      </p:sp>
      <p:sp>
        <p:nvSpPr>
          <p:cNvPr id="4" name="">
            <a:extLst xmlns:a="http://schemas.openxmlformats.org/drawingml/2006/main">
              <a:ext uri="{FF2B5EF4-FFF2-40B4-BE49-F238E27FC236}">
                <a16:creationId xmlns:a16="http://schemas.microsoft.com/office/drawing/2014/main" id="{B4E3037A-2BAE-4C18-A035-74A051B40891}"/>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4231E"/>
                </a:solidFill>
                <a:latin typeface="Arial"/>
                <a:ea typeface="Arial"/>
                <a:cs typeface="Arial"/>
              </a:defRPr>
            </a:defPPr>
            <a:lvl1pPr>
              <a:defRPr sz="2250" b="0">
                <a:solidFill>
                  <a:srgbClr val="14231E"/>
                </a:solidFill>
                <a:latin typeface="Arial"/>
                <a:ea typeface="Arial"/>
                <a:cs typeface="Arial"/>
              </a:defRPr>
            </a:lvl1pPr>
            <a:lvl2pPr>
              <a:defRPr sz="2250" b="0">
                <a:solidFill>
                  <a:srgbClr val="14231E"/>
                </a:solidFill>
                <a:latin typeface="Arial"/>
                <a:ea typeface="Arial"/>
                <a:cs typeface="Arial"/>
              </a:defRPr>
            </a:lvl2pPr>
            <a:lvl3pPr>
              <a:defRPr sz="2250" b="0">
                <a:solidFill>
                  <a:srgbClr val="14231E"/>
                </a:solidFill>
                <a:latin typeface="Arial"/>
                <a:ea typeface="Arial"/>
                <a:cs typeface="Arial"/>
              </a:defRPr>
            </a:lvl3pPr>
            <a:lvl4pPr>
              <a:defRPr sz="2250" b="0">
                <a:solidFill>
                  <a:srgbClr val="14231E"/>
                </a:solidFill>
                <a:latin typeface="Arial"/>
                <a:ea typeface="Arial"/>
                <a:cs typeface="Arial"/>
              </a:defRPr>
            </a:lvl4pPr>
            <a:lvl5pPr>
              <a:defRPr sz="2250" b="0">
                <a:solidFill>
                  <a:srgbClr val="14231E"/>
                </a:solidFill>
                <a:latin typeface="Arial"/>
                <a:ea typeface="Arial"/>
                <a:cs typeface="Arial"/>
              </a:defRPr>
            </a:lvl5pPr>
            <a:lvl6pPr>
              <a:defRPr sz="2250" b="0">
                <a:solidFill>
                  <a:srgbClr val="14231E"/>
                </a:solidFill>
                <a:latin typeface="Arial"/>
                <a:ea typeface="Arial"/>
                <a:cs typeface="Arial"/>
              </a:defRPr>
            </a:lvl6pPr>
            <a:lvl7pPr>
              <a:defRPr sz="2250" b="0">
                <a:solidFill>
                  <a:srgbClr val="14231E"/>
                </a:solidFill>
                <a:latin typeface="Arial"/>
                <a:ea typeface="Arial"/>
                <a:cs typeface="Arial"/>
              </a:defRPr>
            </a:lvl7pPr>
            <a:lvl8pPr>
              <a:defRPr sz="2250" b="0">
                <a:solidFill>
                  <a:srgbClr val="14231E"/>
                </a:solidFill>
                <a:latin typeface="Arial"/>
                <a:ea typeface="Arial"/>
                <a:cs typeface="Arial"/>
              </a:defRPr>
            </a:lvl8pPr>
            <a:lvl9pPr>
              <a:defRPr sz="2250" b="0">
                <a:solidFill>
                  <a:srgbClr val="14231E"/>
                </a:solidFill>
                <a:latin typeface="Arial"/>
                <a:ea typeface="Arial"/>
                <a:cs typeface="Arial"/>
              </a:defRPr>
            </a:lvl9pPr>
          </a:lstStyle>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1. Preparar una mesa de muestras identificadas.</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2. Comparar materiales conservando condiciones de la observación.</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3. Distinguir tejido con resina y filamento con fibras cortas.</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4. Completar el mapa de selección por pieza.</a:t>
            </a:r>
          </a:p>
        </p:txBody>
      </p:sp>
    </p:spTree>
    <p:extLst>
      <p:ext uri="{BB962C8B-B14F-4D97-AF65-F5344CB8AC3E}">
        <p14:creationId xmlns:p14="http://schemas.microsoft.com/office/powerpoint/2010/main" val="1485608753"/>
      </p:ext>
    </p:extLst>
  </p:cSld>
</p:sld>
</file>

<file path=ppt/slides/slide45.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4648A56-CA0B-4F00-BFB9-65D78F18613F}"/>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Decisión según la misión</a:t>
            </a:r>
          </a:p>
        </p:txBody>
      </p:sp>
      <p:pic>
        <p:nvPicPr>
          <p:cNvPr id="2" name="">
            <a:extLst xmlns:a="http://schemas.openxmlformats.org/drawingml/2006/main">
              <a:ext uri="{FF2B5EF4-FFF2-40B4-BE49-F238E27FC236}">
                <a16:creationId xmlns:a16="http://schemas.microsoft.com/office/drawing/2014/main" id="{A55B91D1-5E72-42B7-B11F-D45824B523EA}"/>
              </a:ext>
            </a:extLst>
          </p:cNvPr>
          <p:cNvPicPr>
            <a:picLocks xmlns:a="http://schemas.openxmlformats.org/drawingml/2006/main" noChangeAspect="1"/>
          </p:cNvPicPr>
          <p:nvPr/>
        </p:nvPicPr>
        <p:blipFill>
          <a:blip xmlns:r="http://schemas.openxmlformats.org/officeDocument/2006/relationships" xmlns:a="http://schemas.openxmlformats.org/drawingml/2006/main" r:embed="R2a2717e8fee74d7b"/>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47EDCCF-35FA-4B29-A89A-17090E87BB1B}"/>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5   CLASE 10   21/24</a:t>
            </a:r>
          </a:p>
        </p:txBody>
      </p:sp>
      <p:sp>
        <p:nvSpPr>
          <p:cNvPr id="4" name="">
            <a:extLst xmlns:a="http://schemas.openxmlformats.org/drawingml/2006/main">
              <a:ext uri="{FF2B5EF4-FFF2-40B4-BE49-F238E27FC236}">
                <a16:creationId xmlns:a16="http://schemas.microsoft.com/office/drawing/2014/main" id="{49AEFDC4-502B-4365-910A-6DA6330357CE}"/>
              </a:ext>
            </a:extLst>
          </p:cNvPr>
          <p:cNvSpPr>
            <a:spLocks xmlns:a="http://schemas.openxmlformats.org/drawingml/2006/main" noGrp="1"/>
          </p:cNvSpPr>
          <p:nvPr/>
        </p:nvSpPr>
        <p:spPr>
          <a:xfrm xmlns:a="http://schemas.openxmlformats.org/drawingml/2006/main">
            <a:off x="590550" y="1771650"/>
            <a:ext cx="10715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75" b="1">
                <a:solidFill>
                  <a:srgbClr val="AEF4BB"/>
                </a:solidFill>
                <a:latin typeface="Arial"/>
                <a:ea typeface="Arial"/>
                <a:cs typeface="Arial"/>
              </a:defRPr>
            </a:defPPr>
            <a:lvl1pPr>
              <a:defRPr sz="2775" b="1">
                <a:solidFill>
                  <a:srgbClr val="AEF4BB"/>
                </a:solidFill>
                <a:latin typeface="Arial"/>
                <a:ea typeface="Arial"/>
                <a:cs typeface="Arial"/>
              </a:defRPr>
            </a:lvl1pPr>
            <a:lvl2pPr>
              <a:defRPr sz="2775" b="1">
                <a:solidFill>
                  <a:srgbClr val="AEF4BB"/>
                </a:solidFill>
                <a:latin typeface="Arial"/>
                <a:ea typeface="Arial"/>
                <a:cs typeface="Arial"/>
              </a:defRPr>
            </a:lvl2pPr>
            <a:lvl3pPr>
              <a:defRPr sz="2775" b="1">
                <a:solidFill>
                  <a:srgbClr val="AEF4BB"/>
                </a:solidFill>
                <a:latin typeface="Arial"/>
                <a:ea typeface="Arial"/>
                <a:cs typeface="Arial"/>
              </a:defRPr>
            </a:lvl3pPr>
            <a:lvl4pPr>
              <a:defRPr sz="2775" b="1">
                <a:solidFill>
                  <a:srgbClr val="AEF4BB"/>
                </a:solidFill>
                <a:latin typeface="Arial"/>
                <a:ea typeface="Arial"/>
                <a:cs typeface="Arial"/>
              </a:defRPr>
            </a:lvl4pPr>
            <a:lvl5pPr>
              <a:defRPr sz="2775" b="1">
                <a:solidFill>
                  <a:srgbClr val="AEF4BB"/>
                </a:solidFill>
                <a:latin typeface="Arial"/>
                <a:ea typeface="Arial"/>
                <a:cs typeface="Arial"/>
              </a:defRPr>
            </a:lvl5pPr>
            <a:lvl6pPr>
              <a:defRPr sz="2775" b="1">
                <a:solidFill>
                  <a:srgbClr val="AEF4BB"/>
                </a:solidFill>
                <a:latin typeface="Arial"/>
                <a:ea typeface="Arial"/>
                <a:cs typeface="Arial"/>
              </a:defRPr>
            </a:lvl6pPr>
            <a:lvl7pPr>
              <a:defRPr sz="2775" b="1">
                <a:solidFill>
                  <a:srgbClr val="AEF4BB"/>
                </a:solidFill>
                <a:latin typeface="Arial"/>
                <a:ea typeface="Arial"/>
                <a:cs typeface="Arial"/>
              </a:defRPr>
            </a:lvl7pPr>
            <a:lvl8pPr>
              <a:defRPr sz="2775" b="1">
                <a:solidFill>
                  <a:srgbClr val="AEF4BB"/>
                </a:solidFill>
                <a:latin typeface="Arial"/>
                <a:ea typeface="Arial"/>
                <a:cs typeface="Arial"/>
              </a:defRPr>
            </a:lvl8pPr>
            <a:lvl9pPr>
              <a:defRPr sz="2775" b="1">
                <a:solidFill>
                  <a:srgbClr val="AEF4BB"/>
                </a:solidFill>
                <a:latin typeface="Arial"/>
                <a:ea typeface="Arial"/>
                <a:cs typeface="Arial"/>
              </a:defRPr>
            </a:lvl9pPr>
          </a:lstStyle>
          <a:p xmlns:a="http://schemas.openxmlformats.org/drawingml/2006/main">
            <a:pPr>
              <a:defRPr sz="2775" b="1">
                <a:solidFill>
                  <a:srgbClr val="AEF4BB"/>
                </a:solidFill>
                <a:latin typeface="Arial"/>
                <a:ea typeface="Arial"/>
                <a:cs typeface="Arial"/>
              </a:defRPr>
            </a:pPr>
            <a:r>
              <a:rPr sz="2775" b="1">
                <a:solidFill>
                  <a:srgbClr val="AEF4BB"/>
                </a:solidFill>
                <a:latin typeface="Arial"/>
                <a:ea typeface="Arial"/>
                <a:cs typeface="Arial"/>
              </a:rPr>
              <a:t>Elegir materiales que el equipo pueda fabricar y comprobar con sus recursos.</a:t>
            </a:r>
          </a:p>
        </p:txBody>
      </p:sp>
      <p:sp>
        <p:nvSpPr>
          <p:cNvPr id="5" name="">
            <a:extLst xmlns:a="http://schemas.openxmlformats.org/drawingml/2006/main">
              <a:ext uri="{FF2B5EF4-FFF2-40B4-BE49-F238E27FC236}">
                <a16:creationId xmlns:a16="http://schemas.microsoft.com/office/drawing/2014/main" id="{9464B4DE-1F8F-47FE-BBB9-865FB57859AC}"/>
              </a:ext>
            </a:extLst>
          </p:cNvPr>
          <p:cNvSpPr>
            <a:spLocks xmlns:a="http://schemas.openxmlformats.org/drawingml/2006/main" noGrp="1"/>
          </p:cNvSpPr>
          <p:nvPr/>
        </p:nvSpPr>
        <p:spPr>
          <a:xfrm xmlns:a="http://schemas.openxmlformats.org/drawingml/2006/main">
            <a:off x="590550" y="3638550"/>
            <a:ext cx="107156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0">
                <a:solidFill>
                  <a:srgbClr val="FCFCF8"/>
                </a:solidFill>
                <a:latin typeface="Arial"/>
                <a:ea typeface="Arial"/>
                <a:cs typeface="Arial"/>
              </a:defRPr>
            </a:defPPr>
            <a:lvl1pPr>
              <a:defRPr sz="2625" b="0">
                <a:solidFill>
                  <a:srgbClr val="FCFCF8"/>
                </a:solidFill>
                <a:latin typeface="Arial"/>
                <a:ea typeface="Arial"/>
                <a:cs typeface="Arial"/>
              </a:defRPr>
            </a:lvl1pPr>
            <a:lvl2pPr>
              <a:defRPr sz="2625" b="0">
                <a:solidFill>
                  <a:srgbClr val="FCFCF8"/>
                </a:solidFill>
                <a:latin typeface="Arial"/>
                <a:ea typeface="Arial"/>
                <a:cs typeface="Arial"/>
              </a:defRPr>
            </a:lvl2pPr>
            <a:lvl3pPr>
              <a:defRPr sz="2625" b="0">
                <a:solidFill>
                  <a:srgbClr val="FCFCF8"/>
                </a:solidFill>
                <a:latin typeface="Arial"/>
                <a:ea typeface="Arial"/>
                <a:cs typeface="Arial"/>
              </a:defRPr>
            </a:lvl3pPr>
            <a:lvl4pPr>
              <a:defRPr sz="2625" b="0">
                <a:solidFill>
                  <a:srgbClr val="FCFCF8"/>
                </a:solidFill>
                <a:latin typeface="Arial"/>
                <a:ea typeface="Arial"/>
                <a:cs typeface="Arial"/>
              </a:defRPr>
            </a:lvl4pPr>
            <a:lvl5pPr>
              <a:defRPr sz="2625" b="0">
                <a:solidFill>
                  <a:srgbClr val="FCFCF8"/>
                </a:solidFill>
                <a:latin typeface="Arial"/>
                <a:ea typeface="Arial"/>
                <a:cs typeface="Arial"/>
              </a:defRPr>
            </a:lvl5pPr>
            <a:lvl6pPr>
              <a:defRPr sz="2625" b="0">
                <a:solidFill>
                  <a:srgbClr val="FCFCF8"/>
                </a:solidFill>
                <a:latin typeface="Arial"/>
                <a:ea typeface="Arial"/>
                <a:cs typeface="Arial"/>
              </a:defRPr>
            </a:lvl6pPr>
            <a:lvl7pPr>
              <a:defRPr sz="2625" b="0">
                <a:solidFill>
                  <a:srgbClr val="FCFCF8"/>
                </a:solidFill>
                <a:latin typeface="Arial"/>
                <a:ea typeface="Arial"/>
                <a:cs typeface="Arial"/>
              </a:defRPr>
            </a:lvl7pPr>
            <a:lvl8pPr>
              <a:defRPr sz="2625" b="0">
                <a:solidFill>
                  <a:srgbClr val="FCFCF8"/>
                </a:solidFill>
                <a:latin typeface="Arial"/>
                <a:ea typeface="Arial"/>
                <a:cs typeface="Arial"/>
              </a:defRPr>
            </a:lvl8pPr>
            <a:lvl9pPr>
              <a:defRPr sz="2625" b="0">
                <a:solidFill>
                  <a:srgbClr val="FCFCF8"/>
                </a:solidFill>
                <a:latin typeface="Arial"/>
                <a:ea typeface="Arial"/>
                <a:cs typeface="Arial"/>
              </a:defRPr>
            </a:lvl9pPr>
          </a:lstStyle>
          <a:p xmlns:a="http://schemas.openxmlformats.org/drawingml/2006/main">
            <a:pPr>
              <a:defRPr sz="2625" b="0">
                <a:solidFill>
                  <a:srgbClr val="FCFCF8"/>
                </a:solidFill>
                <a:latin typeface="Arial"/>
                <a:ea typeface="Arial"/>
                <a:cs typeface="Arial"/>
              </a:defRPr>
            </a:pPr>
            <a:r>
              <a:rPr sz="2625" b="0">
                <a:solidFill>
                  <a:srgbClr val="FCFCF8"/>
                </a:solidFill>
                <a:latin typeface="Arial"/>
                <a:ea typeface="Arial"/>
                <a:cs typeface="Arial"/>
              </a:rPr>
              <a:t>¿La elección cambia si necesitas reponer una pieza?</a:t>
            </a:r>
          </a:p>
        </p:txBody>
      </p:sp>
      <p:sp>
        <p:nvSpPr>
          <p:cNvPr id="6" name="">
            <a:extLst xmlns:a="http://schemas.openxmlformats.org/drawingml/2006/main">
              <a:ext uri="{FF2B5EF4-FFF2-40B4-BE49-F238E27FC236}">
                <a16:creationId xmlns:a16="http://schemas.microsoft.com/office/drawing/2014/main" id="{F1E72C33-C4E1-42DB-89D8-0F6B3DCF4724}"/>
              </a:ext>
            </a:extLst>
          </p:cNvPr>
          <p:cNvSpPr>
            <a:spLocks xmlns:a="http://schemas.openxmlformats.org/drawingml/2006/main" noGrp="1"/>
          </p:cNvSpPr>
          <p:nvPr/>
        </p:nvSpPr>
        <p:spPr>
          <a:xfrm xmlns:a="http://schemas.openxmlformats.org/drawingml/2006/main">
            <a:off x="590550" y="5486400"/>
            <a:ext cx="10715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B8C8C1"/>
                </a:solidFill>
                <a:latin typeface="Arial"/>
                <a:ea typeface="Arial"/>
                <a:cs typeface="Arial"/>
              </a:defRPr>
            </a:defPPr>
            <a:lvl1pPr>
              <a:defRPr sz="2175" b="0">
                <a:solidFill>
                  <a:srgbClr val="B8C8C1"/>
                </a:solidFill>
                <a:latin typeface="Arial"/>
                <a:ea typeface="Arial"/>
                <a:cs typeface="Arial"/>
              </a:defRPr>
            </a:lvl1pPr>
            <a:lvl2pPr>
              <a:defRPr sz="2175" b="0">
                <a:solidFill>
                  <a:srgbClr val="B8C8C1"/>
                </a:solidFill>
                <a:latin typeface="Arial"/>
                <a:ea typeface="Arial"/>
                <a:cs typeface="Arial"/>
              </a:defRPr>
            </a:lvl2pPr>
            <a:lvl3pPr>
              <a:defRPr sz="2175" b="0">
                <a:solidFill>
                  <a:srgbClr val="B8C8C1"/>
                </a:solidFill>
                <a:latin typeface="Arial"/>
                <a:ea typeface="Arial"/>
                <a:cs typeface="Arial"/>
              </a:defRPr>
            </a:lvl3pPr>
            <a:lvl4pPr>
              <a:defRPr sz="2175" b="0">
                <a:solidFill>
                  <a:srgbClr val="B8C8C1"/>
                </a:solidFill>
                <a:latin typeface="Arial"/>
                <a:ea typeface="Arial"/>
                <a:cs typeface="Arial"/>
              </a:defRPr>
            </a:lvl4pPr>
            <a:lvl5pPr>
              <a:defRPr sz="2175" b="0">
                <a:solidFill>
                  <a:srgbClr val="B8C8C1"/>
                </a:solidFill>
                <a:latin typeface="Arial"/>
                <a:ea typeface="Arial"/>
                <a:cs typeface="Arial"/>
              </a:defRPr>
            </a:lvl5pPr>
            <a:lvl6pPr>
              <a:defRPr sz="2175" b="0">
                <a:solidFill>
                  <a:srgbClr val="B8C8C1"/>
                </a:solidFill>
                <a:latin typeface="Arial"/>
                <a:ea typeface="Arial"/>
                <a:cs typeface="Arial"/>
              </a:defRPr>
            </a:lvl6pPr>
            <a:lvl7pPr>
              <a:defRPr sz="2175" b="0">
                <a:solidFill>
                  <a:srgbClr val="B8C8C1"/>
                </a:solidFill>
                <a:latin typeface="Arial"/>
                <a:ea typeface="Arial"/>
                <a:cs typeface="Arial"/>
              </a:defRPr>
            </a:lvl7pPr>
            <a:lvl8pPr>
              <a:defRPr sz="2175" b="0">
                <a:solidFill>
                  <a:srgbClr val="B8C8C1"/>
                </a:solidFill>
                <a:latin typeface="Arial"/>
                <a:ea typeface="Arial"/>
                <a:cs typeface="Arial"/>
              </a:defRPr>
            </a:lvl8pPr>
            <a:lvl9pPr>
              <a:defRPr sz="2175" b="0">
                <a:solidFill>
                  <a:srgbClr val="B8C8C1"/>
                </a:solidFill>
                <a:latin typeface="Arial"/>
                <a:ea typeface="Arial"/>
                <a:cs typeface="Arial"/>
              </a:defRPr>
            </a:lvl9pPr>
          </a:lstStyle>
          <a:p xmlns:a="http://schemas.openxmlformats.org/drawingml/2006/main">
            <a:pPr>
              <a:defRPr sz="2175" b="0">
                <a:solidFill>
                  <a:srgbClr val="B8C8C1"/>
                </a:solidFill>
                <a:latin typeface="Arial"/>
                <a:ea typeface="Arial"/>
                <a:cs typeface="Arial"/>
              </a:defRPr>
            </a:pPr>
            <a:r>
              <a:rPr sz="2175" b="0">
                <a:solidFill>
                  <a:srgbClr val="B8C8C1"/>
                </a:solidFill>
                <a:latin typeface="Arial"/>
                <a:ea typeface="Arial"/>
                <a:cs typeface="Arial"/>
              </a:rPr>
              <a:t>Explica tu elección con una pieza, un archivo o un dato de la clase.</a:t>
            </a:r>
          </a:p>
        </p:txBody>
      </p:sp>
    </p:spTree>
    <p:extLst>
      <p:ext uri="{BB962C8B-B14F-4D97-AF65-F5344CB8AC3E}">
        <p14:creationId xmlns:p14="http://schemas.microsoft.com/office/powerpoint/2010/main" val="1932857931"/>
      </p:ext>
    </p:extLst>
  </p:cSld>
</p:sld>
</file>

<file path=ppt/slides/slide46.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FF64400-4B74-49BD-9006-603C1468C104}"/>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Tres preguntas para cerrar</a:t>
            </a:r>
          </a:p>
        </p:txBody>
      </p:sp>
      <p:pic>
        <p:nvPicPr>
          <p:cNvPr id="2" name="">
            <a:extLst xmlns:a="http://schemas.openxmlformats.org/drawingml/2006/main">
              <a:ext uri="{FF2B5EF4-FFF2-40B4-BE49-F238E27FC236}">
                <a16:creationId xmlns:a16="http://schemas.microsoft.com/office/drawing/2014/main" id="{C9BB8D63-288F-45FA-9655-A4EFC196DF4C}"/>
              </a:ext>
            </a:extLst>
          </p:cNvPr>
          <p:cNvPicPr>
            <a:picLocks xmlns:a="http://schemas.openxmlformats.org/drawingml/2006/main" noChangeAspect="1"/>
          </p:cNvPicPr>
          <p:nvPr/>
        </p:nvPicPr>
        <p:blipFill>
          <a:blip xmlns:r="http://schemas.openxmlformats.org/officeDocument/2006/relationships" xmlns:a="http://schemas.openxmlformats.org/drawingml/2006/main" r:embed="R149068126e0f41a2"/>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6136FA2-C444-404A-9BC8-2E7977175E28}"/>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5   CLASE 10   22/24</a:t>
            </a:r>
          </a:p>
        </p:txBody>
      </p:sp>
      <p:sp>
        <p:nvSpPr>
          <p:cNvPr id="4" name="">
            <a:extLst xmlns:a="http://schemas.openxmlformats.org/drawingml/2006/main">
              <a:ext uri="{FF2B5EF4-FFF2-40B4-BE49-F238E27FC236}">
                <a16:creationId xmlns:a16="http://schemas.microsoft.com/office/drawing/2014/main" id="{47AAB46D-C396-4555-BA7A-C4D3C8E58940}"/>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1. ¿Más rigidez observada demuestra mejor material si cambia el espesor?</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2. ¿PLA con fibra corta equivale a una placa de tejido?</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3. ¿Qué debe explicar la selección?</a:t>
            </a:r>
          </a:p>
        </p:txBody>
      </p:sp>
    </p:spTree>
    <p:extLst>
      <p:ext uri="{BB962C8B-B14F-4D97-AF65-F5344CB8AC3E}">
        <p14:creationId xmlns:p14="http://schemas.microsoft.com/office/powerpoint/2010/main" val="359920509"/>
      </p:ext>
    </p:extLst>
  </p:cSld>
</p:sld>
</file>

<file path=ppt/slides/slide4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887B91C-BCD6-4842-9052-69FBEC275A1D}"/>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Cómo explicar las respuestas</a:t>
            </a:r>
          </a:p>
        </p:txBody>
      </p:sp>
      <p:pic>
        <p:nvPicPr>
          <p:cNvPr id="2" name="">
            <a:extLst xmlns:a="http://schemas.openxmlformats.org/drawingml/2006/main">
              <a:ext uri="{FF2B5EF4-FFF2-40B4-BE49-F238E27FC236}">
                <a16:creationId xmlns:a16="http://schemas.microsoft.com/office/drawing/2014/main" id="{7DA27590-B0D5-46DD-B14B-A780FA4D5AB7}"/>
              </a:ext>
            </a:extLst>
          </p:cNvPr>
          <p:cNvPicPr>
            <a:picLocks xmlns:a="http://schemas.openxmlformats.org/drawingml/2006/main" noChangeAspect="1"/>
          </p:cNvPicPr>
          <p:nvPr/>
        </p:nvPicPr>
        <p:blipFill>
          <a:blip xmlns:r="http://schemas.openxmlformats.org/officeDocument/2006/relationships" xmlns:a="http://schemas.openxmlformats.org/drawingml/2006/main" r:embed="R0604fe16b89249c9"/>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5551B9A-BBCB-4842-B12C-5139322AA9D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5   CLASE 10   23/24</a:t>
            </a:r>
          </a:p>
        </p:txBody>
      </p:sp>
      <p:sp>
        <p:nvSpPr>
          <p:cNvPr id="4" name="">
            <a:extLst xmlns:a="http://schemas.openxmlformats.org/drawingml/2006/main">
              <a:ext uri="{FF2B5EF4-FFF2-40B4-BE49-F238E27FC236}">
                <a16:creationId xmlns:a16="http://schemas.microsoft.com/office/drawing/2014/main" id="{19023CE6-2FCC-4D92-AB1E-F7A682C00AA2}"/>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1. No. Se están comparando piezas y condiciones diferentes.</a:t>
            </a:r>
          </a:p>
          <a:p xmlns:a="http://schemas.openxmlformats.org/drawingml/2006/main">
            <a:r>
              <a:t/>
            </a:r>
          </a:p>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2. No. La estructura del refuerzo y el proceso son distintos.</a:t>
            </a:r>
          </a:p>
          <a:p xmlns:a="http://schemas.openxmlformats.org/drawingml/2006/main">
            <a:r>
              <a:t/>
            </a:r>
          </a:p>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3. Función de la pieza, proceso disponible y comprobación.</a:t>
            </a:r>
          </a:p>
        </p:txBody>
      </p:sp>
    </p:spTree>
    <p:extLst>
      <p:ext uri="{BB962C8B-B14F-4D97-AF65-F5344CB8AC3E}">
        <p14:creationId xmlns:p14="http://schemas.microsoft.com/office/powerpoint/2010/main" val="2130970417"/>
      </p:ext>
    </p:extLst>
  </p:cSld>
</p:sld>
</file>

<file path=ppt/slides/slide48.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37AB8AC-4704-443B-A9E7-6AE423240DA7}"/>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Entrega de la clase</a:t>
            </a:r>
          </a:p>
        </p:txBody>
      </p:sp>
      <p:pic>
        <p:nvPicPr>
          <p:cNvPr id="2" name="">
            <a:extLst xmlns:a="http://schemas.openxmlformats.org/drawingml/2006/main">
              <a:ext uri="{FF2B5EF4-FFF2-40B4-BE49-F238E27FC236}">
                <a16:creationId xmlns:a16="http://schemas.microsoft.com/office/drawing/2014/main" id="{F8172EBF-D4A2-4275-91C7-0F26465DCF21}"/>
              </a:ext>
            </a:extLst>
          </p:cNvPr>
          <p:cNvPicPr>
            <a:picLocks xmlns:a="http://schemas.openxmlformats.org/drawingml/2006/main" noChangeAspect="1"/>
          </p:cNvPicPr>
          <p:nvPr/>
        </p:nvPicPr>
        <p:blipFill>
          <a:blip xmlns:r="http://schemas.openxmlformats.org/officeDocument/2006/relationships" xmlns:a="http://schemas.openxmlformats.org/drawingml/2006/main" r:embed="R57ace718cadc4a6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A0A2F6E-441A-4730-9972-0BBCDC3E0D7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5   CLASE 10   24/24</a:t>
            </a:r>
          </a:p>
        </p:txBody>
      </p:sp>
      <p:sp>
        <p:nvSpPr>
          <p:cNvPr id="4" name="">
            <a:extLst xmlns:a="http://schemas.openxmlformats.org/drawingml/2006/main">
              <a:ext uri="{FF2B5EF4-FFF2-40B4-BE49-F238E27FC236}">
                <a16:creationId xmlns:a16="http://schemas.microsoft.com/office/drawing/2014/main" id="{5FBF8D1B-3205-46FF-AF23-16FF85730AF6}"/>
              </a:ext>
            </a:extLst>
          </p:cNvPr>
          <p:cNvSpPr>
            <a:spLocks xmlns:a="http://schemas.openxmlformats.org/drawingml/2006/main" noGrp="1"/>
          </p:cNvSpPr>
          <p:nvPr/>
        </p:nvSpPr>
        <p:spPr>
          <a:xfrm xmlns:a="http://schemas.openxmlformats.org/drawingml/2006/main">
            <a:off x="590550" y="1800225"/>
            <a:ext cx="10715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1">
                <a:solidFill>
                  <a:srgbClr val="AEF4BB"/>
                </a:solidFill>
                <a:latin typeface="Arial"/>
                <a:ea typeface="Arial"/>
                <a:cs typeface="Arial"/>
              </a:defRPr>
            </a:defPPr>
            <a:lvl1pPr>
              <a:defRPr sz="2925" b="1">
                <a:solidFill>
                  <a:srgbClr val="AEF4BB"/>
                </a:solidFill>
                <a:latin typeface="Arial"/>
                <a:ea typeface="Arial"/>
                <a:cs typeface="Arial"/>
              </a:defRPr>
            </a:lvl1pPr>
            <a:lvl2pPr>
              <a:defRPr sz="2925" b="1">
                <a:solidFill>
                  <a:srgbClr val="AEF4BB"/>
                </a:solidFill>
                <a:latin typeface="Arial"/>
                <a:ea typeface="Arial"/>
                <a:cs typeface="Arial"/>
              </a:defRPr>
            </a:lvl2pPr>
            <a:lvl3pPr>
              <a:defRPr sz="2925" b="1">
                <a:solidFill>
                  <a:srgbClr val="AEF4BB"/>
                </a:solidFill>
                <a:latin typeface="Arial"/>
                <a:ea typeface="Arial"/>
                <a:cs typeface="Arial"/>
              </a:defRPr>
            </a:lvl3pPr>
            <a:lvl4pPr>
              <a:defRPr sz="2925" b="1">
                <a:solidFill>
                  <a:srgbClr val="AEF4BB"/>
                </a:solidFill>
                <a:latin typeface="Arial"/>
                <a:ea typeface="Arial"/>
                <a:cs typeface="Arial"/>
              </a:defRPr>
            </a:lvl4pPr>
            <a:lvl5pPr>
              <a:defRPr sz="2925" b="1">
                <a:solidFill>
                  <a:srgbClr val="AEF4BB"/>
                </a:solidFill>
                <a:latin typeface="Arial"/>
                <a:ea typeface="Arial"/>
                <a:cs typeface="Arial"/>
              </a:defRPr>
            </a:lvl5pPr>
            <a:lvl6pPr>
              <a:defRPr sz="2925" b="1">
                <a:solidFill>
                  <a:srgbClr val="AEF4BB"/>
                </a:solidFill>
                <a:latin typeface="Arial"/>
                <a:ea typeface="Arial"/>
                <a:cs typeface="Arial"/>
              </a:defRPr>
            </a:lvl6pPr>
            <a:lvl7pPr>
              <a:defRPr sz="2925" b="1">
                <a:solidFill>
                  <a:srgbClr val="AEF4BB"/>
                </a:solidFill>
                <a:latin typeface="Arial"/>
                <a:ea typeface="Arial"/>
                <a:cs typeface="Arial"/>
              </a:defRPr>
            </a:lvl7pPr>
            <a:lvl8pPr>
              <a:defRPr sz="2925" b="1">
                <a:solidFill>
                  <a:srgbClr val="AEF4BB"/>
                </a:solidFill>
                <a:latin typeface="Arial"/>
                <a:ea typeface="Arial"/>
                <a:cs typeface="Arial"/>
              </a:defRPr>
            </a:lvl8pPr>
            <a:lvl9pPr>
              <a:defRPr sz="2925" b="1">
                <a:solidFill>
                  <a:srgbClr val="AEF4BB"/>
                </a:solidFill>
                <a:latin typeface="Arial"/>
                <a:ea typeface="Arial"/>
                <a:cs typeface="Arial"/>
              </a:defRPr>
            </a:lvl9pPr>
          </a:lstStyle>
          <a:p xmlns:a="http://schemas.openxmlformats.org/drawingml/2006/main">
            <a:pPr>
              <a:defRPr sz="2925" b="1">
                <a:solidFill>
                  <a:srgbClr val="AEF4BB"/>
                </a:solidFill>
                <a:latin typeface="Arial"/>
                <a:ea typeface="Arial"/>
                <a:cs typeface="Arial"/>
              </a:defRPr>
            </a:pPr>
            <a:r>
              <a:rPr sz="2925" b="1">
                <a:solidFill>
                  <a:srgbClr val="AEF4BB"/>
                </a:solidFill>
                <a:latin typeface="Arial"/>
                <a:ea typeface="Arial"/>
                <a:cs typeface="Arial"/>
              </a:rPr>
              <a:t>Tabla de selección por pieza, fotos y observaciones de banco.</a:t>
            </a:r>
          </a:p>
        </p:txBody>
      </p:sp>
      <p:sp>
        <p:nvSpPr>
          <p:cNvPr id="5" name="">
            <a:extLst xmlns:a="http://schemas.openxmlformats.org/drawingml/2006/main">
              <a:ext uri="{FF2B5EF4-FFF2-40B4-BE49-F238E27FC236}">
                <a16:creationId xmlns:a16="http://schemas.microsoft.com/office/drawing/2014/main" id="{8060278A-9902-4757-A279-882C64DFE721}"/>
              </a:ext>
            </a:extLst>
          </p:cNvPr>
          <p:cNvSpPr>
            <a:spLocks xmlns:a="http://schemas.openxmlformats.org/drawingml/2006/main" noGrp="1"/>
          </p:cNvSpPr>
          <p:nvPr/>
        </p:nvSpPr>
        <p:spPr>
          <a:xfrm xmlns:a="http://schemas.openxmlformats.org/drawingml/2006/main">
            <a:off x="590550" y="4314825"/>
            <a:ext cx="1071562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CFCF8"/>
                </a:solidFill>
                <a:latin typeface="Arial"/>
                <a:ea typeface="Arial"/>
                <a:cs typeface="Arial"/>
              </a:defRPr>
            </a:defPPr>
            <a:lvl1pPr>
              <a:defRPr sz="2325" b="0">
                <a:solidFill>
                  <a:srgbClr val="FCFCF8"/>
                </a:solidFill>
                <a:latin typeface="Arial"/>
                <a:ea typeface="Arial"/>
                <a:cs typeface="Arial"/>
              </a:defRPr>
            </a:lvl1pPr>
            <a:lvl2pPr>
              <a:defRPr sz="2325" b="0">
                <a:solidFill>
                  <a:srgbClr val="FCFCF8"/>
                </a:solidFill>
                <a:latin typeface="Arial"/>
                <a:ea typeface="Arial"/>
                <a:cs typeface="Arial"/>
              </a:defRPr>
            </a:lvl2pPr>
            <a:lvl3pPr>
              <a:defRPr sz="2325" b="0">
                <a:solidFill>
                  <a:srgbClr val="FCFCF8"/>
                </a:solidFill>
                <a:latin typeface="Arial"/>
                <a:ea typeface="Arial"/>
                <a:cs typeface="Arial"/>
              </a:defRPr>
            </a:lvl3pPr>
            <a:lvl4pPr>
              <a:defRPr sz="2325" b="0">
                <a:solidFill>
                  <a:srgbClr val="FCFCF8"/>
                </a:solidFill>
                <a:latin typeface="Arial"/>
                <a:ea typeface="Arial"/>
                <a:cs typeface="Arial"/>
              </a:defRPr>
            </a:lvl4pPr>
            <a:lvl5pPr>
              <a:defRPr sz="2325" b="0">
                <a:solidFill>
                  <a:srgbClr val="FCFCF8"/>
                </a:solidFill>
                <a:latin typeface="Arial"/>
                <a:ea typeface="Arial"/>
                <a:cs typeface="Arial"/>
              </a:defRPr>
            </a:lvl5pPr>
            <a:lvl6pPr>
              <a:defRPr sz="2325" b="0">
                <a:solidFill>
                  <a:srgbClr val="FCFCF8"/>
                </a:solidFill>
                <a:latin typeface="Arial"/>
                <a:ea typeface="Arial"/>
                <a:cs typeface="Arial"/>
              </a:defRPr>
            </a:lvl6pPr>
            <a:lvl7pPr>
              <a:defRPr sz="2325" b="0">
                <a:solidFill>
                  <a:srgbClr val="FCFCF8"/>
                </a:solidFill>
                <a:latin typeface="Arial"/>
                <a:ea typeface="Arial"/>
                <a:cs typeface="Arial"/>
              </a:defRPr>
            </a:lvl7pPr>
            <a:lvl8pPr>
              <a:defRPr sz="2325" b="0">
                <a:solidFill>
                  <a:srgbClr val="FCFCF8"/>
                </a:solidFill>
                <a:latin typeface="Arial"/>
                <a:ea typeface="Arial"/>
                <a:cs typeface="Arial"/>
              </a:defRPr>
            </a:lvl8pPr>
            <a:lvl9pPr>
              <a:defRPr sz="2325" b="0">
                <a:solidFill>
                  <a:srgbClr val="FCFCF8"/>
                </a:solidFill>
                <a:latin typeface="Arial"/>
                <a:ea typeface="Arial"/>
                <a:cs typeface="Arial"/>
              </a:defRPr>
            </a:lvl9pPr>
          </a:lstStyle>
          <a:p xmlns:a="http://schemas.openxmlformats.org/drawingml/2006/main">
            <a:pPr>
              <a:defRPr sz="2325" b="0">
                <a:solidFill>
                  <a:srgbClr val="FCFCF8"/>
                </a:solidFill>
                <a:latin typeface="Arial"/>
                <a:ea typeface="Arial"/>
                <a:cs typeface="Arial"/>
              </a:defRPr>
            </a:pPr>
            <a:r>
              <a:rPr sz="2325" b="0">
                <a:solidFill>
                  <a:srgbClr val="FCFCF8"/>
                </a:solidFill>
                <a:latin typeface="Arial"/>
                <a:ea typeface="Arial"/>
                <a:cs typeface="Arial"/>
              </a:rPr>
              <a:t>Conserva la revisión del equipo y señala qué comprobación sigue pendiente.</a:t>
            </a:r>
          </a:p>
        </p:txBody>
      </p:sp>
    </p:spTree>
    <p:extLst>
      <p:ext uri="{BB962C8B-B14F-4D97-AF65-F5344CB8AC3E}">
        <p14:creationId xmlns:p14="http://schemas.microsoft.com/office/powerpoint/2010/main" val="9684289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2026-10-22T18:50:26.1120000Z</dcterms:created>
  <dcterms:modified xsi:type="dcterms:W3CDTF">2026-10-22T18:50:26.1120000Z</dcterms:modified>
</coreProperties>
</file>