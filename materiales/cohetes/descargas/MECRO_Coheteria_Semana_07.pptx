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slides/charts/chart1.xml" ContentType="application/vnd.openxmlformats-officedocument.drawingml.chart+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0f71e4af17f404e" /><Relationship Type="http://schemas.openxmlformats.org/officeDocument/2006/relationships/extended-properties" Target="/docProps/app.xml" Id="Rf03c661dd1c941ae" /><Relationship Type="http://schemas.openxmlformats.org/officeDocument/2006/relationships/officeDocument" Target="/ppt/presentation.xml" Id="R58a0496f87bf4531" /></Relationships>
</file>

<file path=ppt/presentation.xml><?xml version="1.0" encoding="utf-8"?>
<p:presentation xmlns:p="http://schemas.openxmlformats.org/presentationml/2006/main">
  <p:sldMasterIdLst>
    <p:sldMasterId xmlns:r="http://schemas.openxmlformats.org/officeDocument/2006/relationships" id="2147483648" r:id="Rad996c8ef9a94ce5"/>
  </p:sldMasterIdLst>
  <p:notesMasterIdLst>
    <p:notesMasterId xmlns:r="http://schemas.openxmlformats.org/officeDocument/2006/relationships" r:id="Rb333a9cedd9f4b16"/>
  </p:notesMasterIdLst>
  <p:sldIdLst>
    <p:sldId xmlns:r="http://schemas.openxmlformats.org/officeDocument/2006/relationships" id="256" r:id="Rc92dba07a279499e"/>
    <p:sldId xmlns:r="http://schemas.openxmlformats.org/officeDocument/2006/relationships" id="257" r:id="R653f0f13d1a84c0c"/>
    <p:sldId xmlns:r="http://schemas.openxmlformats.org/officeDocument/2006/relationships" id="258" r:id="Rf6cb817043784941"/>
    <p:sldId xmlns:r="http://schemas.openxmlformats.org/officeDocument/2006/relationships" id="259" r:id="R0562493a204143b2"/>
    <p:sldId xmlns:r="http://schemas.openxmlformats.org/officeDocument/2006/relationships" id="260" r:id="R911521f59e2c4af8"/>
    <p:sldId xmlns:r="http://schemas.openxmlformats.org/officeDocument/2006/relationships" id="261" r:id="Rfca48558dfc64268"/>
    <p:sldId xmlns:r="http://schemas.openxmlformats.org/officeDocument/2006/relationships" id="262" r:id="R6c0b17bf9e0445c0"/>
    <p:sldId xmlns:r="http://schemas.openxmlformats.org/officeDocument/2006/relationships" id="263" r:id="R8ffd6c7a37a9496e"/>
    <p:sldId xmlns:r="http://schemas.openxmlformats.org/officeDocument/2006/relationships" id="264" r:id="R866ed955f6a2432f"/>
    <p:sldId xmlns:r="http://schemas.openxmlformats.org/officeDocument/2006/relationships" id="265" r:id="R84d26a1233094972"/>
    <p:sldId xmlns:r="http://schemas.openxmlformats.org/officeDocument/2006/relationships" id="266" r:id="R784f9d919a454b82"/>
    <p:sldId xmlns:r="http://schemas.openxmlformats.org/officeDocument/2006/relationships" id="267" r:id="R35a27657d010428d"/>
    <p:sldId xmlns:r="http://schemas.openxmlformats.org/officeDocument/2006/relationships" id="268" r:id="R4cab34963ab349f1"/>
    <p:sldId xmlns:r="http://schemas.openxmlformats.org/officeDocument/2006/relationships" id="269" r:id="Rbe7065ca626a4007"/>
    <p:sldId xmlns:r="http://schemas.openxmlformats.org/officeDocument/2006/relationships" id="270" r:id="Rdb09ed404e854ccd"/>
    <p:sldId xmlns:r="http://schemas.openxmlformats.org/officeDocument/2006/relationships" id="271" r:id="R902a1aea39184114"/>
    <p:sldId xmlns:r="http://schemas.openxmlformats.org/officeDocument/2006/relationships" id="272" r:id="R5f7b10db1f944203"/>
    <p:sldId xmlns:r="http://schemas.openxmlformats.org/officeDocument/2006/relationships" id="273" r:id="R3efcb435464d4103"/>
    <p:sldId xmlns:r="http://schemas.openxmlformats.org/officeDocument/2006/relationships" id="274" r:id="Ra6f4a1a4d02c4693"/>
    <p:sldId xmlns:r="http://schemas.openxmlformats.org/officeDocument/2006/relationships" id="275" r:id="R50479c8a42da4650"/>
    <p:sldId xmlns:r="http://schemas.openxmlformats.org/officeDocument/2006/relationships" id="276" r:id="Rffbe4d415c3d4dce"/>
    <p:sldId xmlns:r="http://schemas.openxmlformats.org/officeDocument/2006/relationships" id="277" r:id="R7644e9f8ec3d42b3"/>
    <p:sldId xmlns:r="http://schemas.openxmlformats.org/officeDocument/2006/relationships" id="278" r:id="R175ee09f563b4f7c"/>
    <p:sldId xmlns:r="http://schemas.openxmlformats.org/officeDocument/2006/relationships" id="279" r:id="Rb7f85b66154f4029"/>
    <p:sldId xmlns:r="http://schemas.openxmlformats.org/officeDocument/2006/relationships" id="280" r:id="R3d6fc3ee30f74931"/>
    <p:sldId xmlns:r="http://schemas.openxmlformats.org/officeDocument/2006/relationships" id="281" r:id="Rb1b8e7380f644309"/>
    <p:sldId xmlns:r="http://schemas.openxmlformats.org/officeDocument/2006/relationships" id="282" r:id="Rd47f6df183414ae6"/>
    <p:sldId xmlns:r="http://schemas.openxmlformats.org/officeDocument/2006/relationships" id="283" r:id="R46026f88a48c4703"/>
    <p:sldId xmlns:r="http://schemas.openxmlformats.org/officeDocument/2006/relationships" id="284" r:id="R99414213fde64993"/>
    <p:sldId xmlns:r="http://schemas.openxmlformats.org/officeDocument/2006/relationships" id="285" r:id="R760096b05a4d4992"/>
    <p:sldId xmlns:r="http://schemas.openxmlformats.org/officeDocument/2006/relationships" id="286" r:id="Rb88868ce75bc4e56"/>
    <p:sldId xmlns:r="http://schemas.openxmlformats.org/officeDocument/2006/relationships" id="287" r:id="Ra2bd6eeb11af4e94"/>
    <p:sldId xmlns:r="http://schemas.openxmlformats.org/officeDocument/2006/relationships" id="288" r:id="Rb10332948a5649c0"/>
    <p:sldId xmlns:r="http://schemas.openxmlformats.org/officeDocument/2006/relationships" id="289" r:id="R36c8454211184a7a"/>
    <p:sldId xmlns:r="http://schemas.openxmlformats.org/officeDocument/2006/relationships" id="290" r:id="R6f5c76a8e2604f7c"/>
    <p:sldId xmlns:r="http://schemas.openxmlformats.org/officeDocument/2006/relationships" id="291" r:id="Rbd51688d57844bb9"/>
    <p:sldId xmlns:r="http://schemas.openxmlformats.org/officeDocument/2006/relationships" id="292" r:id="R0a147a8fa9bc488b"/>
    <p:sldId xmlns:r="http://schemas.openxmlformats.org/officeDocument/2006/relationships" id="293" r:id="R5036eefc3eef4f4a"/>
    <p:sldId xmlns:r="http://schemas.openxmlformats.org/officeDocument/2006/relationships" id="294" r:id="R9a3ee198fd644171"/>
    <p:sldId xmlns:r="http://schemas.openxmlformats.org/officeDocument/2006/relationships" id="295" r:id="R00c644c5205c444f"/>
    <p:sldId xmlns:r="http://schemas.openxmlformats.org/officeDocument/2006/relationships" id="296" r:id="R5687a550aeb84498"/>
    <p:sldId xmlns:r="http://schemas.openxmlformats.org/officeDocument/2006/relationships" id="297" r:id="R8990ce0dd2864253"/>
    <p:sldId xmlns:r="http://schemas.openxmlformats.org/officeDocument/2006/relationships" id="298" r:id="R4439cf0fd88e4a22"/>
    <p:sldId xmlns:r="http://schemas.openxmlformats.org/officeDocument/2006/relationships" id="299" r:id="R35436e21b5d446d1"/>
    <p:sldId xmlns:r="http://schemas.openxmlformats.org/officeDocument/2006/relationships" id="300" r:id="R4f75c1fd1a6245b5"/>
    <p:sldId xmlns:r="http://schemas.openxmlformats.org/officeDocument/2006/relationships" id="301" r:id="R2026e62d547748e1"/>
    <p:sldId xmlns:r="http://schemas.openxmlformats.org/officeDocument/2006/relationships" id="302" r:id="Re621a589d5484ceb"/>
    <p:sldId xmlns:r="http://schemas.openxmlformats.org/officeDocument/2006/relationships" id="303" r:id="Re4da0d42c5f34b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f8fdc8d3ef4786" /><Relationship Type="http://schemas.openxmlformats.org/officeDocument/2006/relationships/slideMaster" Target="/ppt/slideMasters/slideMaster1.xml" Id="Rad996c8ef9a94ce5" /><Relationship Type="http://schemas.openxmlformats.org/officeDocument/2006/relationships/notesMaster" Target="/ppt/notesMasters/notesMaster1.xml" Id="Rb333a9cedd9f4b16" /><Relationship Type="http://schemas.openxmlformats.org/officeDocument/2006/relationships/presProps" Target="/ppt/presProps.xml" Id="R7aff75d3e2344c68" /><Relationship Type="http://schemas.openxmlformats.org/officeDocument/2006/relationships/tableStyles" Target="/ppt/tableStyles.xml" Id="R3a3cbebe979b4e1b" /><Relationship Type="http://schemas.openxmlformats.org/officeDocument/2006/relationships/slide" Target="/ppt/slides/slide1.xml" Id="Rc92dba07a279499e" /><Relationship Type="http://schemas.openxmlformats.org/officeDocument/2006/relationships/slide" Target="/ppt/slides/slide2.xml" Id="R653f0f13d1a84c0c" /><Relationship Type="http://schemas.openxmlformats.org/officeDocument/2006/relationships/slide" Target="/ppt/slides/slide3.xml" Id="Rf6cb817043784941" /><Relationship Type="http://schemas.openxmlformats.org/officeDocument/2006/relationships/slide" Target="/ppt/slides/slide4.xml" Id="R0562493a204143b2" /><Relationship Type="http://schemas.openxmlformats.org/officeDocument/2006/relationships/slide" Target="/ppt/slides/slide5.xml" Id="R911521f59e2c4af8" /><Relationship Type="http://schemas.openxmlformats.org/officeDocument/2006/relationships/slide" Target="/ppt/slides/slide6.xml" Id="Rfca48558dfc64268" /><Relationship Type="http://schemas.openxmlformats.org/officeDocument/2006/relationships/slide" Target="/ppt/slides/slide7.xml" Id="R6c0b17bf9e0445c0" /><Relationship Type="http://schemas.openxmlformats.org/officeDocument/2006/relationships/slide" Target="/ppt/slides/slide8.xml" Id="R8ffd6c7a37a9496e" /><Relationship Type="http://schemas.openxmlformats.org/officeDocument/2006/relationships/slide" Target="/ppt/slides/slide9.xml" Id="R866ed955f6a2432f" /><Relationship Type="http://schemas.openxmlformats.org/officeDocument/2006/relationships/slide" Target="/ppt/slides/slide10.xml" Id="R84d26a1233094972" /><Relationship Type="http://schemas.openxmlformats.org/officeDocument/2006/relationships/slide" Target="/ppt/slides/slide11.xml" Id="R784f9d919a454b82" /><Relationship Type="http://schemas.openxmlformats.org/officeDocument/2006/relationships/slide" Target="/ppt/slides/slide12.xml" Id="R35a27657d010428d" /><Relationship Type="http://schemas.openxmlformats.org/officeDocument/2006/relationships/slide" Target="/ppt/slides/slide13.xml" Id="R4cab34963ab349f1" /><Relationship Type="http://schemas.openxmlformats.org/officeDocument/2006/relationships/slide" Target="/ppt/slides/slide14.xml" Id="Rbe7065ca626a4007" /><Relationship Type="http://schemas.openxmlformats.org/officeDocument/2006/relationships/slide" Target="/ppt/slides/slide15.xml" Id="Rdb09ed404e854ccd" /><Relationship Type="http://schemas.openxmlformats.org/officeDocument/2006/relationships/slide" Target="/ppt/slides/slide16.xml" Id="R902a1aea39184114" /><Relationship Type="http://schemas.openxmlformats.org/officeDocument/2006/relationships/slide" Target="/ppt/slides/slide17.xml" Id="R5f7b10db1f944203" /><Relationship Type="http://schemas.openxmlformats.org/officeDocument/2006/relationships/slide" Target="/ppt/slides/slide18.xml" Id="R3efcb435464d4103" /><Relationship Type="http://schemas.openxmlformats.org/officeDocument/2006/relationships/slide" Target="/ppt/slides/slide19.xml" Id="Ra6f4a1a4d02c4693" /><Relationship Type="http://schemas.openxmlformats.org/officeDocument/2006/relationships/slide" Target="/ppt/slides/slide20.xml" Id="R50479c8a42da4650" /><Relationship Type="http://schemas.openxmlformats.org/officeDocument/2006/relationships/slide" Target="/ppt/slides/slide21.xml" Id="Rffbe4d415c3d4dce" /><Relationship Type="http://schemas.openxmlformats.org/officeDocument/2006/relationships/slide" Target="/ppt/slides/slide22.xml" Id="R7644e9f8ec3d42b3" /><Relationship Type="http://schemas.openxmlformats.org/officeDocument/2006/relationships/slide" Target="/ppt/slides/slide23.xml" Id="R175ee09f563b4f7c" /><Relationship Type="http://schemas.openxmlformats.org/officeDocument/2006/relationships/slide" Target="/ppt/slides/slide24.xml" Id="Rb7f85b66154f4029" /><Relationship Type="http://schemas.openxmlformats.org/officeDocument/2006/relationships/slide" Target="/ppt/slides/slide25.xml" Id="R3d6fc3ee30f74931" /><Relationship Type="http://schemas.openxmlformats.org/officeDocument/2006/relationships/slide" Target="/ppt/slides/slide26.xml" Id="Rb1b8e7380f644309" /><Relationship Type="http://schemas.openxmlformats.org/officeDocument/2006/relationships/slide" Target="/ppt/slides/slide27.xml" Id="Rd47f6df183414ae6" /><Relationship Type="http://schemas.openxmlformats.org/officeDocument/2006/relationships/slide" Target="/ppt/slides/slide28.xml" Id="R46026f88a48c4703" /><Relationship Type="http://schemas.openxmlformats.org/officeDocument/2006/relationships/slide" Target="/ppt/slides/slide29.xml" Id="R99414213fde64993" /><Relationship Type="http://schemas.openxmlformats.org/officeDocument/2006/relationships/slide" Target="/ppt/slides/slide30.xml" Id="R760096b05a4d4992" /><Relationship Type="http://schemas.openxmlformats.org/officeDocument/2006/relationships/slide" Target="/ppt/slides/slide31.xml" Id="Rb88868ce75bc4e56" /><Relationship Type="http://schemas.openxmlformats.org/officeDocument/2006/relationships/slide" Target="/ppt/slides/slide32.xml" Id="Ra2bd6eeb11af4e94" /><Relationship Type="http://schemas.openxmlformats.org/officeDocument/2006/relationships/slide" Target="/ppt/slides/slide33.xml" Id="Rb10332948a5649c0" /><Relationship Type="http://schemas.openxmlformats.org/officeDocument/2006/relationships/slide" Target="/ppt/slides/slide34.xml" Id="R36c8454211184a7a" /><Relationship Type="http://schemas.openxmlformats.org/officeDocument/2006/relationships/slide" Target="/ppt/slides/slide35.xml" Id="R6f5c76a8e2604f7c" /><Relationship Type="http://schemas.openxmlformats.org/officeDocument/2006/relationships/slide" Target="/ppt/slides/slide36.xml" Id="Rbd51688d57844bb9" /><Relationship Type="http://schemas.openxmlformats.org/officeDocument/2006/relationships/slide" Target="/ppt/slides/slide37.xml" Id="R0a147a8fa9bc488b" /><Relationship Type="http://schemas.openxmlformats.org/officeDocument/2006/relationships/slide" Target="/ppt/slides/slide38.xml" Id="R5036eefc3eef4f4a" /><Relationship Type="http://schemas.openxmlformats.org/officeDocument/2006/relationships/slide" Target="/ppt/slides/slide39.xml" Id="R9a3ee198fd644171" /><Relationship Type="http://schemas.openxmlformats.org/officeDocument/2006/relationships/slide" Target="/ppt/slides/slide40.xml" Id="R00c644c5205c444f" /><Relationship Type="http://schemas.openxmlformats.org/officeDocument/2006/relationships/slide" Target="/ppt/slides/slide41.xml" Id="R5687a550aeb84498" /><Relationship Type="http://schemas.openxmlformats.org/officeDocument/2006/relationships/slide" Target="/ppt/slides/slide42.xml" Id="R8990ce0dd2864253" /><Relationship Type="http://schemas.openxmlformats.org/officeDocument/2006/relationships/slide" Target="/ppt/slides/slide43.xml" Id="R4439cf0fd88e4a22" /><Relationship Type="http://schemas.openxmlformats.org/officeDocument/2006/relationships/slide" Target="/ppt/slides/slide44.xml" Id="R35436e21b5d446d1" /><Relationship Type="http://schemas.openxmlformats.org/officeDocument/2006/relationships/slide" Target="/ppt/slides/slide45.xml" Id="R4f75c1fd1a6245b5" /><Relationship Type="http://schemas.openxmlformats.org/officeDocument/2006/relationships/slide" Target="/ppt/slides/slide46.xml" Id="R2026e62d547748e1" /><Relationship Type="http://schemas.openxmlformats.org/officeDocument/2006/relationships/slide" Target="/ppt/slides/slide47.xml" Id="Re621a589d5484ceb" /><Relationship Type="http://schemas.openxmlformats.org/officeDocument/2006/relationships/slide" Target="/ppt/slides/slide48.xml" Id="Re4da0d42c5f34b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b16563e8d74e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543308e28c4276" /><Relationship Type="http://schemas.openxmlformats.org/officeDocument/2006/relationships/notesMaster" Target="/ppt/notesMasters/notesMaster1.xml" Id="R7da4894fa92a49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56be7e5cdd4134" /><Relationship Type="http://schemas.openxmlformats.org/officeDocument/2006/relationships/notesMaster" Target="/ppt/notesMasters/notesMaster1.xml" Id="R1fbf3e7f52114b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7d0940ff934b3e" /><Relationship Type="http://schemas.openxmlformats.org/officeDocument/2006/relationships/notesMaster" Target="/ppt/notesMasters/notesMaster1.xml" Id="R9c46d8959ef742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f8062cbe8a4877" /><Relationship Type="http://schemas.openxmlformats.org/officeDocument/2006/relationships/notesMaster" Target="/ppt/notesMasters/notesMaster1.xml" Id="R140761cfaee44d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216cf2e1754d4d" /><Relationship Type="http://schemas.openxmlformats.org/officeDocument/2006/relationships/notesMaster" Target="/ppt/notesMasters/notesMaster1.xml" Id="Rd79e8accb5f34a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c921e29fb34f4b" /><Relationship Type="http://schemas.openxmlformats.org/officeDocument/2006/relationships/notesMaster" Target="/ppt/notesMasters/notesMaster1.xml" Id="Rdd9d575c078e4df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9c292963d745cb" /><Relationship Type="http://schemas.openxmlformats.org/officeDocument/2006/relationships/notesMaster" Target="/ppt/notesMasters/notesMaster1.xml" Id="R1e7b142282284c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a03f723e204503" /><Relationship Type="http://schemas.openxmlformats.org/officeDocument/2006/relationships/notesMaster" Target="/ppt/notesMasters/notesMaster1.xml" Id="R960e68f4a07a437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c3ec8770a6491a" /><Relationship Type="http://schemas.openxmlformats.org/officeDocument/2006/relationships/notesMaster" Target="/ppt/notesMasters/notesMaster1.xml" Id="R0f8aacd0c63c459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036f79a261a4583" /><Relationship Type="http://schemas.openxmlformats.org/officeDocument/2006/relationships/notesMaster" Target="/ppt/notesMasters/notesMaster1.xml" Id="Rd68290bf445444a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0eef7664bf47da" /><Relationship Type="http://schemas.openxmlformats.org/officeDocument/2006/relationships/notesMaster" Target="/ppt/notesMasters/notesMaster1.xml" Id="R6d8b0369ebe242c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5de05506a4497c" /><Relationship Type="http://schemas.openxmlformats.org/officeDocument/2006/relationships/notesMaster" Target="/ppt/notesMasters/notesMaster1.xml" Id="R7ac1f95de7674e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3174e4b2c024906" /><Relationship Type="http://schemas.openxmlformats.org/officeDocument/2006/relationships/notesMaster" Target="/ppt/notesMasters/notesMaster1.xml" Id="R62ae849641044e8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31882c706cf4580" /><Relationship Type="http://schemas.openxmlformats.org/officeDocument/2006/relationships/notesMaster" Target="/ppt/notesMasters/notesMaster1.xml" Id="R9031e0d1475143c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f338e16ed9b4a82" /><Relationship Type="http://schemas.openxmlformats.org/officeDocument/2006/relationships/notesMaster" Target="/ppt/notesMasters/notesMaster1.xml" Id="Re97ef8a6be714aa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d9e400f2b054373" /><Relationship Type="http://schemas.openxmlformats.org/officeDocument/2006/relationships/notesMaster" Target="/ppt/notesMasters/notesMaster1.xml" Id="R394ffdd8e59a4ae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0904e0e72124adb" /><Relationship Type="http://schemas.openxmlformats.org/officeDocument/2006/relationships/notesMaster" Target="/ppt/notesMasters/notesMaster1.xml" Id="R56c70c5fa17c4a9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f5a581eb0e64a5a" /><Relationship Type="http://schemas.openxmlformats.org/officeDocument/2006/relationships/notesMaster" Target="/ppt/notesMasters/notesMaster1.xml" Id="Rca7fb18cd58745a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5e7a7604bdf470b" /><Relationship Type="http://schemas.openxmlformats.org/officeDocument/2006/relationships/notesMaster" Target="/ppt/notesMasters/notesMaster1.xml" Id="R72d958ea9206467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cf78de595a24316" /><Relationship Type="http://schemas.openxmlformats.org/officeDocument/2006/relationships/notesMaster" Target="/ppt/notesMasters/notesMaster1.xml" Id="R9a7d01536a8a4ff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acece8f716c46c8" /><Relationship Type="http://schemas.openxmlformats.org/officeDocument/2006/relationships/notesMaster" Target="/ppt/notesMasters/notesMaster1.xml" Id="R0542dc7c454c419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465fc8293194fe0" /><Relationship Type="http://schemas.openxmlformats.org/officeDocument/2006/relationships/notesMaster" Target="/ppt/notesMasters/notesMaster1.xml" Id="R9cd0e552de2244f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9b34546e442453b" /><Relationship Type="http://schemas.openxmlformats.org/officeDocument/2006/relationships/notesMaster" Target="/ppt/notesMasters/notesMaster1.xml" Id="R3f59b946685c4b0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8eb024d2fd04e68" /><Relationship Type="http://schemas.openxmlformats.org/officeDocument/2006/relationships/notesMaster" Target="/ppt/notesMasters/notesMaster1.xml" Id="R8eb9a35b2bbb4a0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dbf4fc746ef41d9" /><Relationship Type="http://schemas.openxmlformats.org/officeDocument/2006/relationships/notesMaster" Target="/ppt/notesMasters/notesMaster1.xml" Id="R322ef134711f4f3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bcaaf970272435e" /><Relationship Type="http://schemas.openxmlformats.org/officeDocument/2006/relationships/notesMaster" Target="/ppt/notesMasters/notesMaster1.xml" Id="Rea5737e0906c438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eb0b7b5185447c9" /><Relationship Type="http://schemas.openxmlformats.org/officeDocument/2006/relationships/notesMaster" Target="/ppt/notesMasters/notesMaster1.xml" Id="Rfdf064073dc84b2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8e8c4f7ed074105" /><Relationship Type="http://schemas.openxmlformats.org/officeDocument/2006/relationships/notesMaster" Target="/ppt/notesMasters/notesMaster1.xml" Id="R1a12c5715bef458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c01f9ecc07c4298" /><Relationship Type="http://schemas.openxmlformats.org/officeDocument/2006/relationships/notesMaster" Target="/ppt/notesMasters/notesMaster1.xml" Id="Rebdb16b4d2c340b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a997d9709504bbe" /><Relationship Type="http://schemas.openxmlformats.org/officeDocument/2006/relationships/notesMaster" Target="/ppt/notesMasters/notesMaster1.xml" Id="R13e5d4227fd94f3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526c5b82ae6497b" /><Relationship Type="http://schemas.openxmlformats.org/officeDocument/2006/relationships/notesMaster" Target="/ppt/notesMasters/notesMaster1.xml" Id="R49851bc4160e494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48b4df9f42d45e0" /><Relationship Type="http://schemas.openxmlformats.org/officeDocument/2006/relationships/notesMaster" Target="/ppt/notesMasters/notesMaster1.xml" Id="R90bbc8dd5e5c420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a689b6a3ad248be" /><Relationship Type="http://schemas.openxmlformats.org/officeDocument/2006/relationships/notesMaster" Target="/ppt/notesMasters/notesMaster1.xml" Id="R7484967f9f5a407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f339487f2394cac" /><Relationship Type="http://schemas.openxmlformats.org/officeDocument/2006/relationships/notesMaster" Target="/ppt/notesMasters/notesMaster1.xml" Id="R7f924a355d21422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56f50a9b6924d8b" /><Relationship Type="http://schemas.openxmlformats.org/officeDocument/2006/relationships/notesMaster" Target="/ppt/notesMasters/notesMaster1.xml" Id="Rb839b1e193a949c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9e047d97e6f48dd" /><Relationship Type="http://schemas.openxmlformats.org/officeDocument/2006/relationships/notesMaster" Target="/ppt/notesMasters/notesMaster1.xml" Id="Re0f5ba80d45540b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dd4717be080420d" /><Relationship Type="http://schemas.openxmlformats.org/officeDocument/2006/relationships/notesMaster" Target="/ppt/notesMasters/notesMaster1.xml" Id="Rf57a6585ff3e4d8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a43f371faba473b" /><Relationship Type="http://schemas.openxmlformats.org/officeDocument/2006/relationships/notesMaster" Target="/ppt/notesMasters/notesMaster1.xml" Id="Rf5501eebf9c346a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e2345c65ce9454c" /><Relationship Type="http://schemas.openxmlformats.org/officeDocument/2006/relationships/notesMaster" Target="/ppt/notesMasters/notesMaster1.xml" Id="Rb86911780e6341a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748d8d76d244e82" /><Relationship Type="http://schemas.openxmlformats.org/officeDocument/2006/relationships/notesMaster" Target="/ppt/notesMasters/notesMaster1.xml" Id="R8d5963d92a17418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a0f2abc5f284e1e" /><Relationship Type="http://schemas.openxmlformats.org/officeDocument/2006/relationships/notesMaster" Target="/ppt/notesMasters/notesMaster1.xml" Id="Rbce5ae5aef3846b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13ab528d2144d90" /><Relationship Type="http://schemas.openxmlformats.org/officeDocument/2006/relationships/notesMaster" Target="/ppt/notesMasters/notesMaster1.xml" Id="Raf155c0d41c1448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0d28427817445d3" /><Relationship Type="http://schemas.openxmlformats.org/officeDocument/2006/relationships/notesMaster" Target="/ppt/notesMasters/notesMaster1.xml" Id="Rc71aa166331f458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c58ab0177704fe7" /><Relationship Type="http://schemas.openxmlformats.org/officeDocument/2006/relationships/notesMaster" Target="/ppt/notesMasters/notesMaster1.xml" Id="Re795a2c1b36b4e7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454d43df31d4b7c" /><Relationship Type="http://schemas.openxmlformats.org/officeDocument/2006/relationships/notesMaster" Target="/ppt/notesMasters/notesMaster1.xml" Id="Rda2fc63f901748d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709edd07cab4320" /><Relationship Type="http://schemas.openxmlformats.org/officeDocument/2006/relationships/notesMaster" Target="/ppt/notesMasters/notesMaster1.xml" Id="Re96d42e6e5524825"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5f81753114a443ee" /><Relationship Type="http://schemas.openxmlformats.org/officeDocument/2006/relationships/notesMaster" Target="/ppt/notesMasters/notesMaster1.xml" Id="R94eff258d3244a6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c972ee2ddf64788" /><Relationship Type="http://schemas.openxmlformats.org/officeDocument/2006/relationships/notesMaster" Target="/ppt/notesMasters/notesMaster1.xml" Id="R58610b3bcb9249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El mismo cohete en RockSim.</a:t>
            </a:r>
          </a:p>
          <a:p xmlns:a="http://schemas.openxmlformats.org/drawingml/2006/main">
            <a:r>
              <a:t>En línea, 2 h. Tramo del núcleo: 3 min.</a:t>
            </a:r>
          </a:p>
          <a:p xmlns:a="http://schemas.openxmlformats.org/drawingml/2006/main">
            <a:r>
              <a:t/>
            </a:r>
          </a:p>
          <a:p xmlns:a="http://schemas.openxmlformats.org/drawingml/2006/main">
            <a:r>
              <a:t>Muestra dos predicciones y una diferencia escondida en las medidas: pide dónde empezaría la revisión.</a:t>
            </a:r>
          </a:p>
          <a:p xmlns:a="http://schemas.openxmlformats.org/drawingml/2006/main">
            <a:r>
              <a:t/>
            </a:r>
          </a:p>
          <a:p xmlns:a="http://schemas.openxmlformats.org/drawingml/2006/main">
            <a:r>
              <a:t>Resultado: Crear una segunda representación del modelo y comparar entradas antes de comparar resultados.</a:t>
            </a:r>
          </a:p>
          <a:p xmlns:a="http://schemas.openxmlformats.org/drawingml/2006/main">
            <a:r>
              <a:t>Misión: Explicar diferencias sin elegir el programa que dé la cifra preferida.</a:t>
            </a:r>
          </a:p>
          <a:p xmlns:a="http://schemas.openxmlformats.org/drawingml/2006/main">
            <a:r>
              <a:t>Entrega: Archivo RockSim, tabla de entradas y comparación con OpenRocket.</a:t>
            </a:r>
          </a:p>
          <a:p xmlns:a="http://schemas.openxmlformats.org/drawingml/2006/main">
            <a:r>
              <a:t/>
            </a:r>
          </a:p>
          <a:p xmlns:a="http://schemas.openxmlformats.org/drawingml/2006/main">
            <a:r>
              <a:t>Preguntas y respuestas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Fuentes</a:t>
            </a:r>
          </a:p>
          <a:p xmlns:a="http://schemas.openxmlformats.org/drawingml/2006/main">
            <a:r>
              <a:t>Apogee Components. Creating Your First Design. https://www.apogeerockets.com/RockSim/Help_Message_3</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El mismo cohete en RockSim.</a:t>
            </a:r>
          </a:p>
          <a:p xmlns:a="http://schemas.openxmlformats.org/drawingml/2006/main">
            <a:r>
              <a:t>En línea, 2 h. Tramo del núcleo: 4 min.</a:t>
            </a:r>
          </a:p>
          <a:p xmlns:a="http://schemas.openxmlformats.org/drawingml/2006/main">
            <a:r>
              <a:t/>
            </a:r>
          </a:p>
          <a:p xmlns:a="http://schemas.openxmlformats.org/drawingml/2006/main">
            <a:r>
              <a:t>RockSim permite representar componentes y simular vehículos de modelismo. En esta clase el objeto ya está ensamblado y medido. La tarea consiste en introducir la misma configuración que se trabajó en OpenRocket. Cambiar de programa no justifica cambiar sin registro las piezas, masas o condiciones.</a:t>
            </a:r>
          </a:p>
          <a:p xmlns:a="http://schemas.openxmlformats.org/drawingml/2006/main">
            <a:r>
              <a:t/>
            </a:r>
          </a:p>
          <a:p xmlns:a="http://schemas.openxmlformats.org/drawingml/2006/main">
            <a:r>
              <a:t>Las capturas de este material no se presentan como resultados ejecutados en RockSim. El docente demuestra la versión instalada y cada equipo conserva su archivo. Si se usa una importación, se revisa igual que un modelo introducido a mano.</a:t>
            </a:r>
          </a:p>
          <a:p xmlns:a="http://schemas.openxmlformats.org/drawingml/2006/main">
            <a:r>
              <a:t/>
            </a:r>
          </a:p>
          <a:p xmlns:a="http://schemas.openxmlformats.org/drawingml/2006/main">
            <a:r>
              <a:t>Usar dos programas permite practicar la descripción del mismo objeto con interfaces diferentes. No equivale a hacer dos votaciones y escoger la altura más atractiva. Ambos pueden compartir simplificaciones y ambos dependen de las entradas. El valor introductorio del contraste está en revisar geometría, masa y condiciones con más atención. Si aparece una discrepancia, el equipo aprende a formular una pregunta concreta y a buscar qué dato o hipótesis la explica.</a:t>
            </a:r>
          </a:p>
          <a:p xmlns:a="http://schemas.openxmlformats.org/drawingml/2006/main">
            <a:r>
              <a:t>Pregunta para el grupo: ¿Es el mismo objeto en los dos programas?</a:t>
            </a:r>
          </a:p>
          <a:p xmlns:a="http://schemas.openxmlformats.org/drawingml/2006/main">
            <a:r>
              <a:t/>
            </a:r>
          </a:p>
          <a:p xmlns:a="http://schemas.openxmlformats.org/drawingml/2006/main">
            <a:r>
              <a:t>Resultado: Crear una segunda representación del modelo y comparar entradas antes de comparar resultados.</a:t>
            </a:r>
          </a:p>
          <a:p xmlns:a="http://schemas.openxmlformats.org/drawingml/2006/main">
            <a:r>
              <a:t>Misión: Explicar diferencias sin elegir el programa que dé la cifra preferida.</a:t>
            </a:r>
          </a:p>
          <a:p xmlns:a="http://schemas.openxmlformats.org/drawingml/2006/main">
            <a:r>
              <a:t>Entrega: Archivo RockSim, tabla de entradas y comparación con OpenRocket.</a:t>
            </a:r>
          </a:p>
          <a:p xmlns:a="http://schemas.openxmlformats.org/drawingml/2006/main">
            <a:r>
              <a:t/>
            </a:r>
          </a:p>
          <a:p xmlns:a="http://schemas.openxmlformats.org/drawingml/2006/main">
            <a:r>
              <a:t>Preguntas y respuestas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Fuentes</a:t>
            </a:r>
          </a:p>
          <a:p xmlns:a="http://schemas.openxmlformats.org/drawingml/2006/main">
            <a:r>
              <a:t>Apogee Components. Creating Your First Design. https://www.apogeerockets.com/RockSim/Help_Message_3</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El mismo cohete en RockSim.</a:t>
            </a:r>
          </a:p>
          <a:p xmlns:a="http://schemas.openxmlformats.org/drawingml/2006/main">
            <a:r>
              <a:t>En línea, 2 h. Tramo del núcleo: 4 min.</a:t>
            </a:r>
          </a:p>
          <a:p xmlns:a="http://schemas.openxmlformats.org/drawingml/2006/main">
            <a:r>
              <a:t/>
            </a:r>
          </a:p>
          <a:p xmlns:a="http://schemas.openxmlformats.org/drawingml/2006/main">
            <a:r>
              <a:t>El ejemplo de OpenRocket recuerda qué componentes deben corresponder entre programas. No es una captura de RockSim.</a:t>
            </a:r>
          </a:p>
          <a:p xmlns:a="http://schemas.openxmlformats.org/drawingml/2006/main">
            <a:r>
              <a:t>Localizar en la imagen las partes relacionadas con la pregunta.</a:t>
            </a:r>
          </a:p>
          <a:p xmlns:a="http://schemas.openxmlformats.org/drawingml/2006/main">
            <a:r>
              <a:t>¿Es el mismo objeto en los dos programas?</a:t>
            </a:r>
          </a:p>
          <a:p xmlns:a="http://schemas.openxmlformats.org/drawingml/2006/main">
            <a:r>
              <a:t/>
            </a:r>
          </a:p>
          <a:p xmlns:a="http://schemas.openxmlformats.org/drawingml/2006/main">
            <a:r>
              <a:t>Resultado: Crear una segunda representación del modelo y comparar entradas antes de comparar resultados.</a:t>
            </a:r>
          </a:p>
          <a:p xmlns:a="http://schemas.openxmlformats.org/drawingml/2006/main">
            <a:r>
              <a:t>Misión: Explicar diferencias sin elegir el programa que dé la cifra preferida.</a:t>
            </a:r>
          </a:p>
          <a:p xmlns:a="http://schemas.openxmlformats.org/drawingml/2006/main">
            <a:r>
              <a:t>Entrega: Archivo RockSim, tabla de entradas y comparación con OpenRocket.</a:t>
            </a:r>
          </a:p>
          <a:p xmlns:a="http://schemas.openxmlformats.org/drawingml/2006/main">
            <a:r>
              <a:t/>
            </a:r>
          </a:p>
          <a:p xmlns:a="http://schemas.openxmlformats.org/drawingml/2006/main">
            <a:r>
              <a:t>Preguntas y respuestas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Fuentes</a:t>
            </a:r>
          </a:p>
          <a:p xmlns:a="http://schemas.openxmlformats.org/drawingml/2006/main">
            <a:r>
              <a:t>Apogee Components. Creating Your First Design. https://www.apogeerockets.com/RockSim/Help_Message_3</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El mismo cohete en RockSim.</a:t>
            </a:r>
          </a:p>
          <a:p xmlns:a="http://schemas.openxmlformats.org/drawingml/2006/main">
            <a:r>
              <a:t>En línea, 2 h. Tramo del núcleo: 5 min.</a:t>
            </a:r>
          </a:p>
          <a:p xmlns:a="http://schemas.openxmlformats.org/drawingml/2006/main">
            <a:r>
              <a:t/>
            </a:r>
          </a:p>
          <a:p xmlns:a="http://schemas.openxmlformats.org/drawingml/2006/main">
            <a:r>
              <a:t>Dato / Por qué se conserva</a:t>
            </a:r>
          </a:p>
          <a:p xmlns:a="http://schemas.openxmlformats.org/drawingml/2006/main">
            <a:r>
              <a:t>Archivo del taller / Referencia del objeto construido</a:t>
            </a:r>
          </a:p>
          <a:p xmlns:a="http://schemas.openxmlformats.org/drawingml/2006/main">
            <a:r>
              <a:t>Plano y masas / Entradas geométricas y físicas</a:t>
            </a:r>
          </a:p>
          <a:p xmlns:a="http://schemas.openxmlformats.org/drawingml/2006/main">
            <a:r>
              <a:t>Conjunto comercial / Misma configuración</a:t>
            </a:r>
          </a:p>
          <a:p xmlns:a="http://schemas.openxmlformats.org/drawingml/2006/main">
            <a:r>
              <a:t>Condiciones / Comparación identificada</a:t>
            </a:r>
          </a:p>
          <a:p xmlns:a="http://schemas.openxmlformats.org/drawingml/2006/main">
            <a:r>
              <a:t>Versiones de software / Reproducir la práctica</a:t>
            </a:r>
          </a:p>
          <a:p xmlns:a="http://schemas.openxmlformats.org/drawingml/2006/main">
            <a:r>
              <a:t>Justificar una alternativa con la misión y señalar la comprobación necesaria.</a:t>
            </a:r>
          </a:p>
          <a:p xmlns:a="http://schemas.openxmlformats.org/drawingml/2006/main">
            <a:r>
              <a:t/>
            </a:r>
          </a:p>
          <a:p xmlns:a="http://schemas.openxmlformats.org/drawingml/2006/main">
            <a:r>
              <a:t>Resultado: Crear una segunda representación del modelo y comparar entradas antes de comparar resultados.</a:t>
            </a:r>
          </a:p>
          <a:p xmlns:a="http://schemas.openxmlformats.org/drawingml/2006/main">
            <a:r>
              <a:t>Misión: Explicar diferencias sin elegir el programa que dé la cifra preferida.</a:t>
            </a:r>
          </a:p>
          <a:p xmlns:a="http://schemas.openxmlformats.org/drawingml/2006/main">
            <a:r>
              <a:t>Entrega: Archivo RockSim, tabla de entradas y comparación con OpenRocket.</a:t>
            </a:r>
          </a:p>
          <a:p xmlns:a="http://schemas.openxmlformats.org/drawingml/2006/main">
            <a:r>
              <a:t/>
            </a:r>
          </a:p>
          <a:p xmlns:a="http://schemas.openxmlformats.org/drawingml/2006/main">
            <a:r>
              <a:t>Preguntas y respuestas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Fuentes</a:t>
            </a:r>
          </a:p>
          <a:p xmlns:a="http://schemas.openxmlformats.org/drawingml/2006/main">
            <a:r>
              <a:t>Apogee Components. Creating Your First Design. https://www.apogeerockets.com/RockSim/Help_Message_3</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El mismo cohete en RockSim.</a:t>
            </a:r>
          </a:p>
          <a:p xmlns:a="http://schemas.openxmlformats.org/drawingml/2006/main">
            <a:r>
              <a:t>En línea, 2 h. Tramo del núcleo: 4 min.</a:t>
            </a:r>
          </a:p>
          <a:p xmlns:a="http://schemas.openxmlformats.org/drawingml/2006/main">
            <a:r>
              <a:t/>
            </a:r>
          </a:p>
          <a:p xmlns:a="http://schemas.openxmlformats.org/drawingml/2006/main">
            <a:r>
              <a:t>La documentación de Apogee describe una construcción desde la nariz hacia la cola. Al añadir una pieza se selecciona el componente al que se asociará. Esa lógica se parece al árbol que ya conocemos, pero los nombres, referencias y opciones pueden variar. La similitud de una imagen no garantiza que todas sus entradas coincidan.</a:t>
            </a:r>
          </a:p>
          <a:p xmlns:a="http://schemas.openxmlformats.org/drawingml/2006/main">
            <a:r>
              <a:t/>
            </a:r>
          </a:p>
          <a:p xmlns:a="http://schemas.openxmlformats.org/drawingml/2006/main">
            <a:r>
              <a:t>No copies un desplazamiento con signo sin saber desde qué extremo se mide. La posición de la pieza es lo que debe coincidir, aunque los dos programas utilicen referencias distintas. [RS]</a:t>
            </a:r>
          </a:p>
          <a:p xmlns:a="http://schemas.openxmlformats.org/drawingml/2006/main">
            <a:r>
              <a:t/>
            </a:r>
          </a:p>
          <a:p xmlns:a="http://schemas.openxmlformats.org/drawingml/2006/main">
            <a:r>
              <a:t>Las bibliotecas de materiales de dos programas pueden usar nombres o valores predeterminados diferentes. Elegir “plástico” en ambos no asegura la misma masa. El equipo compara el dato final de la pieza y cómo se obtuvo: geometría con densidad o ajuste mediante medida. El objetivo es que las representaciones describan el mismo objeto, no que todos los menús tengan exactamente la misma etiqueta.</a:t>
            </a:r>
          </a:p>
          <a:p xmlns:a="http://schemas.openxmlformats.org/drawingml/2006/main">
            <a:r>
              <a:t/>
            </a:r>
          </a:p>
          <a:p xmlns:a="http://schemas.openxmlformats.org/drawingml/2006/main">
            <a:r>
              <a:t>El árbol de componentes agrupa piezas y sus relaciones. La posición de una pieza puede referirse al conjunto, a su elemento padre o a otro punto que indique el programa. Copiar literalmente un número entre ventanas puede producir una geometría diferente. Por eso se comprueba también la vista ensamblada y una medida longitudinal conocida. La equivalencia se establece por el objeto representado, además de las etiquetas que muestra la interfaz.</a:t>
            </a:r>
          </a:p>
          <a:p xmlns:a="http://schemas.openxmlformats.org/drawingml/2006/main">
            <a:r>
              <a:t>Pregunta para el grupo: ¿Coinciden posiciones aunque cambien las referencias?</a:t>
            </a:r>
          </a:p>
          <a:p xmlns:a="http://schemas.openxmlformats.org/drawingml/2006/main">
            <a:r>
              <a:t/>
            </a:r>
          </a:p>
          <a:p xmlns:a="http://schemas.openxmlformats.org/drawingml/2006/main">
            <a:r>
              <a:t>Resultado: Crear una segunda representación del modelo y comparar entradas antes de comparar resultados.</a:t>
            </a:r>
          </a:p>
          <a:p xmlns:a="http://schemas.openxmlformats.org/drawingml/2006/main">
            <a:r>
              <a:t>Misión: Explicar diferencias sin elegir el programa que dé la cifra preferida.</a:t>
            </a:r>
          </a:p>
          <a:p xmlns:a="http://schemas.openxmlformats.org/drawingml/2006/main">
            <a:r>
              <a:t>Entrega: Archivo RockSim, tabla de entradas y comparación con OpenRocket.</a:t>
            </a:r>
          </a:p>
          <a:p xmlns:a="http://schemas.openxmlformats.org/drawingml/2006/main">
            <a:r>
              <a:t/>
            </a:r>
          </a:p>
          <a:p xmlns:a="http://schemas.openxmlformats.org/drawingml/2006/main">
            <a:r>
              <a:t>Preguntas y respuestas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Fuentes</a:t>
            </a:r>
          </a:p>
          <a:p xmlns:a="http://schemas.openxmlformats.org/drawingml/2006/main">
            <a:r>
              <a:t>Apogee Components. Creating Your First Design. https://www.apogeerockets.com/RockSim/Help_Message_3</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El mismo cohete en RockSim.</a:t>
            </a:r>
          </a:p>
          <a:p xmlns:a="http://schemas.openxmlformats.org/drawingml/2006/main">
            <a:r>
              <a:t>En línea, 2 h. Tramo del núcleo: 4 min.</a:t>
            </a:r>
          </a:p>
          <a:p xmlns:a="http://schemas.openxmlformats.org/drawingml/2006/main">
            <a:r>
              <a:t/>
            </a:r>
          </a:p>
          <a:p xmlns:a="http://schemas.openxmlformats.org/drawingml/2006/main">
            <a:r>
              <a:t>Pieza física / Campo o representación a revisar</a:t>
            </a:r>
          </a:p>
          <a:p xmlns:a="http://schemas.openxmlformats.org/drawingml/2006/main">
            <a:r>
              <a:t>Nariz / Forma, longitud, base y hombro</a:t>
            </a:r>
          </a:p>
          <a:p xmlns:a="http://schemas.openxmlformats.org/drawingml/2006/main">
            <a:r>
              <a:t>Cuerpo / Longitud, diámetros y pared</a:t>
            </a:r>
          </a:p>
          <a:p xmlns:a="http://schemas.openxmlformats.org/drawingml/2006/main">
            <a:r>
              <a:t>Aletas / Contorno, cantidad y ubicación</a:t>
            </a:r>
          </a:p>
          <a:p xmlns:a="http://schemas.openxmlformats.org/drawingml/2006/main">
            <a:r>
              <a:t>Masas / Componente, conjunto y ajustes</a:t>
            </a:r>
          </a:p>
          <a:p xmlns:a="http://schemas.openxmlformats.org/drawingml/2006/main">
            <a:r>
              <a:t>Recuperación / Dispositivo y evento</a:t>
            </a:r>
          </a:p>
          <a:p xmlns:a="http://schemas.openxmlformats.org/drawingml/2006/main">
            <a:r>
              <a:t>Comparar dos filas y justificar con la misión.</a:t>
            </a:r>
          </a:p>
          <a:p xmlns:a="http://schemas.openxmlformats.org/drawingml/2006/main">
            <a:r>
              <a:t/>
            </a:r>
          </a:p>
          <a:p xmlns:a="http://schemas.openxmlformats.org/drawingml/2006/main">
            <a:r>
              <a:t>Resultado: Crear una segunda representación del modelo y comparar entradas antes de comparar resultados.</a:t>
            </a:r>
          </a:p>
          <a:p xmlns:a="http://schemas.openxmlformats.org/drawingml/2006/main">
            <a:r>
              <a:t>Misión: Explicar diferencias sin elegir el programa que dé la cifra preferida.</a:t>
            </a:r>
          </a:p>
          <a:p xmlns:a="http://schemas.openxmlformats.org/drawingml/2006/main">
            <a:r>
              <a:t>Entrega: Archivo RockSim, tabla de entradas y comparación con OpenRocket.</a:t>
            </a:r>
          </a:p>
          <a:p xmlns:a="http://schemas.openxmlformats.org/drawingml/2006/main">
            <a:r>
              <a:t/>
            </a:r>
          </a:p>
          <a:p xmlns:a="http://schemas.openxmlformats.org/drawingml/2006/main">
            <a:r>
              <a:t>Preguntas y respuestas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Fuentes</a:t>
            </a:r>
          </a:p>
          <a:p xmlns:a="http://schemas.openxmlformats.org/drawingml/2006/main">
            <a:r>
              <a:t>Apogee Components. Creating Your First Design. https://www.apogeerockets.com/RockSim/Help_Message_3</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El mismo cohete en RockSim.</a:t>
            </a:r>
          </a:p>
          <a:p xmlns:a="http://schemas.openxmlformats.org/drawingml/2006/main">
            <a:r>
              <a:t>En línea, 2 h. Tramo del núcleo: 5 min.</a:t>
            </a:r>
          </a:p>
          <a:p xmlns:a="http://schemas.openxmlformats.org/drawingml/2006/main">
            <a:r>
              <a:t/>
            </a:r>
          </a:p>
          <a:p xmlns:a="http://schemas.openxmlformats.org/drawingml/2006/main">
            <a:r>
              <a:t>Crea un proyecto de una etapa y nómbralo con el equipo y revisión del taller.</a:t>
            </a:r>
          </a:p>
          <a:p xmlns:a="http://schemas.openxmlformats.org/drawingml/2006/main">
            <a:r>
              <a:t>Añade nariz y cuerpo con las medidas del plano.</a:t>
            </a:r>
          </a:p>
          <a:p xmlns:a="http://schemas.openxmlformats.org/drawingml/2006/main">
            <a:r>
              <a:t>Representa aletas y componentes interiores existentes.</a:t>
            </a:r>
          </a:p>
          <a:p xmlns:a="http://schemas.openxmlformats.org/drawingml/2006/main">
            <a:r>
              <a:t>Introduce masas y recuperación con el criterio que corresponda a cada componente.</a:t>
            </a:r>
          </a:p>
          <a:p xmlns:a="http://schemas.openxmlformats.org/drawingml/2006/main">
            <a:r>
              <a:t>Guarda antes de añadir la configuración comercial y revisa la vista lateral.</a:t>
            </a:r>
          </a:p>
          <a:p xmlns:a="http://schemas.openxmlformats.org/drawingml/2006/main">
            <a:r>
              <a:t>Comprobar un paso en el objeto o programa antes de continuar.</a:t>
            </a:r>
          </a:p>
          <a:p xmlns:a="http://schemas.openxmlformats.org/drawingml/2006/main">
            <a:r>
              <a:t/>
            </a:r>
          </a:p>
          <a:p xmlns:a="http://schemas.openxmlformats.org/drawingml/2006/main">
            <a:r>
              <a:t>Resultado: Crear una segunda representación del modelo y comparar entradas antes de comparar resultados.</a:t>
            </a:r>
          </a:p>
          <a:p xmlns:a="http://schemas.openxmlformats.org/drawingml/2006/main">
            <a:r>
              <a:t>Misión: Explicar diferencias sin elegir el programa que dé la cifra preferida.</a:t>
            </a:r>
          </a:p>
          <a:p xmlns:a="http://schemas.openxmlformats.org/drawingml/2006/main">
            <a:r>
              <a:t>Entrega: Archivo RockSim, tabla de entradas y comparación con OpenRocket.</a:t>
            </a:r>
          </a:p>
          <a:p xmlns:a="http://schemas.openxmlformats.org/drawingml/2006/main">
            <a:r>
              <a:t/>
            </a:r>
          </a:p>
          <a:p xmlns:a="http://schemas.openxmlformats.org/drawingml/2006/main">
            <a:r>
              <a:t>Preguntas y respuestas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Fuentes</a:t>
            </a:r>
          </a:p>
          <a:p xmlns:a="http://schemas.openxmlformats.org/drawingml/2006/main">
            <a:r>
              <a:t>Apogee Components. Creating Your First Design. https://www.apogeerockets.com/RockSim/Help_Message_3</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El mismo cohete en RockSim.</a:t>
            </a:r>
          </a:p>
          <a:p xmlns:a="http://schemas.openxmlformats.org/drawingml/2006/main">
            <a:r>
              <a:t>En línea, 2 h. Tramo del núcleo: 4 min.</a:t>
            </a:r>
          </a:p>
          <a:p xmlns:a="http://schemas.openxmlformats.org/drawingml/2006/main">
            <a:r>
              <a:t/>
            </a:r>
          </a:p>
          <a:p xmlns:a="http://schemas.openxmlformats.org/drawingml/2006/main">
            <a:r>
              <a:t>Cada coincidencia debe poder revisarse en el archivo. Si una herramienta representa un detalle de forma diferente, se describe la diferencia y no se marca la fila como idéntica. La comparación puede seguir siendo útil si su alcance es claro.</a:t>
            </a:r>
          </a:p>
          <a:p xmlns:a="http://schemas.openxmlformats.org/drawingml/2006/main">
            <a:r>
              <a:t/>
            </a:r>
          </a:p>
          <a:p xmlns:a="http://schemas.openxmlformats.org/drawingml/2006/main">
            <a:r>
              <a:t>RockSim predice una altura distinta y el equipo descubre que una aleta tenía una raíz de 50 mm en un programa y 60 mm en el otro.</a:t>
            </a:r>
          </a:p>
          <a:p xmlns:a="http://schemas.openxmlformats.org/drawingml/2006/main">
            <a:r>
              <a:t/>
            </a:r>
          </a:p>
          <a:p xmlns:a="http://schemas.openxmlformats.org/drawingml/2006/main">
            <a:r>
              <a:t>La tabla se incorpora al expediente con versión de software y archivos. No se reemplaza por una captura aislada donde solo aparece el apogeo.</a:t>
            </a:r>
          </a:p>
          <a:p xmlns:a="http://schemas.openxmlformats.org/drawingml/2006/main">
            <a:r>
              <a:t>Pregunta para el grupo: ¿La biblioteca de materiales da la misma masa?</a:t>
            </a:r>
          </a:p>
          <a:p xmlns:a="http://schemas.openxmlformats.org/drawingml/2006/main">
            <a:r>
              <a:t/>
            </a:r>
          </a:p>
          <a:p xmlns:a="http://schemas.openxmlformats.org/drawingml/2006/main">
            <a:r>
              <a:t>Resultado: Crear una segunda representación del modelo y comparar entradas antes de comparar resultados.</a:t>
            </a:r>
          </a:p>
          <a:p xmlns:a="http://schemas.openxmlformats.org/drawingml/2006/main">
            <a:r>
              <a:t>Misión: Explicar diferencias sin elegir el programa que dé la cifra preferida.</a:t>
            </a:r>
          </a:p>
          <a:p xmlns:a="http://schemas.openxmlformats.org/drawingml/2006/main">
            <a:r>
              <a:t>Entrega: Archivo RockSim, tabla de entradas y comparación con OpenRocket.</a:t>
            </a:r>
          </a:p>
          <a:p xmlns:a="http://schemas.openxmlformats.org/drawingml/2006/main">
            <a:r>
              <a:t/>
            </a:r>
          </a:p>
          <a:p xmlns:a="http://schemas.openxmlformats.org/drawingml/2006/main">
            <a:r>
              <a:t>Preguntas y respuestas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Fuentes</a:t>
            </a:r>
          </a:p>
          <a:p xmlns:a="http://schemas.openxmlformats.org/drawingml/2006/main">
            <a:r>
              <a:t>Apogee Components. Creating Your First Design. https://www.apogeerockets.com/RockSim/Help_Message_3</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El mismo cohete en RockSim.</a:t>
            </a:r>
          </a:p>
          <a:p xmlns:a="http://schemas.openxmlformats.org/drawingml/2006/main">
            <a:r>
              <a:t>En línea, 2 h. Tramo del núcleo: 4 min.</a:t>
            </a:r>
          </a:p>
          <a:p xmlns:a="http://schemas.openxmlformats.org/drawingml/2006/main">
            <a:r>
              <a:t/>
            </a:r>
          </a:p>
          <a:p xmlns:a="http://schemas.openxmlformats.org/drawingml/2006/main">
            <a:r>
              <a:t>Elemento / OpenRocket / RockSim</a:t>
            </a:r>
          </a:p>
          <a:p xmlns:a="http://schemas.openxmlformats.org/drawingml/2006/main">
            <a:r>
              <a:t>Longitud exterior / Registrar / Comprobar</a:t>
            </a:r>
          </a:p>
          <a:p xmlns:a="http://schemas.openxmlformats.org/drawingml/2006/main">
            <a:r>
              <a:t>Diámetro del cuerpo / Registrar / Comprobar</a:t>
            </a:r>
          </a:p>
          <a:p xmlns:a="http://schemas.openxmlformats.org/drawingml/2006/main">
            <a:r>
              <a:t>Geometría y posición de aletas / Registrar / Comprobar</a:t>
            </a:r>
          </a:p>
          <a:p xmlns:a="http://schemas.openxmlformats.org/drawingml/2006/main">
            <a:r>
              <a:t>Masa de la misma configuración / Registrar / Comprobar</a:t>
            </a:r>
          </a:p>
          <a:p xmlns:a="http://schemas.openxmlformats.org/drawingml/2006/main">
            <a:r>
              <a:t>Motor y recuperación / Identificar / Confirmar</a:t>
            </a:r>
          </a:p>
          <a:p xmlns:a="http://schemas.openxmlformats.org/drawingml/2006/main">
            <a:r>
              <a:t>Condiciones / Guardar / Guardar</a:t>
            </a:r>
          </a:p>
          <a:p xmlns:a="http://schemas.openxmlformats.org/drawingml/2006/main">
            <a:r>
              <a:t>Comparar dos filas y justificar con la misión.</a:t>
            </a:r>
          </a:p>
          <a:p xmlns:a="http://schemas.openxmlformats.org/drawingml/2006/main">
            <a:r>
              <a:t/>
            </a:r>
          </a:p>
          <a:p xmlns:a="http://schemas.openxmlformats.org/drawingml/2006/main">
            <a:r>
              <a:t>Resultado: Crear una segunda representación del modelo y comparar entradas antes de comparar resultados.</a:t>
            </a:r>
          </a:p>
          <a:p xmlns:a="http://schemas.openxmlformats.org/drawingml/2006/main">
            <a:r>
              <a:t>Misión: Explicar diferencias sin elegir el programa que dé la cifra preferida.</a:t>
            </a:r>
          </a:p>
          <a:p xmlns:a="http://schemas.openxmlformats.org/drawingml/2006/main">
            <a:r>
              <a:t>Entrega: Archivo RockSim, tabla de entradas y comparación con OpenRocket.</a:t>
            </a:r>
          </a:p>
          <a:p xmlns:a="http://schemas.openxmlformats.org/drawingml/2006/main">
            <a:r>
              <a:t/>
            </a:r>
          </a:p>
          <a:p xmlns:a="http://schemas.openxmlformats.org/drawingml/2006/main">
            <a:r>
              <a:t>Preguntas y respuestas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Fuentes</a:t>
            </a:r>
          </a:p>
          <a:p xmlns:a="http://schemas.openxmlformats.org/drawingml/2006/main">
            <a:r>
              <a:t>Apogee Components. Creating Your First Design. https://www.apogeerockets.com/RockSim/Help_Message_3</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El mismo cohete en RockSim.</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RockSim predice una altura distinta y el equipo descubre que una aleta tenía una raíz de 50 mm en un programa y 60 mm en el otro.</a:t>
            </a:r>
          </a:p>
          <a:p xmlns:a="http://schemas.openxmlformats.org/drawingml/2006/main">
            <a:r>
              <a:t>Explicación</a:t>
            </a:r>
          </a:p>
          <a:p xmlns:a="http://schemas.openxmlformats.org/drawingml/2006/main">
            <a:r>
              <a:t>Primero corrige o explica la geometría. No atribuyas todavía la discrepancia a los métodos aerodinámicos. El hallazgo enseña que la revisión de entradas precede a la interpretación del resultado.</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Crear una segunda representación del modelo y comparar entradas antes de comparar resultados.</a:t>
            </a:r>
          </a:p>
          <a:p xmlns:a="http://schemas.openxmlformats.org/drawingml/2006/main">
            <a:r>
              <a:t>Misión: Explicar diferencias sin elegir el programa que dé la cifra preferida.</a:t>
            </a:r>
          </a:p>
          <a:p xmlns:a="http://schemas.openxmlformats.org/drawingml/2006/main">
            <a:r>
              <a:t>Entrega: Archivo RockSim, tabla de entradas y comparación con OpenRocket.</a:t>
            </a:r>
          </a:p>
          <a:p xmlns:a="http://schemas.openxmlformats.org/drawingml/2006/main">
            <a:r>
              <a:t/>
            </a:r>
          </a:p>
          <a:p xmlns:a="http://schemas.openxmlformats.org/drawingml/2006/main">
            <a:r>
              <a:t>Preguntas y respuestas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Fuentes</a:t>
            </a:r>
          </a:p>
          <a:p xmlns:a="http://schemas.openxmlformats.org/drawingml/2006/main">
            <a:r>
              <a:t>Apogee Components. Creating Your First Design. https://www.apogeerockets.com/RockSim/Help_Message_3</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El mismo cohete en RockSim.</a:t>
            </a:r>
          </a:p>
          <a:p xmlns:a="http://schemas.openxmlformats.org/drawingml/2006/main">
            <a:r>
              <a:t>En línea, 2 h. Tramo del núcleo: 4 min.</a:t>
            </a:r>
          </a:p>
          <a:p xmlns:a="http://schemas.openxmlformats.org/drawingml/2006/main">
            <a:r>
              <a:t/>
            </a:r>
          </a:p>
          <a:p xmlns:a="http://schemas.openxmlformats.org/drawingml/2006/main">
            <a:r>
              <a:t>Una vez revisadas las entradas, configura el mismo componente comercial y las condiciones correspondientes. El docente guía la ejecución según la interfaz instalada. Se eligen pocas salidas que tengan sentido para el proyecto: masa de configuración, apogeo, fin del empuje y evento de recuperación.</a:t>
            </a:r>
          </a:p>
          <a:p xmlns:a="http://schemas.openxmlformats.org/drawingml/2006/main">
            <a:r>
              <a:t/>
            </a:r>
          </a:p>
          <a:p xmlns:a="http://schemas.openxmlformats.org/drawingml/2006/main">
            <a:r>
              <a:t>Caso didáctico, no ejecutado: una herramienta predice 80 m y otra 84 m para dos configuraciones declaradas equivalentes.</a:t>
            </a:r>
          </a:p>
          <a:p xmlns:a="http://schemas.openxmlformats.org/drawingml/2006/main">
            <a:r>
              <a:t/>
            </a:r>
          </a:p>
          <a:p xmlns:a="http://schemas.openxmlformats.org/drawingml/2006/main">
            <a:r>
              <a:t>No es necesario estudiar aquí el método numérico interno. Se aprende a conservar entradas, unidades y resultados para hacer una comparación defendible.</a:t>
            </a:r>
          </a:p>
          <a:p xmlns:a="http://schemas.openxmlformats.org/drawingml/2006/main">
            <a:r>
              <a:t/>
            </a:r>
          </a:p>
          <a:p xmlns:a="http://schemas.openxmlformats.org/drawingml/2006/main">
            <a:r>
              <a:t>El resultado comparado debe tener el mismo significado. Una velocidad máxima no se resta de una velocidad en despliegue, aunque compartan unidad. La altura necesita el mismo origen. Si se informa una diferencia porcentual, se declara el valor que se usó como referencia. Estas operaciones son sencillas y se usan después de comprobar la equivalencia. La comparación termina con una explicación del caso, no solo con dos columnas de números.</a:t>
            </a:r>
          </a:p>
          <a:p xmlns:a="http://schemas.openxmlformats.org/drawingml/2006/main">
            <a:r>
              <a:t>Pregunta para el grupo: ¿La resta compara las mismas variables y unidades?</a:t>
            </a:r>
          </a:p>
          <a:p xmlns:a="http://schemas.openxmlformats.org/drawingml/2006/main">
            <a:r>
              <a:t/>
            </a:r>
          </a:p>
          <a:p xmlns:a="http://schemas.openxmlformats.org/drawingml/2006/main">
            <a:r>
              <a:t>Resultado: Crear una segunda representación del modelo y comparar entradas antes de comparar resultados.</a:t>
            </a:r>
          </a:p>
          <a:p xmlns:a="http://schemas.openxmlformats.org/drawingml/2006/main">
            <a:r>
              <a:t>Misión: Explicar diferencias sin elegir el programa que dé la cifra preferida.</a:t>
            </a:r>
          </a:p>
          <a:p xmlns:a="http://schemas.openxmlformats.org/drawingml/2006/main">
            <a:r>
              <a:t>Entrega: Archivo RockSim, tabla de entradas y comparación con OpenRocket.</a:t>
            </a:r>
          </a:p>
          <a:p xmlns:a="http://schemas.openxmlformats.org/drawingml/2006/main">
            <a:r>
              <a:t/>
            </a:r>
          </a:p>
          <a:p xmlns:a="http://schemas.openxmlformats.org/drawingml/2006/main">
            <a:r>
              <a:t>Preguntas y respuestas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Fuentes</a:t>
            </a:r>
          </a:p>
          <a:p xmlns:a="http://schemas.openxmlformats.org/drawingml/2006/main">
            <a:r>
              <a:t>Apogee Components. Creating Your First Design. https://www.apogeerockets.com/RockSim/Help_Message_3</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El mismo cohete en RockSim.</a:t>
            </a:r>
          </a:p>
          <a:p xmlns:a="http://schemas.openxmlformats.org/drawingml/2006/main">
            <a:r>
              <a:t>En línea, 2 h. Tramo del núcleo: 4 min.</a:t>
            </a:r>
          </a:p>
          <a:p xmlns:a="http://schemas.openxmlformats.org/drawingml/2006/main">
            <a:r>
              <a:t/>
            </a:r>
          </a:p>
          <a:p xmlns:a="http://schemas.openxmlformats.org/drawingml/2006/main">
            <a:r>
              <a:t>¿La resta compara las mismas variables y unidades?</a:t>
            </a:r>
          </a:p>
          <a:p xmlns:a="http://schemas.openxmlformats.org/drawingml/2006/main">
            <a:r>
              <a:t>Pedir una respuesta antes de consultar la explicación de la lectura.</a:t>
            </a:r>
          </a:p>
          <a:p xmlns:a="http://schemas.openxmlformats.org/drawingml/2006/main">
            <a:r>
              <a:t/>
            </a:r>
          </a:p>
          <a:p xmlns:a="http://schemas.openxmlformats.org/drawingml/2006/main">
            <a:r>
              <a:t>Resultado: Crear una segunda representación del modelo y comparar entradas antes de comparar resultados.</a:t>
            </a:r>
          </a:p>
          <a:p xmlns:a="http://schemas.openxmlformats.org/drawingml/2006/main">
            <a:r>
              <a:t>Misión: Explicar diferencias sin elegir el programa que dé la cifra preferida.</a:t>
            </a:r>
          </a:p>
          <a:p xmlns:a="http://schemas.openxmlformats.org/drawingml/2006/main">
            <a:r>
              <a:t>Entrega: Archivo RockSim, tabla de entradas y comparación con OpenRocket.</a:t>
            </a:r>
          </a:p>
          <a:p xmlns:a="http://schemas.openxmlformats.org/drawingml/2006/main">
            <a:r>
              <a:t/>
            </a:r>
          </a:p>
          <a:p xmlns:a="http://schemas.openxmlformats.org/drawingml/2006/main">
            <a:r>
              <a:t>Preguntas y respuestas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Fuentes</a:t>
            </a:r>
          </a:p>
          <a:p xmlns:a="http://schemas.openxmlformats.org/drawingml/2006/main">
            <a:r>
              <a:t>Apogee Components. Creating Your First Design. https://www.apogeerockets.com/RockSim/Help_Message_3</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El mismo cohete en RockSim.</a:t>
            </a:r>
          </a:p>
          <a:p xmlns:a="http://schemas.openxmlformats.org/drawingml/2006/main">
            <a:r>
              <a:t>En línea, 2 h. Tramo del núcleo: 5 min.</a:t>
            </a:r>
          </a:p>
          <a:p xmlns:a="http://schemas.openxmlformats.org/drawingml/2006/main">
            <a:r>
              <a:t/>
            </a:r>
          </a:p>
          <a:p xmlns:a="http://schemas.openxmlformats.org/drawingml/2006/main">
            <a:r>
              <a:t>Guarda la configuración de RockSim y comprueba sus condiciones.</a:t>
            </a:r>
          </a:p>
          <a:p xmlns:a="http://schemas.openxmlformats.org/drawingml/2006/main">
            <a:r>
              <a:t>Ejecuta la simulación y revisa avisos.</a:t>
            </a:r>
          </a:p>
          <a:p xmlns:a="http://schemas.openxmlformats.org/drawingml/2006/main">
            <a:r>
              <a:t>Registra las variables y unidades seleccionadas.</a:t>
            </a:r>
          </a:p>
          <a:p xmlns:a="http://schemas.openxmlformats.org/drawingml/2006/main">
            <a:r>
              <a:t>Conserva el archivo de resultado o la exportación disponible.</a:t>
            </a:r>
          </a:p>
          <a:p xmlns:a="http://schemas.openxmlformats.org/drawingml/2006/main">
            <a:r>
              <a:t>Compara con la revisión de OpenRocket que tiene las mismas entradas.</a:t>
            </a:r>
          </a:p>
          <a:p xmlns:a="http://schemas.openxmlformats.org/drawingml/2006/main">
            <a:r>
              <a:t>Describe una coincidencia y una diferencia sin decidir por preferencia estética.</a:t>
            </a:r>
          </a:p>
          <a:p xmlns:a="http://schemas.openxmlformats.org/drawingml/2006/main">
            <a:r>
              <a:t>Comprobar un paso en el objeto o programa antes de continuar.</a:t>
            </a:r>
          </a:p>
          <a:p xmlns:a="http://schemas.openxmlformats.org/drawingml/2006/main">
            <a:r>
              <a:t/>
            </a:r>
          </a:p>
          <a:p xmlns:a="http://schemas.openxmlformats.org/drawingml/2006/main">
            <a:r>
              <a:t>Resultado: Crear una segunda representación del modelo y comparar entradas antes de comparar resultados.</a:t>
            </a:r>
          </a:p>
          <a:p xmlns:a="http://schemas.openxmlformats.org/drawingml/2006/main">
            <a:r>
              <a:t>Misión: Explicar diferencias sin elegir el programa que dé la cifra preferida.</a:t>
            </a:r>
          </a:p>
          <a:p xmlns:a="http://schemas.openxmlformats.org/drawingml/2006/main">
            <a:r>
              <a:t>Entrega: Archivo RockSim, tabla de entradas y comparación con OpenRocket.</a:t>
            </a:r>
          </a:p>
          <a:p xmlns:a="http://schemas.openxmlformats.org/drawingml/2006/main">
            <a:r>
              <a:t/>
            </a:r>
          </a:p>
          <a:p xmlns:a="http://schemas.openxmlformats.org/drawingml/2006/main">
            <a:r>
              <a:t>Preguntas y respuestas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Fuentes</a:t>
            </a:r>
          </a:p>
          <a:p xmlns:a="http://schemas.openxmlformats.org/drawingml/2006/main">
            <a:r>
              <a:t>Apogee Components. Creating Your First Design. https://www.apogeerockets.com/RockSim/Help_Message_3</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El mismo cohete en RockSim.</a:t>
            </a:r>
          </a:p>
          <a:p xmlns:a="http://schemas.openxmlformats.org/drawingml/2006/main">
            <a:r>
              <a:t>En línea, 2 h. Tramo del núcleo: 4 min.</a:t>
            </a:r>
          </a:p>
          <a:p xmlns:a="http://schemas.openxmlformats.org/drawingml/2006/main">
            <a:r>
              <a:t/>
            </a:r>
          </a:p>
          <a:p xmlns:a="http://schemas.openxmlformats.org/drawingml/2006/main">
            <a:r>
              <a:t>Una coincidencia no demuestra automáticamente exactitud. Los programas pueden compartir supuestos o datos de entrada equivocados. Una diferencia tampoco demuestra que uno esté roto. Puede revelar una configuración incompleta o una manera diferente de representar una pieza.</a:t>
            </a:r>
          </a:p>
          <a:p xmlns:a="http://schemas.openxmlformats.org/drawingml/2006/main">
            <a:r>
              <a:t/>
            </a:r>
          </a:p>
          <a:p xmlns:a="http://schemas.openxmlformats.org/drawingml/2006/main">
            <a:r>
              <a:t>Ambos programas usan el subtotal de la clase 1 en lugar de la masa del modelo ensamblado.</a:t>
            </a:r>
          </a:p>
          <a:p xmlns:a="http://schemas.openxmlformats.org/drawingml/2006/main">
            <a:r>
              <a:t/>
            </a:r>
          </a:p>
          <a:p xmlns:a="http://schemas.openxmlformats.org/drawingml/2006/main">
            <a:r>
              <a:t>Si el tiempo de clase no permite cerrar una discrepancia, conserva los archivos y la pregunta concreta. “Pendiente: revisar la referencia de posición de aleta” es una tarea útil; “los programas no funcionan” no identifica una comprobación.</a:t>
            </a:r>
          </a:p>
          <a:p xmlns:a="http://schemas.openxmlformats.org/drawingml/2006/main">
            <a:r>
              <a:t/>
            </a:r>
          </a:p>
          <a:p xmlns:a="http://schemas.openxmlformats.org/drawingml/2006/main">
            <a:r>
              <a:t>Las unidades también pueden producir una diferencia aparente. Antes de restar velocidades o alturas, lee la unidad y la referencia de la variable. Altura sobre el origen y altitud respecto a otra referencia no son intercambiables. Esta revisión requiere pocas operaciones, pero mucha claridad sobre qué representa cada columna. Si no se consigue equivalencia, se anota y se limita la conclusión de la comparación.</a:t>
            </a:r>
          </a:p>
          <a:p xmlns:a="http://schemas.openxmlformats.org/drawingml/2006/main">
            <a:r>
              <a:t>Pregunta para el grupo: ¿Dónde empezarías a investigar la discrepancia?</a:t>
            </a:r>
          </a:p>
          <a:p xmlns:a="http://schemas.openxmlformats.org/drawingml/2006/main">
            <a:r>
              <a:t/>
            </a:r>
          </a:p>
          <a:p xmlns:a="http://schemas.openxmlformats.org/drawingml/2006/main">
            <a:r>
              <a:t>Resultado: Crear una segunda representación del modelo y comparar entradas antes de comparar resultados.</a:t>
            </a:r>
          </a:p>
          <a:p xmlns:a="http://schemas.openxmlformats.org/drawingml/2006/main">
            <a:r>
              <a:t>Misión: Explicar diferencias sin elegir el programa que dé la cifra preferida.</a:t>
            </a:r>
          </a:p>
          <a:p xmlns:a="http://schemas.openxmlformats.org/drawingml/2006/main">
            <a:r>
              <a:t>Entrega: Archivo RockSim, tabla de entradas y comparación con OpenRocket.</a:t>
            </a:r>
          </a:p>
          <a:p xmlns:a="http://schemas.openxmlformats.org/drawingml/2006/main">
            <a:r>
              <a:t/>
            </a:r>
          </a:p>
          <a:p xmlns:a="http://schemas.openxmlformats.org/drawingml/2006/main">
            <a:r>
              <a:t>Preguntas y respuestas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Fuentes</a:t>
            </a:r>
          </a:p>
          <a:p xmlns:a="http://schemas.openxmlformats.org/drawingml/2006/main">
            <a:r>
              <a:t>Apogee Components. Creating Your First Design. https://www.apogeerockets.com/RockSim/Help_Message_3</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El mismo cohete en RockSim.</a:t>
            </a:r>
          </a:p>
          <a:p xmlns:a="http://schemas.openxmlformats.org/drawingml/2006/main">
            <a:r>
              <a:t>En línea, 2 h. Tramo del núcleo: 4 min.</a:t>
            </a:r>
          </a:p>
          <a:p xmlns:a="http://schemas.openxmlformats.org/drawingml/2006/main">
            <a:r>
              <a:t/>
            </a:r>
          </a:p>
          <a:p xmlns:a="http://schemas.openxmlformats.org/drawingml/2006/main">
            <a:r>
              <a:t>Orden / Pregunta</a:t>
            </a:r>
          </a:p>
          <a:p xmlns:a="http://schemas.openxmlformats.org/drawingml/2006/main">
            <a:r>
              <a:t>1 / ¿Es el mismo archivo de referencia física?</a:t>
            </a:r>
          </a:p>
          <a:p xmlns:a="http://schemas.openxmlformats.org/drawingml/2006/main">
            <a:r>
              <a:t>2 / ¿Coinciden geometría, materiales y masas?</a:t>
            </a:r>
          </a:p>
          <a:p xmlns:a="http://schemas.openxmlformats.org/drawingml/2006/main">
            <a:r>
              <a:t>3 / ¿Es el mismo motor y evento de recuperación?</a:t>
            </a:r>
          </a:p>
          <a:p xmlns:a="http://schemas.openxmlformats.org/drawingml/2006/main">
            <a:r>
              <a:t>4 / ¿Son las mismas condiciones y referencias?</a:t>
            </a:r>
          </a:p>
          <a:p xmlns:a="http://schemas.openxmlformats.org/drawingml/2006/main">
            <a:r>
              <a:t>5 / ¿Queda una diferencia de representación o método?</a:t>
            </a:r>
          </a:p>
          <a:p xmlns:a="http://schemas.openxmlformats.org/drawingml/2006/main">
            <a:r>
              <a:t>Comparar dos filas y justificar con la misión.</a:t>
            </a:r>
          </a:p>
          <a:p xmlns:a="http://schemas.openxmlformats.org/drawingml/2006/main">
            <a:r>
              <a:t/>
            </a:r>
          </a:p>
          <a:p xmlns:a="http://schemas.openxmlformats.org/drawingml/2006/main">
            <a:r>
              <a:t>Resultado: Crear una segunda representación del modelo y comparar entradas antes de comparar resultados.</a:t>
            </a:r>
          </a:p>
          <a:p xmlns:a="http://schemas.openxmlformats.org/drawingml/2006/main">
            <a:r>
              <a:t>Misión: Explicar diferencias sin elegir el programa que dé la cifra preferida.</a:t>
            </a:r>
          </a:p>
          <a:p xmlns:a="http://schemas.openxmlformats.org/drawingml/2006/main">
            <a:r>
              <a:t>Entrega: Archivo RockSim, tabla de entradas y comparación con OpenRocket.</a:t>
            </a:r>
          </a:p>
          <a:p xmlns:a="http://schemas.openxmlformats.org/drawingml/2006/main">
            <a:r>
              <a:t/>
            </a:r>
          </a:p>
          <a:p xmlns:a="http://schemas.openxmlformats.org/drawingml/2006/main">
            <a:r>
              <a:t>Preguntas y respuestas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Fuentes</a:t>
            </a:r>
          </a:p>
          <a:p xmlns:a="http://schemas.openxmlformats.org/drawingml/2006/main">
            <a:r>
              <a:t>Apogee Components. Creating Your First Design. https://www.apogeerockets.com/RockSim/Help_Message_3</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El mismo cohete en RockSim.</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Ambos programas usan el subtotal de la clase 1 en lugar de la masa del modelo ensamblado.</a:t>
            </a:r>
          </a:p>
          <a:p xmlns:a="http://schemas.openxmlformats.org/drawingml/2006/main">
            <a:r>
              <a:t>Explicación</a:t>
            </a:r>
          </a:p>
          <a:p xmlns:a="http://schemas.openxmlformats.org/drawingml/2006/main">
            <a:r>
              <a:t>El acuerdo conserva el mismo error de entrada. Actualiza la referencia física y repite. La comparación sirve cuando ayuda a describir mejor el proyecto, no cuando produce dos cifras iguales.</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Crear una segunda representación del modelo y comparar entradas antes de comparar resultados.</a:t>
            </a:r>
          </a:p>
          <a:p xmlns:a="http://schemas.openxmlformats.org/drawingml/2006/main">
            <a:r>
              <a:t>Misión: Explicar diferencias sin elegir el programa que dé la cifra preferida.</a:t>
            </a:r>
          </a:p>
          <a:p xmlns:a="http://schemas.openxmlformats.org/drawingml/2006/main">
            <a:r>
              <a:t>Entrega: Archivo RockSim, tabla de entradas y comparación con OpenRocket.</a:t>
            </a:r>
          </a:p>
          <a:p xmlns:a="http://schemas.openxmlformats.org/drawingml/2006/main">
            <a:r>
              <a:t/>
            </a:r>
          </a:p>
          <a:p xmlns:a="http://schemas.openxmlformats.org/drawingml/2006/main">
            <a:r>
              <a:t>Preguntas y respuestas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Fuentes</a:t>
            </a:r>
          </a:p>
          <a:p xmlns:a="http://schemas.openxmlformats.org/drawingml/2006/main">
            <a:r>
              <a:t>Apogee Components. Creating Your First Design. https://www.apogeerockets.com/RockSim/Help_Message_3</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El mismo cohete en RockSim.</a:t>
            </a:r>
          </a:p>
          <a:p xmlns:a="http://schemas.openxmlformats.org/drawingml/2006/main">
            <a:r>
              <a:t>En línea, 2 h. Tramo del núcleo: 4 min.</a:t>
            </a:r>
          </a:p>
          <a:p xmlns:a="http://schemas.openxmlformats.org/drawingml/2006/main">
            <a:r>
              <a:t/>
            </a:r>
          </a:p>
          <a:p xmlns:a="http://schemas.openxmlformats.org/drawingml/2006/main">
            <a:r>
              <a:t>Para comparar narices o aletas según misión, las herramientas ayudan a estudiar el vehículo, mientras la ficha de fabricación conserva encaje, masa, tiempo y reparación. No todo criterio de selección sale de una simulación. El equipo reúne ambos tipos de información sin convertir una diferencia pequeña de altura en una respuesta universal.</a:t>
            </a:r>
          </a:p>
          <a:p xmlns:a="http://schemas.openxmlformats.org/drawingml/2006/main">
            <a:r>
              <a:t/>
            </a:r>
          </a:p>
          <a:p xmlns:a="http://schemas.openxmlformats.org/drawingml/2006/main">
            <a:r>
              <a:t>“Con entradas revisadas obtuvimos estas predicciones. La alternativa A sigue siendo más sencilla de fabricar y las diferencias de modelo quedan registradas”.</a:t>
            </a:r>
          </a:p>
          <a:p xmlns:a="http://schemas.openxmlformats.org/drawingml/2006/main">
            <a:r>
              <a:t/>
            </a:r>
          </a:p>
          <a:p xmlns:a="http://schemas.openxmlformats.org/drawingml/2006/main">
            <a:r>
              <a:t>Entrega ambos archivos, la tabla de equivalencia y una comparación corta. Si falta licencia o instalación de RockSim, el docente puede hacer una demostración central y cada equipo revisa las entradas de su caso. No se atribuye una ejecución a quien solo observó la pantalla.</a:t>
            </a:r>
          </a:p>
          <a:p xmlns:a="http://schemas.openxmlformats.org/drawingml/2006/main">
            <a:r>
              <a:t>Pregunta para el grupo: ¿Qué aporta el taller además del resultado simulado?</a:t>
            </a:r>
          </a:p>
          <a:p xmlns:a="http://schemas.openxmlformats.org/drawingml/2006/main">
            <a:r>
              <a:t/>
            </a:r>
          </a:p>
          <a:p xmlns:a="http://schemas.openxmlformats.org/drawingml/2006/main">
            <a:r>
              <a:t>Resultado: Crear una segunda representación del modelo y comparar entradas antes de comparar resultados.</a:t>
            </a:r>
          </a:p>
          <a:p xmlns:a="http://schemas.openxmlformats.org/drawingml/2006/main">
            <a:r>
              <a:t>Misión: Explicar diferencias sin elegir el programa que dé la cifra preferida.</a:t>
            </a:r>
          </a:p>
          <a:p xmlns:a="http://schemas.openxmlformats.org/drawingml/2006/main">
            <a:r>
              <a:t>Entrega: Archivo RockSim, tabla de entradas y comparación con OpenRocket.</a:t>
            </a:r>
          </a:p>
          <a:p xmlns:a="http://schemas.openxmlformats.org/drawingml/2006/main">
            <a:r>
              <a:t/>
            </a:r>
          </a:p>
          <a:p xmlns:a="http://schemas.openxmlformats.org/drawingml/2006/main">
            <a:r>
              <a:t>Preguntas y respuestas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Fuentes</a:t>
            </a:r>
          </a:p>
          <a:p xmlns:a="http://schemas.openxmlformats.org/drawingml/2006/main">
            <a:r>
              <a:t>Apogee Components. Creating Your First Design. https://www.apogeerockets.com/RockSim/Help_Message_3</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El mismo cohete en RockSim.</a:t>
            </a:r>
          </a:p>
          <a:p xmlns:a="http://schemas.openxmlformats.org/drawingml/2006/main">
            <a:r>
              <a:t>En línea, 2 h. Tramo del núcleo: 4 min.</a:t>
            </a:r>
          </a:p>
          <a:p xmlns:a="http://schemas.openxmlformats.org/drawingml/2006/main">
            <a:r>
              <a:t/>
            </a:r>
          </a:p>
          <a:p xmlns:a="http://schemas.openxmlformats.org/drawingml/2006/main">
            <a:r>
              <a:t>Misión / Qué debe respaldar la elección</a:t>
            </a:r>
          </a:p>
          <a:p xmlns:a="http://schemas.openxmlformats.org/drawingml/2006/main">
            <a:r>
              <a:t>Aprender a construir / Archivo coherente y pieza fabricable</a:t>
            </a:r>
          </a:p>
          <a:p xmlns:a="http://schemas.openxmlformats.org/drawingml/2006/main">
            <a:r>
              <a:t>Reutilizar / Revisión y facilidad de reposición</a:t>
            </a:r>
          </a:p>
          <a:p xmlns:a="http://schemas.openxmlformats.org/drawingml/2006/main">
            <a:r>
              <a:t>Carga docente / Interfaces y observación de datos del demostrador</a:t>
            </a:r>
          </a:p>
          <a:p xmlns:a="http://schemas.openxmlformats.org/drawingml/2006/main">
            <a:r>
              <a:t>Comparar dos filas y justificar con la misión.</a:t>
            </a:r>
          </a:p>
          <a:p xmlns:a="http://schemas.openxmlformats.org/drawingml/2006/main">
            <a:r>
              <a:t/>
            </a:r>
          </a:p>
          <a:p xmlns:a="http://schemas.openxmlformats.org/drawingml/2006/main">
            <a:r>
              <a:t>Resultado: Crear una segunda representación del modelo y comparar entradas antes de comparar resultados.</a:t>
            </a:r>
          </a:p>
          <a:p xmlns:a="http://schemas.openxmlformats.org/drawingml/2006/main">
            <a:r>
              <a:t>Misión: Explicar diferencias sin elegir el programa que dé la cifra preferida.</a:t>
            </a:r>
          </a:p>
          <a:p xmlns:a="http://schemas.openxmlformats.org/drawingml/2006/main">
            <a:r>
              <a:t>Entrega: Archivo RockSim, tabla de entradas y comparación con OpenRocket.</a:t>
            </a:r>
          </a:p>
          <a:p xmlns:a="http://schemas.openxmlformats.org/drawingml/2006/main">
            <a:r>
              <a:t/>
            </a:r>
          </a:p>
          <a:p xmlns:a="http://schemas.openxmlformats.org/drawingml/2006/main">
            <a:r>
              <a:t>Preguntas y respuestas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Fuentes</a:t>
            </a:r>
          </a:p>
          <a:p xmlns:a="http://schemas.openxmlformats.org/drawingml/2006/main">
            <a:r>
              <a:t>Apogee Components. Creating Your First Design. https://www.apogeerockets.com/RockSim/Help_Message_3</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El mismo cohete en RockSim.</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“Con entradas revisadas obtuvimos estas predicciones. La alternativa A sigue siendo más sencilla de fabricar y las diferencias de modelo quedan registradas”.</a:t>
            </a:r>
          </a:p>
          <a:p xmlns:a="http://schemas.openxmlformats.org/drawingml/2006/main">
            <a:r>
              <a:t>Explicación</a:t>
            </a:r>
          </a:p>
          <a:p xmlns:a="http://schemas.openxmlformats.org/drawingml/2006/main">
            <a:r>
              <a:t>La decisión distingue lo que ofrecen los programas y lo que se observó en el taller. Mantiene el proyecto comprensible para un alumno básico e intermedio.</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Crear una segunda representación del modelo y comparar entradas antes de comparar resultados.</a:t>
            </a:r>
          </a:p>
          <a:p xmlns:a="http://schemas.openxmlformats.org/drawingml/2006/main">
            <a:r>
              <a:t>Misión: Explicar diferencias sin elegir el programa que dé la cifra preferida.</a:t>
            </a:r>
          </a:p>
          <a:p xmlns:a="http://schemas.openxmlformats.org/drawingml/2006/main">
            <a:r>
              <a:t>Entrega: Archivo RockSim, tabla de entradas y comparación con OpenRocket.</a:t>
            </a:r>
          </a:p>
          <a:p xmlns:a="http://schemas.openxmlformats.org/drawingml/2006/main">
            <a:r>
              <a:t/>
            </a:r>
          </a:p>
          <a:p xmlns:a="http://schemas.openxmlformats.org/drawingml/2006/main">
            <a:r>
              <a:t>Preguntas y respuestas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Fuentes</a:t>
            </a:r>
          </a:p>
          <a:p xmlns:a="http://schemas.openxmlformats.org/drawingml/2006/main">
            <a:r>
              <a:t>Apogee Components. Creating Your First Design. https://www.apogeerockets.com/RockSim/Help_Message_3</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El mismo cohete en RockSim.</a:t>
            </a:r>
          </a:p>
          <a:p xmlns:a="http://schemas.openxmlformats.org/drawingml/2006/main">
            <a:r>
              <a:t>En línea, 2 h. Tramo del núcleo: 12 min.</a:t>
            </a:r>
          </a:p>
          <a:p xmlns:a="http://schemas.openxmlformats.org/drawingml/2006/main">
            <a:r>
              <a:t/>
            </a:r>
          </a:p>
          <a:p xmlns:a="http://schemas.openxmlformats.org/drawingml/2006/main">
            <a:r>
              <a:t>Crear la representación del objeto construido en RockSim.</a:t>
            </a:r>
          </a:p>
          <a:p xmlns:a="http://schemas.openxmlformats.org/drawingml/2006/main">
            <a:r>
              <a:t>Completar la tabla de equivalencia antes de simular.</a:t>
            </a:r>
          </a:p>
          <a:p xmlns:a="http://schemas.openxmlformats.org/drawingml/2006/main">
            <a:r>
              <a:t>Ejecutar con configuración revisada y comparar pocas variables.</a:t>
            </a:r>
          </a:p>
          <a:p xmlns:a="http://schemas.openxmlformats.org/drawingml/2006/main">
            <a:r>
              <a:t>Investigar una diferencia siguiendo el orden propuesto.</a:t>
            </a:r>
          </a:p>
          <a:p xmlns:a="http://schemas.openxmlformats.org/drawingml/2006/main">
            <a:r>
              <a:t>Rotar los roles y conservar al menos una evidencia revisable.</a:t>
            </a:r>
          </a:p>
          <a:p xmlns:a="http://schemas.openxmlformats.org/drawingml/2006/main">
            <a:r>
              <a:t/>
            </a:r>
          </a:p>
          <a:p xmlns:a="http://schemas.openxmlformats.org/drawingml/2006/main">
            <a:r>
              <a:t>Resultado: Crear una segunda representación del modelo y comparar entradas antes de comparar resultados.</a:t>
            </a:r>
          </a:p>
          <a:p xmlns:a="http://schemas.openxmlformats.org/drawingml/2006/main">
            <a:r>
              <a:t>Misión: Explicar diferencias sin elegir el programa que dé la cifra preferida.</a:t>
            </a:r>
          </a:p>
          <a:p xmlns:a="http://schemas.openxmlformats.org/drawingml/2006/main">
            <a:r>
              <a:t>Entrega: Archivo RockSim, tabla de entradas y comparación con OpenRocket.</a:t>
            </a:r>
          </a:p>
          <a:p xmlns:a="http://schemas.openxmlformats.org/drawingml/2006/main">
            <a:r>
              <a:t/>
            </a:r>
          </a:p>
          <a:p xmlns:a="http://schemas.openxmlformats.org/drawingml/2006/main">
            <a:r>
              <a:t>Preguntas y respuestas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Fuentes</a:t>
            </a:r>
          </a:p>
          <a:p xmlns:a="http://schemas.openxmlformats.org/drawingml/2006/main">
            <a:r>
              <a:t>Apogee Components. Creating Your First Design. https://www.apogeerockets.com/RockSim/Help_Message_3</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El mismo cohete en RockSim.</a:t>
            </a:r>
          </a:p>
          <a:p xmlns:a="http://schemas.openxmlformats.org/drawingml/2006/main">
            <a:r>
              <a:t>En línea, 2 h. Tramo del núcleo: 10 min.</a:t>
            </a:r>
          </a:p>
          <a:p xmlns:a="http://schemas.openxmlformats.org/drawingml/2006/main">
            <a:r>
              <a:t/>
            </a:r>
          </a:p>
          <a:p xmlns:a="http://schemas.openxmlformats.org/drawingml/2006/main">
            <a:r>
              <a:t>Cada equipo prepara una decisión y una evidencia. No aceptar una preferencia sin relacionarla con la misión.</a:t>
            </a:r>
          </a:p>
          <a:p xmlns:a="http://schemas.openxmlformats.org/drawingml/2006/main">
            <a:r>
              <a:t>Archivo RockSim, tabla de entradas y comparación con OpenRocket.</a:t>
            </a:r>
          </a:p>
          <a:p xmlns:a="http://schemas.openxmlformats.org/drawingml/2006/main">
            <a:r>
              <a:t/>
            </a:r>
          </a:p>
          <a:p xmlns:a="http://schemas.openxmlformats.org/drawingml/2006/main">
            <a:r>
              <a:t>Resultado: Crear una segunda representación del modelo y comparar entradas antes de comparar resultados.</a:t>
            </a:r>
          </a:p>
          <a:p xmlns:a="http://schemas.openxmlformats.org/drawingml/2006/main">
            <a:r>
              <a:t>Misión: Explicar diferencias sin elegir el programa que dé la cifra preferida.</a:t>
            </a:r>
          </a:p>
          <a:p xmlns:a="http://schemas.openxmlformats.org/drawingml/2006/main">
            <a:r>
              <a:t>Entrega: Archivo RockSim, tabla de entradas y comparación con OpenRocket.</a:t>
            </a:r>
          </a:p>
          <a:p xmlns:a="http://schemas.openxmlformats.org/drawingml/2006/main">
            <a:r>
              <a:t/>
            </a:r>
          </a:p>
          <a:p xmlns:a="http://schemas.openxmlformats.org/drawingml/2006/main">
            <a:r>
              <a:t>Preguntas y respuestas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Fuentes</a:t>
            </a:r>
          </a:p>
          <a:p xmlns:a="http://schemas.openxmlformats.org/drawingml/2006/main">
            <a:r>
              <a:t>Apogee Components. Creating Your First Design. https://www.apogeerockets.com/RockSim/Help_Message_3</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El mismo cohete en RockSim.</a:t>
            </a:r>
          </a:p>
          <a:p xmlns:a="http://schemas.openxmlformats.org/drawingml/2006/main">
            <a:r>
              <a:t>En línea, 2 h. Tramo del núcleo: 7 min.</a:t>
            </a:r>
          </a:p>
          <a:p xmlns:a="http://schemas.openxmlformats.org/drawingml/2006/main">
            <a:r>
              <a:t/>
            </a:r>
          </a:p>
          <a:p xmlns:a="http://schemas.openxmlformats.org/drawingml/2006/main">
            <a:r>
              <a:t>Primero respuesta individual, después discusión por equipos.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Resultado: Crear una segunda representación del modelo y comparar entradas antes de comparar resultados.</a:t>
            </a:r>
          </a:p>
          <a:p xmlns:a="http://schemas.openxmlformats.org/drawingml/2006/main">
            <a:r>
              <a:t>Misión: Explicar diferencias sin elegir el programa que dé la cifra preferida.</a:t>
            </a:r>
          </a:p>
          <a:p xmlns:a="http://schemas.openxmlformats.org/drawingml/2006/main">
            <a:r>
              <a:t>Entrega: Archivo RockSim, tabla de entradas y comparación con OpenRocket.</a:t>
            </a:r>
          </a:p>
          <a:p xmlns:a="http://schemas.openxmlformats.org/drawingml/2006/main">
            <a:r>
              <a:t/>
            </a:r>
          </a:p>
          <a:p xmlns:a="http://schemas.openxmlformats.org/drawingml/2006/main">
            <a:r>
              <a:t>Preguntas y respuestas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Fuentes</a:t>
            </a:r>
          </a:p>
          <a:p xmlns:a="http://schemas.openxmlformats.org/drawingml/2006/main">
            <a:r>
              <a:t>Apogee Components. Creating Your First Design. https://www.apogeerockets.com/RockSim/Help_Message_3</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El mismo cohete en RockSim.</a:t>
            </a:r>
          </a:p>
          <a:p xmlns:a="http://schemas.openxmlformats.org/drawingml/2006/main">
            <a:r>
              <a:t>En línea, 2 h. Tramo del núcleo: 5 min.</a:t>
            </a:r>
          </a:p>
          <a:p xmlns:a="http://schemas.openxmlformats.org/drawingml/2006/main">
            <a:r>
              <a:t/>
            </a:r>
          </a:p>
          <a:p xmlns:a="http://schemas.openxmlformats.org/drawingml/2006/main">
            <a:r>
              <a:t>Pedir un ejemplo del objeto o del archivo para una de las respuestas.</a:t>
            </a:r>
          </a:p>
          <a:p xmlns:a="http://schemas.openxmlformats.org/drawingml/2006/main">
            <a:r>
              <a:t/>
            </a:r>
          </a:p>
          <a:p xmlns:a="http://schemas.openxmlformats.org/drawingml/2006/main">
            <a:r>
              <a:t>Resultado: Crear una segunda representación del modelo y comparar entradas antes de comparar resultados.</a:t>
            </a:r>
          </a:p>
          <a:p xmlns:a="http://schemas.openxmlformats.org/drawingml/2006/main">
            <a:r>
              <a:t>Misión: Explicar diferencias sin elegir el programa que dé la cifra preferida.</a:t>
            </a:r>
          </a:p>
          <a:p xmlns:a="http://schemas.openxmlformats.org/drawingml/2006/main">
            <a:r>
              <a:t>Entrega: Archivo RockSim, tabla de entradas y comparación con OpenRocket.</a:t>
            </a:r>
          </a:p>
          <a:p xmlns:a="http://schemas.openxmlformats.org/drawingml/2006/main">
            <a:r>
              <a:t/>
            </a:r>
          </a:p>
          <a:p xmlns:a="http://schemas.openxmlformats.org/drawingml/2006/main">
            <a:r>
              <a:t>Preguntas y respuestas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Fuentes</a:t>
            </a:r>
          </a:p>
          <a:p xmlns:a="http://schemas.openxmlformats.org/drawingml/2006/main">
            <a:r>
              <a:t>Apogee Components. Creating Your First Design. https://www.apogeerockets.com/RockSim/Help_Message_3</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13: El mismo cohete en RockSim.</a:t>
            </a:r>
          </a:p>
          <a:p xmlns:a="http://schemas.openxmlformats.org/drawingml/2006/main">
            <a:r>
              <a:t>En línea, 2 h. Tramo del núcleo: 5 min.</a:t>
            </a:r>
          </a:p>
          <a:p xmlns:a="http://schemas.openxmlformats.org/drawingml/2006/main">
            <a:r>
              <a:t/>
            </a:r>
          </a:p>
          <a:p xmlns:a="http://schemas.openxmlformats.org/drawingml/2006/main">
            <a:r>
              <a:t>Archivo RockSim, tabla de entradas y comparación con OpenRocket.</a:t>
            </a:r>
          </a:p>
          <a:p xmlns:a="http://schemas.openxmlformats.org/drawingml/2006/main">
            <a:r>
              <a:t>Las fuentes enlazadas de la lectura permiten ampliar la explicación sin exigir cálculo avanzado.</a:t>
            </a:r>
          </a:p>
          <a:p xmlns:a="http://schemas.openxmlformats.org/drawingml/2006/main">
            <a:r>
              <a:t/>
            </a:r>
          </a:p>
          <a:p xmlns:a="http://schemas.openxmlformats.org/drawingml/2006/main">
            <a:r>
              <a:t>Resultado: Crear una segunda representación del modelo y comparar entradas antes de comparar resultados.</a:t>
            </a:r>
          </a:p>
          <a:p xmlns:a="http://schemas.openxmlformats.org/drawingml/2006/main">
            <a:r>
              <a:t>Misión: Explicar diferencias sin elegir el programa que dé la cifra preferida.</a:t>
            </a:r>
          </a:p>
          <a:p xmlns:a="http://schemas.openxmlformats.org/drawingml/2006/main">
            <a:r>
              <a:t>Entrega: Archivo RockSim, tabla de entradas y comparación con OpenRocket.</a:t>
            </a:r>
          </a:p>
          <a:p xmlns:a="http://schemas.openxmlformats.org/drawingml/2006/main">
            <a:r>
              <a:t/>
            </a:r>
          </a:p>
          <a:p xmlns:a="http://schemas.openxmlformats.org/drawingml/2006/main">
            <a:r>
              <a:t>Preguntas y respuestas</a:t>
            </a:r>
          </a:p>
          <a:p xmlns:a="http://schemas.openxmlformats.org/drawingml/2006/main">
            <a:r>
              <a:t>¿Dos apogeos iguales prueban que el modelo es exacto?</a:t>
            </a:r>
          </a:p>
          <a:p xmlns:a="http://schemas.openxmlformats.org/drawingml/2006/main">
            <a:r>
              <a:t>No. Pueden compartir entradas o supuestos equivocados.</a:t>
            </a:r>
          </a:p>
          <a:p xmlns:a="http://schemas.openxmlformats.org/drawingml/2006/main">
            <a:r>
              <a:t/>
            </a:r>
          </a:p>
          <a:p xmlns:a="http://schemas.openxmlformats.org/drawingml/2006/main">
            <a:r>
              <a:t>¿Qué se revisa antes de culpar al método?</a:t>
            </a:r>
          </a:p>
          <a:p xmlns:a="http://schemas.openxmlformats.org/drawingml/2006/main">
            <a:r>
              <a:t>Archivos, geometría, masas, motor, eventos y condiciones.</a:t>
            </a:r>
          </a:p>
          <a:p xmlns:a="http://schemas.openxmlformats.org/drawingml/2006/main">
            <a:r>
              <a:t/>
            </a:r>
          </a:p>
          <a:p xmlns:a="http://schemas.openxmlformats.org/drawingml/2006/main">
            <a:r>
              <a:t>¿Qué representa el 5% del ejemplo?</a:t>
            </a:r>
          </a:p>
          <a:p xmlns:a="http://schemas.openxmlformats.org/drawingml/2006/main">
            <a:r>
              <a:t>Una discrepancia entre predicciones con un denominador declarado.</a:t>
            </a:r>
          </a:p>
          <a:p xmlns:a="http://schemas.openxmlformats.org/drawingml/2006/main">
            <a:r>
              <a:t/>
            </a:r>
          </a:p>
          <a:p xmlns:a="http://schemas.openxmlformats.org/drawingml/2006/main">
            <a:r>
              <a:t>Fuentes</a:t>
            </a:r>
          </a:p>
          <a:p xmlns:a="http://schemas.openxmlformats.org/drawingml/2006/main">
            <a:r>
              <a:t>Apogee Components. Creating Your First Design. https://www.apogeerockets.com/RockSim/Help_Message_3</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CanSat: observar una misión científica del docente.</a:t>
            </a:r>
          </a:p>
          <a:p xmlns:a="http://schemas.openxmlformats.org/drawingml/2006/main">
            <a:r>
              <a:t>En línea, 2 h. Tramo del núcleo: 3 min.</a:t>
            </a:r>
          </a:p>
          <a:p xmlns:a="http://schemas.openxmlformats.org/drawingml/2006/main">
            <a:r>
              <a:t/>
            </a:r>
          </a:p>
          <a:p xmlns:a="http://schemas.openxmlformats.org/drawingml/2006/main">
            <a:r>
              <a:t>Muestra un archivo local completo y una recepción con un dato duplicado para distinguir medición y mensaje.</a:t>
            </a:r>
          </a:p>
          <a:p xmlns:a="http://schemas.openxmlformats.org/drawingml/2006/main">
            <a:r>
              <a:t/>
            </a:r>
          </a:p>
          <a:p xmlns:a="http://schemas.openxmlformats.org/drawingml/2006/main">
            <a:r>
              <a:t>Resultado: Reconocer sensores, registro y transmisión y preparar una observación de datos del demostrador docente.</a:t>
            </a:r>
          </a:p>
          <a:p xmlns:a="http://schemas.openxmlformats.org/drawingml/2006/main">
            <a:r>
              <a:t>Misión: Comprender para qué se transporta una carga científica sin añadirla al cohete pequeño de cada equipo.</a:t>
            </a:r>
          </a:p>
          <a:p xmlns:a="http://schemas.openxmlformats.org/drawingml/2006/main">
            <a:r>
              <a:t>Entrega: Mapa de datos, análisis del CSV y plan de observación.</a:t>
            </a:r>
          </a:p>
          <a:p xmlns:a="http://schemas.openxmlformats.org/drawingml/2006/main">
            <a:r>
              <a:t/>
            </a:r>
          </a:p>
          <a:p xmlns:a="http://schemas.openxmlformats.org/drawingml/2006/main">
            <a:r>
              <a:t>Preguntas y respuestas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Fuentes</a:t>
            </a:r>
          </a:p>
          <a:p xmlns:a="http://schemas.openxmlformats.org/drawingml/2006/main">
            <a:r>
              <a:t>European Space Agency. What is a CanSat?. https://www.esa.int/Education/CanSat/What_is_a_CanSat</a:t>
            </a:r>
          </a:p>
          <a:p xmlns:a="http://schemas.openxmlformats.org/drawingml/2006/main">
            <a:r>
              <a:t>OpenRocket. Basic Rocket Design. https://openrocket.readthedocs.io/en/latest/user_guide/basic_rocket_design.html</a:t>
            </a:r>
          </a:p>
          <a:p xmlns:a="http://schemas.openxmlformats.org/drawingml/2006/main">
            <a:r>
              <a:t>NASA Glenn. Flight of a Model Rocket. https://www1.grc.nasa.gov/beginners-guide-to-aeronautics/flight-of-a-model-rocket/</a:t>
            </a:r>
          </a:p>
          <a:p xmlns:a="http://schemas.openxmlformats.org/drawingml/2006/main">
            <a:r>
              <a:t>Lectura: MECRO_Coheteria_Clase_14.pdf.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CanSat: observar una misión científica del docente.</a:t>
            </a:r>
          </a:p>
          <a:p xmlns:a="http://schemas.openxmlformats.org/drawingml/2006/main">
            <a:r>
              <a:t>En línea, 2 h. Tramo del núcleo: 4 min.</a:t>
            </a:r>
          </a:p>
          <a:p xmlns:a="http://schemas.openxmlformats.org/drawingml/2006/main">
            <a:r>
              <a:t/>
            </a:r>
          </a:p>
          <a:p xmlns:a="http://schemas.openxmlformats.org/drawingml/2006/main">
            <a:r>
              <a:t>Un CanSat es una simulación educativa de funciones de satélite integrada en un volumen reducido. Puede medir variables, registrarlas y transmitir datos durante una actividad. No se convierte en satélite orbital por llevar sensores ni por ser transportado en un cohete. Su valor educativo está en completar una misión de medición y poder interpretar sus datos.</a:t>
            </a:r>
          </a:p>
          <a:p xmlns:a="http://schemas.openxmlformats.org/drawingml/2006/main">
            <a:r>
              <a:t/>
            </a:r>
          </a:p>
          <a:p xmlns:a="http://schemas.openxmlformats.org/drawingml/2006/main">
            <a:r>
              <a:t>En este curso el CanSat pertenece al vehículo y al equipo docente. El alumnado observa la preparación, la cadena de datos y el análisis. Su proyecto sigue siendo el cohete pequeño que construyó. Así se presenta una aplicación científica sin transformar todas las piezas del curso en un problema de integración electrónica. [ESA]</a:t>
            </a:r>
          </a:p>
          <a:p xmlns:a="http://schemas.openxmlformats.org/drawingml/2006/main">
            <a:r>
              <a:t/>
            </a:r>
          </a:p>
          <a:p xmlns:a="http://schemas.openxmlformats.org/drawingml/2006/main">
            <a:r>
              <a:t>Un CanSat reproduce algunas funciones de un satélite en un volumen pequeño: medir, registrar y comunicar datos. La misión decide qué variable se observa y qué pregunta se intenta responder. Presión y temperatura son ejemplos habituales, pero disponer de sensores no basta para formar una misión científica. Hace falta relacionar la variable, el instante y el origen del registro con una pregunta. En este curso el equipo docente aporta el demostrador y los alumnos aprenden a interpretar esa cadena.</a:t>
            </a:r>
          </a:p>
          <a:p xmlns:a="http://schemas.openxmlformats.org/drawingml/2006/main">
            <a:r>
              <a:t>Pregunta para el grupo: ¿Qué función de un satélite reproduce el CanSat?</a:t>
            </a:r>
          </a:p>
          <a:p xmlns:a="http://schemas.openxmlformats.org/drawingml/2006/main">
            <a:r>
              <a:t/>
            </a:r>
          </a:p>
          <a:p xmlns:a="http://schemas.openxmlformats.org/drawingml/2006/main">
            <a:r>
              <a:t>Resultado: Reconocer sensores, registro y transmisión y preparar una observación de datos del demostrador docente.</a:t>
            </a:r>
          </a:p>
          <a:p xmlns:a="http://schemas.openxmlformats.org/drawingml/2006/main">
            <a:r>
              <a:t>Misión: Comprender para qué se transporta una carga científica sin añadirla al cohete pequeño de cada equipo.</a:t>
            </a:r>
          </a:p>
          <a:p xmlns:a="http://schemas.openxmlformats.org/drawingml/2006/main">
            <a:r>
              <a:t>Entrega: Mapa de datos, análisis del CSV y plan de observación.</a:t>
            </a:r>
          </a:p>
          <a:p xmlns:a="http://schemas.openxmlformats.org/drawingml/2006/main">
            <a:r>
              <a:t/>
            </a:r>
          </a:p>
          <a:p xmlns:a="http://schemas.openxmlformats.org/drawingml/2006/main">
            <a:r>
              <a:t>Preguntas y respuestas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Fuentes</a:t>
            </a:r>
          </a:p>
          <a:p xmlns:a="http://schemas.openxmlformats.org/drawingml/2006/main">
            <a:r>
              <a:t>European Space Agency. What is a CanSat?. https://www.esa.int/Education/CanSat/What_is_a_CanSat</a:t>
            </a:r>
          </a:p>
          <a:p xmlns:a="http://schemas.openxmlformats.org/drawingml/2006/main">
            <a:r>
              <a:t>OpenRocket. Basic Rocket Design. https://openrocket.readthedocs.io/en/latest/user_guide/basic_rocket_design.html</a:t>
            </a:r>
          </a:p>
          <a:p xmlns:a="http://schemas.openxmlformats.org/drawingml/2006/main">
            <a:r>
              <a:t>NASA Glenn. Flight of a Model Rocket. https://www1.grc.nasa.gov/beginners-guide-to-aeronautics/flight-of-a-model-rocket/</a:t>
            </a:r>
          </a:p>
          <a:p xmlns:a="http://schemas.openxmlformats.org/drawingml/2006/main">
            <a:r>
              <a:t>Lectura: MECRO_Coheteria_Clase_14.pdf.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CanSat: observar una misión científica del docente.</a:t>
            </a:r>
          </a:p>
          <a:p xmlns:a="http://schemas.openxmlformats.org/drawingml/2006/main">
            <a:r>
              <a:t>En línea, 2 h. Tramo del núcleo: 4 min.</a:t>
            </a:r>
          </a:p>
          <a:p xmlns:a="http://schemas.openxmlformats.org/drawingml/2006/main">
            <a:r>
              <a:t/>
            </a:r>
          </a:p>
          <a:p xmlns:a="http://schemas.openxmlformats.org/drawingml/2006/main">
            <a:r>
              <a:t>Fotografía ESA: CanSat de referencia Obi-Wan Canobi. No es el dispositivo construido por MECRO ni fija el tamaño del demostrador docente.</a:t>
            </a:r>
          </a:p>
          <a:p xmlns:a="http://schemas.openxmlformats.org/drawingml/2006/main">
            <a:r>
              <a:t>Localizar en la imagen las partes relacionadas con la pregunta.</a:t>
            </a:r>
          </a:p>
          <a:p xmlns:a="http://schemas.openxmlformats.org/drawingml/2006/main">
            <a:r>
              <a:t>¿Qué función de un satélite reproduce el CanSat?</a:t>
            </a:r>
          </a:p>
          <a:p xmlns:a="http://schemas.openxmlformats.org/drawingml/2006/main">
            <a:r>
              <a:t/>
            </a:r>
          </a:p>
          <a:p xmlns:a="http://schemas.openxmlformats.org/drawingml/2006/main">
            <a:r>
              <a:t>Resultado: Reconocer sensores, registro y transmisión y preparar una observación de datos del demostrador docente.</a:t>
            </a:r>
          </a:p>
          <a:p xmlns:a="http://schemas.openxmlformats.org/drawingml/2006/main">
            <a:r>
              <a:t>Misión: Comprender para qué se transporta una carga científica sin añadirla al cohete pequeño de cada equipo.</a:t>
            </a:r>
          </a:p>
          <a:p xmlns:a="http://schemas.openxmlformats.org/drawingml/2006/main">
            <a:r>
              <a:t>Entrega: Mapa de datos, análisis del CSV y plan de observación.</a:t>
            </a:r>
          </a:p>
          <a:p xmlns:a="http://schemas.openxmlformats.org/drawingml/2006/main">
            <a:r>
              <a:t/>
            </a:r>
          </a:p>
          <a:p xmlns:a="http://schemas.openxmlformats.org/drawingml/2006/main">
            <a:r>
              <a:t>Preguntas y respuestas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Fuentes</a:t>
            </a:r>
          </a:p>
          <a:p xmlns:a="http://schemas.openxmlformats.org/drawingml/2006/main">
            <a:r>
              <a:t>European Space Agency. What is a CanSat?. https://www.esa.int/Education/CanSat/What_is_a_CanSat</a:t>
            </a:r>
          </a:p>
          <a:p xmlns:a="http://schemas.openxmlformats.org/drawingml/2006/main">
            <a:r>
              <a:t>OpenRocket. Basic Rocket Design. https://openrocket.readthedocs.io/en/latest/user_guide/basic_rocket_design.html</a:t>
            </a:r>
          </a:p>
          <a:p xmlns:a="http://schemas.openxmlformats.org/drawingml/2006/main">
            <a:r>
              <a:t>NASA Glenn. Flight of a Model Rocket. https://www1.grc.nasa.gov/beginners-guide-to-aeronautics/flight-of-a-model-rocket/</a:t>
            </a:r>
          </a:p>
          <a:p xmlns:a="http://schemas.openxmlformats.org/drawingml/2006/main">
            <a:r>
              <a:t>Lectura: MECRO_Coheteria_Clase_14.pdf.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CanSat: observar una misión científica del docente.</a:t>
            </a:r>
          </a:p>
          <a:p xmlns:a="http://schemas.openxmlformats.org/drawingml/2006/main">
            <a:r>
              <a:t>En línea, 2 h. Tramo del núcleo: 5 min.</a:t>
            </a:r>
          </a:p>
          <a:p xmlns:a="http://schemas.openxmlformats.org/drawingml/2006/main">
            <a:r>
              <a:t/>
            </a:r>
          </a:p>
          <a:p xmlns:a="http://schemas.openxmlformats.org/drawingml/2006/main">
            <a:r>
              <a:t>¿Qué función de un satélite reproduce el CanSat?</a:t>
            </a:r>
          </a:p>
          <a:p xmlns:a="http://schemas.openxmlformats.org/drawingml/2006/main">
            <a:r>
              <a:t>Relacionar la explicación con una decisión del proyecto.</a:t>
            </a:r>
          </a:p>
          <a:p xmlns:a="http://schemas.openxmlformats.org/drawingml/2006/main">
            <a:r>
              <a:t/>
            </a:r>
          </a:p>
          <a:p xmlns:a="http://schemas.openxmlformats.org/drawingml/2006/main">
            <a:r>
              <a:t>Resultado: Reconocer sensores, registro y transmisión y preparar una observación de datos del demostrador docente.</a:t>
            </a:r>
          </a:p>
          <a:p xmlns:a="http://schemas.openxmlformats.org/drawingml/2006/main">
            <a:r>
              <a:t>Misión: Comprender para qué se transporta una carga científica sin añadirla al cohete pequeño de cada equipo.</a:t>
            </a:r>
          </a:p>
          <a:p xmlns:a="http://schemas.openxmlformats.org/drawingml/2006/main">
            <a:r>
              <a:t>Entrega: Mapa de datos, análisis del CSV y plan de observación.</a:t>
            </a:r>
          </a:p>
          <a:p xmlns:a="http://schemas.openxmlformats.org/drawingml/2006/main">
            <a:r>
              <a:t/>
            </a:r>
          </a:p>
          <a:p xmlns:a="http://schemas.openxmlformats.org/drawingml/2006/main">
            <a:r>
              <a:t>Preguntas y respuestas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Fuentes</a:t>
            </a:r>
          </a:p>
          <a:p xmlns:a="http://schemas.openxmlformats.org/drawingml/2006/main">
            <a:r>
              <a:t>European Space Agency. What is a CanSat?. https://www.esa.int/Education/CanSat/What_is_a_CanSat</a:t>
            </a:r>
          </a:p>
          <a:p xmlns:a="http://schemas.openxmlformats.org/drawingml/2006/main">
            <a:r>
              <a:t>OpenRocket. Basic Rocket Design. https://openrocket.readthedocs.io/en/latest/user_guide/basic_rocket_design.html</a:t>
            </a:r>
          </a:p>
          <a:p xmlns:a="http://schemas.openxmlformats.org/drawingml/2006/main">
            <a:r>
              <a:t>NASA Glenn. Flight of a Model Rocket. https://www1.grc.nasa.gov/beginners-guide-to-aeronautics/flight-of-a-model-rocket/</a:t>
            </a:r>
          </a:p>
          <a:p xmlns:a="http://schemas.openxmlformats.org/drawingml/2006/main">
            <a:r>
              <a:t>Lectura: MECRO_Coheteria_Clase_14.pdf.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CanSat: observar una misión científica del docente.</a:t>
            </a:r>
          </a:p>
          <a:p xmlns:a="http://schemas.openxmlformats.org/drawingml/2006/main">
            <a:r>
              <a:t>En línea, 2 h. Tramo del núcleo: 4 min.</a:t>
            </a:r>
          </a:p>
          <a:p xmlns:a="http://schemas.openxmlformats.org/drawingml/2006/main">
            <a:r>
              <a:t/>
            </a:r>
          </a:p>
          <a:p xmlns:a="http://schemas.openxmlformats.org/drawingml/2006/main">
            <a:r>
              <a:t>La frecuencia de adquisición y la de transmisión pueden ser diferentes. Un sistema puede guardar más datos de los que envía o transmitir una selección. Por eso “se vio una cifra en pantalla” no demuestra que se haya conservado todo el registro. El docente mostrará una prueba de principio a fin en banco.</a:t>
            </a:r>
          </a:p>
          <a:p xmlns:a="http://schemas.openxmlformats.org/drawingml/2006/main">
            <a:r>
              <a:t/>
            </a:r>
          </a:p>
          <a:p xmlns:a="http://schemas.openxmlformats.org/drawingml/2006/main">
            <a:r>
              <a:t>El archivo local conserva todas las muestras, pero en tierra falta un identificador.</a:t>
            </a:r>
          </a:p>
          <a:p xmlns:a="http://schemas.openxmlformats.org/drawingml/2006/main">
            <a:r>
              <a:t/>
            </a:r>
          </a:p>
          <a:p xmlns:a="http://schemas.openxmlformats.org/drawingml/2006/main">
            <a:r>
              <a:t>El alumno debe identificar en qué etapa aparece un problema. Esa idea se conecta con la revisión de piezas del cohete: cada comprobación corresponde a una función.</a:t>
            </a:r>
          </a:p>
          <a:p xmlns:a="http://schemas.openxmlformats.org/drawingml/2006/main">
            <a:r>
              <a:t/>
            </a:r>
          </a:p>
          <a:p xmlns:a="http://schemas.openxmlformats.org/drawingml/2006/main">
            <a:r>
              <a:t>Sensor, registro local y recepción en tierra son etapas diferentes. El sensor puede producir una lectura que nunca llegue al archivo. El archivo local puede conservar una muestra que se perdió durante la transmisión. Un mensaje también puede recibirse dos veces. Un identificador de muestra permite reconocer esas situaciones sin depender solo del orden de las líneas. Esta idea se puede practicar en el aula con un conjunto sintético antes de observar una demostración real.</a:t>
            </a:r>
          </a:p>
          <a:p xmlns:a="http://schemas.openxmlformats.org/drawingml/2006/main">
            <a:r>
              <a:t>Pregunta para el grupo: ¿En qué etapa puede aparecer un hueco?</a:t>
            </a:r>
          </a:p>
          <a:p xmlns:a="http://schemas.openxmlformats.org/drawingml/2006/main">
            <a:r>
              <a:t/>
            </a:r>
          </a:p>
          <a:p xmlns:a="http://schemas.openxmlformats.org/drawingml/2006/main">
            <a:r>
              <a:t>Resultado: Reconocer sensores, registro y transmisión y preparar una observación de datos del demostrador docente.</a:t>
            </a:r>
          </a:p>
          <a:p xmlns:a="http://schemas.openxmlformats.org/drawingml/2006/main">
            <a:r>
              <a:t>Misión: Comprender para qué se transporta una carga científica sin añadirla al cohete pequeño de cada equipo.</a:t>
            </a:r>
          </a:p>
          <a:p xmlns:a="http://schemas.openxmlformats.org/drawingml/2006/main">
            <a:r>
              <a:t>Entrega: Mapa de datos, análisis del CSV y plan de observación.</a:t>
            </a:r>
          </a:p>
          <a:p xmlns:a="http://schemas.openxmlformats.org/drawingml/2006/main">
            <a:r>
              <a:t/>
            </a:r>
          </a:p>
          <a:p xmlns:a="http://schemas.openxmlformats.org/drawingml/2006/main">
            <a:r>
              <a:t>Preguntas y respuestas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Fuentes</a:t>
            </a:r>
          </a:p>
          <a:p xmlns:a="http://schemas.openxmlformats.org/drawingml/2006/main">
            <a:r>
              <a:t>European Space Agency. What is a CanSat?. https://www.esa.int/Education/CanSat/What_is_a_CanSat</a:t>
            </a:r>
          </a:p>
          <a:p xmlns:a="http://schemas.openxmlformats.org/drawingml/2006/main">
            <a:r>
              <a:t>OpenRocket. Basic Rocket Design. https://openrocket.readthedocs.io/en/latest/user_guide/basic_rocket_design.html</a:t>
            </a:r>
          </a:p>
          <a:p xmlns:a="http://schemas.openxmlformats.org/drawingml/2006/main">
            <a:r>
              <a:t>NASA Glenn. Flight of a Model Rocket. https://www1.grc.nasa.gov/beginners-guide-to-aeronautics/flight-of-a-model-rocket/</a:t>
            </a:r>
          </a:p>
          <a:p xmlns:a="http://schemas.openxmlformats.org/drawingml/2006/main">
            <a:r>
              <a:t>Lectura: MECRO_Coheteria_Clase_14.pdf.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CanSat: observar una misión científica del docente.</a:t>
            </a:r>
          </a:p>
          <a:p xmlns:a="http://schemas.openxmlformats.org/drawingml/2006/main">
            <a:r>
              <a:t>En línea, 2 h. Tramo del núcleo: 4 min.</a:t>
            </a:r>
          </a:p>
          <a:p xmlns:a="http://schemas.openxmlformats.org/drawingml/2006/main">
            <a:r>
              <a:t/>
            </a:r>
          </a:p>
          <a:p xmlns:a="http://schemas.openxmlformats.org/drawingml/2006/main">
            <a:r>
              <a:t>Parte / Función / Pregunta para el banco</a:t>
            </a:r>
          </a:p>
          <a:p xmlns:a="http://schemas.openxmlformats.org/drawingml/2006/main">
            <a:r>
              <a:t>Sensor / Obtener una variable física / ¿Qué mide y en qué unidad?</a:t>
            </a:r>
          </a:p>
          <a:p xmlns:a="http://schemas.openxmlformats.org/drawingml/2006/main">
            <a:r>
              <a:t>Procesador / Organizar la lectura / ¿Conserva identificador y tiempo?</a:t>
            </a:r>
          </a:p>
          <a:p xmlns:a="http://schemas.openxmlformats.org/drawingml/2006/main">
            <a:r>
              <a:t>Almacenamiento / Guardar un registro / ¿Podemos abrirlo después?</a:t>
            </a:r>
          </a:p>
          <a:p xmlns:a="http://schemas.openxmlformats.org/drawingml/2006/main">
            <a:r>
              <a:t>Transmisión / Enviar información / ¿Qué recibió realmente tierra?</a:t>
            </a:r>
          </a:p>
          <a:p xmlns:a="http://schemas.openxmlformats.org/drawingml/2006/main">
            <a:r>
              <a:t>Estación / Mostrar y conservar datos / ¿Se distingue dato perdido de dato válido?</a:t>
            </a:r>
          </a:p>
          <a:p xmlns:a="http://schemas.openxmlformats.org/drawingml/2006/main">
            <a:r>
              <a:t>Comparar dos filas y justificar con la misión.</a:t>
            </a:r>
          </a:p>
          <a:p xmlns:a="http://schemas.openxmlformats.org/drawingml/2006/main">
            <a:r>
              <a:t/>
            </a:r>
          </a:p>
          <a:p xmlns:a="http://schemas.openxmlformats.org/drawingml/2006/main">
            <a:r>
              <a:t>Resultado: Reconocer sensores, registro y transmisión y preparar una observación de datos del demostrador docente.</a:t>
            </a:r>
          </a:p>
          <a:p xmlns:a="http://schemas.openxmlformats.org/drawingml/2006/main">
            <a:r>
              <a:t>Misión: Comprender para qué se transporta una carga científica sin añadirla al cohete pequeño de cada equipo.</a:t>
            </a:r>
          </a:p>
          <a:p xmlns:a="http://schemas.openxmlformats.org/drawingml/2006/main">
            <a:r>
              <a:t>Entrega: Mapa de datos, análisis del CSV y plan de observación.</a:t>
            </a:r>
          </a:p>
          <a:p xmlns:a="http://schemas.openxmlformats.org/drawingml/2006/main">
            <a:r>
              <a:t/>
            </a:r>
          </a:p>
          <a:p xmlns:a="http://schemas.openxmlformats.org/drawingml/2006/main">
            <a:r>
              <a:t>Preguntas y respuestas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Fuentes</a:t>
            </a:r>
          </a:p>
          <a:p xmlns:a="http://schemas.openxmlformats.org/drawingml/2006/main">
            <a:r>
              <a:t>European Space Agency. What is a CanSat?. https://www.esa.int/Education/CanSat/What_is_a_CanSat</a:t>
            </a:r>
          </a:p>
          <a:p xmlns:a="http://schemas.openxmlformats.org/drawingml/2006/main">
            <a:r>
              <a:t>OpenRocket. Basic Rocket Design. https://openrocket.readthedocs.io/en/latest/user_guide/basic_rocket_design.html</a:t>
            </a:r>
          </a:p>
          <a:p xmlns:a="http://schemas.openxmlformats.org/drawingml/2006/main">
            <a:r>
              <a:t>NASA Glenn. Flight of a Model Rocket. https://www1.grc.nasa.gov/beginners-guide-to-aeronautics/flight-of-a-model-rocket/</a:t>
            </a:r>
          </a:p>
          <a:p xmlns:a="http://schemas.openxmlformats.org/drawingml/2006/main">
            <a:r>
              <a:t>Lectura: MECRO_Coheteria_Clase_14.pdf.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CanSat: observar una misión científica del docente.</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El archivo local conserva todas las muestras, pero en tierra falta un identificador.</a:t>
            </a:r>
          </a:p>
          <a:p xmlns:a="http://schemas.openxmlformats.org/drawingml/2006/main">
            <a:r>
              <a:t>Explicación</a:t>
            </a:r>
          </a:p>
          <a:p xmlns:a="http://schemas.openxmlformats.org/drawingml/2006/main">
            <a:r>
              <a:t>Hay que estudiar la transmisión o la recepción, no concluir inmediatamente que el sensor dejó de medir. Si el archivo local también tiene el hueco, la pregunta cambia.</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Reconocer sensores, registro y transmisión y preparar una observación de datos del demostrador docente.</a:t>
            </a:r>
          </a:p>
          <a:p xmlns:a="http://schemas.openxmlformats.org/drawingml/2006/main">
            <a:r>
              <a:t>Misión: Comprender para qué se transporta una carga científica sin añadirla al cohete pequeño de cada equipo.</a:t>
            </a:r>
          </a:p>
          <a:p xmlns:a="http://schemas.openxmlformats.org/drawingml/2006/main">
            <a:r>
              <a:t>Entrega: Mapa de datos, análisis del CSV y plan de observación.</a:t>
            </a:r>
          </a:p>
          <a:p xmlns:a="http://schemas.openxmlformats.org/drawingml/2006/main">
            <a:r>
              <a:t/>
            </a:r>
          </a:p>
          <a:p xmlns:a="http://schemas.openxmlformats.org/drawingml/2006/main">
            <a:r>
              <a:t>Preguntas y respuestas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Fuentes</a:t>
            </a:r>
          </a:p>
          <a:p xmlns:a="http://schemas.openxmlformats.org/drawingml/2006/main">
            <a:r>
              <a:t>European Space Agency. What is a CanSat?. https://www.esa.int/Education/CanSat/What_is_a_CanSat</a:t>
            </a:r>
          </a:p>
          <a:p xmlns:a="http://schemas.openxmlformats.org/drawingml/2006/main">
            <a:r>
              <a:t>OpenRocket. Basic Rocket Design. https://openrocket.readthedocs.io/en/latest/user_guide/basic_rocket_design.html</a:t>
            </a:r>
          </a:p>
          <a:p xmlns:a="http://schemas.openxmlformats.org/drawingml/2006/main">
            <a:r>
              <a:t>NASA Glenn. Flight of a Model Rocket. https://www1.grc.nasa.gov/beginners-guide-to-aeronautics/flight-of-a-model-rocket/</a:t>
            </a:r>
          </a:p>
          <a:p xmlns:a="http://schemas.openxmlformats.org/drawingml/2006/main">
            <a:r>
              <a:t>Lectura: MECRO_Coheteria_Clase_14.pdf.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CanSat: observar una misión científica del docente.</a:t>
            </a:r>
          </a:p>
          <a:p xmlns:a="http://schemas.openxmlformats.org/drawingml/2006/main">
            <a:r>
              <a:t>En línea, 2 h. Tramo del núcleo: 4 min.</a:t>
            </a:r>
          </a:p>
          <a:p xmlns:a="http://schemas.openxmlformats.org/drawingml/2006/main">
            <a:r>
              <a:t/>
            </a:r>
          </a:p>
          <a:p xmlns:a="http://schemas.openxmlformats.org/drawingml/2006/main">
            <a:r>
              <a:t>El tiempo necesita un origen: inicio de registro, encendido o una referencia declarada. Una temperatura en grados Celsius no puede usarse como si fueran kelvin en cualquier fórmula. En esta introducción no calcularemos una atmósfera completa; comprobaremos que las unidades y el significado del registro sean claros.</a:t>
            </a:r>
          </a:p>
          <a:p xmlns:a="http://schemas.openxmlformats.org/drawingml/2006/main">
            <a:r>
              <a:t/>
            </a:r>
          </a:p>
          <a:p xmlns:a="http://schemas.openxmlformats.org/drawingml/2006/main">
            <a:r>
              <a:t>El sensor no entregó una lectura y el archivo guarda presión igual a cero, sin otra indicación.</a:t>
            </a:r>
          </a:p>
          <a:p xmlns:a="http://schemas.openxmlformats.org/drawingml/2006/main">
            <a:r>
              <a:t/>
            </a:r>
          </a:p>
          <a:p xmlns:a="http://schemas.openxmlformats.org/drawingml/2006/main">
            <a:r>
              <a:t>El conjunto CSV de esta entrega es sintético y corresponde a un ejercicio de banco. No contiene un vuelo de MECRO. Se usa para practicar lectura de columnas e identificación de muestras.</a:t>
            </a:r>
          </a:p>
          <a:p xmlns:a="http://schemas.openxmlformats.org/drawingml/2006/main">
            <a:r>
              <a:t/>
            </a:r>
          </a:p>
          <a:p xmlns:a="http://schemas.openxmlformats.org/drawingml/2006/main">
            <a:r>
              <a:t>Una misión de presión y temperatura puede servir para observar cambios del ambiente y discutir cómo responde un sensor. La presión puede relacionarse con altura mediante un modelo atmosférico, pero ese modelo y su referencia requieren explicación propia. En este bloque introductorio se conservan primero las variables originales. No se transforma una columna en metros sin saber qué hipótesis y qué origen utilizó el programa.</a:t>
            </a:r>
          </a:p>
          <a:p xmlns:a="http://schemas.openxmlformats.org/drawingml/2006/main">
            <a:r>
              <a:t>Pregunta para el grupo: ¿Cuál es el origen del tiempo?</a:t>
            </a:r>
          </a:p>
          <a:p xmlns:a="http://schemas.openxmlformats.org/drawingml/2006/main">
            <a:r>
              <a:t/>
            </a:r>
          </a:p>
          <a:p xmlns:a="http://schemas.openxmlformats.org/drawingml/2006/main">
            <a:r>
              <a:t>Resultado: Reconocer sensores, registro y transmisión y preparar una observación de datos del demostrador docente.</a:t>
            </a:r>
          </a:p>
          <a:p xmlns:a="http://schemas.openxmlformats.org/drawingml/2006/main">
            <a:r>
              <a:t>Misión: Comprender para qué se transporta una carga científica sin añadirla al cohete pequeño de cada equipo.</a:t>
            </a:r>
          </a:p>
          <a:p xmlns:a="http://schemas.openxmlformats.org/drawingml/2006/main">
            <a:r>
              <a:t>Entrega: Mapa de datos, análisis del CSV y plan de observación.</a:t>
            </a:r>
          </a:p>
          <a:p xmlns:a="http://schemas.openxmlformats.org/drawingml/2006/main">
            <a:r>
              <a:t/>
            </a:r>
          </a:p>
          <a:p xmlns:a="http://schemas.openxmlformats.org/drawingml/2006/main">
            <a:r>
              <a:t>Preguntas y respuestas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Fuentes</a:t>
            </a:r>
          </a:p>
          <a:p xmlns:a="http://schemas.openxmlformats.org/drawingml/2006/main">
            <a:r>
              <a:t>European Space Agency. What is a CanSat?. https://www.esa.int/Education/CanSat/What_is_a_CanSat</a:t>
            </a:r>
          </a:p>
          <a:p xmlns:a="http://schemas.openxmlformats.org/drawingml/2006/main">
            <a:r>
              <a:t>OpenRocket. Basic Rocket Design. https://openrocket.readthedocs.io/en/latest/user_guide/basic_rocket_design.html</a:t>
            </a:r>
          </a:p>
          <a:p xmlns:a="http://schemas.openxmlformats.org/drawingml/2006/main">
            <a:r>
              <a:t>NASA Glenn. Flight of a Model Rocket. https://www1.grc.nasa.gov/beginners-guide-to-aeronautics/flight-of-a-model-rocket/</a:t>
            </a:r>
          </a:p>
          <a:p xmlns:a="http://schemas.openxmlformats.org/drawingml/2006/main">
            <a:r>
              <a:t>Lectura: MECRO_Coheteria_Clase_14.pdf.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CanSat: observar una misión científica del docente.</a:t>
            </a:r>
          </a:p>
          <a:p xmlns:a="http://schemas.openxmlformats.org/drawingml/2006/main">
            <a:r>
              <a:t>En línea, 2 h. Tramo del núcleo: 4 min.</a:t>
            </a:r>
          </a:p>
          <a:p xmlns:a="http://schemas.openxmlformats.org/drawingml/2006/main">
            <a:r>
              <a:t/>
            </a:r>
          </a:p>
          <a:p xmlns:a="http://schemas.openxmlformats.org/drawingml/2006/main">
            <a:r>
              <a:t>Campo / Unidad o tipo / Para qué sirve</a:t>
            </a:r>
          </a:p>
          <a:p xmlns:a="http://schemas.openxmlformats.org/drawingml/2006/main">
            <a:r>
              <a:t>equipo / Texto / Identificar el sistema</a:t>
            </a:r>
          </a:p>
          <a:p xmlns:a="http://schemas.openxmlformats.org/drawingml/2006/main">
            <a:r>
              <a:t>muestra / Entero / Detectar saltos y duplicados</a:t>
            </a:r>
          </a:p>
          <a:p xmlns:a="http://schemas.openxmlformats.org/drawingml/2006/main">
            <a:r>
              <a:t>tiempo_s / s desde un origen / Ordenar las lecturas</a:t>
            </a:r>
          </a:p>
          <a:p xmlns:a="http://schemas.openxmlformats.org/drawingml/2006/main">
            <a:r>
              <a:t>presion_Pa / Pa / Conservar variable y unidad</a:t>
            </a:r>
          </a:p>
          <a:p xmlns:a="http://schemas.openxmlformats.org/drawingml/2006/main">
            <a:r>
              <a:t>temperatura_C / °C / Interpretar el estado medido</a:t>
            </a:r>
          </a:p>
          <a:p xmlns:a="http://schemas.openxmlformats.org/drawingml/2006/main">
            <a:r>
              <a:t>Comparar dos filas y justificar con la misión.</a:t>
            </a:r>
          </a:p>
          <a:p xmlns:a="http://schemas.openxmlformats.org/drawingml/2006/main">
            <a:r>
              <a:t/>
            </a:r>
          </a:p>
          <a:p xmlns:a="http://schemas.openxmlformats.org/drawingml/2006/main">
            <a:r>
              <a:t>Resultado: Reconocer sensores, registro y transmisión y preparar una observación de datos del demostrador docente.</a:t>
            </a:r>
          </a:p>
          <a:p xmlns:a="http://schemas.openxmlformats.org/drawingml/2006/main">
            <a:r>
              <a:t>Misión: Comprender para qué se transporta una carga científica sin añadirla al cohete pequeño de cada equipo.</a:t>
            </a:r>
          </a:p>
          <a:p xmlns:a="http://schemas.openxmlformats.org/drawingml/2006/main">
            <a:r>
              <a:t>Entrega: Mapa de datos, análisis del CSV y plan de observación.</a:t>
            </a:r>
          </a:p>
          <a:p xmlns:a="http://schemas.openxmlformats.org/drawingml/2006/main">
            <a:r>
              <a:t/>
            </a:r>
          </a:p>
          <a:p xmlns:a="http://schemas.openxmlformats.org/drawingml/2006/main">
            <a:r>
              <a:t>Preguntas y respuestas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Fuentes</a:t>
            </a:r>
          </a:p>
          <a:p xmlns:a="http://schemas.openxmlformats.org/drawingml/2006/main">
            <a:r>
              <a:t>European Space Agency. What is a CanSat?. https://www.esa.int/Education/CanSat/What_is_a_CanSat</a:t>
            </a:r>
          </a:p>
          <a:p xmlns:a="http://schemas.openxmlformats.org/drawingml/2006/main">
            <a:r>
              <a:t>OpenRocket. Basic Rocket Design. https://openrocket.readthedocs.io/en/latest/user_guide/basic_rocket_design.html</a:t>
            </a:r>
          </a:p>
          <a:p xmlns:a="http://schemas.openxmlformats.org/drawingml/2006/main">
            <a:r>
              <a:t>NASA Glenn. Flight of a Model Rocket. https://www1.grc.nasa.gov/beginners-guide-to-aeronautics/flight-of-a-model-rocket/</a:t>
            </a:r>
          </a:p>
          <a:p xmlns:a="http://schemas.openxmlformats.org/drawingml/2006/main">
            <a:r>
              <a:t>Lectura: MECRO_Coheteria_Clase_14.pdf.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CanSat: observar una misión científica del docente.</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El sensor no entregó una lectura y el archivo guarda presión igual a cero, sin otra indicación.</a:t>
            </a:r>
          </a:p>
          <a:p xmlns:a="http://schemas.openxmlformats.org/drawingml/2006/main">
            <a:r>
              <a:t>Explicación</a:t>
            </a:r>
          </a:p>
          <a:p xmlns:a="http://schemas.openxmlformats.org/drawingml/2006/main">
            <a:r>
              <a:t>Cero puede interpretarse como un valor físico. Se necesita una marca explícita de lectura no válida. Conservar la diferencia entre ausencia y dato evita gráficas engañosas.</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Reconocer sensores, registro y transmisión y preparar una observación de datos del demostrador docente.</a:t>
            </a:r>
          </a:p>
          <a:p xmlns:a="http://schemas.openxmlformats.org/drawingml/2006/main">
            <a:r>
              <a:t>Misión: Comprender para qué se transporta una carga científica sin añadirla al cohete pequeño de cada equipo.</a:t>
            </a:r>
          </a:p>
          <a:p xmlns:a="http://schemas.openxmlformats.org/drawingml/2006/main">
            <a:r>
              <a:t>Entrega: Mapa de datos, análisis del CSV y plan de observación.</a:t>
            </a:r>
          </a:p>
          <a:p xmlns:a="http://schemas.openxmlformats.org/drawingml/2006/main">
            <a:r>
              <a:t/>
            </a:r>
          </a:p>
          <a:p xmlns:a="http://schemas.openxmlformats.org/drawingml/2006/main">
            <a:r>
              <a:t>Preguntas y respuestas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Fuentes</a:t>
            </a:r>
          </a:p>
          <a:p xmlns:a="http://schemas.openxmlformats.org/drawingml/2006/main">
            <a:r>
              <a:t>European Space Agency. What is a CanSat?. https://www.esa.int/Education/CanSat/What_is_a_CanSat</a:t>
            </a:r>
          </a:p>
          <a:p xmlns:a="http://schemas.openxmlformats.org/drawingml/2006/main">
            <a:r>
              <a:t>OpenRocket. Basic Rocket Design. https://openrocket.readthedocs.io/en/latest/user_guide/basic_rocket_design.html</a:t>
            </a:r>
          </a:p>
          <a:p xmlns:a="http://schemas.openxmlformats.org/drawingml/2006/main">
            <a:r>
              <a:t>NASA Glenn. Flight of a Model Rocket. https://www1.grc.nasa.gov/beginners-guide-to-aeronautics/flight-of-a-model-rocket/</a:t>
            </a:r>
          </a:p>
          <a:p xmlns:a="http://schemas.openxmlformats.org/drawingml/2006/main">
            <a:r>
              <a:t>Lectura: MECRO_Coheteria_Clase_14.pdf.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CanSat: observar una misión científica del docente.</a:t>
            </a:r>
          </a:p>
          <a:p xmlns:a="http://schemas.openxmlformats.org/drawingml/2006/main">
            <a:r>
              <a:t>En línea, 2 h. Tramo del núcleo: 4 min.</a:t>
            </a:r>
          </a:p>
          <a:p xmlns:a="http://schemas.openxmlformats.org/drawingml/2006/main">
            <a:r>
              <a:t/>
            </a:r>
          </a:p>
          <a:p xmlns:a="http://schemas.openxmlformats.org/drawingml/2006/main">
            <a:r>
              <a:t>En la demostración real se conservan configuración, sensor y fuente de datos. El archivo sintético permite aprender el método aunque el banco se organice para toda la clase con una sola unidad. Si no se ha realizado una medición real, el informe lo indica.</a:t>
            </a:r>
          </a:p>
          <a:p xmlns:a="http://schemas.openxmlformats.org/drawingml/2006/main">
            <a:r>
              <a:t/>
            </a:r>
          </a:p>
          <a:p xmlns:a="http://schemas.openxmlformats.org/drawingml/2006/main">
            <a:r>
              <a:t>Un CSV es texto organizado en filas y campos. La primera fila puede nombrar las columnas; las siguientes contienen registros. Al importarlo, hay que comprobar el separador y cómo se interpretan los decimales para que una presión no se convierta en texto o en dos campos. El alumno verifica primero un registro conocido y sus unidades. Luego puede ordenar por identificador, reconocer repeticiones y describir huecos con una evidencia visible.</a:t>
            </a:r>
          </a:p>
          <a:p xmlns:a="http://schemas.openxmlformats.org/drawingml/2006/main">
            <a:r>
              <a:t>Pregunta para el grupo: ¿Qué diferencia el registro local de la recepción?</a:t>
            </a:r>
          </a:p>
          <a:p xmlns:a="http://schemas.openxmlformats.org/drawingml/2006/main">
            <a:r>
              <a:t/>
            </a:r>
          </a:p>
          <a:p xmlns:a="http://schemas.openxmlformats.org/drawingml/2006/main">
            <a:r>
              <a:t>Resultado: Reconocer sensores, registro y transmisión y preparar una observación de datos del demostrador docente.</a:t>
            </a:r>
          </a:p>
          <a:p xmlns:a="http://schemas.openxmlformats.org/drawingml/2006/main">
            <a:r>
              <a:t>Misión: Comprender para qué se transporta una carga científica sin añadirla al cohete pequeño de cada equipo.</a:t>
            </a:r>
          </a:p>
          <a:p xmlns:a="http://schemas.openxmlformats.org/drawingml/2006/main">
            <a:r>
              <a:t>Entrega: Mapa de datos, análisis del CSV y plan de observación.</a:t>
            </a:r>
          </a:p>
          <a:p xmlns:a="http://schemas.openxmlformats.org/drawingml/2006/main">
            <a:r>
              <a:t/>
            </a:r>
          </a:p>
          <a:p xmlns:a="http://schemas.openxmlformats.org/drawingml/2006/main">
            <a:r>
              <a:t>Preguntas y respuestas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Fuentes</a:t>
            </a:r>
          </a:p>
          <a:p xmlns:a="http://schemas.openxmlformats.org/drawingml/2006/main">
            <a:r>
              <a:t>European Space Agency. What is a CanSat?. https://www.esa.int/Education/CanSat/What_is_a_CanSat</a:t>
            </a:r>
          </a:p>
          <a:p xmlns:a="http://schemas.openxmlformats.org/drawingml/2006/main">
            <a:r>
              <a:t>OpenRocket. Basic Rocket Design. https://openrocket.readthedocs.io/en/latest/user_guide/basic_rocket_design.html</a:t>
            </a:r>
          </a:p>
          <a:p xmlns:a="http://schemas.openxmlformats.org/drawingml/2006/main">
            <a:r>
              <a:t>NASA Glenn. Flight of a Model Rocket. https://www1.grc.nasa.gov/beginners-guide-to-aeronautics/flight-of-a-model-rocket/</a:t>
            </a:r>
          </a:p>
          <a:p xmlns:a="http://schemas.openxmlformats.org/drawingml/2006/main">
            <a:r>
              <a:t>Lectura: MECRO_Coheteria_Clase_14.pdf.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CanSat: observar una misión científica del docente.</a:t>
            </a:r>
          </a:p>
          <a:p xmlns:a="http://schemas.openxmlformats.org/drawingml/2006/main">
            <a:r>
              <a:t>En línea, 2 h. Tramo del núcleo: 4 min.</a:t>
            </a:r>
          </a:p>
          <a:p xmlns:a="http://schemas.openxmlformats.org/drawingml/2006/main">
            <a:r>
              <a:t/>
            </a:r>
          </a:p>
          <a:p xmlns:a="http://schemas.openxmlformats.org/drawingml/2006/main">
            <a:r>
              <a:t>Momento / Observación</a:t>
            </a:r>
          </a:p>
          <a:p xmlns:a="http://schemas.openxmlformats.org/drawingml/2006/main">
            <a:r>
              <a:t>Antes / Identificación y archivo vacío o nuevo</a:t>
            </a:r>
          </a:p>
          <a:p xmlns:a="http://schemas.openxmlformats.org/drawingml/2006/main">
            <a:r>
              <a:t>Durante / Variable y referencia temporal</a:t>
            </a:r>
          </a:p>
          <a:p xmlns:a="http://schemas.openxmlformats.org/drawingml/2006/main">
            <a:r>
              <a:t>Después / Archivo que se puede abrir</a:t>
            </a:r>
          </a:p>
          <a:p xmlns:a="http://schemas.openxmlformats.org/drawingml/2006/main">
            <a:r>
              <a:t>Recepción / Muestras únicas, huecos y duplicados</a:t>
            </a:r>
          </a:p>
          <a:p xmlns:a="http://schemas.openxmlformats.org/drawingml/2006/main">
            <a:r>
              <a:t>Comparar dos filas y justificar con la misión.</a:t>
            </a:r>
          </a:p>
          <a:p xmlns:a="http://schemas.openxmlformats.org/drawingml/2006/main">
            <a:r>
              <a:t/>
            </a:r>
          </a:p>
          <a:p xmlns:a="http://schemas.openxmlformats.org/drawingml/2006/main">
            <a:r>
              <a:t>Resultado: Reconocer sensores, registro y transmisión y preparar una observación de datos del demostrador docente.</a:t>
            </a:r>
          </a:p>
          <a:p xmlns:a="http://schemas.openxmlformats.org/drawingml/2006/main">
            <a:r>
              <a:t>Misión: Comprender para qué se transporta una carga científica sin añadirla al cohete pequeño de cada equipo.</a:t>
            </a:r>
          </a:p>
          <a:p xmlns:a="http://schemas.openxmlformats.org/drawingml/2006/main">
            <a:r>
              <a:t>Entrega: Mapa de datos, análisis del CSV y plan de observación.</a:t>
            </a:r>
          </a:p>
          <a:p xmlns:a="http://schemas.openxmlformats.org/drawingml/2006/main">
            <a:r>
              <a:t/>
            </a:r>
          </a:p>
          <a:p xmlns:a="http://schemas.openxmlformats.org/drawingml/2006/main">
            <a:r>
              <a:t>Preguntas y respuestas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Fuentes</a:t>
            </a:r>
          </a:p>
          <a:p xmlns:a="http://schemas.openxmlformats.org/drawingml/2006/main">
            <a:r>
              <a:t>European Space Agency. What is a CanSat?. https://www.esa.int/Education/CanSat/What_is_a_CanSat</a:t>
            </a:r>
          </a:p>
          <a:p xmlns:a="http://schemas.openxmlformats.org/drawingml/2006/main">
            <a:r>
              <a:t>OpenRocket. Basic Rocket Design. https://openrocket.readthedocs.io/en/latest/user_guide/basic_rocket_design.html</a:t>
            </a:r>
          </a:p>
          <a:p xmlns:a="http://schemas.openxmlformats.org/drawingml/2006/main">
            <a:r>
              <a:t>NASA Glenn. Flight of a Model Rocket. https://www1.grc.nasa.gov/beginners-guide-to-aeronautics/flight-of-a-model-rocket/</a:t>
            </a:r>
          </a:p>
          <a:p xmlns:a="http://schemas.openxmlformats.org/drawingml/2006/main">
            <a:r>
              <a:t>Lectura: MECRO_Coheteria_Clase_14.pdf.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CanSat: observar una misión científica del docente.</a:t>
            </a:r>
          </a:p>
          <a:p xmlns:a="http://schemas.openxmlformats.org/drawingml/2006/main">
            <a:r>
              <a:t>En línea, 2 h. Tramo del núcleo: 5 min.</a:t>
            </a:r>
          </a:p>
          <a:p xmlns:a="http://schemas.openxmlformats.org/drawingml/2006/main">
            <a:r>
              <a:t/>
            </a:r>
          </a:p>
          <a:p xmlns:a="http://schemas.openxmlformats.org/drawingml/2006/main">
            <a:r>
              <a:t>El docente presenta su sistema y explica qué variable está observando.</a:t>
            </a:r>
          </a:p>
          <a:p xmlns:a="http://schemas.openxmlformats.org/drawingml/2006/main">
            <a:r>
              <a:t>Inicia una adquisición de banco y conserva una referencia de tiempo.</a:t>
            </a:r>
          </a:p>
          <a:p xmlns:a="http://schemas.openxmlformats.org/drawingml/2006/main">
            <a:r>
              <a:t>Muestra una pantalla de recepción y un archivo local identificado.</a:t>
            </a:r>
          </a:p>
          <a:p xmlns:a="http://schemas.openxmlformats.org/drawingml/2006/main">
            <a:r>
              <a:t>El equipo abre cansat_banco_sintetico.csv y lee sus columnas y unidades.</a:t>
            </a:r>
          </a:p>
          <a:p xmlns:a="http://schemas.openxmlformats.org/drawingml/2006/main">
            <a:r>
              <a:t>Busca identificadores repetidos o ausentes en recepcion_banco_sintetica.csv.</a:t>
            </a:r>
          </a:p>
          <a:p xmlns:a="http://schemas.openxmlformats.org/drawingml/2006/main">
            <a:r>
              <a:t>Explica qué dato adicional permitiría atribuir un hueco a adquisición, almacenamiento o transmisión.</a:t>
            </a:r>
          </a:p>
          <a:p xmlns:a="http://schemas.openxmlformats.org/drawingml/2006/main">
            <a:r>
              <a:t>Comprobar un paso en el objeto o programa antes de continuar.</a:t>
            </a:r>
          </a:p>
          <a:p xmlns:a="http://schemas.openxmlformats.org/drawingml/2006/main">
            <a:r>
              <a:t/>
            </a:r>
          </a:p>
          <a:p xmlns:a="http://schemas.openxmlformats.org/drawingml/2006/main">
            <a:r>
              <a:t>Resultado: Reconocer sensores, registro y transmisión y preparar una observación de datos del demostrador docente.</a:t>
            </a:r>
          </a:p>
          <a:p xmlns:a="http://schemas.openxmlformats.org/drawingml/2006/main">
            <a:r>
              <a:t>Misión: Comprender para qué se transporta una carga científica sin añadirla al cohete pequeño de cada equipo.</a:t>
            </a:r>
          </a:p>
          <a:p xmlns:a="http://schemas.openxmlformats.org/drawingml/2006/main">
            <a:r>
              <a:t>Entrega: Mapa de datos, análisis del CSV y plan de observación.</a:t>
            </a:r>
          </a:p>
          <a:p xmlns:a="http://schemas.openxmlformats.org/drawingml/2006/main">
            <a:r>
              <a:t/>
            </a:r>
          </a:p>
          <a:p xmlns:a="http://schemas.openxmlformats.org/drawingml/2006/main">
            <a:r>
              <a:t>Preguntas y respuestas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Fuentes</a:t>
            </a:r>
          </a:p>
          <a:p xmlns:a="http://schemas.openxmlformats.org/drawingml/2006/main">
            <a:r>
              <a:t>European Space Agency. What is a CanSat?. https://www.esa.int/Education/CanSat/What_is_a_CanSat</a:t>
            </a:r>
          </a:p>
          <a:p xmlns:a="http://schemas.openxmlformats.org/drawingml/2006/main">
            <a:r>
              <a:t>OpenRocket. Basic Rocket Design. https://openrocket.readthedocs.io/en/latest/user_guide/basic_rocket_design.html</a:t>
            </a:r>
          </a:p>
          <a:p xmlns:a="http://schemas.openxmlformats.org/drawingml/2006/main">
            <a:r>
              <a:t>NASA Glenn. Flight of a Model Rocket. https://www1.grc.nasa.gov/beginners-guide-to-aeronautics/flight-of-a-model-rocket/</a:t>
            </a:r>
          </a:p>
          <a:p xmlns:a="http://schemas.openxmlformats.org/drawingml/2006/main">
            <a:r>
              <a:t>Lectura: MECRO_Coheteria_Clase_14.pdf.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CanSat: observar una misión científica del docente.</a:t>
            </a:r>
          </a:p>
          <a:p xmlns:a="http://schemas.openxmlformats.org/drawingml/2006/main">
            <a:r>
              <a:t>En línea, 2 h. Tramo del núcleo: 4 min.</a:t>
            </a:r>
          </a:p>
          <a:p xmlns:a="http://schemas.openxmlformats.org/drawingml/2006/main">
            <a:r>
              <a:t/>
            </a:r>
          </a:p>
          <a:p xmlns:a="http://schemas.openxmlformats.org/drawingml/2006/main">
            <a:r>
              <a:t>Un mismo dato puede recibirse más de una vez. Para saber cuántas observaciones llegaron se usa el identificador de muestra, no únicamente el número de mensajes. Esta diferencia se puede estudiar con pocas filas y una cuenta sencilla.</a:t>
            </a:r>
          </a:p>
          <a:p xmlns:a="http://schemas.openxmlformats.org/drawingml/2006/main">
            <a:r>
              <a:t/>
            </a:r>
          </a:p>
          <a:p xmlns:a="http://schemas.openxmlformats.org/drawingml/2006/main">
            <a:r>
              <a:t>Se generaron 20 muestras. En tierra faltan las muestras 7 y 14 y la muestra 3 llegó dos veces.</a:t>
            </a:r>
          </a:p>
          <a:p xmlns:a="http://schemas.openxmlformats.org/drawingml/2006/main">
            <a:r>
              <a:t/>
            </a:r>
          </a:p>
          <a:p xmlns:a="http://schemas.openxmlformats.org/drawingml/2006/main">
            <a:r>
              <a:t>Esta cuenta no prueba una cobertura de radio ni una exactitud del sensor. Describe el archivo de ejercicio. El alumno aprende a explicar el denominador y a relacionar la cifra con una pregunta concreta.</a:t>
            </a:r>
          </a:p>
          <a:p xmlns:a="http://schemas.openxmlformats.org/drawingml/2006/main">
            <a:r>
              <a:t/>
            </a:r>
          </a:p>
          <a:p xmlns:a="http://schemas.openxmlformats.org/drawingml/2006/main">
            <a:r>
              <a:t>El dataset está etiquetado como sintético en los nombres y en su columna de procedencia. Se conserva así al copiarlo a la plataforma.</a:t>
            </a:r>
          </a:p>
          <a:p xmlns:a="http://schemas.openxmlformats.org/drawingml/2006/main">
            <a:r>
              <a:t/>
            </a:r>
          </a:p>
          <a:p xmlns:a="http://schemas.openxmlformats.org/drawingml/2006/main">
            <a:r>
              <a:t>Un porcentaje global de recepción puede ocultar cuándo faltaron las muestras. Dos huecos aislados y un bloque continuo pueden tener el mismo número de pérdidas y una utilidad distinta para observar un evento. El equipo señala los identificadores y los tiempos de los huecos. Así la cuenta de 90% se convierte en una descripción del registro, sin prometer que se capturó cualquier fenómeno de interés.</a:t>
            </a:r>
          </a:p>
          <a:p xmlns:a="http://schemas.openxmlformats.org/drawingml/2006/main">
            <a:r>
              <a:t>Pregunta para el grupo: ¿Cuántas muestras únicas llegaron?</a:t>
            </a:r>
          </a:p>
          <a:p xmlns:a="http://schemas.openxmlformats.org/drawingml/2006/main">
            <a:r>
              <a:t/>
            </a:r>
          </a:p>
          <a:p xmlns:a="http://schemas.openxmlformats.org/drawingml/2006/main">
            <a:r>
              <a:t>Resultado: Reconocer sensores, registro y transmisión y preparar una observación de datos del demostrador docente.</a:t>
            </a:r>
          </a:p>
          <a:p xmlns:a="http://schemas.openxmlformats.org/drawingml/2006/main">
            <a:r>
              <a:t>Misión: Comprender para qué se transporta una carga científica sin añadirla al cohete pequeño de cada equipo.</a:t>
            </a:r>
          </a:p>
          <a:p xmlns:a="http://schemas.openxmlformats.org/drawingml/2006/main">
            <a:r>
              <a:t>Entrega: Mapa de datos, análisis del CSV y plan de observación.</a:t>
            </a:r>
          </a:p>
          <a:p xmlns:a="http://schemas.openxmlformats.org/drawingml/2006/main">
            <a:r>
              <a:t/>
            </a:r>
          </a:p>
          <a:p xmlns:a="http://schemas.openxmlformats.org/drawingml/2006/main">
            <a:r>
              <a:t>Preguntas y respuestas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Fuentes</a:t>
            </a:r>
          </a:p>
          <a:p xmlns:a="http://schemas.openxmlformats.org/drawingml/2006/main">
            <a:r>
              <a:t>European Space Agency. What is a CanSat?. https://www.esa.int/Education/CanSat/What_is_a_CanSat</a:t>
            </a:r>
          </a:p>
          <a:p xmlns:a="http://schemas.openxmlformats.org/drawingml/2006/main">
            <a:r>
              <a:t>OpenRocket. Basic Rocket Design. https://openrocket.readthedocs.io/en/latest/user_guide/basic_rocket_design.html</a:t>
            </a:r>
          </a:p>
          <a:p xmlns:a="http://schemas.openxmlformats.org/drawingml/2006/main">
            <a:r>
              <a:t>NASA Glenn. Flight of a Model Rocket. https://www1.grc.nasa.gov/beginners-guide-to-aeronautics/flight-of-a-model-rocket/</a:t>
            </a:r>
          </a:p>
          <a:p xmlns:a="http://schemas.openxmlformats.org/drawingml/2006/main">
            <a:r>
              <a:t>Lectura: MECRO_Coheteria_Clase_14.pdf.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CanSat: observar una misión científica del docente.</a:t>
            </a:r>
          </a:p>
          <a:p xmlns:a="http://schemas.openxmlformats.org/drawingml/2006/main">
            <a:r>
              <a:t>En línea, 2 h. Tramo del núcleo: 4 min.</a:t>
            </a:r>
          </a:p>
          <a:p xmlns:a="http://schemas.openxmlformats.org/drawingml/2006/main">
            <a:r>
              <a:t/>
            </a:r>
          </a:p>
          <a:p xmlns:a="http://schemas.openxmlformats.org/drawingml/2006/main">
            <a:r>
              <a:t>Cantidad / Valor del ejercicio</a:t>
            </a:r>
          </a:p>
          <a:p xmlns:a="http://schemas.openxmlformats.org/drawingml/2006/main">
            <a:r>
              <a:t>Muestras generadas / 20</a:t>
            </a:r>
          </a:p>
          <a:p xmlns:a="http://schemas.openxmlformats.org/drawingml/2006/main">
            <a:r>
              <a:t>Muestras únicas recibidas / 18</a:t>
            </a:r>
          </a:p>
          <a:p xmlns:a="http://schemas.openxmlformats.org/drawingml/2006/main">
            <a:r>
              <a:t>Mensajes recibidos / 19</a:t>
            </a:r>
          </a:p>
          <a:p xmlns:a="http://schemas.openxmlformats.org/drawingml/2006/main">
            <a:r>
              <a:t>Muestras ausentes / 2</a:t>
            </a:r>
          </a:p>
          <a:p xmlns:a="http://schemas.openxmlformats.org/drawingml/2006/main">
            <a:r>
              <a:t>Comparar dos filas y justificar con la misión.</a:t>
            </a:r>
          </a:p>
          <a:p xmlns:a="http://schemas.openxmlformats.org/drawingml/2006/main">
            <a:r>
              <a:t/>
            </a:r>
          </a:p>
          <a:p xmlns:a="http://schemas.openxmlformats.org/drawingml/2006/main">
            <a:r>
              <a:t>Resultado: Reconocer sensores, registro y transmisión y preparar una observación de datos del demostrador docente.</a:t>
            </a:r>
          </a:p>
          <a:p xmlns:a="http://schemas.openxmlformats.org/drawingml/2006/main">
            <a:r>
              <a:t>Misión: Comprender para qué se transporta una carga científica sin añadirla al cohete pequeño de cada equipo.</a:t>
            </a:r>
          </a:p>
          <a:p xmlns:a="http://schemas.openxmlformats.org/drawingml/2006/main">
            <a:r>
              <a:t>Entrega: Mapa de datos, análisis del CSV y plan de observación.</a:t>
            </a:r>
          </a:p>
          <a:p xmlns:a="http://schemas.openxmlformats.org/drawingml/2006/main">
            <a:r>
              <a:t/>
            </a:r>
          </a:p>
          <a:p xmlns:a="http://schemas.openxmlformats.org/drawingml/2006/main">
            <a:r>
              <a:t>Preguntas y respuestas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Fuentes</a:t>
            </a:r>
          </a:p>
          <a:p xmlns:a="http://schemas.openxmlformats.org/drawingml/2006/main">
            <a:r>
              <a:t>European Space Agency. What is a CanSat?. https://www.esa.int/Education/CanSat/What_is_a_CanSat</a:t>
            </a:r>
          </a:p>
          <a:p xmlns:a="http://schemas.openxmlformats.org/drawingml/2006/main">
            <a:r>
              <a:t>OpenRocket. Basic Rocket Design. https://openrocket.readthedocs.io/en/latest/user_guide/basic_rocket_design.html</a:t>
            </a:r>
          </a:p>
          <a:p xmlns:a="http://schemas.openxmlformats.org/drawingml/2006/main">
            <a:r>
              <a:t>NASA Glenn. Flight of a Model Rocket. https://www1.grc.nasa.gov/beginners-guide-to-aeronautics/flight-of-a-model-rocket/</a:t>
            </a:r>
          </a:p>
          <a:p xmlns:a="http://schemas.openxmlformats.org/drawingml/2006/main">
            <a:r>
              <a:t>Lectura: MECRO_Coheteria_Clase_14.pdf.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CanSat: observar una misión científica del docente.</a:t>
            </a:r>
          </a:p>
          <a:p xmlns:a="http://schemas.openxmlformats.org/drawingml/2006/main">
            <a:r>
              <a:t>En línea, 2 h. Tramo del núcleo: 5 min.</a:t>
            </a:r>
          </a:p>
          <a:p xmlns:a="http://schemas.openxmlformats.org/drawingml/2006/main">
            <a:r>
              <a:t/>
            </a:r>
          </a:p>
          <a:p xmlns:a="http://schemas.openxmlformats.org/drawingml/2006/main">
            <a:r>
              <a:t>Conjunto sintético de banco: faltan 7 y 14 y se repite 3. No son datos de un vuelo.</a:t>
            </a:r>
          </a:p>
          <a:p xmlns:a="http://schemas.openxmlformats.org/drawingml/2006/main">
            <a:r>
              <a:t>Generadas: 20</a:t>
            </a:r>
          </a:p>
          <a:p xmlns:a="http://schemas.openxmlformats.org/drawingml/2006/main">
            <a:r>
              <a:t>Únicas recibidas: 18</a:t>
            </a:r>
          </a:p>
          <a:p xmlns:a="http://schemas.openxmlformats.org/drawingml/2006/main">
            <a:r>
              <a:t>Mensajes: 19</a:t>
            </a:r>
          </a:p>
          <a:p xmlns:a="http://schemas.openxmlformats.org/drawingml/2006/main">
            <a:r>
              <a:t>Ausentes: 2</a:t>
            </a:r>
          </a:p>
          <a:p xmlns:a="http://schemas.openxmlformats.org/drawingml/2006/main">
            <a:r>
              <a:t>Se generaron 20 muestras. En tierra faltan las muestras 7 y 14 y la muestra 3 llegó dos veces.</a:t>
            </a:r>
          </a:p>
          <a:p xmlns:a="http://schemas.openxmlformats.org/drawingml/2006/main">
            <a:r>
              <a:t>Hay 19 mensajes recibidos, pero solo 18 muestras únicas. La recepción de observaciones es 18/20 = 90%. Contar los 19 mensajes como 19 datos diferentes escondería un duplicado.</a:t>
            </a:r>
          </a:p>
          <a:p xmlns:a="http://schemas.openxmlformats.org/drawingml/2006/main">
            <a:r>
              <a:t/>
            </a:r>
          </a:p>
          <a:p xmlns:a="http://schemas.openxmlformats.org/drawingml/2006/main">
            <a:r>
              <a:t>Resultado: Reconocer sensores, registro y transmisión y preparar una observación de datos del demostrador docente.</a:t>
            </a:r>
          </a:p>
          <a:p xmlns:a="http://schemas.openxmlformats.org/drawingml/2006/main">
            <a:r>
              <a:t>Misión: Comprender para qué se transporta una carga científica sin añadirla al cohete pequeño de cada equipo.</a:t>
            </a:r>
          </a:p>
          <a:p xmlns:a="http://schemas.openxmlformats.org/drawingml/2006/main">
            <a:r>
              <a:t>Entrega: Mapa de datos, análisis del CSV y plan de observación.</a:t>
            </a:r>
          </a:p>
          <a:p xmlns:a="http://schemas.openxmlformats.org/drawingml/2006/main">
            <a:r>
              <a:t/>
            </a:r>
          </a:p>
          <a:p xmlns:a="http://schemas.openxmlformats.org/drawingml/2006/main">
            <a:r>
              <a:t>Preguntas y respuestas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Fuentes</a:t>
            </a:r>
          </a:p>
          <a:p xmlns:a="http://schemas.openxmlformats.org/drawingml/2006/main">
            <a:r>
              <a:t>European Space Agency. What is a CanSat?. https://www.esa.int/Education/CanSat/What_is_a_CanSat</a:t>
            </a:r>
          </a:p>
          <a:p xmlns:a="http://schemas.openxmlformats.org/drawingml/2006/main">
            <a:r>
              <a:t>OpenRocket. Basic Rocket Design. https://openrocket.readthedocs.io/en/latest/user_guide/basic_rocket_design.html</a:t>
            </a:r>
          </a:p>
          <a:p xmlns:a="http://schemas.openxmlformats.org/drawingml/2006/main">
            <a:r>
              <a:t>NASA Glenn. Flight of a Model Rocket. https://www1.grc.nasa.gov/beginners-guide-to-aeronautics/flight-of-a-model-rocket/</a:t>
            </a:r>
          </a:p>
          <a:p xmlns:a="http://schemas.openxmlformats.org/drawingml/2006/main">
            <a:r>
              <a:t>Lectura: MECRO_Coheteria_Clase_14.pdf.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CanSat: observar una misión científica del docente.</a:t>
            </a:r>
          </a:p>
          <a:p xmlns:a="http://schemas.openxmlformats.org/drawingml/2006/main">
            <a:r>
              <a:t>En línea, 2 h. Tramo del núcleo: 4 min.</a:t>
            </a:r>
          </a:p>
          <a:p xmlns:a="http://schemas.openxmlformats.org/drawingml/2006/main">
            <a:r>
              <a:t/>
            </a:r>
          </a:p>
          <a:p xmlns:a="http://schemas.openxmlformats.org/drawingml/2006/main">
            <a:r>
              <a:t>La demostración se realiza únicamente en el vehículo docente revisado para esa misión. La comparación de narices y cuerpos con espacio para carga pertenece a esa configuración, no al modelo del alumno. El equipo prepara preguntas y un registro de observación sin intervenir en la operación que corresponde al responsable.</a:t>
            </a:r>
          </a:p>
          <a:p xmlns:a="http://schemas.openxmlformats.org/drawingml/2006/main">
            <a:r>
              <a:t/>
            </a:r>
          </a:p>
          <a:p xmlns:a="http://schemas.openxmlformats.org/drawingml/2006/main">
            <a:r>
              <a:t>Durante la actividad falta una parte de la telemetría.</a:t>
            </a:r>
          </a:p>
          <a:p xmlns:a="http://schemas.openxmlformats.org/drawingml/2006/main">
            <a:r>
              <a:t/>
            </a:r>
          </a:p>
          <a:p xmlns:a="http://schemas.openxmlformats.org/drawingml/2006/main">
            <a:r>
              <a:t>Entrega un mapa de la cadena de datos, la cuenta del ejercicio y un plan de observación. El interés de la misión científica se sostiene en poder explicar qué se midió y qué se sabe después de recuperar el sistema.</a:t>
            </a:r>
          </a:p>
          <a:p xmlns:a="http://schemas.openxmlformats.org/drawingml/2006/main">
            <a:r>
              <a:t>Pregunta para el grupo: ¿Qué puedes concluir si falta telemetría?</a:t>
            </a:r>
          </a:p>
          <a:p xmlns:a="http://schemas.openxmlformats.org/drawingml/2006/main">
            <a:r>
              <a:t/>
            </a:r>
          </a:p>
          <a:p xmlns:a="http://schemas.openxmlformats.org/drawingml/2006/main">
            <a:r>
              <a:t>Resultado: Reconocer sensores, registro y transmisión y preparar una observación de datos del demostrador docente.</a:t>
            </a:r>
          </a:p>
          <a:p xmlns:a="http://schemas.openxmlformats.org/drawingml/2006/main">
            <a:r>
              <a:t>Misión: Comprender para qué se transporta una carga científica sin añadirla al cohete pequeño de cada equipo.</a:t>
            </a:r>
          </a:p>
          <a:p xmlns:a="http://schemas.openxmlformats.org/drawingml/2006/main">
            <a:r>
              <a:t>Entrega: Mapa de datos, análisis del CSV y plan de observación.</a:t>
            </a:r>
          </a:p>
          <a:p xmlns:a="http://schemas.openxmlformats.org/drawingml/2006/main">
            <a:r>
              <a:t/>
            </a:r>
          </a:p>
          <a:p xmlns:a="http://schemas.openxmlformats.org/drawingml/2006/main">
            <a:r>
              <a:t>Preguntas y respuestas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Fuentes</a:t>
            </a:r>
          </a:p>
          <a:p xmlns:a="http://schemas.openxmlformats.org/drawingml/2006/main">
            <a:r>
              <a:t>European Space Agency. What is a CanSat?. https://www.esa.int/Education/CanSat/What_is_a_CanSat</a:t>
            </a:r>
          </a:p>
          <a:p xmlns:a="http://schemas.openxmlformats.org/drawingml/2006/main">
            <a:r>
              <a:t>OpenRocket. Basic Rocket Design. https://openrocket.readthedocs.io/en/latest/user_guide/basic_rocket_design.html</a:t>
            </a:r>
          </a:p>
          <a:p xmlns:a="http://schemas.openxmlformats.org/drawingml/2006/main">
            <a:r>
              <a:t>NASA Glenn. Flight of a Model Rocket. https://www1.grc.nasa.gov/beginners-guide-to-aeronautics/flight-of-a-model-rocket/</a:t>
            </a:r>
          </a:p>
          <a:p xmlns:a="http://schemas.openxmlformats.org/drawingml/2006/main">
            <a:r>
              <a:t>Lectura: MECRO_Coheteria_Clase_14.pdf.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CanSat: observar una misión científica del docente.</a:t>
            </a:r>
          </a:p>
          <a:p xmlns:a="http://schemas.openxmlformats.org/drawingml/2006/main">
            <a:r>
              <a:t>En línea, 2 h. Tramo del núcleo: 4 min.</a:t>
            </a:r>
          </a:p>
          <a:p xmlns:a="http://schemas.openxmlformats.org/drawingml/2006/main">
            <a:r>
              <a:t/>
            </a:r>
          </a:p>
          <a:p xmlns:a="http://schemas.openxmlformats.org/drawingml/2006/main">
            <a:r>
              <a:t>Pregunta / Evidencia que podría responderla</a:t>
            </a:r>
          </a:p>
          <a:p xmlns:a="http://schemas.openxmlformats.org/drawingml/2006/main">
            <a:r>
              <a:t>¿El sistema registró? / Archivo local identificado</a:t>
            </a:r>
          </a:p>
          <a:p xmlns:a="http://schemas.openxmlformats.org/drawingml/2006/main">
            <a:r>
              <a:t>¿Qué llegó a tierra? / Registro de recepción</a:t>
            </a:r>
          </a:p>
          <a:p xmlns:a="http://schemas.openxmlformats.org/drawingml/2006/main">
            <a:r>
              <a:t>¿Cuándo ocurrió un evento? / Referencia de tiempo y observación</a:t>
            </a:r>
          </a:p>
          <a:p xmlns:a="http://schemas.openxmlformats.org/drawingml/2006/main">
            <a:r>
              <a:t>¿Qué se recuperó? / Estado físico y datos disponibles</a:t>
            </a:r>
          </a:p>
          <a:p xmlns:a="http://schemas.openxmlformats.org/drawingml/2006/main">
            <a:r>
              <a:t>Comparar dos filas y justificar con la misión.</a:t>
            </a:r>
          </a:p>
          <a:p xmlns:a="http://schemas.openxmlformats.org/drawingml/2006/main">
            <a:r>
              <a:t/>
            </a:r>
          </a:p>
          <a:p xmlns:a="http://schemas.openxmlformats.org/drawingml/2006/main">
            <a:r>
              <a:t>Resultado: Reconocer sensores, registro y transmisión y preparar una observación de datos del demostrador docente.</a:t>
            </a:r>
          </a:p>
          <a:p xmlns:a="http://schemas.openxmlformats.org/drawingml/2006/main">
            <a:r>
              <a:t>Misión: Comprender para qué se transporta una carga científica sin añadirla al cohete pequeño de cada equipo.</a:t>
            </a:r>
          </a:p>
          <a:p xmlns:a="http://schemas.openxmlformats.org/drawingml/2006/main">
            <a:r>
              <a:t>Entrega: Mapa de datos, análisis del CSV y plan de observación.</a:t>
            </a:r>
          </a:p>
          <a:p xmlns:a="http://schemas.openxmlformats.org/drawingml/2006/main">
            <a:r>
              <a:t/>
            </a:r>
          </a:p>
          <a:p xmlns:a="http://schemas.openxmlformats.org/drawingml/2006/main">
            <a:r>
              <a:t>Preguntas y respuestas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Fuentes</a:t>
            </a:r>
          </a:p>
          <a:p xmlns:a="http://schemas.openxmlformats.org/drawingml/2006/main">
            <a:r>
              <a:t>European Space Agency. What is a CanSat?. https://www.esa.int/Education/CanSat/What_is_a_CanSat</a:t>
            </a:r>
          </a:p>
          <a:p xmlns:a="http://schemas.openxmlformats.org/drawingml/2006/main">
            <a:r>
              <a:t>OpenRocket. Basic Rocket Design. https://openrocket.readthedocs.io/en/latest/user_guide/basic_rocket_design.html</a:t>
            </a:r>
          </a:p>
          <a:p xmlns:a="http://schemas.openxmlformats.org/drawingml/2006/main">
            <a:r>
              <a:t>NASA Glenn. Flight of a Model Rocket. https://www1.grc.nasa.gov/beginners-guide-to-aeronautics/flight-of-a-model-rocket/</a:t>
            </a:r>
          </a:p>
          <a:p xmlns:a="http://schemas.openxmlformats.org/drawingml/2006/main">
            <a:r>
              <a:t>Lectura: MECRO_Coheteria_Clase_14.pdf.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CanSat: observar una misión científica del docente.</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Durante la actividad falta una parte de la telemetría.</a:t>
            </a:r>
          </a:p>
          <a:p xmlns:a="http://schemas.openxmlformats.org/drawingml/2006/main">
            <a:r>
              <a:t>Explicación</a:t>
            </a:r>
          </a:p>
          <a:p xmlns:a="http://schemas.openxmlformats.org/drawingml/2006/main">
            <a:r>
              <a:t>El primer informe registra el hueco y conserva los archivos. Después compara con el registro local y la observación del evento. No concluye “se apagó” si no existe evidencia de alimentación o estado del sistema.</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Reconocer sensores, registro y transmisión y preparar una observación de datos del demostrador docente.</a:t>
            </a:r>
          </a:p>
          <a:p xmlns:a="http://schemas.openxmlformats.org/drawingml/2006/main">
            <a:r>
              <a:t>Misión: Comprender para qué se transporta una carga científica sin añadirla al cohete pequeño de cada equipo.</a:t>
            </a:r>
          </a:p>
          <a:p xmlns:a="http://schemas.openxmlformats.org/drawingml/2006/main">
            <a:r>
              <a:t>Entrega: Mapa de datos, análisis del CSV y plan de observación.</a:t>
            </a:r>
          </a:p>
          <a:p xmlns:a="http://schemas.openxmlformats.org/drawingml/2006/main">
            <a:r>
              <a:t/>
            </a:r>
          </a:p>
          <a:p xmlns:a="http://schemas.openxmlformats.org/drawingml/2006/main">
            <a:r>
              <a:t>Preguntas y respuestas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Fuentes</a:t>
            </a:r>
          </a:p>
          <a:p xmlns:a="http://schemas.openxmlformats.org/drawingml/2006/main">
            <a:r>
              <a:t>European Space Agency. What is a CanSat?. https://www.esa.int/Education/CanSat/What_is_a_CanSat</a:t>
            </a:r>
          </a:p>
          <a:p xmlns:a="http://schemas.openxmlformats.org/drawingml/2006/main">
            <a:r>
              <a:t>OpenRocket. Basic Rocket Design. https://openrocket.readthedocs.io/en/latest/user_guide/basic_rocket_design.html</a:t>
            </a:r>
          </a:p>
          <a:p xmlns:a="http://schemas.openxmlformats.org/drawingml/2006/main">
            <a:r>
              <a:t>NASA Glenn. Flight of a Model Rocket. https://www1.grc.nasa.gov/beginners-guide-to-aeronautics/flight-of-a-model-rocket/</a:t>
            </a:r>
          </a:p>
          <a:p xmlns:a="http://schemas.openxmlformats.org/drawingml/2006/main">
            <a:r>
              <a:t>Lectura: MECRO_Coheteria_Clase_14.pdf.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CanSat: observar una misión científica del docente.</a:t>
            </a:r>
          </a:p>
          <a:p xmlns:a="http://schemas.openxmlformats.org/drawingml/2006/main">
            <a:r>
              <a:t>En línea, 2 h. Tramo del núcleo: 12 min.</a:t>
            </a:r>
          </a:p>
          <a:p xmlns:a="http://schemas.openxmlformats.org/drawingml/2006/main">
            <a:r>
              <a:t/>
            </a:r>
          </a:p>
          <a:p xmlns:a="http://schemas.openxmlformats.org/drawingml/2006/main">
            <a:r>
              <a:t>Reconocer el sistema docente y sus variables.</a:t>
            </a:r>
          </a:p>
          <a:p xmlns:a="http://schemas.openxmlformats.org/drawingml/2006/main">
            <a:r>
              <a:t>Abrir el CSV sintético y leer unidades.</a:t>
            </a:r>
          </a:p>
          <a:p xmlns:a="http://schemas.openxmlformats.org/drawingml/2006/main">
            <a:r>
              <a:t>Contar muestras únicas y mensajes en la recepción sintética.</a:t>
            </a:r>
          </a:p>
          <a:p xmlns:a="http://schemas.openxmlformats.org/drawingml/2006/main">
            <a:r>
              <a:t>Preparar preguntas para observar la demostración de campo.</a:t>
            </a:r>
          </a:p>
          <a:p xmlns:a="http://schemas.openxmlformats.org/drawingml/2006/main">
            <a:r>
              <a:t>Rotar los roles y conservar al menos una evidencia revisable.</a:t>
            </a:r>
          </a:p>
          <a:p xmlns:a="http://schemas.openxmlformats.org/drawingml/2006/main">
            <a:r>
              <a:t/>
            </a:r>
          </a:p>
          <a:p xmlns:a="http://schemas.openxmlformats.org/drawingml/2006/main">
            <a:r>
              <a:t>Resultado: Reconocer sensores, registro y transmisión y preparar una observación de datos del demostrador docente.</a:t>
            </a:r>
          </a:p>
          <a:p xmlns:a="http://schemas.openxmlformats.org/drawingml/2006/main">
            <a:r>
              <a:t>Misión: Comprender para qué se transporta una carga científica sin añadirla al cohete pequeño de cada equipo.</a:t>
            </a:r>
          </a:p>
          <a:p xmlns:a="http://schemas.openxmlformats.org/drawingml/2006/main">
            <a:r>
              <a:t>Entrega: Mapa de datos, análisis del CSV y plan de observación.</a:t>
            </a:r>
          </a:p>
          <a:p xmlns:a="http://schemas.openxmlformats.org/drawingml/2006/main">
            <a:r>
              <a:t/>
            </a:r>
          </a:p>
          <a:p xmlns:a="http://schemas.openxmlformats.org/drawingml/2006/main">
            <a:r>
              <a:t>Preguntas y respuestas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Fuentes</a:t>
            </a:r>
          </a:p>
          <a:p xmlns:a="http://schemas.openxmlformats.org/drawingml/2006/main">
            <a:r>
              <a:t>European Space Agency. What is a CanSat?. https://www.esa.int/Education/CanSat/What_is_a_CanSat</a:t>
            </a:r>
          </a:p>
          <a:p xmlns:a="http://schemas.openxmlformats.org/drawingml/2006/main">
            <a:r>
              <a:t>OpenRocket. Basic Rocket Design. https://openrocket.readthedocs.io/en/latest/user_guide/basic_rocket_design.html</a:t>
            </a:r>
          </a:p>
          <a:p xmlns:a="http://schemas.openxmlformats.org/drawingml/2006/main">
            <a:r>
              <a:t>NASA Glenn. Flight of a Model Rocket. https://www1.grc.nasa.gov/beginners-guide-to-aeronautics/flight-of-a-model-rocket/</a:t>
            </a:r>
          </a:p>
          <a:p xmlns:a="http://schemas.openxmlformats.org/drawingml/2006/main">
            <a:r>
              <a:t>Lectura: MECRO_Coheteria_Clase_14.pdf.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CanSat: observar una misión científica del docente.</a:t>
            </a:r>
          </a:p>
          <a:p xmlns:a="http://schemas.openxmlformats.org/drawingml/2006/main">
            <a:r>
              <a:t>En línea, 2 h. Tramo del núcleo: 10 min.</a:t>
            </a:r>
          </a:p>
          <a:p xmlns:a="http://schemas.openxmlformats.org/drawingml/2006/main">
            <a:r>
              <a:t/>
            </a:r>
          </a:p>
          <a:p xmlns:a="http://schemas.openxmlformats.org/drawingml/2006/main">
            <a:r>
              <a:t>Cada equipo prepara una decisión y una evidencia. No aceptar una preferencia sin relacionarla con la misión.</a:t>
            </a:r>
          </a:p>
          <a:p xmlns:a="http://schemas.openxmlformats.org/drawingml/2006/main">
            <a:r>
              <a:t>Mapa de datos, análisis del CSV y plan de observación.</a:t>
            </a:r>
          </a:p>
          <a:p xmlns:a="http://schemas.openxmlformats.org/drawingml/2006/main">
            <a:r>
              <a:t/>
            </a:r>
          </a:p>
          <a:p xmlns:a="http://schemas.openxmlformats.org/drawingml/2006/main">
            <a:r>
              <a:t>Resultado: Reconocer sensores, registro y transmisión y preparar una observación de datos del demostrador docente.</a:t>
            </a:r>
          </a:p>
          <a:p xmlns:a="http://schemas.openxmlformats.org/drawingml/2006/main">
            <a:r>
              <a:t>Misión: Comprender para qué se transporta una carga científica sin añadirla al cohete pequeño de cada equipo.</a:t>
            </a:r>
          </a:p>
          <a:p xmlns:a="http://schemas.openxmlformats.org/drawingml/2006/main">
            <a:r>
              <a:t>Entrega: Mapa de datos, análisis del CSV y plan de observación.</a:t>
            </a:r>
          </a:p>
          <a:p xmlns:a="http://schemas.openxmlformats.org/drawingml/2006/main">
            <a:r>
              <a:t/>
            </a:r>
          </a:p>
          <a:p xmlns:a="http://schemas.openxmlformats.org/drawingml/2006/main">
            <a:r>
              <a:t>Preguntas y respuestas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Fuentes</a:t>
            </a:r>
          </a:p>
          <a:p xmlns:a="http://schemas.openxmlformats.org/drawingml/2006/main">
            <a:r>
              <a:t>European Space Agency. What is a CanSat?. https://www.esa.int/Education/CanSat/What_is_a_CanSat</a:t>
            </a:r>
          </a:p>
          <a:p xmlns:a="http://schemas.openxmlformats.org/drawingml/2006/main">
            <a:r>
              <a:t>OpenRocket. Basic Rocket Design. https://openrocket.readthedocs.io/en/latest/user_guide/basic_rocket_design.html</a:t>
            </a:r>
          </a:p>
          <a:p xmlns:a="http://schemas.openxmlformats.org/drawingml/2006/main">
            <a:r>
              <a:t>NASA Glenn. Flight of a Model Rocket. https://www1.grc.nasa.gov/beginners-guide-to-aeronautics/flight-of-a-model-rocket/</a:t>
            </a:r>
          </a:p>
          <a:p xmlns:a="http://schemas.openxmlformats.org/drawingml/2006/main">
            <a:r>
              <a:t>Lectura: MECRO_Coheteria_Clase_14.pdf.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CanSat: observar una misión científica del docente.</a:t>
            </a:r>
          </a:p>
          <a:p xmlns:a="http://schemas.openxmlformats.org/drawingml/2006/main">
            <a:r>
              <a:t>En línea, 2 h. Tramo del núcleo: 7 min.</a:t>
            </a:r>
          </a:p>
          <a:p xmlns:a="http://schemas.openxmlformats.org/drawingml/2006/main">
            <a:r>
              <a:t/>
            </a:r>
          </a:p>
          <a:p xmlns:a="http://schemas.openxmlformats.org/drawingml/2006/main">
            <a:r>
              <a:t>Primero respuesta individual, después discusión por equipos.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Resultado: Reconocer sensores, registro y transmisión y preparar una observación de datos del demostrador docente.</a:t>
            </a:r>
          </a:p>
          <a:p xmlns:a="http://schemas.openxmlformats.org/drawingml/2006/main">
            <a:r>
              <a:t>Misión: Comprender para qué se transporta una carga científica sin añadirla al cohete pequeño de cada equipo.</a:t>
            </a:r>
          </a:p>
          <a:p xmlns:a="http://schemas.openxmlformats.org/drawingml/2006/main">
            <a:r>
              <a:t>Entrega: Mapa de datos, análisis del CSV y plan de observación.</a:t>
            </a:r>
          </a:p>
          <a:p xmlns:a="http://schemas.openxmlformats.org/drawingml/2006/main">
            <a:r>
              <a:t/>
            </a:r>
          </a:p>
          <a:p xmlns:a="http://schemas.openxmlformats.org/drawingml/2006/main">
            <a:r>
              <a:t>Preguntas y respuestas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Fuentes</a:t>
            </a:r>
          </a:p>
          <a:p xmlns:a="http://schemas.openxmlformats.org/drawingml/2006/main">
            <a:r>
              <a:t>European Space Agency. What is a CanSat?. https://www.esa.int/Education/CanSat/What_is_a_CanSat</a:t>
            </a:r>
          </a:p>
          <a:p xmlns:a="http://schemas.openxmlformats.org/drawingml/2006/main">
            <a:r>
              <a:t>OpenRocket. Basic Rocket Design. https://openrocket.readthedocs.io/en/latest/user_guide/basic_rocket_design.html</a:t>
            </a:r>
          </a:p>
          <a:p xmlns:a="http://schemas.openxmlformats.org/drawingml/2006/main">
            <a:r>
              <a:t>NASA Glenn. Flight of a Model Rocket. https://www1.grc.nasa.gov/beginners-guide-to-aeronautics/flight-of-a-model-rocket/</a:t>
            </a:r>
          </a:p>
          <a:p xmlns:a="http://schemas.openxmlformats.org/drawingml/2006/main">
            <a:r>
              <a:t>Lectura: MECRO_Coheteria_Clase_14.pdf.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CanSat: observar una misión científica del docente.</a:t>
            </a:r>
          </a:p>
          <a:p xmlns:a="http://schemas.openxmlformats.org/drawingml/2006/main">
            <a:r>
              <a:t>En línea, 2 h. Tramo del núcleo: 5 min.</a:t>
            </a:r>
          </a:p>
          <a:p xmlns:a="http://schemas.openxmlformats.org/drawingml/2006/main">
            <a:r>
              <a:t/>
            </a:r>
          </a:p>
          <a:p xmlns:a="http://schemas.openxmlformats.org/drawingml/2006/main">
            <a:r>
              <a:t>Pedir un ejemplo del objeto o del archivo para una de las respuestas.</a:t>
            </a:r>
          </a:p>
          <a:p xmlns:a="http://schemas.openxmlformats.org/drawingml/2006/main">
            <a:r>
              <a:t/>
            </a:r>
          </a:p>
          <a:p xmlns:a="http://schemas.openxmlformats.org/drawingml/2006/main">
            <a:r>
              <a:t>Resultado: Reconocer sensores, registro y transmisión y preparar una observación de datos del demostrador docente.</a:t>
            </a:r>
          </a:p>
          <a:p xmlns:a="http://schemas.openxmlformats.org/drawingml/2006/main">
            <a:r>
              <a:t>Misión: Comprender para qué se transporta una carga científica sin añadirla al cohete pequeño de cada equipo.</a:t>
            </a:r>
          </a:p>
          <a:p xmlns:a="http://schemas.openxmlformats.org/drawingml/2006/main">
            <a:r>
              <a:t>Entrega: Mapa de datos, análisis del CSV y plan de observación.</a:t>
            </a:r>
          </a:p>
          <a:p xmlns:a="http://schemas.openxmlformats.org/drawingml/2006/main">
            <a:r>
              <a:t/>
            </a:r>
          </a:p>
          <a:p xmlns:a="http://schemas.openxmlformats.org/drawingml/2006/main">
            <a:r>
              <a:t>Preguntas y respuestas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Fuentes</a:t>
            </a:r>
          </a:p>
          <a:p xmlns:a="http://schemas.openxmlformats.org/drawingml/2006/main">
            <a:r>
              <a:t>European Space Agency. What is a CanSat?. https://www.esa.int/Education/CanSat/What_is_a_CanSat</a:t>
            </a:r>
          </a:p>
          <a:p xmlns:a="http://schemas.openxmlformats.org/drawingml/2006/main">
            <a:r>
              <a:t>OpenRocket. Basic Rocket Design. https://openrocket.readthedocs.io/en/latest/user_guide/basic_rocket_design.html</a:t>
            </a:r>
          </a:p>
          <a:p xmlns:a="http://schemas.openxmlformats.org/drawingml/2006/main">
            <a:r>
              <a:t>NASA Glenn. Flight of a Model Rocket. https://www1.grc.nasa.gov/beginners-guide-to-aeronautics/flight-of-a-model-rocket/</a:t>
            </a:r>
          </a:p>
          <a:p xmlns:a="http://schemas.openxmlformats.org/drawingml/2006/main">
            <a:r>
              <a:t>Lectura: MECRO_Coheteria_Clase_14.pdf.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14: CanSat: observar una misión científica del docente.</a:t>
            </a:r>
          </a:p>
          <a:p xmlns:a="http://schemas.openxmlformats.org/drawingml/2006/main">
            <a:r>
              <a:t>En línea, 2 h. Tramo del núcleo: 5 min.</a:t>
            </a:r>
          </a:p>
          <a:p xmlns:a="http://schemas.openxmlformats.org/drawingml/2006/main">
            <a:r>
              <a:t/>
            </a:r>
          </a:p>
          <a:p xmlns:a="http://schemas.openxmlformats.org/drawingml/2006/main">
            <a:r>
              <a:t>Mapa de datos, análisis del CSV y plan de observación.</a:t>
            </a:r>
          </a:p>
          <a:p xmlns:a="http://schemas.openxmlformats.org/drawingml/2006/main">
            <a:r>
              <a:t>Las fuentes enlazadas de la lectura permiten ampliar la explicación sin exigir cálculo avanzado.</a:t>
            </a:r>
          </a:p>
          <a:p xmlns:a="http://schemas.openxmlformats.org/drawingml/2006/main">
            <a:r>
              <a:t/>
            </a:r>
          </a:p>
          <a:p xmlns:a="http://schemas.openxmlformats.org/drawingml/2006/main">
            <a:r>
              <a:t>Resultado: Reconocer sensores, registro y transmisión y preparar una observación de datos del demostrador docente.</a:t>
            </a:r>
          </a:p>
          <a:p xmlns:a="http://schemas.openxmlformats.org/drawingml/2006/main">
            <a:r>
              <a:t>Misión: Comprender para qué se transporta una carga científica sin añadirla al cohete pequeño de cada equipo.</a:t>
            </a:r>
          </a:p>
          <a:p xmlns:a="http://schemas.openxmlformats.org/drawingml/2006/main">
            <a:r>
              <a:t>Entrega: Mapa de datos, análisis del CSV y plan de observación.</a:t>
            </a:r>
          </a:p>
          <a:p xmlns:a="http://schemas.openxmlformats.org/drawingml/2006/main">
            <a:r>
              <a:t/>
            </a:r>
          </a:p>
          <a:p xmlns:a="http://schemas.openxmlformats.org/drawingml/2006/main">
            <a:r>
              <a:t>Preguntas y respuestas</a:t>
            </a:r>
          </a:p>
          <a:p xmlns:a="http://schemas.openxmlformats.org/drawingml/2006/main">
            <a:r>
              <a:t>¿Un CanSat es automáticamente un satélite orbital?</a:t>
            </a:r>
          </a:p>
          <a:p xmlns:a="http://schemas.openxmlformats.org/drawingml/2006/main">
            <a:r>
              <a:t>No. Es una simulación educativa de funciones de satélite.</a:t>
            </a:r>
          </a:p>
          <a:p xmlns:a="http://schemas.openxmlformats.org/drawingml/2006/main">
            <a:r>
              <a:t/>
            </a:r>
          </a:p>
          <a:p xmlns:a="http://schemas.openxmlformats.org/drawingml/2006/main">
            <a:r>
              <a:t>¿19 mensajes implican 19 muestras únicas?</a:t>
            </a:r>
          </a:p>
          <a:p xmlns:a="http://schemas.openxmlformats.org/drawingml/2006/main">
            <a:r>
              <a:t>No si hay duplicados.</a:t>
            </a:r>
          </a:p>
          <a:p xmlns:a="http://schemas.openxmlformats.org/drawingml/2006/main">
            <a:r>
              <a:t/>
            </a:r>
          </a:p>
          <a:p xmlns:a="http://schemas.openxmlformats.org/drawingml/2006/main">
            <a:r>
              <a:t>¿Un hueco de telemetría demuestra apagado?</a:t>
            </a:r>
          </a:p>
          <a:p xmlns:a="http://schemas.openxmlformats.org/drawingml/2006/main">
            <a:r>
              <a:t>No. Hace falta evidencia adicional.</a:t>
            </a:r>
          </a:p>
          <a:p xmlns:a="http://schemas.openxmlformats.org/drawingml/2006/main">
            <a:r>
              <a:t/>
            </a:r>
          </a:p>
          <a:p xmlns:a="http://schemas.openxmlformats.org/drawingml/2006/main">
            <a:r>
              <a:t>Fuentes</a:t>
            </a:r>
          </a:p>
          <a:p xmlns:a="http://schemas.openxmlformats.org/drawingml/2006/main">
            <a:r>
              <a:t>European Space Agency. What is a CanSat?. https://www.esa.int/Education/CanSat/What_is_a_CanSat</a:t>
            </a:r>
          </a:p>
          <a:p xmlns:a="http://schemas.openxmlformats.org/drawingml/2006/main">
            <a:r>
              <a:t>OpenRocket. Basic Rocket Design. https://openrocket.readthedocs.io/en/latest/user_guide/basic_rocket_design.html</a:t>
            </a:r>
          </a:p>
          <a:p xmlns:a="http://schemas.openxmlformats.org/drawingml/2006/main">
            <a:r>
              <a:t>NASA Glenn. Flight of a Model Rocket. https://www1.grc.nasa.gov/beginners-guide-to-aeronautics/flight-of-a-model-rocket/</a:t>
            </a:r>
          </a:p>
          <a:p xmlns:a="http://schemas.openxmlformats.org/drawingml/2006/main">
            <a:r>
              <a:t>Lectura: MECRO_Coheteria_Clase_14.pdf.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0a914158394f9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3359c9f00b3477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3b4e608cc7747e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134c5cd401945f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71b0e04409249b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034ef06fa7140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C590AF-C4D8-4B9E-8813-C995D9AC404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478911B-D72A-4268-94A9-8892F876272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CF91936-DAD1-478D-9FA9-3C54A54977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1678EA-64FB-45CA-8A81-9CE5FE16A3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CDD989D-7345-4B2A-AC47-3057C443783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D5B8E37-2CB4-4F5F-AD2A-A3C83769ED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28CA579-E1DC-41DA-AC28-AE44CE3038A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8839B89-B86E-41AC-AB42-F4A1ADB9E92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708A56-8F97-4E05-B599-E0C065BB7E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F399943-6DDD-4DC8-A393-DFA051D315D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04ea17f949441a" /><Relationship Type="http://schemas.openxmlformats.org/officeDocument/2006/relationships/slideLayout" Target="/ppt/slideLayouts/slideLayout1.xml" Id="Refb77d6fd6bf4ead" /><Relationship Type="http://schemas.openxmlformats.org/officeDocument/2006/relationships/slideLayout" Target="/ppt/slideLayouts/slideLayout2.xml" Id="R9aaf0b87a91f4b6b" /><Relationship Type="http://schemas.openxmlformats.org/officeDocument/2006/relationships/slideLayout" Target="/ppt/slideLayouts/slideLayout3.xml" Id="R498d20ffdf384bf2" /><Relationship Type="http://schemas.openxmlformats.org/officeDocument/2006/relationships/slideLayout" Target="/ppt/slideLayouts/slideLayout4.xml" Id="R70c46d8ef4984847" /><Relationship Type="http://schemas.openxmlformats.org/officeDocument/2006/relationships/slideLayout" Target="/ppt/slideLayouts/slideLayout5.xml" Id="R059fa31a9313420a" /><Relationship Type="http://schemas.openxmlformats.org/officeDocument/2006/relationships/slideLayout" Target="/ppt/slideLayouts/slideLayout6.xml" Id="R00db417d2ae345f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b77d6fd6bf4ead"/>
    <p:sldLayoutId xmlns:r="http://schemas.openxmlformats.org/officeDocument/2006/relationships" id="2147483650" r:id="R9aaf0b87a91f4b6b"/>
    <p:sldLayoutId xmlns:r="http://schemas.openxmlformats.org/officeDocument/2006/relationships" id="2147483651" r:id="R498d20ffdf384bf2"/>
    <p:sldLayoutId xmlns:r="http://schemas.openxmlformats.org/officeDocument/2006/relationships" id="2147483652" r:id="R70c46d8ef4984847"/>
    <p:sldLayoutId xmlns:r="http://schemas.openxmlformats.org/officeDocument/2006/relationships" id="2147483653" r:id="R059fa31a9313420a"/>
    <p:sldLayoutId xmlns:r="http://schemas.openxmlformats.org/officeDocument/2006/relationships" id="2147483654" r:id="R00db417d2ae345f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48adae06a4d43a3" /><Relationship Type="http://schemas.openxmlformats.org/officeDocument/2006/relationships/image" Target="/ppt/media/image.png" Id="Ra15f5a67c7ef4b51" /><Relationship Type="http://schemas.openxmlformats.org/officeDocument/2006/relationships/notesSlide" Target="/ppt/notesSlides/notesSlide1.xml" Id="R7f803757f87b4b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7fc6947e8484f89" /><Relationship Type="http://schemas.openxmlformats.org/officeDocument/2006/relationships/image" Target="/ppt/media/image2.png" Id="R042bd9636e6d4d83" /><Relationship Type="http://schemas.openxmlformats.org/officeDocument/2006/relationships/notesSlide" Target="/ppt/notesSlides/notesSlide2.xml" Id="R30ea75c4524243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3243d8f4b344cbc" /><Relationship Type="http://schemas.openxmlformats.org/officeDocument/2006/relationships/image" Target="/ppt/media/image3.png" Id="R4c263321e7794650" /><Relationship Type="http://schemas.openxmlformats.org/officeDocument/2006/relationships/image" Target="/ppt/media/image4.png" Id="Rbea5bb6cc8bf4d78" /><Relationship Type="http://schemas.openxmlformats.org/officeDocument/2006/relationships/notesSlide" Target="/ppt/notesSlides/notesSlide3.xml" Id="R4800748d9af84f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314be6c752b4406" /><Relationship Type="http://schemas.openxmlformats.org/officeDocument/2006/relationships/image" Target="/ppt/media/image5.png" Id="R48cefbf32b80492f" /><Relationship Type="http://schemas.openxmlformats.org/officeDocument/2006/relationships/notesSlide" Target="/ppt/notesSlides/notesSlide4.xml" Id="R59bb44f64d3544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eb82a1a58274158" /><Relationship Type="http://schemas.openxmlformats.org/officeDocument/2006/relationships/image" Target="/ppt/media/image6.png" Id="R350cdd0ec3ce476a" /><Relationship Type="http://schemas.openxmlformats.org/officeDocument/2006/relationships/notesSlide" Target="/ppt/notesSlides/notesSlide5.xml" Id="Rac0b8f2f5b4e4b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f0d688c5ec44229" /><Relationship Type="http://schemas.openxmlformats.org/officeDocument/2006/relationships/image" Target="/ppt/media/image7.png" Id="R2e5cb4cb216546e3" /><Relationship Type="http://schemas.openxmlformats.org/officeDocument/2006/relationships/notesSlide" Target="/ppt/notesSlides/notesSlide6.xml" Id="R51706d51924845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e3b342236d1475c" /><Relationship Type="http://schemas.openxmlformats.org/officeDocument/2006/relationships/image" Target="/ppt/media/image8.png" Id="R6dba9283e0314023" /><Relationship Type="http://schemas.openxmlformats.org/officeDocument/2006/relationships/notesSlide" Target="/ppt/notesSlides/notesSlide7.xml" Id="R602664162cf740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ffeb8542ef749b8" /><Relationship Type="http://schemas.openxmlformats.org/officeDocument/2006/relationships/image" Target="/ppt/media/image9.png" Id="R6ece6b65ffb14fd8" /><Relationship Type="http://schemas.openxmlformats.org/officeDocument/2006/relationships/notesSlide" Target="/ppt/notesSlides/notesSlide8.xml" Id="R403e12d1a024443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825c77ad526481a" /><Relationship Type="http://schemas.openxmlformats.org/officeDocument/2006/relationships/image" Target="/ppt/media/image10.png" Id="Rc7791f2ec2444257" /><Relationship Type="http://schemas.openxmlformats.org/officeDocument/2006/relationships/notesSlide" Target="/ppt/notesSlides/notesSlide9.xml" Id="R5d932ed36b6a49c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fad76ae3e25486b" /><Relationship Type="http://schemas.openxmlformats.org/officeDocument/2006/relationships/image" Target="/ppt/media/image11.png" Id="R7f39f5bec957491f" /><Relationship Type="http://schemas.openxmlformats.org/officeDocument/2006/relationships/notesSlide" Target="/ppt/notesSlides/notesSlide10.xml" Id="R71732568d9d14df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757f86bd8ae40be" /><Relationship Type="http://schemas.openxmlformats.org/officeDocument/2006/relationships/image" Target="/ppt/media/image12.png" Id="Rd6112bf9f06844d8" /><Relationship Type="http://schemas.openxmlformats.org/officeDocument/2006/relationships/notesSlide" Target="/ppt/notesSlides/notesSlide11.xml" Id="R4fe1cd3107504d1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003cf217f3140f5" /><Relationship Type="http://schemas.openxmlformats.org/officeDocument/2006/relationships/image" Target="/ppt/media/image13.png" Id="Rb8a00df7d72043b0" /><Relationship Type="http://schemas.openxmlformats.org/officeDocument/2006/relationships/notesSlide" Target="/ppt/notesSlides/notesSlide12.xml" Id="Rda665c2910784c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0a324398fd34fe8" /><Relationship Type="http://schemas.openxmlformats.org/officeDocument/2006/relationships/image" Target="/ppt/media/image14.png" Id="Rb537fa63c5424b97" /><Relationship Type="http://schemas.openxmlformats.org/officeDocument/2006/relationships/notesSlide" Target="/ppt/notesSlides/notesSlide13.xml" Id="Rbd162cf1d272475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b6eca89447d4eb2" /><Relationship Type="http://schemas.openxmlformats.org/officeDocument/2006/relationships/image" Target="/ppt/media/image15.png" Id="R53eb1e42cd7640cc" /><Relationship Type="http://schemas.openxmlformats.org/officeDocument/2006/relationships/notesSlide" Target="/ppt/notesSlides/notesSlide14.xml" Id="R0417c8502470489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232bd2b19ad4b45" /><Relationship Type="http://schemas.openxmlformats.org/officeDocument/2006/relationships/image" Target="/ppt/media/image16.png" Id="R9b9b1ac1e26c409a" /><Relationship Type="http://schemas.openxmlformats.org/officeDocument/2006/relationships/notesSlide" Target="/ppt/notesSlides/notesSlide15.xml" Id="R27a9e95e43b348d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7685473f2a04235" /><Relationship Type="http://schemas.openxmlformats.org/officeDocument/2006/relationships/image" Target="/ppt/media/image17.png" Id="Rd9a36c2a464e466c" /><Relationship Type="http://schemas.openxmlformats.org/officeDocument/2006/relationships/notesSlide" Target="/ppt/notesSlides/notesSlide16.xml" Id="R56bc067fe0d2490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b5823a9afa84f1b" /><Relationship Type="http://schemas.openxmlformats.org/officeDocument/2006/relationships/image" Target="/ppt/media/image18.png" Id="R1f4a2d1ceda04df0" /><Relationship Type="http://schemas.openxmlformats.org/officeDocument/2006/relationships/notesSlide" Target="/ppt/notesSlides/notesSlide17.xml" Id="R8f62b67da8b2488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06459db884c4df5" /><Relationship Type="http://schemas.openxmlformats.org/officeDocument/2006/relationships/image" Target="/ppt/media/image19.png" Id="Re61452c932d94bb1" /><Relationship Type="http://schemas.openxmlformats.org/officeDocument/2006/relationships/notesSlide" Target="/ppt/notesSlides/notesSlide18.xml" Id="R4a8be7d3e5a6424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2fa7fc6e0804202" /><Relationship Type="http://schemas.openxmlformats.org/officeDocument/2006/relationships/image" Target="/ppt/media/image20.png" Id="Raacacbbd156445be" /><Relationship Type="http://schemas.openxmlformats.org/officeDocument/2006/relationships/notesSlide" Target="/ppt/notesSlides/notesSlide19.xml" Id="R266ec5354f2e46d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3ed02a1291e47a7" /><Relationship Type="http://schemas.openxmlformats.org/officeDocument/2006/relationships/image" Target="/ppt/media/image21.png" Id="Rcb686019e0914caa" /><Relationship Type="http://schemas.openxmlformats.org/officeDocument/2006/relationships/notesSlide" Target="/ppt/notesSlides/notesSlide20.xml" Id="R6bc1a9ee959a49b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13be5f3f6cc445a" /><Relationship Type="http://schemas.openxmlformats.org/officeDocument/2006/relationships/image" Target="/ppt/media/image22.png" Id="R72a057727db34f4e" /><Relationship Type="http://schemas.openxmlformats.org/officeDocument/2006/relationships/notesSlide" Target="/ppt/notesSlides/notesSlide21.xml" Id="R8de01bbd29ad4e6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2b9ea4d8a4d4582" /><Relationship Type="http://schemas.openxmlformats.org/officeDocument/2006/relationships/image" Target="/ppt/media/image23.png" Id="R0f79c3ba267d4bf7" /><Relationship Type="http://schemas.openxmlformats.org/officeDocument/2006/relationships/notesSlide" Target="/ppt/notesSlides/notesSlide22.xml" Id="R0be4f3acedff449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f74d654ff684e00" /><Relationship Type="http://schemas.openxmlformats.org/officeDocument/2006/relationships/image" Target="/ppt/media/image24.png" Id="Rc60bc62c8177471b" /><Relationship Type="http://schemas.openxmlformats.org/officeDocument/2006/relationships/notesSlide" Target="/ppt/notesSlides/notesSlide23.xml" Id="R5a7fc791813545a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2f6639e47ee4c33" /><Relationship Type="http://schemas.openxmlformats.org/officeDocument/2006/relationships/image" Target="/ppt/media/image25.png" Id="Rd8f00ebc92d54b07" /><Relationship Type="http://schemas.openxmlformats.org/officeDocument/2006/relationships/notesSlide" Target="/ppt/notesSlides/notesSlide24.xml" Id="R4d52eb96949b4ce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6ba83f9a2b442b3" /><Relationship Type="http://schemas.openxmlformats.org/officeDocument/2006/relationships/image" Target="/ppt/media/image26.png" Id="R3e7905d85b634ffc" /><Relationship Type="http://schemas.openxmlformats.org/officeDocument/2006/relationships/notesSlide" Target="/ppt/notesSlides/notesSlide25.xml" Id="R1121d4d48b82453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01e39ed814946d3" /><Relationship Type="http://schemas.openxmlformats.org/officeDocument/2006/relationships/image" Target="/ppt/media/image27.png" Id="Rb7bcfa5f1007497f" /><Relationship Type="http://schemas.openxmlformats.org/officeDocument/2006/relationships/notesSlide" Target="/ppt/notesSlides/notesSlide26.xml" Id="R5b598018f6e04b9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d181a2810144b1f" /><Relationship Type="http://schemas.openxmlformats.org/officeDocument/2006/relationships/image" Target="/ppt/media/image28.png" Id="R98e389760a9e4e2f" /><Relationship Type="http://schemas.openxmlformats.org/officeDocument/2006/relationships/image" Target="/ppt/media/image29.png" Id="Rdff8141bb4bc46cc" /><Relationship Type="http://schemas.openxmlformats.org/officeDocument/2006/relationships/notesSlide" Target="/ppt/notesSlides/notesSlide27.xml" Id="Rab9abd7f683341a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8f2744e76034a6f" /><Relationship Type="http://schemas.openxmlformats.org/officeDocument/2006/relationships/image" Target="/ppt/media/image30.png" Id="R87709b4f5edc4300" /><Relationship Type="http://schemas.openxmlformats.org/officeDocument/2006/relationships/notesSlide" Target="/ppt/notesSlides/notesSlide28.xml" Id="Rc0d581e69b524d3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45f09ee9b9c461c" /><Relationship Type="http://schemas.openxmlformats.org/officeDocument/2006/relationships/image" Target="/ppt/media/image31.png" Id="R2922d5600d9143f9" /><Relationship Type="http://schemas.openxmlformats.org/officeDocument/2006/relationships/notesSlide" Target="/ppt/notesSlides/notesSlide29.xml" Id="R6f730c55e0594e7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51d1e687f074c45" /><Relationship Type="http://schemas.openxmlformats.org/officeDocument/2006/relationships/image" Target="/ppt/media/image32.png" Id="R1739423521874761" /><Relationship Type="http://schemas.openxmlformats.org/officeDocument/2006/relationships/notesSlide" Target="/ppt/notesSlides/notesSlide30.xml" Id="R22b8ea9b5de5486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9efc4b1d0df4abe" /><Relationship Type="http://schemas.openxmlformats.org/officeDocument/2006/relationships/image" Target="/ppt/media/image33.png" Id="R63385be97acd471e" /><Relationship Type="http://schemas.openxmlformats.org/officeDocument/2006/relationships/notesSlide" Target="/ppt/notesSlides/notesSlide31.xml" Id="Re09572ae0d12498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501a0778c2547a9" /><Relationship Type="http://schemas.openxmlformats.org/officeDocument/2006/relationships/image" Target="/ppt/media/image34.png" Id="Re5a6c843522e42d4" /><Relationship Type="http://schemas.openxmlformats.org/officeDocument/2006/relationships/notesSlide" Target="/ppt/notesSlides/notesSlide32.xml" Id="R2028f0fd3181493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c9fec231201a412d" /><Relationship Type="http://schemas.openxmlformats.org/officeDocument/2006/relationships/image" Target="/ppt/media/image35.png" Id="R9cecb317b57d4eaa" /><Relationship Type="http://schemas.openxmlformats.org/officeDocument/2006/relationships/notesSlide" Target="/ppt/notesSlides/notesSlide33.xml" Id="R0f3a62747fc9432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490461abbe3459d" /><Relationship Type="http://schemas.openxmlformats.org/officeDocument/2006/relationships/image" Target="/ppt/media/image36.png" Id="R11fda59c23e5436a" /><Relationship Type="http://schemas.openxmlformats.org/officeDocument/2006/relationships/notesSlide" Target="/ppt/notesSlides/notesSlide34.xml" Id="Rdecdab84919f4a3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4a1084afcbf14183" /><Relationship Type="http://schemas.openxmlformats.org/officeDocument/2006/relationships/image" Target="/ppt/media/image37.png" Id="Rea288f1a7f2541cf" /><Relationship Type="http://schemas.openxmlformats.org/officeDocument/2006/relationships/notesSlide" Target="/ppt/notesSlides/notesSlide35.xml" Id="R3632f69d3819452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40ef9e86af341be" /><Relationship Type="http://schemas.openxmlformats.org/officeDocument/2006/relationships/image" Target="/ppt/media/image38.png" Id="R15a4196d43af427a" /><Relationship Type="http://schemas.openxmlformats.org/officeDocument/2006/relationships/notesSlide" Target="/ppt/notesSlides/notesSlide36.xml" Id="Rccaab8ca2de94ec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945af4c992864d06" /><Relationship Type="http://schemas.openxmlformats.org/officeDocument/2006/relationships/image" Target="/ppt/media/image39.png" Id="R6cc54957dc7a42d1" /><Relationship Type="http://schemas.openxmlformats.org/officeDocument/2006/relationships/notesSlide" Target="/ppt/notesSlides/notesSlide37.xml" Id="R0268212fba7a46e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ff40c79d84d146a9" /><Relationship Type="http://schemas.openxmlformats.org/officeDocument/2006/relationships/image" Target="/ppt/media/image40.png" Id="R45d450c4a8dd46aa" /><Relationship Type="http://schemas.openxmlformats.org/officeDocument/2006/relationships/notesSlide" Target="/ppt/notesSlides/notesSlide38.xml" Id="Rc847a579600847e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4967a6e85fe645a4" /><Relationship Type="http://schemas.openxmlformats.org/officeDocument/2006/relationships/image" Target="/ppt/media/image41.png" Id="R1741abd39bc6459c" /><Relationship Type="http://schemas.openxmlformats.org/officeDocument/2006/relationships/notesSlide" Target="/ppt/notesSlides/notesSlide39.xml" Id="R5faaaf228709463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363e79b9cb3e42c5" /><Relationship Type="http://schemas.openxmlformats.org/officeDocument/2006/relationships/image" Target="/ppt/media/image42.png" Id="R0dd46f45d56943f6" /><Relationship Type="http://schemas.openxmlformats.org/officeDocument/2006/relationships/chart" Target="/ppt/slides/charts/chart1.xml" Id="R1cd0b8228efb490c" /><Relationship Type="http://schemas.openxmlformats.org/officeDocument/2006/relationships/notesSlide" Target="/ppt/notesSlides/notesSlide40.xml" Id="R1e004838244d4de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f823b069c7a947c5" /><Relationship Type="http://schemas.openxmlformats.org/officeDocument/2006/relationships/image" Target="/ppt/media/image43.png" Id="R79f8da2604d54ed1" /><Relationship Type="http://schemas.openxmlformats.org/officeDocument/2006/relationships/notesSlide" Target="/ppt/notesSlides/notesSlide41.xml" Id="Ra0b0e9fbdd2a4d8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9b0bfe6532e04fe5" /><Relationship Type="http://schemas.openxmlformats.org/officeDocument/2006/relationships/image" Target="/ppt/media/image44.png" Id="R922879458b25478f" /><Relationship Type="http://schemas.openxmlformats.org/officeDocument/2006/relationships/notesSlide" Target="/ppt/notesSlides/notesSlide42.xml" Id="R21374262868e4f0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7642708ec7b04276" /><Relationship Type="http://schemas.openxmlformats.org/officeDocument/2006/relationships/image" Target="/ppt/media/image45.png" Id="R6e8c88abda7c4b64" /><Relationship Type="http://schemas.openxmlformats.org/officeDocument/2006/relationships/notesSlide" Target="/ppt/notesSlides/notesSlide43.xml" Id="Rdb4ed3ec101d4bf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08266f2e2e024c92" /><Relationship Type="http://schemas.openxmlformats.org/officeDocument/2006/relationships/image" Target="/ppt/media/image46.png" Id="R5c32bf2a074a4b62" /><Relationship Type="http://schemas.openxmlformats.org/officeDocument/2006/relationships/notesSlide" Target="/ppt/notesSlides/notesSlide44.xml" Id="R645d5627d8654a2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e1572b661a384372" /><Relationship Type="http://schemas.openxmlformats.org/officeDocument/2006/relationships/image" Target="/ppt/media/image47.png" Id="R767fcc4e2c6f40d2" /><Relationship Type="http://schemas.openxmlformats.org/officeDocument/2006/relationships/notesSlide" Target="/ppt/notesSlides/notesSlide45.xml" Id="R36838c48d9194ea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125a6e12d8324a3a" /><Relationship Type="http://schemas.openxmlformats.org/officeDocument/2006/relationships/image" Target="/ppt/media/image48.png" Id="R6672a4e3359a44a0" /><Relationship Type="http://schemas.openxmlformats.org/officeDocument/2006/relationships/notesSlide" Target="/ppt/notesSlides/notesSlide46.xml" Id="Rc62bf73168f94b5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25c30dfefaae4c35" /><Relationship Type="http://schemas.openxmlformats.org/officeDocument/2006/relationships/image" Target="/ppt/media/image49.png" Id="R06350a1ab89942ff" /><Relationship Type="http://schemas.openxmlformats.org/officeDocument/2006/relationships/notesSlide" Target="/ppt/notesSlides/notesSlide47.xml" Id="Re6b58d58f91a479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f92eeab0606d4d55" /><Relationship Type="http://schemas.openxmlformats.org/officeDocument/2006/relationships/image" Target="/ppt/media/image50.png" Id="R9d9808f94d224d13" /><Relationship Type="http://schemas.openxmlformats.org/officeDocument/2006/relationships/notesSlide" Target="/ppt/notesSlides/notesSlide48.xml" Id="R0656a7999507472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Conteo</c:v>
          </c:tx>
          <c:spPr>
            <a:solidFill xmlns:a="http://schemas.openxmlformats.org/drawingml/2006/main">
              <a:srgbClr val="244F3D"/>
            </a:solidFill>
          </c:spPr>
          <c:invertIfNegative val="0"/>
          <c:cat>
            <c:strRef>
              <c:f>'Chart Data'!$A$2:$A$5</c:f>
              <c:strCache>
                <c:ptCount val="4"/>
                <c:pt idx="0">
                  <c:v>Generadas</c:v>
                </c:pt>
                <c:pt idx="1">
                  <c:v>Únicas recibidas</c:v>
                </c:pt>
                <c:pt idx="2">
                  <c:v>Mensajes</c:v>
                </c:pt>
                <c:pt idx="3">
                  <c:v>Ausentes</c:v>
                </c:pt>
              </c:strCache>
            </c:strRef>
          </c:cat>
          <c:val>
            <c:numRef>
              <c:f>'Chart Data'!$B$2:$B$5</c:f>
              <c:numCache>
                <c:formatCode>0</c:formatCode>
                <c:ptCount val="4"/>
                <c:pt idx="0">
                  <c:v>20</c:v>
                </c:pt>
                <c:pt idx="1">
                  <c:v>18</c:v>
                </c:pt>
                <c:pt idx="2">
                  <c:v>19</c:v>
                </c:pt>
                <c:pt idx="3">
                  <c:v>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4231E"/>
                </a:solidFill>
                <a:latin typeface="Arial"/>
                <a:ea typeface="Arial"/>
                <a:cs typeface="Arial"/>
              </a:defRPr>
            </a:pPr>
          </a:p>
        </c:txPr>
        <c:crossAx val="48672768"/>
      </c:catAx>
      <c:valAx>
        <c:axId val="48672768"/>
        <c:scaling>
          <c:orientation val="minMax"/>
          <c:max val="25"/>
          <c:min val="0"/>
        </c:scaling>
        <c:delete val="0"/>
        <c:axPos val="l"/>
        <c:majorGridlines>
          <c:spPr>
            <a:ln xmlns:a="http://schemas.openxmlformats.org/drawingml/2006/main" w="9525">
              <a:solidFill>
                <a:srgbClr val="D7DFD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Conteo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8665F"/>
                </a:solidFill>
                <a:latin typeface="Arial"/>
                <a:ea typeface="Arial"/>
                <a:cs typeface="Arial"/>
              </a:defRPr>
            </a:pPr>
          </a:p>
        </c:txPr>
        <c:crossAx val="48650112"/>
        <c:crossBetween val="between"/>
        <c:majorUnit val="5"/>
      </c:valAx>
      <c:spPr>
        <a:solidFill xmlns:a="http://schemas.openxmlformats.org/drawingml/2006/main">
          <a:srgbClr val="FCFCF8"/>
        </a:solidFill>
      </c:spPr>
    </c:plotArea>
    <c:plotVisOnly val="1"/>
  </c:chart>
  <c:spPr>
    <a:solidFill xmlns:a="http://schemas.openxmlformats.org/drawingml/2006/main">
      <a:srgbClr val="FCFCF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DDC4D2E-17BF-4626-A86F-2DB90C26622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El mismo cohete en RockSim</a:t>
            </a:r>
          </a:p>
        </p:txBody>
      </p:sp>
      <p:pic>
        <p:nvPicPr>
          <p:cNvPr id="2" name="">
            <a:extLst xmlns:a="http://schemas.openxmlformats.org/drawingml/2006/main">
              <a:ext uri="{FF2B5EF4-FFF2-40B4-BE49-F238E27FC236}">
                <a16:creationId xmlns:a16="http://schemas.microsoft.com/office/drawing/2014/main" id="{06FDC677-0B1C-446C-95CF-CB5EB4C85C02}"/>
              </a:ext>
            </a:extLst>
          </p:cNvPr>
          <p:cNvPicPr>
            <a:picLocks xmlns:a="http://schemas.openxmlformats.org/drawingml/2006/main" noChangeAspect="1"/>
          </p:cNvPicPr>
          <p:nvPr/>
        </p:nvPicPr>
        <p:blipFill>
          <a:blip xmlns:r="http://schemas.openxmlformats.org/officeDocument/2006/relationships" xmlns:a="http://schemas.openxmlformats.org/drawingml/2006/main" r:embed="Ra15f5a67c7ef4b5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3080A9F-795F-4A90-B786-043C712A42C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13   01/24</a:t>
            </a:r>
          </a:p>
        </p:txBody>
      </p:sp>
      <p:sp>
        <p:nvSpPr>
          <p:cNvPr id="4" name="">
            <a:extLst xmlns:a="http://schemas.openxmlformats.org/drawingml/2006/main">
              <a:ext uri="{FF2B5EF4-FFF2-40B4-BE49-F238E27FC236}">
                <a16:creationId xmlns:a16="http://schemas.microsoft.com/office/drawing/2014/main" id="{87BC2D7F-273E-4C7D-8C88-8EFBC93E41F3}"/>
              </a:ext>
            </a:extLst>
          </p:cNvPr>
          <p:cNvSpPr>
            <a:spLocks xmlns:a="http://schemas.openxmlformats.org/drawingml/2006/main" noGrp="1"/>
          </p:cNvSpPr>
          <p:nvPr/>
        </p:nvSpPr>
        <p:spPr>
          <a:xfrm xmlns:a="http://schemas.openxmlformats.org/drawingml/2006/main">
            <a:off x="590550" y="17621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Crear una segunda representación del modelo y comparar entradas antes de comparar resultados.</a:t>
            </a:r>
          </a:p>
        </p:txBody>
      </p:sp>
      <p:sp>
        <p:nvSpPr>
          <p:cNvPr id="5" name="">
            <a:extLst xmlns:a="http://schemas.openxmlformats.org/drawingml/2006/main">
              <a:ext uri="{FF2B5EF4-FFF2-40B4-BE49-F238E27FC236}">
                <a16:creationId xmlns:a16="http://schemas.microsoft.com/office/drawing/2014/main" id="{03B921C6-C21C-4E89-8D0B-7D14D4E5D725}"/>
              </a:ext>
            </a:extLst>
          </p:cNvPr>
          <p:cNvSpPr>
            <a:spLocks xmlns:a="http://schemas.openxmlformats.org/drawingml/2006/main" noGrp="1"/>
          </p:cNvSpPr>
          <p:nvPr/>
        </p:nvSpPr>
        <p:spPr>
          <a:xfrm xmlns:a="http://schemas.openxmlformats.org/drawingml/2006/main">
            <a:off x="590550" y="37052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Explicar diferencias sin elegir el programa que dé la cifra preferida.</a:t>
            </a:r>
          </a:p>
        </p:txBody>
      </p:sp>
      <p:sp>
        <p:nvSpPr>
          <p:cNvPr id="6" name="">
            <a:extLst xmlns:a="http://schemas.openxmlformats.org/drawingml/2006/main">
              <a:ext uri="{FF2B5EF4-FFF2-40B4-BE49-F238E27FC236}">
                <a16:creationId xmlns:a16="http://schemas.microsoft.com/office/drawing/2014/main" id="{57476C12-9E3C-4B92-B581-88D84C749585}"/>
              </a:ext>
            </a:extLst>
          </p:cNvPr>
          <p:cNvSpPr>
            <a:spLocks xmlns:a="http://schemas.openxmlformats.org/drawingml/2006/main" noGrp="1"/>
          </p:cNvSpPr>
          <p:nvPr/>
        </p:nvSpPr>
        <p:spPr>
          <a:xfrm xmlns:a="http://schemas.openxmlformats.org/drawingml/2006/main">
            <a:off x="590550" y="5648325"/>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8C8C1"/>
                </a:solidFill>
                <a:latin typeface="Consolas"/>
                <a:ea typeface="Consolas"/>
                <a:cs typeface="Consolas"/>
              </a:defRPr>
            </a:defPPr>
            <a:lvl1pPr>
              <a:defRPr sz="1800" b="0">
                <a:solidFill>
                  <a:srgbClr val="B8C8C1"/>
                </a:solidFill>
                <a:latin typeface="Consolas"/>
                <a:ea typeface="Consolas"/>
                <a:cs typeface="Consolas"/>
              </a:defRPr>
            </a:lvl1pPr>
            <a:lvl2pPr>
              <a:defRPr sz="1800" b="0">
                <a:solidFill>
                  <a:srgbClr val="B8C8C1"/>
                </a:solidFill>
                <a:latin typeface="Consolas"/>
                <a:ea typeface="Consolas"/>
                <a:cs typeface="Consolas"/>
              </a:defRPr>
            </a:lvl2pPr>
            <a:lvl3pPr>
              <a:defRPr sz="1800" b="0">
                <a:solidFill>
                  <a:srgbClr val="B8C8C1"/>
                </a:solidFill>
                <a:latin typeface="Consolas"/>
                <a:ea typeface="Consolas"/>
                <a:cs typeface="Consolas"/>
              </a:defRPr>
            </a:lvl3pPr>
            <a:lvl4pPr>
              <a:defRPr sz="1800" b="0">
                <a:solidFill>
                  <a:srgbClr val="B8C8C1"/>
                </a:solidFill>
                <a:latin typeface="Consolas"/>
                <a:ea typeface="Consolas"/>
                <a:cs typeface="Consolas"/>
              </a:defRPr>
            </a:lvl4pPr>
            <a:lvl5pPr>
              <a:defRPr sz="1800" b="0">
                <a:solidFill>
                  <a:srgbClr val="B8C8C1"/>
                </a:solidFill>
                <a:latin typeface="Consolas"/>
                <a:ea typeface="Consolas"/>
                <a:cs typeface="Consolas"/>
              </a:defRPr>
            </a:lvl5pPr>
            <a:lvl6pPr>
              <a:defRPr sz="1800" b="0">
                <a:solidFill>
                  <a:srgbClr val="B8C8C1"/>
                </a:solidFill>
                <a:latin typeface="Consolas"/>
                <a:ea typeface="Consolas"/>
                <a:cs typeface="Consolas"/>
              </a:defRPr>
            </a:lvl6pPr>
            <a:lvl7pPr>
              <a:defRPr sz="1800" b="0">
                <a:solidFill>
                  <a:srgbClr val="B8C8C1"/>
                </a:solidFill>
                <a:latin typeface="Consolas"/>
                <a:ea typeface="Consolas"/>
                <a:cs typeface="Consolas"/>
              </a:defRPr>
            </a:lvl7pPr>
            <a:lvl8pPr>
              <a:defRPr sz="1800" b="0">
                <a:solidFill>
                  <a:srgbClr val="B8C8C1"/>
                </a:solidFill>
                <a:latin typeface="Consolas"/>
                <a:ea typeface="Consolas"/>
                <a:cs typeface="Consolas"/>
              </a:defRPr>
            </a:lvl8pPr>
            <a:lvl9pPr>
              <a:defRPr sz="1800" b="0">
                <a:solidFill>
                  <a:srgbClr val="B8C8C1"/>
                </a:solidFill>
                <a:latin typeface="Consolas"/>
                <a:ea typeface="Consolas"/>
                <a:cs typeface="Consolas"/>
              </a:defRPr>
            </a:lvl9pPr>
          </a:lstStyle>
          <a:p xmlns:a="http://schemas.openxmlformats.org/drawingml/2006/main">
            <a:pPr>
              <a:defRPr sz="1800" b="0">
                <a:solidFill>
                  <a:srgbClr val="B8C8C1"/>
                </a:solidFill>
                <a:latin typeface="Consolas"/>
                <a:ea typeface="Consolas"/>
                <a:cs typeface="Consolas"/>
              </a:defRPr>
            </a:pPr>
            <a:r>
              <a:rPr sz="1800" b="0">
                <a:solidFill>
                  <a:srgbClr val="B8C8C1"/>
                </a:solidFill>
                <a:latin typeface="Consolas"/>
                <a:ea typeface="Consolas"/>
                <a:cs typeface="Consolas"/>
              </a:rPr>
              <a:t>EN LÍNEA   2 HORAS</a:t>
            </a:r>
          </a:p>
        </p:txBody>
      </p:sp>
    </p:spTree>
    <p:extLst>
      <p:ext uri="{BB962C8B-B14F-4D97-AF65-F5344CB8AC3E}">
        <p14:creationId xmlns:p14="http://schemas.microsoft.com/office/powerpoint/2010/main" val="824252778"/>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C83CAA6-0931-4166-BCDE-43295BA238A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Una segunda herramienta para el mismo objeto</a:t>
            </a:r>
          </a:p>
        </p:txBody>
      </p:sp>
      <p:pic>
        <p:nvPicPr>
          <p:cNvPr id="2" name="">
            <a:extLst xmlns:a="http://schemas.openxmlformats.org/drawingml/2006/main">
              <a:ext uri="{FF2B5EF4-FFF2-40B4-BE49-F238E27FC236}">
                <a16:creationId xmlns:a16="http://schemas.microsoft.com/office/drawing/2014/main" id="{901412A5-5D1A-4788-92E3-009549BE4F40}"/>
              </a:ext>
            </a:extLst>
          </p:cNvPr>
          <p:cNvPicPr>
            <a:picLocks xmlns:a="http://schemas.openxmlformats.org/drawingml/2006/main" noChangeAspect="1"/>
          </p:cNvPicPr>
          <p:nvPr/>
        </p:nvPicPr>
        <p:blipFill>
          <a:blip xmlns:r="http://schemas.openxmlformats.org/officeDocument/2006/relationships" xmlns:a="http://schemas.openxmlformats.org/drawingml/2006/main" r:embed="R042bd9636e6d4d8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E3789B5-8E6C-416A-ABCD-102768CD32B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02/24</a:t>
            </a:r>
          </a:p>
        </p:txBody>
      </p:sp>
      <p:sp>
        <p:nvSpPr>
          <p:cNvPr id="4" name="">
            <a:extLst xmlns:a="http://schemas.openxmlformats.org/drawingml/2006/main">
              <a:ext uri="{FF2B5EF4-FFF2-40B4-BE49-F238E27FC236}">
                <a16:creationId xmlns:a16="http://schemas.microsoft.com/office/drawing/2014/main" id="{80555E9C-7362-49A6-90AC-682CAB87EFCA}"/>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RockSim permite representar componentes y simular vehículos de modelismo. En esta clase el objeto ya está ensamblado y medido. La tarea consiste en introducir la misma configuración que se trabajó en OpenRocket. Cambiar de programa no justifica cambiar sin registro las piezas, masas o condiciones.</a:t>
            </a:r>
          </a:p>
        </p:txBody>
      </p:sp>
    </p:spTree>
    <p:extLst>
      <p:ext uri="{BB962C8B-B14F-4D97-AF65-F5344CB8AC3E}">
        <p14:creationId xmlns:p14="http://schemas.microsoft.com/office/powerpoint/2010/main" val="16525614"/>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037E38-D030-442A-A28A-8DE2F95CAF8B}"/>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Una segunda herramienta para el mismo objeto</a:t>
            </a:r>
          </a:p>
        </p:txBody>
      </p:sp>
      <p:pic>
        <p:nvPicPr>
          <p:cNvPr id="2" name="">
            <a:extLst xmlns:a="http://schemas.openxmlformats.org/drawingml/2006/main">
              <a:ext uri="{FF2B5EF4-FFF2-40B4-BE49-F238E27FC236}">
                <a16:creationId xmlns:a16="http://schemas.microsoft.com/office/drawing/2014/main" id="{6AE89826-EF97-4C55-ACFF-3AEA91E46844}"/>
              </a:ext>
            </a:extLst>
          </p:cNvPr>
          <p:cNvPicPr>
            <a:picLocks xmlns:a="http://schemas.openxmlformats.org/drawingml/2006/main" noChangeAspect="1"/>
          </p:cNvPicPr>
          <p:nvPr/>
        </p:nvPicPr>
        <p:blipFill>
          <a:blip xmlns:r="http://schemas.openxmlformats.org/officeDocument/2006/relationships" xmlns:a="http://schemas.openxmlformats.org/drawingml/2006/main" r:embed="R4c263321e779465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A3953D4-F6FC-42E5-B651-B365CEF1581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03/24</a:t>
            </a:r>
          </a:p>
        </p:txBody>
      </p:sp>
      <p:pic>
        <p:nvPicPr>
          <p:cNvPr id="4" name="">
            <a:extLst xmlns:a="http://schemas.openxmlformats.org/drawingml/2006/main">
              <a:ext uri="{FF2B5EF4-FFF2-40B4-BE49-F238E27FC236}">
                <a16:creationId xmlns:a16="http://schemas.microsoft.com/office/drawing/2014/main" id="{DACF001D-E329-4BDA-A669-78504CBFBAE9}"/>
              </a:ext>
            </a:extLst>
          </p:cNvPr>
          <p:cNvPicPr>
            <a:picLocks xmlns:a="http://schemas.openxmlformats.org/drawingml/2006/main" noChangeAspect="1"/>
          </p:cNvPicPr>
          <p:nvPr/>
        </p:nvPicPr>
        <p:blipFill>
          <a:blip xmlns:r="http://schemas.openxmlformats.org/officeDocument/2006/relationships" xmlns:a="http://schemas.openxmlformats.org/drawingml/2006/main" r:embed="Rbea5bb6cc8bf4d78"/>
          <a:stretch xmlns:a="http://schemas.openxmlformats.org/drawingml/2006/main"/>
        </p:blipFill>
        <p:spPr>
          <a:xfrm xmlns:a="http://schemas.openxmlformats.org/drawingml/2006/main">
            <a:off x="1279525" y="1657350"/>
            <a:ext cx="6032500"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EF313A3-46CC-4086-AFAF-B39D7627C9A8}"/>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¿Es el mismo objeto en los dos programas?</a:t>
            </a:r>
          </a:p>
        </p:txBody>
      </p:sp>
      <p:sp>
        <p:nvSpPr>
          <p:cNvPr id="6" name="">
            <a:extLst xmlns:a="http://schemas.openxmlformats.org/drawingml/2006/main">
              <a:ext uri="{FF2B5EF4-FFF2-40B4-BE49-F238E27FC236}">
                <a16:creationId xmlns:a16="http://schemas.microsoft.com/office/drawing/2014/main" id="{7F1C12A5-7119-4FE0-80D8-8AABA6821F52}"/>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El ejemplo de OpenRocket recuerda qué componentes deben corresponder entre programas. No es una captura de RockSim.</a:t>
            </a:r>
          </a:p>
        </p:txBody>
      </p:sp>
    </p:spTree>
    <p:extLst>
      <p:ext uri="{BB962C8B-B14F-4D97-AF65-F5344CB8AC3E}">
        <p14:creationId xmlns:p14="http://schemas.microsoft.com/office/powerpoint/2010/main" val="529321820"/>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36F85A0-B535-444E-8F35-8689714CC4B3}"/>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debe acompañar la comparación</a:t>
            </a:r>
          </a:p>
        </p:txBody>
      </p:sp>
      <p:pic>
        <p:nvPicPr>
          <p:cNvPr id="2" name="">
            <a:extLst xmlns:a="http://schemas.openxmlformats.org/drawingml/2006/main">
              <a:ext uri="{FF2B5EF4-FFF2-40B4-BE49-F238E27FC236}">
                <a16:creationId xmlns:a16="http://schemas.microsoft.com/office/drawing/2014/main" id="{48747AEB-8B48-4ED4-A379-33A62635B7DF}"/>
              </a:ext>
            </a:extLst>
          </p:cNvPr>
          <p:cNvPicPr>
            <a:picLocks xmlns:a="http://schemas.openxmlformats.org/drawingml/2006/main" noChangeAspect="1"/>
          </p:cNvPicPr>
          <p:nvPr/>
        </p:nvPicPr>
        <p:blipFill>
          <a:blip xmlns:r="http://schemas.openxmlformats.org/officeDocument/2006/relationships" xmlns:a="http://schemas.openxmlformats.org/drawingml/2006/main" r:embed="R48cefbf32b80492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3807DA5-B8AD-420D-8A8F-4C72A0414DC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04/24</a:t>
            </a:r>
          </a:p>
        </p:txBody>
      </p:sp>
      <p:graphicFrame>
        <p:nvGraphicFramePr>
          <p:cNvPr id="4" name="">
            <a:extLst xmlns:a="http://schemas.openxmlformats.org/drawingml/2006/main">
              <a:ext uri="{FF2B5EF4-FFF2-40B4-BE49-F238E27FC236}">
                <a16:creationId xmlns:a16="http://schemas.microsoft.com/office/drawing/2014/main" id="{38222D37-1955-432D-A8FA-BE7218DA538F}"/>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5505450"/>
                <a:gridCol w="5505450"/>
              </a:tblGrid>
              <a:tr h="658813">
                <a:tc>
                  <a:txBody>
                    <a:bodyPr/>
                    <a:lstStyle/>
                    <a:p>
                      <a:r>
                        <a:rPr sz="2025" b="1">
                          <a:solidFill>
                            <a:srgbClr val="FFFFFF"/>
                          </a:solidFill>
                          <a:latin typeface="Arial"/>
                          <a:ea typeface="Arial"/>
                          <a:cs typeface="Arial"/>
                        </a:rPr>
                        <a:t>Dato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Por qué se conserva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58813">
                <a:tc>
                  <a:txBody>
                    <a:bodyPr/>
                    <a:lstStyle/>
                    <a:p>
                      <a:r>
                        <a:rPr sz="2025" b="0">
                          <a:solidFill>
                            <a:srgbClr val="14231E"/>
                          </a:solidFill>
                          <a:latin typeface="Arial"/>
                          <a:ea typeface="Arial"/>
                          <a:cs typeface="Arial"/>
                        </a:rPr>
                        <a:t>Archivo del taller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Referencia del objeto construido</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Plano y masas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Entradas geométricas y físicas</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Conjunto comercial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Misma configuración</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Condiciones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Comparación identificada</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Versiones de software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Reproducir la práctica</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111088314"/>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B824452-0DDF-4E7B-BADC-92164108F2DB}"/>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árbol de piezas también necesita referencias</a:t>
            </a:r>
          </a:p>
        </p:txBody>
      </p:sp>
      <p:pic>
        <p:nvPicPr>
          <p:cNvPr id="2" name="">
            <a:extLst xmlns:a="http://schemas.openxmlformats.org/drawingml/2006/main">
              <a:ext uri="{FF2B5EF4-FFF2-40B4-BE49-F238E27FC236}">
                <a16:creationId xmlns:a16="http://schemas.microsoft.com/office/drawing/2014/main" id="{865EAEB7-C1A9-44D0-B794-58CB6F869E7E}"/>
              </a:ext>
            </a:extLst>
          </p:cNvPr>
          <p:cNvPicPr>
            <a:picLocks xmlns:a="http://schemas.openxmlformats.org/drawingml/2006/main" noChangeAspect="1"/>
          </p:cNvPicPr>
          <p:nvPr/>
        </p:nvPicPr>
        <p:blipFill>
          <a:blip xmlns:r="http://schemas.openxmlformats.org/officeDocument/2006/relationships" xmlns:a="http://schemas.openxmlformats.org/drawingml/2006/main" r:embed="R350cdd0ec3ce476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ADCA455-4F90-4D16-94B0-4A8B0BED4DD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05/24</a:t>
            </a:r>
          </a:p>
        </p:txBody>
      </p:sp>
      <p:sp>
        <p:nvSpPr>
          <p:cNvPr id="4" name="">
            <a:extLst xmlns:a="http://schemas.openxmlformats.org/drawingml/2006/main">
              <a:ext uri="{FF2B5EF4-FFF2-40B4-BE49-F238E27FC236}">
                <a16:creationId xmlns:a16="http://schemas.microsoft.com/office/drawing/2014/main" id="{9B46A58C-1EAA-4D29-BF54-E26F89693540}"/>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documentación de Apogee describe una construcción desde la nariz hacia la cola. Al añadir una pieza se selecciona el componente al que se asociará. Esa lógica se parece al árbol que ya conocemos, pero los nombres, referencias y opciones pueden variar. La similitud de una imagen no garantiza que todas sus entradas coincidan.</a:t>
            </a:r>
          </a:p>
        </p:txBody>
      </p:sp>
    </p:spTree>
    <p:extLst>
      <p:ext uri="{BB962C8B-B14F-4D97-AF65-F5344CB8AC3E}">
        <p14:creationId xmlns:p14="http://schemas.microsoft.com/office/powerpoint/2010/main" val="1151336241"/>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FAF29D1-62F1-4922-815D-99B579096B8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Traducción que debe comprobar el alumno</a:t>
            </a:r>
          </a:p>
        </p:txBody>
      </p:sp>
      <p:pic>
        <p:nvPicPr>
          <p:cNvPr id="2" name="">
            <a:extLst xmlns:a="http://schemas.openxmlformats.org/drawingml/2006/main">
              <a:ext uri="{FF2B5EF4-FFF2-40B4-BE49-F238E27FC236}">
                <a16:creationId xmlns:a16="http://schemas.microsoft.com/office/drawing/2014/main" id="{D73CBF77-2D9D-44D9-8296-092DC2FAC982}"/>
              </a:ext>
            </a:extLst>
          </p:cNvPr>
          <p:cNvPicPr>
            <a:picLocks xmlns:a="http://schemas.openxmlformats.org/drawingml/2006/main" noChangeAspect="1"/>
          </p:cNvPicPr>
          <p:nvPr/>
        </p:nvPicPr>
        <p:blipFill>
          <a:blip xmlns:r="http://schemas.openxmlformats.org/officeDocument/2006/relationships" xmlns:a="http://schemas.openxmlformats.org/drawingml/2006/main" r:embed="R2e5cb4cb216546e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CEB3CD6-83B2-473B-88C6-DA2C0AE7CAE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06/24</a:t>
            </a:r>
          </a:p>
        </p:txBody>
      </p:sp>
      <p:graphicFrame>
        <p:nvGraphicFramePr>
          <p:cNvPr id="4" name="">
            <a:extLst xmlns:a="http://schemas.openxmlformats.org/drawingml/2006/main">
              <a:ext uri="{FF2B5EF4-FFF2-40B4-BE49-F238E27FC236}">
                <a16:creationId xmlns:a16="http://schemas.microsoft.com/office/drawing/2014/main" id="{814D02FC-B1A9-4828-A7C1-2F37164C0C7E}"/>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5505450"/>
                <a:gridCol w="5505450"/>
              </a:tblGrid>
              <a:tr h="658813">
                <a:tc>
                  <a:txBody>
                    <a:bodyPr/>
                    <a:lstStyle/>
                    <a:p>
                      <a:r>
                        <a:rPr sz="2025" b="1">
                          <a:solidFill>
                            <a:srgbClr val="FFFFFF"/>
                          </a:solidFill>
                          <a:latin typeface="Arial"/>
                          <a:ea typeface="Arial"/>
                          <a:cs typeface="Arial"/>
                        </a:rPr>
                        <a:t>Pieza física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Campo o representación a revisar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58813">
                <a:tc>
                  <a:txBody>
                    <a:bodyPr/>
                    <a:lstStyle/>
                    <a:p>
                      <a:r>
                        <a:rPr sz="2025" b="0">
                          <a:solidFill>
                            <a:srgbClr val="14231E"/>
                          </a:solidFill>
                          <a:latin typeface="Arial"/>
                          <a:ea typeface="Arial"/>
                          <a:cs typeface="Arial"/>
                        </a:rPr>
                        <a:t>Nariz</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Forma, longitud, base y hombro</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Cuerpo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Longitud, diámetros y pared</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Aletas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Contorno, cantidad y ubicación</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Masas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Componente, conjunto y ajustes</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Recuperación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Dispositivo y evento</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2053184248"/>
      </p:ext>
    </p:extLst>
  </p:cSld>
</p:sld>
</file>

<file path=ppt/slides/slide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E478C9A-BB68-4775-856F-31BA0FF7147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El árbol de piezas también necesita referencias</a:t>
            </a:r>
          </a:p>
        </p:txBody>
      </p:sp>
      <p:pic>
        <p:nvPicPr>
          <p:cNvPr id="2" name="">
            <a:extLst xmlns:a="http://schemas.openxmlformats.org/drawingml/2006/main">
              <a:ext uri="{FF2B5EF4-FFF2-40B4-BE49-F238E27FC236}">
                <a16:creationId xmlns:a16="http://schemas.microsoft.com/office/drawing/2014/main" id="{7138E185-C061-4AAF-9001-645EEB9A2BCB}"/>
              </a:ext>
            </a:extLst>
          </p:cNvPr>
          <p:cNvPicPr>
            <a:picLocks xmlns:a="http://schemas.openxmlformats.org/drawingml/2006/main" noChangeAspect="1"/>
          </p:cNvPicPr>
          <p:nvPr/>
        </p:nvPicPr>
        <p:blipFill>
          <a:blip xmlns:r="http://schemas.openxmlformats.org/officeDocument/2006/relationships" xmlns:a="http://schemas.openxmlformats.org/drawingml/2006/main" r:embed="R6dba9283e031402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7A43ECD-CA95-48E8-B5AD-270068D3EA4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07/24</a:t>
            </a:r>
          </a:p>
        </p:txBody>
      </p:sp>
      <p:sp>
        <p:nvSpPr>
          <p:cNvPr id="4" name="">
            <a:extLst xmlns:a="http://schemas.openxmlformats.org/drawingml/2006/main">
              <a:ext uri="{FF2B5EF4-FFF2-40B4-BE49-F238E27FC236}">
                <a16:creationId xmlns:a16="http://schemas.microsoft.com/office/drawing/2014/main" id="{44AA6AB4-EE6F-491B-8E51-D3B6575E055F}"/>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Crea un proyecto de una etapa y nómbralo con el equipo y revisión del taller.</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Añade nariz y cuerpo con las medidas del plano.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Representa aletas y componentes interiores existentes.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Introduce masas y recuperación con el criterio que corresponda a cada componente.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Guarda antes de añadir la configuración comercial y revisa la vista lateral.</a:t>
            </a:r>
          </a:p>
        </p:txBody>
      </p:sp>
    </p:spTree>
    <p:extLst>
      <p:ext uri="{BB962C8B-B14F-4D97-AF65-F5344CB8AC3E}">
        <p14:creationId xmlns:p14="http://schemas.microsoft.com/office/powerpoint/2010/main" val="354446167"/>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50F0227-3C2C-41DD-BE3A-D30DE941EA4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Tabla de equivalencia antes de simular</a:t>
            </a:r>
          </a:p>
        </p:txBody>
      </p:sp>
      <p:pic>
        <p:nvPicPr>
          <p:cNvPr id="2" name="">
            <a:extLst xmlns:a="http://schemas.openxmlformats.org/drawingml/2006/main">
              <a:ext uri="{FF2B5EF4-FFF2-40B4-BE49-F238E27FC236}">
                <a16:creationId xmlns:a16="http://schemas.microsoft.com/office/drawing/2014/main" id="{C6F687A2-B58D-4B68-B632-BAEE4124DBF6}"/>
              </a:ext>
            </a:extLst>
          </p:cNvPr>
          <p:cNvPicPr>
            <a:picLocks xmlns:a="http://schemas.openxmlformats.org/drawingml/2006/main" noChangeAspect="1"/>
          </p:cNvPicPr>
          <p:nvPr/>
        </p:nvPicPr>
        <p:blipFill>
          <a:blip xmlns:r="http://schemas.openxmlformats.org/officeDocument/2006/relationships" xmlns:a="http://schemas.openxmlformats.org/drawingml/2006/main" r:embed="R6ece6b65ffb14fd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9ABE33B-722D-48C6-B6BC-E9BE96B79E2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08/24</a:t>
            </a:r>
          </a:p>
        </p:txBody>
      </p:sp>
      <p:sp>
        <p:nvSpPr>
          <p:cNvPr id="4" name="">
            <a:extLst xmlns:a="http://schemas.openxmlformats.org/drawingml/2006/main">
              <a:ext uri="{FF2B5EF4-FFF2-40B4-BE49-F238E27FC236}">
                <a16:creationId xmlns:a16="http://schemas.microsoft.com/office/drawing/2014/main" id="{55F5E341-3216-43CC-853A-1792B7FF97F3}"/>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Cada coincidencia debe poder revisarse en el archivo. Si una herramienta representa un detalle de forma diferente, se describe la diferencia y no se marca la fila como idéntica. La comparación puede seguir siendo útil si su alcance es claro.</a:t>
            </a:r>
          </a:p>
        </p:txBody>
      </p:sp>
    </p:spTree>
    <p:extLst>
      <p:ext uri="{BB962C8B-B14F-4D97-AF65-F5344CB8AC3E}">
        <p14:creationId xmlns:p14="http://schemas.microsoft.com/office/powerpoint/2010/main" val="1134641753"/>
      </p:ext>
    </p:extLst>
  </p:cSld>
</p:sld>
</file>

<file path=ppt/slides/slide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4B55823-DA1C-45AF-AA05-5CD7083C1F84}"/>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Comparación de entradas</a:t>
            </a:r>
          </a:p>
        </p:txBody>
      </p:sp>
      <p:pic>
        <p:nvPicPr>
          <p:cNvPr id="2" name="">
            <a:extLst xmlns:a="http://schemas.openxmlformats.org/drawingml/2006/main">
              <a:ext uri="{FF2B5EF4-FFF2-40B4-BE49-F238E27FC236}">
                <a16:creationId xmlns:a16="http://schemas.microsoft.com/office/drawing/2014/main" id="{A65D5FB1-B146-41BA-A6C7-93B81B634B88}"/>
              </a:ext>
            </a:extLst>
          </p:cNvPr>
          <p:cNvPicPr>
            <a:picLocks xmlns:a="http://schemas.openxmlformats.org/drawingml/2006/main" noChangeAspect="1"/>
          </p:cNvPicPr>
          <p:nvPr/>
        </p:nvPicPr>
        <p:blipFill>
          <a:blip xmlns:r="http://schemas.openxmlformats.org/officeDocument/2006/relationships" xmlns:a="http://schemas.openxmlformats.org/drawingml/2006/main" r:embed="Rc7791f2ec244425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876FA98-520C-45C4-AA77-938683B43F0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09/24</a:t>
            </a:r>
          </a:p>
        </p:txBody>
      </p:sp>
      <p:graphicFrame>
        <p:nvGraphicFramePr>
          <p:cNvPr id="4" name="">
            <a:extLst xmlns:a="http://schemas.openxmlformats.org/drawingml/2006/main">
              <a:ext uri="{FF2B5EF4-FFF2-40B4-BE49-F238E27FC236}">
                <a16:creationId xmlns:a16="http://schemas.microsoft.com/office/drawing/2014/main" id="{A40CE46D-DC4A-4FAC-A8D2-1694F82C3219}"/>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5334000"/>
                <a:gridCol w="2838450"/>
                <a:gridCol w="2838450"/>
              </a:tblGrid>
              <a:tr h="564696">
                <a:tc>
                  <a:txBody>
                    <a:bodyPr/>
                    <a:lstStyle/>
                    <a:p>
                      <a:r>
                        <a:rPr sz="2025" b="1">
                          <a:solidFill>
                            <a:srgbClr val="FFFFFF"/>
                          </a:solidFill>
                          <a:latin typeface="Arial"/>
                          <a:ea typeface="Arial"/>
                          <a:cs typeface="Arial"/>
                        </a:rPr>
                        <a:t>Elemento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OpenRocket</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RockSim</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564696">
                <a:tc>
                  <a:txBody>
                    <a:bodyPr/>
                    <a:lstStyle/>
                    <a:p>
                      <a:r>
                        <a:rPr sz="2025" b="0">
                          <a:solidFill>
                            <a:srgbClr val="14231E"/>
                          </a:solidFill>
                          <a:latin typeface="Arial"/>
                          <a:ea typeface="Arial"/>
                          <a:cs typeface="Arial"/>
                        </a:rPr>
                        <a:t>Longitud exterior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Registrar</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Comprobar</a:t>
                      </a:r>
                    </a:p>
                  </a:txBody>
                  <a:tcPr marL="91440" marR="91440" marT="45720" marB="45720">
                    <a:lnR w="9525">
                      <a:solidFill>
                        <a:srgbClr val="BFCEC3"/>
                      </a:solidFill>
                      <a:prstDash val="solid"/>
                    </a:lnR>
                    <a:lnB w="9525">
                      <a:solidFill>
                        <a:srgbClr val="BFCEC3"/>
                      </a:solidFill>
                      <a:prstDash val="solid"/>
                    </a:lnB>
                    <a:solidFill>
                      <a:srgbClr val="EAF3EC"/>
                    </a:solidFill>
                  </a:tcPr>
                </a:tc>
              </a:tr>
              <a:tr h="564696">
                <a:tc>
                  <a:txBody>
                    <a:bodyPr/>
                    <a:lstStyle/>
                    <a:p>
                      <a:r>
                        <a:rPr sz="2025" b="0">
                          <a:solidFill>
                            <a:srgbClr val="14231E"/>
                          </a:solidFill>
                          <a:latin typeface="Arial"/>
                          <a:ea typeface="Arial"/>
                          <a:cs typeface="Arial"/>
                        </a:rPr>
                        <a:t>Diámetro del cuerpo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Registrar</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Comprobar</a:t>
                      </a:r>
                    </a:p>
                  </a:txBody>
                  <a:tcPr marL="91440" marR="91440" marT="45720" marB="45720">
                    <a:lnR w="9525">
                      <a:solidFill>
                        <a:srgbClr val="BFCEC3"/>
                      </a:solidFill>
                      <a:prstDash val="solid"/>
                    </a:lnR>
                    <a:lnB w="9525">
                      <a:solidFill>
                        <a:srgbClr val="BFCEC3"/>
                      </a:solidFill>
                      <a:prstDash val="solid"/>
                    </a:lnB>
                    <a:solidFill>
                      <a:srgbClr val="FCFCF8"/>
                    </a:solidFill>
                  </a:tcPr>
                </a:tc>
              </a:tr>
              <a:tr h="564696">
                <a:tc>
                  <a:txBody>
                    <a:bodyPr/>
                    <a:lstStyle/>
                    <a:p>
                      <a:r>
                        <a:rPr sz="2025" b="0">
                          <a:solidFill>
                            <a:srgbClr val="14231E"/>
                          </a:solidFill>
                          <a:latin typeface="Arial"/>
                          <a:ea typeface="Arial"/>
                          <a:cs typeface="Arial"/>
                        </a:rPr>
                        <a:t>Geometría y posición de aletas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Registrar</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Comprobar</a:t>
                      </a:r>
                    </a:p>
                  </a:txBody>
                  <a:tcPr marL="91440" marR="91440" marT="45720" marB="45720">
                    <a:lnR w="9525">
                      <a:solidFill>
                        <a:srgbClr val="BFCEC3"/>
                      </a:solidFill>
                      <a:prstDash val="solid"/>
                    </a:lnR>
                    <a:lnB w="9525">
                      <a:solidFill>
                        <a:srgbClr val="BFCEC3"/>
                      </a:solidFill>
                      <a:prstDash val="solid"/>
                    </a:lnB>
                    <a:solidFill>
                      <a:srgbClr val="EAF3EC"/>
                    </a:solidFill>
                  </a:tcPr>
                </a:tc>
              </a:tr>
              <a:tr h="564696">
                <a:tc>
                  <a:txBody>
                    <a:bodyPr/>
                    <a:lstStyle/>
                    <a:p>
                      <a:r>
                        <a:rPr sz="2025" b="0">
                          <a:solidFill>
                            <a:srgbClr val="14231E"/>
                          </a:solidFill>
                          <a:latin typeface="Arial"/>
                          <a:ea typeface="Arial"/>
                          <a:cs typeface="Arial"/>
                        </a:rPr>
                        <a:t>Masa de la misma configuración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Registrar</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Comprobar</a:t>
                      </a:r>
                    </a:p>
                  </a:txBody>
                  <a:tcPr marL="91440" marR="91440" marT="45720" marB="45720">
                    <a:lnR w="9525">
                      <a:solidFill>
                        <a:srgbClr val="BFCEC3"/>
                      </a:solidFill>
                      <a:prstDash val="solid"/>
                    </a:lnR>
                    <a:lnB w="9525">
                      <a:solidFill>
                        <a:srgbClr val="BFCEC3"/>
                      </a:solidFill>
                      <a:prstDash val="solid"/>
                    </a:lnB>
                    <a:solidFill>
                      <a:srgbClr val="FCFCF8"/>
                    </a:solidFill>
                  </a:tcPr>
                </a:tc>
              </a:tr>
              <a:tr h="564696">
                <a:tc>
                  <a:txBody>
                    <a:bodyPr/>
                    <a:lstStyle/>
                    <a:p>
                      <a:r>
                        <a:rPr sz="2025" b="0">
                          <a:solidFill>
                            <a:srgbClr val="14231E"/>
                          </a:solidFill>
                          <a:latin typeface="Arial"/>
                          <a:ea typeface="Arial"/>
                          <a:cs typeface="Arial"/>
                        </a:rPr>
                        <a:t>Motor y recuperación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Identificar</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Confirmar</a:t>
                      </a:r>
                    </a:p>
                  </a:txBody>
                  <a:tcPr marL="91440" marR="91440" marT="45720" marB="45720">
                    <a:lnR w="9525">
                      <a:solidFill>
                        <a:srgbClr val="BFCEC3"/>
                      </a:solidFill>
                      <a:prstDash val="solid"/>
                    </a:lnR>
                    <a:lnB w="9525">
                      <a:solidFill>
                        <a:srgbClr val="BFCEC3"/>
                      </a:solidFill>
                      <a:prstDash val="solid"/>
                    </a:lnB>
                    <a:solidFill>
                      <a:srgbClr val="EAF3EC"/>
                    </a:solidFill>
                  </a:tcPr>
                </a:tc>
              </a:tr>
              <a:tr h="564696">
                <a:tc>
                  <a:txBody>
                    <a:bodyPr/>
                    <a:lstStyle/>
                    <a:p>
                      <a:r>
                        <a:rPr sz="2025" b="0">
                          <a:solidFill>
                            <a:srgbClr val="14231E"/>
                          </a:solidFill>
                          <a:latin typeface="Arial"/>
                          <a:ea typeface="Arial"/>
                          <a:cs typeface="Arial"/>
                        </a:rPr>
                        <a:t>Condiciones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Guardar</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Guardar</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230006335"/>
      </p:ext>
    </p:extLst>
  </p:cSld>
</p:sld>
</file>

<file path=ppt/slides/slide10.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4672FB1-D1F2-4CDC-B280-44E5ABCD0731}"/>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El resultado cambia por una entrada</a:t>
            </a:r>
          </a:p>
        </p:txBody>
      </p:sp>
      <p:pic>
        <p:nvPicPr>
          <p:cNvPr id="2" name="">
            <a:extLst xmlns:a="http://schemas.openxmlformats.org/drawingml/2006/main">
              <a:ext uri="{FF2B5EF4-FFF2-40B4-BE49-F238E27FC236}">
                <a16:creationId xmlns:a16="http://schemas.microsoft.com/office/drawing/2014/main" id="{1688253D-4B3C-4CA9-962D-2DD45323B0BE}"/>
              </a:ext>
            </a:extLst>
          </p:cNvPr>
          <p:cNvPicPr>
            <a:picLocks xmlns:a="http://schemas.openxmlformats.org/drawingml/2006/main" noChangeAspect="1"/>
          </p:cNvPicPr>
          <p:nvPr/>
        </p:nvPicPr>
        <p:blipFill>
          <a:blip xmlns:r="http://schemas.openxmlformats.org/officeDocument/2006/relationships" xmlns:a="http://schemas.openxmlformats.org/drawingml/2006/main" r:embed="R7f39f5bec957491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3C69FB9-5628-4BCB-BD8D-71439AF7AFB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13   10/24</a:t>
            </a:r>
          </a:p>
        </p:txBody>
      </p:sp>
      <p:sp>
        <p:nvSpPr>
          <p:cNvPr id="4" name="">
            <a:extLst xmlns:a="http://schemas.openxmlformats.org/drawingml/2006/main">
              <a:ext uri="{FF2B5EF4-FFF2-40B4-BE49-F238E27FC236}">
                <a16:creationId xmlns:a16="http://schemas.microsoft.com/office/drawing/2014/main" id="{0D17B0FD-1539-4366-96AA-BBCA9C8646B6}"/>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RockSim predice una altura distinta y el equipo descubre que una aleta tenía una raíz de 50 mm en un programa y 60 mm en el otro.</a:t>
            </a:r>
          </a:p>
        </p:txBody>
      </p:sp>
      <p:sp>
        <p:nvSpPr>
          <p:cNvPr id="5" name="">
            <a:extLst xmlns:a="http://schemas.openxmlformats.org/drawingml/2006/main">
              <a:ext uri="{FF2B5EF4-FFF2-40B4-BE49-F238E27FC236}">
                <a16:creationId xmlns:a16="http://schemas.microsoft.com/office/drawing/2014/main" id="{3B6679DA-0EE8-4BE8-A9A0-4E6D7D2EE1FA}"/>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¿La biblioteca de materiales da la misma masa?</a:t>
            </a:r>
          </a:p>
        </p:txBody>
      </p:sp>
    </p:spTree>
    <p:extLst>
      <p:ext uri="{BB962C8B-B14F-4D97-AF65-F5344CB8AC3E}">
        <p14:creationId xmlns:p14="http://schemas.microsoft.com/office/powerpoint/2010/main" val="44355344"/>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DE17B42-5277-409A-AEE8-2ADF0EF55007}"/>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Ejecutar y comparar pocos resultados</a:t>
            </a:r>
          </a:p>
        </p:txBody>
      </p:sp>
      <p:pic>
        <p:nvPicPr>
          <p:cNvPr id="2" name="">
            <a:extLst xmlns:a="http://schemas.openxmlformats.org/drawingml/2006/main">
              <a:ext uri="{FF2B5EF4-FFF2-40B4-BE49-F238E27FC236}">
                <a16:creationId xmlns:a16="http://schemas.microsoft.com/office/drawing/2014/main" id="{6FBA0B8F-A973-4BD3-9C26-62D07A0DED82}"/>
              </a:ext>
            </a:extLst>
          </p:cNvPr>
          <p:cNvPicPr>
            <a:picLocks xmlns:a="http://schemas.openxmlformats.org/drawingml/2006/main" noChangeAspect="1"/>
          </p:cNvPicPr>
          <p:nvPr/>
        </p:nvPicPr>
        <p:blipFill>
          <a:blip xmlns:r="http://schemas.openxmlformats.org/officeDocument/2006/relationships" xmlns:a="http://schemas.openxmlformats.org/drawingml/2006/main" r:embed="Rd6112bf9f06844d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2E96142-DA14-4842-92B7-4FF969A2D77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11/24</a:t>
            </a:r>
          </a:p>
        </p:txBody>
      </p:sp>
      <p:sp>
        <p:nvSpPr>
          <p:cNvPr id="4" name="">
            <a:extLst xmlns:a="http://schemas.openxmlformats.org/drawingml/2006/main">
              <a:ext uri="{FF2B5EF4-FFF2-40B4-BE49-F238E27FC236}">
                <a16:creationId xmlns:a16="http://schemas.microsoft.com/office/drawing/2014/main" id="{CC5A959B-4A8D-4AA0-9158-F5AAA6639908}"/>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Una vez revisadas las entradas, configura el mismo componente comercial y las condiciones correspondientes. El docente guía la ejecución según la interfaz instalada. Se eligen pocas salidas que tengan sentido para el proyecto: masa de configuración, apogeo, fin del empuje y evento de recuperación.</a:t>
            </a:r>
          </a:p>
        </p:txBody>
      </p:sp>
    </p:spTree>
    <p:extLst>
      <p:ext uri="{BB962C8B-B14F-4D97-AF65-F5344CB8AC3E}">
        <p14:creationId xmlns:p14="http://schemas.microsoft.com/office/powerpoint/2010/main" val="1392059441"/>
      </p:ext>
    </p:extLst>
  </p:cSld>
</p:sld>
</file>

<file path=ppt/slides/slide1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E25F72B-C4F2-4910-9403-EDD1C4A5C04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 del equipo</a:t>
            </a:r>
          </a:p>
        </p:txBody>
      </p:sp>
      <p:pic>
        <p:nvPicPr>
          <p:cNvPr id="2" name="">
            <a:extLst xmlns:a="http://schemas.openxmlformats.org/drawingml/2006/main">
              <a:ext uri="{FF2B5EF4-FFF2-40B4-BE49-F238E27FC236}">
                <a16:creationId xmlns:a16="http://schemas.microsoft.com/office/drawing/2014/main" id="{24DCD55E-65B2-4144-88E8-E49C9C150D16}"/>
              </a:ext>
            </a:extLst>
          </p:cNvPr>
          <p:cNvPicPr>
            <a:picLocks xmlns:a="http://schemas.openxmlformats.org/drawingml/2006/main" noChangeAspect="1"/>
          </p:cNvPicPr>
          <p:nvPr/>
        </p:nvPicPr>
        <p:blipFill>
          <a:blip xmlns:r="http://schemas.openxmlformats.org/officeDocument/2006/relationships" xmlns:a="http://schemas.openxmlformats.org/drawingml/2006/main" r:embed="Rb8a00df7d72043b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4999BC8-34ED-484B-B473-E8AA18F4FC1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13   12/24</a:t>
            </a:r>
          </a:p>
        </p:txBody>
      </p:sp>
      <p:sp>
        <p:nvSpPr>
          <p:cNvPr id="4" name="">
            <a:extLst xmlns:a="http://schemas.openxmlformats.org/drawingml/2006/main">
              <a:ext uri="{FF2B5EF4-FFF2-40B4-BE49-F238E27FC236}">
                <a16:creationId xmlns:a16="http://schemas.microsoft.com/office/drawing/2014/main" id="{55AAB099-B125-4E59-94EC-F758FF47B200}"/>
              </a:ext>
            </a:extLst>
          </p:cNvPr>
          <p:cNvSpPr>
            <a:spLocks xmlns:a="http://schemas.openxmlformats.org/drawingml/2006/main" noGrp="1"/>
          </p:cNvSpPr>
          <p:nvPr/>
        </p:nvSpPr>
        <p:spPr>
          <a:xfrm xmlns:a="http://schemas.openxmlformats.org/drawingml/2006/main">
            <a:off x="590550" y="1800225"/>
            <a:ext cx="1071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AEF4BB"/>
                </a:solidFill>
                <a:latin typeface="Arial"/>
                <a:ea typeface="Arial"/>
                <a:cs typeface="Arial"/>
              </a:defRPr>
            </a:defPPr>
            <a:lvl1pPr>
              <a:defRPr sz="3075" b="1">
                <a:solidFill>
                  <a:srgbClr val="AEF4BB"/>
                </a:solidFill>
                <a:latin typeface="Arial"/>
                <a:ea typeface="Arial"/>
                <a:cs typeface="Arial"/>
              </a:defRPr>
            </a:lvl1pPr>
            <a:lvl2pPr>
              <a:defRPr sz="3075" b="1">
                <a:solidFill>
                  <a:srgbClr val="AEF4BB"/>
                </a:solidFill>
                <a:latin typeface="Arial"/>
                <a:ea typeface="Arial"/>
                <a:cs typeface="Arial"/>
              </a:defRPr>
            </a:lvl2pPr>
            <a:lvl3pPr>
              <a:defRPr sz="3075" b="1">
                <a:solidFill>
                  <a:srgbClr val="AEF4BB"/>
                </a:solidFill>
                <a:latin typeface="Arial"/>
                <a:ea typeface="Arial"/>
                <a:cs typeface="Arial"/>
              </a:defRPr>
            </a:lvl3pPr>
            <a:lvl4pPr>
              <a:defRPr sz="3075" b="1">
                <a:solidFill>
                  <a:srgbClr val="AEF4BB"/>
                </a:solidFill>
                <a:latin typeface="Arial"/>
                <a:ea typeface="Arial"/>
                <a:cs typeface="Arial"/>
              </a:defRPr>
            </a:lvl4pPr>
            <a:lvl5pPr>
              <a:defRPr sz="3075" b="1">
                <a:solidFill>
                  <a:srgbClr val="AEF4BB"/>
                </a:solidFill>
                <a:latin typeface="Arial"/>
                <a:ea typeface="Arial"/>
                <a:cs typeface="Arial"/>
              </a:defRPr>
            </a:lvl5pPr>
            <a:lvl6pPr>
              <a:defRPr sz="3075" b="1">
                <a:solidFill>
                  <a:srgbClr val="AEF4BB"/>
                </a:solidFill>
                <a:latin typeface="Arial"/>
                <a:ea typeface="Arial"/>
                <a:cs typeface="Arial"/>
              </a:defRPr>
            </a:lvl6pPr>
            <a:lvl7pPr>
              <a:defRPr sz="3075" b="1">
                <a:solidFill>
                  <a:srgbClr val="AEF4BB"/>
                </a:solidFill>
                <a:latin typeface="Arial"/>
                <a:ea typeface="Arial"/>
                <a:cs typeface="Arial"/>
              </a:defRPr>
            </a:lvl7pPr>
            <a:lvl8pPr>
              <a:defRPr sz="3075" b="1">
                <a:solidFill>
                  <a:srgbClr val="AEF4BB"/>
                </a:solidFill>
                <a:latin typeface="Arial"/>
                <a:ea typeface="Arial"/>
                <a:cs typeface="Arial"/>
              </a:defRPr>
            </a:lvl8pPr>
            <a:lvl9pPr>
              <a:defRPr sz="3075" b="1">
                <a:solidFill>
                  <a:srgbClr val="AEF4BB"/>
                </a:solidFill>
                <a:latin typeface="Arial"/>
                <a:ea typeface="Arial"/>
                <a:cs typeface="Arial"/>
              </a:defRPr>
            </a:lvl9pPr>
          </a:lstStyle>
          <a:p xmlns:a="http://schemas.openxmlformats.org/drawingml/2006/main">
            <a:pPr>
              <a:defRPr sz="3075" b="1">
                <a:solidFill>
                  <a:srgbClr val="AEF4BB"/>
                </a:solidFill>
                <a:latin typeface="Arial"/>
                <a:ea typeface="Arial"/>
                <a:cs typeface="Arial"/>
              </a:defRPr>
            </a:pPr>
            <a:r>
              <a:rPr sz="3075" b="1">
                <a:solidFill>
                  <a:srgbClr val="AEF4BB"/>
                </a:solidFill>
                <a:latin typeface="Arial"/>
                <a:ea typeface="Arial"/>
                <a:cs typeface="Arial"/>
              </a:rPr>
              <a:t>¿La resta compara las mismas variables y unidades?</a:t>
            </a:r>
          </a:p>
        </p:txBody>
      </p:sp>
      <p:sp>
        <p:nvSpPr>
          <p:cNvPr id="5" name="">
            <a:extLst xmlns:a="http://schemas.openxmlformats.org/drawingml/2006/main">
              <a:ext uri="{FF2B5EF4-FFF2-40B4-BE49-F238E27FC236}">
                <a16:creationId xmlns:a16="http://schemas.microsoft.com/office/drawing/2014/main" id="{5089359E-A009-485F-8432-7541393EAF6A}"/>
              </a:ext>
            </a:extLst>
          </p:cNvPr>
          <p:cNvSpPr>
            <a:spLocks xmlns:a="http://schemas.openxmlformats.org/drawingml/2006/main" noGrp="1"/>
          </p:cNvSpPr>
          <p:nvPr/>
        </p:nvSpPr>
        <p:spPr>
          <a:xfrm xmlns:a="http://schemas.openxmlformats.org/drawingml/2006/main">
            <a:off x="590550" y="3800475"/>
            <a:ext cx="10715625"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No es necesario estudiar aquí el método numérico interno. Se aprende a conservar entradas, unidades y resultados para hacer una comparación defendible.</a:t>
            </a:r>
          </a:p>
        </p:txBody>
      </p:sp>
    </p:spTree>
    <p:extLst>
      <p:ext uri="{BB962C8B-B14F-4D97-AF65-F5344CB8AC3E}">
        <p14:creationId xmlns:p14="http://schemas.microsoft.com/office/powerpoint/2010/main" val="2132445021"/>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879521F-3DCD-41D3-89A1-F1366D2E8779}"/>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Ejecutar y comparar pocos resultados</a:t>
            </a:r>
          </a:p>
        </p:txBody>
      </p:sp>
      <p:pic>
        <p:nvPicPr>
          <p:cNvPr id="2" name="">
            <a:extLst xmlns:a="http://schemas.openxmlformats.org/drawingml/2006/main">
              <a:ext uri="{FF2B5EF4-FFF2-40B4-BE49-F238E27FC236}">
                <a16:creationId xmlns:a16="http://schemas.microsoft.com/office/drawing/2014/main" id="{346A1D4D-8BB7-43C6-A42F-C8AE81C05A10}"/>
              </a:ext>
            </a:extLst>
          </p:cNvPr>
          <p:cNvPicPr>
            <a:picLocks xmlns:a="http://schemas.openxmlformats.org/drawingml/2006/main" noChangeAspect="1"/>
          </p:cNvPicPr>
          <p:nvPr/>
        </p:nvPicPr>
        <p:blipFill>
          <a:blip xmlns:r="http://schemas.openxmlformats.org/officeDocument/2006/relationships" xmlns:a="http://schemas.openxmlformats.org/drawingml/2006/main" r:embed="Rb537fa63c5424b9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3499DEB-AB78-4F14-BC35-F3E3F3748F5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13/24</a:t>
            </a:r>
          </a:p>
        </p:txBody>
      </p:sp>
      <p:sp>
        <p:nvSpPr>
          <p:cNvPr id="4" name="">
            <a:extLst xmlns:a="http://schemas.openxmlformats.org/drawingml/2006/main">
              <a:ext uri="{FF2B5EF4-FFF2-40B4-BE49-F238E27FC236}">
                <a16:creationId xmlns:a16="http://schemas.microsoft.com/office/drawing/2014/main" id="{B601112C-A5FD-4132-A16A-E896FA22B3F0}"/>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Guarda la configuración de RockSim y comprueba sus condiciones.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Ejecuta la simulación y revisa avisos.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Registra las variables y unidades seleccionadas.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Conserva el archivo de resultado o la exportación disponible.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Compara con la revisión de OpenRocket que tiene las mismas entradas.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Describe una coincidencia y una diferencia sin decidir por preferencia estética.</a:t>
            </a:r>
          </a:p>
        </p:txBody>
      </p:sp>
    </p:spTree>
    <p:extLst>
      <p:ext uri="{BB962C8B-B14F-4D97-AF65-F5344CB8AC3E}">
        <p14:creationId xmlns:p14="http://schemas.microsoft.com/office/powerpoint/2010/main" val="414631786"/>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4E4B5AF-F446-4B41-B3AF-5C279C85B471}"/>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investigar si no coinciden</a:t>
            </a:r>
          </a:p>
        </p:txBody>
      </p:sp>
      <p:pic>
        <p:nvPicPr>
          <p:cNvPr id="2" name="">
            <a:extLst xmlns:a="http://schemas.openxmlformats.org/drawingml/2006/main">
              <a:ext uri="{FF2B5EF4-FFF2-40B4-BE49-F238E27FC236}">
                <a16:creationId xmlns:a16="http://schemas.microsoft.com/office/drawing/2014/main" id="{DA7F87E2-0DEB-4134-A5EF-3FE1E41560CA}"/>
              </a:ext>
            </a:extLst>
          </p:cNvPr>
          <p:cNvPicPr>
            <a:picLocks xmlns:a="http://schemas.openxmlformats.org/drawingml/2006/main" noChangeAspect="1"/>
          </p:cNvPicPr>
          <p:nvPr/>
        </p:nvPicPr>
        <p:blipFill>
          <a:blip xmlns:r="http://schemas.openxmlformats.org/officeDocument/2006/relationships" xmlns:a="http://schemas.openxmlformats.org/drawingml/2006/main" r:embed="R53eb1e42cd7640c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2482F0A-B10D-4A88-BBEE-AF9AF63EA87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14/24</a:t>
            </a:r>
          </a:p>
        </p:txBody>
      </p:sp>
      <p:sp>
        <p:nvSpPr>
          <p:cNvPr id="4" name="">
            <a:extLst xmlns:a="http://schemas.openxmlformats.org/drawingml/2006/main">
              <a:ext uri="{FF2B5EF4-FFF2-40B4-BE49-F238E27FC236}">
                <a16:creationId xmlns:a16="http://schemas.microsoft.com/office/drawing/2014/main" id="{84C4011C-EFB6-4A6B-843B-F6FAA90F4A32}"/>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Una coincidencia no demuestra automáticamente exactitud. Los programas pueden compartir supuestos o datos de entrada equivocados. Una diferencia tampoco demuestra que uno esté roto. Puede revelar una configuración incompleta o una manera diferente de representar una pieza.</a:t>
            </a:r>
          </a:p>
        </p:txBody>
      </p:sp>
    </p:spTree>
    <p:extLst>
      <p:ext uri="{BB962C8B-B14F-4D97-AF65-F5344CB8AC3E}">
        <p14:creationId xmlns:p14="http://schemas.microsoft.com/office/powerpoint/2010/main" val="842679466"/>
      </p:ext>
    </p:extLst>
  </p:cSld>
</p:sld>
</file>

<file path=ppt/slides/slide1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8DA697B-CBAD-4F0A-B88A-CABFF93799F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Orden práctico de revisión</a:t>
            </a:r>
          </a:p>
        </p:txBody>
      </p:sp>
      <p:pic>
        <p:nvPicPr>
          <p:cNvPr id="2" name="">
            <a:extLst xmlns:a="http://schemas.openxmlformats.org/drawingml/2006/main">
              <a:ext uri="{FF2B5EF4-FFF2-40B4-BE49-F238E27FC236}">
                <a16:creationId xmlns:a16="http://schemas.microsoft.com/office/drawing/2014/main" id="{19B867EF-BA48-430F-9C1A-815B9F83BADB}"/>
              </a:ext>
            </a:extLst>
          </p:cNvPr>
          <p:cNvPicPr>
            <a:picLocks xmlns:a="http://schemas.openxmlformats.org/drawingml/2006/main" noChangeAspect="1"/>
          </p:cNvPicPr>
          <p:nvPr/>
        </p:nvPicPr>
        <p:blipFill>
          <a:blip xmlns:r="http://schemas.openxmlformats.org/officeDocument/2006/relationships" xmlns:a="http://schemas.openxmlformats.org/drawingml/2006/main" r:embed="R9b9b1ac1e26c409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15222F1-1DE4-49D2-AA32-312AC58B359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15/24</a:t>
            </a:r>
          </a:p>
        </p:txBody>
      </p:sp>
      <p:graphicFrame>
        <p:nvGraphicFramePr>
          <p:cNvPr id="4" name="">
            <a:extLst xmlns:a="http://schemas.openxmlformats.org/drawingml/2006/main">
              <a:ext uri="{FF2B5EF4-FFF2-40B4-BE49-F238E27FC236}">
                <a16:creationId xmlns:a16="http://schemas.microsoft.com/office/drawing/2014/main" id="{4B79977D-4A8F-4DCD-8217-673F9A9278CB}"/>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5505450"/>
                <a:gridCol w="5505450"/>
              </a:tblGrid>
              <a:tr h="658813">
                <a:tc>
                  <a:txBody>
                    <a:bodyPr/>
                    <a:lstStyle/>
                    <a:p>
                      <a:r>
                        <a:rPr sz="2025" b="1">
                          <a:solidFill>
                            <a:srgbClr val="FFFFFF"/>
                          </a:solidFill>
                          <a:latin typeface="Arial"/>
                          <a:ea typeface="Arial"/>
                          <a:cs typeface="Arial"/>
                        </a:rPr>
                        <a:t>Orden</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Pregunta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58813">
                <a:tc>
                  <a:txBody>
                    <a:bodyPr/>
                    <a:lstStyle/>
                    <a:p>
                      <a:r>
                        <a:rPr sz="2025" b="0">
                          <a:solidFill>
                            <a:srgbClr val="14231E"/>
                          </a:solidFill>
                          <a:latin typeface="Arial"/>
                          <a:ea typeface="Arial"/>
                          <a:cs typeface="Arial"/>
                        </a:rPr>
                        <a:t>1</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¿Es el mismo archivo de referencia física?</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2</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¿Coinciden geometría, materiales y masas?</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3</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¿Es el mismo motor y evento de recuperación?</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4</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¿Son las mismas condiciones y referencias?</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5</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¿Queda una diferencia de representación o método?</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510368105"/>
      </p:ext>
    </p:extLst>
  </p:cSld>
</p:sld>
</file>

<file path=ppt/slides/slide1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1A406C-2A34-4B13-9C71-074F11FD4C8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Los dos coinciden, pero la masa es falsa</a:t>
            </a:r>
          </a:p>
        </p:txBody>
      </p:sp>
      <p:pic>
        <p:nvPicPr>
          <p:cNvPr id="2" name="">
            <a:extLst xmlns:a="http://schemas.openxmlformats.org/drawingml/2006/main">
              <a:ext uri="{FF2B5EF4-FFF2-40B4-BE49-F238E27FC236}">
                <a16:creationId xmlns:a16="http://schemas.microsoft.com/office/drawing/2014/main" id="{786AFE30-FCFF-41B5-91CF-411E349D61D9}"/>
              </a:ext>
            </a:extLst>
          </p:cNvPr>
          <p:cNvPicPr>
            <a:picLocks xmlns:a="http://schemas.openxmlformats.org/drawingml/2006/main" noChangeAspect="1"/>
          </p:cNvPicPr>
          <p:nvPr/>
        </p:nvPicPr>
        <p:blipFill>
          <a:blip xmlns:r="http://schemas.openxmlformats.org/officeDocument/2006/relationships" xmlns:a="http://schemas.openxmlformats.org/drawingml/2006/main" r:embed="Rd9a36c2a464e466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3372CCF-E1E0-4960-8B66-DD92543249C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13   16/24</a:t>
            </a:r>
          </a:p>
        </p:txBody>
      </p:sp>
      <p:sp>
        <p:nvSpPr>
          <p:cNvPr id="4" name="">
            <a:extLst xmlns:a="http://schemas.openxmlformats.org/drawingml/2006/main">
              <a:ext uri="{FF2B5EF4-FFF2-40B4-BE49-F238E27FC236}">
                <a16:creationId xmlns:a16="http://schemas.microsoft.com/office/drawing/2014/main" id="{582DE78F-187A-4FD0-B768-C4246EB18530}"/>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Ambos programas usan el subtotal de la clase 1 en lugar de la masa del modelo ensamblado.</a:t>
            </a:r>
          </a:p>
        </p:txBody>
      </p:sp>
      <p:sp>
        <p:nvSpPr>
          <p:cNvPr id="5" name="">
            <a:extLst xmlns:a="http://schemas.openxmlformats.org/drawingml/2006/main">
              <a:ext uri="{FF2B5EF4-FFF2-40B4-BE49-F238E27FC236}">
                <a16:creationId xmlns:a16="http://schemas.microsoft.com/office/drawing/2014/main" id="{96B76D62-2085-4EE2-AAFA-7AACE8F14334}"/>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¿Dónde empezarías a investigar la discrepancia?</a:t>
            </a:r>
          </a:p>
        </p:txBody>
      </p:sp>
    </p:spTree>
    <p:extLst>
      <p:ext uri="{BB962C8B-B14F-4D97-AF65-F5344CB8AC3E}">
        <p14:creationId xmlns:p14="http://schemas.microsoft.com/office/powerpoint/2010/main" val="971240983"/>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CC7FFEE-09FD-423F-B815-58BA0842AAC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Elegir por misión con dos representaciones</a:t>
            </a:r>
          </a:p>
        </p:txBody>
      </p:sp>
      <p:pic>
        <p:nvPicPr>
          <p:cNvPr id="2" name="">
            <a:extLst xmlns:a="http://schemas.openxmlformats.org/drawingml/2006/main">
              <a:ext uri="{FF2B5EF4-FFF2-40B4-BE49-F238E27FC236}">
                <a16:creationId xmlns:a16="http://schemas.microsoft.com/office/drawing/2014/main" id="{812B40EA-3B6A-4628-89EE-AAB30B6C631B}"/>
              </a:ext>
            </a:extLst>
          </p:cNvPr>
          <p:cNvPicPr>
            <a:picLocks xmlns:a="http://schemas.openxmlformats.org/drawingml/2006/main" noChangeAspect="1"/>
          </p:cNvPicPr>
          <p:nvPr/>
        </p:nvPicPr>
        <p:blipFill>
          <a:blip xmlns:r="http://schemas.openxmlformats.org/officeDocument/2006/relationships" xmlns:a="http://schemas.openxmlformats.org/drawingml/2006/main" r:embed="R1f4a2d1ceda04df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342DC3A-3924-4D6A-8EF4-2EB18C2619C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17/24</a:t>
            </a:r>
          </a:p>
        </p:txBody>
      </p:sp>
      <p:sp>
        <p:nvSpPr>
          <p:cNvPr id="4" name="">
            <a:extLst xmlns:a="http://schemas.openxmlformats.org/drawingml/2006/main">
              <a:ext uri="{FF2B5EF4-FFF2-40B4-BE49-F238E27FC236}">
                <a16:creationId xmlns:a16="http://schemas.microsoft.com/office/drawing/2014/main" id="{192BB2E3-1E81-4A2F-8333-A4AD9F07E9D6}"/>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Para comparar narices o aletas según misión, las herramientas ayudan a estudiar el vehículo, mientras la ficha de fabricación conserva encaje, masa, tiempo y reparación. No todo criterio de selección sale de una simulación. El equipo reúne ambos tipos de información sin convertir una diferencia pequeña de altura en una respuesta universal.</a:t>
            </a:r>
          </a:p>
        </p:txBody>
      </p:sp>
    </p:spTree>
    <p:extLst>
      <p:ext uri="{BB962C8B-B14F-4D97-AF65-F5344CB8AC3E}">
        <p14:creationId xmlns:p14="http://schemas.microsoft.com/office/powerpoint/2010/main" val="107058167"/>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97F581-C7FB-48AC-ADA5-3FE6F89D298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Conclusión para cada misión</a:t>
            </a:r>
          </a:p>
        </p:txBody>
      </p:sp>
      <p:pic>
        <p:nvPicPr>
          <p:cNvPr id="2" name="">
            <a:extLst xmlns:a="http://schemas.openxmlformats.org/drawingml/2006/main">
              <a:ext uri="{FF2B5EF4-FFF2-40B4-BE49-F238E27FC236}">
                <a16:creationId xmlns:a16="http://schemas.microsoft.com/office/drawing/2014/main" id="{B40E8965-8CFA-4B29-B3D1-CA9B59B4512B}"/>
              </a:ext>
            </a:extLst>
          </p:cNvPr>
          <p:cNvPicPr>
            <a:picLocks xmlns:a="http://schemas.openxmlformats.org/drawingml/2006/main" noChangeAspect="1"/>
          </p:cNvPicPr>
          <p:nvPr/>
        </p:nvPicPr>
        <p:blipFill>
          <a:blip xmlns:r="http://schemas.openxmlformats.org/officeDocument/2006/relationships" xmlns:a="http://schemas.openxmlformats.org/drawingml/2006/main" r:embed="Re61452c932d94bb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AF89C88-92F2-4C4B-8581-B7CACAF57D6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18/24</a:t>
            </a:r>
          </a:p>
        </p:txBody>
      </p:sp>
      <p:graphicFrame>
        <p:nvGraphicFramePr>
          <p:cNvPr id="4" name="">
            <a:extLst xmlns:a="http://schemas.openxmlformats.org/drawingml/2006/main">
              <a:ext uri="{FF2B5EF4-FFF2-40B4-BE49-F238E27FC236}">
                <a16:creationId xmlns:a16="http://schemas.microsoft.com/office/drawing/2014/main" id="{E0D3FFAC-0E9E-4010-BAA7-B2CBCACB7E21}"/>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5505450"/>
                <a:gridCol w="5505450"/>
              </a:tblGrid>
              <a:tr h="897731">
                <a:tc>
                  <a:txBody>
                    <a:bodyPr/>
                    <a:lstStyle/>
                    <a:p>
                      <a:r>
                        <a:rPr sz="2025" b="1">
                          <a:solidFill>
                            <a:srgbClr val="FFFFFF"/>
                          </a:solidFill>
                          <a:latin typeface="Arial"/>
                          <a:ea typeface="Arial"/>
                          <a:cs typeface="Arial"/>
                        </a:rPr>
                        <a:t>Misión</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Qué debe respaldar la elección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897731">
                <a:tc>
                  <a:txBody>
                    <a:bodyPr/>
                    <a:lstStyle/>
                    <a:p>
                      <a:r>
                        <a:rPr sz="2025" b="0">
                          <a:solidFill>
                            <a:srgbClr val="14231E"/>
                          </a:solidFill>
                          <a:latin typeface="Arial"/>
                          <a:ea typeface="Arial"/>
                          <a:cs typeface="Arial"/>
                        </a:rPr>
                        <a:t>Aprender a construir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Archivo coherente y pieza fabricable</a:t>
                      </a:r>
                    </a:p>
                  </a:txBody>
                  <a:tcPr marL="91440" marR="91440" marT="45720" marB="45720">
                    <a:lnR w="9525">
                      <a:solidFill>
                        <a:srgbClr val="BFCEC3"/>
                      </a:solidFill>
                      <a:prstDash val="solid"/>
                    </a:lnR>
                    <a:lnB w="9525">
                      <a:solidFill>
                        <a:srgbClr val="BFCEC3"/>
                      </a:solidFill>
                      <a:prstDash val="solid"/>
                    </a:lnB>
                    <a:solidFill>
                      <a:srgbClr val="EAF3EC"/>
                    </a:solidFill>
                  </a:tcPr>
                </a:tc>
              </a:tr>
              <a:tr h="897731">
                <a:tc>
                  <a:txBody>
                    <a:bodyPr/>
                    <a:lstStyle/>
                    <a:p>
                      <a:r>
                        <a:rPr sz="2025" b="0">
                          <a:solidFill>
                            <a:srgbClr val="14231E"/>
                          </a:solidFill>
                          <a:latin typeface="Arial"/>
                          <a:ea typeface="Arial"/>
                          <a:cs typeface="Arial"/>
                        </a:rPr>
                        <a:t>Reutilizar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Revisión y facilidad de reposición</a:t>
                      </a:r>
                    </a:p>
                  </a:txBody>
                  <a:tcPr marL="91440" marR="91440" marT="45720" marB="45720">
                    <a:lnR w="9525">
                      <a:solidFill>
                        <a:srgbClr val="BFCEC3"/>
                      </a:solidFill>
                      <a:prstDash val="solid"/>
                    </a:lnR>
                    <a:lnB w="9525">
                      <a:solidFill>
                        <a:srgbClr val="BFCEC3"/>
                      </a:solidFill>
                      <a:prstDash val="solid"/>
                    </a:lnB>
                    <a:solidFill>
                      <a:srgbClr val="FCFCF8"/>
                    </a:solidFill>
                  </a:tcPr>
                </a:tc>
              </a:tr>
              <a:tr h="897731">
                <a:tc>
                  <a:txBody>
                    <a:bodyPr/>
                    <a:lstStyle/>
                    <a:p>
                      <a:r>
                        <a:rPr sz="2025" b="0">
                          <a:solidFill>
                            <a:srgbClr val="14231E"/>
                          </a:solidFill>
                          <a:latin typeface="Arial"/>
                          <a:ea typeface="Arial"/>
                          <a:cs typeface="Arial"/>
                        </a:rPr>
                        <a:t>Carga docente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Interfaces y observación de datos del demostrador</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220707821"/>
      </p:ext>
    </p:extLst>
  </p:cSld>
</p:sld>
</file>

<file path=ppt/slides/slide1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9AC0C0-8AF7-49D2-8F52-8C13BD8A529A}"/>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Cómo presentar la comparación</a:t>
            </a:r>
          </a:p>
        </p:txBody>
      </p:sp>
      <p:pic>
        <p:nvPicPr>
          <p:cNvPr id="2" name="">
            <a:extLst xmlns:a="http://schemas.openxmlformats.org/drawingml/2006/main">
              <a:ext uri="{FF2B5EF4-FFF2-40B4-BE49-F238E27FC236}">
                <a16:creationId xmlns:a16="http://schemas.microsoft.com/office/drawing/2014/main" id="{6ACE8DD8-9757-404D-8A4A-1D5513D4A09D}"/>
              </a:ext>
            </a:extLst>
          </p:cNvPr>
          <p:cNvPicPr>
            <a:picLocks xmlns:a="http://schemas.openxmlformats.org/drawingml/2006/main" noChangeAspect="1"/>
          </p:cNvPicPr>
          <p:nvPr/>
        </p:nvPicPr>
        <p:blipFill>
          <a:blip xmlns:r="http://schemas.openxmlformats.org/officeDocument/2006/relationships" xmlns:a="http://schemas.openxmlformats.org/drawingml/2006/main" r:embed="Raacacbbd156445b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B8F2C6D-6D10-4E49-97E0-D9CABEBCC56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13   19/24</a:t>
            </a:r>
          </a:p>
        </p:txBody>
      </p:sp>
      <p:sp>
        <p:nvSpPr>
          <p:cNvPr id="4" name="">
            <a:extLst xmlns:a="http://schemas.openxmlformats.org/drawingml/2006/main">
              <a:ext uri="{FF2B5EF4-FFF2-40B4-BE49-F238E27FC236}">
                <a16:creationId xmlns:a16="http://schemas.microsoft.com/office/drawing/2014/main" id="{B7989291-76B4-4321-87FE-9ABC81C9A6B8}"/>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“Con entradas revisadas obtuvimos estas predicciones. La alternativa A sigue siendo más sencilla de fabricar y las diferencias de modelo quedan registradas”.</a:t>
            </a:r>
          </a:p>
        </p:txBody>
      </p:sp>
      <p:sp>
        <p:nvSpPr>
          <p:cNvPr id="5" name="">
            <a:extLst xmlns:a="http://schemas.openxmlformats.org/drawingml/2006/main">
              <a:ext uri="{FF2B5EF4-FFF2-40B4-BE49-F238E27FC236}">
                <a16:creationId xmlns:a16="http://schemas.microsoft.com/office/drawing/2014/main" id="{DA565069-CA11-428A-A67B-9B213AA4F556}"/>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¿Qué aporta el taller además del resultado simulado?</a:t>
            </a:r>
          </a:p>
        </p:txBody>
      </p:sp>
    </p:spTree>
    <p:extLst>
      <p:ext uri="{BB962C8B-B14F-4D97-AF65-F5344CB8AC3E}">
        <p14:creationId xmlns:p14="http://schemas.microsoft.com/office/powerpoint/2010/main" val="1997998450"/>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F9C7FA2-6A66-40EE-8284-CD29D2D9E4A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Trabajo guiado del equipo</a:t>
            </a:r>
          </a:p>
        </p:txBody>
      </p:sp>
      <p:pic>
        <p:nvPicPr>
          <p:cNvPr id="2" name="">
            <a:extLst xmlns:a="http://schemas.openxmlformats.org/drawingml/2006/main">
              <a:ext uri="{FF2B5EF4-FFF2-40B4-BE49-F238E27FC236}">
                <a16:creationId xmlns:a16="http://schemas.microsoft.com/office/drawing/2014/main" id="{7747E9A6-C6F1-45A7-AEF7-734379F3C2E8}"/>
              </a:ext>
            </a:extLst>
          </p:cNvPr>
          <p:cNvPicPr>
            <a:picLocks xmlns:a="http://schemas.openxmlformats.org/drawingml/2006/main" noChangeAspect="1"/>
          </p:cNvPicPr>
          <p:nvPr/>
        </p:nvPicPr>
        <p:blipFill>
          <a:blip xmlns:r="http://schemas.openxmlformats.org/officeDocument/2006/relationships" xmlns:a="http://schemas.openxmlformats.org/drawingml/2006/main" r:embed="Rcb686019e0914ca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86AF15C-5F47-4CCD-8B37-A5D883283BF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20/24</a:t>
            </a:r>
          </a:p>
        </p:txBody>
      </p:sp>
      <p:sp>
        <p:nvSpPr>
          <p:cNvPr id="4" name="">
            <a:extLst xmlns:a="http://schemas.openxmlformats.org/drawingml/2006/main">
              <a:ext uri="{FF2B5EF4-FFF2-40B4-BE49-F238E27FC236}">
                <a16:creationId xmlns:a16="http://schemas.microsoft.com/office/drawing/2014/main" id="{4402FF2E-1B66-49C3-AB5A-7A662C8E80BD}"/>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Crear la representación del objeto construido en RockSim.</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Completar la tabla de equivalencia antes de simular.</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Ejecutar con configuración revisada y comparar pocas variables.</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4. Investigar una diferencia siguiendo el orden propuesto.</a:t>
            </a:r>
          </a:p>
        </p:txBody>
      </p:sp>
    </p:spTree>
    <p:extLst>
      <p:ext uri="{BB962C8B-B14F-4D97-AF65-F5344CB8AC3E}">
        <p14:creationId xmlns:p14="http://schemas.microsoft.com/office/powerpoint/2010/main" val="854232858"/>
      </p:ext>
    </p:extLst>
  </p:cSld>
</p:sld>
</file>

<file path=ppt/slides/slide2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51B7DA-6F2A-4F7E-A189-F34B84FE4598}"/>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Decisión según la misión</a:t>
            </a:r>
          </a:p>
        </p:txBody>
      </p:sp>
      <p:pic>
        <p:nvPicPr>
          <p:cNvPr id="2" name="">
            <a:extLst xmlns:a="http://schemas.openxmlformats.org/drawingml/2006/main">
              <a:ext uri="{FF2B5EF4-FFF2-40B4-BE49-F238E27FC236}">
                <a16:creationId xmlns:a16="http://schemas.microsoft.com/office/drawing/2014/main" id="{4B5A3190-734F-463B-BF40-54F9BDC8B2A1}"/>
              </a:ext>
            </a:extLst>
          </p:cNvPr>
          <p:cNvPicPr>
            <a:picLocks xmlns:a="http://schemas.openxmlformats.org/drawingml/2006/main" noChangeAspect="1"/>
          </p:cNvPicPr>
          <p:nvPr/>
        </p:nvPicPr>
        <p:blipFill>
          <a:blip xmlns:r="http://schemas.openxmlformats.org/officeDocument/2006/relationships" xmlns:a="http://schemas.openxmlformats.org/drawingml/2006/main" r:embed="R72a057727db34f4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D76CF1E-0100-49E2-9559-8182310E2E6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13   21/24</a:t>
            </a:r>
          </a:p>
        </p:txBody>
      </p:sp>
      <p:sp>
        <p:nvSpPr>
          <p:cNvPr id="4" name="">
            <a:extLst xmlns:a="http://schemas.openxmlformats.org/drawingml/2006/main">
              <a:ext uri="{FF2B5EF4-FFF2-40B4-BE49-F238E27FC236}">
                <a16:creationId xmlns:a16="http://schemas.microsoft.com/office/drawing/2014/main" id="{B8594B9C-C3E2-46C4-8590-5F4F2C39703D}"/>
              </a:ext>
            </a:extLst>
          </p:cNvPr>
          <p:cNvSpPr>
            <a:spLocks xmlns:a="http://schemas.openxmlformats.org/drawingml/2006/main" noGrp="1"/>
          </p:cNvSpPr>
          <p:nvPr/>
        </p:nvSpPr>
        <p:spPr>
          <a:xfrm xmlns:a="http://schemas.openxmlformats.org/drawingml/2006/main">
            <a:off x="590550" y="17716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AEF4BB"/>
                </a:solidFill>
                <a:latin typeface="Arial"/>
                <a:ea typeface="Arial"/>
                <a:cs typeface="Arial"/>
              </a:defRPr>
            </a:defPPr>
            <a:lvl1pPr>
              <a:defRPr sz="2775" b="1">
                <a:solidFill>
                  <a:srgbClr val="AEF4BB"/>
                </a:solidFill>
                <a:latin typeface="Arial"/>
                <a:ea typeface="Arial"/>
                <a:cs typeface="Arial"/>
              </a:defRPr>
            </a:lvl1pPr>
            <a:lvl2pPr>
              <a:defRPr sz="2775" b="1">
                <a:solidFill>
                  <a:srgbClr val="AEF4BB"/>
                </a:solidFill>
                <a:latin typeface="Arial"/>
                <a:ea typeface="Arial"/>
                <a:cs typeface="Arial"/>
              </a:defRPr>
            </a:lvl2pPr>
            <a:lvl3pPr>
              <a:defRPr sz="2775" b="1">
                <a:solidFill>
                  <a:srgbClr val="AEF4BB"/>
                </a:solidFill>
                <a:latin typeface="Arial"/>
                <a:ea typeface="Arial"/>
                <a:cs typeface="Arial"/>
              </a:defRPr>
            </a:lvl3pPr>
            <a:lvl4pPr>
              <a:defRPr sz="2775" b="1">
                <a:solidFill>
                  <a:srgbClr val="AEF4BB"/>
                </a:solidFill>
                <a:latin typeface="Arial"/>
                <a:ea typeface="Arial"/>
                <a:cs typeface="Arial"/>
              </a:defRPr>
            </a:lvl4pPr>
            <a:lvl5pPr>
              <a:defRPr sz="2775" b="1">
                <a:solidFill>
                  <a:srgbClr val="AEF4BB"/>
                </a:solidFill>
                <a:latin typeface="Arial"/>
                <a:ea typeface="Arial"/>
                <a:cs typeface="Arial"/>
              </a:defRPr>
            </a:lvl5pPr>
            <a:lvl6pPr>
              <a:defRPr sz="2775" b="1">
                <a:solidFill>
                  <a:srgbClr val="AEF4BB"/>
                </a:solidFill>
                <a:latin typeface="Arial"/>
                <a:ea typeface="Arial"/>
                <a:cs typeface="Arial"/>
              </a:defRPr>
            </a:lvl6pPr>
            <a:lvl7pPr>
              <a:defRPr sz="2775" b="1">
                <a:solidFill>
                  <a:srgbClr val="AEF4BB"/>
                </a:solidFill>
                <a:latin typeface="Arial"/>
                <a:ea typeface="Arial"/>
                <a:cs typeface="Arial"/>
              </a:defRPr>
            </a:lvl7pPr>
            <a:lvl8pPr>
              <a:defRPr sz="2775" b="1">
                <a:solidFill>
                  <a:srgbClr val="AEF4BB"/>
                </a:solidFill>
                <a:latin typeface="Arial"/>
                <a:ea typeface="Arial"/>
                <a:cs typeface="Arial"/>
              </a:defRPr>
            </a:lvl8pPr>
            <a:lvl9pPr>
              <a:defRPr sz="2775" b="1">
                <a:solidFill>
                  <a:srgbClr val="AEF4BB"/>
                </a:solidFill>
                <a:latin typeface="Arial"/>
                <a:ea typeface="Arial"/>
                <a:cs typeface="Arial"/>
              </a:defRPr>
            </a:lvl9pPr>
          </a:lstStyle>
          <a:p xmlns:a="http://schemas.openxmlformats.org/drawingml/2006/main">
            <a:pPr>
              <a:defRPr sz="2775" b="1">
                <a:solidFill>
                  <a:srgbClr val="AEF4BB"/>
                </a:solidFill>
                <a:latin typeface="Arial"/>
                <a:ea typeface="Arial"/>
                <a:cs typeface="Arial"/>
              </a:defRPr>
            </a:pPr>
            <a:r>
              <a:rPr sz="2775" b="1">
                <a:solidFill>
                  <a:srgbClr val="AEF4BB"/>
                </a:solidFill>
                <a:latin typeface="Arial"/>
                <a:ea typeface="Arial"/>
                <a:cs typeface="Arial"/>
              </a:rPr>
              <a:t>Explicar diferencias sin elegir el programa que dé la cifra preferida.</a:t>
            </a:r>
          </a:p>
        </p:txBody>
      </p:sp>
      <p:sp>
        <p:nvSpPr>
          <p:cNvPr id="5" name="">
            <a:extLst xmlns:a="http://schemas.openxmlformats.org/drawingml/2006/main">
              <a:ext uri="{FF2B5EF4-FFF2-40B4-BE49-F238E27FC236}">
                <a16:creationId xmlns:a16="http://schemas.microsoft.com/office/drawing/2014/main" id="{2829E555-94D2-4A57-9202-40A6B897C7C8}"/>
              </a:ext>
            </a:extLst>
          </p:cNvPr>
          <p:cNvSpPr>
            <a:spLocks xmlns:a="http://schemas.openxmlformats.org/drawingml/2006/main" noGrp="1"/>
          </p:cNvSpPr>
          <p:nvPr/>
        </p:nvSpPr>
        <p:spPr>
          <a:xfrm xmlns:a="http://schemas.openxmlformats.org/drawingml/2006/main">
            <a:off x="590550" y="3638550"/>
            <a:ext cx="10715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FCFCF8"/>
                </a:solidFill>
                <a:latin typeface="Arial"/>
                <a:ea typeface="Arial"/>
                <a:cs typeface="Arial"/>
              </a:defRPr>
            </a:defPPr>
            <a:lvl1pPr>
              <a:defRPr sz="2625" b="0">
                <a:solidFill>
                  <a:srgbClr val="FCFCF8"/>
                </a:solidFill>
                <a:latin typeface="Arial"/>
                <a:ea typeface="Arial"/>
                <a:cs typeface="Arial"/>
              </a:defRPr>
            </a:lvl1pPr>
            <a:lvl2pPr>
              <a:defRPr sz="2625" b="0">
                <a:solidFill>
                  <a:srgbClr val="FCFCF8"/>
                </a:solidFill>
                <a:latin typeface="Arial"/>
                <a:ea typeface="Arial"/>
                <a:cs typeface="Arial"/>
              </a:defRPr>
            </a:lvl2pPr>
            <a:lvl3pPr>
              <a:defRPr sz="2625" b="0">
                <a:solidFill>
                  <a:srgbClr val="FCFCF8"/>
                </a:solidFill>
                <a:latin typeface="Arial"/>
                <a:ea typeface="Arial"/>
                <a:cs typeface="Arial"/>
              </a:defRPr>
            </a:lvl3pPr>
            <a:lvl4pPr>
              <a:defRPr sz="2625" b="0">
                <a:solidFill>
                  <a:srgbClr val="FCFCF8"/>
                </a:solidFill>
                <a:latin typeface="Arial"/>
                <a:ea typeface="Arial"/>
                <a:cs typeface="Arial"/>
              </a:defRPr>
            </a:lvl4pPr>
            <a:lvl5pPr>
              <a:defRPr sz="2625" b="0">
                <a:solidFill>
                  <a:srgbClr val="FCFCF8"/>
                </a:solidFill>
                <a:latin typeface="Arial"/>
                <a:ea typeface="Arial"/>
                <a:cs typeface="Arial"/>
              </a:defRPr>
            </a:lvl5pPr>
            <a:lvl6pPr>
              <a:defRPr sz="2625" b="0">
                <a:solidFill>
                  <a:srgbClr val="FCFCF8"/>
                </a:solidFill>
                <a:latin typeface="Arial"/>
                <a:ea typeface="Arial"/>
                <a:cs typeface="Arial"/>
              </a:defRPr>
            </a:lvl6pPr>
            <a:lvl7pPr>
              <a:defRPr sz="2625" b="0">
                <a:solidFill>
                  <a:srgbClr val="FCFCF8"/>
                </a:solidFill>
                <a:latin typeface="Arial"/>
                <a:ea typeface="Arial"/>
                <a:cs typeface="Arial"/>
              </a:defRPr>
            </a:lvl7pPr>
            <a:lvl8pPr>
              <a:defRPr sz="2625" b="0">
                <a:solidFill>
                  <a:srgbClr val="FCFCF8"/>
                </a:solidFill>
                <a:latin typeface="Arial"/>
                <a:ea typeface="Arial"/>
                <a:cs typeface="Arial"/>
              </a:defRPr>
            </a:lvl8pPr>
            <a:lvl9pPr>
              <a:defRPr sz="2625" b="0">
                <a:solidFill>
                  <a:srgbClr val="FCFCF8"/>
                </a:solidFill>
                <a:latin typeface="Arial"/>
                <a:ea typeface="Arial"/>
                <a:cs typeface="Arial"/>
              </a:defRPr>
            </a:lvl9pPr>
          </a:lstStyle>
          <a:p xmlns:a="http://schemas.openxmlformats.org/drawingml/2006/main">
            <a:pPr>
              <a:defRPr sz="2625" b="0">
                <a:solidFill>
                  <a:srgbClr val="FCFCF8"/>
                </a:solidFill>
                <a:latin typeface="Arial"/>
                <a:ea typeface="Arial"/>
                <a:cs typeface="Arial"/>
              </a:defRPr>
            </a:pPr>
            <a:r>
              <a:rPr sz="2625" b="0">
                <a:solidFill>
                  <a:srgbClr val="FCFCF8"/>
                </a:solidFill>
                <a:latin typeface="Arial"/>
                <a:ea typeface="Arial"/>
                <a:cs typeface="Arial"/>
              </a:rPr>
              <a:t>¿Qué aporta el taller además del resultado simulado?</a:t>
            </a:r>
          </a:p>
        </p:txBody>
      </p:sp>
      <p:sp>
        <p:nvSpPr>
          <p:cNvPr id="6" name="">
            <a:extLst xmlns:a="http://schemas.openxmlformats.org/drawingml/2006/main">
              <a:ext uri="{FF2B5EF4-FFF2-40B4-BE49-F238E27FC236}">
                <a16:creationId xmlns:a16="http://schemas.microsoft.com/office/drawing/2014/main" id="{2C46EF82-702D-4DCF-8CD3-39BD77B97292}"/>
              </a:ext>
            </a:extLst>
          </p:cNvPr>
          <p:cNvSpPr>
            <a:spLocks xmlns:a="http://schemas.openxmlformats.org/drawingml/2006/main" noGrp="1"/>
          </p:cNvSpPr>
          <p:nvPr/>
        </p:nvSpPr>
        <p:spPr>
          <a:xfrm xmlns:a="http://schemas.openxmlformats.org/drawingml/2006/main">
            <a:off x="590550" y="5486400"/>
            <a:ext cx="1071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8C8C1"/>
                </a:solidFill>
                <a:latin typeface="Arial"/>
                <a:ea typeface="Arial"/>
                <a:cs typeface="Arial"/>
              </a:defRPr>
            </a:defPPr>
            <a:lvl1pPr>
              <a:defRPr sz="2175" b="0">
                <a:solidFill>
                  <a:srgbClr val="B8C8C1"/>
                </a:solidFill>
                <a:latin typeface="Arial"/>
                <a:ea typeface="Arial"/>
                <a:cs typeface="Arial"/>
              </a:defRPr>
            </a:lvl1pPr>
            <a:lvl2pPr>
              <a:defRPr sz="2175" b="0">
                <a:solidFill>
                  <a:srgbClr val="B8C8C1"/>
                </a:solidFill>
                <a:latin typeface="Arial"/>
                <a:ea typeface="Arial"/>
                <a:cs typeface="Arial"/>
              </a:defRPr>
            </a:lvl2pPr>
            <a:lvl3pPr>
              <a:defRPr sz="2175" b="0">
                <a:solidFill>
                  <a:srgbClr val="B8C8C1"/>
                </a:solidFill>
                <a:latin typeface="Arial"/>
                <a:ea typeface="Arial"/>
                <a:cs typeface="Arial"/>
              </a:defRPr>
            </a:lvl3pPr>
            <a:lvl4pPr>
              <a:defRPr sz="2175" b="0">
                <a:solidFill>
                  <a:srgbClr val="B8C8C1"/>
                </a:solidFill>
                <a:latin typeface="Arial"/>
                <a:ea typeface="Arial"/>
                <a:cs typeface="Arial"/>
              </a:defRPr>
            </a:lvl4pPr>
            <a:lvl5pPr>
              <a:defRPr sz="2175" b="0">
                <a:solidFill>
                  <a:srgbClr val="B8C8C1"/>
                </a:solidFill>
                <a:latin typeface="Arial"/>
                <a:ea typeface="Arial"/>
                <a:cs typeface="Arial"/>
              </a:defRPr>
            </a:lvl5pPr>
            <a:lvl6pPr>
              <a:defRPr sz="2175" b="0">
                <a:solidFill>
                  <a:srgbClr val="B8C8C1"/>
                </a:solidFill>
                <a:latin typeface="Arial"/>
                <a:ea typeface="Arial"/>
                <a:cs typeface="Arial"/>
              </a:defRPr>
            </a:lvl6pPr>
            <a:lvl7pPr>
              <a:defRPr sz="2175" b="0">
                <a:solidFill>
                  <a:srgbClr val="B8C8C1"/>
                </a:solidFill>
                <a:latin typeface="Arial"/>
                <a:ea typeface="Arial"/>
                <a:cs typeface="Arial"/>
              </a:defRPr>
            </a:lvl7pPr>
            <a:lvl8pPr>
              <a:defRPr sz="2175" b="0">
                <a:solidFill>
                  <a:srgbClr val="B8C8C1"/>
                </a:solidFill>
                <a:latin typeface="Arial"/>
                <a:ea typeface="Arial"/>
                <a:cs typeface="Arial"/>
              </a:defRPr>
            </a:lvl8pPr>
            <a:lvl9pPr>
              <a:defRPr sz="2175" b="0">
                <a:solidFill>
                  <a:srgbClr val="B8C8C1"/>
                </a:solidFill>
                <a:latin typeface="Arial"/>
                <a:ea typeface="Arial"/>
                <a:cs typeface="Arial"/>
              </a:defRPr>
            </a:lvl9pPr>
          </a:lstStyle>
          <a:p xmlns:a="http://schemas.openxmlformats.org/drawingml/2006/main">
            <a:pPr>
              <a:defRPr sz="2175" b="0">
                <a:solidFill>
                  <a:srgbClr val="B8C8C1"/>
                </a:solidFill>
                <a:latin typeface="Arial"/>
                <a:ea typeface="Arial"/>
                <a:cs typeface="Arial"/>
              </a:defRPr>
            </a:pPr>
            <a:r>
              <a:rPr sz="2175" b="0">
                <a:solidFill>
                  <a:srgbClr val="B8C8C1"/>
                </a:solidFill>
                <a:latin typeface="Arial"/>
                <a:ea typeface="Arial"/>
                <a:cs typeface="Arial"/>
              </a:rPr>
              <a:t>Explica tu elección con una pieza, un archivo o un dato de la clase.</a:t>
            </a:r>
          </a:p>
        </p:txBody>
      </p:sp>
    </p:spTree>
    <p:extLst>
      <p:ext uri="{BB962C8B-B14F-4D97-AF65-F5344CB8AC3E}">
        <p14:creationId xmlns:p14="http://schemas.microsoft.com/office/powerpoint/2010/main" val="985847806"/>
      </p:ext>
    </p:extLst>
  </p:cSld>
</p:sld>
</file>

<file path=ppt/slides/slide2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5875DFB-F662-45BB-86C2-72886127A139}"/>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Tres preguntas para cerrar</a:t>
            </a:r>
          </a:p>
        </p:txBody>
      </p:sp>
      <p:pic>
        <p:nvPicPr>
          <p:cNvPr id="2" name="">
            <a:extLst xmlns:a="http://schemas.openxmlformats.org/drawingml/2006/main">
              <a:ext uri="{FF2B5EF4-FFF2-40B4-BE49-F238E27FC236}">
                <a16:creationId xmlns:a16="http://schemas.microsoft.com/office/drawing/2014/main" id="{B820EEAA-BA73-4AE8-804E-B1A2F43CB993}"/>
              </a:ext>
            </a:extLst>
          </p:cNvPr>
          <p:cNvPicPr>
            <a:picLocks xmlns:a="http://schemas.openxmlformats.org/drawingml/2006/main" noChangeAspect="1"/>
          </p:cNvPicPr>
          <p:nvPr/>
        </p:nvPicPr>
        <p:blipFill>
          <a:blip xmlns:r="http://schemas.openxmlformats.org/officeDocument/2006/relationships" xmlns:a="http://schemas.openxmlformats.org/drawingml/2006/main" r:embed="R0f79c3ba267d4bf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B63D280-670C-4050-9777-1E527189F15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13   22/24</a:t>
            </a:r>
          </a:p>
        </p:txBody>
      </p:sp>
      <p:sp>
        <p:nvSpPr>
          <p:cNvPr id="4" name="">
            <a:extLst xmlns:a="http://schemas.openxmlformats.org/drawingml/2006/main">
              <a:ext uri="{FF2B5EF4-FFF2-40B4-BE49-F238E27FC236}">
                <a16:creationId xmlns:a16="http://schemas.microsoft.com/office/drawing/2014/main" id="{91C16BF3-A729-46C6-B775-DED72BA90DB7}"/>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¿Dos apogeos iguales prueban que el modelo es exacto?</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¿Qué se revisa antes de culpar al método?</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¿Qué representa el 5% del ejemplo?</a:t>
            </a:r>
          </a:p>
        </p:txBody>
      </p:sp>
    </p:spTree>
    <p:extLst>
      <p:ext uri="{BB962C8B-B14F-4D97-AF65-F5344CB8AC3E}">
        <p14:creationId xmlns:p14="http://schemas.microsoft.com/office/powerpoint/2010/main" val="1368389298"/>
      </p:ext>
    </p:extLst>
  </p:cSld>
</p:sld>
</file>

<file path=ppt/slides/slide2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61636C9-7677-4095-AC66-B7C0DC4EF43D}"/>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Cómo explicar las respuestas</a:t>
            </a:r>
          </a:p>
        </p:txBody>
      </p:sp>
      <p:pic>
        <p:nvPicPr>
          <p:cNvPr id="2" name="">
            <a:extLst xmlns:a="http://schemas.openxmlformats.org/drawingml/2006/main">
              <a:ext uri="{FF2B5EF4-FFF2-40B4-BE49-F238E27FC236}">
                <a16:creationId xmlns:a16="http://schemas.microsoft.com/office/drawing/2014/main" id="{8B776161-827F-4980-B45A-96EF5F194D81}"/>
              </a:ext>
            </a:extLst>
          </p:cNvPr>
          <p:cNvPicPr>
            <a:picLocks xmlns:a="http://schemas.openxmlformats.org/drawingml/2006/main" noChangeAspect="1"/>
          </p:cNvPicPr>
          <p:nvPr/>
        </p:nvPicPr>
        <p:blipFill>
          <a:blip xmlns:r="http://schemas.openxmlformats.org/officeDocument/2006/relationships" xmlns:a="http://schemas.openxmlformats.org/drawingml/2006/main" r:embed="Rc60bc62c8177471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4C167B2-4562-4D89-897A-60FCEF110F5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13   23/24</a:t>
            </a:r>
          </a:p>
        </p:txBody>
      </p:sp>
      <p:sp>
        <p:nvSpPr>
          <p:cNvPr id="4" name="">
            <a:extLst xmlns:a="http://schemas.openxmlformats.org/drawingml/2006/main">
              <a:ext uri="{FF2B5EF4-FFF2-40B4-BE49-F238E27FC236}">
                <a16:creationId xmlns:a16="http://schemas.microsoft.com/office/drawing/2014/main" id="{81A58EBD-E93D-4F97-AB19-8619F21E4DDB}"/>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1. No. Pueden compartir entradas o supuestos equivocados.</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2. Archivos, geometría, masas, motor, eventos y condiciones.</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3. Una discrepancia entre predicciones con un denominador declarado.</a:t>
            </a:r>
          </a:p>
        </p:txBody>
      </p:sp>
    </p:spTree>
    <p:extLst>
      <p:ext uri="{BB962C8B-B14F-4D97-AF65-F5344CB8AC3E}">
        <p14:creationId xmlns:p14="http://schemas.microsoft.com/office/powerpoint/2010/main" val="284912887"/>
      </p:ext>
    </p:extLst>
  </p:cSld>
</p:sld>
</file>

<file path=ppt/slides/slide2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BEE59B-CB94-4314-A8D9-3D7AE8852277}"/>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7C57F3DC-9694-4BE6-903C-B59C15045E24}"/>
              </a:ext>
            </a:extLst>
          </p:cNvPr>
          <p:cNvPicPr>
            <a:picLocks xmlns:a="http://schemas.openxmlformats.org/drawingml/2006/main" noChangeAspect="1"/>
          </p:cNvPicPr>
          <p:nvPr/>
        </p:nvPicPr>
        <p:blipFill>
          <a:blip xmlns:r="http://schemas.openxmlformats.org/officeDocument/2006/relationships" xmlns:a="http://schemas.openxmlformats.org/drawingml/2006/main" r:embed="Rd8f00ebc92d54b0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3D8C29B-8EE3-403C-A85F-B547E7C52D9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13   24/24</a:t>
            </a:r>
          </a:p>
        </p:txBody>
      </p:sp>
      <p:sp>
        <p:nvSpPr>
          <p:cNvPr id="4" name="">
            <a:extLst xmlns:a="http://schemas.openxmlformats.org/drawingml/2006/main">
              <a:ext uri="{FF2B5EF4-FFF2-40B4-BE49-F238E27FC236}">
                <a16:creationId xmlns:a16="http://schemas.microsoft.com/office/drawing/2014/main" id="{A501D04E-BB9D-4FD3-AEA5-96F4864E12A3}"/>
              </a:ext>
            </a:extLst>
          </p:cNvPr>
          <p:cNvSpPr>
            <a:spLocks xmlns:a="http://schemas.openxmlformats.org/drawingml/2006/main" noGrp="1"/>
          </p:cNvSpPr>
          <p:nvPr/>
        </p:nvSpPr>
        <p:spPr>
          <a:xfrm xmlns:a="http://schemas.openxmlformats.org/drawingml/2006/main">
            <a:off x="590550" y="1800225"/>
            <a:ext cx="1071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AEF4BB"/>
                </a:solidFill>
                <a:latin typeface="Arial"/>
                <a:ea typeface="Arial"/>
                <a:cs typeface="Arial"/>
              </a:defRPr>
            </a:defPPr>
            <a:lvl1pPr>
              <a:defRPr sz="2925" b="1">
                <a:solidFill>
                  <a:srgbClr val="AEF4BB"/>
                </a:solidFill>
                <a:latin typeface="Arial"/>
                <a:ea typeface="Arial"/>
                <a:cs typeface="Arial"/>
              </a:defRPr>
            </a:lvl1pPr>
            <a:lvl2pPr>
              <a:defRPr sz="2925" b="1">
                <a:solidFill>
                  <a:srgbClr val="AEF4BB"/>
                </a:solidFill>
                <a:latin typeface="Arial"/>
                <a:ea typeface="Arial"/>
                <a:cs typeface="Arial"/>
              </a:defRPr>
            </a:lvl2pPr>
            <a:lvl3pPr>
              <a:defRPr sz="2925" b="1">
                <a:solidFill>
                  <a:srgbClr val="AEF4BB"/>
                </a:solidFill>
                <a:latin typeface="Arial"/>
                <a:ea typeface="Arial"/>
                <a:cs typeface="Arial"/>
              </a:defRPr>
            </a:lvl3pPr>
            <a:lvl4pPr>
              <a:defRPr sz="2925" b="1">
                <a:solidFill>
                  <a:srgbClr val="AEF4BB"/>
                </a:solidFill>
                <a:latin typeface="Arial"/>
                <a:ea typeface="Arial"/>
                <a:cs typeface="Arial"/>
              </a:defRPr>
            </a:lvl4pPr>
            <a:lvl5pPr>
              <a:defRPr sz="2925" b="1">
                <a:solidFill>
                  <a:srgbClr val="AEF4BB"/>
                </a:solidFill>
                <a:latin typeface="Arial"/>
                <a:ea typeface="Arial"/>
                <a:cs typeface="Arial"/>
              </a:defRPr>
            </a:lvl5pPr>
            <a:lvl6pPr>
              <a:defRPr sz="2925" b="1">
                <a:solidFill>
                  <a:srgbClr val="AEF4BB"/>
                </a:solidFill>
                <a:latin typeface="Arial"/>
                <a:ea typeface="Arial"/>
                <a:cs typeface="Arial"/>
              </a:defRPr>
            </a:lvl6pPr>
            <a:lvl7pPr>
              <a:defRPr sz="2925" b="1">
                <a:solidFill>
                  <a:srgbClr val="AEF4BB"/>
                </a:solidFill>
                <a:latin typeface="Arial"/>
                <a:ea typeface="Arial"/>
                <a:cs typeface="Arial"/>
              </a:defRPr>
            </a:lvl7pPr>
            <a:lvl8pPr>
              <a:defRPr sz="2925" b="1">
                <a:solidFill>
                  <a:srgbClr val="AEF4BB"/>
                </a:solidFill>
                <a:latin typeface="Arial"/>
                <a:ea typeface="Arial"/>
                <a:cs typeface="Arial"/>
              </a:defRPr>
            </a:lvl8pPr>
            <a:lvl9pPr>
              <a:defRPr sz="2925" b="1">
                <a:solidFill>
                  <a:srgbClr val="AEF4BB"/>
                </a:solidFill>
                <a:latin typeface="Arial"/>
                <a:ea typeface="Arial"/>
                <a:cs typeface="Arial"/>
              </a:defRPr>
            </a:lvl9pPr>
          </a:lstStyle>
          <a:p xmlns:a="http://schemas.openxmlformats.org/drawingml/2006/main">
            <a:pPr>
              <a:defRPr sz="2925" b="1">
                <a:solidFill>
                  <a:srgbClr val="AEF4BB"/>
                </a:solidFill>
                <a:latin typeface="Arial"/>
                <a:ea typeface="Arial"/>
                <a:cs typeface="Arial"/>
              </a:defRPr>
            </a:pPr>
            <a:r>
              <a:rPr sz="2925" b="1">
                <a:solidFill>
                  <a:srgbClr val="AEF4BB"/>
                </a:solidFill>
                <a:latin typeface="Arial"/>
                <a:ea typeface="Arial"/>
                <a:cs typeface="Arial"/>
              </a:rPr>
              <a:t>Archivo RockSim, tabla de entradas y comparación con OpenRocket.</a:t>
            </a:r>
          </a:p>
        </p:txBody>
      </p:sp>
      <p:sp>
        <p:nvSpPr>
          <p:cNvPr id="5" name="">
            <a:extLst xmlns:a="http://schemas.openxmlformats.org/drawingml/2006/main">
              <a:ext uri="{FF2B5EF4-FFF2-40B4-BE49-F238E27FC236}">
                <a16:creationId xmlns:a16="http://schemas.microsoft.com/office/drawing/2014/main" id="{46C97BE4-FE5D-460C-B2C7-FE801F780DFF}"/>
              </a:ext>
            </a:extLst>
          </p:cNvPr>
          <p:cNvSpPr>
            <a:spLocks xmlns:a="http://schemas.openxmlformats.org/drawingml/2006/main" noGrp="1"/>
          </p:cNvSpPr>
          <p:nvPr/>
        </p:nvSpPr>
        <p:spPr>
          <a:xfrm xmlns:a="http://schemas.openxmlformats.org/drawingml/2006/main">
            <a:off x="590550" y="4314825"/>
            <a:ext cx="107156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Conserva la revisión del equipo y señala qué comprobación sigue pendiente.</a:t>
            </a:r>
          </a:p>
        </p:txBody>
      </p:sp>
    </p:spTree>
    <p:extLst>
      <p:ext uri="{BB962C8B-B14F-4D97-AF65-F5344CB8AC3E}">
        <p14:creationId xmlns:p14="http://schemas.microsoft.com/office/powerpoint/2010/main" val="428932017"/>
      </p:ext>
    </p:extLst>
  </p:cSld>
</p:sld>
</file>

<file path=ppt/slides/slide2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9373F0-610A-4EA4-B46B-AE958C740704}"/>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CanSat: observar una misión científica del docente</a:t>
            </a:r>
          </a:p>
        </p:txBody>
      </p:sp>
      <p:pic>
        <p:nvPicPr>
          <p:cNvPr id="2" name="">
            <a:extLst xmlns:a="http://schemas.openxmlformats.org/drawingml/2006/main">
              <a:ext uri="{FF2B5EF4-FFF2-40B4-BE49-F238E27FC236}">
                <a16:creationId xmlns:a16="http://schemas.microsoft.com/office/drawing/2014/main" id="{8E3E91E7-1CFE-4716-A7F6-7F7D7D8B57CD}"/>
              </a:ext>
            </a:extLst>
          </p:cNvPr>
          <p:cNvPicPr>
            <a:picLocks xmlns:a="http://schemas.openxmlformats.org/drawingml/2006/main" noChangeAspect="1"/>
          </p:cNvPicPr>
          <p:nvPr/>
        </p:nvPicPr>
        <p:blipFill>
          <a:blip xmlns:r="http://schemas.openxmlformats.org/officeDocument/2006/relationships" xmlns:a="http://schemas.openxmlformats.org/drawingml/2006/main" r:embed="R3e7905d85b634ff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7BA4335-685B-4923-83C2-D0433994B54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14   01/24</a:t>
            </a:r>
          </a:p>
        </p:txBody>
      </p:sp>
      <p:sp>
        <p:nvSpPr>
          <p:cNvPr id="4" name="">
            <a:extLst xmlns:a="http://schemas.openxmlformats.org/drawingml/2006/main">
              <a:ext uri="{FF2B5EF4-FFF2-40B4-BE49-F238E27FC236}">
                <a16:creationId xmlns:a16="http://schemas.microsoft.com/office/drawing/2014/main" id="{5AEFE280-1CF9-4C34-96F2-C907417801BF}"/>
              </a:ext>
            </a:extLst>
          </p:cNvPr>
          <p:cNvSpPr>
            <a:spLocks xmlns:a="http://schemas.openxmlformats.org/drawingml/2006/main" noGrp="1"/>
          </p:cNvSpPr>
          <p:nvPr/>
        </p:nvSpPr>
        <p:spPr>
          <a:xfrm xmlns:a="http://schemas.openxmlformats.org/drawingml/2006/main">
            <a:off x="590550" y="17621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Reconocer sensores, registro y transmisión y preparar una observación de datos del demostrador docente.</a:t>
            </a:r>
          </a:p>
        </p:txBody>
      </p:sp>
      <p:sp>
        <p:nvSpPr>
          <p:cNvPr id="5" name="">
            <a:extLst xmlns:a="http://schemas.openxmlformats.org/drawingml/2006/main">
              <a:ext uri="{FF2B5EF4-FFF2-40B4-BE49-F238E27FC236}">
                <a16:creationId xmlns:a16="http://schemas.microsoft.com/office/drawing/2014/main" id="{6E38948F-12FE-409C-A1E1-031D7C49A5D1}"/>
              </a:ext>
            </a:extLst>
          </p:cNvPr>
          <p:cNvSpPr>
            <a:spLocks xmlns:a="http://schemas.openxmlformats.org/drawingml/2006/main" noGrp="1"/>
          </p:cNvSpPr>
          <p:nvPr/>
        </p:nvSpPr>
        <p:spPr>
          <a:xfrm xmlns:a="http://schemas.openxmlformats.org/drawingml/2006/main">
            <a:off x="590550" y="37052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Comprender para qué se transporta una carga científica sin añadirla al cohete pequeño de cada equipo.</a:t>
            </a:r>
          </a:p>
        </p:txBody>
      </p:sp>
      <p:sp>
        <p:nvSpPr>
          <p:cNvPr id="6" name="">
            <a:extLst xmlns:a="http://schemas.openxmlformats.org/drawingml/2006/main">
              <a:ext uri="{FF2B5EF4-FFF2-40B4-BE49-F238E27FC236}">
                <a16:creationId xmlns:a16="http://schemas.microsoft.com/office/drawing/2014/main" id="{68A29A07-EAE2-4BAF-B795-9F1A8E33D148}"/>
              </a:ext>
            </a:extLst>
          </p:cNvPr>
          <p:cNvSpPr>
            <a:spLocks xmlns:a="http://schemas.openxmlformats.org/drawingml/2006/main" noGrp="1"/>
          </p:cNvSpPr>
          <p:nvPr/>
        </p:nvSpPr>
        <p:spPr>
          <a:xfrm xmlns:a="http://schemas.openxmlformats.org/drawingml/2006/main">
            <a:off x="590550" y="5648325"/>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8C8C1"/>
                </a:solidFill>
                <a:latin typeface="Consolas"/>
                <a:ea typeface="Consolas"/>
                <a:cs typeface="Consolas"/>
              </a:defRPr>
            </a:defPPr>
            <a:lvl1pPr>
              <a:defRPr sz="1800" b="0">
                <a:solidFill>
                  <a:srgbClr val="B8C8C1"/>
                </a:solidFill>
                <a:latin typeface="Consolas"/>
                <a:ea typeface="Consolas"/>
                <a:cs typeface="Consolas"/>
              </a:defRPr>
            </a:lvl1pPr>
            <a:lvl2pPr>
              <a:defRPr sz="1800" b="0">
                <a:solidFill>
                  <a:srgbClr val="B8C8C1"/>
                </a:solidFill>
                <a:latin typeface="Consolas"/>
                <a:ea typeface="Consolas"/>
                <a:cs typeface="Consolas"/>
              </a:defRPr>
            </a:lvl2pPr>
            <a:lvl3pPr>
              <a:defRPr sz="1800" b="0">
                <a:solidFill>
                  <a:srgbClr val="B8C8C1"/>
                </a:solidFill>
                <a:latin typeface="Consolas"/>
                <a:ea typeface="Consolas"/>
                <a:cs typeface="Consolas"/>
              </a:defRPr>
            </a:lvl3pPr>
            <a:lvl4pPr>
              <a:defRPr sz="1800" b="0">
                <a:solidFill>
                  <a:srgbClr val="B8C8C1"/>
                </a:solidFill>
                <a:latin typeface="Consolas"/>
                <a:ea typeface="Consolas"/>
                <a:cs typeface="Consolas"/>
              </a:defRPr>
            </a:lvl4pPr>
            <a:lvl5pPr>
              <a:defRPr sz="1800" b="0">
                <a:solidFill>
                  <a:srgbClr val="B8C8C1"/>
                </a:solidFill>
                <a:latin typeface="Consolas"/>
                <a:ea typeface="Consolas"/>
                <a:cs typeface="Consolas"/>
              </a:defRPr>
            </a:lvl5pPr>
            <a:lvl6pPr>
              <a:defRPr sz="1800" b="0">
                <a:solidFill>
                  <a:srgbClr val="B8C8C1"/>
                </a:solidFill>
                <a:latin typeface="Consolas"/>
                <a:ea typeface="Consolas"/>
                <a:cs typeface="Consolas"/>
              </a:defRPr>
            </a:lvl6pPr>
            <a:lvl7pPr>
              <a:defRPr sz="1800" b="0">
                <a:solidFill>
                  <a:srgbClr val="B8C8C1"/>
                </a:solidFill>
                <a:latin typeface="Consolas"/>
                <a:ea typeface="Consolas"/>
                <a:cs typeface="Consolas"/>
              </a:defRPr>
            </a:lvl7pPr>
            <a:lvl8pPr>
              <a:defRPr sz="1800" b="0">
                <a:solidFill>
                  <a:srgbClr val="B8C8C1"/>
                </a:solidFill>
                <a:latin typeface="Consolas"/>
                <a:ea typeface="Consolas"/>
                <a:cs typeface="Consolas"/>
              </a:defRPr>
            </a:lvl8pPr>
            <a:lvl9pPr>
              <a:defRPr sz="1800" b="0">
                <a:solidFill>
                  <a:srgbClr val="B8C8C1"/>
                </a:solidFill>
                <a:latin typeface="Consolas"/>
                <a:ea typeface="Consolas"/>
                <a:cs typeface="Consolas"/>
              </a:defRPr>
            </a:lvl9pPr>
          </a:lstStyle>
          <a:p xmlns:a="http://schemas.openxmlformats.org/drawingml/2006/main">
            <a:pPr>
              <a:defRPr sz="1800" b="0">
                <a:solidFill>
                  <a:srgbClr val="B8C8C1"/>
                </a:solidFill>
                <a:latin typeface="Consolas"/>
                <a:ea typeface="Consolas"/>
                <a:cs typeface="Consolas"/>
              </a:defRPr>
            </a:pPr>
            <a:r>
              <a:rPr sz="1800" b="0">
                <a:solidFill>
                  <a:srgbClr val="B8C8C1"/>
                </a:solidFill>
                <a:latin typeface="Consolas"/>
                <a:ea typeface="Consolas"/>
                <a:cs typeface="Consolas"/>
              </a:rPr>
              <a:t>EN LÍNEA   2 HORAS</a:t>
            </a:r>
          </a:p>
        </p:txBody>
      </p:sp>
    </p:spTree>
    <p:extLst>
      <p:ext uri="{BB962C8B-B14F-4D97-AF65-F5344CB8AC3E}">
        <p14:creationId xmlns:p14="http://schemas.microsoft.com/office/powerpoint/2010/main" val="1213933697"/>
      </p:ext>
    </p:extLst>
  </p:cSld>
</p:sld>
</file>

<file path=ppt/slides/slide2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78528C2-AE11-4F09-8ED9-C7556A5C0B3A}"/>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es un CanSat y qué haremos nosotros</a:t>
            </a:r>
          </a:p>
        </p:txBody>
      </p:sp>
      <p:pic>
        <p:nvPicPr>
          <p:cNvPr id="2" name="">
            <a:extLst xmlns:a="http://schemas.openxmlformats.org/drawingml/2006/main">
              <a:ext uri="{FF2B5EF4-FFF2-40B4-BE49-F238E27FC236}">
                <a16:creationId xmlns:a16="http://schemas.microsoft.com/office/drawing/2014/main" id="{509DE41A-B20D-4466-8B40-C214370E432D}"/>
              </a:ext>
            </a:extLst>
          </p:cNvPr>
          <p:cNvPicPr>
            <a:picLocks xmlns:a="http://schemas.openxmlformats.org/drawingml/2006/main" noChangeAspect="1"/>
          </p:cNvPicPr>
          <p:nvPr/>
        </p:nvPicPr>
        <p:blipFill>
          <a:blip xmlns:r="http://schemas.openxmlformats.org/officeDocument/2006/relationships" xmlns:a="http://schemas.openxmlformats.org/drawingml/2006/main" r:embed="Rb7bcfa5f1007497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702E3D1-37C1-4183-A4A1-EED6D177EF4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02/24</a:t>
            </a:r>
          </a:p>
        </p:txBody>
      </p:sp>
      <p:sp>
        <p:nvSpPr>
          <p:cNvPr id="4" name="">
            <a:extLst xmlns:a="http://schemas.openxmlformats.org/drawingml/2006/main">
              <a:ext uri="{FF2B5EF4-FFF2-40B4-BE49-F238E27FC236}">
                <a16:creationId xmlns:a16="http://schemas.microsoft.com/office/drawing/2014/main" id="{9BCD2250-9C16-46EB-9B14-E02AD8C33C62}"/>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CanSat es una simulación educativa de funciones de satélite integrada en un volumen reducido. Puede medir variables, registrarlas y transmitir datos durante una actividad. No se convierte en satélite orbital por llevar sensores ni por ser transportado en un cohete. Su valor educativo está en completar una misión de medición y poder interpretar sus datos.</a:t>
            </a:r>
          </a:p>
        </p:txBody>
      </p:sp>
    </p:spTree>
    <p:extLst>
      <p:ext uri="{BB962C8B-B14F-4D97-AF65-F5344CB8AC3E}">
        <p14:creationId xmlns:p14="http://schemas.microsoft.com/office/powerpoint/2010/main" val="770127351"/>
      </p:ext>
    </p:extLst>
  </p:cSld>
</p:sld>
</file>

<file path=ppt/slides/slide2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62EB2EE-1710-4DA0-BBB2-877FC6B3F4D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es un CanSat y qué haremos nosotros</a:t>
            </a:r>
          </a:p>
        </p:txBody>
      </p:sp>
      <p:pic>
        <p:nvPicPr>
          <p:cNvPr id="2" name="">
            <a:extLst xmlns:a="http://schemas.openxmlformats.org/drawingml/2006/main">
              <a:ext uri="{FF2B5EF4-FFF2-40B4-BE49-F238E27FC236}">
                <a16:creationId xmlns:a16="http://schemas.microsoft.com/office/drawing/2014/main" id="{0EB95A56-4F23-42FF-9237-B0DF66A04103}"/>
              </a:ext>
            </a:extLst>
          </p:cNvPr>
          <p:cNvPicPr>
            <a:picLocks xmlns:a="http://schemas.openxmlformats.org/drawingml/2006/main" noChangeAspect="1"/>
          </p:cNvPicPr>
          <p:nvPr/>
        </p:nvPicPr>
        <p:blipFill>
          <a:blip xmlns:r="http://schemas.openxmlformats.org/officeDocument/2006/relationships" xmlns:a="http://schemas.openxmlformats.org/drawingml/2006/main" r:embed="R98e389760a9e4e2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DE4115E-643F-4CDD-B595-06EA2F9FA33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03/24</a:t>
            </a:r>
          </a:p>
        </p:txBody>
      </p:sp>
      <p:pic>
        <p:nvPicPr>
          <p:cNvPr id="4" name="">
            <a:extLst xmlns:a="http://schemas.openxmlformats.org/drawingml/2006/main">
              <a:ext uri="{FF2B5EF4-FFF2-40B4-BE49-F238E27FC236}">
                <a16:creationId xmlns:a16="http://schemas.microsoft.com/office/drawing/2014/main" id="{972B7E85-5A63-4271-9AF5-35B18535CCA8}"/>
              </a:ext>
            </a:extLst>
          </p:cNvPr>
          <p:cNvPicPr>
            <a:picLocks xmlns:a="http://schemas.openxmlformats.org/drawingml/2006/main" noChangeAspect="1"/>
          </p:cNvPicPr>
          <p:nvPr/>
        </p:nvPicPr>
        <p:blipFill>
          <a:blip xmlns:r="http://schemas.openxmlformats.org/officeDocument/2006/relationships" xmlns:a="http://schemas.openxmlformats.org/drawingml/2006/main" r:embed="Rdff8141bb4bc46cc"/>
          <a:stretch xmlns:a="http://schemas.openxmlformats.org/drawingml/2006/main"/>
        </p:blipFill>
        <p:spPr>
          <a:xfrm xmlns:a="http://schemas.openxmlformats.org/drawingml/2006/main">
            <a:off x="2963141" y="1657350"/>
            <a:ext cx="2665268"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3C9DD59-2CF4-4268-AEF4-38AD3A10A518}"/>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¿Qué función de un satélite reproduce el CanSat?</a:t>
            </a:r>
          </a:p>
        </p:txBody>
      </p:sp>
      <p:sp>
        <p:nvSpPr>
          <p:cNvPr id="6" name="">
            <a:extLst xmlns:a="http://schemas.openxmlformats.org/drawingml/2006/main">
              <a:ext uri="{FF2B5EF4-FFF2-40B4-BE49-F238E27FC236}">
                <a16:creationId xmlns:a16="http://schemas.microsoft.com/office/drawing/2014/main" id="{DA350271-07C3-481C-97B1-B5E90CE4431E}"/>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Fotografía ESA: CanSat de referencia Obi-Wan Canobi. No es el dispositivo construido por MECRO ni fija el tamaño del demostrador docente.</a:t>
            </a:r>
          </a:p>
        </p:txBody>
      </p:sp>
    </p:spTree>
    <p:extLst>
      <p:ext uri="{BB962C8B-B14F-4D97-AF65-F5344CB8AC3E}">
        <p14:creationId xmlns:p14="http://schemas.microsoft.com/office/powerpoint/2010/main" val="586487694"/>
      </p:ext>
    </p:extLst>
  </p:cSld>
</p:sld>
</file>

<file path=ppt/slides/slide2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B9AF29D-9C7E-4642-95AF-0FDA2D9FD88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es un CanSat y qué haremos nosotros</a:t>
            </a:r>
          </a:p>
        </p:txBody>
      </p:sp>
      <p:pic>
        <p:nvPicPr>
          <p:cNvPr id="2" name="">
            <a:extLst xmlns:a="http://schemas.openxmlformats.org/drawingml/2006/main">
              <a:ext uri="{FF2B5EF4-FFF2-40B4-BE49-F238E27FC236}">
                <a16:creationId xmlns:a16="http://schemas.microsoft.com/office/drawing/2014/main" id="{6C079027-CEC3-49AC-80DC-D330E92D09B6}"/>
              </a:ext>
            </a:extLst>
          </p:cNvPr>
          <p:cNvPicPr>
            <a:picLocks xmlns:a="http://schemas.openxmlformats.org/drawingml/2006/main" noChangeAspect="1"/>
          </p:cNvPicPr>
          <p:nvPr/>
        </p:nvPicPr>
        <p:blipFill>
          <a:blip xmlns:r="http://schemas.openxmlformats.org/officeDocument/2006/relationships" xmlns:a="http://schemas.openxmlformats.org/drawingml/2006/main" r:embed="R87709b4f5edc430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CFB441D-98A1-42B2-9E84-2420A01B796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04/24</a:t>
            </a:r>
          </a:p>
        </p:txBody>
      </p:sp>
      <p:sp>
        <p:nvSpPr>
          <p:cNvPr id="4" name="">
            <a:extLst xmlns:a="http://schemas.openxmlformats.org/drawingml/2006/main">
              <a:ext uri="{FF2B5EF4-FFF2-40B4-BE49-F238E27FC236}">
                <a16:creationId xmlns:a16="http://schemas.microsoft.com/office/drawing/2014/main" id="{A657C739-560A-4B3A-AE5A-0CC89F0657A2}"/>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CanSat reproduce algunas funciones de un satélite en un volumen pequeño: medir, registrar y comunicar datos. La misión decide qué variable se observa y qué pregunta se intenta responder. Presión y temperatura son ejemplos habituales, pero disponer de sensores no basta para formar una misión científica. Hace falta relacionar la variable, el instante y el origen del registro con una pregunta. En este curso el equipo docente aporta el demostrador y los alumnos aprenden a interpretar esa cadena.</a:t>
            </a:r>
          </a:p>
        </p:txBody>
      </p:sp>
    </p:spTree>
    <p:extLst>
      <p:ext uri="{BB962C8B-B14F-4D97-AF65-F5344CB8AC3E}">
        <p14:creationId xmlns:p14="http://schemas.microsoft.com/office/powerpoint/2010/main" val="1848413377"/>
      </p:ext>
    </p:extLst>
  </p:cSld>
</p:sld>
</file>

<file path=ppt/slides/slide2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250A0BB-BB64-442E-809A-30EE5FE18E13}"/>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 cadena de una observación</a:t>
            </a:r>
          </a:p>
        </p:txBody>
      </p:sp>
      <p:pic>
        <p:nvPicPr>
          <p:cNvPr id="2" name="">
            <a:extLst xmlns:a="http://schemas.openxmlformats.org/drawingml/2006/main">
              <a:ext uri="{FF2B5EF4-FFF2-40B4-BE49-F238E27FC236}">
                <a16:creationId xmlns:a16="http://schemas.microsoft.com/office/drawing/2014/main" id="{132F4CDE-30CE-4F8C-A176-9782067ED1B0}"/>
              </a:ext>
            </a:extLst>
          </p:cNvPr>
          <p:cNvPicPr>
            <a:picLocks xmlns:a="http://schemas.openxmlformats.org/drawingml/2006/main" noChangeAspect="1"/>
          </p:cNvPicPr>
          <p:nvPr/>
        </p:nvPicPr>
        <p:blipFill>
          <a:blip xmlns:r="http://schemas.openxmlformats.org/officeDocument/2006/relationships" xmlns:a="http://schemas.openxmlformats.org/drawingml/2006/main" r:embed="R2922d5600d9143f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A869521-27D6-47CA-A749-13FDCE55DC7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05/24</a:t>
            </a:r>
          </a:p>
        </p:txBody>
      </p:sp>
      <p:sp>
        <p:nvSpPr>
          <p:cNvPr id="4" name="">
            <a:extLst xmlns:a="http://schemas.openxmlformats.org/drawingml/2006/main">
              <a:ext uri="{FF2B5EF4-FFF2-40B4-BE49-F238E27FC236}">
                <a16:creationId xmlns:a16="http://schemas.microsoft.com/office/drawing/2014/main" id="{98408878-16E1-4CCE-BB7C-33F3C5723140}"/>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frecuencia de adquisición y la de transmisión pueden ser diferentes. Un sistema puede guardar más datos de los que envía o transmitir una selección. Por eso “se vio una cifra en pantalla” no demuestra que se haya conservado todo el registro. El docente mostrará una prueba de principio a fin en banco.</a:t>
            </a:r>
          </a:p>
        </p:txBody>
      </p:sp>
    </p:spTree>
    <p:extLst>
      <p:ext uri="{BB962C8B-B14F-4D97-AF65-F5344CB8AC3E}">
        <p14:creationId xmlns:p14="http://schemas.microsoft.com/office/powerpoint/2010/main" val="1612608344"/>
      </p:ext>
    </p:extLst>
  </p:cSld>
</p:sld>
</file>

<file path=ppt/slides/slide3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CAE0D9A-3876-4855-B2A6-5341F0677FA0}"/>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hace cada parte</a:t>
            </a:r>
          </a:p>
        </p:txBody>
      </p:sp>
      <p:pic>
        <p:nvPicPr>
          <p:cNvPr id="2" name="">
            <a:extLst xmlns:a="http://schemas.openxmlformats.org/drawingml/2006/main">
              <a:ext uri="{FF2B5EF4-FFF2-40B4-BE49-F238E27FC236}">
                <a16:creationId xmlns:a16="http://schemas.microsoft.com/office/drawing/2014/main" id="{1AC03DF6-6593-46F9-BBEC-08ECC1B650DC}"/>
              </a:ext>
            </a:extLst>
          </p:cNvPr>
          <p:cNvPicPr>
            <a:picLocks xmlns:a="http://schemas.openxmlformats.org/drawingml/2006/main" noChangeAspect="1"/>
          </p:cNvPicPr>
          <p:nvPr/>
        </p:nvPicPr>
        <p:blipFill>
          <a:blip xmlns:r="http://schemas.openxmlformats.org/officeDocument/2006/relationships" xmlns:a="http://schemas.openxmlformats.org/drawingml/2006/main" r:embed="R173942352187476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1A96367-78CF-47F1-9525-AC5F4369BBD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06/24</a:t>
            </a:r>
          </a:p>
        </p:txBody>
      </p:sp>
      <p:graphicFrame>
        <p:nvGraphicFramePr>
          <p:cNvPr id="4" name="">
            <a:extLst xmlns:a="http://schemas.openxmlformats.org/drawingml/2006/main">
              <a:ext uri="{FF2B5EF4-FFF2-40B4-BE49-F238E27FC236}">
                <a16:creationId xmlns:a16="http://schemas.microsoft.com/office/drawing/2014/main" id="{E4BFC837-A613-45E4-88FC-B03D6B4A3C3E}"/>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2143125"/>
                <a:gridCol w="4524375"/>
                <a:gridCol w="4343400"/>
              </a:tblGrid>
              <a:tr h="658813">
                <a:tc>
                  <a:txBody>
                    <a:bodyPr/>
                    <a:lstStyle/>
                    <a:p>
                      <a:r>
                        <a:rPr sz="2025" b="1">
                          <a:solidFill>
                            <a:srgbClr val="FFFFFF"/>
                          </a:solidFill>
                          <a:latin typeface="Arial"/>
                          <a:ea typeface="Arial"/>
                          <a:cs typeface="Arial"/>
                        </a:rPr>
                        <a:t>Parte</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Función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Pregunta para el banco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58813">
                <a:tc>
                  <a:txBody>
                    <a:bodyPr/>
                    <a:lstStyle/>
                    <a:p>
                      <a:r>
                        <a:rPr sz="2025" b="0">
                          <a:solidFill>
                            <a:srgbClr val="14231E"/>
                          </a:solidFill>
                          <a:latin typeface="Arial"/>
                          <a:ea typeface="Arial"/>
                          <a:cs typeface="Arial"/>
                        </a:rPr>
                        <a:t>Sensor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Obtener una variable física</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¿Qué mide y en qué unidad?</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Procesador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Organizar la lectura</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¿Conserva identificador y tiempo?</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Almacenamiento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Guardar un registro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¿Podemos abrirlo después?</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Transmisión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Enviar información</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¿Qué recibió realmente tierra?</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Estación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Mostrar y conservar datos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¿Se distingue dato perdido de dato válido?</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207320836"/>
      </p:ext>
    </p:extLst>
  </p:cSld>
</p:sld>
</file>

<file path=ppt/slides/slide3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684A134-1975-4B8A-8292-5C4FAC2A53B0}"/>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Una lectura desaparece en la pantalla</a:t>
            </a:r>
          </a:p>
        </p:txBody>
      </p:sp>
      <p:pic>
        <p:nvPicPr>
          <p:cNvPr id="2" name="">
            <a:extLst xmlns:a="http://schemas.openxmlformats.org/drawingml/2006/main">
              <a:ext uri="{FF2B5EF4-FFF2-40B4-BE49-F238E27FC236}">
                <a16:creationId xmlns:a16="http://schemas.microsoft.com/office/drawing/2014/main" id="{5FA78CBA-BCDD-4BCF-AFD3-37479F4F619A}"/>
              </a:ext>
            </a:extLst>
          </p:cNvPr>
          <p:cNvPicPr>
            <a:picLocks xmlns:a="http://schemas.openxmlformats.org/drawingml/2006/main" noChangeAspect="1"/>
          </p:cNvPicPr>
          <p:nvPr/>
        </p:nvPicPr>
        <p:blipFill>
          <a:blip xmlns:r="http://schemas.openxmlformats.org/officeDocument/2006/relationships" xmlns:a="http://schemas.openxmlformats.org/drawingml/2006/main" r:embed="R63385be97acd471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59FEE92-1459-409D-85ED-E6376AB9903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14   07/24</a:t>
            </a:r>
          </a:p>
        </p:txBody>
      </p:sp>
      <p:sp>
        <p:nvSpPr>
          <p:cNvPr id="4" name="">
            <a:extLst xmlns:a="http://schemas.openxmlformats.org/drawingml/2006/main">
              <a:ext uri="{FF2B5EF4-FFF2-40B4-BE49-F238E27FC236}">
                <a16:creationId xmlns:a16="http://schemas.microsoft.com/office/drawing/2014/main" id="{5FCB68DD-5DCE-4612-A555-E9168966F6A2}"/>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El archivo local conserva todas las muestras, pero en tierra falta un identificador.</a:t>
            </a:r>
          </a:p>
        </p:txBody>
      </p:sp>
      <p:sp>
        <p:nvSpPr>
          <p:cNvPr id="5" name="">
            <a:extLst xmlns:a="http://schemas.openxmlformats.org/drawingml/2006/main">
              <a:ext uri="{FF2B5EF4-FFF2-40B4-BE49-F238E27FC236}">
                <a16:creationId xmlns:a16="http://schemas.microsoft.com/office/drawing/2014/main" id="{D75FAE5C-E46A-4F17-B1BA-B98058E7E895}"/>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¿En qué etapa puede aparecer un hueco?</a:t>
            </a:r>
          </a:p>
        </p:txBody>
      </p:sp>
    </p:spTree>
    <p:extLst>
      <p:ext uri="{BB962C8B-B14F-4D97-AF65-F5344CB8AC3E}">
        <p14:creationId xmlns:p14="http://schemas.microsoft.com/office/powerpoint/2010/main" val="1178214996"/>
      </p:ext>
    </p:extLst>
  </p:cSld>
</p:sld>
</file>

<file path=ppt/slides/slide3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0B812C-4678-47B6-AB8D-4FE2F32A572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Datos que se puedan reconocer después</a:t>
            </a:r>
          </a:p>
        </p:txBody>
      </p:sp>
      <p:pic>
        <p:nvPicPr>
          <p:cNvPr id="2" name="">
            <a:extLst xmlns:a="http://schemas.openxmlformats.org/drawingml/2006/main">
              <a:ext uri="{FF2B5EF4-FFF2-40B4-BE49-F238E27FC236}">
                <a16:creationId xmlns:a16="http://schemas.microsoft.com/office/drawing/2014/main" id="{B56F4807-CD85-4179-BC74-8FD2834A476D}"/>
              </a:ext>
            </a:extLst>
          </p:cNvPr>
          <p:cNvPicPr>
            <a:picLocks xmlns:a="http://schemas.openxmlformats.org/drawingml/2006/main" noChangeAspect="1"/>
          </p:cNvPicPr>
          <p:nvPr/>
        </p:nvPicPr>
        <p:blipFill>
          <a:blip xmlns:r="http://schemas.openxmlformats.org/officeDocument/2006/relationships" xmlns:a="http://schemas.openxmlformats.org/drawingml/2006/main" r:embed="Re5a6c843522e42d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E6B548D-D47D-4822-A0BF-51F58042E05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08/24</a:t>
            </a:r>
          </a:p>
        </p:txBody>
      </p:sp>
      <p:sp>
        <p:nvSpPr>
          <p:cNvPr id="4" name="">
            <a:extLst xmlns:a="http://schemas.openxmlformats.org/drawingml/2006/main">
              <a:ext uri="{FF2B5EF4-FFF2-40B4-BE49-F238E27FC236}">
                <a16:creationId xmlns:a16="http://schemas.microsoft.com/office/drawing/2014/main" id="{051791B0-EF18-48FD-953B-4506C97C2860}"/>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tiempo necesita un origen: inicio de registro, encendido o una referencia declarada. Una temperatura en grados Celsius no puede usarse como si fueran kelvin en cualquier fórmula. En esta introducción no calcularemos una atmósfera completa; comprobaremos que las unidades y el significado del registro sean claros.</a:t>
            </a:r>
          </a:p>
        </p:txBody>
      </p:sp>
    </p:spTree>
    <p:extLst>
      <p:ext uri="{BB962C8B-B14F-4D97-AF65-F5344CB8AC3E}">
        <p14:creationId xmlns:p14="http://schemas.microsoft.com/office/powerpoint/2010/main" val="803805130"/>
      </p:ext>
    </p:extLst>
  </p:cSld>
</p:sld>
</file>

<file path=ppt/slides/slide3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637AF7C-8B1F-4714-8C91-AD5ED128AD1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 registro sencillo</a:t>
            </a:r>
          </a:p>
        </p:txBody>
      </p:sp>
      <p:pic>
        <p:nvPicPr>
          <p:cNvPr id="2" name="">
            <a:extLst xmlns:a="http://schemas.openxmlformats.org/drawingml/2006/main">
              <a:ext uri="{FF2B5EF4-FFF2-40B4-BE49-F238E27FC236}">
                <a16:creationId xmlns:a16="http://schemas.microsoft.com/office/drawing/2014/main" id="{ECD26E7B-B688-46BB-BBC4-EF2F052BEC91}"/>
              </a:ext>
            </a:extLst>
          </p:cNvPr>
          <p:cNvPicPr>
            <a:picLocks xmlns:a="http://schemas.openxmlformats.org/drawingml/2006/main" noChangeAspect="1"/>
          </p:cNvPicPr>
          <p:nvPr/>
        </p:nvPicPr>
        <p:blipFill>
          <a:blip xmlns:r="http://schemas.openxmlformats.org/officeDocument/2006/relationships" xmlns:a="http://schemas.openxmlformats.org/drawingml/2006/main" r:embed="R9cecb317b57d4ea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557BC1F-AEDA-4937-A9C6-5522000C091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09/24</a:t>
            </a:r>
          </a:p>
        </p:txBody>
      </p:sp>
      <p:graphicFrame>
        <p:nvGraphicFramePr>
          <p:cNvPr id="4" name="">
            <a:extLst xmlns:a="http://schemas.openxmlformats.org/drawingml/2006/main">
              <a:ext uri="{FF2B5EF4-FFF2-40B4-BE49-F238E27FC236}">
                <a16:creationId xmlns:a16="http://schemas.microsoft.com/office/drawing/2014/main" id="{FE6C6675-C8A1-4D15-A1C6-84C4356A2EB7}"/>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2143125"/>
                <a:gridCol w="4524375"/>
                <a:gridCol w="4343400"/>
              </a:tblGrid>
              <a:tr h="658813">
                <a:tc>
                  <a:txBody>
                    <a:bodyPr/>
                    <a:lstStyle/>
                    <a:p>
                      <a:r>
                        <a:rPr sz="2025" b="1">
                          <a:solidFill>
                            <a:srgbClr val="FFFFFF"/>
                          </a:solidFill>
                          <a:latin typeface="Arial"/>
                          <a:ea typeface="Arial"/>
                          <a:cs typeface="Arial"/>
                        </a:rPr>
                        <a:t>Campo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Unidad o tipo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Para qué sirve</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58813">
                <a:tc>
                  <a:txBody>
                    <a:bodyPr/>
                    <a:lstStyle/>
                    <a:p>
                      <a:r>
                        <a:rPr sz="2025" b="0">
                          <a:solidFill>
                            <a:srgbClr val="14231E"/>
                          </a:solidFill>
                          <a:latin typeface="Arial"/>
                          <a:ea typeface="Arial"/>
                          <a:cs typeface="Arial"/>
                        </a:rPr>
                        <a:t>equipo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Texto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Identificar el sistema</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muestra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Entero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Detectar saltos y duplicados</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tiempo_s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s desde un origen</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Ordenar las lecturas</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presion_Pa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Pa</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Conservar variable y unidad</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temperatura_C</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Interpretar el estado medido</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345948531"/>
      </p:ext>
    </p:extLst>
  </p:cSld>
</p:sld>
</file>

<file path=ppt/slides/slide3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E3DA829-D93A-461A-848F-9859AB7FF09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No usar cero para todo</a:t>
            </a:r>
          </a:p>
        </p:txBody>
      </p:sp>
      <p:pic>
        <p:nvPicPr>
          <p:cNvPr id="2" name="">
            <a:extLst xmlns:a="http://schemas.openxmlformats.org/drawingml/2006/main">
              <a:ext uri="{FF2B5EF4-FFF2-40B4-BE49-F238E27FC236}">
                <a16:creationId xmlns:a16="http://schemas.microsoft.com/office/drawing/2014/main" id="{B38575D9-890F-4622-A06E-C5DB694B8034}"/>
              </a:ext>
            </a:extLst>
          </p:cNvPr>
          <p:cNvPicPr>
            <a:picLocks xmlns:a="http://schemas.openxmlformats.org/drawingml/2006/main" noChangeAspect="1"/>
          </p:cNvPicPr>
          <p:nvPr/>
        </p:nvPicPr>
        <p:blipFill>
          <a:blip xmlns:r="http://schemas.openxmlformats.org/officeDocument/2006/relationships" xmlns:a="http://schemas.openxmlformats.org/drawingml/2006/main" r:embed="R11fda59c23e5436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10EB485-73E6-482D-8A63-3F10F5F4588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14   10/24</a:t>
            </a:r>
          </a:p>
        </p:txBody>
      </p:sp>
      <p:sp>
        <p:nvSpPr>
          <p:cNvPr id="4" name="">
            <a:extLst xmlns:a="http://schemas.openxmlformats.org/drawingml/2006/main">
              <a:ext uri="{FF2B5EF4-FFF2-40B4-BE49-F238E27FC236}">
                <a16:creationId xmlns:a16="http://schemas.microsoft.com/office/drawing/2014/main" id="{67FCCEF5-1298-4297-A322-CAEDCBEC19EA}"/>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El sensor no entregó una lectura y el archivo guarda presión igual a cero, sin otra indicación.</a:t>
            </a:r>
          </a:p>
        </p:txBody>
      </p:sp>
      <p:sp>
        <p:nvSpPr>
          <p:cNvPr id="5" name="">
            <a:extLst xmlns:a="http://schemas.openxmlformats.org/drawingml/2006/main">
              <a:ext uri="{FF2B5EF4-FFF2-40B4-BE49-F238E27FC236}">
                <a16:creationId xmlns:a16="http://schemas.microsoft.com/office/drawing/2014/main" id="{D1AC6DAD-856B-453F-BF23-B8810FC52ABE}"/>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¿Cuál es el origen del tiempo?</a:t>
            </a:r>
          </a:p>
        </p:txBody>
      </p:sp>
    </p:spTree>
    <p:extLst>
      <p:ext uri="{BB962C8B-B14F-4D97-AF65-F5344CB8AC3E}">
        <p14:creationId xmlns:p14="http://schemas.microsoft.com/office/powerpoint/2010/main" val="600223415"/>
      </p:ext>
    </p:extLst>
  </p:cSld>
</p:sld>
</file>

<file path=ppt/slides/slide3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F6921F1-B209-4735-9080-4C9BE7546D33}"/>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de banco y lectura del archivo</a:t>
            </a:r>
          </a:p>
        </p:txBody>
      </p:sp>
      <p:pic>
        <p:nvPicPr>
          <p:cNvPr id="2" name="">
            <a:extLst xmlns:a="http://schemas.openxmlformats.org/drawingml/2006/main">
              <a:ext uri="{FF2B5EF4-FFF2-40B4-BE49-F238E27FC236}">
                <a16:creationId xmlns:a16="http://schemas.microsoft.com/office/drawing/2014/main" id="{CE7E73FA-2649-48E0-94CA-A9055533315F}"/>
              </a:ext>
            </a:extLst>
          </p:cNvPr>
          <p:cNvPicPr>
            <a:picLocks xmlns:a="http://schemas.openxmlformats.org/drawingml/2006/main" noChangeAspect="1"/>
          </p:cNvPicPr>
          <p:nvPr/>
        </p:nvPicPr>
        <p:blipFill>
          <a:blip xmlns:r="http://schemas.openxmlformats.org/officeDocument/2006/relationships" xmlns:a="http://schemas.openxmlformats.org/drawingml/2006/main" r:embed="Rea288f1a7f2541c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81B8F21-D8FC-404C-B907-1582AC3D974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11/24</a:t>
            </a:r>
          </a:p>
        </p:txBody>
      </p:sp>
      <p:sp>
        <p:nvSpPr>
          <p:cNvPr id="4" name="">
            <a:extLst xmlns:a="http://schemas.openxmlformats.org/drawingml/2006/main">
              <a:ext uri="{FF2B5EF4-FFF2-40B4-BE49-F238E27FC236}">
                <a16:creationId xmlns:a16="http://schemas.microsoft.com/office/drawing/2014/main" id="{D9C73A1B-0A3C-440E-9671-E53573231D25}"/>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En la demostración real se conservan configuración, sensor y fuente de datos. El archivo sintético permite aprender el método aunque el banco se organice para toda la clase con una sola unidad. Si no se ha realizado una medición real, el informe lo indica.</a:t>
            </a:r>
          </a:p>
        </p:txBody>
      </p:sp>
    </p:spTree>
    <p:extLst>
      <p:ext uri="{BB962C8B-B14F-4D97-AF65-F5344CB8AC3E}">
        <p14:creationId xmlns:p14="http://schemas.microsoft.com/office/powerpoint/2010/main" val="1871855927"/>
      </p:ext>
    </p:extLst>
  </p:cSld>
</p:sld>
</file>

<file path=ppt/slides/slide3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510F141-F8E1-4751-8007-A777E227275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registrar durante la demostración</a:t>
            </a:r>
          </a:p>
        </p:txBody>
      </p:sp>
      <p:pic>
        <p:nvPicPr>
          <p:cNvPr id="2" name="">
            <a:extLst xmlns:a="http://schemas.openxmlformats.org/drawingml/2006/main">
              <a:ext uri="{FF2B5EF4-FFF2-40B4-BE49-F238E27FC236}">
                <a16:creationId xmlns:a16="http://schemas.microsoft.com/office/drawing/2014/main" id="{6C6305A0-7CB1-4B47-A831-F9C20DD8FF32}"/>
              </a:ext>
            </a:extLst>
          </p:cNvPr>
          <p:cNvPicPr>
            <a:picLocks xmlns:a="http://schemas.openxmlformats.org/drawingml/2006/main" noChangeAspect="1"/>
          </p:cNvPicPr>
          <p:nvPr/>
        </p:nvPicPr>
        <p:blipFill>
          <a:blip xmlns:r="http://schemas.openxmlformats.org/officeDocument/2006/relationships" xmlns:a="http://schemas.openxmlformats.org/drawingml/2006/main" r:embed="R15a4196d43af427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5A5E63E-C404-432A-B0FB-DB42053D958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12/24</a:t>
            </a:r>
          </a:p>
        </p:txBody>
      </p:sp>
      <p:graphicFrame>
        <p:nvGraphicFramePr>
          <p:cNvPr id="4" name="">
            <a:extLst xmlns:a="http://schemas.openxmlformats.org/drawingml/2006/main">
              <a:ext uri="{FF2B5EF4-FFF2-40B4-BE49-F238E27FC236}">
                <a16:creationId xmlns:a16="http://schemas.microsoft.com/office/drawing/2014/main" id="{EEFA48B2-6365-4793-B2CC-4C53B17E113D}"/>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5505450"/>
                <a:gridCol w="5505450"/>
              </a:tblGrid>
              <a:tr h="718185">
                <a:tc>
                  <a:txBody>
                    <a:bodyPr/>
                    <a:lstStyle/>
                    <a:p>
                      <a:r>
                        <a:rPr sz="2025" b="1">
                          <a:solidFill>
                            <a:srgbClr val="FFFFFF"/>
                          </a:solidFill>
                          <a:latin typeface="Arial"/>
                          <a:ea typeface="Arial"/>
                          <a:cs typeface="Arial"/>
                        </a:rPr>
                        <a:t>Momento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Observación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Antes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Identificación y archivo vacío o nuevo</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Durante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Variable y referencia temporal</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Después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Archivo que se puede abrir</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Recepción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Muestras únicas, huecos y duplicados</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439317298"/>
      </p:ext>
    </p:extLst>
  </p:cSld>
</p:sld>
</file>

<file path=ppt/slides/slide3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170B88B-BD22-4015-A6C9-0D00E5428E81}"/>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de banco y lectura del archivo</a:t>
            </a:r>
          </a:p>
        </p:txBody>
      </p:sp>
      <p:pic>
        <p:nvPicPr>
          <p:cNvPr id="2" name="">
            <a:extLst xmlns:a="http://schemas.openxmlformats.org/drawingml/2006/main">
              <a:ext uri="{FF2B5EF4-FFF2-40B4-BE49-F238E27FC236}">
                <a16:creationId xmlns:a16="http://schemas.microsoft.com/office/drawing/2014/main" id="{6C565DCB-325B-43BD-A963-6EDAD2D46A62}"/>
              </a:ext>
            </a:extLst>
          </p:cNvPr>
          <p:cNvPicPr>
            <a:picLocks xmlns:a="http://schemas.openxmlformats.org/drawingml/2006/main" noChangeAspect="1"/>
          </p:cNvPicPr>
          <p:nvPr/>
        </p:nvPicPr>
        <p:blipFill>
          <a:blip xmlns:r="http://schemas.openxmlformats.org/officeDocument/2006/relationships" xmlns:a="http://schemas.openxmlformats.org/drawingml/2006/main" r:embed="R6cc54957dc7a42d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D6E3567-1DE2-4063-95BD-6FC674EE783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13/24</a:t>
            </a:r>
          </a:p>
        </p:txBody>
      </p:sp>
      <p:sp>
        <p:nvSpPr>
          <p:cNvPr id="4" name="">
            <a:extLst xmlns:a="http://schemas.openxmlformats.org/drawingml/2006/main">
              <a:ext uri="{FF2B5EF4-FFF2-40B4-BE49-F238E27FC236}">
                <a16:creationId xmlns:a16="http://schemas.microsoft.com/office/drawing/2014/main" id="{E9ABAF66-419D-4E54-8531-1BA6BDD44A04}"/>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El docente presenta su sistema y explica qué variable está observando.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Inicia una adquisición de banco y conserva una referencia de tiempo.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Muestra una pantalla de recepción y un archivo local identificado.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El equipo abre cansat_banco_sintetico.csv y lee sus columnas y unidades.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Busca identificadores repetidos o ausentes en recepcion_banco_sintetica.csv.</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Explica qué dato adicional permitiría atribuir un hueco a adquisición, almacenamiento o transmisión.</a:t>
            </a:r>
          </a:p>
        </p:txBody>
      </p:sp>
    </p:spTree>
    <p:extLst>
      <p:ext uri="{BB962C8B-B14F-4D97-AF65-F5344CB8AC3E}">
        <p14:creationId xmlns:p14="http://schemas.microsoft.com/office/powerpoint/2010/main" val="1738154938"/>
      </p:ext>
    </p:extLst>
  </p:cSld>
</p:sld>
</file>

<file path=ppt/slides/slide3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252012-2FE5-4EEA-A81D-AC8B51BBCC8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Contar recepción sin confundir mensajes y muestras</a:t>
            </a:r>
          </a:p>
        </p:txBody>
      </p:sp>
      <p:pic>
        <p:nvPicPr>
          <p:cNvPr id="2" name="">
            <a:extLst xmlns:a="http://schemas.openxmlformats.org/drawingml/2006/main">
              <a:ext uri="{FF2B5EF4-FFF2-40B4-BE49-F238E27FC236}">
                <a16:creationId xmlns:a16="http://schemas.microsoft.com/office/drawing/2014/main" id="{85E7EF69-7308-4D4C-B1ED-F544E4859388}"/>
              </a:ext>
            </a:extLst>
          </p:cNvPr>
          <p:cNvPicPr>
            <a:picLocks xmlns:a="http://schemas.openxmlformats.org/drawingml/2006/main" noChangeAspect="1"/>
          </p:cNvPicPr>
          <p:nvPr/>
        </p:nvPicPr>
        <p:blipFill>
          <a:blip xmlns:r="http://schemas.openxmlformats.org/officeDocument/2006/relationships" xmlns:a="http://schemas.openxmlformats.org/drawingml/2006/main" r:embed="R45d450c4a8dd46a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D0BEFFE-CBC3-4000-9810-80BDD20B685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14/24</a:t>
            </a:r>
          </a:p>
        </p:txBody>
      </p:sp>
      <p:sp>
        <p:nvSpPr>
          <p:cNvPr id="4" name="">
            <a:extLst xmlns:a="http://schemas.openxmlformats.org/drawingml/2006/main">
              <a:ext uri="{FF2B5EF4-FFF2-40B4-BE49-F238E27FC236}">
                <a16:creationId xmlns:a16="http://schemas.microsoft.com/office/drawing/2014/main" id="{C92F8B04-13A6-4887-8E14-C793A185280B}"/>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mismo dato puede recibirse más de una vez. Para saber cuántas observaciones llegaron se usa el identificador de muestra, no únicamente el número de mensajes. Esta diferencia se puede estudiar con pocas filas y una cuenta sencilla.</a:t>
            </a:r>
          </a:p>
        </p:txBody>
      </p:sp>
    </p:spTree>
    <p:extLst>
      <p:ext uri="{BB962C8B-B14F-4D97-AF65-F5344CB8AC3E}">
        <p14:creationId xmlns:p14="http://schemas.microsoft.com/office/powerpoint/2010/main" val="2071214993"/>
      </p:ext>
    </p:extLst>
  </p:cSld>
</p:sld>
</file>

<file path=ppt/slides/slide3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B249C71-78F7-41A5-B89E-9705F1A7B40B}"/>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Cuatro cantidades distintas</a:t>
            </a:r>
          </a:p>
        </p:txBody>
      </p:sp>
      <p:pic>
        <p:nvPicPr>
          <p:cNvPr id="2" name="">
            <a:extLst xmlns:a="http://schemas.openxmlformats.org/drawingml/2006/main">
              <a:ext uri="{FF2B5EF4-FFF2-40B4-BE49-F238E27FC236}">
                <a16:creationId xmlns:a16="http://schemas.microsoft.com/office/drawing/2014/main" id="{4C0958F6-9239-466F-BC76-B608E3646056}"/>
              </a:ext>
            </a:extLst>
          </p:cNvPr>
          <p:cNvPicPr>
            <a:picLocks xmlns:a="http://schemas.openxmlformats.org/drawingml/2006/main" noChangeAspect="1"/>
          </p:cNvPicPr>
          <p:nvPr/>
        </p:nvPicPr>
        <p:blipFill>
          <a:blip xmlns:r="http://schemas.openxmlformats.org/officeDocument/2006/relationships" xmlns:a="http://schemas.openxmlformats.org/drawingml/2006/main" r:embed="R1741abd39bc6459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4FCD051-8AE0-417B-AC2B-C362293FDB0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15/24</a:t>
            </a:r>
          </a:p>
        </p:txBody>
      </p:sp>
      <p:graphicFrame>
        <p:nvGraphicFramePr>
          <p:cNvPr id="4" name="">
            <a:extLst xmlns:a="http://schemas.openxmlformats.org/drawingml/2006/main">
              <a:ext uri="{FF2B5EF4-FFF2-40B4-BE49-F238E27FC236}">
                <a16:creationId xmlns:a16="http://schemas.microsoft.com/office/drawing/2014/main" id="{64DC5B3B-72C8-4405-8E2F-0C08B0C2F29F}"/>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5505450"/>
                <a:gridCol w="5505450"/>
              </a:tblGrid>
              <a:tr h="718185">
                <a:tc>
                  <a:txBody>
                    <a:bodyPr/>
                    <a:lstStyle/>
                    <a:p>
                      <a:r>
                        <a:rPr sz="2025" b="1">
                          <a:solidFill>
                            <a:srgbClr val="FFFFFF"/>
                          </a:solidFill>
                          <a:latin typeface="Arial"/>
                          <a:ea typeface="Arial"/>
                          <a:cs typeface="Arial"/>
                        </a:rPr>
                        <a:t>Cantidad</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Valor del ejercicio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Muestras generadas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20</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Muestras únicas recibidas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18</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Mensajes recibidos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19</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Muestras ausentes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2</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468489622"/>
      </p:ext>
    </p:extLst>
  </p:cSld>
</p:sld>
</file>

<file path=ppt/slides/slide4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9260D09-89C8-4AE0-8322-60249D308D8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Mensajes y muestras son cantidades diferentes</a:t>
            </a:r>
          </a:p>
        </p:txBody>
      </p:sp>
      <p:pic>
        <p:nvPicPr>
          <p:cNvPr id="2" name="">
            <a:extLst xmlns:a="http://schemas.openxmlformats.org/drawingml/2006/main">
              <a:ext uri="{FF2B5EF4-FFF2-40B4-BE49-F238E27FC236}">
                <a16:creationId xmlns:a16="http://schemas.microsoft.com/office/drawing/2014/main" id="{772E94FC-9F40-4FE9-B9CD-87EDCAED4FD0}"/>
              </a:ext>
            </a:extLst>
          </p:cNvPr>
          <p:cNvPicPr>
            <a:picLocks xmlns:a="http://schemas.openxmlformats.org/drawingml/2006/main" noChangeAspect="1"/>
          </p:cNvPicPr>
          <p:nvPr/>
        </p:nvPicPr>
        <p:blipFill>
          <a:blip xmlns:r="http://schemas.openxmlformats.org/officeDocument/2006/relationships" xmlns:a="http://schemas.openxmlformats.org/drawingml/2006/main" r:embed="R0dd46f45d56943f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94E8B50-0A9F-43D4-BA57-5031091F382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16/24</a:t>
            </a:r>
          </a:p>
        </p:txBody>
      </p:sp>
      <p:graphicFrame>
        <p:nvGraphicFramePr>
          <p:cNvPr id="4" name="Chart">
            <a:extLst xmlns:a="http://schemas.openxmlformats.org/drawingml/2006/main">
              <a:ext uri="{FF2B5EF4-FFF2-40B4-BE49-F238E27FC236}">
                <a16:creationId xmlns:a16="http://schemas.microsoft.com/office/drawing/2014/main" id="{EB887BD1-D3C0-4B18-AA35-59B22DA1FBA1}"/>
              </a:ext>
            </a:extLst>
          </p:cNvPr>
          <p:cNvGraphicFramePr/>
          <p:nvPr/>
        </p:nvGraphicFramePr>
        <p:xfrm>
          <a:off xmlns:a="http://schemas.openxmlformats.org/drawingml/2006/main" x="590550" y="1657350"/>
          <a:ext xmlns:a="http://schemas.openxmlformats.org/drawingml/2006/main" cx="11010900" cy="3952875"/>
        </p:xfrm>
        <a:graphic xmlns:a="http://schemas.openxmlformats.org/drawingml/2006/main">
          <a:graphicData uri="http://schemas.openxmlformats.org/drawingml/2006/chart">
            <c:chart xmlns:r="http://schemas.openxmlformats.org/officeDocument/2006/relationships" xmlns:c="http://schemas.openxmlformats.org/drawingml/2006/chart" r:id="R1cd0b8228efb490c"/>
          </a:graphicData>
        </a:graphic>
      </p:graphicFrame>
      <p:sp>
        <p:nvSpPr>
          <p:cNvPr id="5" name="">
            <a:extLst xmlns:a="http://schemas.openxmlformats.org/drawingml/2006/main">
              <a:ext uri="{FF2B5EF4-FFF2-40B4-BE49-F238E27FC236}">
                <a16:creationId xmlns:a16="http://schemas.microsoft.com/office/drawing/2014/main" id="{4FC43981-6C20-41F7-BAA5-83A7C41042A5}"/>
              </a:ext>
            </a:extLst>
          </p:cNvPr>
          <p:cNvSpPr>
            <a:spLocks xmlns:a="http://schemas.openxmlformats.org/drawingml/2006/main" noGrp="1"/>
          </p:cNvSpPr>
          <p:nvPr/>
        </p:nvSpPr>
        <p:spPr>
          <a:xfrm xmlns:a="http://schemas.openxmlformats.org/drawingml/2006/main">
            <a:off x="590550" y="5848350"/>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Conjunto sintético de banco: faltan 7 y 14 y se repite 3. No son datos de un vuelo.</a:t>
            </a:r>
          </a:p>
        </p:txBody>
      </p:sp>
    </p:spTree>
    <p:extLst>
      <p:ext uri="{BB962C8B-B14F-4D97-AF65-F5344CB8AC3E}">
        <p14:creationId xmlns:p14="http://schemas.microsoft.com/office/powerpoint/2010/main" val="122705495"/>
      </p:ext>
    </p:extLst>
  </p:cSld>
</p:sld>
</file>

<file path=ppt/slides/slide4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9362F26-5FDD-4C59-8C9C-E67D6067CAA3}"/>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observar en la jornada docente</a:t>
            </a:r>
          </a:p>
        </p:txBody>
      </p:sp>
      <p:pic>
        <p:nvPicPr>
          <p:cNvPr id="2" name="">
            <a:extLst xmlns:a="http://schemas.openxmlformats.org/drawingml/2006/main">
              <a:ext uri="{FF2B5EF4-FFF2-40B4-BE49-F238E27FC236}">
                <a16:creationId xmlns:a16="http://schemas.microsoft.com/office/drawing/2014/main" id="{8E9F97E5-6958-49B4-A342-C11CD386624B}"/>
              </a:ext>
            </a:extLst>
          </p:cNvPr>
          <p:cNvPicPr>
            <a:picLocks xmlns:a="http://schemas.openxmlformats.org/drawingml/2006/main" noChangeAspect="1"/>
          </p:cNvPicPr>
          <p:nvPr/>
        </p:nvPicPr>
        <p:blipFill>
          <a:blip xmlns:r="http://schemas.openxmlformats.org/officeDocument/2006/relationships" xmlns:a="http://schemas.openxmlformats.org/drawingml/2006/main" r:embed="R79f8da2604d54ed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075FD5B-F163-4E42-B037-0EF692E4EF3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17/24</a:t>
            </a:r>
          </a:p>
        </p:txBody>
      </p:sp>
      <p:sp>
        <p:nvSpPr>
          <p:cNvPr id="4" name="">
            <a:extLst xmlns:a="http://schemas.openxmlformats.org/drawingml/2006/main">
              <a:ext uri="{FF2B5EF4-FFF2-40B4-BE49-F238E27FC236}">
                <a16:creationId xmlns:a16="http://schemas.microsoft.com/office/drawing/2014/main" id="{B113CAE1-EF19-43A4-AAD9-0D1CB30CEB90}"/>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demostración se realiza únicamente en el vehículo docente revisado para esa misión. La comparación de narices y cuerpos con espacio para carga pertenece a esa configuración, no al modelo del alumno. El equipo prepara preguntas y un registro de observación sin intervenir en la operación que corresponde al responsable.</a:t>
            </a:r>
          </a:p>
        </p:txBody>
      </p:sp>
    </p:spTree>
    <p:extLst>
      <p:ext uri="{BB962C8B-B14F-4D97-AF65-F5344CB8AC3E}">
        <p14:creationId xmlns:p14="http://schemas.microsoft.com/office/powerpoint/2010/main" val="1861102715"/>
      </p:ext>
    </p:extLst>
  </p:cSld>
</p:sld>
</file>

<file path=ppt/slides/slide4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00ED411-7105-4059-A58B-DAE8B3B21FA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Plan de observación CanSat</a:t>
            </a:r>
          </a:p>
        </p:txBody>
      </p:sp>
      <p:pic>
        <p:nvPicPr>
          <p:cNvPr id="2" name="">
            <a:extLst xmlns:a="http://schemas.openxmlformats.org/drawingml/2006/main">
              <a:ext uri="{FF2B5EF4-FFF2-40B4-BE49-F238E27FC236}">
                <a16:creationId xmlns:a16="http://schemas.microsoft.com/office/drawing/2014/main" id="{A57F50F0-D019-404C-9973-DD8D131996C3}"/>
              </a:ext>
            </a:extLst>
          </p:cNvPr>
          <p:cNvPicPr>
            <a:picLocks xmlns:a="http://schemas.openxmlformats.org/drawingml/2006/main" noChangeAspect="1"/>
          </p:cNvPicPr>
          <p:nvPr/>
        </p:nvPicPr>
        <p:blipFill>
          <a:blip xmlns:r="http://schemas.openxmlformats.org/officeDocument/2006/relationships" xmlns:a="http://schemas.openxmlformats.org/drawingml/2006/main" r:embed="R922879458b25478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B004FE3-F4C2-426B-B2DF-54EE9EF211A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18/24</a:t>
            </a:r>
          </a:p>
        </p:txBody>
      </p:sp>
      <p:graphicFrame>
        <p:nvGraphicFramePr>
          <p:cNvPr id="4" name="">
            <a:extLst xmlns:a="http://schemas.openxmlformats.org/drawingml/2006/main">
              <a:ext uri="{FF2B5EF4-FFF2-40B4-BE49-F238E27FC236}">
                <a16:creationId xmlns:a16="http://schemas.microsoft.com/office/drawing/2014/main" id="{B1E9197D-4933-4670-B4FB-4A2D430661B7}"/>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5505450"/>
                <a:gridCol w="5505450"/>
              </a:tblGrid>
              <a:tr h="718185">
                <a:tc>
                  <a:txBody>
                    <a:bodyPr/>
                    <a:lstStyle/>
                    <a:p>
                      <a:r>
                        <a:rPr sz="2025" b="1">
                          <a:solidFill>
                            <a:srgbClr val="FFFFFF"/>
                          </a:solidFill>
                          <a:latin typeface="Arial"/>
                          <a:ea typeface="Arial"/>
                          <a:cs typeface="Arial"/>
                        </a:rPr>
                        <a:t>Pregunta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Evidencia que podría responderla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¿El sistema registró?</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Archivo local identificado</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¿Qué llegó a tierra?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Registro de recepción</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¿Cuándo ocurrió un evento?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Referencia de tiempo y observación</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¿Qué se recuperó?</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Estado físico y datos disponibles</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487665505"/>
      </p:ext>
    </p:extLst>
  </p:cSld>
</p:sld>
</file>

<file path=ppt/slides/slide43.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AEFAD52-6F0E-4ECF-98E3-9B9C40E60AA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Un dato que no apareció en tierra</a:t>
            </a:r>
          </a:p>
        </p:txBody>
      </p:sp>
      <p:pic>
        <p:nvPicPr>
          <p:cNvPr id="2" name="">
            <a:extLst xmlns:a="http://schemas.openxmlformats.org/drawingml/2006/main">
              <a:ext uri="{FF2B5EF4-FFF2-40B4-BE49-F238E27FC236}">
                <a16:creationId xmlns:a16="http://schemas.microsoft.com/office/drawing/2014/main" id="{2F1C3AAA-33AA-462B-B63B-62116798571F}"/>
              </a:ext>
            </a:extLst>
          </p:cNvPr>
          <p:cNvPicPr>
            <a:picLocks xmlns:a="http://schemas.openxmlformats.org/drawingml/2006/main" noChangeAspect="1"/>
          </p:cNvPicPr>
          <p:nvPr/>
        </p:nvPicPr>
        <p:blipFill>
          <a:blip xmlns:r="http://schemas.openxmlformats.org/officeDocument/2006/relationships" xmlns:a="http://schemas.openxmlformats.org/drawingml/2006/main" r:embed="R6e8c88abda7c4b6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8C62B74-F8C6-4FEE-B3DF-193FB4243CC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14   19/24</a:t>
            </a:r>
          </a:p>
        </p:txBody>
      </p:sp>
      <p:sp>
        <p:nvSpPr>
          <p:cNvPr id="4" name="">
            <a:extLst xmlns:a="http://schemas.openxmlformats.org/drawingml/2006/main">
              <a:ext uri="{FF2B5EF4-FFF2-40B4-BE49-F238E27FC236}">
                <a16:creationId xmlns:a16="http://schemas.microsoft.com/office/drawing/2014/main" id="{29C5BD35-4B99-4673-82CF-2B0F8A83C44B}"/>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Durante la actividad falta una parte de la telemetría.</a:t>
            </a:r>
          </a:p>
        </p:txBody>
      </p:sp>
      <p:sp>
        <p:nvSpPr>
          <p:cNvPr id="5" name="">
            <a:extLst xmlns:a="http://schemas.openxmlformats.org/drawingml/2006/main">
              <a:ext uri="{FF2B5EF4-FFF2-40B4-BE49-F238E27FC236}">
                <a16:creationId xmlns:a16="http://schemas.microsoft.com/office/drawing/2014/main" id="{A40B5DC0-DEEF-4B86-9491-CB1AAF20A475}"/>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¿Qué puedes concluir si falta telemetría?</a:t>
            </a:r>
          </a:p>
        </p:txBody>
      </p:sp>
    </p:spTree>
    <p:extLst>
      <p:ext uri="{BB962C8B-B14F-4D97-AF65-F5344CB8AC3E}">
        <p14:creationId xmlns:p14="http://schemas.microsoft.com/office/powerpoint/2010/main" val="1252925945"/>
      </p:ext>
    </p:extLst>
  </p:cSld>
</p:sld>
</file>

<file path=ppt/slides/slide4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5A3402-AF88-4988-BB85-E25AB95A899A}"/>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Trabajo guiado del equipo</a:t>
            </a:r>
          </a:p>
        </p:txBody>
      </p:sp>
      <p:pic>
        <p:nvPicPr>
          <p:cNvPr id="2" name="">
            <a:extLst xmlns:a="http://schemas.openxmlformats.org/drawingml/2006/main">
              <a:ext uri="{FF2B5EF4-FFF2-40B4-BE49-F238E27FC236}">
                <a16:creationId xmlns:a16="http://schemas.microsoft.com/office/drawing/2014/main" id="{08005BDF-CFD7-4BE2-AF39-CD273DDE883B}"/>
              </a:ext>
            </a:extLst>
          </p:cNvPr>
          <p:cNvPicPr>
            <a:picLocks xmlns:a="http://schemas.openxmlformats.org/drawingml/2006/main" noChangeAspect="1"/>
          </p:cNvPicPr>
          <p:nvPr/>
        </p:nvPicPr>
        <p:blipFill>
          <a:blip xmlns:r="http://schemas.openxmlformats.org/officeDocument/2006/relationships" xmlns:a="http://schemas.openxmlformats.org/drawingml/2006/main" r:embed="R5c32bf2a074a4b6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9043B09-FC01-43C6-9E2B-511D7D6E379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20/24</a:t>
            </a:r>
          </a:p>
        </p:txBody>
      </p:sp>
      <p:sp>
        <p:nvSpPr>
          <p:cNvPr id="4" name="">
            <a:extLst xmlns:a="http://schemas.openxmlformats.org/drawingml/2006/main">
              <a:ext uri="{FF2B5EF4-FFF2-40B4-BE49-F238E27FC236}">
                <a16:creationId xmlns:a16="http://schemas.microsoft.com/office/drawing/2014/main" id="{564595DB-6C03-4C10-BF50-08CDB435F998}"/>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Reconocer el sistema docente y sus variables.</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Abrir el CSV sintético y leer unidades.</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Contar muestras únicas y mensajes en la recepción sintética.</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4. Preparar preguntas para observar la demostración de campo.</a:t>
            </a:r>
          </a:p>
        </p:txBody>
      </p:sp>
    </p:spTree>
    <p:extLst>
      <p:ext uri="{BB962C8B-B14F-4D97-AF65-F5344CB8AC3E}">
        <p14:creationId xmlns:p14="http://schemas.microsoft.com/office/powerpoint/2010/main" val="282636037"/>
      </p:ext>
    </p:extLst>
  </p:cSld>
</p:sld>
</file>

<file path=ppt/slides/slide4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5E21AA-3082-4D14-BE75-1BD0EEB32C51}"/>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Decisión según la misión</a:t>
            </a:r>
          </a:p>
        </p:txBody>
      </p:sp>
      <p:pic>
        <p:nvPicPr>
          <p:cNvPr id="2" name="">
            <a:extLst xmlns:a="http://schemas.openxmlformats.org/drawingml/2006/main">
              <a:ext uri="{FF2B5EF4-FFF2-40B4-BE49-F238E27FC236}">
                <a16:creationId xmlns:a16="http://schemas.microsoft.com/office/drawing/2014/main" id="{46063724-E2B6-40C7-A204-AD639D756EF8}"/>
              </a:ext>
            </a:extLst>
          </p:cNvPr>
          <p:cNvPicPr>
            <a:picLocks xmlns:a="http://schemas.openxmlformats.org/drawingml/2006/main" noChangeAspect="1"/>
          </p:cNvPicPr>
          <p:nvPr/>
        </p:nvPicPr>
        <p:blipFill>
          <a:blip xmlns:r="http://schemas.openxmlformats.org/officeDocument/2006/relationships" xmlns:a="http://schemas.openxmlformats.org/drawingml/2006/main" r:embed="R767fcc4e2c6f40d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E73EB0E-E3DD-4CF9-BAC4-9E4DFDB84D9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14   21/24</a:t>
            </a:r>
          </a:p>
        </p:txBody>
      </p:sp>
      <p:sp>
        <p:nvSpPr>
          <p:cNvPr id="4" name="">
            <a:extLst xmlns:a="http://schemas.openxmlformats.org/drawingml/2006/main">
              <a:ext uri="{FF2B5EF4-FFF2-40B4-BE49-F238E27FC236}">
                <a16:creationId xmlns:a16="http://schemas.microsoft.com/office/drawing/2014/main" id="{F2CFA88D-707B-45A7-A1D1-6D632EDE1EA1}"/>
              </a:ext>
            </a:extLst>
          </p:cNvPr>
          <p:cNvSpPr>
            <a:spLocks xmlns:a="http://schemas.openxmlformats.org/drawingml/2006/main" noGrp="1"/>
          </p:cNvSpPr>
          <p:nvPr/>
        </p:nvSpPr>
        <p:spPr>
          <a:xfrm xmlns:a="http://schemas.openxmlformats.org/drawingml/2006/main">
            <a:off x="590550" y="17716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AEF4BB"/>
                </a:solidFill>
                <a:latin typeface="Arial"/>
                <a:ea typeface="Arial"/>
                <a:cs typeface="Arial"/>
              </a:defRPr>
            </a:defPPr>
            <a:lvl1pPr>
              <a:defRPr sz="2775" b="1">
                <a:solidFill>
                  <a:srgbClr val="AEF4BB"/>
                </a:solidFill>
                <a:latin typeface="Arial"/>
                <a:ea typeface="Arial"/>
                <a:cs typeface="Arial"/>
              </a:defRPr>
            </a:lvl1pPr>
            <a:lvl2pPr>
              <a:defRPr sz="2775" b="1">
                <a:solidFill>
                  <a:srgbClr val="AEF4BB"/>
                </a:solidFill>
                <a:latin typeface="Arial"/>
                <a:ea typeface="Arial"/>
                <a:cs typeface="Arial"/>
              </a:defRPr>
            </a:lvl2pPr>
            <a:lvl3pPr>
              <a:defRPr sz="2775" b="1">
                <a:solidFill>
                  <a:srgbClr val="AEF4BB"/>
                </a:solidFill>
                <a:latin typeface="Arial"/>
                <a:ea typeface="Arial"/>
                <a:cs typeface="Arial"/>
              </a:defRPr>
            </a:lvl3pPr>
            <a:lvl4pPr>
              <a:defRPr sz="2775" b="1">
                <a:solidFill>
                  <a:srgbClr val="AEF4BB"/>
                </a:solidFill>
                <a:latin typeface="Arial"/>
                <a:ea typeface="Arial"/>
                <a:cs typeface="Arial"/>
              </a:defRPr>
            </a:lvl4pPr>
            <a:lvl5pPr>
              <a:defRPr sz="2775" b="1">
                <a:solidFill>
                  <a:srgbClr val="AEF4BB"/>
                </a:solidFill>
                <a:latin typeface="Arial"/>
                <a:ea typeface="Arial"/>
                <a:cs typeface="Arial"/>
              </a:defRPr>
            </a:lvl5pPr>
            <a:lvl6pPr>
              <a:defRPr sz="2775" b="1">
                <a:solidFill>
                  <a:srgbClr val="AEF4BB"/>
                </a:solidFill>
                <a:latin typeface="Arial"/>
                <a:ea typeface="Arial"/>
                <a:cs typeface="Arial"/>
              </a:defRPr>
            </a:lvl6pPr>
            <a:lvl7pPr>
              <a:defRPr sz="2775" b="1">
                <a:solidFill>
                  <a:srgbClr val="AEF4BB"/>
                </a:solidFill>
                <a:latin typeface="Arial"/>
                <a:ea typeface="Arial"/>
                <a:cs typeface="Arial"/>
              </a:defRPr>
            </a:lvl7pPr>
            <a:lvl8pPr>
              <a:defRPr sz="2775" b="1">
                <a:solidFill>
                  <a:srgbClr val="AEF4BB"/>
                </a:solidFill>
                <a:latin typeface="Arial"/>
                <a:ea typeface="Arial"/>
                <a:cs typeface="Arial"/>
              </a:defRPr>
            </a:lvl8pPr>
            <a:lvl9pPr>
              <a:defRPr sz="2775" b="1">
                <a:solidFill>
                  <a:srgbClr val="AEF4BB"/>
                </a:solidFill>
                <a:latin typeface="Arial"/>
                <a:ea typeface="Arial"/>
                <a:cs typeface="Arial"/>
              </a:defRPr>
            </a:lvl9pPr>
          </a:lstStyle>
          <a:p xmlns:a="http://schemas.openxmlformats.org/drawingml/2006/main">
            <a:pPr>
              <a:defRPr sz="2775" b="1">
                <a:solidFill>
                  <a:srgbClr val="AEF4BB"/>
                </a:solidFill>
                <a:latin typeface="Arial"/>
                <a:ea typeface="Arial"/>
                <a:cs typeface="Arial"/>
              </a:defRPr>
            </a:pPr>
            <a:r>
              <a:rPr sz="2775" b="1">
                <a:solidFill>
                  <a:srgbClr val="AEF4BB"/>
                </a:solidFill>
                <a:latin typeface="Arial"/>
                <a:ea typeface="Arial"/>
                <a:cs typeface="Arial"/>
              </a:rPr>
              <a:t>Comprender para qué se transporta una carga científica sin añadirla al cohete pequeño de cada equipo.</a:t>
            </a:r>
          </a:p>
        </p:txBody>
      </p:sp>
      <p:sp>
        <p:nvSpPr>
          <p:cNvPr id="5" name="">
            <a:extLst xmlns:a="http://schemas.openxmlformats.org/drawingml/2006/main">
              <a:ext uri="{FF2B5EF4-FFF2-40B4-BE49-F238E27FC236}">
                <a16:creationId xmlns:a16="http://schemas.microsoft.com/office/drawing/2014/main" id="{11895E2B-C89E-456E-BEFE-348702BEACAF}"/>
              </a:ext>
            </a:extLst>
          </p:cNvPr>
          <p:cNvSpPr>
            <a:spLocks xmlns:a="http://schemas.openxmlformats.org/drawingml/2006/main" noGrp="1"/>
          </p:cNvSpPr>
          <p:nvPr/>
        </p:nvSpPr>
        <p:spPr>
          <a:xfrm xmlns:a="http://schemas.openxmlformats.org/drawingml/2006/main">
            <a:off x="590550" y="3638550"/>
            <a:ext cx="10715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FCFCF8"/>
                </a:solidFill>
                <a:latin typeface="Arial"/>
                <a:ea typeface="Arial"/>
                <a:cs typeface="Arial"/>
              </a:defRPr>
            </a:defPPr>
            <a:lvl1pPr>
              <a:defRPr sz="2625" b="0">
                <a:solidFill>
                  <a:srgbClr val="FCFCF8"/>
                </a:solidFill>
                <a:latin typeface="Arial"/>
                <a:ea typeface="Arial"/>
                <a:cs typeface="Arial"/>
              </a:defRPr>
            </a:lvl1pPr>
            <a:lvl2pPr>
              <a:defRPr sz="2625" b="0">
                <a:solidFill>
                  <a:srgbClr val="FCFCF8"/>
                </a:solidFill>
                <a:latin typeface="Arial"/>
                <a:ea typeface="Arial"/>
                <a:cs typeface="Arial"/>
              </a:defRPr>
            </a:lvl2pPr>
            <a:lvl3pPr>
              <a:defRPr sz="2625" b="0">
                <a:solidFill>
                  <a:srgbClr val="FCFCF8"/>
                </a:solidFill>
                <a:latin typeface="Arial"/>
                <a:ea typeface="Arial"/>
                <a:cs typeface="Arial"/>
              </a:defRPr>
            </a:lvl3pPr>
            <a:lvl4pPr>
              <a:defRPr sz="2625" b="0">
                <a:solidFill>
                  <a:srgbClr val="FCFCF8"/>
                </a:solidFill>
                <a:latin typeface="Arial"/>
                <a:ea typeface="Arial"/>
                <a:cs typeface="Arial"/>
              </a:defRPr>
            </a:lvl4pPr>
            <a:lvl5pPr>
              <a:defRPr sz="2625" b="0">
                <a:solidFill>
                  <a:srgbClr val="FCFCF8"/>
                </a:solidFill>
                <a:latin typeface="Arial"/>
                <a:ea typeface="Arial"/>
                <a:cs typeface="Arial"/>
              </a:defRPr>
            </a:lvl5pPr>
            <a:lvl6pPr>
              <a:defRPr sz="2625" b="0">
                <a:solidFill>
                  <a:srgbClr val="FCFCF8"/>
                </a:solidFill>
                <a:latin typeface="Arial"/>
                <a:ea typeface="Arial"/>
                <a:cs typeface="Arial"/>
              </a:defRPr>
            </a:lvl6pPr>
            <a:lvl7pPr>
              <a:defRPr sz="2625" b="0">
                <a:solidFill>
                  <a:srgbClr val="FCFCF8"/>
                </a:solidFill>
                <a:latin typeface="Arial"/>
                <a:ea typeface="Arial"/>
                <a:cs typeface="Arial"/>
              </a:defRPr>
            </a:lvl7pPr>
            <a:lvl8pPr>
              <a:defRPr sz="2625" b="0">
                <a:solidFill>
                  <a:srgbClr val="FCFCF8"/>
                </a:solidFill>
                <a:latin typeface="Arial"/>
                <a:ea typeface="Arial"/>
                <a:cs typeface="Arial"/>
              </a:defRPr>
            </a:lvl8pPr>
            <a:lvl9pPr>
              <a:defRPr sz="2625" b="0">
                <a:solidFill>
                  <a:srgbClr val="FCFCF8"/>
                </a:solidFill>
                <a:latin typeface="Arial"/>
                <a:ea typeface="Arial"/>
                <a:cs typeface="Arial"/>
              </a:defRPr>
            </a:lvl9pPr>
          </a:lstStyle>
          <a:p xmlns:a="http://schemas.openxmlformats.org/drawingml/2006/main">
            <a:pPr>
              <a:defRPr sz="2625" b="0">
                <a:solidFill>
                  <a:srgbClr val="FCFCF8"/>
                </a:solidFill>
                <a:latin typeface="Arial"/>
                <a:ea typeface="Arial"/>
                <a:cs typeface="Arial"/>
              </a:defRPr>
            </a:pPr>
            <a:r>
              <a:rPr sz="2625" b="0">
                <a:solidFill>
                  <a:srgbClr val="FCFCF8"/>
                </a:solidFill>
                <a:latin typeface="Arial"/>
                <a:ea typeface="Arial"/>
                <a:cs typeface="Arial"/>
              </a:rPr>
              <a:t>¿Qué puedes concluir si falta telemetría?</a:t>
            </a:r>
          </a:p>
        </p:txBody>
      </p:sp>
      <p:sp>
        <p:nvSpPr>
          <p:cNvPr id="6" name="">
            <a:extLst xmlns:a="http://schemas.openxmlformats.org/drawingml/2006/main">
              <a:ext uri="{FF2B5EF4-FFF2-40B4-BE49-F238E27FC236}">
                <a16:creationId xmlns:a16="http://schemas.microsoft.com/office/drawing/2014/main" id="{7D3CFF44-DE0B-43E3-8BFB-38DD114FF841}"/>
              </a:ext>
            </a:extLst>
          </p:cNvPr>
          <p:cNvSpPr>
            <a:spLocks xmlns:a="http://schemas.openxmlformats.org/drawingml/2006/main" noGrp="1"/>
          </p:cNvSpPr>
          <p:nvPr/>
        </p:nvSpPr>
        <p:spPr>
          <a:xfrm xmlns:a="http://schemas.openxmlformats.org/drawingml/2006/main">
            <a:off x="590550" y="5486400"/>
            <a:ext cx="1071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8C8C1"/>
                </a:solidFill>
                <a:latin typeface="Arial"/>
                <a:ea typeface="Arial"/>
                <a:cs typeface="Arial"/>
              </a:defRPr>
            </a:defPPr>
            <a:lvl1pPr>
              <a:defRPr sz="2175" b="0">
                <a:solidFill>
                  <a:srgbClr val="B8C8C1"/>
                </a:solidFill>
                <a:latin typeface="Arial"/>
                <a:ea typeface="Arial"/>
                <a:cs typeface="Arial"/>
              </a:defRPr>
            </a:lvl1pPr>
            <a:lvl2pPr>
              <a:defRPr sz="2175" b="0">
                <a:solidFill>
                  <a:srgbClr val="B8C8C1"/>
                </a:solidFill>
                <a:latin typeface="Arial"/>
                <a:ea typeface="Arial"/>
                <a:cs typeface="Arial"/>
              </a:defRPr>
            </a:lvl2pPr>
            <a:lvl3pPr>
              <a:defRPr sz="2175" b="0">
                <a:solidFill>
                  <a:srgbClr val="B8C8C1"/>
                </a:solidFill>
                <a:latin typeface="Arial"/>
                <a:ea typeface="Arial"/>
                <a:cs typeface="Arial"/>
              </a:defRPr>
            </a:lvl3pPr>
            <a:lvl4pPr>
              <a:defRPr sz="2175" b="0">
                <a:solidFill>
                  <a:srgbClr val="B8C8C1"/>
                </a:solidFill>
                <a:latin typeface="Arial"/>
                <a:ea typeface="Arial"/>
                <a:cs typeface="Arial"/>
              </a:defRPr>
            </a:lvl4pPr>
            <a:lvl5pPr>
              <a:defRPr sz="2175" b="0">
                <a:solidFill>
                  <a:srgbClr val="B8C8C1"/>
                </a:solidFill>
                <a:latin typeface="Arial"/>
                <a:ea typeface="Arial"/>
                <a:cs typeface="Arial"/>
              </a:defRPr>
            </a:lvl5pPr>
            <a:lvl6pPr>
              <a:defRPr sz="2175" b="0">
                <a:solidFill>
                  <a:srgbClr val="B8C8C1"/>
                </a:solidFill>
                <a:latin typeface="Arial"/>
                <a:ea typeface="Arial"/>
                <a:cs typeface="Arial"/>
              </a:defRPr>
            </a:lvl6pPr>
            <a:lvl7pPr>
              <a:defRPr sz="2175" b="0">
                <a:solidFill>
                  <a:srgbClr val="B8C8C1"/>
                </a:solidFill>
                <a:latin typeface="Arial"/>
                <a:ea typeface="Arial"/>
                <a:cs typeface="Arial"/>
              </a:defRPr>
            </a:lvl7pPr>
            <a:lvl8pPr>
              <a:defRPr sz="2175" b="0">
                <a:solidFill>
                  <a:srgbClr val="B8C8C1"/>
                </a:solidFill>
                <a:latin typeface="Arial"/>
                <a:ea typeface="Arial"/>
                <a:cs typeface="Arial"/>
              </a:defRPr>
            </a:lvl8pPr>
            <a:lvl9pPr>
              <a:defRPr sz="2175" b="0">
                <a:solidFill>
                  <a:srgbClr val="B8C8C1"/>
                </a:solidFill>
                <a:latin typeface="Arial"/>
                <a:ea typeface="Arial"/>
                <a:cs typeface="Arial"/>
              </a:defRPr>
            </a:lvl9pPr>
          </a:lstStyle>
          <a:p xmlns:a="http://schemas.openxmlformats.org/drawingml/2006/main">
            <a:pPr>
              <a:defRPr sz="2175" b="0">
                <a:solidFill>
                  <a:srgbClr val="B8C8C1"/>
                </a:solidFill>
                <a:latin typeface="Arial"/>
                <a:ea typeface="Arial"/>
                <a:cs typeface="Arial"/>
              </a:defRPr>
            </a:pPr>
            <a:r>
              <a:rPr sz="2175" b="0">
                <a:solidFill>
                  <a:srgbClr val="B8C8C1"/>
                </a:solidFill>
                <a:latin typeface="Arial"/>
                <a:ea typeface="Arial"/>
                <a:cs typeface="Arial"/>
              </a:rPr>
              <a:t>Explica tu elección con una pieza, un archivo o un dato de la clase.</a:t>
            </a:r>
          </a:p>
        </p:txBody>
      </p:sp>
    </p:spTree>
    <p:extLst>
      <p:ext uri="{BB962C8B-B14F-4D97-AF65-F5344CB8AC3E}">
        <p14:creationId xmlns:p14="http://schemas.microsoft.com/office/powerpoint/2010/main" val="72767420"/>
      </p:ext>
    </p:extLst>
  </p:cSld>
</p:sld>
</file>

<file path=ppt/slides/slide4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5BFB5EC-6F12-4BA8-873D-7E026AB25A68}"/>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Tres preguntas para cerrar</a:t>
            </a:r>
          </a:p>
        </p:txBody>
      </p:sp>
      <p:pic>
        <p:nvPicPr>
          <p:cNvPr id="2" name="">
            <a:extLst xmlns:a="http://schemas.openxmlformats.org/drawingml/2006/main">
              <a:ext uri="{FF2B5EF4-FFF2-40B4-BE49-F238E27FC236}">
                <a16:creationId xmlns:a16="http://schemas.microsoft.com/office/drawing/2014/main" id="{57F4E08A-222F-489D-907D-6A53AF9D02DB}"/>
              </a:ext>
            </a:extLst>
          </p:cNvPr>
          <p:cNvPicPr>
            <a:picLocks xmlns:a="http://schemas.openxmlformats.org/drawingml/2006/main" noChangeAspect="1"/>
          </p:cNvPicPr>
          <p:nvPr/>
        </p:nvPicPr>
        <p:blipFill>
          <a:blip xmlns:r="http://schemas.openxmlformats.org/officeDocument/2006/relationships" xmlns:a="http://schemas.openxmlformats.org/drawingml/2006/main" r:embed="R6672a4e3359a44a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5877263-7DB1-410F-9050-4AE417A672B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14   22/24</a:t>
            </a:r>
          </a:p>
        </p:txBody>
      </p:sp>
      <p:sp>
        <p:nvSpPr>
          <p:cNvPr id="4" name="">
            <a:extLst xmlns:a="http://schemas.openxmlformats.org/drawingml/2006/main">
              <a:ext uri="{FF2B5EF4-FFF2-40B4-BE49-F238E27FC236}">
                <a16:creationId xmlns:a16="http://schemas.microsoft.com/office/drawing/2014/main" id="{7FBAEF08-D9F3-4E53-981E-9B64049EFCDA}"/>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¿Un CanSat es automáticamente un satélite orbital?</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¿19 mensajes implican 19 muestras únicas?</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¿Un hueco de telemetría demuestra apagado?</a:t>
            </a:r>
          </a:p>
        </p:txBody>
      </p:sp>
    </p:spTree>
    <p:extLst>
      <p:ext uri="{BB962C8B-B14F-4D97-AF65-F5344CB8AC3E}">
        <p14:creationId xmlns:p14="http://schemas.microsoft.com/office/powerpoint/2010/main" val="450489628"/>
      </p:ext>
    </p:extLst>
  </p:cSld>
</p:sld>
</file>

<file path=ppt/slides/slide4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750CC64-D19C-434A-92B7-02A5DC34985B}"/>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Cómo explicar las respuestas</a:t>
            </a:r>
          </a:p>
        </p:txBody>
      </p:sp>
      <p:pic>
        <p:nvPicPr>
          <p:cNvPr id="2" name="">
            <a:extLst xmlns:a="http://schemas.openxmlformats.org/drawingml/2006/main">
              <a:ext uri="{FF2B5EF4-FFF2-40B4-BE49-F238E27FC236}">
                <a16:creationId xmlns:a16="http://schemas.microsoft.com/office/drawing/2014/main" id="{3268DD85-667F-4E17-B170-C1357B432431}"/>
              </a:ext>
            </a:extLst>
          </p:cNvPr>
          <p:cNvPicPr>
            <a:picLocks xmlns:a="http://schemas.openxmlformats.org/drawingml/2006/main" noChangeAspect="1"/>
          </p:cNvPicPr>
          <p:nvPr/>
        </p:nvPicPr>
        <p:blipFill>
          <a:blip xmlns:r="http://schemas.openxmlformats.org/officeDocument/2006/relationships" xmlns:a="http://schemas.openxmlformats.org/drawingml/2006/main" r:embed="R06350a1ab89942f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37E0B39-4165-4B5E-AF49-CDE01390CC5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7   CLASE 14   23/24</a:t>
            </a:r>
          </a:p>
        </p:txBody>
      </p:sp>
      <p:sp>
        <p:nvSpPr>
          <p:cNvPr id="4" name="">
            <a:extLst xmlns:a="http://schemas.openxmlformats.org/drawingml/2006/main">
              <a:ext uri="{FF2B5EF4-FFF2-40B4-BE49-F238E27FC236}">
                <a16:creationId xmlns:a16="http://schemas.microsoft.com/office/drawing/2014/main" id="{549B29BD-7209-4CBD-8111-02834600C8A5}"/>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1. No. Es una simulación educativa de funciones de satélite.</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2. No si hay duplicados.</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3. No. Hace falta evidencia adicional.</a:t>
            </a:r>
          </a:p>
        </p:txBody>
      </p:sp>
    </p:spTree>
    <p:extLst>
      <p:ext uri="{BB962C8B-B14F-4D97-AF65-F5344CB8AC3E}">
        <p14:creationId xmlns:p14="http://schemas.microsoft.com/office/powerpoint/2010/main" val="1104550846"/>
      </p:ext>
    </p:extLst>
  </p:cSld>
</p:sld>
</file>

<file path=ppt/slides/slide48.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6DC0ECF-EC31-4C73-94AC-3EDDF0F2E711}"/>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E8D312A8-B172-47B2-BFBB-AC012590A696}"/>
              </a:ext>
            </a:extLst>
          </p:cNvPr>
          <p:cNvPicPr>
            <a:picLocks xmlns:a="http://schemas.openxmlformats.org/drawingml/2006/main" noChangeAspect="1"/>
          </p:cNvPicPr>
          <p:nvPr/>
        </p:nvPicPr>
        <p:blipFill>
          <a:blip xmlns:r="http://schemas.openxmlformats.org/officeDocument/2006/relationships" xmlns:a="http://schemas.openxmlformats.org/drawingml/2006/main" r:embed="R9d9808f94d224d1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89C5A7F-D5BA-4622-BA22-3A65FB957AB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7   CLASE 14   24/24</a:t>
            </a:r>
          </a:p>
        </p:txBody>
      </p:sp>
      <p:sp>
        <p:nvSpPr>
          <p:cNvPr id="4" name="">
            <a:extLst xmlns:a="http://schemas.openxmlformats.org/drawingml/2006/main">
              <a:ext uri="{FF2B5EF4-FFF2-40B4-BE49-F238E27FC236}">
                <a16:creationId xmlns:a16="http://schemas.microsoft.com/office/drawing/2014/main" id="{826F8B7E-E8C2-48F8-BC8C-197BCEF7DE50}"/>
              </a:ext>
            </a:extLst>
          </p:cNvPr>
          <p:cNvSpPr>
            <a:spLocks xmlns:a="http://schemas.openxmlformats.org/drawingml/2006/main" noGrp="1"/>
          </p:cNvSpPr>
          <p:nvPr/>
        </p:nvSpPr>
        <p:spPr>
          <a:xfrm xmlns:a="http://schemas.openxmlformats.org/drawingml/2006/main">
            <a:off x="590550" y="1800225"/>
            <a:ext cx="1071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AEF4BB"/>
                </a:solidFill>
                <a:latin typeface="Arial"/>
                <a:ea typeface="Arial"/>
                <a:cs typeface="Arial"/>
              </a:defRPr>
            </a:defPPr>
            <a:lvl1pPr>
              <a:defRPr sz="2925" b="1">
                <a:solidFill>
                  <a:srgbClr val="AEF4BB"/>
                </a:solidFill>
                <a:latin typeface="Arial"/>
                <a:ea typeface="Arial"/>
                <a:cs typeface="Arial"/>
              </a:defRPr>
            </a:lvl1pPr>
            <a:lvl2pPr>
              <a:defRPr sz="2925" b="1">
                <a:solidFill>
                  <a:srgbClr val="AEF4BB"/>
                </a:solidFill>
                <a:latin typeface="Arial"/>
                <a:ea typeface="Arial"/>
                <a:cs typeface="Arial"/>
              </a:defRPr>
            </a:lvl2pPr>
            <a:lvl3pPr>
              <a:defRPr sz="2925" b="1">
                <a:solidFill>
                  <a:srgbClr val="AEF4BB"/>
                </a:solidFill>
                <a:latin typeface="Arial"/>
                <a:ea typeface="Arial"/>
                <a:cs typeface="Arial"/>
              </a:defRPr>
            </a:lvl3pPr>
            <a:lvl4pPr>
              <a:defRPr sz="2925" b="1">
                <a:solidFill>
                  <a:srgbClr val="AEF4BB"/>
                </a:solidFill>
                <a:latin typeface="Arial"/>
                <a:ea typeface="Arial"/>
                <a:cs typeface="Arial"/>
              </a:defRPr>
            </a:lvl4pPr>
            <a:lvl5pPr>
              <a:defRPr sz="2925" b="1">
                <a:solidFill>
                  <a:srgbClr val="AEF4BB"/>
                </a:solidFill>
                <a:latin typeface="Arial"/>
                <a:ea typeface="Arial"/>
                <a:cs typeface="Arial"/>
              </a:defRPr>
            </a:lvl5pPr>
            <a:lvl6pPr>
              <a:defRPr sz="2925" b="1">
                <a:solidFill>
                  <a:srgbClr val="AEF4BB"/>
                </a:solidFill>
                <a:latin typeface="Arial"/>
                <a:ea typeface="Arial"/>
                <a:cs typeface="Arial"/>
              </a:defRPr>
            </a:lvl6pPr>
            <a:lvl7pPr>
              <a:defRPr sz="2925" b="1">
                <a:solidFill>
                  <a:srgbClr val="AEF4BB"/>
                </a:solidFill>
                <a:latin typeface="Arial"/>
                <a:ea typeface="Arial"/>
                <a:cs typeface="Arial"/>
              </a:defRPr>
            </a:lvl7pPr>
            <a:lvl8pPr>
              <a:defRPr sz="2925" b="1">
                <a:solidFill>
                  <a:srgbClr val="AEF4BB"/>
                </a:solidFill>
                <a:latin typeface="Arial"/>
                <a:ea typeface="Arial"/>
                <a:cs typeface="Arial"/>
              </a:defRPr>
            </a:lvl8pPr>
            <a:lvl9pPr>
              <a:defRPr sz="2925" b="1">
                <a:solidFill>
                  <a:srgbClr val="AEF4BB"/>
                </a:solidFill>
                <a:latin typeface="Arial"/>
                <a:ea typeface="Arial"/>
                <a:cs typeface="Arial"/>
              </a:defRPr>
            </a:lvl9pPr>
          </a:lstStyle>
          <a:p xmlns:a="http://schemas.openxmlformats.org/drawingml/2006/main">
            <a:pPr>
              <a:defRPr sz="2925" b="1">
                <a:solidFill>
                  <a:srgbClr val="AEF4BB"/>
                </a:solidFill>
                <a:latin typeface="Arial"/>
                <a:ea typeface="Arial"/>
                <a:cs typeface="Arial"/>
              </a:defRPr>
            </a:pPr>
            <a:r>
              <a:rPr sz="2925" b="1">
                <a:solidFill>
                  <a:srgbClr val="AEF4BB"/>
                </a:solidFill>
                <a:latin typeface="Arial"/>
                <a:ea typeface="Arial"/>
                <a:cs typeface="Arial"/>
              </a:rPr>
              <a:t>Mapa de datos, análisis del CSV y plan de observación.</a:t>
            </a:r>
          </a:p>
        </p:txBody>
      </p:sp>
      <p:sp>
        <p:nvSpPr>
          <p:cNvPr id="5" name="">
            <a:extLst xmlns:a="http://schemas.openxmlformats.org/drawingml/2006/main">
              <a:ext uri="{FF2B5EF4-FFF2-40B4-BE49-F238E27FC236}">
                <a16:creationId xmlns:a16="http://schemas.microsoft.com/office/drawing/2014/main" id="{02A62A44-E221-44C1-9C06-F6410E6D9154}"/>
              </a:ext>
            </a:extLst>
          </p:cNvPr>
          <p:cNvSpPr>
            <a:spLocks xmlns:a="http://schemas.openxmlformats.org/drawingml/2006/main" noGrp="1"/>
          </p:cNvSpPr>
          <p:nvPr/>
        </p:nvSpPr>
        <p:spPr>
          <a:xfrm xmlns:a="http://schemas.openxmlformats.org/drawingml/2006/main">
            <a:off x="590550" y="4314825"/>
            <a:ext cx="107156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Conserva la revisión del equipo y señala qué comprobación sigue pendiente.</a:t>
            </a:r>
          </a:p>
        </p:txBody>
      </p:sp>
    </p:spTree>
    <p:extLst>
      <p:ext uri="{BB962C8B-B14F-4D97-AF65-F5344CB8AC3E}">
        <p14:creationId xmlns:p14="http://schemas.microsoft.com/office/powerpoint/2010/main" val="3448024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2026-10-22T18:57:24.6450000Z</dcterms:created>
  <dcterms:modified xsi:type="dcterms:W3CDTF">2026-10-22T18:57:24.6450000Z</dcterms:modified>
</coreProperties>
</file>