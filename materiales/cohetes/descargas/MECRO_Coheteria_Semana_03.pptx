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slides/charts/chart1.xml" ContentType="application/vnd.openxmlformats-officedocument.drawingml.chart+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Override PartName="/ppt/slides/slide29.xml" ContentType="application/vnd.openxmlformats-officedocument.presentationml.slide+xml"/>
  <Override PartName="/ppt/notesSlides/notesSlide29.xml" ContentType="application/vnd.openxmlformats-officedocument.presentationml.notesSlide+xml"/>
  <Override PartName="/ppt/slides/slide30.xml" ContentType="application/vnd.openxmlformats-officedocument.presentationml.slide+xml"/>
  <Override PartName="/ppt/notesSlides/notesSlide30.xml" ContentType="application/vnd.openxmlformats-officedocument.presentationml.notesSlide+xml"/>
  <Override PartName="/ppt/slides/slide31.xml" ContentType="application/vnd.openxmlformats-officedocument.presentationml.slide+xml"/>
  <Override PartName="/ppt/notesSlides/notesSlide31.xml" ContentType="application/vnd.openxmlformats-officedocument.presentationml.notesSlide+xml"/>
  <Override PartName="/ppt/slides/slide32.xml" ContentType="application/vnd.openxmlformats-officedocument.presentationml.slide+xml"/>
  <Override PartName="/ppt/notesSlides/notesSlide32.xml" ContentType="application/vnd.openxmlformats-officedocument.presentationml.notesSlide+xml"/>
  <Override PartName="/ppt/slides/slide33.xml" ContentType="application/vnd.openxmlformats-officedocument.presentationml.slide+xml"/>
  <Override PartName="/ppt/notesSlides/notesSlide33.xml" ContentType="application/vnd.openxmlformats-officedocument.presentationml.notesSlide+xml"/>
  <Override PartName="/ppt/slides/slide34.xml" ContentType="application/vnd.openxmlformats-officedocument.presentationml.slide+xml"/>
  <Override PartName="/ppt/notesSlides/notesSlide34.xml" ContentType="application/vnd.openxmlformats-officedocument.presentationml.notesSlide+xml"/>
  <Override PartName="/ppt/slides/slide35.xml" ContentType="application/vnd.openxmlformats-officedocument.presentationml.slide+xml"/>
  <Override PartName="/ppt/notesSlides/notesSlide35.xml" ContentType="application/vnd.openxmlformats-officedocument.presentationml.notesSlide+xml"/>
  <Override PartName="/ppt/slides/slide36.xml" ContentType="application/vnd.openxmlformats-officedocument.presentationml.slide+xml"/>
  <Override PartName="/ppt/notesSlides/notesSlide36.xml" ContentType="application/vnd.openxmlformats-officedocument.presentationml.notesSlide+xml"/>
  <Override PartName="/ppt/slides/slide37.xml" ContentType="application/vnd.openxmlformats-officedocument.presentationml.slide+xml"/>
  <Override PartName="/ppt/notesSlides/notesSlide37.xml" ContentType="application/vnd.openxmlformats-officedocument.presentationml.notesSlide+xml"/>
  <Override PartName="/ppt/slides/slide38.xml" ContentType="application/vnd.openxmlformats-officedocument.presentationml.slide+xml"/>
  <Override PartName="/ppt/notesSlides/notesSlide38.xml" ContentType="application/vnd.openxmlformats-officedocument.presentationml.notesSlide+xml"/>
  <Override PartName="/ppt/slides/slide39.xml" ContentType="application/vnd.openxmlformats-officedocument.presentationml.slide+xml"/>
  <Override PartName="/ppt/notesSlides/notesSlide39.xml" ContentType="application/vnd.openxmlformats-officedocument.presentationml.notesSlide+xml"/>
  <Override PartName="/ppt/slides/slide40.xml" ContentType="application/vnd.openxmlformats-officedocument.presentationml.slide+xml"/>
  <Override PartName="/ppt/notesSlides/notesSlide40.xml" ContentType="application/vnd.openxmlformats-officedocument.presentationml.notesSlide+xml"/>
  <Override PartName="/ppt/slides/slide41.xml" ContentType="application/vnd.openxmlformats-officedocument.presentationml.slide+xml"/>
  <Override PartName="/ppt/notesSlides/notesSlide41.xml" ContentType="application/vnd.openxmlformats-officedocument.presentationml.notesSlide+xml"/>
  <Override PartName="/ppt/slides/slide42.xml" ContentType="application/vnd.openxmlformats-officedocument.presentationml.slide+xml"/>
  <Override PartName="/ppt/notesSlides/notesSlide42.xml" ContentType="application/vnd.openxmlformats-officedocument.presentationml.notesSlide+xml"/>
  <Override PartName="/ppt/slides/slide43.xml" ContentType="application/vnd.openxmlformats-officedocument.presentationml.slide+xml"/>
  <Override PartName="/ppt/notesSlides/notesSlide43.xml" ContentType="application/vnd.openxmlformats-officedocument.presentationml.notesSlide+xml"/>
  <Override PartName="/ppt/slides/slide44.xml" ContentType="application/vnd.openxmlformats-officedocument.presentationml.slide+xml"/>
  <Override PartName="/ppt/notesSlides/notesSlide44.xml" ContentType="application/vnd.openxmlformats-officedocument.presentationml.notesSlide+xml"/>
  <Override PartName="/ppt/slides/slide45.xml" ContentType="application/vnd.openxmlformats-officedocument.presentationml.slide+xml"/>
  <Override PartName="/ppt/notesSlides/notesSlide45.xml" ContentType="application/vnd.openxmlformats-officedocument.presentationml.notesSlide+xml"/>
  <Override PartName="/ppt/slides/slide46.xml" ContentType="application/vnd.openxmlformats-officedocument.presentationml.slide+xml"/>
  <Override PartName="/ppt/notesSlides/notesSlide46.xml" ContentType="application/vnd.openxmlformats-officedocument.presentationml.notesSlide+xml"/>
  <Override PartName="/ppt/slides/slide47.xml" ContentType="application/vnd.openxmlformats-officedocument.presentationml.slide+xml"/>
  <Override PartName="/ppt/notesSlides/notesSlide47.xml" ContentType="application/vnd.openxmlformats-officedocument.presentationml.notesSlide+xml"/>
  <Override PartName="/ppt/slides/slide48.xml" ContentType="application/vnd.openxmlformats-officedocument.presentationml.slide+xml"/>
  <Override PartName="/ppt/notesSlides/notesSlide48.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e4c421f030ef4a36" /><Relationship Type="http://schemas.openxmlformats.org/officeDocument/2006/relationships/extended-properties" Target="/docProps/app.xml" Id="R8847907031b549d0" /><Relationship Type="http://schemas.openxmlformats.org/officeDocument/2006/relationships/officeDocument" Target="/ppt/presentation.xml" Id="Rf9991a2243a54b78" /></Relationships>
</file>

<file path=ppt/presentation.xml><?xml version="1.0" encoding="utf-8"?>
<p:presentation xmlns:p="http://schemas.openxmlformats.org/presentationml/2006/main">
  <p:sldMasterIdLst>
    <p:sldMasterId xmlns:r="http://schemas.openxmlformats.org/officeDocument/2006/relationships" id="2147483648" r:id="Rcdf1bbab78c54477"/>
  </p:sldMasterIdLst>
  <p:notesMasterIdLst>
    <p:notesMasterId xmlns:r="http://schemas.openxmlformats.org/officeDocument/2006/relationships" r:id="R84bf8b877afc447b"/>
  </p:notesMasterIdLst>
  <p:sldIdLst>
    <p:sldId xmlns:r="http://schemas.openxmlformats.org/officeDocument/2006/relationships" id="256" r:id="Re2b31ce35d364847"/>
    <p:sldId xmlns:r="http://schemas.openxmlformats.org/officeDocument/2006/relationships" id="257" r:id="Rbd4d46072a4c43aa"/>
    <p:sldId xmlns:r="http://schemas.openxmlformats.org/officeDocument/2006/relationships" id="258" r:id="R32fa130a53e84103"/>
    <p:sldId xmlns:r="http://schemas.openxmlformats.org/officeDocument/2006/relationships" id="259" r:id="R9a951c8531464a1a"/>
    <p:sldId xmlns:r="http://schemas.openxmlformats.org/officeDocument/2006/relationships" id="260" r:id="Rf6fe1223b3b14ebc"/>
    <p:sldId xmlns:r="http://schemas.openxmlformats.org/officeDocument/2006/relationships" id="261" r:id="R34d7db0d4dbf41dd"/>
    <p:sldId xmlns:r="http://schemas.openxmlformats.org/officeDocument/2006/relationships" id="262" r:id="R1c9ac282353e46ca"/>
    <p:sldId xmlns:r="http://schemas.openxmlformats.org/officeDocument/2006/relationships" id="263" r:id="Reac463e8d563412b"/>
    <p:sldId xmlns:r="http://schemas.openxmlformats.org/officeDocument/2006/relationships" id="264" r:id="R082ca90ba8aa4c08"/>
    <p:sldId xmlns:r="http://schemas.openxmlformats.org/officeDocument/2006/relationships" id="265" r:id="Re3c37aea3d744758"/>
    <p:sldId xmlns:r="http://schemas.openxmlformats.org/officeDocument/2006/relationships" id="266" r:id="Re116ed49a17d446f"/>
    <p:sldId xmlns:r="http://schemas.openxmlformats.org/officeDocument/2006/relationships" id="267" r:id="R822c5b3af61d49c6"/>
    <p:sldId xmlns:r="http://schemas.openxmlformats.org/officeDocument/2006/relationships" id="268" r:id="R310cbbd0cb604a72"/>
    <p:sldId xmlns:r="http://schemas.openxmlformats.org/officeDocument/2006/relationships" id="269" r:id="Re51bd9ad8406454e"/>
    <p:sldId xmlns:r="http://schemas.openxmlformats.org/officeDocument/2006/relationships" id="270" r:id="Rd8e57fb855ef4520"/>
    <p:sldId xmlns:r="http://schemas.openxmlformats.org/officeDocument/2006/relationships" id="271" r:id="R2f105b7affe149cf"/>
    <p:sldId xmlns:r="http://schemas.openxmlformats.org/officeDocument/2006/relationships" id="272" r:id="R5e91e722926149e5"/>
    <p:sldId xmlns:r="http://schemas.openxmlformats.org/officeDocument/2006/relationships" id="273" r:id="R384e289694c34223"/>
    <p:sldId xmlns:r="http://schemas.openxmlformats.org/officeDocument/2006/relationships" id="274" r:id="R986f95d082a84f5e"/>
    <p:sldId xmlns:r="http://schemas.openxmlformats.org/officeDocument/2006/relationships" id="275" r:id="R03bfec5e78a944e3"/>
    <p:sldId xmlns:r="http://schemas.openxmlformats.org/officeDocument/2006/relationships" id="276" r:id="R269d59dae843444e"/>
    <p:sldId xmlns:r="http://schemas.openxmlformats.org/officeDocument/2006/relationships" id="277" r:id="Rd3b1ee56ee234497"/>
    <p:sldId xmlns:r="http://schemas.openxmlformats.org/officeDocument/2006/relationships" id="278" r:id="Rcf5c24b489dc452d"/>
    <p:sldId xmlns:r="http://schemas.openxmlformats.org/officeDocument/2006/relationships" id="279" r:id="R4b965a68a07b467a"/>
    <p:sldId xmlns:r="http://schemas.openxmlformats.org/officeDocument/2006/relationships" id="280" r:id="Re0b88e787fa140be"/>
    <p:sldId xmlns:r="http://schemas.openxmlformats.org/officeDocument/2006/relationships" id="281" r:id="Rc4b6ec804f944a63"/>
    <p:sldId xmlns:r="http://schemas.openxmlformats.org/officeDocument/2006/relationships" id="282" r:id="R9f4abf78ee934a83"/>
    <p:sldId xmlns:r="http://schemas.openxmlformats.org/officeDocument/2006/relationships" id="283" r:id="R0bcbb9c0f4484d6d"/>
    <p:sldId xmlns:r="http://schemas.openxmlformats.org/officeDocument/2006/relationships" id="284" r:id="Rb011a96eee8347bc"/>
    <p:sldId xmlns:r="http://schemas.openxmlformats.org/officeDocument/2006/relationships" id="285" r:id="Rc4a85bd678d04683"/>
    <p:sldId xmlns:r="http://schemas.openxmlformats.org/officeDocument/2006/relationships" id="286" r:id="Rc4474490bd984e49"/>
    <p:sldId xmlns:r="http://schemas.openxmlformats.org/officeDocument/2006/relationships" id="287" r:id="R04c5009f1aae4801"/>
    <p:sldId xmlns:r="http://schemas.openxmlformats.org/officeDocument/2006/relationships" id="288" r:id="R80226bdeb5a74696"/>
    <p:sldId xmlns:r="http://schemas.openxmlformats.org/officeDocument/2006/relationships" id="289" r:id="R3ba4e5a9fb4e4fdf"/>
    <p:sldId xmlns:r="http://schemas.openxmlformats.org/officeDocument/2006/relationships" id="290" r:id="R4687fefabc8e4178"/>
    <p:sldId xmlns:r="http://schemas.openxmlformats.org/officeDocument/2006/relationships" id="291" r:id="R6d5b88379423406e"/>
    <p:sldId xmlns:r="http://schemas.openxmlformats.org/officeDocument/2006/relationships" id="292" r:id="R57b6729971cb4b84"/>
    <p:sldId xmlns:r="http://schemas.openxmlformats.org/officeDocument/2006/relationships" id="293" r:id="Re1c0e1e3a4814dc3"/>
    <p:sldId xmlns:r="http://schemas.openxmlformats.org/officeDocument/2006/relationships" id="294" r:id="Rfd9b6eb0cd2944b4"/>
    <p:sldId xmlns:r="http://schemas.openxmlformats.org/officeDocument/2006/relationships" id="295" r:id="R3d37d422588d4db2"/>
    <p:sldId xmlns:r="http://schemas.openxmlformats.org/officeDocument/2006/relationships" id="296" r:id="R99695134c0b246b9"/>
    <p:sldId xmlns:r="http://schemas.openxmlformats.org/officeDocument/2006/relationships" id="297" r:id="Rd353080ee07b4364"/>
    <p:sldId xmlns:r="http://schemas.openxmlformats.org/officeDocument/2006/relationships" id="298" r:id="Rc69e5befd9fe4dd2"/>
    <p:sldId xmlns:r="http://schemas.openxmlformats.org/officeDocument/2006/relationships" id="299" r:id="R16b76792c4d040df"/>
    <p:sldId xmlns:r="http://schemas.openxmlformats.org/officeDocument/2006/relationships" id="300" r:id="R09b82751ffdc41f4"/>
    <p:sldId xmlns:r="http://schemas.openxmlformats.org/officeDocument/2006/relationships" id="301" r:id="R1763804478f040c9"/>
    <p:sldId xmlns:r="http://schemas.openxmlformats.org/officeDocument/2006/relationships" id="302" r:id="R166b27a9195048fb"/>
    <p:sldId xmlns:r="http://schemas.openxmlformats.org/officeDocument/2006/relationships" id="303" r:id="R53be9b77c1cb4395"/>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bb9a1da913674146" /><Relationship Type="http://schemas.openxmlformats.org/officeDocument/2006/relationships/slideMaster" Target="/ppt/slideMasters/slideMaster1.xml" Id="Rcdf1bbab78c54477" /><Relationship Type="http://schemas.openxmlformats.org/officeDocument/2006/relationships/notesMaster" Target="/ppt/notesMasters/notesMaster1.xml" Id="R84bf8b877afc447b" /><Relationship Type="http://schemas.openxmlformats.org/officeDocument/2006/relationships/presProps" Target="/ppt/presProps.xml" Id="Re7b3af90cc0a447d" /><Relationship Type="http://schemas.openxmlformats.org/officeDocument/2006/relationships/tableStyles" Target="/ppt/tableStyles.xml" Id="R21c0f87f0e014c99" /><Relationship Type="http://schemas.openxmlformats.org/officeDocument/2006/relationships/slide" Target="/ppt/slides/slide1.xml" Id="Re2b31ce35d364847" /><Relationship Type="http://schemas.openxmlformats.org/officeDocument/2006/relationships/slide" Target="/ppt/slides/slide2.xml" Id="Rbd4d46072a4c43aa" /><Relationship Type="http://schemas.openxmlformats.org/officeDocument/2006/relationships/slide" Target="/ppt/slides/slide3.xml" Id="R32fa130a53e84103" /><Relationship Type="http://schemas.openxmlformats.org/officeDocument/2006/relationships/slide" Target="/ppt/slides/slide4.xml" Id="R9a951c8531464a1a" /><Relationship Type="http://schemas.openxmlformats.org/officeDocument/2006/relationships/slide" Target="/ppt/slides/slide5.xml" Id="Rf6fe1223b3b14ebc" /><Relationship Type="http://schemas.openxmlformats.org/officeDocument/2006/relationships/slide" Target="/ppt/slides/slide6.xml" Id="R34d7db0d4dbf41dd" /><Relationship Type="http://schemas.openxmlformats.org/officeDocument/2006/relationships/slide" Target="/ppt/slides/slide7.xml" Id="R1c9ac282353e46ca" /><Relationship Type="http://schemas.openxmlformats.org/officeDocument/2006/relationships/slide" Target="/ppt/slides/slide8.xml" Id="Reac463e8d563412b" /><Relationship Type="http://schemas.openxmlformats.org/officeDocument/2006/relationships/slide" Target="/ppt/slides/slide9.xml" Id="R082ca90ba8aa4c08" /><Relationship Type="http://schemas.openxmlformats.org/officeDocument/2006/relationships/slide" Target="/ppt/slides/slide10.xml" Id="Re3c37aea3d744758" /><Relationship Type="http://schemas.openxmlformats.org/officeDocument/2006/relationships/slide" Target="/ppt/slides/slide11.xml" Id="Re116ed49a17d446f" /><Relationship Type="http://schemas.openxmlformats.org/officeDocument/2006/relationships/slide" Target="/ppt/slides/slide12.xml" Id="R822c5b3af61d49c6" /><Relationship Type="http://schemas.openxmlformats.org/officeDocument/2006/relationships/slide" Target="/ppt/slides/slide13.xml" Id="R310cbbd0cb604a72" /><Relationship Type="http://schemas.openxmlformats.org/officeDocument/2006/relationships/slide" Target="/ppt/slides/slide14.xml" Id="Re51bd9ad8406454e" /><Relationship Type="http://schemas.openxmlformats.org/officeDocument/2006/relationships/slide" Target="/ppt/slides/slide15.xml" Id="Rd8e57fb855ef4520" /><Relationship Type="http://schemas.openxmlformats.org/officeDocument/2006/relationships/slide" Target="/ppt/slides/slide16.xml" Id="R2f105b7affe149cf" /><Relationship Type="http://schemas.openxmlformats.org/officeDocument/2006/relationships/slide" Target="/ppt/slides/slide17.xml" Id="R5e91e722926149e5" /><Relationship Type="http://schemas.openxmlformats.org/officeDocument/2006/relationships/slide" Target="/ppt/slides/slide18.xml" Id="R384e289694c34223" /><Relationship Type="http://schemas.openxmlformats.org/officeDocument/2006/relationships/slide" Target="/ppt/slides/slide19.xml" Id="R986f95d082a84f5e" /><Relationship Type="http://schemas.openxmlformats.org/officeDocument/2006/relationships/slide" Target="/ppt/slides/slide20.xml" Id="R03bfec5e78a944e3" /><Relationship Type="http://schemas.openxmlformats.org/officeDocument/2006/relationships/slide" Target="/ppt/slides/slide21.xml" Id="R269d59dae843444e" /><Relationship Type="http://schemas.openxmlformats.org/officeDocument/2006/relationships/slide" Target="/ppt/slides/slide22.xml" Id="Rd3b1ee56ee234497" /><Relationship Type="http://schemas.openxmlformats.org/officeDocument/2006/relationships/slide" Target="/ppt/slides/slide23.xml" Id="Rcf5c24b489dc452d" /><Relationship Type="http://schemas.openxmlformats.org/officeDocument/2006/relationships/slide" Target="/ppt/slides/slide24.xml" Id="R4b965a68a07b467a" /><Relationship Type="http://schemas.openxmlformats.org/officeDocument/2006/relationships/slide" Target="/ppt/slides/slide25.xml" Id="Re0b88e787fa140be" /><Relationship Type="http://schemas.openxmlformats.org/officeDocument/2006/relationships/slide" Target="/ppt/slides/slide26.xml" Id="Rc4b6ec804f944a63" /><Relationship Type="http://schemas.openxmlformats.org/officeDocument/2006/relationships/slide" Target="/ppt/slides/slide27.xml" Id="R9f4abf78ee934a83" /><Relationship Type="http://schemas.openxmlformats.org/officeDocument/2006/relationships/slide" Target="/ppt/slides/slide28.xml" Id="R0bcbb9c0f4484d6d" /><Relationship Type="http://schemas.openxmlformats.org/officeDocument/2006/relationships/slide" Target="/ppt/slides/slide29.xml" Id="Rb011a96eee8347bc" /><Relationship Type="http://schemas.openxmlformats.org/officeDocument/2006/relationships/slide" Target="/ppt/slides/slide30.xml" Id="Rc4a85bd678d04683" /><Relationship Type="http://schemas.openxmlformats.org/officeDocument/2006/relationships/slide" Target="/ppt/slides/slide31.xml" Id="Rc4474490bd984e49" /><Relationship Type="http://schemas.openxmlformats.org/officeDocument/2006/relationships/slide" Target="/ppt/slides/slide32.xml" Id="R04c5009f1aae4801" /><Relationship Type="http://schemas.openxmlformats.org/officeDocument/2006/relationships/slide" Target="/ppt/slides/slide33.xml" Id="R80226bdeb5a74696" /><Relationship Type="http://schemas.openxmlformats.org/officeDocument/2006/relationships/slide" Target="/ppt/slides/slide34.xml" Id="R3ba4e5a9fb4e4fdf" /><Relationship Type="http://schemas.openxmlformats.org/officeDocument/2006/relationships/slide" Target="/ppt/slides/slide35.xml" Id="R4687fefabc8e4178" /><Relationship Type="http://schemas.openxmlformats.org/officeDocument/2006/relationships/slide" Target="/ppt/slides/slide36.xml" Id="R6d5b88379423406e" /><Relationship Type="http://schemas.openxmlformats.org/officeDocument/2006/relationships/slide" Target="/ppt/slides/slide37.xml" Id="R57b6729971cb4b84" /><Relationship Type="http://schemas.openxmlformats.org/officeDocument/2006/relationships/slide" Target="/ppt/slides/slide38.xml" Id="Re1c0e1e3a4814dc3" /><Relationship Type="http://schemas.openxmlformats.org/officeDocument/2006/relationships/slide" Target="/ppt/slides/slide39.xml" Id="Rfd9b6eb0cd2944b4" /><Relationship Type="http://schemas.openxmlformats.org/officeDocument/2006/relationships/slide" Target="/ppt/slides/slide40.xml" Id="R3d37d422588d4db2" /><Relationship Type="http://schemas.openxmlformats.org/officeDocument/2006/relationships/slide" Target="/ppt/slides/slide41.xml" Id="R99695134c0b246b9" /><Relationship Type="http://schemas.openxmlformats.org/officeDocument/2006/relationships/slide" Target="/ppt/slides/slide42.xml" Id="Rd353080ee07b4364" /><Relationship Type="http://schemas.openxmlformats.org/officeDocument/2006/relationships/slide" Target="/ppt/slides/slide43.xml" Id="Rc69e5befd9fe4dd2" /><Relationship Type="http://schemas.openxmlformats.org/officeDocument/2006/relationships/slide" Target="/ppt/slides/slide44.xml" Id="R16b76792c4d040df" /><Relationship Type="http://schemas.openxmlformats.org/officeDocument/2006/relationships/slide" Target="/ppt/slides/slide45.xml" Id="R09b82751ffdc41f4" /><Relationship Type="http://schemas.openxmlformats.org/officeDocument/2006/relationships/slide" Target="/ppt/slides/slide46.xml" Id="R1763804478f040c9" /><Relationship Type="http://schemas.openxmlformats.org/officeDocument/2006/relationships/slide" Target="/ppt/slides/slide47.xml" Id="R166b27a9195048fb" /><Relationship Type="http://schemas.openxmlformats.org/officeDocument/2006/relationships/slide" Target="/ppt/slides/slide48.xml" Id="R53be9b77c1cb4395"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38fcf68344454775"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6a0dee50e8844043" /><Relationship Type="http://schemas.openxmlformats.org/officeDocument/2006/relationships/notesMaster" Target="/ppt/notesMasters/notesMaster1.xml" Id="Re58d514cbbd04f86" /></Relationships>
</file>

<file path=ppt/notesSlides/_rels/notesSlide2.xml.rels>&#65279;<?xml version="1.0" encoding="utf-8"?><Relationships xmlns="http://schemas.openxmlformats.org/package/2006/relationships"><Relationship Type="http://schemas.openxmlformats.org/officeDocument/2006/relationships/slide" Target="/ppt/slides/slide2.xml" Id="Rbf31efd517f04588" /><Relationship Type="http://schemas.openxmlformats.org/officeDocument/2006/relationships/notesMaster" Target="/ppt/notesMasters/notesMaster1.xml" Id="Rd7b5b421d5c743ea" /></Relationships>
</file>

<file path=ppt/notesSlides/_rels/notesSlide3.xml.rels>&#65279;<?xml version="1.0" encoding="utf-8"?><Relationships xmlns="http://schemas.openxmlformats.org/package/2006/relationships"><Relationship Type="http://schemas.openxmlformats.org/officeDocument/2006/relationships/slide" Target="/ppt/slides/slide3.xml" Id="Raf2e3e13c2f8409c" /><Relationship Type="http://schemas.openxmlformats.org/officeDocument/2006/relationships/notesMaster" Target="/ppt/notesMasters/notesMaster1.xml" Id="Rb38d3d8035014c62" /></Relationships>
</file>

<file path=ppt/notesSlides/_rels/notesSlide4.xml.rels>&#65279;<?xml version="1.0" encoding="utf-8"?><Relationships xmlns="http://schemas.openxmlformats.org/package/2006/relationships"><Relationship Type="http://schemas.openxmlformats.org/officeDocument/2006/relationships/slide" Target="/ppt/slides/slide4.xml" Id="Rf2b48828ec5c4e3c" /><Relationship Type="http://schemas.openxmlformats.org/officeDocument/2006/relationships/notesMaster" Target="/ppt/notesMasters/notesMaster1.xml" Id="R82c64542d4374c88" /></Relationships>
</file>

<file path=ppt/notesSlides/_rels/notesSlide5.xml.rels>&#65279;<?xml version="1.0" encoding="utf-8"?><Relationships xmlns="http://schemas.openxmlformats.org/package/2006/relationships"><Relationship Type="http://schemas.openxmlformats.org/officeDocument/2006/relationships/slide" Target="/ppt/slides/slide5.xml" Id="R1e2d2a2a410c4df5" /><Relationship Type="http://schemas.openxmlformats.org/officeDocument/2006/relationships/notesMaster" Target="/ppt/notesMasters/notesMaster1.xml" Id="R56a640725d42418b" /></Relationships>
</file>

<file path=ppt/notesSlides/_rels/notesSlide6.xml.rels>&#65279;<?xml version="1.0" encoding="utf-8"?><Relationships xmlns="http://schemas.openxmlformats.org/package/2006/relationships"><Relationship Type="http://schemas.openxmlformats.org/officeDocument/2006/relationships/slide" Target="/ppt/slides/slide6.xml" Id="R5355094aa27944ca" /><Relationship Type="http://schemas.openxmlformats.org/officeDocument/2006/relationships/notesMaster" Target="/ppt/notesMasters/notesMaster1.xml" Id="R63ee51ca7e254641" /></Relationships>
</file>

<file path=ppt/notesSlides/_rels/notesSlide7.xml.rels>&#65279;<?xml version="1.0" encoding="utf-8"?><Relationships xmlns="http://schemas.openxmlformats.org/package/2006/relationships"><Relationship Type="http://schemas.openxmlformats.org/officeDocument/2006/relationships/slide" Target="/ppt/slides/slide7.xml" Id="R70ce143d9e36435b" /><Relationship Type="http://schemas.openxmlformats.org/officeDocument/2006/relationships/notesMaster" Target="/ppt/notesMasters/notesMaster1.xml" Id="Rabc978e0628c4a00" /></Relationships>
</file>

<file path=ppt/notesSlides/_rels/notesSlide8.xml.rels>&#65279;<?xml version="1.0" encoding="utf-8"?><Relationships xmlns="http://schemas.openxmlformats.org/package/2006/relationships"><Relationship Type="http://schemas.openxmlformats.org/officeDocument/2006/relationships/slide" Target="/ppt/slides/slide8.xml" Id="Rf5fe5e8799b84954" /><Relationship Type="http://schemas.openxmlformats.org/officeDocument/2006/relationships/notesMaster" Target="/ppt/notesMasters/notesMaster1.xml" Id="R118eb85e877e4029" /></Relationships>
</file>

<file path=ppt/notesSlides/_rels/notesSlide9.xml.rels>&#65279;<?xml version="1.0" encoding="utf-8"?><Relationships xmlns="http://schemas.openxmlformats.org/package/2006/relationships"><Relationship Type="http://schemas.openxmlformats.org/officeDocument/2006/relationships/slide" Target="/ppt/slides/slide9.xml" Id="Rd72d0efee3344a13" /><Relationship Type="http://schemas.openxmlformats.org/officeDocument/2006/relationships/notesMaster" Target="/ppt/notesMasters/notesMaster1.xml" Id="Ra9b1ab17f52542f6"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de279e571f0e4609" /><Relationship Type="http://schemas.openxmlformats.org/officeDocument/2006/relationships/notesMaster" Target="/ppt/notesMasters/notesMaster1.xml" Id="R9b041b256cf8468d"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0c839202685b420c" /><Relationship Type="http://schemas.openxmlformats.org/officeDocument/2006/relationships/notesMaster" Target="/ppt/notesMasters/notesMaster1.xml" Id="Race7fcb19b3e4df2"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28eb083f65be43ef" /><Relationship Type="http://schemas.openxmlformats.org/officeDocument/2006/relationships/notesMaster" Target="/ppt/notesMasters/notesMaster1.xml" Id="R86a47e5bbe71462a"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b2ba9a5da58c4b73" /><Relationship Type="http://schemas.openxmlformats.org/officeDocument/2006/relationships/notesMaster" Target="/ppt/notesMasters/notesMaster1.xml" Id="Rf9b7a69c944740bf"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2f6c42111b974bd5" /><Relationship Type="http://schemas.openxmlformats.org/officeDocument/2006/relationships/notesMaster" Target="/ppt/notesMasters/notesMaster1.xml" Id="R071a8595074140e3"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f0171b0225e74acf" /><Relationship Type="http://schemas.openxmlformats.org/officeDocument/2006/relationships/notesMaster" Target="/ppt/notesMasters/notesMaster1.xml" Id="R23e66ab2e5b84851"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3b38b8876d194e17" /><Relationship Type="http://schemas.openxmlformats.org/officeDocument/2006/relationships/notesMaster" Target="/ppt/notesMasters/notesMaster1.xml" Id="R48b6b8b247df44e7"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1003599a87ec4325" /><Relationship Type="http://schemas.openxmlformats.org/officeDocument/2006/relationships/notesMaster" Target="/ppt/notesMasters/notesMaster1.xml" Id="R63d675160b8246c9"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c16304558b6f4e3b" /><Relationship Type="http://schemas.openxmlformats.org/officeDocument/2006/relationships/notesMaster" Target="/ppt/notesMasters/notesMaster1.xml" Id="R494a788922c747ea"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f1cf9652b2cc40dc" /><Relationship Type="http://schemas.openxmlformats.org/officeDocument/2006/relationships/notesMaster" Target="/ppt/notesMasters/notesMaster1.xml" Id="Rbe51e6273be04453"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32d5fce3fd0c44dd" /><Relationship Type="http://schemas.openxmlformats.org/officeDocument/2006/relationships/notesMaster" Target="/ppt/notesMasters/notesMaster1.xml" Id="R2dbfe4eec0014e77"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8fca8684fb294e5a" /><Relationship Type="http://schemas.openxmlformats.org/officeDocument/2006/relationships/notesMaster" Target="/ppt/notesMasters/notesMaster1.xml" Id="R7d7cd19498a94ed9"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b38a4793b2d6467a" /><Relationship Type="http://schemas.openxmlformats.org/officeDocument/2006/relationships/notesMaster" Target="/ppt/notesMasters/notesMaster1.xml" Id="R12b92b3a6cd44ccb"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cc44d195b4d4414c" /><Relationship Type="http://schemas.openxmlformats.org/officeDocument/2006/relationships/notesMaster" Target="/ppt/notesMasters/notesMaster1.xml" Id="R2435bc925ff34314"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ca41a83829f14802" /><Relationship Type="http://schemas.openxmlformats.org/officeDocument/2006/relationships/notesMaster" Target="/ppt/notesMasters/notesMaster1.xml" Id="Redf143b38ca74240"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ac0fbf773ca04fb4" /><Relationship Type="http://schemas.openxmlformats.org/officeDocument/2006/relationships/notesMaster" Target="/ppt/notesMasters/notesMaster1.xml" Id="R8978026019eb4c86"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ca398af42f7e4bc4" /><Relationship Type="http://schemas.openxmlformats.org/officeDocument/2006/relationships/notesMaster" Target="/ppt/notesMasters/notesMaster1.xml" Id="R3dc21e63921e4312" /></Relationships>
</file>

<file path=ppt/notesSlides/_rels/notesSlide27.xml.rels>&#65279;<?xml version="1.0" encoding="utf-8"?><Relationships xmlns="http://schemas.openxmlformats.org/package/2006/relationships"><Relationship Type="http://schemas.openxmlformats.org/officeDocument/2006/relationships/slide" Target="/ppt/slides/slide27.xml" Id="Re6186f2066d14bde" /><Relationship Type="http://schemas.openxmlformats.org/officeDocument/2006/relationships/notesMaster" Target="/ppt/notesMasters/notesMaster1.xml" Id="Racaed36bc6d94139" /></Relationships>
</file>

<file path=ppt/notesSlides/_rels/notesSlide28.xml.rels>&#65279;<?xml version="1.0" encoding="utf-8"?><Relationships xmlns="http://schemas.openxmlformats.org/package/2006/relationships"><Relationship Type="http://schemas.openxmlformats.org/officeDocument/2006/relationships/slide" Target="/ppt/slides/slide28.xml" Id="Rfce74eed56ab4bb2" /><Relationship Type="http://schemas.openxmlformats.org/officeDocument/2006/relationships/notesMaster" Target="/ppt/notesMasters/notesMaster1.xml" Id="R97e7c520d70544bc" /></Relationships>
</file>

<file path=ppt/notesSlides/_rels/notesSlide29.xml.rels>&#65279;<?xml version="1.0" encoding="utf-8"?><Relationships xmlns="http://schemas.openxmlformats.org/package/2006/relationships"><Relationship Type="http://schemas.openxmlformats.org/officeDocument/2006/relationships/slide" Target="/ppt/slides/slide29.xml" Id="Rf42ed5faf79f49f3" /><Relationship Type="http://schemas.openxmlformats.org/officeDocument/2006/relationships/notesMaster" Target="/ppt/notesMasters/notesMaster1.xml" Id="Rb24343d8b2ee450d" /></Relationships>
</file>

<file path=ppt/notesSlides/_rels/notesSlide30.xml.rels>&#65279;<?xml version="1.0" encoding="utf-8"?><Relationships xmlns="http://schemas.openxmlformats.org/package/2006/relationships"><Relationship Type="http://schemas.openxmlformats.org/officeDocument/2006/relationships/slide" Target="/ppt/slides/slide30.xml" Id="R862fa89bbaff4c01" /><Relationship Type="http://schemas.openxmlformats.org/officeDocument/2006/relationships/notesMaster" Target="/ppt/notesMasters/notesMaster1.xml" Id="Ra791fdfde6a74182" /></Relationships>
</file>

<file path=ppt/notesSlides/_rels/notesSlide31.xml.rels>&#65279;<?xml version="1.0" encoding="utf-8"?><Relationships xmlns="http://schemas.openxmlformats.org/package/2006/relationships"><Relationship Type="http://schemas.openxmlformats.org/officeDocument/2006/relationships/slide" Target="/ppt/slides/slide31.xml" Id="R7afb0ebf15ce4c90" /><Relationship Type="http://schemas.openxmlformats.org/officeDocument/2006/relationships/notesMaster" Target="/ppt/notesMasters/notesMaster1.xml" Id="Rb404882b7a2341c9" /></Relationships>
</file>

<file path=ppt/notesSlides/_rels/notesSlide32.xml.rels>&#65279;<?xml version="1.0" encoding="utf-8"?><Relationships xmlns="http://schemas.openxmlformats.org/package/2006/relationships"><Relationship Type="http://schemas.openxmlformats.org/officeDocument/2006/relationships/slide" Target="/ppt/slides/slide32.xml" Id="Rb2c39465d50d47bc" /><Relationship Type="http://schemas.openxmlformats.org/officeDocument/2006/relationships/notesMaster" Target="/ppt/notesMasters/notesMaster1.xml" Id="Rcbb614533b1c4efe" /></Relationships>
</file>

<file path=ppt/notesSlides/_rels/notesSlide33.xml.rels>&#65279;<?xml version="1.0" encoding="utf-8"?><Relationships xmlns="http://schemas.openxmlformats.org/package/2006/relationships"><Relationship Type="http://schemas.openxmlformats.org/officeDocument/2006/relationships/slide" Target="/ppt/slides/slide33.xml" Id="R44b97a2b6f88421c" /><Relationship Type="http://schemas.openxmlformats.org/officeDocument/2006/relationships/notesMaster" Target="/ppt/notesMasters/notesMaster1.xml" Id="Rf4d9511a4e894992" /></Relationships>
</file>

<file path=ppt/notesSlides/_rels/notesSlide34.xml.rels>&#65279;<?xml version="1.0" encoding="utf-8"?><Relationships xmlns="http://schemas.openxmlformats.org/package/2006/relationships"><Relationship Type="http://schemas.openxmlformats.org/officeDocument/2006/relationships/slide" Target="/ppt/slides/slide34.xml" Id="R5ca3882eb44c4747" /><Relationship Type="http://schemas.openxmlformats.org/officeDocument/2006/relationships/notesMaster" Target="/ppt/notesMasters/notesMaster1.xml" Id="Rd9b80e24fecb49cb" /></Relationships>
</file>

<file path=ppt/notesSlides/_rels/notesSlide35.xml.rels>&#65279;<?xml version="1.0" encoding="utf-8"?><Relationships xmlns="http://schemas.openxmlformats.org/package/2006/relationships"><Relationship Type="http://schemas.openxmlformats.org/officeDocument/2006/relationships/slide" Target="/ppt/slides/slide35.xml" Id="R3e415f577d1b4b5a" /><Relationship Type="http://schemas.openxmlformats.org/officeDocument/2006/relationships/notesMaster" Target="/ppt/notesMasters/notesMaster1.xml" Id="Rf0da4cff75894406" /></Relationships>
</file>

<file path=ppt/notesSlides/_rels/notesSlide36.xml.rels>&#65279;<?xml version="1.0" encoding="utf-8"?><Relationships xmlns="http://schemas.openxmlformats.org/package/2006/relationships"><Relationship Type="http://schemas.openxmlformats.org/officeDocument/2006/relationships/slide" Target="/ppt/slides/slide36.xml" Id="R42b771d47d3448f1" /><Relationship Type="http://schemas.openxmlformats.org/officeDocument/2006/relationships/notesMaster" Target="/ppt/notesMasters/notesMaster1.xml" Id="Rd8ef6c59f6584b41" /></Relationships>
</file>

<file path=ppt/notesSlides/_rels/notesSlide37.xml.rels>&#65279;<?xml version="1.0" encoding="utf-8"?><Relationships xmlns="http://schemas.openxmlformats.org/package/2006/relationships"><Relationship Type="http://schemas.openxmlformats.org/officeDocument/2006/relationships/slide" Target="/ppt/slides/slide37.xml" Id="R36f107ce88124047" /><Relationship Type="http://schemas.openxmlformats.org/officeDocument/2006/relationships/notesMaster" Target="/ppt/notesMasters/notesMaster1.xml" Id="R52b69fd144944f11" /></Relationships>
</file>

<file path=ppt/notesSlides/_rels/notesSlide38.xml.rels>&#65279;<?xml version="1.0" encoding="utf-8"?><Relationships xmlns="http://schemas.openxmlformats.org/package/2006/relationships"><Relationship Type="http://schemas.openxmlformats.org/officeDocument/2006/relationships/slide" Target="/ppt/slides/slide38.xml" Id="R85e14a97f61b45aa" /><Relationship Type="http://schemas.openxmlformats.org/officeDocument/2006/relationships/notesMaster" Target="/ppt/notesMasters/notesMaster1.xml" Id="R762237024a9c49d5" /></Relationships>
</file>

<file path=ppt/notesSlides/_rels/notesSlide39.xml.rels>&#65279;<?xml version="1.0" encoding="utf-8"?><Relationships xmlns="http://schemas.openxmlformats.org/package/2006/relationships"><Relationship Type="http://schemas.openxmlformats.org/officeDocument/2006/relationships/slide" Target="/ppt/slides/slide39.xml" Id="Ra90d28b352034e2e" /><Relationship Type="http://schemas.openxmlformats.org/officeDocument/2006/relationships/notesMaster" Target="/ppt/notesMasters/notesMaster1.xml" Id="R307ea2f080334be8" /></Relationships>
</file>

<file path=ppt/notesSlides/_rels/notesSlide40.xml.rels>&#65279;<?xml version="1.0" encoding="utf-8"?><Relationships xmlns="http://schemas.openxmlformats.org/package/2006/relationships"><Relationship Type="http://schemas.openxmlformats.org/officeDocument/2006/relationships/slide" Target="/ppt/slides/slide40.xml" Id="R0229c17be2fb4558" /><Relationship Type="http://schemas.openxmlformats.org/officeDocument/2006/relationships/notesMaster" Target="/ppt/notesMasters/notesMaster1.xml" Id="Raf7afa019d394e95" /></Relationships>
</file>

<file path=ppt/notesSlides/_rels/notesSlide41.xml.rels>&#65279;<?xml version="1.0" encoding="utf-8"?><Relationships xmlns="http://schemas.openxmlformats.org/package/2006/relationships"><Relationship Type="http://schemas.openxmlformats.org/officeDocument/2006/relationships/slide" Target="/ppt/slides/slide41.xml" Id="R9ed4e68d4ce04c8e" /><Relationship Type="http://schemas.openxmlformats.org/officeDocument/2006/relationships/notesMaster" Target="/ppt/notesMasters/notesMaster1.xml" Id="R4d7ea27a94d2486c" /></Relationships>
</file>

<file path=ppt/notesSlides/_rels/notesSlide42.xml.rels>&#65279;<?xml version="1.0" encoding="utf-8"?><Relationships xmlns="http://schemas.openxmlformats.org/package/2006/relationships"><Relationship Type="http://schemas.openxmlformats.org/officeDocument/2006/relationships/slide" Target="/ppt/slides/slide42.xml" Id="R3be50daaedb64665" /><Relationship Type="http://schemas.openxmlformats.org/officeDocument/2006/relationships/notesMaster" Target="/ppt/notesMasters/notesMaster1.xml" Id="R905957368f3044aa" /></Relationships>
</file>

<file path=ppt/notesSlides/_rels/notesSlide43.xml.rels>&#65279;<?xml version="1.0" encoding="utf-8"?><Relationships xmlns="http://schemas.openxmlformats.org/package/2006/relationships"><Relationship Type="http://schemas.openxmlformats.org/officeDocument/2006/relationships/slide" Target="/ppt/slides/slide43.xml" Id="Rd863263fd8a74d85" /><Relationship Type="http://schemas.openxmlformats.org/officeDocument/2006/relationships/notesMaster" Target="/ppt/notesMasters/notesMaster1.xml" Id="R8a1016d1792e478a" /></Relationships>
</file>

<file path=ppt/notesSlides/_rels/notesSlide44.xml.rels>&#65279;<?xml version="1.0" encoding="utf-8"?><Relationships xmlns="http://schemas.openxmlformats.org/package/2006/relationships"><Relationship Type="http://schemas.openxmlformats.org/officeDocument/2006/relationships/slide" Target="/ppt/slides/slide44.xml" Id="Re3993334661a4753" /><Relationship Type="http://schemas.openxmlformats.org/officeDocument/2006/relationships/notesMaster" Target="/ppt/notesMasters/notesMaster1.xml" Id="R0e9a7a263ae442a4" /></Relationships>
</file>

<file path=ppt/notesSlides/_rels/notesSlide45.xml.rels>&#65279;<?xml version="1.0" encoding="utf-8"?><Relationships xmlns="http://schemas.openxmlformats.org/package/2006/relationships"><Relationship Type="http://schemas.openxmlformats.org/officeDocument/2006/relationships/slide" Target="/ppt/slides/slide45.xml" Id="R2a1cf91f2f1c4fcc" /><Relationship Type="http://schemas.openxmlformats.org/officeDocument/2006/relationships/notesMaster" Target="/ppt/notesMasters/notesMaster1.xml" Id="Ra25ce9fb3500498b" /></Relationships>
</file>

<file path=ppt/notesSlides/_rels/notesSlide46.xml.rels>&#65279;<?xml version="1.0" encoding="utf-8"?><Relationships xmlns="http://schemas.openxmlformats.org/package/2006/relationships"><Relationship Type="http://schemas.openxmlformats.org/officeDocument/2006/relationships/slide" Target="/ppt/slides/slide46.xml" Id="Rf5d3f43c930b4cde" /><Relationship Type="http://schemas.openxmlformats.org/officeDocument/2006/relationships/notesMaster" Target="/ppt/notesMasters/notesMaster1.xml" Id="R68dde93f9b254312" /></Relationships>
</file>

<file path=ppt/notesSlides/_rels/notesSlide47.xml.rels>&#65279;<?xml version="1.0" encoding="utf-8"?><Relationships xmlns="http://schemas.openxmlformats.org/package/2006/relationships"><Relationship Type="http://schemas.openxmlformats.org/officeDocument/2006/relationships/slide" Target="/ppt/slides/slide47.xml" Id="R92c312f1ad0640f8" /><Relationship Type="http://schemas.openxmlformats.org/officeDocument/2006/relationships/notesMaster" Target="/ppt/notesMasters/notesMaster1.xml" Id="Ra1f258f399d84191" /></Relationships>
</file>

<file path=ppt/notesSlides/_rels/notesSlide48.xml.rels>&#65279;<?xml version="1.0" encoding="utf-8"?><Relationships xmlns="http://schemas.openxmlformats.org/package/2006/relationships"><Relationship Type="http://schemas.openxmlformats.org/officeDocument/2006/relationships/slide" Target="/ppt/slides/slide48.xml" Id="Rd9a086f8229949d8" /><Relationship Type="http://schemas.openxmlformats.org/officeDocument/2006/relationships/notesMaster" Target="/ppt/notesMasters/notesMaster1.xml" Id="Rb9d3f4eed542437d"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MECRO. Clase 5: Impresión 3D para narices, aletas y útiles.</a:t>
            </a:r>
          </a:p>
          <a:p xmlns:a="http://schemas.openxmlformats.org/drawingml/2006/main">
            <a:r>
              <a:t>En línea, 2 h. Tramo del núcleo: 3 min.</a:t>
            </a:r>
          </a:p>
          <a:p xmlns:a="http://schemas.openxmlformats.org/drawingml/2006/main">
            <a:r>
              <a:t/>
            </a:r>
          </a:p>
          <a:p xmlns:a="http://schemas.openxmlformats.org/drawingml/2006/main">
            <a:r>
              <a:t>Muestra una pieza que se ve bien por fuera y una vista por capas con una pared ausente.</a:t>
            </a:r>
          </a:p>
          <a:p xmlns:a="http://schemas.openxmlformats.org/drawingml/2006/main">
            <a:r>
              <a:t/>
            </a:r>
          </a:p>
          <a:p xmlns:a="http://schemas.openxmlformats.org/drawingml/2006/main">
            <a:r>
              <a:t>Resultado: Preparar una pieza para imprimir, revisar su orientación y distinguir aspecto exterior de ajuste funcional.</a:t>
            </a:r>
          </a:p>
          <a:p xmlns:a="http://schemas.openxmlformats.org/drawingml/2006/main">
            <a:r>
              <a:t>Misión: Fabricar prototipos repetibles con el tiempo y los equipos disponibles.</a:t>
            </a:r>
          </a:p>
          <a:p xmlns:a="http://schemas.openxmlformats.org/drawingml/2006/main">
            <a:r>
              <a:t>Entrega: Proyecto de laminador, comparación y solicitud de impresión.</a:t>
            </a:r>
          </a:p>
          <a:p xmlns:a="http://schemas.openxmlformats.org/drawingml/2006/main">
            <a:r>
              <a:t/>
            </a:r>
          </a:p>
          <a:p xmlns:a="http://schemas.openxmlformats.org/drawingml/2006/main">
            <a:r>
              <a:t>Preguntas y respuestas</a:t>
            </a:r>
          </a:p>
          <a:p xmlns:a="http://schemas.openxmlformats.org/drawingml/2006/main">
            <a:r>
              <a:t>¿Un STL conserva todas las decisiones del laminador?</a:t>
            </a:r>
          </a:p>
          <a:p xmlns:a="http://schemas.openxmlformats.org/drawingml/2006/main">
            <a:r>
              <a:t>No. Hace falta el proyecto del laminador y el perfil utilizado.</a:t>
            </a:r>
          </a:p>
          <a:p xmlns:a="http://schemas.openxmlformats.org/drawingml/2006/main">
            <a:r>
              <a:t/>
            </a:r>
          </a:p>
          <a:p xmlns:a="http://schemas.openxmlformats.org/drawingml/2006/main">
            <a:r>
              <a:t>¿Más relleno siempre significa mejor pieza?</a:t>
            </a:r>
          </a:p>
          <a:p xmlns:a="http://schemas.openxmlformats.org/drawingml/2006/main">
            <a:r>
              <a:t>No. Debe resolver una función y verificarse en la pieza.</a:t>
            </a:r>
          </a:p>
          <a:p xmlns:a="http://schemas.openxmlformats.org/drawingml/2006/main">
            <a:r>
              <a:t/>
            </a:r>
          </a:p>
          <a:p xmlns:a="http://schemas.openxmlformats.org/drawingml/2006/main">
            <a:r>
              <a:t>¿La masa estimada reemplaza a la medida?</a:t>
            </a:r>
          </a:p>
          <a:p xmlns:a="http://schemas.openxmlformats.org/drawingml/2006/main">
            <a:r>
              <a:t>No. Se conservan ambas con su procedencia.</a:t>
            </a:r>
          </a:p>
          <a:p xmlns:a="http://schemas.openxmlformats.org/drawingml/2006/main">
            <a:r>
              <a:t/>
            </a:r>
          </a:p>
          <a:p xmlns:a="http://schemas.openxmlformats.org/drawingml/2006/main">
            <a:r>
              <a:t>Fuentes</a:t>
            </a:r>
          </a:p>
          <a:p xmlns:a="http://schemas.openxmlformats.org/drawingml/2006/main">
            <a:r>
              <a:t>Prusa Research. Modeling with 3D printing in mind. https://help.prusa3d.com/article/modeling-with-3d-printing-in-mind_164135</a:t>
            </a:r>
          </a:p>
          <a:p xmlns:a="http://schemas.openxmlformats.org/drawingml/2006/main">
            <a:r>
              <a:t>Prusa Research. Layers and perimeters. https://help.prusa3d.com/article/layers-and-perimeters_1748</a:t>
            </a:r>
          </a:p>
          <a:p xmlns:a="http://schemas.openxmlformats.org/drawingml/2006/main">
            <a:r>
              <a:t>Prusa Research. PLA. https://help.prusa3d.com/article/pla_2062</a:t>
            </a:r>
          </a:p>
          <a:p xmlns:a="http://schemas.openxmlformats.org/drawingml/2006/main">
            <a:r>
              <a:t>Prusa Research. PETG. https://help.prusa3d.com/article/petg_2059</a:t>
            </a:r>
          </a:p>
          <a:p xmlns:a="http://schemas.openxmlformats.org/drawingml/2006/main">
            <a:r>
              <a:t>Lectura: MECRO_Coheteria_Clase_05.pdf. Las capturas muestran ejemplos de documentación. Los casos numéricos se identifican como ejercicios y no se atribuyen a ejecuciones o mediciones no realizadas.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MECRO. Clase 5: Impresión 3D para narices, aletas y útiles.</a:t>
            </a:r>
          </a:p>
          <a:p xmlns:a="http://schemas.openxmlformats.org/drawingml/2006/main">
            <a:r>
              <a:t>En línea, 2 h. Tramo del núcleo: 4 min.</a:t>
            </a:r>
          </a:p>
          <a:p xmlns:a="http://schemas.openxmlformats.org/drawingml/2006/main">
            <a:r>
              <a:t/>
            </a:r>
          </a:p>
          <a:p xmlns:a="http://schemas.openxmlformats.org/drawingml/2006/main">
            <a:r>
              <a:t>El archivo CAD define la geometría. El laminador la transforma en capas y trayectorias para una impresora concreta. La pieza física añade variaciones de dimensiones y de acabado. Por eso conservaremos el CAD, el proyecto del laminador y el identificador de la impresión. Un archivo STL por sí solo no explica cómo se fabricó la pieza.</a:t>
            </a:r>
          </a:p>
          <a:p xmlns:a="http://schemas.openxmlformats.org/drawingml/2006/main">
            <a:r>
              <a:t/>
            </a:r>
          </a:p>
          <a:p xmlns:a="http://schemas.openxmlformats.org/drawingml/2006/main">
            <a:r>
              <a:t>En esta clase usaremos una nariz, una muestra de encaje o un útil. Las piezas relacionadas con el motor comercial se resuelven con componentes y documentación apropiados al conjunto. La impresión de aula no reemplaza esos requisitos.</a:t>
            </a:r>
          </a:p>
          <a:p xmlns:a="http://schemas.openxmlformats.org/drawingml/2006/main">
            <a:r>
              <a:t/>
            </a:r>
          </a:p>
          <a:p xmlns:a="http://schemas.openxmlformats.org/drawingml/2006/main">
            <a:r>
              <a:t>En impresión por filamento, la pieza se forma mediante trayectorias sucesivas de material. El modelo CAD describe la geometría; el laminador decide cómo convertirla en capas y recorridos. Una superficie inclinada puede quedar escalonada y una cavidad puede necesitar una estrategia que permita fabricarla. Mirar la pieza desde el lado de la cama ayuda a anticipar qué superficies se apoyarán, cuáles quedarán libres y dónde habrá que retirar material auxiliar.</a:t>
            </a:r>
          </a:p>
          <a:p xmlns:a="http://schemas.openxmlformats.org/drawingml/2006/main">
            <a:r>
              <a:t>Pregunta para el grupo: ¿Qué archivo permite cambiar cotas?</a:t>
            </a:r>
          </a:p>
          <a:p xmlns:a="http://schemas.openxmlformats.org/drawingml/2006/main">
            <a:r>
              <a:t/>
            </a:r>
          </a:p>
          <a:p xmlns:a="http://schemas.openxmlformats.org/drawingml/2006/main">
            <a:r>
              <a:t>Resultado: Preparar una pieza para imprimir, revisar su orientación y distinguir aspecto exterior de ajuste funcional.</a:t>
            </a:r>
          </a:p>
          <a:p xmlns:a="http://schemas.openxmlformats.org/drawingml/2006/main">
            <a:r>
              <a:t>Misión: Fabricar prototipos repetibles con el tiempo y los equipos disponibles.</a:t>
            </a:r>
          </a:p>
          <a:p xmlns:a="http://schemas.openxmlformats.org/drawingml/2006/main">
            <a:r>
              <a:t>Entrega: Proyecto de laminador, comparación y solicitud de impresión.</a:t>
            </a:r>
          </a:p>
          <a:p xmlns:a="http://schemas.openxmlformats.org/drawingml/2006/main">
            <a:r>
              <a:t/>
            </a:r>
          </a:p>
          <a:p xmlns:a="http://schemas.openxmlformats.org/drawingml/2006/main">
            <a:r>
              <a:t>Preguntas y respuestas</a:t>
            </a:r>
          </a:p>
          <a:p xmlns:a="http://schemas.openxmlformats.org/drawingml/2006/main">
            <a:r>
              <a:t>¿Un STL conserva todas las decisiones del laminador?</a:t>
            </a:r>
          </a:p>
          <a:p xmlns:a="http://schemas.openxmlformats.org/drawingml/2006/main">
            <a:r>
              <a:t>No. Hace falta el proyecto del laminador y el perfil utilizado.</a:t>
            </a:r>
          </a:p>
          <a:p xmlns:a="http://schemas.openxmlformats.org/drawingml/2006/main">
            <a:r>
              <a:t/>
            </a:r>
          </a:p>
          <a:p xmlns:a="http://schemas.openxmlformats.org/drawingml/2006/main">
            <a:r>
              <a:t>¿Más relleno siempre significa mejor pieza?</a:t>
            </a:r>
          </a:p>
          <a:p xmlns:a="http://schemas.openxmlformats.org/drawingml/2006/main">
            <a:r>
              <a:t>No. Debe resolver una función y verificarse en la pieza.</a:t>
            </a:r>
          </a:p>
          <a:p xmlns:a="http://schemas.openxmlformats.org/drawingml/2006/main">
            <a:r>
              <a:t/>
            </a:r>
          </a:p>
          <a:p xmlns:a="http://schemas.openxmlformats.org/drawingml/2006/main">
            <a:r>
              <a:t>¿La masa estimada reemplaza a la medida?</a:t>
            </a:r>
          </a:p>
          <a:p xmlns:a="http://schemas.openxmlformats.org/drawingml/2006/main">
            <a:r>
              <a:t>No. Se conservan ambas con su procedencia.</a:t>
            </a:r>
          </a:p>
          <a:p xmlns:a="http://schemas.openxmlformats.org/drawingml/2006/main">
            <a:r>
              <a:t/>
            </a:r>
          </a:p>
          <a:p xmlns:a="http://schemas.openxmlformats.org/drawingml/2006/main">
            <a:r>
              <a:t>Fuentes</a:t>
            </a:r>
          </a:p>
          <a:p xmlns:a="http://schemas.openxmlformats.org/drawingml/2006/main">
            <a:r>
              <a:t>Prusa Research. Modeling with 3D printing in mind. https://help.prusa3d.com/article/modeling-with-3d-printing-in-mind_164135</a:t>
            </a:r>
          </a:p>
          <a:p xmlns:a="http://schemas.openxmlformats.org/drawingml/2006/main">
            <a:r>
              <a:t>Prusa Research. Layers and perimeters. https://help.prusa3d.com/article/layers-and-perimeters_1748</a:t>
            </a:r>
          </a:p>
          <a:p xmlns:a="http://schemas.openxmlformats.org/drawingml/2006/main">
            <a:r>
              <a:t>Prusa Research. PLA. https://help.prusa3d.com/article/pla_2062</a:t>
            </a:r>
          </a:p>
          <a:p xmlns:a="http://schemas.openxmlformats.org/drawingml/2006/main">
            <a:r>
              <a:t>Prusa Research. PETG. https://help.prusa3d.com/article/petg_2059</a:t>
            </a:r>
          </a:p>
          <a:p xmlns:a="http://schemas.openxmlformats.org/drawingml/2006/main">
            <a:r>
              <a:t>Lectura: MECRO_Coheteria_Clase_05.pdf. Las capturas muestran ejemplos de documentación. Los casos numéricos se identifican como ejercicios y no se atribuyen a ejecuciones o mediciones no realizadas.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MECRO. Clase 5: Impresión 3D para narices, aletas y útiles.</a:t>
            </a:r>
          </a:p>
          <a:p xmlns:a="http://schemas.openxmlformats.org/drawingml/2006/main">
            <a:r>
              <a:t>En línea, 2 h. Tramo del núcleo: 4 min.</a:t>
            </a:r>
          </a:p>
          <a:p xmlns:a="http://schemas.openxmlformats.org/drawingml/2006/main">
            <a:r>
              <a:t/>
            </a:r>
          </a:p>
          <a:p xmlns:a="http://schemas.openxmlformats.org/drawingml/2006/main">
            <a:r>
              <a:t>Prusa Research: capas visibles con distintas alturas. Es una comparación de impresión, no de rendimiento de vuelo.</a:t>
            </a:r>
          </a:p>
          <a:p xmlns:a="http://schemas.openxmlformats.org/drawingml/2006/main">
            <a:r>
              <a:t>Localizar en la imagen las partes relacionadas con la pregunta.</a:t>
            </a:r>
          </a:p>
          <a:p xmlns:a="http://schemas.openxmlformats.org/drawingml/2006/main">
            <a:r>
              <a:t>¿Qué archivo permite cambiar cotas?</a:t>
            </a:r>
          </a:p>
          <a:p xmlns:a="http://schemas.openxmlformats.org/drawingml/2006/main">
            <a:r>
              <a:t/>
            </a:r>
          </a:p>
          <a:p xmlns:a="http://schemas.openxmlformats.org/drawingml/2006/main">
            <a:r>
              <a:t>Resultado: Preparar una pieza para imprimir, revisar su orientación y distinguir aspecto exterior de ajuste funcional.</a:t>
            </a:r>
          </a:p>
          <a:p xmlns:a="http://schemas.openxmlformats.org/drawingml/2006/main">
            <a:r>
              <a:t>Misión: Fabricar prototipos repetibles con el tiempo y los equipos disponibles.</a:t>
            </a:r>
          </a:p>
          <a:p xmlns:a="http://schemas.openxmlformats.org/drawingml/2006/main">
            <a:r>
              <a:t>Entrega: Proyecto de laminador, comparación y solicitud de impresión.</a:t>
            </a:r>
          </a:p>
          <a:p xmlns:a="http://schemas.openxmlformats.org/drawingml/2006/main">
            <a:r>
              <a:t/>
            </a:r>
          </a:p>
          <a:p xmlns:a="http://schemas.openxmlformats.org/drawingml/2006/main">
            <a:r>
              <a:t>Preguntas y respuestas</a:t>
            </a:r>
          </a:p>
          <a:p xmlns:a="http://schemas.openxmlformats.org/drawingml/2006/main">
            <a:r>
              <a:t>¿Un STL conserva todas las decisiones del laminador?</a:t>
            </a:r>
          </a:p>
          <a:p xmlns:a="http://schemas.openxmlformats.org/drawingml/2006/main">
            <a:r>
              <a:t>No. Hace falta el proyecto del laminador y el perfil utilizado.</a:t>
            </a:r>
          </a:p>
          <a:p xmlns:a="http://schemas.openxmlformats.org/drawingml/2006/main">
            <a:r>
              <a:t/>
            </a:r>
          </a:p>
          <a:p xmlns:a="http://schemas.openxmlformats.org/drawingml/2006/main">
            <a:r>
              <a:t>¿Más relleno siempre significa mejor pieza?</a:t>
            </a:r>
          </a:p>
          <a:p xmlns:a="http://schemas.openxmlformats.org/drawingml/2006/main">
            <a:r>
              <a:t>No. Debe resolver una función y verificarse en la pieza.</a:t>
            </a:r>
          </a:p>
          <a:p xmlns:a="http://schemas.openxmlformats.org/drawingml/2006/main">
            <a:r>
              <a:t/>
            </a:r>
          </a:p>
          <a:p xmlns:a="http://schemas.openxmlformats.org/drawingml/2006/main">
            <a:r>
              <a:t>¿La masa estimada reemplaza a la medida?</a:t>
            </a:r>
          </a:p>
          <a:p xmlns:a="http://schemas.openxmlformats.org/drawingml/2006/main">
            <a:r>
              <a:t>No. Se conservan ambas con su procedencia.</a:t>
            </a:r>
          </a:p>
          <a:p xmlns:a="http://schemas.openxmlformats.org/drawingml/2006/main">
            <a:r>
              <a:t/>
            </a:r>
          </a:p>
          <a:p xmlns:a="http://schemas.openxmlformats.org/drawingml/2006/main">
            <a:r>
              <a:t>Fuentes</a:t>
            </a:r>
          </a:p>
          <a:p xmlns:a="http://schemas.openxmlformats.org/drawingml/2006/main">
            <a:r>
              <a:t>Prusa Research. Modeling with 3D printing in mind. https://help.prusa3d.com/article/modeling-with-3d-printing-in-mind_164135</a:t>
            </a:r>
          </a:p>
          <a:p xmlns:a="http://schemas.openxmlformats.org/drawingml/2006/main">
            <a:r>
              <a:t>Prusa Research. Layers and perimeters. https://help.prusa3d.com/article/layers-and-perimeters_1748</a:t>
            </a:r>
          </a:p>
          <a:p xmlns:a="http://schemas.openxmlformats.org/drawingml/2006/main">
            <a:r>
              <a:t>Prusa Research. PLA. https://help.prusa3d.com/article/pla_2062</a:t>
            </a:r>
          </a:p>
          <a:p xmlns:a="http://schemas.openxmlformats.org/drawingml/2006/main">
            <a:r>
              <a:t>Prusa Research. PETG. https://help.prusa3d.com/article/petg_2059</a:t>
            </a:r>
          </a:p>
          <a:p xmlns:a="http://schemas.openxmlformats.org/drawingml/2006/main">
            <a:r>
              <a:t>Lectura: MECRO_Coheteria_Clase_05.pdf. Las capturas muestran ejemplos de documentación. Los casos numéricos se identifican como ejercicios y no se atribuyen a ejecuciones o mediciones no realizadas.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MECRO. Clase 5: Impresión 3D para narices, aletas y útiles.</a:t>
            </a:r>
          </a:p>
          <a:p xmlns:a="http://schemas.openxmlformats.org/drawingml/2006/main">
            <a:r>
              <a:t>En línea, 2 h. Tramo del núcleo: 5 min.</a:t>
            </a:r>
          </a:p>
          <a:p xmlns:a="http://schemas.openxmlformats.org/drawingml/2006/main">
            <a:r>
              <a:t/>
            </a:r>
          </a:p>
          <a:p xmlns:a="http://schemas.openxmlformats.org/drawingml/2006/main">
            <a:r>
              <a:t>Archivo o registro / Para qué sirve</a:t>
            </a:r>
          </a:p>
          <a:p xmlns:a="http://schemas.openxmlformats.org/drawingml/2006/main">
            <a:r>
              <a:t>CAD editable / Cambiar cotas y relaciones</a:t>
            </a:r>
          </a:p>
          <a:p xmlns:a="http://schemas.openxmlformats.org/drawingml/2006/main">
            <a:r>
              <a:t>STL u otro formato de malla / Compartir la geometría exterior</a:t>
            </a:r>
          </a:p>
          <a:p xmlns:a="http://schemas.openxmlformats.org/drawingml/2006/main">
            <a:r>
              <a:t>Proyecto del laminador / Conservar orientación y perfil</a:t>
            </a:r>
          </a:p>
          <a:p xmlns:a="http://schemas.openxmlformats.org/drawingml/2006/main">
            <a:r>
              <a:t>Registro de impresión / Relacionar máquina, material y pieza</a:t>
            </a:r>
          </a:p>
          <a:p xmlns:a="http://schemas.openxmlformats.org/drawingml/2006/main">
            <a:r>
              <a:t>Justificar una alternativa con la misión y señalar la comprobación necesaria.</a:t>
            </a:r>
          </a:p>
          <a:p xmlns:a="http://schemas.openxmlformats.org/drawingml/2006/main">
            <a:r>
              <a:t/>
            </a:r>
          </a:p>
          <a:p xmlns:a="http://schemas.openxmlformats.org/drawingml/2006/main">
            <a:r>
              <a:t>Resultado: Preparar una pieza para imprimir, revisar su orientación y distinguir aspecto exterior de ajuste funcional.</a:t>
            </a:r>
          </a:p>
          <a:p xmlns:a="http://schemas.openxmlformats.org/drawingml/2006/main">
            <a:r>
              <a:t>Misión: Fabricar prototipos repetibles con el tiempo y los equipos disponibles.</a:t>
            </a:r>
          </a:p>
          <a:p xmlns:a="http://schemas.openxmlformats.org/drawingml/2006/main">
            <a:r>
              <a:t>Entrega: Proyecto de laminador, comparación y solicitud de impresión.</a:t>
            </a:r>
          </a:p>
          <a:p xmlns:a="http://schemas.openxmlformats.org/drawingml/2006/main">
            <a:r>
              <a:t/>
            </a:r>
          </a:p>
          <a:p xmlns:a="http://schemas.openxmlformats.org/drawingml/2006/main">
            <a:r>
              <a:t>Preguntas y respuestas</a:t>
            </a:r>
          </a:p>
          <a:p xmlns:a="http://schemas.openxmlformats.org/drawingml/2006/main">
            <a:r>
              <a:t>¿Un STL conserva todas las decisiones del laminador?</a:t>
            </a:r>
          </a:p>
          <a:p xmlns:a="http://schemas.openxmlformats.org/drawingml/2006/main">
            <a:r>
              <a:t>No. Hace falta el proyecto del laminador y el perfil utilizado.</a:t>
            </a:r>
          </a:p>
          <a:p xmlns:a="http://schemas.openxmlformats.org/drawingml/2006/main">
            <a:r>
              <a:t/>
            </a:r>
          </a:p>
          <a:p xmlns:a="http://schemas.openxmlformats.org/drawingml/2006/main">
            <a:r>
              <a:t>¿Más relleno siempre significa mejor pieza?</a:t>
            </a:r>
          </a:p>
          <a:p xmlns:a="http://schemas.openxmlformats.org/drawingml/2006/main">
            <a:r>
              <a:t>No. Debe resolver una función y verificarse en la pieza.</a:t>
            </a:r>
          </a:p>
          <a:p xmlns:a="http://schemas.openxmlformats.org/drawingml/2006/main">
            <a:r>
              <a:t/>
            </a:r>
          </a:p>
          <a:p xmlns:a="http://schemas.openxmlformats.org/drawingml/2006/main">
            <a:r>
              <a:t>¿La masa estimada reemplaza a la medida?</a:t>
            </a:r>
          </a:p>
          <a:p xmlns:a="http://schemas.openxmlformats.org/drawingml/2006/main">
            <a:r>
              <a:t>No. Se conservan ambas con su procedencia.</a:t>
            </a:r>
          </a:p>
          <a:p xmlns:a="http://schemas.openxmlformats.org/drawingml/2006/main">
            <a:r>
              <a:t/>
            </a:r>
          </a:p>
          <a:p xmlns:a="http://schemas.openxmlformats.org/drawingml/2006/main">
            <a:r>
              <a:t>Fuentes</a:t>
            </a:r>
          </a:p>
          <a:p xmlns:a="http://schemas.openxmlformats.org/drawingml/2006/main">
            <a:r>
              <a:t>Prusa Research. Modeling with 3D printing in mind. https://help.prusa3d.com/article/modeling-with-3d-printing-in-mind_164135</a:t>
            </a:r>
          </a:p>
          <a:p xmlns:a="http://schemas.openxmlformats.org/drawingml/2006/main">
            <a:r>
              <a:t>Prusa Research. Layers and perimeters. https://help.prusa3d.com/article/layers-and-perimeters_1748</a:t>
            </a:r>
          </a:p>
          <a:p xmlns:a="http://schemas.openxmlformats.org/drawingml/2006/main">
            <a:r>
              <a:t>Prusa Research. PLA. https://help.prusa3d.com/article/pla_2062</a:t>
            </a:r>
          </a:p>
          <a:p xmlns:a="http://schemas.openxmlformats.org/drawingml/2006/main">
            <a:r>
              <a:t>Prusa Research. PETG. https://help.prusa3d.com/article/petg_2059</a:t>
            </a:r>
          </a:p>
          <a:p xmlns:a="http://schemas.openxmlformats.org/drawingml/2006/main">
            <a:r>
              <a:t>Lectura: MECRO_Coheteria_Clase_05.pdf. Las capturas muestran ejemplos de documentación. Los casos numéricos se identifican como ejercicios y no se atribuyen a ejecuciones o mediciones no realizadas.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MECRO. Clase 5: Impresión 3D para narices, aletas y útiles.</a:t>
            </a:r>
          </a:p>
          <a:p xmlns:a="http://schemas.openxmlformats.org/drawingml/2006/main">
            <a:r>
              <a:t>En línea, 2 h. Tramo del núcleo: 4 min.</a:t>
            </a:r>
          </a:p>
          <a:p xmlns:a="http://schemas.openxmlformats.org/drawingml/2006/main">
            <a:r>
              <a:t/>
            </a:r>
          </a:p>
          <a:p xmlns:a="http://schemas.openxmlformats.org/drawingml/2006/main">
            <a:r>
              <a:t>Al apilar capas se forma una pieza con direcciones de fabricación reconocibles. Una zona inclinada puede mostrar escalones. Un saliente puede necesitar apoyo. La orientación también determina qué superficies quedan contra la cama y dónde aparecen marcas al retirar soportes. Esos detalles importan si la superficie debe encajar o servir de referencia.</a:t>
            </a:r>
          </a:p>
          <a:p xmlns:a="http://schemas.openxmlformats.org/drawingml/2006/main">
            <a:r>
              <a:t/>
            </a:r>
          </a:p>
          <a:p xmlns:a="http://schemas.openxmlformats.org/drawingml/2006/main">
            <a:r>
              <a:t>No se propone una orientación universal para todas las narices o aletas. El equipo debe justificarla según la pieza y verificar el resultado. Una orientación que mejora un acabado puede empeorar el apoyo o la zona que recibe esfuerzos. [PR1]</a:t>
            </a:r>
          </a:p>
          <a:p xmlns:a="http://schemas.openxmlformats.org/drawingml/2006/main">
            <a:r>
              <a:t/>
            </a:r>
          </a:p>
          <a:p xmlns:a="http://schemas.openxmlformats.org/drawingml/2006/main">
            <a:r>
              <a:t>Cambiar la orientación modifica la forma de construir la misma geometría. También puede modificar la calidad de una abertura, el acabado de una cara y la necesidad de soportes. En una nariz interesa revisar su base y su interfaz con el tubo. En un útil interesa que las superficies de referencia conserven su función. Se comparan pequeñas muestras porque la orientación visualmente más cómoda no siempre produce el mejor encaje. La decisión se conserva junto al perfil que la hizo posible.</a:t>
            </a:r>
          </a:p>
          <a:p xmlns:a="http://schemas.openxmlformats.org/drawingml/2006/main">
            <a:r>
              <a:t>Pregunta para el grupo: ¿Qué superficie debe quedar funcional?</a:t>
            </a:r>
          </a:p>
          <a:p xmlns:a="http://schemas.openxmlformats.org/drawingml/2006/main">
            <a:r>
              <a:t/>
            </a:r>
          </a:p>
          <a:p xmlns:a="http://schemas.openxmlformats.org/drawingml/2006/main">
            <a:r>
              <a:t>Resultado: Preparar una pieza para imprimir, revisar su orientación y distinguir aspecto exterior de ajuste funcional.</a:t>
            </a:r>
          </a:p>
          <a:p xmlns:a="http://schemas.openxmlformats.org/drawingml/2006/main">
            <a:r>
              <a:t>Misión: Fabricar prototipos repetibles con el tiempo y los equipos disponibles.</a:t>
            </a:r>
          </a:p>
          <a:p xmlns:a="http://schemas.openxmlformats.org/drawingml/2006/main">
            <a:r>
              <a:t>Entrega: Proyecto de laminador, comparación y solicitud de impresión.</a:t>
            </a:r>
          </a:p>
          <a:p xmlns:a="http://schemas.openxmlformats.org/drawingml/2006/main">
            <a:r>
              <a:t/>
            </a:r>
          </a:p>
          <a:p xmlns:a="http://schemas.openxmlformats.org/drawingml/2006/main">
            <a:r>
              <a:t>Preguntas y respuestas</a:t>
            </a:r>
          </a:p>
          <a:p xmlns:a="http://schemas.openxmlformats.org/drawingml/2006/main">
            <a:r>
              <a:t>¿Un STL conserva todas las decisiones del laminador?</a:t>
            </a:r>
          </a:p>
          <a:p xmlns:a="http://schemas.openxmlformats.org/drawingml/2006/main">
            <a:r>
              <a:t>No. Hace falta el proyecto del laminador y el perfil utilizado.</a:t>
            </a:r>
          </a:p>
          <a:p xmlns:a="http://schemas.openxmlformats.org/drawingml/2006/main">
            <a:r>
              <a:t/>
            </a:r>
          </a:p>
          <a:p xmlns:a="http://schemas.openxmlformats.org/drawingml/2006/main">
            <a:r>
              <a:t>¿Más relleno siempre significa mejor pieza?</a:t>
            </a:r>
          </a:p>
          <a:p xmlns:a="http://schemas.openxmlformats.org/drawingml/2006/main">
            <a:r>
              <a:t>No. Debe resolver una función y verificarse en la pieza.</a:t>
            </a:r>
          </a:p>
          <a:p xmlns:a="http://schemas.openxmlformats.org/drawingml/2006/main">
            <a:r>
              <a:t/>
            </a:r>
          </a:p>
          <a:p xmlns:a="http://schemas.openxmlformats.org/drawingml/2006/main">
            <a:r>
              <a:t>¿La masa estimada reemplaza a la medida?</a:t>
            </a:r>
          </a:p>
          <a:p xmlns:a="http://schemas.openxmlformats.org/drawingml/2006/main">
            <a:r>
              <a:t>No. Se conservan ambas con su procedencia.</a:t>
            </a:r>
          </a:p>
          <a:p xmlns:a="http://schemas.openxmlformats.org/drawingml/2006/main">
            <a:r>
              <a:t/>
            </a:r>
          </a:p>
          <a:p xmlns:a="http://schemas.openxmlformats.org/drawingml/2006/main">
            <a:r>
              <a:t>Fuentes</a:t>
            </a:r>
          </a:p>
          <a:p xmlns:a="http://schemas.openxmlformats.org/drawingml/2006/main">
            <a:r>
              <a:t>Prusa Research. Modeling with 3D printing in mind. https://help.prusa3d.com/article/modeling-with-3d-printing-in-mind_164135</a:t>
            </a:r>
          </a:p>
          <a:p xmlns:a="http://schemas.openxmlformats.org/drawingml/2006/main">
            <a:r>
              <a:t>Prusa Research. Layers and perimeters. https://help.prusa3d.com/article/layers-and-perimeters_1748</a:t>
            </a:r>
          </a:p>
          <a:p xmlns:a="http://schemas.openxmlformats.org/drawingml/2006/main">
            <a:r>
              <a:t>Prusa Research. PLA. https://help.prusa3d.com/article/pla_2062</a:t>
            </a:r>
          </a:p>
          <a:p xmlns:a="http://schemas.openxmlformats.org/drawingml/2006/main">
            <a:r>
              <a:t>Prusa Research. PETG. https://help.prusa3d.com/article/petg_2059</a:t>
            </a:r>
          </a:p>
          <a:p xmlns:a="http://schemas.openxmlformats.org/drawingml/2006/main">
            <a:r>
              <a:t>Lectura: MECRO_Coheteria_Clase_05.pdf. Las capturas muestran ejemplos de documentación. Los casos numéricos se identifican como ejercicios y no se atribuyen a ejecuciones o mediciones no realizadas.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MECRO. Clase 5: Impresión 3D para narices, aletas y útiles.</a:t>
            </a:r>
          </a:p>
          <a:p xmlns:a="http://schemas.openxmlformats.org/drawingml/2006/main">
            <a:r>
              <a:t>En línea, 2 h. Tramo del núcleo: 4 min.</a:t>
            </a:r>
          </a:p>
          <a:p xmlns:a="http://schemas.openxmlformats.org/drawingml/2006/main">
            <a:r>
              <a:t/>
            </a:r>
          </a:p>
          <a:p xmlns:a="http://schemas.openxmlformats.org/drawingml/2006/main">
            <a:r>
              <a:t>Prusa Research: el mismo tipo de superficie muestra distinto escalonado según su orientación.</a:t>
            </a:r>
          </a:p>
          <a:p xmlns:a="http://schemas.openxmlformats.org/drawingml/2006/main">
            <a:r>
              <a:t>Localizar en la imagen las partes relacionadas con la pregunta.</a:t>
            </a:r>
          </a:p>
          <a:p xmlns:a="http://schemas.openxmlformats.org/drawingml/2006/main">
            <a:r>
              <a:t>¿Qué superficie debe quedar funcional?</a:t>
            </a:r>
          </a:p>
          <a:p xmlns:a="http://schemas.openxmlformats.org/drawingml/2006/main">
            <a:r>
              <a:t/>
            </a:r>
          </a:p>
          <a:p xmlns:a="http://schemas.openxmlformats.org/drawingml/2006/main">
            <a:r>
              <a:t>Resultado: Preparar una pieza para imprimir, revisar su orientación y distinguir aspecto exterior de ajuste funcional.</a:t>
            </a:r>
          </a:p>
          <a:p xmlns:a="http://schemas.openxmlformats.org/drawingml/2006/main">
            <a:r>
              <a:t>Misión: Fabricar prototipos repetibles con el tiempo y los equipos disponibles.</a:t>
            </a:r>
          </a:p>
          <a:p xmlns:a="http://schemas.openxmlformats.org/drawingml/2006/main">
            <a:r>
              <a:t>Entrega: Proyecto de laminador, comparación y solicitud de impresión.</a:t>
            </a:r>
          </a:p>
          <a:p xmlns:a="http://schemas.openxmlformats.org/drawingml/2006/main">
            <a:r>
              <a:t/>
            </a:r>
          </a:p>
          <a:p xmlns:a="http://schemas.openxmlformats.org/drawingml/2006/main">
            <a:r>
              <a:t>Preguntas y respuestas</a:t>
            </a:r>
          </a:p>
          <a:p xmlns:a="http://schemas.openxmlformats.org/drawingml/2006/main">
            <a:r>
              <a:t>¿Un STL conserva todas las decisiones del laminador?</a:t>
            </a:r>
          </a:p>
          <a:p xmlns:a="http://schemas.openxmlformats.org/drawingml/2006/main">
            <a:r>
              <a:t>No. Hace falta el proyecto del laminador y el perfil utilizado.</a:t>
            </a:r>
          </a:p>
          <a:p xmlns:a="http://schemas.openxmlformats.org/drawingml/2006/main">
            <a:r>
              <a:t/>
            </a:r>
          </a:p>
          <a:p xmlns:a="http://schemas.openxmlformats.org/drawingml/2006/main">
            <a:r>
              <a:t>¿Más relleno siempre significa mejor pieza?</a:t>
            </a:r>
          </a:p>
          <a:p xmlns:a="http://schemas.openxmlformats.org/drawingml/2006/main">
            <a:r>
              <a:t>No. Debe resolver una función y verificarse en la pieza.</a:t>
            </a:r>
          </a:p>
          <a:p xmlns:a="http://schemas.openxmlformats.org/drawingml/2006/main">
            <a:r>
              <a:t/>
            </a:r>
          </a:p>
          <a:p xmlns:a="http://schemas.openxmlformats.org/drawingml/2006/main">
            <a:r>
              <a:t>¿La masa estimada reemplaza a la medida?</a:t>
            </a:r>
          </a:p>
          <a:p xmlns:a="http://schemas.openxmlformats.org/drawingml/2006/main">
            <a:r>
              <a:t>No. Se conservan ambas con su procedencia.</a:t>
            </a:r>
          </a:p>
          <a:p xmlns:a="http://schemas.openxmlformats.org/drawingml/2006/main">
            <a:r>
              <a:t/>
            </a:r>
          </a:p>
          <a:p xmlns:a="http://schemas.openxmlformats.org/drawingml/2006/main">
            <a:r>
              <a:t>Fuentes</a:t>
            </a:r>
          </a:p>
          <a:p xmlns:a="http://schemas.openxmlformats.org/drawingml/2006/main">
            <a:r>
              <a:t>Prusa Research. Modeling with 3D printing in mind. https://help.prusa3d.com/article/modeling-with-3d-printing-in-mind_164135</a:t>
            </a:r>
          </a:p>
          <a:p xmlns:a="http://schemas.openxmlformats.org/drawingml/2006/main">
            <a:r>
              <a:t>Prusa Research. Layers and perimeters. https://help.prusa3d.com/article/layers-and-perimeters_1748</a:t>
            </a:r>
          </a:p>
          <a:p xmlns:a="http://schemas.openxmlformats.org/drawingml/2006/main">
            <a:r>
              <a:t>Prusa Research. PLA. https://help.prusa3d.com/article/pla_2062</a:t>
            </a:r>
          </a:p>
          <a:p xmlns:a="http://schemas.openxmlformats.org/drawingml/2006/main">
            <a:r>
              <a:t>Prusa Research. PETG. https://help.prusa3d.com/article/petg_2059</a:t>
            </a:r>
          </a:p>
          <a:p xmlns:a="http://schemas.openxmlformats.org/drawingml/2006/main">
            <a:r>
              <a:t>Lectura: MECRO_Coheteria_Clase_05.pdf. Las capturas muestran ejemplos de documentación. Los casos numéricos se identifican como ejercicios y no se atribuyen a ejecuciones o mediciones no realizadas.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MECRO. Clase 5: Impresión 3D para narices, aletas y útiles.</a:t>
            </a:r>
          </a:p>
          <a:p xmlns:a="http://schemas.openxmlformats.org/drawingml/2006/main">
            <a:r>
              <a:t>En línea, 2 h. Tramo del núcleo: 5 min.</a:t>
            </a:r>
          </a:p>
          <a:p xmlns:a="http://schemas.openxmlformats.org/drawingml/2006/main">
            <a:r>
              <a:t/>
            </a:r>
          </a:p>
          <a:p xmlns:a="http://schemas.openxmlformats.org/drawingml/2006/main">
            <a:r>
              <a:t>Zona de la pieza / Qué observar en el laminador</a:t>
            </a:r>
          </a:p>
          <a:p xmlns:a="http://schemas.openxmlformats.org/drawingml/2006/main">
            <a:r>
              <a:t>Hombro de nariz / Superficie que debe entrar en el tubo</a:t>
            </a:r>
          </a:p>
          <a:p xmlns:a="http://schemas.openxmlformats.org/drawingml/2006/main">
            <a:r>
              <a:t>Raíz de aleta / Continuidad y orientación de capas</a:t>
            </a:r>
          </a:p>
          <a:p xmlns:a="http://schemas.openxmlformats.org/drawingml/2006/main">
            <a:r>
              <a:t>Útil de montaje / Superficies que fijan posición</a:t>
            </a:r>
          </a:p>
          <a:p xmlns:a="http://schemas.openxmlformats.org/drawingml/2006/main">
            <a:r>
              <a:t>Punta o borde fino / Trayectorias que realmente se generan</a:t>
            </a:r>
          </a:p>
          <a:p xmlns:a="http://schemas.openxmlformats.org/drawingml/2006/main">
            <a:r>
              <a:t>Justificar una alternativa con la misión y señalar la comprobación necesaria.</a:t>
            </a:r>
          </a:p>
          <a:p xmlns:a="http://schemas.openxmlformats.org/drawingml/2006/main">
            <a:r>
              <a:t/>
            </a:r>
          </a:p>
          <a:p xmlns:a="http://schemas.openxmlformats.org/drawingml/2006/main">
            <a:r>
              <a:t>Resultado: Preparar una pieza para imprimir, revisar su orientación y distinguir aspecto exterior de ajuste funcional.</a:t>
            </a:r>
          </a:p>
          <a:p xmlns:a="http://schemas.openxmlformats.org/drawingml/2006/main">
            <a:r>
              <a:t>Misión: Fabricar prototipos repetibles con el tiempo y los equipos disponibles.</a:t>
            </a:r>
          </a:p>
          <a:p xmlns:a="http://schemas.openxmlformats.org/drawingml/2006/main">
            <a:r>
              <a:t>Entrega: Proyecto de laminador, comparación y solicitud de impresión.</a:t>
            </a:r>
          </a:p>
          <a:p xmlns:a="http://schemas.openxmlformats.org/drawingml/2006/main">
            <a:r>
              <a:t/>
            </a:r>
          </a:p>
          <a:p xmlns:a="http://schemas.openxmlformats.org/drawingml/2006/main">
            <a:r>
              <a:t>Preguntas y respuestas</a:t>
            </a:r>
          </a:p>
          <a:p xmlns:a="http://schemas.openxmlformats.org/drawingml/2006/main">
            <a:r>
              <a:t>¿Un STL conserva todas las decisiones del laminador?</a:t>
            </a:r>
          </a:p>
          <a:p xmlns:a="http://schemas.openxmlformats.org/drawingml/2006/main">
            <a:r>
              <a:t>No. Hace falta el proyecto del laminador y el perfil utilizado.</a:t>
            </a:r>
          </a:p>
          <a:p xmlns:a="http://schemas.openxmlformats.org/drawingml/2006/main">
            <a:r>
              <a:t/>
            </a:r>
          </a:p>
          <a:p xmlns:a="http://schemas.openxmlformats.org/drawingml/2006/main">
            <a:r>
              <a:t>¿Más relleno siempre significa mejor pieza?</a:t>
            </a:r>
          </a:p>
          <a:p xmlns:a="http://schemas.openxmlformats.org/drawingml/2006/main">
            <a:r>
              <a:t>No. Debe resolver una función y verificarse en la pieza.</a:t>
            </a:r>
          </a:p>
          <a:p xmlns:a="http://schemas.openxmlformats.org/drawingml/2006/main">
            <a:r>
              <a:t/>
            </a:r>
          </a:p>
          <a:p xmlns:a="http://schemas.openxmlformats.org/drawingml/2006/main">
            <a:r>
              <a:t>¿La masa estimada reemplaza a la medida?</a:t>
            </a:r>
          </a:p>
          <a:p xmlns:a="http://schemas.openxmlformats.org/drawingml/2006/main">
            <a:r>
              <a:t>No. Se conservan ambas con su procedencia.</a:t>
            </a:r>
          </a:p>
          <a:p xmlns:a="http://schemas.openxmlformats.org/drawingml/2006/main">
            <a:r>
              <a:t/>
            </a:r>
          </a:p>
          <a:p xmlns:a="http://schemas.openxmlformats.org/drawingml/2006/main">
            <a:r>
              <a:t>Fuentes</a:t>
            </a:r>
          </a:p>
          <a:p xmlns:a="http://schemas.openxmlformats.org/drawingml/2006/main">
            <a:r>
              <a:t>Prusa Research. Modeling with 3D printing in mind. https://help.prusa3d.com/article/modeling-with-3d-printing-in-mind_164135</a:t>
            </a:r>
          </a:p>
          <a:p xmlns:a="http://schemas.openxmlformats.org/drawingml/2006/main">
            <a:r>
              <a:t>Prusa Research. Layers and perimeters. https://help.prusa3d.com/article/layers-and-perimeters_1748</a:t>
            </a:r>
          </a:p>
          <a:p xmlns:a="http://schemas.openxmlformats.org/drawingml/2006/main">
            <a:r>
              <a:t>Prusa Research. PLA. https://help.prusa3d.com/article/pla_2062</a:t>
            </a:r>
          </a:p>
          <a:p xmlns:a="http://schemas.openxmlformats.org/drawingml/2006/main">
            <a:r>
              <a:t>Prusa Research. PETG. https://help.prusa3d.com/article/petg_2059</a:t>
            </a:r>
          </a:p>
          <a:p xmlns:a="http://schemas.openxmlformats.org/drawingml/2006/main">
            <a:r>
              <a:t>Lectura: MECRO_Coheteria_Clase_05.pdf. Las capturas muestran ejemplos de documentación. Los casos numéricos se identifican como ejercicios y no se atribuyen a ejecuciones o mediciones no realizadas.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MECRO. Clase 5: Impresión 3D para narices, aletas y útiles.</a:t>
            </a:r>
          </a:p>
          <a:p xmlns:a="http://schemas.openxmlformats.org/drawingml/2006/main">
            <a:r>
              <a:t>En línea, 2 h. Tramo del núcleo: 4 min.</a:t>
            </a:r>
          </a:p>
          <a:p xmlns:a="http://schemas.openxmlformats.org/drawingml/2006/main">
            <a:r>
              <a:t/>
            </a:r>
          </a:p>
          <a:p xmlns:a="http://schemas.openxmlformats.org/drawingml/2006/main">
            <a:r>
              <a:t>Los perímetros recorren el contorno. El relleno ocupa parte de las zonas interiores que el modelo y el perfil permiten rellenar. En una pieza hueca, agregar relleno no sustituye una pared mal dibujada. En una pieza maciza puede aumentar masa y tiempo sin resolver el problema que realmente teníamos. La vista por capas permite ver qué está pasando.</a:t>
            </a:r>
          </a:p>
          <a:p xmlns:a="http://schemas.openxmlformats.org/drawingml/2006/main">
            <a:r>
              <a:t/>
            </a:r>
          </a:p>
          <a:p xmlns:a="http://schemas.openxmlformats.org/drawingml/2006/main">
            <a:r>
              <a:t>Ejercicio: perfil A estima 18 g y 55 min; perfil B estima 24 g y 78 min. El equipo solo necesita que el útil conserve la posición en un montaje de banco.</a:t>
            </a:r>
          </a:p>
          <a:p xmlns:a="http://schemas.openxmlformats.org/drawingml/2006/main">
            <a:r>
              <a:t/>
            </a:r>
          </a:p>
          <a:p xmlns:a="http://schemas.openxmlformats.org/drawingml/2006/main">
            <a:r>
              <a:t>No fijamos aquí porcentajes o espesores universales de impresión para piezas de vuelo. Trabajamos con el perfil compatible con la impresora y la pieza, revisado por el docente. Se comparan dos cambios identificados y una función verificable. [PR2]</a:t>
            </a:r>
          </a:p>
          <a:p xmlns:a="http://schemas.openxmlformats.org/drawingml/2006/main">
            <a:r>
              <a:t/>
            </a:r>
          </a:p>
          <a:p xmlns:a="http://schemas.openxmlformats.org/drawingml/2006/main">
            <a:r>
              <a:t>Al importar una malla, comprueba una dimensión conocida antes de tocar el perfil. Un error de escala puede convertir una pieza pequeña en otra mucho mayor sin cambiar su aspecto en pantalla. El contorno sigue siendo parecido y por eso el error pasa desapercibido. La lectura de una longitud de referencia y de la unidad evita perder una tanda completa de impresión. Guarda el archivo original y documenta cualquier conversión realizada.</a:t>
            </a:r>
          </a:p>
          <a:p xmlns:a="http://schemas.openxmlformats.org/drawingml/2006/main">
            <a:r>
              <a:t>Pregunta para el grupo: ¿Más material resuelve la función del útil?</a:t>
            </a:r>
          </a:p>
          <a:p xmlns:a="http://schemas.openxmlformats.org/drawingml/2006/main">
            <a:r>
              <a:t/>
            </a:r>
          </a:p>
          <a:p xmlns:a="http://schemas.openxmlformats.org/drawingml/2006/main">
            <a:r>
              <a:t>Resultado: Preparar una pieza para imprimir, revisar su orientación y distinguir aspecto exterior de ajuste funcional.</a:t>
            </a:r>
          </a:p>
          <a:p xmlns:a="http://schemas.openxmlformats.org/drawingml/2006/main">
            <a:r>
              <a:t>Misión: Fabricar prototipos repetibles con el tiempo y los equipos disponibles.</a:t>
            </a:r>
          </a:p>
          <a:p xmlns:a="http://schemas.openxmlformats.org/drawingml/2006/main">
            <a:r>
              <a:t>Entrega: Proyecto de laminador, comparación y solicitud de impresión.</a:t>
            </a:r>
          </a:p>
          <a:p xmlns:a="http://schemas.openxmlformats.org/drawingml/2006/main">
            <a:r>
              <a:t/>
            </a:r>
          </a:p>
          <a:p xmlns:a="http://schemas.openxmlformats.org/drawingml/2006/main">
            <a:r>
              <a:t>Preguntas y respuestas</a:t>
            </a:r>
          </a:p>
          <a:p xmlns:a="http://schemas.openxmlformats.org/drawingml/2006/main">
            <a:r>
              <a:t>¿Un STL conserva todas las decisiones del laminador?</a:t>
            </a:r>
          </a:p>
          <a:p xmlns:a="http://schemas.openxmlformats.org/drawingml/2006/main">
            <a:r>
              <a:t>No. Hace falta el proyecto del laminador y el perfil utilizado.</a:t>
            </a:r>
          </a:p>
          <a:p xmlns:a="http://schemas.openxmlformats.org/drawingml/2006/main">
            <a:r>
              <a:t/>
            </a:r>
          </a:p>
          <a:p xmlns:a="http://schemas.openxmlformats.org/drawingml/2006/main">
            <a:r>
              <a:t>¿Más relleno siempre significa mejor pieza?</a:t>
            </a:r>
          </a:p>
          <a:p xmlns:a="http://schemas.openxmlformats.org/drawingml/2006/main">
            <a:r>
              <a:t>No. Debe resolver una función y verificarse en la pieza.</a:t>
            </a:r>
          </a:p>
          <a:p xmlns:a="http://schemas.openxmlformats.org/drawingml/2006/main">
            <a:r>
              <a:t/>
            </a:r>
          </a:p>
          <a:p xmlns:a="http://schemas.openxmlformats.org/drawingml/2006/main">
            <a:r>
              <a:t>¿La masa estimada reemplaza a la medida?</a:t>
            </a:r>
          </a:p>
          <a:p xmlns:a="http://schemas.openxmlformats.org/drawingml/2006/main">
            <a:r>
              <a:t>No. Se conservan ambas con su procedencia.</a:t>
            </a:r>
          </a:p>
          <a:p xmlns:a="http://schemas.openxmlformats.org/drawingml/2006/main">
            <a:r>
              <a:t/>
            </a:r>
          </a:p>
          <a:p xmlns:a="http://schemas.openxmlformats.org/drawingml/2006/main">
            <a:r>
              <a:t>Fuentes</a:t>
            </a:r>
          </a:p>
          <a:p xmlns:a="http://schemas.openxmlformats.org/drawingml/2006/main">
            <a:r>
              <a:t>Prusa Research. Modeling with 3D printing in mind. https://help.prusa3d.com/article/modeling-with-3d-printing-in-mind_164135</a:t>
            </a:r>
          </a:p>
          <a:p xmlns:a="http://schemas.openxmlformats.org/drawingml/2006/main">
            <a:r>
              <a:t>Prusa Research. Layers and perimeters. https://help.prusa3d.com/article/layers-and-perimeters_1748</a:t>
            </a:r>
          </a:p>
          <a:p xmlns:a="http://schemas.openxmlformats.org/drawingml/2006/main">
            <a:r>
              <a:t>Prusa Research. PLA. https://help.prusa3d.com/article/pla_2062</a:t>
            </a:r>
          </a:p>
          <a:p xmlns:a="http://schemas.openxmlformats.org/drawingml/2006/main">
            <a:r>
              <a:t>Prusa Research. PETG. https://help.prusa3d.com/article/petg_2059</a:t>
            </a:r>
          </a:p>
          <a:p xmlns:a="http://schemas.openxmlformats.org/drawingml/2006/main">
            <a:r>
              <a:t>Lectura: MECRO_Coheteria_Clase_05.pdf. Las capturas muestran ejemplos de documentación. Los casos numéricos se identifican como ejercicios y no se atribuyen a ejecuciones o mediciones no realizadas.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MECRO. Clase 5: Impresión 3D para narices, aletas y útiles.</a:t>
            </a:r>
          </a:p>
          <a:p xmlns:a="http://schemas.openxmlformats.org/drawingml/2006/main">
            <a:r>
              <a:t>En línea, 2 h. Tramo del núcleo: 4 min.</a:t>
            </a:r>
          </a:p>
          <a:p xmlns:a="http://schemas.openxmlformats.org/drawingml/2006/main">
            <a:r>
              <a:t/>
            </a:r>
          </a:p>
          <a:p xmlns:a="http://schemas.openxmlformats.org/drawingml/2006/main">
            <a:r>
              <a:t>Prusa Research: los perímetros forman las paredes exteriores. La imagen es una referencia del laminador.</a:t>
            </a:r>
          </a:p>
          <a:p xmlns:a="http://schemas.openxmlformats.org/drawingml/2006/main">
            <a:r>
              <a:t>Localizar en la imagen las partes relacionadas con la pregunta.</a:t>
            </a:r>
          </a:p>
          <a:p xmlns:a="http://schemas.openxmlformats.org/drawingml/2006/main">
            <a:r>
              <a:t>¿Más material resuelve la función del útil?</a:t>
            </a:r>
          </a:p>
          <a:p xmlns:a="http://schemas.openxmlformats.org/drawingml/2006/main">
            <a:r>
              <a:t/>
            </a:r>
          </a:p>
          <a:p xmlns:a="http://schemas.openxmlformats.org/drawingml/2006/main">
            <a:r>
              <a:t>Resultado: Preparar una pieza para imprimir, revisar su orientación y distinguir aspecto exterior de ajuste funcional.</a:t>
            </a:r>
          </a:p>
          <a:p xmlns:a="http://schemas.openxmlformats.org/drawingml/2006/main">
            <a:r>
              <a:t>Misión: Fabricar prototipos repetibles con el tiempo y los equipos disponibles.</a:t>
            </a:r>
          </a:p>
          <a:p xmlns:a="http://schemas.openxmlformats.org/drawingml/2006/main">
            <a:r>
              <a:t>Entrega: Proyecto de laminador, comparación y solicitud de impresión.</a:t>
            </a:r>
          </a:p>
          <a:p xmlns:a="http://schemas.openxmlformats.org/drawingml/2006/main">
            <a:r>
              <a:t/>
            </a:r>
          </a:p>
          <a:p xmlns:a="http://schemas.openxmlformats.org/drawingml/2006/main">
            <a:r>
              <a:t>Preguntas y respuestas</a:t>
            </a:r>
          </a:p>
          <a:p xmlns:a="http://schemas.openxmlformats.org/drawingml/2006/main">
            <a:r>
              <a:t>¿Un STL conserva todas las decisiones del laminador?</a:t>
            </a:r>
          </a:p>
          <a:p xmlns:a="http://schemas.openxmlformats.org/drawingml/2006/main">
            <a:r>
              <a:t>No. Hace falta el proyecto del laminador y el perfil utilizado.</a:t>
            </a:r>
          </a:p>
          <a:p xmlns:a="http://schemas.openxmlformats.org/drawingml/2006/main">
            <a:r>
              <a:t/>
            </a:r>
          </a:p>
          <a:p xmlns:a="http://schemas.openxmlformats.org/drawingml/2006/main">
            <a:r>
              <a:t>¿Más relleno siempre significa mejor pieza?</a:t>
            </a:r>
          </a:p>
          <a:p xmlns:a="http://schemas.openxmlformats.org/drawingml/2006/main">
            <a:r>
              <a:t>No. Debe resolver una función y verificarse en la pieza.</a:t>
            </a:r>
          </a:p>
          <a:p xmlns:a="http://schemas.openxmlformats.org/drawingml/2006/main">
            <a:r>
              <a:t/>
            </a:r>
          </a:p>
          <a:p xmlns:a="http://schemas.openxmlformats.org/drawingml/2006/main">
            <a:r>
              <a:t>¿La masa estimada reemplaza a la medida?</a:t>
            </a:r>
          </a:p>
          <a:p xmlns:a="http://schemas.openxmlformats.org/drawingml/2006/main">
            <a:r>
              <a:t>No. Se conservan ambas con su procedencia.</a:t>
            </a:r>
          </a:p>
          <a:p xmlns:a="http://schemas.openxmlformats.org/drawingml/2006/main">
            <a:r>
              <a:t/>
            </a:r>
          </a:p>
          <a:p xmlns:a="http://schemas.openxmlformats.org/drawingml/2006/main">
            <a:r>
              <a:t>Fuentes</a:t>
            </a:r>
          </a:p>
          <a:p xmlns:a="http://schemas.openxmlformats.org/drawingml/2006/main">
            <a:r>
              <a:t>Prusa Research. Modeling with 3D printing in mind. https://help.prusa3d.com/article/modeling-with-3d-printing-in-mind_164135</a:t>
            </a:r>
          </a:p>
          <a:p xmlns:a="http://schemas.openxmlformats.org/drawingml/2006/main">
            <a:r>
              <a:t>Prusa Research. Layers and perimeters. https://help.prusa3d.com/article/layers-and-perimeters_1748</a:t>
            </a:r>
          </a:p>
          <a:p xmlns:a="http://schemas.openxmlformats.org/drawingml/2006/main">
            <a:r>
              <a:t>Prusa Research. PLA. https://help.prusa3d.com/article/pla_2062</a:t>
            </a:r>
          </a:p>
          <a:p xmlns:a="http://schemas.openxmlformats.org/drawingml/2006/main">
            <a:r>
              <a:t>Prusa Research. PETG. https://help.prusa3d.com/article/petg_2059</a:t>
            </a:r>
          </a:p>
          <a:p xmlns:a="http://schemas.openxmlformats.org/drawingml/2006/main">
            <a:r>
              <a:t>Lectura: MECRO_Coheteria_Clase_05.pdf. Las capturas muestran ejemplos de documentación. Los casos numéricos se identifican como ejercicios y no se atribuyen a ejecuciones o mediciones no realizadas.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MECRO. Clase 5: Impresión 3D para narices, aletas y útiles.</a:t>
            </a:r>
          </a:p>
          <a:p xmlns:a="http://schemas.openxmlformats.org/drawingml/2006/main">
            <a:r>
              <a:t>En línea, 2 h. Tramo del núcleo: 5 min.</a:t>
            </a:r>
          </a:p>
          <a:p xmlns:a="http://schemas.openxmlformats.org/drawingml/2006/main">
            <a:r>
              <a:t/>
            </a:r>
          </a:p>
          <a:p xmlns:a="http://schemas.openxmlformats.org/drawingml/2006/main">
            <a:r>
              <a:t>Datos didácticos de laminador. La función debe comprobarse en la pieza física.</a:t>
            </a:r>
          </a:p>
          <a:p xmlns:a="http://schemas.openxmlformats.org/drawingml/2006/main">
            <a:r>
              <a:t>Perfil A: 18</a:t>
            </a:r>
          </a:p>
          <a:p xmlns:a="http://schemas.openxmlformats.org/drawingml/2006/main">
            <a:r>
              <a:t>Perfil B: 24</a:t>
            </a:r>
          </a:p>
          <a:p xmlns:a="http://schemas.openxmlformats.org/drawingml/2006/main">
            <a:r>
              <a:t>Ejercicio: perfil A estima 18 g y 55 min; perfil B estima 24 g y 78 min. El equipo solo necesita que el útil conserve la posición en un montaje de banco.</a:t>
            </a:r>
          </a:p>
          <a:p xmlns:a="http://schemas.openxmlformats.org/drawingml/2006/main">
            <a:r>
              <a:t>Hay 6 g y 23 min de diferencia por pieza. La decisión exige comprobar la función del útil. No se puede declarar B superior solo por usar más material. Las cifras del laminador son estimaciones hasta que se fabrica y registra el resultado.</a:t>
            </a:r>
          </a:p>
          <a:p xmlns:a="http://schemas.openxmlformats.org/drawingml/2006/main">
            <a:r>
              <a:t/>
            </a:r>
          </a:p>
          <a:p xmlns:a="http://schemas.openxmlformats.org/drawingml/2006/main">
            <a:r>
              <a:t>Resultado: Preparar una pieza para imprimir, revisar su orientación y distinguir aspecto exterior de ajuste funcional.</a:t>
            </a:r>
          </a:p>
          <a:p xmlns:a="http://schemas.openxmlformats.org/drawingml/2006/main">
            <a:r>
              <a:t>Misión: Fabricar prototipos repetibles con el tiempo y los equipos disponibles.</a:t>
            </a:r>
          </a:p>
          <a:p xmlns:a="http://schemas.openxmlformats.org/drawingml/2006/main">
            <a:r>
              <a:t>Entrega: Proyecto de laminador, comparación y solicitud de impresión.</a:t>
            </a:r>
          </a:p>
          <a:p xmlns:a="http://schemas.openxmlformats.org/drawingml/2006/main">
            <a:r>
              <a:t/>
            </a:r>
          </a:p>
          <a:p xmlns:a="http://schemas.openxmlformats.org/drawingml/2006/main">
            <a:r>
              <a:t>Preguntas y respuestas</a:t>
            </a:r>
          </a:p>
          <a:p xmlns:a="http://schemas.openxmlformats.org/drawingml/2006/main">
            <a:r>
              <a:t>¿Un STL conserva todas las decisiones del laminador?</a:t>
            </a:r>
          </a:p>
          <a:p xmlns:a="http://schemas.openxmlformats.org/drawingml/2006/main">
            <a:r>
              <a:t>No. Hace falta el proyecto del laminador y el perfil utilizado.</a:t>
            </a:r>
          </a:p>
          <a:p xmlns:a="http://schemas.openxmlformats.org/drawingml/2006/main">
            <a:r>
              <a:t/>
            </a:r>
          </a:p>
          <a:p xmlns:a="http://schemas.openxmlformats.org/drawingml/2006/main">
            <a:r>
              <a:t>¿Más relleno siempre significa mejor pieza?</a:t>
            </a:r>
          </a:p>
          <a:p xmlns:a="http://schemas.openxmlformats.org/drawingml/2006/main">
            <a:r>
              <a:t>No. Debe resolver una función y verificarse en la pieza.</a:t>
            </a:r>
          </a:p>
          <a:p xmlns:a="http://schemas.openxmlformats.org/drawingml/2006/main">
            <a:r>
              <a:t/>
            </a:r>
          </a:p>
          <a:p xmlns:a="http://schemas.openxmlformats.org/drawingml/2006/main">
            <a:r>
              <a:t>¿La masa estimada reemplaza a la medida?</a:t>
            </a:r>
          </a:p>
          <a:p xmlns:a="http://schemas.openxmlformats.org/drawingml/2006/main">
            <a:r>
              <a:t>No. Se conservan ambas con su procedencia.</a:t>
            </a:r>
          </a:p>
          <a:p xmlns:a="http://schemas.openxmlformats.org/drawingml/2006/main">
            <a:r>
              <a:t/>
            </a:r>
          </a:p>
          <a:p xmlns:a="http://schemas.openxmlformats.org/drawingml/2006/main">
            <a:r>
              <a:t>Fuentes</a:t>
            </a:r>
          </a:p>
          <a:p xmlns:a="http://schemas.openxmlformats.org/drawingml/2006/main">
            <a:r>
              <a:t>Prusa Research. Modeling with 3D printing in mind. https://help.prusa3d.com/article/modeling-with-3d-printing-in-mind_164135</a:t>
            </a:r>
          </a:p>
          <a:p xmlns:a="http://schemas.openxmlformats.org/drawingml/2006/main">
            <a:r>
              <a:t>Prusa Research. Layers and perimeters. https://help.prusa3d.com/article/layers-and-perimeters_1748</a:t>
            </a:r>
          </a:p>
          <a:p xmlns:a="http://schemas.openxmlformats.org/drawingml/2006/main">
            <a:r>
              <a:t>Prusa Research. PLA. https://help.prusa3d.com/article/pla_2062</a:t>
            </a:r>
          </a:p>
          <a:p xmlns:a="http://schemas.openxmlformats.org/drawingml/2006/main">
            <a:r>
              <a:t>Prusa Research. PETG. https://help.prusa3d.com/article/petg_2059</a:t>
            </a:r>
          </a:p>
          <a:p xmlns:a="http://schemas.openxmlformats.org/drawingml/2006/main">
            <a:r>
              <a:t>Lectura: MECRO_Coheteria_Clase_05.pdf. Las capturas muestran ejemplos de documentación. Los casos numéricos se identifican como ejercicios y no se atribuyen a ejecuciones o mediciones no realizadas.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MECRO. Clase 5: Impresión 3D para narices, aletas y útiles.</a:t>
            </a:r>
          </a:p>
          <a:p xmlns:a="http://schemas.openxmlformats.org/drawingml/2006/main">
            <a:r>
              <a:t>En línea, 2 h. Tramo del núcleo: 4 min.</a:t>
            </a:r>
          </a:p>
          <a:p xmlns:a="http://schemas.openxmlformats.org/drawingml/2006/main">
            <a:r>
              <a:t/>
            </a:r>
          </a:p>
          <a:p xmlns:a="http://schemas.openxmlformats.org/drawingml/2006/main">
            <a:r>
              <a:t>Si una pared desaparece en la vista por capas, revisa el modelo y el perfil antes de imprimir. Ver la silueta exterior completa no garantiza que se vayan a depositar todas las trayectorias necesarias.</a:t>
            </a:r>
          </a:p>
          <a:p xmlns:a="http://schemas.openxmlformats.org/drawingml/2006/main">
            <a:r>
              <a:t/>
            </a:r>
          </a:p>
          <a:p xmlns:a="http://schemas.openxmlformats.org/drawingml/2006/main">
            <a:r>
              <a:t>La vista por capas permite comprobar que la máquina realmente fabricará los detalles que dibujaste. Una pared muy fina puede desaparecer o convertirse en una trayectoria distinta de la esperada. Antes de imprimir, recorre el inicio, una zona intermedia y el cierre de la pieza. Busca continuidad de paredes y apoyos. El tiempo y la masa estimados sirven para organizar el trabajo, mientras la pieza física permite comprobar dimensiones y función.</a:t>
            </a:r>
          </a:p>
          <a:p xmlns:a="http://schemas.openxmlformats.org/drawingml/2006/main">
            <a:r>
              <a:t>Pregunta para el grupo: ¿La vista por capas genera todas las paredes?</a:t>
            </a:r>
          </a:p>
          <a:p xmlns:a="http://schemas.openxmlformats.org/drawingml/2006/main">
            <a:r>
              <a:t/>
            </a:r>
          </a:p>
          <a:p xmlns:a="http://schemas.openxmlformats.org/drawingml/2006/main">
            <a:r>
              <a:t>Resultado: Preparar una pieza para imprimir, revisar su orientación y distinguir aspecto exterior de ajuste funcional.</a:t>
            </a:r>
          </a:p>
          <a:p xmlns:a="http://schemas.openxmlformats.org/drawingml/2006/main">
            <a:r>
              <a:t>Misión: Fabricar prototipos repetibles con el tiempo y los equipos disponibles.</a:t>
            </a:r>
          </a:p>
          <a:p xmlns:a="http://schemas.openxmlformats.org/drawingml/2006/main">
            <a:r>
              <a:t>Entrega: Proyecto de laminador, comparación y solicitud de impresión.</a:t>
            </a:r>
          </a:p>
          <a:p xmlns:a="http://schemas.openxmlformats.org/drawingml/2006/main">
            <a:r>
              <a:t/>
            </a:r>
          </a:p>
          <a:p xmlns:a="http://schemas.openxmlformats.org/drawingml/2006/main">
            <a:r>
              <a:t>Preguntas y respuestas</a:t>
            </a:r>
          </a:p>
          <a:p xmlns:a="http://schemas.openxmlformats.org/drawingml/2006/main">
            <a:r>
              <a:t>¿Un STL conserva todas las decisiones del laminador?</a:t>
            </a:r>
          </a:p>
          <a:p xmlns:a="http://schemas.openxmlformats.org/drawingml/2006/main">
            <a:r>
              <a:t>No. Hace falta el proyecto del laminador y el perfil utilizado.</a:t>
            </a:r>
          </a:p>
          <a:p xmlns:a="http://schemas.openxmlformats.org/drawingml/2006/main">
            <a:r>
              <a:t/>
            </a:r>
          </a:p>
          <a:p xmlns:a="http://schemas.openxmlformats.org/drawingml/2006/main">
            <a:r>
              <a:t>¿Más relleno siempre significa mejor pieza?</a:t>
            </a:r>
          </a:p>
          <a:p xmlns:a="http://schemas.openxmlformats.org/drawingml/2006/main">
            <a:r>
              <a:t>No. Debe resolver una función y verificarse en la pieza.</a:t>
            </a:r>
          </a:p>
          <a:p xmlns:a="http://schemas.openxmlformats.org/drawingml/2006/main">
            <a:r>
              <a:t/>
            </a:r>
          </a:p>
          <a:p xmlns:a="http://schemas.openxmlformats.org/drawingml/2006/main">
            <a:r>
              <a:t>¿La masa estimada reemplaza a la medida?</a:t>
            </a:r>
          </a:p>
          <a:p xmlns:a="http://schemas.openxmlformats.org/drawingml/2006/main">
            <a:r>
              <a:t>No. Se conservan ambas con su procedencia.</a:t>
            </a:r>
          </a:p>
          <a:p xmlns:a="http://schemas.openxmlformats.org/drawingml/2006/main">
            <a:r>
              <a:t/>
            </a:r>
          </a:p>
          <a:p xmlns:a="http://schemas.openxmlformats.org/drawingml/2006/main">
            <a:r>
              <a:t>Fuentes</a:t>
            </a:r>
          </a:p>
          <a:p xmlns:a="http://schemas.openxmlformats.org/drawingml/2006/main">
            <a:r>
              <a:t>Prusa Research. Modeling with 3D printing in mind. https://help.prusa3d.com/article/modeling-with-3d-printing-in-mind_164135</a:t>
            </a:r>
          </a:p>
          <a:p xmlns:a="http://schemas.openxmlformats.org/drawingml/2006/main">
            <a:r>
              <a:t>Prusa Research. Layers and perimeters. https://help.prusa3d.com/article/layers-and-perimeters_1748</a:t>
            </a:r>
          </a:p>
          <a:p xmlns:a="http://schemas.openxmlformats.org/drawingml/2006/main">
            <a:r>
              <a:t>Prusa Research. PLA. https://help.prusa3d.com/article/pla_2062</a:t>
            </a:r>
          </a:p>
          <a:p xmlns:a="http://schemas.openxmlformats.org/drawingml/2006/main">
            <a:r>
              <a:t>Prusa Research. PETG. https://help.prusa3d.com/article/petg_2059</a:t>
            </a:r>
          </a:p>
          <a:p xmlns:a="http://schemas.openxmlformats.org/drawingml/2006/main">
            <a:r>
              <a:t>Lectura: MECRO_Coheteria_Clase_05.pdf. Las capturas muestran ejemplos de documentación. Los casos numéricos se identifican como ejercicios y no se atribuyen a ejecuciones o mediciones no realizadas.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MECRO. Clase 5: Impresión 3D para narices, aletas y útiles.</a:t>
            </a:r>
          </a:p>
          <a:p xmlns:a="http://schemas.openxmlformats.org/drawingml/2006/main">
            <a:r>
              <a:t>En línea, 2 h. Tramo del núcleo: 4 min.</a:t>
            </a:r>
          </a:p>
          <a:p xmlns:a="http://schemas.openxmlformats.org/drawingml/2006/main">
            <a:r>
              <a:t/>
            </a:r>
          </a:p>
          <a:p xmlns:a="http://schemas.openxmlformats.org/drawingml/2006/main">
            <a:r>
              <a:t>Prusa Research: el comportamiento de salientes y apoyos afecta el acabado. La fotografía ayuda a revisar la superficie funcional.</a:t>
            </a:r>
          </a:p>
          <a:p xmlns:a="http://schemas.openxmlformats.org/drawingml/2006/main">
            <a:r>
              <a:t>Localizar en la imagen las partes relacionadas con la pregunta.</a:t>
            </a:r>
          </a:p>
          <a:p xmlns:a="http://schemas.openxmlformats.org/drawingml/2006/main">
            <a:r>
              <a:t>¿La vista por capas genera todas las paredes?</a:t>
            </a:r>
          </a:p>
          <a:p xmlns:a="http://schemas.openxmlformats.org/drawingml/2006/main">
            <a:r>
              <a:t/>
            </a:r>
          </a:p>
          <a:p xmlns:a="http://schemas.openxmlformats.org/drawingml/2006/main">
            <a:r>
              <a:t>Resultado: Preparar una pieza para imprimir, revisar su orientación y distinguir aspecto exterior de ajuste funcional.</a:t>
            </a:r>
          </a:p>
          <a:p xmlns:a="http://schemas.openxmlformats.org/drawingml/2006/main">
            <a:r>
              <a:t>Misión: Fabricar prototipos repetibles con el tiempo y los equipos disponibles.</a:t>
            </a:r>
          </a:p>
          <a:p xmlns:a="http://schemas.openxmlformats.org/drawingml/2006/main">
            <a:r>
              <a:t>Entrega: Proyecto de laminador, comparación y solicitud de impresión.</a:t>
            </a:r>
          </a:p>
          <a:p xmlns:a="http://schemas.openxmlformats.org/drawingml/2006/main">
            <a:r>
              <a:t/>
            </a:r>
          </a:p>
          <a:p xmlns:a="http://schemas.openxmlformats.org/drawingml/2006/main">
            <a:r>
              <a:t>Preguntas y respuestas</a:t>
            </a:r>
          </a:p>
          <a:p xmlns:a="http://schemas.openxmlformats.org/drawingml/2006/main">
            <a:r>
              <a:t>¿Un STL conserva todas las decisiones del laminador?</a:t>
            </a:r>
          </a:p>
          <a:p xmlns:a="http://schemas.openxmlformats.org/drawingml/2006/main">
            <a:r>
              <a:t>No. Hace falta el proyecto del laminador y el perfil utilizado.</a:t>
            </a:r>
          </a:p>
          <a:p xmlns:a="http://schemas.openxmlformats.org/drawingml/2006/main">
            <a:r>
              <a:t/>
            </a:r>
          </a:p>
          <a:p xmlns:a="http://schemas.openxmlformats.org/drawingml/2006/main">
            <a:r>
              <a:t>¿Más relleno siempre significa mejor pieza?</a:t>
            </a:r>
          </a:p>
          <a:p xmlns:a="http://schemas.openxmlformats.org/drawingml/2006/main">
            <a:r>
              <a:t>No. Debe resolver una función y verificarse en la pieza.</a:t>
            </a:r>
          </a:p>
          <a:p xmlns:a="http://schemas.openxmlformats.org/drawingml/2006/main">
            <a:r>
              <a:t/>
            </a:r>
          </a:p>
          <a:p xmlns:a="http://schemas.openxmlformats.org/drawingml/2006/main">
            <a:r>
              <a:t>¿La masa estimada reemplaza a la medida?</a:t>
            </a:r>
          </a:p>
          <a:p xmlns:a="http://schemas.openxmlformats.org/drawingml/2006/main">
            <a:r>
              <a:t>No. Se conservan ambas con su procedencia.</a:t>
            </a:r>
          </a:p>
          <a:p xmlns:a="http://schemas.openxmlformats.org/drawingml/2006/main">
            <a:r>
              <a:t/>
            </a:r>
          </a:p>
          <a:p xmlns:a="http://schemas.openxmlformats.org/drawingml/2006/main">
            <a:r>
              <a:t>Fuentes</a:t>
            </a:r>
          </a:p>
          <a:p xmlns:a="http://schemas.openxmlformats.org/drawingml/2006/main">
            <a:r>
              <a:t>Prusa Research. Modeling with 3D printing in mind. https://help.prusa3d.com/article/modeling-with-3d-printing-in-mind_164135</a:t>
            </a:r>
          </a:p>
          <a:p xmlns:a="http://schemas.openxmlformats.org/drawingml/2006/main">
            <a:r>
              <a:t>Prusa Research. Layers and perimeters. https://help.prusa3d.com/article/layers-and-perimeters_1748</a:t>
            </a:r>
          </a:p>
          <a:p xmlns:a="http://schemas.openxmlformats.org/drawingml/2006/main">
            <a:r>
              <a:t>Prusa Research. PLA. https://help.prusa3d.com/article/pla_2062</a:t>
            </a:r>
          </a:p>
          <a:p xmlns:a="http://schemas.openxmlformats.org/drawingml/2006/main">
            <a:r>
              <a:t>Prusa Research. PETG. https://help.prusa3d.com/article/petg_2059</a:t>
            </a:r>
          </a:p>
          <a:p xmlns:a="http://schemas.openxmlformats.org/drawingml/2006/main">
            <a:r>
              <a:t>Lectura: MECRO_Coheteria_Clase_05.pdf. Las capturas muestran ejemplos de documentación. Los casos numéricos se identifican como ejercicios y no se atribuyen a ejecuciones o mediciones no realizadas.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MECRO. Clase 5: Impresión 3D para narices, aletas y útiles.</a:t>
            </a:r>
          </a:p>
          <a:p xmlns:a="http://schemas.openxmlformats.org/drawingml/2006/main">
            <a:r>
              <a:t>En línea, 2 h. Tramo del núcleo: 5 min.</a:t>
            </a:r>
          </a:p>
          <a:p xmlns:a="http://schemas.openxmlformats.org/drawingml/2006/main">
            <a:r>
              <a:t/>
            </a:r>
          </a:p>
          <a:p xmlns:a="http://schemas.openxmlformats.org/drawingml/2006/main">
            <a:r>
              <a:t>Importa la muestra de encaje o el útil aprobado por el docente. Comprueba las dimensiones generales antes de escalar.</a:t>
            </a:r>
          </a:p>
          <a:p xmlns:a="http://schemas.openxmlformats.org/drawingml/2006/main">
            <a:r>
              <a:t>Coloca la orientación propuesta y revisa si necesita apoyos. Observa la superficie que debe quedar funcional.</a:t>
            </a:r>
          </a:p>
          <a:p xmlns:a="http://schemas.openxmlformats.org/drawingml/2006/main">
            <a:r>
              <a:t>Usa el perfil de máquina y material del taller. Guarda una primera versión del proyecto del laminador.</a:t>
            </a:r>
          </a:p>
          <a:p xmlns:a="http://schemas.openxmlformats.org/drawingml/2006/main">
            <a:r>
              <a:t>Recorre las capas y busca paredes ausentes, zonas desconectadas o bordes que no se imprimen como esperabas.</a:t>
            </a:r>
          </a:p>
          <a:p xmlns:a="http://schemas.openxmlformats.org/drawingml/2006/main">
            <a:r>
              <a:t>Registra tiempo y masa estimados. Prepara una segunda versión cambiando una sola decisión de fabricación.</a:t>
            </a:r>
          </a:p>
          <a:p xmlns:a="http://schemas.openxmlformats.org/drawingml/2006/main">
            <a:r>
              <a:t>Entrega ambas vistas por capas y explica qué verificarás en la pieza física.</a:t>
            </a:r>
          </a:p>
          <a:p xmlns:a="http://schemas.openxmlformats.org/drawingml/2006/main">
            <a:r>
              <a:t>Comprobar un paso en el objeto o programa antes de continuar.</a:t>
            </a:r>
          </a:p>
          <a:p xmlns:a="http://schemas.openxmlformats.org/drawingml/2006/main">
            <a:r>
              <a:t/>
            </a:r>
          </a:p>
          <a:p xmlns:a="http://schemas.openxmlformats.org/drawingml/2006/main">
            <a:r>
              <a:t>Resultado: Preparar una pieza para imprimir, revisar su orientación y distinguir aspecto exterior de ajuste funcional.</a:t>
            </a:r>
          </a:p>
          <a:p xmlns:a="http://schemas.openxmlformats.org/drawingml/2006/main">
            <a:r>
              <a:t>Misión: Fabricar prototipos repetibles con el tiempo y los equipos disponibles.</a:t>
            </a:r>
          </a:p>
          <a:p xmlns:a="http://schemas.openxmlformats.org/drawingml/2006/main">
            <a:r>
              <a:t>Entrega: Proyecto de laminador, comparación y solicitud de impresión.</a:t>
            </a:r>
          </a:p>
          <a:p xmlns:a="http://schemas.openxmlformats.org/drawingml/2006/main">
            <a:r>
              <a:t/>
            </a:r>
          </a:p>
          <a:p xmlns:a="http://schemas.openxmlformats.org/drawingml/2006/main">
            <a:r>
              <a:t>Preguntas y respuestas</a:t>
            </a:r>
          </a:p>
          <a:p xmlns:a="http://schemas.openxmlformats.org/drawingml/2006/main">
            <a:r>
              <a:t>¿Un STL conserva todas las decisiones del laminador?</a:t>
            </a:r>
          </a:p>
          <a:p xmlns:a="http://schemas.openxmlformats.org/drawingml/2006/main">
            <a:r>
              <a:t>No. Hace falta el proyecto del laminador y el perfil utilizado.</a:t>
            </a:r>
          </a:p>
          <a:p xmlns:a="http://schemas.openxmlformats.org/drawingml/2006/main">
            <a:r>
              <a:t/>
            </a:r>
          </a:p>
          <a:p xmlns:a="http://schemas.openxmlformats.org/drawingml/2006/main">
            <a:r>
              <a:t>¿Más relleno siempre significa mejor pieza?</a:t>
            </a:r>
          </a:p>
          <a:p xmlns:a="http://schemas.openxmlformats.org/drawingml/2006/main">
            <a:r>
              <a:t>No. Debe resolver una función y verificarse en la pieza.</a:t>
            </a:r>
          </a:p>
          <a:p xmlns:a="http://schemas.openxmlformats.org/drawingml/2006/main">
            <a:r>
              <a:t/>
            </a:r>
          </a:p>
          <a:p xmlns:a="http://schemas.openxmlformats.org/drawingml/2006/main">
            <a:r>
              <a:t>¿La masa estimada reemplaza a la medida?</a:t>
            </a:r>
          </a:p>
          <a:p xmlns:a="http://schemas.openxmlformats.org/drawingml/2006/main">
            <a:r>
              <a:t>No. Se conservan ambas con su procedencia.</a:t>
            </a:r>
          </a:p>
          <a:p xmlns:a="http://schemas.openxmlformats.org/drawingml/2006/main">
            <a:r>
              <a:t/>
            </a:r>
          </a:p>
          <a:p xmlns:a="http://schemas.openxmlformats.org/drawingml/2006/main">
            <a:r>
              <a:t>Fuentes</a:t>
            </a:r>
          </a:p>
          <a:p xmlns:a="http://schemas.openxmlformats.org/drawingml/2006/main">
            <a:r>
              <a:t>Prusa Research. Modeling with 3D printing in mind. https://help.prusa3d.com/article/modeling-with-3d-printing-in-mind_164135</a:t>
            </a:r>
          </a:p>
          <a:p xmlns:a="http://schemas.openxmlformats.org/drawingml/2006/main">
            <a:r>
              <a:t>Prusa Research. Layers and perimeters. https://help.prusa3d.com/article/layers-and-perimeters_1748</a:t>
            </a:r>
          </a:p>
          <a:p xmlns:a="http://schemas.openxmlformats.org/drawingml/2006/main">
            <a:r>
              <a:t>Prusa Research. PLA. https://help.prusa3d.com/article/pla_2062</a:t>
            </a:r>
          </a:p>
          <a:p xmlns:a="http://schemas.openxmlformats.org/drawingml/2006/main">
            <a:r>
              <a:t>Prusa Research. PETG. https://help.prusa3d.com/article/petg_2059</a:t>
            </a:r>
          </a:p>
          <a:p xmlns:a="http://schemas.openxmlformats.org/drawingml/2006/main">
            <a:r>
              <a:t>Lectura: MECRO_Coheteria_Clase_05.pdf. Las capturas muestran ejemplos de documentación. Los casos numéricos se identifican como ejercicios y no se atribuyen a ejecuciones o mediciones no realizadas.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MECRO. Clase 5: Impresión 3D para narices, aletas y útiles.</a:t>
            </a:r>
          </a:p>
          <a:p xmlns:a="http://schemas.openxmlformats.org/drawingml/2006/main">
            <a:r>
              <a:t>En línea, 2 h. Tramo del núcleo: 4 min.</a:t>
            </a:r>
          </a:p>
          <a:p xmlns:a="http://schemas.openxmlformats.org/drawingml/2006/main">
            <a:r>
              <a:t/>
            </a:r>
          </a:p>
          <a:p xmlns:a="http://schemas.openxmlformats.org/drawingml/2006/main">
            <a:r>
              <a:t>Una impresora es un recurso compartido. Para seis equipos conviene imprimir primero muestras cortas que respondan una pregunta: encaje, borde o alineación. Las piezas completas llegan después de esa revisión. El tiempo de clase no tiene que consumirse esperando una impresión que nadie comprobó en pantalla.</a:t>
            </a:r>
          </a:p>
          <a:p xmlns:a="http://schemas.openxmlformats.org/drawingml/2006/main">
            <a:r>
              <a:t/>
            </a:r>
          </a:p>
          <a:p xmlns:a="http://schemas.openxmlformats.org/drawingml/2006/main">
            <a:r>
              <a:t>Ejercicio: seis muestras de 8 min requieren al menos 48 min de impresión. Si cada nariz completa requiere 50 min, seis narices requieren al menos 300 min, sin cambios ni incidencias.</a:t>
            </a:r>
          </a:p>
          <a:p xmlns:a="http://schemas.openxmlformats.org/drawingml/2006/main">
            <a:r>
              <a:t/>
            </a:r>
          </a:p>
          <a:p xmlns:a="http://schemas.openxmlformats.org/drawingml/2006/main">
            <a:r>
              <a:t>El tiempo estimado de una tanda tampoco incluye necesariamente preparación, enfriamiento, retirada y revisión. La cola del curso debe reservar esas tareas y contemplar la repetición de una muestra. Si el docente necesita comparar orientaciones, identifica cuál corresponde a cada objeto antes de retirarlos de la máquina. Dos piezas sueltas sin etiqueta pierden buena parte del valor de la prueba, aunque ambas parezcan bien impresas.</a:t>
            </a:r>
          </a:p>
          <a:p xmlns:a="http://schemas.openxmlformats.org/drawingml/2006/main">
            <a:r>
              <a:t>Pregunta para el grupo: ¿Qué imprimirías primero en una máquina compartida?</a:t>
            </a:r>
          </a:p>
          <a:p xmlns:a="http://schemas.openxmlformats.org/drawingml/2006/main">
            <a:r>
              <a:t/>
            </a:r>
          </a:p>
          <a:p xmlns:a="http://schemas.openxmlformats.org/drawingml/2006/main">
            <a:r>
              <a:t>Resultado: Preparar una pieza para imprimir, revisar su orientación y distinguir aspecto exterior de ajuste funcional.</a:t>
            </a:r>
          </a:p>
          <a:p xmlns:a="http://schemas.openxmlformats.org/drawingml/2006/main">
            <a:r>
              <a:t>Misión: Fabricar prototipos repetibles con el tiempo y los equipos disponibles.</a:t>
            </a:r>
          </a:p>
          <a:p xmlns:a="http://schemas.openxmlformats.org/drawingml/2006/main">
            <a:r>
              <a:t>Entrega: Proyecto de laminador, comparación y solicitud de impresión.</a:t>
            </a:r>
          </a:p>
          <a:p xmlns:a="http://schemas.openxmlformats.org/drawingml/2006/main">
            <a:r>
              <a:t/>
            </a:r>
          </a:p>
          <a:p xmlns:a="http://schemas.openxmlformats.org/drawingml/2006/main">
            <a:r>
              <a:t>Preguntas y respuestas</a:t>
            </a:r>
          </a:p>
          <a:p xmlns:a="http://schemas.openxmlformats.org/drawingml/2006/main">
            <a:r>
              <a:t>¿Un STL conserva todas las decisiones del laminador?</a:t>
            </a:r>
          </a:p>
          <a:p xmlns:a="http://schemas.openxmlformats.org/drawingml/2006/main">
            <a:r>
              <a:t>No. Hace falta el proyecto del laminador y el perfil utilizado.</a:t>
            </a:r>
          </a:p>
          <a:p xmlns:a="http://schemas.openxmlformats.org/drawingml/2006/main">
            <a:r>
              <a:t/>
            </a:r>
          </a:p>
          <a:p xmlns:a="http://schemas.openxmlformats.org/drawingml/2006/main">
            <a:r>
              <a:t>¿Más relleno siempre significa mejor pieza?</a:t>
            </a:r>
          </a:p>
          <a:p xmlns:a="http://schemas.openxmlformats.org/drawingml/2006/main">
            <a:r>
              <a:t>No. Debe resolver una función y verificarse en la pieza.</a:t>
            </a:r>
          </a:p>
          <a:p xmlns:a="http://schemas.openxmlformats.org/drawingml/2006/main">
            <a:r>
              <a:t/>
            </a:r>
          </a:p>
          <a:p xmlns:a="http://schemas.openxmlformats.org/drawingml/2006/main">
            <a:r>
              <a:t>¿La masa estimada reemplaza a la medida?</a:t>
            </a:r>
          </a:p>
          <a:p xmlns:a="http://schemas.openxmlformats.org/drawingml/2006/main">
            <a:r>
              <a:t>No. Se conservan ambas con su procedencia.</a:t>
            </a:r>
          </a:p>
          <a:p xmlns:a="http://schemas.openxmlformats.org/drawingml/2006/main">
            <a:r>
              <a:t/>
            </a:r>
          </a:p>
          <a:p xmlns:a="http://schemas.openxmlformats.org/drawingml/2006/main">
            <a:r>
              <a:t>Fuentes</a:t>
            </a:r>
          </a:p>
          <a:p xmlns:a="http://schemas.openxmlformats.org/drawingml/2006/main">
            <a:r>
              <a:t>Prusa Research. Modeling with 3D printing in mind. https://help.prusa3d.com/article/modeling-with-3d-printing-in-mind_164135</a:t>
            </a:r>
          </a:p>
          <a:p xmlns:a="http://schemas.openxmlformats.org/drawingml/2006/main">
            <a:r>
              <a:t>Prusa Research. Layers and perimeters. https://help.prusa3d.com/article/layers-and-perimeters_1748</a:t>
            </a:r>
          </a:p>
          <a:p xmlns:a="http://schemas.openxmlformats.org/drawingml/2006/main">
            <a:r>
              <a:t>Prusa Research. PLA. https://help.prusa3d.com/article/pla_2062</a:t>
            </a:r>
          </a:p>
          <a:p xmlns:a="http://schemas.openxmlformats.org/drawingml/2006/main">
            <a:r>
              <a:t>Prusa Research. PETG. https://help.prusa3d.com/article/petg_2059</a:t>
            </a:r>
          </a:p>
          <a:p xmlns:a="http://schemas.openxmlformats.org/drawingml/2006/main">
            <a:r>
              <a:t>Lectura: MECRO_Coheteria_Clase_05.pdf. Las capturas muestran ejemplos de documentación. Los casos numéricos se identifican como ejercicios y no se atribuyen a ejecuciones o mediciones no realizadas.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MECRO. Clase 5: Impresión 3D para narices, aletas y útiles.</a:t>
            </a:r>
          </a:p>
          <a:p xmlns:a="http://schemas.openxmlformats.org/drawingml/2006/main">
            <a:r>
              <a:t>En línea, 2 h. Tramo del núcleo: 4 min.</a:t>
            </a:r>
          </a:p>
          <a:p xmlns:a="http://schemas.openxmlformats.org/drawingml/2006/main">
            <a:r>
              <a:t/>
            </a:r>
          </a:p>
          <a:p xmlns:a="http://schemas.openxmlformats.org/drawingml/2006/main">
            <a:r>
              <a:t>Prioridad / Pieza / Motivo</a:t>
            </a:r>
          </a:p>
          <a:p xmlns:a="http://schemas.openxmlformats.org/drawingml/2006/main">
            <a:r>
              <a:t>1 / Muestra corta de encaje / Evitar repetir una nariz completa</a:t>
            </a:r>
          </a:p>
          <a:p xmlns:a="http://schemas.openxmlformats.org/drawingml/2006/main">
            <a:r>
              <a:t>2 / Muestra de raíz o útil / Comprobar referencia y posición</a:t>
            </a:r>
          </a:p>
          <a:p xmlns:a="http://schemas.openxmlformats.org/drawingml/2006/main">
            <a:r>
              <a:t>3 / Pieza completa revisada / Fabricar con decisiones registradas</a:t>
            </a:r>
          </a:p>
          <a:p xmlns:a="http://schemas.openxmlformats.org/drawingml/2006/main">
            <a:r>
              <a:t>4 / Repuesto identificado / Preparar continuidad del taller</a:t>
            </a:r>
          </a:p>
          <a:p xmlns:a="http://schemas.openxmlformats.org/drawingml/2006/main">
            <a:r>
              <a:t>Comparar dos filas y justificar con la misión.</a:t>
            </a:r>
          </a:p>
          <a:p xmlns:a="http://schemas.openxmlformats.org/drawingml/2006/main">
            <a:r>
              <a:t/>
            </a:r>
          </a:p>
          <a:p xmlns:a="http://schemas.openxmlformats.org/drawingml/2006/main">
            <a:r>
              <a:t>Resultado: Preparar una pieza para imprimir, revisar su orientación y distinguir aspecto exterior de ajuste funcional.</a:t>
            </a:r>
          </a:p>
          <a:p xmlns:a="http://schemas.openxmlformats.org/drawingml/2006/main">
            <a:r>
              <a:t>Misión: Fabricar prototipos repetibles con el tiempo y los equipos disponibles.</a:t>
            </a:r>
          </a:p>
          <a:p xmlns:a="http://schemas.openxmlformats.org/drawingml/2006/main">
            <a:r>
              <a:t>Entrega: Proyecto de laminador, comparación y solicitud de impresión.</a:t>
            </a:r>
          </a:p>
          <a:p xmlns:a="http://schemas.openxmlformats.org/drawingml/2006/main">
            <a:r>
              <a:t/>
            </a:r>
          </a:p>
          <a:p xmlns:a="http://schemas.openxmlformats.org/drawingml/2006/main">
            <a:r>
              <a:t>Preguntas y respuestas</a:t>
            </a:r>
          </a:p>
          <a:p xmlns:a="http://schemas.openxmlformats.org/drawingml/2006/main">
            <a:r>
              <a:t>¿Un STL conserva todas las decisiones del laminador?</a:t>
            </a:r>
          </a:p>
          <a:p xmlns:a="http://schemas.openxmlformats.org/drawingml/2006/main">
            <a:r>
              <a:t>No. Hace falta el proyecto del laminador y el perfil utilizado.</a:t>
            </a:r>
          </a:p>
          <a:p xmlns:a="http://schemas.openxmlformats.org/drawingml/2006/main">
            <a:r>
              <a:t/>
            </a:r>
          </a:p>
          <a:p xmlns:a="http://schemas.openxmlformats.org/drawingml/2006/main">
            <a:r>
              <a:t>¿Más relleno siempre significa mejor pieza?</a:t>
            </a:r>
          </a:p>
          <a:p xmlns:a="http://schemas.openxmlformats.org/drawingml/2006/main">
            <a:r>
              <a:t>No. Debe resolver una función y verificarse en la pieza.</a:t>
            </a:r>
          </a:p>
          <a:p xmlns:a="http://schemas.openxmlformats.org/drawingml/2006/main">
            <a:r>
              <a:t/>
            </a:r>
          </a:p>
          <a:p xmlns:a="http://schemas.openxmlformats.org/drawingml/2006/main">
            <a:r>
              <a:t>¿La masa estimada reemplaza a la medida?</a:t>
            </a:r>
          </a:p>
          <a:p xmlns:a="http://schemas.openxmlformats.org/drawingml/2006/main">
            <a:r>
              <a:t>No. Se conservan ambas con su procedencia.</a:t>
            </a:r>
          </a:p>
          <a:p xmlns:a="http://schemas.openxmlformats.org/drawingml/2006/main">
            <a:r>
              <a:t/>
            </a:r>
          </a:p>
          <a:p xmlns:a="http://schemas.openxmlformats.org/drawingml/2006/main">
            <a:r>
              <a:t>Fuentes</a:t>
            </a:r>
          </a:p>
          <a:p xmlns:a="http://schemas.openxmlformats.org/drawingml/2006/main">
            <a:r>
              <a:t>Prusa Research. Modeling with 3D printing in mind. https://help.prusa3d.com/article/modeling-with-3d-printing-in-mind_164135</a:t>
            </a:r>
          </a:p>
          <a:p xmlns:a="http://schemas.openxmlformats.org/drawingml/2006/main">
            <a:r>
              <a:t>Prusa Research. Layers and perimeters. https://help.prusa3d.com/article/layers-and-perimeters_1748</a:t>
            </a:r>
          </a:p>
          <a:p xmlns:a="http://schemas.openxmlformats.org/drawingml/2006/main">
            <a:r>
              <a:t>Prusa Research. PLA. https://help.prusa3d.com/article/pla_2062</a:t>
            </a:r>
          </a:p>
          <a:p xmlns:a="http://schemas.openxmlformats.org/drawingml/2006/main">
            <a:r>
              <a:t>Prusa Research. PETG. https://help.prusa3d.com/article/petg_2059</a:t>
            </a:r>
          </a:p>
          <a:p xmlns:a="http://schemas.openxmlformats.org/drawingml/2006/main">
            <a:r>
              <a:t>Lectura: MECRO_Coheteria_Clase_05.pdf. Las capturas muestran ejemplos de documentación. Los casos numéricos se identifican como ejercicios y no se atribuyen a ejecuciones o mediciones no realizadas.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MECRO. Clase 5: Impresión 3D para narices, aletas y útiles.</a:t>
            </a:r>
          </a:p>
          <a:p xmlns:a="http://schemas.openxmlformats.org/drawingml/2006/main">
            <a:r>
              <a:t>En línea, 2 h. Tramo del núcleo: 5 min.</a:t>
            </a:r>
          </a:p>
          <a:p xmlns:a="http://schemas.openxmlformats.org/drawingml/2006/main">
            <a:r>
              <a:t/>
            </a:r>
          </a:p>
          <a:p xmlns:a="http://schemas.openxmlformats.org/drawingml/2006/main">
            <a:r>
              <a:t>Nombra la solicitud con equipo, pieza y revisión.</a:t>
            </a:r>
          </a:p>
          <a:p xmlns:a="http://schemas.openxmlformats.org/drawingml/2006/main">
            <a:r>
              <a:t>Incluye el material y la función que debe comprobarse.</a:t>
            </a:r>
          </a:p>
          <a:p xmlns:a="http://schemas.openxmlformats.org/drawingml/2006/main">
            <a:r>
              <a:t>Añade tiempo estimado y la fecha en que se necesita la pieza.</a:t>
            </a:r>
          </a:p>
          <a:p xmlns:a="http://schemas.openxmlformats.org/drawingml/2006/main">
            <a:r>
              <a:t>Después de fabricar, pesa, mide y registra el resultado sin sustituirlo por la estimación del laminador.</a:t>
            </a:r>
          </a:p>
          <a:p xmlns:a="http://schemas.openxmlformats.org/drawingml/2006/main">
            <a:r>
              <a:t>Comprobar un paso en el objeto o programa antes de continuar.</a:t>
            </a:r>
          </a:p>
          <a:p xmlns:a="http://schemas.openxmlformats.org/drawingml/2006/main">
            <a:r>
              <a:t/>
            </a:r>
          </a:p>
          <a:p xmlns:a="http://schemas.openxmlformats.org/drawingml/2006/main">
            <a:r>
              <a:t>Resultado: Preparar una pieza para imprimir, revisar su orientación y distinguir aspecto exterior de ajuste funcional.</a:t>
            </a:r>
          </a:p>
          <a:p xmlns:a="http://schemas.openxmlformats.org/drawingml/2006/main">
            <a:r>
              <a:t>Misión: Fabricar prototipos repetibles con el tiempo y los equipos disponibles.</a:t>
            </a:r>
          </a:p>
          <a:p xmlns:a="http://schemas.openxmlformats.org/drawingml/2006/main">
            <a:r>
              <a:t>Entrega: Proyecto de laminador, comparación y solicitud de impresión.</a:t>
            </a:r>
          </a:p>
          <a:p xmlns:a="http://schemas.openxmlformats.org/drawingml/2006/main">
            <a:r>
              <a:t/>
            </a:r>
          </a:p>
          <a:p xmlns:a="http://schemas.openxmlformats.org/drawingml/2006/main">
            <a:r>
              <a:t>Preguntas y respuestas</a:t>
            </a:r>
          </a:p>
          <a:p xmlns:a="http://schemas.openxmlformats.org/drawingml/2006/main">
            <a:r>
              <a:t>¿Un STL conserva todas las decisiones del laminador?</a:t>
            </a:r>
          </a:p>
          <a:p xmlns:a="http://schemas.openxmlformats.org/drawingml/2006/main">
            <a:r>
              <a:t>No. Hace falta el proyecto del laminador y el perfil utilizado.</a:t>
            </a:r>
          </a:p>
          <a:p xmlns:a="http://schemas.openxmlformats.org/drawingml/2006/main">
            <a:r>
              <a:t/>
            </a:r>
          </a:p>
          <a:p xmlns:a="http://schemas.openxmlformats.org/drawingml/2006/main">
            <a:r>
              <a:t>¿Más relleno siempre significa mejor pieza?</a:t>
            </a:r>
          </a:p>
          <a:p xmlns:a="http://schemas.openxmlformats.org/drawingml/2006/main">
            <a:r>
              <a:t>No. Debe resolver una función y verificarse en la pieza.</a:t>
            </a:r>
          </a:p>
          <a:p xmlns:a="http://schemas.openxmlformats.org/drawingml/2006/main">
            <a:r>
              <a:t/>
            </a:r>
          </a:p>
          <a:p xmlns:a="http://schemas.openxmlformats.org/drawingml/2006/main">
            <a:r>
              <a:t>¿La masa estimada reemplaza a la medida?</a:t>
            </a:r>
          </a:p>
          <a:p xmlns:a="http://schemas.openxmlformats.org/drawingml/2006/main">
            <a:r>
              <a:t>No. Se conservan ambas con su procedencia.</a:t>
            </a:r>
          </a:p>
          <a:p xmlns:a="http://schemas.openxmlformats.org/drawingml/2006/main">
            <a:r>
              <a:t/>
            </a:r>
          </a:p>
          <a:p xmlns:a="http://schemas.openxmlformats.org/drawingml/2006/main">
            <a:r>
              <a:t>Fuentes</a:t>
            </a:r>
          </a:p>
          <a:p xmlns:a="http://schemas.openxmlformats.org/drawingml/2006/main">
            <a:r>
              <a:t>Prusa Research. Modeling with 3D printing in mind. https://help.prusa3d.com/article/modeling-with-3d-printing-in-mind_164135</a:t>
            </a:r>
          </a:p>
          <a:p xmlns:a="http://schemas.openxmlformats.org/drawingml/2006/main">
            <a:r>
              <a:t>Prusa Research. Layers and perimeters. https://help.prusa3d.com/article/layers-and-perimeters_1748</a:t>
            </a:r>
          </a:p>
          <a:p xmlns:a="http://schemas.openxmlformats.org/drawingml/2006/main">
            <a:r>
              <a:t>Prusa Research. PLA. https://help.prusa3d.com/article/pla_2062</a:t>
            </a:r>
          </a:p>
          <a:p xmlns:a="http://schemas.openxmlformats.org/drawingml/2006/main">
            <a:r>
              <a:t>Prusa Research. PETG. https://help.prusa3d.com/article/petg_2059</a:t>
            </a:r>
          </a:p>
          <a:p xmlns:a="http://schemas.openxmlformats.org/drawingml/2006/main">
            <a:r>
              <a:t>Lectura: MECRO_Coheteria_Clase_05.pdf. Las capturas muestran ejemplos de documentación. Los casos numéricos se identifican como ejercicios y no se atribuyen a ejecuciones o mediciones no realizadas.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MECRO. Clase 5: Impresión 3D para narices, aletas y útiles.</a:t>
            </a:r>
          </a:p>
          <a:p xmlns:a="http://schemas.openxmlformats.org/drawingml/2006/main">
            <a:r>
              <a:t>En línea, 2 h. Tramo del núcleo: 4 min.</a:t>
            </a:r>
          </a:p>
          <a:p xmlns:a="http://schemas.openxmlformats.org/drawingml/2006/main">
            <a:r>
              <a:t/>
            </a:r>
          </a:p>
          <a:p xmlns:a="http://schemas.openxmlformats.org/drawingml/2006/main">
            <a:r>
              <a:t>La inspección comienza con la pieza que tenemos: identificación, dimensiones, acabado funcional y defectos visibles. Una superficie bonita puede ocultar una unión entre capas deficiente. Una marca estética puede no afectar un útil de banco. El criterio se define por lo que la pieza debe hacer y por su integración en el conjunto.</a:t>
            </a:r>
          </a:p>
          <a:p xmlns:a="http://schemas.openxmlformats.org/drawingml/2006/main">
            <a:r>
              <a:t/>
            </a:r>
          </a:p>
          <a:p xmlns:a="http://schemas.openxmlformats.org/drawingml/2006/main">
            <a:r>
              <a:t>La revisión no termina con “salió bien”. Se necesita al menos una medida y una prueba ligada a la función. Para el útil, presentar las piezas; para el encaje, probar el tubo identificado. El docente decide la aceptación de las piezas del vehículo con el conjunto completo y las comprobaciones previstas.</a:t>
            </a:r>
          </a:p>
          <a:p xmlns:a="http://schemas.openxmlformats.org/drawingml/2006/main">
            <a:r>
              <a:t/>
            </a:r>
          </a:p>
          <a:p xmlns:a="http://schemas.openxmlformats.org/drawingml/2006/main">
            <a:r>
              <a:t>La muestra pesa 4,2 g cuando el laminador estimó 3,8 g y el encaje observado es correcto.</a:t>
            </a:r>
          </a:p>
          <a:p xmlns:a="http://schemas.openxmlformats.org/drawingml/2006/main">
            <a:r>
              <a:t>Pregunta para el grupo: ¿Qué prueba decide si la pieza cumple su función?</a:t>
            </a:r>
          </a:p>
          <a:p xmlns:a="http://schemas.openxmlformats.org/drawingml/2006/main">
            <a:r>
              <a:t/>
            </a:r>
          </a:p>
          <a:p xmlns:a="http://schemas.openxmlformats.org/drawingml/2006/main">
            <a:r>
              <a:t>Resultado: Preparar una pieza para imprimir, revisar su orientación y distinguir aspecto exterior de ajuste funcional.</a:t>
            </a:r>
          </a:p>
          <a:p xmlns:a="http://schemas.openxmlformats.org/drawingml/2006/main">
            <a:r>
              <a:t>Misión: Fabricar prototipos repetibles con el tiempo y los equipos disponibles.</a:t>
            </a:r>
          </a:p>
          <a:p xmlns:a="http://schemas.openxmlformats.org/drawingml/2006/main">
            <a:r>
              <a:t>Entrega: Proyecto de laminador, comparación y solicitud de impresión.</a:t>
            </a:r>
          </a:p>
          <a:p xmlns:a="http://schemas.openxmlformats.org/drawingml/2006/main">
            <a:r>
              <a:t/>
            </a:r>
          </a:p>
          <a:p xmlns:a="http://schemas.openxmlformats.org/drawingml/2006/main">
            <a:r>
              <a:t>Preguntas y respuestas</a:t>
            </a:r>
          </a:p>
          <a:p xmlns:a="http://schemas.openxmlformats.org/drawingml/2006/main">
            <a:r>
              <a:t>¿Un STL conserva todas las decisiones del laminador?</a:t>
            </a:r>
          </a:p>
          <a:p xmlns:a="http://schemas.openxmlformats.org/drawingml/2006/main">
            <a:r>
              <a:t>No. Hace falta el proyecto del laminador y el perfil utilizado.</a:t>
            </a:r>
          </a:p>
          <a:p xmlns:a="http://schemas.openxmlformats.org/drawingml/2006/main">
            <a:r>
              <a:t/>
            </a:r>
          </a:p>
          <a:p xmlns:a="http://schemas.openxmlformats.org/drawingml/2006/main">
            <a:r>
              <a:t>¿Más relleno siempre significa mejor pieza?</a:t>
            </a:r>
          </a:p>
          <a:p xmlns:a="http://schemas.openxmlformats.org/drawingml/2006/main">
            <a:r>
              <a:t>No. Debe resolver una función y verificarse en la pieza.</a:t>
            </a:r>
          </a:p>
          <a:p xmlns:a="http://schemas.openxmlformats.org/drawingml/2006/main">
            <a:r>
              <a:t/>
            </a:r>
          </a:p>
          <a:p xmlns:a="http://schemas.openxmlformats.org/drawingml/2006/main">
            <a:r>
              <a:t>¿La masa estimada reemplaza a la medida?</a:t>
            </a:r>
          </a:p>
          <a:p xmlns:a="http://schemas.openxmlformats.org/drawingml/2006/main">
            <a:r>
              <a:t>No. Se conservan ambas con su procedencia.</a:t>
            </a:r>
          </a:p>
          <a:p xmlns:a="http://schemas.openxmlformats.org/drawingml/2006/main">
            <a:r>
              <a:t/>
            </a:r>
          </a:p>
          <a:p xmlns:a="http://schemas.openxmlformats.org/drawingml/2006/main">
            <a:r>
              <a:t>Fuentes</a:t>
            </a:r>
          </a:p>
          <a:p xmlns:a="http://schemas.openxmlformats.org/drawingml/2006/main">
            <a:r>
              <a:t>Prusa Research. Modeling with 3D printing in mind. https://help.prusa3d.com/article/modeling-with-3d-printing-in-mind_164135</a:t>
            </a:r>
          </a:p>
          <a:p xmlns:a="http://schemas.openxmlformats.org/drawingml/2006/main">
            <a:r>
              <a:t>Prusa Research. Layers and perimeters. https://help.prusa3d.com/article/layers-and-perimeters_1748</a:t>
            </a:r>
          </a:p>
          <a:p xmlns:a="http://schemas.openxmlformats.org/drawingml/2006/main">
            <a:r>
              <a:t>Prusa Research. PLA. https://help.prusa3d.com/article/pla_2062</a:t>
            </a:r>
          </a:p>
          <a:p xmlns:a="http://schemas.openxmlformats.org/drawingml/2006/main">
            <a:r>
              <a:t>Prusa Research. PETG. https://help.prusa3d.com/article/petg_2059</a:t>
            </a:r>
          </a:p>
          <a:p xmlns:a="http://schemas.openxmlformats.org/drawingml/2006/main">
            <a:r>
              <a:t>Lectura: MECRO_Coheteria_Clase_05.pdf. Las capturas muestran ejemplos de documentación. Los casos numéricos se identifican como ejercicios y no se atribuyen a ejecuciones o mediciones no realizadas.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MECRO. Clase 5: Impresión 3D para narices, aletas y útiles.</a:t>
            </a:r>
          </a:p>
          <a:p xmlns:a="http://schemas.openxmlformats.org/drawingml/2006/main">
            <a:r>
              <a:t>En línea, 2 h. Tramo del núcleo: 4 min.</a:t>
            </a:r>
          </a:p>
          <a:p xmlns:a="http://schemas.openxmlformats.org/drawingml/2006/main">
            <a:r>
              <a:t/>
            </a:r>
          </a:p>
          <a:p xmlns:a="http://schemas.openxmlformats.org/drawingml/2006/main">
            <a:r>
              <a:t>Observación / Primer paso razonable</a:t>
            </a:r>
          </a:p>
          <a:p xmlns:a="http://schemas.openxmlformats.org/drawingml/2006/main">
            <a:r>
              <a:t>El encaje no entra / Medir pieza y abertura; revisar borde</a:t>
            </a:r>
          </a:p>
          <a:p xmlns:a="http://schemas.openxmlformats.org/drawingml/2006/main">
            <a:r>
              <a:t>La raíz está deformada / Comparar con el plano y revisar orientación</a:t>
            </a:r>
          </a:p>
          <a:p xmlns:a="http://schemas.openxmlformats.org/drawingml/2006/main">
            <a:r>
              <a:t>La pared tiene una separación / Detener aceptación y revisar proceso</a:t>
            </a:r>
          </a:p>
          <a:p xmlns:a="http://schemas.openxmlformats.org/drawingml/2006/main">
            <a:r>
              <a:t>El útil tiene una marca exterior / Comprobar si altera su referencia funcional</a:t>
            </a:r>
          </a:p>
          <a:p xmlns:a="http://schemas.openxmlformats.org/drawingml/2006/main">
            <a:r>
              <a:t>Comparar dos filas y justificar con la misión.</a:t>
            </a:r>
          </a:p>
          <a:p xmlns:a="http://schemas.openxmlformats.org/drawingml/2006/main">
            <a:r>
              <a:t/>
            </a:r>
          </a:p>
          <a:p xmlns:a="http://schemas.openxmlformats.org/drawingml/2006/main">
            <a:r>
              <a:t>Resultado: Preparar una pieza para imprimir, revisar su orientación y distinguir aspecto exterior de ajuste funcional.</a:t>
            </a:r>
          </a:p>
          <a:p xmlns:a="http://schemas.openxmlformats.org/drawingml/2006/main">
            <a:r>
              <a:t>Misión: Fabricar prototipos repetibles con el tiempo y los equipos disponibles.</a:t>
            </a:r>
          </a:p>
          <a:p xmlns:a="http://schemas.openxmlformats.org/drawingml/2006/main">
            <a:r>
              <a:t>Entrega: Proyecto de laminador, comparación y solicitud de impresión.</a:t>
            </a:r>
          </a:p>
          <a:p xmlns:a="http://schemas.openxmlformats.org/drawingml/2006/main">
            <a:r>
              <a:t/>
            </a:r>
          </a:p>
          <a:p xmlns:a="http://schemas.openxmlformats.org/drawingml/2006/main">
            <a:r>
              <a:t>Preguntas y respuestas</a:t>
            </a:r>
          </a:p>
          <a:p xmlns:a="http://schemas.openxmlformats.org/drawingml/2006/main">
            <a:r>
              <a:t>¿Un STL conserva todas las decisiones del laminador?</a:t>
            </a:r>
          </a:p>
          <a:p xmlns:a="http://schemas.openxmlformats.org/drawingml/2006/main">
            <a:r>
              <a:t>No. Hace falta el proyecto del laminador y el perfil utilizado.</a:t>
            </a:r>
          </a:p>
          <a:p xmlns:a="http://schemas.openxmlformats.org/drawingml/2006/main">
            <a:r>
              <a:t/>
            </a:r>
          </a:p>
          <a:p xmlns:a="http://schemas.openxmlformats.org/drawingml/2006/main">
            <a:r>
              <a:t>¿Más relleno siempre significa mejor pieza?</a:t>
            </a:r>
          </a:p>
          <a:p xmlns:a="http://schemas.openxmlformats.org/drawingml/2006/main">
            <a:r>
              <a:t>No. Debe resolver una función y verificarse en la pieza.</a:t>
            </a:r>
          </a:p>
          <a:p xmlns:a="http://schemas.openxmlformats.org/drawingml/2006/main">
            <a:r>
              <a:t/>
            </a:r>
          </a:p>
          <a:p xmlns:a="http://schemas.openxmlformats.org/drawingml/2006/main">
            <a:r>
              <a:t>¿La masa estimada reemplaza a la medida?</a:t>
            </a:r>
          </a:p>
          <a:p xmlns:a="http://schemas.openxmlformats.org/drawingml/2006/main">
            <a:r>
              <a:t>No. Se conservan ambas con su procedencia.</a:t>
            </a:r>
          </a:p>
          <a:p xmlns:a="http://schemas.openxmlformats.org/drawingml/2006/main">
            <a:r>
              <a:t/>
            </a:r>
          </a:p>
          <a:p xmlns:a="http://schemas.openxmlformats.org/drawingml/2006/main">
            <a:r>
              <a:t>Fuentes</a:t>
            </a:r>
          </a:p>
          <a:p xmlns:a="http://schemas.openxmlformats.org/drawingml/2006/main">
            <a:r>
              <a:t>Prusa Research. Modeling with 3D printing in mind. https://help.prusa3d.com/article/modeling-with-3d-printing-in-mind_164135</a:t>
            </a:r>
          </a:p>
          <a:p xmlns:a="http://schemas.openxmlformats.org/drawingml/2006/main">
            <a:r>
              <a:t>Prusa Research. Layers and perimeters. https://help.prusa3d.com/article/layers-and-perimeters_1748</a:t>
            </a:r>
          </a:p>
          <a:p xmlns:a="http://schemas.openxmlformats.org/drawingml/2006/main">
            <a:r>
              <a:t>Prusa Research. PLA. https://help.prusa3d.com/article/pla_2062</a:t>
            </a:r>
          </a:p>
          <a:p xmlns:a="http://schemas.openxmlformats.org/drawingml/2006/main">
            <a:r>
              <a:t>Prusa Research. PETG. https://help.prusa3d.com/article/petg_2059</a:t>
            </a:r>
          </a:p>
          <a:p xmlns:a="http://schemas.openxmlformats.org/drawingml/2006/main">
            <a:r>
              <a:t>Lectura: MECRO_Coheteria_Clase_05.pdf. Las capturas muestran ejemplos de documentación. Los casos numéricos se identifican como ejercicios y no se atribuyen a ejecuciones o mediciones no realizadas.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MECRO. Clase 5: Impresión 3D para narices, aletas y útiles.</a:t>
            </a:r>
          </a:p>
          <a:p xmlns:a="http://schemas.openxmlformats.org/drawingml/2006/main">
            <a:r>
              <a:t>En línea, 2 h. Tramo del núcleo: 5 min.</a:t>
            </a:r>
          </a:p>
          <a:p xmlns:a="http://schemas.openxmlformats.org/drawingml/2006/main">
            <a:r>
              <a:t/>
            </a:r>
          </a:p>
          <a:p xmlns:a="http://schemas.openxmlformats.org/drawingml/2006/main">
            <a:r>
              <a:t>Caso</a:t>
            </a:r>
          </a:p>
          <a:p xmlns:a="http://schemas.openxmlformats.org/drawingml/2006/main">
            <a:r>
              <a:t>La muestra pesa 4,2 g cuando el laminador estimó 3,8 g y el encaje observado es correcto.</a:t>
            </a:r>
          </a:p>
          <a:p xmlns:a="http://schemas.openxmlformats.org/drawingml/2006/main">
            <a:r>
              <a:t>Explicación</a:t>
            </a:r>
          </a:p>
          <a:p xmlns:a="http://schemas.openxmlformats.org/drawingml/2006/main">
            <a:r>
              <a:t>Registra ambas masas con su origen. Conserva el resultado de encaje como evidencia de esa interfaz. No alteres la balanza ni el dato para que coincidan; la diferencia ayuda a mejorar el modelo de fabricación.</a:t>
            </a:r>
          </a:p>
          <a:p xmlns:a="http://schemas.openxmlformats.org/drawingml/2006/main">
            <a:r>
              <a:t>Dar tiempo para responder antes de presentar la solución oralmente.</a:t>
            </a:r>
          </a:p>
          <a:p xmlns:a="http://schemas.openxmlformats.org/drawingml/2006/main">
            <a:r>
              <a:t/>
            </a:r>
          </a:p>
          <a:p xmlns:a="http://schemas.openxmlformats.org/drawingml/2006/main">
            <a:r>
              <a:t>Resultado: Preparar una pieza para imprimir, revisar su orientación y distinguir aspecto exterior de ajuste funcional.</a:t>
            </a:r>
          </a:p>
          <a:p xmlns:a="http://schemas.openxmlformats.org/drawingml/2006/main">
            <a:r>
              <a:t>Misión: Fabricar prototipos repetibles con el tiempo y los equipos disponibles.</a:t>
            </a:r>
          </a:p>
          <a:p xmlns:a="http://schemas.openxmlformats.org/drawingml/2006/main">
            <a:r>
              <a:t>Entrega: Proyecto de laminador, comparación y solicitud de impresión.</a:t>
            </a:r>
          </a:p>
          <a:p xmlns:a="http://schemas.openxmlformats.org/drawingml/2006/main">
            <a:r>
              <a:t/>
            </a:r>
          </a:p>
          <a:p xmlns:a="http://schemas.openxmlformats.org/drawingml/2006/main">
            <a:r>
              <a:t>Preguntas y respuestas</a:t>
            </a:r>
          </a:p>
          <a:p xmlns:a="http://schemas.openxmlformats.org/drawingml/2006/main">
            <a:r>
              <a:t>¿Un STL conserva todas las decisiones del laminador?</a:t>
            </a:r>
          </a:p>
          <a:p xmlns:a="http://schemas.openxmlformats.org/drawingml/2006/main">
            <a:r>
              <a:t>No. Hace falta el proyecto del laminador y el perfil utilizado.</a:t>
            </a:r>
          </a:p>
          <a:p xmlns:a="http://schemas.openxmlformats.org/drawingml/2006/main">
            <a:r>
              <a:t/>
            </a:r>
          </a:p>
          <a:p xmlns:a="http://schemas.openxmlformats.org/drawingml/2006/main">
            <a:r>
              <a:t>¿Más relleno siempre significa mejor pieza?</a:t>
            </a:r>
          </a:p>
          <a:p xmlns:a="http://schemas.openxmlformats.org/drawingml/2006/main">
            <a:r>
              <a:t>No. Debe resolver una función y verificarse en la pieza.</a:t>
            </a:r>
          </a:p>
          <a:p xmlns:a="http://schemas.openxmlformats.org/drawingml/2006/main">
            <a:r>
              <a:t/>
            </a:r>
          </a:p>
          <a:p xmlns:a="http://schemas.openxmlformats.org/drawingml/2006/main">
            <a:r>
              <a:t>¿La masa estimada reemplaza a la medida?</a:t>
            </a:r>
          </a:p>
          <a:p xmlns:a="http://schemas.openxmlformats.org/drawingml/2006/main">
            <a:r>
              <a:t>No. Se conservan ambas con su procedencia.</a:t>
            </a:r>
          </a:p>
          <a:p xmlns:a="http://schemas.openxmlformats.org/drawingml/2006/main">
            <a:r>
              <a:t/>
            </a:r>
          </a:p>
          <a:p xmlns:a="http://schemas.openxmlformats.org/drawingml/2006/main">
            <a:r>
              <a:t>Fuentes</a:t>
            </a:r>
          </a:p>
          <a:p xmlns:a="http://schemas.openxmlformats.org/drawingml/2006/main">
            <a:r>
              <a:t>Prusa Research. Modeling with 3D printing in mind. https://help.prusa3d.com/article/modeling-with-3d-printing-in-mind_164135</a:t>
            </a:r>
          </a:p>
          <a:p xmlns:a="http://schemas.openxmlformats.org/drawingml/2006/main">
            <a:r>
              <a:t>Prusa Research. Layers and perimeters. https://help.prusa3d.com/article/layers-and-perimeters_1748</a:t>
            </a:r>
          </a:p>
          <a:p xmlns:a="http://schemas.openxmlformats.org/drawingml/2006/main">
            <a:r>
              <a:t>Prusa Research. PLA. https://help.prusa3d.com/article/pla_2062</a:t>
            </a:r>
          </a:p>
          <a:p xmlns:a="http://schemas.openxmlformats.org/drawingml/2006/main">
            <a:r>
              <a:t>Prusa Research. PETG. https://help.prusa3d.com/article/petg_2059</a:t>
            </a:r>
          </a:p>
          <a:p xmlns:a="http://schemas.openxmlformats.org/drawingml/2006/main">
            <a:r>
              <a:t>Lectura: MECRO_Coheteria_Clase_05.pdf. Las capturas muestran ejemplos de documentación. Los casos numéricos se identifican como ejercicios y no se atribuyen a ejecuciones o mediciones no realizadas.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MECRO. Clase 5: Impresión 3D para narices, aletas y útiles.</a:t>
            </a:r>
          </a:p>
          <a:p xmlns:a="http://schemas.openxmlformats.org/drawingml/2006/main">
            <a:r>
              <a:t>En línea, 2 h. Tramo del núcleo: 12 min.</a:t>
            </a:r>
          </a:p>
          <a:p xmlns:a="http://schemas.openxmlformats.org/drawingml/2006/main">
            <a:r>
              <a:t/>
            </a:r>
          </a:p>
          <a:p xmlns:a="http://schemas.openxmlformats.org/drawingml/2006/main">
            <a:r>
              <a:t>Revisar la orientación de una muestra funcional.</a:t>
            </a:r>
          </a:p>
          <a:p xmlns:a="http://schemas.openxmlformats.org/drawingml/2006/main">
            <a:r>
              <a:t>Comparar dos proyectos del laminador cambiando una decisión.</a:t>
            </a:r>
          </a:p>
          <a:p xmlns:a="http://schemas.openxmlformats.org/drawingml/2006/main">
            <a:r>
              <a:t>Preparar la solicitud de impresión con equipo y revisión.</a:t>
            </a:r>
          </a:p>
          <a:p xmlns:a="http://schemas.openxmlformats.org/drawingml/2006/main">
            <a:r>
              <a:t>Definir la medida y prueba de aceptación para el taller.</a:t>
            </a:r>
          </a:p>
          <a:p xmlns:a="http://schemas.openxmlformats.org/drawingml/2006/main">
            <a:r>
              <a:t>Rotar los roles y conservar al menos una evidencia revisable.</a:t>
            </a:r>
          </a:p>
          <a:p xmlns:a="http://schemas.openxmlformats.org/drawingml/2006/main">
            <a:r>
              <a:t/>
            </a:r>
          </a:p>
          <a:p xmlns:a="http://schemas.openxmlformats.org/drawingml/2006/main">
            <a:r>
              <a:t>Resultado: Preparar una pieza para imprimir, revisar su orientación y distinguir aspecto exterior de ajuste funcional.</a:t>
            </a:r>
          </a:p>
          <a:p xmlns:a="http://schemas.openxmlformats.org/drawingml/2006/main">
            <a:r>
              <a:t>Misión: Fabricar prototipos repetibles con el tiempo y los equipos disponibles.</a:t>
            </a:r>
          </a:p>
          <a:p xmlns:a="http://schemas.openxmlformats.org/drawingml/2006/main">
            <a:r>
              <a:t>Entrega: Proyecto de laminador, comparación y solicitud de impresión.</a:t>
            </a:r>
          </a:p>
          <a:p xmlns:a="http://schemas.openxmlformats.org/drawingml/2006/main">
            <a:r>
              <a:t/>
            </a:r>
          </a:p>
          <a:p xmlns:a="http://schemas.openxmlformats.org/drawingml/2006/main">
            <a:r>
              <a:t>Preguntas y respuestas</a:t>
            </a:r>
          </a:p>
          <a:p xmlns:a="http://schemas.openxmlformats.org/drawingml/2006/main">
            <a:r>
              <a:t>¿Un STL conserva todas las decisiones del laminador?</a:t>
            </a:r>
          </a:p>
          <a:p xmlns:a="http://schemas.openxmlformats.org/drawingml/2006/main">
            <a:r>
              <a:t>No. Hace falta el proyecto del laminador y el perfil utilizado.</a:t>
            </a:r>
          </a:p>
          <a:p xmlns:a="http://schemas.openxmlformats.org/drawingml/2006/main">
            <a:r>
              <a:t/>
            </a:r>
          </a:p>
          <a:p xmlns:a="http://schemas.openxmlformats.org/drawingml/2006/main">
            <a:r>
              <a:t>¿Más relleno siempre significa mejor pieza?</a:t>
            </a:r>
          </a:p>
          <a:p xmlns:a="http://schemas.openxmlformats.org/drawingml/2006/main">
            <a:r>
              <a:t>No. Debe resolver una función y verificarse en la pieza.</a:t>
            </a:r>
          </a:p>
          <a:p xmlns:a="http://schemas.openxmlformats.org/drawingml/2006/main">
            <a:r>
              <a:t/>
            </a:r>
          </a:p>
          <a:p xmlns:a="http://schemas.openxmlformats.org/drawingml/2006/main">
            <a:r>
              <a:t>¿La masa estimada reemplaza a la medida?</a:t>
            </a:r>
          </a:p>
          <a:p xmlns:a="http://schemas.openxmlformats.org/drawingml/2006/main">
            <a:r>
              <a:t>No. Se conservan ambas con su procedencia.</a:t>
            </a:r>
          </a:p>
          <a:p xmlns:a="http://schemas.openxmlformats.org/drawingml/2006/main">
            <a:r>
              <a:t/>
            </a:r>
          </a:p>
          <a:p xmlns:a="http://schemas.openxmlformats.org/drawingml/2006/main">
            <a:r>
              <a:t>Fuentes</a:t>
            </a:r>
          </a:p>
          <a:p xmlns:a="http://schemas.openxmlformats.org/drawingml/2006/main">
            <a:r>
              <a:t>Prusa Research. Modeling with 3D printing in mind. https://help.prusa3d.com/article/modeling-with-3d-printing-in-mind_164135</a:t>
            </a:r>
          </a:p>
          <a:p xmlns:a="http://schemas.openxmlformats.org/drawingml/2006/main">
            <a:r>
              <a:t>Prusa Research. Layers and perimeters. https://help.prusa3d.com/article/layers-and-perimeters_1748</a:t>
            </a:r>
          </a:p>
          <a:p xmlns:a="http://schemas.openxmlformats.org/drawingml/2006/main">
            <a:r>
              <a:t>Prusa Research. PLA. https://help.prusa3d.com/article/pla_2062</a:t>
            </a:r>
          </a:p>
          <a:p xmlns:a="http://schemas.openxmlformats.org/drawingml/2006/main">
            <a:r>
              <a:t>Prusa Research. PETG. https://help.prusa3d.com/article/petg_2059</a:t>
            </a:r>
          </a:p>
          <a:p xmlns:a="http://schemas.openxmlformats.org/drawingml/2006/main">
            <a:r>
              <a:t>Lectura: MECRO_Coheteria_Clase_05.pdf. Las capturas muestran ejemplos de documentación. Los casos numéricos se identifican como ejercicios y no se atribuyen a ejecuciones o mediciones no realizadas.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MECRO. Clase 5: Impresión 3D para narices, aletas y útiles.</a:t>
            </a:r>
          </a:p>
          <a:p xmlns:a="http://schemas.openxmlformats.org/drawingml/2006/main">
            <a:r>
              <a:t>En línea, 2 h. Tramo del núcleo: 10 min.</a:t>
            </a:r>
          </a:p>
          <a:p xmlns:a="http://schemas.openxmlformats.org/drawingml/2006/main">
            <a:r>
              <a:t/>
            </a:r>
          </a:p>
          <a:p xmlns:a="http://schemas.openxmlformats.org/drawingml/2006/main">
            <a:r>
              <a:t>Cada equipo prepara una decisión y una evidencia. No aceptar una preferencia sin relacionarla con la misión.</a:t>
            </a:r>
          </a:p>
          <a:p xmlns:a="http://schemas.openxmlformats.org/drawingml/2006/main">
            <a:r>
              <a:t>Proyecto de laminador, comparación y solicitud de impresión.</a:t>
            </a:r>
          </a:p>
          <a:p xmlns:a="http://schemas.openxmlformats.org/drawingml/2006/main">
            <a:r>
              <a:t/>
            </a:r>
          </a:p>
          <a:p xmlns:a="http://schemas.openxmlformats.org/drawingml/2006/main">
            <a:r>
              <a:t>Resultado: Preparar una pieza para imprimir, revisar su orientación y distinguir aspecto exterior de ajuste funcional.</a:t>
            </a:r>
          </a:p>
          <a:p xmlns:a="http://schemas.openxmlformats.org/drawingml/2006/main">
            <a:r>
              <a:t>Misión: Fabricar prototipos repetibles con el tiempo y los equipos disponibles.</a:t>
            </a:r>
          </a:p>
          <a:p xmlns:a="http://schemas.openxmlformats.org/drawingml/2006/main">
            <a:r>
              <a:t>Entrega: Proyecto de laminador, comparación y solicitud de impresión.</a:t>
            </a:r>
          </a:p>
          <a:p xmlns:a="http://schemas.openxmlformats.org/drawingml/2006/main">
            <a:r>
              <a:t/>
            </a:r>
          </a:p>
          <a:p xmlns:a="http://schemas.openxmlformats.org/drawingml/2006/main">
            <a:r>
              <a:t>Preguntas y respuestas</a:t>
            </a:r>
          </a:p>
          <a:p xmlns:a="http://schemas.openxmlformats.org/drawingml/2006/main">
            <a:r>
              <a:t>¿Un STL conserva todas las decisiones del laminador?</a:t>
            </a:r>
          </a:p>
          <a:p xmlns:a="http://schemas.openxmlformats.org/drawingml/2006/main">
            <a:r>
              <a:t>No. Hace falta el proyecto del laminador y el perfil utilizado.</a:t>
            </a:r>
          </a:p>
          <a:p xmlns:a="http://schemas.openxmlformats.org/drawingml/2006/main">
            <a:r>
              <a:t/>
            </a:r>
          </a:p>
          <a:p xmlns:a="http://schemas.openxmlformats.org/drawingml/2006/main">
            <a:r>
              <a:t>¿Más relleno siempre significa mejor pieza?</a:t>
            </a:r>
          </a:p>
          <a:p xmlns:a="http://schemas.openxmlformats.org/drawingml/2006/main">
            <a:r>
              <a:t>No. Debe resolver una función y verificarse en la pieza.</a:t>
            </a:r>
          </a:p>
          <a:p xmlns:a="http://schemas.openxmlformats.org/drawingml/2006/main">
            <a:r>
              <a:t/>
            </a:r>
          </a:p>
          <a:p xmlns:a="http://schemas.openxmlformats.org/drawingml/2006/main">
            <a:r>
              <a:t>¿La masa estimada reemplaza a la medida?</a:t>
            </a:r>
          </a:p>
          <a:p xmlns:a="http://schemas.openxmlformats.org/drawingml/2006/main">
            <a:r>
              <a:t>No. Se conservan ambas con su procedencia.</a:t>
            </a:r>
          </a:p>
          <a:p xmlns:a="http://schemas.openxmlformats.org/drawingml/2006/main">
            <a:r>
              <a:t/>
            </a:r>
          </a:p>
          <a:p xmlns:a="http://schemas.openxmlformats.org/drawingml/2006/main">
            <a:r>
              <a:t>Fuentes</a:t>
            </a:r>
          </a:p>
          <a:p xmlns:a="http://schemas.openxmlformats.org/drawingml/2006/main">
            <a:r>
              <a:t>Prusa Research. Modeling with 3D printing in mind. https://help.prusa3d.com/article/modeling-with-3d-printing-in-mind_164135</a:t>
            </a:r>
          </a:p>
          <a:p xmlns:a="http://schemas.openxmlformats.org/drawingml/2006/main">
            <a:r>
              <a:t>Prusa Research. Layers and perimeters. https://help.prusa3d.com/article/layers-and-perimeters_1748</a:t>
            </a:r>
          </a:p>
          <a:p xmlns:a="http://schemas.openxmlformats.org/drawingml/2006/main">
            <a:r>
              <a:t>Prusa Research. PLA. https://help.prusa3d.com/article/pla_2062</a:t>
            </a:r>
          </a:p>
          <a:p xmlns:a="http://schemas.openxmlformats.org/drawingml/2006/main">
            <a:r>
              <a:t>Prusa Research. PETG. https://help.prusa3d.com/article/petg_2059</a:t>
            </a:r>
          </a:p>
          <a:p xmlns:a="http://schemas.openxmlformats.org/drawingml/2006/main">
            <a:r>
              <a:t>Lectura: MECRO_Coheteria_Clase_05.pdf. Las capturas muestran ejemplos de documentación. Los casos numéricos se identifican como ejercicios y no se atribuyen a ejecuciones o mediciones no realizadas.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MECRO. Clase 5: Impresión 3D para narices, aletas y útiles.</a:t>
            </a:r>
          </a:p>
          <a:p xmlns:a="http://schemas.openxmlformats.org/drawingml/2006/main">
            <a:r>
              <a:t>En línea, 2 h. Tramo del núcleo: 7 min.</a:t>
            </a:r>
          </a:p>
          <a:p xmlns:a="http://schemas.openxmlformats.org/drawingml/2006/main">
            <a:r>
              <a:t/>
            </a:r>
          </a:p>
          <a:p xmlns:a="http://schemas.openxmlformats.org/drawingml/2006/main">
            <a:r>
              <a:t>Primero respuesta individual, después discusión por equipos.</a:t>
            </a:r>
          </a:p>
          <a:p xmlns:a="http://schemas.openxmlformats.org/drawingml/2006/main">
            <a:r>
              <a:t>¿Un STL conserva todas las decisiones del laminador?</a:t>
            </a:r>
          </a:p>
          <a:p xmlns:a="http://schemas.openxmlformats.org/drawingml/2006/main">
            <a:r>
              <a:t>No. Hace falta el proyecto del laminador y el perfil utilizado.</a:t>
            </a:r>
          </a:p>
          <a:p xmlns:a="http://schemas.openxmlformats.org/drawingml/2006/main">
            <a:r>
              <a:t/>
            </a:r>
          </a:p>
          <a:p xmlns:a="http://schemas.openxmlformats.org/drawingml/2006/main">
            <a:r>
              <a:t>¿Más relleno siempre significa mejor pieza?</a:t>
            </a:r>
          </a:p>
          <a:p xmlns:a="http://schemas.openxmlformats.org/drawingml/2006/main">
            <a:r>
              <a:t>No. Debe resolver una función y verificarse en la pieza.</a:t>
            </a:r>
          </a:p>
          <a:p xmlns:a="http://schemas.openxmlformats.org/drawingml/2006/main">
            <a:r>
              <a:t/>
            </a:r>
          </a:p>
          <a:p xmlns:a="http://schemas.openxmlformats.org/drawingml/2006/main">
            <a:r>
              <a:t>¿La masa estimada reemplaza a la medida?</a:t>
            </a:r>
          </a:p>
          <a:p xmlns:a="http://schemas.openxmlformats.org/drawingml/2006/main">
            <a:r>
              <a:t>No. Se conservan ambas con su procedencia.</a:t>
            </a:r>
          </a:p>
          <a:p xmlns:a="http://schemas.openxmlformats.org/drawingml/2006/main">
            <a:r>
              <a:t/>
            </a:r>
          </a:p>
          <a:p xmlns:a="http://schemas.openxmlformats.org/drawingml/2006/main">
            <a:r>
              <a:t>Resultado: Preparar una pieza para imprimir, revisar su orientación y distinguir aspecto exterior de ajuste funcional.</a:t>
            </a:r>
          </a:p>
          <a:p xmlns:a="http://schemas.openxmlformats.org/drawingml/2006/main">
            <a:r>
              <a:t>Misión: Fabricar prototipos repetibles con el tiempo y los equipos disponibles.</a:t>
            </a:r>
          </a:p>
          <a:p xmlns:a="http://schemas.openxmlformats.org/drawingml/2006/main">
            <a:r>
              <a:t>Entrega: Proyecto de laminador, comparación y solicitud de impresión.</a:t>
            </a:r>
          </a:p>
          <a:p xmlns:a="http://schemas.openxmlformats.org/drawingml/2006/main">
            <a:r>
              <a:t/>
            </a:r>
          </a:p>
          <a:p xmlns:a="http://schemas.openxmlformats.org/drawingml/2006/main">
            <a:r>
              <a:t>Preguntas y respuestas</a:t>
            </a:r>
          </a:p>
          <a:p xmlns:a="http://schemas.openxmlformats.org/drawingml/2006/main">
            <a:r>
              <a:t>¿Un STL conserva todas las decisiones del laminador?</a:t>
            </a:r>
          </a:p>
          <a:p xmlns:a="http://schemas.openxmlformats.org/drawingml/2006/main">
            <a:r>
              <a:t>No. Hace falta el proyecto del laminador y el perfil utilizado.</a:t>
            </a:r>
          </a:p>
          <a:p xmlns:a="http://schemas.openxmlformats.org/drawingml/2006/main">
            <a:r>
              <a:t/>
            </a:r>
          </a:p>
          <a:p xmlns:a="http://schemas.openxmlformats.org/drawingml/2006/main">
            <a:r>
              <a:t>¿Más relleno siempre significa mejor pieza?</a:t>
            </a:r>
          </a:p>
          <a:p xmlns:a="http://schemas.openxmlformats.org/drawingml/2006/main">
            <a:r>
              <a:t>No. Debe resolver una función y verificarse en la pieza.</a:t>
            </a:r>
          </a:p>
          <a:p xmlns:a="http://schemas.openxmlformats.org/drawingml/2006/main">
            <a:r>
              <a:t/>
            </a:r>
          </a:p>
          <a:p xmlns:a="http://schemas.openxmlformats.org/drawingml/2006/main">
            <a:r>
              <a:t>¿La masa estimada reemplaza a la medida?</a:t>
            </a:r>
          </a:p>
          <a:p xmlns:a="http://schemas.openxmlformats.org/drawingml/2006/main">
            <a:r>
              <a:t>No. Se conservan ambas con su procedencia.</a:t>
            </a:r>
          </a:p>
          <a:p xmlns:a="http://schemas.openxmlformats.org/drawingml/2006/main">
            <a:r>
              <a:t/>
            </a:r>
          </a:p>
          <a:p xmlns:a="http://schemas.openxmlformats.org/drawingml/2006/main">
            <a:r>
              <a:t>Fuentes</a:t>
            </a:r>
          </a:p>
          <a:p xmlns:a="http://schemas.openxmlformats.org/drawingml/2006/main">
            <a:r>
              <a:t>Prusa Research. Modeling with 3D printing in mind. https://help.prusa3d.com/article/modeling-with-3d-printing-in-mind_164135</a:t>
            </a:r>
          </a:p>
          <a:p xmlns:a="http://schemas.openxmlformats.org/drawingml/2006/main">
            <a:r>
              <a:t>Prusa Research. Layers and perimeters. https://help.prusa3d.com/article/layers-and-perimeters_1748</a:t>
            </a:r>
          </a:p>
          <a:p xmlns:a="http://schemas.openxmlformats.org/drawingml/2006/main">
            <a:r>
              <a:t>Prusa Research. PLA. https://help.prusa3d.com/article/pla_2062</a:t>
            </a:r>
          </a:p>
          <a:p xmlns:a="http://schemas.openxmlformats.org/drawingml/2006/main">
            <a:r>
              <a:t>Prusa Research. PETG. https://help.prusa3d.com/article/petg_2059</a:t>
            </a:r>
          </a:p>
          <a:p xmlns:a="http://schemas.openxmlformats.org/drawingml/2006/main">
            <a:r>
              <a:t>Lectura: MECRO_Coheteria_Clase_05.pdf. Las capturas muestran ejemplos de documentación. Los casos numéricos se identifican como ejercicios y no se atribuyen a ejecuciones o mediciones no realizadas.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MECRO. Clase 5: Impresión 3D para narices, aletas y útiles.</a:t>
            </a:r>
          </a:p>
          <a:p xmlns:a="http://schemas.openxmlformats.org/drawingml/2006/main">
            <a:r>
              <a:t>En línea, 2 h. Tramo del núcleo: 5 min.</a:t>
            </a:r>
          </a:p>
          <a:p xmlns:a="http://schemas.openxmlformats.org/drawingml/2006/main">
            <a:r>
              <a:t/>
            </a:r>
          </a:p>
          <a:p xmlns:a="http://schemas.openxmlformats.org/drawingml/2006/main">
            <a:r>
              <a:t>Pedir un ejemplo del objeto o del archivo para una de las respuestas.</a:t>
            </a:r>
          </a:p>
          <a:p xmlns:a="http://schemas.openxmlformats.org/drawingml/2006/main">
            <a:r>
              <a:t/>
            </a:r>
          </a:p>
          <a:p xmlns:a="http://schemas.openxmlformats.org/drawingml/2006/main">
            <a:r>
              <a:t>Resultado: Preparar una pieza para imprimir, revisar su orientación y distinguir aspecto exterior de ajuste funcional.</a:t>
            </a:r>
          </a:p>
          <a:p xmlns:a="http://schemas.openxmlformats.org/drawingml/2006/main">
            <a:r>
              <a:t>Misión: Fabricar prototipos repetibles con el tiempo y los equipos disponibles.</a:t>
            </a:r>
          </a:p>
          <a:p xmlns:a="http://schemas.openxmlformats.org/drawingml/2006/main">
            <a:r>
              <a:t>Entrega: Proyecto de laminador, comparación y solicitud de impresión.</a:t>
            </a:r>
          </a:p>
          <a:p xmlns:a="http://schemas.openxmlformats.org/drawingml/2006/main">
            <a:r>
              <a:t/>
            </a:r>
          </a:p>
          <a:p xmlns:a="http://schemas.openxmlformats.org/drawingml/2006/main">
            <a:r>
              <a:t>Preguntas y respuestas</a:t>
            </a:r>
          </a:p>
          <a:p xmlns:a="http://schemas.openxmlformats.org/drawingml/2006/main">
            <a:r>
              <a:t>¿Un STL conserva todas las decisiones del laminador?</a:t>
            </a:r>
          </a:p>
          <a:p xmlns:a="http://schemas.openxmlformats.org/drawingml/2006/main">
            <a:r>
              <a:t>No. Hace falta el proyecto del laminador y el perfil utilizado.</a:t>
            </a:r>
          </a:p>
          <a:p xmlns:a="http://schemas.openxmlformats.org/drawingml/2006/main">
            <a:r>
              <a:t/>
            </a:r>
          </a:p>
          <a:p xmlns:a="http://schemas.openxmlformats.org/drawingml/2006/main">
            <a:r>
              <a:t>¿Más relleno siempre significa mejor pieza?</a:t>
            </a:r>
          </a:p>
          <a:p xmlns:a="http://schemas.openxmlformats.org/drawingml/2006/main">
            <a:r>
              <a:t>No. Debe resolver una función y verificarse en la pieza.</a:t>
            </a:r>
          </a:p>
          <a:p xmlns:a="http://schemas.openxmlformats.org/drawingml/2006/main">
            <a:r>
              <a:t/>
            </a:r>
          </a:p>
          <a:p xmlns:a="http://schemas.openxmlformats.org/drawingml/2006/main">
            <a:r>
              <a:t>¿La masa estimada reemplaza a la medida?</a:t>
            </a:r>
          </a:p>
          <a:p xmlns:a="http://schemas.openxmlformats.org/drawingml/2006/main">
            <a:r>
              <a:t>No. Se conservan ambas con su procedencia.</a:t>
            </a:r>
          </a:p>
          <a:p xmlns:a="http://schemas.openxmlformats.org/drawingml/2006/main">
            <a:r>
              <a:t/>
            </a:r>
          </a:p>
          <a:p xmlns:a="http://schemas.openxmlformats.org/drawingml/2006/main">
            <a:r>
              <a:t>Fuentes</a:t>
            </a:r>
          </a:p>
          <a:p xmlns:a="http://schemas.openxmlformats.org/drawingml/2006/main">
            <a:r>
              <a:t>Prusa Research. Modeling with 3D printing in mind. https://help.prusa3d.com/article/modeling-with-3d-printing-in-mind_164135</a:t>
            </a:r>
          </a:p>
          <a:p xmlns:a="http://schemas.openxmlformats.org/drawingml/2006/main">
            <a:r>
              <a:t>Prusa Research. Layers and perimeters. https://help.prusa3d.com/article/layers-and-perimeters_1748</a:t>
            </a:r>
          </a:p>
          <a:p xmlns:a="http://schemas.openxmlformats.org/drawingml/2006/main">
            <a:r>
              <a:t>Prusa Research. PLA. https://help.prusa3d.com/article/pla_2062</a:t>
            </a:r>
          </a:p>
          <a:p xmlns:a="http://schemas.openxmlformats.org/drawingml/2006/main">
            <a:r>
              <a:t>Prusa Research. PETG. https://help.prusa3d.com/article/petg_2059</a:t>
            </a:r>
          </a:p>
          <a:p xmlns:a="http://schemas.openxmlformats.org/drawingml/2006/main">
            <a:r>
              <a:t>Lectura: MECRO_Coheteria_Clase_05.pdf. Las capturas muestran ejemplos de documentación. Los casos numéricos se identifican como ejercicios y no se atribuyen a ejecuciones o mediciones no realizadas.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MECRO. Clase 5: Impresión 3D para narices, aletas y útiles.</a:t>
            </a:r>
          </a:p>
          <a:p xmlns:a="http://schemas.openxmlformats.org/drawingml/2006/main">
            <a:r>
              <a:t>En línea, 2 h. Tramo del núcleo: 5 min.</a:t>
            </a:r>
          </a:p>
          <a:p xmlns:a="http://schemas.openxmlformats.org/drawingml/2006/main">
            <a:r>
              <a:t/>
            </a:r>
          </a:p>
          <a:p xmlns:a="http://schemas.openxmlformats.org/drawingml/2006/main">
            <a:r>
              <a:t>Proyecto de laminador, comparación y solicitud de impresión.</a:t>
            </a:r>
          </a:p>
          <a:p xmlns:a="http://schemas.openxmlformats.org/drawingml/2006/main">
            <a:r>
              <a:t>Las fuentes enlazadas de la lectura permiten ampliar la explicación sin exigir cálculo avanzado.</a:t>
            </a:r>
          </a:p>
          <a:p xmlns:a="http://schemas.openxmlformats.org/drawingml/2006/main">
            <a:r>
              <a:t/>
            </a:r>
          </a:p>
          <a:p xmlns:a="http://schemas.openxmlformats.org/drawingml/2006/main">
            <a:r>
              <a:t>Resultado: Preparar una pieza para imprimir, revisar su orientación y distinguir aspecto exterior de ajuste funcional.</a:t>
            </a:r>
          </a:p>
          <a:p xmlns:a="http://schemas.openxmlformats.org/drawingml/2006/main">
            <a:r>
              <a:t>Misión: Fabricar prototipos repetibles con el tiempo y los equipos disponibles.</a:t>
            </a:r>
          </a:p>
          <a:p xmlns:a="http://schemas.openxmlformats.org/drawingml/2006/main">
            <a:r>
              <a:t>Entrega: Proyecto de laminador, comparación y solicitud de impresión.</a:t>
            </a:r>
          </a:p>
          <a:p xmlns:a="http://schemas.openxmlformats.org/drawingml/2006/main">
            <a:r>
              <a:t/>
            </a:r>
          </a:p>
          <a:p xmlns:a="http://schemas.openxmlformats.org/drawingml/2006/main">
            <a:r>
              <a:t>Preguntas y respuestas</a:t>
            </a:r>
          </a:p>
          <a:p xmlns:a="http://schemas.openxmlformats.org/drawingml/2006/main">
            <a:r>
              <a:t>¿Un STL conserva todas las decisiones del laminador?</a:t>
            </a:r>
          </a:p>
          <a:p xmlns:a="http://schemas.openxmlformats.org/drawingml/2006/main">
            <a:r>
              <a:t>No. Hace falta el proyecto del laminador y el perfil utilizado.</a:t>
            </a:r>
          </a:p>
          <a:p xmlns:a="http://schemas.openxmlformats.org/drawingml/2006/main">
            <a:r>
              <a:t/>
            </a:r>
          </a:p>
          <a:p xmlns:a="http://schemas.openxmlformats.org/drawingml/2006/main">
            <a:r>
              <a:t>¿Más relleno siempre significa mejor pieza?</a:t>
            </a:r>
          </a:p>
          <a:p xmlns:a="http://schemas.openxmlformats.org/drawingml/2006/main">
            <a:r>
              <a:t>No. Debe resolver una función y verificarse en la pieza.</a:t>
            </a:r>
          </a:p>
          <a:p xmlns:a="http://schemas.openxmlformats.org/drawingml/2006/main">
            <a:r>
              <a:t/>
            </a:r>
          </a:p>
          <a:p xmlns:a="http://schemas.openxmlformats.org/drawingml/2006/main">
            <a:r>
              <a:t>¿La masa estimada reemplaza a la medida?</a:t>
            </a:r>
          </a:p>
          <a:p xmlns:a="http://schemas.openxmlformats.org/drawingml/2006/main">
            <a:r>
              <a:t>No. Se conservan ambas con su procedencia.</a:t>
            </a:r>
          </a:p>
          <a:p xmlns:a="http://schemas.openxmlformats.org/drawingml/2006/main">
            <a:r>
              <a:t/>
            </a:r>
          </a:p>
          <a:p xmlns:a="http://schemas.openxmlformats.org/drawingml/2006/main">
            <a:r>
              <a:t>Fuentes</a:t>
            </a:r>
          </a:p>
          <a:p xmlns:a="http://schemas.openxmlformats.org/drawingml/2006/main">
            <a:r>
              <a:t>Prusa Research. Modeling with 3D printing in mind. https://help.prusa3d.com/article/modeling-with-3d-printing-in-mind_164135</a:t>
            </a:r>
          </a:p>
          <a:p xmlns:a="http://schemas.openxmlformats.org/drawingml/2006/main">
            <a:r>
              <a:t>Prusa Research. Layers and perimeters. https://help.prusa3d.com/article/layers-and-perimeters_1748</a:t>
            </a:r>
          </a:p>
          <a:p xmlns:a="http://schemas.openxmlformats.org/drawingml/2006/main">
            <a:r>
              <a:t>Prusa Research. PLA. https://help.prusa3d.com/article/pla_2062</a:t>
            </a:r>
          </a:p>
          <a:p xmlns:a="http://schemas.openxmlformats.org/drawingml/2006/main">
            <a:r>
              <a:t>Prusa Research. PETG. https://help.prusa3d.com/article/petg_2059</a:t>
            </a:r>
          </a:p>
          <a:p xmlns:a="http://schemas.openxmlformats.org/drawingml/2006/main">
            <a:r>
              <a:t>Lectura: MECRO_Coheteria_Clase_05.pdf. Las capturas muestran ejemplos de documentación. Los casos numéricos se identifican como ejercicios y no se atribuyen a ejecuciones o mediciones no realizadas.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MECRO. Clase 6: Taller 1: medidas, encajes y alineación.</a:t>
            </a:r>
          </a:p>
          <a:p xmlns:a="http://schemas.openxmlformats.org/drawingml/2006/main">
            <a:r>
              <a:t>Presencial, 4 h. Tramo del núcleo: 3 min.</a:t>
            </a:r>
          </a:p>
          <a:p xmlns:a="http://schemas.openxmlformats.org/drawingml/2006/main">
            <a:r>
              <a:t>En presencial, integrar estas explicaciones con la agenda de 4 horas de la lectura; las actividades de banco o campo ocupan el tiempo previsto.</a:t>
            </a:r>
          </a:p>
          <a:p xmlns:a="http://schemas.openxmlformats.org/drawingml/2006/main">
            <a:r>
              <a:t/>
            </a:r>
          </a:p>
          <a:p xmlns:a="http://schemas.openxmlformats.org/drawingml/2006/main">
            <a:r>
              <a:t>Pon una pieza y su plano sobre la mesa: pregunta qué podríamos comprobar antes de usar pegamento.</a:t>
            </a:r>
          </a:p>
          <a:p xmlns:a="http://schemas.openxmlformats.org/drawingml/2006/main">
            <a:r>
              <a:t/>
            </a:r>
          </a:p>
          <a:p xmlns:a="http://schemas.openxmlformats.org/drawingml/2006/main">
            <a:r>
              <a:t>Resultado: Comprobar piezas físicas y corregir el diseño antes del montaje definitivo.</a:t>
            </a:r>
          </a:p>
          <a:p xmlns:a="http://schemas.openxmlformats.org/drawingml/2006/main">
            <a:r>
              <a:t>Misión: Conseguir que las piezas fabricadas correspondan al plano y puedan presentarse juntas.</a:t>
            </a:r>
          </a:p>
          <a:p xmlns:a="http://schemas.openxmlformats.org/drawingml/2006/main">
            <a:r>
              <a:t>Entrega: Ficha completa, fotografías, plano y .ork corregidos.</a:t>
            </a:r>
          </a:p>
          <a:p xmlns:a="http://schemas.openxmlformats.org/drawingml/2006/main">
            <a:r>
              <a:t/>
            </a:r>
          </a:p>
          <a:p xmlns:a="http://schemas.openxmlformats.org/drawingml/2006/main">
            <a:r>
              <a:t>Preguntas y respuestas</a:t>
            </a:r>
          </a:p>
          <a:p xmlns:a="http://schemas.openxmlformats.org/drawingml/2006/main">
            <a:r>
              <a:t>¿Una pieza que entra en el útil ya está aceptada para vuelo?</a:t>
            </a:r>
          </a:p>
          <a:p xmlns:a="http://schemas.openxmlformats.org/drawingml/2006/main">
            <a:r>
              <a:t>No. El encaje es una comprobación parcial.</a:t>
            </a:r>
          </a:p>
          <a:p xmlns:a="http://schemas.openxmlformats.org/drawingml/2006/main">
            <a:r>
              <a:t/>
            </a:r>
          </a:p>
          <a:p xmlns:a="http://schemas.openxmlformats.org/drawingml/2006/main">
            <a:r>
              <a:t>¿Qué incluye una masa medida útil?</a:t>
            </a:r>
          </a:p>
          <a:p xmlns:a="http://schemas.openxmlformats.org/drawingml/2006/main">
            <a:r>
              <a:t>Identificador, unidad y descripción de las piezas o acabado incluidos.</a:t>
            </a:r>
          </a:p>
          <a:p xmlns:a="http://schemas.openxmlformats.org/drawingml/2006/main">
            <a:r>
              <a:t/>
            </a:r>
          </a:p>
          <a:p xmlns:a="http://schemas.openxmlformats.org/drawingml/2006/main">
            <a:r>
              <a:t>¿Qué se conserva al corregir?</a:t>
            </a:r>
          </a:p>
          <a:p xmlns:a="http://schemas.openxmlformats.org/drawingml/2006/main">
            <a:r>
              <a:t>Dato anterior, cambio y nueva comprobación.</a:t>
            </a:r>
          </a:p>
          <a:p xmlns:a="http://schemas.openxmlformats.org/drawingml/2006/main">
            <a:r>
              <a:t/>
            </a:r>
          </a:p>
          <a:p xmlns:a="http://schemas.openxmlformats.org/drawingml/2006/main">
            <a:r>
              <a:t>Fuentes</a:t>
            </a:r>
          </a:p>
          <a:p xmlns:a="http://schemas.openxmlformats.org/drawingml/2006/main">
            <a:r>
              <a:t>Prusa Research. Modeling with 3D printing in mind. https://help.prusa3d.com/article/modeling-with-3d-printing-in-mind_164135</a:t>
            </a:r>
          </a:p>
          <a:p xmlns:a="http://schemas.openxmlformats.org/drawingml/2006/main">
            <a:r>
              <a:t>OpenRocket. Basic Rocket Design. https://openrocket.readthedocs.io/en/latest/user_guide/basic_rocket_design.html</a:t>
            </a:r>
          </a:p>
          <a:p xmlns:a="http://schemas.openxmlformats.org/drawingml/2006/main">
            <a:r>
              <a:t>NASA Glenn. Model Rockets. https://www1.grc.nasa.gov/beginners-guide-to-aeronautics/model-rockets/</a:t>
            </a:r>
          </a:p>
          <a:p xmlns:a="http://schemas.openxmlformats.org/drawingml/2006/main">
            <a:r>
              <a:t>Lectura: MECRO_Coheteria_Clase_06.pdf. Las capturas muestran ejemplos de documentación. Los casos numéricos se identifican como ejercicios y no se atribuyen a ejecuciones o mediciones no realizadas.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MECRO. Clase 6: Taller 1: medidas, encajes y alineación.</a:t>
            </a:r>
          </a:p>
          <a:p xmlns:a="http://schemas.openxmlformats.org/drawingml/2006/main">
            <a:r>
              <a:t>Presencial, 4 h. Tramo del núcleo: 4 min.</a:t>
            </a:r>
          </a:p>
          <a:p xmlns:a="http://schemas.openxmlformats.org/drawingml/2006/main">
            <a:r>
              <a:t>En presencial, integrar estas explicaciones con la agenda de 4 horas de la lectura; las actividades de banco o campo ocupan el tiempo previsto.</a:t>
            </a:r>
          </a:p>
          <a:p xmlns:a="http://schemas.openxmlformats.org/drawingml/2006/main">
            <a:r>
              <a:t/>
            </a:r>
          </a:p>
          <a:p xmlns:a="http://schemas.openxmlformats.org/drawingml/2006/main">
            <a:r>
              <a:t>Este es el primer encuentro presencial de cuatro horas. El trabajo comienza con tubos identificados, narices o muestras de encaje, aletas, un útil y los archivos correspondientes. Todavía no se trata de cerrar el cohete. Se trata de descubrir diferencias entre lo dibujado y lo fabricado cuando aún se pueden corregir.</a:t>
            </a:r>
          </a:p>
          <a:p xmlns:a="http://schemas.openxmlformats.org/drawingml/2006/main">
            <a:r>
              <a:t/>
            </a:r>
          </a:p>
          <a:p xmlns:a="http://schemas.openxmlformats.org/drawingml/2006/main">
            <a:r>
              <a:t>El docente prepara una estación de medición y otra de presentación. Cada equipo mantiene un responsable del objeto y otro del registro. Al intercambiar tareas se evita que una sola persona aprenda a usar las herramientas mientras los demás observan.</a:t>
            </a:r>
          </a:p>
          <a:p xmlns:a="http://schemas.openxmlformats.org/drawingml/2006/main">
            <a:r>
              <a:t/>
            </a:r>
          </a:p>
          <a:p xmlns:a="http://schemas.openxmlformats.org/drawingml/2006/main">
            <a:r>
              <a:t>La revisión del objeto se hace con sus medidas reales. Si falta una pieza, se identifica y se decide qué comprobación puede hacerse con una muestra equivalente.</a:t>
            </a:r>
          </a:p>
          <a:p xmlns:a="http://schemas.openxmlformats.org/drawingml/2006/main">
            <a:r>
              <a:t/>
            </a:r>
          </a:p>
          <a:p xmlns:a="http://schemas.openxmlformats.org/drawingml/2006/main">
            <a:r>
              <a:t>Un taller con varias estaciones funciona cuando todos conservan el nombre de la pieza y el significado de la medida. El mismo número puede corresponder al diámetro exterior, al interior o a una cota del plano. Antes de registrar una cifra, el alumno señala el lugar que está midiendo. Otro compañero verifica la referencia y anota la unidad. Este intercambio sencillo evita muchas correcciones de CAD que en realidad nacen de haber comparado dimensiones diferentes.</a:t>
            </a:r>
          </a:p>
          <a:p xmlns:a="http://schemas.openxmlformats.org/drawingml/2006/main">
            <a:r>
              <a:t>Pregunta para el grupo: ¿La pieza y el archivo tienen la misma revisión?</a:t>
            </a:r>
          </a:p>
          <a:p xmlns:a="http://schemas.openxmlformats.org/drawingml/2006/main">
            <a:r>
              <a:t/>
            </a:r>
          </a:p>
          <a:p xmlns:a="http://schemas.openxmlformats.org/drawingml/2006/main">
            <a:r>
              <a:t>Resultado: Comprobar piezas físicas y corregir el diseño antes del montaje definitivo.</a:t>
            </a:r>
          </a:p>
          <a:p xmlns:a="http://schemas.openxmlformats.org/drawingml/2006/main">
            <a:r>
              <a:t>Misión: Conseguir que las piezas fabricadas correspondan al plano y puedan presentarse juntas.</a:t>
            </a:r>
          </a:p>
          <a:p xmlns:a="http://schemas.openxmlformats.org/drawingml/2006/main">
            <a:r>
              <a:t>Entrega: Ficha completa, fotografías, plano y .ork corregidos.</a:t>
            </a:r>
          </a:p>
          <a:p xmlns:a="http://schemas.openxmlformats.org/drawingml/2006/main">
            <a:r>
              <a:t/>
            </a:r>
          </a:p>
          <a:p xmlns:a="http://schemas.openxmlformats.org/drawingml/2006/main">
            <a:r>
              <a:t>Preguntas y respuestas</a:t>
            </a:r>
          </a:p>
          <a:p xmlns:a="http://schemas.openxmlformats.org/drawingml/2006/main">
            <a:r>
              <a:t>¿Una pieza que entra en el útil ya está aceptada para vuelo?</a:t>
            </a:r>
          </a:p>
          <a:p xmlns:a="http://schemas.openxmlformats.org/drawingml/2006/main">
            <a:r>
              <a:t>No. El encaje es una comprobación parcial.</a:t>
            </a:r>
          </a:p>
          <a:p xmlns:a="http://schemas.openxmlformats.org/drawingml/2006/main">
            <a:r>
              <a:t/>
            </a:r>
          </a:p>
          <a:p xmlns:a="http://schemas.openxmlformats.org/drawingml/2006/main">
            <a:r>
              <a:t>¿Qué incluye una masa medida útil?</a:t>
            </a:r>
          </a:p>
          <a:p xmlns:a="http://schemas.openxmlformats.org/drawingml/2006/main">
            <a:r>
              <a:t>Identificador, unidad y descripción de las piezas o acabado incluidos.</a:t>
            </a:r>
          </a:p>
          <a:p xmlns:a="http://schemas.openxmlformats.org/drawingml/2006/main">
            <a:r>
              <a:t/>
            </a:r>
          </a:p>
          <a:p xmlns:a="http://schemas.openxmlformats.org/drawingml/2006/main">
            <a:r>
              <a:t>¿Qué se conserva al corregir?</a:t>
            </a:r>
          </a:p>
          <a:p xmlns:a="http://schemas.openxmlformats.org/drawingml/2006/main">
            <a:r>
              <a:t>Dato anterior, cambio y nueva comprobación.</a:t>
            </a:r>
          </a:p>
          <a:p xmlns:a="http://schemas.openxmlformats.org/drawingml/2006/main">
            <a:r>
              <a:t/>
            </a:r>
          </a:p>
          <a:p xmlns:a="http://schemas.openxmlformats.org/drawingml/2006/main">
            <a:r>
              <a:t>Fuentes</a:t>
            </a:r>
          </a:p>
          <a:p xmlns:a="http://schemas.openxmlformats.org/drawingml/2006/main">
            <a:r>
              <a:t>Prusa Research. Modeling with 3D printing in mind. https://help.prusa3d.com/article/modeling-with-3d-printing-in-mind_164135</a:t>
            </a:r>
          </a:p>
          <a:p xmlns:a="http://schemas.openxmlformats.org/drawingml/2006/main">
            <a:r>
              <a:t>OpenRocket. Basic Rocket Design. https://openrocket.readthedocs.io/en/latest/user_guide/basic_rocket_design.html</a:t>
            </a:r>
          </a:p>
          <a:p xmlns:a="http://schemas.openxmlformats.org/drawingml/2006/main">
            <a:r>
              <a:t>NASA Glenn. Model Rockets. https://www1.grc.nasa.gov/beginners-guide-to-aeronautics/model-rockets/</a:t>
            </a:r>
          </a:p>
          <a:p xmlns:a="http://schemas.openxmlformats.org/drawingml/2006/main">
            <a:r>
              <a:t>Lectura: MECRO_Coheteria_Clase_06.pdf. Las capturas muestran ejemplos de documentación. Los casos numéricos se identifican como ejercicios y no se atribuyen a ejecuciones o mediciones no realizadas.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MECRO. Clase 6: Taller 1: medidas, encajes y alineación.</a:t>
            </a:r>
          </a:p>
          <a:p xmlns:a="http://schemas.openxmlformats.org/drawingml/2006/main">
            <a:r>
              <a:t>Presencial, 4 h. Tramo del núcleo: 4 min.</a:t>
            </a:r>
          </a:p>
          <a:p xmlns:a="http://schemas.openxmlformats.org/drawingml/2006/main">
            <a:r>
              <a:t>En presencial, integrar estas explicaciones con la agenda de 4 horas de la lectura; las actividades de banco o campo ocupan el tiempo previsto.</a:t>
            </a:r>
          </a:p>
          <a:p xmlns:a="http://schemas.openxmlformats.org/drawingml/2006/main">
            <a:r>
              <a:t/>
            </a:r>
          </a:p>
          <a:p xmlns:a="http://schemas.openxmlformats.org/drawingml/2006/main">
            <a:r>
              <a:t>Objeto / Estado esperado</a:t>
            </a:r>
          </a:p>
          <a:p xmlns:a="http://schemas.openxmlformats.org/drawingml/2006/main">
            <a:r>
              <a:t>Tubo / Identificado, sin deformación evidente</a:t>
            </a:r>
          </a:p>
          <a:p xmlns:a="http://schemas.openxmlformats.org/drawingml/2006/main">
            <a:r>
              <a:t>Muestras de encaje / Etiquetadas con su revisión</a:t>
            </a:r>
          </a:p>
          <a:p xmlns:a="http://schemas.openxmlformats.org/drawingml/2006/main">
            <a:r>
              <a:t>Aletas o plantillas / Contorno y medidas declarados</a:t>
            </a:r>
          </a:p>
          <a:p xmlns:a="http://schemas.openxmlformats.org/drawingml/2006/main">
            <a:r>
              <a:t>Útil / Compatible con el tubo previsto</a:t>
            </a:r>
          </a:p>
          <a:p xmlns:a="http://schemas.openxmlformats.org/drawingml/2006/main">
            <a:r>
              <a:t>Archivos / CAD, laminador y .ork disponibles</a:t>
            </a:r>
          </a:p>
          <a:p xmlns:a="http://schemas.openxmlformats.org/drawingml/2006/main">
            <a:r>
              <a:t>Comparar dos filas y justificar con la misión.</a:t>
            </a:r>
          </a:p>
          <a:p xmlns:a="http://schemas.openxmlformats.org/drawingml/2006/main">
            <a:r>
              <a:t/>
            </a:r>
          </a:p>
          <a:p xmlns:a="http://schemas.openxmlformats.org/drawingml/2006/main">
            <a:r>
              <a:t>Resultado: Comprobar piezas físicas y corregir el diseño antes del montaje definitivo.</a:t>
            </a:r>
          </a:p>
          <a:p xmlns:a="http://schemas.openxmlformats.org/drawingml/2006/main">
            <a:r>
              <a:t>Misión: Conseguir que las piezas fabricadas correspondan al plano y puedan presentarse juntas.</a:t>
            </a:r>
          </a:p>
          <a:p xmlns:a="http://schemas.openxmlformats.org/drawingml/2006/main">
            <a:r>
              <a:t>Entrega: Ficha completa, fotografías, plano y .ork corregidos.</a:t>
            </a:r>
          </a:p>
          <a:p xmlns:a="http://schemas.openxmlformats.org/drawingml/2006/main">
            <a:r>
              <a:t/>
            </a:r>
          </a:p>
          <a:p xmlns:a="http://schemas.openxmlformats.org/drawingml/2006/main">
            <a:r>
              <a:t>Preguntas y respuestas</a:t>
            </a:r>
          </a:p>
          <a:p xmlns:a="http://schemas.openxmlformats.org/drawingml/2006/main">
            <a:r>
              <a:t>¿Una pieza que entra en el útil ya está aceptada para vuelo?</a:t>
            </a:r>
          </a:p>
          <a:p xmlns:a="http://schemas.openxmlformats.org/drawingml/2006/main">
            <a:r>
              <a:t>No. El encaje es una comprobación parcial.</a:t>
            </a:r>
          </a:p>
          <a:p xmlns:a="http://schemas.openxmlformats.org/drawingml/2006/main">
            <a:r>
              <a:t/>
            </a:r>
          </a:p>
          <a:p xmlns:a="http://schemas.openxmlformats.org/drawingml/2006/main">
            <a:r>
              <a:t>¿Qué incluye una masa medida útil?</a:t>
            </a:r>
          </a:p>
          <a:p xmlns:a="http://schemas.openxmlformats.org/drawingml/2006/main">
            <a:r>
              <a:t>Identificador, unidad y descripción de las piezas o acabado incluidos.</a:t>
            </a:r>
          </a:p>
          <a:p xmlns:a="http://schemas.openxmlformats.org/drawingml/2006/main">
            <a:r>
              <a:t/>
            </a:r>
          </a:p>
          <a:p xmlns:a="http://schemas.openxmlformats.org/drawingml/2006/main">
            <a:r>
              <a:t>¿Qué se conserva al corregir?</a:t>
            </a:r>
          </a:p>
          <a:p xmlns:a="http://schemas.openxmlformats.org/drawingml/2006/main">
            <a:r>
              <a:t>Dato anterior, cambio y nueva comprobación.</a:t>
            </a:r>
          </a:p>
          <a:p xmlns:a="http://schemas.openxmlformats.org/drawingml/2006/main">
            <a:r>
              <a:t/>
            </a:r>
          </a:p>
          <a:p xmlns:a="http://schemas.openxmlformats.org/drawingml/2006/main">
            <a:r>
              <a:t>Fuentes</a:t>
            </a:r>
          </a:p>
          <a:p xmlns:a="http://schemas.openxmlformats.org/drawingml/2006/main">
            <a:r>
              <a:t>Prusa Research. Modeling with 3D printing in mind. https://help.prusa3d.com/article/modeling-with-3d-printing-in-mind_164135</a:t>
            </a:r>
          </a:p>
          <a:p xmlns:a="http://schemas.openxmlformats.org/drawingml/2006/main">
            <a:r>
              <a:t>OpenRocket. Basic Rocket Design. https://openrocket.readthedocs.io/en/latest/user_guide/basic_rocket_design.html</a:t>
            </a:r>
          </a:p>
          <a:p xmlns:a="http://schemas.openxmlformats.org/drawingml/2006/main">
            <a:r>
              <a:t>NASA Glenn. Model Rockets. https://www1.grc.nasa.gov/beginners-guide-to-aeronautics/model-rockets/</a:t>
            </a:r>
          </a:p>
          <a:p xmlns:a="http://schemas.openxmlformats.org/drawingml/2006/main">
            <a:r>
              <a:t>Lectura: MECRO_Coheteria_Clase_06.pdf. Las capturas muestran ejemplos de documentación. Los casos numéricos se identifican como ejercicios y no se atribuyen a ejecuciones o mediciones no realizadas.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MECRO. Clase 6: Taller 1: medidas, encajes y alineación.</a:t>
            </a:r>
          </a:p>
          <a:p xmlns:a="http://schemas.openxmlformats.org/drawingml/2006/main">
            <a:r>
              <a:t>Presencial, 4 h. Tramo del núcleo: 5 min.</a:t>
            </a:r>
          </a:p>
          <a:p xmlns:a="http://schemas.openxmlformats.org/drawingml/2006/main">
            <a:r>
              <a:t>En presencial, integrar estas explicaciones con la agenda de 4 horas de la lectura; las actividades de banco o campo ocupan el tiempo previsto.</a:t>
            </a:r>
          </a:p>
          <a:p xmlns:a="http://schemas.openxmlformats.org/drawingml/2006/main">
            <a:r>
              <a:t/>
            </a:r>
          </a:p>
          <a:p xmlns:a="http://schemas.openxmlformats.org/drawingml/2006/main">
            <a:r>
              <a:t>¿La pieza y el archivo tienen la misma revisión?</a:t>
            </a:r>
          </a:p>
          <a:p xmlns:a="http://schemas.openxmlformats.org/drawingml/2006/main">
            <a:r>
              <a:t>Relacionar la explicación con una decisión del proyecto.</a:t>
            </a:r>
          </a:p>
          <a:p xmlns:a="http://schemas.openxmlformats.org/drawingml/2006/main">
            <a:r>
              <a:t/>
            </a:r>
          </a:p>
          <a:p xmlns:a="http://schemas.openxmlformats.org/drawingml/2006/main">
            <a:r>
              <a:t>Resultado: Comprobar piezas físicas y corregir el diseño antes del montaje definitivo.</a:t>
            </a:r>
          </a:p>
          <a:p xmlns:a="http://schemas.openxmlformats.org/drawingml/2006/main">
            <a:r>
              <a:t>Misión: Conseguir que las piezas fabricadas correspondan al plano y puedan presentarse juntas.</a:t>
            </a:r>
          </a:p>
          <a:p xmlns:a="http://schemas.openxmlformats.org/drawingml/2006/main">
            <a:r>
              <a:t>Entrega: Ficha completa, fotografías, plano y .ork corregidos.</a:t>
            </a:r>
          </a:p>
          <a:p xmlns:a="http://schemas.openxmlformats.org/drawingml/2006/main">
            <a:r>
              <a:t/>
            </a:r>
          </a:p>
          <a:p xmlns:a="http://schemas.openxmlformats.org/drawingml/2006/main">
            <a:r>
              <a:t>Preguntas y respuestas</a:t>
            </a:r>
          </a:p>
          <a:p xmlns:a="http://schemas.openxmlformats.org/drawingml/2006/main">
            <a:r>
              <a:t>¿Una pieza que entra en el útil ya está aceptada para vuelo?</a:t>
            </a:r>
          </a:p>
          <a:p xmlns:a="http://schemas.openxmlformats.org/drawingml/2006/main">
            <a:r>
              <a:t>No. El encaje es una comprobación parcial.</a:t>
            </a:r>
          </a:p>
          <a:p xmlns:a="http://schemas.openxmlformats.org/drawingml/2006/main">
            <a:r>
              <a:t/>
            </a:r>
          </a:p>
          <a:p xmlns:a="http://schemas.openxmlformats.org/drawingml/2006/main">
            <a:r>
              <a:t>¿Qué incluye una masa medida útil?</a:t>
            </a:r>
          </a:p>
          <a:p xmlns:a="http://schemas.openxmlformats.org/drawingml/2006/main">
            <a:r>
              <a:t>Identificador, unidad y descripción de las piezas o acabado incluidos.</a:t>
            </a:r>
          </a:p>
          <a:p xmlns:a="http://schemas.openxmlformats.org/drawingml/2006/main">
            <a:r>
              <a:t/>
            </a:r>
          </a:p>
          <a:p xmlns:a="http://schemas.openxmlformats.org/drawingml/2006/main">
            <a:r>
              <a:t>¿Qué se conserva al corregir?</a:t>
            </a:r>
          </a:p>
          <a:p xmlns:a="http://schemas.openxmlformats.org/drawingml/2006/main">
            <a:r>
              <a:t>Dato anterior, cambio y nueva comprobación.</a:t>
            </a:r>
          </a:p>
          <a:p xmlns:a="http://schemas.openxmlformats.org/drawingml/2006/main">
            <a:r>
              <a:t/>
            </a:r>
          </a:p>
          <a:p xmlns:a="http://schemas.openxmlformats.org/drawingml/2006/main">
            <a:r>
              <a:t>Fuentes</a:t>
            </a:r>
          </a:p>
          <a:p xmlns:a="http://schemas.openxmlformats.org/drawingml/2006/main">
            <a:r>
              <a:t>Prusa Research. Modeling with 3D printing in mind. https://help.prusa3d.com/article/modeling-with-3d-printing-in-mind_164135</a:t>
            </a:r>
          </a:p>
          <a:p xmlns:a="http://schemas.openxmlformats.org/drawingml/2006/main">
            <a:r>
              <a:t>OpenRocket. Basic Rocket Design. https://openrocket.readthedocs.io/en/latest/user_guide/basic_rocket_design.html</a:t>
            </a:r>
          </a:p>
          <a:p xmlns:a="http://schemas.openxmlformats.org/drawingml/2006/main">
            <a:r>
              <a:t>NASA Glenn. Model Rockets. https://www1.grc.nasa.gov/beginners-guide-to-aeronautics/model-rockets/</a:t>
            </a:r>
          </a:p>
          <a:p xmlns:a="http://schemas.openxmlformats.org/drawingml/2006/main">
            <a:r>
              <a:t>Lectura: MECRO_Coheteria_Clase_06.pdf. Las capturas muestran ejemplos de documentación. Los casos numéricos se identifican como ejercicios y no se atribuyen a ejecuciones o mediciones no realizadas.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MECRO. Clase 6: Taller 1: medidas, encajes y alineación.</a:t>
            </a:r>
          </a:p>
          <a:p xmlns:a="http://schemas.openxmlformats.org/drawingml/2006/main">
            <a:r>
              <a:t>Presencial, 4 h. Tramo del núcleo: 4 min.</a:t>
            </a:r>
          </a:p>
          <a:p xmlns:a="http://schemas.openxmlformats.org/drawingml/2006/main">
            <a:r>
              <a:t>En presencial, integrar estas explicaciones con la agenda de 4 horas de la lectura; las actividades de banco o campo ocupan el tiempo previsto.</a:t>
            </a:r>
          </a:p>
          <a:p xmlns:a="http://schemas.openxmlformats.org/drawingml/2006/main">
            <a:r>
              <a:t/>
            </a:r>
          </a:p>
          <a:p xmlns:a="http://schemas.openxmlformats.org/drawingml/2006/main">
            <a:r>
              <a:t>Antes de medir se comprueba el cero del instrumento, la unidad y las superficies que se tomarán como referencia. El calibrador se apoya sin deformar el tubo. Una pieza ovalada puede ofrecer valores diferentes según la orientación. No se elige únicamente la lectura que coincide con el archivo.</a:t>
            </a:r>
          </a:p>
          <a:p xmlns:a="http://schemas.openxmlformats.org/drawingml/2006/main">
            <a:r>
              <a:t/>
            </a:r>
          </a:p>
          <a:p xmlns:a="http://schemas.openxmlformats.org/drawingml/2006/main">
            <a:r>
              <a:t>Ejercicio: dos muestras se dibujaron iguales, pero una entra y otra no.</a:t>
            </a:r>
          </a:p>
          <a:p xmlns:a="http://schemas.openxmlformats.org/drawingml/2006/main">
            <a:r>
              <a:t/>
            </a:r>
          </a:p>
          <a:p xmlns:a="http://schemas.openxmlformats.org/drawingml/2006/main">
            <a:r>
              <a:t>Si el borde está dañado, registra esa condición antes de trabajar sobre él. Después de preparar una superficie según el método del taller, repite la comprobación y conserva el antes y el después. Así la corrección tiene un motivo visible.</a:t>
            </a:r>
          </a:p>
          <a:p xmlns:a="http://schemas.openxmlformats.org/drawingml/2006/main">
            <a:r>
              <a:t/>
            </a:r>
          </a:p>
          <a:p xmlns:a="http://schemas.openxmlformats.org/drawingml/2006/main">
            <a:r>
              <a:t>Una lectura repetida desde la misma referencia ayuda a encontrar errores de apoyo o de manipulación. Si dos compañeros obtienen resultados diferentes, primero comparan cómo colocaron el instrumento. El objetivo de esta estación no es calcular una estadística avanzada, sino que ambos sepan describir la misma dimensión de la misma pieza. Se puede anotar el intervalo observado sin esconder la diferencia en un promedio que nadie sabe interpretar.</a:t>
            </a:r>
          </a:p>
          <a:p xmlns:a="http://schemas.openxmlformats.org/drawingml/2006/main">
            <a:r>
              <a:t/>
            </a:r>
          </a:p>
          <a:p xmlns:a="http://schemas.openxmlformats.org/drawingml/2006/main">
            <a:r>
              <a:t>En el calibrador se comprueba primero el cero y se eligen las superficies de contacto que corresponden a la medida. El instrumento debe apoyarse sin deformar la pieza. Si el tubo parece ovalado, se observa más de una dirección y se identifica cómo se tomó cada lectura. La balanza requiere una condición igualmente clara: recipiente o soporte, puesta a cero y componentes incluidos. La calidad del registro depende tanto de estas condiciones como del número de decimales que muestra la pantalla.</a:t>
            </a:r>
          </a:p>
          <a:p xmlns:a="http://schemas.openxmlformats.org/drawingml/2006/main">
            <a:r>
              <a:t>Pregunta para el grupo: ¿Desde qué superficies se midió?</a:t>
            </a:r>
          </a:p>
          <a:p xmlns:a="http://schemas.openxmlformats.org/drawingml/2006/main">
            <a:r>
              <a:t/>
            </a:r>
          </a:p>
          <a:p xmlns:a="http://schemas.openxmlformats.org/drawingml/2006/main">
            <a:r>
              <a:t>Resultado: Comprobar piezas físicas y corregir el diseño antes del montaje definitivo.</a:t>
            </a:r>
          </a:p>
          <a:p xmlns:a="http://schemas.openxmlformats.org/drawingml/2006/main">
            <a:r>
              <a:t>Misión: Conseguir que las piezas fabricadas correspondan al plano y puedan presentarse juntas.</a:t>
            </a:r>
          </a:p>
          <a:p xmlns:a="http://schemas.openxmlformats.org/drawingml/2006/main">
            <a:r>
              <a:t>Entrega: Ficha completa, fotografías, plano y .ork corregidos.</a:t>
            </a:r>
          </a:p>
          <a:p xmlns:a="http://schemas.openxmlformats.org/drawingml/2006/main">
            <a:r>
              <a:t/>
            </a:r>
          </a:p>
          <a:p xmlns:a="http://schemas.openxmlformats.org/drawingml/2006/main">
            <a:r>
              <a:t>Preguntas y respuestas</a:t>
            </a:r>
          </a:p>
          <a:p xmlns:a="http://schemas.openxmlformats.org/drawingml/2006/main">
            <a:r>
              <a:t>¿Una pieza que entra en el útil ya está aceptada para vuelo?</a:t>
            </a:r>
          </a:p>
          <a:p xmlns:a="http://schemas.openxmlformats.org/drawingml/2006/main">
            <a:r>
              <a:t>No. El encaje es una comprobación parcial.</a:t>
            </a:r>
          </a:p>
          <a:p xmlns:a="http://schemas.openxmlformats.org/drawingml/2006/main">
            <a:r>
              <a:t/>
            </a:r>
          </a:p>
          <a:p xmlns:a="http://schemas.openxmlformats.org/drawingml/2006/main">
            <a:r>
              <a:t>¿Qué incluye una masa medida útil?</a:t>
            </a:r>
          </a:p>
          <a:p xmlns:a="http://schemas.openxmlformats.org/drawingml/2006/main">
            <a:r>
              <a:t>Identificador, unidad y descripción de las piezas o acabado incluidos.</a:t>
            </a:r>
          </a:p>
          <a:p xmlns:a="http://schemas.openxmlformats.org/drawingml/2006/main">
            <a:r>
              <a:t/>
            </a:r>
          </a:p>
          <a:p xmlns:a="http://schemas.openxmlformats.org/drawingml/2006/main">
            <a:r>
              <a:t>¿Qué se conserva al corregir?</a:t>
            </a:r>
          </a:p>
          <a:p xmlns:a="http://schemas.openxmlformats.org/drawingml/2006/main">
            <a:r>
              <a:t>Dato anterior, cambio y nueva comprobación.</a:t>
            </a:r>
          </a:p>
          <a:p xmlns:a="http://schemas.openxmlformats.org/drawingml/2006/main">
            <a:r>
              <a:t/>
            </a:r>
          </a:p>
          <a:p xmlns:a="http://schemas.openxmlformats.org/drawingml/2006/main">
            <a:r>
              <a:t>Fuentes</a:t>
            </a:r>
          </a:p>
          <a:p xmlns:a="http://schemas.openxmlformats.org/drawingml/2006/main">
            <a:r>
              <a:t>Prusa Research. Modeling with 3D printing in mind. https://help.prusa3d.com/article/modeling-with-3d-printing-in-mind_164135</a:t>
            </a:r>
          </a:p>
          <a:p xmlns:a="http://schemas.openxmlformats.org/drawingml/2006/main">
            <a:r>
              <a:t>OpenRocket. Basic Rocket Design. https://openrocket.readthedocs.io/en/latest/user_guide/basic_rocket_design.html</a:t>
            </a:r>
          </a:p>
          <a:p xmlns:a="http://schemas.openxmlformats.org/drawingml/2006/main">
            <a:r>
              <a:t>NASA Glenn. Model Rockets. https://www1.grc.nasa.gov/beginners-guide-to-aeronautics/model-rockets/</a:t>
            </a:r>
          </a:p>
          <a:p xmlns:a="http://schemas.openxmlformats.org/drawingml/2006/main">
            <a:r>
              <a:t>Lectura: MECRO_Coheteria_Clase_06.pdf. Las capturas muestran ejemplos de documentación. Los casos numéricos se identifican como ejercicios y no se atribuyen a ejecuciones o mediciones no realizadas.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MECRO. Clase 6: Taller 1: medidas, encajes y alineación.</a:t>
            </a:r>
          </a:p>
          <a:p xmlns:a="http://schemas.openxmlformats.org/drawingml/2006/main">
            <a:r>
              <a:t>Presencial, 4 h. Tramo del núcleo: 4 min.</a:t>
            </a:r>
          </a:p>
          <a:p xmlns:a="http://schemas.openxmlformats.org/drawingml/2006/main">
            <a:r>
              <a:t>En presencial, integrar estas explicaciones con la agenda de 4 horas de la lectura; las actividades de banco o campo ocupan el tiempo previsto.</a:t>
            </a:r>
          </a:p>
          <a:p xmlns:a="http://schemas.openxmlformats.org/drawingml/2006/main">
            <a:r>
              <a:t/>
            </a:r>
          </a:p>
          <a:p xmlns:a="http://schemas.openxmlformats.org/drawingml/2006/main">
            <a:r>
              <a:t>Dato / Qué escribir</a:t>
            </a:r>
          </a:p>
          <a:p xmlns:a="http://schemas.openxmlformats.org/drawingml/2006/main">
            <a:r>
              <a:t>Tubo / Identificador y orientación de medida</a:t>
            </a:r>
          </a:p>
          <a:p xmlns:a="http://schemas.openxmlformats.org/drawingml/2006/main">
            <a:r>
              <a:t>Abertura / Dimensión observada y unidad</a:t>
            </a:r>
          </a:p>
          <a:p xmlns:a="http://schemas.openxmlformats.org/drawingml/2006/main">
            <a:r>
              <a:t>Muestra / Identificador y dimensión real</a:t>
            </a:r>
          </a:p>
          <a:p xmlns:a="http://schemas.openxmlformats.org/drawingml/2006/main">
            <a:r>
              <a:t>Encaje / Entra, se traba o presenta juego</a:t>
            </a:r>
          </a:p>
          <a:p xmlns:a="http://schemas.openxmlformats.org/drawingml/2006/main">
            <a:r>
              <a:t>Revisión / Cambio que se propone y motivo</a:t>
            </a:r>
          </a:p>
          <a:p xmlns:a="http://schemas.openxmlformats.org/drawingml/2006/main">
            <a:r>
              <a:t>Comparar dos filas y justificar con la misión.</a:t>
            </a:r>
          </a:p>
          <a:p xmlns:a="http://schemas.openxmlformats.org/drawingml/2006/main">
            <a:r>
              <a:t/>
            </a:r>
          </a:p>
          <a:p xmlns:a="http://schemas.openxmlformats.org/drawingml/2006/main">
            <a:r>
              <a:t>Resultado: Comprobar piezas físicas y corregir el diseño antes del montaje definitivo.</a:t>
            </a:r>
          </a:p>
          <a:p xmlns:a="http://schemas.openxmlformats.org/drawingml/2006/main">
            <a:r>
              <a:t>Misión: Conseguir que las piezas fabricadas correspondan al plano y puedan presentarse juntas.</a:t>
            </a:r>
          </a:p>
          <a:p xmlns:a="http://schemas.openxmlformats.org/drawingml/2006/main">
            <a:r>
              <a:t>Entrega: Ficha completa, fotografías, plano y .ork corregidos.</a:t>
            </a:r>
          </a:p>
          <a:p xmlns:a="http://schemas.openxmlformats.org/drawingml/2006/main">
            <a:r>
              <a:t/>
            </a:r>
          </a:p>
          <a:p xmlns:a="http://schemas.openxmlformats.org/drawingml/2006/main">
            <a:r>
              <a:t>Preguntas y respuestas</a:t>
            </a:r>
          </a:p>
          <a:p xmlns:a="http://schemas.openxmlformats.org/drawingml/2006/main">
            <a:r>
              <a:t>¿Una pieza que entra en el útil ya está aceptada para vuelo?</a:t>
            </a:r>
          </a:p>
          <a:p xmlns:a="http://schemas.openxmlformats.org/drawingml/2006/main">
            <a:r>
              <a:t>No. El encaje es una comprobación parcial.</a:t>
            </a:r>
          </a:p>
          <a:p xmlns:a="http://schemas.openxmlformats.org/drawingml/2006/main">
            <a:r>
              <a:t/>
            </a:r>
          </a:p>
          <a:p xmlns:a="http://schemas.openxmlformats.org/drawingml/2006/main">
            <a:r>
              <a:t>¿Qué incluye una masa medida útil?</a:t>
            </a:r>
          </a:p>
          <a:p xmlns:a="http://schemas.openxmlformats.org/drawingml/2006/main">
            <a:r>
              <a:t>Identificador, unidad y descripción de las piezas o acabado incluidos.</a:t>
            </a:r>
          </a:p>
          <a:p xmlns:a="http://schemas.openxmlformats.org/drawingml/2006/main">
            <a:r>
              <a:t/>
            </a:r>
          </a:p>
          <a:p xmlns:a="http://schemas.openxmlformats.org/drawingml/2006/main">
            <a:r>
              <a:t>¿Qué se conserva al corregir?</a:t>
            </a:r>
          </a:p>
          <a:p xmlns:a="http://schemas.openxmlformats.org/drawingml/2006/main">
            <a:r>
              <a:t>Dato anterior, cambio y nueva comprobación.</a:t>
            </a:r>
          </a:p>
          <a:p xmlns:a="http://schemas.openxmlformats.org/drawingml/2006/main">
            <a:r>
              <a:t/>
            </a:r>
          </a:p>
          <a:p xmlns:a="http://schemas.openxmlformats.org/drawingml/2006/main">
            <a:r>
              <a:t>Fuentes</a:t>
            </a:r>
          </a:p>
          <a:p xmlns:a="http://schemas.openxmlformats.org/drawingml/2006/main">
            <a:r>
              <a:t>Prusa Research. Modeling with 3D printing in mind. https://help.prusa3d.com/article/modeling-with-3d-printing-in-mind_164135</a:t>
            </a:r>
          </a:p>
          <a:p xmlns:a="http://schemas.openxmlformats.org/drawingml/2006/main">
            <a:r>
              <a:t>OpenRocket. Basic Rocket Design. https://openrocket.readthedocs.io/en/latest/user_guide/basic_rocket_design.html</a:t>
            </a:r>
          </a:p>
          <a:p xmlns:a="http://schemas.openxmlformats.org/drawingml/2006/main">
            <a:r>
              <a:t>NASA Glenn. Model Rockets. https://www1.grc.nasa.gov/beginners-guide-to-aeronautics/model-rockets/</a:t>
            </a:r>
          </a:p>
          <a:p xmlns:a="http://schemas.openxmlformats.org/drawingml/2006/main">
            <a:r>
              <a:t>Lectura: MECRO_Coheteria_Clase_06.pdf. Las capturas muestran ejemplos de documentación. Los casos numéricos se identifican como ejercicios y no se atribuyen a ejecuciones o mediciones no realizadas.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MECRO. Clase 6: Taller 1: medidas, encajes y alineación.</a:t>
            </a:r>
          </a:p>
          <a:p xmlns:a="http://schemas.openxmlformats.org/drawingml/2006/main">
            <a:r>
              <a:t>Presencial, 4 h. Tramo del núcleo: 5 min.</a:t>
            </a:r>
          </a:p>
          <a:p xmlns:a="http://schemas.openxmlformats.org/drawingml/2006/main">
            <a:r>
              <a:t>En presencial, integrar estas explicaciones con la agenda de 4 horas de la lectura; las actividades de banco o campo ocupan el tiempo previsto.</a:t>
            </a:r>
          </a:p>
          <a:p xmlns:a="http://schemas.openxmlformats.org/drawingml/2006/main">
            <a:r>
              <a:t/>
            </a:r>
          </a:p>
          <a:p xmlns:a="http://schemas.openxmlformats.org/drawingml/2006/main">
            <a:r>
              <a:t>Caso</a:t>
            </a:r>
          </a:p>
          <a:p xmlns:a="http://schemas.openxmlformats.org/drawingml/2006/main">
            <a:r>
              <a:t>Ejercicio: dos muestras se dibujaron iguales, pero una entra y otra no.</a:t>
            </a:r>
          </a:p>
          <a:p xmlns:a="http://schemas.openxmlformats.org/drawingml/2006/main">
            <a:r>
              <a:t>Explicación</a:t>
            </a:r>
          </a:p>
          <a:p xmlns:a="http://schemas.openxmlformats.org/drawingml/2006/main">
            <a:r>
              <a:t>Compara primero dimensiones reales, borde, acabado y referencia del tubo. La igualdad de archivos no demuestra igualdad de objetos. Cambiar un número sin identificar la diferencia puede ocultar el problema.</a:t>
            </a:r>
          </a:p>
          <a:p xmlns:a="http://schemas.openxmlformats.org/drawingml/2006/main">
            <a:r>
              <a:t>Dar tiempo para responder antes de presentar la solución oralmente.</a:t>
            </a:r>
          </a:p>
          <a:p xmlns:a="http://schemas.openxmlformats.org/drawingml/2006/main">
            <a:r>
              <a:t/>
            </a:r>
          </a:p>
          <a:p xmlns:a="http://schemas.openxmlformats.org/drawingml/2006/main">
            <a:r>
              <a:t>Resultado: Comprobar piezas físicas y corregir el diseño antes del montaje definitivo.</a:t>
            </a:r>
          </a:p>
          <a:p xmlns:a="http://schemas.openxmlformats.org/drawingml/2006/main">
            <a:r>
              <a:t>Misión: Conseguir que las piezas fabricadas correspondan al plano y puedan presentarse juntas.</a:t>
            </a:r>
          </a:p>
          <a:p xmlns:a="http://schemas.openxmlformats.org/drawingml/2006/main">
            <a:r>
              <a:t>Entrega: Ficha completa, fotografías, plano y .ork corregidos.</a:t>
            </a:r>
          </a:p>
          <a:p xmlns:a="http://schemas.openxmlformats.org/drawingml/2006/main">
            <a:r>
              <a:t/>
            </a:r>
          </a:p>
          <a:p xmlns:a="http://schemas.openxmlformats.org/drawingml/2006/main">
            <a:r>
              <a:t>Preguntas y respuestas</a:t>
            </a:r>
          </a:p>
          <a:p xmlns:a="http://schemas.openxmlformats.org/drawingml/2006/main">
            <a:r>
              <a:t>¿Una pieza que entra en el útil ya está aceptada para vuelo?</a:t>
            </a:r>
          </a:p>
          <a:p xmlns:a="http://schemas.openxmlformats.org/drawingml/2006/main">
            <a:r>
              <a:t>No. El encaje es una comprobación parcial.</a:t>
            </a:r>
          </a:p>
          <a:p xmlns:a="http://schemas.openxmlformats.org/drawingml/2006/main">
            <a:r>
              <a:t/>
            </a:r>
          </a:p>
          <a:p xmlns:a="http://schemas.openxmlformats.org/drawingml/2006/main">
            <a:r>
              <a:t>¿Qué incluye una masa medida útil?</a:t>
            </a:r>
          </a:p>
          <a:p xmlns:a="http://schemas.openxmlformats.org/drawingml/2006/main">
            <a:r>
              <a:t>Identificador, unidad y descripción de las piezas o acabado incluidos.</a:t>
            </a:r>
          </a:p>
          <a:p xmlns:a="http://schemas.openxmlformats.org/drawingml/2006/main">
            <a:r>
              <a:t/>
            </a:r>
          </a:p>
          <a:p xmlns:a="http://schemas.openxmlformats.org/drawingml/2006/main">
            <a:r>
              <a:t>¿Qué se conserva al corregir?</a:t>
            </a:r>
          </a:p>
          <a:p xmlns:a="http://schemas.openxmlformats.org/drawingml/2006/main">
            <a:r>
              <a:t>Dato anterior, cambio y nueva comprobación.</a:t>
            </a:r>
          </a:p>
          <a:p xmlns:a="http://schemas.openxmlformats.org/drawingml/2006/main">
            <a:r>
              <a:t/>
            </a:r>
          </a:p>
          <a:p xmlns:a="http://schemas.openxmlformats.org/drawingml/2006/main">
            <a:r>
              <a:t>Fuentes</a:t>
            </a:r>
          </a:p>
          <a:p xmlns:a="http://schemas.openxmlformats.org/drawingml/2006/main">
            <a:r>
              <a:t>Prusa Research. Modeling with 3D printing in mind. https://help.prusa3d.com/article/modeling-with-3d-printing-in-mind_164135</a:t>
            </a:r>
          </a:p>
          <a:p xmlns:a="http://schemas.openxmlformats.org/drawingml/2006/main">
            <a:r>
              <a:t>OpenRocket. Basic Rocket Design. https://openrocket.readthedocs.io/en/latest/user_guide/basic_rocket_design.html</a:t>
            </a:r>
          </a:p>
          <a:p xmlns:a="http://schemas.openxmlformats.org/drawingml/2006/main">
            <a:r>
              <a:t>NASA Glenn. Model Rockets. https://www1.grc.nasa.gov/beginners-guide-to-aeronautics/model-rockets/</a:t>
            </a:r>
          </a:p>
          <a:p xmlns:a="http://schemas.openxmlformats.org/drawingml/2006/main">
            <a:r>
              <a:t>Lectura: MECRO_Coheteria_Clase_06.pdf. Las capturas muestran ejemplos de documentación. Los casos numéricos se identifican como ejercicios y no se atribuyen a ejecuciones o mediciones no realizadas.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MECRO. Clase 6: Taller 1: medidas, encajes y alineación.</a:t>
            </a:r>
          </a:p>
          <a:p xmlns:a="http://schemas.openxmlformats.org/drawingml/2006/main">
            <a:r>
              <a:t>Presencial, 4 h. Tramo del núcleo: 4 min.</a:t>
            </a:r>
          </a:p>
          <a:p xmlns:a="http://schemas.openxmlformats.org/drawingml/2006/main">
            <a:r>
              <a:t>En presencial, integrar estas explicaciones con la agenda de 4 horas de la lectura; las actividades de banco o campo ocupan el tiempo previsto.</a:t>
            </a:r>
          </a:p>
          <a:p xmlns:a="http://schemas.openxmlformats.org/drawingml/2006/main">
            <a:r>
              <a:t/>
            </a:r>
          </a:p>
          <a:p xmlns:a="http://schemas.openxmlformats.org/drawingml/2006/main">
            <a:r>
              <a:t>La presentación también permite discutir cómo sostener el objeto mientras se fabrica. Si el útil impide acceder a una unión o tapa una referencia necesaria, debe corregirse. Una herramienta de montaje se evalúa por el trabajo que permite hacer.</a:t>
            </a:r>
          </a:p>
          <a:p xmlns:a="http://schemas.openxmlformats.org/drawingml/2006/main">
            <a:r>
              <a:t>Pregunta para el grupo: ¿Qué puedes descubrir sin pegar todavía?</a:t>
            </a:r>
          </a:p>
          <a:p xmlns:a="http://schemas.openxmlformats.org/drawingml/2006/main">
            <a:r>
              <a:t/>
            </a:r>
          </a:p>
          <a:p xmlns:a="http://schemas.openxmlformats.org/drawingml/2006/main">
            <a:r>
              <a:t>Resultado: Comprobar piezas físicas y corregir el diseño antes del montaje definitivo.</a:t>
            </a:r>
          </a:p>
          <a:p xmlns:a="http://schemas.openxmlformats.org/drawingml/2006/main">
            <a:r>
              <a:t>Misión: Conseguir que las piezas fabricadas correspondan al plano y puedan presentarse juntas.</a:t>
            </a:r>
          </a:p>
          <a:p xmlns:a="http://schemas.openxmlformats.org/drawingml/2006/main">
            <a:r>
              <a:t>Entrega: Ficha completa, fotografías, plano y .ork corregidos.</a:t>
            </a:r>
          </a:p>
          <a:p xmlns:a="http://schemas.openxmlformats.org/drawingml/2006/main">
            <a:r>
              <a:t/>
            </a:r>
          </a:p>
          <a:p xmlns:a="http://schemas.openxmlformats.org/drawingml/2006/main">
            <a:r>
              <a:t>Preguntas y respuestas</a:t>
            </a:r>
          </a:p>
          <a:p xmlns:a="http://schemas.openxmlformats.org/drawingml/2006/main">
            <a:r>
              <a:t>¿Una pieza que entra en el útil ya está aceptada para vuelo?</a:t>
            </a:r>
          </a:p>
          <a:p xmlns:a="http://schemas.openxmlformats.org/drawingml/2006/main">
            <a:r>
              <a:t>No. El encaje es una comprobación parcial.</a:t>
            </a:r>
          </a:p>
          <a:p xmlns:a="http://schemas.openxmlformats.org/drawingml/2006/main">
            <a:r>
              <a:t/>
            </a:r>
          </a:p>
          <a:p xmlns:a="http://schemas.openxmlformats.org/drawingml/2006/main">
            <a:r>
              <a:t>¿Qué incluye una masa medida útil?</a:t>
            </a:r>
          </a:p>
          <a:p xmlns:a="http://schemas.openxmlformats.org/drawingml/2006/main">
            <a:r>
              <a:t>Identificador, unidad y descripción de las piezas o acabado incluidos.</a:t>
            </a:r>
          </a:p>
          <a:p xmlns:a="http://schemas.openxmlformats.org/drawingml/2006/main">
            <a:r>
              <a:t/>
            </a:r>
          </a:p>
          <a:p xmlns:a="http://schemas.openxmlformats.org/drawingml/2006/main">
            <a:r>
              <a:t>¿Qué se conserva al corregir?</a:t>
            </a:r>
          </a:p>
          <a:p xmlns:a="http://schemas.openxmlformats.org/drawingml/2006/main">
            <a:r>
              <a:t>Dato anterior, cambio y nueva comprobación.</a:t>
            </a:r>
          </a:p>
          <a:p xmlns:a="http://schemas.openxmlformats.org/drawingml/2006/main">
            <a:r>
              <a:t/>
            </a:r>
          </a:p>
          <a:p xmlns:a="http://schemas.openxmlformats.org/drawingml/2006/main">
            <a:r>
              <a:t>Fuentes</a:t>
            </a:r>
          </a:p>
          <a:p xmlns:a="http://schemas.openxmlformats.org/drawingml/2006/main">
            <a:r>
              <a:t>Prusa Research. Modeling with 3D printing in mind. https://help.prusa3d.com/article/modeling-with-3d-printing-in-mind_164135</a:t>
            </a:r>
          </a:p>
          <a:p xmlns:a="http://schemas.openxmlformats.org/drawingml/2006/main">
            <a:r>
              <a:t>OpenRocket. Basic Rocket Design. https://openrocket.readthedocs.io/en/latest/user_guide/basic_rocket_design.html</a:t>
            </a:r>
          </a:p>
          <a:p xmlns:a="http://schemas.openxmlformats.org/drawingml/2006/main">
            <a:r>
              <a:t>NASA Glenn. Model Rockets. https://www1.grc.nasa.gov/beginners-guide-to-aeronautics/model-rockets/</a:t>
            </a:r>
          </a:p>
          <a:p xmlns:a="http://schemas.openxmlformats.org/drawingml/2006/main">
            <a:r>
              <a:t>Lectura: MECRO_Coheteria_Clase_06.pdf. Las capturas muestran ejemplos de documentación. Los casos numéricos se identifican como ejercicios y no se atribuyen a ejecuciones o mediciones no realizadas.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MECRO. Clase 6: Taller 1: medidas, encajes y alineación.</a:t>
            </a:r>
          </a:p>
          <a:p xmlns:a="http://schemas.openxmlformats.org/drawingml/2006/main">
            <a:r>
              <a:t>Presencial, 4 h. Tramo del núcleo: 4 min.</a:t>
            </a:r>
          </a:p>
          <a:p xmlns:a="http://schemas.openxmlformats.org/drawingml/2006/main">
            <a:r>
              <a:t>En presencial, integrar estas explicaciones con la agenda de 4 horas de la lectura; las actividades de banco o campo ocupan el tiempo previsto.</a:t>
            </a:r>
          </a:p>
          <a:p xmlns:a="http://schemas.openxmlformats.org/drawingml/2006/main">
            <a:r>
              <a:t/>
            </a:r>
          </a:p>
          <a:p xmlns:a="http://schemas.openxmlformats.org/drawingml/2006/main">
            <a:r>
              <a:t>Vista posterior del ejemplo de OpenRocket. En el taller se compara la distribución dibujada con la presentación real.</a:t>
            </a:r>
          </a:p>
          <a:p xmlns:a="http://schemas.openxmlformats.org/drawingml/2006/main">
            <a:r>
              <a:t>Localizar en la imagen las partes relacionadas con la pregunta.</a:t>
            </a:r>
          </a:p>
          <a:p xmlns:a="http://schemas.openxmlformats.org/drawingml/2006/main">
            <a:r>
              <a:t>¿Qué puedes descubrir sin pegar todavía?</a:t>
            </a:r>
          </a:p>
          <a:p xmlns:a="http://schemas.openxmlformats.org/drawingml/2006/main">
            <a:r>
              <a:t/>
            </a:r>
          </a:p>
          <a:p xmlns:a="http://schemas.openxmlformats.org/drawingml/2006/main">
            <a:r>
              <a:t>Resultado: Comprobar piezas físicas y corregir el diseño antes del montaje definitivo.</a:t>
            </a:r>
          </a:p>
          <a:p xmlns:a="http://schemas.openxmlformats.org/drawingml/2006/main">
            <a:r>
              <a:t>Misión: Conseguir que las piezas fabricadas correspondan al plano y puedan presentarse juntas.</a:t>
            </a:r>
          </a:p>
          <a:p xmlns:a="http://schemas.openxmlformats.org/drawingml/2006/main">
            <a:r>
              <a:t>Entrega: Ficha completa, fotografías, plano y .ork corregidos.</a:t>
            </a:r>
          </a:p>
          <a:p xmlns:a="http://schemas.openxmlformats.org/drawingml/2006/main">
            <a:r>
              <a:t/>
            </a:r>
          </a:p>
          <a:p xmlns:a="http://schemas.openxmlformats.org/drawingml/2006/main">
            <a:r>
              <a:t>Preguntas y respuestas</a:t>
            </a:r>
          </a:p>
          <a:p xmlns:a="http://schemas.openxmlformats.org/drawingml/2006/main">
            <a:r>
              <a:t>¿Una pieza que entra en el útil ya está aceptada para vuelo?</a:t>
            </a:r>
          </a:p>
          <a:p xmlns:a="http://schemas.openxmlformats.org/drawingml/2006/main">
            <a:r>
              <a:t>No. El encaje es una comprobación parcial.</a:t>
            </a:r>
          </a:p>
          <a:p xmlns:a="http://schemas.openxmlformats.org/drawingml/2006/main">
            <a:r>
              <a:t/>
            </a:r>
          </a:p>
          <a:p xmlns:a="http://schemas.openxmlformats.org/drawingml/2006/main">
            <a:r>
              <a:t>¿Qué incluye una masa medida útil?</a:t>
            </a:r>
          </a:p>
          <a:p xmlns:a="http://schemas.openxmlformats.org/drawingml/2006/main">
            <a:r>
              <a:t>Identificador, unidad y descripción de las piezas o acabado incluidos.</a:t>
            </a:r>
          </a:p>
          <a:p xmlns:a="http://schemas.openxmlformats.org/drawingml/2006/main">
            <a:r>
              <a:t/>
            </a:r>
          </a:p>
          <a:p xmlns:a="http://schemas.openxmlformats.org/drawingml/2006/main">
            <a:r>
              <a:t>¿Qué se conserva al corregir?</a:t>
            </a:r>
          </a:p>
          <a:p xmlns:a="http://schemas.openxmlformats.org/drawingml/2006/main">
            <a:r>
              <a:t>Dato anterior, cambio y nueva comprobación.</a:t>
            </a:r>
          </a:p>
          <a:p xmlns:a="http://schemas.openxmlformats.org/drawingml/2006/main">
            <a:r>
              <a:t/>
            </a:r>
          </a:p>
          <a:p xmlns:a="http://schemas.openxmlformats.org/drawingml/2006/main">
            <a:r>
              <a:t>Fuentes</a:t>
            </a:r>
          </a:p>
          <a:p xmlns:a="http://schemas.openxmlformats.org/drawingml/2006/main">
            <a:r>
              <a:t>Prusa Research. Modeling with 3D printing in mind. https://help.prusa3d.com/article/modeling-with-3d-printing-in-mind_164135</a:t>
            </a:r>
          </a:p>
          <a:p xmlns:a="http://schemas.openxmlformats.org/drawingml/2006/main">
            <a:r>
              <a:t>OpenRocket. Basic Rocket Design. https://openrocket.readthedocs.io/en/latest/user_guide/basic_rocket_design.html</a:t>
            </a:r>
          </a:p>
          <a:p xmlns:a="http://schemas.openxmlformats.org/drawingml/2006/main">
            <a:r>
              <a:t>NASA Glenn. Model Rockets. https://www1.grc.nasa.gov/beginners-guide-to-aeronautics/model-rockets/</a:t>
            </a:r>
          </a:p>
          <a:p xmlns:a="http://schemas.openxmlformats.org/drawingml/2006/main">
            <a:r>
              <a:t>Lectura: MECRO_Coheteria_Clase_06.pdf. Las capturas muestran ejemplos de documentación. Los casos numéricos se identifican como ejercicios y no se atribuyen a ejecuciones o mediciones no realizadas.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MECRO. Clase 6: Taller 1: medidas, encajes y alineación.</a:t>
            </a:r>
          </a:p>
          <a:p xmlns:a="http://schemas.openxmlformats.org/drawingml/2006/main">
            <a:r>
              <a:t>Presencial, 4 h. Tramo del núcleo: 5 min.</a:t>
            </a:r>
          </a:p>
          <a:p xmlns:a="http://schemas.openxmlformats.org/drawingml/2006/main">
            <a:r>
              <a:t>En presencial, integrar estas explicaciones con la agenda de 4 horas de la lectura; las actividades de banco o campo ocupan el tiempo previsto.</a:t>
            </a:r>
          </a:p>
          <a:p xmlns:a="http://schemas.openxmlformats.org/drawingml/2006/main">
            <a:r>
              <a:t/>
            </a:r>
          </a:p>
          <a:p xmlns:a="http://schemas.openxmlformats.org/drawingml/2006/main">
            <a:r>
              <a:t>Presenta la nariz y el cuerpo para observar continuidad y longitud exterior.</a:t>
            </a:r>
          </a:p>
          <a:p xmlns:a="http://schemas.openxmlformats.org/drawingml/2006/main">
            <a:r>
              <a:t>Coloca el útil sin forzar el tubo. Presenta todas las aletas según su referencia.</a:t>
            </a:r>
          </a:p>
          <a:p xmlns:a="http://schemas.openxmlformats.org/drawingml/2006/main">
            <a:r>
              <a:t>Observa la distribución desde atrás y la posición desde un lateral.</a:t>
            </a:r>
          </a:p>
          <a:p xmlns:a="http://schemas.openxmlformats.org/drawingml/2006/main">
            <a:r>
              <a:t>Comprueba que ninguna pieza haya quedado invertida o en una referencia diferente al plano.</a:t>
            </a:r>
          </a:p>
          <a:p xmlns:a="http://schemas.openxmlformats.org/drawingml/2006/main">
            <a:r>
              <a:t>Fotografía las vistas necesarias y escribe un resultado concreto por vista.</a:t>
            </a:r>
          </a:p>
          <a:p xmlns:a="http://schemas.openxmlformats.org/drawingml/2006/main">
            <a:r>
              <a:t>Comprobar un paso en el objeto o programa antes de continuar.</a:t>
            </a:r>
          </a:p>
          <a:p xmlns:a="http://schemas.openxmlformats.org/drawingml/2006/main">
            <a:r>
              <a:t/>
            </a:r>
          </a:p>
          <a:p xmlns:a="http://schemas.openxmlformats.org/drawingml/2006/main">
            <a:r>
              <a:t>Resultado: Comprobar piezas físicas y corregir el diseño antes del montaje definitivo.</a:t>
            </a:r>
          </a:p>
          <a:p xmlns:a="http://schemas.openxmlformats.org/drawingml/2006/main">
            <a:r>
              <a:t>Misión: Conseguir que las piezas fabricadas correspondan al plano y puedan presentarse juntas.</a:t>
            </a:r>
          </a:p>
          <a:p xmlns:a="http://schemas.openxmlformats.org/drawingml/2006/main">
            <a:r>
              <a:t>Entrega: Ficha completa, fotografías, plano y .ork corregidos.</a:t>
            </a:r>
          </a:p>
          <a:p xmlns:a="http://schemas.openxmlformats.org/drawingml/2006/main">
            <a:r>
              <a:t/>
            </a:r>
          </a:p>
          <a:p xmlns:a="http://schemas.openxmlformats.org/drawingml/2006/main">
            <a:r>
              <a:t>Preguntas y respuestas</a:t>
            </a:r>
          </a:p>
          <a:p xmlns:a="http://schemas.openxmlformats.org/drawingml/2006/main">
            <a:r>
              <a:t>¿Una pieza que entra en el útil ya está aceptada para vuelo?</a:t>
            </a:r>
          </a:p>
          <a:p xmlns:a="http://schemas.openxmlformats.org/drawingml/2006/main">
            <a:r>
              <a:t>No. El encaje es una comprobación parcial.</a:t>
            </a:r>
          </a:p>
          <a:p xmlns:a="http://schemas.openxmlformats.org/drawingml/2006/main">
            <a:r>
              <a:t/>
            </a:r>
          </a:p>
          <a:p xmlns:a="http://schemas.openxmlformats.org/drawingml/2006/main">
            <a:r>
              <a:t>¿Qué incluye una masa medida útil?</a:t>
            </a:r>
          </a:p>
          <a:p xmlns:a="http://schemas.openxmlformats.org/drawingml/2006/main">
            <a:r>
              <a:t>Identificador, unidad y descripción de las piezas o acabado incluidos.</a:t>
            </a:r>
          </a:p>
          <a:p xmlns:a="http://schemas.openxmlformats.org/drawingml/2006/main">
            <a:r>
              <a:t/>
            </a:r>
          </a:p>
          <a:p xmlns:a="http://schemas.openxmlformats.org/drawingml/2006/main">
            <a:r>
              <a:t>¿Qué se conserva al corregir?</a:t>
            </a:r>
          </a:p>
          <a:p xmlns:a="http://schemas.openxmlformats.org/drawingml/2006/main">
            <a:r>
              <a:t>Dato anterior, cambio y nueva comprobación.</a:t>
            </a:r>
          </a:p>
          <a:p xmlns:a="http://schemas.openxmlformats.org/drawingml/2006/main">
            <a:r>
              <a:t/>
            </a:r>
          </a:p>
          <a:p xmlns:a="http://schemas.openxmlformats.org/drawingml/2006/main">
            <a:r>
              <a:t>Fuentes</a:t>
            </a:r>
          </a:p>
          <a:p xmlns:a="http://schemas.openxmlformats.org/drawingml/2006/main">
            <a:r>
              <a:t>Prusa Research. Modeling with 3D printing in mind. https://help.prusa3d.com/article/modeling-with-3d-printing-in-mind_164135</a:t>
            </a:r>
          </a:p>
          <a:p xmlns:a="http://schemas.openxmlformats.org/drawingml/2006/main">
            <a:r>
              <a:t>OpenRocket. Basic Rocket Design. https://openrocket.readthedocs.io/en/latest/user_guide/basic_rocket_design.html</a:t>
            </a:r>
          </a:p>
          <a:p xmlns:a="http://schemas.openxmlformats.org/drawingml/2006/main">
            <a:r>
              <a:t>NASA Glenn. Model Rockets. https://www1.grc.nasa.gov/beginners-guide-to-aeronautics/model-rockets/</a:t>
            </a:r>
          </a:p>
          <a:p xmlns:a="http://schemas.openxmlformats.org/drawingml/2006/main">
            <a:r>
              <a:t>Lectura: MECRO_Coheteria_Clase_06.pdf. Las capturas muestran ejemplos de documentación. Los casos numéricos se identifican como ejercicios y no se atribuyen a ejecuciones o mediciones no realizadas.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MECRO. Clase 6: Taller 1: medidas, encajes y alineación.</a:t>
            </a:r>
          </a:p>
          <a:p xmlns:a="http://schemas.openxmlformats.org/drawingml/2006/main">
            <a:r>
              <a:t>Presencial, 4 h. Tramo del núcleo: 4 min.</a:t>
            </a:r>
          </a:p>
          <a:p xmlns:a="http://schemas.openxmlformats.org/drawingml/2006/main">
            <a:r>
              <a:t>En presencial, integrar estas explicaciones con la agenda de 4 horas de la lectura; las actividades de banco o campo ocupan el tiempo previsto.</a:t>
            </a:r>
          </a:p>
          <a:p xmlns:a="http://schemas.openxmlformats.org/drawingml/2006/main">
            <a:r>
              <a:t/>
            </a:r>
          </a:p>
          <a:p xmlns:a="http://schemas.openxmlformats.org/drawingml/2006/main">
            <a:r>
              <a:t>Una pieza puede conservar la geometría dibujada y tener una masa diferente a la estimada. Antes de introducir la medida en el programa, se define qué se pesó: pieza sola, conjunto o pieza con acabado. Si se ajusta la masa de una pieza y además se añade otra masa que representa lo mismo, el modelo la cuenta dos veces.</a:t>
            </a:r>
          </a:p>
          <a:p xmlns:a="http://schemas.openxmlformats.org/drawingml/2006/main">
            <a:r>
              <a:t/>
            </a:r>
          </a:p>
          <a:p xmlns:a="http://schemas.openxmlformats.org/drawingml/2006/main">
            <a:r>
              <a:t>No se utiliza el ajuste de masa para obtener un resultado de vuelo deseado. Se utiliza para representar mejor el objeto que se está construyendo. [OR1]</a:t>
            </a:r>
          </a:p>
          <a:p xmlns:a="http://schemas.openxmlformats.org/drawingml/2006/main">
            <a:r>
              <a:t/>
            </a:r>
          </a:p>
          <a:p xmlns:a="http://schemas.openxmlformats.org/drawingml/2006/main">
            <a:r>
              <a:t>Una masa calculada y otra pesada responden a métodos diferentes. Si la geometría y el material del archivo producen una estimación, se conserva su origen. Si el equipo pesa una pieza, anota si incluye pintura, unión o accesorio. El ajuste del modelo usa esa medida solo cuando corresponde a la pieza y a la condición representadas. Una corrección de masa puede mejorar la representación sin corregir todavía el encaje o la forma física.</a:t>
            </a:r>
          </a:p>
          <a:p xmlns:a="http://schemas.openxmlformats.org/drawingml/2006/main">
            <a:r>
              <a:t>Pregunta para el grupo: ¿Qué incluye exactamente la masa pesada?</a:t>
            </a:r>
          </a:p>
          <a:p xmlns:a="http://schemas.openxmlformats.org/drawingml/2006/main">
            <a:r>
              <a:t/>
            </a:r>
          </a:p>
          <a:p xmlns:a="http://schemas.openxmlformats.org/drawingml/2006/main">
            <a:r>
              <a:t>Resultado: Comprobar piezas físicas y corregir el diseño antes del montaje definitivo.</a:t>
            </a:r>
          </a:p>
          <a:p xmlns:a="http://schemas.openxmlformats.org/drawingml/2006/main">
            <a:r>
              <a:t>Misión: Conseguir que las piezas fabricadas correspondan al plano y puedan presentarse juntas.</a:t>
            </a:r>
          </a:p>
          <a:p xmlns:a="http://schemas.openxmlformats.org/drawingml/2006/main">
            <a:r>
              <a:t>Entrega: Ficha completa, fotografías, plano y .ork corregidos.</a:t>
            </a:r>
          </a:p>
          <a:p xmlns:a="http://schemas.openxmlformats.org/drawingml/2006/main">
            <a:r>
              <a:t/>
            </a:r>
          </a:p>
          <a:p xmlns:a="http://schemas.openxmlformats.org/drawingml/2006/main">
            <a:r>
              <a:t>Preguntas y respuestas</a:t>
            </a:r>
          </a:p>
          <a:p xmlns:a="http://schemas.openxmlformats.org/drawingml/2006/main">
            <a:r>
              <a:t>¿Una pieza que entra en el útil ya está aceptada para vuelo?</a:t>
            </a:r>
          </a:p>
          <a:p xmlns:a="http://schemas.openxmlformats.org/drawingml/2006/main">
            <a:r>
              <a:t>No. El encaje es una comprobación parcial.</a:t>
            </a:r>
          </a:p>
          <a:p xmlns:a="http://schemas.openxmlformats.org/drawingml/2006/main">
            <a:r>
              <a:t/>
            </a:r>
          </a:p>
          <a:p xmlns:a="http://schemas.openxmlformats.org/drawingml/2006/main">
            <a:r>
              <a:t>¿Qué incluye una masa medida útil?</a:t>
            </a:r>
          </a:p>
          <a:p xmlns:a="http://schemas.openxmlformats.org/drawingml/2006/main">
            <a:r>
              <a:t>Identificador, unidad y descripción de las piezas o acabado incluidos.</a:t>
            </a:r>
          </a:p>
          <a:p xmlns:a="http://schemas.openxmlformats.org/drawingml/2006/main">
            <a:r>
              <a:t/>
            </a:r>
          </a:p>
          <a:p xmlns:a="http://schemas.openxmlformats.org/drawingml/2006/main">
            <a:r>
              <a:t>¿Qué se conserva al corregir?</a:t>
            </a:r>
          </a:p>
          <a:p xmlns:a="http://schemas.openxmlformats.org/drawingml/2006/main">
            <a:r>
              <a:t>Dato anterior, cambio y nueva comprobación.</a:t>
            </a:r>
          </a:p>
          <a:p xmlns:a="http://schemas.openxmlformats.org/drawingml/2006/main">
            <a:r>
              <a:t/>
            </a:r>
          </a:p>
          <a:p xmlns:a="http://schemas.openxmlformats.org/drawingml/2006/main">
            <a:r>
              <a:t>Fuentes</a:t>
            </a:r>
          </a:p>
          <a:p xmlns:a="http://schemas.openxmlformats.org/drawingml/2006/main">
            <a:r>
              <a:t>Prusa Research. Modeling with 3D printing in mind. https://help.prusa3d.com/article/modeling-with-3d-printing-in-mind_164135</a:t>
            </a:r>
          </a:p>
          <a:p xmlns:a="http://schemas.openxmlformats.org/drawingml/2006/main">
            <a:r>
              <a:t>OpenRocket. Basic Rocket Design. https://openrocket.readthedocs.io/en/latest/user_guide/basic_rocket_design.html</a:t>
            </a:r>
          </a:p>
          <a:p xmlns:a="http://schemas.openxmlformats.org/drawingml/2006/main">
            <a:r>
              <a:t>NASA Glenn. Model Rockets. https://www1.grc.nasa.gov/beginners-guide-to-aeronautics/model-rockets/</a:t>
            </a:r>
          </a:p>
          <a:p xmlns:a="http://schemas.openxmlformats.org/drawingml/2006/main">
            <a:r>
              <a:t>Lectura: MECRO_Coheteria_Clase_06.pdf. Las capturas muestran ejemplos de documentación. Los casos numéricos se identifican como ejercicios y no se atribuyen a ejecuciones o mediciones no realizadas.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MECRO. Clase 6: Taller 1: medidas, encajes y alineación.</a:t>
            </a:r>
          </a:p>
          <a:p xmlns:a="http://schemas.openxmlformats.org/drawingml/2006/main">
            <a:r>
              <a:t>Presencial, 4 h. Tramo del núcleo: 4 min.</a:t>
            </a:r>
          </a:p>
          <a:p xmlns:a="http://schemas.openxmlformats.org/drawingml/2006/main">
            <a:r>
              <a:t>En presencial, integrar estas explicaciones con la agenda de 4 horas de la lectura; las actividades de banco o campo ocupan el tiempo previsto.</a:t>
            </a:r>
          </a:p>
          <a:p xmlns:a="http://schemas.openxmlformats.org/drawingml/2006/main">
            <a:r>
              <a:t/>
            </a:r>
          </a:p>
          <a:p xmlns:a="http://schemas.openxmlformats.org/drawingml/2006/main">
            <a:r>
              <a:t>Pestaña de ajustes de masa en el manual de OpenRocket. Se usa con datos identificados, sin duplicar componentes.</a:t>
            </a:r>
          </a:p>
          <a:p xmlns:a="http://schemas.openxmlformats.org/drawingml/2006/main">
            <a:r>
              <a:t>Localizar en la imagen las partes relacionadas con la pregunta.</a:t>
            </a:r>
          </a:p>
          <a:p xmlns:a="http://schemas.openxmlformats.org/drawingml/2006/main">
            <a:r>
              <a:t>¿Qué incluye exactamente la masa pesada?</a:t>
            </a:r>
          </a:p>
          <a:p xmlns:a="http://schemas.openxmlformats.org/drawingml/2006/main">
            <a:r>
              <a:t/>
            </a:r>
          </a:p>
          <a:p xmlns:a="http://schemas.openxmlformats.org/drawingml/2006/main">
            <a:r>
              <a:t>Resultado: Comprobar piezas físicas y corregir el diseño antes del montaje definitivo.</a:t>
            </a:r>
          </a:p>
          <a:p xmlns:a="http://schemas.openxmlformats.org/drawingml/2006/main">
            <a:r>
              <a:t>Misión: Conseguir que las piezas fabricadas correspondan al plano y puedan presentarse juntas.</a:t>
            </a:r>
          </a:p>
          <a:p xmlns:a="http://schemas.openxmlformats.org/drawingml/2006/main">
            <a:r>
              <a:t>Entrega: Ficha completa, fotografías, plano y .ork corregidos.</a:t>
            </a:r>
          </a:p>
          <a:p xmlns:a="http://schemas.openxmlformats.org/drawingml/2006/main">
            <a:r>
              <a:t/>
            </a:r>
          </a:p>
          <a:p xmlns:a="http://schemas.openxmlformats.org/drawingml/2006/main">
            <a:r>
              <a:t>Preguntas y respuestas</a:t>
            </a:r>
          </a:p>
          <a:p xmlns:a="http://schemas.openxmlformats.org/drawingml/2006/main">
            <a:r>
              <a:t>¿Una pieza que entra en el útil ya está aceptada para vuelo?</a:t>
            </a:r>
          </a:p>
          <a:p xmlns:a="http://schemas.openxmlformats.org/drawingml/2006/main">
            <a:r>
              <a:t>No. El encaje es una comprobación parcial.</a:t>
            </a:r>
          </a:p>
          <a:p xmlns:a="http://schemas.openxmlformats.org/drawingml/2006/main">
            <a:r>
              <a:t/>
            </a:r>
          </a:p>
          <a:p xmlns:a="http://schemas.openxmlformats.org/drawingml/2006/main">
            <a:r>
              <a:t>¿Qué incluye una masa medida útil?</a:t>
            </a:r>
          </a:p>
          <a:p xmlns:a="http://schemas.openxmlformats.org/drawingml/2006/main">
            <a:r>
              <a:t>Identificador, unidad y descripción de las piezas o acabado incluidos.</a:t>
            </a:r>
          </a:p>
          <a:p xmlns:a="http://schemas.openxmlformats.org/drawingml/2006/main">
            <a:r>
              <a:t/>
            </a:r>
          </a:p>
          <a:p xmlns:a="http://schemas.openxmlformats.org/drawingml/2006/main">
            <a:r>
              <a:t>¿Qué se conserva al corregir?</a:t>
            </a:r>
          </a:p>
          <a:p xmlns:a="http://schemas.openxmlformats.org/drawingml/2006/main">
            <a:r>
              <a:t>Dato anterior, cambio y nueva comprobación.</a:t>
            </a:r>
          </a:p>
          <a:p xmlns:a="http://schemas.openxmlformats.org/drawingml/2006/main">
            <a:r>
              <a:t/>
            </a:r>
          </a:p>
          <a:p xmlns:a="http://schemas.openxmlformats.org/drawingml/2006/main">
            <a:r>
              <a:t>Fuentes</a:t>
            </a:r>
          </a:p>
          <a:p xmlns:a="http://schemas.openxmlformats.org/drawingml/2006/main">
            <a:r>
              <a:t>Prusa Research. Modeling with 3D printing in mind. https://help.prusa3d.com/article/modeling-with-3d-printing-in-mind_164135</a:t>
            </a:r>
          </a:p>
          <a:p xmlns:a="http://schemas.openxmlformats.org/drawingml/2006/main">
            <a:r>
              <a:t>OpenRocket. Basic Rocket Design. https://openrocket.readthedocs.io/en/latest/user_guide/basic_rocket_design.html</a:t>
            </a:r>
          </a:p>
          <a:p xmlns:a="http://schemas.openxmlformats.org/drawingml/2006/main">
            <a:r>
              <a:t>NASA Glenn. Model Rockets. https://www1.grc.nasa.gov/beginners-guide-to-aeronautics/model-rockets/</a:t>
            </a:r>
          </a:p>
          <a:p xmlns:a="http://schemas.openxmlformats.org/drawingml/2006/main">
            <a:r>
              <a:t>Lectura: MECRO_Coheteria_Clase_06.pdf. Las capturas muestran ejemplos de documentación. Los casos numéricos se identifican como ejercicios y no se atribuyen a ejecuciones o mediciones no realizadas.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MECRO. Clase 6: Taller 1: medidas, encajes y alineación.</a:t>
            </a:r>
          </a:p>
          <a:p xmlns:a="http://schemas.openxmlformats.org/drawingml/2006/main">
            <a:r>
              <a:t>Presencial, 4 h. Tramo del núcleo: 5 min.</a:t>
            </a:r>
          </a:p>
          <a:p xmlns:a="http://schemas.openxmlformats.org/drawingml/2006/main">
            <a:r>
              <a:t>En presencial, integrar estas explicaciones con la agenda de 4 horas de la lectura; las actividades de banco o campo ocupan el tiempo previsto.</a:t>
            </a:r>
          </a:p>
          <a:p xmlns:a="http://schemas.openxmlformats.org/drawingml/2006/main">
            <a:r>
              <a:t/>
            </a:r>
          </a:p>
          <a:p xmlns:a="http://schemas.openxmlformats.org/drawingml/2006/main">
            <a:r>
              <a:t>Pesa la pieza identificada y anota qué incluye.</a:t>
            </a:r>
          </a:p>
          <a:p xmlns:a="http://schemas.openxmlformats.org/drawingml/2006/main">
            <a:r>
              <a:t>Compara el resultado con la estimación del modelo.</a:t>
            </a:r>
          </a:p>
          <a:p xmlns:a="http://schemas.openxmlformats.org/drawingml/2006/main">
            <a:r>
              <a:t>Actualiza la representación de esa pieza según la versión del programa.</a:t>
            </a:r>
          </a:p>
          <a:p xmlns:a="http://schemas.openxmlformats.org/drawingml/2006/main">
            <a:r>
              <a:t>Revisa el total y conserva una copia anterior.</a:t>
            </a:r>
          </a:p>
          <a:p xmlns:a="http://schemas.openxmlformats.org/drawingml/2006/main">
            <a:r>
              <a:t>Añade en el comentario la fecha y el origen de la medida.</a:t>
            </a:r>
          </a:p>
          <a:p xmlns:a="http://schemas.openxmlformats.org/drawingml/2006/main">
            <a:r>
              <a:t>Comprobar un paso en el objeto o programa antes de continuar.</a:t>
            </a:r>
          </a:p>
          <a:p xmlns:a="http://schemas.openxmlformats.org/drawingml/2006/main">
            <a:r>
              <a:t/>
            </a:r>
          </a:p>
          <a:p xmlns:a="http://schemas.openxmlformats.org/drawingml/2006/main">
            <a:r>
              <a:t>Resultado: Comprobar piezas físicas y corregir el diseño antes del montaje definitivo.</a:t>
            </a:r>
          </a:p>
          <a:p xmlns:a="http://schemas.openxmlformats.org/drawingml/2006/main">
            <a:r>
              <a:t>Misión: Conseguir que las piezas fabricadas correspondan al plano y puedan presentarse juntas.</a:t>
            </a:r>
          </a:p>
          <a:p xmlns:a="http://schemas.openxmlformats.org/drawingml/2006/main">
            <a:r>
              <a:t>Entrega: Ficha completa, fotografías, plano y .ork corregidos.</a:t>
            </a:r>
          </a:p>
          <a:p xmlns:a="http://schemas.openxmlformats.org/drawingml/2006/main">
            <a:r>
              <a:t/>
            </a:r>
          </a:p>
          <a:p xmlns:a="http://schemas.openxmlformats.org/drawingml/2006/main">
            <a:r>
              <a:t>Preguntas y respuestas</a:t>
            </a:r>
          </a:p>
          <a:p xmlns:a="http://schemas.openxmlformats.org/drawingml/2006/main">
            <a:r>
              <a:t>¿Una pieza que entra en el útil ya está aceptada para vuelo?</a:t>
            </a:r>
          </a:p>
          <a:p xmlns:a="http://schemas.openxmlformats.org/drawingml/2006/main">
            <a:r>
              <a:t>No. El encaje es una comprobación parcial.</a:t>
            </a:r>
          </a:p>
          <a:p xmlns:a="http://schemas.openxmlformats.org/drawingml/2006/main">
            <a:r>
              <a:t/>
            </a:r>
          </a:p>
          <a:p xmlns:a="http://schemas.openxmlformats.org/drawingml/2006/main">
            <a:r>
              <a:t>¿Qué incluye una masa medida útil?</a:t>
            </a:r>
          </a:p>
          <a:p xmlns:a="http://schemas.openxmlformats.org/drawingml/2006/main">
            <a:r>
              <a:t>Identificador, unidad y descripción de las piezas o acabado incluidos.</a:t>
            </a:r>
          </a:p>
          <a:p xmlns:a="http://schemas.openxmlformats.org/drawingml/2006/main">
            <a:r>
              <a:t/>
            </a:r>
          </a:p>
          <a:p xmlns:a="http://schemas.openxmlformats.org/drawingml/2006/main">
            <a:r>
              <a:t>¿Qué se conserva al corregir?</a:t>
            </a:r>
          </a:p>
          <a:p xmlns:a="http://schemas.openxmlformats.org/drawingml/2006/main">
            <a:r>
              <a:t>Dato anterior, cambio y nueva comprobación.</a:t>
            </a:r>
          </a:p>
          <a:p xmlns:a="http://schemas.openxmlformats.org/drawingml/2006/main">
            <a:r>
              <a:t/>
            </a:r>
          </a:p>
          <a:p xmlns:a="http://schemas.openxmlformats.org/drawingml/2006/main">
            <a:r>
              <a:t>Fuentes</a:t>
            </a:r>
          </a:p>
          <a:p xmlns:a="http://schemas.openxmlformats.org/drawingml/2006/main">
            <a:r>
              <a:t>Prusa Research. Modeling with 3D printing in mind. https://help.prusa3d.com/article/modeling-with-3d-printing-in-mind_164135</a:t>
            </a:r>
          </a:p>
          <a:p xmlns:a="http://schemas.openxmlformats.org/drawingml/2006/main">
            <a:r>
              <a:t>OpenRocket. Basic Rocket Design. https://openrocket.readthedocs.io/en/latest/user_guide/basic_rocket_design.html</a:t>
            </a:r>
          </a:p>
          <a:p xmlns:a="http://schemas.openxmlformats.org/drawingml/2006/main">
            <a:r>
              <a:t>NASA Glenn. Model Rockets. https://www1.grc.nasa.gov/beginners-guide-to-aeronautics/model-rockets/</a:t>
            </a:r>
          </a:p>
          <a:p xmlns:a="http://schemas.openxmlformats.org/drawingml/2006/main">
            <a:r>
              <a:t>Lectura: MECRO_Coheteria_Clase_06.pdf. Las capturas muestran ejemplos de documentación. Los casos numéricos se identifican como ejercicios y no se atribuyen a ejecuciones o mediciones no realizadas.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MECRO. Clase 6: Taller 1: medidas, encajes y alineación.</a:t>
            </a:r>
          </a:p>
          <a:p xmlns:a="http://schemas.openxmlformats.org/drawingml/2006/main">
            <a:r>
              <a:t>Presencial, 4 h. Tramo del núcleo: 4 min.</a:t>
            </a:r>
          </a:p>
          <a:p xmlns:a="http://schemas.openxmlformats.org/drawingml/2006/main">
            <a:r>
              <a:t>En presencial, integrar estas explicaciones con la agenda de 4 horas de la lectura; las actividades de banco o campo ocupan el tiempo previsto.</a:t>
            </a:r>
          </a:p>
          <a:p xmlns:a="http://schemas.openxmlformats.org/drawingml/2006/main">
            <a:r>
              <a:t/>
            </a:r>
          </a:p>
          <a:p xmlns:a="http://schemas.openxmlformats.org/drawingml/2006/main">
            <a:r>
              <a:t>Las impresiones largas se preparan fuera del encuentro. Durante la sesión se priorizan comprobaciones, correcciones de archivo y, si el equipo lo permite, una muestra corta. El docente dispone de piezas de reserva para que un fallo de impresión no impida aprender a medir y revisar.</a:t>
            </a:r>
          </a:p>
          <a:p xmlns:a="http://schemas.openxmlformats.org/drawingml/2006/main">
            <a:r>
              <a:t/>
            </a:r>
          </a:p>
          <a:p xmlns:a="http://schemas.openxmlformats.org/drawingml/2006/main">
            <a:r>
              <a:t>El hombro se traba solo al final del recorrido y la medida inicial parecía correcta.</a:t>
            </a:r>
          </a:p>
          <a:p xmlns:a="http://schemas.openxmlformats.org/drawingml/2006/main">
            <a:r>
              <a:t/>
            </a:r>
          </a:p>
          <a:p xmlns:a="http://schemas.openxmlformats.org/drawingml/2006/main">
            <a:r>
              <a:t>Al terminar una estación, otro integrante explica el resultado. No basta mostrar la fotografía: debe indicar qué decisión se tomó y qué evidencia la respalda.</a:t>
            </a:r>
          </a:p>
          <a:p xmlns:a="http://schemas.openxmlformats.org/drawingml/2006/main">
            <a:r>
              <a:t/>
            </a:r>
          </a:p>
          <a:p xmlns:a="http://schemas.openxmlformats.org/drawingml/2006/main">
            <a:r>
              <a:t>Las correcciones se agrupan por causa para no gastar la impresora en cambios sin comprobar. Por ejemplo, una familia de muestras puede resolver un diámetro de encaje y otra un apoyo del útil. Antes de solicitar una nueva impresión, el equipo muestra la diferencia observada, el cambio de archivo y la comprobación que hará al recibirla. El docente puede entonces decidir qué muestra pequeña responde mejor a la pregunta del taller.</a:t>
            </a:r>
          </a:p>
          <a:p xmlns:a="http://schemas.openxmlformats.org/drawingml/2006/main">
            <a:r>
              <a:t>Pregunta para el grupo: ¿Qué corrección pequeña comprobarás primero?</a:t>
            </a:r>
          </a:p>
          <a:p xmlns:a="http://schemas.openxmlformats.org/drawingml/2006/main">
            <a:r>
              <a:t/>
            </a:r>
          </a:p>
          <a:p xmlns:a="http://schemas.openxmlformats.org/drawingml/2006/main">
            <a:r>
              <a:t>Resultado: Comprobar piezas físicas y corregir el diseño antes del montaje definitivo.</a:t>
            </a:r>
          </a:p>
          <a:p xmlns:a="http://schemas.openxmlformats.org/drawingml/2006/main">
            <a:r>
              <a:t>Misión: Conseguir que las piezas fabricadas correspondan al plano y puedan presentarse juntas.</a:t>
            </a:r>
          </a:p>
          <a:p xmlns:a="http://schemas.openxmlformats.org/drawingml/2006/main">
            <a:r>
              <a:t>Entrega: Ficha completa, fotografías, plano y .ork corregidos.</a:t>
            </a:r>
          </a:p>
          <a:p xmlns:a="http://schemas.openxmlformats.org/drawingml/2006/main">
            <a:r>
              <a:t/>
            </a:r>
          </a:p>
          <a:p xmlns:a="http://schemas.openxmlformats.org/drawingml/2006/main">
            <a:r>
              <a:t>Preguntas y respuestas</a:t>
            </a:r>
          </a:p>
          <a:p xmlns:a="http://schemas.openxmlformats.org/drawingml/2006/main">
            <a:r>
              <a:t>¿Una pieza que entra en el útil ya está aceptada para vuelo?</a:t>
            </a:r>
          </a:p>
          <a:p xmlns:a="http://schemas.openxmlformats.org/drawingml/2006/main">
            <a:r>
              <a:t>No. El encaje es una comprobación parcial.</a:t>
            </a:r>
          </a:p>
          <a:p xmlns:a="http://schemas.openxmlformats.org/drawingml/2006/main">
            <a:r>
              <a:t/>
            </a:r>
          </a:p>
          <a:p xmlns:a="http://schemas.openxmlformats.org/drawingml/2006/main">
            <a:r>
              <a:t>¿Qué incluye una masa medida útil?</a:t>
            </a:r>
          </a:p>
          <a:p xmlns:a="http://schemas.openxmlformats.org/drawingml/2006/main">
            <a:r>
              <a:t>Identificador, unidad y descripción de las piezas o acabado incluidos.</a:t>
            </a:r>
          </a:p>
          <a:p xmlns:a="http://schemas.openxmlformats.org/drawingml/2006/main">
            <a:r>
              <a:t/>
            </a:r>
          </a:p>
          <a:p xmlns:a="http://schemas.openxmlformats.org/drawingml/2006/main">
            <a:r>
              <a:t>¿Qué se conserva al corregir?</a:t>
            </a:r>
          </a:p>
          <a:p xmlns:a="http://schemas.openxmlformats.org/drawingml/2006/main">
            <a:r>
              <a:t>Dato anterior, cambio y nueva comprobación.</a:t>
            </a:r>
          </a:p>
          <a:p xmlns:a="http://schemas.openxmlformats.org/drawingml/2006/main">
            <a:r>
              <a:t/>
            </a:r>
          </a:p>
          <a:p xmlns:a="http://schemas.openxmlformats.org/drawingml/2006/main">
            <a:r>
              <a:t>Fuentes</a:t>
            </a:r>
          </a:p>
          <a:p xmlns:a="http://schemas.openxmlformats.org/drawingml/2006/main">
            <a:r>
              <a:t>Prusa Research. Modeling with 3D printing in mind. https://help.prusa3d.com/article/modeling-with-3d-printing-in-mind_164135</a:t>
            </a:r>
          </a:p>
          <a:p xmlns:a="http://schemas.openxmlformats.org/drawingml/2006/main">
            <a:r>
              <a:t>OpenRocket. Basic Rocket Design. https://openrocket.readthedocs.io/en/latest/user_guide/basic_rocket_design.html</a:t>
            </a:r>
          </a:p>
          <a:p xmlns:a="http://schemas.openxmlformats.org/drawingml/2006/main">
            <a:r>
              <a:t>NASA Glenn. Model Rockets. https://www1.grc.nasa.gov/beginners-guide-to-aeronautics/model-rockets/</a:t>
            </a:r>
          </a:p>
          <a:p xmlns:a="http://schemas.openxmlformats.org/drawingml/2006/main">
            <a:r>
              <a:t>Lectura: MECRO_Coheteria_Clase_06.pdf. Las capturas muestran ejemplos de documentación. Los casos numéricos se identifican como ejercicios y no se atribuyen a ejecuciones o mediciones no realizadas.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MECRO. Clase 6: Taller 1: medidas, encajes y alineación.</a:t>
            </a:r>
          </a:p>
          <a:p xmlns:a="http://schemas.openxmlformats.org/drawingml/2006/main">
            <a:r>
              <a:t>Presencial, 4 h. Tramo del núcleo: 4 min.</a:t>
            </a:r>
          </a:p>
          <a:p xmlns:a="http://schemas.openxmlformats.org/drawingml/2006/main">
            <a:r>
              <a:t>En presencial, integrar estas explicaciones con la agenda de 4 horas de la lectura; las actividades de banco o campo ocupan el tiempo previsto.</a:t>
            </a:r>
          </a:p>
          <a:p xmlns:a="http://schemas.openxmlformats.org/drawingml/2006/main">
            <a:r>
              <a:t/>
            </a:r>
          </a:p>
          <a:p xmlns:a="http://schemas.openxmlformats.org/drawingml/2006/main">
            <a:r>
              <a:t>Minutos / Trabajo / Producto</a:t>
            </a:r>
          </a:p>
          <a:p xmlns:a="http://schemas.openxmlformats.org/drawingml/2006/main">
            <a:r>
              <a:t>0–30 / Demostración de herramientas y referencias / Todos reconocen las medidas</a:t>
            </a:r>
          </a:p>
          <a:p xmlns:a="http://schemas.openxmlformats.org/drawingml/2006/main">
            <a:r>
              <a:t>30–105 / Medición y series de encaje / Ficha por interfaz</a:t>
            </a:r>
          </a:p>
          <a:p xmlns:a="http://schemas.openxmlformats.org/drawingml/2006/main">
            <a:r>
              <a:t>105–180 / Presentación, útiles y correcciones / Fotos y cambios propuestos</a:t>
            </a:r>
          </a:p>
          <a:p xmlns:a="http://schemas.openxmlformats.org/drawingml/2006/main">
            <a:r>
              <a:t>180–240 / Actualización digital y revisión / Plano y archivo revisados</a:t>
            </a:r>
          </a:p>
          <a:p xmlns:a="http://schemas.openxmlformats.org/drawingml/2006/main">
            <a:r>
              <a:t>Comparar dos filas y justificar con la misión.</a:t>
            </a:r>
          </a:p>
          <a:p xmlns:a="http://schemas.openxmlformats.org/drawingml/2006/main">
            <a:r>
              <a:t/>
            </a:r>
          </a:p>
          <a:p xmlns:a="http://schemas.openxmlformats.org/drawingml/2006/main">
            <a:r>
              <a:t>Resultado: Comprobar piezas físicas y corregir el diseño antes del montaje definitivo.</a:t>
            </a:r>
          </a:p>
          <a:p xmlns:a="http://schemas.openxmlformats.org/drawingml/2006/main">
            <a:r>
              <a:t>Misión: Conseguir que las piezas fabricadas correspondan al plano y puedan presentarse juntas.</a:t>
            </a:r>
          </a:p>
          <a:p xmlns:a="http://schemas.openxmlformats.org/drawingml/2006/main">
            <a:r>
              <a:t>Entrega: Ficha completa, fotografías, plano y .ork corregidos.</a:t>
            </a:r>
          </a:p>
          <a:p xmlns:a="http://schemas.openxmlformats.org/drawingml/2006/main">
            <a:r>
              <a:t/>
            </a:r>
          </a:p>
          <a:p xmlns:a="http://schemas.openxmlformats.org/drawingml/2006/main">
            <a:r>
              <a:t>Preguntas y respuestas</a:t>
            </a:r>
          </a:p>
          <a:p xmlns:a="http://schemas.openxmlformats.org/drawingml/2006/main">
            <a:r>
              <a:t>¿Una pieza que entra en el útil ya está aceptada para vuelo?</a:t>
            </a:r>
          </a:p>
          <a:p xmlns:a="http://schemas.openxmlformats.org/drawingml/2006/main">
            <a:r>
              <a:t>No. El encaje es una comprobación parcial.</a:t>
            </a:r>
          </a:p>
          <a:p xmlns:a="http://schemas.openxmlformats.org/drawingml/2006/main">
            <a:r>
              <a:t/>
            </a:r>
          </a:p>
          <a:p xmlns:a="http://schemas.openxmlformats.org/drawingml/2006/main">
            <a:r>
              <a:t>¿Qué incluye una masa medida útil?</a:t>
            </a:r>
          </a:p>
          <a:p xmlns:a="http://schemas.openxmlformats.org/drawingml/2006/main">
            <a:r>
              <a:t>Identificador, unidad y descripción de las piezas o acabado incluidos.</a:t>
            </a:r>
          </a:p>
          <a:p xmlns:a="http://schemas.openxmlformats.org/drawingml/2006/main">
            <a:r>
              <a:t/>
            </a:r>
          </a:p>
          <a:p xmlns:a="http://schemas.openxmlformats.org/drawingml/2006/main">
            <a:r>
              <a:t>¿Qué se conserva al corregir?</a:t>
            </a:r>
          </a:p>
          <a:p xmlns:a="http://schemas.openxmlformats.org/drawingml/2006/main">
            <a:r>
              <a:t>Dato anterior, cambio y nueva comprobación.</a:t>
            </a:r>
          </a:p>
          <a:p xmlns:a="http://schemas.openxmlformats.org/drawingml/2006/main">
            <a:r>
              <a:t/>
            </a:r>
          </a:p>
          <a:p xmlns:a="http://schemas.openxmlformats.org/drawingml/2006/main">
            <a:r>
              <a:t>Fuentes</a:t>
            </a:r>
          </a:p>
          <a:p xmlns:a="http://schemas.openxmlformats.org/drawingml/2006/main">
            <a:r>
              <a:t>Prusa Research. Modeling with 3D printing in mind. https://help.prusa3d.com/article/modeling-with-3d-printing-in-mind_164135</a:t>
            </a:r>
          </a:p>
          <a:p xmlns:a="http://schemas.openxmlformats.org/drawingml/2006/main">
            <a:r>
              <a:t>OpenRocket. Basic Rocket Design. https://openrocket.readthedocs.io/en/latest/user_guide/basic_rocket_design.html</a:t>
            </a:r>
          </a:p>
          <a:p xmlns:a="http://schemas.openxmlformats.org/drawingml/2006/main">
            <a:r>
              <a:t>NASA Glenn. Model Rockets. https://www1.grc.nasa.gov/beginners-guide-to-aeronautics/model-rockets/</a:t>
            </a:r>
          </a:p>
          <a:p xmlns:a="http://schemas.openxmlformats.org/drawingml/2006/main">
            <a:r>
              <a:t>Lectura: MECRO_Coheteria_Clase_06.pdf. Las capturas muestran ejemplos de documentación. Los casos numéricos se identifican como ejercicios y no se atribuyen a ejecuciones o mediciones no realizadas.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MECRO. Clase 6: Taller 1: medidas, encajes y alineación.</a:t>
            </a:r>
          </a:p>
          <a:p xmlns:a="http://schemas.openxmlformats.org/drawingml/2006/main">
            <a:r>
              <a:t>Presencial, 4 h. Tramo del núcleo: 5 min.</a:t>
            </a:r>
          </a:p>
          <a:p xmlns:a="http://schemas.openxmlformats.org/drawingml/2006/main">
            <a:r>
              <a:t>En presencial, integrar estas explicaciones con la agenda de 4 horas de la lectura; las actividades de banco o campo ocupan el tiempo previsto.</a:t>
            </a:r>
          </a:p>
          <a:p xmlns:a="http://schemas.openxmlformats.org/drawingml/2006/main">
            <a:r>
              <a:t/>
            </a:r>
          </a:p>
          <a:p xmlns:a="http://schemas.openxmlformats.org/drawingml/2006/main">
            <a:r>
              <a:t>Caso</a:t>
            </a:r>
          </a:p>
          <a:p xmlns:a="http://schemas.openxmlformats.org/drawingml/2006/main">
            <a:r>
              <a:t>El hombro se traba solo al final del recorrido y la medida inicial parecía correcta.</a:t>
            </a:r>
          </a:p>
          <a:p xmlns:a="http://schemas.openxmlformats.org/drawingml/2006/main">
            <a:r>
              <a:t>Explicación</a:t>
            </a:r>
          </a:p>
          <a:p xmlns:a="http://schemas.openxmlformats.org/drawingml/2006/main">
            <a:r>
              <a:t>Revisa el tramo completo y el borde, no únicamente la entrada. Registra dónde aparece el problema. El nuevo archivo debe mostrar qué dimensión o forma se corrigió y qué muestra comprobará el cambio.</a:t>
            </a:r>
          </a:p>
          <a:p xmlns:a="http://schemas.openxmlformats.org/drawingml/2006/main">
            <a:r>
              <a:t>Dar tiempo para responder antes de presentar la solución oralmente.</a:t>
            </a:r>
          </a:p>
          <a:p xmlns:a="http://schemas.openxmlformats.org/drawingml/2006/main">
            <a:r>
              <a:t/>
            </a:r>
          </a:p>
          <a:p xmlns:a="http://schemas.openxmlformats.org/drawingml/2006/main">
            <a:r>
              <a:t>Resultado: Comprobar piezas físicas y corregir el diseño antes del montaje definitivo.</a:t>
            </a:r>
          </a:p>
          <a:p xmlns:a="http://schemas.openxmlformats.org/drawingml/2006/main">
            <a:r>
              <a:t>Misión: Conseguir que las piezas fabricadas correspondan al plano y puedan presentarse juntas.</a:t>
            </a:r>
          </a:p>
          <a:p xmlns:a="http://schemas.openxmlformats.org/drawingml/2006/main">
            <a:r>
              <a:t>Entrega: Ficha completa, fotografías, plano y .ork corregidos.</a:t>
            </a:r>
          </a:p>
          <a:p xmlns:a="http://schemas.openxmlformats.org/drawingml/2006/main">
            <a:r>
              <a:t/>
            </a:r>
          </a:p>
          <a:p xmlns:a="http://schemas.openxmlformats.org/drawingml/2006/main">
            <a:r>
              <a:t>Preguntas y respuestas</a:t>
            </a:r>
          </a:p>
          <a:p xmlns:a="http://schemas.openxmlformats.org/drawingml/2006/main">
            <a:r>
              <a:t>¿Una pieza que entra en el útil ya está aceptada para vuelo?</a:t>
            </a:r>
          </a:p>
          <a:p xmlns:a="http://schemas.openxmlformats.org/drawingml/2006/main">
            <a:r>
              <a:t>No. El encaje es una comprobación parcial.</a:t>
            </a:r>
          </a:p>
          <a:p xmlns:a="http://schemas.openxmlformats.org/drawingml/2006/main">
            <a:r>
              <a:t/>
            </a:r>
          </a:p>
          <a:p xmlns:a="http://schemas.openxmlformats.org/drawingml/2006/main">
            <a:r>
              <a:t>¿Qué incluye una masa medida útil?</a:t>
            </a:r>
          </a:p>
          <a:p xmlns:a="http://schemas.openxmlformats.org/drawingml/2006/main">
            <a:r>
              <a:t>Identificador, unidad y descripción de las piezas o acabado incluidos.</a:t>
            </a:r>
          </a:p>
          <a:p xmlns:a="http://schemas.openxmlformats.org/drawingml/2006/main">
            <a:r>
              <a:t/>
            </a:r>
          </a:p>
          <a:p xmlns:a="http://schemas.openxmlformats.org/drawingml/2006/main">
            <a:r>
              <a:t>¿Qué se conserva al corregir?</a:t>
            </a:r>
          </a:p>
          <a:p xmlns:a="http://schemas.openxmlformats.org/drawingml/2006/main">
            <a:r>
              <a:t>Dato anterior, cambio y nueva comprobación.</a:t>
            </a:r>
          </a:p>
          <a:p xmlns:a="http://schemas.openxmlformats.org/drawingml/2006/main">
            <a:r>
              <a:t/>
            </a:r>
          </a:p>
          <a:p xmlns:a="http://schemas.openxmlformats.org/drawingml/2006/main">
            <a:r>
              <a:t>Fuentes</a:t>
            </a:r>
          </a:p>
          <a:p xmlns:a="http://schemas.openxmlformats.org/drawingml/2006/main">
            <a:r>
              <a:t>Prusa Research. Modeling with 3D printing in mind. https://help.prusa3d.com/article/modeling-with-3d-printing-in-mind_164135</a:t>
            </a:r>
          </a:p>
          <a:p xmlns:a="http://schemas.openxmlformats.org/drawingml/2006/main">
            <a:r>
              <a:t>OpenRocket. Basic Rocket Design. https://openrocket.readthedocs.io/en/latest/user_guide/basic_rocket_design.html</a:t>
            </a:r>
          </a:p>
          <a:p xmlns:a="http://schemas.openxmlformats.org/drawingml/2006/main">
            <a:r>
              <a:t>NASA Glenn. Model Rockets. https://www1.grc.nasa.gov/beginners-guide-to-aeronautics/model-rockets/</a:t>
            </a:r>
          </a:p>
          <a:p xmlns:a="http://schemas.openxmlformats.org/drawingml/2006/main">
            <a:r>
              <a:t>Lectura: MECRO_Coheteria_Clase_06.pdf. Las capturas muestran ejemplos de documentación. Los casos numéricos se identifican como ejercicios y no se atribuyen a ejecuciones o mediciones no realizadas.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MECRO. Clase 6: Taller 1: medidas, encajes y alineación.</a:t>
            </a:r>
          </a:p>
          <a:p xmlns:a="http://schemas.openxmlformats.org/drawingml/2006/main">
            <a:r>
              <a:t>Presencial, 4 h. Tramo del núcleo: 4 min.</a:t>
            </a:r>
          </a:p>
          <a:p xmlns:a="http://schemas.openxmlformats.org/drawingml/2006/main">
            <a:r>
              <a:t>En presencial, integrar estas explicaciones con la agenda de 4 horas de la lectura; las actividades de banco o campo ocupan el tiempo previsto.</a:t>
            </a:r>
          </a:p>
          <a:p xmlns:a="http://schemas.openxmlformats.org/drawingml/2006/main">
            <a:r>
              <a:t/>
            </a:r>
          </a:p>
          <a:p xmlns:a="http://schemas.openxmlformats.org/drawingml/2006/main">
            <a:r>
              <a:t>El taller termina con un conjunto que puede presentarse de forma coherente y con sus correcciones pendientes identificadas. Aún faltan integración final, recuperación y revisión para vuelo. El próximo bloque utilizará las piezas y masas conocidas para entender la estabilidad del modelo completo.</a:t>
            </a:r>
          </a:p>
          <a:p xmlns:a="http://schemas.openxmlformats.org/drawingml/2006/main">
            <a:r>
              <a:t/>
            </a:r>
          </a:p>
          <a:p xmlns:a="http://schemas.openxmlformats.org/drawingml/2006/main">
            <a:r>
              <a:t>Una aleta presenta una separación visible entre capas, aunque entra en el útil.</a:t>
            </a:r>
          </a:p>
          <a:p xmlns:a="http://schemas.openxmlformats.org/drawingml/2006/main">
            <a:r>
              <a:t/>
            </a:r>
          </a:p>
          <a:p xmlns:a="http://schemas.openxmlformats.org/drawingml/2006/main">
            <a:r>
              <a:t>Investiga una diferencia entre tu primera predicción de encaje y el objeto real. Explica qué aprendiste del proceso y qué cambiarías en la siguiente impresión. La entrega debe permitir que otra persona repita tu comprobación.</a:t>
            </a:r>
          </a:p>
          <a:p xmlns:a="http://schemas.openxmlformats.org/drawingml/2006/main">
            <a:r>
              <a:t>Pregunta para el grupo: ¿Qué queda preparado para estudiar estabilidad?</a:t>
            </a:r>
          </a:p>
          <a:p xmlns:a="http://schemas.openxmlformats.org/drawingml/2006/main">
            <a:r>
              <a:t/>
            </a:r>
          </a:p>
          <a:p xmlns:a="http://schemas.openxmlformats.org/drawingml/2006/main">
            <a:r>
              <a:t>Resultado: Comprobar piezas físicas y corregir el diseño antes del montaje definitivo.</a:t>
            </a:r>
          </a:p>
          <a:p xmlns:a="http://schemas.openxmlformats.org/drawingml/2006/main">
            <a:r>
              <a:t>Misión: Conseguir que las piezas fabricadas correspondan al plano y puedan presentarse juntas.</a:t>
            </a:r>
          </a:p>
          <a:p xmlns:a="http://schemas.openxmlformats.org/drawingml/2006/main">
            <a:r>
              <a:t>Entrega: Ficha completa, fotografías, plano y .ork corregidos.</a:t>
            </a:r>
          </a:p>
          <a:p xmlns:a="http://schemas.openxmlformats.org/drawingml/2006/main">
            <a:r>
              <a:t/>
            </a:r>
          </a:p>
          <a:p xmlns:a="http://schemas.openxmlformats.org/drawingml/2006/main">
            <a:r>
              <a:t>Preguntas y respuestas</a:t>
            </a:r>
          </a:p>
          <a:p xmlns:a="http://schemas.openxmlformats.org/drawingml/2006/main">
            <a:r>
              <a:t>¿Una pieza que entra en el útil ya está aceptada para vuelo?</a:t>
            </a:r>
          </a:p>
          <a:p xmlns:a="http://schemas.openxmlformats.org/drawingml/2006/main">
            <a:r>
              <a:t>No. El encaje es una comprobación parcial.</a:t>
            </a:r>
          </a:p>
          <a:p xmlns:a="http://schemas.openxmlformats.org/drawingml/2006/main">
            <a:r>
              <a:t/>
            </a:r>
          </a:p>
          <a:p xmlns:a="http://schemas.openxmlformats.org/drawingml/2006/main">
            <a:r>
              <a:t>¿Qué incluye una masa medida útil?</a:t>
            </a:r>
          </a:p>
          <a:p xmlns:a="http://schemas.openxmlformats.org/drawingml/2006/main">
            <a:r>
              <a:t>Identificador, unidad y descripción de las piezas o acabado incluidos.</a:t>
            </a:r>
          </a:p>
          <a:p xmlns:a="http://schemas.openxmlformats.org/drawingml/2006/main">
            <a:r>
              <a:t/>
            </a:r>
          </a:p>
          <a:p xmlns:a="http://schemas.openxmlformats.org/drawingml/2006/main">
            <a:r>
              <a:t>¿Qué se conserva al corregir?</a:t>
            </a:r>
          </a:p>
          <a:p xmlns:a="http://schemas.openxmlformats.org/drawingml/2006/main">
            <a:r>
              <a:t>Dato anterior, cambio y nueva comprobación.</a:t>
            </a:r>
          </a:p>
          <a:p xmlns:a="http://schemas.openxmlformats.org/drawingml/2006/main">
            <a:r>
              <a:t/>
            </a:r>
          </a:p>
          <a:p xmlns:a="http://schemas.openxmlformats.org/drawingml/2006/main">
            <a:r>
              <a:t>Fuentes</a:t>
            </a:r>
          </a:p>
          <a:p xmlns:a="http://schemas.openxmlformats.org/drawingml/2006/main">
            <a:r>
              <a:t>Prusa Research. Modeling with 3D printing in mind. https://help.prusa3d.com/article/modeling-with-3d-printing-in-mind_164135</a:t>
            </a:r>
          </a:p>
          <a:p xmlns:a="http://schemas.openxmlformats.org/drawingml/2006/main">
            <a:r>
              <a:t>OpenRocket. Basic Rocket Design. https://openrocket.readthedocs.io/en/latest/user_guide/basic_rocket_design.html</a:t>
            </a:r>
          </a:p>
          <a:p xmlns:a="http://schemas.openxmlformats.org/drawingml/2006/main">
            <a:r>
              <a:t>NASA Glenn. Model Rockets. https://www1.grc.nasa.gov/beginners-guide-to-aeronautics/model-rockets/</a:t>
            </a:r>
          </a:p>
          <a:p xmlns:a="http://schemas.openxmlformats.org/drawingml/2006/main">
            <a:r>
              <a:t>Lectura: MECRO_Coheteria_Clase_06.pdf. Las capturas muestran ejemplos de documentación. Los casos numéricos se identifican como ejercicios y no se atribuyen a ejecuciones o mediciones no realizadas.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MECRO. Clase 6: Taller 1: medidas, encajes y alineación.</a:t>
            </a:r>
          </a:p>
          <a:p xmlns:a="http://schemas.openxmlformats.org/drawingml/2006/main">
            <a:r>
              <a:t>Presencial, 4 h. Tramo del núcleo: 4 min.</a:t>
            </a:r>
          </a:p>
          <a:p xmlns:a="http://schemas.openxmlformats.org/drawingml/2006/main">
            <a:r>
              <a:t>En presencial, integrar estas explicaciones con la agenda de 4 horas de la lectura; las actividades de banco o campo ocupan el tiempo previsto.</a:t>
            </a:r>
          </a:p>
          <a:p xmlns:a="http://schemas.openxmlformats.org/drawingml/2006/main">
            <a:r>
              <a:t/>
            </a:r>
          </a:p>
          <a:p xmlns:a="http://schemas.openxmlformats.org/drawingml/2006/main">
            <a:r>
              <a:t>Entrega / Revisión breve</a:t>
            </a:r>
          </a:p>
          <a:p xmlns:a="http://schemas.openxmlformats.org/drawingml/2006/main">
            <a:r>
              <a:t>Ficha de encaje / Tubo y muestra identificados</a:t>
            </a:r>
          </a:p>
          <a:p xmlns:a="http://schemas.openxmlformats.org/drawingml/2006/main">
            <a:r>
              <a:t>Medidas y masas / Unidad y objeto pesado claros</a:t>
            </a:r>
          </a:p>
          <a:p xmlns:a="http://schemas.openxmlformats.org/drawingml/2006/main">
            <a:r>
              <a:t>Fotografías / Vista lateral y posterior</a:t>
            </a:r>
          </a:p>
          <a:p xmlns:a="http://schemas.openxmlformats.org/drawingml/2006/main">
            <a:r>
              <a:t>Archivos / Misma revisión que la pieza</a:t>
            </a:r>
          </a:p>
          <a:p xmlns:a="http://schemas.openxmlformats.org/drawingml/2006/main">
            <a:r>
              <a:t>Pendientes / Responsable y comprobación siguiente</a:t>
            </a:r>
          </a:p>
          <a:p xmlns:a="http://schemas.openxmlformats.org/drawingml/2006/main">
            <a:r>
              <a:t>Comparar dos filas y justificar con la misión.</a:t>
            </a:r>
          </a:p>
          <a:p xmlns:a="http://schemas.openxmlformats.org/drawingml/2006/main">
            <a:r>
              <a:t/>
            </a:r>
          </a:p>
          <a:p xmlns:a="http://schemas.openxmlformats.org/drawingml/2006/main">
            <a:r>
              <a:t>Resultado: Comprobar piezas físicas y corregir el diseño antes del montaje definitivo.</a:t>
            </a:r>
          </a:p>
          <a:p xmlns:a="http://schemas.openxmlformats.org/drawingml/2006/main">
            <a:r>
              <a:t>Misión: Conseguir que las piezas fabricadas correspondan al plano y puedan presentarse juntas.</a:t>
            </a:r>
          </a:p>
          <a:p xmlns:a="http://schemas.openxmlformats.org/drawingml/2006/main">
            <a:r>
              <a:t>Entrega: Ficha completa, fotografías, plano y .ork corregidos.</a:t>
            </a:r>
          </a:p>
          <a:p xmlns:a="http://schemas.openxmlformats.org/drawingml/2006/main">
            <a:r>
              <a:t/>
            </a:r>
          </a:p>
          <a:p xmlns:a="http://schemas.openxmlformats.org/drawingml/2006/main">
            <a:r>
              <a:t>Preguntas y respuestas</a:t>
            </a:r>
          </a:p>
          <a:p xmlns:a="http://schemas.openxmlformats.org/drawingml/2006/main">
            <a:r>
              <a:t>¿Una pieza que entra en el útil ya está aceptada para vuelo?</a:t>
            </a:r>
          </a:p>
          <a:p xmlns:a="http://schemas.openxmlformats.org/drawingml/2006/main">
            <a:r>
              <a:t>No. El encaje es una comprobación parcial.</a:t>
            </a:r>
          </a:p>
          <a:p xmlns:a="http://schemas.openxmlformats.org/drawingml/2006/main">
            <a:r>
              <a:t/>
            </a:r>
          </a:p>
          <a:p xmlns:a="http://schemas.openxmlformats.org/drawingml/2006/main">
            <a:r>
              <a:t>¿Qué incluye una masa medida útil?</a:t>
            </a:r>
          </a:p>
          <a:p xmlns:a="http://schemas.openxmlformats.org/drawingml/2006/main">
            <a:r>
              <a:t>Identificador, unidad y descripción de las piezas o acabado incluidos.</a:t>
            </a:r>
          </a:p>
          <a:p xmlns:a="http://schemas.openxmlformats.org/drawingml/2006/main">
            <a:r>
              <a:t/>
            </a:r>
          </a:p>
          <a:p xmlns:a="http://schemas.openxmlformats.org/drawingml/2006/main">
            <a:r>
              <a:t>¿Qué se conserva al corregir?</a:t>
            </a:r>
          </a:p>
          <a:p xmlns:a="http://schemas.openxmlformats.org/drawingml/2006/main">
            <a:r>
              <a:t>Dato anterior, cambio y nueva comprobación.</a:t>
            </a:r>
          </a:p>
          <a:p xmlns:a="http://schemas.openxmlformats.org/drawingml/2006/main">
            <a:r>
              <a:t/>
            </a:r>
          </a:p>
          <a:p xmlns:a="http://schemas.openxmlformats.org/drawingml/2006/main">
            <a:r>
              <a:t>Fuentes</a:t>
            </a:r>
          </a:p>
          <a:p xmlns:a="http://schemas.openxmlformats.org/drawingml/2006/main">
            <a:r>
              <a:t>Prusa Research. Modeling with 3D printing in mind. https://help.prusa3d.com/article/modeling-with-3d-printing-in-mind_164135</a:t>
            </a:r>
          </a:p>
          <a:p xmlns:a="http://schemas.openxmlformats.org/drawingml/2006/main">
            <a:r>
              <a:t>OpenRocket. Basic Rocket Design. https://openrocket.readthedocs.io/en/latest/user_guide/basic_rocket_design.html</a:t>
            </a:r>
          </a:p>
          <a:p xmlns:a="http://schemas.openxmlformats.org/drawingml/2006/main">
            <a:r>
              <a:t>NASA Glenn. Model Rockets. https://www1.grc.nasa.gov/beginners-guide-to-aeronautics/model-rockets/</a:t>
            </a:r>
          </a:p>
          <a:p xmlns:a="http://schemas.openxmlformats.org/drawingml/2006/main">
            <a:r>
              <a:t>Lectura: MECRO_Coheteria_Clase_06.pdf. Las capturas muestran ejemplos de documentación. Los casos numéricos se identifican como ejercicios y no se atribuyen a ejecuciones o mediciones no realizadas.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MECRO. Clase 6: Taller 1: medidas, encajes y alineación.</a:t>
            </a:r>
          </a:p>
          <a:p xmlns:a="http://schemas.openxmlformats.org/drawingml/2006/main">
            <a:r>
              <a:t>Presencial, 4 h. Tramo del núcleo: 5 min.</a:t>
            </a:r>
          </a:p>
          <a:p xmlns:a="http://schemas.openxmlformats.org/drawingml/2006/main">
            <a:r>
              <a:t>En presencial, integrar estas explicaciones con la agenda de 4 horas de la lectura; las actividades de banco o campo ocupan el tiempo previsto.</a:t>
            </a:r>
          </a:p>
          <a:p xmlns:a="http://schemas.openxmlformats.org/drawingml/2006/main">
            <a:r>
              <a:t/>
            </a:r>
          </a:p>
          <a:p xmlns:a="http://schemas.openxmlformats.org/drawingml/2006/main">
            <a:r>
              <a:t>Caso</a:t>
            </a:r>
          </a:p>
          <a:p xmlns:a="http://schemas.openxmlformats.org/drawingml/2006/main">
            <a:r>
              <a:t>Una aleta presenta una separación visible entre capas, aunque entra en el útil.</a:t>
            </a:r>
          </a:p>
          <a:p xmlns:a="http://schemas.openxmlformats.org/drawingml/2006/main">
            <a:r>
              <a:t>Explicación</a:t>
            </a:r>
          </a:p>
          <a:p xmlns:a="http://schemas.openxmlformats.org/drawingml/2006/main">
            <a:r>
              <a:t>El ajuste al útil no resuelve la integridad de la pieza. El equipo deja la aceptación pendiente y revisa fabricación o reemplazo con el docente. Cada comprobación responde una pregunta distinta.</a:t>
            </a:r>
          </a:p>
          <a:p xmlns:a="http://schemas.openxmlformats.org/drawingml/2006/main">
            <a:r>
              <a:t>Dar tiempo para responder antes de presentar la solución oralmente.</a:t>
            </a:r>
          </a:p>
          <a:p xmlns:a="http://schemas.openxmlformats.org/drawingml/2006/main">
            <a:r>
              <a:t/>
            </a:r>
          </a:p>
          <a:p xmlns:a="http://schemas.openxmlformats.org/drawingml/2006/main">
            <a:r>
              <a:t>Resultado: Comprobar piezas físicas y corregir el diseño antes del montaje definitivo.</a:t>
            </a:r>
          </a:p>
          <a:p xmlns:a="http://schemas.openxmlformats.org/drawingml/2006/main">
            <a:r>
              <a:t>Misión: Conseguir que las piezas fabricadas correspondan al plano y puedan presentarse juntas.</a:t>
            </a:r>
          </a:p>
          <a:p xmlns:a="http://schemas.openxmlformats.org/drawingml/2006/main">
            <a:r>
              <a:t>Entrega: Ficha completa, fotografías, plano y .ork corregidos.</a:t>
            </a:r>
          </a:p>
          <a:p xmlns:a="http://schemas.openxmlformats.org/drawingml/2006/main">
            <a:r>
              <a:t/>
            </a:r>
          </a:p>
          <a:p xmlns:a="http://schemas.openxmlformats.org/drawingml/2006/main">
            <a:r>
              <a:t>Preguntas y respuestas</a:t>
            </a:r>
          </a:p>
          <a:p xmlns:a="http://schemas.openxmlformats.org/drawingml/2006/main">
            <a:r>
              <a:t>¿Una pieza que entra en el útil ya está aceptada para vuelo?</a:t>
            </a:r>
          </a:p>
          <a:p xmlns:a="http://schemas.openxmlformats.org/drawingml/2006/main">
            <a:r>
              <a:t>No. El encaje es una comprobación parcial.</a:t>
            </a:r>
          </a:p>
          <a:p xmlns:a="http://schemas.openxmlformats.org/drawingml/2006/main">
            <a:r>
              <a:t/>
            </a:r>
          </a:p>
          <a:p xmlns:a="http://schemas.openxmlformats.org/drawingml/2006/main">
            <a:r>
              <a:t>¿Qué incluye una masa medida útil?</a:t>
            </a:r>
          </a:p>
          <a:p xmlns:a="http://schemas.openxmlformats.org/drawingml/2006/main">
            <a:r>
              <a:t>Identificador, unidad y descripción de las piezas o acabado incluidos.</a:t>
            </a:r>
          </a:p>
          <a:p xmlns:a="http://schemas.openxmlformats.org/drawingml/2006/main">
            <a:r>
              <a:t/>
            </a:r>
          </a:p>
          <a:p xmlns:a="http://schemas.openxmlformats.org/drawingml/2006/main">
            <a:r>
              <a:t>¿Qué se conserva al corregir?</a:t>
            </a:r>
          </a:p>
          <a:p xmlns:a="http://schemas.openxmlformats.org/drawingml/2006/main">
            <a:r>
              <a:t>Dato anterior, cambio y nueva comprobación.</a:t>
            </a:r>
          </a:p>
          <a:p xmlns:a="http://schemas.openxmlformats.org/drawingml/2006/main">
            <a:r>
              <a:t/>
            </a:r>
          </a:p>
          <a:p xmlns:a="http://schemas.openxmlformats.org/drawingml/2006/main">
            <a:r>
              <a:t>Fuentes</a:t>
            </a:r>
          </a:p>
          <a:p xmlns:a="http://schemas.openxmlformats.org/drawingml/2006/main">
            <a:r>
              <a:t>Prusa Research. Modeling with 3D printing in mind. https://help.prusa3d.com/article/modeling-with-3d-printing-in-mind_164135</a:t>
            </a:r>
          </a:p>
          <a:p xmlns:a="http://schemas.openxmlformats.org/drawingml/2006/main">
            <a:r>
              <a:t>OpenRocket. Basic Rocket Design. https://openrocket.readthedocs.io/en/latest/user_guide/basic_rocket_design.html</a:t>
            </a:r>
          </a:p>
          <a:p xmlns:a="http://schemas.openxmlformats.org/drawingml/2006/main">
            <a:r>
              <a:t>NASA Glenn. Model Rockets. https://www1.grc.nasa.gov/beginners-guide-to-aeronautics/model-rockets/</a:t>
            </a:r>
          </a:p>
          <a:p xmlns:a="http://schemas.openxmlformats.org/drawingml/2006/main">
            <a:r>
              <a:t>Lectura: MECRO_Coheteria_Clase_06.pdf. Las capturas muestran ejemplos de documentación. Los casos numéricos se identifican como ejercicios y no se atribuyen a ejecuciones o mediciones no realizadas.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MECRO. Clase 6: Taller 1: medidas, encajes y alineación.</a:t>
            </a:r>
          </a:p>
          <a:p xmlns:a="http://schemas.openxmlformats.org/drawingml/2006/main">
            <a:r>
              <a:t>Presencial, 4 h. Tramo del núcleo: 12 min.</a:t>
            </a:r>
          </a:p>
          <a:p xmlns:a="http://schemas.openxmlformats.org/drawingml/2006/main">
            <a:r>
              <a:t>En presencial, integrar estas explicaciones con la agenda de 4 horas de la lectura; las actividades de banco o campo ocupan el tiempo previsto.</a:t>
            </a:r>
          </a:p>
          <a:p xmlns:a="http://schemas.openxmlformats.org/drawingml/2006/main">
            <a:r>
              <a:t/>
            </a:r>
          </a:p>
          <a:p xmlns:a="http://schemas.openxmlformats.org/drawingml/2006/main">
            <a:r>
              <a:t>Preparar las dos estaciones y rotar roles.</a:t>
            </a:r>
          </a:p>
          <a:p xmlns:a="http://schemas.openxmlformats.org/drawingml/2006/main">
            <a:r>
              <a:t>Medir y registrar interfaces antes de corregirlas.</a:t>
            </a:r>
          </a:p>
          <a:p xmlns:a="http://schemas.openxmlformats.org/drawingml/2006/main">
            <a:r>
              <a:t>Presentar nariz, cuerpo y aletas sin montaje definitivo.</a:t>
            </a:r>
          </a:p>
          <a:p xmlns:a="http://schemas.openxmlformats.org/drawingml/2006/main">
            <a:r>
              <a:t>Actualizar archivos y acordar una comprobación por pendiente.</a:t>
            </a:r>
          </a:p>
          <a:p xmlns:a="http://schemas.openxmlformats.org/drawingml/2006/main">
            <a:r>
              <a:t>Rotar los roles y conservar al menos una evidencia revisable.</a:t>
            </a:r>
          </a:p>
          <a:p xmlns:a="http://schemas.openxmlformats.org/drawingml/2006/main">
            <a:r>
              <a:t/>
            </a:r>
          </a:p>
          <a:p xmlns:a="http://schemas.openxmlformats.org/drawingml/2006/main">
            <a:r>
              <a:t>Resultado: Comprobar piezas físicas y corregir el diseño antes del montaje definitivo.</a:t>
            </a:r>
          </a:p>
          <a:p xmlns:a="http://schemas.openxmlformats.org/drawingml/2006/main">
            <a:r>
              <a:t>Misión: Conseguir que las piezas fabricadas correspondan al plano y puedan presentarse juntas.</a:t>
            </a:r>
          </a:p>
          <a:p xmlns:a="http://schemas.openxmlformats.org/drawingml/2006/main">
            <a:r>
              <a:t>Entrega: Ficha completa, fotografías, plano y .ork corregidos.</a:t>
            </a:r>
          </a:p>
          <a:p xmlns:a="http://schemas.openxmlformats.org/drawingml/2006/main">
            <a:r>
              <a:t/>
            </a:r>
          </a:p>
          <a:p xmlns:a="http://schemas.openxmlformats.org/drawingml/2006/main">
            <a:r>
              <a:t>Preguntas y respuestas</a:t>
            </a:r>
          </a:p>
          <a:p xmlns:a="http://schemas.openxmlformats.org/drawingml/2006/main">
            <a:r>
              <a:t>¿Una pieza que entra en el útil ya está aceptada para vuelo?</a:t>
            </a:r>
          </a:p>
          <a:p xmlns:a="http://schemas.openxmlformats.org/drawingml/2006/main">
            <a:r>
              <a:t>No. El encaje es una comprobación parcial.</a:t>
            </a:r>
          </a:p>
          <a:p xmlns:a="http://schemas.openxmlformats.org/drawingml/2006/main">
            <a:r>
              <a:t/>
            </a:r>
          </a:p>
          <a:p xmlns:a="http://schemas.openxmlformats.org/drawingml/2006/main">
            <a:r>
              <a:t>¿Qué incluye una masa medida útil?</a:t>
            </a:r>
          </a:p>
          <a:p xmlns:a="http://schemas.openxmlformats.org/drawingml/2006/main">
            <a:r>
              <a:t>Identificador, unidad y descripción de las piezas o acabado incluidos.</a:t>
            </a:r>
          </a:p>
          <a:p xmlns:a="http://schemas.openxmlformats.org/drawingml/2006/main">
            <a:r>
              <a:t/>
            </a:r>
          </a:p>
          <a:p xmlns:a="http://schemas.openxmlformats.org/drawingml/2006/main">
            <a:r>
              <a:t>¿Qué se conserva al corregir?</a:t>
            </a:r>
          </a:p>
          <a:p xmlns:a="http://schemas.openxmlformats.org/drawingml/2006/main">
            <a:r>
              <a:t>Dato anterior, cambio y nueva comprobación.</a:t>
            </a:r>
          </a:p>
          <a:p xmlns:a="http://schemas.openxmlformats.org/drawingml/2006/main">
            <a:r>
              <a:t/>
            </a:r>
          </a:p>
          <a:p xmlns:a="http://schemas.openxmlformats.org/drawingml/2006/main">
            <a:r>
              <a:t>Fuentes</a:t>
            </a:r>
          </a:p>
          <a:p xmlns:a="http://schemas.openxmlformats.org/drawingml/2006/main">
            <a:r>
              <a:t>Prusa Research. Modeling with 3D printing in mind. https://help.prusa3d.com/article/modeling-with-3d-printing-in-mind_164135</a:t>
            </a:r>
          </a:p>
          <a:p xmlns:a="http://schemas.openxmlformats.org/drawingml/2006/main">
            <a:r>
              <a:t>OpenRocket. Basic Rocket Design. https://openrocket.readthedocs.io/en/latest/user_guide/basic_rocket_design.html</a:t>
            </a:r>
          </a:p>
          <a:p xmlns:a="http://schemas.openxmlformats.org/drawingml/2006/main">
            <a:r>
              <a:t>NASA Glenn. Model Rockets. https://www1.grc.nasa.gov/beginners-guide-to-aeronautics/model-rockets/</a:t>
            </a:r>
          </a:p>
          <a:p xmlns:a="http://schemas.openxmlformats.org/drawingml/2006/main">
            <a:r>
              <a:t>Lectura: MECRO_Coheteria_Clase_06.pdf. Las capturas muestran ejemplos de documentación. Los casos numéricos se identifican como ejercicios y no se atribuyen a ejecuciones o mediciones no realizadas.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MECRO. Clase 6: Taller 1: medidas, encajes y alineación.</a:t>
            </a:r>
          </a:p>
          <a:p xmlns:a="http://schemas.openxmlformats.org/drawingml/2006/main">
            <a:r>
              <a:t>Presencial, 4 h. Tramo del núcleo: 10 min.</a:t>
            </a:r>
          </a:p>
          <a:p xmlns:a="http://schemas.openxmlformats.org/drawingml/2006/main">
            <a:r>
              <a:t>En presencial, integrar estas explicaciones con la agenda de 4 horas de la lectura; las actividades de banco o campo ocupan el tiempo previsto.</a:t>
            </a:r>
          </a:p>
          <a:p xmlns:a="http://schemas.openxmlformats.org/drawingml/2006/main">
            <a:r>
              <a:t/>
            </a:r>
          </a:p>
          <a:p xmlns:a="http://schemas.openxmlformats.org/drawingml/2006/main">
            <a:r>
              <a:t>Cada equipo prepara una decisión y una evidencia. No aceptar una preferencia sin relacionarla con la misión.</a:t>
            </a:r>
          </a:p>
          <a:p xmlns:a="http://schemas.openxmlformats.org/drawingml/2006/main">
            <a:r>
              <a:t>Ficha completa, fotografías, plano y .ork corregidos.</a:t>
            </a:r>
          </a:p>
          <a:p xmlns:a="http://schemas.openxmlformats.org/drawingml/2006/main">
            <a:r>
              <a:t/>
            </a:r>
          </a:p>
          <a:p xmlns:a="http://schemas.openxmlformats.org/drawingml/2006/main">
            <a:r>
              <a:t>Resultado: Comprobar piezas físicas y corregir el diseño antes del montaje definitivo.</a:t>
            </a:r>
          </a:p>
          <a:p xmlns:a="http://schemas.openxmlformats.org/drawingml/2006/main">
            <a:r>
              <a:t>Misión: Conseguir que las piezas fabricadas correspondan al plano y puedan presentarse juntas.</a:t>
            </a:r>
          </a:p>
          <a:p xmlns:a="http://schemas.openxmlformats.org/drawingml/2006/main">
            <a:r>
              <a:t>Entrega: Ficha completa, fotografías, plano y .ork corregidos.</a:t>
            </a:r>
          </a:p>
          <a:p xmlns:a="http://schemas.openxmlformats.org/drawingml/2006/main">
            <a:r>
              <a:t/>
            </a:r>
          </a:p>
          <a:p xmlns:a="http://schemas.openxmlformats.org/drawingml/2006/main">
            <a:r>
              <a:t>Preguntas y respuestas</a:t>
            </a:r>
          </a:p>
          <a:p xmlns:a="http://schemas.openxmlformats.org/drawingml/2006/main">
            <a:r>
              <a:t>¿Una pieza que entra en el útil ya está aceptada para vuelo?</a:t>
            </a:r>
          </a:p>
          <a:p xmlns:a="http://schemas.openxmlformats.org/drawingml/2006/main">
            <a:r>
              <a:t>No. El encaje es una comprobación parcial.</a:t>
            </a:r>
          </a:p>
          <a:p xmlns:a="http://schemas.openxmlformats.org/drawingml/2006/main">
            <a:r>
              <a:t/>
            </a:r>
          </a:p>
          <a:p xmlns:a="http://schemas.openxmlformats.org/drawingml/2006/main">
            <a:r>
              <a:t>¿Qué incluye una masa medida útil?</a:t>
            </a:r>
          </a:p>
          <a:p xmlns:a="http://schemas.openxmlformats.org/drawingml/2006/main">
            <a:r>
              <a:t>Identificador, unidad y descripción de las piezas o acabado incluidos.</a:t>
            </a:r>
          </a:p>
          <a:p xmlns:a="http://schemas.openxmlformats.org/drawingml/2006/main">
            <a:r>
              <a:t/>
            </a:r>
          </a:p>
          <a:p xmlns:a="http://schemas.openxmlformats.org/drawingml/2006/main">
            <a:r>
              <a:t>¿Qué se conserva al corregir?</a:t>
            </a:r>
          </a:p>
          <a:p xmlns:a="http://schemas.openxmlformats.org/drawingml/2006/main">
            <a:r>
              <a:t>Dato anterior, cambio y nueva comprobación.</a:t>
            </a:r>
          </a:p>
          <a:p xmlns:a="http://schemas.openxmlformats.org/drawingml/2006/main">
            <a:r>
              <a:t/>
            </a:r>
          </a:p>
          <a:p xmlns:a="http://schemas.openxmlformats.org/drawingml/2006/main">
            <a:r>
              <a:t>Fuentes</a:t>
            </a:r>
          </a:p>
          <a:p xmlns:a="http://schemas.openxmlformats.org/drawingml/2006/main">
            <a:r>
              <a:t>Prusa Research. Modeling with 3D printing in mind. https://help.prusa3d.com/article/modeling-with-3d-printing-in-mind_164135</a:t>
            </a:r>
          </a:p>
          <a:p xmlns:a="http://schemas.openxmlformats.org/drawingml/2006/main">
            <a:r>
              <a:t>OpenRocket. Basic Rocket Design. https://openrocket.readthedocs.io/en/latest/user_guide/basic_rocket_design.html</a:t>
            </a:r>
          </a:p>
          <a:p xmlns:a="http://schemas.openxmlformats.org/drawingml/2006/main">
            <a:r>
              <a:t>NASA Glenn. Model Rockets. https://www1.grc.nasa.gov/beginners-guide-to-aeronautics/model-rockets/</a:t>
            </a:r>
          </a:p>
          <a:p xmlns:a="http://schemas.openxmlformats.org/drawingml/2006/main">
            <a:r>
              <a:t>Lectura: MECRO_Coheteria_Clase_06.pdf. Las capturas muestran ejemplos de documentación. Los casos numéricos se identifican como ejercicios y no se atribuyen a ejecuciones o mediciones no realizadas.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MECRO. Clase 6: Taller 1: medidas, encajes y alineación.</a:t>
            </a:r>
          </a:p>
          <a:p xmlns:a="http://schemas.openxmlformats.org/drawingml/2006/main">
            <a:r>
              <a:t>Presencial, 4 h. Tramo del núcleo: 7 min.</a:t>
            </a:r>
          </a:p>
          <a:p xmlns:a="http://schemas.openxmlformats.org/drawingml/2006/main">
            <a:r>
              <a:t>En presencial, integrar estas explicaciones con la agenda de 4 horas de la lectura; las actividades de banco o campo ocupan el tiempo previsto.</a:t>
            </a:r>
          </a:p>
          <a:p xmlns:a="http://schemas.openxmlformats.org/drawingml/2006/main">
            <a:r>
              <a:t/>
            </a:r>
          </a:p>
          <a:p xmlns:a="http://schemas.openxmlformats.org/drawingml/2006/main">
            <a:r>
              <a:t>Primero respuesta individual, después discusión por equipos.</a:t>
            </a:r>
          </a:p>
          <a:p xmlns:a="http://schemas.openxmlformats.org/drawingml/2006/main">
            <a:r>
              <a:t>¿Una pieza que entra en el útil ya está aceptada para vuelo?</a:t>
            </a:r>
          </a:p>
          <a:p xmlns:a="http://schemas.openxmlformats.org/drawingml/2006/main">
            <a:r>
              <a:t>No. El encaje es una comprobación parcial.</a:t>
            </a:r>
          </a:p>
          <a:p xmlns:a="http://schemas.openxmlformats.org/drawingml/2006/main">
            <a:r>
              <a:t/>
            </a:r>
          </a:p>
          <a:p xmlns:a="http://schemas.openxmlformats.org/drawingml/2006/main">
            <a:r>
              <a:t>¿Qué incluye una masa medida útil?</a:t>
            </a:r>
          </a:p>
          <a:p xmlns:a="http://schemas.openxmlformats.org/drawingml/2006/main">
            <a:r>
              <a:t>Identificador, unidad y descripción de las piezas o acabado incluidos.</a:t>
            </a:r>
          </a:p>
          <a:p xmlns:a="http://schemas.openxmlformats.org/drawingml/2006/main">
            <a:r>
              <a:t/>
            </a:r>
          </a:p>
          <a:p xmlns:a="http://schemas.openxmlformats.org/drawingml/2006/main">
            <a:r>
              <a:t>¿Qué se conserva al corregir?</a:t>
            </a:r>
          </a:p>
          <a:p xmlns:a="http://schemas.openxmlformats.org/drawingml/2006/main">
            <a:r>
              <a:t>Dato anterior, cambio y nueva comprobación.</a:t>
            </a:r>
          </a:p>
          <a:p xmlns:a="http://schemas.openxmlformats.org/drawingml/2006/main">
            <a:r>
              <a:t/>
            </a:r>
          </a:p>
          <a:p xmlns:a="http://schemas.openxmlformats.org/drawingml/2006/main">
            <a:r>
              <a:t>Resultado: Comprobar piezas físicas y corregir el diseño antes del montaje definitivo.</a:t>
            </a:r>
          </a:p>
          <a:p xmlns:a="http://schemas.openxmlformats.org/drawingml/2006/main">
            <a:r>
              <a:t>Misión: Conseguir que las piezas fabricadas correspondan al plano y puedan presentarse juntas.</a:t>
            </a:r>
          </a:p>
          <a:p xmlns:a="http://schemas.openxmlformats.org/drawingml/2006/main">
            <a:r>
              <a:t>Entrega: Ficha completa, fotografías, plano y .ork corregidos.</a:t>
            </a:r>
          </a:p>
          <a:p xmlns:a="http://schemas.openxmlformats.org/drawingml/2006/main">
            <a:r>
              <a:t/>
            </a:r>
          </a:p>
          <a:p xmlns:a="http://schemas.openxmlformats.org/drawingml/2006/main">
            <a:r>
              <a:t>Preguntas y respuestas</a:t>
            </a:r>
          </a:p>
          <a:p xmlns:a="http://schemas.openxmlformats.org/drawingml/2006/main">
            <a:r>
              <a:t>¿Una pieza que entra en el útil ya está aceptada para vuelo?</a:t>
            </a:r>
          </a:p>
          <a:p xmlns:a="http://schemas.openxmlformats.org/drawingml/2006/main">
            <a:r>
              <a:t>No. El encaje es una comprobación parcial.</a:t>
            </a:r>
          </a:p>
          <a:p xmlns:a="http://schemas.openxmlformats.org/drawingml/2006/main">
            <a:r>
              <a:t/>
            </a:r>
          </a:p>
          <a:p xmlns:a="http://schemas.openxmlformats.org/drawingml/2006/main">
            <a:r>
              <a:t>¿Qué incluye una masa medida útil?</a:t>
            </a:r>
          </a:p>
          <a:p xmlns:a="http://schemas.openxmlformats.org/drawingml/2006/main">
            <a:r>
              <a:t>Identificador, unidad y descripción de las piezas o acabado incluidos.</a:t>
            </a:r>
          </a:p>
          <a:p xmlns:a="http://schemas.openxmlformats.org/drawingml/2006/main">
            <a:r>
              <a:t/>
            </a:r>
          </a:p>
          <a:p xmlns:a="http://schemas.openxmlformats.org/drawingml/2006/main">
            <a:r>
              <a:t>¿Qué se conserva al corregir?</a:t>
            </a:r>
          </a:p>
          <a:p xmlns:a="http://schemas.openxmlformats.org/drawingml/2006/main">
            <a:r>
              <a:t>Dato anterior, cambio y nueva comprobación.</a:t>
            </a:r>
          </a:p>
          <a:p xmlns:a="http://schemas.openxmlformats.org/drawingml/2006/main">
            <a:r>
              <a:t/>
            </a:r>
          </a:p>
          <a:p xmlns:a="http://schemas.openxmlformats.org/drawingml/2006/main">
            <a:r>
              <a:t>Fuentes</a:t>
            </a:r>
          </a:p>
          <a:p xmlns:a="http://schemas.openxmlformats.org/drawingml/2006/main">
            <a:r>
              <a:t>Prusa Research. Modeling with 3D printing in mind. https://help.prusa3d.com/article/modeling-with-3d-printing-in-mind_164135</a:t>
            </a:r>
          </a:p>
          <a:p xmlns:a="http://schemas.openxmlformats.org/drawingml/2006/main">
            <a:r>
              <a:t>OpenRocket. Basic Rocket Design. https://openrocket.readthedocs.io/en/latest/user_guide/basic_rocket_design.html</a:t>
            </a:r>
          </a:p>
          <a:p xmlns:a="http://schemas.openxmlformats.org/drawingml/2006/main">
            <a:r>
              <a:t>NASA Glenn. Model Rockets. https://www1.grc.nasa.gov/beginners-guide-to-aeronautics/model-rockets/</a:t>
            </a:r>
          </a:p>
          <a:p xmlns:a="http://schemas.openxmlformats.org/drawingml/2006/main">
            <a:r>
              <a:t>Lectura: MECRO_Coheteria_Clase_06.pdf. Las capturas muestran ejemplos de documentación. Los casos numéricos se identifican como ejercicios y no se atribuyen a ejecuciones o mediciones no realizadas.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MECRO. Clase 6: Taller 1: medidas, encajes y alineación.</a:t>
            </a:r>
          </a:p>
          <a:p xmlns:a="http://schemas.openxmlformats.org/drawingml/2006/main">
            <a:r>
              <a:t>Presencial, 4 h. Tramo del núcleo: 5 min.</a:t>
            </a:r>
          </a:p>
          <a:p xmlns:a="http://schemas.openxmlformats.org/drawingml/2006/main">
            <a:r>
              <a:t>En presencial, integrar estas explicaciones con la agenda de 4 horas de la lectura; las actividades de banco o campo ocupan el tiempo previsto.</a:t>
            </a:r>
          </a:p>
          <a:p xmlns:a="http://schemas.openxmlformats.org/drawingml/2006/main">
            <a:r>
              <a:t/>
            </a:r>
          </a:p>
          <a:p xmlns:a="http://schemas.openxmlformats.org/drawingml/2006/main">
            <a:r>
              <a:t>Pedir un ejemplo del objeto o del archivo para una de las respuestas.</a:t>
            </a:r>
          </a:p>
          <a:p xmlns:a="http://schemas.openxmlformats.org/drawingml/2006/main">
            <a:r>
              <a:t/>
            </a:r>
          </a:p>
          <a:p xmlns:a="http://schemas.openxmlformats.org/drawingml/2006/main">
            <a:r>
              <a:t>Resultado: Comprobar piezas físicas y corregir el diseño antes del montaje definitivo.</a:t>
            </a:r>
          </a:p>
          <a:p xmlns:a="http://schemas.openxmlformats.org/drawingml/2006/main">
            <a:r>
              <a:t>Misión: Conseguir que las piezas fabricadas correspondan al plano y puedan presentarse juntas.</a:t>
            </a:r>
          </a:p>
          <a:p xmlns:a="http://schemas.openxmlformats.org/drawingml/2006/main">
            <a:r>
              <a:t>Entrega: Ficha completa, fotografías, plano y .ork corregidos.</a:t>
            </a:r>
          </a:p>
          <a:p xmlns:a="http://schemas.openxmlformats.org/drawingml/2006/main">
            <a:r>
              <a:t/>
            </a:r>
          </a:p>
          <a:p xmlns:a="http://schemas.openxmlformats.org/drawingml/2006/main">
            <a:r>
              <a:t>Preguntas y respuestas</a:t>
            </a:r>
          </a:p>
          <a:p xmlns:a="http://schemas.openxmlformats.org/drawingml/2006/main">
            <a:r>
              <a:t>¿Una pieza que entra en el útil ya está aceptada para vuelo?</a:t>
            </a:r>
          </a:p>
          <a:p xmlns:a="http://schemas.openxmlformats.org/drawingml/2006/main">
            <a:r>
              <a:t>No. El encaje es una comprobación parcial.</a:t>
            </a:r>
          </a:p>
          <a:p xmlns:a="http://schemas.openxmlformats.org/drawingml/2006/main">
            <a:r>
              <a:t/>
            </a:r>
          </a:p>
          <a:p xmlns:a="http://schemas.openxmlformats.org/drawingml/2006/main">
            <a:r>
              <a:t>¿Qué incluye una masa medida útil?</a:t>
            </a:r>
          </a:p>
          <a:p xmlns:a="http://schemas.openxmlformats.org/drawingml/2006/main">
            <a:r>
              <a:t>Identificador, unidad y descripción de las piezas o acabado incluidos.</a:t>
            </a:r>
          </a:p>
          <a:p xmlns:a="http://schemas.openxmlformats.org/drawingml/2006/main">
            <a:r>
              <a:t/>
            </a:r>
          </a:p>
          <a:p xmlns:a="http://schemas.openxmlformats.org/drawingml/2006/main">
            <a:r>
              <a:t>¿Qué se conserva al corregir?</a:t>
            </a:r>
          </a:p>
          <a:p xmlns:a="http://schemas.openxmlformats.org/drawingml/2006/main">
            <a:r>
              <a:t>Dato anterior, cambio y nueva comprobación.</a:t>
            </a:r>
          </a:p>
          <a:p xmlns:a="http://schemas.openxmlformats.org/drawingml/2006/main">
            <a:r>
              <a:t/>
            </a:r>
          </a:p>
          <a:p xmlns:a="http://schemas.openxmlformats.org/drawingml/2006/main">
            <a:r>
              <a:t>Fuentes</a:t>
            </a:r>
          </a:p>
          <a:p xmlns:a="http://schemas.openxmlformats.org/drawingml/2006/main">
            <a:r>
              <a:t>Prusa Research. Modeling with 3D printing in mind. https://help.prusa3d.com/article/modeling-with-3d-printing-in-mind_164135</a:t>
            </a:r>
          </a:p>
          <a:p xmlns:a="http://schemas.openxmlformats.org/drawingml/2006/main">
            <a:r>
              <a:t>OpenRocket. Basic Rocket Design. https://openrocket.readthedocs.io/en/latest/user_guide/basic_rocket_design.html</a:t>
            </a:r>
          </a:p>
          <a:p xmlns:a="http://schemas.openxmlformats.org/drawingml/2006/main">
            <a:r>
              <a:t>NASA Glenn. Model Rockets. https://www1.grc.nasa.gov/beginners-guide-to-aeronautics/model-rockets/</a:t>
            </a:r>
          </a:p>
          <a:p xmlns:a="http://schemas.openxmlformats.org/drawingml/2006/main">
            <a:r>
              <a:t>Lectura: MECRO_Coheteria_Clase_06.pdf. Las capturas muestran ejemplos de documentación. Los casos numéricos se identifican como ejercicios y no se atribuyen a ejecuciones o mediciones no realizadas.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MECRO. Clase 6: Taller 1: medidas, encajes y alineación.</a:t>
            </a:r>
          </a:p>
          <a:p xmlns:a="http://schemas.openxmlformats.org/drawingml/2006/main">
            <a:r>
              <a:t>Presencial, 4 h. Tramo del núcleo: 5 min.</a:t>
            </a:r>
          </a:p>
          <a:p xmlns:a="http://schemas.openxmlformats.org/drawingml/2006/main">
            <a:r>
              <a:t>En presencial, integrar estas explicaciones con la agenda de 4 horas de la lectura; las actividades de banco o campo ocupan el tiempo previsto.</a:t>
            </a:r>
          </a:p>
          <a:p xmlns:a="http://schemas.openxmlformats.org/drawingml/2006/main">
            <a:r>
              <a:t/>
            </a:r>
          </a:p>
          <a:p xmlns:a="http://schemas.openxmlformats.org/drawingml/2006/main">
            <a:r>
              <a:t>Ficha completa, fotografías, plano y .ork corregidos.</a:t>
            </a:r>
          </a:p>
          <a:p xmlns:a="http://schemas.openxmlformats.org/drawingml/2006/main">
            <a:r>
              <a:t>Las fuentes enlazadas de la lectura permiten ampliar la explicación sin exigir cálculo avanzado.</a:t>
            </a:r>
          </a:p>
          <a:p xmlns:a="http://schemas.openxmlformats.org/drawingml/2006/main">
            <a:r>
              <a:t/>
            </a:r>
          </a:p>
          <a:p xmlns:a="http://schemas.openxmlformats.org/drawingml/2006/main">
            <a:r>
              <a:t>Resultado: Comprobar piezas físicas y corregir el diseño antes del montaje definitivo.</a:t>
            </a:r>
          </a:p>
          <a:p xmlns:a="http://schemas.openxmlformats.org/drawingml/2006/main">
            <a:r>
              <a:t>Misión: Conseguir que las piezas fabricadas correspondan al plano y puedan presentarse juntas.</a:t>
            </a:r>
          </a:p>
          <a:p xmlns:a="http://schemas.openxmlformats.org/drawingml/2006/main">
            <a:r>
              <a:t>Entrega: Ficha completa, fotografías, plano y .ork corregidos.</a:t>
            </a:r>
          </a:p>
          <a:p xmlns:a="http://schemas.openxmlformats.org/drawingml/2006/main">
            <a:r>
              <a:t/>
            </a:r>
          </a:p>
          <a:p xmlns:a="http://schemas.openxmlformats.org/drawingml/2006/main">
            <a:r>
              <a:t>Preguntas y respuestas</a:t>
            </a:r>
          </a:p>
          <a:p xmlns:a="http://schemas.openxmlformats.org/drawingml/2006/main">
            <a:r>
              <a:t>¿Una pieza que entra en el útil ya está aceptada para vuelo?</a:t>
            </a:r>
          </a:p>
          <a:p xmlns:a="http://schemas.openxmlformats.org/drawingml/2006/main">
            <a:r>
              <a:t>No. El encaje es una comprobación parcial.</a:t>
            </a:r>
          </a:p>
          <a:p xmlns:a="http://schemas.openxmlformats.org/drawingml/2006/main">
            <a:r>
              <a:t/>
            </a:r>
          </a:p>
          <a:p xmlns:a="http://schemas.openxmlformats.org/drawingml/2006/main">
            <a:r>
              <a:t>¿Qué incluye una masa medida útil?</a:t>
            </a:r>
          </a:p>
          <a:p xmlns:a="http://schemas.openxmlformats.org/drawingml/2006/main">
            <a:r>
              <a:t>Identificador, unidad y descripción de las piezas o acabado incluidos.</a:t>
            </a:r>
          </a:p>
          <a:p xmlns:a="http://schemas.openxmlformats.org/drawingml/2006/main">
            <a:r>
              <a:t/>
            </a:r>
          </a:p>
          <a:p xmlns:a="http://schemas.openxmlformats.org/drawingml/2006/main">
            <a:r>
              <a:t>¿Qué se conserva al corregir?</a:t>
            </a:r>
          </a:p>
          <a:p xmlns:a="http://schemas.openxmlformats.org/drawingml/2006/main">
            <a:r>
              <a:t>Dato anterior, cambio y nueva comprobación.</a:t>
            </a:r>
          </a:p>
          <a:p xmlns:a="http://schemas.openxmlformats.org/drawingml/2006/main">
            <a:r>
              <a:t/>
            </a:r>
          </a:p>
          <a:p xmlns:a="http://schemas.openxmlformats.org/drawingml/2006/main">
            <a:r>
              <a:t>Fuentes</a:t>
            </a:r>
          </a:p>
          <a:p xmlns:a="http://schemas.openxmlformats.org/drawingml/2006/main">
            <a:r>
              <a:t>Prusa Research. Modeling with 3D printing in mind. https://help.prusa3d.com/article/modeling-with-3d-printing-in-mind_164135</a:t>
            </a:r>
          </a:p>
          <a:p xmlns:a="http://schemas.openxmlformats.org/drawingml/2006/main">
            <a:r>
              <a:t>OpenRocket. Basic Rocket Design. https://openrocket.readthedocs.io/en/latest/user_guide/basic_rocket_design.html</a:t>
            </a:r>
          </a:p>
          <a:p xmlns:a="http://schemas.openxmlformats.org/drawingml/2006/main">
            <a:r>
              <a:t>NASA Glenn. Model Rockets. https://www1.grc.nasa.gov/beginners-guide-to-aeronautics/model-rockets/</a:t>
            </a:r>
          </a:p>
          <a:p xmlns:a="http://schemas.openxmlformats.org/drawingml/2006/main">
            <a:r>
              <a:t>Lectura: MECRO_Coheteria_Clase_06.pdf. Las capturas muestran ejemplos de documentación. Los casos numéricos se identifican como ejercicios y no se atribuyen a ejecuciones o mediciones no realizadas.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fd7c8d72bcf54f90"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7f59d33df2bf49e6"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f50fde8360df404b"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107642ce785e406e"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1229e82cd11147a9"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cf5a3e54297e43e1"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F475C2FC-3D96-426A-8C16-1EBC7FE35996}"/>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9C330105-EFFC-4868-8B0E-2AB30C55C3AB}"/>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7655404B-2D87-42D0-A43F-1E28F2F1368F}"/>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C486EEBF-4DBC-49B4-8FEB-BF79702EA369}"/>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227EF96B-A772-4EA1-B2D4-39017017ECA2}"/>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38603BE8-4C11-44E0-B9B0-AFF01A2060E4}"/>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ECD29ABF-04C2-42A6-BED9-885ED25C5F53}"/>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512B2E6D-D74F-4C8C-9EEF-BC2B9EFAFAFE}"/>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1B4FB9E5-4905-4D8A-94FB-2BD25B836614}"/>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7FABCF41-C3E4-4C86-B879-48DD21485314}"/>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a1105da5a0fd4b57" /><Relationship Type="http://schemas.openxmlformats.org/officeDocument/2006/relationships/slideLayout" Target="/ppt/slideLayouts/slideLayout1.xml" Id="Rfcb165e5b39b47ba" /><Relationship Type="http://schemas.openxmlformats.org/officeDocument/2006/relationships/slideLayout" Target="/ppt/slideLayouts/slideLayout2.xml" Id="R3fd078b5c3b54593" /><Relationship Type="http://schemas.openxmlformats.org/officeDocument/2006/relationships/slideLayout" Target="/ppt/slideLayouts/slideLayout3.xml" Id="Rb77dce3acaf540fe" /><Relationship Type="http://schemas.openxmlformats.org/officeDocument/2006/relationships/slideLayout" Target="/ppt/slideLayouts/slideLayout4.xml" Id="R0a7114650d24476c" /><Relationship Type="http://schemas.openxmlformats.org/officeDocument/2006/relationships/slideLayout" Target="/ppt/slideLayouts/slideLayout5.xml" Id="Rc935d5f3f1f447ff" /><Relationship Type="http://schemas.openxmlformats.org/officeDocument/2006/relationships/slideLayout" Target="/ppt/slideLayouts/slideLayout6.xml" Id="Rb20e62fad25d4cdb"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fcb165e5b39b47ba"/>
    <p:sldLayoutId xmlns:r="http://schemas.openxmlformats.org/officeDocument/2006/relationships" id="2147483650" r:id="R3fd078b5c3b54593"/>
    <p:sldLayoutId xmlns:r="http://schemas.openxmlformats.org/officeDocument/2006/relationships" id="2147483651" r:id="Rb77dce3acaf540fe"/>
    <p:sldLayoutId xmlns:r="http://schemas.openxmlformats.org/officeDocument/2006/relationships" id="2147483652" r:id="R0a7114650d24476c"/>
    <p:sldLayoutId xmlns:r="http://schemas.openxmlformats.org/officeDocument/2006/relationships" id="2147483653" r:id="Rc935d5f3f1f447ff"/>
    <p:sldLayoutId xmlns:r="http://schemas.openxmlformats.org/officeDocument/2006/relationships" id="2147483654" r:id="Rb20e62fad25d4cdb"/>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a354c45aa33c416c" /><Relationship Type="http://schemas.openxmlformats.org/officeDocument/2006/relationships/image" Target="/ppt/media/image.png" Id="Ra1a80145ff084322" /><Relationship Type="http://schemas.openxmlformats.org/officeDocument/2006/relationships/notesSlide" Target="/ppt/notesSlides/notesSlide1.xml" Id="Rfcfff34d53944448"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90c42db8e75b4041" /><Relationship Type="http://schemas.openxmlformats.org/officeDocument/2006/relationships/image" Target="/ppt/media/image2.png" Id="R6fb0501362a84a13" /><Relationship Type="http://schemas.openxmlformats.org/officeDocument/2006/relationships/notesSlide" Target="/ppt/notesSlides/notesSlide2.xml" Id="Rc7c4b7c8e5b8438b"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c9f27dfe9bc045ba" /><Relationship Type="http://schemas.openxmlformats.org/officeDocument/2006/relationships/image" Target="/ppt/media/image3.png" Id="R4242a25115c7417a" /><Relationship Type="http://schemas.openxmlformats.org/officeDocument/2006/relationships/image" Target="/ppt/media/image4.png" Id="Rabd08a66b5504ab1" /><Relationship Type="http://schemas.openxmlformats.org/officeDocument/2006/relationships/notesSlide" Target="/ppt/notesSlides/notesSlide3.xml" Id="R29f88652c7fe448f"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a26865fffdcb4de2" /><Relationship Type="http://schemas.openxmlformats.org/officeDocument/2006/relationships/image" Target="/ppt/media/image5.png" Id="R5c38fb21728c4f88" /><Relationship Type="http://schemas.openxmlformats.org/officeDocument/2006/relationships/notesSlide" Target="/ppt/notesSlides/notesSlide4.xml" Id="R467c750281f645cb"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64f835e9259744f7" /><Relationship Type="http://schemas.openxmlformats.org/officeDocument/2006/relationships/image" Target="/ppt/media/image6.png" Id="Raa3b0131b7df48da" /><Relationship Type="http://schemas.openxmlformats.org/officeDocument/2006/relationships/notesSlide" Target="/ppt/notesSlides/notesSlide5.xml" Id="R0b92bda9516545f4"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80e81831eae54c5f" /><Relationship Type="http://schemas.openxmlformats.org/officeDocument/2006/relationships/image" Target="/ppt/media/image7.png" Id="Rca9b6ef6b8254642" /><Relationship Type="http://schemas.openxmlformats.org/officeDocument/2006/relationships/image" Target="/ppt/media/image8.png" Id="Rcbabd2715545417d" /><Relationship Type="http://schemas.openxmlformats.org/officeDocument/2006/relationships/notesSlide" Target="/ppt/notesSlides/notesSlide6.xml" Id="R7e3919f36da74aa5"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34937fef17a046a3" /><Relationship Type="http://schemas.openxmlformats.org/officeDocument/2006/relationships/image" Target="/ppt/media/image9.png" Id="R181226476de74369" /><Relationship Type="http://schemas.openxmlformats.org/officeDocument/2006/relationships/notesSlide" Target="/ppt/notesSlides/notesSlide7.xml" Id="Rd8c96b4626194e77"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6993329ad6b54814" /><Relationship Type="http://schemas.openxmlformats.org/officeDocument/2006/relationships/image" Target="/ppt/media/image10.png" Id="Rff3d69cf4b5b4503" /><Relationship Type="http://schemas.openxmlformats.org/officeDocument/2006/relationships/notesSlide" Target="/ppt/notesSlides/notesSlide8.xml" Id="Rd2fa12197e384fc7"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15ef3a41c5594416" /><Relationship Type="http://schemas.openxmlformats.org/officeDocument/2006/relationships/image" Target="/ppt/media/image11.png" Id="Red3d709586f74627" /><Relationship Type="http://schemas.openxmlformats.org/officeDocument/2006/relationships/image" Target="/ppt/media/image12.png" Id="Rdd440d29af434f33" /><Relationship Type="http://schemas.openxmlformats.org/officeDocument/2006/relationships/notesSlide" Target="/ppt/notesSlides/notesSlide9.xml" Id="R9461bfbbcca04e99"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dffee42592f04823" /><Relationship Type="http://schemas.openxmlformats.org/officeDocument/2006/relationships/image" Target="/ppt/media/image13.png" Id="R42237dcb2bb44245" /><Relationship Type="http://schemas.openxmlformats.org/officeDocument/2006/relationships/chart" Target="/ppt/slides/charts/chart1.xml" Id="R68eae9547f404646" /><Relationship Type="http://schemas.openxmlformats.org/officeDocument/2006/relationships/notesSlide" Target="/ppt/notesSlides/notesSlide10.xml" Id="Rf45fcf0fe6834a99"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a9d2dc2918da495c" /><Relationship Type="http://schemas.openxmlformats.org/officeDocument/2006/relationships/image" Target="/ppt/media/image14.png" Id="R20f38b697db549f4" /><Relationship Type="http://schemas.openxmlformats.org/officeDocument/2006/relationships/notesSlide" Target="/ppt/notesSlides/notesSlide11.xml" Id="R19d443d7a06f45ad"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89f59b801c1e4596" /><Relationship Type="http://schemas.openxmlformats.org/officeDocument/2006/relationships/image" Target="/ppt/media/image15.png" Id="Rc784680b10a040f7" /><Relationship Type="http://schemas.openxmlformats.org/officeDocument/2006/relationships/image" Target="/ppt/media/image16.png" Id="R316b81daca16438a" /><Relationship Type="http://schemas.openxmlformats.org/officeDocument/2006/relationships/notesSlide" Target="/ppt/notesSlides/notesSlide12.xml" Id="R7c7bb2a1d5d440e6"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eed2534e5a004b77" /><Relationship Type="http://schemas.openxmlformats.org/officeDocument/2006/relationships/image" Target="/ppt/media/image17.png" Id="R378f907fb23d485d" /><Relationship Type="http://schemas.openxmlformats.org/officeDocument/2006/relationships/notesSlide" Target="/ppt/notesSlides/notesSlide13.xml" Id="Rf64dc52c1ccb478d" /></Relationships>
</file>

<file path=ppt/slides/_rels/slide14.xml.rels>&#65279;<?xml version="1.0" encoding="utf-8"?><Relationships xmlns="http://schemas.openxmlformats.org/package/2006/relationships"><Relationship Type="http://schemas.openxmlformats.org/officeDocument/2006/relationships/slideLayout" Target="/ppt/slideLayouts/slideLayout6.xml" Id="R2716a629a2c34227" /><Relationship Type="http://schemas.openxmlformats.org/officeDocument/2006/relationships/image" Target="/ppt/media/image18.png" Id="Rb8fdf9e01abc4ce9" /><Relationship Type="http://schemas.openxmlformats.org/officeDocument/2006/relationships/notesSlide" Target="/ppt/notesSlides/notesSlide14.xml" Id="Rd1e6cd63b0b2457b" /></Relationships>
</file>

<file path=ppt/slides/_rels/slide15.xml.rels>&#65279;<?xml version="1.0" encoding="utf-8"?><Relationships xmlns="http://schemas.openxmlformats.org/package/2006/relationships"><Relationship Type="http://schemas.openxmlformats.org/officeDocument/2006/relationships/slideLayout" Target="/ppt/slideLayouts/slideLayout6.xml" Id="R0c6d8e70d9fd4bdd" /><Relationship Type="http://schemas.openxmlformats.org/officeDocument/2006/relationships/image" Target="/ppt/media/image19.png" Id="Rf33f99ba6def4c18" /><Relationship Type="http://schemas.openxmlformats.org/officeDocument/2006/relationships/notesSlide" Target="/ppt/notesSlides/notesSlide15.xml" Id="R6376718303aa42c6" /></Relationships>
</file>

<file path=ppt/slides/_rels/slide16.xml.rels>&#65279;<?xml version="1.0" encoding="utf-8"?><Relationships xmlns="http://schemas.openxmlformats.org/package/2006/relationships"><Relationship Type="http://schemas.openxmlformats.org/officeDocument/2006/relationships/slideLayout" Target="/ppt/slideLayouts/slideLayout6.xml" Id="Rc00baf9fe1c148d8" /><Relationship Type="http://schemas.openxmlformats.org/officeDocument/2006/relationships/image" Target="/ppt/media/image20.png" Id="Reb0cae8e5c3442db" /><Relationship Type="http://schemas.openxmlformats.org/officeDocument/2006/relationships/notesSlide" Target="/ppt/notesSlides/notesSlide16.xml" Id="R3354cee2764c47b5" /></Relationships>
</file>

<file path=ppt/slides/_rels/slide17.xml.rels>&#65279;<?xml version="1.0" encoding="utf-8"?><Relationships xmlns="http://schemas.openxmlformats.org/package/2006/relationships"><Relationship Type="http://schemas.openxmlformats.org/officeDocument/2006/relationships/slideLayout" Target="/ppt/slideLayouts/slideLayout6.xml" Id="R8405d6e663ba4f83" /><Relationship Type="http://schemas.openxmlformats.org/officeDocument/2006/relationships/image" Target="/ppt/media/image21.png" Id="R0257368949704d95" /><Relationship Type="http://schemas.openxmlformats.org/officeDocument/2006/relationships/notesSlide" Target="/ppt/notesSlides/notesSlide17.xml" Id="R5b334c80533f4446" /></Relationships>
</file>

<file path=ppt/slides/_rels/slide18.xml.rels>&#65279;<?xml version="1.0" encoding="utf-8"?><Relationships xmlns="http://schemas.openxmlformats.org/package/2006/relationships"><Relationship Type="http://schemas.openxmlformats.org/officeDocument/2006/relationships/slideLayout" Target="/ppt/slideLayouts/slideLayout6.xml" Id="R7ae310e942664355" /><Relationship Type="http://schemas.openxmlformats.org/officeDocument/2006/relationships/image" Target="/ppt/media/image22.png" Id="R17b80fededaf4472" /><Relationship Type="http://schemas.openxmlformats.org/officeDocument/2006/relationships/notesSlide" Target="/ppt/notesSlides/notesSlide18.xml" Id="Rd2162e05c19c4460" /></Relationships>
</file>

<file path=ppt/slides/_rels/slide19.xml.rels>&#65279;<?xml version="1.0" encoding="utf-8"?><Relationships xmlns="http://schemas.openxmlformats.org/package/2006/relationships"><Relationship Type="http://schemas.openxmlformats.org/officeDocument/2006/relationships/slideLayout" Target="/ppt/slideLayouts/slideLayout6.xml" Id="R969a4bc7bf274174" /><Relationship Type="http://schemas.openxmlformats.org/officeDocument/2006/relationships/image" Target="/ppt/media/image23.png" Id="R2b15b066ae9540a8" /><Relationship Type="http://schemas.openxmlformats.org/officeDocument/2006/relationships/notesSlide" Target="/ppt/notesSlides/notesSlide19.xml" Id="R2f771509494d4923" /></Relationships>
</file>

<file path=ppt/slides/_rels/slide20.xml.rels>&#65279;<?xml version="1.0" encoding="utf-8"?><Relationships xmlns="http://schemas.openxmlformats.org/package/2006/relationships"><Relationship Type="http://schemas.openxmlformats.org/officeDocument/2006/relationships/slideLayout" Target="/ppt/slideLayouts/slideLayout6.xml" Id="R2daf787dc33949ea" /><Relationship Type="http://schemas.openxmlformats.org/officeDocument/2006/relationships/image" Target="/ppt/media/image24.png" Id="Rb41c64507b594a6d" /><Relationship Type="http://schemas.openxmlformats.org/officeDocument/2006/relationships/notesSlide" Target="/ppt/notesSlides/notesSlide20.xml" Id="R8cdc2464ebbb4e04" /></Relationships>
</file>

<file path=ppt/slides/_rels/slide21.xml.rels>&#65279;<?xml version="1.0" encoding="utf-8"?><Relationships xmlns="http://schemas.openxmlformats.org/package/2006/relationships"><Relationship Type="http://schemas.openxmlformats.org/officeDocument/2006/relationships/slideLayout" Target="/ppt/slideLayouts/slideLayout6.xml" Id="R11e8aaeafd464e19" /><Relationship Type="http://schemas.openxmlformats.org/officeDocument/2006/relationships/image" Target="/ppt/media/image25.png" Id="R6280ad000eb94244" /><Relationship Type="http://schemas.openxmlformats.org/officeDocument/2006/relationships/notesSlide" Target="/ppt/notesSlides/notesSlide21.xml" Id="R90caaa0929444083" /></Relationships>
</file>

<file path=ppt/slides/_rels/slide22.xml.rels>&#65279;<?xml version="1.0" encoding="utf-8"?><Relationships xmlns="http://schemas.openxmlformats.org/package/2006/relationships"><Relationship Type="http://schemas.openxmlformats.org/officeDocument/2006/relationships/slideLayout" Target="/ppt/slideLayouts/slideLayout6.xml" Id="R9f311adeaedf4169" /><Relationship Type="http://schemas.openxmlformats.org/officeDocument/2006/relationships/image" Target="/ppt/media/image26.png" Id="R4674369b579e4d8a" /><Relationship Type="http://schemas.openxmlformats.org/officeDocument/2006/relationships/notesSlide" Target="/ppt/notesSlides/notesSlide22.xml" Id="R9ca5df38bbd1481e" /></Relationships>
</file>

<file path=ppt/slides/_rels/slide23.xml.rels>&#65279;<?xml version="1.0" encoding="utf-8"?><Relationships xmlns="http://schemas.openxmlformats.org/package/2006/relationships"><Relationship Type="http://schemas.openxmlformats.org/officeDocument/2006/relationships/slideLayout" Target="/ppt/slideLayouts/slideLayout6.xml" Id="Rc01c8908e4784cd0" /><Relationship Type="http://schemas.openxmlformats.org/officeDocument/2006/relationships/image" Target="/ppt/media/image27.png" Id="Raebc639343894d39" /><Relationship Type="http://schemas.openxmlformats.org/officeDocument/2006/relationships/notesSlide" Target="/ppt/notesSlides/notesSlide23.xml" Id="Re847dcc9050540e7" /></Relationships>
</file>

<file path=ppt/slides/_rels/slide24.xml.rels>&#65279;<?xml version="1.0" encoding="utf-8"?><Relationships xmlns="http://schemas.openxmlformats.org/package/2006/relationships"><Relationship Type="http://schemas.openxmlformats.org/officeDocument/2006/relationships/slideLayout" Target="/ppt/slideLayouts/slideLayout6.xml" Id="Re6579ff792854dac" /><Relationship Type="http://schemas.openxmlformats.org/officeDocument/2006/relationships/image" Target="/ppt/media/image28.png" Id="R2ea9b55d07414158" /><Relationship Type="http://schemas.openxmlformats.org/officeDocument/2006/relationships/notesSlide" Target="/ppt/notesSlides/notesSlide24.xml" Id="R765b4041b3e54726" /></Relationships>
</file>

<file path=ppt/slides/_rels/slide25.xml.rels>&#65279;<?xml version="1.0" encoding="utf-8"?><Relationships xmlns="http://schemas.openxmlformats.org/package/2006/relationships"><Relationship Type="http://schemas.openxmlformats.org/officeDocument/2006/relationships/slideLayout" Target="/ppt/slideLayouts/slideLayout6.xml" Id="Rbd2f888885664e28" /><Relationship Type="http://schemas.openxmlformats.org/officeDocument/2006/relationships/image" Target="/ppt/media/image29.png" Id="R5b27615ab0314fe8" /><Relationship Type="http://schemas.openxmlformats.org/officeDocument/2006/relationships/notesSlide" Target="/ppt/notesSlides/notesSlide25.xml" Id="Rbdbccc101e6e4bf8" /></Relationships>
</file>

<file path=ppt/slides/_rels/slide26.xml.rels>&#65279;<?xml version="1.0" encoding="utf-8"?><Relationships xmlns="http://schemas.openxmlformats.org/package/2006/relationships"><Relationship Type="http://schemas.openxmlformats.org/officeDocument/2006/relationships/slideLayout" Target="/ppt/slideLayouts/slideLayout6.xml" Id="R3922d9bad0824c01" /><Relationship Type="http://schemas.openxmlformats.org/officeDocument/2006/relationships/image" Target="/ppt/media/image30.png" Id="Ra499712adfae4370" /><Relationship Type="http://schemas.openxmlformats.org/officeDocument/2006/relationships/notesSlide" Target="/ppt/notesSlides/notesSlide26.xml" Id="Reb1bb145866e470a" /></Relationships>
</file>

<file path=ppt/slides/_rels/slide27.xml.rels>&#65279;<?xml version="1.0" encoding="utf-8"?><Relationships xmlns="http://schemas.openxmlformats.org/package/2006/relationships"><Relationship Type="http://schemas.openxmlformats.org/officeDocument/2006/relationships/slideLayout" Target="/ppt/slideLayouts/slideLayout6.xml" Id="R2184ec2e3a764ad5" /><Relationship Type="http://schemas.openxmlformats.org/officeDocument/2006/relationships/image" Target="/ppt/media/image31.png" Id="R3d64298c764d410b" /><Relationship Type="http://schemas.openxmlformats.org/officeDocument/2006/relationships/notesSlide" Target="/ppt/notesSlides/notesSlide27.xml" Id="R0ac9afbe79dd41f1" /></Relationships>
</file>

<file path=ppt/slides/_rels/slide28.xml.rels>&#65279;<?xml version="1.0" encoding="utf-8"?><Relationships xmlns="http://schemas.openxmlformats.org/package/2006/relationships"><Relationship Type="http://schemas.openxmlformats.org/officeDocument/2006/relationships/slideLayout" Target="/ppt/slideLayouts/slideLayout6.xml" Id="Rb2247c4a53674f79" /><Relationship Type="http://schemas.openxmlformats.org/officeDocument/2006/relationships/image" Target="/ppt/media/image32.png" Id="Rbf68360970e9483a" /><Relationship Type="http://schemas.openxmlformats.org/officeDocument/2006/relationships/notesSlide" Target="/ppt/notesSlides/notesSlide28.xml" Id="R0348b2bd5e844e66" /></Relationships>
</file>

<file path=ppt/slides/_rels/slide29.xml.rels>&#65279;<?xml version="1.0" encoding="utf-8"?><Relationships xmlns="http://schemas.openxmlformats.org/package/2006/relationships"><Relationship Type="http://schemas.openxmlformats.org/officeDocument/2006/relationships/slideLayout" Target="/ppt/slideLayouts/slideLayout6.xml" Id="Rf170ecce756641ba" /><Relationship Type="http://schemas.openxmlformats.org/officeDocument/2006/relationships/image" Target="/ppt/media/image33.png" Id="R724ec619bee64bf4" /><Relationship Type="http://schemas.openxmlformats.org/officeDocument/2006/relationships/notesSlide" Target="/ppt/notesSlides/notesSlide29.xml" Id="Ra2d447908a7c413d" /></Relationships>
</file>

<file path=ppt/slides/_rels/slide30.xml.rels>&#65279;<?xml version="1.0" encoding="utf-8"?><Relationships xmlns="http://schemas.openxmlformats.org/package/2006/relationships"><Relationship Type="http://schemas.openxmlformats.org/officeDocument/2006/relationships/slideLayout" Target="/ppt/slideLayouts/slideLayout6.xml" Id="Rc27155a027564d20" /><Relationship Type="http://schemas.openxmlformats.org/officeDocument/2006/relationships/image" Target="/ppt/media/image34.png" Id="Ra0cab5f50a1341cc" /><Relationship Type="http://schemas.openxmlformats.org/officeDocument/2006/relationships/notesSlide" Target="/ppt/notesSlides/notesSlide30.xml" Id="R1abc12de438548e9" /></Relationships>
</file>

<file path=ppt/slides/_rels/slide31.xml.rels>&#65279;<?xml version="1.0" encoding="utf-8"?><Relationships xmlns="http://schemas.openxmlformats.org/package/2006/relationships"><Relationship Type="http://schemas.openxmlformats.org/officeDocument/2006/relationships/slideLayout" Target="/ppt/slideLayouts/slideLayout6.xml" Id="R0ed4161977814105" /><Relationship Type="http://schemas.openxmlformats.org/officeDocument/2006/relationships/image" Target="/ppt/media/image35.png" Id="R0c385f49b86944d1" /><Relationship Type="http://schemas.openxmlformats.org/officeDocument/2006/relationships/notesSlide" Target="/ppt/notesSlides/notesSlide31.xml" Id="Rd117a2a9632148a0" /></Relationships>
</file>

<file path=ppt/slides/_rels/slide32.xml.rels>&#65279;<?xml version="1.0" encoding="utf-8"?><Relationships xmlns="http://schemas.openxmlformats.org/package/2006/relationships"><Relationship Type="http://schemas.openxmlformats.org/officeDocument/2006/relationships/slideLayout" Target="/ppt/slideLayouts/slideLayout6.xml" Id="Rfd5da072777542fa" /><Relationship Type="http://schemas.openxmlformats.org/officeDocument/2006/relationships/image" Target="/ppt/media/image36.png" Id="Ra3604d5d8a1f4ecb" /><Relationship Type="http://schemas.openxmlformats.org/officeDocument/2006/relationships/notesSlide" Target="/ppt/notesSlides/notesSlide32.xml" Id="R563a8664a71c4cfc" /></Relationships>
</file>

<file path=ppt/slides/_rels/slide33.xml.rels>&#65279;<?xml version="1.0" encoding="utf-8"?><Relationships xmlns="http://schemas.openxmlformats.org/package/2006/relationships"><Relationship Type="http://schemas.openxmlformats.org/officeDocument/2006/relationships/slideLayout" Target="/ppt/slideLayouts/slideLayout6.xml" Id="R5d093d2e1012483f" /><Relationship Type="http://schemas.openxmlformats.org/officeDocument/2006/relationships/image" Target="/ppt/media/image37.png" Id="R07d89c004d6b4155" /><Relationship Type="http://schemas.openxmlformats.org/officeDocument/2006/relationships/image" Target="/ppt/media/image38.png" Id="Rd0346c6dfe0e4fab" /><Relationship Type="http://schemas.openxmlformats.org/officeDocument/2006/relationships/notesSlide" Target="/ppt/notesSlides/notesSlide33.xml" Id="R9c22b88849994f7b" /></Relationships>
</file>

<file path=ppt/slides/_rels/slide34.xml.rels>&#65279;<?xml version="1.0" encoding="utf-8"?><Relationships xmlns="http://schemas.openxmlformats.org/package/2006/relationships"><Relationship Type="http://schemas.openxmlformats.org/officeDocument/2006/relationships/slideLayout" Target="/ppt/slideLayouts/slideLayout6.xml" Id="Rcf25746c9cca4e58" /><Relationship Type="http://schemas.openxmlformats.org/officeDocument/2006/relationships/image" Target="/ppt/media/image39.png" Id="Rbcf29670d15746c4" /><Relationship Type="http://schemas.openxmlformats.org/officeDocument/2006/relationships/notesSlide" Target="/ppt/notesSlides/notesSlide34.xml" Id="R97a7684b85a54742" /></Relationships>
</file>

<file path=ppt/slides/_rels/slide35.xml.rels>&#65279;<?xml version="1.0" encoding="utf-8"?><Relationships xmlns="http://schemas.openxmlformats.org/package/2006/relationships"><Relationship Type="http://schemas.openxmlformats.org/officeDocument/2006/relationships/slideLayout" Target="/ppt/slideLayouts/slideLayout6.xml" Id="R7820f953ca1a4491" /><Relationship Type="http://schemas.openxmlformats.org/officeDocument/2006/relationships/image" Target="/ppt/media/image40.png" Id="Rb997aa04e7854c0e" /><Relationship Type="http://schemas.openxmlformats.org/officeDocument/2006/relationships/notesSlide" Target="/ppt/notesSlides/notesSlide35.xml" Id="R428c8dbcd09a4c92" /></Relationships>
</file>

<file path=ppt/slides/_rels/slide36.xml.rels>&#65279;<?xml version="1.0" encoding="utf-8"?><Relationships xmlns="http://schemas.openxmlformats.org/package/2006/relationships"><Relationship Type="http://schemas.openxmlformats.org/officeDocument/2006/relationships/slideLayout" Target="/ppt/slideLayouts/slideLayout6.xml" Id="Racd74f8f85f1402f" /><Relationship Type="http://schemas.openxmlformats.org/officeDocument/2006/relationships/image" Target="/ppt/media/image41.png" Id="Rdf50c8270e444bb3" /><Relationship Type="http://schemas.openxmlformats.org/officeDocument/2006/relationships/image" Target="/ppt/media/image42.png" Id="R95d37de2dd6144f3" /><Relationship Type="http://schemas.openxmlformats.org/officeDocument/2006/relationships/notesSlide" Target="/ppt/notesSlides/notesSlide36.xml" Id="R125023413e2340df" /></Relationships>
</file>

<file path=ppt/slides/_rels/slide37.xml.rels>&#65279;<?xml version="1.0" encoding="utf-8"?><Relationships xmlns="http://schemas.openxmlformats.org/package/2006/relationships"><Relationship Type="http://schemas.openxmlformats.org/officeDocument/2006/relationships/slideLayout" Target="/ppt/slideLayouts/slideLayout6.xml" Id="Ra8be2ca82db14053" /><Relationship Type="http://schemas.openxmlformats.org/officeDocument/2006/relationships/image" Target="/ppt/media/image43.png" Id="R3ba9c100df6440cc" /><Relationship Type="http://schemas.openxmlformats.org/officeDocument/2006/relationships/notesSlide" Target="/ppt/notesSlides/notesSlide37.xml" Id="Re6a8be83f16840ab" /></Relationships>
</file>

<file path=ppt/slides/_rels/slide38.xml.rels>&#65279;<?xml version="1.0" encoding="utf-8"?><Relationships xmlns="http://schemas.openxmlformats.org/package/2006/relationships"><Relationship Type="http://schemas.openxmlformats.org/officeDocument/2006/relationships/slideLayout" Target="/ppt/slideLayouts/slideLayout6.xml" Id="Rb1f50e43d1504c11" /><Relationship Type="http://schemas.openxmlformats.org/officeDocument/2006/relationships/image" Target="/ppt/media/image44.png" Id="R6f54754071c5406c" /><Relationship Type="http://schemas.openxmlformats.org/officeDocument/2006/relationships/notesSlide" Target="/ppt/notesSlides/notesSlide38.xml" Id="Re61133800ae7460a" /></Relationships>
</file>

<file path=ppt/slides/_rels/slide39.xml.rels>&#65279;<?xml version="1.0" encoding="utf-8"?><Relationships xmlns="http://schemas.openxmlformats.org/package/2006/relationships"><Relationship Type="http://schemas.openxmlformats.org/officeDocument/2006/relationships/slideLayout" Target="/ppt/slideLayouts/slideLayout6.xml" Id="R88b40e18cdc440e0" /><Relationship Type="http://schemas.openxmlformats.org/officeDocument/2006/relationships/image" Target="/ppt/media/image45.png" Id="R5b4e4e73ba9d4759" /><Relationship Type="http://schemas.openxmlformats.org/officeDocument/2006/relationships/notesSlide" Target="/ppt/notesSlides/notesSlide39.xml" Id="Re39c219f7f6842eb" /></Relationships>
</file>

<file path=ppt/slides/_rels/slide40.xml.rels>&#65279;<?xml version="1.0" encoding="utf-8"?><Relationships xmlns="http://schemas.openxmlformats.org/package/2006/relationships"><Relationship Type="http://schemas.openxmlformats.org/officeDocument/2006/relationships/slideLayout" Target="/ppt/slideLayouts/slideLayout6.xml" Id="Ree687a4514574d54" /><Relationship Type="http://schemas.openxmlformats.org/officeDocument/2006/relationships/image" Target="/ppt/media/image46.png" Id="R48850eedc3604f99" /><Relationship Type="http://schemas.openxmlformats.org/officeDocument/2006/relationships/notesSlide" Target="/ppt/notesSlides/notesSlide40.xml" Id="Rdf1ddb35f60c4aeb" /></Relationships>
</file>

<file path=ppt/slides/_rels/slide41.xml.rels>&#65279;<?xml version="1.0" encoding="utf-8"?><Relationships xmlns="http://schemas.openxmlformats.org/package/2006/relationships"><Relationship Type="http://schemas.openxmlformats.org/officeDocument/2006/relationships/slideLayout" Target="/ppt/slideLayouts/slideLayout6.xml" Id="Rfe266f2685b347a7" /><Relationship Type="http://schemas.openxmlformats.org/officeDocument/2006/relationships/image" Target="/ppt/media/image47.png" Id="Rcdc3b8c03e944721" /><Relationship Type="http://schemas.openxmlformats.org/officeDocument/2006/relationships/notesSlide" Target="/ppt/notesSlides/notesSlide41.xml" Id="Rfd35893c20ae4b61" /></Relationships>
</file>

<file path=ppt/slides/_rels/slide42.xml.rels>&#65279;<?xml version="1.0" encoding="utf-8"?><Relationships xmlns="http://schemas.openxmlformats.org/package/2006/relationships"><Relationship Type="http://schemas.openxmlformats.org/officeDocument/2006/relationships/slideLayout" Target="/ppt/slideLayouts/slideLayout6.xml" Id="R3ef4b76ff23d48af" /><Relationship Type="http://schemas.openxmlformats.org/officeDocument/2006/relationships/image" Target="/ppt/media/image48.png" Id="Ref8fa5bf4dc245dd" /><Relationship Type="http://schemas.openxmlformats.org/officeDocument/2006/relationships/notesSlide" Target="/ppt/notesSlides/notesSlide42.xml" Id="R517ddbccb0c04919" /></Relationships>
</file>

<file path=ppt/slides/_rels/slide43.xml.rels>&#65279;<?xml version="1.0" encoding="utf-8"?><Relationships xmlns="http://schemas.openxmlformats.org/package/2006/relationships"><Relationship Type="http://schemas.openxmlformats.org/officeDocument/2006/relationships/slideLayout" Target="/ppt/slideLayouts/slideLayout6.xml" Id="R859bc921766942fe" /><Relationship Type="http://schemas.openxmlformats.org/officeDocument/2006/relationships/image" Target="/ppt/media/image49.png" Id="Rdc35c421b523401b" /><Relationship Type="http://schemas.openxmlformats.org/officeDocument/2006/relationships/notesSlide" Target="/ppt/notesSlides/notesSlide43.xml" Id="R24ab004b8a8f431a" /></Relationships>
</file>

<file path=ppt/slides/_rels/slide44.xml.rels>&#65279;<?xml version="1.0" encoding="utf-8"?><Relationships xmlns="http://schemas.openxmlformats.org/package/2006/relationships"><Relationship Type="http://schemas.openxmlformats.org/officeDocument/2006/relationships/slideLayout" Target="/ppt/slideLayouts/slideLayout6.xml" Id="Rb92d93c530a740d7" /><Relationship Type="http://schemas.openxmlformats.org/officeDocument/2006/relationships/image" Target="/ppt/media/image50.png" Id="R7ddc1521e97e48c4" /><Relationship Type="http://schemas.openxmlformats.org/officeDocument/2006/relationships/notesSlide" Target="/ppt/notesSlides/notesSlide44.xml" Id="Rc783591e789540a2" /></Relationships>
</file>

<file path=ppt/slides/_rels/slide45.xml.rels>&#65279;<?xml version="1.0" encoding="utf-8"?><Relationships xmlns="http://schemas.openxmlformats.org/package/2006/relationships"><Relationship Type="http://schemas.openxmlformats.org/officeDocument/2006/relationships/slideLayout" Target="/ppt/slideLayouts/slideLayout6.xml" Id="R8000c54b371f42c9" /><Relationship Type="http://schemas.openxmlformats.org/officeDocument/2006/relationships/image" Target="/ppt/media/image51.png" Id="R5648a6fd55eb45b4" /><Relationship Type="http://schemas.openxmlformats.org/officeDocument/2006/relationships/notesSlide" Target="/ppt/notesSlides/notesSlide45.xml" Id="R08662089b80a4b66" /></Relationships>
</file>

<file path=ppt/slides/_rels/slide46.xml.rels>&#65279;<?xml version="1.0" encoding="utf-8"?><Relationships xmlns="http://schemas.openxmlformats.org/package/2006/relationships"><Relationship Type="http://schemas.openxmlformats.org/officeDocument/2006/relationships/slideLayout" Target="/ppt/slideLayouts/slideLayout6.xml" Id="Ra3b92f736b6d481f" /><Relationship Type="http://schemas.openxmlformats.org/officeDocument/2006/relationships/image" Target="/ppt/media/image52.png" Id="R0ac5858cd2fb4940" /><Relationship Type="http://schemas.openxmlformats.org/officeDocument/2006/relationships/notesSlide" Target="/ppt/notesSlides/notesSlide46.xml" Id="Rf142e26267cc434a" /></Relationships>
</file>

<file path=ppt/slides/_rels/slide47.xml.rels>&#65279;<?xml version="1.0" encoding="utf-8"?><Relationships xmlns="http://schemas.openxmlformats.org/package/2006/relationships"><Relationship Type="http://schemas.openxmlformats.org/officeDocument/2006/relationships/slideLayout" Target="/ppt/slideLayouts/slideLayout6.xml" Id="Rb1c275e7be7b4a1a" /><Relationship Type="http://schemas.openxmlformats.org/officeDocument/2006/relationships/image" Target="/ppt/media/image53.png" Id="Raa644de77f8e43d4" /><Relationship Type="http://schemas.openxmlformats.org/officeDocument/2006/relationships/notesSlide" Target="/ppt/notesSlides/notesSlide47.xml" Id="R7f424951612844bb" /></Relationships>
</file>

<file path=ppt/slides/_rels/slide48.xml.rels>&#65279;<?xml version="1.0" encoding="utf-8"?><Relationships xmlns="http://schemas.openxmlformats.org/package/2006/relationships"><Relationship Type="http://schemas.openxmlformats.org/officeDocument/2006/relationships/slideLayout" Target="/ppt/slideLayouts/slideLayout6.xml" Id="R7a5a4524d1ff4625" /><Relationship Type="http://schemas.openxmlformats.org/officeDocument/2006/relationships/image" Target="/ppt/media/image54.png" Id="R9a77c405c85c42d5" /><Relationship Type="http://schemas.openxmlformats.org/officeDocument/2006/relationships/notesSlide" Target="/ppt/notesSlides/notesSlide48.xml" Id="R3985cbfbd44c46a5"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chart1.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Masa estimada / g</c:v>
          </c:tx>
          <c:spPr>
            <a:solidFill xmlns:a="http://schemas.openxmlformats.org/drawingml/2006/main">
              <a:srgbClr val="244F3D"/>
            </a:solidFill>
          </c:spPr>
          <c:invertIfNegative val="0"/>
          <c:cat>
            <c:strRef>
              <c:f>'Chart Data'!$A$2:$A$3</c:f>
              <c:strCache>
                <c:ptCount val="2"/>
                <c:pt idx="0">
                  <c:v>Perfil A</c:v>
                </c:pt>
                <c:pt idx="1">
                  <c:v>Perfil B</c:v>
                </c:pt>
              </c:strCache>
            </c:strRef>
          </c:cat>
          <c:val>
            <c:numRef>
              <c:f>'Chart Data'!$B$2:$B$3</c:f>
              <c:numCache>
                <c:formatCode>0</c:formatCode>
                <c:ptCount val="2"/>
                <c:pt idx="0">
                  <c:v>18</c:v>
                </c:pt>
                <c:pt idx="1">
                  <c:v>24</c:v>
                </c:pt>
              </c:numCache>
            </c:numRef>
          </c:val>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dLblPos val="outEnd"/>
          <c:showLegendKey val="0"/>
          <c:showVal val="1"/>
          <c:showCatName val="0"/>
          <c:showSerName val="0"/>
          <c:showPercent val="0"/>
          <c:showBubbleSize val="0"/>
          <c:showLeaderLines val="0"/>
        </c:dLbls>
        <c:gapWidth val="10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650">
                <a:solidFill>
                  <a:srgbClr val="14231E"/>
                </a:solidFill>
                <a:latin typeface="Arial"/>
                <a:ea typeface="Arial"/>
                <a:cs typeface="Arial"/>
              </a:defRPr>
            </a:pPr>
          </a:p>
        </c:txPr>
        <c:crossAx val="48672768"/>
      </c:catAx>
      <c:valAx>
        <c:axId val="48672768"/>
        <c:scaling>
          <c:orientation val="minMax"/>
          <c:max val="30"/>
          <c:min val="0"/>
        </c:scaling>
        <c:delete val="0"/>
        <c:axPos val="l"/>
        <c:majorGridlines>
          <c:spPr>
            <a:ln xmlns:a="http://schemas.openxmlformats.org/drawingml/2006/main" w="9525">
              <a:solidFill>
                <a:srgbClr val="D7DFD8"/>
              </a:solidFill>
            </a:ln>
          </c:spPr>
        </c:majorGridlines>
        <c:title>
          <c:tx>
            <c:rich>
              <a:bodyPr xmlns:a="http://schemas.openxmlformats.org/drawingml/2006/main"/>
              <a:lstStyle xmlns:a="http://schemas.openxmlformats.org/drawingml/2006/main"/>
              <a:p xmlns:a="http://schemas.openxmlformats.org/drawingml/2006/main">
                <a:r>
                  <a:rPr>
                    <a:latin typeface="Arial"/>
                    <a:ea typeface="Arial"/>
                    <a:cs typeface="Arial"/>
                  </a:rPr>
                  <a:t>Masa estimada / g</a:t>
                </a:r>
              </a:p>
            </c:rich>
          </c:tx>
          <c:overlay val="0"/>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title>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75">
                <a:solidFill>
                  <a:srgbClr val="58665F"/>
                </a:solidFill>
                <a:latin typeface="Arial"/>
                <a:ea typeface="Arial"/>
                <a:cs typeface="Arial"/>
              </a:defRPr>
            </a:pPr>
          </a:p>
        </c:txPr>
        <c:crossAx val="48650112"/>
        <c:crossBetween val="between"/>
        <c:majorUnit val="5"/>
      </c:valAx>
      <c:spPr>
        <a:solidFill xmlns:a="http://schemas.openxmlformats.org/drawingml/2006/main">
          <a:srgbClr val="FCFCF8"/>
        </a:solidFill>
      </c:spPr>
    </c:plotArea>
    <c:plotVisOnly val="1"/>
  </c:chart>
  <c:spPr>
    <a:solidFill xmlns:a="http://schemas.openxmlformats.org/drawingml/2006/main">
      <a:srgbClr val="FCFCF8"/>
    </a:solidFill>
  </c:spPr>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090F10"/>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57CBE231-F812-4E3B-B93E-0B253776C7AD}"/>
              </a:ext>
            </a:extLst>
          </p:cNvPr>
          <p:cNvSpPr>
            <a:spLocks xmlns:a="http://schemas.openxmlformats.org/drawingml/2006/main" noGrp="1"/>
          </p:cNvSpPr>
          <p:nvPr/>
        </p:nvSpPr>
        <p:spPr>
          <a:xfrm xmlns:a="http://schemas.openxmlformats.org/drawingml/2006/main">
            <a:off x="590550" y="428625"/>
            <a:ext cx="100965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75" b="1">
                <a:solidFill>
                  <a:srgbClr val="FCFCF8"/>
                </a:solidFill>
                <a:latin typeface="Arial Narrow"/>
                <a:ea typeface="Arial Narrow"/>
                <a:cs typeface="Arial Narrow"/>
              </a:defRPr>
            </a:defPPr>
            <a:lvl1pPr>
              <a:defRPr sz="3375" b="1">
                <a:solidFill>
                  <a:srgbClr val="FCFCF8"/>
                </a:solidFill>
                <a:latin typeface="Arial Narrow"/>
                <a:ea typeface="Arial Narrow"/>
                <a:cs typeface="Arial Narrow"/>
              </a:defRPr>
            </a:lvl1pPr>
            <a:lvl2pPr>
              <a:defRPr sz="3375" b="1">
                <a:solidFill>
                  <a:srgbClr val="FCFCF8"/>
                </a:solidFill>
                <a:latin typeface="Arial Narrow"/>
                <a:ea typeface="Arial Narrow"/>
                <a:cs typeface="Arial Narrow"/>
              </a:defRPr>
            </a:lvl2pPr>
            <a:lvl3pPr>
              <a:defRPr sz="3375" b="1">
                <a:solidFill>
                  <a:srgbClr val="FCFCF8"/>
                </a:solidFill>
                <a:latin typeface="Arial Narrow"/>
                <a:ea typeface="Arial Narrow"/>
                <a:cs typeface="Arial Narrow"/>
              </a:defRPr>
            </a:lvl3pPr>
            <a:lvl4pPr>
              <a:defRPr sz="3375" b="1">
                <a:solidFill>
                  <a:srgbClr val="FCFCF8"/>
                </a:solidFill>
                <a:latin typeface="Arial Narrow"/>
                <a:ea typeface="Arial Narrow"/>
                <a:cs typeface="Arial Narrow"/>
              </a:defRPr>
            </a:lvl4pPr>
            <a:lvl5pPr>
              <a:defRPr sz="3375" b="1">
                <a:solidFill>
                  <a:srgbClr val="FCFCF8"/>
                </a:solidFill>
                <a:latin typeface="Arial Narrow"/>
                <a:ea typeface="Arial Narrow"/>
                <a:cs typeface="Arial Narrow"/>
              </a:defRPr>
            </a:lvl5pPr>
            <a:lvl6pPr>
              <a:defRPr sz="3375" b="1">
                <a:solidFill>
                  <a:srgbClr val="FCFCF8"/>
                </a:solidFill>
                <a:latin typeface="Arial Narrow"/>
                <a:ea typeface="Arial Narrow"/>
                <a:cs typeface="Arial Narrow"/>
              </a:defRPr>
            </a:lvl6pPr>
            <a:lvl7pPr>
              <a:defRPr sz="3375" b="1">
                <a:solidFill>
                  <a:srgbClr val="FCFCF8"/>
                </a:solidFill>
                <a:latin typeface="Arial Narrow"/>
                <a:ea typeface="Arial Narrow"/>
                <a:cs typeface="Arial Narrow"/>
              </a:defRPr>
            </a:lvl7pPr>
            <a:lvl8pPr>
              <a:defRPr sz="3375" b="1">
                <a:solidFill>
                  <a:srgbClr val="FCFCF8"/>
                </a:solidFill>
                <a:latin typeface="Arial Narrow"/>
                <a:ea typeface="Arial Narrow"/>
                <a:cs typeface="Arial Narrow"/>
              </a:defRPr>
            </a:lvl8pPr>
            <a:lvl9pPr>
              <a:defRPr sz="3375" b="1">
                <a:solidFill>
                  <a:srgbClr val="FCFCF8"/>
                </a:solidFill>
                <a:latin typeface="Arial Narrow"/>
                <a:ea typeface="Arial Narrow"/>
                <a:cs typeface="Arial Narrow"/>
              </a:defRPr>
            </a:lvl9pPr>
          </a:lstStyle>
          <a:p xmlns:a="http://schemas.openxmlformats.org/drawingml/2006/main">
            <a:pPr>
              <a:defRPr sz="3375" b="1">
                <a:solidFill>
                  <a:srgbClr val="FCFCF8"/>
                </a:solidFill>
                <a:latin typeface="Arial Narrow"/>
                <a:ea typeface="Arial Narrow"/>
                <a:cs typeface="Arial Narrow"/>
              </a:defRPr>
            </a:pPr>
            <a:r>
              <a:rPr sz="3375" b="1">
                <a:solidFill>
                  <a:srgbClr val="FCFCF8"/>
                </a:solidFill>
                <a:latin typeface="Arial Narrow"/>
                <a:ea typeface="Arial Narrow"/>
                <a:cs typeface="Arial Narrow"/>
              </a:rPr>
              <a:t>Impresión 3D para narices, aletas y útiles</a:t>
            </a:r>
          </a:p>
        </p:txBody>
      </p:sp>
      <p:pic>
        <p:nvPicPr>
          <p:cNvPr id="2" name="">
            <a:extLst xmlns:a="http://schemas.openxmlformats.org/drawingml/2006/main">
              <a:ext uri="{FF2B5EF4-FFF2-40B4-BE49-F238E27FC236}">
                <a16:creationId xmlns:a16="http://schemas.microsoft.com/office/drawing/2014/main" id="{4E8F1328-6779-45D4-8BA7-BB94AA6A1EF1}"/>
              </a:ext>
            </a:extLst>
          </p:cNvPr>
          <p:cNvPicPr>
            <a:picLocks xmlns:a="http://schemas.openxmlformats.org/drawingml/2006/main" noChangeAspect="1"/>
          </p:cNvPicPr>
          <p:nvPr/>
        </p:nvPicPr>
        <p:blipFill>
          <a:blip xmlns:r="http://schemas.openxmlformats.org/officeDocument/2006/relationships" xmlns:a="http://schemas.openxmlformats.org/drawingml/2006/main" r:embed="Ra1a80145ff084322"/>
          <a:stretch xmlns:a="http://schemas.openxmlformats.org/drawingml/2006/main"/>
        </p:blipFill>
        <p:spPr>
          <a:xfrm xmlns:a="http://schemas.openxmlformats.org/drawingml/2006/main">
            <a:off x="10858500" y="337942"/>
            <a:ext cx="762000" cy="276616"/>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8FAD5610-E8EA-4387-AFA8-1F32A88C84E4}"/>
              </a:ext>
            </a:extLst>
          </p:cNvPr>
          <p:cNvSpPr>
            <a:spLocks xmlns:a="http://schemas.openxmlformats.org/drawingml/2006/main" noGrp="1"/>
          </p:cNvSpPr>
          <p:nvPr/>
        </p:nvSpPr>
        <p:spPr>
          <a:xfrm xmlns:a="http://schemas.openxmlformats.org/drawingml/2006/main">
            <a:off x="590550" y="6467475"/>
            <a:ext cx="108108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B8C8C1"/>
                </a:solidFill>
                <a:latin typeface="Consolas"/>
                <a:ea typeface="Consolas"/>
                <a:cs typeface="Consolas"/>
              </a:defRPr>
            </a:defPPr>
            <a:lvl1pPr>
              <a:defRPr sz="1125" b="0">
                <a:solidFill>
                  <a:srgbClr val="B8C8C1"/>
                </a:solidFill>
                <a:latin typeface="Consolas"/>
                <a:ea typeface="Consolas"/>
                <a:cs typeface="Consolas"/>
              </a:defRPr>
            </a:lvl1pPr>
            <a:lvl2pPr>
              <a:defRPr sz="1125" b="0">
                <a:solidFill>
                  <a:srgbClr val="B8C8C1"/>
                </a:solidFill>
                <a:latin typeface="Consolas"/>
                <a:ea typeface="Consolas"/>
                <a:cs typeface="Consolas"/>
              </a:defRPr>
            </a:lvl2pPr>
            <a:lvl3pPr>
              <a:defRPr sz="1125" b="0">
                <a:solidFill>
                  <a:srgbClr val="B8C8C1"/>
                </a:solidFill>
                <a:latin typeface="Consolas"/>
                <a:ea typeface="Consolas"/>
                <a:cs typeface="Consolas"/>
              </a:defRPr>
            </a:lvl3pPr>
            <a:lvl4pPr>
              <a:defRPr sz="1125" b="0">
                <a:solidFill>
                  <a:srgbClr val="B8C8C1"/>
                </a:solidFill>
                <a:latin typeface="Consolas"/>
                <a:ea typeface="Consolas"/>
                <a:cs typeface="Consolas"/>
              </a:defRPr>
            </a:lvl4pPr>
            <a:lvl5pPr>
              <a:defRPr sz="1125" b="0">
                <a:solidFill>
                  <a:srgbClr val="B8C8C1"/>
                </a:solidFill>
                <a:latin typeface="Consolas"/>
                <a:ea typeface="Consolas"/>
                <a:cs typeface="Consolas"/>
              </a:defRPr>
            </a:lvl5pPr>
            <a:lvl6pPr>
              <a:defRPr sz="1125" b="0">
                <a:solidFill>
                  <a:srgbClr val="B8C8C1"/>
                </a:solidFill>
                <a:latin typeface="Consolas"/>
                <a:ea typeface="Consolas"/>
                <a:cs typeface="Consolas"/>
              </a:defRPr>
            </a:lvl6pPr>
            <a:lvl7pPr>
              <a:defRPr sz="1125" b="0">
                <a:solidFill>
                  <a:srgbClr val="B8C8C1"/>
                </a:solidFill>
                <a:latin typeface="Consolas"/>
                <a:ea typeface="Consolas"/>
                <a:cs typeface="Consolas"/>
              </a:defRPr>
            </a:lvl7pPr>
            <a:lvl8pPr>
              <a:defRPr sz="1125" b="0">
                <a:solidFill>
                  <a:srgbClr val="B8C8C1"/>
                </a:solidFill>
                <a:latin typeface="Consolas"/>
                <a:ea typeface="Consolas"/>
                <a:cs typeface="Consolas"/>
              </a:defRPr>
            </a:lvl8pPr>
            <a:lvl9pPr>
              <a:defRPr sz="1125" b="0">
                <a:solidFill>
                  <a:srgbClr val="B8C8C1"/>
                </a:solidFill>
                <a:latin typeface="Consolas"/>
                <a:ea typeface="Consolas"/>
                <a:cs typeface="Consolas"/>
              </a:defRPr>
            </a:lvl9pPr>
          </a:lstStyle>
          <a:p xmlns:a="http://schemas.openxmlformats.org/drawingml/2006/main">
            <a:pPr>
              <a:defRPr sz="1125" b="0">
                <a:solidFill>
                  <a:srgbClr val="B8C8C1"/>
                </a:solidFill>
                <a:latin typeface="Consolas"/>
                <a:ea typeface="Consolas"/>
                <a:cs typeface="Consolas"/>
              </a:defRPr>
            </a:pPr>
            <a:r>
              <a:rPr sz="1125" b="0">
                <a:solidFill>
                  <a:srgbClr val="B8C8C1"/>
                </a:solidFill>
                <a:latin typeface="Consolas"/>
                <a:ea typeface="Consolas"/>
                <a:cs typeface="Consolas"/>
              </a:rPr>
              <a:t>MECRO   SEMANA 3   CLASE 05   01/24</a:t>
            </a:r>
          </a:p>
        </p:txBody>
      </p:sp>
      <p:sp>
        <p:nvSpPr>
          <p:cNvPr id="4" name="">
            <a:extLst xmlns:a="http://schemas.openxmlformats.org/drawingml/2006/main">
              <a:ext uri="{FF2B5EF4-FFF2-40B4-BE49-F238E27FC236}">
                <a16:creationId xmlns:a16="http://schemas.microsoft.com/office/drawing/2014/main" id="{7DC6ADDB-6BF8-4B5C-B400-34BF4073AF05}"/>
              </a:ext>
            </a:extLst>
          </p:cNvPr>
          <p:cNvSpPr>
            <a:spLocks xmlns:a="http://schemas.openxmlformats.org/drawingml/2006/main" noGrp="1"/>
          </p:cNvSpPr>
          <p:nvPr/>
        </p:nvSpPr>
        <p:spPr>
          <a:xfrm xmlns:a="http://schemas.openxmlformats.org/drawingml/2006/main">
            <a:off x="590550" y="1762125"/>
            <a:ext cx="10715625"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850" b="1">
                <a:solidFill>
                  <a:srgbClr val="AEF4BB"/>
                </a:solidFill>
                <a:latin typeface="Arial"/>
                <a:ea typeface="Arial"/>
                <a:cs typeface="Arial"/>
              </a:defRPr>
            </a:defPPr>
            <a:lvl1pPr>
              <a:defRPr sz="2850" b="1">
                <a:solidFill>
                  <a:srgbClr val="AEF4BB"/>
                </a:solidFill>
                <a:latin typeface="Arial"/>
                <a:ea typeface="Arial"/>
                <a:cs typeface="Arial"/>
              </a:defRPr>
            </a:lvl1pPr>
            <a:lvl2pPr>
              <a:defRPr sz="2850" b="1">
                <a:solidFill>
                  <a:srgbClr val="AEF4BB"/>
                </a:solidFill>
                <a:latin typeface="Arial"/>
                <a:ea typeface="Arial"/>
                <a:cs typeface="Arial"/>
              </a:defRPr>
            </a:lvl2pPr>
            <a:lvl3pPr>
              <a:defRPr sz="2850" b="1">
                <a:solidFill>
                  <a:srgbClr val="AEF4BB"/>
                </a:solidFill>
                <a:latin typeface="Arial"/>
                <a:ea typeface="Arial"/>
                <a:cs typeface="Arial"/>
              </a:defRPr>
            </a:lvl3pPr>
            <a:lvl4pPr>
              <a:defRPr sz="2850" b="1">
                <a:solidFill>
                  <a:srgbClr val="AEF4BB"/>
                </a:solidFill>
                <a:latin typeface="Arial"/>
                <a:ea typeface="Arial"/>
                <a:cs typeface="Arial"/>
              </a:defRPr>
            </a:lvl4pPr>
            <a:lvl5pPr>
              <a:defRPr sz="2850" b="1">
                <a:solidFill>
                  <a:srgbClr val="AEF4BB"/>
                </a:solidFill>
                <a:latin typeface="Arial"/>
                <a:ea typeface="Arial"/>
                <a:cs typeface="Arial"/>
              </a:defRPr>
            </a:lvl5pPr>
            <a:lvl6pPr>
              <a:defRPr sz="2850" b="1">
                <a:solidFill>
                  <a:srgbClr val="AEF4BB"/>
                </a:solidFill>
                <a:latin typeface="Arial"/>
                <a:ea typeface="Arial"/>
                <a:cs typeface="Arial"/>
              </a:defRPr>
            </a:lvl6pPr>
            <a:lvl7pPr>
              <a:defRPr sz="2850" b="1">
                <a:solidFill>
                  <a:srgbClr val="AEF4BB"/>
                </a:solidFill>
                <a:latin typeface="Arial"/>
                <a:ea typeface="Arial"/>
                <a:cs typeface="Arial"/>
              </a:defRPr>
            </a:lvl7pPr>
            <a:lvl8pPr>
              <a:defRPr sz="2850" b="1">
                <a:solidFill>
                  <a:srgbClr val="AEF4BB"/>
                </a:solidFill>
                <a:latin typeface="Arial"/>
                <a:ea typeface="Arial"/>
                <a:cs typeface="Arial"/>
              </a:defRPr>
            </a:lvl8pPr>
            <a:lvl9pPr>
              <a:defRPr sz="2850" b="1">
                <a:solidFill>
                  <a:srgbClr val="AEF4BB"/>
                </a:solidFill>
                <a:latin typeface="Arial"/>
                <a:ea typeface="Arial"/>
                <a:cs typeface="Arial"/>
              </a:defRPr>
            </a:lvl9pPr>
          </a:lstStyle>
          <a:p xmlns:a="http://schemas.openxmlformats.org/drawingml/2006/main">
            <a:pPr>
              <a:defRPr sz="2850" b="1">
                <a:solidFill>
                  <a:srgbClr val="AEF4BB"/>
                </a:solidFill>
                <a:latin typeface="Arial"/>
                <a:ea typeface="Arial"/>
                <a:cs typeface="Arial"/>
              </a:defRPr>
            </a:pPr>
            <a:r>
              <a:rPr sz="2850" b="1">
                <a:solidFill>
                  <a:srgbClr val="AEF4BB"/>
                </a:solidFill>
                <a:latin typeface="Arial"/>
                <a:ea typeface="Arial"/>
                <a:cs typeface="Arial"/>
              </a:rPr>
              <a:t>Preparar una pieza para imprimir, revisar su orientación y distinguir aspecto exterior de ajuste funcional.</a:t>
            </a:r>
          </a:p>
        </p:txBody>
      </p:sp>
      <p:sp>
        <p:nvSpPr>
          <p:cNvPr id="5" name="">
            <a:extLst xmlns:a="http://schemas.openxmlformats.org/drawingml/2006/main">
              <a:ext uri="{FF2B5EF4-FFF2-40B4-BE49-F238E27FC236}">
                <a16:creationId xmlns:a16="http://schemas.microsoft.com/office/drawing/2014/main" id="{5882198B-832A-425C-A95F-4B67215D61D5}"/>
              </a:ext>
            </a:extLst>
          </p:cNvPr>
          <p:cNvSpPr>
            <a:spLocks xmlns:a="http://schemas.openxmlformats.org/drawingml/2006/main" noGrp="1"/>
          </p:cNvSpPr>
          <p:nvPr/>
        </p:nvSpPr>
        <p:spPr>
          <a:xfrm xmlns:a="http://schemas.openxmlformats.org/drawingml/2006/main">
            <a:off x="590550" y="3705225"/>
            <a:ext cx="10715625"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325" b="0">
                <a:solidFill>
                  <a:srgbClr val="FCFCF8"/>
                </a:solidFill>
                <a:latin typeface="Arial"/>
                <a:ea typeface="Arial"/>
                <a:cs typeface="Arial"/>
              </a:defRPr>
            </a:defPPr>
            <a:lvl1pPr>
              <a:defRPr sz="2325" b="0">
                <a:solidFill>
                  <a:srgbClr val="FCFCF8"/>
                </a:solidFill>
                <a:latin typeface="Arial"/>
                <a:ea typeface="Arial"/>
                <a:cs typeface="Arial"/>
              </a:defRPr>
            </a:lvl1pPr>
            <a:lvl2pPr>
              <a:defRPr sz="2325" b="0">
                <a:solidFill>
                  <a:srgbClr val="FCFCF8"/>
                </a:solidFill>
                <a:latin typeface="Arial"/>
                <a:ea typeface="Arial"/>
                <a:cs typeface="Arial"/>
              </a:defRPr>
            </a:lvl2pPr>
            <a:lvl3pPr>
              <a:defRPr sz="2325" b="0">
                <a:solidFill>
                  <a:srgbClr val="FCFCF8"/>
                </a:solidFill>
                <a:latin typeface="Arial"/>
                <a:ea typeface="Arial"/>
                <a:cs typeface="Arial"/>
              </a:defRPr>
            </a:lvl3pPr>
            <a:lvl4pPr>
              <a:defRPr sz="2325" b="0">
                <a:solidFill>
                  <a:srgbClr val="FCFCF8"/>
                </a:solidFill>
                <a:latin typeface="Arial"/>
                <a:ea typeface="Arial"/>
                <a:cs typeface="Arial"/>
              </a:defRPr>
            </a:lvl4pPr>
            <a:lvl5pPr>
              <a:defRPr sz="2325" b="0">
                <a:solidFill>
                  <a:srgbClr val="FCFCF8"/>
                </a:solidFill>
                <a:latin typeface="Arial"/>
                <a:ea typeface="Arial"/>
                <a:cs typeface="Arial"/>
              </a:defRPr>
            </a:lvl5pPr>
            <a:lvl6pPr>
              <a:defRPr sz="2325" b="0">
                <a:solidFill>
                  <a:srgbClr val="FCFCF8"/>
                </a:solidFill>
                <a:latin typeface="Arial"/>
                <a:ea typeface="Arial"/>
                <a:cs typeface="Arial"/>
              </a:defRPr>
            </a:lvl6pPr>
            <a:lvl7pPr>
              <a:defRPr sz="2325" b="0">
                <a:solidFill>
                  <a:srgbClr val="FCFCF8"/>
                </a:solidFill>
                <a:latin typeface="Arial"/>
                <a:ea typeface="Arial"/>
                <a:cs typeface="Arial"/>
              </a:defRPr>
            </a:lvl7pPr>
            <a:lvl8pPr>
              <a:defRPr sz="2325" b="0">
                <a:solidFill>
                  <a:srgbClr val="FCFCF8"/>
                </a:solidFill>
                <a:latin typeface="Arial"/>
                <a:ea typeface="Arial"/>
                <a:cs typeface="Arial"/>
              </a:defRPr>
            </a:lvl8pPr>
            <a:lvl9pPr>
              <a:defRPr sz="2325" b="0">
                <a:solidFill>
                  <a:srgbClr val="FCFCF8"/>
                </a:solidFill>
                <a:latin typeface="Arial"/>
                <a:ea typeface="Arial"/>
                <a:cs typeface="Arial"/>
              </a:defRPr>
            </a:lvl9pPr>
          </a:lstStyle>
          <a:p xmlns:a="http://schemas.openxmlformats.org/drawingml/2006/main">
            <a:pPr>
              <a:defRPr sz="2325" b="0">
                <a:solidFill>
                  <a:srgbClr val="FCFCF8"/>
                </a:solidFill>
                <a:latin typeface="Arial"/>
                <a:ea typeface="Arial"/>
                <a:cs typeface="Arial"/>
              </a:defRPr>
            </a:pPr>
            <a:r>
              <a:rPr sz="2325" b="0">
                <a:solidFill>
                  <a:srgbClr val="FCFCF8"/>
                </a:solidFill>
                <a:latin typeface="Arial"/>
                <a:ea typeface="Arial"/>
                <a:cs typeface="Arial"/>
              </a:rPr>
              <a:t>Fabricar prototipos repetibles con el tiempo y los equipos disponibles.</a:t>
            </a:r>
          </a:p>
        </p:txBody>
      </p:sp>
      <p:sp>
        <p:nvSpPr>
          <p:cNvPr id="6" name="">
            <a:extLst xmlns:a="http://schemas.openxmlformats.org/drawingml/2006/main">
              <a:ext uri="{FF2B5EF4-FFF2-40B4-BE49-F238E27FC236}">
                <a16:creationId xmlns:a16="http://schemas.microsoft.com/office/drawing/2014/main" id="{3C70422C-477C-4820-A4C1-A324B7619653}"/>
              </a:ext>
            </a:extLst>
          </p:cNvPr>
          <p:cNvSpPr>
            <a:spLocks xmlns:a="http://schemas.openxmlformats.org/drawingml/2006/main" noGrp="1"/>
          </p:cNvSpPr>
          <p:nvPr/>
        </p:nvSpPr>
        <p:spPr>
          <a:xfrm xmlns:a="http://schemas.openxmlformats.org/drawingml/2006/main">
            <a:off x="590550" y="5648325"/>
            <a:ext cx="1071562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00" b="0">
                <a:solidFill>
                  <a:srgbClr val="B8C8C1"/>
                </a:solidFill>
                <a:latin typeface="Consolas"/>
                <a:ea typeface="Consolas"/>
                <a:cs typeface="Consolas"/>
              </a:defRPr>
            </a:defPPr>
            <a:lvl1pPr>
              <a:defRPr sz="1800" b="0">
                <a:solidFill>
                  <a:srgbClr val="B8C8C1"/>
                </a:solidFill>
                <a:latin typeface="Consolas"/>
                <a:ea typeface="Consolas"/>
                <a:cs typeface="Consolas"/>
              </a:defRPr>
            </a:lvl1pPr>
            <a:lvl2pPr>
              <a:defRPr sz="1800" b="0">
                <a:solidFill>
                  <a:srgbClr val="B8C8C1"/>
                </a:solidFill>
                <a:latin typeface="Consolas"/>
                <a:ea typeface="Consolas"/>
                <a:cs typeface="Consolas"/>
              </a:defRPr>
            </a:lvl2pPr>
            <a:lvl3pPr>
              <a:defRPr sz="1800" b="0">
                <a:solidFill>
                  <a:srgbClr val="B8C8C1"/>
                </a:solidFill>
                <a:latin typeface="Consolas"/>
                <a:ea typeface="Consolas"/>
                <a:cs typeface="Consolas"/>
              </a:defRPr>
            </a:lvl3pPr>
            <a:lvl4pPr>
              <a:defRPr sz="1800" b="0">
                <a:solidFill>
                  <a:srgbClr val="B8C8C1"/>
                </a:solidFill>
                <a:latin typeface="Consolas"/>
                <a:ea typeface="Consolas"/>
                <a:cs typeface="Consolas"/>
              </a:defRPr>
            </a:lvl4pPr>
            <a:lvl5pPr>
              <a:defRPr sz="1800" b="0">
                <a:solidFill>
                  <a:srgbClr val="B8C8C1"/>
                </a:solidFill>
                <a:latin typeface="Consolas"/>
                <a:ea typeface="Consolas"/>
                <a:cs typeface="Consolas"/>
              </a:defRPr>
            </a:lvl5pPr>
            <a:lvl6pPr>
              <a:defRPr sz="1800" b="0">
                <a:solidFill>
                  <a:srgbClr val="B8C8C1"/>
                </a:solidFill>
                <a:latin typeface="Consolas"/>
                <a:ea typeface="Consolas"/>
                <a:cs typeface="Consolas"/>
              </a:defRPr>
            </a:lvl6pPr>
            <a:lvl7pPr>
              <a:defRPr sz="1800" b="0">
                <a:solidFill>
                  <a:srgbClr val="B8C8C1"/>
                </a:solidFill>
                <a:latin typeface="Consolas"/>
                <a:ea typeface="Consolas"/>
                <a:cs typeface="Consolas"/>
              </a:defRPr>
            </a:lvl7pPr>
            <a:lvl8pPr>
              <a:defRPr sz="1800" b="0">
                <a:solidFill>
                  <a:srgbClr val="B8C8C1"/>
                </a:solidFill>
                <a:latin typeface="Consolas"/>
                <a:ea typeface="Consolas"/>
                <a:cs typeface="Consolas"/>
              </a:defRPr>
            </a:lvl8pPr>
            <a:lvl9pPr>
              <a:defRPr sz="1800" b="0">
                <a:solidFill>
                  <a:srgbClr val="B8C8C1"/>
                </a:solidFill>
                <a:latin typeface="Consolas"/>
                <a:ea typeface="Consolas"/>
                <a:cs typeface="Consolas"/>
              </a:defRPr>
            </a:lvl9pPr>
          </a:lstStyle>
          <a:p xmlns:a="http://schemas.openxmlformats.org/drawingml/2006/main">
            <a:pPr>
              <a:defRPr sz="1800" b="0">
                <a:solidFill>
                  <a:srgbClr val="B8C8C1"/>
                </a:solidFill>
                <a:latin typeface="Consolas"/>
                <a:ea typeface="Consolas"/>
                <a:cs typeface="Consolas"/>
              </a:defRPr>
            </a:pPr>
            <a:r>
              <a:rPr sz="1800" b="0">
                <a:solidFill>
                  <a:srgbClr val="B8C8C1"/>
                </a:solidFill>
                <a:latin typeface="Consolas"/>
                <a:ea typeface="Consolas"/>
                <a:cs typeface="Consolas"/>
              </a:rPr>
              <a:t>EN LÍNEA   2 HORAS</a:t>
            </a:r>
          </a:p>
        </p:txBody>
      </p:sp>
    </p:spTree>
    <p:extLst>
      <p:ext uri="{BB962C8B-B14F-4D97-AF65-F5344CB8AC3E}">
        <p14:creationId xmlns:p14="http://schemas.microsoft.com/office/powerpoint/2010/main" val="337901651"/>
      </p:ext>
    </p:extLst>
  </p:cSld>
</p:sld>
</file>

<file path=ppt/slides/slide2.xml><?xml version="1.0" encoding="utf-8"?>
<p:sld xmlns:p="http://schemas.openxmlformats.org/presentationml/2006/main">
  <p:cSld>
    <p:bg>
      <p:bgPr>
        <a:solidFill xmlns:a="http://schemas.openxmlformats.org/drawingml/2006/main">
          <a:srgbClr val="FCFCF8"/>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9160C4C8-E264-411C-ACCA-EEAFF14BB562}"/>
              </a:ext>
            </a:extLst>
          </p:cNvPr>
          <p:cNvSpPr>
            <a:spLocks xmlns:a="http://schemas.openxmlformats.org/drawingml/2006/main" noGrp="1"/>
          </p:cNvSpPr>
          <p:nvPr/>
        </p:nvSpPr>
        <p:spPr>
          <a:xfrm xmlns:a="http://schemas.openxmlformats.org/drawingml/2006/main">
            <a:off x="590550" y="428625"/>
            <a:ext cx="100965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75" b="1">
                <a:solidFill>
                  <a:srgbClr val="14231E"/>
                </a:solidFill>
                <a:latin typeface="Arial Narrow"/>
                <a:ea typeface="Arial Narrow"/>
                <a:cs typeface="Arial Narrow"/>
              </a:defRPr>
            </a:defPPr>
            <a:lvl1pPr>
              <a:defRPr sz="3375" b="1">
                <a:solidFill>
                  <a:srgbClr val="14231E"/>
                </a:solidFill>
                <a:latin typeface="Arial Narrow"/>
                <a:ea typeface="Arial Narrow"/>
                <a:cs typeface="Arial Narrow"/>
              </a:defRPr>
            </a:lvl1pPr>
            <a:lvl2pPr>
              <a:defRPr sz="3375" b="1">
                <a:solidFill>
                  <a:srgbClr val="14231E"/>
                </a:solidFill>
                <a:latin typeface="Arial Narrow"/>
                <a:ea typeface="Arial Narrow"/>
                <a:cs typeface="Arial Narrow"/>
              </a:defRPr>
            </a:lvl2pPr>
            <a:lvl3pPr>
              <a:defRPr sz="3375" b="1">
                <a:solidFill>
                  <a:srgbClr val="14231E"/>
                </a:solidFill>
                <a:latin typeface="Arial Narrow"/>
                <a:ea typeface="Arial Narrow"/>
                <a:cs typeface="Arial Narrow"/>
              </a:defRPr>
            </a:lvl3pPr>
            <a:lvl4pPr>
              <a:defRPr sz="3375" b="1">
                <a:solidFill>
                  <a:srgbClr val="14231E"/>
                </a:solidFill>
                <a:latin typeface="Arial Narrow"/>
                <a:ea typeface="Arial Narrow"/>
                <a:cs typeface="Arial Narrow"/>
              </a:defRPr>
            </a:lvl4pPr>
            <a:lvl5pPr>
              <a:defRPr sz="3375" b="1">
                <a:solidFill>
                  <a:srgbClr val="14231E"/>
                </a:solidFill>
                <a:latin typeface="Arial Narrow"/>
                <a:ea typeface="Arial Narrow"/>
                <a:cs typeface="Arial Narrow"/>
              </a:defRPr>
            </a:lvl5pPr>
            <a:lvl6pPr>
              <a:defRPr sz="3375" b="1">
                <a:solidFill>
                  <a:srgbClr val="14231E"/>
                </a:solidFill>
                <a:latin typeface="Arial Narrow"/>
                <a:ea typeface="Arial Narrow"/>
                <a:cs typeface="Arial Narrow"/>
              </a:defRPr>
            </a:lvl6pPr>
            <a:lvl7pPr>
              <a:defRPr sz="3375" b="1">
                <a:solidFill>
                  <a:srgbClr val="14231E"/>
                </a:solidFill>
                <a:latin typeface="Arial Narrow"/>
                <a:ea typeface="Arial Narrow"/>
                <a:cs typeface="Arial Narrow"/>
              </a:defRPr>
            </a:lvl7pPr>
            <a:lvl8pPr>
              <a:defRPr sz="3375" b="1">
                <a:solidFill>
                  <a:srgbClr val="14231E"/>
                </a:solidFill>
                <a:latin typeface="Arial Narrow"/>
                <a:ea typeface="Arial Narrow"/>
                <a:cs typeface="Arial Narrow"/>
              </a:defRPr>
            </a:lvl8pPr>
            <a:lvl9pPr>
              <a:defRPr sz="3375" b="1">
                <a:solidFill>
                  <a:srgbClr val="14231E"/>
                </a:solidFill>
                <a:latin typeface="Arial Narrow"/>
                <a:ea typeface="Arial Narrow"/>
                <a:cs typeface="Arial Narrow"/>
              </a:defRPr>
            </a:lvl9pPr>
          </a:lstStyle>
          <a:p xmlns:a="http://schemas.openxmlformats.org/drawingml/2006/main">
            <a:pPr>
              <a:defRPr sz="3375" b="1">
                <a:solidFill>
                  <a:srgbClr val="14231E"/>
                </a:solidFill>
                <a:latin typeface="Arial Narrow"/>
                <a:ea typeface="Arial Narrow"/>
                <a:cs typeface="Arial Narrow"/>
              </a:defRPr>
            </a:pPr>
            <a:r>
              <a:rPr sz="3375" b="1">
                <a:solidFill>
                  <a:srgbClr val="14231E"/>
                </a:solidFill>
                <a:latin typeface="Arial Narrow"/>
                <a:ea typeface="Arial Narrow"/>
                <a:cs typeface="Arial Narrow"/>
              </a:rPr>
              <a:t>De un archivo bonito a una pieza útil</a:t>
            </a:r>
          </a:p>
        </p:txBody>
      </p:sp>
      <p:pic>
        <p:nvPicPr>
          <p:cNvPr id="2" name="">
            <a:extLst xmlns:a="http://schemas.openxmlformats.org/drawingml/2006/main">
              <a:ext uri="{FF2B5EF4-FFF2-40B4-BE49-F238E27FC236}">
                <a16:creationId xmlns:a16="http://schemas.microsoft.com/office/drawing/2014/main" id="{BCA559C2-5AE2-41B6-A158-D5A6F1CC328D}"/>
              </a:ext>
            </a:extLst>
          </p:cNvPr>
          <p:cNvPicPr>
            <a:picLocks xmlns:a="http://schemas.openxmlformats.org/drawingml/2006/main" noChangeAspect="1"/>
          </p:cNvPicPr>
          <p:nvPr/>
        </p:nvPicPr>
        <p:blipFill>
          <a:blip xmlns:r="http://schemas.openxmlformats.org/officeDocument/2006/relationships" xmlns:a="http://schemas.openxmlformats.org/drawingml/2006/main" r:embed="R6fb0501362a84a13"/>
          <a:stretch xmlns:a="http://schemas.openxmlformats.org/drawingml/2006/main"/>
        </p:blipFill>
        <p:spPr>
          <a:xfrm xmlns:a="http://schemas.openxmlformats.org/drawingml/2006/main">
            <a:off x="10858500" y="337942"/>
            <a:ext cx="762000" cy="276616"/>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5CFAA00D-9465-4A0C-BFD7-340E8432F27F}"/>
              </a:ext>
            </a:extLst>
          </p:cNvPr>
          <p:cNvSpPr>
            <a:spLocks xmlns:a="http://schemas.openxmlformats.org/drawingml/2006/main" noGrp="1"/>
          </p:cNvSpPr>
          <p:nvPr/>
        </p:nvSpPr>
        <p:spPr>
          <a:xfrm xmlns:a="http://schemas.openxmlformats.org/drawingml/2006/main">
            <a:off x="590550" y="6467475"/>
            <a:ext cx="108108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58665F"/>
                </a:solidFill>
                <a:latin typeface="Consolas"/>
                <a:ea typeface="Consolas"/>
                <a:cs typeface="Consolas"/>
              </a:defRPr>
            </a:defPPr>
            <a:lvl1pPr>
              <a:defRPr sz="1125" b="0">
                <a:solidFill>
                  <a:srgbClr val="58665F"/>
                </a:solidFill>
                <a:latin typeface="Consolas"/>
                <a:ea typeface="Consolas"/>
                <a:cs typeface="Consolas"/>
              </a:defRPr>
            </a:lvl1pPr>
            <a:lvl2pPr>
              <a:defRPr sz="1125" b="0">
                <a:solidFill>
                  <a:srgbClr val="58665F"/>
                </a:solidFill>
                <a:latin typeface="Consolas"/>
                <a:ea typeface="Consolas"/>
                <a:cs typeface="Consolas"/>
              </a:defRPr>
            </a:lvl2pPr>
            <a:lvl3pPr>
              <a:defRPr sz="1125" b="0">
                <a:solidFill>
                  <a:srgbClr val="58665F"/>
                </a:solidFill>
                <a:latin typeface="Consolas"/>
                <a:ea typeface="Consolas"/>
                <a:cs typeface="Consolas"/>
              </a:defRPr>
            </a:lvl3pPr>
            <a:lvl4pPr>
              <a:defRPr sz="1125" b="0">
                <a:solidFill>
                  <a:srgbClr val="58665F"/>
                </a:solidFill>
                <a:latin typeface="Consolas"/>
                <a:ea typeface="Consolas"/>
                <a:cs typeface="Consolas"/>
              </a:defRPr>
            </a:lvl4pPr>
            <a:lvl5pPr>
              <a:defRPr sz="1125" b="0">
                <a:solidFill>
                  <a:srgbClr val="58665F"/>
                </a:solidFill>
                <a:latin typeface="Consolas"/>
                <a:ea typeface="Consolas"/>
                <a:cs typeface="Consolas"/>
              </a:defRPr>
            </a:lvl5pPr>
            <a:lvl6pPr>
              <a:defRPr sz="1125" b="0">
                <a:solidFill>
                  <a:srgbClr val="58665F"/>
                </a:solidFill>
                <a:latin typeface="Consolas"/>
                <a:ea typeface="Consolas"/>
                <a:cs typeface="Consolas"/>
              </a:defRPr>
            </a:lvl6pPr>
            <a:lvl7pPr>
              <a:defRPr sz="1125" b="0">
                <a:solidFill>
                  <a:srgbClr val="58665F"/>
                </a:solidFill>
                <a:latin typeface="Consolas"/>
                <a:ea typeface="Consolas"/>
                <a:cs typeface="Consolas"/>
              </a:defRPr>
            </a:lvl7pPr>
            <a:lvl8pPr>
              <a:defRPr sz="1125" b="0">
                <a:solidFill>
                  <a:srgbClr val="58665F"/>
                </a:solidFill>
                <a:latin typeface="Consolas"/>
                <a:ea typeface="Consolas"/>
                <a:cs typeface="Consolas"/>
              </a:defRPr>
            </a:lvl8pPr>
            <a:lvl9pPr>
              <a:defRPr sz="1125" b="0">
                <a:solidFill>
                  <a:srgbClr val="58665F"/>
                </a:solidFill>
                <a:latin typeface="Consolas"/>
                <a:ea typeface="Consolas"/>
                <a:cs typeface="Consolas"/>
              </a:defRPr>
            </a:lvl9pPr>
          </a:lstStyle>
          <a:p xmlns:a="http://schemas.openxmlformats.org/drawingml/2006/main">
            <a:pPr>
              <a:defRPr sz="1125" b="0">
                <a:solidFill>
                  <a:srgbClr val="58665F"/>
                </a:solidFill>
                <a:latin typeface="Consolas"/>
                <a:ea typeface="Consolas"/>
                <a:cs typeface="Consolas"/>
              </a:defRPr>
            </a:pPr>
            <a:r>
              <a:rPr sz="1125" b="0">
                <a:solidFill>
                  <a:srgbClr val="58665F"/>
                </a:solidFill>
                <a:latin typeface="Consolas"/>
                <a:ea typeface="Consolas"/>
                <a:cs typeface="Consolas"/>
              </a:rPr>
              <a:t>MECRO   SEMANA 3   CLASE 05   02/24</a:t>
            </a:r>
          </a:p>
        </p:txBody>
      </p:sp>
      <p:sp>
        <p:nvSpPr>
          <p:cNvPr id="4" name="">
            <a:extLst xmlns:a="http://schemas.openxmlformats.org/drawingml/2006/main">
              <a:ext uri="{FF2B5EF4-FFF2-40B4-BE49-F238E27FC236}">
                <a16:creationId xmlns:a16="http://schemas.microsoft.com/office/drawing/2014/main" id="{3D1BFEFD-F328-42EC-BB85-DBD76C79523B}"/>
              </a:ext>
            </a:extLst>
          </p:cNvPr>
          <p:cNvSpPr>
            <a:spLocks xmlns:a="http://schemas.openxmlformats.org/drawingml/2006/main" noGrp="1"/>
          </p:cNvSpPr>
          <p:nvPr/>
        </p:nvSpPr>
        <p:spPr>
          <a:xfrm xmlns:a="http://schemas.openxmlformats.org/drawingml/2006/main">
            <a:off x="590550" y="1743075"/>
            <a:ext cx="10810875" cy="425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325" b="0">
                <a:solidFill>
                  <a:srgbClr val="14231E"/>
                </a:solidFill>
                <a:latin typeface="Arial"/>
                <a:ea typeface="Arial"/>
                <a:cs typeface="Arial"/>
              </a:defRPr>
            </a:defPPr>
            <a:lvl1pPr>
              <a:defRPr sz="2325" b="0">
                <a:solidFill>
                  <a:srgbClr val="14231E"/>
                </a:solidFill>
                <a:latin typeface="Arial"/>
                <a:ea typeface="Arial"/>
                <a:cs typeface="Arial"/>
              </a:defRPr>
            </a:lvl1pPr>
            <a:lvl2pPr>
              <a:defRPr sz="2325" b="0">
                <a:solidFill>
                  <a:srgbClr val="14231E"/>
                </a:solidFill>
                <a:latin typeface="Arial"/>
                <a:ea typeface="Arial"/>
                <a:cs typeface="Arial"/>
              </a:defRPr>
            </a:lvl2pPr>
            <a:lvl3pPr>
              <a:defRPr sz="2325" b="0">
                <a:solidFill>
                  <a:srgbClr val="14231E"/>
                </a:solidFill>
                <a:latin typeface="Arial"/>
                <a:ea typeface="Arial"/>
                <a:cs typeface="Arial"/>
              </a:defRPr>
            </a:lvl3pPr>
            <a:lvl4pPr>
              <a:defRPr sz="2325" b="0">
                <a:solidFill>
                  <a:srgbClr val="14231E"/>
                </a:solidFill>
                <a:latin typeface="Arial"/>
                <a:ea typeface="Arial"/>
                <a:cs typeface="Arial"/>
              </a:defRPr>
            </a:lvl4pPr>
            <a:lvl5pPr>
              <a:defRPr sz="2325" b="0">
                <a:solidFill>
                  <a:srgbClr val="14231E"/>
                </a:solidFill>
                <a:latin typeface="Arial"/>
                <a:ea typeface="Arial"/>
                <a:cs typeface="Arial"/>
              </a:defRPr>
            </a:lvl5pPr>
            <a:lvl6pPr>
              <a:defRPr sz="2325" b="0">
                <a:solidFill>
                  <a:srgbClr val="14231E"/>
                </a:solidFill>
                <a:latin typeface="Arial"/>
                <a:ea typeface="Arial"/>
                <a:cs typeface="Arial"/>
              </a:defRPr>
            </a:lvl6pPr>
            <a:lvl7pPr>
              <a:defRPr sz="2325" b="0">
                <a:solidFill>
                  <a:srgbClr val="14231E"/>
                </a:solidFill>
                <a:latin typeface="Arial"/>
                <a:ea typeface="Arial"/>
                <a:cs typeface="Arial"/>
              </a:defRPr>
            </a:lvl7pPr>
            <a:lvl8pPr>
              <a:defRPr sz="2325" b="0">
                <a:solidFill>
                  <a:srgbClr val="14231E"/>
                </a:solidFill>
                <a:latin typeface="Arial"/>
                <a:ea typeface="Arial"/>
                <a:cs typeface="Arial"/>
              </a:defRPr>
            </a:lvl8pPr>
            <a:lvl9pPr>
              <a:defRPr sz="2325" b="0">
                <a:solidFill>
                  <a:srgbClr val="14231E"/>
                </a:solidFill>
                <a:latin typeface="Arial"/>
                <a:ea typeface="Arial"/>
                <a:cs typeface="Arial"/>
              </a:defRPr>
            </a:lvl9pPr>
          </a:lstStyle>
          <a:p xmlns:a="http://schemas.openxmlformats.org/drawingml/2006/main">
            <a:pPr>
              <a:defRPr sz="2325" b="0">
                <a:solidFill>
                  <a:srgbClr val="14231E"/>
                </a:solidFill>
                <a:latin typeface="Arial"/>
                <a:ea typeface="Arial"/>
                <a:cs typeface="Arial"/>
              </a:defRPr>
            </a:pPr>
            <a:r>
              <a:rPr sz="2325" b="0">
                <a:solidFill>
                  <a:srgbClr val="14231E"/>
                </a:solidFill>
                <a:latin typeface="Arial"/>
                <a:ea typeface="Arial"/>
                <a:cs typeface="Arial"/>
              </a:rPr>
              <a:t>El archivo CAD define la geometría. El laminador la transforma en capas y trayectorias para una impresora concreta. La pieza física añade variaciones de dimensiones y de acabado. Por eso conservaremos el CAD, el proyecto del laminador y el identificador de la impresión. Un archivo STL por sí solo no explica cómo se fabricó la pieza.</a:t>
            </a:r>
          </a:p>
        </p:txBody>
      </p:sp>
    </p:spTree>
    <p:extLst>
      <p:ext uri="{BB962C8B-B14F-4D97-AF65-F5344CB8AC3E}">
        <p14:creationId xmlns:p14="http://schemas.microsoft.com/office/powerpoint/2010/main" val="604041628"/>
      </p:ext>
    </p:extLst>
  </p:cSld>
</p:sld>
</file>

<file path=ppt/slides/slide3.xml><?xml version="1.0" encoding="utf-8"?>
<p:sld xmlns:p="http://schemas.openxmlformats.org/presentationml/2006/main">
  <p:cSld>
    <p:bg>
      <p:bgPr>
        <a:solidFill xmlns:a="http://schemas.openxmlformats.org/drawingml/2006/main">
          <a:srgbClr val="FCFCF8"/>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913E7B03-41EF-4B32-B2ED-8E9E66FB9212}"/>
              </a:ext>
            </a:extLst>
          </p:cNvPr>
          <p:cNvSpPr>
            <a:spLocks xmlns:a="http://schemas.openxmlformats.org/drawingml/2006/main" noGrp="1"/>
          </p:cNvSpPr>
          <p:nvPr/>
        </p:nvSpPr>
        <p:spPr>
          <a:xfrm xmlns:a="http://schemas.openxmlformats.org/drawingml/2006/main">
            <a:off x="590550" y="428625"/>
            <a:ext cx="100965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75" b="1">
                <a:solidFill>
                  <a:srgbClr val="14231E"/>
                </a:solidFill>
                <a:latin typeface="Arial Narrow"/>
                <a:ea typeface="Arial Narrow"/>
                <a:cs typeface="Arial Narrow"/>
              </a:defRPr>
            </a:defPPr>
            <a:lvl1pPr>
              <a:defRPr sz="3375" b="1">
                <a:solidFill>
                  <a:srgbClr val="14231E"/>
                </a:solidFill>
                <a:latin typeface="Arial Narrow"/>
                <a:ea typeface="Arial Narrow"/>
                <a:cs typeface="Arial Narrow"/>
              </a:defRPr>
            </a:lvl1pPr>
            <a:lvl2pPr>
              <a:defRPr sz="3375" b="1">
                <a:solidFill>
                  <a:srgbClr val="14231E"/>
                </a:solidFill>
                <a:latin typeface="Arial Narrow"/>
                <a:ea typeface="Arial Narrow"/>
                <a:cs typeface="Arial Narrow"/>
              </a:defRPr>
            </a:lvl2pPr>
            <a:lvl3pPr>
              <a:defRPr sz="3375" b="1">
                <a:solidFill>
                  <a:srgbClr val="14231E"/>
                </a:solidFill>
                <a:latin typeface="Arial Narrow"/>
                <a:ea typeface="Arial Narrow"/>
                <a:cs typeface="Arial Narrow"/>
              </a:defRPr>
            </a:lvl3pPr>
            <a:lvl4pPr>
              <a:defRPr sz="3375" b="1">
                <a:solidFill>
                  <a:srgbClr val="14231E"/>
                </a:solidFill>
                <a:latin typeface="Arial Narrow"/>
                <a:ea typeface="Arial Narrow"/>
                <a:cs typeface="Arial Narrow"/>
              </a:defRPr>
            </a:lvl4pPr>
            <a:lvl5pPr>
              <a:defRPr sz="3375" b="1">
                <a:solidFill>
                  <a:srgbClr val="14231E"/>
                </a:solidFill>
                <a:latin typeface="Arial Narrow"/>
                <a:ea typeface="Arial Narrow"/>
                <a:cs typeface="Arial Narrow"/>
              </a:defRPr>
            </a:lvl5pPr>
            <a:lvl6pPr>
              <a:defRPr sz="3375" b="1">
                <a:solidFill>
                  <a:srgbClr val="14231E"/>
                </a:solidFill>
                <a:latin typeface="Arial Narrow"/>
                <a:ea typeface="Arial Narrow"/>
                <a:cs typeface="Arial Narrow"/>
              </a:defRPr>
            </a:lvl6pPr>
            <a:lvl7pPr>
              <a:defRPr sz="3375" b="1">
                <a:solidFill>
                  <a:srgbClr val="14231E"/>
                </a:solidFill>
                <a:latin typeface="Arial Narrow"/>
                <a:ea typeface="Arial Narrow"/>
                <a:cs typeface="Arial Narrow"/>
              </a:defRPr>
            </a:lvl7pPr>
            <a:lvl8pPr>
              <a:defRPr sz="3375" b="1">
                <a:solidFill>
                  <a:srgbClr val="14231E"/>
                </a:solidFill>
                <a:latin typeface="Arial Narrow"/>
                <a:ea typeface="Arial Narrow"/>
                <a:cs typeface="Arial Narrow"/>
              </a:defRPr>
            </a:lvl8pPr>
            <a:lvl9pPr>
              <a:defRPr sz="3375" b="1">
                <a:solidFill>
                  <a:srgbClr val="14231E"/>
                </a:solidFill>
                <a:latin typeface="Arial Narrow"/>
                <a:ea typeface="Arial Narrow"/>
                <a:cs typeface="Arial Narrow"/>
              </a:defRPr>
            </a:lvl9pPr>
          </a:lstStyle>
          <a:p xmlns:a="http://schemas.openxmlformats.org/drawingml/2006/main">
            <a:pPr>
              <a:defRPr sz="3375" b="1">
                <a:solidFill>
                  <a:srgbClr val="14231E"/>
                </a:solidFill>
                <a:latin typeface="Arial Narrow"/>
                <a:ea typeface="Arial Narrow"/>
                <a:cs typeface="Arial Narrow"/>
              </a:defRPr>
            </a:pPr>
            <a:r>
              <a:rPr sz="3375" b="1">
                <a:solidFill>
                  <a:srgbClr val="14231E"/>
                </a:solidFill>
                <a:latin typeface="Arial Narrow"/>
                <a:ea typeface="Arial Narrow"/>
                <a:cs typeface="Arial Narrow"/>
              </a:rPr>
              <a:t>De un archivo bonito a una pieza útil</a:t>
            </a:r>
          </a:p>
        </p:txBody>
      </p:sp>
      <p:pic>
        <p:nvPicPr>
          <p:cNvPr id="2" name="">
            <a:extLst xmlns:a="http://schemas.openxmlformats.org/drawingml/2006/main">
              <a:ext uri="{FF2B5EF4-FFF2-40B4-BE49-F238E27FC236}">
                <a16:creationId xmlns:a16="http://schemas.microsoft.com/office/drawing/2014/main" id="{8EEF4021-E187-4BB6-B780-B731EB66C392}"/>
              </a:ext>
            </a:extLst>
          </p:cNvPr>
          <p:cNvPicPr>
            <a:picLocks xmlns:a="http://schemas.openxmlformats.org/drawingml/2006/main" noChangeAspect="1"/>
          </p:cNvPicPr>
          <p:nvPr/>
        </p:nvPicPr>
        <p:blipFill>
          <a:blip xmlns:r="http://schemas.openxmlformats.org/officeDocument/2006/relationships" xmlns:a="http://schemas.openxmlformats.org/drawingml/2006/main" r:embed="R4242a25115c7417a"/>
          <a:stretch xmlns:a="http://schemas.openxmlformats.org/drawingml/2006/main"/>
        </p:blipFill>
        <p:spPr>
          <a:xfrm xmlns:a="http://schemas.openxmlformats.org/drawingml/2006/main">
            <a:off x="10858500" y="337942"/>
            <a:ext cx="762000" cy="276616"/>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1FBA4667-02C9-47BB-AC4A-44BA0914E152}"/>
              </a:ext>
            </a:extLst>
          </p:cNvPr>
          <p:cNvSpPr>
            <a:spLocks xmlns:a="http://schemas.openxmlformats.org/drawingml/2006/main" noGrp="1"/>
          </p:cNvSpPr>
          <p:nvPr/>
        </p:nvSpPr>
        <p:spPr>
          <a:xfrm xmlns:a="http://schemas.openxmlformats.org/drawingml/2006/main">
            <a:off x="590550" y="6467475"/>
            <a:ext cx="108108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58665F"/>
                </a:solidFill>
                <a:latin typeface="Consolas"/>
                <a:ea typeface="Consolas"/>
                <a:cs typeface="Consolas"/>
              </a:defRPr>
            </a:defPPr>
            <a:lvl1pPr>
              <a:defRPr sz="1125" b="0">
                <a:solidFill>
                  <a:srgbClr val="58665F"/>
                </a:solidFill>
                <a:latin typeface="Consolas"/>
                <a:ea typeface="Consolas"/>
                <a:cs typeface="Consolas"/>
              </a:defRPr>
            </a:lvl1pPr>
            <a:lvl2pPr>
              <a:defRPr sz="1125" b="0">
                <a:solidFill>
                  <a:srgbClr val="58665F"/>
                </a:solidFill>
                <a:latin typeface="Consolas"/>
                <a:ea typeface="Consolas"/>
                <a:cs typeface="Consolas"/>
              </a:defRPr>
            </a:lvl2pPr>
            <a:lvl3pPr>
              <a:defRPr sz="1125" b="0">
                <a:solidFill>
                  <a:srgbClr val="58665F"/>
                </a:solidFill>
                <a:latin typeface="Consolas"/>
                <a:ea typeface="Consolas"/>
                <a:cs typeface="Consolas"/>
              </a:defRPr>
            </a:lvl3pPr>
            <a:lvl4pPr>
              <a:defRPr sz="1125" b="0">
                <a:solidFill>
                  <a:srgbClr val="58665F"/>
                </a:solidFill>
                <a:latin typeface="Consolas"/>
                <a:ea typeface="Consolas"/>
                <a:cs typeface="Consolas"/>
              </a:defRPr>
            </a:lvl4pPr>
            <a:lvl5pPr>
              <a:defRPr sz="1125" b="0">
                <a:solidFill>
                  <a:srgbClr val="58665F"/>
                </a:solidFill>
                <a:latin typeface="Consolas"/>
                <a:ea typeface="Consolas"/>
                <a:cs typeface="Consolas"/>
              </a:defRPr>
            </a:lvl5pPr>
            <a:lvl6pPr>
              <a:defRPr sz="1125" b="0">
                <a:solidFill>
                  <a:srgbClr val="58665F"/>
                </a:solidFill>
                <a:latin typeface="Consolas"/>
                <a:ea typeface="Consolas"/>
                <a:cs typeface="Consolas"/>
              </a:defRPr>
            </a:lvl6pPr>
            <a:lvl7pPr>
              <a:defRPr sz="1125" b="0">
                <a:solidFill>
                  <a:srgbClr val="58665F"/>
                </a:solidFill>
                <a:latin typeface="Consolas"/>
                <a:ea typeface="Consolas"/>
                <a:cs typeface="Consolas"/>
              </a:defRPr>
            </a:lvl7pPr>
            <a:lvl8pPr>
              <a:defRPr sz="1125" b="0">
                <a:solidFill>
                  <a:srgbClr val="58665F"/>
                </a:solidFill>
                <a:latin typeface="Consolas"/>
                <a:ea typeface="Consolas"/>
                <a:cs typeface="Consolas"/>
              </a:defRPr>
            </a:lvl8pPr>
            <a:lvl9pPr>
              <a:defRPr sz="1125" b="0">
                <a:solidFill>
                  <a:srgbClr val="58665F"/>
                </a:solidFill>
                <a:latin typeface="Consolas"/>
                <a:ea typeface="Consolas"/>
                <a:cs typeface="Consolas"/>
              </a:defRPr>
            </a:lvl9pPr>
          </a:lstStyle>
          <a:p xmlns:a="http://schemas.openxmlformats.org/drawingml/2006/main">
            <a:pPr>
              <a:defRPr sz="1125" b="0">
                <a:solidFill>
                  <a:srgbClr val="58665F"/>
                </a:solidFill>
                <a:latin typeface="Consolas"/>
                <a:ea typeface="Consolas"/>
                <a:cs typeface="Consolas"/>
              </a:defRPr>
            </a:pPr>
            <a:r>
              <a:rPr sz="1125" b="0">
                <a:solidFill>
                  <a:srgbClr val="58665F"/>
                </a:solidFill>
                <a:latin typeface="Consolas"/>
                <a:ea typeface="Consolas"/>
                <a:cs typeface="Consolas"/>
              </a:rPr>
              <a:t>MECRO   SEMANA 3   CLASE 05   03/24</a:t>
            </a:r>
          </a:p>
        </p:txBody>
      </p:sp>
      <p:pic>
        <p:nvPicPr>
          <p:cNvPr id="4" name="">
            <a:extLst xmlns:a="http://schemas.openxmlformats.org/drawingml/2006/main">
              <a:ext uri="{FF2B5EF4-FFF2-40B4-BE49-F238E27FC236}">
                <a16:creationId xmlns:a16="http://schemas.microsoft.com/office/drawing/2014/main" id="{1FAAC40B-C6FA-495F-8AEF-978C6D245E18}"/>
              </a:ext>
            </a:extLst>
          </p:cNvPr>
          <p:cNvPicPr>
            <a:picLocks xmlns:a="http://schemas.openxmlformats.org/drawingml/2006/main" noChangeAspect="1"/>
          </p:cNvPicPr>
          <p:nvPr/>
        </p:nvPicPr>
        <p:blipFill>
          <a:blip xmlns:r="http://schemas.openxmlformats.org/officeDocument/2006/relationships" xmlns:a="http://schemas.openxmlformats.org/drawingml/2006/main" r:embed="Rabd08a66b5504ab1"/>
          <a:stretch xmlns:a="http://schemas.openxmlformats.org/drawingml/2006/main"/>
        </p:blipFill>
        <p:spPr>
          <a:xfrm xmlns:a="http://schemas.openxmlformats.org/drawingml/2006/main">
            <a:off x="590550" y="2185837"/>
            <a:ext cx="7410450" cy="2924477"/>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2243AF6E-28FF-46E1-BD31-5173B1815C89}"/>
              </a:ext>
            </a:extLst>
          </p:cNvPr>
          <p:cNvSpPr>
            <a:spLocks xmlns:a="http://schemas.openxmlformats.org/drawingml/2006/main" noGrp="1"/>
          </p:cNvSpPr>
          <p:nvPr/>
        </p:nvSpPr>
        <p:spPr>
          <a:xfrm xmlns:a="http://schemas.openxmlformats.org/drawingml/2006/main">
            <a:off x="8315325" y="1781175"/>
            <a:ext cx="3248025" cy="3590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325" b="1">
                <a:solidFill>
                  <a:srgbClr val="244F3D"/>
                </a:solidFill>
                <a:latin typeface="Arial"/>
                <a:ea typeface="Arial"/>
                <a:cs typeface="Arial"/>
              </a:defRPr>
            </a:defPPr>
            <a:lvl1pPr>
              <a:defRPr sz="2325" b="1">
                <a:solidFill>
                  <a:srgbClr val="244F3D"/>
                </a:solidFill>
                <a:latin typeface="Arial"/>
                <a:ea typeface="Arial"/>
                <a:cs typeface="Arial"/>
              </a:defRPr>
            </a:lvl1pPr>
            <a:lvl2pPr>
              <a:defRPr sz="2325" b="1">
                <a:solidFill>
                  <a:srgbClr val="244F3D"/>
                </a:solidFill>
                <a:latin typeface="Arial"/>
                <a:ea typeface="Arial"/>
                <a:cs typeface="Arial"/>
              </a:defRPr>
            </a:lvl2pPr>
            <a:lvl3pPr>
              <a:defRPr sz="2325" b="1">
                <a:solidFill>
                  <a:srgbClr val="244F3D"/>
                </a:solidFill>
                <a:latin typeface="Arial"/>
                <a:ea typeface="Arial"/>
                <a:cs typeface="Arial"/>
              </a:defRPr>
            </a:lvl3pPr>
            <a:lvl4pPr>
              <a:defRPr sz="2325" b="1">
                <a:solidFill>
                  <a:srgbClr val="244F3D"/>
                </a:solidFill>
                <a:latin typeface="Arial"/>
                <a:ea typeface="Arial"/>
                <a:cs typeface="Arial"/>
              </a:defRPr>
            </a:lvl4pPr>
            <a:lvl5pPr>
              <a:defRPr sz="2325" b="1">
                <a:solidFill>
                  <a:srgbClr val="244F3D"/>
                </a:solidFill>
                <a:latin typeface="Arial"/>
                <a:ea typeface="Arial"/>
                <a:cs typeface="Arial"/>
              </a:defRPr>
            </a:lvl5pPr>
            <a:lvl6pPr>
              <a:defRPr sz="2325" b="1">
                <a:solidFill>
                  <a:srgbClr val="244F3D"/>
                </a:solidFill>
                <a:latin typeface="Arial"/>
                <a:ea typeface="Arial"/>
                <a:cs typeface="Arial"/>
              </a:defRPr>
            </a:lvl6pPr>
            <a:lvl7pPr>
              <a:defRPr sz="2325" b="1">
                <a:solidFill>
                  <a:srgbClr val="244F3D"/>
                </a:solidFill>
                <a:latin typeface="Arial"/>
                <a:ea typeface="Arial"/>
                <a:cs typeface="Arial"/>
              </a:defRPr>
            </a:lvl7pPr>
            <a:lvl8pPr>
              <a:defRPr sz="2325" b="1">
                <a:solidFill>
                  <a:srgbClr val="244F3D"/>
                </a:solidFill>
                <a:latin typeface="Arial"/>
                <a:ea typeface="Arial"/>
                <a:cs typeface="Arial"/>
              </a:defRPr>
            </a:lvl8pPr>
            <a:lvl9pPr>
              <a:defRPr sz="2325" b="1">
                <a:solidFill>
                  <a:srgbClr val="244F3D"/>
                </a:solidFill>
                <a:latin typeface="Arial"/>
                <a:ea typeface="Arial"/>
                <a:cs typeface="Arial"/>
              </a:defRPr>
            </a:lvl9pPr>
          </a:lstStyle>
          <a:p xmlns:a="http://schemas.openxmlformats.org/drawingml/2006/main">
            <a:pPr>
              <a:defRPr sz="2325" b="1">
                <a:solidFill>
                  <a:srgbClr val="244F3D"/>
                </a:solidFill>
                <a:latin typeface="Arial"/>
                <a:ea typeface="Arial"/>
                <a:cs typeface="Arial"/>
              </a:defRPr>
            </a:pPr>
            <a:r>
              <a:rPr sz="2325" b="1">
                <a:solidFill>
                  <a:srgbClr val="244F3D"/>
                </a:solidFill>
                <a:latin typeface="Arial"/>
                <a:ea typeface="Arial"/>
                <a:cs typeface="Arial"/>
              </a:rPr>
              <a:t>¿Qué archivo permite cambiar cotas?</a:t>
            </a:r>
          </a:p>
        </p:txBody>
      </p:sp>
      <p:sp>
        <p:nvSpPr>
          <p:cNvPr id="6" name="">
            <a:extLst xmlns:a="http://schemas.openxmlformats.org/drawingml/2006/main">
              <a:ext uri="{FF2B5EF4-FFF2-40B4-BE49-F238E27FC236}">
                <a16:creationId xmlns:a16="http://schemas.microsoft.com/office/drawing/2014/main" id="{CA7EC024-9BF9-485B-8F1D-A6DBA5BB9F2B}"/>
              </a:ext>
            </a:extLst>
          </p:cNvPr>
          <p:cNvSpPr>
            <a:spLocks xmlns:a="http://schemas.openxmlformats.org/drawingml/2006/main" noGrp="1"/>
          </p:cNvSpPr>
          <p:nvPr/>
        </p:nvSpPr>
        <p:spPr>
          <a:xfrm xmlns:a="http://schemas.openxmlformats.org/drawingml/2006/main">
            <a:off x="590550" y="5848350"/>
            <a:ext cx="10953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350" b="0">
                <a:solidFill>
                  <a:srgbClr val="58665F"/>
                </a:solidFill>
                <a:latin typeface="Arial"/>
                <a:ea typeface="Arial"/>
                <a:cs typeface="Arial"/>
              </a:defRPr>
            </a:defPPr>
            <a:lvl1pPr>
              <a:defRPr sz="1350" b="0">
                <a:solidFill>
                  <a:srgbClr val="58665F"/>
                </a:solidFill>
                <a:latin typeface="Arial"/>
                <a:ea typeface="Arial"/>
                <a:cs typeface="Arial"/>
              </a:defRPr>
            </a:lvl1pPr>
            <a:lvl2pPr>
              <a:defRPr sz="1350" b="0">
                <a:solidFill>
                  <a:srgbClr val="58665F"/>
                </a:solidFill>
                <a:latin typeface="Arial"/>
                <a:ea typeface="Arial"/>
                <a:cs typeface="Arial"/>
              </a:defRPr>
            </a:lvl2pPr>
            <a:lvl3pPr>
              <a:defRPr sz="1350" b="0">
                <a:solidFill>
                  <a:srgbClr val="58665F"/>
                </a:solidFill>
                <a:latin typeface="Arial"/>
                <a:ea typeface="Arial"/>
                <a:cs typeface="Arial"/>
              </a:defRPr>
            </a:lvl3pPr>
            <a:lvl4pPr>
              <a:defRPr sz="1350" b="0">
                <a:solidFill>
                  <a:srgbClr val="58665F"/>
                </a:solidFill>
                <a:latin typeface="Arial"/>
                <a:ea typeface="Arial"/>
                <a:cs typeface="Arial"/>
              </a:defRPr>
            </a:lvl4pPr>
            <a:lvl5pPr>
              <a:defRPr sz="1350" b="0">
                <a:solidFill>
                  <a:srgbClr val="58665F"/>
                </a:solidFill>
                <a:latin typeface="Arial"/>
                <a:ea typeface="Arial"/>
                <a:cs typeface="Arial"/>
              </a:defRPr>
            </a:lvl5pPr>
            <a:lvl6pPr>
              <a:defRPr sz="1350" b="0">
                <a:solidFill>
                  <a:srgbClr val="58665F"/>
                </a:solidFill>
                <a:latin typeface="Arial"/>
                <a:ea typeface="Arial"/>
                <a:cs typeface="Arial"/>
              </a:defRPr>
            </a:lvl6pPr>
            <a:lvl7pPr>
              <a:defRPr sz="1350" b="0">
                <a:solidFill>
                  <a:srgbClr val="58665F"/>
                </a:solidFill>
                <a:latin typeface="Arial"/>
                <a:ea typeface="Arial"/>
                <a:cs typeface="Arial"/>
              </a:defRPr>
            </a:lvl7pPr>
            <a:lvl8pPr>
              <a:defRPr sz="1350" b="0">
                <a:solidFill>
                  <a:srgbClr val="58665F"/>
                </a:solidFill>
                <a:latin typeface="Arial"/>
                <a:ea typeface="Arial"/>
                <a:cs typeface="Arial"/>
              </a:defRPr>
            </a:lvl8pPr>
            <a:lvl9pPr>
              <a:defRPr sz="1350" b="0">
                <a:solidFill>
                  <a:srgbClr val="58665F"/>
                </a:solidFill>
                <a:latin typeface="Arial"/>
                <a:ea typeface="Arial"/>
                <a:cs typeface="Arial"/>
              </a:defRPr>
            </a:lvl9pPr>
          </a:lstStyle>
          <a:p xmlns:a="http://schemas.openxmlformats.org/drawingml/2006/main">
            <a:pPr>
              <a:defRPr sz="1350" b="0">
                <a:solidFill>
                  <a:srgbClr val="58665F"/>
                </a:solidFill>
                <a:latin typeface="Arial"/>
                <a:ea typeface="Arial"/>
                <a:cs typeface="Arial"/>
              </a:defRPr>
            </a:pPr>
            <a:r>
              <a:rPr sz="1350" b="0">
                <a:solidFill>
                  <a:srgbClr val="58665F"/>
                </a:solidFill>
                <a:latin typeface="Arial"/>
                <a:ea typeface="Arial"/>
                <a:cs typeface="Arial"/>
              </a:rPr>
              <a:t>Prusa Research: capas visibles con distintas alturas. Es una comparación de impresión, no de rendimiento de vuelo.</a:t>
            </a:r>
          </a:p>
        </p:txBody>
      </p:sp>
    </p:spTree>
    <p:extLst>
      <p:ext uri="{BB962C8B-B14F-4D97-AF65-F5344CB8AC3E}">
        <p14:creationId xmlns:p14="http://schemas.microsoft.com/office/powerpoint/2010/main" val="455438933"/>
      </p:ext>
    </p:extLst>
  </p:cSld>
</p:sld>
</file>

<file path=ppt/slides/slide4.xml><?xml version="1.0" encoding="utf-8"?>
<p:sld xmlns:p="http://schemas.openxmlformats.org/presentationml/2006/main">
  <p:cSld>
    <p:bg>
      <p:bgPr>
        <a:solidFill xmlns:a="http://schemas.openxmlformats.org/drawingml/2006/main">
          <a:srgbClr val="FCFCF8"/>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35B2AA0D-5D8A-4A10-BF1F-BCA6C8FB0377}"/>
              </a:ext>
            </a:extLst>
          </p:cNvPr>
          <p:cNvSpPr>
            <a:spLocks xmlns:a="http://schemas.openxmlformats.org/drawingml/2006/main" noGrp="1"/>
          </p:cNvSpPr>
          <p:nvPr/>
        </p:nvSpPr>
        <p:spPr>
          <a:xfrm xmlns:a="http://schemas.openxmlformats.org/drawingml/2006/main">
            <a:off x="590550" y="428625"/>
            <a:ext cx="100965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75" b="1">
                <a:solidFill>
                  <a:srgbClr val="14231E"/>
                </a:solidFill>
                <a:latin typeface="Arial Narrow"/>
                <a:ea typeface="Arial Narrow"/>
                <a:cs typeface="Arial Narrow"/>
              </a:defRPr>
            </a:defPPr>
            <a:lvl1pPr>
              <a:defRPr sz="3375" b="1">
                <a:solidFill>
                  <a:srgbClr val="14231E"/>
                </a:solidFill>
                <a:latin typeface="Arial Narrow"/>
                <a:ea typeface="Arial Narrow"/>
                <a:cs typeface="Arial Narrow"/>
              </a:defRPr>
            </a:lvl1pPr>
            <a:lvl2pPr>
              <a:defRPr sz="3375" b="1">
                <a:solidFill>
                  <a:srgbClr val="14231E"/>
                </a:solidFill>
                <a:latin typeface="Arial Narrow"/>
                <a:ea typeface="Arial Narrow"/>
                <a:cs typeface="Arial Narrow"/>
              </a:defRPr>
            </a:lvl2pPr>
            <a:lvl3pPr>
              <a:defRPr sz="3375" b="1">
                <a:solidFill>
                  <a:srgbClr val="14231E"/>
                </a:solidFill>
                <a:latin typeface="Arial Narrow"/>
                <a:ea typeface="Arial Narrow"/>
                <a:cs typeface="Arial Narrow"/>
              </a:defRPr>
            </a:lvl3pPr>
            <a:lvl4pPr>
              <a:defRPr sz="3375" b="1">
                <a:solidFill>
                  <a:srgbClr val="14231E"/>
                </a:solidFill>
                <a:latin typeface="Arial Narrow"/>
                <a:ea typeface="Arial Narrow"/>
                <a:cs typeface="Arial Narrow"/>
              </a:defRPr>
            </a:lvl4pPr>
            <a:lvl5pPr>
              <a:defRPr sz="3375" b="1">
                <a:solidFill>
                  <a:srgbClr val="14231E"/>
                </a:solidFill>
                <a:latin typeface="Arial Narrow"/>
                <a:ea typeface="Arial Narrow"/>
                <a:cs typeface="Arial Narrow"/>
              </a:defRPr>
            </a:lvl5pPr>
            <a:lvl6pPr>
              <a:defRPr sz="3375" b="1">
                <a:solidFill>
                  <a:srgbClr val="14231E"/>
                </a:solidFill>
                <a:latin typeface="Arial Narrow"/>
                <a:ea typeface="Arial Narrow"/>
                <a:cs typeface="Arial Narrow"/>
              </a:defRPr>
            </a:lvl6pPr>
            <a:lvl7pPr>
              <a:defRPr sz="3375" b="1">
                <a:solidFill>
                  <a:srgbClr val="14231E"/>
                </a:solidFill>
                <a:latin typeface="Arial Narrow"/>
                <a:ea typeface="Arial Narrow"/>
                <a:cs typeface="Arial Narrow"/>
              </a:defRPr>
            </a:lvl7pPr>
            <a:lvl8pPr>
              <a:defRPr sz="3375" b="1">
                <a:solidFill>
                  <a:srgbClr val="14231E"/>
                </a:solidFill>
                <a:latin typeface="Arial Narrow"/>
                <a:ea typeface="Arial Narrow"/>
                <a:cs typeface="Arial Narrow"/>
              </a:defRPr>
            </a:lvl8pPr>
            <a:lvl9pPr>
              <a:defRPr sz="3375" b="1">
                <a:solidFill>
                  <a:srgbClr val="14231E"/>
                </a:solidFill>
                <a:latin typeface="Arial Narrow"/>
                <a:ea typeface="Arial Narrow"/>
                <a:cs typeface="Arial Narrow"/>
              </a:defRPr>
            </a:lvl9pPr>
          </a:lstStyle>
          <a:p xmlns:a="http://schemas.openxmlformats.org/drawingml/2006/main">
            <a:pPr>
              <a:defRPr sz="3375" b="1">
                <a:solidFill>
                  <a:srgbClr val="14231E"/>
                </a:solidFill>
                <a:latin typeface="Arial Narrow"/>
                <a:ea typeface="Arial Narrow"/>
                <a:cs typeface="Arial Narrow"/>
              </a:defRPr>
            </a:pPr>
            <a:r>
              <a:rPr sz="3375" b="1">
                <a:solidFill>
                  <a:srgbClr val="14231E"/>
                </a:solidFill>
                <a:latin typeface="Arial Narrow"/>
                <a:ea typeface="Arial Narrow"/>
                <a:cs typeface="Arial Narrow"/>
              </a:rPr>
              <a:t>Archivos con funciones diferentes</a:t>
            </a:r>
          </a:p>
        </p:txBody>
      </p:sp>
      <p:pic>
        <p:nvPicPr>
          <p:cNvPr id="2" name="">
            <a:extLst xmlns:a="http://schemas.openxmlformats.org/drawingml/2006/main">
              <a:ext uri="{FF2B5EF4-FFF2-40B4-BE49-F238E27FC236}">
                <a16:creationId xmlns:a16="http://schemas.microsoft.com/office/drawing/2014/main" id="{2F3F2CF0-B198-4D67-B736-1711FE7CDEDF}"/>
              </a:ext>
            </a:extLst>
          </p:cNvPr>
          <p:cNvPicPr>
            <a:picLocks xmlns:a="http://schemas.openxmlformats.org/drawingml/2006/main" noChangeAspect="1"/>
          </p:cNvPicPr>
          <p:nvPr/>
        </p:nvPicPr>
        <p:blipFill>
          <a:blip xmlns:r="http://schemas.openxmlformats.org/officeDocument/2006/relationships" xmlns:a="http://schemas.openxmlformats.org/drawingml/2006/main" r:embed="R5c38fb21728c4f88"/>
          <a:stretch xmlns:a="http://schemas.openxmlformats.org/drawingml/2006/main"/>
        </p:blipFill>
        <p:spPr>
          <a:xfrm xmlns:a="http://schemas.openxmlformats.org/drawingml/2006/main">
            <a:off x="10858500" y="337942"/>
            <a:ext cx="762000" cy="276616"/>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6F51688E-D25E-48DE-BDF1-B3A7F58A2AC8}"/>
              </a:ext>
            </a:extLst>
          </p:cNvPr>
          <p:cNvSpPr>
            <a:spLocks xmlns:a="http://schemas.openxmlformats.org/drawingml/2006/main" noGrp="1"/>
          </p:cNvSpPr>
          <p:nvPr/>
        </p:nvSpPr>
        <p:spPr>
          <a:xfrm xmlns:a="http://schemas.openxmlformats.org/drawingml/2006/main">
            <a:off x="590550" y="6467475"/>
            <a:ext cx="108108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58665F"/>
                </a:solidFill>
                <a:latin typeface="Consolas"/>
                <a:ea typeface="Consolas"/>
                <a:cs typeface="Consolas"/>
              </a:defRPr>
            </a:defPPr>
            <a:lvl1pPr>
              <a:defRPr sz="1125" b="0">
                <a:solidFill>
                  <a:srgbClr val="58665F"/>
                </a:solidFill>
                <a:latin typeface="Consolas"/>
                <a:ea typeface="Consolas"/>
                <a:cs typeface="Consolas"/>
              </a:defRPr>
            </a:lvl1pPr>
            <a:lvl2pPr>
              <a:defRPr sz="1125" b="0">
                <a:solidFill>
                  <a:srgbClr val="58665F"/>
                </a:solidFill>
                <a:latin typeface="Consolas"/>
                <a:ea typeface="Consolas"/>
                <a:cs typeface="Consolas"/>
              </a:defRPr>
            </a:lvl2pPr>
            <a:lvl3pPr>
              <a:defRPr sz="1125" b="0">
                <a:solidFill>
                  <a:srgbClr val="58665F"/>
                </a:solidFill>
                <a:latin typeface="Consolas"/>
                <a:ea typeface="Consolas"/>
                <a:cs typeface="Consolas"/>
              </a:defRPr>
            </a:lvl3pPr>
            <a:lvl4pPr>
              <a:defRPr sz="1125" b="0">
                <a:solidFill>
                  <a:srgbClr val="58665F"/>
                </a:solidFill>
                <a:latin typeface="Consolas"/>
                <a:ea typeface="Consolas"/>
                <a:cs typeface="Consolas"/>
              </a:defRPr>
            </a:lvl4pPr>
            <a:lvl5pPr>
              <a:defRPr sz="1125" b="0">
                <a:solidFill>
                  <a:srgbClr val="58665F"/>
                </a:solidFill>
                <a:latin typeface="Consolas"/>
                <a:ea typeface="Consolas"/>
                <a:cs typeface="Consolas"/>
              </a:defRPr>
            </a:lvl5pPr>
            <a:lvl6pPr>
              <a:defRPr sz="1125" b="0">
                <a:solidFill>
                  <a:srgbClr val="58665F"/>
                </a:solidFill>
                <a:latin typeface="Consolas"/>
                <a:ea typeface="Consolas"/>
                <a:cs typeface="Consolas"/>
              </a:defRPr>
            </a:lvl6pPr>
            <a:lvl7pPr>
              <a:defRPr sz="1125" b="0">
                <a:solidFill>
                  <a:srgbClr val="58665F"/>
                </a:solidFill>
                <a:latin typeface="Consolas"/>
                <a:ea typeface="Consolas"/>
                <a:cs typeface="Consolas"/>
              </a:defRPr>
            </a:lvl7pPr>
            <a:lvl8pPr>
              <a:defRPr sz="1125" b="0">
                <a:solidFill>
                  <a:srgbClr val="58665F"/>
                </a:solidFill>
                <a:latin typeface="Consolas"/>
                <a:ea typeface="Consolas"/>
                <a:cs typeface="Consolas"/>
              </a:defRPr>
            </a:lvl8pPr>
            <a:lvl9pPr>
              <a:defRPr sz="1125" b="0">
                <a:solidFill>
                  <a:srgbClr val="58665F"/>
                </a:solidFill>
                <a:latin typeface="Consolas"/>
                <a:ea typeface="Consolas"/>
                <a:cs typeface="Consolas"/>
              </a:defRPr>
            </a:lvl9pPr>
          </a:lstStyle>
          <a:p xmlns:a="http://schemas.openxmlformats.org/drawingml/2006/main">
            <a:pPr>
              <a:defRPr sz="1125" b="0">
                <a:solidFill>
                  <a:srgbClr val="58665F"/>
                </a:solidFill>
                <a:latin typeface="Consolas"/>
                <a:ea typeface="Consolas"/>
                <a:cs typeface="Consolas"/>
              </a:defRPr>
            </a:pPr>
            <a:r>
              <a:rPr sz="1125" b="0">
                <a:solidFill>
                  <a:srgbClr val="58665F"/>
                </a:solidFill>
                <a:latin typeface="Consolas"/>
                <a:ea typeface="Consolas"/>
                <a:cs typeface="Consolas"/>
              </a:rPr>
              <a:t>MECRO   SEMANA 3   CLASE 05   04/24</a:t>
            </a:r>
          </a:p>
        </p:txBody>
      </p:sp>
      <p:graphicFrame>
        <p:nvGraphicFramePr>
          <p:cNvPr id="4" name="">
            <a:extLst xmlns:a="http://schemas.openxmlformats.org/drawingml/2006/main">
              <a:ext uri="{FF2B5EF4-FFF2-40B4-BE49-F238E27FC236}">
                <a16:creationId xmlns:a16="http://schemas.microsoft.com/office/drawing/2014/main" id="{84C537FC-151C-4EB5-BD46-380FACAD3011}"/>
              </a:ext>
            </a:extLst>
          </p:cNvPr>
          <p:cNvGraphicFramePr/>
          <p:nvPr/>
        </p:nvGraphicFramePr>
        <p:xfrm>
          <a:off xmlns:a="http://schemas.openxmlformats.org/drawingml/2006/main" x="590550" y="1752600"/>
          <a:ext xmlns:a="http://schemas.openxmlformats.org/drawingml/2006/main" cx="11010900" cy="3590925"/>
        </p:xfrm>
        <a:graphic xmlns:a="http://schemas.openxmlformats.org/drawingml/2006/main">
          <a:graphicData uri="http://schemas.openxmlformats.org/drawingml/2006/table">
            <a:tbl>
              <a:tblPr/>
              <a:tblGrid>
                <a:gridCol w="5505450"/>
                <a:gridCol w="5505450"/>
              </a:tblGrid>
              <a:tr h="718185">
                <a:tc>
                  <a:txBody>
                    <a:bodyPr/>
                    <a:lstStyle/>
                    <a:p>
                      <a:r>
                        <a:rPr sz="2025" b="1">
                          <a:solidFill>
                            <a:srgbClr val="FFFFFF"/>
                          </a:solidFill>
                          <a:latin typeface="Arial"/>
                          <a:ea typeface="Arial"/>
                          <a:cs typeface="Arial"/>
                        </a:rPr>
                        <a:t>Archivo o registro</a:t>
                      </a:r>
                    </a:p>
                  </a:txBody>
                  <a:tcPr marL="91440" marR="91440" marT="45720" marB="45720">
                    <a:lnL w="9525">
                      <a:solidFill>
                        <a:srgbClr val="BFCEC3"/>
                      </a:solidFill>
                      <a:prstDash val="solid"/>
                    </a:lnL>
                    <a:lnR w="9525">
                      <a:solidFill>
                        <a:srgbClr val="BFCEC3"/>
                      </a:solidFill>
                      <a:prstDash val="solid"/>
                    </a:lnR>
                    <a:lnT w="9525">
                      <a:solidFill>
                        <a:srgbClr val="BFCEC3"/>
                      </a:solidFill>
                      <a:prstDash val="solid"/>
                    </a:lnT>
                    <a:lnB w="9525">
                      <a:solidFill>
                        <a:srgbClr val="BFCEC3"/>
                      </a:solidFill>
                      <a:prstDash val="solid"/>
                    </a:lnB>
                    <a:solidFill>
                      <a:srgbClr val="244F3D"/>
                    </a:solidFill>
                  </a:tcPr>
                </a:tc>
                <a:tc>
                  <a:txBody>
                    <a:bodyPr/>
                    <a:lstStyle/>
                    <a:p>
                      <a:r>
                        <a:rPr sz="2025" b="1">
                          <a:solidFill>
                            <a:srgbClr val="FFFFFF"/>
                          </a:solidFill>
                          <a:latin typeface="Arial"/>
                          <a:ea typeface="Arial"/>
                          <a:cs typeface="Arial"/>
                        </a:rPr>
                        <a:t>Para qué sirve</a:t>
                      </a:r>
                    </a:p>
                  </a:txBody>
                  <a:tcPr marL="91440" marR="91440" marT="45720" marB="45720">
                    <a:lnR w="9525">
                      <a:solidFill>
                        <a:srgbClr val="BFCEC3"/>
                      </a:solidFill>
                      <a:prstDash val="solid"/>
                    </a:lnR>
                    <a:lnT w="9525">
                      <a:solidFill>
                        <a:srgbClr val="BFCEC3"/>
                      </a:solidFill>
                      <a:prstDash val="solid"/>
                    </a:lnT>
                    <a:lnB w="9525">
                      <a:solidFill>
                        <a:srgbClr val="BFCEC3"/>
                      </a:solidFill>
                      <a:prstDash val="solid"/>
                    </a:lnB>
                    <a:solidFill>
                      <a:srgbClr val="244F3D"/>
                    </a:solidFill>
                  </a:tcPr>
                </a:tc>
              </a:tr>
              <a:tr h="718185">
                <a:tc>
                  <a:txBody>
                    <a:bodyPr/>
                    <a:lstStyle/>
                    <a:p>
                      <a:r>
                        <a:rPr sz="2025" b="0">
                          <a:solidFill>
                            <a:srgbClr val="14231E"/>
                          </a:solidFill>
                          <a:latin typeface="Arial"/>
                          <a:ea typeface="Arial"/>
                          <a:cs typeface="Arial"/>
                        </a:rPr>
                        <a:t>CAD editable</a:t>
                      </a:r>
                    </a:p>
                  </a:txBody>
                  <a:tcPr marL="91440" marR="91440" marT="45720" marB="45720">
                    <a:lnL w="9525">
                      <a:solidFill>
                        <a:srgbClr val="BFCEC3"/>
                      </a:solidFill>
                      <a:prstDash val="solid"/>
                    </a:lnL>
                    <a:lnR w="9525">
                      <a:solidFill>
                        <a:srgbClr val="BFCEC3"/>
                      </a:solidFill>
                      <a:prstDash val="solid"/>
                    </a:lnR>
                    <a:lnB w="9525">
                      <a:solidFill>
                        <a:srgbClr val="BFCEC3"/>
                      </a:solidFill>
                      <a:prstDash val="solid"/>
                    </a:lnB>
                    <a:solidFill>
                      <a:srgbClr val="EAF3EC"/>
                    </a:solidFill>
                  </a:tcPr>
                </a:tc>
                <a:tc>
                  <a:txBody>
                    <a:bodyPr/>
                    <a:lstStyle/>
                    <a:p>
                      <a:r>
                        <a:rPr sz="2025" b="0">
                          <a:solidFill>
                            <a:srgbClr val="14231E"/>
                          </a:solidFill>
                          <a:latin typeface="Arial"/>
                          <a:ea typeface="Arial"/>
                          <a:cs typeface="Arial"/>
                        </a:rPr>
                        <a:t>Cambiar cotas y relaciones</a:t>
                      </a:r>
                    </a:p>
                  </a:txBody>
                  <a:tcPr marL="91440" marR="91440" marT="45720" marB="45720">
                    <a:lnR w="9525">
                      <a:solidFill>
                        <a:srgbClr val="BFCEC3"/>
                      </a:solidFill>
                      <a:prstDash val="solid"/>
                    </a:lnR>
                    <a:lnB w="9525">
                      <a:solidFill>
                        <a:srgbClr val="BFCEC3"/>
                      </a:solidFill>
                      <a:prstDash val="solid"/>
                    </a:lnB>
                    <a:solidFill>
                      <a:srgbClr val="EAF3EC"/>
                    </a:solidFill>
                  </a:tcPr>
                </a:tc>
              </a:tr>
              <a:tr h="718185">
                <a:tc>
                  <a:txBody>
                    <a:bodyPr/>
                    <a:lstStyle/>
                    <a:p>
                      <a:r>
                        <a:rPr sz="2025" b="0">
                          <a:solidFill>
                            <a:srgbClr val="14231E"/>
                          </a:solidFill>
                          <a:latin typeface="Arial"/>
                          <a:ea typeface="Arial"/>
                          <a:cs typeface="Arial"/>
                        </a:rPr>
                        <a:t>STL u otro formato de malla</a:t>
                      </a:r>
                    </a:p>
                  </a:txBody>
                  <a:tcPr marL="91440" marR="91440" marT="45720" marB="45720">
                    <a:lnL w="9525">
                      <a:solidFill>
                        <a:srgbClr val="BFCEC3"/>
                      </a:solidFill>
                      <a:prstDash val="solid"/>
                    </a:lnL>
                    <a:lnR w="9525">
                      <a:solidFill>
                        <a:srgbClr val="BFCEC3"/>
                      </a:solidFill>
                      <a:prstDash val="solid"/>
                    </a:lnR>
                    <a:lnB w="9525">
                      <a:solidFill>
                        <a:srgbClr val="BFCEC3"/>
                      </a:solidFill>
                      <a:prstDash val="solid"/>
                    </a:lnB>
                    <a:solidFill>
                      <a:srgbClr val="FCFCF8"/>
                    </a:solidFill>
                  </a:tcPr>
                </a:tc>
                <a:tc>
                  <a:txBody>
                    <a:bodyPr/>
                    <a:lstStyle/>
                    <a:p>
                      <a:r>
                        <a:rPr sz="2025" b="0">
                          <a:solidFill>
                            <a:srgbClr val="14231E"/>
                          </a:solidFill>
                          <a:latin typeface="Arial"/>
                          <a:ea typeface="Arial"/>
                          <a:cs typeface="Arial"/>
                        </a:rPr>
                        <a:t>Compartir la geometría exterior</a:t>
                      </a:r>
                    </a:p>
                  </a:txBody>
                  <a:tcPr marL="91440" marR="91440" marT="45720" marB="45720">
                    <a:lnR w="9525">
                      <a:solidFill>
                        <a:srgbClr val="BFCEC3"/>
                      </a:solidFill>
                      <a:prstDash val="solid"/>
                    </a:lnR>
                    <a:lnB w="9525">
                      <a:solidFill>
                        <a:srgbClr val="BFCEC3"/>
                      </a:solidFill>
                      <a:prstDash val="solid"/>
                    </a:lnB>
                    <a:solidFill>
                      <a:srgbClr val="FCFCF8"/>
                    </a:solidFill>
                  </a:tcPr>
                </a:tc>
              </a:tr>
              <a:tr h="718185">
                <a:tc>
                  <a:txBody>
                    <a:bodyPr/>
                    <a:lstStyle/>
                    <a:p>
                      <a:r>
                        <a:rPr sz="2025" b="0">
                          <a:solidFill>
                            <a:srgbClr val="14231E"/>
                          </a:solidFill>
                          <a:latin typeface="Arial"/>
                          <a:ea typeface="Arial"/>
                          <a:cs typeface="Arial"/>
                        </a:rPr>
                        <a:t>Proyecto del laminador</a:t>
                      </a:r>
                    </a:p>
                  </a:txBody>
                  <a:tcPr marL="91440" marR="91440" marT="45720" marB="45720">
                    <a:lnL w="9525">
                      <a:solidFill>
                        <a:srgbClr val="BFCEC3"/>
                      </a:solidFill>
                      <a:prstDash val="solid"/>
                    </a:lnL>
                    <a:lnR w="9525">
                      <a:solidFill>
                        <a:srgbClr val="BFCEC3"/>
                      </a:solidFill>
                      <a:prstDash val="solid"/>
                    </a:lnR>
                    <a:lnB w="9525">
                      <a:solidFill>
                        <a:srgbClr val="BFCEC3"/>
                      </a:solidFill>
                      <a:prstDash val="solid"/>
                    </a:lnB>
                    <a:solidFill>
                      <a:srgbClr val="EAF3EC"/>
                    </a:solidFill>
                  </a:tcPr>
                </a:tc>
                <a:tc>
                  <a:txBody>
                    <a:bodyPr/>
                    <a:lstStyle/>
                    <a:p>
                      <a:r>
                        <a:rPr sz="2025" b="0">
                          <a:solidFill>
                            <a:srgbClr val="14231E"/>
                          </a:solidFill>
                          <a:latin typeface="Arial"/>
                          <a:ea typeface="Arial"/>
                          <a:cs typeface="Arial"/>
                        </a:rPr>
                        <a:t>Conservar orientación y perfil</a:t>
                      </a:r>
                    </a:p>
                  </a:txBody>
                  <a:tcPr marL="91440" marR="91440" marT="45720" marB="45720">
                    <a:lnR w="9525">
                      <a:solidFill>
                        <a:srgbClr val="BFCEC3"/>
                      </a:solidFill>
                      <a:prstDash val="solid"/>
                    </a:lnR>
                    <a:lnB w="9525">
                      <a:solidFill>
                        <a:srgbClr val="BFCEC3"/>
                      </a:solidFill>
                      <a:prstDash val="solid"/>
                    </a:lnB>
                    <a:solidFill>
                      <a:srgbClr val="EAF3EC"/>
                    </a:solidFill>
                  </a:tcPr>
                </a:tc>
              </a:tr>
              <a:tr h="718185">
                <a:tc>
                  <a:txBody>
                    <a:bodyPr/>
                    <a:lstStyle/>
                    <a:p>
                      <a:r>
                        <a:rPr sz="2025" b="0">
                          <a:solidFill>
                            <a:srgbClr val="14231E"/>
                          </a:solidFill>
                          <a:latin typeface="Arial"/>
                          <a:ea typeface="Arial"/>
                          <a:cs typeface="Arial"/>
                        </a:rPr>
                        <a:t>Registro de impresión</a:t>
                      </a:r>
                    </a:p>
                  </a:txBody>
                  <a:tcPr marL="91440" marR="91440" marT="45720" marB="45720">
                    <a:lnL w="9525">
                      <a:solidFill>
                        <a:srgbClr val="BFCEC3"/>
                      </a:solidFill>
                      <a:prstDash val="solid"/>
                    </a:lnL>
                    <a:lnR w="9525">
                      <a:solidFill>
                        <a:srgbClr val="BFCEC3"/>
                      </a:solidFill>
                      <a:prstDash val="solid"/>
                    </a:lnR>
                    <a:lnB w="9525">
                      <a:solidFill>
                        <a:srgbClr val="BFCEC3"/>
                      </a:solidFill>
                      <a:prstDash val="solid"/>
                    </a:lnB>
                    <a:solidFill>
                      <a:srgbClr val="FCFCF8"/>
                    </a:solidFill>
                  </a:tcPr>
                </a:tc>
                <a:tc>
                  <a:txBody>
                    <a:bodyPr/>
                    <a:lstStyle/>
                    <a:p>
                      <a:r>
                        <a:rPr sz="2025" b="0">
                          <a:solidFill>
                            <a:srgbClr val="14231E"/>
                          </a:solidFill>
                          <a:latin typeface="Arial"/>
                          <a:ea typeface="Arial"/>
                          <a:cs typeface="Arial"/>
                        </a:rPr>
                        <a:t>Relacionar máquina, material y pieza</a:t>
                      </a:r>
                    </a:p>
                  </a:txBody>
                  <a:tcPr marL="91440" marR="91440" marT="45720" marB="45720">
                    <a:lnR w="9525">
                      <a:solidFill>
                        <a:srgbClr val="BFCEC3"/>
                      </a:solidFill>
                      <a:prstDash val="solid"/>
                    </a:lnR>
                    <a:lnB w="9525">
                      <a:solidFill>
                        <a:srgbClr val="BFCEC3"/>
                      </a:solidFill>
                      <a:prstDash val="solid"/>
                    </a:lnB>
                    <a:solidFill>
                      <a:srgbClr val="FCFCF8"/>
                    </a:solidFill>
                  </a:tcPr>
                </a:tc>
              </a:tr>
            </a:tbl>
          </a:graphicData>
        </a:graphic>
      </p:graphicFrame>
    </p:spTree>
    <p:extLst>
      <p:ext uri="{BB962C8B-B14F-4D97-AF65-F5344CB8AC3E}">
        <p14:creationId xmlns:p14="http://schemas.microsoft.com/office/powerpoint/2010/main" val="851174170"/>
      </p:ext>
    </p:extLst>
  </p:cSld>
</p:sld>
</file>

<file path=ppt/slides/slide5.xml><?xml version="1.0" encoding="utf-8"?>
<p:sld xmlns:p="http://schemas.openxmlformats.org/presentationml/2006/main">
  <p:cSld>
    <p:bg>
      <p:bgPr>
        <a:solidFill xmlns:a="http://schemas.openxmlformats.org/drawingml/2006/main">
          <a:srgbClr val="FCFCF8"/>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7A815CDD-EEE9-47AD-AD32-DE8BEFFEAA39}"/>
              </a:ext>
            </a:extLst>
          </p:cNvPr>
          <p:cNvSpPr>
            <a:spLocks xmlns:a="http://schemas.openxmlformats.org/drawingml/2006/main" noGrp="1"/>
          </p:cNvSpPr>
          <p:nvPr/>
        </p:nvSpPr>
        <p:spPr>
          <a:xfrm xmlns:a="http://schemas.openxmlformats.org/drawingml/2006/main">
            <a:off x="590550" y="428625"/>
            <a:ext cx="100965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75" b="1">
                <a:solidFill>
                  <a:srgbClr val="14231E"/>
                </a:solidFill>
                <a:latin typeface="Arial Narrow"/>
                <a:ea typeface="Arial Narrow"/>
                <a:cs typeface="Arial Narrow"/>
              </a:defRPr>
            </a:defPPr>
            <a:lvl1pPr>
              <a:defRPr sz="3375" b="1">
                <a:solidFill>
                  <a:srgbClr val="14231E"/>
                </a:solidFill>
                <a:latin typeface="Arial Narrow"/>
                <a:ea typeface="Arial Narrow"/>
                <a:cs typeface="Arial Narrow"/>
              </a:defRPr>
            </a:lvl1pPr>
            <a:lvl2pPr>
              <a:defRPr sz="3375" b="1">
                <a:solidFill>
                  <a:srgbClr val="14231E"/>
                </a:solidFill>
                <a:latin typeface="Arial Narrow"/>
                <a:ea typeface="Arial Narrow"/>
                <a:cs typeface="Arial Narrow"/>
              </a:defRPr>
            </a:lvl2pPr>
            <a:lvl3pPr>
              <a:defRPr sz="3375" b="1">
                <a:solidFill>
                  <a:srgbClr val="14231E"/>
                </a:solidFill>
                <a:latin typeface="Arial Narrow"/>
                <a:ea typeface="Arial Narrow"/>
                <a:cs typeface="Arial Narrow"/>
              </a:defRPr>
            </a:lvl3pPr>
            <a:lvl4pPr>
              <a:defRPr sz="3375" b="1">
                <a:solidFill>
                  <a:srgbClr val="14231E"/>
                </a:solidFill>
                <a:latin typeface="Arial Narrow"/>
                <a:ea typeface="Arial Narrow"/>
                <a:cs typeface="Arial Narrow"/>
              </a:defRPr>
            </a:lvl4pPr>
            <a:lvl5pPr>
              <a:defRPr sz="3375" b="1">
                <a:solidFill>
                  <a:srgbClr val="14231E"/>
                </a:solidFill>
                <a:latin typeface="Arial Narrow"/>
                <a:ea typeface="Arial Narrow"/>
                <a:cs typeface="Arial Narrow"/>
              </a:defRPr>
            </a:lvl5pPr>
            <a:lvl6pPr>
              <a:defRPr sz="3375" b="1">
                <a:solidFill>
                  <a:srgbClr val="14231E"/>
                </a:solidFill>
                <a:latin typeface="Arial Narrow"/>
                <a:ea typeface="Arial Narrow"/>
                <a:cs typeface="Arial Narrow"/>
              </a:defRPr>
            </a:lvl6pPr>
            <a:lvl7pPr>
              <a:defRPr sz="3375" b="1">
                <a:solidFill>
                  <a:srgbClr val="14231E"/>
                </a:solidFill>
                <a:latin typeface="Arial Narrow"/>
                <a:ea typeface="Arial Narrow"/>
                <a:cs typeface="Arial Narrow"/>
              </a:defRPr>
            </a:lvl7pPr>
            <a:lvl8pPr>
              <a:defRPr sz="3375" b="1">
                <a:solidFill>
                  <a:srgbClr val="14231E"/>
                </a:solidFill>
                <a:latin typeface="Arial Narrow"/>
                <a:ea typeface="Arial Narrow"/>
                <a:cs typeface="Arial Narrow"/>
              </a:defRPr>
            </a:lvl8pPr>
            <a:lvl9pPr>
              <a:defRPr sz="3375" b="1">
                <a:solidFill>
                  <a:srgbClr val="14231E"/>
                </a:solidFill>
                <a:latin typeface="Arial Narrow"/>
                <a:ea typeface="Arial Narrow"/>
                <a:cs typeface="Arial Narrow"/>
              </a:defRPr>
            </a:lvl9pPr>
          </a:lstStyle>
          <a:p xmlns:a="http://schemas.openxmlformats.org/drawingml/2006/main">
            <a:pPr>
              <a:defRPr sz="3375" b="1">
                <a:solidFill>
                  <a:srgbClr val="14231E"/>
                </a:solidFill>
                <a:latin typeface="Arial Narrow"/>
                <a:ea typeface="Arial Narrow"/>
                <a:cs typeface="Arial Narrow"/>
              </a:defRPr>
            </a:pPr>
            <a:r>
              <a:rPr sz="3375" b="1">
                <a:solidFill>
                  <a:srgbClr val="14231E"/>
                </a:solidFill>
                <a:latin typeface="Arial Narrow"/>
                <a:ea typeface="Arial Narrow"/>
                <a:cs typeface="Arial Narrow"/>
              </a:rPr>
              <a:t>La orientación cambia lo que se fabrica</a:t>
            </a:r>
          </a:p>
        </p:txBody>
      </p:sp>
      <p:pic>
        <p:nvPicPr>
          <p:cNvPr id="2" name="">
            <a:extLst xmlns:a="http://schemas.openxmlformats.org/drawingml/2006/main">
              <a:ext uri="{FF2B5EF4-FFF2-40B4-BE49-F238E27FC236}">
                <a16:creationId xmlns:a16="http://schemas.microsoft.com/office/drawing/2014/main" id="{39CB57E0-5C59-41EE-945E-27429ED379CD}"/>
              </a:ext>
            </a:extLst>
          </p:cNvPr>
          <p:cNvPicPr>
            <a:picLocks xmlns:a="http://schemas.openxmlformats.org/drawingml/2006/main" noChangeAspect="1"/>
          </p:cNvPicPr>
          <p:nvPr/>
        </p:nvPicPr>
        <p:blipFill>
          <a:blip xmlns:r="http://schemas.openxmlformats.org/officeDocument/2006/relationships" xmlns:a="http://schemas.openxmlformats.org/drawingml/2006/main" r:embed="Raa3b0131b7df48da"/>
          <a:stretch xmlns:a="http://schemas.openxmlformats.org/drawingml/2006/main"/>
        </p:blipFill>
        <p:spPr>
          <a:xfrm xmlns:a="http://schemas.openxmlformats.org/drawingml/2006/main">
            <a:off x="10858500" y="337942"/>
            <a:ext cx="762000" cy="276616"/>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562527F9-0E35-408E-B42E-9A96B8401743}"/>
              </a:ext>
            </a:extLst>
          </p:cNvPr>
          <p:cNvSpPr>
            <a:spLocks xmlns:a="http://schemas.openxmlformats.org/drawingml/2006/main" noGrp="1"/>
          </p:cNvSpPr>
          <p:nvPr/>
        </p:nvSpPr>
        <p:spPr>
          <a:xfrm xmlns:a="http://schemas.openxmlformats.org/drawingml/2006/main">
            <a:off x="590550" y="6467475"/>
            <a:ext cx="108108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58665F"/>
                </a:solidFill>
                <a:latin typeface="Consolas"/>
                <a:ea typeface="Consolas"/>
                <a:cs typeface="Consolas"/>
              </a:defRPr>
            </a:defPPr>
            <a:lvl1pPr>
              <a:defRPr sz="1125" b="0">
                <a:solidFill>
                  <a:srgbClr val="58665F"/>
                </a:solidFill>
                <a:latin typeface="Consolas"/>
                <a:ea typeface="Consolas"/>
                <a:cs typeface="Consolas"/>
              </a:defRPr>
            </a:lvl1pPr>
            <a:lvl2pPr>
              <a:defRPr sz="1125" b="0">
                <a:solidFill>
                  <a:srgbClr val="58665F"/>
                </a:solidFill>
                <a:latin typeface="Consolas"/>
                <a:ea typeface="Consolas"/>
                <a:cs typeface="Consolas"/>
              </a:defRPr>
            </a:lvl2pPr>
            <a:lvl3pPr>
              <a:defRPr sz="1125" b="0">
                <a:solidFill>
                  <a:srgbClr val="58665F"/>
                </a:solidFill>
                <a:latin typeface="Consolas"/>
                <a:ea typeface="Consolas"/>
                <a:cs typeface="Consolas"/>
              </a:defRPr>
            </a:lvl3pPr>
            <a:lvl4pPr>
              <a:defRPr sz="1125" b="0">
                <a:solidFill>
                  <a:srgbClr val="58665F"/>
                </a:solidFill>
                <a:latin typeface="Consolas"/>
                <a:ea typeface="Consolas"/>
                <a:cs typeface="Consolas"/>
              </a:defRPr>
            </a:lvl4pPr>
            <a:lvl5pPr>
              <a:defRPr sz="1125" b="0">
                <a:solidFill>
                  <a:srgbClr val="58665F"/>
                </a:solidFill>
                <a:latin typeface="Consolas"/>
                <a:ea typeface="Consolas"/>
                <a:cs typeface="Consolas"/>
              </a:defRPr>
            </a:lvl5pPr>
            <a:lvl6pPr>
              <a:defRPr sz="1125" b="0">
                <a:solidFill>
                  <a:srgbClr val="58665F"/>
                </a:solidFill>
                <a:latin typeface="Consolas"/>
                <a:ea typeface="Consolas"/>
                <a:cs typeface="Consolas"/>
              </a:defRPr>
            </a:lvl6pPr>
            <a:lvl7pPr>
              <a:defRPr sz="1125" b="0">
                <a:solidFill>
                  <a:srgbClr val="58665F"/>
                </a:solidFill>
                <a:latin typeface="Consolas"/>
                <a:ea typeface="Consolas"/>
                <a:cs typeface="Consolas"/>
              </a:defRPr>
            </a:lvl7pPr>
            <a:lvl8pPr>
              <a:defRPr sz="1125" b="0">
                <a:solidFill>
                  <a:srgbClr val="58665F"/>
                </a:solidFill>
                <a:latin typeface="Consolas"/>
                <a:ea typeface="Consolas"/>
                <a:cs typeface="Consolas"/>
              </a:defRPr>
            </a:lvl8pPr>
            <a:lvl9pPr>
              <a:defRPr sz="1125" b="0">
                <a:solidFill>
                  <a:srgbClr val="58665F"/>
                </a:solidFill>
                <a:latin typeface="Consolas"/>
                <a:ea typeface="Consolas"/>
                <a:cs typeface="Consolas"/>
              </a:defRPr>
            </a:lvl9pPr>
          </a:lstStyle>
          <a:p xmlns:a="http://schemas.openxmlformats.org/drawingml/2006/main">
            <a:pPr>
              <a:defRPr sz="1125" b="0">
                <a:solidFill>
                  <a:srgbClr val="58665F"/>
                </a:solidFill>
                <a:latin typeface="Consolas"/>
                <a:ea typeface="Consolas"/>
                <a:cs typeface="Consolas"/>
              </a:defRPr>
            </a:pPr>
            <a:r>
              <a:rPr sz="1125" b="0">
                <a:solidFill>
                  <a:srgbClr val="58665F"/>
                </a:solidFill>
                <a:latin typeface="Consolas"/>
                <a:ea typeface="Consolas"/>
                <a:cs typeface="Consolas"/>
              </a:rPr>
              <a:t>MECRO   SEMANA 3   CLASE 05   05/24</a:t>
            </a:r>
          </a:p>
        </p:txBody>
      </p:sp>
      <p:sp>
        <p:nvSpPr>
          <p:cNvPr id="4" name="">
            <a:extLst xmlns:a="http://schemas.openxmlformats.org/drawingml/2006/main">
              <a:ext uri="{FF2B5EF4-FFF2-40B4-BE49-F238E27FC236}">
                <a16:creationId xmlns:a16="http://schemas.microsoft.com/office/drawing/2014/main" id="{0BA542A7-3782-4290-850F-A865D75051EC}"/>
              </a:ext>
            </a:extLst>
          </p:cNvPr>
          <p:cNvSpPr>
            <a:spLocks xmlns:a="http://schemas.openxmlformats.org/drawingml/2006/main" noGrp="1"/>
          </p:cNvSpPr>
          <p:nvPr/>
        </p:nvSpPr>
        <p:spPr>
          <a:xfrm xmlns:a="http://schemas.openxmlformats.org/drawingml/2006/main">
            <a:off x="590550" y="1743075"/>
            <a:ext cx="10810875" cy="425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325" b="0">
                <a:solidFill>
                  <a:srgbClr val="14231E"/>
                </a:solidFill>
                <a:latin typeface="Arial"/>
                <a:ea typeface="Arial"/>
                <a:cs typeface="Arial"/>
              </a:defRPr>
            </a:defPPr>
            <a:lvl1pPr>
              <a:defRPr sz="2325" b="0">
                <a:solidFill>
                  <a:srgbClr val="14231E"/>
                </a:solidFill>
                <a:latin typeface="Arial"/>
                <a:ea typeface="Arial"/>
                <a:cs typeface="Arial"/>
              </a:defRPr>
            </a:lvl1pPr>
            <a:lvl2pPr>
              <a:defRPr sz="2325" b="0">
                <a:solidFill>
                  <a:srgbClr val="14231E"/>
                </a:solidFill>
                <a:latin typeface="Arial"/>
                <a:ea typeface="Arial"/>
                <a:cs typeface="Arial"/>
              </a:defRPr>
            </a:lvl2pPr>
            <a:lvl3pPr>
              <a:defRPr sz="2325" b="0">
                <a:solidFill>
                  <a:srgbClr val="14231E"/>
                </a:solidFill>
                <a:latin typeface="Arial"/>
                <a:ea typeface="Arial"/>
                <a:cs typeface="Arial"/>
              </a:defRPr>
            </a:lvl3pPr>
            <a:lvl4pPr>
              <a:defRPr sz="2325" b="0">
                <a:solidFill>
                  <a:srgbClr val="14231E"/>
                </a:solidFill>
                <a:latin typeface="Arial"/>
                <a:ea typeface="Arial"/>
                <a:cs typeface="Arial"/>
              </a:defRPr>
            </a:lvl4pPr>
            <a:lvl5pPr>
              <a:defRPr sz="2325" b="0">
                <a:solidFill>
                  <a:srgbClr val="14231E"/>
                </a:solidFill>
                <a:latin typeface="Arial"/>
                <a:ea typeface="Arial"/>
                <a:cs typeface="Arial"/>
              </a:defRPr>
            </a:lvl5pPr>
            <a:lvl6pPr>
              <a:defRPr sz="2325" b="0">
                <a:solidFill>
                  <a:srgbClr val="14231E"/>
                </a:solidFill>
                <a:latin typeface="Arial"/>
                <a:ea typeface="Arial"/>
                <a:cs typeface="Arial"/>
              </a:defRPr>
            </a:lvl6pPr>
            <a:lvl7pPr>
              <a:defRPr sz="2325" b="0">
                <a:solidFill>
                  <a:srgbClr val="14231E"/>
                </a:solidFill>
                <a:latin typeface="Arial"/>
                <a:ea typeface="Arial"/>
                <a:cs typeface="Arial"/>
              </a:defRPr>
            </a:lvl7pPr>
            <a:lvl8pPr>
              <a:defRPr sz="2325" b="0">
                <a:solidFill>
                  <a:srgbClr val="14231E"/>
                </a:solidFill>
                <a:latin typeface="Arial"/>
                <a:ea typeface="Arial"/>
                <a:cs typeface="Arial"/>
              </a:defRPr>
            </a:lvl8pPr>
            <a:lvl9pPr>
              <a:defRPr sz="2325" b="0">
                <a:solidFill>
                  <a:srgbClr val="14231E"/>
                </a:solidFill>
                <a:latin typeface="Arial"/>
                <a:ea typeface="Arial"/>
                <a:cs typeface="Arial"/>
              </a:defRPr>
            </a:lvl9pPr>
          </a:lstStyle>
          <a:p xmlns:a="http://schemas.openxmlformats.org/drawingml/2006/main">
            <a:pPr>
              <a:defRPr sz="2325" b="0">
                <a:solidFill>
                  <a:srgbClr val="14231E"/>
                </a:solidFill>
                <a:latin typeface="Arial"/>
                <a:ea typeface="Arial"/>
                <a:cs typeface="Arial"/>
              </a:defRPr>
            </a:pPr>
            <a:r>
              <a:rPr sz="2325" b="0">
                <a:solidFill>
                  <a:srgbClr val="14231E"/>
                </a:solidFill>
                <a:latin typeface="Arial"/>
                <a:ea typeface="Arial"/>
                <a:cs typeface="Arial"/>
              </a:rPr>
              <a:t>Al apilar capas se forma una pieza con direcciones de fabricación reconocibles. Una zona inclinada puede mostrar escalones. Un saliente puede necesitar apoyo. La orientación también determina qué superficies quedan contra la cama y dónde aparecen marcas al retirar soportes. Esos detalles importan si la superficie debe encajar o servir de referencia.</a:t>
            </a:r>
          </a:p>
        </p:txBody>
      </p:sp>
    </p:spTree>
    <p:extLst>
      <p:ext uri="{BB962C8B-B14F-4D97-AF65-F5344CB8AC3E}">
        <p14:creationId xmlns:p14="http://schemas.microsoft.com/office/powerpoint/2010/main" val="1724720797"/>
      </p:ext>
    </p:extLst>
  </p:cSld>
</p:sld>
</file>

<file path=ppt/slides/slide6.xml><?xml version="1.0" encoding="utf-8"?>
<p:sld xmlns:p="http://schemas.openxmlformats.org/presentationml/2006/main">
  <p:cSld>
    <p:bg>
      <p:bgPr>
        <a:solidFill xmlns:a="http://schemas.openxmlformats.org/drawingml/2006/main">
          <a:srgbClr val="FCFCF8"/>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B5044393-3DBB-4FE8-AF68-A9D09C679A71}"/>
              </a:ext>
            </a:extLst>
          </p:cNvPr>
          <p:cNvSpPr>
            <a:spLocks xmlns:a="http://schemas.openxmlformats.org/drawingml/2006/main" noGrp="1"/>
          </p:cNvSpPr>
          <p:nvPr/>
        </p:nvSpPr>
        <p:spPr>
          <a:xfrm xmlns:a="http://schemas.openxmlformats.org/drawingml/2006/main">
            <a:off x="590550" y="428625"/>
            <a:ext cx="100965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75" b="1">
                <a:solidFill>
                  <a:srgbClr val="14231E"/>
                </a:solidFill>
                <a:latin typeface="Arial Narrow"/>
                <a:ea typeface="Arial Narrow"/>
                <a:cs typeface="Arial Narrow"/>
              </a:defRPr>
            </a:defPPr>
            <a:lvl1pPr>
              <a:defRPr sz="3375" b="1">
                <a:solidFill>
                  <a:srgbClr val="14231E"/>
                </a:solidFill>
                <a:latin typeface="Arial Narrow"/>
                <a:ea typeface="Arial Narrow"/>
                <a:cs typeface="Arial Narrow"/>
              </a:defRPr>
            </a:lvl1pPr>
            <a:lvl2pPr>
              <a:defRPr sz="3375" b="1">
                <a:solidFill>
                  <a:srgbClr val="14231E"/>
                </a:solidFill>
                <a:latin typeface="Arial Narrow"/>
                <a:ea typeface="Arial Narrow"/>
                <a:cs typeface="Arial Narrow"/>
              </a:defRPr>
            </a:lvl2pPr>
            <a:lvl3pPr>
              <a:defRPr sz="3375" b="1">
                <a:solidFill>
                  <a:srgbClr val="14231E"/>
                </a:solidFill>
                <a:latin typeface="Arial Narrow"/>
                <a:ea typeface="Arial Narrow"/>
                <a:cs typeface="Arial Narrow"/>
              </a:defRPr>
            </a:lvl3pPr>
            <a:lvl4pPr>
              <a:defRPr sz="3375" b="1">
                <a:solidFill>
                  <a:srgbClr val="14231E"/>
                </a:solidFill>
                <a:latin typeface="Arial Narrow"/>
                <a:ea typeface="Arial Narrow"/>
                <a:cs typeface="Arial Narrow"/>
              </a:defRPr>
            </a:lvl4pPr>
            <a:lvl5pPr>
              <a:defRPr sz="3375" b="1">
                <a:solidFill>
                  <a:srgbClr val="14231E"/>
                </a:solidFill>
                <a:latin typeface="Arial Narrow"/>
                <a:ea typeface="Arial Narrow"/>
                <a:cs typeface="Arial Narrow"/>
              </a:defRPr>
            </a:lvl5pPr>
            <a:lvl6pPr>
              <a:defRPr sz="3375" b="1">
                <a:solidFill>
                  <a:srgbClr val="14231E"/>
                </a:solidFill>
                <a:latin typeface="Arial Narrow"/>
                <a:ea typeface="Arial Narrow"/>
                <a:cs typeface="Arial Narrow"/>
              </a:defRPr>
            </a:lvl6pPr>
            <a:lvl7pPr>
              <a:defRPr sz="3375" b="1">
                <a:solidFill>
                  <a:srgbClr val="14231E"/>
                </a:solidFill>
                <a:latin typeface="Arial Narrow"/>
                <a:ea typeface="Arial Narrow"/>
                <a:cs typeface="Arial Narrow"/>
              </a:defRPr>
            </a:lvl7pPr>
            <a:lvl8pPr>
              <a:defRPr sz="3375" b="1">
                <a:solidFill>
                  <a:srgbClr val="14231E"/>
                </a:solidFill>
                <a:latin typeface="Arial Narrow"/>
                <a:ea typeface="Arial Narrow"/>
                <a:cs typeface="Arial Narrow"/>
              </a:defRPr>
            </a:lvl8pPr>
            <a:lvl9pPr>
              <a:defRPr sz="3375" b="1">
                <a:solidFill>
                  <a:srgbClr val="14231E"/>
                </a:solidFill>
                <a:latin typeface="Arial Narrow"/>
                <a:ea typeface="Arial Narrow"/>
                <a:cs typeface="Arial Narrow"/>
              </a:defRPr>
            </a:lvl9pPr>
          </a:lstStyle>
          <a:p xmlns:a="http://schemas.openxmlformats.org/drawingml/2006/main">
            <a:pPr>
              <a:defRPr sz="3375" b="1">
                <a:solidFill>
                  <a:srgbClr val="14231E"/>
                </a:solidFill>
                <a:latin typeface="Arial Narrow"/>
                <a:ea typeface="Arial Narrow"/>
                <a:cs typeface="Arial Narrow"/>
              </a:defRPr>
            </a:pPr>
            <a:r>
              <a:rPr sz="3375" b="1">
                <a:solidFill>
                  <a:srgbClr val="14231E"/>
                </a:solidFill>
                <a:latin typeface="Arial Narrow"/>
                <a:ea typeface="Arial Narrow"/>
                <a:cs typeface="Arial Narrow"/>
              </a:rPr>
              <a:t>La orientación cambia lo que se fabrica</a:t>
            </a:r>
          </a:p>
        </p:txBody>
      </p:sp>
      <p:pic>
        <p:nvPicPr>
          <p:cNvPr id="2" name="">
            <a:extLst xmlns:a="http://schemas.openxmlformats.org/drawingml/2006/main">
              <a:ext uri="{FF2B5EF4-FFF2-40B4-BE49-F238E27FC236}">
                <a16:creationId xmlns:a16="http://schemas.microsoft.com/office/drawing/2014/main" id="{FA25E490-1A15-4B89-81E4-5D9C4BBE8144}"/>
              </a:ext>
            </a:extLst>
          </p:cNvPr>
          <p:cNvPicPr>
            <a:picLocks xmlns:a="http://schemas.openxmlformats.org/drawingml/2006/main" noChangeAspect="1"/>
          </p:cNvPicPr>
          <p:nvPr/>
        </p:nvPicPr>
        <p:blipFill>
          <a:blip xmlns:r="http://schemas.openxmlformats.org/officeDocument/2006/relationships" xmlns:a="http://schemas.openxmlformats.org/drawingml/2006/main" r:embed="Rca9b6ef6b8254642"/>
          <a:stretch xmlns:a="http://schemas.openxmlformats.org/drawingml/2006/main"/>
        </p:blipFill>
        <p:spPr>
          <a:xfrm xmlns:a="http://schemas.openxmlformats.org/drawingml/2006/main">
            <a:off x="10858500" y="337942"/>
            <a:ext cx="762000" cy="276616"/>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D23AA2E2-624B-49B2-A417-DB45BF3BD425}"/>
              </a:ext>
            </a:extLst>
          </p:cNvPr>
          <p:cNvSpPr>
            <a:spLocks xmlns:a="http://schemas.openxmlformats.org/drawingml/2006/main" noGrp="1"/>
          </p:cNvSpPr>
          <p:nvPr/>
        </p:nvSpPr>
        <p:spPr>
          <a:xfrm xmlns:a="http://schemas.openxmlformats.org/drawingml/2006/main">
            <a:off x="590550" y="6467475"/>
            <a:ext cx="108108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58665F"/>
                </a:solidFill>
                <a:latin typeface="Consolas"/>
                <a:ea typeface="Consolas"/>
                <a:cs typeface="Consolas"/>
              </a:defRPr>
            </a:defPPr>
            <a:lvl1pPr>
              <a:defRPr sz="1125" b="0">
                <a:solidFill>
                  <a:srgbClr val="58665F"/>
                </a:solidFill>
                <a:latin typeface="Consolas"/>
                <a:ea typeface="Consolas"/>
                <a:cs typeface="Consolas"/>
              </a:defRPr>
            </a:lvl1pPr>
            <a:lvl2pPr>
              <a:defRPr sz="1125" b="0">
                <a:solidFill>
                  <a:srgbClr val="58665F"/>
                </a:solidFill>
                <a:latin typeface="Consolas"/>
                <a:ea typeface="Consolas"/>
                <a:cs typeface="Consolas"/>
              </a:defRPr>
            </a:lvl2pPr>
            <a:lvl3pPr>
              <a:defRPr sz="1125" b="0">
                <a:solidFill>
                  <a:srgbClr val="58665F"/>
                </a:solidFill>
                <a:latin typeface="Consolas"/>
                <a:ea typeface="Consolas"/>
                <a:cs typeface="Consolas"/>
              </a:defRPr>
            </a:lvl3pPr>
            <a:lvl4pPr>
              <a:defRPr sz="1125" b="0">
                <a:solidFill>
                  <a:srgbClr val="58665F"/>
                </a:solidFill>
                <a:latin typeface="Consolas"/>
                <a:ea typeface="Consolas"/>
                <a:cs typeface="Consolas"/>
              </a:defRPr>
            </a:lvl4pPr>
            <a:lvl5pPr>
              <a:defRPr sz="1125" b="0">
                <a:solidFill>
                  <a:srgbClr val="58665F"/>
                </a:solidFill>
                <a:latin typeface="Consolas"/>
                <a:ea typeface="Consolas"/>
                <a:cs typeface="Consolas"/>
              </a:defRPr>
            </a:lvl5pPr>
            <a:lvl6pPr>
              <a:defRPr sz="1125" b="0">
                <a:solidFill>
                  <a:srgbClr val="58665F"/>
                </a:solidFill>
                <a:latin typeface="Consolas"/>
                <a:ea typeface="Consolas"/>
                <a:cs typeface="Consolas"/>
              </a:defRPr>
            </a:lvl6pPr>
            <a:lvl7pPr>
              <a:defRPr sz="1125" b="0">
                <a:solidFill>
                  <a:srgbClr val="58665F"/>
                </a:solidFill>
                <a:latin typeface="Consolas"/>
                <a:ea typeface="Consolas"/>
                <a:cs typeface="Consolas"/>
              </a:defRPr>
            </a:lvl7pPr>
            <a:lvl8pPr>
              <a:defRPr sz="1125" b="0">
                <a:solidFill>
                  <a:srgbClr val="58665F"/>
                </a:solidFill>
                <a:latin typeface="Consolas"/>
                <a:ea typeface="Consolas"/>
                <a:cs typeface="Consolas"/>
              </a:defRPr>
            </a:lvl8pPr>
            <a:lvl9pPr>
              <a:defRPr sz="1125" b="0">
                <a:solidFill>
                  <a:srgbClr val="58665F"/>
                </a:solidFill>
                <a:latin typeface="Consolas"/>
                <a:ea typeface="Consolas"/>
                <a:cs typeface="Consolas"/>
              </a:defRPr>
            </a:lvl9pPr>
          </a:lstStyle>
          <a:p xmlns:a="http://schemas.openxmlformats.org/drawingml/2006/main">
            <a:pPr>
              <a:defRPr sz="1125" b="0">
                <a:solidFill>
                  <a:srgbClr val="58665F"/>
                </a:solidFill>
                <a:latin typeface="Consolas"/>
                <a:ea typeface="Consolas"/>
                <a:cs typeface="Consolas"/>
              </a:defRPr>
            </a:pPr>
            <a:r>
              <a:rPr sz="1125" b="0">
                <a:solidFill>
                  <a:srgbClr val="58665F"/>
                </a:solidFill>
                <a:latin typeface="Consolas"/>
                <a:ea typeface="Consolas"/>
                <a:cs typeface="Consolas"/>
              </a:rPr>
              <a:t>MECRO   SEMANA 3   CLASE 05   06/24</a:t>
            </a:r>
          </a:p>
        </p:txBody>
      </p:sp>
      <p:pic>
        <p:nvPicPr>
          <p:cNvPr id="4" name="">
            <a:extLst xmlns:a="http://schemas.openxmlformats.org/drawingml/2006/main">
              <a:ext uri="{FF2B5EF4-FFF2-40B4-BE49-F238E27FC236}">
                <a16:creationId xmlns:a16="http://schemas.microsoft.com/office/drawing/2014/main" id="{A39EEF34-213F-4A7D-B83C-6B2EB8B57E13}"/>
              </a:ext>
            </a:extLst>
          </p:cNvPr>
          <p:cNvPicPr>
            <a:picLocks xmlns:a="http://schemas.openxmlformats.org/drawingml/2006/main" noChangeAspect="1"/>
          </p:cNvPicPr>
          <p:nvPr/>
        </p:nvPicPr>
        <p:blipFill>
          <a:blip xmlns:r="http://schemas.openxmlformats.org/officeDocument/2006/relationships" xmlns:a="http://schemas.openxmlformats.org/drawingml/2006/main" r:embed="Rcbabd2715545417d"/>
          <a:stretch xmlns:a="http://schemas.openxmlformats.org/drawingml/2006/main"/>
        </p:blipFill>
        <p:spPr>
          <a:xfrm xmlns:a="http://schemas.openxmlformats.org/drawingml/2006/main">
            <a:off x="590550" y="2512241"/>
            <a:ext cx="7410450" cy="2271668"/>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15497B87-01BF-4223-9D5B-9B232E679355}"/>
              </a:ext>
            </a:extLst>
          </p:cNvPr>
          <p:cNvSpPr>
            <a:spLocks xmlns:a="http://schemas.openxmlformats.org/drawingml/2006/main" noGrp="1"/>
          </p:cNvSpPr>
          <p:nvPr/>
        </p:nvSpPr>
        <p:spPr>
          <a:xfrm xmlns:a="http://schemas.openxmlformats.org/drawingml/2006/main">
            <a:off x="8315325" y="1781175"/>
            <a:ext cx="3248025" cy="3590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325" b="1">
                <a:solidFill>
                  <a:srgbClr val="244F3D"/>
                </a:solidFill>
                <a:latin typeface="Arial"/>
                <a:ea typeface="Arial"/>
                <a:cs typeface="Arial"/>
              </a:defRPr>
            </a:defPPr>
            <a:lvl1pPr>
              <a:defRPr sz="2325" b="1">
                <a:solidFill>
                  <a:srgbClr val="244F3D"/>
                </a:solidFill>
                <a:latin typeface="Arial"/>
                <a:ea typeface="Arial"/>
                <a:cs typeface="Arial"/>
              </a:defRPr>
            </a:lvl1pPr>
            <a:lvl2pPr>
              <a:defRPr sz="2325" b="1">
                <a:solidFill>
                  <a:srgbClr val="244F3D"/>
                </a:solidFill>
                <a:latin typeface="Arial"/>
                <a:ea typeface="Arial"/>
                <a:cs typeface="Arial"/>
              </a:defRPr>
            </a:lvl2pPr>
            <a:lvl3pPr>
              <a:defRPr sz="2325" b="1">
                <a:solidFill>
                  <a:srgbClr val="244F3D"/>
                </a:solidFill>
                <a:latin typeface="Arial"/>
                <a:ea typeface="Arial"/>
                <a:cs typeface="Arial"/>
              </a:defRPr>
            </a:lvl3pPr>
            <a:lvl4pPr>
              <a:defRPr sz="2325" b="1">
                <a:solidFill>
                  <a:srgbClr val="244F3D"/>
                </a:solidFill>
                <a:latin typeface="Arial"/>
                <a:ea typeface="Arial"/>
                <a:cs typeface="Arial"/>
              </a:defRPr>
            </a:lvl4pPr>
            <a:lvl5pPr>
              <a:defRPr sz="2325" b="1">
                <a:solidFill>
                  <a:srgbClr val="244F3D"/>
                </a:solidFill>
                <a:latin typeface="Arial"/>
                <a:ea typeface="Arial"/>
                <a:cs typeface="Arial"/>
              </a:defRPr>
            </a:lvl5pPr>
            <a:lvl6pPr>
              <a:defRPr sz="2325" b="1">
                <a:solidFill>
                  <a:srgbClr val="244F3D"/>
                </a:solidFill>
                <a:latin typeface="Arial"/>
                <a:ea typeface="Arial"/>
                <a:cs typeface="Arial"/>
              </a:defRPr>
            </a:lvl6pPr>
            <a:lvl7pPr>
              <a:defRPr sz="2325" b="1">
                <a:solidFill>
                  <a:srgbClr val="244F3D"/>
                </a:solidFill>
                <a:latin typeface="Arial"/>
                <a:ea typeface="Arial"/>
                <a:cs typeface="Arial"/>
              </a:defRPr>
            </a:lvl7pPr>
            <a:lvl8pPr>
              <a:defRPr sz="2325" b="1">
                <a:solidFill>
                  <a:srgbClr val="244F3D"/>
                </a:solidFill>
                <a:latin typeface="Arial"/>
                <a:ea typeface="Arial"/>
                <a:cs typeface="Arial"/>
              </a:defRPr>
            </a:lvl8pPr>
            <a:lvl9pPr>
              <a:defRPr sz="2325" b="1">
                <a:solidFill>
                  <a:srgbClr val="244F3D"/>
                </a:solidFill>
                <a:latin typeface="Arial"/>
                <a:ea typeface="Arial"/>
                <a:cs typeface="Arial"/>
              </a:defRPr>
            </a:lvl9pPr>
          </a:lstStyle>
          <a:p xmlns:a="http://schemas.openxmlformats.org/drawingml/2006/main">
            <a:pPr>
              <a:defRPr sz="2325" b="1">
                <a:solidFill>
                  <a:srgbClr val="244F3D"/>
                </a:solidFill>
                <a:latin typeface="Arial"/>
                <a:ea typeface="Arial"/>
                <a:cs typeface="Arial"/>
              </a:defRPr>
            </a:pPr>
            <a:r>
              <a:rPr sz="2325" b="1">
                <a:solidFill>
                  <a:srgbClr val="244F3D"/>
                </a:solidFill>
                <a:latin typeface="Arial"/>
                <a:ea typeface="Arial"/>
                <a:cs typeface="Arial"/>
              </a:rPr>
              <a:t>¿Qué superficie debe quedar funcional?</a:t>
            </a:r>
          </a:p>
        </p:txBody>
      </p:sp>
      <p:sp>
        <p:nvSpPr>
          <p:cNvPr id="6" name="">
            <a:extLst xmlns:a="http://schemas.openxmlformats.org/drawingml/2006/main">
              <a:ext uri="{FF2B5EF4-FFF2-40B4-BE49-F238E27FC236}">
                <a16:creationId xmlns:a16="http://schemas.microsoft.com/office/drawing/2014/main" id="{6DC3DE20-2ADB-4135-82F0-68D7385CED84}"/>
              </a:ext>
            </a:extLst>
          </p:cNvPr>
          <p:cNvSpPr>
            <a:spLocks xmlns:a="http://schemas.openxmlformats.org/drawingml/2006/main" noGrp="1"/>
          </p:cNvSpPr>
          <p:nvPr/>
        </p:nvSpPr>
        <p:spPr>
          <a:xfrm xmlns:a="http://schemas.openxmlformats.org/drawingml/2006/main">
            <a:off x="590550" y="5848350"/>
            <a:ext cx="10953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350" b="0">
                <a:solidFill>
                  <a:srgbClr val="58665F"/>
                </a:solidFill>
                <a:latin typeface="Arial"/>
                <a:ea typeface="Arial"/>
                <a:cs typeface="Arial"/>
              </a:defRPr>
            </a:defPPr>
            <a:lvl1pPr>
              <a:defRPr sz="1350" b="0">
                <a:solidFill>
                  <a:srgbClr val="58665F"/>
                </a:solidFill>
                <a:latin typeface="Arial"/>
                <a:ea typeface="Arial"/>
                <a:cs typeface="Arial"/>
              </a:defRPr>
            </a:lvl1pPr>
            <a:lvl2pPr>
              <a:defRPr sz="1350" b="0">
                <a:solidFill>
                  <a:srgbClr val="58665F"/>
                </a:solidFill>
                <a:latin typeface="Arial"/>
                <a:ea typeface="Arial"/>
                <a:cs typeface="Arial"/>
              </a:defRPr>
            </a:lvl2pPr>
            <a:lvl3pPr>
              <a:defRPr sz="1350" b="0">
                <a:solidFill>
                  <a:srgbClr val="58665F"/>
                </a:solidFill>
                <a:latin typeface="Arial"/>
                <a:ea typeface="Arial"/>
                <a:cs typeface="Arial"/>
              </a:defRPr>
            </a:lvl3pPr>
            <a:lvl4pPr>
              <a:defRPr sz="1350" b="0">
                <a:solidFill>
                  <a:srgbClr val="58665F"/>
                </a:solidFill>
                <a:latin typeface="Arial"/>
                <a:ea typeface="Arial"/>
                <a:cs typeface="Arial"/>
              </a:defRPr>
            </a:lvl4pPr>
            <a:lvl5pPr>
              <a:defRPr sz="1350" b="0">
                <a:solidFill>
                  <a:srgbClr val="58665F"/>
                </a:solidFill>
                <a:latin typeface="Arial"/>
                <a:ea typeface="Arial"/>
                <a:cs typeface="Arial"/>
              </a:defRPr>
            </a:lvl5pPr>
            <a:lvl6pPr>
              <a:defRPr sz="1350" b="0">
                <a:solidFill>
                  <a:srgbClr val="58665F"/>
                </a:solidFill>
                <a:latin typeface="Arial"/>
                <a:ea typeface="Arial"/>
                <a:cs typeface="Arial"/>
              </a:defRPr>
            </a:lvl6pPr>
            <a:lvl7pPr>
              <a:defRPr sz="1350" b="0">
                <a:solidFill>
                  <a:srgbClr val="58665F"/>
                </a:solidFill>
                <a:latin typeface="Arial"/>
                <a:ea typeface="Arial"/>
                <a:cs typeface="Arial"/>
              </a:defRPr>
            </a:lvl7pPr>
            <a:lvl8pPr>
              <a:defRPr sz="1350" b="0">
                <a:solidFill>
                  <a:srgbClr val="58665F"/>
                </a:solidFill>
                <a:latin typeface="Arial"/>
                <a:ea typeface="Arial"/>
                <a:cs typeface="Arial"/>
              </a:defRPr>
            </a:lvl8pPr>
            <a:lvl9pPr>
              <a:defRPr sz="1350" b="0">
                <a:solidFill>
                  <a:srgbClr val="58665F"/>
                </a:solidFill>
                <a:latin typeface="Arial"/>
                <a:ea typeface="Arial"/>
                <a:cs typeface="Arial"/>
              </a:defRPr>
            </a:lvl9pPr>
          </a:lstStyle>
          <a:p xmlns:a="http://schemas.openxmlformats.org/drawingml/2006/main">
            <a:pPr>
              <a:defRPr sz="1350" b="0">
                <a:solidFill>
                  <a:srgbClr val="58665F"/>
                </a:solidFill>
                <a:latin typeface="Arial"/>
                <a:ea typeface="Arial"/>
                <a:cs typeface="Arial"/>
              </a:defRPr>
            </a:pPr>
            <a:r>
              <a:rPr sz="1350" b="0">
                <a:solidFill>
                  <a:srgbClr val="58665F"/>
                </a:solidFill>
                <a:latin typeface="Arial"/>
                <a:ea typeface="Arial"/>
                <a:cs typeface="Arial"/>
              </a:rPr>
              <a:t>Prusa Research: el mismo tipo de superficie muestra distinto escalonado según su orientación.</a:t>
            </a:r>
          </a:p>
        </p:txBody>
      </p:sp>
    </p:spTree>
    <p:extLst>
      <p:ext uri="{BB962C8B-B14F-4D97-AF65-F5344CB8AC3E}">
        <p14:creationId xmlns:p14="http://schemas.microsoft.com/office/powerpoint/2010/main" val="804806390"/>
      </p:ext>
    </p:extLst>
  </p:cSld>
</p:sld>
</file>

<file path=ppt/slides/slide7.xml><?xml version="1.0" encoding="utf-8"?>
<p:sld xmlns:p="http://schemas.openxmlformats.org/presentationml/2006/main">
  <p:cSld>
    <p:bg>
      <p:bgPr>
        <a:solidFill xmlns:a="http://schemas.openxmlformats.org/drawingml/2006/main">
          <a:srgbClr val="FCFCF8"/>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9D7BF258-A808-4EF4-ABFA-986F4F694BA4}"/>
              </a:ext>
            </a:extLst>
          </p:cNvPr>
          <p:cNvSpPr>
            <a:spLocks xmlns:a="http://schemas.openxmlformats.org/drawingml/2006/main" noGrp="1"/>
          </p:cNvSpPr>
          <p:nvPr/>
        </p:nvSpPr>
        <p:spPr>
          <a:xfrm xmlns:a="http://schemas.openxmlformats.org/drawingml/2006/main">
            <a:off x="590550" y="428625"/>
            <a:ext cx="100965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75" b="1">
                <a:solidFill>
                  <a:srgbClr val="14231E"/>
                </a:solidFill>
                <a:latin typeface="Arial Narrow"/>
                <a:ea typeface="Arial Narrow"/>
                <a:cs typeface="Arial Narrow"/>
              </a:defRPr>
            </a:defPPr>
            <a:lvl1pPr>
              <a:defRPr sz="3375" b="1">
                <a:solidFill>
                  <a:srgbClr val="14231E"/>
                </a:solidFill>
                <a:latin typeface="Arial Narrow"/>
                <a:ea typeface="Arial Narrow"/>
                <a:cs typeface="Arial Narrow"/>
              </a:defRPr>
            </a:lvl1pPr>
            <a:lvl2pPr>
              <a:defRPr sz="3375" b="1">
                <a:solidFill>
                  <a:srgbClr val="14231E"/>
                </a:solidFill>
                <a:latin typeface="Arial Narrow"/>
                <a:ea typeface="Arial Narrow"/>
                <a:cs typeface="Arial Narrow"/>
              </a:defRPr>
            </a:lvl2pPr>
            <a:lvl3pPr>
              <a:defRPr sz="3375" b="1">
                <a:solidFill>
                  <a:srgbClr val="14231E"/>
                </a:solidFill>
                <a:latin typeface="Arial Narrow"/>
                <a:ea typeface="Arial Narrow"/>
                <a:cs typeface="Arial Narrow"/>
              </a:defRPr>
            </a:lvl3pPr>
            <a:lvl4pPr>
              <a:defRPr sz="3375" b="1">
                <a:solidFill>
                  <a:srgbClr val="14231E"/>
                </a:solidFill>
                <a:latin typeface="Arial Narrow"/>
                <a:ea typeface="Arial Narrow"/>
                <a:cs typeface="Arial Narrow"/>
              </a:defRPr>
            </a:lvl4pPr>
            <a:lvl5pPr>
              <a:defRPr sz="3375" b="1">
                <a:solidFill>
                  <a:srgbClr val="14231E"/>
                </a:solidFill>
                <a:latin typeface="Arial Narrow"/>
                <a:ea typeface="Arial Narrow"/>
                <a:cs typeface="Arial Narrow"/>
              </a:defRPr>
            </a:lvl5pPr>
            <a:lvl6pPr>
              <a:defRPr sz="3375" b="1">
                <a:solidFill>
                  <a:srgbClr val="14231E"/>
                </a:solidFill>
                <a:latin typeface="Arial Narrow"/>
                <a:ea typeface="Arial Narrow"/>
                <a:cs typeface="Arial Narrow"/>
              </a:defRPr>
            </a:lvl6pPr>
            <a:lvl7pPr>
              <a:defRPr sz="3375" b="1">
                <a:solidFill>
                  <a:srgbClr val="14231E"/>
                </a:solidFill>
                <a:latin typeface="Arial Narrow"/>
                <a:ea typeface="Arial Narrow"/>
                <a:cs typeface="Arial Narrow"/>
              </a:defRPr>
            </a:lvl7pPr>
            <a:lvl8pPr>
              <a:defRPr sz="3375" b="1">
                <a:solidFill>
                  <a:srgbClr val="14231E"/>
                </a:solidFill>
                <a:latin typeface="Arial Narrow"/>
                <a:ea typeface="Arial Narrow"/>
                <a:cs typeface="Arial Narrow"/>
              </a:defRPr>
            </a:lvl8pPr>
            <a:lvl9pPr>
              <a:defRPr sz="3375" b="1">
                <a:solidFill>
                  <a:srgbClr val="14231E"/>
                </a:solidFill>
                <a:latin typeface="Arial Narrow"/>
                <a:ea typeface="Arial Narrow"/>
                <a:cs typeface="Arial Narrow"/>
              </a:defRPr>
            </a:lvl9pPr>
          </a:lstStyle>
          <a:p xmlns:a="http://schemas.openxmlformats.org/drawingml/2006/main">
            <a:pPr>
              <a:defRPr sz="3375" b="1">
                <a:solidFill>
                  <a:srgbClr val="14231E"/>
                </a:solidFill>
                <a:latin typeface="Arial Narrow"/>
                <a:ea typeface="Arial Narrow"/>
                <a:cs typeface="Arial Narrow"/>
              </a:defRPr>
            </a:pPr>
            <a:r>
              <a:rPr sz="3375" b="1">
                <a:solidFill>
                  <a:srgbClr val="14231E"/>
                </a:solidFill>
                <a:latin typeface="Arial Narrow"/>
                <a:ea typeface="Arial Narrow"/>
                <a:cs typeface="Arial Narrow"/>
              </a:rPr>
              <a:t>Antes de elegir la orientación</a:t>
            </a:r>
          </a:p>
        </p:txBody>
      </p:sp>
      <p:pic>
        <p:nvPicPr>
          <p:cNvPr id="2" name="">
            <a:extLst xmlns:a="http://schemas.openxmlformats.org/drawingml/2006/main">
              <a:ext uri="{FF2B5EF4-FFF2-40B4-BE49-F238E27FC236}">
                <a16:creationId xmlns:a16="http://schemas.microsoft.com/office/drawing/2014/main" id="{42A07ED3-3686-45C9-BECA-1867A8F8333B}"/>
              </a:ext>
            </a:extLst>
          </p:cNvPr>
          <p:cNvPicPr>
            <a:picLocks xmlns:a="http://schemas.openxmlformats.org/drawingml/2006/main" noChangeAspect="1"/>
          </p:cNvPicPr>
          <p:nvPr/>
        </p:nvPicPr>
        <p:blipFill>
          <a:blip xmlns:r="http://schemas.openxmlformats.org/officeDocument/2006/relationships" xmlns:a="http://schemas.openxmlformats.org/drawingml/2006/main" r:embed="R181226476de74369"/>
          <a:stretch xmlns:a="http://schemas.openxmlformats.org/drawingml/2006/main"/>
        </p:blipFill>
        <p:spPr>
          <a:xfrm xmlns:a="http://schemas.openxmlformats.org/drawingml/2006/main">
            <a:off x="10858500" y="337942"/>
            <a:ext cx="762000" cy="276616"/>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1CBCAAE1-A782-4B55-A164-D5F72A1E54A0}"/>
              </a:ext>
            </a:extLst>
          </p:cNvPr>
          <p:cNvSpPr>
            <a:spLocks xmlns:a="http://schemas.openxmlformats.org/drawingml/2006/main" noGrp="1"/>
          </p:cNvSpPr>
          <p:nvPr/>
        </p:nvSpPr>
        <p:spPr>
          <a:xfrm xmlns:a="http://schemas.openxmlformats.org/drawingml/2006/main">
            <a:off x="590550" y="6467475"/>
            <a:ext cx="108108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58665F"/>
                </a:solidFill>
                <a:latin typeface="Consolas"/>
                <a:ea typeface="Consolas"/>
                <a:cs typeface="Consolas"/>
              </a:defRPr>
            </a:defPPr>
            <a:lvl1pPr>
              <a:defRPr sz="1125" b="0">
                <a:solidFill>
                  <a:srgbClr val="58665F"/>
                </a:solidFill>
                <a:latin typeface="Consolas"/>
                <a:ea typeface="Consolas"/>
                <a:cs typeface="Consolas"/>
              </a:defRPr>
            </a:lvl1pPr>
            <a:lvl2pPr>
              <a:defRPr sz="1125" b="0">
                <a:solidFill>
                  <a:srgbClr val="58665F"/>
                </a:solidFill>
                <a:latin typeface="Consolas"/>
                <a:ea typeface="Consolas"/>
                <a:cs typeface="Consolas"/>
              </a:defRPr>
            </a:lvl2pPr>
            <a:lvl3pPr>
              <a:defRPr sz="1125" b="0">
                <a:solidFill>
                  <a:srgbClr val="58665F"/>
                </a:solidFill>
                <a:latin typeface="Consolas"/>
                <a:ea typeface="Consolas"/>
                <a:cs typeface="Consolas"/>
              </a:defRPr>
            </a:lvl3pPr>
            <a:lvl4pPr>
              <a:defRPr sz="1125" b="0">
                <a:solidFill>
                  <a:srgbClr val="58665F"/>
                </a:solidFill>
                <a:latin typeface="Consolas"/>
                <a:ea typeface="Consolas"/>
                <a:cs typeface="Consolas"/>
              </a:defRPr>
            </a:lvl4pPr>
            <a:lvl5pPr>
              <a:defRPr sz="1125" b="0">
                <a:solidFill>
                  <a:srgbClr val="58665F"/>
                </a:solidFill>
                <a:latin typeface="Consolas"/>
                <a:ea typeface="Consolas"/>
                <a:cs typeface="Consolas"/>
              </a:defRPr>
            </a:lvl5pPr>
            <a:lvl6pPr>
              <a:defRPr sz="1125" b="0">
                <a:solidFill>
                  <a:srgbClr val="58665F"/>
                </a:solidFill>
                <a:latin typeface="Consolas"/>
                <a:ea typeface="Consolas"/>
                <a:cs typeface="Consolas"/>
              </a:defRPr>
            </a:lvl6pPr>
            <a:lvl7pPr>
              <a:defRPr sz="1125" b="0">
                <a:solidFill>
                  <a:srgbClr val="58665F"/>
                </a:solidFill>
                <a:latin typeface="Consolas"/>
                <a:ea typeface="Consolas"/>
                <a:cs typeface="Consolas"/>
              </a:defRPr>
            </a:lvl7pPr>
            <a:lvl8pPr>
              <a:defRPr sz="1125" b="0">
                <a:solidFill>
                  <a:srgbClr val="58665F"/>
                </a:solidFill>
                <a:latin typeface="Consolas"/>
                <a:ea typeface="Consolas"/>
                <a:cs typeface="Consolas"/>
              </a:defRPr>
            </a:lvl8pPr>
            <a:lvl9pPr>
              <a:defRPr sz="1125" b="0">
                <a:solidFill>
                  <a:srgbClr val="58665F"/>
                </a:solidFill>
                <a:latin typeface="Consolas"/>
                <a:ea typeface="Consolas"/>
                <a:cs typeface="Consolas"/>
              </a:defRPr>
            </a:lvl9pPr>
          </a:lstStyle>
          <a:p xmlns:a="http://schemas.openxmlformats.org/drawingml/2006/main">
            <a:pPr>
              <a:defRPr sz="1125" b="0">
                <a:solidFill>
                  <a:srgbClr val="58665F"/>
                </a:solidFill>
                <a:latin typeface="Consolas"/>
                <a:ea typeface="Consolas"/>
                <a:cs typeface="Consolas"/>
              </a:defRPr>
            </a:pPr>
            <a:r>
              <a:rPr sz="1125" b="0">
                <a:solidFill>
                  <a:srgbClr val="58665F"/>
                </a:solidFill>
                <a:latin typeface="Consolas"/>
                <a:ea typeface="Consolas"/>
                <a:cs typeface="Consolas"/>
              </a:rPr>
              <a:t>MECRO   SEMANA 3   CLASE 05   07/24</a:t>
            </a:r>
          </a:p>
        </p:txBody>
      </p:sp>
      <p:graphicFrame>
        <p:nvGraphicFramePr>
          <p:cNvPr id="4" name="">
            <a:extLst xmlns:a="http://schemas.openxmlformats.org/drawingml/2006/main">
              <a:ext uri="{FF2B5EF4-FFF2-40B4-BE49-F238E27FC236}">
                <a16:creationId xmlns:a16="http://schemas.microsoft.com/office/drawing/2014/main" id="{CB9BD8D7-5F46-49D5-ABCF-928366209108}"/>
              </a:ext>
            </a:extLst>
          </p:cNvPr>
          <p:cNvGraphicFramePr/>
          <p:nvPr/>
        </p:nvGraphicFramePr>
        <p:xfrm>
          <a:off xmlns:a="http://schemas.openxmlformats.org/drawingml/2006/main" x="590550" y="1752600"/>
          <a:ext xmlns:a="http://schemas.openxmlformats.org/drawingml/2006/main" cx="11010900" cy="3590925"/>
        </p:xfrm>
        <a:graphic xmlns:a="http://schemas.openxmlformats.org/drawingml/2006/main">
          <a:graphicData uri="http://schemas.openxmlformats.org/drawingml/2006/table">
            <a:tbl>
              <a:tblPr/>
              <a:tblGrid>
                <a:gridCol w="5505450"/>
                <a:gridCol w="5505450"/>
              </a:tblGrid>
              <a:tr h="718185">
                <a:tc>
                  <a:txBody>
                    <a:bodyPr/>
                    <a:lstStyle/>
                    <a:p>
                      <a:r>
                        <a:rPr sz="2025" b="1">
                          <a:solidFill>
                            <a:srgbClr val="FFFFFF"/>
                          </a:solidFill>
                          <a:latin typeface="Arial"/>
                          <a:ea typeface="Arial"/>
                          <a:cs typeface="Arial"/>
                        </a:rPr>
                        <a:t>Zona de la pieza</a:t>
                      </a:r>
                    </a:p>
                  </a:txBody>
                  <a:tcPr marL="91440" marR="91440" marT="45720" marB="45720">
                    <a:lnL w="9525">
                      <a:solidFill>
                        <a:srgbClr val="BFCEC3"/>
                      </a:solidFill>
                      <a:prstDash val="solid"/>
                    </a:lnL>
                    <a:lnR w="9525">
                      <a:solidFill>
                        <a:srgbClr val="BFCEC3"/>
                      </a:solidFill>
                      <a:prstDash val="solid"/>
                    </a:lnR>
                    <a:lnT w="9525">
                      <a:solidFill>
                        <a:srgbClr val="BFCEC3"/>
                      </a:solidFill>
                      <a:prstDash val="solid"/>
                    </a:lnT>
                    <a:lnB w="9525">
                      <a:solidFill>
                        <a:srgbClr val="BFCEC3"/>
                      </a:solidFill>
                      <a:prstDash val="solid"/>
                    </a:lnB>
                    <a:solidFill>
                      <a:srgbClr val="244F3D"/>
                    </a:solidFill>
                  </a:tcPr>
                </a:tc>
                <a:tc>
                  <a:txBody>
                    <a:bodyPr/>
                    <a:lstStyle/>
                    <a:p>
                      <a:r>
                        <a:rPr sz="2025" b="1">
                          <a:solidFill>
                            <a:srgbClr val="FFFFFF"/>
                          </a:solidFill>
                          <a:latin typeface="Arial"/>
                          <a:ea typeface="Arial"/>
                          <a:cs typeface="Arial"/>
                        </a:rPr>
                        <a:t>Qué observar en el laminador</a:t>
                      </a:r>
                    </a:p>
                  </a:txBody>
                  <a:tcPr marL="91440" marR="91440" marT="45720" marB="45720">
                    <a:lnR w="9525">
                      <a:solidFill>
                        <a:srgbClr val="BFCEC3"/>
                      </a:solidFill>
                      <a:prstDash val="solid"/>
                    </a:lnR>
                    <a:lnT w="9525">
                      <a:solidFill>
                        <a:srgbClr val="BFCEC3"/>
                      </a:solidFill>
                      <a:prstDash val="solid"/>
                    </a:lnT>
                    <a:lnB w="9525">
                      <a:solidFill>
                        <a:srgbClr val="BFCEC3"/>
                      </a:solidFill>
                      <a:prstDash val="solid"/>
                    </a:lnB>
                    <a:solidFill>
                      <a:srgbClr val="244F3D"/>
                    </a:solidFill>
                  </a:tcPr>
                </a:tc>
              </a:tr>
              <a:tr h="718185">
                <a:tc>
                  <a:txBody>
                    <a:bodyPr/>
                    <a:lstStyle/>
                    <a:p>
                      <a:r>
                        <a:rPr sz="2025" b="0">
                          <a:solidFill>
                            <a:srgbClr val="14231E"/>
                          </a:solidFill>
                          <a:latin typeface="Arial"/>
                          <a:ea typeface="Arial"/>
                          <a:cs typeface="Arial"/>
                        </a:rPr>
                        <a:t>Hombro de nariz</a:t>
                      </a:r>
                    </a:p>
                  </a:txBody>
                  <a:tcPr marL="91440" marR="91440" marT="45720" marB="45720">
                    <a:lnL w="9525">
                      <a:solidFill>
                        <a:srgbClr val="BFCEC3"/>
                      </a:solidFill>
                      <a:prstDash val="solid"/>
                    </a:lnL>
                    <a:lnR w="9525">
                      <a:solidFill>
                        <a:srgbClr val="BFCEC3"/>
                      </a:solidFill>
                      <a:prstDash val="solid"/>
                    </a:lnR>
                    <a:lnB w="9525">
                      <a:solidFill>
                        <a:srgbClr val="BFCEC3"/>
                      </a:solidFill>
                      <a:prstDash val="solid"/>
                    </a:lnB>
                    <a:solidFill>
                      <a:srgbClr val="EAF3EC"/>
                    </a:solidFill>
                  </a:tcPr>
                </a:tc>
                <a:tc>
                  <a:txBody>
                    <a:bodyPr/>
                    <a:lstStyle/>
                    <a:p>
                      <a:r>
                        <a:rPr sz="2025" b="0">
                          <a:solidFill>
                            <a:srgbClr val="14231E"/>
                          </a:solidFill>
                          <a:latin typeface="Arial"/>
                          <a:ea typeface="Arial"/>
                          <a:cs typeface="Arial"/>
                        </a:rPr>
                        <a:t>Superficie que debe entrar en el tubo</a:t>
                      </a:r>
                    </a:p>
                  </a:txBody>
                  <a:tcPr marL="91440" marR="91440" marT="45720" marB="45720">
                    <a:lnR w="9525">
                      <a:solidFill>
                        <a:srgbClr val="BFCEC3"/>
                      </a:solidFill>
                      <a:prstDash val="solid"/>
                    </a:lnR>
                    <a:lnB w="9525">
                      <a:solidFill>
                        <a:srgbClr val="BFCEC3"/>
                      </a:solidFill>
                      <a:prstDash val="solid"/>
                    </a:lnB>
                    <a:solidFill>
                      <a:srgbClr val="EAF3EC"/>
                    </a:solidFill>
                  </a:tcPr>
                </a:tc>
              </a:tr>
              <a:tr h="718185">
                <a:tc>
                  <a:txBody>
                    <a:bodyPr/>
                    <a:lstStyle/>
                    <a:p>
                      <a:r>
                        <a:rPr sz="2025" b="0">
                          <a:solidFill>
                            <a:srgbClr val="14231E"/>
                          </a:solidFill>
                          <a:latin typeface="Arial"/>
                          <a:ea typeface="Arial"/>
                          <a:cs typeface="Arial"/>
                        </a:rPr>
                        <a:t>Raíz de aleta</a:t>
                      </a:r>
                    </a:p>
                  </a:txBody>
                  <a:tcPr marL="91440" marR="91440" marT="45720" marB="45720">
                    <a:lnL w="9525">
                      <a:solidFill>
                        <a:srgbClr val="BFCEC3"/>
                      </a:solidFill>
                      <a:prstDash val="solid"/>
                    </a:lnL>
                    <a:lnR w="9525">
                      <a:solidFill>
                        <a:srgbClr val="BFCEC3"/>
                      </a:solidFill>
                      <a:prstDash val="solid"/>
                    </a:lnR>
                    <a:lnB w="9525">
                      <a:solidFill>
                        <a:srgbClr val="BFCEC3"/>
                      </a:solidFill>
                      <a:prstDash val="solid"/>
                    </a:lnB>
                    <a:solidFill>
                      <a:srgbClr val="FCFCF8"/>
                    </a:solidFill>
                  </a:tcPr>
                </a:tc>
                <a:tc>
                  <a:txBody>
                    <a:bodyPr/>
                    <a:lstStyle/>
                    <a:p>
                      <a:r>
                        <a:rPr sz="2025" b="0">
                          <a:solidFill>
                            <a:srgbClr val="14231E"/>
                          </a:solidFill>
                          <a:latin typeface="Arial"/>
                          <a:ea typeface="Arial"/>
                          <a:cs typeface="Arial"/>
                        </a:rPr>
                        <a:t>Continuidad y orientación de capas</a:t>
                      </a:r>
                    </a:p>
                  </a:txBody>
                  <a:tcPr marL="91440" marR="91440" marT="45720" marB="45720">
                    <a:lnR w="9525">
                      <a:solidFill>
                        <a:srgbClr val="BFCEC3"/>
                      </a:solidFill>
                      <a:prstDash val="solid"/>
                    </a:lnR>
                    <a:lnB w="9525">
                      <a:solidFill>
                        <a:srgbClr val="BFCEC3"/>
                      </a:solidFill>
                      <a:prstDash val="solid"/>
                    </a:lnB>
                    <a:solidFill>
                      <a:srgbClr val="FCFCF8"/>
                    </a:solidFill>
                  </a:tcPr>
                </a:tc>
              </a:tr>
              <a:tr h="718185">
                <a:tc>
                  <a:txBody>
                    <a:bodyPr/>
                    <a:lstStyle/>
                    <a:p>
                      <a:r>
                        <a:rPr sz="2025" b="0">
                          <a:solidFill>
                            <a:srgbClr val="14231E"/>
                          </a:solidFill>
                          <a:latin typeface="Arial"/>
                          <a:ea typeface="Arial"/>
                          <a:cs typeface="Arial"/>
                        </a:rPr>
                        <a:t>Útil de montaje</a:t>
                      </a:r>
                    </a:p>
                  </a:txBody>
                  <a:tcPr marL="91440" marR="91440" marT="45720" marB="45720">
                    <a:lnL w="9525">
                      <a:solidFill>
                        <a:srgbClr val="BFCEC3"/>
                      </a:solidFill>
                      <a:prstDash val="solid"/>
                    </a:lnL>
                    <a:lnR w="9525">
                      <a:solidFill>
                        <a:srgbClr val="BFCEC3"/>
                      </a:solidFill>
                      <a:prstDash val="solid"/>
                    </a:lnR>
                    <a:lnB w="9525">
                      <a:solidFill>
                        <a:srgbClr val="BFCEC3"/>
                      </a:solidFill>
                      <a:prstDash val="solid"/>
                    </a:lnB>
                    <a:solidFill>
                      <a:srgbClr val="EAF3EC"/>
                    </a:solidFill>
                  </a:tcPr>
                </a:tc>
                <a:tc>
                  <a:txBody>
                    <a:bodyPr/>
                    <a:lstStyle/>
                    <a:p>
                      <a:r>
                        <a:rPr sz="2025" b="0">
                          <a:solidFill>
                            <a:srgbClr val="14231E"/>
                          </a:solidFill>
                          <a:latin typeface="Arial"/>
                          <a:ea typeface="Arial"/>
                          <a:cs typeface="Arial"/>
                        </a:rPr>
                        <a:t>Superficies que fijan posición</a:t>
                      </a:r>
                    </a:p>
                  </a:txBody>
                  <a:tcPr marL="91440" marR="91440" marT="45720" marB="45720">
                    <a:lnR w="9525">
                      <a:solidFill>
                        <a:srgbClr val="BFCEC3"/>
                      </a:solidFill>
                      <a:prstDash val="solid"/>
                    </a:lnR>
                    <a:lnB w="9525">
                      <a:solidFill>
                        <a:srgbClr val="BFCEC3"/>
                      </a:solidFill>
                      <a:prstDash val="solid"/>
                    </a:lnB>
                    <a:solidFill>
                      <a:srgbClr val="EAF3EC"/>
                    </a:solidFill>
                  </a:tcPr>
                </a:tc>
              </a:tr>
              <a:tr h="718185">
                <a:tc>
                  <a:txBody>
                    <a:bodyPr/>
                    <a:lstStyle/>
                    <a:p>
                      <a:r>
                        <a:rPr sz="2025" b="0">
                          <a:solidFill>
                            <a:srgbClr val="14231E"/>
                          </a:solidFill>
                          <a:latin typeface="Arial"/>
                          <a:ea typeface="Arial"/>
                          <a:cs typeface="Arial"/>
                        </a:rPr>
                        <a:t>Punta o borde fino</a:t>
                      </a:r>
                    </a:p>
                  </a:txBody>
                  <a:tcPr marL="91440" marR="91440" marT="45720" marB="45720">
                    <a:lnL w="9525">
                      <a:solidFill>
                        <a:srgbClr val="BFCEC3"/>
                      </a:solidFill>
                      <a:prstDash val="solid"/>
                    </a:lnL>
                    <a:lnR w="9525">
                      <a:solidFill>
                        <a:srgbClr val="BFCEC3"/>
                      </a:solidFill>
                      <a:prstDash val="solid"/>
                    </a:lnR>
                    <a:lnB w="9525">
                      <a:solidFill>
                        <a:srgbClr val="BFCEC3"/>
                      </a:solidFill>
                      <a:prstDash val="solid"/>
                    </a:lnB>
                    <a:solidFill>
                      <a:srgbClr val="FCFCF8"/>
                    </a:solidFill>
                  </a:tcPr>
                </a:tc>
                <a:tc>
                  <a:txBody>
                    <a:bodyPr/>
                    <a:lstStyle/>
                    <a:p>
                      <a:r>
                        <a:rPr sz="2025" b="0">
                          <a:solidFill>
                            <a:srgbClr val="14231E"/>
                          </a:solidFill>
                          <a:latin typeface="Arial"/>
                          <a:ea typeface="Arial"/>
                          <a:cs typeface="Arial"/>
                        </a:rPr>
                        <a:t>Trayectorias que realmente se generan</a:t>
                      </a:r>
                    </a:p>
                  </a:txBody>
                  <a:tcPr marL="91440" marR="91440" marT="45720" marB="45720">
                    <a:lnR w="9525">
                      <a:solidFill>
                        <a:srgbClr val="BFCEC3"/>
                      </a:solidFill>
                      <a:prstDash val="solid"/>
                    </a:lnR>
                    <a:lnB w="9525">
                      <a:solidFill>
                        <a:srgbClr val="BFCEC3"/>
                      </a:solidFill>
                      <a:prstDash val="solid"/>
                    </a:lnB>
                    <a:solidFill>
                      <a:srgbClr val="FCFCF8"/>
                    </a:solidFill>
                  </a:tcPr>
                </a:tc>
              </a:tr>
            </a:tbl>
          </a:graphicData>
        </a:graphic>
      </p:graphicFrame>
    </p:spTree>
    <p:extLst>
      <p:ext uri="{BB962C8B-B14F-4D97-AF65-F5344CB8AC3E}">
        <p14:creationId xmlns:p14="http://schemas.microsoft.com/office/powerpoint/2010/main" val="1734663003"/>
      </p:ext>
    </p:extLst>
  </p:cSld>
</p:sld>
</file>

<file path=ppt/slides/slide8.xml><?xml version="1.0" encoding="utf-8"?>
<p:sld xmlns:p="http://schemas.openxmlformats.org/presentationml/2006/main">
  <p:cSld>
    <p:bg>
      <p:bgPr>
        <a:solidFill xmlns:a="http://schemas.openxmlformats.org/drawingml/2006/main">
          <a:srgbClr val="FCFCF8"/>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6C0EEB32-9C60-4156-8C6F-C97742579D2C}"/>
              </a:ext>
            </a:extLst>
          </p:cNvPr>
          <p:cNvSpPr>
            <a:spLocks xmlns:a="http://schemas.openxmlformats.org/drawingml/2006/main" noGrp="1"/>
          </p:cNvSpPr>
          <p:nvPr/>
        </p:nvSpPr>
        <p:spPr>
          <a:xfrm xmlns:a="http://schemas.openxmlformats.org/drawingml/2006/main">
            <a:off x="590550" y="428625"/>
            <a:ext cx="100965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75" b="1">
                <a:solidFill>
                  <a:srgbClr val="14231E"/>
                </a:solidFill>
                <a:latin typeface="Arial Narrow"/>
                <a:ea typeface="Arial Narrow"/>
                <a:cs typeface="Arial Narrow"/>
              </a:defRPr>
            </a:defPPr>
            <a:lvl1pPr>
              <a:defRPr sz="3375" b="1">
                <a:solidFill>
                  <a:srgbClr val="14231E"/>
                </a:solidFill>
                <a:latin typeface="Arial Narrow"/>
                <a:ea typeface="Arial Narrow"/>
                <a:cs typeface="Arial Narrow"/>
              </a:defRPr>
            </a:lvl1pPr>
            <a:lvl2pPr>
              <a:defRPr sz="3375" b="1">
                <a:solidFill>
                  <a:srgbClr val="14231E"/>
                </a:solidFill>
                <a:latin typeface="Arial Narrow"/>
                <a:ea typeface="Arial Narrow"/>
                <a:cs typeface="Arial Narrow"/>
              </a:defRPr>
            </a:lvl2pPr>
            <a:lvl3pPr>
              <a:defRPr sz="3375" b="1">
                <a:solidFill>
                  <a:srgbClr val="14231E"/>
                </a:solidFill>
                <a:latin typeface="Arial Narrow"/>
                <a:ea typeface="Arial Narrow"/>
                <a:cs typeface="Arial Narrow"/>
              </a:defRPr>
            </a:lvl3pPr>
            <a:lvl4pPr>
              <a:defRPr sz="3375" b="1">
                <a:solidFill>
                  <a:srgbClr val="14231E"/>
                </a:solidFill>
                <a:latin typeface="Arial Narrow"/>
                <a:ea typeface="Arial Narrow"/>
                <a:cs typeface="Arial Narrow"/>
              </a:defRPr>
            </a:lvl4pPr>
            <a:lvl5pPr>
              <a:defRPr sz="3375" b="1">
                <a:solidFill>
                  <a:srgbClr val="14231E"/>
                </a:solidFill>
                <a:latin typeface="Arial Narrow"/>
                <a:ea typeface="Arial Narrow"/>
                <a:cs typeface="Arial Narrow"/>
              </a:defRPr>
            </a:lvl5pPr>
            <a:lvl6pPr>
              <a:defRPr sz="3375" b="1">
                <a:solidFill>
                  <a:srgbClr val="14231E"/>
                </a:solidFill>
                <a:latin typeface="Arial Narrow"/>
                <a:ea typeface="Arial Narrow"/>
                <a:cs typeface="Arial Narrow"/>
              </a:defRPr>
            </a:lvl6pPr>
            <a:lvl7pPr>
              <a:defRPr sz="3375" b="1">
                <a:solidFill>
                  <a:srgbClr val="14231E"/>
                </a:solidFill>
                <a:latin typeface="Arial Narrow"/>
                <a:ea typeface="Arial Narrow"/>
                <a:cs typeface="Arial Narrow"/>
              </a:defRPr>
            </a:lvl7pPr>
            <a:lvl8pPr>
              <a:defRPr sz="3375" b="1">
                <a:solidFill>
                  <a:srgbClr val="14231E"/>
                </a:solidFill>
                <a:latin typeface="Arial Narrow"/>
                <a:ea typeface="Arial Narrow"/>
                <a:cs typeface="Arial Narrow"/>
              </a:defRPr>
            </a:lvl8pPr>
            <a:lvl9pPr>
              <a:defRPr sz="3375" b="1">
                <a:solidFill>
                  <a:srgbClr val="14231E"/>
                </a:solidFill>
                <a:latin typeface="Arial Narrow"/>
                <a:ea typeface="Arial Narrow"/>
                <a:cs typeface="Arial Narrow"/>
              </a:defRPr>
            </a:lvl9pPr>
          </a:lstStyle>
          <a:p xmlns:a="http://schemas.openxmlformats.org/drawingml/2006/main">
            <a:pPr>
              <a:defRPr sz="3375" b="1">
                <a:solidFill>
                  <a:srgbClr val="14231E"/>
                </a:solidFill>
                <a:latin typeface="Arial Narrow"/>
                <a:ea typeface="Arial Narrow"/>
                <a:cs typeface="Arial Narrow"/>
              </a:defRPr>
            </a:pPr>
            <a:r>
              <a:rPr sz="3375" b="1">
                <a:solidFill>
                  <a:srgbClr val="14231E"/>
                </a:solidFill>
                <a:latin typeface="Arial Narrow"/>
                <a:ea typeface="Arial Narrow"/>
                <a:cs typeface="Arial Narrow"/>
              </a:rPr>
              <a:t>Paredes, relleno y masa</a:t>
            </a:r>
          </a:p>
        </p:txBody>
      </p:sp>
      <p:pic>
        <p:nvPicPr>
          <p:cNvPr id="2" name="">
            <a:extLst xmlns:a="http://schemas.openxmlformats.org/drawingml/2006/main">
              <a:ext uri="{FF2B5EF4-FFF2-40B4-BE49-F238E27FC236}">
                <a16:creationId xmlns:a16="http://schemas.microsoft.com/office/drawing/2014/main" id="{CF42A679-4C51-469D-9DDD-D4EAB6A1F973}"/>
              </a:ext>
            </a:extLst>
          </p:cNvPr>
          <p:cNvPicPr>
            <a:picLocks xmlns:a="http://schemas.openxmlformats.org/drawingml/2006/main" noChangeAspect="1"/>
          </p:cNvPicPr>
          <p:nvPr/>
        </p:nvPicPr>
        <p:blipFill>
          <a:blip xmlns:r="http://schemas.openxmlformats.org/officeDocument/2006/relationships" xmlns:a="http://schemas.openxmlformats.org/drawingml/2006/main" r:embed="Rff3d69cf4b5b4503"/>
          <a:stretch xmlns:a="http://schemas.openxmlformats.org/drawingml/2006/main"/>
        </p:blipFill>
        <p:spPr>
          <a:xfrm xmlns:a="http://schemas.openxmlformats.org/drawingml/2006/main">
            <a:off x="10858500" y="337942"/>
            <a:ext cx="762000" cy="276616"/>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C5940A0D-643E-4124-8AB8-B43A6B8F3807}"/>
              </a:ext>
            </a:extLst>
          </p:cNvPr>
          <p:cNvSpPr>
            <a:spLocks xmlns:a="http://schemas.openxmlformats.org/drawingml/2006/main" noGrp="1"/>
          </p:cNvSpPr>
          <p:nvPr/>
        </p:nvSpPr>
        <p:spPr>
          <a:xfrm xmlns:a="http://schemas.openxmlformats.org/drawingml/2006/main">
            <a:off x="590550" y="6467475"/>
            <a:ext cx="108108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58665F"/>
                </a:solidFill>
                <a:latin typeface="Consolas"/>
                <a:ea typeface="Consolas"/>
                <a:cs typeface="Consolas"/>
              </a:defRPr>
            </a:defPPr>
            <a:lvl1pPr>
              <a:defRPr sz="1125" b="0">
                <a:solidFill>
                  <a:srgbClr val="58665F"/>
                </a:solidFill>
                <a:latin typeface="Consolas"/>
                <a:ea typeface="Consolas"/>
                <a:cs typeface="Consolas"/>
              </a:defRPr>
            </a:lvl1pPr>
            <a:lvl2pPr>
              <a:defRPr sz="1125" b="0">
                <a:solidFill>
                  <a:srgbClr val="58665F"/>
                </a:solidFill>
                <a:latin typeface="Consolas"/>
                <a:ea typeface="Consolas"/>
                <a:cs typeface="Consolas"/>
              </a:defRPr>
            </a:lvl2pPr>
            <a:lvl3pPr>
              <a:defRPr sz="1125" b="0">
                <a:solidFill>
                  <a:srgbClr val="58665F"/>
                </a:solidFill>
                <a:latin typeface="Consolas"/>
                <a:ea typeface="Consolas"/>
                <a:cs typeface="Consolas"/>
              </a:defRPr>
            </a:lvl3pPr>
            <a:lvl4pPr>
              <a:defRPr sz="1125" b="0">
                <a:solidFill>
                  <a:srgbClr val="58665F"/>
                </a:solidFill>
                <a:latin typeface="Consolas"/>
                <a:ea typeface="Consolas"/>
                <a:cs typeface="Consolas"/>
              </a:defRPr>
            </a:lvl4pPr>
            <a:lvl5pPr>
              <a:defRPr sz="1125" b="0">
                <a:solidFill>
                  <a:srgbClr val="58665F"/>
                </a:solidFill>
                <a:latin typeface="Consolas"/>
                <a:ea typeface="Consolas"/>
                <a:cs typeface="Consolas"/>
              </a:defRPr>
            </a:lvl5pPr>
            <a:lvl6pPr>
              <a:defRPr sz="1125" b="0">
                <a:solidFill>
                  <a:srgbClr val="58665F"/>
                </a:solidFill>
                <a:latin typeface="Consolas"/>
                <a:ea typeface="Consolas"/>
                <a:cs typeface="Consolas"/>
              </a:defRPr>
            </a:lvl6pPr>
            <a:lvl7pPr>
              <a:defRPr sz="1125" b="0">
                <a:solidFill>
                  <a:srgbClr val="58665F"/>
                </a:solidFill>
                <a:latin typeface="Consolas"/>
                <a:ea typeface="Consolas"/>
                <a:cs typeface="Consolas"/>
              </a:defRPr>
            </a:lvl7pPr>
            <a:lvl8pPr>
              <a:defRPr sz="1125" b="0">
                <a:solidFill>
                  <a:srgbClr val="58665F"/>
                </a:solidFill>
                <a:latin typeface="Consolas"/>
                <a:ea typeface="Consolas"/>
                <a:cs typeface="Consolas"/>
              </a:defRPr>
            </a:lvl8pPr>
            <a:lvl9pPr>
              <a:defRPr sz="1125" b="0">
                <a:solidFill>
                  <a:srgbClr val="58665F"/>
                </a:solidFill>
                <a:latin typeface="Consolas"/>
                <a:ea typeface="Consolas"/>
                <a:cs typeface="Consolas"/>
              </a:defRPr>
            </a:lvl9pPr>
          </a:lstStyle>
          <a:p xmlns:a="http://schemas.openxmlformats.org/drawingml/2006/main">
            <a:pPr>
              <a:defRPr sz="1125" b="0">
                <a:solidFill>
                  <a:srgbClr val="58665F"/>
                </a:solidFill>
                <a:latin typeface="Consolas"/>
                <a:ea typeface="Consolas"/>
                <a:cs typeface="Consolas"/>
              </a:defRPr>
            </a:pPr>
            <a:r>
              <a:rPr sz="1125" b="0">
                <a:solidFill>
                  <a:srgbClr val="58665F"/>
                </a:solidFill>
                <a:latin typeface="Consolas"/>
                <a:ea typeface="Consolas"/>
                <a:cs typeface="Consolas"/>
              </a:rPr>
              <a:t>MECRO   SEMANA 3   CLASE 05   08/24</a:t>
            </a:r>
          </a:p>
        </p:txBody>
      </p:sp>
      <p:sp>
        <p:nvSpPr>
          <p:cNvPr id="4" name="">
            <a:extLst xmlns:a="http://schemas.openxmlformats.org/drawingml/2006/main">
              <a:ext uri="{FF2B5EF4-FFF2-40B4-BE49-F238E27FC236}">
                <a16:creationId xmlns:a16="http://schemas.microsoft.com/office/drawing/2014/main" id="{2BFB5FC6-E774-4185-B2E2-BC55DBD6239D}"/>
              </a:ext>
            </a:extLst>
          </p:cNvPr>
          <p:cNvSpPr>
            <a:spLocks xmlns:a="http://schemas.openxmlformats.org/drawingml/2006/main" noGrp="1"/>
          </p:cNvSpPr>
          <p:nvPr/>
        </p:nvSpPr>
        <p:spPr>
          <a:xfrm xmlns:a="http://schemas.openxmlformats.org/drawingml/2006/main">
            <a:off x="590550" y="1743075"/>
            <a:ext cx="10810875" cy="425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325" b="0">
                <a:solidFill>
                  <a:srgbClr val="14231E"/>
                </a:solidFill>
                <a:latin typeface="Arial"/>
                <a:ea typeface="Arial"/>
                <a:cs typeface="Arial"/>
              </a:defRPr>
            </a:defPPr>
            <a:lvl1pPr>
              <a:defRPr sz="2325" b="0">
                <a:solidFill>
                  <a:srgbClr val="14231E"/>
                </a:solidFill>
                <a:latin typeface="Arial"/>
                <a:ea typeface="Arial"/>
                <a:cs typeface="Arial"/>
              </a:defRPr>
            </a:lvl1pPr>
            <a:lvl2pPr>
              <a:defRPr sz="2325" b="0">
                <a:solidFill>
                  <a:srgbClr val="14231E"/>
                </a:solidFill>
                <a:latin typeface="Arial"/>
                <a:ea typeface="Arial"/>
                <a:cs typeface="Arial"/>
              </a:defRPr>
            </a:lvl2pPr>
            <a:lvl3pPr>
              <a:defRPr sz="2325" b="0">
                <a:solidFill>
                  <a:srgbClr val="14231E"/>
                </a:solidFill>
                <a:latin typeface="Arial"/>
                <a:ea typeface="Arial"/>
                <a:cs typeface="Arial"/>
              </a:defRPr>
            </a:lvl3pPr>
            <a:lvl4pPr>
              <a:defRPr sz="2325" b="0">
                <a:solidFill>
                  <a:srgbClr val="14231E"/>
                </a:solidFill>
                <a:latin typeface="Arial"/>
                <a:ea typeface="Arial"/>
                <a:cs typeface="Arial"/>
              </a:defRPr>
            </a:lvl4pPr>
            <a:lvl5pPr>
              <a:defRPr sz="2325" b="0">
                <a:solidFill>
                  <a:srgbClr val="14231E"/>
                </a:solidFill>
                <a:latin typeface="Arial"/>
                <a:ea typeface="Arial"/>
                <a:cs typeface="Arial"/>
              </a:defRPr>
            </a:lvl5pPr>
            <a:lvl6pPr>
              <a:defRPr sz="2325" b="0">
                <a:solidFill>
                  <a:srgbClr val="14231E"/>
                </a:solidFill>
                <a:latin typeface="Arial"/>
                <a:ea typeface="Arial"/>
                <a:cs typeface="Arial"/>
              </a:defRPr>
            </a:lvl6pPr>
            <a:lvl7pPr>
              <a:defRPr sz="2325" b="0">
                <a:solidFill>
                  <a:srgbClr val="14231E"/>
                </a:solidFill>
                <a:latin typeface="Arial"/>
                <a:ea typeface="Arial"/>
                <a:cs typeface="Arial"/>
              </a:defRPr>
            </a:lvl7pPr>
            <a:lvl8pPr>
              <a:defRPr sz="2325" b="0">
                <a:solidFill>
                  <a:srgbClr val="14231E"/>
                </a:solidFill>
                <a:latin typeface="Arial"/>
                <a:ea typeface="Arial"/>
                <a:cs typeface="Arial"/>
              </a:defRPr>
            </a:lvl8pPr>
            <a:lvl9pPr>
              <a:defRPr sz="2325" b="0">
                <a:solidFill>
                  <a:srgbClr val="14231E"/>
                </a:solidFill>
                <a:latin typeface="Arial"/>
                <a:ea typeface="Arial"/>
                <a:cs typeface="Arial"/>
              </a:defRPr>
            </a:lvl9pPr>
          </a:lstStyle>
          <a:p xmlns:a="http://schemas.openxmlformats.org/drawingml/2006/main">
            <a:pPr>
              <a:defRPr sz="2325" b="0">
                <a:solidFill>
                  <a:srgbClr val="14231E"/>
                </a:solidFill>
                <a:latin typeface="Arial"/>
                <a:ea typeface="Arial"/>
                <a:cs typeface="Arial"/>
              </a:defRPr>
            </a:pPr>
            <a:r>
              <a:rPr sz="2325" b="0">
                <a:solidFill>
                  <a:srgbClr val="14231E"/>
                </a:solidFill>
                <a:latin typeface="Arial"/>
                <a:ea typeface="Arial"/>
                <a:cs typeface="Arial"/>
              </a:rPr>
              <a:t>Los perímetros recorren el contorno. El relleno ocupa parte de las zonas interiores que el modelo y el perfil permiten rellenar. En una pieza hueca, agregar relleno no sustituye una pared mal dibujada. En una pieza maciza puede aumentar masa y tiempo sin resolver el problema que realmente teníamos. La vista por capas permite ver qué está pasando.</a:t>
            </a:r>
          </a:p>
        </p:txBody>
      </p:sp>
    </p:spTree>
    <p:extLst>
      <p:ext uri="{BB962C8B-B14F-4D97-AF65-F5344CB8AC3E}">
        <p14:creationId xmlns:p14="http://schemas.microsoft.com/office/powerpoint/2010/main" val="2143056749"/>
      </p:ext>
    </p:extLst>
  </p:cSld>
</p:sld>
</file>

<file path=ppt/slides/slide9.xml><?xml version="1.0" encoding="utf-8"?>
<p:sld xmlns:p="http://schemas.openxmlformats.org/presentationml/2006/main">
  <p:cSld>
    <p:bg>
      <p:bgPr>
        <a:solidFill xmlns:a="http://schemas.openxmlformats.org/drawingml/2006/main">
          <a:srgbClr val="FCFCF8"/>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54B9E66E-BE04-4AF2-96F3-273D9C37F408}"/>
              </a:ext>
            </a:extLst>
          </p:cNvPr>
          <p:cNvSpPr>
            <a:spLocks xmlns:a="http://schemas.openxmlformats.org/drawingml/2006/main" noGrp="1"/>
          </p:cNvSpPr>
          <p:nvPr/>
        </p:nvSpPr>
        <p:spPr>
          <a:xfrm xmlns:a="http://schemas.openxmlformats.org/drawingml/2006/main">
            <a:off x="590550" y="428625"/>
            <a:ext cx="100965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75" b="1">
                <a:solidFill>
                  <a:srgbClr val="14231E"/>
                </a:solidFill>
                <a:latin typeface="Arial Narrow"/>
                <a:ea typeface="Arial Narrow"/>
                <a:cs typeface="Arial Narrow"/>
              </a:defRPr>
            </a:defPPr>
            <a:lvl1pPr>
              <a:defRPr sz="3375" b="1">
                <a:solidFill>
                  <a:srgbClr val="14231E"/>
                </a:solidFill>
                <a:latin typeface="Arial Narrow"/>
                <a:ea typeface="Arial Narrow"/>
                <a:cs typeface="Arial Narrow"/>
              </a:defRPr>
            </a:lvl1pPr>
            <a:lvl2pPr>
              <a:defRPr sz="3375" b="1">
                <a:solidFill>
                  <a:srgbClr val="14231E"/>
                </a:solidFill>
                <a:latin typeface="Arial Narrow"/>
                <a:ea typeface="Arial Narrow"/>
                <a:cs typeface="Arial Narrow"/>
              </a:defRPr>
            </a:lvl2pPr>
            <a:lvl3pPr>
              <a:defRPr sz="3375" b="1">
                <a:solidFill>
                  <a:srgbClr val="14231E"/>
                </a:solidFill>
                <a:latin typeface="Arial Narrow"/>
                <a:ea typeface="Arial Narrow"/>
                <a:cs typeface="Arial Narrow"/>
              </a:defRPr>
            </a:lvl3pPr>
            <a:lvl4pPr>
              <a:defRPr sz="3375" b="1">
                <a:solidFill>
                  <a:srgbClr val="14231E"/>
                </a:solidFill>
                <a:latin typeface="Arial Narrow"/>
                <a:ea typeface="Arial Narrow"/>
                <a:cs typeface="Arial Narrow"/>
              </a:defRPr>
            </a:lvl4pPr>
            <a:lvl5pPr>
              <a:defRPr sz="3375" b="1">
                <a:solidFill>
                  <a:srgbClr val="14231E"/>
                </a:solidFill>
                <a:latin typeface="Arial Narrow"/>
                <a:ea typeface="Arial Narrow"/>
                <a:cs typeface="Arial Narrow"/>
              </a:defRPr>
            </a:lvl5pPr>
            <a:lvl6pPr>
              <a:defRPr sz="3375" b="1">
                <a:solidFill>
                  <a:srgbClr val="14231E"/>
                </a:solidFill>
                <a:latin typeface="Arial Narrow"/>
                <a:ea typeface="Arial Narrow"/>
                <a:cs typeface="Arial Narrow"/>
              </a:defRPr>
            </a:lvl6pPr>
            <a:lvl7pPr>
              <a:defRPr sz="3375" b="1">
                <a:solidFill>
                  <a:srgbClr val="14231E"/>
                </a:solidFill>
                <a:latin typeface="Arial Narrow"/>
                <a:ea typeface="Arial Narrow"/>
                <a:cs typeface="Arial Narrow"/>
              </a:defRPr>
            </a:lvl7pPr>
            <a:lvl8pPr>
              <a:defRPr sz="3375" b="1">
                <a:solidFill>
                  <a:srgbClr val="14231E"/>
                </a:solidFill>
                <a:latin typeface="Arial Narrow"/>
                <a:ea typeface="Arial Narrow"/>
                <a:cs typeface="Arial Narrow"/>
              </a:defRPr>
            </a:lvl8pPr>
            <a:lvl9pPr>
              <a:defRPr sz="3375" b="1">
                <a:solidFill>
                  <a:srgbClr val="14231E"/>
                </a:solidFill>
                <a:latin typeface="Arial Narrow"/>
                <a:ea typeface="Arial Narrow"/>
                <a:cs typeface="Arial Narrow"/>
              </a:defRPr>
            </a:lvl9pPr>
          </a:lstStyle>
          <a:p xmlns:a="http://schemas.openxmlformats.org/drawingml/2006/main">
            <a:pPr>
              <a:defRPr sz="3375" b="1">
                <a:solidFill>
                  <a:srgbClr val="14231E"/>
                </a:solidFill>
                <a:latin typeface="Arial Narrow"/>
                <a:ea typeface="Arial Narrow"/>
                <a:cs typeface="Arial Narrow"/>
              </a:defRPr>
            </a:pPr>
            <a:r>
              <a:rPr sz="3375" b="1">
                <a:solidFill>
                  <a:srgbClr val="14231E"/>
                </a:solidFill>
                <a:latin typeface="Arial Narrow"/>
                <a:ea typeface="Arial Narrow"/>
                <a:cs typeface="Arial Narrow"/>
              </a:rPr>
              <a:t>Paredes, relleno y masa</a:t>
            </a:r>
          </a:p>
        </p:txBody>
      </p:sp>
      <p:pic>
        <p:nvPicPr>
          <p:cNvPr id="2" name="">
            <a:extLst xmlns:a="http://schemas.openxmlformats.org/drawingml/2006/main">
              <a:ext uri="{FF2B5EF4-FFF2-40B4-BE49-F238E27FC236}">
                <a16:creationId xmlns:a16="http://schemas.microsoft.com/office/drawing/2014/main" id="{45640B2F-1D26-476C-A4AA-D2D4835D0DFC}"/>
              </a:ext>
            </a:extLst>
          </p:cNvPr>
          <p:cNvPicPr>
            <a:picLocks xmlns:a="http://schemas.openxmlformats.org/drawingml/2006/main" noChangeAspect="1"/>
          </p:cNvPicPr>
          <p:nvPr/>
        </p:nvPicPr>
        <p:blipFill>
          <a:blip xmlns:r="http://schemas.openxmlformats.org/officeDocument/2006/relationships" xmlns:a="http://schemas.openxmlformats.org/drawingml/2006/main" r:embed="Red3d709586f74627"/>
          <a:stretch xmlns:a="http://schemas.openxmlformats.org/drawingml/2006/main"/>
        </p:blipFill>
        <p:spPr>
          <a:xfrm xmlns:a="http://schemas.openxmlformats.org/drawingml/2006/main">
            <a:off x="10858500" y="337942"/>
            <a:ext cx="762000" cy="276616"/>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AE3CF550-29A5-4D9B-A6C5-184A48C49F57}"/>
              </a:ext>
            </a:extLst>
          </p:cNvPr>
          <p:cNvSpPr>
            <a:spLocks xmlns:a="http://schemas.openxmlformats.org/drawingml/2006/main" noGrp="1"/>
          </p:cNvSpPr>
          <p:nvPr/>
        </p:nvSpPr>
        <p:spPr>
          <a:xfrm xmlns:a="http://schemas.openxmlformats.org/drawingml/2006/main">
            <a:off x="590550" y="6467475"/>
            <a:ext cx="108108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58665F"/>
                </a:solidFill>
                <a:latin typeface="Consolas"/>
                <a:ea typeface="Consolas"/>
                <a:cs typeface="Consolas"/>
              </a:defRPr>
            </a:defPPr>
            <a:lvl1pPr>
              <a:defRPr sz="1125" b="0">
                <a:solidFill>
                  <a:srgbClr val="58665F"/>
                </a:solidFill>
                <a:latin typeface="Consolas"/>
                <a:ea typeface="Consolas"/>
                <a:cs typeface="Consolas"/>
              </a:defRPr>
            </a:lvl1pPr>
            <a:lvl2pPr>
              <a:defRPr sz="1125" b="0">
                <a:solidFill>
                  <a:srgbClr val="58665F"/>
                </a:solidFill>
                <a:latin typeface="Consolas"/>
                <a:ea typeface="Consolas"/>
                <a:cs typeface="Consolas"/>
              </a:defRPr>
            </a:lvl2pPr>
            <a:lvl3pPr>
              <a:defRPr sz="1125" b="0">
                <a:solidFill>
                  <a:srgbClr val="58665F"/>
                </a:solidFill>
                <a:latin typeface="Consolas"/>
                <a:ea typeface="Consolas"/>
                <a:cs typeface="Consolas"/>
              </a:defRPr>
            </a:lvl3pPr>
            <a:lvl4pPr>
              <a:defRPr sz="1125" b="0">
                <a:solidFill>
                  <a:srgbClr val="58665F"/>
                </a:solidFill>
                <a:latin typeface="Consolas"/>
                <a:ea typeface="Consolas"/>
                <a:cs typeface="Consolas"/>
              </a:defRPr>
            </a:lvl4pPr>
            <a:lvl5pPr>
              <a:defRPr sz="1125" b="0">
                <a:solidFill>
                  <a:srgbClr val="58665F"/>
                </a:solidFill>
                <a:latin typeface="Consolas"/>
                <a:ea typeface="Consolas"/>
                <a:cs typeface="Consolas"/>
              </a:defRPr>
            </a:lvl5pPr>
            <a:lvl6pPr>
              <a:defRPr sz="1125" b="0">
                <a:solidFill>
                  <a:srgbClr val="58665F"/>
                </a:solidFill>
                <a:latin typeface="Consolas"/>
                <a:ea typeface="Consolas"/>
                <a:cs typeface="Consolas"/>
              </a:defRPr>
            </a:lvl6pPr>
            <a:lvl7pPr>
              <a:defRPr sz="1125" b="0">
                <a:solidFill>
                  <a:srgbClr val="58665F"/>
                </a:solidFill>
                <a:latin typeface="Consolas"/>
                <a:ea typeface="Consolas"/>
                <a:cs typeface="Consolas"/>
              </a:defRPr>
            </a:lvl7pPr>
            <a:lvl8pPr>
              <a:defRPr sz="1125" b="0">
                <a:solidFill>
                  <a:srgbClr val="58665F"/>
                </a:solidFill>
                <a:latin typeface="Consolas"/>
                <a:ea typeface="Consolas"/>
                <a:cs typeface="Consolas"/>
              </a:defRPr>
            </a:lvl8pPr>
            <a:lvl9pPr>
              <a:defRPr sz="1125" b="0">
                <a:solidFill>
                  <a:srgbClr val="58665F"/>
                </a:solidFill>
                <a:latin typeface="Consolas"/>
                <a:ea typeface="Consolas"/>
                <a:cs typeface="Consolas"/>
              </a:defRPr>
            </a:lvl9pPr>
          </a:lstStyle>
          <a:p xmlns:a="http://schemas.openxmlformats.org/drawingml/2006/main">
            <a:pPr>
              <a:defRPr sz="1125" b="0">
                <a:solidFill>
                  <a:srgbClr val="58665F"/>
                </a:solidFill>
                <a:latin typeface="Consolas"/>
                <a:ea typeface="Consolas"/>
                <a:cs typeface="Consolas"/>
              </a:defRPr>
            </a:pPr>
            <a:r>
              <a:rPr sz="1125" b="0">
                <a:solidFill>
                  <a:srgbClr val="58665F"/>
                </a:solidFill>
                <a:latin typeface="Consolas"/>
                <a:ea typeface="Consolas"/>
                <a:cs typeface="Consolas"/>
              </a:rPr>
              <a:t>MECRO   SEMANA 3   CLASE 05   09/24</a:t>
            </a:r>
          </a:p>
        </p:txBody>
      </p:sp>
      <p:pic>
        <p:nvPicPr>
          <p:cNvPr id="4" name="">
            <a:extLst xmlns:a="http://schemas.openxmlformats.org/drawingml/2006/main">
              <a:ext uri="{FF2B5EF4-FFF2-40B4-BE49-F238E27FC236}">
                <a16:creationId xmlns:a16="http://schemas.microsoft.com/office/drawing/2014/main" id="{88C98868-10DB-47EA-A54E-4556F888AA1D}"/>
              </a:ext>
            </a:extLst>
          </p:cNvPr>
          <p:cNvPicPr>
            <a:picLocks xmlns:a="http://schemas.openxmlformats.org/drawingml/2006/main" noChangeAspect="1"/>
          </p:cNvPicPr>
          <p:nvPr/>
        </p:nvPicPr>
        <p:blipFill>
          <a:blip xmlns:r="http://schemas.openxmlformats.org/officeDocument/2006/relationships" xmlns:a="http://schemas.openxmlformats.org/drawingml/2006/main" r:embed="Rdd440d29af434f33"/>
          <a:stretch xmlns:a="http://schemas.openxmlformats.org/drawingml/2006/main"/>
        </p:blipFill>
        <p:spPr>
          <a:xfrm xmlns:a="http://schemas.openxmlformats.org/drawingml/2006/main">
            <a:off x="590550" y="2648955"/>
            <a:ext cx="7410450" cy="1998241"/>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E9B26C3B-C9E0-43BA-9BBE-F172FBD48042}"/>
              </a:ext>
            </a:extLst>
          </p:cNvPr>
          <p:cNvSpPr>
            <a:spLocks xmlns:a="http://schemas.openxmlformats.org/drawingml/2006/main" noGrp="1"/>
          </p:cNvSpPr>
          <p:nvPr/>
        </p:nvSpPr>
        <p:spPr>
          <a:xfrm xmlns:a="http://schemas.openxmlformats.org/drawingml/2006/main">
            <a:off x="8315325" y="1781175"/>
            <a:ext cx="3248025" cy="3590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325" b="1">
                <a:solidFill>
                  <a:srgbClr val="244F3D"/>
                </a:solidFill>
                <a:latin typeface="Arial"/>
                <a:ea typeface="Arial"/>
                <a:cs typeface="Arial"/>
              </a:defRPr>
            </a:defPPr>
            <a:lvl1pPr>
              <a:defRPr sz="2325" b="1">
                <a:solidFill>
                  <a:srgbClr val="244F3D"/>
                </a:solidFill>
                <a:latin typeface="Arial"/>
                <a:ea typeface="Arial"/>
                <a:cs typeface="Arial"/>
              </a:defRPr>
            </a:lvl1pPr>
            <a:lvl2pPr>
              <a:defRPr sz="2325" b="1">
                <a:solidFill>
                  <a:srgbClr val="244F3D"/>
                </a:solidFill>
                <a:latin typeface="Arial"/>
                <a:ea typeface="Arial"/>
                <a:cs typeface="Arial"/>
              </a:defRPr>
            </a:lvl2pPr>
            <a:lvl3pPr>
              <a:defRPr sz="2325" b="1">
                <a:solidFill>
                  <a:srgbClr val="244F3D"/>
                </a:solidFill>
                <a:latin typeface="Arial"/>
                <a:ea typeface="Arial"/>
                <a:cs typeface="Arial"/>
              </a:defRPr>
            </a:lvl3pPr>
            <a:lvl4pPr>
              <a:defRPr sz="2325" b="1">
                <a:solidFill>
                  <a:srgbClr val="244F3D"/>
                </a:solidFill>
                <a:latin typeface="Arial"/>
                <a:ea typeface="Arial"/>
                <a:cs typeface="Arial"/>
              </a:defRPr>
            </a:lvl4pPr>
            <a:lvl5pPr>
              <a:defRPr sz="2325" b="1">
                <a:solidFill>
                  <a:srgbClr val="244F3D"/>
                </a:solidFill>
                <a:latin typeface="Arial"/>
                <a:ea typeface="Arial"/>
                <a:cs typeface="Arial"/>
              </a:defRPr>
            </a:lvl5pPr>
            <a:lvl6pPr>
              <a:defRPr sz="2325" b="1">
                <a:solidFill>
                  <a:srgbClr val="244F3D"/>
                </a:solidFill>
                <a:latin typeface="Arial"/>
                <a:ea typeface="Arial"/>
                <a:cs typeface="Arial"/>
              </a:defRPr>
            </a:lvl6pPr>
            <a:lvl7pPr>
              <a:defRPr sz="2325" b="1">
                <a:solidFill>
                  <a:srgbClr val="244F3D"/>
                </a:solidFill>
                <a:latin typeface="Arial"/>
                <a:ea typeface="Arial"/>
                <a:cs typeface="Arial"/>
              </a:defRPr>
            </a:lvl7pPr>
            <a:lvl8pPr>
              <a:defRPr sz="2325" b="1">
                <a:solidFill>
                  <a:srgbClr val="244F3D"/>
                </a:solidFill>
                <a:latin typeface="Arial"/>
                <a:ea typeface="Arial"/>
                <a:cs typeface="Arial"/>
              </a:defRPr>
            </a:lvl8pPr>
            <a:lvl9pPr>
              <a:defRPr sz="2325" b="1">
                <a:solidFill>
                  <a:srgbClr val="244F3D"/>
                </a:solidFill>
                <a:latin typeface="Arial"/>
                <a:ea typeface="Arial"/>
                <a:cs typeface="Arial"/>
              </a:defRPr>
            </a:lvl9pPr>
          </a:lstStyle>
          <a:p xmlns:a="http://schemas.openxmlformats.org/drawingml/2006/main">
            <a:pPr>
              <a:defRPr sz="2325" b="1">
                <a:solidFill>
                  <a:srgbClr val="244F3D"/>
                </a:solidFill>
                <a:latin typeface="Arial"/>
                <a:ea typeface="Arial"/>
                <a:cs typeface="Arial"/>
              </a:defRPr>
            </a:pPr>
            <a:r>
              <a:rPr sz="2325" b="1">
                <a:solidFill>
                  <a:srgbClr val="244F3D"/>
                </a:solidFill>
                <a:latin typeface="Arial"/>
                <a:ea typeface="Arial"/>
                <a:cs typeface="Arial"/>
              </a:rPr>
              <a:t>¿Más material resuelve la función del útil?</a:t>
            </a:r>
          </a:p>
        </p:txBody>
      </p:sp>
      <p:sp>
        <p:nvSpPr>
          <p:cNvPr id="6" name="">
            <a:extLst xmlns:a="http://schemas.openxmlformats.org/drawingml/2006/main">
              <a:ext uri="{FF2B5EF4-FFF2-40B4-BE49-F238E27FC236}">
                <a16:creationId xmlns:a16="http://schemas.microsoft.com/office/drawing/2014/main" id="{5D3A5EE2-A46D-4FD0-8DA5-EB45B30F1614}"/>
              </a:ext>
            </a:extLst>
          </p:cNvPr>
          <p:cNvSpPr>
            <a:spLocks xmlns:a="http://schemas.openxmlformats.org/drawingml/2006/main" noGrp="1"/>
          </p:cNvSpPr>
          <p:nvPr/>
        </p:nvSpPr>
        <p:spPr>
          <a:xfrm xmlns:a="http://schemas.openxmlformats.org/drawingml/2006/main">
            <a:off x="590550" y="5848350"/>
            <a:ext cx="10953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350" b="0">
                <a:solidFill>
                  <a:srgbClr val="58665F"/>
                </a:solidFill>
                <a:latin typeface="Arial"/>
                <a:ea typeface="Arial"/>
                <a:cs typeface="Arial"/>
              </a:defRPr>
            </a:defPPr>
            <a:lvl1pPr>
              <a:defRPr sz="1350" b="0">
                <a:solidFill>
                  <a:srgbClr val="58665F"/>
                </a:solidFill>
                <a:latin typeface="Arial"/>
                <a:ea typeface="Arial"/>
                <a:cs typeface="Arial"/>
              </a:defRPr>
            </a:lvl1pPr>
            <a:lvl2pPr>
              <a:defRPr sz="1350" b="0">
                <a:solidFill>
                  <a:srgbClr val="58665F"/>
                </a:solidFill>
                <a:latin typeface="Arial"/>
                <a:ea typeface="Arial"/>
                <a:cs typeface="Arial"/>
              </a:defRPr>
            </a:lvl2pPr>
            <a:lvl3pPr>
              <a:defRPr sz="1350" b="0">
                <a:solidFill>
                  <a:srgbClr val="58665F"/>
                </a:solidFill>
                <a:latin typeface="Arial"/>
                <a:ea typeface="Arial"/>
                <a:cs typeface="Arial"/>
              </a:defRPr>
            </a:lvl3pPr>
            <a:lvl4pPr>
              <a:defRPr sz="1350" b="0">
                <a:solidFill>
                  <a:srgbClr val="58665F"/>
                </a:solidFill>
                <a:latin typeface="Arial"/>
                <a:ea typeface="Arial"/>
                <a:cs typeface="Arial"/>
              </a:defRPr>
            </a:lvl4pPr>
            <a:lvl5pPr>
              <a:defRPr sz="1350" b="0">
                <a:solidFill>
                  <a:srgbClr val="58665F"/>
                </a:solidFill>
                <a:latin typeface="Arial"/>
                <a:ea typeface="Arial"/>
                <a:cs typeface="Arial"/>
              </a:defRPr>
            </a:lvl5pPr>
            <a:lvl6pPr>
              <a:defRPr sz="1350" b="0">
                <a:solidFill>
                  <a:srgbClr val="58665F"/>
                </a:solidFill>
                <a:latin typeface="Arial"/>
                <a:ea typeface="Arial"/>
                <a:cs typeface="Arial"/>
              </a:defRPr>
            </a:lvl6pPr>
            <a:lvl7pPr>
              <a:defRPr sz="1350" b="0">
                <a:solidFill>
                  <a:srgbClr val="58665F"/>
                </a:solidFill>
                <a:latin typeface="Arial"/>
                <a:ea typeface="Arial"/>
                <a:cs typeface="Arial"/>
              </a:defRPr>
            </a:lvl7pPr>
            <a:lvl8pPr>
              <a:defRPr sz="1350" b="0">
                <a:solidFill>
                  <a:srgbClr val="58665F"/>
                </a:solidFill>
                <a:latin typeface="Arial"/>
                <a:ea typeface="Arial"/>
                <a:cs typeface="Arial"/>
              </a:defRPr>
            </a:lvl8pPr>
            <a:lvl9pPr>
              <a:defRPr sz="1350" b="0">
                <a:solidFill>
                  <a:srgbClr val="58665F"/>
                </a:solidFill>
                <a:latin typeface="Arial"/>
                <a:ea typeface="Arial"/>
                <a:cs typeface="Arial"/>
              </a:defRPr>
            </a:lvl9pPr>
          </a:lstStyle>
          <a:p xmlns:a="http://schemas.openxmlformats.org/drawingml/2006/main">
            <a:pPr>
              <a:defRPr sz="1350" b="0">
                <a:solidFill>
                  <a:srgbClr val="58665F"/>
                </a:solidFill>
                <a:latin typeface="Arial"/>
                <a:ea typeface="Arial"/>
                <a:cs typeface="Arial"/>
              </a:defRPr>
            </a:pPr>
            <a:r>
              <a:rPr sz="1350" b="0">
                <a:solidFill>
                  <a:srgbClr val="58665F"/>
                </a:solidFill>
                <a:latin typeface="Arial"/>
                <a:ea typeface="Arial"/>
                <a:cs typeface="Arial"/>
              </a:rPr>
              <a:t>Prusa Research: los perímetros forman las paredes exteriores. La imagen es una referencia del laminador.</a:t>
            </a:r>
          </a:p>
        </p:txBody>
      </p:sp>
    </p:spTree>
    <p:extLst>
      <p:ext uri="{BB962C8B-B14F-4D97-AF65-F5344CB8AC3E}">
        <p14:creationId xmlns:p14="http://schemas.microsoft.com/office/powerpoint/2010/main" val="1048448844"/>
      </p:ext>
    </p:extLst>
  </p:cSld>
</p:sld>
</file>

<file path=ppt/slides/slide10.xml><?xml version="1.0" encoding="utf-8"?>
<p:sld xmlns:p="http://schemas.openxmlformats.org/presentationml/2006/main">
  <p:cSld>
    <p:bg>
      <p:bgPr>
        <a:solidFill xmlns:a="http://schemas.openxmlformats.org/drawingml/2006/main">
          <a:srgbClr val="FCFCF8"/>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3DE46CC4-5FC9-42C2-AA63-3F1374AE1949}"/>
              </a:ext>
            </a:extLst>
          </p:cNvPr>
          <p:cNvSpPr>
            <a:spLocks xmlns:a="http://schemas.openxmlformats.org/drawingml/2006/main" noGrp="1"/>
          </p:cNvSpPr>
          <p:nvPr/>
        </p:nvSpPr>
        <p:spPr>
          <a:xfrm xmlns:a="http://schemas.openxmlformats.org/drawingml/2006/main">
            <a:off x="590550" y="428625"/>
            <a:ext cx="100965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75" b="1">
                <a:solidFill>
                  <a:srgbClr val="14231E"/>
                </a:solidFill>
                <a:latin typeface="Arial Narrow"/>
                <a:ea typeface="Arial Narrow"/>
                <a:cs typeface="Arial Narrow"/>
              </a:defRPr>
            </a:defPPr>
            <a:lvl1pPr>
              <a:defRPr sz="3375" b="1">
                <a:solidFill>
                  <a:srgbClr val="14231E"/>
                </a:solidFill>
                <a:latin typeface="Arial Narrow"/>
                <a:ea typeface="Arial Narrow"/>
                <a:cs typeface="Arial Narrow"/>
              </a:defRPr>
            </a:lvl1pPr>
            <a:lvl2pPr>
              <a:defRPr sz="3375" b="1">
                <a:solidFill>
                  <a:srgbClr val="14231E"/>
                </a:solidFill>
                <a:latin typeface="Arial Narrow"/>
                <a:ea typeface="Arial Narrow"/>
                <a:cs typeface="Arial Narrow"/>
              </a:defRPr>
            </a:lvl2pPr>
            <a:lvl3pPr>
              <a:defRPr sz="3375" b="1">
                <a:solidFill>
                  <a:srgbClr val="14231E"/>
                </a:solidFill>
                <a:latin typeface="Arial Narrow"/>
                <a:ea typeface="Arial Narrow"/>
                <a:cs typeface="Arial Narrow"/>
              </a:defRPr>
            </a:lvl3pPr>
            <a:lvl4pPr>
              <a:defRPr sz="3375" b="1">
                <a:solidFill>
                  <a:srgbClr val="14231E"/>
                </a:solidFill>
                <a:latin typeface="Arial Narrow"/>
                <a:ea typeface="Arial Narrow"/>
                <a:cs typeface="Arial Narrow"/>
              </a:defRPr>
            </a:lvl4pPr>
            <a:lvl5pPr>
              <a:defRPr sz="3375" b="1">
                <a:solidFill>
                  <a:srgbClr val="14231E"/>
                </a:solidFill>
                <a:latin typeface="Arial Narrow"/>
                <a:ea typeface="Arial Narrow"/>
                <a:cs typeface="Arial Narrow"/>
              </a:defRPr>
            </a:lvl5pPr>
            <a:lvl6pPr>
              <a:defRPr sz="3375" b="1">
                <a:solidFill>
                  <a:srgbClr val="14231E"/>
                </a:solidFill>
                <a:latin typeface="Arial Narrow"/>
                <a:ea typeface="Arial Narrow"/>
                <a:cs typeface="Arial Narrow"/>
              </a:defRPr>
            </a:lvl6pPr>
            <a:lvl7pPr>
              <a:defRPr sz="3375" b="1">
                <a:solidFill>
                  <a:srgbClr val="14231E"/>
                </a:solidFill>
                <a:latin typeface="Arial Narrow"/>
                <a:ea typeface="Arial Narrow"/>
                <a:cs typeface="Arial Narrow"/>
              </a:defRPr>
            </a:lvl7pPr>
            <a:lvl8pPr>
              <a:defRPr sz="3375" b="1">
                <a:solidFill>
                  <a:srgbClr val="14231E"/>
                </a:solidFill>
                <a:latin typeface="Arial Narrow"/>
                <a:ea typeface="Arial Narrow"/>
                <a:cs typeface="Arial Narrow"/>
              </a:defRPr>
            </a:lvl8pPr>
            <a:lvl9pPr>
              <a:defRPr sz="3375" b="1">
                <a:solidFill>
                  <a:srgbClr val="14231E"/>
                </a:solidFill>
                <a:latin typeface="Arial Narrow"/>
                <a:ea typeface="Arial Narrow"/>
                <a:cs typeface="Arial Narrow"/>
              </a:defRPr>
            </a:lvl9pPr>
          </a:lstStyle>
          <a:p xmlns:a="http://schemas.openxmlformats.org/drawingml/2006/main">
            <a:pPr>
              <a:defRPr sz="3375" b="1">
                <a:solidFill>
                  <a:srgbClr val="14231E"/>
                </a:solidFill>
                <a:latin typeface="Arial Narrow"/>
                <a:ea typeface="Arial Narrow"/>
                <a:cs typeface="Arial Narrow"/>
              </a:defRPr>
            </a:pPr>
            <a:r>
              <a:rPr sz="3375" b="1">
                <a:solidFill>
                  <a:srgbClr val="14231E"/>
                </a:solidFill>
                <a:latin typeface="Arial Narrow"/>
                <a:ea typeface="Arial Narrow"/>
                <a:cs typeface="Arial Narrow"/>
              </a:rPr>
              <a:t>Mismo útil, dos perfiles de ejercicio</a:t>
            </a:r>
          </a:p>
        </p:txBody>
      </p:sp>
      <p:pic>
        <p:nvPicPr>
          <p:cNvPr id="2" name="">
            <a:extLst xmlns:a="http://schemas.openxmlformats.org/drawingml/2006/main">
              <a:ext uri="{FF2B5EF4-FFF2-40B4-BE49-F238E27FC236}">
                <a16:creationId xmlns:a16="http://schemas.microsoft.com/office/drawing/2014/main" id="{16A8A41A-BA39-4442-A72A-CFABBF141854}"/>
              </a:ext>
            </a:extLst>
          </p:cNvPr>
          <p:cNvPicPr>
            <a:picLocks xmlns:a="http://schemas.openxmlformats.org/drawingml/2006/main" noChangeAspect="1"/>
          </p:cNvPicPr>
          <p:nvPr/>
        </p:nvPicPr>
        <p:blipFill>
          <a:blip xmlns:r="http://schemas.openxmlformats.org/officeDocument/2006/relationships" xmlns:a="http://schemas.openxmlformats.org/drawingml/2006/main" r:embed="R42237dcb2bb44245"/>
          <a:stretch xmlns:a="http://schemas.openxmlformats.org/drawingml/2006/main"/>
        </p:blipFill>
        <p:spPr>
          <a:xfrm xmlns:a="http://schemas.openxmlformats.org/drawingml/2006/main">
            <a:off x="10858500" y="337942"/>
            <a:ext cx="762000" cy="276616"/>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07619D29-9C66-47A7-A94D-D46812B2509B}"/>
              </a:ext>
            </a:extLst>
          </p:cNvPr>
          <p:cNvSpPr>
            <a:spLocks xmlns:a="http://schemas.openxmlformats.org/drawingml/2006/main" noGrp="1"/>
          </p:cNvSpPr>
          <p:nvPr/>
        </p:nvSpPr>
        <p:spPr>
          <a:xfrm xmlns:a="http://schemas.openxmlformats.org/drawingml/2006/main">
            <a:off x="590550" y="6467475"/>
            <a:ext cx="108108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58665F"/>
                </a:solidFill>
                <a:latin typeface="Consolas"/>
                <a:ea typeface="Consolas"/>
                <a:cs typeface="Consolas"/>
              </a:defRPr>
            </a:defPPr>
            <a:lvl1pPr>
              <a:defRPr sz="1125" b="0">
                <a:solidFill>
                  <a:srgbClr val="58665F"/>
                </a:solidFill>
                <a:latin typeface="Consolas"/>
                <a:ea typeface="Consolas"/>
                <a:cs typeface="Consolas"/>
              </a:defRPr>
            </a:lvl1pPr>
            <a:lvl2pPr>
              <a:defRPr sz="1125" b="0">
                <a:solidFill>
                  <a:srgbClr val="58665F"/>
                </a:solidFill>
                <a:latin typeface="Consolas"/>
                <a:ea typeface="Consolas"/>
                <a:cs typeface="Consolas"/>
              </a:defRPr>
            </a:lvl2pPr>
            <a:lvl3pPr>
              <a:defRPr sz="1125" b="0">
                <a:solidFill>
                  <a:srgbClr val="58665F"/>
                </a:solidFill>
                <a:latin typeface="Consolas"/>
                <a:ea typeface="Consolas"/>
                <a:cs typeface="Consolas"/>
              </a:defRPr>
            </a:lvl3pPr>
            <a:lvl4pPr>
              <a:defRPr sz="1125" b="0">
                <a:solidFill>
                  <a:srgbClr val="58665F"/>
                </a:solidFill>
                <a:latin typeface="Consolas"/>
                <a:ea typeface="Consolas"/>
                <a:cs typeface="Consolas"/>
              </a:defRPr>
            </a:lvl4pPr>
            <a:lvl5pPr>
              <a:defRPr sz="1125" b="0">
                <a:solidFill>
                  <a:srgbClr val="58665F"/>
                </a:solidFill>
                <a:latin typeface="Consolas"/>
                <a:ea typeface="Consolas"/>
                <a:cs typeface="Consolas"/>
              </a:defRPr>
            </a:lvl5pPr>
            <a:lvl6pPr>
              <a:defRPr sz="1125" b="0">
                <a:solidFill>
                  <a:srgbClr val="58665F"/>
                </a:solidFill>
                <a:latin typeface="Consolas"/>
                <a:ea typeface="Consolas"/>
                <a:cs typeface="Consolas"/>
              </a:defRPr>
            </a:lvl6pPr>
            <a:lvl7pPr>
              <a:defRPr sz="1125" b="0">
                <a:solidFill>
                  <a:srgbClr val="58665F"/>
                </a:solidFill>
                <a:latin typeface="Consolas"/>
                <a:ea typeface="Consolas"/>
                <a:cs typeface="Consolas"/>
              </a:defRPr>
            </a:lvl7pPr>
            <a:lvl8pPr>
              <a:defRPr sz="1125" b="0">
                <a:solidFill>
                  <a:srgbClr val="58665F"/>
                </a:solidFill>
                <a:latin typeface="Consolas"/>
                <a:ea typeface="Consolas"/>
                <a:cs typeface="Consolas"/>
              </a:defRPr>
            </a:lvl8pPr>
            <a:lvl9pPr>
              <a:defRPr sz="1125" b="0">
                <a:solidFill>
                  <a:srgbClr val="58665F"/>
                </a:solidFill>
                <a:latin typeface="Consolas"/>
                <a:ea typeface="Consolas"/>
                <a:cs typeface="Consolas"/>
              </a:defRPr>
            </a:lvl9pPr>
          </a:lstStyle>
          <a:p xmlns:a="http://schemas.openxmlformats.org/drawingml/2006/main">
            <a:pPr>
              <a:defRPr sz="1125" b="0">
                <a:solidFill>
                  <a:srgbClr val="58665F"/>
                </a:solidFill>
                <a:latin typeface="Consolas"/>
                <a:ea typeface="Consolas"/>
                <a:cs typeface="Consolas"/>
              </a:defRPr>
            </a:pPr>
            <a:r>
              <a:rPr sz="1125" b="0">
                <a:solidFill>
                  <a:srgbClr val="58665F"/>
                </a:solidFill>
                <a:latin typeface="Consolas"/>
                <a:ea typeface="Consolas"/>
                <a:cs typeface="Consolas"/>
              </a:rPr>
              <a:t>MECRO   SEMANA 3   CLASE 05   10/24</a:t>
            </a:r>
          </a:p>
        </p:txBody>
      </p:sp>
      <p:graphicFrame>
        <p:nvGraphicFramePr>
          <p:cNvPr id="4" name="Chart">
            <a:extLst xmlns:a="http://schemas.openxmlformats.org/drawingml/2006/main">
              <a:ext uri="{FF2B5EF4-FFF2-40B4-BE49-F238E27FC236}">
                <a16:creationId xmlns:a16="http://schemas.microsoft.com/office/drawing/2014/main" id="{B295ECED-A25E-43C4-9AB9-F6802E04CDCD}"/>
              </a:ext>
            </a:extLst>
          </p:cNvPr>
          <p:cNvGraphicFramePr/>
          <p:nvPr/>
        </p:nvGraphicFramePr>
        <p:xfrm>
          <a:off xmlns:a="http://schemas.openxmlformats.org/drawingml/2006/main" x="590550" y="1657350"/>
          <a:ext xmlns:a="http://schemas.openxmlformats.org/drawingml/2006/main" cx="11010900" cy="3952875"/>
        </p:xfrm>
        <a:graphic xmlns:a="http://schemas.openxmlformats.org/drawingml/2006/main">
          <a:graphicData uri="http://schemas.openxmlformats.org/drawingml/2006/chart">
            <c:chart xmlns:r="http://schemas.openxmlformats.org/officeDocument/2006/relationships" xmlns:c="http://schemas.openxmlformats.org/drawingml/2006/chart" r:id="R68eae9547f404646"/>
          </a:graphicData>
        </a:graphic>
      </p:graphicFrame>
      <p:sp>
        <p:nvSpPr>
          <p:cNvPr id="5" name="">
            <a:extLst xmlns:a="http://schemas.openxmlformats.org/drawingml/2006/main">
              <a:ext uri="{FF2B5EF4-FFF2-40B4-BE49-F238E27FC236}">
                <a16:creationId xmlns:a16="http://schemas.microsoft.com/office/drawing/2014/main" id="{717BC9CF-4409-4E94-933B-C2DA08CB2EC4}"/>
              </a:ext>
            </a:extLst>
          </p:cNvPr>
          <p:cNvSpPr>
            <a:spLocks xmlns:a="http://schemas.openxmlformats.org/drawingml/2006/main" noGrp="1"/>
          </p:cNvSpPr>
          <p:nvPr/>
        </p:nvSpPr>
        <p:spPr>
          <a:xfrm xmlns:a="http://schemas.openxmlformats.org/drawingml/2006/main">
            <a:off x="590550" y="5848350"/>
            <a:ext cx="1095375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350" b="0">
                <a:solidFill>
                  <a:srgbClr val="58665F"/>
                </a:solidFill>
                <a:latin typeface="Arial"/>
                <a:ea typeface="Arial"/>
                <a:cs typeface="Arial"/>
              </a:defRPr>
            </a:defPPr>
            <a:lvl1pPr>
              <a:defRPr sz="1350" b="0">
                <a:solidFill>
                  <a:srgbClr val="58665F"/>
                </a:solidFill>
                <a:latin typeface="Arial"/>
                <a:ea typeface="Arial"/>
                <a:cs typeface="Arial"/>
              </a:defRPr>
            </a:lvl1pPr>
            <a:lvl2pPr>
              <a:defRPr sz="1350" b="0">
                <a:solidFill>
                  <a:srgbClr val="58665F"/>
                </a:solidFill>
                <a:latin typeface="Arial"/>
                <a:ea typeface="Arial"/>
                <a:cs typeface="Arial"/>
              </a:defRPr>
            </a:lvl2pPr>
            <a:lvl3pPr>
              <a:defRPr sz="1350" b="0">
                <a:solidFill>
                  <a:srgbClr val="58665F"/>
                </a:solidFill>
                <a:latin typeface="Arial"/>
                <a:ea typeface="Arial"/>
                <a:cs typeface="Arial"/>
              </a:defRPr>
            </a:lvl3pPr>
            <a:lvl4pPr>
              <a:defRPr sz="1350" b="0">
                <a:solidFill>
                  <a:srgbClr val="58665F"/>
                </a:solidFill>
                <a:latin typeface="Arial"/>
                <a:ea typeface="Arial"/>
                <a:cs typeface="Arial"/>
              </a:defRPr>
            </a:lvl4pPr>
            <a:lvl5pPr>
              <a:defRPr sz="1350" b="0">
                <a:solidFill>
                  <a:srgbClr val="58665F"/>
                </a:solidFill>
                <a:latin typeface="Arial"/>
                <a:ea typeface="Arial"/>
                <a:cs typeface="Arial"/>
              </a:defRPr>
            </a:lvl5pPr>
            <a:lvl6pPr>
              <a:defRPr sz="1350" b="0">
                <a:solidFill>
                  <a:srgbClr val="58665F"/>
                </a:solidFill>
                <a:latin typeface="Arial"/>
                <a:ea typeface="Arial"/>
                <a:cs typeface="Arial"/>
              </a:defRPr>
            </a:lvl6pPr>
            <a:lvl7pPr>
              <a:defRPr sz="1350" b="0">
                <a:solidFill>
                  <a:srgbClr val="58665F"/>
                </a:solidFill>
                <a:latin typeface="Arial"/>
                <a:ea typeface="Arial"/>
                <a:cs typeface="Arial"/>
              </a:defRPr>
            </a:lvl7pPr>
            <a:lvl8pPr>
              <a:defRPr sz="1350" b="0">
                <a:solidFill>
                  <a:srgbClr val="58665F"/>
                </a:solidFill>
                <a:latin typeface="Arial"/>
                <a:ea typeface="Arial"/>
                <a:cs typeface="Arial"/>
              </a:defRPr>
            </a:lvl8pPr>
            <a:lvl9pPr>
              <a:defRPr sz="1350" b="0">
                <a:solidFill>
                  <a:srgbClr val="58665F"/>
                </a:solidFill>
                <a:latin typeface="Arial"/>
                <a:ea typeface="Arial"/>
                <a:cs typeface="Arial"/>
              </a:defRPr>
            </a:lvl9pPr>
          </a:lstStyle>
          <a:p xmlns:a="http://schemas.openxmlformats.org/drawingml/2006/main">
            <a:pPr>
              <a:defRPr sz="1350" b="0">
                <a:solidFill>
                  <a:srgbClr val="58665F"/>
                </a:solidFill>
                <a:latin typeface="Arial"/>
                <a:ea typeface="Arial"/>
                <a:cs typeface="Arial"/>
              </a:defRPr>
            </a:pPr>
            <a:r>
              <a:rPr sz="1350" b="0">
                <a:solidFill>
                  <a:srgbClr val="58665F"/>
                </a:solidFill>
                <a:latin typeface="Arial"/>
                <a:ea typeface="Arial"/>
                <a:cs typeface="Arial"/>
              </a:rPr>
              <a:t>Datos didácticos de laminador. La función debe comprobarse en la pieza física.</a:t>
            </a:r>
          </a:p>
        </p:txBody>
      </p:sp>
    </p:spTree>
    <p:extLst>
      <p:ext uri="{BB962C8B-B14F-4D97-AF65-F5344CB8AC3E}">
        <p14:creationId xmlns:p14="http://schemas.microsoft.com/office/powerpoint/2010/main" val="727234516"/>
      </p:ext>
    </p:extLst>
  </p:cSld>
</p:sld>
</file>

<file path=ppt/slides/slide11.xml><?xml version="1.0" encoding="utf-8"?>
<p:sld xmlns:p="http://schemas.openxmlformats.org/presentationml/2006/main">
  <p:cSld>
    <p:bg>
      <p:bgPr>
        <a:solidFill xmlns:a="http://schemas.openxmlformats.org/drawingml/2006/main">
          <a:srgbClr val="FCFCF8"/>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0497675F-DF36-4989-959D-1C65530BF491}"/>
              </a:ext>
            </a:extLst>
          </p:cNvPr>
          <p:cNvSpPr>
            <a:spLocks xmlns:a="http://schemas.openxmlformats.org/drawingml/2006/main" noGrp="1"/>
          </p:cNvSpPr>
          <p:nvPr/>
        </p:nvSpPr>
        <p:spPr>
          <a:xfrm xmlns:a="http://schemas.openxmlformats.org/drawingml/2006/main">
            <a:off x="590550" y="428625"/>
            <a:ext cx="100965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75" b="1">
                <a:solidFill>
                  <a:srgbClr val="14231E"/>
                </a:solidFill>
                <a:latin typeface="Arial Narrow"/>
                <a:ea typeface="Arial Narrow"/>
                <a:cs typeface="Arial Narrow"/>
              </a:defRPr>
            </a:defPPr>
            <a:lvl1pPr>
              <a:defRPr sz="3375" b="1">
                <a:solidFill>
                  <a:srgbClr val="14231E"/>
                </a:solidFill>
                <a:latin typeface="Arial Narrow"/>
                <a:ea typeface="Arial Narrow"/>
                <a:cs typeface="Arial Narrow"/>
              </a:defRPr>
            </a:lvl1pPr>
            <a:lvl2pPr>
              <a:defRPr sz="3375" b="1">
                <a:solidFill>
                  <a:srgbClr val="14231E"/>
                </a:solidFill>
                <a:latin typeface="Arial Narrow"/>
                <a:ea typeface="Arial Narrow"/>
                <a:cs typeface="Arial Narrow"/>
              </a:defRPr>
            </a:lvl2pPr>
            <a:lvl3pPr>
              <a:defRPr sz="3375" b="1">
                <a:solidFill>
                  <a:srgbClr val="14231E"/>
                </a:solidFill>
                <a:latin typeface="Arial Narrow"/>
                <a:ea typeface="Arial Narrow"/>
                <a:cs typeface="Arial Narrow"/>
              </a:defRPr>
            </a:lvl3pPr>
            <a:lvl4pPr>
              <a:defRPr sz="3375" b="1">
                <a:solidFill>
                  <a:srgbClr val="14231E"/>
                </a:solidFill>
                <a:latin typeface="Arial Narrow"/>
                <a:ea typeface="Arial Narrow"/>
                <a:cs typeface="Arial Narrow"/>
              </a:defRPr>
            </a:lvl4pPr>
            <a:lvl5pPr>
              <a:defRPr sz="3375" b="1">
                <a:solidFill>
                  <a:srgbClr val="14231E"/>
                </a:solidFill>
                <a:latin typeface="Arial Narrow"/>
                <a:ea typeface="Arial Narrow"/>
                <a:cs typeface="Arial Narrow"/>
              </a:defRPr>
            </a:lvl5pPr>
            <a:lvl6pPr>
              <a:defRPr sz="3375" b="1">
                <a:solidFill>
                  <a:srgbClr val="14231E"/>
                </a:solidFill>
                <a:latin typeface="Arial Narrow"/>
                <a:ea typeface="Arial Narrow"/>
                <a:cs typeface="Arial Narrow"/>
              </a:defRPr>
            </a:lvl6pPr>
            <a:lvl7pPr>
              <a:defRPr sz="3375" b="1">
                <a:solidFill>
                  <a:srgbClr val="14231E"/>
                </a:solidFill>
                <a:latin typeface="Arial Narrow"/>
                <a:ea typeface="Arial Narrow"/>
                <a:cs typeface="Arial Narrow"/>
              </a:defRPr>
            </a:lvl7pPr>
            <a:lvl8pPr>
              <a:defRPr sz="3375" b="1">
                <a:solidFill>
                  <a:srgbClr val="14231E"/>
                </a:solidFill>
                <a:latin typeface="Arial Narrow"/>
                <a:ea typeface="Arial Narrow"/>
                <a:cs typeface="Arial Narrow"/>
              </a:defRPr>
            </a:lvl8pPr>
            <a:lvl9pPr>
              <a:defRPr sz="3375" b="1">
                <a:solidFill>
                  <a:srgbClr val="14231E"/>
                </a:solidFill>
                <a:latin typeface="Arial Narrow"/>
                <a:ea typeface="Arial Narrow"/>
                <a:cs typeface="Arial Narrow"/>
              </a:defRPr>
            </a:lvl9pPr>
          </a:lstStyle>
          <a:p xmlns:a="http://schemas.openxmlformats.org/drawingml/2006/main">
            <a:pPr>
              <a:defRPr sz="3375" b="1">
                <a:solidFill>
                  <a:srgbClr val="14231E"/>
                </a:solidFill>
                <a:latin typeface="Arial Narrow"/>
                <a:ea typeface="Arial Narrow"/>
                <a:cs typeface="Arial Narrow"/>
              </a:defRPr>
            </a:pPr>
            <a:r>
              <a:rPr sz="3375" b="1">
                <a:solidFill>
                  <a:srgbClr val="14231E"/>
                </a:solidFill>
                <a:latin typeface="Arial Narrow"/>
                <a:ea typeface="Arial Narrow"/>
                <a:cs typeface="Arial Narrow"/>
              </a:rPr>
              <a:t>Práctica en el laminador</a:t>
            </a:r>
          </a:p>
        </p:txBody>
      </p:sp>
      <p:pic>
        <p:nvPicPr>
          <p:cNvPr id="2" name="">
            <a:extLst xmlns:a="http://schemas.openxmlformats.org/drawingml/2006/main">
              <a:ext uri="{FF2B5EF4-FFF2-40B4-BE49-F238E27FC236}">
                <a16:creationId xmlns:a16="http://schemas.microsoft.com/office/drawing/2014/main" id="{4E95FECF-BDC4-4ECE-A12B-ED753B2BD9F4}"/>
              </a:ext>
            </a:extLst>
          </p:cNvPr>
          <p:cNvPicPr>
            <a:picLocks xmlns:a="http://schemas.openxmlformats.org/drawingml/2006/main" noChangeAspect="1"/>
          </p:cNvPicPr>
          <p:nvPr/>
        </p:nvPicPr>
        <p:blipFill>
          <a:blip xmlns:r="http://schemas.openxmlformats.org/officeDocument/2006/relationships" xmlns:a="http://schemas.openxmlformats.org/drawingml/2006/main" r:embed="R20f38b697db549f4"/>
          <a:stretch xmlns:a="http://schemas.openxmlformats.org/drawingml/2006/main"/>
        </p:blipFill>
        <p:spPr>
          <a:xfrm xmlns:a="http://schemas.openxmlformats.org/drawingml/2006/main">
            <a:off x="10858500" y="337942"/>
            <a:ext cx="762000" cy="276616"/>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28854C05-3095-4371-8C1B-5551FAA9E9FD}"/>
              </a:ext>
            </a:extLst>
          </p:cNvPr>
          <p:cNvSpPr>
            <a:spLocks xmlns:a="http://schemas.openxmlformats.org/drawingml/2006/main" noGrp="1"/>
          </p:cNvSpPr>
          <p:nvPr/>
        </p:nvSpPr>
        <p:spPr>
          <a:xfrm xmlns:a="http://schemas.openxmlformats.org/drawingml/2006/main">
            <a:off x="590550" y="6467475"/>
            <a:ext cx="108108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58665F"/>
                </a:solidFill>
                <a:latin typeface="Consolas"/>
                <a:ea typeface="Consolas"/>
                <a:cs typeface="Consolas"/>
              </a:defRPr>
            </a:defPPr>
            <a:lvl1pPr>
              <a:defRPr sz="1125" b="0">
                <a:solidFill>
                  <a:srgbClr val="58665F"/>
                </a:solidFill>
                <a:latin typeface="Consolas"/>
                <a:ea typeface="Consolas"/>
                <a:cs typeface="Consolas"/>
              </a:defRPr>
            </a:lvl1pPr>
            <a:lvl2pPr>
              <a:defRPr sz="1125" b="0">
                <a:solidFill>
                  <a:srgbClr val="58665F"/>
                </a:solidFill>
                <a:latin typeface="Consolas"/>
                <a:ea typeface="Consolas"/>
                <a:cs typeface="Consolas"/>
              </a:defRPr>
            </a:lvl2pPr>
            <a:lvl3pPr>
              <a:defRPr sz="1125" b="0">
                <a:solidFill>
                  <a:srgbClr val="58665F"/>
                </a:solidFill>
                <a:latin typeface="Consolas"/>
                <a:ea typeface="Consolas"/>
                <a:cs typeface="Consolas"/>
              </a:defRPr>
            </a:lvl3pPr>
            <a:lvl4pPr>
              <a:defRPr sz="1125" b="0">
                <a:solidFill>
                  <a:srgbClr val="58665F"/>
                </a:solidFill>
                <a:latin typeface="Consolas"/>
                <a:ea typeface="Consolas"/>
                <a:cs typeface="Consolas"/>
              </a:defRPr>
            </a:lvl4pPr>
            <a:lvl5pPr>
              <a:defRPr sz="1125" b="0">
                <a:solidFill>
                  <a:srgbClr val="58665F"/>
                </a:solidFill>
                <a:latin typeface="Consolas"/>
                <a:ea typeface="Consolas"/>
                <a:cs typeface="Consolas"/>
              </a:defRPr>
            </a:lvl5pPr>
            <a:lvl6pPr>
              <a:defRPr sz="1125" b="0">
                <a:solidFill>
                  <a:srgbClr val="58665F"/>
                </a:solidFill>
                <a:latin typeface="Consolas"/>
                <a:ea typeface="Consolas"/>
                <a:cs typeface="Consolas"/>
              </a:defRPr>
            </a:lvl6pPr>
            <a:lvl7pPr>
              <a:defRPr sz="1125" b="0">
                <a:solidFill>
                  <a:srgbClr val="58665F"/>
                </a:solidFill>
                <a:latin typeface="Consolas"/>
                <a:ea typeface="Consolas"/>
                <a:cs typeface="Consolas"/>
              </a:defRPr>
            </a:lvl7pPr>
            <a:lvl8pPr>
              <a:defRPr sz="1125" b="0">
                <a:solidFill>
                  <a:srgbClr val="58665F"/>
                </a:solidFill>
                <a:latin typeface="Consolas"/>
                <a:ea typeface="Consolas"/>
                <a:cs typeface="Consolas"/>
              </a:defRPr>
            </a:lvl8pPr>
            <a:lvl9pPr>
              <a:defRPr sz="1125" b="0">
                <a:solidFill>
                  <a:srgbClr val="58665F"/>
                </a:solidFill>
                <a:latin typeface="Consolas"/>
                <a:ea typeface="Consolas"/>
                <a:cs typeface="Consolas"/>
              </a:defRPr>
            </a:lvl9pPr>
          </a:lstStyle>
          <a:p xmlns:a="http://schemas.openxmlformats.org/drawingml/2006/main">
            <a:pPr>
              <a:defRPr sz="1125" b="0">
                <a:solidFill>
                  <a:srgbClr val="58665F"/>
                </a:solidFill>
                <a:latin typeface="Consolas"/>
                <a:ea typeface="Consolas"/>
                <a:cs typeface="Consolas"/>
              </a:defRPr>
            </a:pPr>
            <a:r>
              <a:rPr sz="1125" b="0">
                <a:solidFill>
                  <a:srgbClr val="58665F"/>
                </a:solidFill>
                <a:latin typeface="Consolas"/>
                <a:ea typeface="Consolas"/>
                <a:cs typeface="Consolas"/>
              </a:rPr>
              <a:t>MECRO   SEMANA 3   CLASE 05   11/24</a:t>
            </a:r>
          </a:p>
        </p:txBody>
      </p:sp>
      <p:sp>
        <p:nvSpPr>
          <p:cNvPr id="4" name="">
            <a:extLst xmlns:a="http://schemas.openxmlformats.org/drawingml/2006/main">
              <a:ext uri="{FF2B5EF4-FFF2-40B4-BE49-F238E27FC236}">
                <a16:creationId xmlns:a16="http://schemas.microsoft.com/office/drawing/2014/main" id="{EFCEDFF4-AA35-4F94-AA2F-3F9A8044583F}"/>
              </a:ext>
            </a:extLst>
          </p:cNvPr>
          <p:cNvSpPr>
            <a:spLocks xmlns:a="http://schemas.openxmlformats.org/drawingml/2006/main" noGrp="1"/>
          </p:cNvSpPr>
          <p:nvPr/>
        </p:nvSpPr>
        <p:spPr>
          <a:xfrm xmlns:a="http://schemas.openxmlformats.org/drawingml/2006/main">
            <a:off x="590550" y="1743075"/>
            <a:ext cx="10810875" cy="425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325" b="0">
                <a:solidFill>
                  <a:srgbClr val="14231E"/>
                </a:solidFill>
                <a:latin typeface="Arial"/>
                <a:ea typeface="Arial"/>
                <a:cs typeface="Arial"/>
              </a:defRPr>
            </a:defPPr>
            <a:lvl1pPr>
              <a:defRPr sz="2325" b="0">
                <a:solidFill>
                  <a:srgbClr val="14231E"/>
                </a:solidFill>
                <a:latin typeface="Arial"/>
                <a:ea typeface="Arial"/>
                <a:cs typeface="Arial"/>
              </a:defRPr>
            </a:lvl1pPr>
            <a:lvl2pPr>
              <a:defRPr sz="2325" b="0">
                <a:solidFill>
                  <a:srgbClr val="14231E"/>
                </a:solidFill>
                <a:latin typeface="Arial"/>
                <a:ea typeface="Arial"/>
                <a:cs typeface="Arial"/>
              </a:defRPr>
            </a:lvl2pPr>
            <a:lvl3pPr>
              <a:defRPr sz="2325" b="0">
                <a:solidFill>
                  <a:srgbClr val="14231E"/>
                </a:solidFill>
                <a:latin typeface="Arial"/>
                <a:ea typeface="Arial"/>
                <a:cs typeface="Arial"/>
              </a:defRPr>
            </a:lvl3pPr>
            <a:lvl4pPr>
              <a:defRPr sz="2325" b="0">
                <a:solidFill>
                  <a:srgbClr val="14231E"/>
                </a:solidFill>
                <a:latin typeface="Arial"/>
                <a:ea typeface="Arial"/>
                <a:cs typeface="Arial"/>
              </a:defRPr>
            </a:lvl4pPr>
            <a:lvl5pPr>
              <a:defRPr sz="2325" b="0">
                <a:solidFill>
                  <a:srgbClr val="14231E"/>
                </a:solidFill>
                <a:latin typeface="Arial"/>
                <a:ea typeface="Arial"/>
                <a:cs typeface="Arial"/>
              </a:defRPr>
            </a:lvl5pPr>
            <a:lvl6pPr>
              <a:defRPr sz="2325" b="0">
                <a:solidFill>
                  <a:srgbClr val="14231E"/>
                </a:solidFill>
                <a:latin typeface="Arial"/>
                <a:ea typeface="Arial"/>
                <a:cs typeface="Arial"/>
              </a:defRPr>
            </a:lvl6pPr>
            <a:lvl7pPr>
              <a:defRPr sz="2325" b="0">
                <a:solidFill>
                  <a:srgbClr val="14231E"/>
                </a:solidFill>
                <a:latin typeface="Arial"/>
                <a:ea typeface="Arial"/>
                <a:cs typeface="Arial"/>
              </a:defRPr>
            </a:lvl7pPr>
            <a:lvl8pPr>
              <a:defRPr sz="2325" b="0">
                <a:solidFill>
                  <a:srgbClr val="14231E"/>
                </a:solidFill>
                <a:latin typeface="Arial"/>
                <a:ea typeface="Arial"/>
                <a:cs typeface="Arial"/>
              </a:defRPr>
            </a:lvl8pPr>
            <a:lvl9pPr>
              <a:defRPr sz="2325" b="0">
                <a:solidFill>
                  <a:srgbClr val="14231E"/>
                </a:solidFill>
                <a:latin typeface="Arial"/>
                <a:ea typeface="Arial"/>
                <a:cs typeface="Arial"/>
              </a:defRPr>
            </a:lvl9pPr>
          </a:lstStyle>
          <a:p xmlns:a="http://schemas.openxmlformats.org/drawingml/2006/main">
            <a:pPr>
              <a:defRPr sz="2325" b="0">
                <a:solidFill>
                  <a:srgbClr val="14231E"/>
                </a:solidFill>
                <a:latin typeface="Arial"/>
                <a:ea typeface="Arial"/>
                <a:cs typeface="Arial"/>
              </a:defRPr>
            </a:pPr>
            <a:r>
              <a:rPr sz="2325" b="0">
                <a:solidFill>
                  <a:srgbClr val="14231E"/>
                </a:solidFill>
                <a:latin typeface="Arial"/>
                <a:ea typeface="Arial"/>
                <a:cs typeface="Arial"/>
              </a:rPr>
              <a:t>Si una pared desaparece en la vista por capas, revisa el modelo y el perfil antes de imprimir. Ver la silueta exterior completa no garantiza que se vayan a depositar todas las trayectorias necesarias.</a:t>
            </a:r>
          </a:p>
        </p:txBody>
      </p:sp>
    </p:spTree>
    <p:extLst>
      <p:ext uri="{BB962C8B-B14F-4D97-AF65-F5344CB8AC3E}">
        <p14:creationId xmlns:p14="http://schemas.microsoft.com/office/powerpoint/2010/main" val="1547076753"/>
      </p:ext>
    </p:extLst>
  </p:cSld>
</p:sld>
</file>

<file path=ppt/slides/slide12.xml><?xml version="1.0" encoding="utf-8"?>
<p:sld xmlns:p="http://schemas.openxmlformats.org/presentationml/2006/main">
  <p:cSld>
    <p:bg>
      <p:bgPr>
        <a:solidFill xmlns:a="http://schemas.openxmlformats.org/drawingml/2006/main">
          <a:srgbClr val="FCFCF8"/>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E44FDC39-EDC4-4F28-B540-CD527719E58E}"/>
              </a:ext>
            </a:extLst>
          </p:cNvPr>
          <p:cNvSpPr>
            <a:spLocks xmlns:a="http://schemas.openxmlformats.org/drawingml/2006/main" noGrp="1"/>
          </p:cNvSpPr>
          <p:nvPr/>
        </p:nvSpPr>
        <p:spPr>
          <a:xfrm xmlns:a="http://schemas.openxmlformats.org/drawingml/2006/main">
            <a:off x="590550" y="428625"/>
            <a:ext cx="100965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75" b="1">
                <a:solidFill>
                  <a:srgbClr val="14231E"/>
                </a:solidFill>
                <a:latin typeface="Arial Narrow"/>
                <a:ea typeface="Arial Narrow"/>
                <a:cs typeface="Arial Narrow"/>
              </a:defRPr>
            </a:defPPr>
            <a:lvl1pPr>
              <a:defRPr sz="3375" b="1">
                <a:solidFill>
                  <a:srgbClr val="14231E"/>
                </a:solidFill>
                <a:latin typeface="Arial Narrow"/>
                <a:ea typeface="Arial Narrow"/>
                <a:cs typeface="Arial Narrow"/>
              </a:defRPr>
            </a:lvl1pPr>
            <a:lvl2pPr>
              <a:defRPr sz="3375" b="1">
                <a:solidFill>
                  <a:srgbClr val="14231E"/>
                </a:solidFill>
                <a:latin typeface="Arial Narrow"/>
                <a:ea typeface="Arial Narrow"/>
                <a:cs typeface="Arial Narrow"/>
              </a:defRPr>
            </a:lvl2pPr>
            <a:lvl3pPr>
              <a:defRPr sz="3375" b="1">
                <a:solidFill>
                  <a:srgbClr val="14231E"/>
                </a:solidFill>
                <a:latin typeface="Arial Narrow"/>
                <a:ea typeface="Arial Narrow"/>
                <a:cs typeface="Arial Narrow"/>
              </a:defRPr>
            </a:lvl3pPr>
            <a:lvl4pPr>
              <a:defRPr sz="3375" b="1">
                <a:solidFill>
                  <a:srgbClr val="14231E"/>
                </a:solidFill>
                <a:latin typeface="Arial Narrow"/>
                <a:ea typeface="Arial Narrow"/>
                <a:cs typeface="Arial Narrow"/>
              </a:defRPr>
            </a:lvl4pPr>
            <a:lvl5pPr>
              <a:defRPr sz="3375" b="1">
                <a:solidFill>
                  <a:srgbClr val="14231E"/>
                </a:solidFill>
                <a:latin typeface="Arial Narrow"/>
                <a:ea typeface="Arial Narrow"/>
                <a:cs typeface="Arial Narrow"/>
              </a:defRPr>
            </a:lvl5pPr>
            <a:lvl6pPr>
              <a:defRPr sz="3375" b="1">
                <a:solidFill>
                  <a:srgbClr val="14231E"/>
                </a:solidFill>
                <a:latin typeface="Arial Narrow"/>
                <a:ea typeface="Arial Narrow"/>
                <a:cs typeface="Arial Narrow"/>
              </a:defRPr>
            </a:lvl6pPr>
            <a:lvl7pPr>
              <a:defRPr sz="3375" b="1">
                <a:solidFill>
                  <a:srgbClr val="14231E"/>
                </a:solidFill>
                <a:latin typeface="Arial Narrow"/>
                <a:ea typeface="Arial Narrow"/>
                <a:cs typeface="Arial Narrow"/>
              </a:defRPr>
            </a:lvl7pPr>
            <a:lvl8pPr>
              <a:defRPr sz="3375" b="1">
                <a:solidFill>
                  <a:srgbClr val="14231E"/>
                </a:solidFill>
                <a:latin typeface="Arial Narrow"/>
                <a:ea typeface="Arial Narrow"/>
                <a:cs typeface="Arial Narrow"/>
              </a:defRPr>
            </a:lvl8pPr>
            <a:lvl9pPr>
              <a:defRPr sz="3375" b="1">
                <a:solidFill>
                  <a:srgbClr val="14231E"/>
                </a:solidFill>
                <a:latin typeface="Arial Narrow"/>
                <a:ea typeface="Arial Narrow"/>
                <a:cs typeface="Arial Narrow"/>
              </a:defRPr>
            </a:lvl9pPr>
          </a:lstStyle>
          <a:p xmlns:a="http://schemas.openxmlformats.org/drawingml/2006/main">
            <a:pPr>
              <a:defRPr sz="3375" b="1">
                <a:solidFill>
                  <a:srgbClr val="14231E"/>
                </a:solidFill>
                <a:latin typeface="Arial Narrow"/>
                <a:ea typeface="Arial Narrow"/>
                <a:cs typeface="Arial Narrow"/>
              </a:defRPr>
            </a:pPr>
            <a:r>
              <a:rPr sz="3375" b="1">
                <a:solidFill>
                  <a:srgbClr val="14231E"/>
                </a:solidFill>
                <a:latin typeface="Arial Narrow"/>
                <a:ea typeface="Arial Narrow"/>
                <a:cs typeface="Arial Narrow"/>
              </a:rPr>
              <a:t>Práctica en el laminador</a:t>
            </a:r>
          </a:p>
        </p:txBody>
      </p:sp>
      <p:pic>
        <p:nvPicPr>
          <p:cNvPr id="2" name="">
            <a:extLst xmlns:a="http://schemas.openxmlformats.org/drawingml/2006/main">
              <a:ext uri="{FF2B5EF4-FFF2-40B4-BE49-F238E27FC236}">
                <a16:creationId xmlns:a16="http://schemas.microsoft.com/office/drawing/2014/main" id="{0CACC8D8-8CD1-4314-A932-B83C755AB839}"/>
              </a:ext>
            </a:extLst>
          </p:cNvPr>
          <p:cNvPicPr>
            <a:picLocks xmlns:a="http://schemas.openxmlformats.org/drawingml/2006/main" noChangeAspect="1"/>
          </p:cNvPicPr>
          <p:nvPr/>
        </p:nvPicPr>
        <p:blipFill>
          <a:blip xmlns:r="http://schemas.openxmlformats.org/officeDocument/2006/relationships" xmlns:a="http://schemas.openxmlformats.org/drawingml/2006/main" r:embed="Rc784680b10a040f7"/>
          <a:stretch xmlns:a="http://schemas.openxmlformats.org/drawingml/2006/main"/>
        </p:blipFill>
        <p:spPr>
          <a:xfrm xmlns:a="http://schemas.openxmlformats.org/drawingml/2006/main">
            <a:off x="10858500" y="337942"/>
            <a:ext cx="762000" cy="276616"/>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0FB2D1FB-78E7-4025-9868-9363EB27E9DF}"/>
              </a:ext>
            </a:extLst>
          </p:cNvPr>
          <p:cNvSpPr>
            <a:spLocks xmlns:a="http://schemas.openxmlformats.org/drawingml/2006/main" noGrp="1"/>
          </p:cNvSpPr>
          <p:nvPr/>
        </p:nvSpPr>
        <p:spPr>
          <a:xfrm xmlns:a="http://schemas.openxmlformats.org/drawingml/2006/main">
            <a:off x="590550" y="6467475"/>
            <a:ext cx="108108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58665F"/>
                </a:solidFill>
                <a:latin typeface="Consolas"/>
                <a:ea typeface="Consolas"/>
                <a:cs typeface="Consolas"/>
              </a:defRPr>
            </a:defPPr>
            <a:lvl1pPr>
              <a:defRPr sz="1125" b="0">
                <a:solidFill>
                  <a:srgbClr val="58665F"/>
                </a:solidFill>
                <a:latin typeface="Consolas"/>
                <a:ea typeface="Consolas"/>
                <a:cs typeface="Consolas"/>
              </a:defRPr>
            </a:lvl1pPr>
            <a:lvl2pPr>
              <a:defRPr sz="1125" b="0">
                <a:solidFill>
                  <a:srgbClr val="58665F"/>
                </a:solidFill>
                <a:latin typeface="Consolas"/>
                <a:ea typeface="Consolas"/>
                <a:cs typeface="Consolas"/>
              </a:defRPr>
            </a:lvl2pPr>
            <a:lvl3pPr>
              <a:defRPr sz="1125" b="0">
                <a:solidFill>
                  <a:srgbClr val="58665F"/>
                </a:solidFill>
                <a:latin typeface="Consolas"/>
                <a:ea typeface="Consolas"/>
                <a:cs typeface="Consolas"/>
              </a:defRPr>
            </a:lvl3pPr>
            <a:lvl4pPr>
              <a:defRPr sz="1125" b="0">
                <a:solidFill>
                  <a:srgbClr val="58665F"/>
                </a:solidFill>
                <a:latin typeface="Consolas"/>
                <a:ea typeface="Consolas"/>
                <a:cs typeface="Consolas"/>
              </a:defRPr>
            </a:lvl4pPr>
            <a:lvl5pPr>
              <a:defRPr sz="1125" b="0">
                <a:solidFill>
                  <a:srgbClr val="58665F"/>
                </a:solidFill>
                <a:latin typeface="Consolas"/>
                <a:ea typeface="Consolas"/>
                <a:cs typeface="Consolas"/>
              </a:defRPr>
            </a:lvl5pPr>
            <a:lvl6pPr>
              <a:defRPr sz="1125" b="0">
                <a:solidFill>
                  <a:srgbClr val="58665F"/>
                </a:solidFill>
                <a:latin typeface="Consolas"/>
                <a:ea typeface="Consolas"/>
                <a:cs typeface="Consolas"/>
              </a:defRPr>
            </a:lvl6pPr>
            <a:lvl7pPr>
              <a:defRPr sz="1125" b="0">
                <a:solidFill>
                  <a:srgbClr val="58665F"/>
                </a:solidFill>
                <a:latin typeface="Consolas"/>
                <a:ea typeface="Consolas"/>
                <a:cs typeface="Consolas"/>
              </a:defRPr>
            </a:lvl7pPr>
            <a:lvl8pPr>
              <a:defRPr sz="1125" b="0">
                <a:solidFill>
                  <a:srgbClr val="58665F"/>
                </a:solidFill>
                <a:latin typeface="Consolas"/>
                <a:ea typeface="Consolas"/>
                <a:cs typeface="Consolas"/>
              </a:defRPr>
            </a:lvl8pPr>
            <a:lvl9pPr>
              <a:defRPr sz="1125" b="0">
                <a:solidFill>
                  <a:srgbClr val="58665F"/>
                </a:solidFill>
                <a:latin typeface="Consolas"/>
                <a:ea typeface="Consolas"/>
                <a:cs typeface="Consolas"/>
              </a:defRPr>
            </a:lvl9pPr>
          </a:lstStyle>
          <a:p xmlns:a="http://schemas.openxmlformats.org/drawingml/2006/main">
            <a:pPr>
              <a:defRPr sz="1125" b="0">
                <a:solidFill>
                  <a:srgbClr val="58665F"/>
                </a:solidFill>
                <a:latin typeface="Consolas"/>
                <a:ea typeface="Consolas"/>
                <a:cs typeface="Consolas"/>
              </a:defRPr>
            </a:pPr>
            <a:r>
              <a:rPr sz="1125" b="0">
                <a:solidFill>
                  <a:srgbClr val="58665F"/>
                </a:solidFill>
                <a:latin typeface="Consolas"/>
                <a:ea typeface="Consolas"/>
                <a:cs typeface="Consolas"/>
              </a:rPr>
              <a:t>MECRO   SEMANA 3   CLASE 05   12/24</a:t>
            </a:r>
          </a:p>
        </p:txBody>
      </p:sp>
      <p:pic>
        <p:nvPicPr>
          <p:cNvPr id="4" name="">
            <a:extLst xmlns:a="http://schemas.openxmlformats.org/drawingml/2006/main">
              <a:ext uri="{FF2B5EF4-FFF2-40B4-BE49-F238E27FC236}">
                <a16:creationId xmlns:a16="http://schemas.microsoft.com/office/drawing/2014/main" id="{91770171-250C-433E-8084-D71146A2FAE1}"/>
              </a:ext>
            </a:extLst>
          </p:cNvPr>
          <p:cNvPicPr>
            <a:picLocks xmlns:a="http://schemas.openxmlformats.org/drawingml/2006/main" noChangeAspect="1"/>
          </p:cNvPicPr>
          <p:nvPr/>
        </p:nvPicPr>
        <p:blipFill>
          <a:blip xmlns:r="http://schemas.openxmlformats.org/officeDocument/2006/relationships" xmlns:a="http://schemas.openxmlformats.org/drawingml/2006/main" r:embed="R316b81daca16438a"/>
          <a:stretch xmlns:a="http://schemas.openxmlformats.org/drawingml/2006/main"/>
        </p:blipFill>
        <p:spPr>
          <a:xfrm xmlns:a="http://schemas.openxmlformats.org/drawingml/2006/main">
            <a:off x="590550" y="1892725"/>
            <a:ext cx="7410450" cy="3510701"/>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08C73B8C-6C08-49EB-89EF-20953FD259A0}"/>
              </a:ext>
            </a:extLst>
          </p:cNvPr>
          <p:cNvSpPr>
            <a:spLocks xmlns:a="http://schemas.openxmlformats.org/drawingml/2006/main" noGrp="1"/>
          </p:cNvSpPr>
          <p:nvPr/>
        </p:nvSpPr>
        <p:spPr>
          <a:xfrm xmlns:a="http://schemas.openxmlformats.org/drawingml/2006/main">
            <a:off x="8315325" y="1781175"/>
            <a:ext cx="3248025" cy="3590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325" b="1">
                <a:solidFill>
                  <a:srgbClr val="244F3D"/>
                </a:solidFill>
                <a:latin typeface="Arial"/>
                <a:ea typeface="Arial"/>
                <a:cs typeface="Arial"/>
              </a:defRPr>
            </a:defPPr>
            <a:lvl1pPr>
              <a:defRPr sz="2325" b="1">
                <a:solidFill>
                  <a:srgbClr val="244F3D"/>
                </a:solidFill>
                <a:latin typeface="Arial"/>
                <a:ea typeface="Arial"/>
                <a:cs typeface="Arial"/>
              </a:defRPr>
            </a:lvl1pPr>
            <a:lvl2pPr>
              <a:defRPr sz="2325" b="1">
                <a:solidFill>
                  <a:srgbClr val="244F3D"/>
                </a:solidFill>
                <a:latin typeface="Arial"/>
                <a:ea typeface="Arial"/>
                <a:cs typeface="Arial"/>
              </a:defRPr>
            </a:lvl2pPr>
            <a:lvl3pPr>
              <a:defRPr sz="2325" b="1">
                <a:solidFill>
                  <a:srgbClr val="244F3D"/>
                </a:solidFill>
                <a:latin typeface="Arial"/>
                <a:ea typeface="Arial"/>
                <a:cs typeface="Arial"/>
              </a:defRPr>
            </a:lvl3pPr>
            <a:lvl4pPr>
              <a:defRPr sz="2325" b="1">
                <a:solidFill>
                  <a:srgbClr val="244F3D"/>
                </a:solidFill>
                <a:latin typeface="Arial"/>
                <a:ea typeface="Arial"/>
                <a:cs typeface="Arial"/>
              </a:defRPr>
            </a:lvl4pPr>
            <a:lvl5pPr>
              <a:defRPr sz="2325" b="1">
                <a:solidFill>
                  <a:srgbClr val="244F3D"/>
                </a:solidFill>
                <a:latin typeface="Arial"/>
                <a:ea typeface="Arial"/>
                <a:cs typeface="Arial"/>
              </a:defRPr>
            </a:lvl5pPr>
            <a:lvl6pPr>
              <a:defRPr sz="2325" b="1">
                <a:solidFill>
                  <a:srgbClr val="244F3D"/>
                </a:solidFill>
                <a:latin typeface="Arial"/>
                <a:ea typeface="Arial"/>
                <a:cs typeface="Arial"/>
              </a:defRPr>
            </a:lvl6pPr>
            <a:lvl7pPr>
              <a:defRPr sz="2325" b="1">
                <a:solidFill>
                  <a:srgbClr val="244F3D"/>
                </a:solidFill>
                <a:latin typeface="Arial"/>
                <a:ea typeface="Arial"/>
                <a:cs typeface="Arial"/>
              </a:defRPr>
            </a:lvl7pPr>
            <a:lvl8pPr>
              <a:defRPr sz="2325" b="1">
                <a:solidFill>
                  <a:srgbClr val="244F3D"/>
                </a:solidFill>
                <a:latin typeface="Arial"/>
                <a:ea typeface="Arial"/>
                <a:cs typeface="Arial"/>
              </a:defRPr>
            </a:lvl8pPr>
            <a:lvl9pPr>
              <a:defRPr sz="2325" b="1">
                <a:solidFill>
                  <a:srgbClr val="244F3D"/>
                </a:solidFill>
                <a:latin typeface="Arial"/>
                <a:ea typeface="Arial"/>
                <a:cs typeface="Arial"/>
              </a:defRPr>
            </a:lvl9pPr>
          </a:lstStyle>
          <a:p xmlns:a="http://schemas.openxmlformats.org/drawingml/2006/main">
            <a:pPr>
              <a:defRPr sz="2325" b="1">
                <a:solidFill>
                  <a:srgbClr val="244F3D"/>
                </a:solidFill>
                <a:latin typeface="Arial"/>
                <a:ea typeface="Arial"/>
                <a:cs typeface="Arial"/>
              </a:defRPr>
            </a:pPr>
            <a:r>
              <a:rPr sz="2325" b="1">
                <a:solidFill>
                  <a:srgbClr val="244F3D"/>
                </a:solidFill>
                <a:latin typeface="Arial"/>
                <a:ea typeface="Arial"/>
                <a:cs typeface="Arial"/>
              </a:rPr>
              <a:t>¿La vista por capas genera todas las paredes?</a:t>
            </a:r>
          </a:p>
        </p:txBody>
      </p:sp>
      <p:sp>
        <p:nvSpPr>
          <p:cNvPr id="6" name="">
            <a:extLst xmlns:a="http://schemas.openxmlformats.org/drawingml/2006/main">
              <a:ext uri="{FF2B5EF4-FFF2-40B4-BE49-F238E27FC236}">
                <a16:creationId xmlns:a16="http://schemas.microsoft.com/office/drawing/2014/main" id="{4B9ED0D6-1D2C-40DB-9495-EBF6F16C5441}"/>
              </a:ext>
            </a:extLst>
          </p:cNvPr>
          <p:cNvSpPr>
            <a:spLocks xmlns:a="http://schemas.openxmlformats.org/drawingml/2006/main" noGrp="1"/>
          </p:cNvSpPr>
          <p:nvPr/>
        </p:nvSpPr>
        <p:spPr>
          <a:xfrm xmlns:a="http://schemas.openxmlformats.org/drawingml/2006/main">
            <a:off x="590550" y="5848350"/>
            <a:ext cx="10953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350" b="0">
                <a:solidFill>
                  <a:srgbClr val="58665F"/>
                </a:solidFill>
                <a:latin typeface="Arial"/>
                <a:ea typeface="Arial"/>
                <a:cs typeface="Arial"/>
              </a:defRPr>
            </a:defPPr>
            <a:lvl1pPr>
              <a:defRPr sz="1350" b="0">
                <a:solidFill>
                  <a:srgbClr val="58665F"/>
                </a:solidFill>
                <a:latin typeface="Arial"/>
                <a:ea typeface="Arial"/>
                <a:cs typeface="Arial"/>
              </a:defRPr>
            </a:lvl1pPr>
            <a:lvl2pPr>
              <a:defRPr sz="1350" b="0">
                <a:solidFill>
                  <a:srgbClr val="58665F"/>
                </a:solidFill>
                <a:latin typeface="Arial"/>
                <a:ea typeface="Arial"/>
                <a:cs typeface="Arial"/>
              </a:defRPr>
            </a:lvl2pPr>
            <a:lvl3pPr>
              <a:defRPr sz="1350" b="0">
                <a:solidFill>
                  <a:srgbClr val="58665F"/>
                </a:solidFill>
                <a:latin typeface="Arial"/>
                <a:ea typeface="Arial"/>
                <a:cs typeface="Arial"/>
              </a:defRPr>
            </a:lvl3pPr>
            <a:lvl4pPr>
              <a:defRPr sz="1350" b="0">
                <a:solidFill>
                  <a:srgbClr val="58665F"/>
                </a:solidFill>
                <a:latin typeface="Arial"/>
                <a:ea typeface="Arial"/>
                <a:cs typeface="Arial"/>
              </a:defRPr>
            </a:lvl4pPr>
            <a:lvl5pPr>
              <a:defRPr sz="1350" b="0">
                <a:solidFill>
                  <a:srgbClr val="58665F"/>
                </a:solidFill>
                <a:latin typeface="Arial"/>
                <a:ea typeface="Arial"/>
                <a:cs typeface="Arial"/>
              </a:defRPr>
            </a:lvl5pPr>
            <a:lvl6pPr>
              <a:defRPr sz="1350" b="0">
                <a:solidFill>
                  <a:srgbClr val="58665F"/>
                </a:solidFill>
                <a:latin typeface="Arial"/>
                <a:ea typeface="Arial"/>
                <a:cs typeface="Arial"/>
              </a:defRPr>
            </a:lvl6pPr>
            <a:lvl7pPr>
              <a:defRPr sz="1350" b="0">
                <a:solidFill>
                  <a:srgbClr val="58665F"/>
                </a:solidFill>
                <a:latin typeface="Arial"/>
                <a:ea typeface="Arial"/>
                <a:cs typeface="Arial"/>
              </a:defRPr>
            </a:lvl7pPr>
            <a:lvl8pPr>
              <a:defRPr sz="1350" b="0">
                <a:solidFill>
                  <a:srgbClr val="58665F"/>
                </a:solidFill>
                <a:latin typeface="Arial"/>
                <a:ea typeface="Arial"/>
                <a:cs typeface="Arial"/>
              </a:defRPr>
            </a:lvl8pPr>
            <a:lvl9pPr>
              <a:defRPr sz="1350" b="0">
                <a:solidFill>
                  <a:srgbClr val="58665F"/>
                </a:solidFill>
                <a:latin typeface="Arial"/>
                <a:ea typeface="Arial"/>
                <a:cs typeface="Arial"/>
              </a:defRPr>
            </a:lvl9pPr>
          </a:lstStyle>
          <a:p xmlns:a="http://schemas.openxmlformats.org/drawingml/2006/main">
            <a:pPr>
              <a:defRPr sz="1350" b="0">
                <a:solidFill>
                  <a:srgbClr val="58665F"/>
                </a:solidFill>
                <a:latin typeface="Arial"/>
                <a:ea typeface="Arial"/>
                <a:cs typeface="Arial"/>
              </a:defRPr>
            </a:pPr>
            <a:r>
              <a:rPr sz="1350" b="0">
                <a:solidFill>
                  <a:srgbClr val="58665F"/>
                </a:solidFill>
                <a:latin typeface="Arial"/>
                <a:ea typeface="Arial"/>
                <a:cs typeface="Arial"/>
              </a:rPr>
              <a:t>Prusa Research: el comportamiento de salientes y apoyos afecta el acabado. La fotografía ayuda a revisar la superficie funcional.</a:t>
            </a:r>
          </a:p>
        </p:txBody>
      </p:sp>
    </p:spTree>
    <p:extLst>
      <p:ext uri="{BB962C8B-B14F-4D97-AF65-F5344CB8AC3E}">
        <p14:creationId xmlns:p14="http://schemas.microsoft.com/office/powerpoint/2010/main" val="1809882168"/>
      </p:ext>
    </p:extLst>
  </p:cSld>
</p:sld>
</file>

<file path=ppt/slides/slide13.xml><?xml version="1.0" encoding="utf-8"?>
<p:sld xmlns:p="http://schemas.openxmlformats.org/presentationml/2006/main">
  <p:cSld>
    <p:bg>
      <p:bgPr>
        <a:solidFill xmlns:a="http://schemas.openxmlformats.org/drawingml/2006/main">
          <a:srgbClr val="FCFCF8"/>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41BAA974-82CA-4017-86CE-D9FD3E4E53D6}"/>
              </a:ext>
            </a:extLst>
          </p:cNvPr>
          <p:cNvSpPr>
            <a:spLocks xmlns:a="http://schemas.openxmlformats.org/drawingml/2006/main" noGrp="1"/>
          </p:cNvSpPr>
          <p:nvPr/>
        </p:nvSpPr>
        <p:spPr>
          <a:xfrm xmlns:a="http://schemas.openxmlformats.org/drawingml/2006/main">
            <a:off x="590550" y="428625"/>
            <a:ext cx="100965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75" b="1">
                <a:solidFill>
                  <a:srgbClr val="14231E"/>
                </a:solidFill>
                <a:latin typeface="Arial Narrow"/>
                <a:ea typeface="Arial Narrow"/>
                <a:cs typeface="Arial Narrow"/>
              </a:defRPr>
            </a:defPPr>
            <a:lvl1pPr>
              <a:defRPr sz="3375" b="1">
                <a:solidFill>
                  <a:srgbClr val="14231E"/>
                </a:solidFill>
                <a:latin typeface="Arial Narrow"/>
                <a:ea typeface="Arial Narrow"/>
                <a:cs typeface="Arial Narrow"/>
              </a:defRPr>
            </a:lvl1pPr>
            <a:lvl2pPr>
              <a:defRPr sz="3375" b="1">
                <a:solidFill>
                  <a:srgbClr val="14231E"/>
                </a:solidFill>
                <a:latin typeface="Arial Narrow"/>
                <a:ea typeface="Arial Narrow"/>
                <a:cs typeface="Arial Narrow"/>
              </a:defRPr>
            </a:lvl2pPr>
            <a:lvl3pPr>
              <a:defRPr sz="3375" b="1">
                <a:solidFill>
                  <a:srgbClr val="14231E"/>
                </a:solidFill>
                <a:latin typeface="Arial Narrow"/>
                <a:ea typeface="Arial Narrow"/>
                <a:cs typeface="Arial Narrow"/>
              </a:defRPr>
            </a:lvl3pPr>
            <a:lvl4pPr>
              <a:defRPr sz="3375" b="1">
                <a:solidFill>
                  <a:srgbClr val="14231E"/>
                </a:solidFill>
                <a:latin typeface="Arial Narrow"/>
                <a:ea typeface="Arial Narrow"/>
                <a:cs typeface="Arial Narrow"/>
              </a:defRPr>
            </a:lvl4pPr>
            <a:lvl5pPr>
              <a:defRPr sz="3375" b="1">
                <a:solidFill>
                  <a:srgbClr val="14231E"/>
                </a:solidFill>
                <a:latin typeface="Arial Narrow"/>
                <a:ea typeface="Arial Narrow"/>
                <a:cs typeface="Arial Narrow"/>
              </a:defRPr>
            </a:lvl5pPr>
            <a:lvl6pPr>
              <a:defRPr sz="3375" b="1">
                <a:solidFill>
                  <a:srgbClr val="14231E"/>
                </a:solidFill>
                <a:latin typeface="Arial Narrow"/>
                <a:ea typeface="Arial Narrow"/>
                <a:cs typeface="Arial Narrow"/>
              </a:defRPr>
            </a:lvl6pPr>
            <a:lvl7pPr>
              <a:defRPr sz="3375" b="1">
                <a:solidFill>
                  <a:srgbClr val="14231E"/>
                </a:solidFill>
                <a:latin typeface="Arial Narrow"/>
                <a:ea typeface="Arial Narrow"/>
                <a:cs typeface="Arial Narrow"/>
              </a:defRPr>
            </a:lvl7pPr>
            <a:lvl8pPr>
              <a:defRPr sz="3375" b="1">
                <a:solidFill>
                  <a:srgbClr val="14231E"/>
                </a:solidFill>
                <a:latin typeface="Arial Narrow"/>
                <a:ea typeface="Arial Narrow"/>
                <a:cs typeface="Arial Narrow"/>
              </a:defRPr>
            </a:lvl8pPr>
            <a:lvl9pPr>
              <a:defRPr sz="3375" b="1">
                <a:solidFill>
                  <a:srgbClr val="14231E"/>
                </a:solidFill>
                <a:latin typeface="Arial Narrow"/>
                <a:ea typeface="Arial Narrow"/>
                <a:cs typeface="Arial Narrow"/>
              </a:defRPr>
            </a:lvl9pPr>
          </a:lstStyle>
          <a:p xmlns:a="http://schemas.openxmlformats.org/drawingml/2006/main">
            <a:pPr>
              <a:defRPr sz="3375" b="1">
                <a:solidFill>
                  <a:srgbClr val="14231E"/>
                </a:solidFill>
                <a:latin typeface="Arial Narrow"/>
                <a:ea typeface="Arial Narrow"/>
                <a:cs typeface="Arial Narrow"/>
              </a:defRPr>
            </a:pPr>
            <a:r>
              <a:rPr sz="3375" b="1">
                <a:solidFill>
                  <a:srgbClr val="14231E"/>
                </a:solidFill>
                <a:latin typeface="Arial Narrow"/>
                <a:ea typeface="Arial Narrow"/>
                <a:cs typeface="Arial Narrow"/>
              </a:rPr>
              <a:t>Práctica en el laminador</a:t>
            </a:r>
          </a:p>
        </p:txBody>
      </p:sp>
      <p:pic>
        <p:nvPicPr>
          <p:cNvPr id="2" name="">
            <a:extLst xmlns:a="http://schemas.openxmlformats.org/drawingml/2006/main">
              <a:ext uri="{FF2B5EF4-FFF2-40B4-BE49-F238E27FC236}">
                <a16:creationId xmlns:a16="http://schemas.microsoft.com/office/drawing/2014/main" id="{CED6FEBD-389B-430D-8C46-9DBAE1E5EC0E}"/>
              </a:ext>
            </a:extLst>
          </p:cNvPr>
          <p:cNvPicPr>
            <a:picLocks xmlns:a="http://schemas.openxmlformats.org/drawingml/2006/main" noChangeAspect="1"/>
          </p:cNvPicPr>
          <p:nvPr/>
        </p:nvPicPr>
        <p:blipFill>
          <a:blip xmlns:r="http://schemas.openxmlformats.org/officeDocument/2006/relationships" xmlns:a="http://schemas.openxmlformats.org/drawingml/2006/main" r:embed="R378f907fb23d485d"/>
          <a:stretch xmlns:a="http://schemas.openxmlformats.org/drawingml/2006/main"/>
        </p:blipFill>
        <p:spPr>
          <a:xfrm xmlns:a="http://schemas.openxmlformats.org/drawingml/2006/main">
            <a:off x="10858500" y="337942"/>
            <a:ext cx="762000" cy="276616"/>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795B6238-3CD5-4975-A9C4-99FD28A7C475}"/>
              </a:ext>
            </a:extLst>
          </p:cNvPr>
          <p:cNvSpPr>
            <a:spLocks xmlns:a="http://schemas.openxmlformats.org/drawingml/2006/main" noGrp="1"/>
          </p:cNvSpPr>
          <p:nvPr/>
        </p:nvSpPr>
        <p:spPr>
          <a:xfrm xmlns:a="http://schemas.openxmlformats.org/drawingml/2006/main">
            <a:off x="590550" y="6467475"/>
            <a:ext cx="108108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58665F"/>
                </a:solidFill>
                <a:latin typeface="Consolas"/>
                <a:ea typeface="Consolas"/>
                <a:cs typeface="Consolas"/>
              </a:defRPr>
            </a:defPPr>
            <a:lvl1pPr>
              <a:defRPr sz="1125" b="0">
                <a:solidFill>
                  <a:srgbClr val="58665F"/>
                </a:solidFill>
                <a:latin typeface="Consolas"/>
                <a:ea typeface="Consolas"/>
                <a:cs typeface="Consolas"/>
              </a:defRPr>
            </a:lvl1pPr>
            <a:lvl2pPr>
              <a:defRPr sz="1125" b="0">
                <a:solidFill>
                  <a:srgbClr val="58665F"/>
                </a:solidFill>
                <a:latin typeface="Consolas"/>
                <a:ea typeface="Consolas"/>
                <a:cs typeface="Consolas"/>
              </a:defRPr>
            </a:lvl2pPr>
            <a:lvl3pPr>
              <a:defRPr sz="1125" b="0">
                <a:solidFill>
                  <a:srgbClr val="58665F"/>
                </a:solidFill>
                <a:latin typeface="Consolas"/>
                <a:ea typeface="Consolas"/>
                <a:cs typeface="Consolas"/>
              </a:defRPr>
            </a:lvl3pPr>
            <a:lvl4pPr>
              <a:defRPr sz="1125" b="0">
                <a:solidFill>
                  <a:srgbClr val="58665F"/>
                </a:solidFill>
                <a:latin typeface="Consolas"/>
                <a:ea typeface="Consolas"/>
                <a:cs typeface="Consolas"/>
              </a:defRPr>
            </a:lvl4pPr>
            <a:lvl5pPr>
              <a:defRPr sz="1125" b="0">
                <a:solidFill>
                  <a:srgbClr val="58665F"/>
                </a:solidFill>
                <a:latin typeface="Consolas"/>
                <a:ea typeface="Consolas"/>
                <a:cs typeface="Consolas"/>
              </a:defRPr>
            </a:lvl5pPr>
            <a:lvl6pPr>
              <a:defRPr sz="1125" b="0">
                <a:solidFill>
                  <a:srgbClr val="58665F"/>
                </a:solidFill>
                <a:latin typeface="Consolas"/>
                <a:ea typeface="Consolas"/>
                <a:cs typeface="Consolas"/>
              </a:defRPr>
            </a:lvl6pPr>
            <a:lvl7pPr>
              <a:defRPr sz="1125" b="0">
                <a:solidFill>
                  <a:srgbClr val="58665F"/>
                </a:solidFill>
                <a:latin typeface="Consolas"/>
                <a:ea typeface="Consolas"/>
                <a:cs typeface="Consolas"/>
              </a:defRPr>
            </a:lvl7pPr>
            <a:lvl8pPr>
              <a:defRPr sz="1125" b="0">
                <a:solidFill>
                  <a:srgbClr val="58665F"/>
                </a:solidFill>
                <a:latin typeface="Consolas"/>
                <a:ea typeface="Consolas"/>
                <a:cs typeface="Consolas"/>
              </a:defRPr>
            </a:lvl8pPr>
            <a:lvl9pPr>
              <a:defRPr sz="1125" b="0">
                <a:solidFill>
                  <a:srgbClr val="58665F"/>
                </a:solidFill>
                <a:latin typeface="Consolas"/>
                <a:ea typeface="Consolas"/>
                <a:cs typeface="Consolas"/>
              </a:defRPr>
            </a:lvl9pPr>
          </a:lstStyle>
          <a:p xmlns:a="http://schemas.openxmlformats.org/drawingml/2006/main">
            <a:pPr>
              <a:defRPr sz="1125" b="0">
                <a:solidFill>
                  <a:srgbClr val="58665F"/>
                </a:solidFill>
                <a:latin typeface="Consolas"/>
                <a:ea typeface="Consolas"/>
                <a:cs typeface="Consolas"/>
              </a:defRPr>
            </a:pPr>
            <a:r>
              <a:rPr sz="1125" b="0">
                <a:solidFill>
                  <a:srgbClr val="58665F"/>
                </a:solidFill>
                <a:latin typeface="Consolas"/>
                <a:ea typeface="Consolas"/>
                <a:cs typeface="Consolas"/>
              </a:rPr>
              <a:t>MECRO   SEMANA 3   CLASE 05   13/24</a:t>
            </a:r>
          </a:p>
        </p:txBody>
      </p:sp>
      <p:sp>
        <p:nvSpPr>
          <p:cNvPr id="4" name="">
            <a:extLst xmlns:a="http://schemas.openxmlformats.org/drawingml/2006/main">
              <a:ext uri="{FF2B5EF4-FFF2-40B4-BE49-F238E27FC236}">
                <a16:creationId xmlns:a16="http://schemas.microsoft.com/office/drawing/2014/main" id="{2E81E433-FAAE-4F74-A7F5-4B3926AAE8A2}"/>
              </a:ext>
            </a:extLst>
          </p:cNvPr>
          <p:cNvSpPr>
            <a:spLocks xmlns:a="http://schemas.openxmlformats.org/drawingml/2006/main" noGrp="1"/>
          </p:cNvSpPr>
          <p:nvPr/>
        </p:nvSpPr>
        <p:spPr>
          <a:xfrm xmlns:a="http://schemas.openxmlformats.org/drawingml/2006/main">
            <a:off x="590550" y="1743075"/>
            <a:ext cx="10810875" cy="425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950" b="0">
                <a:solidFill>
                  <a:srgbClr val="14231E"/>
                </a:solidFill>
                <a:latin typeface="Arial"/>
                <a:ea typeface="Arial"/>
                <a:cs typeface="Arial"/>
              </a:defRPr>
            </a:defPPr>
            <a:lvl1pPr>
              <a:defRPr sz="1950" b="0">
                <a:solidFill>
                  <a:srgbClr val="14231E"/>
                </a:solidFill>
                <a:latin typeface="Arial"/>
                <a:ea typeface="Arial"/>
                <a:cs typeface="Arial"/>
              </a:defRPr>
            </a:lvl1pPr>
            <a:lvl2pPr>
              <a:defRPr sz="1950" b="0">
                <a:solidFill>
                  <a:srgbClr val="14231E"/>
                </a:solidFill>
                <a:latin typeface="Arial"/>
                <a:ea typeface="Arial"/>
                <a:cs typeface="Arial"/>
              </a:defRPr>
            </a:lvl2pPr>
            <a:lvl3pPr>
              <a:defRPr sz="1950" b="0">
                <a:solidFill>
                  <a:srgbClr val="14231E"/>
                </a:solidFill>
                <a:latin typeface="Arial"/>
                <a:ea typeface="Arial"/>
                <a:cs typeface="Arial"/>
              </a:defRPr>
            </a:lvl3pPr>
            <a:lvl4pPr>
              <a:defRPr sz="1950" b="0">
                <a:solidFill>
                  <a:srgbClr val="14231E"/>
                </a:solidFill>
                <a:latin typeface="Arial"/>
                <a:ea typeface="Arial"/>
                <a:cs typeface="Arial"/>
              </a:defRPr>
            </a:lvl4pPr>
            <a:lvl5pPr>
              <a:defRPr sz="1950" b="0">
                <a:solidFill>
                  <a:srgbClr val="14231E"/>
                </a:solidFill>
                <a:latin typeface="Arial"/>
                <a:ea typeface="Arial"/>
                <a:cs typeface="Arial"/>
              </a:defRPr>
            </a:lvl5pPr>
            <a:lvl6pPr>
              <a:defRPr sz="1950" b="0">
                <a:solidFill>
                  <a:srgbClr val="14231E"/>
                </a:solidFill>
                <a:latin typeface="Arial"/>
                <a:ea typeface="Arial"/>
                <a:cs typeface="Arial"/>
              </a:defRPr>
            </a:lvl6pPr>
            <a:lvl7pPr>
              <a:defRPr sz="1950" b="0">
                <a:solidFill>
                  <a:srgbClr val="14231E"/>
                </a:solidFill>
                <a:latin typeface="Arial"/>
                <a:ea typeface="Arial"/>
                <a:cs typeface="Arial"/>
              </a:defRPr>
            </a:lvl7pPr>
            <a:lvl8pPr>
              <a:defRPr sz="1950" b="0">
                <a:solidFill>
                  <a:srgbClr val="14231E"/>
                </a:solidFill>
                <a:latin typeface="Arial"/>
                <a:ea typeface="Arial"/>
                <a:cs typeface="Arial"/>
              </a:defRPr>
            </a:lvl8pPr>
            <a:lvl9pPr>
              <a:defRPr sz="1950" b="0">
                <a:solidFill>
                  <a:srgbClr val="14231E"/>
                </a:solidFill>
                <a:latin typeface="Arial"/>
                <a:ea typeface="Arial"/>
                <a:cs typeface="Arial"/>
              </a:defRPr>
            </a:lvl9pPr>
          </a:lstStyle>
          <a:p xmlns:a="http://schemas.openxmlformats.org/drawingml/2006/main">
            <a:pPr>
              <a:defRPr sz="1950" b="0">
                <a:solidFill>
                  <a:srgbClr val="14231E"/>
                </a:solidFill>
                <a:latin typeface="Arial"/>
                <a:ea typeface="Arial"/>
                <a:cs typeface="Arial"/>
              </a:defRPr>
            </a:pPr>
            <a:r>
              <a:rPr sz="1950" b="0">
                <a:solidFill>
                  <a:srgbClr val="14231E"/>
                </a:solidFill>
                <a:latin typeface="Arial"/>
                <a:ea typeface="Arial"/>
                <a:cs typeface="Arial"/>
              </a:rPr>
              <a:t>1. Importa la muestra aprobada. Comprueba medidas y escala.</a:t>
            </a:r>
          </a:p>
          <a:p xmlns:a="http://schemas.openxmlformats.org/drawingml/2006/main">
            <a:r>
              <a:t/>
            </a:r>
          </a:p>
          <a:p xmlns:a="http://schemas.openxmlformats.org/drawingml/2006/main">
            <a:pPr>
              <a:defRPr sz="1950" b="0">
                <a:solidFill>
                  <a:srgbClr val="14231E"/>
                </a:solidFill>
                <a:latin typeface="Arial"/>
                <a:ea typeface="Arial"/>
                <a:cs typeface="Arial"/>
              </a:defRPr>
            </a:pPr>
            <a:r>
              <a:rPr sz="1950" b="0">
                <a:solidFill>
                  <a:srgbClr val="14231E"/>
                </a:solidFill>
                <a:latin typeface="Arial"/>
                <a:ea typeface="Arial"/>
                <a:cs typeface="Arial"/>
              </a:rPr>
              <a:t>2. Revisa orientación, apoyos y superficie funcional.</a:t>
            </a:r>
          </a:p>
          <a:p xmlns:a="http://schemas.openxmlformats.org/drawingml/2006/main">
            <a:r>
              <a:t/>
            </a:r>
          </a:p>
          <a:p xmlns:a="http://schemas.openxmlformats.org/drawingml/2006/main">
            <a:pPr>
              <a:defRPr sz="1950" b="0">
                <a:solidFill>
                  <a:srgbClr val="14231E"/>
                </a:solidFill>
                <a:latin typeface="Arial"/>
                <a:ea typeface="Arial"/>
                <a:cs typeface="Arial"/>
              </a:defRPr>
            </a:pPr>
            <a:r>
              <a:rPr sz="1950" b="0">
                <a:solidFill>
                  <a:srgbClr val="14231E"/>
                </a:solidFill>
                <a:latin typeface="Arial"/>
                <a:ea typeface="Arial"/>
                <a:cs typeface="Arial"/>
              </a:rPr>
              <a:t>3. Selecciona el perfil del taller y guarda la primera versión.</a:t>
            </a:r>
          </a:p>
          <a:p xmlns:a="http://schemas.openxmlformats.org/drawingml/2006/main">
            <a:r>
              <a:t/>
            </a:r>
          </a:p>
          <a:p xmlns:a="http://schemas.openxmlformats.org/drawingml/2006/main">
            <a:pPr>
              <a:defRPr sz="1950" b="0">
                <a:solidFill>
                  <a:srgbClr val="14231E"/>
                </a:solidFill>
                <a:latin typeface="Arial"/>
                <a:ea typeface="Arial"/>
                <a:cs typeface="Arial"/>
              </a:defRPr>
            </a:pPr>
            <a:r>
              <a:rPr sz="1950" b="0">
                <a:solidFill>
                  <a:srgbClr val="14231E"/>
                </a:solidFill>
                <a:latin typeface="Arial"/>
                <a:ea typeface="Arial"/>
                <a:cs typeface="Arial"/>
              </a:rPr>
              <a:t>4. Recorre las capas: paredes, continuidad y bordes.</a:t>
            </a:r>
          </a:p>
          <a:p xmlns:a="http://schemas.openxmlformats.org/drawingml/2006/main">
            <a:r>
              <a:t/>
            </a:r>
          </a:p>
          <a:p xmlns:a="http://schemas.openxmlformats.org/drawingml/2006/main">
            <a:pPr>
              <a:defRPr sz="1950" b="0">
                <a:solidFill>
                  <a:srgbClr val="14231E"/>
                </a:solidFill>
                <a:latin typeface="Arial"/>
                <a:ea typeface="Arial"/>
                <a:cs typeface="Arial"/>
              </a:defRPr>
            </a:pPr>
            <a:r>
              <a:rPr sz="1950" b="0">
                <a:solidFill>
                  <a:srgbClr val="14231E"/>
                </a:solidFill>
                <a:latin typeface="Arial"/>
                <a:ea typeface="Arial"/>
                <a:cs typeface="Arial"/>
              </a:rPr>
              <a:t>5. Registra masa y tiempo. Cambia una sola decisión en la segunda versión.</a:t>
            </a:r>
          </a:p>
          <a:p xmlns:a="http://schemas.openxmlformats.org/drawingml/2006/main">
            <a:r>
              <a:t/>
            </a:r>
          </a:p>
          <a:p xmlns:a="http://schemas.openxmlformats.org/drawingml/2006/main">
            <a:pPr>
              <a:defRPr sz="1950" b="0">
                <a:solidFill>
                  <a:srgbClr val="14231E"/>
                </a:solidFill>
                <a:latin typeface="Arial"/>
                <a:ea typeface="Arial"/>
                <a:cs typeface="Arial"/>
              </a:defRPr>
            </a:pPr>
            <a:r>
              <a:rPr sz="1950" b="0">
                <a:solidFill>
                  <a:srgbClr val="14231E"/>
                </a:solidFill>
                <a:latin typeface="Arial"/>
                <a:ea typeface="Arial"/>
                <a:cs typeface="Arial"/>
              </a:rPr>
              <a:t>6. Entrega las dos vistas por capas y explica qué comprobarás en la pieza.</a:t>
            </a:r>
          </a:p>
        </p:txBody>
      </p:sp>
    </p:spTree>
    <p:extLst>
      <p:ext uri="{BB962C8B-B14F-4D97-AF65-F5344CB8AC3E}">
        <p14:creationId xmlns:p14="http://schemas.microsoft.com/office/powerpoint/2010/main" val="660022304"/>
      </p:ext>
    </p:extLst>
  </p:cSld>
</p:sld>
</file>

<file path=ppt/slides/slide14.xml><?xml version="1.0" encoding="utf-8"?>
<p:sld xmlns:p="http://schemas.openxmlformats.org/presentationml/2006/main">
  <p:cSld>
    <p:bg>
      <p:bgPr>
        <a:solidFill xmlns:a="http://schemas.openxmlformats.org/drawingml/2006/main">
          <a:srgbClr val="FCFCF8"/>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87C0528F-185A-4570-960F-77B5C3C16C7D}"/>
              </a:ext>
            </a:extLst>
          </p:cNvPr>
          <p:cNvSpPr>
            <a:spLocks xmlns:a="http://schemas.openxmlformats.org/drawingml/2006/main" noGrp="1"/>
          </p:cNvSpPr>
          <p:nvPr/>
        </p:nvSpPr>
        <p:spPr>
          <a:xfrm xmlns:a="http://schemas.openxmlformats.org/drawingml/2006/main">
            <a:off x="590550" y="428625"/>
            <a:ext cx="100965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75" b="1">
                <a:solidFill>
                  <a:srgbClr val="14231E"/>
                </a:solidFill>
                <a:latin typeface="Arial Narrow"/>
                <a:ea typeface="Arial Narrow"/>
                <a:cs typeface="Arial Narrow"/>
              </a:defRPr>
            </a:defPPr>
            <a:lvl1pPr>
              <a:defRPr sz="3375" b="1">
                <a:solidFill>
                  <a:srgbClr val="14231E"/>
                </a:solidFill>
                <a:latin typeface="Arial Narrow"/>
                <a:ea typeface="Arial Narrow"/>
                <a:cs typeface="Arial Narrow"/>
              </a:defRPr>
            </a:lvl1pPr>
            <a:lvl2pPr>
              <a:defRPr sz="3375" b="1">
                <a:solidFill>
                  <a:srgbClr val="14231E"/>
                </a:solidFill>
                <a:latin typeface="Arial Narrow"/>
                <a:ea typeface="Arial Narrow"/>
                <a:cs typeface="Arial Narrow"/>
              </a:defRPr>
            </a:lvl2pPr>
            <a:lvl3pPr>
              <a:defRPr sz="3375" b="1">
                <a:solidFill>
                  <a:srgbClr val="14231E"/>
                </a:solidFill>
                <a:latin typeface="Arial Narrow"/>
                <a:ea typeface="Arial Narrow"/>
                <a:cs typeface="Arial Narrow"/>
              </a:defRPr>
            </a:lvl3pPr>
            <a:lvl4pPr>
              <a:defRPr sz="3375" b="1">
                <a:solidFill>
                  <a:srgbClr val="14231E"/>
                </a:solidFill>
                <a:latin typeface="Arial Narrow"/>
                <a:ea typeface="Arial Narrow"/>
                <a:cs typeface="Arial Narrow"/>
              </a:defRPr>
            </a:lvl4pPr>
            <a:lvl5pPr>
              <a:defRPr sz="3375" b="1">
                <a:solidFill>
                  <a:srgbClr val="14231E"/>
                </a:solidFill>
                <a:latin typeface="Arial Narrow"/>
                <a:ea typeface="Arial Narrow"/>
                <a:cs typeface="Arial Narrow"/>
              </a:defRPr>
            </a:lvl5pPr>
            <a:lvl6pPr>
              <a:defRPr sz="3375" b="1">
                <a:solidFill>
                  <a:srgbClr val="14231E"/>
                </a:solidFill>
                <a:latin typeface="Arial Narrow"/>
                <a:ea typeface="Arial Narrow"/>
                <a:cs typeface="Arial Narrow"/>
              </a:defRPr>
            </a:lvl6pPr>
            <a:lvl7pPr>
              <a:defRPr sz="3375" b="1">
                <a:solidFill>
                  <a:srgbClr val="14231E"/>
                </a:solidFill>
                <a:latin typeface="Arial Narrow"/>
                <a:ea typeface="Arial Narrow"/>
                <a:cs typeface="Arial Narrow"/>
              </a:defRPr>
            </a:lvl7pPr>
            <a:lvl8pPr>
              <a:defRPr sz="3375" b="1">
                <a:solidFill>
                  <a:srgbClr val="14231E"/>
                </a:solidFill>
                <a:latin typeface="Arial Narrow"/>
                <a:ea typeface="Arial Narrow"/>
                <a:cs typeface="Arial Narrow"/>
              </a:defRPr>
            </a:lvl8pPr>
            <a:lvl9pPr>
              <a:defRPr sz="3375" b="1">
                <a:solidFill>
                  <a:srgbClr val="14231E"/>
                </a:solidFill>
                <a:latin typeface="Arial Narrow"/>
                <a:ea typeface="Arial Narrow"/>
                <a:cs typeface="Arial Narrow"/>
              </a:defRPr>
            </a:lvl9pPr>
          </a:lstStyle>
          <a:p xmlns:a="http://schemas.openxmlformats.org/drawingml/2006/main">
            <a:pPr>
              <a:defRPr sz="3375" b="1">
                <a:solidFill>
                  <a:srgbClr val="14231E"/>
                </a:solidFill>
                <a:latin typeface="Arial Narrow"/>
                <a:ea typeface="Arial Narrow"/>
                <a:cs typeface="Arial Narrow"/>
              </a:defRPr>
            </a:pPr>
            <a:r>
              <a:rPr sz="3375" b="1">
                <a:solidFill>
                  <a:srgbClr val="14231E"/>
                </a:solidFill>
                <a:latin typeface="Arial Narrow"/>
                <a:ea typeface="Arial Narrow"/>
                <a:cs typeface="Arial Narrow"/>
              </a:rPr>
              <a:t>Organizar la cola de impresión del curso</a:t>
            </a:r>
          </a:p>
        </p:txBody>
      </p:sp>
      <p:pic>
        <p:nvPicPr>
          <p:cNvPr id="2" name="">
            <a:extLst xmlns:a="http://schemas.openxmlformats.org/drawingml/2006/main">
              <a:ext uri="{FF2B5EF4-FFF2-40B4-BE49-F238E27FC236}">
                <a16:creationId xmlns:a16="http://schemas.microsoft.com/office/drawing/2014/main" id="{ACFAA4BF-2B1A-4802-9E43-E1B7CD8B05C8}"/>
              </a:ext>
            </a:extLst>
          </p:cNvPr>
          <p:cNvPicPr>
            <a:picLocks xmlns:a="http://schemas.openxmlformats.org/drawingml/2006/main" noChangeAspect="1"/>
          </p:cNvPicPr>
          <p:nvPr/>
        </p:nvPicPr>
        <p:blipFill>
          <a:blip xmlns:r="http://schemas.openxmlformats.org/officeDocument/2006/relationships" xmlns:a="http://schemas.openxmlformats.org/drawingml/2006/main" r:embed="Rb8fdf9e01abc4ce9"/>
          <a:stretch xmlns:a="http://schemas.openxmlformats.org/drawingml/2006/main"/>
        </p:blipFill>
        <p:spPr>
          <a:xfrm xmlns:a="http://schemas.openxmlformats.org/drawingml/2006/main">
            <a:off x="10858500" y="337942"/>
            <a:ext cx="762000" cy="276616"/>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94397750-2395-454A-B275-05CD04EA08E0}"/>
              </a:ext>
            </a:extLst>
          </p:cNvPr>
          <p:cNvSpPr>
            <a:spLocks xmlns:a="http://schemas.openxmlformats.org/drawingml/2006/main" noGrp="1"/>
          </p:cNvSpPr>
          <p:nvPr/>
        </p:nvSpPr>
        <p:spPr>
          <a:xfrm xmlns:a="http://schemas.openxmlformats.org/drawingml/2006/main">
            <a:off x="590550" y="6467475"/>
            <a:ext cx="108108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58665F"/>
                </a:solidFill>
                <a:latin typeface="Consolas"/>
                <a:ea typeface="Consolas"/>
                <a:cs typeface="Consolas"/>
              </a:defRPr>
            </a:defPPr>
            <a:lvl1pPr>
              <a:defRPr sz="1125" b="0">
                <a:solidFill>
                  <a:srgbClr val="58665F"/>
                </a:solidFill>
                <a:latin typeface="Consolas"/>
                <a:ea typeface="Consolas"/>
                <a:cs typeface="Consolas"/>
              </a:defRPr>
            </a:lvl1pPr>
            <a:lvl2pPr>
              <a:defRPr sz="1125" b="0">
                <a:solidFill>
                  <a:srgbClr val="58665F"/>
                </a:solidFill>
                <a:latin typeface="Consolas"/>
                <a:ea typeface="Consolas"/>
                <a:cs typeface="Consolas"/>
              </a:defRPr>
            </a:lvl2pPr>
            <a:lvl3pPr>
              <a:defRPr sz="1125" b="0">
                <a:solidFill>
                  <a:srgbClr val="58665F"/>
                </a:solidFill>
                <a:latin typeface="Consolas"/>
                <a:ea typeface="Consolas"/>
                <a:cs typeface="Consolas"/>
              </a:defRPr>
            </a:lvl3pPr>
            <a:lvl4pPr>
              <a:defRPr sz="1125" b="0">
                <a:solidFill>
                  <a:srgbClr val="58665F"/>
                </a:solidFill>
                <a:latin typeface="Consolas"/>
                <a:ea typeface="Consolas"/>
                <a:cs typeface="Consolas"/>
              </a:defRPr>
            </a:lvl4pPr>
            <a:lvl5pPr>
              <a:defRPr sz="1125" b="0">
                <a:solidFill>
                  <a:srgbClr val="58665F"/>
                </a:solidFill>
                <a:latin typeface="Consolas"/>
                <a:ea typeface="Consolas"/>
                <a:cs typeface="Consolas"/>
              </a:defRPr>
            </a:lvl5pPr>
            <a:lvl6pPr>
              <a:defRPr sz="1125" b="0">
                <a:solidFill>
                  <a:srgbClr val="58665F"/>
                </a:solidFill>
                <a:latin typeface="Consolas"/>
                <a:ea typeface="Consolas"/>
                <a:cs typeface="Consolas"/>
              </a:defRPr>
            </a:lvl6pPr>
            <a:lvl7pPr>
              <a:defRPr sz="1125" b="0">
                <a:solidFill>
                  <a:srgbClr val="58665F"/>
                </a:solidFill>
                <a:latin typeface="Consolas"/>
                <a:ea typeface="Consolas"/>
                <a:cs typeface="Consolas"/>
              </a:defRPr>
            </a:lvl7pPr>
            <a:lvl8pPr>
              <a:defRPr sz="1125" b="0">
                <a:solidFill>
                  <a:srgbClr val="58665F"/>
                </a:solidFill>
                <a:latin typeface="Consolas"/>
                <a:ea typeface="Consolas"/>
                <a:cs typeface="Consolas"/>
              </a:defRPr>
            </a:lvl8pPr>
            <a:lvl9pPr>
              <a:defRPr sz="1125" b="0">
                <a:solidFill>
                  <a:srgbClr val="58665F"/>
                </a:solidFill>
                <a:latin typeface="Consolas"/>
                <a:ea typeface="Consolas"/>
                <a:cs typeface="Consolas"/>
              </a:defRPr>
            </a:lvl9pPr>
          </a:lstStyle>
          <a:p xmlns:a="http://schemas.openxmlformats.org/drawingml/2006/main">
            <a:pPr>
              <a:defRPr sz="1125" b="0">
                <a:solidFill>
                  <a:srgbClr val="58665F"/>
                </a:solidFill>
                <a:latin typeface="Consolas"/>
                <a:ea typeface="Consolas"/>
                <a:cs typeface="Consolas"/>
              </a:defRPr>
            </a:pPr>
            <a:r>
              <a:rPr sz="1125" b="0">
                <a:solidFill>
                  <a:srgbClr val="58665F"/>
                </a:solidFill>
                <a:latin typeface="Consolas"/>
                <a:ea typeface="Consolas"/>
                <a:cs typeface="Consolas"/>
              </a:rPr>
              <a:t>MECRO   SEMANA 3   CLASE 05   14/24</a:t>
            </a:r>
          </a:p>
        </p:txBody>
      </p:sp>
      <p:sp>
        <p:nvSpPr>
          <p:cNvPr id="4" name="">
            <a:extLst xmlns:a="http://schemas.openxmlformats.org/drawingml/2006/main">
              <a:ext uri="{FF2B5EF4-FFF2-40B4-BE49-F238E27FC236}">
                <a16:creationId xmlns:a16="http://schemas.microsoft.com/office/drawing/2014/main" id="{B341022B-A760-4523-A936-EE115E661F5B}"/>
              </a:ext>
            </a:extLst>
          </p:cNvPr>
          <p:cNvSpPr>
            <a:spLocks xmlns:a="http://schemas.openxmlformats.org/drawingml/2006/main" noGrp="1"/>
          </p:cNvSpPr>
          <p:nvPr/>
        </p:nvSpPr>
        <p:spPr>
          <a:xfrm xmlns:a="http://schemas.openxmlformats.org/drawingml/2006/main">
            <a:off x="590550" y="1743075"/>
            <a:ext cx="10810875" cy="425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325" b="0">
                <a:solidFill>
                  <a:srgbClr val="14231E"/>
                </a:solidFill>
                <a:latin typeface="Arial"/>
                <a:ea typeface="Arial"/>
                <a:cs typeface="Arial"/>
              </a:defRPr>
            </a:defPPr>
            <a:lvl1pPr>
              <a:defRPr sz="2325" b="0">
                <a:solidFill>
                  <a:srgbClr val="14231E"/>
                </a:solidFill>
                <a:latin typeface="Arial"/>
                <a:ea typeface="Arial"/>
                <a:cs typeface="Arial"/>
              </a:defRPr>
            </a:lvl1pPr>
            <a:lvl2pPr>
              <a:defRPr sz="2325" b="0">
                <a:solidFill>
                  <a:srgbClr val="14231E"/>
                </a:solidFill>
                <a:latin typeface="Arial"/>
                <a:ea typeface="Arial"/>
                <a:cs typeface="Arial"/>
              </a:defRPr>
            </a:lvl2pPr>
            <a:lvl3pPr>
              <a:defRPr sz="2325" b="0">
                <a:solidFill>
                  <a:srgbClr val="14231E"/>
                </a:solidFill>
                <a:latin typeface="Arial"/>
                <a:ea typeface="Arial"/>
                <a:cs typeface="Arial"/>
              </a:defRPr>
            </a:lvl3pPr>
            <a:lvl4pPr>
              <a:defRPr sz="2325" b="0">
                <a:solidFill>
                  <a:srgbClr val="14231E"/>
                </a:solidFill>
                <a:latin typeface="Arial"/>
                <a:ea typeface="Arial"/>
                <a:cs typeface="Arial"/>
              </a:defRPr>
            </a:lvl4pPr>
            <a:lvl5pPr>
              <a:defRPr sz="2325" b="0">
                <a:solidFill>
                  <a:srgbClr val="14231E"/>
                </a:solidFill>
                <a:latin typeface="Arial"/>
                <a:ea typeface="Arial"/>
                <a:cs typeface="Arial"/>
              </a:defRPr>
            </a:lvl5pPr>
            <a:lvl6pPr>
              <a:defRPr sz="2325" b="0">
                <a:solidFill>
                  <a:srgbClr val="14231E"/>
                </a:solidFill>
                <a:latin typeface="Arial"/>
                <a:ea typeface="Arial"/>
                <a:cs typeface="Arial"/>
              </a:defRPr>
            </a:lvl6pPr>
            <a:lvl7pPr>
              <a:defRPr sz="2325" b="0">
                <a:solidFill>
                  <a:srgbClr val="14231E"/>
                </a:solidFill>
                <a:latin typeface="Arial"/>
                <a:ea typeface="Arial"/>
                <a:cs typeface="Arial"/>
              </a:defRPr>
            </a:lvl7pPr>
            <a:lvl8pPr>
              <a:defRPr sz="2325" b="0">
                <a:solidFill>
                  <a:srgbClr val="14231E"/>
                </a:solidFill>
                <a:latin typeface="Arial"/>
                <a:ea typeface="Arial"/>
                <a:cs typeface="Arial"/>
              </a:defRPr>
            </a:lvl8pPr>
            <a:lvl9pPr>
              <a:defRPr sz="2325" b="0">
                <a:solidFill>
                  <a:srgbClr val="14231E"/>
                </a:solidFill>
                <a:latin typeface="Arial"/>
                <a:ea typeface="Arial"/>
                <a:cs typeface="Arial"/>
              </a:defRPr>
            </a:lvl9pPr>
          </a:lstStyle>
          <a:p xmlns:a="http://schemas.openxmlformats.org/drawingml/2006/main">
            <a:pPr>
              <a:defRPr sz="2325" b="0">
                <a:solidFill>
                  <a:srgbClr val="14231E"/>
                </a:solidFill>
                <a:latin typeface="Arial"/>
                <a:ea typeface="Arial"/>
                <a:cs typeface="Arial"/>
              </a:defRPr>
            </a:pPr>
            <a:r>
              <a:rPr sz="2325" b="0">
                <a:solidFill>
                  <a:srgbClr val="14231E"/>
                </a:solidFill>
                <a:latin typeface="Arial"/>
                <a:ea typeface="Arial"/>
                <a:cs typeface="Arial"/>
              </a:rPr>
              <a:t>Una impresora es un recurso compartido. Para seis equipos conviene imprimir primero muestras cortas que respondan una pregunta: encaje, borde o alineación. Las piezas completas llegan después de esa revisión. El tiempo de clase no tiene que consumirse esperando una impresión que nadie comprobó en pantalla.</a:t>
            </a:r>
          </a:p>
        </p:txBody>
      </p:sp>
    </p:spTree>
    <p:extLst>
      <p:ext uri="{BB962C8B-B14F-4D97-AF65-F5344CB8AC3E}">
        <p14:creationId xmlns:p14="http://schemas.microsoft.com/office/powerpoint/2010/main" val="972553194"/>
      </p:ext>
    </p:extLst>
  </p:cSld>
</p:sld>
</file>

<file path=ppt/slides/slide15.xml><?xml version="1.0" encoding="utf-8"?>
<p:sld xmlns:p="http://schemas.openxmlformats.org/presentationml/2006/main">
  <p:cSld>
    <p:bg>
      <p:bgPr>
        <a:solidFill xmlns:a="http://schemas.openxmlformats.org/drawingml/2006/main">
          <a:srgbClr val="FCFCF8"/>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A6214D5E-6C61-4F84-8C97-686164C494D8}"/>
              </a:ext>
            </a:extLst>
          </p:cNvPr>
          <p:cNvSpPr>
            <a:spLocks xmlns:a="http://schemas.openxmlformats.org/drawingml/2006/main" noGrp="1"/>
          </p:cNvSpPr>
          <p:nvPr/>
        </p:nvSpPr>
        <p:spPr>
          <a:xfrm xmlns:a="http://schemas.openxmlformats.org/drawingml/2006/main">
            <a:off x="590550" y="428625"/>
            <a:ext cx="100965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75" b="1">
                <a:solidFill>
                  <a:srgbClr val="14231E"/>
                </a:solidFill>
                <a:latin typeface="Arial Narrow"/>
                <a:ea typeface="Arial Narrow"/>
                <a:cs typeface="Arial Narrow"/>
              </a:defRPr>
            </a:defPPr>
            <a:lvl1pPr>
              <a:defRPr sz="3375" b="1">
                <a:solidFill>
                  <a:srgbClr val="14231E"/>
                </a:solidFill>
                <a:latin typeface="Arial Narrow"/>
                <a:ea typeface="Arial Narrow"/>
                <a:cs typeface="Arial Narrow"/>
              </a:defRPr>
            </a:lvl1pPr>
            <a:lvl2pPr>
              <a:defRPr sz="3375" b="1">
                <a:solidFill>
                  <a:srgbClr val="14231E"/>
                </a:solidFill>
                <a:latin typeface="Arial Narrow"/>
                <a:ea typeface="Arial Narrow"/>
                <a:cs typeface="Arial Narrow"/>
              </a:defRPr>
            </a:lvl2pPr>
            <a:lvl3pPr>
              <a:defRPr sz="3375" b="1">
                <a:solidFill>
                  <a:srgbClr val="14231E"/>
                </a:solidFill>
                <a:latin typeface="Arial Narrow"/>
                <a:ea typeface="Arial Narrow"/>
                <a:cs typeface="Arial Narrow"/>
              </a:defRPr>
            </a:lvl3pPr>
            <a:lvl4pPr>
              <a:defRPr sz="3375" b="1">
                <a:solidFill>
                  <a:srgbClr val="14231E"/>
                </a:solidFill>
                <a:latin typeface="Arial Narrow"/>
                <a:ea typeface="Arial Narrow"/>
                <a:cs typeface="Arial Narrow"/>
              </a:defRPr>
            </a:lvl4pPr>
            <a:lvl5pPr>
              <a:defRPr sz="3375" b="1">
                <a:solidFill>
                  <a:srgbClr val="14231E"/>
                </a:solidFill>
                <a:latin typeface="Arial Narrow"/>
                <a:ea typeface="Arial Narrow"/>
                <a:cs typeface="Arial Narrow"/>
              </a:defRPr>
            </a:lvl5pPr>
            <a:lvl6pPr>
              <a:defRPr sz="3375" b="1">
                <a:solidFill>
                  <a:srgbClr val="14231E"/>
                </a:solidFill>
                <a:latin typeface="Arial Narrow"/>
                <a:ea typeface="Arial Narrow"/>
                <a:cs typeface="Arial Narrow"/>
              </a:defRPr>
            </a:lvl6pPr>
            <a:lvl7pPr>
              <a:defRPr sz="3375" b="1">
                <a:solidFill>
                  <a:srgbClr val="14231E"/>
                </a:solidFill>
                <a:latin typeface="Arial Narrow"/>
                <a:ea typeface="Arial Narrow"/>
                <a:cs typeface="Arial Narrow"/>
              </a:defRPr>
            </a:lvl7pPr>
            <a:lvl8pPr>
              <a:defRPr sz="3375" b="1">
                <a:solidFill>
                  <a:srgbClr val="14231E"/>
                </a:solidFill>
                <a:latin typeface="Arial Narrow"/>
                <a:ea typeface="Arial Narrow"/>
                <a:cs typeface="Arial Narrow"/>
              </a:defRPr>
            </a:lvl8pPr>
            <a:lvl9pPr>
              <a:defRPr sz="3375" b="1">
                <a:solidFill>
                  <a:srgbClr val="14231E"/>
                </a:solidFill>
                <a:latin typeface="Arial Narrow"/>
                <a:ea typeface="Arial Narrow"/>
                <a:cs typeface="Arial Narrow"/>
              </a:defRPr>
            </a:lvl9pPr>
          </a:lstStyle>
          <a:p xmlns:a="http://schemas.openxmlformats.org/drawingml/2006/main">
            <a:pPr>
              <a:defRPr sz="3375" b="1">
                <a:solidFill>
                  <a:srgbClr val="14231E"/>
                </a:solidFill>
                <a:latin typeface="Arial Narrow"/>
                <a:ea typeface="Arial Narrow"/>
                <a:cs typeface="Arial Narrow"/>
              </a:defRPr>
            </a:pPr>
            <a:r>
              <a:rPr sz="3375" b="1">
                <a:solidFill>
                  <a:srgbClr val="14231E"/>
                </a:solidFill>
                <a:latin typeface="Arial Narrow"/>
                <a:ea typeface="Arial Narrow"/>
                <a:cs typeface="Arial Narrow"/>
              </a:rPr>
              <a:t>Orden de trabajo propuesto</a:t>
            </a:r>
          </a:p>
        </p:txBody>
      </p:sp>
      <p:pic>
        <p:nvPicPr>
          <p:cNvPr id="2" name="">
            <a:extLst xmlns:a="http://schemas.openxmlformats.org/drawingml/2006/main">
              <a:ext uri="{FF2B5EF4-FFF2-40B4-BE49-F238E27FC236}">
                <a16:creationId xmlns:a16="http://schemas.microsoft.com/office/drawing/2014/main" id="{BB098231-760A-45F7-A026-56DC058197B8}"/>
              </a:ext>
            </a:extLst>
          </p:cNvPr>
          <p:cNvPicPr>
            <a:picLocks xmlns:a="http://schemas.openxmlformats.org/drawingml/2006/main" noChangeAspect="1"/>
          </p:cNvPicPr>
          <p:nvPr/>
        </p:nvPicPr>
        <p:blipFill>
          <a:blip xmlns:r="http://schemas.openxmlformats.org/officeDocument/2006/relationships" xmlns:a="http://schemas.openxmlformats.org/drawingml/2006/main" r:embed="Rf33f99ba6def4c18"/>
          <a:stretch xmlns:a="http://schemas.openxmlformats.org/drawingml/2006/main"/>
        </p:blipFill>
        <p:spPr>
          <a:xfrm xmlns:a="http://schemas.openxmlformats.org/drawingml/2006/main">
            <a:off x="10858500" y="337942"/>
            <a:ext cx="762000" cy="276616"/>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9D847406-D1F3-4FA2-87DA-18BA62BD2A2A}"/>
              </a:ext>
            </a:extLst>
          </p:cNvPr>
          <p:cNvSpPr>
            <a:spLocks xmlns:a="http://schemas.openxmlformats.org/drawingml/2006/main" noGrp="1"/>
          </p:cNvSpPr>
          <p:nvPr/>
        </p:nvSpPr>
        <p:spPr>
          <a:xfrm xmlns:a="http://schemas.openxmlformats.org/drawingml/2006/main">
            <a:off x="590550" y="6467475"/>
            <a:ext cx="108108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58665F"/>
                </a:solidFill>
                <a:latin typeface="Consolas"/>
                <a:ea typeface="Consolas"/>
                <a:cs typeface="Consolas"/>
              </a:defRPr>
            </a:defPPr>
            <a:lvl1pPr>
              <a:defRPr sz="1125" b="0">
                <a:solidFill>
                  <a:srgbClr val="58665F"/>
                </a:solidFill>
                <a:latin typeface="Consolas"/>
                <a:ea typeface="Consolas"/>
                <a:cs typeface="Consolas"/>
              </a:defRPr>
            </a:lvl1pPr>
            <a:lvl2pPr>
              <a:defRPr sz="1125" b="0">
                <a:solidFill>
                  <a:srgbClr val="58665F"/>
                </a:solidFill>
                <a:latin typeface="Consolas"/>
                <a:ea typeface="Consolas"/>
                <a:cs typeface="Consolas"/>
              </a:defRPr>
            </a:lvl2pPr>
            <a:lvl3pPr>
              <a:defRPr sz="1125" b="0">
                <a:solidFill>
                  <a:srgbClr val="58665F"/>
                </a:solidFill>
                <a:latin typeface="Consolas"/>
                <a:ea typeface="Consolas"/>
                <a:cs typeface="Consolas"/>
              </a:defRPr>
            </a:lvl3pPr>
            <a:lvl4pPr>
              <a:defRPr sz="1125" b="0">
                <a:solidFill>
                  <a:srgbClr val="58665F"/>
                </a:solidFill>
                <a:latin typeface="Consolas"/>
                <a:ea typeface="Consolas"/>
                <a:cs typeface="Consolas"/>
              </a:defRPr>
            </a:lvl4pPr>
            <a:lvl5pPr>
              <a:defRPr sz="1125" b="0">
                <a:solidFill>
                  <a:srgbClr val="58665F"/>
                </a:solidFill>
                <a:latin typeface="Consolas"/>
                <a:ea typeface="Consolas"/>
                <a:cs typeface="Consolas"/>
              </a:defRPr>
            </a:lvl5pPr>
            <a:lvl6pPr>
              <a:defRPr sz="1125" b="0">
                <a:solidFill>
                  <a:srgbClr val="58665F"/>
                </a:solidFill>
                <a:latin typeface="Consolas"/>
                <a:ea typeface="Consolas"/>
                <a:cs typeface="Consolas"/>
              </a:defRPr>
            </a:lvl6pPr>
            <a:lvl7pPr>
              <a:defRPr sz="1125" b="0">
                <a:solidFill>
                  <a:srgbClr val="58665F"/>
                </a:solidFill>
                <a:latin typeface="Consolas"/>
                <a:ea typeface="Consolas"/>
                <a:cs typeface="Consolas"/>
              </a:defRPr>
            </a:lvl7pPr>
            <a:lvl8pPr>
              <a:defRPr sz="1125" b="0">
                <a:solidFill>
                  <a:srgbClr val="58665F"/>
                </a:solidFill>
                <a:latin typeface="Consolas"/>
                <a:ea typeface="Consolas"/>
                <a:cs typeface="Consolas"/>
              </a:defRPr>
            </a:lvl8pPr>
            <a:lvl9pPr>
              <a:defRPr sz="1125" b="0">
                <a:solidFill>
                  <a:srgbClr val="58665F"/>
                </a:solidFill>
                <a:latin typeface="Consolas"/>
                <a:ea typeface="Consolas"/>
                <a:cs typeface="Consolas"/>
              </a:defRPr>
            </a:lvl9pPr>
          </a:lstStyle>
          <a:p xmlns:a="http://schemas.openxmlformats.org/drawingml/2006/main">
            <a:pPr>
              <a:defRPr sz="1125" b="0">
                <a:solidFill>
                  <a:srgbClr val="58665F"/>
                </a:solidFill>
                <a:latin typeface="Consolas"/>
                <a:ea typeface="Consolas"/>
                <a:cs typeface="Consolas"/>
              </a:defRPr>
            </a:pPr>
            <a:r>
              <a:rPr sz="1125" b="0">
                <a:solidFill>
                  <a:srgbClr val="58665F"/>
                </a:solidFill>
                <a:latin typeface="Consolas"/>
                <a:ea typeface="Consolas"/>
                <a:cs typeface="Consolas"/>
              </a:rPr>
              <a:t>MECRO   SEMANA 3   CLASE 05   15/24</a:t>
            </a:r>
          </a:p>
        </p:txBody>
      </p:sp>
      <p:graphicFrame>
        <p:nvGraphicFramePr>
          <p:cNvPr id="4" name="">
            <a:extLst xmlns:a="http://schemas.openxmlformats.org/drawingml/2006/main">
              <a:ext uri="{FF2B5EF4-FFF2-40B4-BE49-F238E27FC236}">
                <a16:creationId xmlns:a16="http://schemas.microsoft.com/office/drawing/2014/main" id="{361C9D0E-536C-4161-AD07-704CA1927893}"/>
              </a:ext>
            </a:extLst>
          </p:cNvPr>
          <p:cNvGraphicFramePr/>
          <p:nvPr/>
        </p:nvGraphicFramePr>
        <p:xfrm>
          <a:off xmlns:a="http://schemas.openxmlformats.org/drawingml/2006/main" x="590550" y="1752600"/>
          <a:ext xmlns:a="http://schemas.openxmlformats.org/drawingml/2006/main" cx="11010900" cy="3590925"/>
        </p:xfrm>
        <a:graphic xmlns:a="http://schemas.openxmlformats.org/drawingml/2006/main">
          <a:graphicData uri="http://schemas.openxmlformats.org/drawingml/2006/table">
            <a:tbl>
              <a:tblPr/>
              <a:tblGrid>
                <a:gridCol w="2143125"/>
                <a:gridCol w="4524375"/>
                <a:gridCol w="4343400"/>
              </a:tblGrid>
              <a:tr h="718185">
                <a:tc>
                  <a:txBody>
                    <a:bodyPr/>
                    <a:lstStyle/>
                    <a:p>
                      <a:r>
                        <a:rPr sz="2025" b="1">
                          <a:solidFill>
                            <a:srgbClr val="FFFFFF"/>
                          </a:solidFill>
                          <a:latin typeface="Arial"/>
                          <a:ea typeface="Arial"/>
                          <a:cs typeface="Arial"/>
                        </a:rPr>
                        <a:t>Prioridad</a:t>
                      </a:r>
                    </a:p>
                  </a:txBody>
                  <a:tcPr marL="91440" marR="91440" marT="45720" marB="45720">
                    <a:lnL w="9525">
                      <a:solidFill>
                        <a:srgbClr val="BFCEC3"/>
                      </a:solidFill>
                      <a:prstDash val="solid"/>
                    </a:lnL>
                    <a:lnR w="9525">
                      <a:solidFill>
                        <a:srgbClr val="BFCEC3"/>
                      </a:solidFill>
                      <a:prstDash val="solid"/>
                    </a:lnR>
                    <a:lnT w="9525">
                      <a:solidFill>
                        <a:srgbClr val="BFCEC3"/>
                      </a:solidFill>
                      <a:prstDash val="solid"/>
                    </a:lnT>
                    <a:lnB w="9525">
                      <a:solidFill>
                        <a:srgbClr val="BFCEC3"/>
                      </a:solidFill>
                      <a:prstDash val="solid"/>
                    </a:lnB>
                    <a:solidFill>
                      <a:srgbClr val="244F3D"/>
                    </a:solidFill>
                  </a:tcPr>
                </a:tc>
                <a:tc>
                  <a:txBody>
                    <a:bodyPr/>
                    <a:lstStyle/>
                    <a:p>
                      <a:r>
                        <a:rPr sz="2025" b="1">
                          <a:solidFill>
                            <a:srgbClr val="FFFFFF"/>
                          </a:solidFill>
                          <a:latin typeface="Arial"/>
                          <a:ea typeface="Arial"/>
                          <a:cs typeface="Arial"/>
                        </a:rPr>
                        <a:t>Pieza</a:t>
                      </a:r>
                    </a:p>
                  </a:txBody>
                  <a:tcPr marL="91440" marR="91440" marT="45720" marB="45720">
                    <a:lnR w="9525">
                      <a:solidFill>
                        <a:srgbClr val="BFCEC3"/>
                      </a:solidFill>
                      <a:prstDash val="solid"/>
                    </a:lnR>
                    <a:lnT w="9525">
                      <a:solidFill>
                        <a:srgbClr val="BFCEC3"/>
                      </a:solidFill>
                      <a:prstDash val="solid"/>
                    </a:lnT>
                    <a:lnB w="9525">
                      <a:solidFill>
                        <a:srgbClr val="BFCEC3"/>
                      </a:solidFill>
                      <a:prstDash val="solid"/>
                    </a:lnB>
                    <a:solidFill>
                      <a:srgbClr val="244F3D"/>
                    </a:solidFill>
                  </a:tcPr>
                </a:tc>
                <a:tc>
                  <a:txBody>
                    <a:bodyPr/>
                    <a:lstStyle/>
                    <a:p>
                      <a:r>
                        <a:rPr sz="2025" b="1">
                          <a:solidFill>
                            <a:srgbClr val="FFFFFF"/>
                          </a:solidFill>
                          <a:latin typeface="Arial"/>
                          <a:ea typeface="Arial"/>
                          <a:cs typeface="Arial"/>
                        </a:rPr>
                        <a:t>Motivo</a:t>
                      </a:r>
                    </a:p>
                  </a:txBody>
                  <a:tcPr marL="91440" marR="91440" marT="45720" marB="45720">
                    <a:lnR w="9525">
                      <a:solidFill>
                        <a:srgbClr val="BFCEC3"/>
                      </a:solidFill>
                      <a:prstDash val="solid"/>
                    </a:lnR>
                    <a:lnT w="9525">
                      <a:solidFill>
                        <a:srgbClr val="BFCEC3"/>
                      </a:solidFill>
                      <a:prstDash val="solid"/>
                    </a:lnT>
                    <a:lnB w="9525">
                      <a:solidFill>
                        <a:srgbClr val="BFCEC3"/>
                      </a:solidFill>
                      <a:prstDash val="solid"/>
                    </a:lnB>
                    <a:solidFill>
                      <a:srgbClr val="244F3D"/>
                    </a:solidFill>
                  </a:tcPr>
                </a:tc>
              </a:tr>
              <a:tr h="718185">
                <a:tc>
                  <a:txBody>
                    <a:bodyPr/>
                    <a:lstStyle/>
                    <a:p>
                      <a:r>
                        <a:rPr sz="2025" b="0">
                          <a:solidFill>
                            <a:srgbClr val="14231E"/>
                          </a:solidFill>
                          <a:latin typeface="Arial"/>
                          <a:ea typeface="Arial"/>
                          <a:cs typeface="Arial"/>
                        </a:rPr>
                        <a:t>1</a:t>
                      </a:r>
                    </a:p>
                  </a:txBody>
                  <a:tcPr marL="91440" marR="91440" marT="45720" marB="45720">
                    <a:lnL w="9525">
                      <a:solidFill>
                        <a:srgbClr val="BFCEC3"/>
                      </a:solidFill>
                      <a:prstDash val="solid"/>
                    </a:lnL>
                    <a:lnR w="9525">
                      <a:solidFill>
                        <a:srgbClr val="BFCEC3"/>
                      </a:solidFill>
                      <a:prstDash val="solid"/>
                    </a:lnR>
                    <a:lnB w="9525">
                      <a:solidFill>
                        <a:srgbClr val="BFCEC3"/>
                      </a:solidFill>
                      <a:prstDash val="solid"/>
                    </a:lnB>
                    <a:solidFill>
                      <a:srgbClr val="EAF3EC"/>
                    </a:solidFill>
                  </a:tcPr>
                </a:tc>
                <a:tc>
                  <a:txBody>
                    <a:bodyPr/>
                    <a:lstStyle/>
                    <a:p>
                      <a:r>
                        <a:rPr sz="2025" b="0">
                          <a:solidFill>
                            <a:srgbClr val="14231E"/>
                          </a:solidFill>
                          <a:latin typeface="Arial"/>
                          <a:ea typeface="Arial"/>
                          <a:cs typeface="Arial"/>
                        </a:rPr>
                        <a:t>Muestra corta de encaje</a:t>
                      </a:r>
                    </a:p>
                  </a:txBody>
                  <a:tcPr marL="91440" marR="91440" marT="45720" marB="45720">
                    <a:lnR w="9525">
                      <a:solidFill>
                        <a:srgbClr val="BFCEC3"/>
                      </a:solidFill>
                      <a:prstDash val="solid"/>
                    </a:lnR>
                    <a:lnB w="9525">
                      <a:solidFill>
                        <a:srgbClr val="BFCEC3"/>
                      </a:solidFill>
                      <a:prstDash val="solid"/>
                    </a:lnB>
                    <a:solidFill>
                      <a:srgbClr val="EAF3EC"/>
                    </a:solidFill>
                  </a:tcPr>
                </a:tc>
                <a:tc>
                  <a:txBody>
                    <a:bodyPr/>
                    <a:lstStyle/>
                    <a:p>
                      <a:r>
                        <a:rPr sz="2025" b="0">
                          <a:solidFill>
                            <a:srgbClr val="14231E"/>
                          </a:solidFill>
                          <a:latin typeface="Arial"/>
                          <a:ea typeface="Arial"/>
                          <a:cs typeface="Arial"/>
                        </a:rPr>
                        <a:t>Evitar repetir una nariz completa</a:t>
                      </a:r>
                    </a:p>
                  </a:txBody>
                  <a:tcPr marL="91440" marR="91440" marT="45720" marB="45720">
                    <a:lnR w="9525">
                      <a:solidFill>
                        <a:srgbClr val="BFCEC3"/>
                      </a:solidFill>
                      <a:prstDash val="solid"/>
                    </a:lnR>
                    <a:lnB w="9525">
                      <a:solidFill>
                        <a:srgbClr val="BFCEC3"/>
                      </a:solidFill>
                      <a:prstDash val="solid"/>
                    </a:lnB>
                    <a:solidFill>
                      <a:srgbClr val="EAF3EC"/>
                    </a:solidFill>
                  </a:tcPr>
                </a:tc>
              </a:tr>
              <a:tr h="718185">
                <a:tc>
                  <a:txBody>
                    <a:bodyPr/>
                    <a:lstStyle/>
                    <a:p>
                      <a:r>
                        <a:rPr sz="2025" b="0">
                          <a:solidFill>
                            <a:srgbClr val="14231E"/>
                          </a:solidFill>
                          <a:latin typeface="Arial"/>
                          <a:ea typeface="Arial"/>
                          <a:cs typeface="Arial"/>
                        </a:rPr>
                        <a:t>2</a:t>
                      </a:r>
                    </a:p>
                  </a:txBody>
                  <a:tcPr marL="91440" marR="91440" marT="45720" marB="45720">
                    <a:lnL w="9525">
                      <a:solidFill>
                        <a:srgbClr val="BFCEC3"/>
                      </a:solidFill>
                      <a:prstDash val="solid"/>
                    </a:lnL>
                    <a:lnR w="9525">
                      <a:solidFill>
                        <a:srgbClr val="BFCEC3"/>
                      </a:solidFill>
                      <a:prstDash val="solid"/>
                    </a:lnR>
                    <a:lnB w="9525">
                      <a:solidFill>
                        <a:srgbClr val="BFCEC3"/>
                      </a:solidFill>
                      <a:prstDash val="solid"/>
                    </a:lnB>
                    <a:solidFill>
                      <a:srgbClr val="FCFCF8"/>
                    </a:solidFill>
                  </a:tcPr>
                </a:tc>
                <a:tc>
                  <a:txBody>
                    <a:bodyPr/>
                    <a:lstStyle/>
                    <a:p>
                      <a:r>
                        <a:rPr sz="2025" b="0">
                          <a:solidFill>
                            <a:srgbClr val="14231E"/>
                          </a:solidFill>
                          <a:latin typeface="Arial"/>
                          <a:ea typeface="Arial"/>
                          <a:cs typeface="Arial"/>
                        </a:rPr>
                        <a:t>Muestra de raíz o útil</a:t>
                      </a:r>
                    </a:p>
                  </a:txBody>
                  <a:tcPr marL="91440" marR="91440" marT="45720" marB="45720">
                    <a:lnR w="9525">
                      <a:solidFill>
                        <a:srgbClr val="BFCEC3"/>
                      </a:solidFill>
                      <a:prstDash val="solid"/>
                    </a:lnR>
                    <a:lnB w="9525">
                      <a:solidFill>
                        <a:srgbClr val="BFCEC3"/>
                      </a:solidFill>
                      <a:prstDash val="solid"/>
                    </a:lnB>
                    <a:solidFill>
                      <a:srgbClr val="FCFCF8"/>
                    </a:solidFill>
                  </a:tcPr>
                </a:tc>
                <a:tc>
                  <a:txBody>
                    <a:bodyPr/>
                    <a:lstStyle/>
                    <a:p>
                      <a:r>
                        <a:rPr sz="2025" b="0">
                          <a:solidFill>
                            <a:srgbClr val="14231E"/>
                          </a:solidFill>
                          <a:latin typeface="Arial"/>
                          <a:ea typeface="Arial"/>
                          <a:cs typeface="Arial"/>
                        </a:rPr>
                        <a:t>Comprobar referencia y posición</a:t>
                      </a:r>
                    </a:p>
                  </a:txBody>
                  <a:tcPr marL="91440" marR="91440" marT="45720" marB="45720">
                    <a:lnR w="9525">
                      <a:solidFill>
                        <a:srgbClr val="BFCEC3"/>
                      </a:solidFill>
                      <a:prstDash val="solid"/>
                    </a:lnR>
                    <a:lnB w="9525">
                      <a:solidFill>
                        <a:srgbClr val="BFCEC3"/>
                      </a:solidFill>
                      <a:prstDash val="solid"/>
                    </a:lnB>
                    <a:solidFill>
                      <a:srgbClr val="FCFCF8"/>
                    </a:solidFill>
                  </a:tcPr>
                </a:tc>
              </a:tr>
              <a:tr h="718185">
                <a:tc>
                  <a:txBody>
                    <a:bodyPr/>
                    <a:lstStyle/>
                    <a:p>
                      <a:r>
                        <a:rPr sz="2025" b="0">
                          <a:solidFill>
                            <a:srgbClr val="14231E"/>
                          </a:solidFill>
                          <a:latin typeface="Arial"/>
                          <a:ea typeface="Arial"/>
                          <a:cs typeface="Arial"/>
                        </a:rPr>
                        <a:t>3</a:t>
                      </a:r>
                    </a:p>
                  </a:txBody>
                  <a:tcPr marL="91440" marR="91440" marT="45720" marB="45720">
                    <a:lnL w="9525">
                      <a:solidFill>
                        <a:srgbClr val="BFCEC3"/>
                      </a:solidFill>
                      <a:prstDash val="solid"/>
                    </a:lnL>
                    <a:lnR w="9525">
                      <a:solidFill>
                        <a:srgbClr val="BFCEC3"/>
                      </a:solidFill>
                      <a:prstDash val="solid"/>
                    </a:lnR>
                    <a:lnB w="9525">
                      <a:solidFill>
                        <a:srgbClr val="BFCEC3"/>
                      </a:solidFill>
                      <a:prstDash val="solid"/>
                    </a:lnB>
                    <a:solidFill>
                      <a:srgbClr val="EAF3EC"/>
                    </a:solidFill>
                  </a:tcPr>
                </a:tc>
                <a:tc>
                  <a:txBody>
                    <a:bodyPr/>
                    <a:lstStyle/>
                    <a:p>
                      <a:r>
                        <a:rPr sz="2025" b="0">
                          <a:solidFill>
                            <a:srgbClr val="14231E"/>
                          </a:solidFill>
                          <a:latin typeface="Arial"/>
                          <a:ea typeface="Arial"/>
                          <a:cs typeface="Arial"/>
                        </a:rPr>
                        <a:t>Pieza completa revisada</a:t>
                      </a:r>
                    </a:p>
                  </a:txBody>
                  <a:tcPr marL="91440" marR="91440" marT="45720" marB="45720">
                    <a:lnR w="9525">
                      <a:solidFill>
                        <a:srgbClr val="BFCEC3"/>
                      </a:solidFill>
                      <a:prstDash val="solid"/>
                    </a:lnR>
                    <a:lnB w="9525">
                      <a:solidFill>
                        <a:srgbClr val="BFCEC3"/>
                      </a:solidFill>
                      <a:prstDash val="solid"/>
                    </a:lnB>
                    <a:solidFill>
                      <a:srgbClr val="EAF3EC"/>
                    </a:solidFill>
                  </a:tcPr>
                </a:tc>
                <a:tc>
                  <a:txBody>
                    <a:bodyPr/>
                    <a:lstStyle/>
                    <a:p>
                      <a:r>
                        <a:rPr sz="2025" b="0">
                          <a:solidFill>
                            <a:srgbClr val="14231E"/>
                          </a:solidFill>
                          <a:latin typeface="Arial"/>
                          <a:ea typeface="Arial"/>
                          <a:cs typeface="Arial"/>
                        </a:rPr>
                        <a:t>Fabricar con decisiones registradas</a:t>
                      </a:r>
                    </a:p>
                  </a:txBody>
                  <a:tcPr marL="91440" marR="91440" marT="45720" marB="45720">
                    <a:lnR w="9525">
                      <a:solidFill>
                        <a:srgbClr val="BFCEC3"/>
                      </a:solidFill>
                      <a:prstDash val="solid"/>
                    </a:lnR>
                    <a:lnB w="9525">
                      <a:solidFill>
                        <a:srgbClr val="BFCEC3"/>
                      </a:solidFill>
                      <a:prstDash val="solid"/>
                    </a:lnB>
                    <a:solidFill>
                      <a:srgbClr val="EAF3EC"/>
                    </a:solidFill>
                  </a:tcPr>
                </a:tc>
              </a:tr>
              <a:tr h="718185">
                <a:tc>
                  <a:txBody>
                    <a:bodyPr/>
                    <a:lstStyle/>
                    <a:p>
                      <a:r>
                        <a:rPr sz="2025" b="0">
                          <a:solidFill>
                            <a:srgbClr val="14231E"/>
                          </a:solidFill>
                          <a:latin typeface="Arial"/>
                          <a:ea typeface="Arial"/>
                          <a:cs typeface="Arial"/>
                        </a:rPr>
                        <a:t>4</a:t>
                      </a:r>
                    </a:p>
                  </a:txBody>
                  <a:tcPr marL="91440" marR="91440" marT="45720" marB="45720">
                    <a:lnL w="9525">
                      <a:solidFill>
                        <a:srgbClr val="BFCEC3"/>
                      </a:solidFill>
                      <a:prstDash val="solid"/>
                    </a:lnL>
                    <a:lnR w="9525">
                      <a:solidFill>
                        <a:srgbClr val="BFCEC3"/>
                      </a:solidFill>
                      <a:prstDash val="solid"/>
                    </a:lnR>
                    <a:lnB w="9525">
                      <a:solidFill>
                        <a:srgbClr val="BFCEC3"/>
                      </a:solidFill>
                      <a:prstDash val="solid"/>
                    </a:lnB>
                    <a:solidFill>
                      <a:srgbClr val="FCFCF8"/>
                    </a:solidFill>
                  </a:tcPr>
                </a:tc>
                <a:tc>
                  <a:txBody>
                    <a:bodyPr/>
                    <a:lstStyle/>
                    <a:p>
                      <a:r>
                        <a:rPr sz="2025" b="0">
                          <a:solidFill>
                            <a:srgbClr val="14231E"/>
                          </a:solidFill>
                          <a:latin typeface="Arial"/>
                          <a:ea typeface="Arial"/>
                          <a:cs typeface="Arial"/>
                        </a:rPr>
                        <a:t>Repuesto identificado</a:t>
                      </a:r>
                    </a:p>
                  </a:txBody>
                  <a:tcPr marL="91440" marR="91440" marT="45720" marB="45720">
                    <a:lnR w="9525">
                      <a:solidFill>
                        <a:srgbClr val="BFCEC3"/>
                      </a:solidFill>
                      <a:prstDash val="solid"/>
                    </a:lnR>
                    <a:lnB w="9525">
                      <a:solidFill>
                        <a:srgbClr val="BFCEC3"/>
                      </a:solidFill>
                      <a:prstDash val="solid"/>
                    </a:lnB>
                    <a:solidFill>
                      <a:srgbClr val="FCFCF8"/>
                    </a:solidFill>
                  </a:tcPr>
                </a:tc>
                <a:tc>
                  <a:txBody>
                    <a:bodyPr/>
                    <a:lstStyle/>
                    <a:p>
                      <a:r>
                        <a:rPr sz="2025" b="0">
                          <a:solidFill>
                            <a:srgbClr val="14231E"/>
                          </a:solidFill>
                          <a:latin typeface="Arial"/>
                          <a:ea typeface="Arial"/>
                          <a:cs typeface="Arial"/>
                        </a:rPr>
                        <a:t>Preparar continuidad del taller</a:t>
                      </a:r>
                    </a:p>
                  </a:txBody>
                  <a:tcPr marL="91440" marR="91440" marT="45720" marB="45720">
                    <a:lnR w="9525">
                      <a:solidFill>
                        <a:srgbClr val="BFCEC3"/>
                      </a:solidFill>
                      <a:prstDash val="solid"/>
                    </a:lnR>
                    <a:lnB w="9525">
                      <a:solidFill>
                        <a:srgbClr val="BFCEC3"/>
                      </a:solidFill>
                      <a:prstDash val="solid"/>
                    </a:lnB>
                    <a:solidFill>
                      <a:srgbClr val="FCFCF8"/>
                    </a:solidFill>
                  </a:tcPr>
                </a:tc>
              </a:tr>
            </a:tbl>
          </a:graphicData>
        </a:graphic>
      </p:graphicFrame>
    </p:spTree>
    <p:extLst>
      <p:ext uri="{BB962C8B-B14F-4D97-AF65-F5344CB8AC3E}">
        <p14:creationId xmlns:p14="http://schemas.microsoft.com/office/powerpoint/2010/main" val="897878101"/>
      </p:ext>
    </p:extLst>
  </p:cSld>
</p:sld>
</file>

<file path=ppt/slides/slide16.xml><?xml version="1.0" encoding="utf-8"?>
<p:sld xmlns:p="http://schemas.openxmlformats.org/presentationml/2006/main">
  <p:cSld>
    <p:bg>
      <p:bgPr>
        <a:solidFill xmlns:a="http://schemas.openxmlformats.org/drawingml/2006/main">
          <a:srgbClr val="FCFCF8"/>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50109B4B-9A59-4239-B858-1F1DCE43B8D5}"/>
              </a:ext>
            </a:extLst>
          </p:cNvPr>
          <p:cNvSpPr>
            <a:spLocks xmlns:a="http://schemas.openxmlformats.org/drawingml/2006/main" noGrp="1"/>
          </p:cNvSpPr>
          <p:nvPr/>
        </p:nvSpPr>
        <p:spPr>
          <a:xfrm xmlns:a="http://schemas.openxmlformats.org/drawingml/2006/main">
            <a:off x="590550" y="428625"/>
            <a:ext cx="100965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75" b="1">
                <a:solidFill>
                  <a:srgbClr val="14231E"/>
                </a:solidFill>
                <a:latin typeface="Arial Narrow"/>
                <a:ea typeface="Arial Narrow"/>
                <a:cs typeface="Arial Narrow"/>
              </a:defRPr>
            </a:defPPr>
            <a:lvl1pPr>
              <a:defRPr sz="3375" b="1">
                <a:solidFill>
                  <a:srgbClr val="14231E"/>
                </a:solidFill>
                <a:latin typeface="Arial Narrow"/>
                <a:ea typeface="Arial Narrow"/>
                <a:cs typeface="Arial Narrow"/>
              </a:defRPr>
            </a:lvl1pPr>
            <a:lvl2pPr>
              <a:defRPr sz="3375" b="1">
                <a:solidFill>
                  <a:srgbClr val="14231E"/>
                </a:solidFill>
                <a:latin typeface="Arial Narrow"/>
                <a:ea typeface="Arial Narrow"/>
                <a:cs typeface="Arial Narrow"/>
              </a:defRPr>
            </a:lvl2pPr>
            <a:lvl3pPr>
              <a:defRPr sz="3375" b="1">
                <a:solidFill>
                  <a:srgbClr val="14231E"/>
                </a:solidFill>
                <a:latin typeface="Arial Narrow"/>
                <a:ea typeface="Arial Narrow"/>
                <a:cs typeface="Arial Narrow"/>
              </a:defRPr>
            </a:lvl3pPr>
            <a:lvl4pPr>
              <a:defRPr sz="3375" b="1">
                <a:solidFill>
                  <a:srgbClr val="14231E"/>
                </a:solidFill>
                <a:latin typeface="Arial Narrow"/>
                <a:ea typeface="Arial Narrow"/>
                <a:cs typeface="Arial Narrow"/>
              </a:defRPr>
            </a:lvl4pPr>
            <a:lvl5pPr>
              <a:defRPr sz="3375" b="1">
                <a:solidFill>
                  <a:srgbClr val="14231E"/>
                </a:solidFill>
                <a:latin typeface="Arial Narrow"/>
                <a:ea typeface="Arial Narrow"/>
                <a:cs typeface="Arial Narrow"/>
              </a:defRPr>
            </a:lvl5pPr>
            <a:lvl6pPr>
              <a:defRPr sz="3375" b="1">
                <a:solidFill>
                  <a:srgbClr val="14231E"/>
                </a:solidFill>
                <a:latin typeface="Arial Narrow"/>
                <a:ea typeface="Arial Narrow"/>
                <a:cs typeface="Arial Narrow"/>
              </a:defRPr>
            </a:lvl6pPr>
            <a:lvl7pPr>
              <a:defRPr sz="3375" b="1">
                <a:solidFill>
                  <a:srgbClr val="14231E"/>
                </a:solidFill>
                <a:latin typeface="Arial Narrow"/>
                <a:ea typeface="Arial Narrow"/>
                <a:cs typeface="Arial Narrow"/>
              </a:defRPr>
            </a:lvl7pPr>
            <a:lvl8pPr>
              <a:defRPr sz="3375" b="1">
                <a:solidFill>
                  <a:srgbClr val="14231E"/>
                </a:solidFill>
                <a:latin typeface="Arial Narrow"/>
                <a:ea typeface="Arial Narrow"/>
                <a:cs typeface="Arial Narrow"/>
              </a:defRPr>
            </a:lvl8pPr>
            <a:lvl9pPr>
              <a:defRPr sz="3375" b="1">
                <a:solidFill>
                  <a:srgbClr val="14231E"/>
                </a:solidFill>
                <a:latin typeface="Arial Narrow"/>
                <a:ea typeface="Arial Narrow"/>
                <a:cs typeface="Arial Narrow"/>
              </a:defRPr>
            </a:lvl9pPr>
          </a:lstStyle>
          <a:p xmlns:a="http://schemas.openxmlformats.org/drawingml/2006/main">
            <a:pPr>
              <a:defRPr sz="3375" b="1">
                <a:solidFill>
                  <a:srgbClr val="14231E"/>
                </a:solidFill>
                <a:latin typeface="Arial Narrow"/>
                <a:ea typeface="Arial Narrow"/>
                <a:cs typeface="Arial Narrow"/>
              </a:defRPr>
            </a:pPr>
            <a:r>
              <a:rPr sz="3375" b="1">
                <a:solidFill>
                  <a:srgbClr val="14231E"/>
                </a:solidFill>
                <a:latin typeface="Arial Narrow"/>
                <a:ea typeface="Arial Narrow"/>
                <a:cs typeface="Arial Narrow"/>
              </a:rPr>
              <a:t>Práctica: Organizar la cola de impresión del curso</a:t>
            </a:r>
          </a:p>
        </p:txBody>
      </p:sp>
      <p:pic>
        <p:nvPicPr>
          <p:cNvPr id="2" name="">
            <a:extLst xmlns:a="http://schemas.openxmlformats.org/drawingml/2006/main">
              <a:ext uri="{FF2B5EF4-FFF2-40B4-BE49-F238E27FC236}">
                <a16:creationId xmlns:a16="http://schemas.microsoft.com/office/drawing/2014/main" id="{A2EEA4ED-5D4F-4BA0-8A90-4D6B46E671E1}"/>
              </a:ext>
            </a:extLst>
          </p:cNvPr>
          <p:cNvPicPr>
            <a:picLocks xmlns:a="http://schemas.openxmlformats.org/drawingml/2006/main" noChangeAspect="1"/>
          </p:cNvPicPr>
          <p:nvPr/>
        </p:nvPicPr>
        <p:blipFill>
          <a:blip xmlns:r="http://schemas.openxmlformats.org/officeDocument/2006/relationships" xmlns:a="http://schemas.openxmlformats.org/drawingml/2006/main" r:embed="Reb0cae8e5c3442db"/>
          <a:stretch xmlns:a="http://schemas.openxmlformats.org/drawingml/2006/main"/>
        </p:blipFill>
        <p:spPr>
          <a:xfrm xmlns:a="http://schemas.openxmlformats.org/drawingml/2006/main">
            <a:off x="10858500" y="337942"/>
            <a:ext cx="762000" cy="276616"/>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D0329107-2CA6-49CE-8DB6-53E9EC58876A}"/>
              </a:ext>
            </a:extLst>
          </p:cNvPr>
          <p:cNvSpPr>
            <a:spLocks xmlns:a="http://schemas.openxmlformats.org/drawingml/2006/main" noGrp="1"/>
          </p:cNvSpPr>
          <p:nvPr/>
        </p:nvSpPr>
        <p:spPr>
          <a:xfrm xmlns:a="http://schemas.openxmlformats.org/drawingml/2006/main">
            <a:off x="590550" y="6467475"/>
            <a:ext cx="108108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58665F"/>
                </a:solidFill>
                <a:latin typeface="Consolas"/>
                <a:ea typeface="Consolas"/>
                <a:cs typeface="Consolas"/>
              </a:defRPr>
            </a:defPPr>
            <a:lvl1pPr>
              <a:defRPr sz="1125" b="0">
                <a:solidFill>
                  <a:srgbClr val="58665F"/>
                </a:solidFill>
                <a:latin typeface="Consolas"/>
                <a:ea typeface="Consolas"/>
                <a:cs typeface="Consolas"/>
              </a:defRPr>
            </a:lvl1pPr>
            <a:lvl2pPr>
              <a:defRPr sz="1125" b="0">
                <a:solidFill>
                  <a:srgbClr val="58665F"/>
                </a:solidFill>
                <a:latin typeface="Consolas"/>
                <a:ea typeface="Consolas"/>
                <a:cs typeface="Consolas"/>
              </a:defRPr>
            </a:lvl2pPr>
            <a:lvl3pPr>
              <a:defRPr sz="1125" b="0">
                <a:solidFill>
                  <a:srgbClr val="58665F"/>
                </a:solidFill>
                <a:latin typeface="Consolas"/>
                <a:ea typeface="Consolas"/>
                <a:cs typeface="Consolas"/>
              </a:defRPr>
            </a:lvl3pPr>
            <a:lvl4pPr>
              <a:defRPr sz="1125" b="0">
                <a:solidFill>
                  <a:srgbClr val="58665F"/>
                </a:solidFill>
                <a:latin typeface="Consolas"/>
                <a:ea typeface="Consolas"/>
                <a:cs typeface="Consolas"/>
              </a:defRPr>
            </a:lvl4pPr>
            <a:lvl5pPr>
              <a:defRPr sz="1125" b="0">
                <a:solidFill>
                  <a:srgbClr val="58665F"/>
                </a:solidFill>
                <a:latin typeface="Consolas"/>
                <a:ea typeface="Consolas"/>
                <a:cs typeface="Consolas"/>
              </a:defRPr>
            </a:lvl5pPr>
            <a:lvl6pPr>
              <a:defRPr sz="1125" b="0">
                <a:solidFill>
                  <a:srgbClr val="58665F"/>
                </a:solidFill>
                <a:latin typeface="Consolas"/>
                <a:ea typeface="Consolas"/>
                <a:cs typeface="Consolas"/>
              </a:defRPr>
            </a:lvl6pPr>
            <a:lvl7pPr>
              <a:defRPr sz="1125" b="0">
                <a:solidFill>
                  <a:srgbClr val="58665F"/>
                </a:solidFill>
                <a:latin typeface="Consolas"/>
                <a:ea typeface="Consolas"/>
                <a:cs typeface="Consolas"/>
              </a:defRPr>
            </a:lvl7pPr>
            <a:lvl8pPr>
              <a:defRPr sz="1125" b="0">
                <a:solidFill>
                  <a:srgbClr val="58665F"/>
                </a:solidFill>
                <a:latin typeface="Consolas"/>
                <a:ea typeface="Consolas"/>
                <a:cs typeface="Consolas"/>
              </a:defRPr>
            </a:lvl8pPr>
            <a:lvl9pPr>
              <a:defRPr sz="1125" b="0">
                <a:solidFill>
                  <a:srgbClr val="58665F"/>
                </a:solidFill>
                <a:latin typeface="Consolas"/>
                <a:ea typeface="Consolas"/>
                <a:cs typeface="Consolas"/>
              </a:defRPr>
            </a:lvl9pPr>
          </a:lstStyle>
          <a:p xmlns:a="http://schemas.openxmlformats.org/drawingml/2006/main">
            <a:pPr>
              <a:defRPr sz="1125" b="0">
                <a:solidFill>
                  <a:srgbClr val="58665F"/>
                </a:solidFill>
                <a:latin typeface="Consolas"/>
                <a:ea typeface="Consolas"/>
                <a:cs typeface="Consolas"/>
              </a:defRPr>
            </a:pPr>
            <a:r>
              <a:rPr sz="1125" b="0">
                <a:solidFill>
                  <a:srgbClr val="58665F"/>
                </a:solidFill>
                <a:latin typeface="Consolas"/>
                <a:ea typeface="Consolas"/>
                <a:cs typeface="Consolas"/>
              </a:rPr>
              <a:t>MECRO   SEMANA 3   CLASE 05   16/24</a:t>
            </a:r>
          </a:p>
        </p:txBody>
      </p:sp>
      <p:sp>
        <p:nvSpPr>
          <p:cNvPr id="4" name="">
            <a:extLst xmlns:a="http://schemas.openxmlformats.org/drawingml/2006/main">
              <a:ext uri="{FF2B5EF4-FFF2-40B4-BE49-F238E27FC236}">
                <a16:creationId xmlns:a16="http://schemas.microsoft.com/office/drawing/2014/main" id="{6E716A42-2473-468B-9935-4D5BAC97F413}"/>
              </a:ext>
            </a:extLst>
          </p:cNvPr>
          <p:cNvSpPr>
            <a:spLocks xmlns:a="http://schemas.openxmlformats.org/drawingml/2006/main" noGrp="1"/>
          </p:cNvSpPr>
          <p:nvPr/>
        </p:nvSpPr>
        <p:spPr>
          <a:xfrm xmlns:a="http://schemas.openxmlformats.org/drawingml/2006/main">
            <a:off x="590550" y="1743075"/>
            <a:ext cx="10810875" cy="425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950" b="0">
                <a:solidFill>
                  <a:srgbClr val="14231E"/>
                </a:solidFill>
                <a:latin typeface="Arial"/>
                <a:ea typeface="Arial"/>
                <a:cs typeface="Arial"/>
              </a:defRPr>
            </a:defPPr>
            <a:lvl1pPr>
              <a:defRPr sz="1950" b="0">
                <a:solidFill>
                  <a:srgbClr val="14231E"/>
                </a:solidFill>
                <a:latin typeface="Arial"/>
                <a:ea typeface="Arial"/>
                <a:cs typeface="Arial"/>
              </a:defRPr>
            </a:lvl1pPr>
            <a:lvl2pPr>
              <a:defRPr sz="1950" b="0">
                <a:solidFill>
                  <a:srgbClr val="14231E"/>
                </a:solidFill>
                <a:latin typeface="Arial"/>
                <a:ea typeface="Arial"/>
                <a:cs typeface="Arial"/>
              </a:defRPr>
            </a:lvl2pPr>
            <a:lvl3pPr>
              <a:defRPr sz="1950" b="0">
                <a:solidFill>
                  <a:srgbClr val="14231E"/>
                </a:solidFill>
                <a:latin typeface="Arial"/>
                <a:ea typeface="Arial"/>
                <a:cs typeface="Arial"/>
              </a:defRPr>
            </a:lvl3pPr>
            <a:lvl4pPr>
              <a:defRPr sz="1950" b="0">
                <a:solidFill>
                  <a:srgbClr val="14231E"/>
                </a:solidFill>
                <a:latin typeface="Arial"/>
                <a:ea typeface="Arial"/>
                <a:cs typeface="Arial"/>
              </a:defRPr>
            </a:lvl4pPr>
            <a:lvl5pPr>
              <a:defRPr sz="1950" b="0">
                <a:solidFill>
                  <a:srgbClr val="14231E"/>
                </a:solidFill>
                <a:latin typeface="Arial"/>
                <a:ea typeface="Arial"/>
                <a:cs typeface="Arial"/>
              </a:defRPr>
            </a:lvl5pPr>
            <a:lvl6pPr>
              <a:defRPr sz="1950" b="0">
                <a:solidFill>
                  <a:srgbClr val="14231E"/>
                </a:solidFill>
                <a:latin typeface="Arial"/>
                <a:ea typeface="Arial"/>
                <a:cs typeface="Arial"/>
              </a:defRPr>
            </a:lvl6pPr>
            <a:lvl7pPr>
              <a:defRPr sz="1950" b="0">
                <a:solidFill>
                  <a:srgbClr val="14231E"/>
                </a:solidFill>
                <a:latin typeface="Arial"/>
                <a:ea typeface="Arial"/>
                <a:cs typeface="Arial"/>
              </a:defRPr>
            </a:lvl7pPr>
            <a:lvl8pPr>
              <a:defRPr sz="1950" b="0">
                <a:solidFill>
                  <a:srgbClr val="14231E"/>
                </a:solidFill>
                <a:latin typeface="Arial"/>
                <a:ea typeface="Arial"/>
                <a:cs typeface="Arial"/>
              </a:defRPr>
            </a:lvl8pPr>
            <a:lvl9pPr>
              <a:defRPr sz="1950" b="0">
                <a:solidFill>
                  <a:srgbClr val="14231E"/>
                </a:solidFill>
                <a:latin typeface="Arial"/>
                <a:ea typeface="Arial"/>
                <a:cs typeface="Arial"/>
              </a:defRPr>
            </a:lvl9pPr>
          </a:lstStyle>
          <a:p xmlns:a="http://schemas.openxmlformats.org/drawingml/2006/main">
            <a:pPr>
              <a:defRPr sz="1950" b="0">
                <a:solidFill>
                  <a:srgbClr val="14231E"/>
                </a:solidFill>
                <a:latin typeface="Arial"/>
                <a:ea typeface="Arial"/>
                <a:cs typeface="Arial"/>
              </a:defRPr>
            </a:pPr>
            <a:r>
              <a:rPr sz="1950" b="0">
                <a:solidFill>
                  <a:srgbClr val="14231E"/>
                </a:solidFill>
                <a:latin typeface="Arial"/>
                <a:ea typeface="Arial"/>
                <a:cs typeface="Arial"/>
              </a:rPr>
              <a:t>1. Nombra la solicitud con equipo, pieza y revisión.</a:t>
            </a:r>
          </a:p>
          <a:p xmlns:a="http://schemas.openxmlformats.org/drawingml/2006/main">
            <a:r>
              <a:t/>
            </a:r>
          </a:p>
          <a:p xmlns:a="http://schemas.openxmlformats.org/drawingml/2006/main">
            <a:pPr>
              <a:defRPr sz="1950" b="0">
                <a:solidFill>
                  <a:srgbClr val="14231E"/>
                </a:solidFill>
                <a:latin typeface="Arial"/>
                <a:ea typeface="Arial"/>
                <a:cs typeface="Arial"/>
              </a:defRPr>
            </a:pPr>
            <a:r>
              <a:rPr sz="1950" b="0">
                <a:solidFill>
                  <a:srgbClr val="14231E"/>
                </a:solidFill>
                <a:latin typeface="Arial"/>
                <a:ea typeface="Arial"/>
                <a:cs typeface="Arial"/>
              </a:rPr>
              <a:t>2. Incluye el material y la función que debe comprobarse.</a:t>
            </a:r>
          </a:p>
          <a:p xmlns:a="http://schemas.openxmlformats.org/drawingml/2006/main">
            <a:r>
              <a:t/>
            </a:r>
          </a:p>
          <a:p xmlns:a="http://schemas.openxmlformats.org/drawingml/2006/main">
            <a:pPr>
              <a:defRPr sz="1950" b="0">
                <a:solidFill>
                  <a:srgbClr val="14231E"/>
                </a:solidFill>
                <a:latin typeface="Arial"/>
                <a:ea typeface="Arial"/>
                <a:cs typeface="Arial"/>
              </a:defRPr>
            </a:pPr>
            <a:r>
              <a:rPr sz="1950" b="0">
                <a:solidFill>
                  <a:srgbClr val="14231E"/>
                </a:solidFill>
                <a:latin typeface="Arial"/>
                <a:ea typeface="Arial"/>
                <a:cs typeface="Arial"/>
              </a:rPr>
              <a:t>3. Añade tiempo estimado y la fecha en que se necesita la pieza.</a:t>
            </a:r>
          </a:p>
          <a:p xmlns:a="http://schemas.openxmlformats.org/drawingml/2006/main">
            <a:r>
              <a:t/>
            </a:r>
          </a:p>
          <a:p xmlns:a="http://schemas.openxmlformats.org/drawingml/2006/main">
            <a:pPr>
              <a:defRPr sz="1950" b="0">
                <a:solidFill>
                  <a:srgbClr val="14231E"/>
                </a:solidFill>
                <a:latin typeface="Arial"/>
                <a:ea typeface="Arial"/>
                <a:cs typeface="Arial"/>
              </a:defRPr>
            </a:pPr>
            <a:r>
              <a:rPr sz="1950" b="0">
                <a:solidFill>
                  <a:srgbClr val="14231E"/>
                </a:solidFill>
                <a:latin typeface="Arial"/>
                <a:ea typeface="Arial"/>
                <a:cs typeface="Arial"/>
              </a:rPr>
              <a:t>4. Después de fabricar, pesa, mide y registra el resultado sin sustituirlo por la estimación del laminador.</a:t>
            </a:r>
          </a:p>
        </p:txBody>
      </p:sp>
    </p:spTree>
    <p:extLst>
      <p:ext uri="{BB962C8B-B14F-4D97-AF65-F5344CB8AC3E}">
        <p14:creationId xmlns:p14="http://schemas.microsoft.com/office/powerpoint/2010/main" val="2126568420"/>
      </p:ext>
    </p:extLst>
  </p:cSld>
</p:sld>
</file>

<file path=ppt/slides/slide17.xml><?xml version="1.0" encoding="utf-8"?>
<p:sld xmlns:p="http://schemas.openxmlformats.org/presentationml/2006/main">
  <p:cSld>
    <p:bg>
      <p:bgPr>
        <a:solidFill xmlns:a="http://schemas.openxmlformats.org/drawingml/2006/main">
          <a:srgbClr val="FCFCF8"/>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8AB278DD-FDFC-4026-982C-CC2B554E83B3}"/>
              </a:ext>
            </a:extLst>
          </p:cNvPr>
          <p:cNvSpPr>
            <a:spLocks xmlns:a="http://schemas.openxmlformats.org/drawingml/2006/main" noGrp="1"/>
          </p:cNvSpPr>
          <p:nvPr/>
        </p:nvSpPr>
        <p:spPr>
          <a:xfrm xmlns:a="http://schemas.openxmlformats.org/drawingml/2006/main">
            <a:off x="590550" y="428625"/>
            <a:ext cx="100965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75" b="1">
                <a:solidFill>
                  <a:srgbClr val="14231E"/>
                </a:solidFill>
                <a:latin typeface="Arial Narrow"/>
                <a:ea typeface="Arial Narrow"/>
                <a:cs typeface="Arial Narrow"/>
              </a:defRPr>
            </a:defPPr>
            <a:lvl1pPr>
              <a:defRPr sz="3375" b="1">
                <a:solidFill>
                  <a:srgbClr val="14231E"/>
                </a:solidFill>
                <a:latin typeface="Arial Narrow"/>
                <a:ea typeface="Arial Narrow"/>
                <a:cs typeface="Arial Narrow"/>
              </a:defRPr>
            </a:lvl1pPr>
            <a:lvl2pPr>
              <a:defRPr sz="3375" b="1">
                <a:solidFill>
                  <a:srgbClr val="14231E"/>
                </a:solidFill>
                <a:latin typeface="Arial Narrow"/>
                <a:ea typeface="Arial Narrow"/>
                <a:cs typeface="Arial Narrow"/>
              </a:defRPr>
            </a:lvl2pPr>
            <a:lvl3pPr>
              <a:defRPr sz="3375" b="1">
                <a:solidFill>
                  <a:srgbClr val="14231E"/>
                </a:solidFill>
                <a:latin typeface="Arial Narrow"/>
                <a:ea typeface="Arial Narrow"/>
                <a:cs typeface="Arial Narrow"/>
              </a:defRPr>
            </a:lvl3pPr>
            <a:lvl4pPr>
              <a:defRPr sz="3375" b="1">
                <a:solidFill>
                  <a:srgbClr val="14231E"/>
                </a:solidFill>
                <a:latin typeface="Arial Narrow"/>
                <a:ea typeface="Arial Narrow"/>
                <a:cs typeface="Arial Narrow"/>
              </a:defRPr>
            </a:lvl4pPr>
            <a:lvl5pPr>
              <a:defRPr sz="3375" b="1">
                <a:solidFill>
                  <a:srgbClr val="14231E"/>
                </a:solidFill>
                <a:latin typeface="Arial Narrow"/>
                <a:ea typeface="Arial Narrow"/>
                <a:cs typeface="Arial Narrow"/>
              </a:defRPr>
            </a:lvl5pPr>
            <a:lvl6pPr>
              <a:defRPr sz="3375" b="1">
                <a:solidFill>
                  <a:srgbClr val="14231E"/>
                </a:solidFill>
                <a:latin typeface="Arial Narrow"/>
                <a:ea typeface="Arial Narrow"/>
                <a:cs typeface="Arial Narrow"/>
              </a:defRPr>
            </a:lvl6pPr>
            <a:lvl7pPr>
              <a:defRPr sz="3375" b="1">
                <a:solidFill>
                  <a:srgbClr val="14231E"/>
                </a:solidFill>
                <a:latin typeface="Arial Narrow"/>
                <a:ea typeface="Arial Narrow"/>
                <a:cs typeface="Arial Narrow"/>
              </a:defRPr>
            </a:lvl7pPr>
            <a:lvl8pPr>
              <a:defRPr sz="3375" b="1">
                <a:solidFill>
                  <a:srgbClr val="14231E"/>
                </a:solidFill>
                <a:latin typeface="Arial Narrow"/>
                <a:ea typeface="Arial Narrow"/>
                <a:cs typeface="Arial Narrow"/>
              </a:defRPr>
            </a:lvl8pPr>
            <a:lvl9pPr>
              <a:defRPr sz="3375" b="1">
                <a:solidFill>
                  <a:srgbClr val="14231E"/>
                </a:solidFill>
                <a:latin typeface="Arial Narrow"/>
                <a:ea typeface="Arial Narrow"/>
                <a:cs typeface="Arial Narrow"/>
              </a:defRPr>
            </a:lvl9pPr>
          </a:lstStyle>
          <a:p xmlns:a="http://schemas.openxmlformats.org/drawingml/2006/main">
            <a:pPr>
              <a:defRPr sz="3375" b="1">
                <a:solidFill>
                  <a:srgbClr val="14231E"/>
                </a:solidFill>
                <a:latin typeface="Arial Narrow"/>
                <a:ea typeface="Arial Narrow"/>
                <a:cs typeface="Arial Narrow"/>
              </a:defRPr>
            </a:pPr>
            <a:r>
              <a:rPr sz="3375" b="1">
                <a:solidFill>
                  <a:srgbClr val="14231E"/>
                </a:solidFill>
                <a:latin typeface="Arial Narrow"/>
                <a:ea typeface="Arial Narrow"/>
                <a:cs typeface="Arial Narrow"/>
              </a:rPr>
              <a:t>Aceptar una impresión por su función</a:t>
            </a:r>
          </a:p>
        </p:txBody>
      </p:sp>
      <p:pic>
        <p:nvPicPr>
          <p:cNvPr id="2" name="">
            <a:extLst xmlns:a="http://schemas.openxmlformats.org/drawingml/2006/main">
              <a:ext uri="{FF2B5EF4-FFF2-40B4-BE49-F238E27FC236}">
                <a16:creationId xmlns:a16="http://schemas.microsoft.com/office/drawing/2014/main" id="{DD36006E-6C12-4BC6-98ED-C0F6D738CE91}"/>
              </a:ext>
            </a:extLst>
          </p:cNvPr>
          <p:cNvPicPr>
            <a:picLocks xmlns:a="http://schemas.openxmlformats.org/drawingml/2006/main" noChangeAspect="1"/>
          </p:cNvPicPr>
          <p:nvPr/>
        </p:nvPicPr>
        <p:blipFill>
          <a:blip xmlns:r="http://schemas.openxmlformats.org/officeDocument/2006/relationships" xmlns:a="http://schemas.openxmlformats.org/drawingml/2006/main" r:embed="R0257368949704d95"/>
          <a:stretch xmlns:a="http://schemas.openxmlformats.org/drawingml/2006/main"/>
        </p:blipFill>
        <p:spPr>
          <a:xfrm xmlns:a="http://schemas.openxmlformats.org/drawingml/2006/main">
            <a:off x="10858500" y="337942"/>
            <a:ext cx="762000" cy="276616"/>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C3B3309B-5F16-4FB9-B8AF-2310ACE67CE0}"/>
              </a:ext>
            </a:extLst>
          </p:cNvPr>
          <p:cNvSpPr>
            <a:spLocks xmlns:a="http://schemas.openxmlformats.org/drawingml/2006/main" noGrp="1"/>
          </p:cNvSpPr>
          <p:nvPr/>
        </p:nvSpPr>
        <p:spPr>
          <a:xfrm xmlns:a="http://schemas.openxmlformats.org/drawingml/2006/main">
            <a:off x="590550" y="6467475"/>
            <a:ext cx="108108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58665F"/>
                </a:solidFill>
                <a:latin typeface="Consolas"/>
                <a:ea typeface="Consolas"/>
                <a:cs typeface="Consolas"/>
              </a:defRPr>
            </a:defPPr>
            <a:lvl1pPr>
              <a:defRPr sz="1125" b="0">
                <a:solidFill>
                  <a:srgbClr val="58665F"/>
                </a:solidFill>
                <a:latin typeface="Consolas"/>
                <a:ea typeface="Consolas"/>
                <a:cs typeface="Consolas"/>
              </a:defRPr>
            </a:lvl1pPr>
            <a:lvl2pPr>
              <a:defRPr sz="1125" b="0">
                <a:solidFill>
                  <a:srgbClr val="58665F"/>
                </a:solidFill>
                <a:latin typeface="Consolas"/>
                <a:ea typeface="Consolas"/>
                <a:cs typeface="Consolas"/>
              </a:defRPr>
            </a:lvl2pPr>
            <a:lvl3pPr>
              <a:defRPr sz="1125" b="0">
                <a:solidFill>
                  <a:srgbClr val="58665F"/>
                </a:solidFill>
                <a:latin typeface="Consolas"/>
                <a:ea typeface="Consolas"/>
                <a:cs typeface="Consolas"/>
              </a:defRPr>
            </a:lvl3pPr>
            <a:lvl4pPr>
              <a:defRPr sz="1125" b="0">
                <a:solidFill>
                  <a:srgbClr val="58665F"/>
                </a:solidFill>
                <a:latin typeface="Consolas"/>
                <a:ea typeface="Consolas"/>
                <a:cs typeface="Consolas"/>
              </a:defRPr>
            </a:lvl4pPr>
            <a:lvl5pPr>
              <a:defRPr sz="1125" b="0">
                <a:solidFill>
                  <a:srgbClr val="58665F"/>
                </a:solidFill>
                <a:latin typeface="Consolas"/>
                <a:ea typeface="Consolas"/>
                <a:cs typeface="Consolas"/>
              </a:defRPr>
            </a:lvl5pPr>
            <a:lvl6pPr>
              <a:defRPr sz="1125" b="0">
                <a:solidFill>
                  <a:srgbClr val="58665F"/>
                </a:solidFill>
                <a:latin typeface="Consolas"/>
                <a:ea typeface="Consolas"/>
                <a:cs typeface="Consolas"/>
              </a:defRPr>
            </a:lvl6pPr>
            <a:lvl7pPr>
              <a:defRPr sz="1125" b="0">
                <a:solidFill>
                  <a:srgbClr val="58665F"/>
                </a:solidFill>
                <a:latin typeface="Consolas"/>
                <a:ea typeface="Consolas"/>
                <a:cs typeface="Consolas"/>
              </a:defRPr>
            </a:lvl7pPr>
            <a:lvl8pPr>
              <a:defRPr sz="1125" b="0">
                <a:solidFill>
                  <a:srgbClr val="58665F"/>
                </a:solidFill>
                <a:latin typeface="Consolas"/>
                <a:ea typeface="Consolas"/>
                <a:cs typeface="Consolas"/>
              </a:defRPr>
            </a:lvl8pPr>
            <a:lvl9pPr>
              <a:defRPr sz="1125" b="0">
                <a:solidFill>
                  <a:srgbClr val="58665F"/>
                </a:solidFill>
                <a:latin typeface="Consolas"/>
                <a:ea typeface="Consolas"/>
                <a:cs typeface="Consolas"/>
              </a:defRPr>
            </a:lvl9pPr>
          </a:lstStyle>
          <a:p xmlns:a="http://schemas.openxmlformats.org/drawingml/2006/main">
            <a:pPr>
              <a:defRPr sz="1125" b="0">
                <a:solidFill>
                  <a:srgbClr val="58665F"/>
                </a:solidFill>
                <a:latin typeface="Consolas"/>
                <a:ea typeface="Consolas"/>
                <a:cs typeface="Consolas"/>
              </a:defRPr>
            </a:pPr>
            <a:r>
              <a:rPr sz="1125" b="0">
                <a:solidFill>
                  <a:srgbClr val="58665F"/>
                </a:solidFill>
                <a:latin typeface="Consolas"/>
                <a:ea typeface="Consolas"/>
                <a:cs typeface="Consolas"/>
              </a:rPr>
              <a:t>MECRO   SEMANA 3   CLASE 05   17/24</a:t>
            </a:r>
          </a:p>
        </p:txBody>
      </p:sp>
      <p:sp>
        <p:nvSpPr>
          <p:cNvPr id="4" name="">
            <a:extLst xmlns:a="http://schemas.openxmlformats.org/drawingml/2006/main">
              <a:ext uri="{FF2B5EF4-FFF2-40B4-BE49-F238E27FC236}">
                <a16:creationId xmlns:a16="http://schemas.microsoft.com/office/drawing/2014/main" id="{F741EFC6-D543-43F2-88E8-F4F0532F3039}"/>
              </a:ext>
            </a:extLst>
          </p:cNvPr>
          <p:cNvSpPr>
            <a:spLocks xmlns:a="http://schemas.openxmlformats.org/drawingml/2006/main" noGrp="1"/>
          </p:cNvSpPr>
          <p:nvPr/>
        </p:nvSpPr>
        <p:spPr>
          <a:xfrm xmlns:a="http://schemas.openxmlformats.org/drawingml/2006/main">
            <a:off x="590550" y="1743075"/>
            <a:ext cx="10810875" cy="425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325" b="0">
                <a:solidFill>
                  <a:srgbClr val="14231E"/>
                </a:solidFill>
                <a:latin typeface="Arial"/>
                <a:ea typeface="Arial"/>
                <a:cs typeface="Arial"/>
              </a:defRPr>
            </a:defPPr>
            <a:lvl1pPr>
              <a:defRPr sz="2325" b="0">
                <a:solidFill>
                  <a:srgbClr val="14231E"/>
                </a:solidFill>
                <a:latin typeface="Arial"/>
                <a:ea typeface="Arial"/>
                <a:cs typeface="Arial"/>
              </a:defRPr>
            </a:lvl1pPr>
            <a:lvl2pPr>
              <a:defRPr sz="2325" b="0">
                <a:solidFill>
                  <a:srgbClr val="14231E"/>
                </a:solidFill>
                <a:latin typeface="Arial"/>
                <a:ea typeface="Arial"/>
                <a:cs typeface="Arial"/>
              </a:defRPr>
            </a:lvl2pPr>
            <a:lvl3pPr>
              <a:defRPr sz="2325" b="0">
                <a:solidFill>
                  <a:srgbClr val="14231E"/>
                </a:solidFill>
                <a:latin typeface="Arial"/>
                <a:ea typeface="Arial"/>
                <a:cs typeface="Arial"/>
              </a:defRPr>
            </a:lvl3pPr>
            <a:lvl4pPr>
              <a:defRPr sz="2325" b="0">
                <a:solidFill>
                  <a:srgbClr val="14231E"/>
                </a:solidFill>
                <a:latin typeface="Arial"/>
                <a:ea typeface="Arial"/>
                <a:cs typeface="Arial"/>
              </a:defRPr>
            </a:lvl4pPr>
            <a:lvl5pPr>
              <a:defRPr sz="2325" b="0">
                <a:solidFill>
                  <a:srgbClr val="14231E"/>
                </a:solidFill>
                <a:latin typeface="Arial"/>
                <a:ea typeface="Arial"/>
                <a:cs typeface="Arial"/>
              </a:defRPr>
            </a:lvl5pPr>
            <a:lvl6pPr>
              <a:defRPr sz="2325" b="0">
                <a:solidFill>
                  <a:srgbClr val="14231E"/>
                </a:solidFill>
                <a:latin typeface="Arial"/>
                <a:ea typeface="Arial"/>
                <a:cs typeface="Arial"/>
              </a:defRPr>
            </a:lvl6pPr>
            <a:lvl7pPr>
              <a:defRPr sz="2325" b="0">
                <a:solidFill>
                  <a:srgbClr val="14231E"/>
                </a:solidFill>
                <a:latin typeface="Arial"/>
                <a:ea typeface="Arial"/>
                <a:cs typeface="Arial"/>
              </a:defRPr>
            </a:lvl7pPr>
            <a:lvl8pPr>
              <a:defRPr sz="2325" b="0">
                <a:solidFill>
                  <a:srgbClr val="14231E"/>
                </a:solidFill>
                <a:latin typeface="Arial"/>
                <a:ea typeface="Arial"/>
                <a:cs typeface="Arial"/>
              </a:defRPr>
            </a:lvl8pPr>
            <a:lvl9pPr>
              <a:defRPr sz="2325" b="0">
                <a:solidFill>
                  <a:srgbClr val="14231E"/>
                </a:solidFill>
                <a:latin typeface="Arial"/>
                <a:ea typeface="Arial"/>
                <a:cs typeface="Arial"/>
              </a:defRPr>
            </a:lvl9pPr>
          </a:lstStyle>
          <a:p xmlns:a="http://schemas.openxmlformats.org/drawingml/2006/main">
            <a:pPr>
              <a:defRPr sz="2325" b="0">
                <a:solidFill>
                  <a:srgbClr val="14231E"/>
                </a:solidFill>
                <a:latin typeface="Arial"/>
                <a:ea typeface="Arial"/>
                <a:cs typeface="Arial"/>
              </a:defRPr>
            </a:pPr>
            <a:r>
              <a:rPr sz="2325" b="0">
                <a:solidFill>
                  <a:srgbClr val="14231E"/>
                </a:solidFill>
                <a:latin typeface="Arial"/>
                <a:ea typeface="Arial"/>
                <a:cs typeface="Arial"/>
              </a:rPr>
              <a:t>La inspección comienza con la pieza que tenemos: identificación, dimensiones, acabado funcional y defectos visibles. Una superficie bonita puede ocultar una unión entre capas deficiente. Una marca estética puede no afectar un útil de banco. El criterio se define por lo que la pieza debe hacer y por su integración en el conjunto.</a:t>
            </a:r>
          </a:p>
        </p:txBody>
      </p:sp>
    </p:spTree>
    <p:extLst>
      <p:ext uri="{BB962C8B-B14F-4D97-AF65-F5344CB8AC3E}">
        <p14:creationId xmlns:p14="http://schemas.microsoft.com/office/powerpoint/2010/main" val="1905154164"/>
      </p:ext>
    </p:extLst>
  </p:cSld>
</p:sld>
</file>

<file path=ppt/slides/slide18.xml><?xml version="1.0" encoding="utf-8"?>
<p:sld xmlns:p="http://schemas.openxmlformats.org/presentationml/2006/main">
  <p:cSld>
    <p:bg>
      <p:bgPr>
        <a:solidFill xmlns:a="http://schemas.openxmlformats.org/drawingml/2006/main">
          <a:srgbClr val="FCFCF8"/>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77D0F6C3-CB1D-409E-984C-B619772EF2D9}"/>
              </a:ext>
            </a:extLst>
          </p:cNvPr>
          <p:cNvSpPr>
            <a:spLocks xmlns:a="http://schemas.openxmlformats.org/drawingml/2006/main" noGrp="1"/>
          </p:cNvSpPr>
          <p:nvPr/>
        </p:nvSpPr>
        <p:spPr>
          <a:xfrm xmlns:a="http://schemas.openxmlformats.org/drawingml/2006/main">
            <a:off x="590550" y="428625"/>
            <a:ext cx="100965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75" b="1">
                <a:solidFill>
                  <a:srgbClr val="14231E"/>
                </a:solidFill>
                <a:latin typeface="Arial Narrow"/>
                <a:ea typeface="Arial Narrow"/>
                <a:cs typeface="Arial Narrow"/>
              </a:defRPr>
            </a:defPPr>
            <a:lvl1pPr>
              <a:defRPr sz="3375" b="1">
                <a:solidFill>
                  <a:srgbClr val="14231E"/>
                </a:solidFill>
                <a:latin typeface="Arial Narrow"/>
                <a:ea typeface="Arial Narrow"/>
                <a:cs typeface="Arial Narrow"/>
              </a:defRPr>
            </a:lvl1pPr>
            <a:lvl2pPr>
              <a:defRPr sz="3375" b="1">
                <a:solidFill>
                  <a:srgbClr val="14231E"/>
                </a:solidFill>
                <a:latin typeface="Arial Narrow"/>
                <a:ea typeface="Arial Narrow"/>
                <a:cs typeface="Arial Narrow"/>
              </a:defRPr>
            </a:lvl2pPr>
            <a:lvl3pPr>
              <a:defRPr sz="3375" b="1">
                <a:solidFill>
                  <a:srgbClr val="14231E"/>
                </a:solidFill>
                <a:latin typeface="Arial Narrow"/>
                <a:ea typeface="Arial Narrow"/>
                <a:cs typeface="Arial Narrow"/>
              </a:defRPr>
            </a:lvl3pPr>
            <a:lvl4pPr>
              <a:defRPr sz="3375" b="1">
                <a:solidFill>
                  <a:srgbClr val="14231E"/>
                </a:solidFill>
                <a:latin typeface="Arial Narrow"/>
                <a:ea typeface="Arial Narrow"/>
                <a:cs typeface="Arial Narrow"/>
              </a:defRPr>
            </a:lvl4pPr>
            <a:lvl5pPr>
              <a:defRPr sz="3375" b="1">
                <a:solidFill>
                  <a:srgbClr val="14231E"/>
                </a:solidFill>
                <a:latin typeface="Arial Narrow"/>
                <a:ea typeface="Arial Narrow"/>
                <a:cs typeface="Arial Narrow"/>
              </a:defRPr>
            </a:lvl5pPr>
            <a:lvl6pPr>
              <a:defRPr sz="3375" b="1">
                <a:solidFill>
                  <a:srgbClr val="14231E"/>
                </a:solidFill>
                <a:latin typeface="Arial Narrow"/>
                <a:ea typeface="Arial Narrow"/>
                <a:cs typeface="Arial Narrow"/>
              </a:defRPr>
            </a:lvl6pPr>
            <a:lvl7pPr>
              <a:defRPr sz="3375" b="1">
                <a:solidFill>
                  <a:srgbClr val="14231E"/>
                </a:solidFill>
                <a:latin typeface="Arial Narrow"/>
                <a:ea typeface="Arial Narrow"/>
                <a:cs typeface="Arial Narrow"/>
              </a:defRPr>
            </a:lvl7pPr>
            <a:lvl8pPr>
              <a:defRPr sz="3375" b="1">
                <a:solidFill>
                  <a:srgbClr val="14231E"/>
                </a:solidFill>
                <a:latin typeface="Arial Narrow"/>
                <a:ea typeface="Arial Narrow"/>
                <a:cs typeface="Arial Narrow"/>
              </a:defRPr>
            </a:lvl8pPr>
            <a:lvl9pPr>
              <a:defRPr sz="3375" b="1">
                <a:solidFill>
                  <a:srgbClr val="14231E"/>
                </a:solidFill>
                <a:latin typeface="Arial Narrow"/>
                <a:ea typeface="Arial Narrow"/>
                <a:cs typeface="Arial Narrow"/>
              </a:defRPr>
            </a:lvl9pPr>
          </a:lstStyle>
          <a:p xmlns:a="http://schemas.openxmlformats.org/drawingml/2006/main">
            <a:pPr>
              <a:defRPr sz="3375" b="1">
                <a:solidFill>
                  <a:srgbClr val="14231E"/>
                </a:solidFill>
                <a:latin typeface="Arial Narrow"/>
                <a:ea typeface="Arial Narrow"/>
                <a:cs typeface="Arial Narrow"/>
              </a:defRPr>
            </a:pPr>
            <a:r>
              <a:rPr sz="3375" b="1">
                <a:solidFill>
                  <a:srgbClr val="14231E"/>
                </a:solidFill>
                <a:latin typeface="Arial Narrow"/>
                <a:ea typeface="Arial Narrow"/>
                <a:cs typeface="Arial Narrow"/>
              </a:rPr>
              <a:t>Decisiones ante un defecto</a:t>
            </a:r>
          </a:p>
        </p:txBody>
      </p:sp>
      <p:pic>
        <p:nvPicPr>
          <p:cNvPr id="2" name="">
            <a:extLst xmlns:a="http://schemas.openxmlformats.org/drawingml/2006/main">
              <a:ext uri="{FF2B5EF4-FFF2-40B4-BE49-F238E27FC236}">
                <a16:creationId xmlns:a16="http://schemas.microsoft.com/office/drawing/2014/main" id="{46FB05D0-005D-40B4-A662-D39E15F59F9C}"/>
              </a:ext>
            </a:extLst>
          </p:cNvPr>
          <p:cNvPicPr>
            <a:picLocks xmlns:a="http://schemas.openxmlformats.org/drawingml/2006/main" noChangeAspect="1"/>
          </p:cNvPicPr>
          <p:nvPr/>
        </p:nvPicPr>
        <p:blipFill>
          <a:blip xmlns:r="http://schemas.openxmlformats.org/officeDocument/2006/relationships" xmlns:a="http://schemas.openxmlformats.org/drawingml/2006/main" r:embed="R17b80fededaf4472"/>
          <a:stretch xmlns:a="http://schemas.openxmlformats.org/drawingml/2006/main"/>
        </p:blipFill>
        <p:spPr>
          <a:xfrm xmlns:a="http://schemas.openxmlformats.org/drawingml/2006/main">
            <a:off x="10858500" y="337942"/>
            <a:ext cx="762000" cy="276616"/>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505468C3-B574-4F69-AF8E-4A66745F1EA8}"/>
              </a:ext>
            </a:extLst>
          </p:cNvPr>
          <p:cNvSpPr>
            <a:spLocks xmlns:a="http://schemas.openxmlformats.org/drawingml/2006/main" noGrp="1"/>
          </p:cNvSpPr>
          <p:nvPr/>
        </p:nvSpPr>
        <p:spPr>
          <a:xfrm xmlns:a="http://schemas.openxmlformats.org/drawingml/2006/main">
            <a:off x="590550" y="6467475"/>
            <a:ext cx="108108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58665F"/>
                </a:solidFill>
                <a:latin typeface="Consolas"/>
                <a:ea typeface="Consolas"/>
                <a:cs typeface="Consolas"/>
              </a:defRPr>
            </a:defPPr>
            <a:lvl1pPr>
              <a:defRPr sz="1125" b="0">
                <a:solidFill>
                  <a:srgbClr val="58665F"/>
                </a:solidFill>
                <a:latin typeface="Consolas"/>
                <a:ea typeface="Consolas"/>
                <a:cs typeface="Consolas"/>
              </a:defRPr>
            </a:lvl1pPr>
            <a:lvl2pPr>
              <a:defRPr sz="1125" b="0">
                <a:solidFill>
                  <a:srgbClr val="58665F"/>
                </a:solidFill>
                <a:latin typeface="Consolas"/>
                <a:ea typeface="Consolas"/>
                <a:cs typeface="Consolas"/>
              </a:defRPr>
            </a:lvl2pPr>
            <a:lvl3pPr>
              <a:defRPr sz="1125" b="0">
                <a:solidFill>
                  <a:srgbClr val="58665F"/>
                </a:solidFill>
                <a:latin typeface="Consolas"/>
                <a:ea typeface="Consolas"/>
                <a:cs typeface="Consolas"/>
              </a:defRPr>
            </a:lvl3pPr>
            <a:lvl4pPr>
              <a:defRPr sz="1125" b="0">
                <a:solidFill>
                  <a:srgbClr val="58665F"/>
                </a:solidFill>
                <a:latin typeface="Consolas"/>
                <a:ea typeface="Consolas"/>
                <a:cs typeface="Consolas"/>
              </a:defRPr>
            </a:lvl4pPr>
            <a:lvl5pPr>
              <a:defRPr sz="1125" b="0">
                <a:solidFill>
                  <a:srgbClr val="58665F"/>
                </a:solidFill>
                <a:latin typeface="Consolas"/>
                <a:ea typeface="Consolas"/>
                <a:cs typeface="Consolas"/>
              </a:defRPr>
            </a:lvl5pPr>
            <a:lvl6pPr>
              <a:defRPr sz="1125" b="0">
                <a:solidFill>
                  <a:srgbClr val="58665F"/>
                </a:solidFill>
                <a:latin typeface="Consolas"/>
                <a:ea typeface="Consolas"/>
                <a:cs typeface="Consolas"/>
              </a:defRPr>
            </a:lvl6pPr>
            <a:lvl7pPr>
              <a:defRPr sz="1125" b="0">
                <a:solidFill>
                  <a:srgbClr val="58665F"/>
                </a:solidFill>
                <a:latin typeface="Consolas"/>
                <a:ea typeface="Consolas"/>
                <a:cs typeface="Consolas"/>
              </a:defRPr>
            </a:lvl7pPr>
            <a:lvl8pPr>
              <a:defRPr sz="1125" b="0">
                <a:solidFill>
                  <a:srgbClr val="58665F"/>
                </a:solidFill>
                <a:latin typeface="Consolas"/>
                <a:ea typeface="Consolas"/>
                <a:cs typeface="Consolas"/>
              </a:defRPr>
            </a:lvl8pPr>
            <a:lvl9pPr>
              <a:defRPr sz="1125" b="0">
                <a:solidFill>
                  <a:srgbClr val="58665F"/>
                </a:solidFill>
                <a:latin typeface="Consolas"/>
                <a:ea typeface="Consolas"/>
                <a:cs typeface="Consolas"/>
              </a:defRPr>
            </a:lvl9pPr>
          </a:lstStyle>
          <a:p xmlns:a="http://schemas.openxmlformats.org/drawingml/2006/main">
            <a:pPr>
              <a:defRPr sz="1125" b="0">
                <a:solidFill>
                  <a:srgbClr val="58665F"/>
                </a:solidFill>
                <a:latin typeface="Consolas"/>
                <a:ea typeface="Consolas"/>
                <a:cs typeface="Consolas"/>
              </a:defRPr>
            </a:pPr>
            <a:r>
              <a:rPr sz="1125" b="0">
                <a:solidFill>
                  <a:srgbClr val="58665F"/>
                </a:solidFill>
                <a:latin typeface="Consolas"/>
                <a:ea typeface="Consolas"/>
                <a:cs typeface="Consolas"/>
              </a:rPr>
              <a:t>MECRO   SEMANA 3   CLASE 05   18/24</a:t>
            </a:r>
          </a:p>
        </p:txBody>
      </p:sp>
      <p:graphicFrame>
        <p:nvGraphicFramePr>
          <p:cNvPr id="4" name="">
            <a:extLst xmlns:a="http://schemas.openxmlformats.org/drawingml/2006/main">
              <a:ext uri="{FF2B5EF4-FFF2-40B4-BE49-F238E27FC236}">
                <a16:creationId xmlns:a16="http://schemas.microsoft.com/office/drawing/2014/main" id="{D0D67796-8619-45AB-94CF-FF5464580C2D}"/>
              </a:ext>
            </a:extLst>
          </p:cNvPr>
          <p:cNvGraphicFramePr/>
          <p:nvPr/>
        </p:nvGraphicFramePr>
        <p:xfrm>
          <a:off xmlns:a="http://schemas.openxmlformats.org/drawingml/2006/main" x="590550" y="1752600"/>
          <a:ext xmlns:a="http://schemas.openxmlformats.org/drawingml/2006/main" cx="11010900" cy="3590925"/>
        </p:xfrm>
        <a:graphic xmlns:a="http://schemas.openxmlformats.org/drawingml/2006/main">
          <a:graphicData uri="http://schemas.openxmlformats.org/drawingml/2006/table">
            <a:tbl>
              <a:tblPr/>
              <a:tblGrid>
                <a:gridCol w="5505450"/>
                <a:gridCol w="5505450"/>
              </a:tblGrid>
              <a:tr h="718185">
                <a:tc>
                  <a:txBody>
                    <a:bodyPr/>
                    <a:lstStyle/>
                    <a:p>
                      <a:r>
                        <a:rPr sz="2025" b="1">
                          <a:solidFill>
                            <a:srgbClr val="FFFFFF"/>
                          </a:solidFill>
                          <a:latin typeface="Arial"/>
                          <a:ea typeface="Arial"/>
                          <a:cs typeface="Arial"/>
                        </a:rPr>
                        <a:t>Observación</a:t>
                      </a:r>
                    </a:p>
                  </a:txBody>
                  <a:tcPr marL="91440" marR="91440" marT="45720" marB="45720">
                    <a:lnL w="9525">
                      <a:solidFill>
                        <a:srgbClr val="BFCEC3"/>
                      </a:solidFill>
                      <a:prstDash val="solid"/>
                    </a:lnL>
                    <a:lnR w="9525">
                      <a:solidFill>
                        <a:srgbClr val="BFCEC3"/>
                      </a:solidFill>
                      <a:prstDash val="solid"/>
                    </a:lnR>
                    <a:lnT w="9525">
                      <a:solidFill>
                        <a:srgbClr val="BFCEC3"/>
                      </a:solidFill>
                      <a:prstDash val="solid"/>
                    </a:lnT>
                    <a:lnB w="9525">
                      <a:solidFill>
                        <a:srgbClr val="BFCEC3"/>
                      </a:solidFill>
                      <a:prstDash val="solid"/>
                    </a:lnB>
                    <a:solidFill>
                      <a:srgbClr val="244F3D"/>
                    </a:solidFill>
                  </a:tcPr>
                </a:tc>
                <a:tc>
                  <a:txBody>
                    <a:bodyPr/>
                    <a:lstStyle/>
                    <a:p>
                      <a:r>
                        <a:rPr sz="2025" b="1">
                          <a:solidFill>
                            <a:srgbClr val="FFFFFF"/>
                          </a:solidFill>
                          <a:latin typeface="Arial"/>
                          <a:ea typeface="Arial"/>
                          <a:cs typeface="Arial"/>
                        </a:rPr>
                        <a:t>Primer paso razonable</a:t>
                      </a:r>
                    </a:p>
                  </a:txBody>
                  <a:tcPr marL="91440" marR="91440" marT="45720" marB="45720">
                    <a:lnR w="9525">
                      <a:solidFill>
                        <a:srgbClr val="BFCEC3"/>
                      </a:solidFill>
                      <a:prstDash val="solid"/>
                    </a:lnR>
                    <a:lnT w="9525">
                      <a:solidFill>
                        <a:srgbClr val="BFCEC3"/>
                      </a:solidFill>
                      <a:prstDash val="solid"/>
                    </a:lnT>
                    <a:lnB w="9525">
                      <a:solidFill>
                        <a:srgbClr val="BFCEC3"/>
                      </a:solidFill>
                      <a:prstDash val="solid"/>
                    </a:lnB>
                    <a:solidFill>
                      <a:srgbClr val="244F3D"/>
                    </a:solidFill>
                  </a:tcPr>
                </a:tc>
              </a:tr>
              <a:tr h="718185">
                <a:tc>
                  <a:txBody>
                    <a:bodyPr/>
                    <a:lstStyle/>
                    <a:p>
                      <a:r>
                        <a:rPr sz="2025" b="0">
                          <a:solidFill>
                            <a:srgbClr val="14231E"/>
                          </a:solidFill>
                          <a:latin typeface="Arial"/>
                          <a:ea typeface="Arial"/>
                          <a:cs typeface="Arial"/>
                        </a:rPr>
                        <a:t>El encaje no entra</a:t>
                      </a:r>
                    </a:p>
                  </a:txBody>
                  <a:tcPr marL="91440" marR="91440" marT="45720" marB="45720">
                    <a:lnL w="9525">
                      <a:solidFill>
                        <a:srgbClr val="BFCEC3"/>
                      </a:solidFill>
                      <a:prstDash val="solid"/>
                    </a:lnL>
                    <a:lnR w="9525">
                      <a:solidFill>
                        <a:srgbClr val="BFCEC3"/>
                      </a:solidFill>
                      <a:prstDash val="solid"/>
                    </a:lnR>
                    <a:lnB w="9525">
                      <a:solidFill>
                        <a:srgbClr val="BFCEC3"/>
                      </a:solidFill>
                      <a:prstDash val="solid"/>
                    </a:lnB>
                    <a:solidFill>
                      <a:srgbClr val="EAF3EC"/>
                    </a:solidFill>
                  </a:tcPr>
                </a:tc>
                <a:tc>
                  <a:txBody>
                    <a:bodyPr/>
                    <a:lstStyle/>
                    <a:p>
                      <a:r>
                        <a:rPr sz="2025" b="0">
                          <a:solidFill>
                            <a:srgbClr val="14231E"/>
                          </a:solidFill>
                          <a:latin typeface="Arial"/>
                          <a:ea typeface="Arial"/>
                          <a:cs typeface="Arial"/>
                        </a:rPr>
                        <a:t>Medir pieza y abertura; revisar borde</a:t>
                      </a:r>
                    </a:p>
                  </a:txBody>
                  <a:tcPr marL="91440" marR="91440" marT="45720" marB="45720">
                    <a:lnR w="9525">
                      <a:solidFill>
                        <a:srgbClr val="BFCEC3"/>
                      </a:solidFill>
                      <a:prstDash val="solid"/>
                    </a:lnR>
                    <a:lnB w="9525">
                      <a:solidFill>
                        <a:srgbClr val="BFCEC3"/>
                      </a:solidFill>
                      <a:prstDash val="solid"/>
                    </a:lnB>
                    <a:solidFill>
                      <a:srgbClr val="EAF3EC"/>
                    </a:solidFill>
                  </a:tcPr>
                </a:tc>
              </a:tr>
              <a:tr h="718185">
                <a:tc>
                  <a:txBody>
                    <a:bodyPr/>
                    <a:lstStyle/>
                    <a:p>
                      <a:r>
                        <a:rPr sz="2025" b="0">
                          <a:solidFill>
                            <a:srgbClr val="14231E"/>
                          </a:solidFill>
                          <a:latin typeface="Arial"/>
                          <a:ea typeface="Arial"/>
                          <a:cs typeface="Arial"/>
                        </a:rPr>
                        <a:t>La raíz está deformada</a:t>
                      </a:r>
                    </a:p>
                  </a:txBody>
                  <a:tcPr marL="91440" marR="91440" marT="45720" marB="45720">
                    <a:lnL w="9525">
                      <a:solidFill>
                        <a:srgbClr val="BFCEC3"/>
                      </a:solidFill>
                      <a:prstDash val="solid"/>
                    </a:lnL>
                    <a:lnR w="9525">
                      <a:solidFill>
                        <a:srgbClr val="BFCEC3"/>
                      </a:solidFill>
                      <a:prstDash val="solid"/>
                    </a:lnR>
                    <a:lnB w="9525">
                      <a:solidFill>
                        <a:srgbClr val="BFCEC3"/>
                      </a:solidFill>
                      <a:prstDash val="solid"/>
                    </a:lnB>
                    <a:solidFill>
                      <a:srgbClr val="FCFCF8"/>
                    </a:solidFill>
                  </a:tcPr>
                </a:tc>
                <a:tc>
                  <a:txBody>
                    <a:bodyPr/>
                    <a:lstStyle/>
                    <a:p>
                      <a:r>
                        <a:rPr sz="2025" b="0">
                          <a:solidFill>
                            <a:srgbClr val="14231E"/>
                          </a:solidFill>
                          <a:latin typeface="Arial"/>
                          <a:ea typeface="Arial"/>
                          <a:cs typeface="Arial"/>
                        </a:rPr>
                        <a:t>Comparar con el plano y revisar orientación</a:t>
                      </a:r>
                    </a:p>
                  </a:txBody>
                  <a:tcPr marL="91440" marR="91440" marT="45720" marB="45720">
                    <a:lnR w="9525">
                      <a:solidFill>
                        <a:srgbClr val="BFCEC3"/>
                      </a:solidFill>
                      <a:prstDash val="solid"/>
                    </a:lnR>
                    <a:lnB w="9525">
                      <a:solidFill>
                        <a:srgbClr val="BFCEC3"/>
                      </a:solidFill>
                      <a:prstDash val="solid"/>
                    </a:lnB>
                    <a:solidFill>
                      <a:srgbClr val="FCFCF8"/>
                    </a:solidFill>
                  </a:tcPr>
                </a:tc>
              </a:tr>
              <a:tr h="718185">
                <a:tc>
                  <a:txBody>
                    <a:bodyPr/>
                    <a:lstStyle/>
                    <a:p>
                      <a:r>
                        <a:rPr sz="2025" b="0">
                          <a:solidFill>
                            <a:srgbClr val="14231E"/>
                          </a:solidFill>
                          <a:latin typeface="Arial"/>
                          <a:ea typeface="Arial"/>
                          <a:cs typeface="Arial"/>
                        </a:rPr>
                        <a:t>La pared tiene una separación</a:t>
                      </a:r>
                    </a:p>
                  </a:txBody>
                  <a:tcPr marL="91440" marR="91440" marT="45720" marB="45720">
                    <a:lnL w="9525">
                      <a:solidFill>
                        <a:srgbClr val="BFCEC3"/>
                      </a:solidFill>
                      <a:prstDash val="solid"/>
                    </a:lnL>
                    <a:lnR w="9525">
                      <a:solidFill>
                        <a:srgbClr val="BFCEC3"/>
                      </a:solidFill>
                      <a:prstDash val="solid"/>
                    </a:lnR>
                    <a:lnB w="9525">
                      <a:solidFill>
                        <a:srgbClr val="BFCEC3"/>
                      </a:solidFill>
                      <a:prstDash val="solid"/>
                    </a:lnB>
                    <a:solidFill>
                      <a:srgbClr val="EAF3EC"/>
                    </a:solidFill>
                  </a:tcPr>
                </a:tc>
                <a:tc>
                  <a:txBody>
                    <a:bodyPr/>
                    <a:lstStyle/>
                    <a:p>
                      <a:r>
                        <a:rPr sz="2025" b="0">
                          <a:solidFill>
                            <a:srgbClr val="14231E"/>
                          </a:solidFill>
                          <a:latin typeface="Arial"/>
                          <a:ea typeface="Arial"/>
                          <a:cs typeface="Arial"/>
                        </a:rPr>
                        <a:t>Detener aceptación y revisar proceso</a:t>
                      </a:r>
                    </a:p>
                  </a:txBody>
                  <a:tcPr marL="91440" marR="91440" marT="45720" marB="45720">
                    <a:lnR w="9525">
                      <a:solidFill>
                        <a:srgbClr val="BFCEC3"/>
                      </a:solidFill>
                      <a:prstDash val="solid"/>
                    </a:lnR>
                    <a:lnB w="9525">
                      <a:solidFill>
                        <a:srgbClr val="BFCEC3"/>
                      </a:solidFill>
                      <a:prstDash val="solid"/>
                    </a:lnB>
                    <a:solidFill>
                      <a:srgbClr val="EAF3EC"/>
                    </a:solidFill>
                  </a:tcPr>
                </a:tc>
              </a:tr>
              <a:tr h="718185">
                <a:tc>
                  <a:txBody>
                    <a:bodyPr/>
                    <a:lstStyle/>
                    <a:p>
                      <a:r>
                        <a:rPr sz="2025" b="0">
                          <a:solidFill>
                            <a:srgbClr val="14231E"/>
                          </a:solidFill>
                          <a:latin typeface="Arial"/>
                          <a:ea typeface="Arial"/>
                          <a:cs typeface="Arial"/>
                        </a:rPr>
                        <a:t>El útil tiene una marca exterior</a:t>
                      </a:r>
                    </a:p>
                  </a:txBody>
                  <a:tcPr marL="91440" marR="91440" marT="45720" marB="45720">
                    <a:lnL w="9525">
                      <a:solidFill>
                        <a:srgbClr val="BFCEC3"/>
                      </a:solidFill>
                      <a:prstDash val="solid"/>
                    </a:lnL>
                    <a:lnR w="9525">
                      <a:solidFill>
                        <a:srgbClr val="BFCEC3"/>
                      </a:solidFill>
                      <a:prstDash val="solid"/>
                    </a:lnR>
                    <a:lnB w="9525">
                      <a:solidFill>
                        <a:srgbClr val="BFCEC3"/>
                      </a:solidFill>
                      <a:prstDash val="solid"/>
                    </a:lnB>
                    <a:solidFill>
                      <a:srgbClr val="FCFCF8"/>
                    </a:solidFill>
                  </a:tcPr>
                </a:tc>
                <a:tc>
                  <a:txBody>
                    <a:bodyPr/>
                    <a:lstStyle/>
                    <a:p>
                      <a:r>
                        <a:rPr sz="2025" b="0">
                          <a:solidFill>
                            <a:srgbClr val="14231E"/>
                          </a:solidFill>
                          <a:latin typeface="Arial"/>
                          <a:ea typeface="Arial"/>
                          <a:cs typeface="Arial"/>
                        </a:rPr>
                        <a:t>Comprobar si altera su referencia funcional</a:t>
                      </a:r>
                    </a:p>
                  </a:txBody>
                  <a:tcPr marL="91440" marR="91440" marT="45720" marB="45720">
                    <a:lnR w="9525">
                      <a:solidFill>
                        <a:srgbClr val="BFCEC3"/>
                      </a:solidFill>
                      <a:prstDash val="solid"/>
                    </a:lnR>
                    <a:lnB w="9525">
                      <a:solidFill>
                        <a:srgbClr val="BFCEC3"/>
                      </a:solidFill>
                      <a:prstDash val="solid"/>
                    </a:lnB>
                    <a:solidFill>
                      <a:srgbClr val="FCFCF8"/>
                    </a:solidFill>
                  </a:tcPr>
                </a:tc>
              </a:tr>
            </a:tbl>
          </a:graphicData>
        </a:graphic>
      </p:graphicFrame>
    </p:spTree>
    <p:extLst>
      <p:ext uri="{BB962C8B-B14F-4D97-AF65-F5344CB8AC3E}">
        <p14:creationId xmlns:p14="http://schemas.microsoft.com/office/powerpoint/2010/main" val="1821164998"/>
      </p:ext>
    </p:extLst>
  </p:cSld>
</p:sld>
</file>

<file path=ppt/slides/slide19.xml><?xml version="1.0" encoding="utf-8"?>
<p:sld xmlns:p="http://schemas.openxmlformats.org/presentationml/2006/main">
  <p:cSld>
    <p:bg>
      <p:bgPr>
        <a:solidFill xmlns:a="http://schemas.openxmlformats.org/drawingml/2006/main">
          <a:srgbClr val="090F10"/>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F1E3C2AD-E4A4-4D69-81C8-55F67440ACDC}"/>
              </a:ext>
            </a:extLst>
          </p:cNvPr>
          <p:cNvSpPr>
            <a:spLocks xmlns:a="http://schemas.openxmlformats.org/drawingml/2006/main" noGrp="1"/>
          </p:cNvSpPr>
          <p:nvPr/>
        </p:nvSpPr>
        <p:spPr>
          <a:xfrm xmlns:a="http://schemas.openxmlformats.org/drawingml/2006/main">
            <a:off x="590550" y="428625"/>
            <a:ext cx="100965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75" b="1">
                <a:solidFill>
                  <a:srgbClr val="FCFCF8"/>
                </a:solidFill>
                <a:latin typeface="Arial Narrow"/>
                <a:ea typeface="Arial Narrow"/>
                <a:cs typeface="Arial Narrow"/>
              </a:defRPr>
            </a:defPPr>
            <a:lvl1pPr>
              <a:defRPr sz="3375" b="1">
                <a:solidFill>
                  <a:srgbClr val="FCFCF8"/>
                </a:solidFill>
                <a:latin typeface="Arial Narrow"/>
                <a:ea typeface="Arial Narrow"/>
                <a:cs typeface="Arial Narrow"/>
              </a:defRPr>
            </a:lvl1pPr>
            <a:lvl2pPr>
              <a:defRPr sz="3375" b="1">
                <a:solidFill>
                  <a:srgbClr val="FCFCF8"/>
                </a:solidFill>
                <a:latin typeface="Arial Narrow"/>
                <a:ea typeface="Arial Narrow"/>
                <a:cs typeface="Arial Narrow"/>
              </a:defRPr>
            </a:lvl2pPr>
            <a:lvl3pPr>
              <a:defRPr sz="3375" b="1">
                <a:solidFill>
                  <a:srgbClr val="FCFCF8"/>
                </a:solidFill>
                <a:latin typeface="Arial Narrow"/>
                <a:ea typeface="Arial Narrow"/>
                <a:cs typeface="Arial Narrow"/>
              </a:defRPr>
            </a:lvl3pPr>
            <a:lvl4pPr>
              <a:defRPr sz="3375" b="1">
                <a:solidFill>
                  <a:srgbClr val="FCFCF8"/>
                </a:solidFill>
                <a:latin typeface="Arial Narrow"/>
                <a:ea typeface="Arial Narrow"/>
                <a:cs typeface="Arial Narrow"/>
              </a:defRPr>
            </a:lvl4pPr>
            <a:lvl5pPr>
              <a:defRPr sz="3375" b="1">
                <a:solidFill>
                  <a:srgbClr val="FCFCF8"/>
                </a:solidFill>
                <a:latin typeface="Arial Narrow"/>
                <a:ea typeface="Arial Narrow"/>
                <a:cs typeface="Arial Narrow"/>
              </a:defRPr>
            </a:lvl5pPr>
            <a:lvl6pPr>
              <a:defRPr sz="3375" b="1">
                <a:solidFill>
                  <a:srgbClr val="FCFCF8"/>
                </a:solidFill>
                <a:latin typeface="Arial Narrow"/>
                <a:ea typeface="Arial Narrow"/>
                <a:cs typeface="Arial Narrow"/>
              </a:defRPr>
            </a:lvl6pPr>
            <a:lvl7pPr>
              <a:defRPr sz="3375" b="1">
                <a:solidFill>
                  <a:srgbClr val="FCFCF8"/>
                </a:solidFill>
                <a:latin typeface="Arial Narrow"/>
                <a:ea typeface="Arial Narrow"/>
                <a:cs typeface="Arial Narrow"/>
              </a:defRPr>
            </a:lvl7pPr>
            <a:lvl8pPr>
              <a:defRPr sz="3375" b="1">
                <a:solidFill>
                  <a:srgbClr val="FCFCF8"/>
                </a:solidFill>
                <a:latin typeface="Arial Narrow"/>
                <a:ea typeface="Arial Narrow"/>
                <a:cs typeface="Arial Narrow"/>
              </a:defRPr>
            </a:lvl8pPr>
            <a:lvl9pPr>
              <a:defRPr sz="3375" b="1">
                <a:solidFill>
                  <a:srgbClr val="FCFCF8"/>
                </a:solidFill>
                <a:latin typeface="Arial Narrow"/>
                <a:ea typeface="Arial Narrow"/>
                <a:cs typeface="Arial Narrow"/>
              </a:defRPr>
            </a:lvl9pPr>
          </a:lstStyle>
          <a:p xmlns:a="http://schemas.openxmlformats.org/drawingml/2006/main">
            <a:pPr>
              <a:defRPr sz="3375" b="1">
                <a:solidFill>
                  <a:srgbClr val="FCFCF8"/>
                </a:solidFill>
                <a:latin typeface="Arial Narrow"/>
                <a:ea typeface="Arial Narrow"/>
                <a:cs typeface="Arial Narrow"/>
              </a:defRPr>
            </a:pPr>
            <a:r>
              <a:rPr sz="3375" b="1">
                <a:solidFill>
                  <a:srgbClr val="FCFCF8"/>
                </a:solidFill>
                <a:latin typeface="Arial Narrow"/>
                <a:ea typeface="Arial Narrow"/>
                <a:cs typeface="Arial Narrow"/>
              </a:rPr>
              <a:t>Conclusión del equipo</a:t>
            </a:r>
          </a:p>
        </p:txBody>
      </p:sp>
      <p:pic>
        <p:nvPicPr>
          <p:cNvPr id="2" name="">
            <a:extLst xmlns:a="http://schemas.openxmlformats.org/drawingml/2006/main">
              <a:ext uri="{FF2B5EF4-FFF2-40B4-BE49-F238E27FC236}">
                <a16:creationId xmlns:a16="http://schemas.microsoft.com/office/drawing/2014/main" id="{7347FBDF-24BA-45C4-A679-1BE8D972618B}"/>
              </a:ext>
            </a:extLst>
          </p:cNvPr>
          <p:cNvPicPr>
            <a:picLocks xmlns:a="http://schemas.openxmlformats.org/drawingml/2006/main" noChangeAspect="1"/>
          </p:cNvPicPr>
          <p:nvPr/>
        </p:nvPicPr>
        <p:blipFill>
          <a:blip xmlns:r="http://schemas.openxmlformats.org/officeDocument/2006/relationships" xmlns:a="http://schemas.openxmlformats.org/drawingml/2006/main" r:embed="R2b15b066ae9540a8"/>
          <a:stretch xmlns:a="http://schemas.openxmlformats.org/drawingml/2006/main"/>
        </p:blipFill>
        <p:spPr>
          <a:xfrm xmlns:a="http://schemas.openxmlformats.org/drawingml/2006/main">
            <a:off x="10858500" y="337942"/>
            <a:ext cx="762000" cy="276616"/>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6D7BC2C7-7199-46AC-9833-C33E829CD00A}"/>
              </a:ext>
            </a:extLst>
          </p:cNvPr>
          <p:cNvSpPr>
            <a:spLocks xmlns:a="http://schemas.openxmlformats.org/drawingml/2006/main" noGrp="1"/>
          </p:cNvSpPr>
          <p:nvPr/>
        </p:nvSpPr>
        <p:spPr>
          <a:xfrm xmlns:a="http://schemas.openxmlformats.org/drawingml/2006/main">
            <a:off x="590550" y="6467475"/>
            <a:ext cx="108108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B8C8C1"/>
                </a:solidFill>
                <a:latin typeface="Consolas"/>
                <a:ea typeface="Consolas"/>
                <a:cs typeface="Consolas"/>
              </a:defRPr>
            </a:defPPr>
            <a:lvl1pPr>
              <a:defRPr sz="1125" b="0">
                <a:solidFill>
                  <a:srgbClr val="B8C8C1"/>
                </a:solidFill>
                <a:latin typeface="Consolas"/>
                <a:ea typeface="Consolas"/>
                <a:cs typeface="Consolas"/>
              </a:defRPr>
            </a:lvl1pPr>
            <a:lvl2pPr>
              <a:defRPr sz="1125" b="0">
                <a:solidFill>
                  <a:srgbClr val="B8C8C1"/>
                </a:solidFill>
                <a:latin typeface="Consolas"/>
                <a:ea typeface="Consolas"/>
                <a:cs typeface="Consolas"/>
              </a:defRPr>
            </a:lvl2pPr>
            <a:lvl3pPr>
              <a:defRPr sz="1125" b="0">
                <a:solidFill>
                  <a:srgbClr val="B8C8C1"/>
                </a:solidFill>
                <a:latin typeface="Consolas"/>
                <a:ea typeface="Consolas"/>
                <a:cs typeface="Consolas"/>
              </a:defRPr>
            </a:lvl3pPr>
            <a:lvl4pPr>
              <a:defRPr sz="1125" b="0">
                <a:solidFill>
                  <a:srgbClr val="B8C8C1"/>
                </a:solidFill>
                <a:latin typeface="Consolas"/>
                <a:ea typeface="Consolas"/>
                <a:cs typeface="Consolas"/>
              </a:defRPr>
            </a:lvl4pPr>
            <a:lvl5pPr>
              <a:defRPr sz="1125" b="0">
                <a:solidFill>
                  <a:srgbClr val="B8C8C1"/>
                </a:solidFill>
                <a:latin typeface="Consolas"/>
                <a:ea typeface="Consolas"/>
                <a:cs typeface="Consolas"/>
              </a:defRPr>
            </a:lvl5pPr>
            <a:lvl6pPr>
              <a:defRPr sz="1125" b="0">
                <a:solidFill>
                  <a:srgbClr val="B8C8C1"/>
                </a:solidFill>
                <a:latin typeface="Consolas"/>
                <a:ea typeface="Consolas"/>
                <a:cs typeface="Consolas"/>
              </a:defRPr>
            </a:lvl6pPr>
            <a:lvl7pPr>
              <a:defRPr sz="1125" b="0">
                <a:solidFill>
                  <a:srgbClr val="B8C8C1"/>
                </a:solidFill>
                <a:latin typeface="Consolas"/>
                <a:ea typeface="Consolas"/>
                <a:cs typeface="Consolas"/>
              </a:defRPr>
            </a:lvl7pPr>
            <a:lvl8pPr>
              <a:defRPr sz="1125" b="0">
                <a:solidFill>
                  <a:srgbClr val="B8C8C1"/>
                </a:solidFill>
                <a:latin typeface="Consolas"/>
                <a:ea typeface="Consolas"/>
                <a:cs typeface="Consolas"/>
              </a:defRPr>
            </a:lvl8pPr>
            <a:lvl9pPr>
              <a:defRPr sz="1125" b="0">
                <a:solidFill>
                  <a:srgbClr val="B8C8C1"/>
                </a:solidFill>
                <a:latin typeface="Consolas"/>
                <a:ea typeface="Consolas"/>
                <a:cs typeface="Consolas"/>
              </a:defRPr>
            </a:lvl9pPr>
          </a:lstStyle>
          <a:p xmlns:a="http://schemas.openxmlformats.org/drawingml/2006/main">
            <a:pPr>
              <a:defRPr sz="1125" b="0">
                <a:solidFill>
                  <a:srgbClr val="B8C8C1"/>
                </a:solidFill>
                <a:latin typeface="Consolas"/>
                <a:ea typeface="Consolas"/>
                <a:cs typeface="Consolas"/>
              </a:defRPr>
            </a:pPr>
            <a:r>
              <a:rPr sz="1125" b="0">
                <a:solidFill>
                  <a:srgbClr val="B8C8C1"/>
                </a:solidFill>
                <a:latin typeface="Consolas"/>
                <a:ea typeface="Consolas"/>
                <a:cs typeface="Consolas"/>
              </a:rPr>
              <a:t>MECRO   SEMANA 3   CLASE 05   19/24</a:t>
            </a:r>
          </a:p>
        </p:txBody>
      </p:sp>
      <p:sp>
        <p:nvSpPr>
          <p:cNvPr id="4" name="">
            <a:extLst xmlns:a="http://schemas.openxmlformats.org/drawingml/2006/main">
              <a:ext uri="{FF2B5EF4-FFF2-40B4-BE49-F238E27FC236}">
                <a16:creationId xmlns:a16="http://schemas.microsoft.com/office/drawing/2014/main" id="{F9812A5E-BDA8-41B7-AD8A-CC5D7DBA053B}"/>
              </a:ext>
            </a:extLst>
          </p:cNvPr>
          <p:cNvSpPr>
            <a:spLocks xmlns:a="http://schemas.openxmlformats.org/drawingml/2006/main" noGrp="1"/>
          </p:cNvSpPr>
          <p:nvPr/>
        </p:nvSpPr>
        <p:spPr>
          <a:xfrm xmlns:a="http://schemas.openxmlformats.org/drawingml/2006/main">
            <a:off x="590550" y="1809750"/>
            <a:ext cx="10715625" cy="2047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700" b="1">
                <a:solidFill>
                  <a:srgbClr val="AEF4BB"/>
                </a:solidFill>
                <a:latin typeface="Arial"/>
                <a:ea typeface="Arial"/>
                <a:cs typeface="Arial"/>
              </a:defRPr>
            </a:defPPr>
            <a:lvl1pPr>
              <a:defRPr sz="2700" b="1">
                <a:solidFill>
                  <a:srgbClr val="AEF4BB"/>
                </a:solidFill>
                <a:latin typeface="Arial"/>
                <a:ea typeface="Arial"/>
                <a:cs typeface="Arial"/>
              </a:defRPr>
            </a:lvl1pPr>
            <a:lvl2pPr>
              <a:defRPr sz="2700" b="1">
                <a:solidFill>
                  <a:srgbClr val="AEF4BB"/>
                </a:solidFill>
                <a:latin typeface="Arial"/>
                <a:ea typeface="Arial"/>
                <a:cs typeface="Arial"/>
              </a:defRPr>
            </a:lvl2pPr>
            <a:lvl3pPr>
              <a:defRPr sz="2700" b="1">
                <a:solidFill>
                  <a:srgbClr val="AEF4BB"/>
                </a:solidFill>
                <a:latin typeface="Arial"/>
                <a:ea typeface="Arial"/>
                <a:cs typeface="Arial"/>
              </a:defRPr>
            </a:lvl3pPr>
            <a:lvl4pPr>
              <a:defRPr sz="2700" b="1">
                <a:solidFill>
                  <a:srgbClr val="AEF4BB"/>
                </a:solidFill>
                <a:latin typeface="Arial"/>
                <a:ea typeface="Arial"/>
                <a:cs typeface="Arial"/>
              </a:defRPr>
            </a:lvl4pPr>
            <a:lvl5pPr>
              <a:defRPr sz="2700" b="1">
                <a:solidFill>
                  <a:srgbClr val="AEF4BB"/>
                </a:solidFill>
                <a:latin typeface="Arial"/>
                <a:ea typeface="Arial"/>
                <a:cs typeface="Arial"/>
              </a:defRPr>
            </a:lvl5pPr>
            <a:lvl6pPr>
              <a:defRPr sz="2700" b="1">
                <a:solidFill>
                  <a:srgbClr val="AEF4BB"/>
                </a:solidFill>
                <a:latin typeface="Arial"/>
                <a:ea typeface="Arial"/>
                <a:cs typeface="Arial"/>
              </a:defRPr>
            </a:lvl6pPr>
            <a:lvl7pPr>
              <a:defRPr sz="2700" b="1">
                <a:solidFill>
                  <a:srgbClr val="AEF4BB"/>
                </a:solidFill>
                <a:latin typeface="Arial"/>
                <a:ea typeface="Arial"/>
                <a:cs typeface="Arial"/>
              </a:defRPr>
            </a:lvl7pPr>
            <a:lvl8pPr>
              <a:defRPr sz="2700" b="1">
                <a:solidFill>
                  <a:srgbClr val="AEF4BB"/>
                </a:solidFill>
                <a:latin typeface="Arial"/>
                <a:ea typeface="Arial"/>
                <a:cs typeface="Arial"/>
              </a:defRPr>
            </a:lvl8pPr>
            <a:lvl9pPr>
              <a:defRPr sz="2700" b="1">
                <a:solidFill>
                  <a:srgbClr val="AEF4BB"/>
                </a:solidFill>
                <a:latin typeface="Arial"/>
                <a:ea typeface="Arial"/>
                <a:cs typeface="Arial"/>
              </a:defRPr>
            </a:lvl9pPr>
          </a:lstStyle>
          <a:p xmlns:a="http://schemas.openxmlformats.org/drawingml/2006/main">
            <a:pPr>
              <a:defRPr sz="2700" b="1">
                <a:solidFill>
                  <a:srgbClr val="AEF4BB"/>
                </a:solidFill>
                <a:latin typeface="Arial"/>
                <a:ea typeface="Arial"/>
                <a:cs typeface="Arial"/>
              </a:defRPr>
            </a:pPr>
            <a:r>
              <a:rPr sz="2700" b="1">
                <a:solidFill>
                  <a:srgbClr val="AEF4BB"/>
                </a:solidFill>
                <a:latin typeface="Arial"/>
                <a:ea typeface="Arial"/>
                <a:cs typeface="Arial"/>
              </a:rPr>
              <a:t>La muestra pesa 4,2 g cuando el laminador estimó 3,8 g y el encaje observado es correcto.</a:t>
            </a:r>
          </a:p>
        </p:txBody>
      </p:sp>
      <p:sp>
        <p:nvSpPr>
          <p:cNvPr id="5" name="">
            <a:extLst xmlns:a="http://schemas.openxmlformats.org/drawingml/2006/main">
              <a:ext uri="{FF2B5EF4-FFF2-40B4-BE49-F238E27FC236}">
                <a16:creationId xmlns:a16="http://schemas.microsoft.com/office/drawing/2014/main" id="{53D78F8B-DC61-444F-81CD-A8A0FF90743D}"/>
              </a:ext>
            </a:extLst>
          </p:cNvPr>
          <p:cNvSpPr>
            <a:spLocks xmlns:a="http://schemas.openxmlformats.org/drawingml/2006/main" noGrp="1"/>
          </p:cNvSpPr>
          <p:nvPr/>
        </p:nvSpPr>
        <p:spPr>
          <a:xfrm xmlns:a="http://schemas.openxmlformats.org/drawingml/2006/main">
            <a:off x="590550" y="4629150"/>
            <a:ext cx="10715625" cy="1162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250" b="0">
                <a:solidFill>
                  <a:srgbClr val="FCFCF8"/>
                </a:solidFill>
                <a:latin typeface="Arial"/>
                <a:ea typeface="Arial"/>
                <a:cs typeface="Arial"/>
              </a:defRPr>
            </a:defPPr>
            <a:lvl1pPr>
              <a:defRPr sz="2250" b="0">
                <a:solidFill>
                  <a:srgbClr val="FCFCF8"/>
                </a:solidFill>
                <a:latin typeface="Arial"/>
                <a:ea typeface="Arial"/>
                <a:cs typeface="Arial"/>
              </a:defRPr>
            </a:lvl1pPr>
            <a:lvl2pPr>
              <a:defRPr sz="2250" b="0">
                <a:solidFill>
                  <a:srgbClr val="FCFCF8"/>
                </a:solidFill>
                <a:latin typeface="Arial"/>
                <a:ea typeface="Arial"/>
                <a:cs typeface="Arial"/>
              </a:defRPr>
            </a:lvl2pPr>
            <a:lvl3pPr>
              <a:defRPr sz="2250" b="0">
                <a:solidFill>
                  <a:srgbClr val="FCFCF8"/>
                </a:solidFill>
                <a:latin typeface="Arial"/>
                <a:ea typeface="Arial"/>
                <a:cs typeface="Arial"/>
              </a:defRPr>
            </a:lvl3pPr>
            <a:lvl4pPr>
              <a:defRPr sz="2250" b="0">
                <a:solidFill>
                  <a:srgbClr val="FCFCF8"/>
                </a:solidFill>
                <a:latin typeface="Arial"/>
                <a:ea typeface="Arial"/>
                <a:cs typeface="Arial"/>
              </a:defRPr>
            </a:lvl4pPr>
            <a:lvl5pPr>
              <a:defRPr sz="2250" b="0">
                <a:solidFill>
                  <a:srgbClr val="FCFCF8"/>
                </a:solidFill>
                <a:latin typeface="Arial"/>
                <a:ea typeface="Arial"/>
                <a:cs typeface="Arial"/>
              </a:defRPr>
            </a:lvl5pPr>
            <a:lvl6pPr>
              <a:defRPr sz="2250" b="0">
                <a:solidFill>
                  <a:srgbClr val="FCFCF8"/>
                </a:solidFill>
                <a:latin typeface="Arial"/>
                <a:ea typeface="Arial"/>
                <a:cs typeface="Arial"/>
              </a:defRPr>
            </a:lvl6pPr>
            <a:lvl7pPr>
              <a:defRPr sz="2250" b="0">
                <a:solidFill>
                  <a:srgbClr val="FCFCF8"/>
                </a:solidFill>
                <a:latin typeface="Arial"/>
                <a:ea typeface="Arial"/>
                <a:cs typeface="Arial"/>
              </a:defRPr>
            </a:lvl7pPr>
            <a:lvl8pPr>
              <a:defRPr sz="2250" b="0">
                <a:solidFill>
                  <a:srgbClr val="FCFCF8"/>
                </a:solidFill>
                <a:latin typeface="Arial"/>
                <a:ea typeface="Arial"/>
                <a:cs typeface="Arial"/>
              </a:defRPr>
            </a:lvl8pPr>
            <a:lvl9pPr>
              <a:defRPr sz="2250" b="0">
                <a:solidFill>
                  <a:srgbClr val="FCFCF8"/>
                </a:solidFill>
                <a:latin typeface="Arial"/>
                <a:ea typeface="Arial"/>
                <a:cs typeface="Arial"/>
              </a:defRPr>
            </a:lvl9pPr>
          </a:lstStyle>
          <a:p xmlns:a="http://schemas.openxmlformats.org/drawingml/2006/main">
            <a:pPr>
              <a:defRPr sz="2250" b="0">
                <a:solidFill>
                  <a:srgbClr val="FCFCF8"/>
                </a:solidFill>
                <a:latin typeface="Arial"/>
                <a:ea typeface="Arial"/>
                <a:cs typeface="Arial"/>
              </a:defRPr>
            </a:pPr>
            <a:r>
              <a:rPr sz="2250" b="0">
                <a:solidFill>
                  <a:srgbClr val="FCFCF8"/>
                </a:solidFill>
                <a:latin typeface="Arial"/>
                <a:ea typeface="Arial"/>
                <a:cs typeface="Arial"/>
              </a:rPr>
              <a:t>¿Qué prueba decide si la pieza cumple su función?</a:t>
            </a:r>
          </a:p>
        </p:txBody>
      </p:sp>
    </p:spTree>
    <p:extLst>
      <p:ext uri="{BB962C8B-B14F-4D97-AF65-F5344CB8AC3E}">
        <p14:creationId xmlns:p14="http://schemas.microsoft.com/office/powerpoint/2010/main" val="297528857"/>
      </p:ext>
    </p:extLst>
  </p:cSld>
</p:sld>
</file>

<file path=ppt/slides/slide20.xml><?xml version="1.0" encoding="utf-8"?>
<p:sld xmlns:p="http://schemas.openxmlformats.org/presentationml/2006/main">
  <p:cSld>
    <p:bg>
      <p:bgPr>
        <a:solidFill xmlns:a="http://schemas.openxmlformats.org/drawingml/2006/main">
          <a:srgbClr val="FCFCF8"/>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1B365D12-12C5-4679-BB9B-88BBBA481880}"/>
              </a:ext>
            </a:extLst>
          </p:cNvPr>
          <p:cNvSpPr>
            <a:spLocks xmlns:a="http://schemas.openxmlformats.org/drawingml/2006/main" noGrp="1"/>
          </p:cNvSpPr>
          <p:nvPr/>
        </p:nvSpPr>
        <p:spPr>
          <a:xfrm xmlns:a="http://schemas.openxmlformats.org/drawingml/2006/main">
            <a:off x="590550" y="428625"/>
            <a:ext cx="100965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75" b="1">
                <a:solidFill>
                  <a:srgbClr val="14231E"/>
                </a:solidFill>
                <a:latin typeface="Arial Narrow"/>
                <a:ea typeface="Arial Narrow"/>
                <a:cs typeface="Arial Narrow"/>
              </a:defRPr>
            </a:defPPr>
            <a:lvl1pPr>
              <a:defRPr sz="3375" b="1">
                <a:solidFill>
                  <a:srgbClr val="14231E"/>
                </a:solidFill>
                <a:latin typeface="Arial Narrow"/>
                <a:ea typeface="Arial Narrow"/>
                <a:cs typeface="Arial Narrow"/>
              </a:defRPr>
            </a:lvl1pPr>
            <a:lvl2pPr>
              <a:defRPr sz="3375" b="1">
                <a:solidFill>
                  <a:srgbClr val="14231E"/>
                </a:solidFill>
                <a:latin typeface="Arial Narrow"/>
                <a:ea typeface="Arial Narrow"/>
                <a:cs typeface="Arial Narrow"/>
              </a:defRPr>
            </a:lvl2pPr>
            <a:lvl3pPr>
              <a:defRPr sz="3375" b="1">
                <a:solidFill>
                  <a:srgbClr val="14231E"/>
                </a:solidFill>
                <a:latin typeface="Arial Narrow"/>
                <a:ea typeface="Arial Narrow"/>
                <a:cs typeface="Arial Narrow"/>
              </a:defRPr>
            </a:lvl3pPr>
            <a:lvl4pPr>
              <a:defRPr sz="3375" b="1">
                <a:solidFill>
                  <a:srgbClr val="14231E"/>
                </a:solidFill>
                <a:latin typeface="Arial Narrow"/>
                <a:ea typeface="Arial Narrow"/>
                <a:cs typeface="Arial Narrow"/>
              </a:defRPr>
            </a:lvl4pPr>
            <a:lvl5pPr>
              <a:defRPr sz="3375" b="1">
                <a:solidFill>
                  <a:srgbClr val="14231E"/>
                </a:solidFill>
                <a:latin typeface="Arial Narrow"/>
                <a:ea typeface="Arial Narrow"/>
                <a:cs typeface="Arial Narrow"/>
              </a:defRPr>
            </a:lvl5pPr>
            <a:lvl6pPr>
              <a:defRPr sz="3375" b="1">
                <a:solidFill>
                  <a:srgbClr val="14231E"/>
                </a:solidFill>
                <a:latin typeface="Arial Narrow"/>
                <a:ea typeface="Arial Narrow"/>
                <a:cs typeface="Arial Narrow"/>
              </a:defRPr>
            </a:lvl6pPr>
            <a:lvl7pPr>
              <a:defRPr sz="3375" b="1">
                <a:solidFill>
                  <a:srgbClr val="14231E"/>
                </a:solidFill>
                <a:latin typeface="Arial Narrow"/>
                <a:ea typeface="Arial Narrow"/>
                <a:cs typeface="Arial Narrow"/>
              </a:defRPr>
            </a:lvl7pPr>
            <a:lvl8pPr>
              <a:defRPr sz="3375" b="1">
                <a:solidFill>
                  <a:srgbClr val="14231E"/>
                </a:solidFill>
                <a:latin typeface="Arial Narrow"/>
                <a:ea typeface="Arial Narrow"/>
                <a:cs typeface="Arial Narrow"/>
              </a:defRPr>
            </a:lvl8pPr>
            <a:lvl9pPr>
              <a:defRPr sz="3375" b="1">
                <a:solidFill>
                  <a:srgbClr val="14231E"/>
                </a:solidFill>
                <a:latin typeface="Arial Narrow"/>
                <a:ea typeface="Arial Narrow"/>
                <a:cs typeface="Arial Narrow"/>
              </a:defRPr>
            </a:lvl9pPr>
          </a:lstStyle>
          <a:p xmlns:a="http://schemas.openxmlformats.org/drawingml/2006/main">
            <a:pPr>
              <a:defRPr sz="3375" b="1">
                <a:solidFill>
                  <a:srgbClr val="14231E"/>
                </a:solidFill>
                <a:latin typeface="Arial Narrow"/>
                <a:ea typeface="Arial Narrow"/>
                <a:cs typeface="Arial Narrow"/>
              </a:defRPr>
            </a:pPr>
            <a:r>
              <a:rPr sz="3375" b="1">
                <a:solidFill>
                  <a:srgbClr val="14231E"/>
                </a:solidFill>
                <a:latin typeface="Arial Narrow"/>
                <a:ea typeface="Arial Narrow"/>
                <a:cs typeface="Arial Narrow"/>
              </a:rPr>
              <a:t>Trabajo guiado del equipo</a:t>
            </a:r>
          </a:p>
        </p:txBody>
      </p:sp>
      <p:pic>
        <p:nvPicPr>
          <p:cNvPr id="2" name="">
            <a:extLst xmlns:a="http://schemas.openxmlformats.org/drawingml/2006/main">
              <a:ext uri="{FF2B5EF4-FFF2-40B4-BE49-F238E27FC236}">
                <a16:creationId xmlns:a16="http://schemas.microsoft.com/office/drawing/2014/main" id="{76501CDA-7144-4D9B-85E4-5D08659ACA14}"/>
              </a:ext>
            </a:extLst>
          </p:cNvPr>
          <p:cNvPicPr>
            <a:picLocks xmlns:a="http://schemas.openxmlformats.org/drawingml/2006/main" noChangeAspect="1"/>
          </p:cNvPicPr>
          <p:nvPr/>
        </p:nvPicPr>
        <p:blipFill>
          <a:blip xmlns:r="http://schemas.openxmlformats.org/officeDocument/2006/relationships" xmlns:a="http://schemas.openxmlformats.org/drawingml/2006/main" r:embed="Rb41c64507b594a6d"/>
          <a:stretch xmlns:a="http://schemas.openxmlformats.org/drawingml/2006/main"/>
        </p:blipFill>
        <p:spPr>
          <a:xfrm xmlns:a="http://schemas.openxmlformats.org/drawingml/2006/main">
            <a:off x="10858500" y="337942"/>
            <a:ext cx="762000" cy="276616"/>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2F493EBA-3529-4283-A899-A2C3C93B0E23}"/>
              </a:ext>
            </a:extLst>
          </p:cNvPr>
          <p:cNvSpPr>
            <a:spLocks xmlns:a="http://schemas.openxmlformats.org/drawingml/2006/main" noGrp="1"/>
          </p:cNvSpPr>
          <p:nvPr/>
        </p:nvSpPr>
        <p:spPr>
          <a:xfrm xmlns:a="http://schemas.openxmlformats.org/drawingml/2006/main">
            <a:off x="590550" y="6467475"/>
            <a:ext cx="108108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58665F"/>
                </a:solidFill>
                <a:latin typeface="Consolas"/>
                <a:ea typeface="Consolas"/>
                <a:cs typeface="Consolas"/>
              </a:defRPr>
            </a:defPPr>
            <a:lvl1pPr>
              <a:defRPr sz="1125" b="0">
                <a:solidFill>
                  <a:srgbClr val="58665F"/>
                </a:solidFill>
                <a:latin typeface="Consolas"/>
                <a:ea typeface="Consolas"/>
                <a:cs typeface="Consolas"/>
              </a:defRPr>
            </a:lvl1pPr>
            <a:lvl2pPr>
              <a:defRPr sz="1125" b="0">
                <a:solidFill>
                  <a:srgbClr val="58665F"/>
                </a:solidFill>
                <a:latin typeface="Consolas"/>
                <a:ea typeface="Consolas"/>
                <a:cs typeface="Consolas"/>
              </a:defRPr>
            </a:lvl2pPr>
            <a:lvl3pPr>
              <a:defRPr sz="1125" b="0">
                <a:solidFill>
                  <a:srgbClr val="58665F"/>
                </a:solidFill>
                <a:latin typeface="Consolas"/>
                <a:ea typeface="Consolas"/>
                <a:cs typeface="Consolas"/>
              </a:defRPr>
            </a:lvl3pPr>
            <a:lvl4pPr>
              <a:defRPr sz="1125" b="0">
                <a:solidFill>
                  <a:srgbClr val="58665F"/>
                </a:solidFill>
                <a:latin typeface="Consolas"/>
                <a:ea typeface="Consolas"/>
                <a:cs typeface="Consolas"/>
              </a:defRPr>
            </a:lvl4pPr>
            <a:lvl5pPr>
              <a:defRPr sz="1125" b="0">
                <a:solidFill>
                  <a:srgbClr val="58665F"/>
                </a:solidFill>
                <a:latin typeface="Consolas"/>
                <a:ea typeface="Consolas"/>
                <a:cs typeface="Consolas"/>
              </a:defRPr>
            </a:lvl5pPr>
            <a:lvl6pPr>
              <a:defRPr sz="1125" b="0">
                <a:solidFill>
                  <a:srgbClr val="58665F"/>
                </a:solidFill>
                <a:latin typeface="Consolas"/>
                <a:ea typeface="Consolas"/>
                <a:cs typeface="Consolas"/>
              </a:defRPr>
            </a:lvl6pPr>
            <a:lvl7pPr>
              <a:defRPr sz="1125" b="0">
                <a:solidFill>
                  <a:srgbClr val="58665F"/>
                </a:solidFill>
                <a:latin typeface="Consolas"/>
                <a:ea typeface="Consolas"/>
                <a:cs typeface="Consolas"/>
              </a:defRPr>
            </a:lvl7pPr>
            <a:lvl8pPr>
              <a:defRPr sz="1125" b="0">
                <a:solidFill>
                  <a:srgbClr val="58665F"/>
                </a:solidFill>
                <a:latin typeface="Consolas"/>
                <a:ea typeface="Consolas"/>
                <a:cs typeface="Consolas"/>
              </a:defRPr>
            </a:lvl8pPr>
            <a:lvl9pPr>
              <a:defRPr sz="1125" b="0">
                <a:solidFill>
                  <a:srgbClr val="58665F"/>
                </a:solidFill>
                <a:latin typeface="Consolas"/>
                <a:ea typeface="Consolas"/>
                <a:cs typeface="Consolas"/>
              </a:defRPr>
            </a:lvl9pPr>
          </a:lstStyle>
          <a:p xmlns:a="http://schemas.openxmlformats.org/drawingml/2006/main">
            <a:pPr>
              <a:defRPr sz="1125" b="0">
                <a:solidFill>
                  <a:srgbClr val="58665F"/>
                </a:solidFill>
                <a:latin typeface="Consolas"/>
                <a:ea typeface="Consolas"/>
                <a:cs typeface="Consolas"/>
              </a:defRPr>
            </a:pPr>
            <a:r>
              <a:rPr sz="1125" b="0">
                <a:solidFill>
                  <a:srgbClr val="58665F"/>
                </a:solidFill>
                <a:latin typeface="Consolas"/>
                <a:ea typeface="Consolas"/>
                <a:cs typeface="Consolas"/>
              </a:rPr>
              <a:t>MECRO   SEMANA 3   CLASE 05   20/24</a:t>
            </a:r>
          </a:p>
        </p:txBody>
      </p:sp>
      <p:sp>
        <p:nvSpPr>
          <p:cNvPr id="4" name="">
            <a:extLst xmlns:a="http://schemas.openxmlformats.org/drawingml/2006/main">
              <a:ext uri="{FF2B5EF4-FFF2-40B4-BE49-F238E27FC236}">
                <a16:creationId xmlns:a16="http://schemas.microsoft.com/office/drawing/2014/main" id="{16546601-9556-47C8-8DB5-EB52CFF33661}"/>
              </a:ext>
            </a:extLst>
          </p:cNvPr>
          <p:cNvSpPr>
            <a:spLocks xmlns:a="http://schemas.openxmlformats.org/drawingml/2006/main" noGrp="1"/>
          </p:cNvSpPr>
          <p:nvPr/>
        </p:nvSpPr>
        <p:spPr>
          <a:xfrm xmlns:a="http://schemas.openxmlformats.org/drawingml/2006/main">
            <a:off x="590550" y="1743075"/>
            <a:ext cx="10810875" cy="425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250" b="0">
                <a:solidFill>
                  <a:srgbClr val="14231E"/>
                </a:solidFill>
                <a:latin typeface="Arial"/>
                <a:ea typeface="Arial"/>
                <a:cs typeface="Arial"/>
              </a:defRPr>
            </a:defPPr>
            <a:lvl1pPr>
              <a:defRPr sz="2250" b="0">
                <a:solidFill>
                  <a:srgbClr val="14231E"/>
                </a:solidFill>
                <a:latin typeface="Arial"/>
                <a:ea typeface="Arial"/>
                <a:cs typeface="Arial"/>
              </a:defRPr>
            </a:lvl1pPr>
            <a:lvl2pPr>
              <a:defRPr sz="2250" b="0">
                <a:solidFill>
                  <a:srgbClr val="14231E"/>
                </a:solidFill>
                <a:latin typeface="Arial"/>
                <a:ea typeface="Arial"/>
                <a:cs typeface="Arial"/>
              </a:defRPr>
            </a:lvl2pPr>
            <a:lvl3pPr>
              <a:defRPr sz="2250" b="0">
                <a:solidFill>
                  <a:srgbClr val="14231E"/>
                </a:solidFill>
                <a:latin typeface="Arial"/>
                <a:ea typeface="Arial"/>
                <a:cs typeface="Arial"/>
              </a:defRPr>
            </a:lvl3pPr>
            <a:lvl4pPr>
              <a:defRPr sz="2250" b="0">
                <a:solidFill>
                  <a:srgbClr val="14231E"/>
                </a:solidFill>
                <a:latin typeface="Arial"/>
                <a:ea typeface="Arial"/>
                <a:cs typeface="Arial"/>
              </a:defRPr>
            </a:lvl4pPr>
            <a:lvl5pPr>
              <a:defRPr sz="2250" b="0">
                <a:solidFill>
                  <a:srgbClr val="14231E"/>
                </a:solidFill>
                <a:latin typeface="Arial"/>
                <a:ea typeface="Arial"/>
                <a:cs typeface="Arial"/>
              </a:defRPr>
            </a:lvl5pPr>
            <a:lvl6pPr>
              <a:defRPr sz="2250" b="0">
                <a:solidFill>
                  <a:srgbClr val="14231E"/>
                </a:solidFill>
                <a:latin typeface="Arial"/>
                <a:ea typeface="Arial"/>
                <a:cs typeface="Arial"/>
              </a:defRPr>
            </a:lvl6pPr>
            <a:lvl7pPr>
              <a:defRPr sz="2250" b="0">
                <a:solidFill>
                  <a:srgbClr val="14231E"/>
                </a:solidFill>
                <a:latin typeface="Arial"/>
                <a:ea typeface="Arial"/>
                <a:cs typeface="Arial"/>
              </a:defRPr>
            </a:lvl7pPr>
            <a:lvl8pPr>
              <a:defRPr sz="2250" b="0">
                <a:solidFill>
                  <a:srgbClr val="14231E"/>
                </a:solidFill>
                <a:latin typeface="Arial"/>
                <a:ea typeface="Arial"/>
                <a:cs typeface="Arial"/>
              </a:defRPr>
            </a:lvl8pPr>
            <a:lvl9pPr>
              <a:defRPr sz="2250" b="0">
                <a:solidFill>
                  <a:srgbClr val="14231E"/>
                </a:solidFill>
                <a:latin typeface="Arial"/>
                <a:ea typeface="Arial"/>
                <a:cs typeface="Arial"/>
              </a:defRPr>
            </a:lvl9pPr>
          </a:lstStyle>
          <a:p xmlns:a="http://schemas.openxmlformats.org/drawingml/2006/main">
            <a:pPr>
              <a:defRPr sz="2250" b="0">
                <a:solidFill>
                  <a:srgbClr val="14231E"/>
                </a:solidFill>
                <a:latin typeface="Arial"/>
                <a:ea typeface="Arial"/>
                <a:cs typeface="Arial"/>
              </a:defRPr>
            </a:pPr>
            <a:r>
              <a:rPr sz="2250" b="0">
                <a:solidFill>
                  <a:srgbClr val="14231E"/>
                </a:solidFill>
                <a:latin typeface="Arial"/>
                <a:ea typeface="Arial"/>
                <a:cs typeface="Arial"/>
              </a:rPr>
              <a:t>1. Revisar la orientación de una muestra funcional.</a:t>
            </a:r>
          </a:p>
          <a:p xmlns:a="http://schemas.openxmlformats.org/drawingml/2006/main">
            <a:r>
              <a:t/>
            </a:r>
          </a:p>
          <a:p xmlns:a="http://schemas.openxmlformats.org/drawingml/2006/main">
            <a:pPr>
              <a:defRPr sz="2250" b="0">
                <a:solidFill>
                  <a:srgbClr val="14231E"/>
                </a:solidFill>
                <a:latin typeface="Arial"/>
                <a:ea typeface="Arial"/>
                <a:cs typeface="Arial"/>
              </a:defRPr>
            </a:pPr>
            <a:r>
              <a:rPr sz="2250" b="0">
                <a:solidFill>
                  <a:srgbClr val="14231E"/>
                </a:solidFill>
                <a:latin typeface="Arial"/>
                <a:ea typeface="Arial"/>
                <a:cs typeface="Arial"/>
              </a:rPr>
              <a:t>2. Comparar dos proyectos del laminador cambiando una decisión.</a:t>
            </a:r>
          </a:p>
          <a:p xmlns:a="http://schemas.openxmlformats.org/drawingml/2006/main">
            <a:r>
              <a:t/>
            </a:r>
          </a:p>
          <a:p xmlns:a="http://schemas.openxmlformats.org/drawingml/2006/main">
            <a:pPr>
              <a:defRPr sz="2250" b="0">
                <a:solidFill>
                  <a:srgbClr val="14231E"/>
                </a:solidFill>
                <a:latin typeface="Arial"/>
                <a:ea typeface="Arial"/>
                <a:cs typeface="Arial"/>
              </a:defRPr>
            </a:pPr>
            <a:r>
              <a:rPr sz="2250" b="0">
                <a:solidFill>
                  <a:srgbClr val="14231E"/>
                </a:solidFill>
                <a:latin typeface="Arial"/>
                <a:ea typeface="Arial"/>
                <a:cs typeface="Arial"/>
              </a:rPr>
              <a:t>3. Preparar la solicitud de impresión con equipo y revisión.</a:t>
            </a:r>
          </a:p>
          <a:p xmlns:a="http://schemas.openxmlformats.org/drawingml/2006/main">
            <a:r>
              <a:t/>
            </a:r>
          </a:p>
          <a:p xmlns:a="http://schemas.openxmlformats.org/drawingml/2006/main">
            <a:pPr>
              <a:defRPr sz="2250" b="0">
                <a:solidFill>
                  <a:srgbClr val="14231E"/>
                </a:solidFill>
                <a:latin typeface="Arial"/>
                <a:ea typeface="Arial"/>
                <a:cs typeface="Arial"/>
              </a:defRPr>
            </a:pPr>
            <a:r>
              <a:rPr sz="2250" b="0">
                <a:solidFill>
                  <a:srgbClr val="14231E"/>
                </a:solidFill>
                <a:latin typeface="Arial"/>
                <a:ea typeface="Arial"/>
                <a:cs typeface="Arial"/>
              </a:rPr>
              <a:t>4. Definir la medida y prueba de aceptación para el taller.</a:t>
            </a:r>
          </a:p>
        </p:txBody>
      </p:sp>
    </p:spTree>
    <p:extLst>
      <p:ext uri="{BB962C8B-B14F-4D97-AF65-F5344CB8AC3E}">
        <p14:creationId xmlns:p14="http://schemas.microsoft.com/office/powerpoint/2010/main" val="1891771419"/>
      </p:ext>
    </p:extLst>
  </p:cSld>
</p:sld>
</file>

<file path=ppt/slides/slide21.xml><?xml version="1.0" encoding="utf-8"?>
<p:sld xmlns:p="http://schemas.openxmlformats.org/presentationml/2006/main">
  <p:cSld>
    <p:bg>
      <p:bgPr>
        <a:solidFill xmlns:a="http://schemas.openxmlformats.org/drawingml/2006/main">
          <a:srgbClr val="090F10"/>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7B585542-4E1A-4A58-9F67-66E280296C01}"/>
              </a:ext>
            </a:extLst>
          </p:cNvPr>
          <p:cNvSpPr>
            <a:spLocks xmlns:a="http://schemas.openxmlformats.org/drawingml/2006/main" noGrp="1"/>
          </p:cNvSpPr>
          <p:nvPr/>
        </p:nvSpPr>
        <p:spPr>
          <a:xfrm xmlns:a="http://schemas.openxmlformats.org/drawingml/2006/main">
            <a:off x="590550" y="428625"/>
            <a:ext cx="100965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75" b="1">
                <a:solidFill>
                  <a:srgbClr val="FCFCF8"/>
                </a:solidFill>
                <a:latin typeface="Arial Narrow"/>
                <a:ea typeface="Arial Narrow"/>
                <a:cs typeface="Arial Narrow"/>
              </a:defRPr>
            </a:defPPr>
            <a:lvl1pPr>
              <a:defRPr sz="3375" b="1">
                <a:solidFill>
                  <a:srgbClr val="FCFCF8"/>
                </a:solidFill>
                <a:latin typeface="Arial Narrow"/>
                <a:ea typeface="Arial Narrow"/>
                <a:cs typeface="Arial Narrow"/>
              </a:defRPr>
            </a:lvl1pPr>
            <a:lvl2pPr>
              <a:defRPr sz="3375" b="1">
                <a:solidFill>
                  <a:srgbClr val="FCFCF8"/>
                </a:solidFill>
                <a:latin typeface="Arial Narrow"/>
                <a:ea typeface="Arial Narrow"/>
                <a:cs typeface="Arial Narrow"/>
              </a:defRPr>
            </a:lvl2pPr>
            <a:lvl3pPr>
              <a:defRPr sz="3375" b="1">
                <a:solidFill>
                  <a:srgbClr val="FCFCF8"/>
                </a:solidFill>
                <a:latin typeface="Arial Narrow"/>
                <a:ea typeface="Arial Narrow"/>
                <a:cs typeface="Arial Narrow"/>
              </a:defRPr>
            </a:lvl3pPr>
            <a:lvl4pPr>
              <a:defRPr sz="3375" b="1">
                <a:solidFill>
                  <a:srgbClr val="FCFCF8"/>
                </a:solidFill>
                <a:latin typeface="Arial Narrow"/>
                <a:ea typeface="Arial Narrow"/>
                <a:cs typeface="Arial Narrow"/>
              </a:defRPr>
            </a:lvl4pPr>
            <a:lvl5pPr>
              <a:defRPr sz="3375" b="1">
                <a:solidFill>
                  <a:srgbClr val="FCFCF8"/>
                </a:solidFill>
                <a:latin typeface="Arial Narrow"/>
                <a:ea typeface="Arial Narrow"/>
                <a:cs typeface="Arial Narrow"/>
              </a:defRPr>
            </a:lvl5pPr>
            <a:lvl6pPr>
              <a:defRPr sz="3375" b="1">
                <a:solidFill>
                  <a:srgbClr val="FCFCF8"/>
                </a:solidFill>
                <a:latin typeface="Arial Narrow"/>
                <a:ea typeface="Arial Narrow"/>
                <a:cs typeface="Arial Narrow"/>
              </a:defRPr>
            </a:lvl6pPr>
            <a:lvl7pPr>
              <a:defRPr sz="3375" b="1">
                <a:solidFill>
                  <a:srgbClr val="FCFCF8"/>
                </a:solidFill>
                <a:latin typeface="Arial Narrow"/>
                <a:ea typeface="Arial Narrow"/>
                <a:cs typeface="Arial Narrow"/>
              </a:defRPr>
            </a:lvl7pPr>
            <a:lvl8pPr>
              <a:defRPr sz="3375" b="1">
                <a:solidFill>
                  <a:srgbClr val="FCFCF8"/>
                </a:solidFill>
                <a:latin typeface="Arial Narrow"/>
                <a:ea typeface="Arial Narrow"/>
                <a:cs typeface="Arial Narrow"/>
              </a:defRPr>
            </a:lvl8pPr>
            <a:lvl9pPr>
              <a:defRPr sz="3375" b="1">
                <a:solidFill>
                  <a:srgbClr val="FCFCF8"/>
                </a:solidFill>
                <a:latin typeface="Arial Narrow"/>
                <a:ea typeface="Arial Narrow"/>
                <a:cs typeface="Arial Narrow"/>
              </a:defRPr>
            </a:lvl9pPr>
          </a:lstStyle>
          <a:p xmlns:a="http://schemas.openxmlformats.org/drawingml/2006/main">
            <a:pPr>
              <a:defRPr sz="3375" b="1">
                <a:solidFill>
                  <a:srgbClr val="FCFCF8"/>
                </a:solidFill>
                <a:latin typeface="Arial Narrow"/>
                <a:ea typeface="Arial Narrow"/>
                <a:cs typeface="Arial Narrow"/>
              </a:defRPr>
            </a:pPr>
            <a:r>
              <a:rPr sz="3375" b="1">
                <a:solidFill>
                  <a:srgbClr val="FCFCF8"/>
                </a:solidFill>
                <a:latin typeface="Arial Narrow"/>
                <a:ea typeface="Arial Narrow"/>
                <a:cs typeface="Arial Narrow"/>
              </a:rPr>
              <a:t>Decisión según la misión</a:t>
            </a:r>
          </a:p>
        </p:txBody>
      </p:sp>
      <p:pic>
        <p:nvPicPr>
          <p:cNvPr id="2" name="">
            <a:extLst xmlns:a="http://schemas.openxmlformats.org/drawingml/2006/main">
              <a:ext uri="{FF2B5EF4-FFF2-40B4-BE49-F238E27FC236}">
                <a16:creationId xmlns:a16="http://schemas.microsoft.com/office/drawing/2014/main" id="{E5955D90-606A-4579-8E25-4C0FB3DE7A69}"/>
              </a:ext>
            </a:extLst>
          </p:cNvPr>
          <p:cNvPicPr>
            <a:picLocks xmlns:a="http://schemas.openxmlformats.org/drawingml/2006/main" noChangeAspect="1"/>
          </p:cNvPicPr>
          <p:nvPr/>
        </p:nvPicPr>
        <p:blipFill>
          <a:blip xmlns:r="http://schemas.openxmlformats.org/officeDocument/2006/relationships" xmlns:a="http://schemas.openxmlformats.org/drawingml/2006/main" r:embed="R6280ad000eb94244"/>
          <a:stretch xmlns:a="http://schemas.openxmlformats.org/drawingml/2006/main"/>
        </p:blipFill>
        <p:spPr>
          <a:xfrm xmlns:a="http://schemas.openxmlformats.org/drawingml/2006/main">
            <a:off x="10858500" y="337942"/>
            <a:ext cx="762000" cy="276616"/>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17A48CB6-46FE-4F5B-BFDC-41E81FC2096F}"/>
              </a:ext>
            </a:extLst>
          </p:cNvPr>
          <p:cNvSpPr>
            <a:spLocks xmlns:a="http://schemas.openxmlformats.org/drawingml/2006/main" noGrp="1"/>
          </p:cNvSpPr>
          <p:nvPr/>
        </p:nvSpPr>
        <p:spPr>
          <a:xfrm xmlns:a="http://schemas.openxmlformats.org/drawingml/2006/main">
            <a:off x="590550" y="6467475"/>
            <a:ext cx="108108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B8C8C1"/>
                </a:solidFill>
                <a:latin typeface="Consolas"/>
                <a:ea typeface="Consolas"/>
                <a:cs typeface="Consolas"/>
              </a:defRPr>
            </a:defPPr>
            <a:lvl1pPr>
              <a:defRPr sz="1125" b="0">
                <a:solidFill>
                  <a:srgbClr val="B8C8C1"/>
                </a:solidFill>
                <a:latin typeface="Consolas"/>
                <a:ea typeface="Consolas"/>
                <a:cs typeface="Consolas"/>
              </a:defRPr>
            </a:lvl1pPr>
            <a:lvl2pPr>
              <a:defRPr sz="1125" b="0">
                <a:solidFill>
                  <a:srgbClr val="B8C8C1"/>
                </a:solidFill>
                <a:latin typeface="Consolas"/>
                <a:ea typeface="Consolas"/>
                <a:cs typeface="Consolas"/>
              </a:defRPr>
            </a:lvl2pPr>
            <a:lvl3pPr>
              <a:defRPr sz="1125" b="0">
                <a:solidFill>
                  <a:srgbClr val="B8C8C1"/>
                </a:solidFill>
                <a:latin typeface="Consolas"/>
                <a:ea typeface="Consolas"/>
                <a:cs typeface="Consolas"/>
              </a:defRPr>
            </a:lvl3pPr>
            <a:lvl4pPr>
              <a:defRPr sz="1125" b="0">
                <a:solidFill>
                  <a:srgbClr val="B8C8C1"/>
                </a:solidFill>
                <a:latin typeface="Consolas"/>
                <a:ea typeface="Consolas"/>
                <a:cs typeface="Consolas"/>
              </a:defRPr>
            </a:lvl4pPr>
            <a:lvl5pPr>
              <a:defRPr sz="1125" b="0">
                <a:solidFill>
                  <a:srgbClr val="B8C8C1"/>
                </a:solidFill>
                <a:latin typeface="Consolas"/>
                <a:ea typeface="Consolas"/>
                <a:cs typeface="Consolas"/>
              </a:defRPr>
            </a:lvl5pPr>
            <a:lvl6pPr>
              <a:defRPr sz="1125" b="0">
                <a:solidFill>
                  <a:srgbClr val="B8C8C1"/>
                </a:solidFill>
                <a:latin typeface="Consolas"/>
                <a:ea typeface="Consolas"/>
                <a:cs typeface="Consolas"/>
              </a:defRPr>
            </a:lvl6pPr>
            <a:lvl7pPr>
              <a:defRPr sz="1125" b="0">
                <a:solidFill>
                  <a:srgbClr val="B8C8C1"/>
                </a:solidFill>
                <a:latin typeface="Consolas"/>
                <a:ea typeface="Consolas"/>
                <a:cs typeface="Consolas"/>
              </a:defRPr>
            </a:lvl7pPr>
            <a:lvl8pPr>
              <a:defRPr sz="1125" b="0">
                <a:solidFill>
                  <a:srgbClr val="B8C8C1"/>
                </a:solidFill>
                <a:latin typeface="Consolas"/>
                <a:ea typeface="Consolas"/>
                <a:cs typeface="Consolas"/>
              </a:defRPr>
            </a:lvl8pPr>
            <a:lvl9pPr>
              <a:defRPr sz="1125" b="0">
                <a:solidFill>
                  <a:srgbClr val="B8C8C1"/>
                </a:solidFill>
                <a:latin typeface="Consolas"/>
                <a:ea typeface="Consolas"/>
                <a:cs typeface="Consolas"/>
              </a:defRPr>
            </a:lvl9pPr>
          </a:lstStyle>
          <a:p xmlns:a="http://schemas.openxmlformats.org/drawingml/2006/main">
            <a:pPr>
              <a:defRPr sz="1125" b="0">
                <a:solidFill>
                  <a:srgbClr val="B8C8C1"/>
                </a:solidFill>
                <a:latin typeface="Consolas"/>
                <a:ea typeface="Consolas"/>
                <a:cs typeface="Consolas"/>
              </a:defRPr>
            </a:pPr>
            <a:r>
              <a:rPr sz="1125" b="0">
                <a:solidFill>
                  <a:srgbClr val="B8C8C1"/>
                </a:solidFill>
                <a:latin typeface="Consolas"/>
                <a:ea typeface="Consolas"/>
                <a:cs typeface="Consolas"/>
              </a:rPr>
              <a:t>MECRO   SEMANA 3   CLASE 05   21/24</a:t>
            </a:r>
          </a:p>
        </p:txBody>
      </p:sp>
      <p:sp>
        <p:nvSpPr>
          <p:cNvPr id="4" name="">
            <a:extLst xmlns:a="http://schemas.openxmlformats.org/drawingml/2006/main">
              <a:ext uri="{FF2B5EF4-FFF2-40B4-BE49-F238E27FC236}">
                <a16:creationId xmlns:a16="http://schemas.microsoft.com/office/drawing/2014/main" id="{1B6CEC69-1087-4F53-9149-7C8872FD1427}"/>
              </a:ext>
            </a:extLst>
          </p:cNvPr>
          <p:cNvSpPr>
            <a:spLocks xmlns:a="http://schemas.openxmlformats.org/drawingml/2006/main" noGrp="1"/>
          </p:cNvSpPr>
          <p:nvPr/>
        </p:nvSpPr>
        <p:spPr>
          <a:xfrm xmlns:a="http://schemas.openxmlformats.org/drawingml/2006/main">
            <a:off x="590550" y="1771650"/>
            <a:ext cx="10715625"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775" b="1">
                <a:solidFill>
                  <a:srgbClr val="AEF4BB"/>
                </a:solidFill>
                <a:latin typeface="Arial"/>
                <a:ea typeface="Arial"/>
                <a:cs typeface="Arial"/>
              </a:defRPr>
            </a:defPPr>
            <a:lvl1pPr>
              <a:defRPr sz="2775" b="1">
                <a:solidFill>
                  <a:srgbClr val="AEF4BB"/>
                </a:solidFill>
                <a:latin typeface="Arial"/>
                <a:ea typeface="Arial"/>
                <a:cs typeface="Arial"/>
              </a:defRPr>
            </a:lvl1pPr>
            <a:lvl2pPr>
              <a:defRPr sz="2775" b="1">
                <a:solidFill>
                  <a:srgbClr val="AEF4BB"/>
                </a:solidFill>
                <a:latin typeface="Arial"/>
                <a:ea typeface="Arial"/>
                <a:cs typeface="Arial"/>
              </a:defRPr>
            </a:lvl2pPr>
            <a:lvl3pPr>
              <a:defRPr sz="2775" b="1">
                <a:solidFill>
                  <a:srgbClr val="AEF4BB"/>
                </a:solidFill>
                <a:latin typeface="Arial"/>
                <a:ea typeface="Arial"/>
                <a:cs typeface="Arial"/>
              </a:defRPr>
            </a:lvl3pPr>
            <a:lvl4pPr>
              <a:defRPr sz="2775" b="1">
                <a:solidFill>
                  <a:srgbClr val="AEF4BB"/>
                </a:solidFill>
                <a:latin typeface="Arial"/>
                <a:ea typeface="Arial"/>
                <a:cs typeface="Arial"/>
              </a:defRPr>
            </a:lvl4pPr>
            <a:lvl5pPr>
              <a:defRPr sz="2775" b="1">
                <a:solidFill>
                  <a:srgbClr val="AEF4BB"/>
                </a:solidFill>
                <a:latin typeface="Arial"/>
                <a:ea typeface="Arial"/>
                <a:cs typeface="Arial"/>
              </a:defRPr>
            </a:lvl5pPr>
            <a:lvl6pPr>
              <a:defRPr sz="2775" b="1">
                <a:solidFill>
                  <a:srgbClr val="AEF4BB"/>
                </a:solidFill>
                <a:latin typeface="Arial"/>
                <a:ea typeface="Arial"/>
                <a:cs typeface="Arial"/>
              </a:defRPr>
            </a:lvl6pPr>
            <a:lvl7pPr>
              <a:defRPr sz="2775" b="1">
                <a:solidFill>
                  <a:srgbClr val="AEF4BB"/>
                </a:solidFill>
                <a:latin typeface="Arial"/>
                <a:ea typeface="Arial"/>
                <a:cs typeface="Arial"/>
              </a:defRPr>
            </a:lvl7pPr>
            <a:lvl8pPr>
              <a:defRPr sz="2775" b="1">
                <a:solidFill>
                  <a:srgbClr val="AEF4BB"/>
                </a:solidFill>
                <a:latin typeface="Arial"/>
                <a:ea typeface="Arial"/>
                <a:cs typeface="Arial"/>
              </a:defRPr>
            </a:lvl8pPr>
            <a:lvl9pPr>
              <a:defRPr sz="2775" b="1">
                <a:solidFill>
                  <a:srgbClr val="AEF4BB"/>
                </a:solidFill>
                <a:latin typeface="Arial"/>
                <a:ea typeface="Arial"/>
                <a:cs typeface="Arial"/>
              </a:defRPr>
            </a:lvl9pPr>
          </a:lstStyle>
          <a:p xmlns:a="http://schemas.openxmlformats.org/drawingml/2006/main">
            <a:pPr>
              <a:defRPr sz="2775" b="1">
                <a:solidFill>
                  <a:srgbClr val="AEF4BB"/>
                </a:solidFill>
                <a:latin typeface="Arial"/>
                <a:ea typeface="Arial"/>
                <a:cs typeface="Arial"/>
              </a:defRPr>
            </a:pPr>
            <a:r>
              <a:rPr sz="2775" b="1">
                <a:solidFill>
                  <a:srgbClr val="AEF4BB"/>
                </a:solidFill>
                <a:latin typeface="Arial"/>
                <a:ea typeface="Arial"/>
                <a:cs typeface="Arial"/>
              </a:rPr>
              <a:t>Fabricar prototipos repetibles con el tiempo y los equipos disponibles.</a:t>
            </a:r>
          </a:p>
        </p:txBody>
      </p:sp>
      <p:sp>
        <p:nvSpPr>
          <p:cNvPr id="5" name="">
            <a:extLst xmlns:a="http://schemas.openxmlformats.org/drawingml/2006/main">
              <a:ext uri="{FF2B5EF4-FFF2-40B4-BE49-F238E27FC236}">
                <a16:creationId xmlns:a16="http://schemas.microsoft.com/office/drawing/2014/main" id="{CA4A2ADD-AA03-4031-B2FC-AC6686D73EFB}"/>
              </a:ext>
            </a:extLst>
          </p:cNvPr>
          <p:cNvSpPr>
            <a:spLocks xmlns:a="http://schemas.openxmlformats.org/drawingml/2006/main" noGrp="1"/>
          </p:cNvSpPr>
          <p:nvPr/>
        </p:nvSpPr>
        <p:spPr>
          <a:xfrm xmlns:a="http://schemas.openxmlformats.org/drawingml/2006/main">
            <a:off x="590550" y="3638550"/>
            <a:ext cx="10715625"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625" b="0">
                <a:solidFill>
                  <a:srgbClr val="FCFCF8"/>
                </a:solidFill>
                <a:latin typeface="Arial"/>
                <a:ea typeface="Arial"/>
                <a:cs typeface="Arial"/>
              </a:defRPr>
            </a:defPPr>
            <a:lvl1pPr>
              <a:defRPr sz="2625" b="0">
                <a:solidFill>
                  <a:srgbClr val="FCFCF8"/>
                </a:solidFill>
                <a:latin typeface="Arial"/>
                <a:ea typeface="Arial"/>
                <a:cs typeface="Arial"/>
              </a:defRPr>
            </a:lvl1pPr>
            <a:lvl2pPr>
              <a:defRPr sz="2625" b="0">
                <a:solidFill>
                  <a:srgbClr val="FCFCF8"/>
                </a:solidFill>
                <a:latin typeface="Arial"/>
                <a:ea typeface="Arial"/>
                <a:cs typeface="Arial"/>
              </a:defRPr>
            </a:lvl2pPr>
            <a:lvl3pPr>
              <a:defRPr sz="2625" b="0">
                <a:solidFill>
                  <a:srgbClr val="FCFCF8"/>
                </a:solidFill>
                <a:latin typeface="Arial"/>
                <a:ea typeface="Arial"/>
                <a:cs typeface="Arial"/>
              </a:defRPr>
            </a:lvl3pPr>
            <a:lvl4pPr>
              <a:defRPr sz="2625" b="0">
                <a:solidFill>
                  <a:srgbClr val="FCFCF8"/>
                </a:solidFill>
                <a:latin typeface="Arial"/>
                <a:ea typeface="Arial"/>
                <a:cs typeface="Arial"/>
              </a:defRPr>
            </a:lvl4pPr>
            <a:lvl5pPr>
              <a:defRPr sz="2625" b="0">
                <a:solidFill>
                  <a:srgbClr val="FCFCF8"/>
                </a:solidFill>
                <a:latin typeface="Arial"/>
                <a:ea typeface="Arial"/>
                <a:cs typeface="Arial"/>
              </a:defRPr>
            </a:lvl5pPr>
            <a:lvl6pPr>
              <a:defRPr sz="2625" b="0">
                <a:solidFill>
                  <a:srgbClr val="FCFCF8"/>
                </a:solidFill>
                <a:latin typeface="Arial"/>
                <a:ea typeface="Arial"/>
                <a:cs typeface="Arial"/>
              </a:defRPr>
            </a:lvl6pPr>
            <a:lvl7pPr>
              <a:defRPr sz="2625" b="0">
                <a:solidFill>
                  <a:srgbClr val="FCFCF8"/>
                </a:solidFill>
                <a:latin typeface="Arial"/>
                <a:ea typeface="Arial"/>
                <a:cs typeface="Arial"/>
              </a:defRPr>
            </a:lvl7pPr>
            <a:lvl8pPr>
              <a:defRPr sz="2625" b="0">
                <a:solidFill>
                  <a:srgbClr val="FCFCF8"/>
                </a:solidFill>
                <a:latin typeface="Arial"/>
                <a:ea typeface="Arial"/>
                <a:cs typeface="Arial"/>
              </a:defRPr>
            </a:lvl8pPr>
            <a:lvl9pPr>
              <a:defRPr sz="2625" b="0">
                <a:solidFill>
                  <a:srgbClr val="FCFCF8"/>
                </a:solidFill>
                <a:latin typeface="Arial"/>
                <a:ea typeface="Arial"/>
                <a:cs typeface="Arial"/>
              </a:defRPr>
            </a:lvl9pPr>
          </a:lstStyle>
          <a:p xmlns:a="http://schemas.openxmlformats.org/drawingml/2006/main">
            <a:pPr>
              <a:defRPr sz="2625" b="0">
                <a:solidFill>
                  <a:srgbClr val="FCFCF8"/>
                </a:solidFill>
                <a:latin typeface="Arial"/>
                <a:ea typeface="Arial"/>
                <a:cs typeface="Arial"/>
              </a:defRPr>
            </a:pPr>
            <a:r>
              <a:rPr sz="2625" b="0">
                <a:solidFill>
                  <a:srgbClr val="FCFCF8"/>
                </a:solidFill>
                <a:latin typeface="Arial"/>
                <a:ea typeface="Arial"/>
                <a:cs typeface="Arial"/>
              </a:rPr>
              <a:t>¿Qué prueba decide si la pieza cumple su función?</a:t>
            </a:r>
          </a:p>
        </p:txBody>
      </p:sp>
      <p:sp>
        <p:nvSpPr>
          <p:cNvPr id="6" name="">
            <a:extLst xmlns:a="http://schemas.openxmlformats.org/drawingml/2006/main">
              <a:ext uri="{FF2B5EF4-FFF2-40B4-BE49-F238E27FC236}">
                <a16:creationId xmlns:a16="http://schemas.microsoft.com/office/drawing/2014/main" id="{EC99B10C-4540-4B5F-9740-2F2D64FA519C}"/>
              </a:ext>
            </a:extLst>
          </p:cNvPr>
          <p:cNvSpPr>
            <a:spLocks xmlns:a="http://schemas.openxmlformats.org/drawingml/2006/main" noGrp="1"/>
          </p:cNvSpPr>
          <p:nvPr/>
        </p:nvSpPr>
        <p:spPr>
          <a:xfrm xmlns:a="http://schemas.openxmlformats.org/drawingml/2006/main">
            <a:off x="590550" y="5486400"/>
            <a:ext cx="1071562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0">
                <a:solidFill>
                  <a:srgbClr val="B8C8C1"/>
                </a:solidFill>
                <a:latin typeface="Arial"/>
                <a:ea typeface="Arial"/>
                <a:cs typeface="Arial"/>
              </a:defRPr>
            </a:defPPr>
            <a:lvl1pPr>
              <a:defRPr sz="2175" b="0">
                <a:solidFill>
                  <a:srgbClr val="B8C8C1"/>
                </a:solidFill>
                <a:latin typeface="Arial"/>
                <a:ea typeface="Arial"/>
                <a:cs typeface="Arial"/>
              </a:defRPr>
            </a:lvl1pPr>
            <a:lvl2pPr>
              <a:defRPr sz="2175" b="0">
                <a:solidFill>
                  <a:srgbClr val="B8C8C1"/>
                </a:solidFill>
                <a:latin typeface="Arial"/>
                <a:ea typeface="Arial"/>
                <a:cs typeface="Arial"/>
              </a:defRPr>
            </a:lvl2pPr>
            <a:lvl3pPr>
              <a:defRPr sz="2175" b="0">
                <a:solidFill>
                  <a:srgbClr val="B8C8C1"/>
                </a:solidFill>
                <a:latin typeface="Arial"/>
                <a:ea typeface="Arial"/>
                <a:cs typeface="Arial"/>
              </a:defRPr>
            </a:lvl3pPr>
            <a:lvl4pPr>
              <a:defRPr sz="2175" b="0">
                <a:solidFill>
                  <a:srgbClr val="B8C8C1"/>
                </a:solidFill>
                <a:latin typeface="Arial"/>
                <a:ea typeface="Arial"/>
                <a:cs typeface="Arial"/>
              </a:defRPr>
            </a:lvl4pPr>
            <a:lvl5pPr>
              <a:defRPr sz="2175" b="0">
                <a:solidFill>
                  <a:srgbClr val="B8C8C1"/>
                </a:solidFill>
                <a:latin typeface="Arial"/>
                <a:ea typeface="Arial"/>
                <a:cs typeface="Arial"/>
              </a:defRPr>
            </a:lvl5pPr>
            <a:lvl6pPr>
              <a:defRPr sz="2175" b="0">
                <a:solidFill>
                  <a:srgbClr val="B8C8C1"/>
                </a:solidFill>
                <a:latin typeface="Arial"/>
                <a:ea typeface="Arial"/>
                <a:cs typeface="Arial"/>
              </a:defRPr>
            </a:lvl6pPr>
            <a:lvl7pPr>
              <a:defRPr sz="2175" b="0">
                <a:solidFill>
                  <a:srgbClr val="B8C8C1"/>
                </a:solidFill>
                <a:latin typeface="Arial"/>
                <a:ea typeface="Arial"/>
                <a:cs typeface="Arial"/>
              </a:defRPr>
            </a:lvl7pPr>
            <a:lvl8pPr>
              <a:defRPr sz="2175" b="0">
                <a:solidFill>
                  <a:srgbClr val="B8C8C1"/>
                </a:solidFill>
                <a:latin typeface="Arial"/>
                <a:ea typeface="Arial"/>
                <a:cs typeface="Arial"/>
              </a:defRPr>
            </a:lvl8pPr>
            <a:lvl9pPr>
              <a:defRPr sz="2175" b="0">
                <a:solidFill>
                  <a:srgbClr val="B8C8C1"/>
                </a:solidFill>
                <a:latin typeface="Arial"/>
                <a:ea typeface="Arial"/>
                <a:cs typeface="Arial"/>
              </a:defRPr>
            </a:lvl9pPr>
          </a:lstStyle>
          <a:p xmlns:a="http://schemas.openxmlformats.org/drawingml/2006/main">
            <a:pPr>
              <a:defRPr sz="2175" b="0">
                <a:solidFill>
                  <a:srgbClr val="B8C8C1"/>
                </a:solidFill>
                <a:latin typeface="Arial"/>
                <a:ea typeface="Arial"/>
                <a:cs typeface="Arial"/>
              </a:defRPr>
            </a:pPr>
            <a:r>
              <a:rPr sz="2175" b="0">
                <a:solidFill>
                  <a:srgbClr val="B8C8C1"/>
                </a:solidFill>
                <a:latin typeface="Arial"/>
                <a:ea typeface="Arial"/>
                <a:cs typeface="Arial"/>
              </a:rPr>
              <a:t>Explica tu elección con una pieza, un archivo o un dato de la clase.</a:t>
            </a:r>
          </a:p>
        </p:txBody>
      </p:sp>
    </p:spTree>
    <p:extLst>
      <p:ext uri="{BB962C8B-B14F-4D97-AF65-F5344CB8AC3E}">
        <p14:creationId xmlns:p14="http://schemas.microsoft.com/office/powerpoint/2010/main" val="247306975"/>
      </p:ext>
    </p:extLst>
  </p:cSld>
</p:sld>
</file>

<file path=ppt/slides/slide22.xml><?xml version="1.0" encoding="utf-8"?>
<p:sld xmlns:p="http://schemas.openxmlformats.org/presentationml/2006/main">
  <p:cSld>
    <p:bg>
      <p:bgPr>
        <a:solidFill xmlns:a="http://schemas.openxmlformats.org/drawingml/2006/main">
          <a:srgbClr val="090F10"/>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ACF32B65-9693-447E-8815-14341C0EFA5C}"/>
              </a:ext>
            </a:extLst>
          </p:cNvPr>
          <p:cNvSpPr>
            <a:spLocks xmlns:a="http://schemas.openxmlformats.org/drawingml/2006/main" noGrp="1"/>
          </p:cNvSpPr>
          <p:nvPr/>
        </p:nvSpPr>
        <p:spPr>
          <a:xfrm xmlns:a="http://schemas.openxmlformats.org/drawingml/2006/main">
            <a:off x="590550" y="428625"/>
            <a:ext cx="100965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75" b="1">
                <a:solidFill>
                  <a:srgbClr val="FCFCF8"/>
                </a:solidFill>
                <a:latin typeface="Arial Narrow"/>
                <a:ea typeface="Arial Narrow"/>
                <a:cs typeface="Arial Narrow"/>
              </a:defRPr>
            </a:defPPr>
            <a:lvl1pPr>
              <a:defRPr sz="3375" b="1">
                <a:solidFill>
                  <a:srgbClr val="FCFCF8"/>
                </a:solidFill>
                <a:latin typeface="Arial Narrow"/>
                <a:ea typeface="Arial Narrow"/>
                <a:cs typeface="Arial Narrow"/>
              </a:defRPr>
            </a:lvl1pPr>
            <a:lvl2pPr>
              <a:defRPr sz="3375" b="1">
                <a:solidFill>
                  <a:srgbClr val="FCFCF8"/>
                </a:solidFill>
                <a:latin typeface="Arial Narrow"/>
                <a:ea typeface="Arial Narrow"/>
                <a:cs typeface="Arial Narrow"/>
              </a:defRPr>
            </a:lvl2pPr>
            <a:lvl3pPr>
              <a:defRPr sz="3375" b="1">
                <a:solidFill>
                  <a:srgbClr val="FCFCF8"/>
                </a:solidFill>
                <a:latin typeface="Arial Narrow"/>
                <a:ea typeface="Arial Narrow"/>
                <a:cs typeface="Arial Narrow"/>
              </a:defRPr>
            </a:lvl3pPr>
            <a:lvl4pPr>
              <a:defRPr sz="3375" b="1">
                <a:solidFill>
                  <a:srgbClr val="FCFCF8"/>
                </a:solidFill>
                <a:latin typeface="Arial Narrow"/>
                <a:ea typeface="Arial Narrow"/>
                <a:cs typeface="Arial Narrow"/>
              </a:defRPr>
            </a:lvl4pPr>
            <a:lvl5pPr>
              <a:defRPr sz="3375" b="1">
                <a:solidFill>
                  <a:srgbClr val="FCFCF8"/>
                </a:solidFill>
                <a:latin typeface="Arial Narrow"/>
                <a:ea typeface="Arial Narrow"/>
                <a:cs typeface="Arial Narrow"/>
              </a:defRPr>
            </a:lvl5pPr>
            <a:lvl6pPr>
              <a:defRPr sz="3375" b="1">
                <a:solidFill>
                  <a:srgbClr val="FCFCF8"/>
                </a:solidFill>
                <a:latin typeface="Arial Narrow"/>
                <a:ea typeface="Arial Narrow"/>
                <a:cs typeface="Arial Narrow"/>
              </a:defRPr>
            </a:lvl6pPr>
            <a:lvl7pPr>
              <a:defRPr sz="3375" b="1">
                <a:solidFill>
                  <a:srgbClr val="FCFCF8"/>
                </a:solidFill>
                <a:latin typeface="Arial Narrow"/>
                <a:ea typeface="Arial Narrow"/>
                <a:cs typeface="Arial Narrow"/>
              </a:defRPr>
            </a:lvl7pPr>
            <a:lvl8pPr>
              <a:defRPr sz="3375" b="1">
                <a:solidFill>
                  <a:srgbClr val="FCFCF8"/>
                </a:solidFill>
                <a:latin typeface="Arial Narrow"/>
                <a:ea typeface="Arial Narrow"/>
                <a:cs typeface="Arial Narrow"/>
              </a:defRPr>
            </a:lvl8pPr>
            <a:lvl9pPr>
              <a:defRPr sz="3375" b="1">
                <a:solidFill>
                  <a:srgbClr val="FCFCF8"/>
                </a:solidFill>
                <a:latin typeface="Arial Narrow"/>
                <a:ea typeface="Arial Narrow"/>
                <a:cs typeface="Arial Narrow"/>
              </a:defRPr>
            </a:lvl9pPr>
          </a:lstStyle>
          <a:p xmlns:a="http://schemas.openxmlformats.org/drawingml/2006/main">
            <a:pPr>
              <a:defRPr sz="3375" b="1">
                <a:solidFill>
                  <a:srgbClr val="FCFCF8"/>
                </a:solidFill>
                <a:latin typeface="Arial Narrow"/>
                <a:ea typeface="Arial Narrow"/>
                <a:cs typeface="Arial Narrow"/>
              </a:defRPr>
            </a:pPr>
            <a:r>
              <a:rPr sz="3375" b="1">
                <a:solidFill>
                  <a:srgbClr val="FCFCF8"/>
                </a:solidFill>
                <a:latin typeface="Arial Narrow"/>
                <a:ea typeface="Arial Narrow"/>
                <a:cs typeface="Arial Narrow"/>
              </a:rPr>
              <a:t>Tres preguntas para cerrar</a:t>
            </a:r>
          </a:p>
        </p:txBody>
      </p:sp>
      <p:pic>
        <p:nvPicPr>
          <p:cNvPr id="2" name="">
            <a:extLst xmlns:a="http://schemas.openxmlformats.org/drawingml/2006/main">
              <a:ext uri="{FF2B5EF4-FFF2-40B4-BE49-F238E27FC236}">
                <a16:creationId xmlns:a16="http://schemas.microsoft.com/office/drawing/2014/main" id="{504D7D28-850E-41B3-844B-4A4D761F15B0}"/>
              </a:ext>
            </a:extLst>
          </p:cNvPr>
          <p:cNvPicPr>
            <a:picLocks xmlns:a="http://schemas.openxmlformats.org/drawingml/2006/main" noChangeAspect="1"/>
          </p:cNvPicPr>
          <p:nvPr/>
        </p:nvPicPr>
        <p:blipFill>
          <a:blip xmlns:r="http://schemas.openxmlformats.org/officeDocument/2006/relationships" xmlns:a="http://schemas.openxmlformats.org/drawingml/2006/main" r:embed="R4674369b579e4d8a"/>
          <a:stretch xmlns:a="http://schemas.openxmlformats.org/drawingml/2006/main"/>
        </p:blipFill>
        <p:spPr>
          <a:xfrm xmlns:a="http://schemas.openxmlformats.org/drawingml/2006/main">
            <a:off x="10858500" y="337942"/>
            <a:ext cx="762000" cy="276616"/>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2CB856D7-2173-430D-BFBE-DF44D5C249EA}"/>
              </a:ext>
            </a:extLst>
          </p:cNvPr>
          <p:cNvSpPr>
            <a:spLocks xmlns:a="http://schemas.openxmlformats.org/drawingml/2006/main" noGrp="1"/>
          </p:cNvSpPr>
          <p:nvPr/>
        </p:nvSpPr>
        <p:spPr>
          <a:xfrm xmlns:a="http://schemas.openxmlformats.org/drawingml/2006/main">
            <a:off x="590550" y="6467475"/>
            <a:ext cx="108108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B8C8C1"/>
                </a:solidFill>
                <a:latin typeface="Consolas"/>
                <a:ea typeface="Consolas"/>
                <a:cs typeface="Consolas"/>
              </a:defRPr>
            </a:defPPr>
            <a:lvl1pPr>
              <a:defRPr sz="1125" b="0">
                <a:solidFill>
                  <a:srgbClr val="B8C8C1"/>
                </a:solidFill>
                <a:latin typeface="Consolas"/>
                <a:ea typeface="Consolas"/>
                <a:cs typeface="Consolas"/>
              </a:defRPr>
            </a:lvl1pPr>
            <a:lvl2pPr>
              <a:defRPr sz="1125" b="0">
                <a:solidFill>
                  <a:srgbClr val="B8C8C1"/>
                </a:solidFill>
                <a:latin typeface="Consolas"/>
                <a:ea typeface="Consolas"/>
                <a:cs typeface="Consolas"/>
              </a:defRPr>
            </a:lvl2pPr>
            <a:lvl3pPr>
              <a:defRPr sz="1125" b="0">
                <a:solidFill>
                  <a:srgbClr val="B8C8C1"/>
                </a:solidFill>
                <a:latin typeface="Consolas"/>
                <a:ea typeface="Consolas"/>
                <a:cs typeface="Consolas"/>
              </a:defRPr>
            </a:lvl3pPr>
            <a:lvl4pPr>
              <a:defRPr sz="1125" b="0">
                <a:solidFill>
                  <a:srgbClr val="B8C8C1"/>
                </a:solidFill>
                <a:latin typeface="Consolas"/>
                <a:ea typeface="Consolas"/>
                <a:cs typeface="Consolas"/>
              </a:defRPr>
            </a:lvl4pPr>
            <a:lvl5pPr>
              <a:defRPr sz="1125" b="0">
                <a:solidFill>
                  <a:srgbClr val="B8C8C1"/>
                </a:solidFill>
                <a:latin typeface="Consolas"/>
                <a:ea typeface="Consolas"/>
                <a:cs typeface="Consolas"/>
              </a:defRPr>
            </a:lvl5pPr>
            <a:lvl6pPr>
              <a:defRPr sz="1125" b="0">
                <a:solidFill>
                  <a:srgbClr val="B8C8C1"/>
                </a:solidFill>
                <a:latin typeface="Consolas"/>
                <a:ea typeface="Consolas"/>
                <a:cs typeface="Consolas"/>
              </a:defRPr>
            </a:lvl6pPr>
            <a:lvl7pPr>
              <a:defRPr sz="1125" b="0">
                <a:solidFill>
                  <a:srgbClr val="B8C8C1"/>
                </a:solidFill>
                <a:latin typeface="Consolas"/>
                <a:ea typeface="Consolas"/>
                <a:cs typeface="Consolas"/>
              </a:defRPr>
            </a:lvl7pPr>
            <a:lvl8pPr>
              <a:defRPr sz="1125" b="0">
                <a:solidFill>
                  <a:srgbClr val="B8C8C1"/>
                </a:solidFill>
                <a:latin typeface="Consolas"/>
                <a:ea typeface="Consolas"/>
                <a:cs typeface="Consolas"/>
              </a:defRPr>
            </a:lvl8pPr>
            <a:lvl9pPr>
              <a:defRPr sz="1125" b="0">
                <a:solidFill>
                  <a:srgbClr val="B8C8C1"/>
                </a:solidFill>
                <a:latin typeface="Consolas"/>
                <a:ea typeface="Consolas"/>
                <a:cs typeface="Consolas"/>
              </a:defRPr>
            </a:lvl9pPr>
          </a:lstStyle>
          <a:p xmlns:a="http://schemas.openxmlformats.org/drawingml/2006/main">
            <a:pPr>
              <a:defRPr sz="1125" b="0">
                <a:solidFill>
                  <a:srgbClr val="B8C8C1"/>
                </a:solidFill>
                <a:latin typeface="Consolas"/>
                <a:ea typeface="Consolas"/>
                <a:cs typeface="Consolas"/>
              </a:defRPr>
            </a:pPr>
            <a:r>
              <a:rPr sz="1125" b="0">
                <a:solidFill>
                  <a:srgbClr val="B8C8C1"/>
                </a:solidFill>
                <a:latin typeface="Consolas"/>
                <a:ea typeface="Consolas"/>
                <a:cs typeface="Consolas"/>
              </a:rPr>
              <a:t>MECRO   SEMANA 3   CLASE 05   22/24</a:t>
            </a:r>
          </a:p>
        </p:txBody>
      </p:sp>
      <p:sp>
        <p:nvSpPr>
          <p:cNvPr id="4" name="">
            <a:extLst xmlns:a="http://schemas.openxmlformats.org/drawingml/2006/main">
              <a:ext uri="{FF2B5EF4-FFF2-40B4-BE49-F238E27FC236}">
                <a16:creationId xmlns:a16="http://schemas.microsoft.com/office/drawing/2014/main" id="{6088EC28-41D0-417D-A00E-6F3DEB26C441}"/>
              </a:ext>
            </a:extLst>
          </p:cNvPr>
          <p:cNvSpPr>
            <a:spLocks xmlns:a="http://schemas.openxmlformats.org/drawingml/2006/main" noGrp="1"/>
          </p:cNvSpPr>
          <p:nvPr/>
        </p:nvSpPr>
        <p:spPr>
          <a:xfrm xmlns:a="http://schemas.openxmlformats.org/drawingml/2006/main">
            <a:off x="590550" y="1743075"/>
            <a:ext cx="10810875" cy="425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550" b="0">
                <a:solidFill>
                  <a:srgbClr val="FCFCF8"/>
                </a:solidFill>
                <a:latin typeface="Arial"/>
                <a:ea typeface="Arial"/>
                <a:cs typeface="Arial"/>
              </a:defRPr>
            </a:defPPr>
            <a:lvl1pPr>
              <a:defRPr sz="2550" b="0">
                <a:solidFill>
                  <a:srgbClr val="FCFCF8"/>
                </a:solidFill>
                <a:latin typeface="Arial"/>
                <a:ea typeface="Arial"/>
                <a:cs typeface="Arial"/>
              </a:defRPr>
            </a:lvl1pPr>
            <a:lvl2pPr>
              <a:defRPr sz="2550" b="0">
                <a:solidFill>
                  <a:srgbClr val="FCFCF8"/>
                </a:solidFill>
                <a:latin typeface="Arial"/>
                <a:ea typeface="Arial"/>
                <a:cs typeface="Arial"/>
              </a:defRPr>
            </a:lvl2pPr>
            <a:lvl3pPr>
              <a:defRPr sz="2550" b="0">
                <a:solidFill>
                  <a:srgbClr val="FCFCF8"/>
                </a:solidFill>
                <a:latin typeface="Arial"/>
                <a:ea typeface="Arial"/>
                <a:cs typeface="Arial"/>
              </a:defRPr>
            </a:lvl3pPr>
            <a:lvl4pPr>
              <a:defRPr sz="2550" b="0">
                <a:solidFill>
                  <a:srgbClr val="FCFCF8"/>
                </a:solidFill>
                <a:latin typeface="Arial"/>
                <a:ea typeface="Arial"/>
                <a:cs typeface="Arial"/>
              </a:defRPr>
            </a:lvl4pPr>
            <a:lvl5pPr>
              <a:defRPr sz="2550" b="0">
                <a:solidFill>
                  <a:srgbClr val="FCFCF8"/>
                </a:solidFill>
                <a:latin typeface="Arial"/>
                <a:ea typeface="Arial"/>
                <a:cs typeface="Arial"/>
              </a:defRPr>
            </a:lvl5pPr>
            <a:lvl6pPr>
              <a:defRPr sz="2550" b="0">
                <a:solidFill>
                  <a:srgbClr val="FCFCF8"/>
                </a:solidFill>
                <a:latin typeface="Arial"/>
                <a:ea typeface="Arial"/>
                <a:cs typeface="Arial"/>
              </a:defRPr>
            </a:lvl6pPr>
            <a:lvl7pPr>
              <a:defRPr sz="2550" b="0">
                <a:solidFill>
                  <a:srgbClr val="FCFCF8"/>
                </a:solidFill>
                <a:latin typeface="Arial"/>
                <a:ea typeface="Arial"/>
                <a:cs typeface="Arial"/>
              </a:defRPr>
            </a:lvl7pPr>
            <a:lvl8pPr>
              <a:defRPr sz="2550" b="0">
                <a:solidFill>
                  <a:srgbClr val="FCFCF8"/>
                </a:solidFill>
                <a:latin typeface="Arial"/>
                <a:ea typeface="Arial"/>
                <a:cs typeface="Arial"/>
              </a:defRPr>
            </a:lvl8pPr>
            <a:lvl9pPr>
              <a:defRPr sz="2550" b="0">
                <a:solidFill>
                  <a:srgbClr val="FCFCF8"/>
                </a:solidFill>
                <a:latin typeface="Arial"/>
                <a:ea typeface="Arial"/>
                <a:cs typeface="Arial"/>
              </a:defRPr>
            </a:lvl9pPr>
          </a:lstStyle>
          <a:p xmlns:a="http://schemas.openxmlformats.org/drawingml/2006/main">
            <a:pPr>
              <a:defRPr sz="2550" b="0">
                <a:solidFill>
                  <a:srgbClr val="FCFCF8"/>
                </a:solidFill>
                <a:latin typeface="Arial"/>
                <a:ea typeface="Arial"/>
                <a:cs typeface="Arial"/>
              </a:defRPr>
            </a:pPr>
            <a:r>
              <a:rPr sz="2550" b="0">
                <a:solidFill>
                  <a:srgbClr val="FCFCF8"/>
                </a:solidFill>
                <a:latin typeface="Arial"/>
                <a:ea typeface="Arial"/>
                <a:cs typeface="Arial"/>
              </a:rPr>
              <a:t>1. ¿Un STL conserva todas las decisiones del laminador?</a:t>
            </a:r>
          </a:p>
          <a:p xmlns:a="http://schemas.openxmlformats.org/drawingml/2006/main">
            <a:r>
              <a:t/>
            </a:r>
          </a:p>
          <a:p xmlns:a="http://schemas.openxmlformats.org/drawingml/2006/main">
            <a:pPr>
              <a:defRPr sz="2550" b="0">
                <a:solidFill>
                  <a:srgbClr val="FCFCF8"/>
                </a:solidFill>
                <a:latin typeface="Arial"/>
                <a:ea typeface="Arial"/>
                <a:cs typeface="Arial"/>
              </a:defRPr>
            </a:pPr>
            <a:r>
              <a:rPr sz="2550" b="0">
                <a:solidFill>
                  <a:srgbClr val="FCFCF8"/>
                </a:solidFill>
                <a:latin typeface="Arial"/>
                <a:ea typeface="Arial"/>
                <a:cs typeface="Arial"/>
              </a:rPr>
              <a:t>2. ¿Más relleno siempre significa mejor pieza?</a:t>
            </a:r>
          </a:p>
          <a:p xmlns:a="http://schemas.openxmlformats.org/drawingml/2006/main">
            <a:r>
              <a:t/>
            </a:r>
          </a:p>
          <a:p xmlns:a="http://schemas.openxmlformats.org/drawingml/2006/main">
            <a:pPr>
              <a:defRPr sz="2550" b="0">
                <a:solidFill>
                  <a:srgbClr val="FCFCF8"/>
                </a:solidFill>
                <a:latin typeface="Arial"/>
                <a:ea typeface="Arial"/>
                <a:cs typeface="Arial"/>
              </a:defRPr>
            </a:pPr>
            <a:r>
              <a:rPr sz="2550" b="0">
                <a:solidFill>
                  <a:srgbClr val="FCFCF8"/>
                </a:solidFill>
                <a:latin typeface="Arial"/>
                <a:ea typeface="Arial"/>
                <a:cs typeface="Arial"/>
              </a:rPr>
              <a:t>3. ¿La masa estimada reemplaza a la medida?</a:t>
            </a:r>
          </a:p>
        </p:txBody>
      </p:sp>
    </p:spTree>
    <p:extLst>
      <p:ext uri="{BB962C8B-B14F-4D97-AF65-F5344CB8AC3E}">
        <p14:creationId xmlns:p14="http://schemas.microsoft.com/office/powerpoint/2010/main" val="1035238791"/>
      </p:ext>
    </p:extLst>
  </p:cSld>
</p:sld>
</file>

<file path=ppt/slides/slide23.xml><?xml version="1.0" encoding="utf-8"?>
<p:sld xmlns:p="http://schemas.openxmlformats.org/presentationml/2006/main">
  <p:cSld>
    <p:bg>
      <p:bgPr>
        <a:solidFill xmlns:a="http://schemas.openxmlformats.org/drawingml/2006/main">
          <a:srgbClr val="FCFCF8"/>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FA10D590-0F3D-4D52-BA76-60E9246F9AE7}"/>
              </a:ext>
            </a:extLst>
          </p:cNvPr>
          <p:cNvSpPr>
            <a:spLocks xmlns:a="http://schemas.openxmlformats.org/drawingml/2006/main" noGrp="1"/>
          </p:cNvSpPr>
          <p:nvPr/>
        </p:nvSpPr>
        <p:spPr>
          <a:xfrm xmlns:a="http://schemas.openxmlformats.org/drawingml/2006/main">
            <a:off x="590550" y="428625"/>
            <a:ext cx="100965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75" b="1">
                <a:solidFill>
                  <a:srgbClr val="14231E"/>
                </a:solidFill>
                <a:latin typeface="Arial Narrow"/>
                <a:ea typeface="Arial Narrow"/>
                <a:cs typeface="Arial Narrow"/>
              </a:defRPr>
            </a:defPPr>
            <a:lvl1pPr>
              <a:defRPr sz="3375" b="1">
                <a:solidFill>
                  <a:srgbClr val="14231E"/>
                </a:solidFill>
                <a:latin typeface="Arial Narrow"/>
                <a:ea typeface="Arial Narrow"/>
                <a:cs typeface="Arial Narrow"/>
              </a:defRPr>
            </a:lvl1pPr>
            <a:lvl2pPr>
              <a:defRPr sz="3375" b="1">
                <a:solidFill>
                  <a:srgbClr val="14231E"/>
                </a:solidFill>
                <a:latin typeface="Arial Narrow"/>
                <a:ea typeface="Arial Narrow"/>
                <a:cs typeface="Arial Narrow"/>
              </a:defRPr>
            </a:lvl2pPr>
            <a:lvl3pPr>
              <a:defRPr sz="3375" b="1">
                <a:solidFill>
                  <a:srgbClr val="14231E"/>
                </a:solidFill>
                <a:latin typeface="Arial Narrow"/>
                <a:ea typeface="Arial Narrow"/>
                <a:cs typeface="Arial Narrow"/>
              </a:defRPr>
            </a:lvl3pPr>
            <a:lvl4pPr>
              <a:defRPr sz="3375" b="1">
                <a:solidFill>
                  <a:srgbClr val="14231E"/>
                </a:solidFill>
                <a:latin typeface="Arial Narrow"/>
                <a:ea typeface="Arial Narrow"/>
                <a:cs typeface="Arial Narrow"/>
              </a:defRPr>
            </a:lvl4pPr>
            <a:lvl5pPr>
              <a:defRPr sz="3375" b="1">
                <a:solidFill>
                  <a:srgbClr val="14231E"/>
                </a:solidFill>
                <a:latin typeface="Arial Narrow"/>
                <a:ea typeface="Arial Narrow"/>
                <a:cs typeface="Arial Narrow"/>
              </a:defRPr>
            </a:lvl5pPr>
            <a:lvl6pPr>
              <a:defRPr sz="3375" b="1">
                <a:solidFill>
                  <a:srgbClr val="14231E"/>
                </a:solidFill>
                <a:latin typeface="Arial Narrow"/>
                <a:ea typeface="Arial Narrow"/>
                <a:cs typeface="Arial Narrow"/>
              </a:defRPr>
            </a:lvl6pPr>
            <a:lvl7pPr>
              <a:defRPr sz="3375" b="1">
                <a:solidFill>
                  <a:srgbClr val="14231E"/>
                </a:solidFill>
                <a:latin typeface="Arial Narrow"/>
                <a:ea typeface="Arial Narrow"/>
                <a:cs typeface="Arial Narrow"/>
              </a:defRPr>
            </a:lvl7pPr>
            <a:lvl8pPr>
              <a:defRPr sz="3375" b="1">
                <a:solidFill>
                  <a:srgbClr val="14231E"/>
                </a:solidFill>
                <a:latin typeface="Arial Narrow"/>
                <a:ea typeface="Arial Narrow"/>
                <a:cs typeface="Arial Narrow"/>
              </a:defRPr>
            </a:lvl8pPr>
            <a:lvl9pPr>
              <a:defRPr sz="3375" b="1">
                <a:solidFill>
                  <a:srgbClr val="14231E"/>
                </a:solidFill>
                <a:latin typeface="Arial Narrow"/>
                <a:ea typeface="Arial Narrow"/>
                <a:cs typeface="Arial Narrow"/>
              </a:defRPr>
            </a:lvl9pPr>
          </a:lstStyle>
          <a:p xmlns:a="http://schemas.openxmlformats.org/drawingml/2006/main">
            <a:pPr>
              <a:defRPr sz="3375" b="1">
                <a:solidFill>
                  <a:srgbClr val="14231E"/>
                </a:solidFill>
                <a:latin typeface="Arial Narrow"/>
                <a:ea typeface="Arial Narrow"/>
                <a:cs typeface="Arial Narrow"/>
              </a:defRPr>
            </a:pPr>
            <a:r>
              <a:rPr sz="3375" b="1">
                <a:solidFill>
                  <a:srgbClr val="14231E"/>
                </a:solidFill>
                <a:latin typeface="Arial Narrow"/>
                <a:ea typeface="Arial Narrow"/>
                <a:cs typeface="Arial Narrow"/>
              </a:rPr>
              <a:t>Cómo explicar las respuestas</a:t>
            </a:r>
          </a:p>
        </p:txBody>
      </p:sp>
      <p:pic>
        <p:nvPicPr>
          <p:cNvPr id="2" name="">
            <a:extLst xmlns:a="http://schemas.openxmlformats.org/drawingml/2006/main">
              <a:ext uri="{FF2B5EF4-FFF2-40B4-BE49-F238E27FC236}">
                <a16:creationId xmlns:a16="http://schemas.microsoft.com/office/drawing/2014/main" id="{4D7D1D17-2956-4454-8929-ABAB591AF92F}"/>
              </a:ext>
            </a:extLst>
          </p:cNvPr>
          <p:cNvPicPr>
            <a:picLocks xmlns:a="http://schemas.openxmlformats.org/drawingml/2006/main" noChangeAspect="1"/>
          </p:cNvPicPr>
          <p:nvPr/>
        </p:nvPicPr>
        <p:blipFill>
          <a:blip xmlns:r="http://schemas.openxmlformats.org/officeDocument/2006/relationships" xmlns:a="http://schemas.openxmlformats.org/drawingml/2006/main" r:embed="Raebc639343894d39"/>
          <a:stretch xmlns:a="http://schemas.openxmlformats.org/drawingml/2006/main"/>
        </p:blipFill>
        <p:spPr>
          <a:xfrm xmlns:a="http://schemas.openxmlformats.org/drawingml/2006/main">
            <a:off x="10858500" y="337942"/>
            <a:ext cx="762000" cy="276616"/>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807F6B5D-AAD8-43A1-AC29-51CF4BEEBE65}"/>
              </a:ext>
            </a:extLst>
          </p:cNvPr>
          <p:cNvSpPr>
            <a:spLocks xmlns:a="http://schemas.openxmlformats.org/drawingml/2006/main" noGrp="1"/>
          </p:cNvSpPr>
          <p:nvPr/>
        </p:nvSpPr>
        <p:spPr>
          <a:xfrm xmlns:a="http://schemas.openxmlformats.org/drawingml/2006/main">
            <a:off x="590550" y="6467475"/>
            <a:ext cx="108108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58665F"/>
                </a:solidFill>
                <a:latin typeface="Consolas"/>
                <a:ea typeface="Consolas"/>
                <a:cs typeface="Consolas"/>
              </a:defRPr>
            </a:defPPr>
            <a:lvl1pPr>
              <a:defRPr sz="1125" b="0">
                <a:solidFill>
                  <a:srgbClr val="58665F"/>
                </a:solidFill>
                <a:latin typeface="Consolas"/>
                <a:ea typeface="Consolas"/>
                <a:cs typeface="Consolas"/>
              </a:defRPr>
            </a:lvl1pPr>
            <a:lvl2pPr>
              <a:defRPr sz="1125" b="0">
                <a:solidFill>
                  <a:srgbClr val="58665F"/>
                </a:solidFill>
                <a:latin typeface="Consolas"/>
                <a:ea typeface="Consolas"/>
                <a:cs typeface="Consolas"/>
              </a:defRPr>
            </a:lvl2pPr>
            <a:lvl3pPr>
              <a:defRPr sz="1125" b="0">
                <a:solidFill>
                  <a:srgbClr val="58665F"/>
                </a:solidFill>
                <a:latin typeface="Consolas"/>
                <a:ea typeface="Consolas"/>
                <a:cs typeface="Consolas"/>
              </a:defRPr>
            </a:lvl3pPr>
            <a:lvl4pPr>
              <a:defRPr sz="1125" b="0">
                <a:solidFill>
                  <a:srgbClr val="58665F"/>
                </a:solidFill>
                <a:latin typeface="Consolas"/>
                <a:ea typeface="Consolas"/>
                <a:cs typeface="Consolas"/>
              </a:defRPr>
            </a:lvl4pPr>
            <a:lvl5pPr>
              <a:defRPr sz="1125" b="0">
                <a:solidFill>
                  <a:srgbClr val="58665F"/>
                </a:solidFill>
                <a:latin typeface="Consolas"/>
                <a:ea typeface="Consolas"/>
                <a:cs typeface="Consolas"/>
              </a:defRPr>
            </a:lvl5pPr>
            <a:lvl6pPr>
              <a:defRPr sz="1125" b="0">
                <a:solidFill>
                  <a:srgbClr val="58665F"/>
                </a:solidFill>
                <a:latin typeface="Consolas"/>
                <a:ea typeface="Consolas"/>
                <a:cs typeface="Consolas"/>
              </a:defRPr>
            </a:lvl6pPr>
            <a:lvl7pPr>
              <a:defRPr sz="1125" b="0">
                <a:solidFill>
                  <a:srgbClr val="58665F"/>
                </a:solidFill>
                <a:latin typeface="Consolas"/>
                <a:ea typeface="Consolas"/>
                <a:cs typeface="Consolas"/>
              </a:defRPr>
            </a:lvl7pPr>
            <a:lvl8pPr>
              <a:defRPr sz="1125" b="0">
                <a:solidFill>
                  <a:srgbClr val="58665F"/>
                </a:solidFill>
                <a:latin typeface="Consolas"/>
                <a:ea typeface="Consolas"/>
                <a:cs typeface="Consolas"/>
              </a:defRPr>
            </a:lvl8pPr>
            <a:lvl9pPr>
              <a:defRPr sz="1125" b="0">
                <a:solidFill>
                  <a:srgbClr val="58665F"/>
                </a:solidFill>
                <a:latin typeface="Consolas"/>
                <a:ea typeface="Consolas"/>
                <a:cs typeface="Consolas"/>
              </a:defRPr>
            </a:lvl9pPr>
          </a:lstStyle>
          <a:p xmlns:a="http://schemas.openxmlformats.org/drawingml/2006/main">
            <a:pPr>
              <a:defRPr sz="1125" b="0">
                <a:solidFill>
                  <a:srgbClr val="58665F"/>
                </a:solidFill>
                <a:latin typeface="Consolas"/>
                <a:ea typeface="Consolas"/>
                <a:cs typeface="Consolas"/>
              </a:defRPr>
            </a:pPr>
            <a:r>
              <a:rPr sz="1125" b="0">
                <a:solidFill>
                  <a:srgbClr val="58665F"/>
                </a:solidFill>
                <a:latin typeface="Consolas"/>
                <a:ea typeface="Consolas"/>
                <a:cs typeface="Consolas"/>
              </a:rPr>
              <a:t>MECRO   SEMANA 3   CLASE 05   23/24</a:t>
            </a:r>
          </a:p>
        </p:txBody>
      </p:sp>
      <p:sp>
        <p:nvSpPr>
          <p:cNvPr id="4" name="">
            <a:extLst xmlns:a="http://schemas.openxmlformats.org/drawingml/2006/main">
              <a:ext uri="{FF2B5EF4-FFF2-40B4-BE49-F238E27FC236}">
                <a16:creationId xmlns:a16="http://schemas.microsoft.com/office/drawing/2014/main" id="{98C91F96-F5AD-4900-BBFF-9A313BE480FA}"/>
              </a:ext>
            </a:extLst>
          </p:cNvPr>
          <p:cNvSpPr>
            <a:spLocks xmlns:a="http://schemas.openxmlformats.org/drawingml/2006/main" noGrp="1"/>
          </p:cNvSpPr>
          <p:nvPr/>
        </p:nvSpPr>
        <p:spPr>
          <a:xfrm xmlns:a="http://schemas.openxmlformats.org/drawingml/2006/main">
            <a:off x="590550" y="1743075"/>
            <a:ext cx="10810875" cy="425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325" b="0">
                <a:solidFill>
                  <a:srgbClr val="14231E"/>
                </a:solidFill>
                <a:latin typeface="Arial"/>
                <a:ea typeface="Arial"/>
                <a:cs typeface="Arial"/>
              </a:defRPr>
            </a:defPPr>
            <a:lvl1pPr>
              <a:defRPr sz="2325" b="0">
                <a:solidFill>
                  <a:srgbClr val="14231E"/>
                </a:solidFill>
                <a:latin typeface="Arial"/>
                <a:ea typeface="Arial"/>
                <a:cs typeface="Arial"/>
              </a:defRPr>
            </a:lvl1pPr>
            <a:lvl2pPr>
              <a:defRPr sz="2325" b="0">
                <a:solidFill>
                  <a:srgbClr val="14231E"/>
                </a:solidFill>
                <a:latin typeface="Arial"/>
                <a:ea typeface="Arial"/>
                <a:cs typeface="Arial"/>
              </a:defRPr>
            </a:lvl2pPr>
            <a:lvl3pPr>
              <a:defRPr sz="2325" b="0">
                <a:solidFill>
                  <a:srgbClr val="14231E"/>
                </a:solidFill>
                <a:latin typeface="Arial"/>
                <a:ea typeface="Arial"/>
                <a:cs typeface="Arial"/>
              </a:defRPr>
            </a:lvl3pPr>
            <a:lvl4pPr>
              <a:defRPr sz="2325" b="0">
                <a:solidFill>
                  <a:srgbClr val="14231E"/>
                </a:solidFill>
                <a:latin typeface="Arial"/>
                <a:ea typeface="Arial"/>
                <a:cs typeface="Arial"/>
              </a:defRPr>
            </a:lvl4pPr>
            <a:lvl5pPr>
              <a:defRPr sz="2325" b="0">
                <a:solidFill>
                  <a:srgbClr val="14231E"/>
                </a:solidFill>
                <a:latin typeface="Arial"/>
                <a:ea typeface="Arial"/>
                <a:cs typeface="Arial"/>
              </a:defRPr>
            </a:lvl5pPr>
            <a:lvl6pPr>
              <a:defRPr sz="2325" b="0">
                <a:solidFill>
                  <a:srgbClr val="14231E"/>
                </a:solidFill>
                <a:latin typeface="Arial"/>
                <a:ea typeface="Arial"/>
                <a:cs typeface="Arial"/>
              </a:defRPr>
            </a:lvl6pPr>
            <a:lvl7pPr>
              <a:defRPr sz="2325" b="0">
                <a:solidFill>
                  <a:srgbClr val="14231E"/>
                </a:solidFill>
                <a:latin typeface="Arial"/>
                <a:ea typeface="Arial"/>
                <a:cs typeface="Arial"/>
              </a:defRPr>
            </a:lvl7pPr>
            <a:lvl8pPr>
              <a:defRPr sz="2325" b="0">
                <a:solidFill>
                  <a:srgbClr val="14231E"/>
                </a:solidFill>
                <a:latin typeface="Arial"/>
                <a:ea typeface="Arial"/>
                <a:cs typeface="Arial"/>
              </a:defRPr>
            </a:lvl8pPr>
            <a:lvl9pPr>
              <a:defRPr sz="2325" b="0">
                <a:solidFill>
                  <a:srgbClr val="14231E"/>
                </a:solidFill>
                <a:latin typeface="Arial"/>
                <a:ea typeface="Arial"/>
                <a:cs typeface="Arial"/>
              </a:defRPr>
            </a:lvl9pPr>
          </a:lstStyle>
          <a:p xmlns:a="http://schemas.openxmlformats.org/drawingml/2006/main">
            <a:pPr>
              <a:defRPr sz="2325" b="0">
                <a:solidFill>
                  <a:srgbClr val="14231E"/>
                </a:solidFill>
                <a:latin typeface="Arial"/>
                <a:ea typeface="Arial"/>
                <a:cs typeface="Arial"/>
              </a:defRPr>
            </a:pPr>
            <a:r>
              <a:rPr sz="2325" b="0">
                <a:solidFill>
                  <a:srgbClr val="14231E"/>
                </a:solidFill>
                <a:latin typeface="Arial"/>
                <a:ea typeface="Arial"/>
                <a:cs typeface="Arial"/>
              </a:rPr>
              <a:t>1. No. Hace falta el proyecto del laminador y el perfil utilizado.</a:t>
            </a:r>
          </a:p>
          <a:p xmlns:a="http://schemas.openxmlformats.org/drawingml/2006/main">
            <a:r>
              <a:t/>
            </a:r>
          </a:p>
          <a:p xmlns:a="http://schemas.openxmlformats.org/drawingml/2006/main">
            <a:pPr>
              <a:defRPr sz="2325" b="0">
                <a:solidFill>
                  <a:srgbClr val="14231E"/>
                </a:solidFill>
                <a:latin typeface="Arial"/>
                <a:ea typeface="Arial"/>
                <a:cs typeface="Arial"/>
              </a:defRPr>
            </a:pPr>
            <a:r>
              <a:rPr sz="2325" b="0">
                <a:solidFill>
                  <a:srgbClr val="14231E"/>
                </a:solidFill>
                <a:latin typeface="Arial"/>
                <a:ea typeface="Arial"/>
                <a:cs typeface="Arial"/>
              </a:rPr>
              <a:t>2. No. Debe resolver una función y verificarse en la pieza.</a:t>
            </a:r>
          </a:p>
          <a:p xmlns:a="http://schemas.openxmlformats.org/drawingml/2006/main">
            <a:r>
              <a:t/>
            </a:r>
          </a:p>
          <a:p xmlns:a="http://schemas.openxmlformats.org/drawingml/2006/main">
            <a:pPr>
              <a:defRPr sz="2325" b="0">
                <a:solidFill>
                  <a:srgbClr val="14231E"/>
                </a:solidFill>
                <a:latin typeface="Arial"/>
                <a:ea typeface="Arial"/>
                <a:cs typeface="Arial"/>
              </a:defRPr>
            </a:pPr>
            <a:r>
              <a:rPr sz="2325" b="0">
                <a:solidFill>
                  <a:srgbClr val="14231E"/>
                </a:solidFill>
                <a:latin typeface="Arial"/>
                <a:ea typeface="Arial"/>
                <a:cs typeface="Arial"/>
              </a:rPr>
              <a:t>3. No. Se conservan ambas con su procedencia.</a:t>
            </a:r>
          </a:p>
        </p:txBody>
      </p:sp>
    </p:spTree>
    <p:extLst>
      <p:ext uri="{BB962C8B-B14F-4D97-AF65-F5344CB8AC3E}">
        <p14:creationId xmlns:p14="http://schemas.microsoft.com/office/powerpoint/2010/main" val="1916557697"/>
      </p:ext>
    </p:extLst>
  </p:cSld>
</p:sld>
</file>

<file path=ppt/slides/slide24.xml><?xml version="1.0" encoding="utf-8"?>
<p:sld xmlns:p="http://schemas.openxmlformats.org/presentationml/2006/main">
  <p:cSld>
    <p:bg>
      <p:bgPr>
        <a:solidFill xmlns:a="http://schemas.openxmlformats.org/drawingml/2006/main">
          <a:srgbClr val="090F10"/>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F6933749-8AC2-4926-844A-0A3F070226C0}"/>
              </a:ext>
            </a:extLst>
          </p:cNvPr>
          <p:cNvSpPr>
            <a:spLocks xmlns:a="http://schemas.openxmlformats.org/drawingml/2006/main" noGrp="1"/>
          </p:cNvSpPr>
          <p:nvPr/>
        </p:nvSpPr>
        <p:spPr>
          <a:xfrm xmlns:a="http://schemas.openxmlformats.org/drawingml/2006/main">
            <a:off x="590550" y="428625"/>
            <a:ext cx="100965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75" b="1">
                <a:solidFill>
                  <a:srgbClr val="FCFCF8"/>
                </a:solidFill>
                <a:latin typeface="Arial Narrow"/>
                <a:ea typeface="Arial Narrow"/>
                <a:cs typeface="Arial Narrow"/>
              </a:defRPr>
            </a:defPPr>
            <a:lvl1pPr>
              <a:defRPr sz="3375" b="1">
                <a:solidFill>
                  <a:srgbClr val="FCFCF8"/>
                </a:solidFill>
                <a:latin typeface="Arial Narrow"/>
                <a:ea typeface="Arial Narrow"/>
                <a:cs typeface="Arial Narrow"/>
              </a:defRPr>
            </a:lvl1pPr>
            <a:lvl2pPr>
              <a:defRPr sz="3375" b="1">
                <a:solidFill>
                  <a:srgbClr val="FCFCF8"/>
                </a:solidFill>
                <a:latin typeface="Arial Narrow"/>
                <a:ea typeface="Arial Narrow"/>
                <a:cs typeface="Arial Narrow"/>
              </a:defRPr>
            </a:lvl2pPr>
            <a:lvl3pPr>
              <a:defRPr sz="3375" b="1">
                <a:solidFill>
                  <a:srgbClr val="FCFCF8"/>
                </a:solidFill>
                <a:latin typeface="Arial Narrow"/>
                <a:ea typeface="Arial Narrow"/>
                <a:cs typeface="Arial Narrow"/>
              </a:defRPr>
            </a:lvl3pPr>
            <a:lvl4pPr>
              <a:defRPr sz="3375" b="1">
                <a:solidFill>
                  <a:srgbClr val="FCFCF8"/>
                </a:solidFill>
                <a:latin typeface="Arial Narrow"/>
                <a:ea typeface="Arial Narrow"/>
                <a:cs typeface="Arial Narrow"/>
              </a:defRPr>
            </a:lvl4pPr>
            <a:lvl5pPr>
              <a:defRPr sz="3375" b="1">
                <a:solidFill>
                  <a:srgbClr val="FCFCF8"/>
                </a:solidFill>
                <a:latin typeface="Arial Narrow"/>
                <a:ea typeface="Arial Narrow"/>
                <a:cs typeface="Arial Narrow"/>
              </a:defRPr>
            </a:lvl5pPr>
            <a:lvl6pPr>
              <a:defRPr sz="3375" b="1">
                <a:solidFill>
                  <a:srgbClr val="FCFCF8"/>
                </a:solidFill>
                <a:latin typeface="Arial Narrow"/>
                <a:ea typeface="Arial Narrow"/>
                <a:cs typeface="Arial Narrow"/>
              </a:defRPr>
            </a:lvl6pPr>
            <a:lvl7pPr>
              <a:defRPr sz="3375" b="1">
                <a:solidFill>
                  <a:srgbClr val="FCFCF8"/>
                </a:solidFill>
                <a:latin typeface="Arial Narrow"/>
                <a:ea typeface="Arial Narrow"/>
                <a:cs typeface="Arial Narrow"/>
              </a:defRPr>
            </a:lvl7pPr>
            <a:lvl8pPr>
              <a:defRPr sz="3375" b="1">
                <a:solidFill>
                  <a:srgbClr val="FCFCF8"/>
                </a:solidFill>
                <a:latin typeface="Arial Narrow"/>
                <a:ea typeface="Arial Narrow"/>
                <a:cs typeface="Arial Narrow"/>
              </a:defRPr>
            </a:lvl8pPr>
            <a:lvl9pPr>
              <a:defRPr sz="3375" b="1">
                <a:solidFill>
                  <a:srgbClr val="FCFCF8"/>
                </a:solidFill>
                <a:latin typeface="Arial Narrow"/>
                <a:ea typeface="Arial Narrow"/>
                <a:cs typeface="Arial Narrow"/>
              </a:defRPr>
            </a:lvl9pPr>
          </a:lstStyle>
          <a:p xmlns:a="http://schemas.openxmlformats.org/drawingml/2006/main">
            <a:pPr>
              <a:defRPr sz="3375" b="1">
                <a:solidFill>
                  <a:srgbClr val="FCFCF8"/>
                </a:solidFill>
                <a:latin typeface="Arial Narrow"/>
                <a:ea typeface="Arial Narrow"/>
                <a:cs typeface="Arial Narrow"/>
              </a:defRPr>
            </a:pPr>
            <a:r>
              <a:rPr sz="3375" b="1">
                <a:solidFill>
                  <a:srgbClr val="FCFCF8"/>
                </a:solidFill>
                <a:latin typeface="Arial Narrow"/>
                <a:ea typeface="Arial Narrow"/>
                <a:cs typeface="Arial Narrow"/>
              </a:rPr>
              <a:t>Entrega de la clase</a:t>
            </a:r>
          </a:p>
        </p:txBody>
      </p:sp>
      <p:pic>
        <p:nvPicPr>
          <p:cNvPr id="2" name="">
            <a:extLst xmlns:a="http://schemas.openxmlformats.org/drawingml/2006/main">
              <a:ext uri="{FF2B5EF4-FFF2-40B4-BE49-F238E27FC236}">
                <a16:creationId xmlns:a16="http://schemas.microsoft.com/office/drawing/2014/main" id="{E670F286-F581-4E3C-B041-7421CEFF2040}"/>
              </a:ext>
            </a:extLst>
          </p:cNvPr>
          <p:cNvPicPr>
            <a:picLocks xmlns:a="http://schemas.openxmlformats.org/drawingml/2006/main" noChangeAspect="1"/>
          </p:cNvPicPr>
          <p:nvPr/>
        </p:nvPicPr>
        <p:blipFill>
          <a:blip xmlns:r="http://schemas.openxmlformats.org/officeDocument/2006/relationships" xmlns:a="http://schemas.openxmlformats.org/drawingml/2006/main" r:embed="R2ea9b55d07414158"/>
          <a:stretch xmlns:a="http://schemas.openxmlformats.org/drawingml/2006/main"/>
        </p:blipFill>
        <p:spPr>
          <a:xfrm xmlns:a="http://schemas.openxmlformats.org/drawingml/2006/main">
            <a:off x="10858500" y="337942"/>
            <a:ext cx="762000" cy="276616"/>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A9906CD1-A510-46F4-9189-3BA902E355C3}"/>
              </a:ext>
            </a:extLst>
          </p:cNvPr>
          <p:cNvSpPr>
            <a:spLocks xmlns:a="http://schemas.openxmlformats.org/drawingml/2006/main" noGrp="1"/>
          </p:cNvSpPr>
          <p:nvPr/>
        </p:nvSpPr>
        <p:spPr>
          <a:xfrm xmlns:a="http://schemas.openxmlformats.org/drawingml/2006/main">
            <a:off x="590550" y="6467475"/>
            <a:ext cx="108108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B8C8C1"/>
                </a:solidFill>
                <a:latin typeface="Consolas"/>
                <a:ea typeface="Consolas"/>
                <a:cs typeface="Consolas"/>
              </a:defRPr>
            </a:defPPr>
            <a:lvl1pPr>
              <a:defRPr sz="1125" b="0">
                <a:solidFill>
                  <a:srgbClr val="B8C8C1"/>
                </a:solidFill>
                <a:latin typeface="Consolas"/>
                <a:ea typeface="Consolas"/>
                <a:cs typeface="Consolas"/>
              </a:defRPr>
            </a:lvl1pPr>
            <a:lvl2pPr>
              <a:defRPr sz="1125" b="0">
                <a:solidFill>
                  <a:srgbClr val="B8C8C1"/>
                </a:solidFill>
                <a:latin typeface="Consolas"/>
                <a:ea typeface="Consolas"/>
                <a:cs typeface="Consolas"/>
              </a:defRPr>
            </a:lvl2pPr>
            <a:lvl3pPr>
              <a:defRPr sz="1125" b="0">
                <a:solidFill>
                  <a:srgbClr val="B8C8C1"/>
                </a:solidFill>
                <a:latin typeface="Consolas"/>
                <a:ea typeface="Consolas"/>
                <a:cs typeface="Consolas"/>
              </a:defRPr>
            </a:lvl3pPr>
            <a:lvl4pPr>
              <a:defRPr sz="1125" b="0">
                <a:solidFill>
                  <a:srgbClr val="B8C8C1"/>
                </a:solidFill>
                <a:latin typeface="Consolas"/>
                <a:ea typeface="Consolas"/>
                <a:cs typeface="Consolas"/>
              </a:defRPr>
            </a:lvl4pPr>
            <a:lvl5pPr>
              <a:defRPr sz="1125" b="0">
                <a:solidFill>
                  <a:srgbClr val="B8C8C1"/>
                </a:solidFill>
                <a:latin typeface="Consolas"/>
                <a:ea typeface="Consolas"/>
                <a:cs typeface="Consolas"/>
              </a:defRPr>
            </a:lvl5pPr>
            <a:lvl6pPr>
              <a:defRPr sz="1125" b="0">
                <a:solidFill>
                  <a:srgbClr val="B8C8C1"/>
                </a:solidFill>
                <a:latin typeface="Consolas"/>
                <a:ea typeface="Consolas"/>
                <a:cs typeface="Consolas"/>
              </a:defRPr>
            </a:lvl6pPr>
            <a:lvl7pPr>
              <a:defRPr sz="1125" b="0">
                <a:solidFill>
                  <a:srgbClr val="B8C8C1"/>
                </a:solidFill>
                <a:latin typeface="Consolas"/>
                <a:ea typeface="Consolas"/>
                <a:cs typeface="Consolas"/>
              </a:defRPr>
            </a:lvl7pPr>
            <a:lvl8pPr>
              <a:defRPr sz="1125" b="0">
                <a:solidFill>
                  <a:srgbClr val="B8C8C1"/>
                </a:solidFill>
                <a:latin typeface="Consolas"/>
                <a:ea typeface="Consolas"/>
                <a:cs typeface="Consolas"/>
              </a:defRPr>
            </a:lvl8pPr>
            <a:lvl9pPr>
              <a:defRPr sz="1125" b="0">
                <a:solidFill>
                  <a:srgbClr val="B8C8C1"/>
                </a:solidFill>
                <a:latin typeface="Consolas"/>
                <a:ea typeface="Consolas"/>
                <a:cs typeface="Consolas"/>
              </a:defRPr>
            </a:lvl9pPr>
          </a:lstStyle>
          <a:p xmlns:a="http://schemas.openxmlformats.org/drawingml/2006/main">
            <a:pPr>
              <a:defRPr sz="1125" b="0">
                <a:solidFill>
                  <a:srgbClr val="B8C8C1"/>
                </a:solidFill>
                <a:latin typeface="Consolas"/>
                <a:ea typeface="Consolas"/>
                <a:cs typeface="Consolas"/>
              </a:defRPr>
            </a:pPr>
            <a:r>
              <a:rPr sz="1125" b="0">
                <a:solidFill>
                  <a:srgbClr val="B8C8C1"/>
                </a:solidFill>
                <a:latin typeface="Consolas"/>
                <a:ea typeface="Consolas"/>
                <a:cs typeface="Consolas"/>
              </a:rPr>
              <a:t>MECRO   SEMANA 3   CLASE 05   24/24</a:t>
            </a:r>
          </a:p>
        </p:txBody>
      </p:sp>
      <p:sp>
        <p:nvSpPr>
          <p:cNvPr id="4" name="">
            <a:extLst xmlns:a="http://schemas.openxmlformats.org/drawingml/2006/main">
              <a:ext uri="{FF2B5EF4-FFF2-40B4-BE49-F238E27FC236}">
                <a16:creationId xmlns:a16="http://schemas.microsoft.com/office/drawing/2014/main" id="{45D0BCDF-348B-49F5-A04B-3B0A98A661EF}"/>
              </a:ext>
            </a:extLst>
          </p:cNvPr>
          <p:cNvSpPr>
            <a:spLocks xmlns:a="http://schemas.openxmlformats.org/drawingml/2006/main" noGrp="1"/>
          </p:cNvSpPr>
          <p:nvPr/>
        </p:nvSpPr>
        <p:spPr>
          <a:xfrm xmlns:a="http://schemas.openxmlformats.org/drawingml/2006/main">
            <a:off x="590550" y="1800225"/>
            <a:ext cx="10715625" cy="152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925" b="1">
                <a:solidFill>
                  <a:srgbClr val="AEF4BB"/>
                </a:solidFill>
                <a:latin typeface="Arial"/>
                <a:ea typeface="Arial"/>
                <a:cs typeface="Arial"/>
              </a:defRPr>
            </a:defPPr>
            <a:lvl1pPr>
              <a:defRPr sz="2925" b="1">
                <a:solidFill>
                  <a:srgbClr val="AEF4BB"/>
                </a:solidFill>
                <a:latin typeface="Arial"/>
                <a:ea typeface="Arial"/>
                <a:cs typeface="Arial"/>
              </a:defRPr>
            </a:lvl1pPr>
            <a:lvl2pPr>
              <a:defRPr sz="2925" b="1">
                <a:solidFill>
                  <a:srgbClr val="AEF4BB"/>
                </a:solidFill>
                <a:latin typeface="Arial"/>
                <a:ea typeface="Arial"/>
                <a:cs typeface="Arial"/>
              </a:defRPr>
            </a:lvl2pPr>
            <a:lvl3pPr>
              <a:defRPr sz="2925" b="1">
                <a:solidFill>
                  <a:srgbClr val="AEF4BB"/>
                </a:solidFill>
                <a:latin typeface="Arial"/>
                <a:ea typeface="Arial"/>
                <a:cs typeface="Arial"/>
              </a:defRPr>
            </a:lvl3pPr>
            <a:lvl4pPr>
              <a:defRPr sz="2925" b="1">
                <a:solidFill>
                  <a:srgbClr val="AEF4BB"/>
                </a:solidFill>
                <a:latin typeface="Arial"/>
                <a:ea typeface="Arial"/>
                <a:cs typeface="Arial"/>
              </a:defRPr>
            </a:lvl4pPr>
            <a:lvl5pPr>
              <a:defRPr sz="2925" b="1">
                <a:solidFill>
                  <a:srgbClr val="AEF4BB"/>
                </a:solidFill>
                <a:latin typeface="Arial"/>
                <a:ea typeface="Arial"/>
                <a:cs typeface="Arial"/>
              </a:defRPr>
            </a:lvl5pPr>
            <a:lvl6pPr>
              <a:defRPr sz="2925" b="1">
                <a:solidFill>
                  <a:srgbClr val="AEF4BB"/>
                </a:solidFill>
                <a:latin typeface="Arial"/>
                <a:ea typeface="Arial"/>
                <a:cs typeface="Arial"/>
              </a:defRPr>
            </a:lvl6pPr>
            <a:lvl7pPr>
              <a:defRPr sz="2925" b="1">
                <a:solidFill>
                  <a:srgbClr val="AEF4BB"/>
                </a:solidFill>
                <a:latin typeface="Arial"/>
                <a:ea typeface="Arial"/>
                <a:cs typeface="Arial"/>
              </a:defRPr>
            </a:lvl7pPr>
            <a:lvl8pPr>
              <a:defRPr sz="2925" b="1">
                <a:solidFill>
                  <a:srgbClr val="AEF4BB"/>
                </a:solidFill>
                <a:latin typeface="Arial"/>
                <a:ea typeface="Arial"/>
                <a:cs typeface="Arial"/>
              </a:defRPr>
            </a:lvl8pPr>
            <a:lvl9pPr>
              <a:defRPr sz="2925" b="1">
                <a:solidFill>
                  <a:srgbClr val="AEF4BB"/>
                </a:solidFill>
                <a:latin typeface="Arial"/>
                <a:ea typeface="Arial"/>
                <a:cs typeface="Arial"/>
              </a:defRPr>
            </a:lvl9pPr>
          </a:lstStyle>
          <a:p xmlns:a="http://schemas.openxmlformats.org/drawingml/2006/main">
            <a:pPr>
              <a:defRPr sz="2925" b="1">
                <a:solidFill>
                  <a:srgbClr val="AEF4BB"/>
                </a:solidFill>
                <a:latin typeface="Arial"/>
                <a:ea typeface="Arial"/>
                <a:cs typeface="Arial"/>
              </a:defRPr>
            </a:pPr>
            <a:r>
              <a:rPr sz="2925" b="1">
                <a:solidFill>
                  <a:srgbClr val="AEF4BB"/>
                </a:solidFill>
                <a:latin typeface="Arial"/>
                <a:ea typeface="Arial"/>
                <a:cs typeface="Arial"/>
              </a:rPr>
              <a:t>Proyecto de laminador, comparación y solicitud de impresión.</a:t>
            </a:r>
          </a:p>
        </p:txBody>
      </p:sp>
      <p:sp>
        <p:nvSpPr>
          <p:cNvPr id="5" name="">
            <a:extLst xmlns:a="http://schemas.openxmlformats.org/drawingml/2006/main">
              <a:ext uri="{FF2B5EF4-FFF2-40B4-BE49-F238E27FC236}">
                <a16:creationId xmlns:a16="http://schemas.microsoft.com/office/drawing/2014/main" id="{E065D565-074E-4892-A97E-CDE0B1697E10}"/>
              </a:ext>
            </a:extLst>
          </p:cNvPr>
          <p:cNvSpPr>
            <a:spLocks xmlns:a="http://schemas.openxmlformats.org/drawingml/2006/main" noGrp="1"/>
          </p:cNvSpPr>
          <p:nvPr/>
        </p:nvSpPr>
        <p:spPr>
          <a:xfrm xmlns:a="http://schemas.openxmlformats.org/drawingml/2006/main">
            <a:off x="590550" y="4314825"/>
            <a:ext cx="10715625" cy="1219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325" b="0">
                <a:solidFill>
                  <a:srgbClr val="FCFCF8"/>
                </a:solidFill>
                <a:latin typeface="Arial"/>
                <a:ea typeface="Arial"/>
                <a:cs typeface="Arial"/>
              </a:defRPr>
            </a:defPPr>
            <a:lvl1pPr>
              <a:defRPr sz="2325" b="0">
                <a:solidFill>
                  <a:srgbClr val="FCFCF8"/>
                </a:solidFill>
                <a:latin typeface="Arial"/>
                <a:ea typeface="Arial"/>
                <a:cs typeface="Arial"/>
              </a:defRPr>
            </a:lvl1pPr>
            <a:lvl2pPr>
              <a:defRPr sz="2325" b="0">
                <a:solidFill>
                  <a:srgbClr val="FCFCF8"/>
                </a:solidFill>
                <a:latin typeface="Arial"/>
                <a:ea typeface="Arial"/>
                <a:cs typeface="Arial"/>
              </a:defRPr>
            </a:lvl2pPr>
            <a:lvl3pPr>
              <a:defRPr sz="2325" b="0">
                <a:solidFill>
                  <a:srgbClr val="FCFCF8"/>
                </a:solidFill>
                <a:latin typeface="Arial"/>
                <a:ea typeface="Arial"/>
                <a:cs typeface="Arial"/>
              </a:defRPr>
            </a:lvl3pPr>
            <a:lvl4pPr>
              <a:defRPr sz="2325" b="0">
                <a:solidFill>
                  <a:srgbClr val="FCFCF8"/>
                </a:solidFill>
                <a:latin typeface="Arial"/>
                <a:ea typeface="Arial"/>
                <a:cs typeface="Arial"/>
              </a:defRPr>
            </a:lvl4pPr>
            <a:lvl5pPr>
              <a:defRPr sz="2325" b="0">
                <a:solidFill>
                  <a:srgbClr val="FCFCF8"/>
                </a:solidFill>
                <a:latin typeface="Arial"/>
                <a:ea typeface="Arial"/>
                <a:cs typeface="Arial"/>
              </a:defRPr>
            </a:lvl5pPr>
            <a:lvl6pPr>
              <a:defRPr sz="2325" b="0">
                <a:solidFill>
                  <a:srgbClr val="FCFCF8"/>
                </a:solidFill>
                <a:latin typeface="Arial"/>
                <a:ea typeface="Arial"/>
                <a:cs typeface="Arial"/>
              </a:defRPr>
            </a:lvl6pPr>
            <a:lvl7pPr>
              <a:defRPr sz="2325" b="0">
                <a:solidFill>
                  <a:srgbClr val="FCFCF8"/>
                </a:solidFill>
                <a:latin typeface="Arial"/>
                <a:ea typeface="Arial"/>
                <a:cs typeface="Arial"/>
              </a:defRPr>
            </a:lvl7pPr>
            <a:lvl8pPr>
              <a:defRPr sz="2325" b="0">
                <a:solidFill>
                  <a:srgbClr val="FCFCF8"/>
                </a:solidFill>
                <a:latin typeface="Arial"/>
                <a:ea typeface="Arial"/>
                <a:cs typeface="Arial"/>
              </a:defRPr>
            </a:lvl8pPr>
            <a:lvl9pPr>
              <a:defRPr sz="2325" b="0">
                <a:solidFill>
                  <a:srgbClr val="FCFCF8"/>
                </a:solidFill>
                <a:latin typeface="Arial"/>
                <a:ea typeface="Arial"/>
                <a:cs typeface="Arial"/>
              </a:defRPr>
            </a:lvl9pPr>
          </a:lstStyle>
          <a:p xmlns:a="http://schemas.openxmlformats.org/drawingml/2006/main">
            <a:pPr>
              <a:defRPr sz="2325" b="0">
                <a:solidFill>
                  <a:srgbClr val="FCFCF8"/>
                </a:solidFill>
                <a:latin typeface="Arial"/>
                <a:ea typeface="Arial"/>
                <a:cs typeface="Arial"/>
              </a:defRPr>
            </a:pPr>
            <a:r>
              <a:rPr sz="2325" b="0">
                <a:solidFill>
                  <a:srgbClr val="FCFCF8"/>
                </a:solidFill>
                <a:latin typeface="Arial"/>
                <a:ea typeface="Arial"/>
                <a:cs typeface="Arial"/>
              </a:rPr>
              <a:t>Conserva la revisión del equipo y señala qué comprobación sigue pendiente.</a:t>
            </a:r>
          </a:p>
        </p:txBody>
      </p:sp>
    </p:spTree>
    <p:extLst>
      <p:ext uri="{BB962C8B-B14F-4D97-AF65-F5344CB8AC3E}">
        <p14:creationId xmlns:p14="http://schemas.microsoft.com/office/powerpoint/2010/main" val="6300831"/>
      </p:ext>
    </p:extLst>
  </p:cSld>
</p:sld>
</file>

<file path=ppt/slides/slide25.xml><?xml version="1.0" encoding="utf-8"?>
<p:sld xmlns:p="http://schemas.openxmlformats.org/presentationml/2006/main">
  <p:cSld>
    <p:bg>
      <p:bgPr>
        <a:solidFill xmlns:a="http://schemas.openxmlformats.org/drawingml/2006/main">
          <a:srgbClr val="090F10"/>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FBE106D7-C2AB-4B87-BFDA-63423A028826}"/>
              </a:ext>
            </a:extLst>
          </p:cNvPr>
          <p:cNvSpPr>
            <a:spLocks xmlns:a="http://schemas.openxmlformats.org/drawingml/2006/main" noGrp="1"/>
          </p:cNvSpPr>
          <p:nvPr/>
        </p:nvSpPr>
        <p:spPr>
          <a:xfrm xmlns:a="http://schemas.openxmlformats.org/drawingml/2006/main">
            <a:off x="590550" y="428625"/>
            <a:ext cx="100965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75" b="1">
                <a:solidFill>
                  <a:srgbClr val="FCFCF8"/>
                </a:solidFill>
                <a:latin typeface="Arial Narrow"/>
                <a:ea typeface="Arial Narrow"/>
                <a:cs typeface="Arial Narrow"/>
              </a:defRPr>
            </a:defPPr>
            <a:lvl1pPr>
              <a:defRPr sz="3375" b="1">
                <a:solidFill>
                  <a:srgbClr val="FCFCF8"/>
                </a:solidFill>
                <a:latin typeface="Arial Narrow"/>
                <a:ea typeface="Arial Narrow"/>
                <a:cs typeface="Arial Narrow"/>
              </a:defRPr>
            </a:lvl1pPr>
            <a:lvl2pPr>
              <a:defRPr sz="3375" b="1">
                <a:solidFill>
                  <a:srgbClr val="FCFCF8"/>
                </a:solidFill>
                <a:latin typeface="Arial Narrow"/>
                <a:ea typeface="Arial Narrow"/>
                <a:cs typeface="Arial Narrow"/>
              </a:defRPr>
            </a:lvl2pPr>
            <a:lvl3pPr>
              <a:defRPr sz="3375" b="1">
                <a:solidFill>
                  <a:srgbClr val="FCFCF8"/>
                </a:solidFill>
                <a:latin typeface="Arial Narrow"/>
                <a:ea typeface="Arial Narrow"/>
                <a:cs typeface="Arial Narrow"/>
              </a:defRPr>
            </a:lvl3pPr>
            <a:lvl4pPr>
              <a:defRPr sz="3375" b="1">
                <a:solidFill>
                  <a:srgbClr val="FCFCF8"/>
                </a:solidFill>
                <a:latin typeface="Arial Narrow"/>
                <a:ea typeface="Arial Narrow"/>
                <a:cs typeface="Arial Narrow"/>
              </a:defRPr>
            </a:lvl4pPr>
            <a:lvl5pPr>
              <a:defRPr sz="3375" b="1">
                <a:solidFill>
                  <a:srgbClr val="FCFCF8"/>
                </a:solidFill>
                <a:latin typeface="Arial Narrow"/>
                <a:ea typeface="Arial Narrow"/>
                <a:cs typeface="Arial Narrow"/>
              </a:defRPr>
            </a:lvl5pPr>
            <a:lvl6pPr>
              <a:defRPr sz="3375" b="1">
                <a:solidFill>
                  <a:srgbClr val="FCFCF8"/>
                </a:solidFill>
                <a:latin typeface="Arial Narrow"/>
                <a:ea typeface="Arial Narrow"/>
                <a:cs typeface="Arial Narrow"/>
              </a:defRPr>
            </a:lvl6pPr>
            <a:lvl7pPr>
              <a:defRPr sz="3375" b="1">
                <a:solidFill>
                  <a:srgbClr val="FCFCF8"/>
                </a:solidFill>
                <a:latin typeface="Arial Narrow"/>
                <a:ea typeface="Arial Narrow"/>
                <a:cs typeface="Arial Narrow"/>
              </a:defRPr>
            </a:lvl7pPr>
            <a:lvl8pPr>
              <a:defRPr sz="3375" b="1">
                <a:solidFill>
                  <a:srgbClr val="FCFCF8"/>
                </a:solidFill>
                <a:latin typeface="Arial Narrow"/>
                <a:ea typeface="Arial Narrow"/>
                <a:cs typeface="Arial Narrow"/>
              </a:defRPr>
            </a:lvl8pPr>
            <a:lvl9pPr>
              <a:defRPr sz="3375" b="1">
                <a:solidFill>
                  <a:srgbClr val="FCFCF8"/>
                </a:solidFill>
                <a:latin typeface="Arial Narrow"/>
                <a:ea typeface="Arial Narrow"/>
                <a:cs typeface="Arial Narrow"/>
              </a:defRPr>
            </a:lvl9pPr>
          </a:lstStyle>
          <a:p xmlns:a="http://schemas.openxmlformats.org/drawingml/2006/main">
            <a:pPr>
              <a:defRPr sz="3375" b="1">
                <a:solidFill>
                  <a:srgbClr val="FCFCF8"/>
                </a:solidFill>
                <a:latin typeface="Arial Narrow"/>
                <a:ea typeface="Arial Narrow"/>
                <a:cs typeface="Arial Narrow"/>
              </a:defRPr>
            </a:pPr>
            <a:r>
              <a:rPr sz="3375" b="1">
                <a:solidFill>
                  <a:srgbClr val="FCFCF8"/>
                </a:solidFill>
                <a:latin typeface="Arial Narrow"/>
                <a:ea typeface="Arial Narrow"/>
                <a:cs typeface="Arial Narrow"/>
              </a:rPr>
              <a:t>Taller 1: medidas, encajes y alineación</a:t>
            </a:r>
          </a:p>
        </p:txBody>
      </p:sp>
      <p:pic>
        <p:nvPicPr>
          <p:cNvPr id="2" name="">
            <a:extLst xmlns:a="http://schemas.openxmlformats.org/drawingml/2006/main">
              <a:ext uri="{FF2B5EF4-FFF2-40B4-BE49-F238E27FC236}">
                <a16:creationId xmlns:a16="http://schemas.microsoft.com/office/drawing/2014/main" id="{7152B37F-CDC4-473D-B0F3-32FFC807A158}"/>
              </a:ext>
            </a:extLst>
          </p:cNvPr>
          <p:cNvPicPr>
            <a:picLocks xmlns:a="http://schemas.openxmlformats.org/drawingml/2006/main" noChangeAspect="1"/>
          </p:cNvPicPr>
          <p:nvPr/>
        </p:nvPicPr>
        <p:blipFill>
          <a:blip xmlns:r="http://schemas.openxmlformats.org/officeDocument/2006/relationships" xmlns:a="http://schemas.openxmlformats.org/drawingml/2006/main" r:embed="R5b27615ab0314fe8"/>
          <a:stretch xmlns:a="http://schemas.openxmlformats.org/drawingml/2006/main"/>
        </p:blipFill>
        <p:spPr>
          <a:xfrm xmlns:a="http://schemas.openxmlformats.org/drawingml/2006/main">
            <a:off x="10858500" y="337942"/>
            <a:ext cx="762000" cy="276616"/>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E8F4C9EB-07C9-41B9-B7C4-252C156CCAEC}"/>
              </a:ext>
            </a:extLst>
          </p:cNvPr>
          <p:cNvSpPr>
            <a:spLocks xmlns:a="http://schemas.openxmlformats.org/drawingml/2006/main" noGrp="1"/>
          </p:cNvSpPr>
          <p:nvPr/>
        </p:nvSpPr>
        <p:spPr>
          <a:xfrm xmlns:a="http://schemas.openxmlformats.org/drawingml/2006/main">
            <a:off x="590550" y="6467475"/>
            <a:ext cx="108108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B8C8C1"/>
                </a:solidFill>
                <a:latin typeface="Consolas"/>
                <a:ea typeface="Consolas"/>
                <a:cs typeface="Consolas"/>
              </a:defRPr>
            </a:defPPr>
            <a:lvl1pPr>
              <a:defRPr sz="1125" b="0">
                <a:solidFill>
                  <a:srgbClr val="B8C8C1"/>
                </a:solidFill>
                <a:latin typeface="Consolas"/>
                <a:ea typeface="Consolas"/>
                <a:cs typeface="Consolas"/>
              </a:defRPr>
            </a:lvl1pPr>
            <a:lvl2pPr>
              <a:defRPr sz="1125" b="0">
                <a:solidFill>
                  <a:srgbClr val="B8C8C1"/>
                </a:solidFill>
                <a:latin typeface="Consolas"/>
                <a:ea typeface="Consolas"/>
                <a:cs typeface="Consolas"/>
              </a:defRPr>
            </a:lvl2pPr>
            <a:lvl3pPr>
              <a:defRPr sz="1125" b="0">
                <a:solidFill>
                  <a:srgbClr val="B8C8C1"/>
                </a:solidFill>
                <a:latin typeface="Consolas"/>
                <a:ea typeface="Consolas"/>
                <a:cs typeface="Consolas"/>
              </a:defRPr>
            </a:lvl3pPr>
            <a:lvl4pPr>
              <a:defRPr sz="1125" b="0">
                <a:solidFill>
                  <a:srgbClr val="B8C8C1"/>
                </a:solidFill>
                <a:latin typeface="Consolas"/>
                <a:ea typeface="Consolas"/>
                <a:cs typeface="Consolas"/>
              </a:defRPr>
            </a:lvl4pPr>
            <a:lvl5pPr>
              <a:defRPr sz="1125" b="0">
                <a:solidFill>
                  <a:srgbClr val="B8C8C1"/>
                </a:solidFill>
                <a:latin typeface="Consolas"/>
                <a:ea typeface="Consolas"/>
                <a:cs typeface="Consolas"/>
              </a:defRPr>
            </a:lvl5pPr>
            <a:lvl6pPr>
              <a:defRPr sz="1125" b="0">
                <a:solidFill>
                  <a:srgbClr val="B8C8C1"/>
                </a:solidFill>
                <a:latin typeface="Consolas"/>
                <a:ea typeface="Consolas"/>
                <a:cs typeface="Consolas"/>
              </a:defRPr>
            </a:lvl6pPr>
            <a:lvl7pPr>
              <a:defRPr sz="1125" b="0">
                <a:solidFill>
                  <a:srgbClr val="B8C8C1"/>
                </a:solidFill>
                <a:latin typeface="Consolas"/>
                <a:ea typeface="Consolas"/>
                <a:cs typeface="Consolas"/>
              </a:defRPr>
            </a:lvl7pPr>
            <a:lvl8pPr>
              <a:defRPr sz="1125" b="0">
                <a:solidFill>
                  <a:srgbClr val="B8C8C1"/>
                </a:solidFill>
                <a:latin typeface="Consolas"/>
                <a:ea typeface="Consolas"/>
                <a:cs typeface="Consolas"/>
              </a:defRPr>
            </a:lvl8pPr>
            <a:lvl9pPr>
              <a:defRPr sz="1125" b="0">
                <a:solidFill>
                  <a:srgbClr val="B8C8C1"/>
                </a:solidFill>
                <a:latin typeface="Consolas"/>
                <a:ea typeface="Consolas"/>
                <a:cs typeface="Consolas"/>
              </a:defRPr>
            </a:lvl9pPr>
          </a:lstStyle>
          <a:p xmlns:a="http://schemas.openxmlformats.org/drawingml/2006/main">
            <a:pPr>
              <a:defRPr sz="1125" b="0">
                <a:solidFill>
                  <a:srgbClr val="B8C8C1"/>
                </a:solidFill>
                <a:latin typeface="Consolas"/>
                <a:ea typeface="Consolas"/>
                <a:cs typeface="Consolas"/>
              </a:defRPr>
            </a:pPr>
            <a:r>
              <a:rPr sz="1125" b="0">
                <a:solidFill>
                  <a:srgbClr val="B8C8C1"/>
                </a:solidFill>
                <a:latin typeface="Consolas"/>
                <a:ea typeface="Consolas"/>
                <a:cs typeface="Consolas"/>
              </a:rPr>
              <a:t>MECRO   SEMANA 3   CLASE 06   01/24</a:t>
            </a:r>
          </a:p>
        </p:txBody>
      </p:sp>
      <p:sp>
        <p:nvSpPr>
          <p:cNvPr id="4" name="">
            <a:extLst xmlns:a="http://schemas.openxmlformats.org/drawingml/2006/main">
              <a:ext uri="{FF2B5EF4-FFF2-40B4-BE49-F238E27FC236}">
                <a16:creationId xmlns:a16="http://schemas.microsoft.com/office/drawing/2014/main" id="{30EF1816-7AC8-4514-B6A2-A413CA669B8F}"/>
              </a:ext>
            </a:extLst>
          </p:cNvPr>
          <p:cNvSpPr>
            <a:spLocks xmlns:a="http://schemas.openxmlformats.org/drawingml/2006/main" noGrp="1"/>
          </p:cNvSpPr>
          <p:nvPr/>
        </p:nvSpPr>
        <p:spPr>
          <a:xfrm xmlns:a="http://schemas.openxmlformats.org/drawingml/2006/main">
            <a:off x="590550" y="1762125"/>
            <a:ext cx="10715625"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850" b="1">
                <a:solidFill>
                  <a:srgbClr val="AEF4BB"/>
                </a:solidFill>
                <a:latin typeface="Arial"/>
                <a:ea typeface="Arial"/>
                <a:cs typeface="Arial"/>
              </a:defRPr>
            </a:defPPr>
            <a:lvl1pPr>
              <a:defRPr sz="2850" b="1">
                <a:solidFill>
                  <a:srgbClr val="AEF4BB"/>
                </a:solidFill>
                <a:latin typeface="Arial"/>
                <a:ea typeface="Arial"/>
                <a:cs typeface="Arial"/>
              </a:defRPr>
            </a:lvl1pPr>
            <a:lvl2pPr>
              <a:defRPr sz="2850" b="1">
                <a:solidFill>
                  <a:srgbClr val="AEF4BB"/>
                </a:solidFill>
                <a:latin typeface="Arial"/>
                <a:ea typeface="Arial"/>
                <a:cs typeface="Arial"/>
              </a:defRPr>
            </a:lvl2pPr>
            <a:lvl3pPr>
              <a:defRPr sz="2850" b="1">
                <a:solidFill>
                  <a:srgbClr val="AEF4BB"/>
                </a:solidFill>
                <a:latin typeface="Arial"/>
                <a:ea typeface="Arial"/>
                <a:cs typeface="Arial"/>
              </a:defRPr>
            </a:lvl3pPr>
            <a:lvl4pPr>
              <a:defRPr sz="2850" b="1">
                <a:solidFill>
                  <a:srgbClr val="AEF4BB"/>
                </a:solidFill>
                <a:latin typeface="Arial"/>
                <a:ea typeface="Arial"/>
                <a:cs typeface="Arial"/>
              </a:defRPr>
            </a:lvl4pPr>
            <a:lvl5pPr>
              <a:defRPr sz="2850" b="1">
                <a:solidFill>
                  <a:srgbClr val="AEF4BB"/>
                </a:solidFill>
                <a:latin typeface="Arial"/>
                <a:ea typeface="Arial"/>
                <a:cs typeface="Arial"/>
              </a:defRPr>
            </a:lvl5pPr>
            <a:lvl6pPr>
              <a:defRPr sz="2850" b="1">
                <a:solidFill>
                  <a:srgbClr val="AEF4BB"/>
                </a:solidFill>
                <a:latin typeface="Arial"/>
                <a:ea typeface="Arial"/>
                <a:cs typeface="Arial"/>
              </a:defRPr>
            </a:lvl6pPr>
            <a:lvl7pPr>
              <a:defRPr sz="2850" b="1">
                <a:solidFill>
                  <a:srgbClr val="AEF4BB"/>
                </a:solidFill>
                <a:latin typeface="Arial"/>
                <a:ea typeface="Arial"/>
                <a:cs typeface="Arial"/>
              </a:defRPr>
            </a:lvl7pPr>
            <a:lvl8pPr>
              <a:defRPr sz="2850" b="1">
                <a:solidFill>
                  <a:srgbClr val="AEF4BB"/>
                </a:solidFill>
                <a:latin typeface="Arial"/>
                <a:ea typeface="Arial"/>
                <a:cs typeface="Arial"/>
              </a:defRPr>
            </a:lvl8pPr>
            <a:lvl9pPr>
              <a:defRPr sz="2850" b="1">
                <a:solidFill>
                  <a:srgbClr val="AEF4BB"/>
                </a:solidFill>
                <a:latin typeface="Arial"/>
                <a:ea typeface="Arial"/>
                <a:cs typeface="Arial"/>
              </a:defRPr>
            </a:lvl9pPr>
          </a:lstStyle>
          <a:p xmlns:a="http://schemas.openxmlformats.org/drawingml/2006/main">
            <a:pPr>
              <a:defRPr sz="2850" b="1">
                <a:solidFill>
                  <a:srgbClr val="AEF4BB"/>
                </a:solidFill>
                <a:latin typeface="Arial"/>
                <a:ea typeface="Arial"/>
                <a:cs typeface="Arial"/>
              </a:defRPr>
            </a:pPr>
            <a:r>
              <a:rPr sz="2850" b="1">
                <a:solidFill>
                  <a:srgbClr val="AEF4BB"/>
                </a:solidFill>
                <a:latin typeface="Arial"/>
                <a:ea typeface="Arial"/>
                <a:cs typeface="Arial"/>
              </a:rPr>
              <a:t>Comprobar piezas físicas y corregir el diseño antes del montaje definitivo.</a:t>
            </a:r>
          </a:p>
        </p:txBody>
      </p:sp>
      <p:sp>
        <p:nvSpPr>
          <p:cNvPr id="5" name="">
            <a:extLst xmlns:a="http://schemas.openxmlformats.org/drawingml/2006/main">
              <a:ext uri="{FF2B5EF4-FFF2-40B4-BE49-F238E27FC236}">
                <a16:creationId xmlns:a16="http://schemas.microsoft.com/office/drawing/2014/main" id="{DCF4396F-5564-4A34-BD94-35E30123BE2E}"/>
              </a:ext>
            </a:extLst>
          </p:cNvPr>
          <p:cNvSpPr>
            <a:spLocks xmlns:a="http://schemas.openxmlformats.org/drawingml/2006/main" noGrp="1"/>
          </p:cNvSpPr>
          <p:nvPr/>
        </p:nvSpPr>
        <p:spPr>
          <a:xfrm xmlns:a="http://schemas.openxmlformats.org/drawingml/2006/main">
            <a:off x="590550" y="3705225"/>
            <a:ext cx="10715625"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325" b="0">
                <a:solidFill>
                  <a:srgbClr val="FCFCF8"/>
                </a:solidFill>
                <a:latin typeface="Arial"/>
                <a:ea typeface="Arial"/>
                <a:cs typeface="Arial"/>
              </a:defRPr>
            </a:defPPr>
            <a:lvl1pPr>
              <a:defRPr sz="2325" b="0">
                <a:solidFill>
                  <a:srgbClr val="FCFCF8"/>
                </a:solidFill>
                <a:latin typeface="Arial"/>
                <a:ea typeface="Arial"/>
                <a:cs typeface="Arial"/>
              </a:defRPr>
            </a:lvl1pPr>
            <a:lvl2pPr>
              <a:defRPr sz="2325" b="0">
                <a:solidFill>
                  <a:srgbClr val="FCFCF8"/>
                </a:solidFill>
                <a:latin typeface="Arial"/>
                <a:ea typeface="Arial"/>
                <a:cs typeface="Arial"/>
              </a:defRPr>
            </a:lvl2pPr>
            <a:lvl3pPr>
              <a:defRPr sz="2325" b="0">
                <a:solidFill>
                  <a:srgbClr val="FCFCF8"/>
                </a:solidFill>
                <a:latin typeface="Arial"/>
                <a:ea typeface="Arial"/>
                <a:cs typeface="Arial"/>
              </a:defRPr>
            </a:lvl3pPr>
            <a:lvl4pPr>
              <a:defRPr sz="2325" b="0">
                <a:solidFill>
                  <a:srgbClr val="FCFCF8"/>
                </a:solidFill>
                <a:latin typeface="Arial"/>
                <a:ea typeface="Arial"/>
                <a:cs typeface="Arial"/>
              </a:defRPr>
            </a:lvl4pPr>
            <a:lvl5pPr>
              <a:defRPr sz="2325" b="0">
                <a:solidFill>
                  <a:srgbClr val="FCFCF8"/>
                </a:solidFill>
                <a:latin typeface="Arial"/>
                <a:ea typeface="Arial"/>
                <a:cs typeface="Arial"/>
              </a:defRPr>
            </a:lvl5pPr>
            <a:lvl6pPr>
              <a:defRPr sz="2325" b="0">
                <a:solidFill>
                  <a:srgbClr val="FCFCF8"/>
                </a:solidFill>
                <a:latin typeface="Arial"/>
                <a:ea typeface="Arial"/>
                <a:cs typeface="Arial"/>
              </a:defRPr>
            </a:lvl6pPr>
            <a:lvl7pPr>
              <a:defRPr sz="2325" b="0">
                <a:solidFill>
                  <a:srgbClr val="FCFCF8"/>
                </a:solidFill>
                <a:latin typeface="Arial"/>
                <a:ea typeface="Arial"/>
                <a:cs typeface="Arial"/>
              </a:defRPr>
            </a:lvl7pPr>
            <a:lvl8pPr>
              <a:defRPr sz="2325" b="0">
                <a:solidFill>
                  <a:srgbClr val="FCFCF8"/>
                </a:solidFill>
                <a:latin typeface="Arial"/>
                <a:ea typeface="Arial"/>
                <a:cs typeface="Arial"/>
              </a:defRPr>
            </a:lvl8pPr>
            <a:lvl9pPr>
              <a:defRPr sz="2325" b="0">
                <a:solidFill>
                  <a:srgbClr val="FCFCF8"/>
                </a:solidFill>
                <a:latin typeface="Arial"/>
                <a:ea typeface="Arial"/>
                <a:cs typeface="Arial"/>
              </a:defRPr>
            </a:lvl9pPr>
          </a:lstStyle>
          <a:p xmlns:a="http://schemas.openxmlformats.org/drawingml/2006/main">
            <a:pPr>
              <a:defRPr sz="2325" b="0">
                <a:solidFill>
                  <a:srgbClr val="FCFCF8"/>
                </a:solidFill>
                <a:latin typeface="Arial"/>
                <a:ea typeface="Arial"/>
                <a:cs typeface="Arial"/>
              </a:defRPr>
            </a:pPr>
            <a:r>
              <a:rPr sz="2325" b="0">
                <a:solidFill>
                  <a:srgbClr val="FCFCF8"/>
                </a:solidFill>
                <a:latin typeface="Arial"/>
                <a:ea typeface="Arial"/>
                <a:cs typeface="Arial"/>
              </a:rPr>
              <a:t>Conseguir que las piezas fabricadas correspondan al plano y puedan presentarse juntas.</a:t>
            </a:r>
          </a:p>
        </p:txBody>
      </p:sp>
      <p:sp>
        <p:nvSpPr>
          <p:cNvPr id="6" name="">
            <a:extLst xmlns:a="http://schemas.openxmlformats.org/drawingml/2006/main">
              <a:ext uri="{FF2B5EF4-FFF2-40B4-BE49-F238E27FC236}">
                <a16:creationId xmlns:a16="http://schemas.microsoft.com/office/drawing/2014/main" id="{F6C181C3-A302-4D51-AC7C-7D996B905E46}"/>
              </a:ext>
            </a:extLst>
          </p:cNvPr>
          <p:cNvSpPr>
            <a:spLocks xmlns:a="http://schemas.openxmlformats.org/drawingml/2006/main" noGrp="1"/>
          </p:cNvSpPr>
          <p:nvPr/>
        </p:nvSpPr>
        <p:spPr>
          <a:xfrm xmlns:a="http://schemas.openxmlformats.org/drawingml/2006/main">
            <a:off x="590550" y="5648325"/>
            <a:ext cx="1071562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00" b="0">
                <a:solidFill>
                  <a:srgbClr val="B8C8C1"/>
                </a:solidFill>
                <a:latin typeface="Consolas"/>
                <a:ea typeface="Consolas"/>
                <a:cs typeface="Consolas"/>
              </a:defRPr>
            </a:defPPr>
            <a:lvl1pPr>
              <a:defRPr sz="1800" b="0">
                <a:solidFill>
                  <a:srgbClr val="B8C8C1"/>
                </a:solidFill>
                <a:latin typeface="Consolas"/>
                <a:ea typeface="Consolas"/>
                <a:cs typeface="Consolas"/>
              </a:defRPr>
            </a:lvl1pPr>
            <a:lvl2pPr>
              <a:defRPr sz="1800" b="0">
                <a:solidFill>
                  <a:srgbClr val="B8C8C1"/>
                </a:solidFill>
                <a:latin typeface="Consolas"/>
                <a:ea typeface="Consolas"/>
                <a:cs typeface="Consolas"/>
              </a:defRPr>
            </a:lvl2pPr>
            <a:lvl3pPr>
              <a:defRPr sz="1800" b="0">
                <a:solidFill>
                  <a:srgbClr val="B8C8C1"/>
                </a:solidFill>
                <a:latin typeface="Consolas"/>
                <a:ea typeface="Consolas"/>
                <a:cs typeface="Consolas"/>
              </a:defRPr>
            </a:lvl3pPr>
            <a:lvl4pPr>
              <a:defRPr sz="1800" b="0">
                <a:solidFill>
                  <a:srgbClr val="B8C8C1"/>
                </a:solidFill>
                <a:latin typeface="Consolas"/>
                <a:ea typeface="Consolas"/>
                <a:cs typeface="Consolas"/>
              </a:defRPr>
            </a:lvl4pPr>
            <a:lvl5pPr>
              <a:defRPr sz="1800" b="0">
                <a:solidFill>
                  <a:srgbClr val="B8C8C1"/>
                </a:solidFill>
                <a:latin typeface="Consolas"/>
                <a:ea typeface="Consolas"/>
                <a:cs typeface="Consolas"/>
              </a:defRPr>
            </a:lvl5pPr>
            <a:lvl6pPr>
              <a:defRPr sz="1800" b="0">
                <a:solidFill>
                  <a:srgbClr val="B8C8C1"/>
                </a:solidFill>
                <a:latin typeface="Consolas"/>
                <a:ea typeface="Consolas"/>
                <a:cs typeface="Consolas"/>
              </a:defRPr>
            </a:lvl6pPr>
            <a:lvl7pPr>
              <a:defRPr sz="1800" b="0">
                <a:solidFill>
                  <a:srgbClr val="B8C8C1"/>
                </a:solidFill>
                <a:latin typeface="Consolas"/>
                <a:ea typeface="Consolas"/>
                <a:cs typeface="Consolas"/>
              </a:defRPr>
            </a:lvl7pPr>
            <a:lvl8pPr>
              <a:defRPr sz="1800" b="0">
                <a:solidFill>
                  <a:srgbClr val="B8C8C1"/>
                </a:solidFill>
                <a:latin typeface="Consolas"/>
                <a:ea typeface="Consolas"/>
                <a:cs typeface="Consolas"/>
              </a:defRPr>
            </a:lvl8pPr>
            <a:lvl9pPr>
              <a:defRPr sz="1800" b="0">
                <a:solidFill>
                  <a:srgbClr val="B8C8C1"/>
                </a:solidFill>
                <a:latin typeface="Consolas"/>
                <a:ea typeface="Consolas"/>
                <a:cs typeface="Consolas"/>
              </a:defRPr>
            </a:lvl9pPr>
          </a:lstStyle>
          <a:p xmlns:a="http://schemas.openxmlformats.org/drawingml/2006/main">
            <a:pPr>
              <a:defRPr sz="1800" b="0">
                <a:solidFill>
                  <a:srgbClr val="B8C8C1"/>
                </a:solidFill>
                <a:latin typeface="Consolas"/>
                <a:ea typeface="Consolas"/>
                <a:cs typeface="Consolas"/>
              </a:defRPr>
            </a:pPr>
            <a:r>
              <a:rPr sz="1800" b="0">
                <a:solidFill>
                  <a:srgbClr val="B8C8C1"/>
                </a:solidFill>
                <a:latin typeface="Consolas"/>
                <a:ea typeface="Consolas"/>
                <a:cs typeface="Consolas"/>
              </a:rPr>
              <a:t>PRESENCIAL   4 HORAS</a:t>
            </a:r>
          </a:p>
        </p:txBody>
      </p:sp>
    </p:spTree>
    <p:extLst>
      <p:ext uri="{BB962C8B-B14F-4D97-AF65-F5344CB8AC3E}">
        <p14:creationId xmlns:p14="http://schemas.microsoft.com/office/powerpoint/2010/main" val="1541524562"/>
      </p:ext>
    </p:extLst>
  </p:cSld>
</p:sld>
</file>

<file path=ppt/slides/slide26.xml><?xml version="1.0" encoding="utf-8"?>
<p:sld xmlns:p="http://schemas.openxmlformats.org/presentationml/2006/main">
  <p:cSld>
    <p:bg>
      <p:bgPr>
        <a:solidFill xmlns:a="http://schemas.openxmlformats.org/drawingml/2006/main">
          <a:srgbClr val="FCFCF8"/>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1DCC6E8C-A6FD-4BEF-AB20-BC1293728B66}"/>
              </a:ext>
            </a:extLst>
          </p:cNvPr>
          <p:cNvSpPr>
            <a:spLocks xmlns:a="http://schemas.openxmlformats.org/drawingml/2006/main" noGrp="1"/>
          </p:cNvSpPr>
          <p:nvPr/>
        </p:nvSpPr>
        <p:spPr>
          <a:xfrm xmlns:a="http://schemas.openxmlformats.org/drawingml/2006/main">
            <a:off x="590550" y="428625"/>
            <a:ext cx="100965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75" b="1">
                <a:solidFill>
                  <a:srgbClr val="14231E"/>
                </a:solidFill>
                <a:latin typeface="Arial Narrow"/>
                <a:ea typeface="Arial Narrow"/>
                <a:cs typeface="Arial Narrow"/>
              </a:defRPr>
            </a:defPPr>
            <a:lvl1pPr>
              <a:defRPr sz="3375" b="1">
                <a:solidFill>
                  <a:srgbClr val="14231E"/>
                </a:solidFill>
                <a:latin typeface="Arial Narrow"/>
                <a:ea typeface="Arial Narrow"/>
                <a:cs typeface="Arial Narrow"/>
              </a:defRPr>
            </a:lvl1pPr>
            <a:lvl2pPr>
              <a:defRPr sz="3375" b="1">
                <a:solidFill>
                  <a:srgbClr val="14231E"/>
                </a:solidFill>
                <a:latin typeface="Arial Narrow"/>
                <a:ea typeface="Arial Narrow"/>
                <a:cs typeface="Arial Narrow"/>
              </a:defRPr>
            </a:lvl2pPr>
            <a:lvl3pPr>
              <a:defRPr sz="3375" b="1">
                <a:solidFill>
                  <a:srgbClr val="14231E"/>
                </a:solidFill>
                <a:latin typeface="Arial Narrow"/>
                <a:ea typeface="Arial Narrow"/>
                <a:cs typeface="Arial Narrow"/>
              </a:defRPr>
            </a:lvl3pPr>
            <a:lvl4pPr>
              <a:defRPr sz="3375" b="1">
                <a:solidFill>
                  <a:srgbClr val="14231E"/>
                </a:solidFill>
                <a:latin typeface="Arial Narrow"/>
                <a:ea typeface="Arial Narrow"/>
                <a:cs typeface="Arial Narrow"/>
              </a:defRPr>
            </a:lvl4pPr>
            <a:lvl5pPr>
              <a:defRPr sz="3375" b="1">
                <a:solidFill>
                  <a:srgbClr val="14231E"/>
                </a:solidFill>
                <a:latin typeface="Arial Narrow"/>
                <a:ea typeface="Arial Narrow"/>
                <a:cs typeface="Arial Narrow"/>
              </a:defRPr>
            </a:lvl5pPr>
            <a:lvl6pPr>
              <a:defRPr sz="3375" b="1">
                <a:solidFill>
                  <a:srgbClr val="14231E"/>
                </a:solidFill>
                <a:latin typeface="Arial Narrow"/>
                <a:ea typeface="Arial Narrow"/>
                <a:cs typeface="Arial Narrow"/>
              </a:defRPr>
            </a:lvl6pPr>
            <a:lvl7pPr>
              <a:defRPr sz="3375" b="1">
                <a:solidFill>
                  <a:srgbClr val="14231E"/>
                </a:solidFill>
                <a:latin typeface="Arial Narrow"/>
                <a:ea typeface="Arial Narrow"/>
                <a:cs typeface="Arial Narrow"/>
              </a:defRPr>
            </a:lvl7pPr>
            <a:lvl8pPr>
              <a:defRPr sz="3375" b="1">
                <a:solidFill>
                  <a:srgbClr val="14231E"/>
                </a:solidFill>
                <a:latin typeface="Arial Narrow"/>
                <a:ea typeface="Arial Narrow"/>
                <a:cs typeface="Arial Narrow"/>
              </a:defRPr>
            </a:lvl8pPr>
            <a:lvl9pPr>
              <a:defRPr sz="3375" b="1">
                <a:solidFill>
                  <a:srgbClr val="14231E"/>
                </a:solidFill>
                <a:latin typeface="Arial Narrow"/>
                <a:ea typeface="Arial Narrow"/>
                <a:cs typeface="Arial Narrow"/>
              </a:defRPr>
            </a:lvl9pPr>
          </a:lstStyle>
          <a:p xmlns:a="http://schemas.openxmlformats.org/drawingml/2006/main">
            <a:pPr>
              <a:defRPr sz="3375" b="1">
                <a:solidFill>
                  <a:srgbClr val="14231E"/>
                </a:solidFill>
                <a:latin typeface="Arial Narrow"/>
                <a:ea typeface="Arial Narrow"/>
                <a:cs typeface="Arial Narrow"/>
              </a:defRPr>
            </a:pPr>
            <a:r>
              <a:rPr sz="3375" b="1">
                <a:solidFill>
                  <a:srgbClr val="14231E"/>
                </a:solidFill>
                <a:latin typeface="Arial Narrow"/>
                <a:ea typeface="Arial Narrow"/>
                <a:cs typeface="Arial Narrow"/>
              </a:rPr>
              <a:t>Qué debe llegar a la mesa de cada equipo</a:t>
            </a:r>
          </a:p>
        </p:txBody>
      </p:sp>
      <p:pic>
        <p:nvPicPr>
          <p:cNvPr id="2" name="">
            <a:extLst xmlns:a="http://schemas.openxmlformats.org/drawingml/2006/main">
              <a:ext uri="{FF2B5EF4-FFF2-40B4-BE49-F238E27FC236}">
                <a16:creationId xmlns:a16="http://schemas.microsoft.com/office/drawing/2014/main" id="{22E074CE-C732-41D0-AC92-25EA77B15682}"/>
              </a:ext>
            </a:extLst>
          </p:cNvPr>
          <p:cNvPicPr>
            <a:picLocks xmlns:a="http://schemas.openxmlformats.org/drawingml/2006/main" noChangeAspect="1"/>
          </p:cNvPicPr>
          <p:nvPr/>
        </p:nvPicPr>
        <p:blipFill>
          <a:blip xmlns:r="http://schemas.openxmlformats.org/officeDocument/2006/relationships" xmlns:a="http://schemas.openxmlformats.org/drawingml/2006/main" r:embed="Ra499712adfae4370"/>
          <a:stretch xmlns:a="http://schemas.openxmlformats.org/drawingml/2006/main"/>
        </p:blipFill>
        <p:spPr>
          <a:xfrm xmlns:a="http://schemas.openxmlformats.org/drawingml/2006/main">
            <a:off x="10858500" y="337942"/>
            <a:ext cx="762000" cy="276616"/>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6932938B-11A1-4902-BADD-2107A50D2A6A}"/>
              </a:ext>
            </a:extLst>
          </p:cNvPr>
          <p:cNvSpPr>
            <a:spLocks xmlns:a="http://schemas.openxmlformats.org/drawingml/2006/main" noGrp="1"/>
          </p:cNvSpPr>
          <p:nvPr/>
        </p:nvSpPr>
        <p:spPr>
          <a:xfrm xmlns:a="http://schemas.openxmlformats.org/drawingml/2006/main">
            <a:off x="590550" y="6467475"/>
            <a:ext cx="108108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58665F"/>
                </a:solidFill>
                <a:latin typeface="Consolas"/>
                <a:ea typeface="Consolas"/>
                <a:cs typeface="Consolas"/>
              </a:defRPr>
            </a:defPPr>
            <a:lvl1pPr>
              <a:defRPr sz="1125" b="0">
                <a:solidFill>
                  <a:srgbClr val="58665F"/>
                </a:solidFill>
                <a:latin typeface="Consolas"/>
                <a:ea typeface="Consolas"/>
                <a:cs typeface="Consolas"/>
              </a:defRPr>
            </a:lvl1pPr>
            <a:lvl2pPr>
              <a:defRPr sz="1125" b="0">
                <a:solidFill>
                  <a:srgbClr val="58665F"/>
                </a:solidFill>
                <a:latin typeface="Consolas"/>
                <a:ea typeface="Consolas"/>
                <a:cs typeface="Consolas"/>
              </a:defRPr>
            </a:lvl2pPr>
            <a:lvl3pPr>
              <a:defRPr sz="1125" b="0">
                <a:solidFill>
                  <a:srgbClr val="58665F"/>
                </a:solidFill>
                <a:latin typeface="Consolas"/>
                <a:ea typeface="Consolas"/>
                <a:cs typeface="Consolas"/>
              </a:defRPr>
            </a:lvl3pPr>
            <a:lvl4pPr>
              <a:defRPr sz="1125" b="0">
                <a:solidFill>
                  <a:srgbClr val="58665F"/>
                </a:solidFill>
                <a:latin typeface="Consolas"/>
                <a:ea typeface="Consolas"/>
                <a:cs typeface="Consolas"/>
              </a:defRPr>
            </a:lvl4pPr>
            <a:lvl5pPr>
              <a:defRPr sz="1125" b="0">
                <a:solidFill>
                  <a:srgbClr val="58665F"/>
                </a:solidFill>
                <a:latin typeface="Consolas"/>
                <a:ea typeface="Consolas"/>
                <a:cs typeface="Consolas"/>
              </a:defRPr>
            </a:lvl5pPr>
            <a:lvl6pPr>
              <a:defRPr sz="1125" b="0">
                <a:solidFill>
                  <a:srgbClr val="58665F"/>
                </a:solidFill>
                <a:latin typeface="Consolas"/>
                <a:ea typeface="Consolas"/>
                <a:cs typeface="Consolas"/>
              </a:defRPr>
            </a:lvl6pPr>
            <a:lvl7pPr>
              <a:defRPr sz="1125" b="0">
                <a:solidFill>
                  <a:srgbClr val="58665F"/>
                </a:solidFill>
                <a:latin typeface="Consolas"/>
                <a:ea typeface="Consolas"/>
                <a:cs typeface="Consolas"/>
              </a:defRPr>
            </a:lvl7pPr>
            <a:lvl8pPr>
              <a:defRPr sz="1125" b="0">
                <a:solidFill>
                  <a:srgbClr val="58665F"/>
                </a:solidFill>
                <a:latin typeface="Consolas"/>
                <a:ea typeface="Consolas"/>
                <a:cs typeface="Consolas"/>
              </a:defRPr>
            </a:lvl8pPr>
            <a:lvl9pPr>
              <a:defRPr sz="1125" b="0">
                <a:solidFill>
                  <a:srgbClr val="58665F"/>
                </a:solidFill>
                <a:latin typeface="Consolas"/>
                <a:ea typeface="Consolas"/>
                <a:cs typeface="Consolas"/>
              </a:defRPr>
            </a:lvl9pPr>
          </a:lstStyle>
          <a:p xmlns:a="http://schemas.openxmlformats.org/drawingml/2006/main">
            <a:pPr>
              <a:defRPr sz="1125" b="0">
                <a:solidFill>
                  <a:srgbClr val="58665F"/>
                </a:solidFill>
                <a:latin typeface="Consolas"/>
                <a:ea typeface="Consolas"/>
                <a:cs typeface="Consolas"/>
              </a:defRPr>
            </a:pPr>
            <a:r>
              <a:rPr sz="1125" b="0">
                <a:solidFill>
                  <a:srgbClr val="58665F"/>
                </a:solidFill>
                <a:latin typeface="Consolas"/>
                <a:ea typeface="Consolas"/>
                <a:cs typeface="Consolas"/>
              </a:rPr>
              <a:t>MECRO   SEMANA 3   CLASE 06   02/24</a:t>
            </a:r>
          </a:p>
        </p:txBody>
      </p:sp>
      <p:sp>
        <p:nvSpPr>
          <p:cNvPr id="4" name="">
            <a:extLst xmlns:a="http://schemas.openxmlformats.org/drawingml/2006/main">
              <a:ext uri="{FF2B5EF4-FFF2-40B4-BE49-F238E27FC236}">
                <a16:creationId xmlns:a16="http://schemas.microsoft.com/office/drawing/2014/main" id="{91FFB172-7FA8-4CEA-97F5-56530C6A5295}"/>
              </a:ext>
            </a:extLst>
          </p:cNvPr>
          <p:cNvSpPr>
            <a:spLocks xmlns:a="http://schemas.openxmlformats.org/drawingml/2006/main" noGrp="1"/>
          </p:cNvSpPr>
          <p:nvPr/>
        </p:nvSpPr>
        <p:spPr>
          <a:xfrm xmlns:a="http://schemas.openxmlformats.org/drawingml/2006/main">
            <a:off x="590550" y="1743075"/>
            <a:ext cx="10810875" cy="425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325" b="0">
                <a:solidFill>
                  <a:srgbClr val="14231E"/>
                </a:solidFill>
                <a:latin typeface="Arial"/>
                <a:ea typeface="Arial"/>
                <a:cs typeface="Arial"/>
              </a:defRPr>
            </a:defPPr>
            <a:lvl1pPr>
              <a:defRPr sz="2325" b="0">
                <a:solidFill>
                  <a:srgbClr val="14231E"/>
                </a:solidFill>
                <a:latin typeface="Arial"/>
                <a:ea typeface="Arial"/>
                <a:cs typeface="Arial"/>
              </a:defRPr>
            </a:lvl1pPr>
            <a:lvl2pPr>
              <a:defRPr sz="2325" b="0">
                <a:solidFill>
                  <a:srgbClr val="14231E"/>
                </a:solidFill>
                <a:latin typeface="Arial"/>
                <a:ea typeface="Arial"/>
                <a:cs typeface="Arial"/>
              </a:defRPr>
            </a:lvl2pPr>
            <a:lvl3pPr>
              <a:defRPr sz="2325" b="0">
                <a:solidFill>
                  <a:srgbClr val="14231E"/>
                </a:solidFill>
                <a:latin typeface="Arial"/>
                <a:ea typeface="Arial"/>
                <a:cs typeface="Arial"/>
              </a:defRPr>
            </a:lvl3pPr>
            <a:lvl4pPr>
              <a:defRPr sz="2325" b="0">
                <a:solidFill>
                  <a:srgbClr val="14231E"/>
                </a:solidFill>
                <a:latin typeface="Arial"/>
                <a:ea typeface="Arial"/>
                <a:cs typeface="Arial"/>
              </a:defRPr>
            </a:lvl4pPr>
            <a:lvl5pPr>
              <a:defRPr sz="2325" b="0">
                <a:solidFill>
                  <a:srgbClr val="14231E"/>
                </a:solidFill>
                <a:latin typeface="Arial"/>
                <a:ea typeface="Arial"/>
                <a:cs typeface="Arial"/>
              </a:defRPr>
            </a:lvl5pPr>
            <a:lvl6pPr>
              <a:defRPr sz="2325" b="0">
                <a:solidFill>
                  <a:srgbClr val="14231E"/>
                </a:solidFill>
                <a:latin typeface="Arial"/>
                <a:ea typeface="Arial"/>
                <a:cs typeface="Arial"/>
              </a:defRPr>
            </a:lvl6pPr>
            <a:lvl7pPr>
              <a:defRPr sz="2325" b="0">
                <a:solidFill>
                  <a:srgbClr val="14231E"/>
                </a:solidFill>
                <a:latin typeface="Arial"/>
                <a:ea typeface="Arial"/>
                <a:cs typeface="Arial"/>
              </a:defRPr>
            </a:lvl7pPr>
            <a:lvl8pPr>
              <a:defRPr sz="2325" b="0">
                <a:solidFill>
                  <a:srgbClr val="14231E"/>
                </a:solidFill>
                <a:latin typeface="Arial"/>
                <a:ea typeface="Arial"/>
                <a:cs typeface="Arial"/>
              </a:defRPr>
            </a:lvl8pPr>
            <a:lvl9pPr>
              <a:defRPr sz="2325" b="0">
                <a:solidFill>
                  <a:srgbClr val="14231E"/>
                </a:solidFill>
                <a:latin typeface="Arial"/>
                <a:ea typeface="Arial"/>
                <a:cs typeface="Arial"/>
              </a:defRPr>
            </a:lvl9pPr>
          </a:lstStyle>
          <a:p xmlns:a="http://schemas.openxmlformats.org/drawingml/2006/main">
            <a:pPr>
              <a:defRPr sz="2325" b="0">
                <a:solidFill>
                  <a:srgbClr val="14231E"/>
                </a:solidFill>
                <a:latin typeface="Arial"/>
                <a:ea typeface="Arial"/>
                <a:cs typeface="Arial"/>
              </a:defRPr>
            </a:pPr>
            <a:r>
              <a:rPr sz="2325" b="0">
                <a:solidFill>
                  <a:srgbClr val="14231E"/>
                </a:solidFill>
                <a:latin typeface="Arial"/>
                <a:ea typeface="Arial"/>
                <a:cs typeface="Arial"/>
              </a:rPr>
              <a:t>Este es el primer encuentro presencial de cuatro horas. El trabajo comienza con tubos identificados, narices o muestras de encaje, aletas, un útil y los archivos correspondientes. Todavía no se trata de cerrar el cohete. Se trata de descubrir diferencias entre lo dibujado y lo fabricado cuando aún se pueden corregir.</a:t>
            </a:r>
          </a:p>
        </p:txBody>
      </p:sp>
    </p:spTree>
    <p:extLst>
      <p:ext uri="{BB962C8B-B14F-4D97-AF65-F5344CB8AC3E}">
        <p14:creationId xmlns:p14="http://schemas.microsoft.com/office/powerpoint/2010/main" val="1425454366"/>
      </p:ext>
    </p:extLst>
  </p:cSld>
</p:sld>
</file>

<file path=ppt/slides/slide27.xml><?xml version="1.0" encoding="utf-8"?>
<p:sld xmlns:p="http://schemas.openxmlformats.org/presentationml/2006/main">
  <p:cSld>
    <p:bg>
      <p:bgPr>
        <a:solidFill xmlns:a="http://schemas.openxmlformats.org/drawingml/2006/main">
          <a:srgbClr val="FCFCF8"/>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3F9BCCE3-0894-4A8F-8643-3489D7C6C88D}"/>
              </a:ext>
            </a:extLst>
          </p:cNvPr>
          <p:cNvSpPr>
            <a:spLocks xmlns:a="http://schemas.openxmlformats.org/drawingml/2006/main" noGrp="1"/>
          </p:cNvSpPr>
          <p:nvPr/>
        </p:nvSpPr>
        <p:spPr>
          <a:xfrm xmlns:a="http://schemas.openxmlformats.org/drawingml/2006/main">
            <a:off x="590550" y="428625"/>
            <a:ext cx="100965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75" b="1">
                <a:solidFill>
                  <a:srgbClr val="14231E"/>
                </a:solidFill>
                <a:latin typeface="Arial Narrow"/>
                <a:ea typeface="Arial Narrow"/>
                <a:cs typeface="Arial Narrow"/>
              </a:defRPr>
            </a:defPPr>
            <a:lvl1pPr>
              <a:defRPr sz="3375" b="1">
                <a:solidFill>
                  <a:srgbClr val="14231E"/>
                </a:solidFill>
                <a:latin typeface="Arial Narrow"/>
                <a:ea typeface="Arial Narrow"/>
                <a:cs typeface="Arial Narrow"/>
              </a:defRPr>
            </a:lvl1pPr>
            <a:lvl2pPr>
              <a:defRPr sz="3375" b="1">
                <a:solidFill>
                  <a:srgbClr val="14231E"/>
                </a:solidFill>
                <a:latin typeface="Arial Narrow"/>
                <a:ea typeface="Arial Narrow"/>
                <a:cs typeface="Arial Narrow"/>
              </a:defRPr>
            </a:lvl2pPr>
            <a:lvl3pPr>
              <a:defRPr sz="3375" b="1">
                <a:solidFill>
                  <a:srgbClr val="14231E"/>
                </a:solidFill>
                <a:latin typeface="Arial Narrow"/>
                <a:ea typeface="Arial Narrow"/>
                <a:cs typeface="Arial Narrow"/>
              </a:defRPr>
            </a:lvl3pPr>
            <a:lvl4pPr>
              <a:defRPr sz="3375" b="1">
                <a:solidFill>
                  <a:srgbClr val="14231E"/>
                </a:solidFill>
                <a:latin typeface="Arial Narrow"/>
                <a:ea typeface="Arial Narrow"/>
                <a:cs typeface="Arial Narrow"/>
              </a:defRPr>
            </a:lvl4pPr>
            <a:lvl5pPr>
              <a:defRPr sz="3375" b="1">
                <a:solidFill>
                  <a:srgbClr val="14231E"/>
                </a:solidFill>
                <a:latin typeface="Arial Narrow"/>
                <a:ea typeface="Arial Narrow"/>
                <a:cs typeface="Arial Narrow"/>
              </a:defRPr>
            </a:lvl5pPr>
            <a:lvl6pPr>
              <a:defRPr sz="3375" b="1">
                <a:solidFill>
                  <a:srgbClr val="14231E"/>
                </a:solidFill>
                <a:latin typeface="Arial Narrow"/>
                <a:ea typeface="Arial Narrow"/>
                <a:cs typeface="Arial Narrow"/>
              </a:defRPr>
            </a:lvl6pPr>
            <a:lvl7pPr>
              <a:defRPr sz="3375" b="1">
                <a:solidFill>
                  <a:srgbClr val="14231E"/>
                </a:solidFill>
                <a:latin typeface="Arial Narrow"/>
                <a:ea typeface="Arial Narrow"/>
                <a:cs typeface="Arial Narrow"/>
              </a:defRPr>
            </a:lvl7pPr>
            <a:lvl8pPr>
              <a:defRPr sz="3375" b="1">
                <a:solidFill>
                  <a:srgbClr val="14231E"/>
                </a:solidFill>
                <a:latin typeface="Arial Narrow"/>
                <a:ea typeface="Arial Narrow"/>
                <a:cs typeface="Arial Narrow"/>
              </a:defRPr>
            </a:lvl8pPr>
            <a:lvl9pPr>
              <a:defRPr sz="3375" b="1">
                <a:solidFill>
                  <a:srgbClr val="14231E"/>
                </a:solidFill>
                <a:latin typeface="Arial Narrow"/>
                <a:ea typeface="Arial Narrow"/>
                <a:cs typeface="Arial Narrow"/>
              </a:defRPr>
            </a:lvl9pPr>
          </a:lstStyle>
          <a:p xmlns:a="http://schemas.openxmlformats.org/drawingml/2006/main">
            <a:pPr>
              <a:defRPr sz="3375" b="1">
                <a:solidFill>
                  <a:srgbClr val="14231E"/>
                </a:solidFill>
                <a:latin typeface="Arial Narrow"/>
                <a:ea typeface="Arial Narrow"/>
                <a:cs typeface="Arial Narrow"/>
              </a:defRPr>
            </a:pPr>
            <a:r>
              <a:rPr sz="3375" b="1">
                <a:solidFill>
                  <a:srgbClr val="14231E"/>
                </a:solidFill>
                <a:latin typeface="Arial Narrow"/>
                <a:ea typeface="Arial Narrow"/>
                <a:cs typeface="Arial Narrow"/>
              </a:rPr>
              <a:t>Material listo antes del taller</a:t>
            </a:r>
          </a:p>
        </p:txBody>
      </p:sp>
      <p:pic>
        <p:nvPicPr>
          <p:cNvPr id="2" name="">
            <a:extLst xmlns:a="http://schemas.openxmlformats.org/drawingml/2006/main">
              <a:ext uri="{FF2B5EF4-FFF2-40B4-BE49-F238E27FC236}">
                <a16:creationId xmlns:a16="http://schemas.microsoft.com/office/drawing/2014/main" id="{C1FA523E-91C8-407B-BF6A-767EBFA8AA48}"/>
              </a:ext>
            </a:extLst>
          </p:cNvPr>
          <p:cNvPicPr>
            <a:picLocks xmlns:a="http://schemas.openxmlformats.org/drawingml/2006/main" noChangeAspect="1"/>
          </p:cNvPicPr>
          <p:nvPr/>
        </p:nvPicPr>
        <p:blipFill>
          <a:blip xmlns:r="http://schemas.openxmlformats.org/officeDocument/2006/relationships" xmlns:a="http://schemas.openxmlformats.org/drawingml/2006/main" r:embed="R3d64298c764d410b"/>
          <a:stretch xmlns:a="http://schemas.openxmlformats.org/drawingml/2006/main"/>
        </p:blipFill>
        <p:spPr>
          <a:xfrm xmlns:a="http://schemas.openxmlformats.org/drawingml/2006/main">
            <a:off x="10858500" y="337942"/>
            <a:ext cx="762000" cy="276616"/>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F77E9CB7-831C-4894-B4CF-DD31F3FFE01A}"/>
              </a:ext>
            </a:extLst>
          </p:cNvPr>
          <p:cNvSpPr>
            <a:spLocks xmlns:a="http://schemas.openxmlformats.org/drawingml/2006/main" noGrp="1"/>
          </p:cNvSpPr>
          <p:nvPr/>
        </p:nvSpPr>
        <p:spPr>
          <a:xfrm xmlns:a="http://schemas.openxmlformats.org/drawingml/2006/main">
            <a:off x="590550" y="6467475"/>
            <a:ext cx="108108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58665F"/>
                </a:solidFill>
                <a:latin typeface="Consolas"/>
                <a:ea typeface="Consolas"/>
                <a:cs typeface="Consolas"/>
              </a:defRPr>
            </a:defPPr>
            <a:lvl1pPr>
              <a:defRPr sz="1125" b="0">
                <a:solidFill>
                  <a:srgbClr val="58665F"/>
                </a:solidFill>
                <a:latin typeface="Consolas"/>
                <a:ea typeface="Consolas"/>
                <a:cs typeface="Consolas"/>
              </a:defRPr>
            </a:lvl1pPr>
            <a:lvl2pPr>
              <a:defRPr sz="1125" b="0">
                <a:solidFill>
                  <a:srgbClr val="58665F"/>
                </a:solidFill>
                <a:latin typeface="Consolas"/>
                <a:ea typeface="Consolas"/>
                <a:cs typeface="Consolas"/>
              </a:defRPr>
            </a:lvl2pPr>
            <a:lvl3pPr>
              <a:defRPr sz="1125" b="0">
                <a:solidFill>
                  <a:srgbClr val="58665F"/>
                </a:solidFill>
                <a:latin typeface="Consolas"/>
                <a:ea typeface="Consolas"/>
                <a:cs typeface="Consolas"/>
              </a:defRPr>
            </a:lvl3pPr>
            <a:lvl4pPr>
              <a:defRPr sz="1125" b="0">
                <a:solidFill>
                  <a:srgbClr val="58665F"/>
                </a:solidFill>
                <a:latin typeface="Consolas"/>
                <a:ea typeface="Consolas"/>
                <a:cs typeface="Consolas"/>
              </a:defRPr>
            </a:lvl4pPr>
            <a:lvl5pPr>
              <a:defRPr sz="1125" b="0">
                <a:solidFill>
                  <a:srgbClr val="58665F"/>
                </a:solidFill>
                <a:latin typeface="Consolas"/>
                <a:ea typeface="Consolas"/>
                <a:cs typeface="Consolas"/>
              </a:defRPr>
            </a:lvl5pPr>
            <a:lvl6pPr>
              <a:defRPr sz="1125" b="0">
                <a:solidFill>
                  <a:srgbClr val="58665F"/>
                </a:solidFill>
                <a:latin typeface="Consolas"/>
                <a:ea typeface="Consolas"/>
                <a:cs typeface="Consolas"/>
              </a:defRPr>
            </a:lvl6pPr>
            <a:lvl7pPr>
              <a:defRPr sz="1125" b="0">
                <a:solidFill>
                  <a:srgbClr val="58665F"/>
                </a:solidFill>
                <a:latin typeface="Consolas"/>
                <a:ea typeface="Consolas"/>
                <a:cs typeface="Consolas"/>
              </a:defRPr>
            </a:lvl7pPr>
            <a:lvl8pPr>
              <a:defRPr sz="1125" b="0">
                <a:solidFill>
                  <a:srgbClr val="58665F"/>
                </a:solidFill>
                <a:latin typeface="Consolas"/>
                <a:ea typeface="Consolas"/>
                <a:cs typeface="Consolas"/>
              </a:defRPr>
            </a:lvl8pPr>
            <a:lvl9pPr>
              <a:defRPr sz="1125" b="0">
                <a:solidFill>
                  <a:srgbClr val="58665F"/>
                </a:solidFill>
                <a:latin typeface="Consolas"/>
                <a:ea typeface="Consolas"/>
                <a:cs typeface="Consolas"/>
              </a:defRPr>
            </a:lvl9pPr>
          </a:lstStyle>
          <a:p xmlns:a="http://schemas.openxmlformats.org/drawingml/2006/main">
            <a:pPr>
              <a:defRPr sz="1125" b="0">
                <a:solidFill>
                  <a:srgbClr val="58665F"/>
                </a:solidFill>
                <a:latin typeface="Consolas"/>
                <a:ea typeface="Consolas"/>
                <a:cs typeface="Consolas"/>
              </a:defRPr>
            </a:pPr>
            <a:r>
              <a:rPr sz="1125" b="0">
                <a:solidFill>
                  <a:srgbClr val="58665F"/>
                </a:solidFill>
                <a:latin typeface="Consolas"/>
                <a:ea typeface="Consolas"/>
                <a:cs typeface="Consolas"/>
              </a:rPr>
              <a:t>MECRO   SEMANA 3   CLASE 06   03/24</a:t>
            </a:r>
          </a:p>
        </p:txBody>
      </p:sp>
      <p:graphicFrame>
        <p:nvGraphicFramePr>
          <p:cNvPr id="4" name="">
            <a:extLst xmlns:a="http://schemas.openxmlformats.org/drawingml/2006/main">
              <a:ext uri="{FF2B5EF4-FFF2-40B4-BE49-F238E27FC236}">
                <a16:creationId xmlns:a16="http://schemas.microsoft.com/office/drawing/2014/main" id="{D6154DDC-1E91-4E9B-A173-0B9B3DB880C5}"/>
              </a:ext>
            </a:extLst>
          </p:cNvPr>
          <p:cNvGraphicFramePr/>
          <p:nvPr/>
        </p:nvGraphicFramePr>
        <p:xfrm>
          <a:off xmlns:a="http://schemas.openxmlformats.org/drawingml/2006/main" x="590550" y="1752600"/>
          <a:ext xmlns:a="http://schemas.openxmlformats.org/drawingml/2006/main" cx="11010900" cy="3952875"/>
        </p:xfrm>
        <a:graphic xmlns:a="http://schemas.openxmlformats.org/drawingml/2006/main">
          <a:graphicData uri="http://schemas.openxmlformats.org/drawingml/2006/table">
            <a:tbl>
              <a:tblPr/>
              <a:tblGrid>
                <a:gridCol w="5505450"/>
                <a:gridCol w="5505450"/>
              </a:tblGrid>
              <a:tr h="658813">
                <a:tc>
                  <a:txBody>
                    <a:bodyPr/>
                    <a:lstStyle/>
                    <a:p>
                      <a:r>
                        <a:rPr sz="2025" b="1">
                          <a:solidFill>
                            <a:srgbClr val="FFFFFF"/>
                          </a:solidFill>
                          <a:latin typeface="Arial"/>
                          <a:ea typeface="Arial"/>
                          <a:cs typeface="Arial"/>
                        </a:rPr>
                        <a:t>Objeto</a:t>
                      </a:r>
                    </a:p>
                  </a:txBody>
                  <a:tcPr marL="91440" marR="91440" marT="45720" marB="45720">
                    <a:lnL w="9525">
                      <a:solidFill>
                        <a:srgbClr val="BFCEC3"/>
                      </a:solidFill>
                      <a:prstDash val="solid"/>
                    </a:lnL>
                    <a:lnR w="9525">
                      <a:solidFill>
                        <a:srgbClr val="BFCEC3"/>
                      </a:solidFill>
                      <a:prstDash val="solid"/>
                    </a:lnR>
                    <a:lnT w="9525">
                      <a:solidFill>
                        <a:srgbClr val="BFCEC3"/>
                      </a:solidFill>
                      <a:prstDash val="solid"/>
                    </a:lnT>
                    <a:lnB w="9525">
                      <a:solidFill>
                        <a:srgbClr val="BFCEC3"/>
                      </a:solidFill>
                      <a:prstDash val="solid"/>
                    </a:lnB>
                    <a:solidFill>
                      <a:srgbClr val="244F3D"/>
                    </a:solidFill>
                  </a:tcPr>
                </a:tc>
                <a:tc>
                  <a:txBody>
                    <a:bodyPr/>
                    <a:lstStyle/>
                    <a:p>
                      <a:r>
                        <a:rPr sz="2025" b="1">
                          <a:solidFill>
                            <a:srgbClr val="FFFFFF"/>
                          </a:solidFill>
                          <a:latin typeface="Arial"/>
                          <a:ea typeface="Arial"/>
                          <a:cs typeface="Arial"/>
                        </a:rPr>
                        <a:t>Estado esperado</a:t>
                      </a:r>
                    </a:p>
                  </a:txBody>
                  <a:tcPr marL="91440" marR="91440" marT="45720" marB="45720">
                    <a:lnR w="9525">
                      <a:solidFill>
                        <a:srgbClr val="BFCEC3"/>
                      </a:solidFill>
                      <a:prstDash val="solid"/>
                    </a:lnR>
                    <a:lnT w="9525">
                      <a:solidFill>
                        <a:srgbClr val="BFCEC3"/>
                      </a:solidFill>
                      <a:prstDash val="solid"/>
                    </a:lnT>
                    <a:lnB w="9525">
                      <a:solidFill>
                        <a:srgbClr val="BFCEC3"/>
                      </a:solidFill>
                      <a:prstDash val="solid"/>
                    </a:lnB>
                    <a:solidFill>
                      <a:srgbClr val="244F3D"/>
                    </a:solidFill>
                  </a:tcPr>
                </a:tc>
              </a:tr>
              <a:tr h="658813">
                <a:tc>
                  <a:txBody>
                    <a:bodyPr/>
                    <a:lstStyle/>
                    <a:p>
                      <a:r>
                        <a:rPr sz="2025" b="0">
                          <a:solidFill>
                            <a:srgbClr val="14231E"/>
                          </a:solidFill>
                          <a:latin typeface="Arial"/>
                          <a:ea typeface="Arial"/>
                          <a:cs typeface="Arial"/>
                        </a:rPr>
                        <a:t>Tubo</a:t>
                      </a:r>
                    </a:p>
                  </a:txBody>
                  <a:tcPr marL="91440" marR="91440" marT="45720" marB="45720">
                    <a:lnL w="9525">
                      <a:solidFill>
                        <a:srgbClr val="BFCEC3"/>
                      </a:solidFill>
                      <a:prstDash val="solid"/>
                    </a:lnL>
                    <a:lnR w="9525">
                      <a:solidFill>
                        <a:srgbClr val="BFCEC3"/>
                      </a:solidFill>
                      <a:prstDash val="solid"/>
                    </a:lnR>
                    <a:lnB w="9525">
                      <a:solidFill>
                        <a:srgbClr val="BFCEC3"/>
                      </a:solidFill>
                      <a:prstDash val="solid"/>
                    </a:lnB>
                    <a:solidFill>
                      <a:srgbClr val="EAF3EC"/>
                    </a:solidFill>
                  </a:tcPr>
                </a:tc>
                <a:tc>
                  <a:txBody>
                    <a:bodyPr/>
                    <a:lstStyle/>
                    <a:p>
                      <a:r>
                        <a:rPr sz="2025" b="0">
                          <a:solidFill>
                            <a:srgbClr val="14231E"/>
                          </a:solidFill>
                          <a:latin typeface="Arial"/>
                          <a:ea typeface="Arial"/>
                          <a:cs typeface="Arial"/>
                        </a:rPr>
                        <a:t>Identificado, sin deformación evidente</a:t>
                      </a:r>
                    </a:p>
                  </a:txBody>
                  <a:tcPr marL="91440" marR="91440" marT="45720" marB="45720">
                    <a:lnR w="9525">
                      <a:solidFill>
                        <a:srgbClr val="BFCEC3"/>
                      </a:solidFill>
                      <a:prstDash val="solid"/>
                    </a:lnR>
                    <a:lnB w="9525">
                      <a:solidFill>
                        <a:srgbClr val="BFCEC3"/>
                      </a:solidFill>
                      <a:prstDash val="solid"/>
                    </a:lnB>
                    <a:solidFill>
                      <a:srgbClr val="EAF3EC"/>
                    </a:solidFill>
                  </a:tcPr>
                </a:tc>
              </a:tr>
              <a:tr h="658813">
                <a:tc>
                  <a:txBody>
                    <a:bodyPr/>
                    <a:lstStyle/>
                    <a:p>
                      <a:r>
                        <a:rPr sz="2025" b="0">
                          <a:solidFill>
                            <a:srgbClr val="14231E"/>
                          </a:solidFill>
                          <a:latin typeface="Arial"/>
                          <a:ea typeface="Arial"/>
                          <a:cs typeface="Arial"/>
                        </a:rPr>
                        <a:t>Muestras de encaje</a:t>
                      </a:r>
                    </a:p>
                  </a:txBody>
                  <a:tcPr marL="91440" marR="91440" marT="45720" marB="45720">
                    <a:lnL w="9525">
                      <a:solidFill>
                        <a:srgbClr val="BFCEC3"/>
                      </a:solidFill>
                      <a:prstDash val="solid"/>
                    </a:lnL>
                    <a:lnR w="9525">
                      <a:solidFill>
                        <a:srgbClr val="BFCEC3"/>
                      </a:solidFill>
                      <a:prstDash val="solid"/>
                    </a:lnR>
                    <a:lnB w="9525">
                      <a:solidFill>
                        <a:srgbClr val="BFCEC3"/>
                      </a:solidFill>
                      <a:prstDash val="solid"/>
                    </a:lnB>
                    <a:solidFill>
                      <a:srgbClr val="FCFCF8"/>
                    </a:solidFill>
                  </a:tcPr>
                </a:tc>
                <a:tc>
                  <a:txBody>
                    <a:bodyPr/>
                    <a:lstStyle/>
                    <a:p>
                      <a:r>
                        <a:rPr sz="2025" b="0">
                          <a:solidFill>
                            <a:srgbClr val="14231E"/>
                          </a:solidFill>
                          <a:latin typeface="Arial"/>
                          <a:ea typeface="Arial"/>
                          <a:cs typeface="Arial"/>
                        </a:rPr>
                        <a:t>Etiquetadas con su revisión</a:t>
                      </a:r>
                    </a:p>
                  </a:txBody>
                  <a:tcPr marL="91440" marR="91440" marT="45720" marB="45720">
                    <a:lnR w="9525">
                      <a:solidFill>
                        <a:srgbClr val="BFCEC3"/>
                      </a:solidFill>
                      <a:prstDash val="solid"/>
                    </a:lnR>
                    <a:lnB w="9525">
                      <a:solidFill>
                        <a:srgbClr val="BFCEC3"/>
                      </a:solidFill>
                      <a:prstDash val="solid"/>
                    </a:lnB>
                    <a:solidFill>
                      <a:srgbClr val="FCFCF8"/>
                    </a:solidFill>
                  </a:tcPr>
                </a:tc>
              </a:tr>
              <a:tr h="658813">
                <a:tc>
                  <a:txBody>
                    <a:bodyPr/>
                    <a:lstStyle/>
                    <a:p>
                      <a:r>
                        <a:rPr sz="2025" b="0">
                          <a:solidFill>
                            <a:srgbClr val="14231E"/>
                          </a:solidFill>
                          <a:latin typeface="Arial"/>
                          <a:ea typeface="Arial"/>
                          <a:cs typeface="Arial"/>
                        </a:rPr>
                        <a:t>Aletas o plantillas</a:t>
                      </a:r>
                    </a:p>
                  </a:txBody>
                  <a:tcPr marL="91440" marR="91440" marT="45720" marB="45720">
                    <a:lnL w="9525">
                      <a:solidFill>
                        <a:srgbClr val="BFCEC3"/>
                      </a:solidFill>
                      <a:prstDash val="solid"/>
                    </a:lnL>
                    <a:lnR w="9525">
                      <a:solidFill>
                        <a:srgbClr val="BFCEC3"/>
                      </a:solidFill>
                      <a:prstDash val="solid"/>
                    </a:lnR>
                    <a:lnB w="9525">
                      <a:solidFill>
                        <a:srgbClr val="BFCEC3"/>
                      </a:solidFill>
                      <a:prstDash val="solid"/>
                    </a:lnB>
                    <a:solidFill>
                      <a:srgbClr val="EAF3EC"/>
                    </a:solidFill>
                  </a:tcPr>
                </a:tc>
                <a:tc>
                  <a:txBody>
                    <a:bodyPr/>
                    <a:lstStyle/>
                    <a:p>
                      <a:r>
                        <a:rPr sz="2025" b="0">
                          <a:solidFill>
                            <a:srgbClr val="14231E"/>
                          </a:solidFill>
                          <a:latin typeface="Arial"/>
                          <a:ea typeface="Arial"/>
                          <a:cs typeface="Arial"/>
                        </a:rPr>
                        <a:t>Contorno y medidas declarados</a:t>
                      </a:r>
                    </a:p>
                  </a:txBody>
                  <a:tcPr marL="91440" marR="91440" marT="45720" marB="45720">
                    <a:lnR w="9525">
                      <a:solidFill>
                        <a:srgbClr val="BFCEC3"/>
                      </a:solidFill>
                      <a:prstDash val="solid"/>
                    </a:lnR>
                    <a:lnB w="9525">
                      <a:solidFill>
                        <a:srgbClr val="BFCEC3"/>
                      </a:solidFill>
                      <a:prstDash val="solid"/>
                    </a:lnB>
                    <a:solidFill>
                      <a:srgbClr val="EAF3EC"/>
                    </a:solidFill>
                  </a:tcPr>
                </a:tc>
              </a:tr>
              <a:tr h="658813">
                <a:tc>
                  <a:txBody>
                    <a:bodyPr/>
                    <a:lstStyle/>
                    <a:p>
                      <a:r>
                        <a:rPr sz="2025" b="0">
                          <a:solidFill>
                            <a:srgbClr val="14231E"/>
                          </a:solidFill>
                          <a:latin typeface="Arial"/>
                          <a:ea typeface="Arial"/>
                          <a:cs typeface="Arial"/>
                        </a:rPr>
                        <a:t>Útil</a:t>
                      </a:r>
                    </a:p>
                  </a:txBody>
                  <a:tcPr marL="91440" marR="91440" marT="45720" marB="45720">
                    <a:lnL w="9525">
                      <a:solidFill>
                        <a:srgbClr val="BFCEC3"/>
                      </a:solidFill>
                      <a:prstDash val="solid"/>
                    </a:lnL>
                    <a:lnR w="9525">
                      <a:solidFill>
                        <a:srgbClr val="BFCEC3"/>
                      </a:solidFill>
                      <a:prstDash val="solid"/>
                    </a:lnR>
                    <a:lnB w="9525">
                      <a:solidFill>
                        <a:srgbClr val="BFCEC3"/>
                      </a:solidFill>
                      <a:prstDash val="solid"/>
                    </a:lnB>
                    <a:solidFill>
                      <a:srgbClr val="FCFCF8"/>
                    </a:solidFill>
                  </a:tcPr>
                </a:tc>
                <a:tc>
                  <a:txBody>
                    <a:bodyPr/>
                    <a:lstStyle/>
                    <a:p>
                      <a:r>
                        <a:rPr sz="2025" b="0">
                          <a:solidFill>
                            <a:srgbClr val="14231E"/>
                          </a:solidFill>
                          <a:latin typeface="Arial"/>
                          <a:ea typeface="Arial"/>
                          <a:cs typeface="Arial"/>
                        </a:rPr>
                        <a:t>Compatible con el tubo previsto</a:t>
                      </a:r>
                    </a:p>
                  </a:txBody>
                  <a:tcPr marL="91440" marR="91440" marT="45720" marB="45720">
                    <a:lnR w="9525">
                      <a:solidFill>
                        <a:srgbClr val="BFCEC3"/>
                      </a:solidFill>
                      <a:prstDash val="solid"/>
                    </a:lnR>
                    <a:lnB w="9525">
                      <a:solidFill>
                        <a:srgbClr val="BFCEC3"/>
                      </a:solidFill>
                      <a:prstDash val="solid"/>
                    </a:lnB>
                    <a:solidFill>
                      <a:srgbClr val="FCFCF8"/>
                    </a:solidFill>
                  </a:tcPr>
                </a:tc>
              </a:tr>
              <a:tr h="658813">
                <a:tc>
                  <a:txBody>
                    <a:bodyPr/>
                    <a:lstStyle/>
                    <a:p>
                      <a:r>
                        <a:rPr sz="2025" b="0">
                          <a:solidFill>
                            <a:srgbClr val="14231E"/>
                          </a:solidFill>
                          <a:latin typeface="Arial"/>
                          <a:ea typeface="Arial"/>
                          <a:cs typeface="Arial"/>
                        </a:rPr>
                        <a:t>Archivos</a:t>
                      </a:r>
                    </a:p>
                  </a:txBody>
                  <a:tcPr marL="91440" marR="91440" marT="45720" marB="45720">
                    <a:lnL w="9525">
                      <a:solidFill>
                        <a:srgbClr val="BFCEC3"/>
                      </a:solidFill>
                      <a:prstDash val="solid"/>
                    </a:lnL>
                    <a:lnR w="9525">
                      <a:solidFill>
                        <a:srgbClr val="BFCEC3"/>
                      </a:solidFill>
                      <a:prstDash val="solid"/>
                    </a:lnR>
                    <a:lnB w="9525">
                      <a:solidFill>
                        <a:srgbClr val="BFCEC3"/>
                      </a:solidFill>
                      <a:prstDash val="solid"/>
                    </a:lnB>
                    <a:solidFill>
                      <a:srgbClr val="EAF3EC"/>
                    </a:solidFill>
                  </a:tcPr>
                </a:tc>
                <a:tc>
                  <a:txBody>
                    <a:bodyPr/>
                    <a:lstStyle/>
                    <a:p>
                      <a:r>
                        <a:rPr sz="2025" b="0">
                          <a:solidFill>
                            <a:srgbClr val="14231E"/>
                          </a:solidFill>
                          <a:latin typeface="Arial"/>
                          <a:ea typeface="Arial"/>
                          <a:cs typeface="Arial"/>
                        </a:rPr>
                        <a:t>CAD, laminador y .ork disponibles</a:t>
                      </a:r>
                    </a:p>
                  </a:txBody>
                  <a:tcPr marL="91440" marR="91440" marT="45720" marB="45720">
                    <a:lnR w="9525">
                      <a:solidFill>
                        <a:srgbClr val="BFCEC3"/>
                      </a:solidFill>
                      <a:prstDash val="solid"/>
                    </a:lnR>
                    <a:lnB w="9525">
                      <a:solidFill>
                        <a:srgbClr val="BFCEC3"/>
                      </a:solidFill>
                      <a:prstDash val="solid"/>
                    </a:lnB>
                    <a:solidFill>
                      <a:srgbClr val="EAF3EC"/>
                    </a:solidFill>
                  </a:tcPr>
                </a:tc>
              </a:tr>
            </a:tbl>
          </a:graphicData>
        </a:graphic>
      </p:graphicFrame>
    </p:spTree>
    <p:extLst>
      <p:ext uri="{BB962C8B-B14F-4D97-AF65-F5344CB8AC3E}">
        <p14:creationId xmlns:p14="http://schemas.microsoft.com/office/powerpoint/2010/main" val="1741038800"/>
      </p:ext>
    </p:extLst>
  </p:cSld>
</p:sld>
</file>

<file path=ppt/slides/slide28.xml><?xml version="1.0" encoding="utf-8"?>
<p:sld xmlns:p="http://schemas.openxmlformats.org/presentationml/2006/main">
  <p:cSld>
    <p:bg>
      <p:bgPr>
        <a:solidFill xmlns:a="http://schemas.openxmlformats.org/drawingml/2006/main">
          <a:srgbClr val="FCFCF8"/>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2E5677C3-66C6-47BE-B245-A0181F9AE325}"/>
              </a:ext>
            </a:extLst>
          </p:cNvPr>
          <p:cNvSpPr>
            <a:spLocks xmlns:a="http://schemas.openxmlformats.org/drawingml/2006/main" noGrp="1"/>
          </p:cNvSpPr>
          <p:nvPr/>
        </p:nvSpPr>
        <p:spPr>
          <a:xfrm xmlns:a="http://schemas.openxmlformats.org/drawingml/2006/main">
            <a:off x="590550" y="428625"/>
            <a:ext cx="100965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75" b="1">
                <a:solidFill>
                  <a:srgbClr val="14231E"/>
                </a:solidFill>
                <a:latin typeface="Arial Narrow"/>
                <a:ea typeface="Arial Narrow"/>
                <a:cs typeface="Arial Narrow"/>
              </a:defRPr>
            </a:defPPr>
            <a:lvl1pPr>
              <a:defRPr sz="3375" b="1">
                <a:solidFill>
                  <a:srgbClr val="14231E"/>
                </a:solidFill>
                <a:latin typeface="Arial Narrow"/>
                <a:ea typeface="Arial Narrow"/>
                <a:cs typeface="Arial Narrow"/>
              </a:defRPr>
            </a:lvl1pPr>
            <a:lvl2pPr>
              <a:defRPr sz="3375" b="1">
                <a:solidFill>
                  <a:srgbClr val="14231E"/>
                </a:solidFill>
                <a:latin typeface="Arial Narrow"/>
                <a:ea typeface="Arial Narrow"/>
                <a:cs typeface="Arial Narrow"/>
              </a:defRPr>
            </a:lvl2pPr>
            <a:lvl3pPr>
              <a:defRPr sz="3375" b="1">
                <a:solidFill>
                  <a:srgbClr val="14231E"/>
                </a:solidFill>
                <a:latin typeface="Arial Narrow"/>
                <a:ea typeface="Arial Narrow"/>
                <a:cs typeface="Arial Narrow"/>
              </a:defRPr>
            </a:lvl3pPr>
            <a:lvl4pPr>
              <a:defRPr sz="3375" b="1">
                <a:solidFill>
                  <a:srgbClr val="14231E"/>
                </a:solidFill>
                <a:latin typeface="Arial Narrow"/>
                <a:ea typeface="Arial Narrow"/>
                <a:cs typeface="Arial Narrow"/>
              </a:defRPr>
            </a:lvl4pPr>
            <a:lvl5pPr>
              <a:defRPr sz="3375" b="1">
                <a:solidFill>
                  <a:srgbClr val="14231E"/>
                </a:solidFill>
                <a:latin typeface="Arial Narrow"/>
                <a:ea typeface="Arial Narrow"/>
                <a:cs typeface="Arial Narrow"/>
              </a:defRPr>
            </a:lvl5pPr>
            <a:lvl6pPr>
              <a:defRPr sz="3375" b="1">
                <a:solidFill>
                  <a:srgbClr val="14231E"/>
                </a:solidFill>
                <a:latin typeface="Arial Narrow"/>
                <a:ea typeface="Arial Narrow"/>
                <a:cs typeface="Arial Narrow"/>
              </a:defRPr>
            </a:lvl6pPr>
            <a:lvl7pPr>
              <a:defRPr sz="3375" b="1">
                <a:solidFill>
                  <a:srgbClr val="14231E"/>
                </a:solidFill>
                <a:latin typeface="Arial Narrow"/>
                <a:ea typeface="Arial Narrow"/>
                <a:cs typeface="Arial Narrow"/>
              </a:defRPr>
            </a:lvl7pPr>
            <a:lvl8pPr>
              <a:defRPr sz="3375" b="1">
                <a:solidFill>
                  <a:srgbClr val="14231E"/>
                </a:solidFill>
                <a:latin typeface="Arial Narrow"/>
                <a:ea typeface="Arial Narrow"/>
                <a:cs typeface="Arial Narrow"/>
              </a:defRPr>
            </a:lvl8pPr>
            <a:lvl9pPr>
              <a:defRPr sz="3375" b="1">
                <a:solidFill>
                  <a:srgbClr val="14231E"/>
                </a:solidFill>
                <a:latin typeface="Arial Narrow"/>
                <a:ea typeface="Arial Narrow"/>
                <a:cs typeface="Arial Narrow"/>
              </a:defRPr>
            </a:lvl9pPr>
          </a:lstStyle>
          <a:p xmlns:a="http://schemas.openxmlformats.org/drawingml/2006/main">
            <a:pPr>
              <a:defRPr sz="3375" b="1">
                <a:solidFill>
                  <a:srgbClr val="14231E"/>
                </a:solidFill>
                <a:latin typeface="Arial Narrow"/>
                <a:ea typeface="Arial Narrow"/>
                <a:cs typeface="Arial Narrow"/>
              </a:defRPr>
            </a:pPr>
            <a:r>
              <a:rPr sz="3375" b="1">
                <a:solidFill>
                  <a:srgbClr val="14231E"/>
                </a:solidFill>
                <a:latin typeface="Arial Narrow"/>
                <a:ea typeface="Arial Narrow"/>
                <a:cs typeface="Arial Narrow"/>
              </a:rPr>
              <a:t>Qué debe llegar a la mesa de cada equipo</a:t>
            </a:r>
          </a:p>
        </p:txBody>
      </p:sp>
      <p:pic>
        <p:nvPicPr>
          <p:cNvPr id="2" name="">
            <a:extLst xmlns:a="http://schemas.openxmlformats.org/drawingml/2006/main">
              <a:ext uri="{FF2B5EF4-FFF2-40B4-BE49-F238E27FC236}">
                <a16:creationId xmlns:a16="http://schemas.microsoft.com/office/drawing/2014/main" id="{E3A26CC7-7073-41D0-B097-452CA946D2B5}"/>
              </a:ext>
            </a:extLst>
          </p:cNvPr>
          <p:cNvPicPr>
            <a:picLocks xmlns:a="http://schemas.openxmlformats.org/drawingml/2006/main" noChangeAspect="1"/>
          </p:cNvPicPr>
          <p:nvPr/>
        </p:nvPicPr>
        <p:blipFill>
          <a:blip xmlns:r="http://schemas.openxmlformats.org/officeDocument/2006/relationships" xmlns:a="http://schemas.openxmlformats.org/drawingml/2006/main" r:embed="Rbf68360970e9483a"/>
          <a:stretch xmlns:a="http://schemas.openxmlformats.org/drawingml/2006/main"/>
        </p:blipFill>
        <p:spPr>
          <a:xfrm xmlns:a="http://schemas.openxmlformats.org/drawingml/2006/main">
            <a:off x="10858500" y="337942"/>
            <a:ext cx="762000" cy="276616"/>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034E25EC-3F11-4CE0-A7AE-4AD38CDE3DCB}"/>
              </a:ext>
            </a:extLst>
          </p:cNvPr>
          <p:cNvSpPr>
            <a:spLocks xmlns:a="http://schemas.openxmlformats.org/drawingml/2006/main" noGrp="1"/>
          </p:cNvSpPr>
          <p:nvPr/>
        </p:nvSpPr>
        <p:spPr>
          <a:xfrm xmlns:a="http://schemas.openxmlformats.org/drawingml/2006/main">
            <a:off x="590550" y="6467475"/>
            <a:ext cx="108108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58665F"/>
                </a:solidFill>
                <a:latin typeface="Consolas"/>
                <a:ea typeface="Consolas"/>
                <a:cs typeface="Consolas"/>
              </a:defRPr>
            </a:defPPr>
            <a:lvl1pPr>
              <a:defRPr sz="1125" b="0">
                <a:solidFill>
                  <a:srgbClr val="58665F"/>
                </a:solidFill>
                <a:latin typeface="Consolas"/>
                <a:ea typeface="Consolas"/>
                <a:cs typeface="Consolas"/>
              </a:defRPr>
            </a:lvl1pPr>
            <a:lvl2pPr>
              <a:defRPr sz="1125" b="0">
                <a:solidFill>
                  <a:srgbClr val="58665F"/>
                </a:solidFill>
                <a:latin typeface="Consolas"/>
                <a:ea typeface="Consolas"/>
                <a:cs typeface="Consolas"/>
              </a:defRPr>
            </a:lvl2pPr>
            <a:lvl3pPr>
              <a:defRPr sz="1125" b="0">
                <a:solidFill>
                  <a:srgbClr val="58665F"/>
                </a:solidFill>
                <a:latin typeface="Consolas"/>
                <a:ea typeface="Consolas"/>
                <a:cs typeface="Consolas"/>
              </a:defRPr>
            </a:lvl3pPr>
            <a:lvl4pPr>
              <a:defRPr sz="1125" b="0">
                <a:solidFill>
                  <a:srgbClr val="58665F"/>
                </a:solidFill>
                <a:latin typeface="Consolas"/>
                <a:ea typeface="Consolas"/>
                <a:cs typeface="Consolas"/>
              </a:defRPr>
            </a:lvl4pPr>
            <a:lvl5pPr>
              <a:defRPr sz="1125" b="0">
                <a:solidFill>
                  <a:srgbClr val="58665F"/>
                </a:solidFill>
                <a:latin typeface="Consolas"/>
                <a:ea typeface="Consolas"/>
                <a:cs typeface="Consolas"/>
              </a:defRPr>
            </a:lvl5pPr>
            <a:lvl6pPr>
              <a:defRPr sz="1125" b="0">
                <a:solidFill>
                  <a:srgbClr val="58665F"/>
                </a:solidFill>
                <a:latin typeface="Consolas"/>
                <a:ea typeface="Consolas"/>
                <a:cs typeface="Consolas"/>
              </a:defRPr>
            </a:lvl6pPr>
            <a:lvl7pPr>
              <a:defRPr sz="1125" b="0">
                <a:solidFill>
                  <a:srgbClr val="58665F"/>
                </a:solidFill>
                <a:latin typeface="Consolas"/>
                <a:ea typeface="Consolas"/>
                <a:cs typeface="Consolas"/>
              </a:defRPr>
            </a:lvl7pPr>
            <a:lvl8pPr>
              <a:defRPr sz="1125" b="0">
                <a:solidFill>
                  <a:srgbClr val="58665F"/>
                </a:solidFill>
                <a:latin typeface="Consolas"/>
                <a:ea typeface="Consolas"/>
                <a:cs typeface="Consolas"/>
              </a:defRPr>
            </a:lvl8pPr>
            <a:lvl9pPr>
              <a:defRPr sz="1125" b="0">
                <a:solidFill>
                  <a:srgbClr val="58665F"/>
                </a:solidFill>
                <a:latin typeface="Consolas"/>
                <a:ea typeface="Consolas"/>
                <a:cs typeface="Consolas"/>
              </a:defRPr>
            </a:lvl9pPr>
          </a:lstStyle>
          <a:p xmlns:a="http://schemas.openxmlformats.org/drawingml/2006/main">
            <a:pPr>
              <a:defRPr sz="1125" b="0">
                <a:solidFill>
                  <a:srgbClr val="58665F"/>
                </a:solidFill>
                <a:latin typeface="Consolas"/>
                <a:ea typeface="Consolas"/>
                <a:cs typeface="Consolas"/>
              </a:defRPr>
            </a:pPr>
            <a:r>
              <a:rPr sz="1125" b="0">
                <a:solidFill>
                  <a:srgbClr val="58665F"/>
                </a:solidFill>
                <a:latin typeface="Consolas"/>
                <a:ea typeface="Consolas"/>
                <a:cs typeface="Consolas"/>
              </a:rPr>
              <a:t>MECRO   SEMANA 3   CLASE 06   04/24</a:t>
            </a:r>
          </a:p>
        </p:txBody>
      </p:sp>
      <p:sp>
        <p:nvSpPr>
          <p:cNvPr id="4" name="">
            <a:extLst xmlns:a="http://schemas.openxmlformats.org/drawingml/2006/main">
              <a:ext uri="{FF2B5EF4-FFF2-40B4-BE49-F238E27FC236}">
                <a16:creationId xmlns:a16="http://schemas.microsoft.com/office/drawing/2014/main" id="{013F8198-6274-48FF-B538-5719729E95E8}"/>
              </a:ext>
            </a:extLst>
          </p:cNvPr>
          <p:cNvSpPr>
            <a:spLocks xmlns:a="http://schemas.openxmlformats.org/drawingml/2006/main" noGrp="1"/>
          </p:cNvSpPr>
          <p:nvPr/>
        </p:nvSpPr>
        <p:spPr>
          <a:xfrm xmlns:a="http://schemas.openxmlformats.org/drawingml/2006/main">
            <a:off x="590550" y="1743075"/>
            <a:ext cx="10810875" cy="425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325" b="0">
                <a:solidFill>
                  <a:srgbClr val="14231E"/>
                </a:solidFill>
                <a:latin typeface="Arial"/>
                <a:ea typeface="Arial"/>
                <a:cs typeface="Arial"/>
              </a:defRPr>
            </a:defPPr>
            <a:lvl1pPr>
              <a:defRPr sz="2325" b="0">
                <a:solidFill>
                  <a:srgbClr val="14231E"/>
                </a:solidFill>
                <a:latin typeface="Arial"/>
                <a:ea typeface="Arial"/>
                <a:cs typeface="Arial"/>
              </a:defRPr>
            </a:lvl1pPr>
            <a:lvl2pPr>
              <a:defRPr sz="2325" b="0">
                <a:solidFill>
                  <a:srgbClr val="14231E"/>
                </a:solidFill>
                <a:latin typeface="Arial"/>
                <a:ea typeface="Arial"/>
                <a:cs typeface="Arial"/>
              </a:defRPr>
            </a:lvl2pPr>
            <a:lvl3pPr>
              <a:defRPr sz="2325" b="0">
                <a:solidFill>
                  <a:srgbClr val="14231E"/>
                </a:solidFill>
                <a:latin typeface="Arial"/>
                <a:ea typeface="Arial"/>
                <a:cs typeface="Arial"/>
              </a:defRPr>
            </a:lvl3pPr>
            <a:lvl4pPr>
              <a:defRPr sz="2325" b="0">
                <a:solidFill>
                  <a:srgbClr val="14231E"/>
                </a:solidFill>
                <a:latin typeface="Arial"/>
                <a:ea typeface="Arial"/>
                <a:cs typeface="Arial"/>
              </a:defRPr>
            </a:lvl4pPr>
            <a:lvl5pPr>
              <a:defRPr sz="2325" b="0">
                <a:solidFill>
                  <a:srgbClr val="14231E"/>
                </a:solidFill>
                <a:latin typeface="Arial"/>
                <a:ea typeface="Arial"/>
                <a:cs typeface="Arial"/>
              </a:defRPr>
            </a:lvl5pPr>
            <a:lvl6pPr>
              <a:defRPr sz="2325" b="0">
                <a:solidFill>
                  <a:srgbClr val="14231E"/>
                </a:solidFill>
                <a:latin typeface="Arial"/>
                <a:ea typeface="Arial"/>
                <a:cs typeface="Arial"/>
              </a:defRPr>
            </a:lvl6pPr>
            <a:lvl7pPr>
              <a:defRPr sz="2325" b="0">
                <a:solidFill>
                  <a:srgbClr val="14231E"/>
                </a:solidFill>
                <a:latin typeface="Arial"/>
                <a:ea typeface="Arial"/>
                <a:cs typeface="Arial"/>
              </a:defRPr>
            </a:lvl7pPr>
            <a:lvl8pPr>
              <a:defRPr sz="2325" b="0">
                <a:solidFill>
                  <a:srgbClr val="14231E"/>
                </a:solidFill>
                <a:latin typeface="Arial"/>
                <a:ea typeface="Arial"/>
                <a:cs typeface="Arial"/>
              </a:defRPr>
            </a:lvl8pPr>
            <a:lvl9pPr>
              <a:defRPr sz="2325" b="0">
                <a:solidFill>
                  <a:srgbClr val="14231E"/>
                </a:solidFill>
                <a:latin typeface="Arial"/>
                <a:ea typeface="Arial"/>
                <a:cs typeface="Arial"/>
              </a:defRPr>
            </a:lvl9pPr>
          </a:lstStyle>
          <a:p xmlns:a="http://schemas.openxmlformats.org/drawingml/2006/main">
            <a:pPr>
              <a:defRPr sz="2325" b="0">
                <a:solidFill>
                  <a:srgbClr val="14231E"/>
                </a:solidFill>
                <a:latin typeface="Arial"/>
                <a:ea typeface="Arial"/>
                <a:cs typeface="Arial"/>
              </a:defRPr>
            </a:pPr>
            <a:r>
              <a:rPr sz="2325" b="0">
                <a:solidFill>
                  <a:srgbClr val="14231E"/>
                </a:solidFill>
                <a:latin typeface="Arial"/>
                <a:ea typeface="Arial"/>
                <a:cs typeface="Arial"/>
              </a:rPr>
              <a:t>Un taller con varias estaciones funciona cuando todos conservan el nombre de la pieza y el significado de la medida. El mismo número puede corresponder al diámetro exterior, al interior o a una cota del plano. Antes de registrar una cifra, el alumno señala el lugar que está midiendo. Otro compañero verifica la referencia y anota la unidad. Este intercambio sencillo evita muchas correcciones de CAD que en realidad nacen de haber comparado dimensiones diferentes.</a:t>
            </a:r>
          </a:p>
        </p:txBody>
      </p:sp>
    </p:spTree>
    <p:extLst>
      <p:ext uri="{BB962C8B-B14F-4D97-AF65-F5344CB8AC3E}">
        <p14:creationId xmlns:p14="http://schemas.microsoft.com/office/powerpoint/2010/main" val="85751148"/>
      </p:ext>
    </p:extLst>
  </p:cSld>
</p:sld>
</file>

<file path=ppt/slides/slide29.xml><?xml version="1.0" encoding="utf-8"?>
<p:sld xmlns:p="http://schemas.openxmlformats.org/presentationml/2006/main">
  <p:cSld>
    <p:bg>
      <p:bgPr>
        <a:solidFill xmlns:a="http://schemas.openxmlformats.org/drawingml/2006/main">
          <a:srgbClr val="FCFCF8"/>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9E9E6211-388B-4589-891E-3F937705F0F7}"/>
              </a:ext>
            </a:extLst>
          </p:cNvPr>
          <p:cNvSpPr>
            <a:spLocks xmlns:a="http://schemas.openxmlformats.org/drawingml/2006/main" noGrp="1"/>
          </p:cNvSpPr>
          <p:nvPr/>
        </p:nvSpPr>
        <p:spPr>
          <a:xfrm xmlns:a="http://schemas.openxmlformats.org/drawingml/2006/main">
            <a:off x="590550" y="428625"/>
            <a:ext cx="100965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75" b="1">
                <a:solidFill>
                  <a:srgbClr val="14231E"/>
                </a:solidFill>
                <a:latin typeface="Arial Narrow"/>
                <a:ea typeface="Arial Narrow"/>
                <a:cs typeface="Arial Narrow"/>
              </a:defRPr>
            </a:defPPr>
            <a:lvl1pPr>
              <a:defRPr sz="3375" b="1">
                <a:solidFill>
                  <a:srgbClr val="14231E"/>
                </a:solidFill>
                <a:latin typeface="Arial Narrow"/>
                <a:ea typeface="Arial Narrow"/>
                <a:cs typeface="Arial Narrow"/>
              </a:defRPr>
            </a:lvl1pPr>
            <a:lvl2pPr>
              <a:defRPr sz="3375" b="1">
                <a:solidFill>
                  <a:srgbClr val="14231E"/>
                </a:solidFill>
                <a:latin typeface="Arial Narrow"/>
                <a:ea typeface="Arial Narrow"/>
                <a:cs typeface="Arial Narrow"/>
              </a:defRPr>
            </a:lvl2pPr>
            <a:lvl3pPr>
              <a:defRPr sz="3375" b="1">
                <a:solidFill>
                  <a:srgbClr val="14231E"/>
                </a:solidFill>
                <a:latin typeface="Arial Narrow"/>
                <a:ea typeface="Arial Narrow"/>
                <a:cs typeface="Arial Narrow"/>
              </a:defRPr>
            </a:lvl3pPr>
            <a:lvl4pPr>
              <a:defRPr sz="3375" b="1">
                <a:solidFill>
                  <a:srgbClr val="14231E"/>
                </a:solidFill>
                <a:latin typeface="Arial Narrow"/>
                <a:ea typeface="Arial Narrow"/>
                <a:cs typeface="Arial Narrow"/>
              </a:defRPr>
            </a:lvl4pPr>
            <a:lvl5pPr>
              <a:defRPr sz="3375" b="1">
                <a:solidFill>
                  <a:srgbClr val="14231E"/>
                </a:solidFill>
                <a:latin typeface="Arial Narrow"/>
                <a:ea typeface="Arial Narrow"/>
                <a:cs typeface="Arial Narrow"/>
              </a:defRPr>
            </a:lvl5pPr>
            <a:lvl6pPr>
              <a:defRPr sz="3375" b="1">
                <a:solidFill>
                  <a:srgbClr val="14231E"/>
                </a:solidFill>
                <a:latin typeface="Arial Narrow"/>
                <a:ea typeface="Arial Narrow"/>
                <a:cs typeface="Arial Narrow"/>
              </a:defRPr>
            </a:lvl6pPr>
            <a:lvl7pPr>
              <a:defRPr sz="3375" b="1">
                <a:solidFill>
                  <a:srgbClr val="14231E"/>
                </a:solidFill>
                <a:latin typeface="Arial Narrow"/>
                <a:ea typeface="Arial Narrow"/>
                <a:cs typeface="Arial Narrow"/>
              </a:defRPr>
            </a:lvl7pPr>
            <a:lvl8pPr>
              <a:defRPr sz="3375" b="1">
                <a:solidFill>
                  <a:srgbClr val="14231E"/>
                </a:solidFill>
                <a:latin typeface="Arial Narrow"/>
                <a:ea typeface="Arial Narrow"/>
                <a:cs typeface="Arial Narrow"/>
              </a:defRPr>
            </a:lvl8pPr>
            <a:lvl9pPr>
              <a:defRPr sz="3375" b="1">
                <a:solidFill>
                  <a:srgbClr val="14231E"/>
                </a:solidFill>
                <a:latin typeface="Arial Narrow"/>
                <a:ea typeface="Arial Narrow"/>
                <a:cs typeface="Arial Narrow"/>
              </a:defRPr>
            </a:lvl9pPr>
          </a:lstStyle>
          <a:p xmlns:a="http://schemas.openxmlformats.org/drawingml/2006/main">
            <a:pPr>
              <a:defRPr sz="3375" b="1">
                <a:solidFill>
                  <a:srgbClr val="14231E"/>
                </a:solidFill>
                <a:latin typeface="Arial Narrow"/>
                <a:ea typeface="Arial Narrow"/>
                <a:cs typeface="Arial Narrow"/>
              </a:defRPr>
            </a:pPr>
            <a:r>
              <a:rPr sz="3375" b="1">
                <a:solidFill>
                  <a:srgbClr val="14231E"/>
                </a:solidFill>
                <a:latin typeface="Arial Narrow"/>
                <a:ea typeface="Arial Narrow"/>
                <a:cs typeface="Arial Narrow"/>
              </a:rPr>
              <a:t>Estación de medición: un dato que otro pueda repetir</a:t>
            </a:r>
          </a:p>
        </p:txBody>
      </p:sp>
      <p:pic>
        <p:nvPicPr>
          <p:cNvPr id="2" name="">
            <a:extLst xmlns:a="http://schemas.openxmlformats.org/drawingml/2006/main">
              <a:ext uri="{FF2B5EF4-FFF2-40B4-BE49-F238E27FC236}">
                <a16:creationId xmlns:a16="http://schemas.microsoft.com/office/drawing/2014/main" id="{F54A3374-E13F-4CD3-A6D9-4B0ECECF01D1}"/>
              </a:ext>
            </a:extLst>
          </p:cNvPr>
          <p:cNvPicPr>
            <a:picLocks xmlns:a="http://schemas.openxmlformats.org/drawingml/2006/main" noChangeAspect="1"/>
          </p:cNvPicPr>
          <p:nvPr/>
        </p:nvPicPr>
        <p:blipFill>
          <a:blip xmlns:r="http://schemas.openxmlformats.org/officeDocument/2006/relationships" xmlns:a="http://schemas.openxmlformats.org/drawingml/2006/main" r:embed="R724ec619bee64bf4"/>
          <a:stretch xmlns:a="http://schemas.openxmlformats.org/drawingml/2006/main"/>
        </p:blipFill>
        <p:spPr>
          <a:xfrm xmlns:a="http://schemas.openxmlformats.org/drawingml/2006/main">
            <a:off x="10858500" y="337942"/>
            <a:ext cx="762000" cy="276616"/>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DDAE8AE5-A70A-4140-BB3F-4153E75CC57D}"/>
              </a:ext>
            </a:extLst>
          </p:cNvPr>
          <p:cNvSpPr>
            <a:spLocks xmlns:a="http://schemas.openxmlformats.org/drawingml/2006/main" noGrp="1"/>
          </p:cNvSpPr>
          <p:nvPr/>
        </p:nvSpPr>
        <p:spPr>
          <a:xfrm xmlns:a="http://schemas.openxmlformats.org/drawingml/2006/main">
            <a:off x="590550" y="6467475"/>
            <a:ext cx="108108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58665F"/>
                </a:solidFill>
                <a:latin typeface="Consolas"/>
                <a:ea typeface="Consolas"/>
                <a:cs typeface="Consolas"/>
              </a:defRPr>
            </a:defPPr>
            <a:lvl1pPr>
              <a:defRPr sz="1125" b="0">
                <a:solidFill>
                  <a:srgbClr val="58665F"/>
                </a:solidFill>
                <a:latin typeface="Consolas"/>
                <a:ea typeface="Consolas"/>
                <a:cs typeface="Consolas"/>
              </a:defRPr>
            </a:lvl1pPr>
            <a:lvl2pPr>
              <a:defRPr sz="1125" b="0">
                <a:solidFill>
                  <a:srgbClr val="58665F"/>
                </a:solidFill>
                <a:latin typeface="Consolas"/>
                <a:ea typeface="Consolas"/>
                <a:cs typeface="Consolas"/>
              </a:defRPr>
            </a:lvl2pPr>
            <a:lvl3pPr>
              <a:defRPr sz="1125" b="0">
                <a:solidFill>
                  <a:srgbClr val="58665F"/>
                </a:solidFill>
                <a:latin typeface="Consolas"/>
                <a:ea typeface="Consolas"/>
                <a:cs typeface="Consolas"/>
              </a:defRPr>
            </a:lvl3pPr>
            <a:lvl4pPr>
              <a:defRPr sz="1125" b="0">
                <a:solidFill>
                  <a:srgbClr val="58665F"/>
                </a:solidFill>
                <a:latin typeface="Consolas"/>
                <a:ea typeface="Consolas"/>
                <a:cs typeface="Consolas"/>
              </a:defRPr>
            </a:lvl4pPr>
            <a:lvl5pPr>
              <a:defRPr sz="1125" b="0">
                <a:solidFill>
                  <a:srgbClr val="58665F"/>
                </a:solidFill>
                <a:latin typeface="Consolas"/>
                <a:ea typeface="Consolas"/>
                <a:cs typeface="Consolas"/>
              </a:defRPr>
            </a:lvl5pPr>
            <a:lvl6pPr>
              <a:defRPr sz="1125" b="0">
                <a:solidFill>
                  <a:srgbClr val="58665F"/>
                </a:solidFill>
                <a:latin typeface="Consolas"/>
                <a:ea typeface="Consolas"/>
                <a:cs typeface="Consolas"/>
              </a:defRPr>
            </a:lvl6pPr>
            <a:lvl7pPr>
              <a:defRPr sz="1125" b="0">
                <a:solidFill>
                  <a:srgbClr val="58665F"/>
                </a:solidFill>
                <a:latin typeface="Consolas"/>
                <a:ea typeface="Consolas"/>
                <a:cs typeface="Consolas"/>
              </a:defRPr>
            </a:lvl7pPr>
            <a:lvl8pPr>
              <a:defRPr sz="1125" b="0">
                <a:solidFill>
                  <a:srgbClr val="58665F"/>
                </a:solidFill>
                <a:latin typeface="Consolas"/>
                <a:ea typeface="Consolas"/>
                <a:cs typeface="Consolas"/>
              </a:defRPr>
            </a:lvl8pPr>
            <a:lvl9pPr>
              <a:defRPr sz="1125" b="0">
                <a:solidFill>
                  <a:srgbClr val="58665F"/>
                </a:solidFill>
                <a:latin typeface="Consolas"/>
                <a:ea typeface="Consolas"/>
                <a:cs typeface="Consolas"/>
              </a:defRPr>
            </a:lvl9pPr>
          </a:lstStyle>
          <a:p xmlns:a="http://schemas.openxmlformats.org/drawingml/2006/main">
            <a:pPr>
              <a:defRPr sz="1125" b="0">
                <a:solidFill>
                  <a:srgbClr val="58665F"/>
                </a:solidFill>
                <a:latin typeface="Consolas"/>
                <a:ea typeface="Consolas"/>
                <a:cs typeface="Consolas"/>
              </a:defRPr>
            </a:pPr>
            <a:r>
              <a:rPr sz="1125" b="0">
                <a:solidFill>
                  <a:srgbClr val="58665F"/>
                </a:solidFill>
                <a:latin typeface="Consolas"/>
                <a:ea typeface="Consolas"/>
                <a:cs typeface="Consolas"/>
              </a:rPr>
              <a:t>MECRO   SEMANA 3   CLASE 06   05/24</a:t>
            </a:r>
          </a:p>
        </p:txBody>
      </p:sp>
      <p:sp>
        <p:nvSpPr>
          <p:cNvPr id="4" name="">
            <a:extLst xmlns:a="http://schemas.openxmlformats.org/drawingml/2006/main">
              <a:ext uri="{FF2B5EF4-FFF2-40B4-BE49-F238E27FC236}">
                <a16:creationId xmlns:a16="http://schemas.microsoft.com/office/drawing/2014/main" id="{C0DCA376-FE5A-49F8-98F1-711843DF38AB}"/>
              </a:ext>
            </a:extLst>
          </p:cNvPr>
          <p:cNvSpPr>
            <a:spLocks xmlns:a="http://schemas.openxmlformats.org/drawingml/2006/main" noGrp="1"/>
          </p:cNvSpPr>
          <p:nvPr/>
        </p:nvSpPr>
        <p:spPr>
          <a:xfrm xmlns:a="http://schemas.openxmlformats.org/drawingml/2006/main">
            <a:off x="590550" y="1743075"/>
            <a:ext cx="10810875" cy="425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325" b="0">
                <a:solidFill>
                  <a:srgbClr val="14231E"/>
                </a:solidFill>
                <a:latin typeface="Arial"/>
                <a:ea typeface="Arial"/>
                <a:cs typeface="Arial"/>
              </a:defRPr>
            </a:defPPr>
            <a:lvl1pPr>
              <a:defRPr sz="2325" b="0">
                <a:solidFill>
                  <a:srgbClr val="14231E"/>
                </a:solidFill>
                <a:latin typeface="Arial"/>
                <a:ea typeface="Arial"/>
                <a:cs typeface="Arial"/>
              </a:defRPr>
            </a:lvl1pPr>
            <a:lvl2pPr>
              <a:defRPr sz="2325" b="0">
                <a:solidFill>
                  <a:srgbClr val="14231E"/>
                </a:solidFill>
                <a:latin typeface="Arial"/>
                <a:ea typeface="Arial"/>
                <a:cs typeface="Arial"/>
              </a:defRPr>
            </a:lvl2pPr>
            <a:lvl3pPr>
              <a:defRPr sz="2325" b="0">
                <a:solidFill>
                  <a:srgbClr val="14231E"/>
                </a:solidFill>
                <a:latin typeface="Arial"/>
                <a:ea typeface="Arial"/>
                <a:cs typeface="Arial"/>
              </a:defRPr>
            </a:lvl3pPr>
            <a:lvl4pPr>
              <a:defRPr sz="2325" b="0">
                <a:solidFill>
                  <a:srgbClr val="14231E"/>
                </a:solidFill>
                <a:latin typeface="Arial"/>
                <a:ea typeface="Arial"/>
                <a:cs typeface="Arial"/>
              </a:defRPr>
            </a:lvl4pPr>
            <a:lvl5pPr>
              <a:defRPr sz="2325" b="0">
                <a:solidFill>
                  <a:srgbClr val="14231E"/>
                </a:solidFill>
                <a:latin typeface="Arial"/>
                <a:ea typeface="Arial"/>
                <a:cs typeface="Arial"/>
              </a:defRPr>
            </a:lvl5pPr>
            <a:lvl6pPr>
              <a:defRPr sz="2325" b="0">
                <a:solidFill>
                  <a:srgbClr val="14231E"/>
                </a:solidFill>
                <a:latin typeface="Arial"/>
                <a:ea typeface="Arial"/>
                <a:cs typeface="Arial"/>
              </a:defRPr>
            </a:lvl6pPr>
            <a:lvl7pPr>
              <a:defRPr sz="2325" b="0">
                <a:solidFill>
                  <a:srgbClr val="14231E"/>
                </a:solidFill>
                <a:latin typeface="Arial"/>
                <a:ea typeface="Arial"/>
                <a:cs typeface="Arial"/>
              </a:defRPr>
            </a:lvl7pPr>
            <a:lvl8pPr>
              <a:defRPr sz="2325" b="0">
                <a:solidFill>
                  <a:srgbClr val="14231E"/>
                </a:solidFill>
                <a:latin typeface="Arial"/>
                <a:ea typeface="Arial"/>
                <a:cs typeface="Arial"/>
              </a:defRPr>
            </a:lvl8pPr>
            <a:lvl9pPr>
              <a:defRPr sz="2325" b="0">
                <a:solidFill>
                  <a:srgbClr val="14231E"/>
                </a:solidFill>
                <a:latin typeface="Arial"/>
                <a:ea typeface="Arial"/>
                <a:cs typeface="Arial"/>
              </a:defRPr>
            </a:lvl9pPr>
          </a:lstStyle>
          <a:p xmlns:a="http://schemas.openxmlformats.org/drawingml/2006/main">
            <a:pPr>
              <a:defRPr sz="2325" b="0">
                <a:solidFill>
                  <a:srgbClr val="14231E"/>
                </a:solidFill>
                <a:latin typeface="Arial"/>
                <a:ea typeface="Arial"/>
                <a:cs typeface="Arial"/>
              </a:defRPr>
            </a:pPr>
            <a:r>
              <a:rPr sz="2325" b="0">
                <a:solidFill>
                  <a:srgbClr val="14231E"/>
                </a:solidFill>
                <a:latin typeface="Arial"/>
                <a:ea typeface="Arial"/>
                <a:cs typeface="Arial"/>
              </a:rPr>
              <a:t>Antes de medir se comprueba el cero del instrumento, la unidad y las superficies que se tomarán como referencia. El calibrador se apoya sin deformar el tubo. Una pieza ovalada puede ofrecer valores diferentes según la orientación. No se elige únicamente la lectura que coincide con el archivo.</a:t>
            </a:r>
          </a:p>
        </p:txBody>
      </p:sp>
    </p:spTree>
    <p:extLst>
      <p:ext uri="{BB962C8B-B14F-4D97-AF65-F5344CB8AC3E}">
        <p14:creationId xmlns:p14="http://schemas.microsoft.com/office/powerpoint/2010/main" val="2102680894"/>
      </p:ext>
    </p:extLst>
  </p:cSld>
</p:sld>
</file>

<file path=ppt/slides/slide30.xml><?xml version="1.0" encoding="utf-8"?>
<p:sld xmlns:p="http://schemas.openxmlformats.org/presentationml/2006/main">
  <p:cSld>
    <p:bg>
      <p:bgPr>
        <a:solidFill xmlns:a="http://schemas.openxmlformats.org/drawingml/2006/main">
          <a:srgbClr val="FCFCF8"/>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E5E8BF43-0171-4354-853D-FA7CABDAA492}"/>
              </a:ext>
            </a:extLst>
          </p:cNvPr>
          <p:cNvSpPr>
            <a:spLocks xmlns:a="http://schemas.openxmlformats.org/drawingml/2006/main" noGrp="1"/>
          </p:cNvSpPr>
          <p:nvPr/>
        </p:nvSpPr>
        <p:spPr>
          <a:xfrm xmlns:a="http://schemas.openxmlformats.org/drawingml/2006/main">
            <a:off x="590550" y="428625"/>
            <a:ext cx="100965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75" b="1">
                <a:solidFill>
                  <a:srgbClr val="14231E"/>
                </a:solidFill>
                <a:latin typeface="Arial Narrow"/>
                <a:ea typeface="Arial Narrow"/>
                <a:cs typeface="Arial Narrow"/>
              </a:defRPr>
            </a:defPPr>
            <a:lvl1pPr>
              <a:defRPr sz="3375" b="1">
                <a:solidFill>
                  <a:srgbClr val="14231E"/>
                </a:solidFill>
                <a:latin typeface="Arial Narrow"/>
                <a:ea typeface="Arial Narrow"/>
                <a:cs typeface="Arial Narrow"/>
              </a:defRPr>
            </a:lvl1pPr>
            <a:lvl2pPr>
              <a:defRPr sz="3375" b="1">
                <a:solidFill>
                  <a:srgbClr val="14231E"/>
                </a:solidFill>
                <a:latin typeface="Arial Narrow"/>
                <a:ea typeface="Arial Narrow"/>
                <a:cs typeface="Arial Narrow"/>
              </a:defRPr>
            </a:lvl2pPr>
            <a:lvl3pPr>
              <a:defRPr sz="3375" b="1">
                <a:solidFill>
                  <a:srgbClr val="14231E"/>
                </a:solidFill>
                <a:latin typeface="Arial Narrow"/>
                <a:ea typeface="Arial Narrow"/>
                <a:cs typeface="Arial Narrow"/>
              </a:defRPr>
            </a:lvl3pPr>
            <a:lvl4pPr>
              <a:defRPr sz="3375" b="1">
                <a:solidFill>
                  <a:srgbClr val="14231E"/>
                </a:solidFill>
                <a:latin typeface="Arial Narrow"/>
                <a:ea typeface="Arial Narrow"/>
                <a:cs typeface="Arial Narrow"/>
              </a:defRPr>
            </a:lvl4pPr>
            <a:lvl5pPr>
              <a:defRPr sz="3375" b="1">
                <a:solidFill>
                  <a:srgbClr val="14231E"/>
                </a:solidFill>
                <a:latin typeface="Arial Narrow"/>
                <a:ea typeface="Arial Narrow"/>
                <a:cs typeface="Arial Narrow"/>
              </a:defRPr>
            </a:lvl5pPr>
            <a:lvl6pPr>
              <a:defRPr sz="3375" b="1">
                <a:solidFill>
                  <a:srgbClr val="14231E"/>
                </a:solidFill>
                <a:latin typeface="Arial Narrow"/>
                <a:ea typeface="Arial Narrow"/>
                <a:cs typeface="Arial Narrow"/>
              </a:defRPr>
            </a:lvl6pPr>
            <a:lvl7pPr>
              <a:defRPr sz="3375" b="1">
                <a:solidFill>
                  <a:srgbClr val="14231E"/>
                </a:solidFill>
                <a:latin typeface="Arial Narrow"/>
                <a:ea typeface="Arial Narrow"/>
                <a:cs typeface="Arial Narrow"/>
              </a:defRPr>
            </a:lvl7pPr>
            <a:lvl8pPr>
              <a:defRPr sz="3375" b="1">
                <a:solidFill>
                  <a:srgbClr val="14231E"/>
                </a:solidFill>
                <a:latin typeface="Arial Narrow"/>
                <a:ea typeface="Arial Narrow"/>
                <a:cs typeface="Arial Narrow"/>
              </a:defRPr>
            </a:lvl8pPr>
            <a:lvl9pPr>
              <a:defRPr sz="3375" b="1">
                <a:solidFill>
                  <a:srgbClr val="14231E"/>
                </a:solidFill>
                <a:latin typeface="Arial Narrow"/>
                <a:ea typeface="Arial Narrow"/>
                <a:cs typeface="Arial Narrow"/>
              </a:defRPr>
            </a:lvl9pPr>
          </a:lstStyle>
          <a:p xmlns:a="http://schemas.openxmlformats.org/drawingml/2006/main">
            <a:pPr>
              <a:defRPr sz="3375" b="1">
                <a:solidFill>
                  <a:srgbClr val="14231E"/>
                </a:solidFill>
                <a:latin typeface="Arial Narrow"/>
                <a:ea typeface="Arial Narrow"/>
                <a:cs typeface="Arial Narrow"/>
              </a:defRPr>
            </a:pPr>
            <a:r>
              <a:rPr sz="3375" b="1">
                <a:solidFill>
                  <a:srgbClr val="14231E"/>
                </a:solidFill>
                <a:latin typeface="Arial Narrow"/>
                <a:ea typeface="Arial Narrow"/>
                <a:cs typeface="Arial Narrow"/>
              </a:rPr>
              <a:t>Registro de una interfaz</a:t>
            </a:r>
          </a:p>
        </p:txBody>
      </p:sp>
      <p:pic>
        <p:nvPicPr>
          <p:cNvPr id="2" name="">
            <a:extLst xmlns:a="http://schemas.openxmlformats.org/drawingml/2006/main">
              <a:ext uri="{FF2B5EF4-FFF2-40B4-BE49-F238E27FC236}">
                <a16:creationId xmlns:a16="http://schemas.microsoft.com/office/drawing/2014/main" id="{0F8F9F94-8B11-4A6A-AF1E-5417B8E70F2E}"/>
              </a:ext>
            </a:extLst>
          </p:cNvPr>
          <p:cNvPicPr>
            <a:picLocks xmlns:a="http://schemas.openxmlformats.org/drawingml/2006/main" noChangeAspect="1"/>
          </p:cNvPicPr>
          <p:nvPr/>
        </p:nvPicPr>
        <p:blipFill>
          <a:blip xmlns:r="http://schemas.openxmlformats.org/officeDocument/2006/relationships" xmlns:a="http://schemas.openxmlformats.org/drawingml/2006/main" r:embed="Ra0cab5f50a1341cc"/>
          <a:stretch xmlns:a="http://schemas.openxmlformats.org/drawingml/2006/main"/>
        </p:blipFill>
        <p:spPr>
          <a:xfrm xmlns:a="http://schemas.openxmlformats.org/drawingml/2006/main">
            <a:off x="10858500" y="337942"/>
            <a:ext cx="762000" cy="276616"/>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EEA48348-A865-4884-95CC-36EC76DF968F}"/>
              </a:ext>
            </a:extLst>
          </p:cNvPr>
          <p:cNvSpPr>
            <a:spLocks xmlns:a="http://schemas.openxmlformats.org/drawingml/2006/main" noGrp="1"/>
          </p:cNvSpPr>
          <p:nvPr/>
        </p:nvSpPr>
        <p:spPr>
          <a:xfrm xmlns:a="http://schemas.openxmlformats.org/drawingml/2006/main">
            <a:off x="590550" y="6467475"/>
            <a:ext cx="108108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58665F"/>
                </a:solidFill>
                <a:latin typeface="Consolas"/>
                <a:ea typeface="Consolas"/>
                <a:cs typeface="Consolas"/>
              </a:defRPr>
            </a:defPPr>
            <a:lvl1pPr>
              <a:defRPr sz="1125" b="0">
                <a:solidFill>
                  <a:srgbClr val="58665F"/>
                </a:solidFill>
                <a:latin typeface="Consolas"/>
                <a:ea typeface="Consolas"/>
                <a:cs typeface="Consolas"/>
              </a:defRPr>
            </a:lvl1pPr>
            <a:lvl2pPr>
              <a:defRPr sz="1125" b="0">
                <a:solidFill>
                  <a:srgbClr val="58665F"/>
                </a:solidFill>
                <a:latin typeface="Consolas"/>
                <a:ea typeface="Consolas"/>
                <a:cs typeface="Consolas"/>
              </a:defRPr>
            </a:lvl2pPr>
            <a:lvl3pPr>
              <a:defRPr sz="1125" b="0">
                <a:solidFill>
                  <a:srgbClr val="58665F"/>
                </a:solidFill>
                <a:latin typeface="Consolas"/>
                <a:ea typeface="Consolas"/>
                <a:cs typeface="Consolas"/>
              </a:defRPr>
            </a:lvl3pPr>
            <a:lvl4pPr>
              <a:defRPr sz="1125" b="0">
                <a:solidFill>
                  <a:srgbClr val="58665F"/>
                </a:solidFill>
                <a:latin typeface="Consolas"/>
                <a:ea typeface="Consolas"/>
                <a:cs typeface="Consolas"/>
              </a:defRPr>
            </a:lvl4pPr>
            <a:lvl5pPr>
              <a:defRPr sz="1125" b="0">
                <a:solidFill>
                  <a:srgbClr val="58665F"/>
                </a:solidFill>
                <a:latin typeface="Consolas"/>
                <a:ea typeface="Consolas"/>
                <a:cs typeface="Consolas"/>
              </a:defRPr>
            </a:lvl5pPr>
            <a:lvl6pPr>
              <a:defRPr sz="1125" b="0">
                <a:solidFill>
                  <a:srgbClr val="58665F"/>
                </a:solidFill>
                <a:latin typeface="Consolas"/>
                <a:ea typeface="Consolas"/>
                <a:cs typeface="Consolas"/>
              </a:defRPr>
            </a:lvl6pPr>
            <a:lvl7pPr>
              <a:defRPr sz="1125" b="0">
                <a:solidFill>
                  <a:srgbClr val="58665F"/>
                </a:solidFill>
                <a:latin typeface="Consolas"/>
                <a:ea typeface="Consolas"/>
                <a:cs typeface="Consolas"/>
              </a:defRPr>
            </a:lvl7pPr>
            <a:lvl8pPr>
              <a:defRPr sz="1125" b="0">
                <a:solidFill>
                  <a:srgbClr val="58665F"/>
                </a:solidFill>
                <a:latin typeface="Consolas"/>
                <a:ea typeface="Consolas"/>
                <a:cs typeface="Consolas"/>
              </a:defRPr>
            </a:lvl8pPr>
            <a:lvl9pPr>
              <a:defRPr sz="1125" b="0">
                <a:solidFill>
                  <a:srgbClr val="58665F"/>
                </a:solidFill>
                <a:latin typeface="Consolas"/>
                <a:ea typeface="Consolas"/>
                <a:cs typeface="Consolas"/>
              </a:defRPr>
            </a:lvl9pPr>
          </a:lstStyle>
          <a:p xmlns:a="http://schemas.openxmlformats.org/drawingml/2006/main">
            <a:pPr>
              <a:defRPr sz="1125" b="0">
                <a:solidFill>
                  <a:srgbClr val="58665F"/>
                </a:solidFill>
                <a:latin typeface="Consolas"/>
                <a:ea typeface="Consolas"/>
                <a:cs typeface="Consolas"/>
              </a:defRPr>
            </a:pPr>
            <a:r>
              <a:rPr sz="1125" b="0">
                <a:solidFill>
                  <a:srgbClr val="58665F"/>
                </a:solidFill>
                <a:latin typeface="Consolas"/>
                <a:ea typeface="Consolas"/>
                <a:cs typeface="Consolas"/>
              </a:rPr>
              <a:t>MECRO   SEMANA 3   CLASE 06   06/24</a:t>
            </a:r>
          </a:p>
        </p:txBody>
      </p:sp>
      <p:graphicFrame>
        <p:nvGraphicFramePr>
          <p:cNvPr id="4" name="">
            <a:extLst xmlns:a="http://schemas.openxmlformats.org/drawingml/2006/main">
              <a:ext uri="{FF2B5EF4-FFF2-40B4-BE49-F238E27FC236}">
                <a16:creationId xmlns:a16="http://schemas.microsoft.com/office/drawing/2014/main" id="{130AA03C-09E4-490D-9148-2F957759C400}"/>
              </a:ext>
            </a:extLst>
          </p:cNvPr>
          <p:cNvGraphicFramePr/>
          <p:nvPr/>
        </p:nvGraphicFramePr>
        <p:xfrm>
          <a:off xmlns:a="http://schemas.openxmlformats.org/drawingml/2006/main" x="590550" y="1752600"/>
          <a:ext xmlns:a="http://schemas.openxmlformats.org/drawingml/2006/main" cx="11010900" cy="3952875"/>
        </p:xfrm>
        <a:graphic xmlns:a="http://schemas.openxmlformats.org/drawingml/2006/main">
          <a:graphicData uri="http://schemas.openxmlformats.org/drawingml/2006/table">
            <a:tbl>
              <a:tblPr/>
              <a:tblGrid>
                <a:gridCol w="5505450"/>
                <a:gridCol w="5505450"/>
              </a:tblGrid>
              <a:tr h="658813">
                <a:tc>
                  <a:txBody>
                    <a:bodyPr/>
                    <a:lstStyle/>
                    <a:p>
                      <a:r>
                        <a:rPr sz="2025" b="1">
                          <a:solidFill>
                            <a:srgbClr val="FFFFFF"/>
                          </a:solidFill>
                          <a:latin typeface="Arial"/>
                          <a:ea typeface="Arial"/>
                          <a:cs typeface="Arial"/>
                        </a:rPr>
                        <a:t>Dato</a:t>
                      </a:r>
                    </a:p>
                  </a:txBody>
                  <a:tcPr marL="91440" marR="91440" marT="45720" marB="45720">
                    <a:lnL w="9525">
                      <a:solidFill>
                        <a:srgbClr val="BFCEC3"/>
                      </a:solidFill>
                      <a:prstDash val="solid"/>
                    </a:lnL>
                    <a:lnR w="9525">
                      <a:solidFill>
                        <a:srgbClr val="BFCEC3"/>
                      </a:solidFill>
                      <a:prstDash val="solid"/>
                    </a:lnR>
                    <a:lnT w="9525">
                      <a:solidFill>
                        <a:srgbClr val="BFCEC3"/>
                      </a:solidFill>
                      <a:prstDash val="solid"/>
                    </a:lnT>
                    <a:lnB w="9525">
                      <a:solidFill>
                        <a:srgbClr val="BFCEC3"/>
                      </a:solidFill>
                      <a:prstDash val="solid"/>
                    </a:lnB>
                    <a:solidFill>
                      <a:srgbClr val="244F3D"/>
                    </a:solidFill>
                  </a:tcPr>
                </a:tc>
                <a:tc>
                  <a:txBody>
                    <a:bodyPr/>
                    <a:lstStyle/>
                    <a:p>
                      <a:r>
                        <a:rPr sz="2025" b="1">
                          <a:solidFill>
                            <a:srgbClr val="FFFFFF"/>
                          </a:solidFill>
                          <a:latin typeface="Arial"/>
                          <a:ea typeface="Arial"/>
                          <a:cs typeface="Arial"/>
                        </a:rPr>
                        <a:t>Qué escribir</a:t>
                      </a:r>
                    </a:p>
                  </a:txBody>
                  <a:tcPr marL="91440" marR="91440" marT="45720" marB="45720">
                    <a:lnR w="9525">
                      <a:solidFill>
                        <a:srgbClr val="BFCEC3"/>
                      </a:solidFill>
                      <a:prstDash val="solid"/>
                    </a:lnR>
                    <a:lnT w="9525">
                      <a:solidFill>
                        <a:srgbClr val="BFCEC3"/>
                      </a:solidFill>
                      <a:prstDash val="solid"/>
                    </a:lnT>
                    <a:lnB w="9525">
                      <a:solidFill>
                        <a:srgbClr val="BFCEC3"/>
                      </a:solidFill>
                      <a:prstDash val="solid"/>
                    </a:lnB>
                    <a:solidFill>
                      <a:srgbClr val="244F3D"/>
                    </a:solidFill>
                  </a:tcPr>
                </a:tc>
              </a:tr>
              <a:tr h="658813">
                <a:tc>
                  <a:txBody>
                    <a:bodyPr/>
                    <a:lstStyle/>
                    <a:p>
                      <a:r>
                        <a:rPr sz="2025" b="0">
                          <a:solidFill>
                            <a:srgbClr val="14231E"/>
                          </a:solidFill>
                          <a:latin typeface="Arial"/>
                          <a:ea typeface="Arial"/>
                          <a:cs typeface="Arial"/>
                        </a:rPr>
                        <a:t>Tubo</a:t>
                      </a:r>
                    </a:p>
                  </a:txBody>
                  <a:tcPr marL="91440" marR="91440" marT="45720" marB="45720">
                    <a:lnL w="9525">
                      <a:solidFill>
                        <a:srgbClr val="BFCEC3"/>
                      </a:solidFill>
                      <a:prstDash val="solid"/>
                    </a:lnL>
                    <a:lnR w="9525">
                      <a:solidFill>
                        <a:srgbClr val="BFCEC3"/>
                      </a:solidFill>
                      <a:prstDash val="solid"/>
                    </a:lnR>
                    <a:lnB w="9525">
                      <a:solidFill>
                        <a:srgbClr val="BFCEC3"/>
                      </a:solidFill>
                      <a:prstDash val="solid"/>
                    </a:lnB>
                    <a:solidFill>
                      <a:srgbClr val="EAF3EC"/>
                    </a:solidFill>
                  </a:tcPr>
                </a:tc>
                <a:tc>
                  <a:txBody>
                    <a:bodyPr/>
                    <a:lstStyle/>
                    <a:p>
                      <a:r>
                        <a:rPr sz="2025" b="0">
                          <a:solidFill>
                            <a:srgbClr val="14231E"/>
                          </a:solidFill>
                          <a:latin typeface="Arial"/>
                          <a:ea typeface="Arial"/>
                          <a:cs typeface="Arial"/>
                        </a:rPr>
                        <a:t>Identificador y orientación de medida</a:t>
                      </a:r>
                    </a:p>
                  </a:txBody>
                  <a:tcPr marL="91440" marR="91440" marT="45720" marB="45720">
                    <a:lnR w="9525">
                      <a:solidFill>
                        <a:srgbClr val="BFCEC3"/>
                      </a:solidFill>
                      <a:prstDash val="solid"/>
                    </a:lnR>
                    <a:lnB w="9525">
                      <a:solidFill>
                        <a:srgbClr val="BFCEC3"/>
                      </a:solidFill>
                      <a:prstDash val="solid"/>
                    </a:lnB>
                    <a:solidFill>
                      <a:srgbClr val="EAF3EC"/>
                    </a:solidFill>
                  </a:tcPr>
                </a:tc>
              </a:tr>
              <a:tr h="658813">
                <a:tc>
                  <a:txBody>
                    <a:bodyPr/>
                    <a:lstStyle/>
                    <a:p>
                      <a:r>
                        <a:rPr sz="2025" b="0">
                          <a:solidFill>
                            <a:srgbClr val="14231E"/>
                          </a:solidFill>
                          <a:latin typeface="Arial"/>
                          <a:ea typeface="Arial"/>
                          <a:cs typeface="Arial"/>
                        </a:rPr>
                        <a:t>Abertura</a:t>
                      </a:r>
                    </a:p>
                  </a:txBody>
                  <a:tcPr marL="91440" marR="91440" marT="45720" marB="45720">
                    <a:lnL w="9525">
                      <a:solidFill>
                        <a:srgbClr val="BFCEC3"/>
                      </a:solidFill>
                      <a:prstDash val="solid"/>
                    </a:lnL>
                    <a:lnR w="9525">
                      <a:solidFill>
                        <a:srgbClr val="BFCEC3"/>
                      </a:solidFill>
                      <a:prstDash val="solid"/>
                    </a:lnR>
                    <a:lnB w="9525">
                      <a:solidFill>
                        <a:srgbClr val="BFCEC3"/>
                      </a:solidFill>
                      <a:prstDash val="solid"/>
                    </a:lnB>
                    <a:solidFill>
                      <a:srgbClr val="FCFCF8"/>
                    </a:solidFill>
                  </a:tcPr>
                </a:tc>
                <a:tc>
                  <a:txBody>
                    <a:bodyPr/>
                    <a:lstStyle/>
                    <a:p>
                      <a:r>
                        <a:rPr sz="2025" b="0">
                          <a:solidFill>
                            <a:srgbClr val="14231E"/>
                          </a:solidFill>
                          <a:latin typeface="Arial"/>
                          <a:ea typeface="Arial"/>
                          <a:cs typeface="Arial"/>
                        </a:rPr>
                        <a:t>Dimensión observada y unidad</a:t>
                      </a:r>
                    </a:p>
                  </a:txBody>
                  <a:tcPr marL="91440" marR="91440" marT="45720" marB="45720">
                    <a:lnR w="9525">
                      <a:solidFill>
                        <a:srgbClr val="BFCEC3"/>
                      </a:solidFill>
                      <a:prstDash val="solid"/>
                    </a:lnR>
                    <a:lnB w="9525">
                      <a:solidFill>
                        <a:srgbClr val="BFCEC3"/>
                      </a:solidFill>
                      <a:prstDash val="solid"/>
                    </a:lnB>
                    <a:solidFill>
                      <a:srgbClr val="FCFCF8"/>
                    </a:solidFill>
                  </a:tcPr>
                </a:tc>
              </a:tr>
              <a:tr h="658813">
                <a:tc>
                  <a:txBody>
                    <a:bodyPr/>
                    <a:lstStyle/>
                    <a:p>
                      <a:r>
                        <a:rPr sz="2025" b="0">
                          <a:solidFill>
                            <a:srgbClr val="14231E"/>
                          </a:solidFill>
                          <a:latin typeface="Arial"/>
                          <a:ea typeface="Arial"/>
                          <a:cs typeface="Arial"/>
                        </a:rPr>
                        <a:t>Muestra</a:t>
                      </a:r>
                    </a:p>
                  </a:txBody>
                  <a:tcPr marL="91440" marR="91440" marT="45720" marB="45720">
                    <a:lnL w="9525">
                      <a:solidFill>
                        <a:srgbClr val="BFCEC3"/>
                      </a:solidFill>
                      <a:prstDash val="solid"/>
                    </a:lnL>
                    <a:lnR w="9525">
                      <a:solidFill>
                        <a:srgbClr val="BFCEC3"/>
                      </a:solidFill>
                      <a:prstDash val="solid"/>
                    </a:lnR>
                    <a:lnB w="9525">
                      <a:solidFill>
                        <a:srgbClr val="BFCEC3"/>
                      </a:solidFill>
                      <a:prstDash val="solid"/>
                    </a:lnB>
                    <a:solidFill>
                      <a:srgbClr val="EAF3EC"/>
                    </a:solidFill>
                  </a:tcPr>
                </a:tc>
                <a:tc>
                  <a:txBody>
                    <a:bodyPr/>
                    <a:lstStyle/>
                    <a:p>
                      <a:r>
                        <a:rPr sz="2025" b="0">
                          <a:solidFill>
                            <a:srgbClr val="14231E"/>
                          </a:solidFill>
                          <a:latin typeface="Arial"/>
                          <a:ea typeface="Arial"/>
                          <a:cs typeface="Arial"/>
                        </a:rPr>
                        <a:t>Identificador y dimensión real</a:t>
                      </a:r>
                    </a:p>
                  </a:txBody>
                  <a:tcPr marL="91440" marR="91440" marT="45720" marB="45720">
                    <a:lnR w="9525">
                      <a:solidFill>
                        <a:srgbClr val="BFCEC3"/>
                      </a:solidFill>
                      <a:prstDash val="solid"/>
                    </a:lnR>
                    <a:lnB w="9525">
                      <a:solidFill>
                        <a:srgbClr val="BFCEC3"/>
                      </a:solidFill>
                      <a:prstDash val="solid"/>
                    </a:lnB>
                    <a:solidFill>
                      <a:srgbClr val="EAF3EC"/>
                    </a:solidFill>
                  </a:tcPr>
                </a:tc>
              </a:tr>
              <a:tr h="658813">
                <a:tc>
                  <a:txBody>
                    <a:bodyPr/>
                    <a:lstStyle/>
                    <a:p>
                      <a:r>
                        <a:rPr sz="2025" b="0">
                          <a:solidFill>
                            <a:srgbClr val="14231E"/>
                          </a:solidFill>
                          <a:latin typeface="Arial"/>
                          <a:ea typeface="Arial"/>
                          <a:cs typeface="Arial"/>
                        </a:rPr>
                        <a:t>Encaje</a:t>
                      </a:r>
                    </a:p>
                  </a:txBody>
                  <a:tcPr marL="91440" marR="91440" marT="45720" marB="45720">
                    <a:lnL w="9525">
                      <a:solidFill>
                        <a:srgbClr val="BFCEC3"/>
                      </a:solidFill>
                      <a:prstDash val="solid"/>
                    </a:lnL>
                    <a:lnR w="9525">
                      <a:solidFill>
                        <a:srgbClr val="BFCEC3"/>
                      </a:solidFill>
                      <a:prstDash val="solid"/>
                    </a:lnR>
                    <a:lnB w="9525">
                      <a:solidFill>
                        <a:srgbClr val="BFCEC3"/>
                      </a:solidFill>
                      <a:prstDash val="solid"/>
                    </a:lnB>
                    <a:solidFill>
                      <a:srgbClr val="FCFCF8"/>
                    </a:solidFill>
                  </a:tcPr>
                </a:tc>
                <a:tc>
                  <a:txBody>
                    <a:bodyPr/>
                    <a:lstStyle/>
                    <a:p>
                      <a:r>
                        <a:rPr sz="2025" b="0">
                          <a:solidFill>
                            <a:srgbClr val="14231E"/>
                          </a:solidFill>
                          <a:latin typeface="Arial"/>
                          <a:ea typeface="Arial"/>
                          <a:cs typeface="Arial"/>
                        </a:rPr>
                        <a:t>Entra, se traba o presenta juego</a:t>
                      </a:r>
                    </a:p>
                  </a:txBody>
                  <a:tcPr marL="91440" marR="91440" marT="45720" marB="45720">
                    <a:lnR w="9525">
                      <a:solidFill>
                        <a:srgbClr val="BFCEC3"/>
                      </a:solidFill>
                      <a:prstDash val="solid"/>
                    </a:lnR>
                    <a:lnB w="9525">
                      <a:solidFill>
                        <a:srgbClr val="BFCEC3"/>
                      </a:solidFill>
                      <a:prstDash val="solid"/>
                    </a:lnB>
                    <a:solidFill>
                      <a:srgbClr val="FCFCF8"/>
                    </a:solidFill>
                  </a:tcPr>
                </a:tc>
              </a:tr>
              <a:tr h="658813">
                <a:tc>
                  <a:txBody>
                    <a:bodyPr/>
                    <a:lstStyle/>
                    <a:p>
                      <a:r>
                        <a:rPr sz="2025" b="0">
                          <a:solidFill>
                            <a:srgbClr val="14231E"/>
                          </a:solidFill>
                          <a:latin typeface="Arial"/>
                          <a:ea typeface="Arial"/>
                          <a:cs typeface="Arial"/>
                        </a:rPr>
                        <a:t>Revisión</a:t>
                      </a:r>
                    </a:p>
                  </a:txBody>
                  <a:tcPr marL="91440" marR="91440" marT="45720" marB="45720">
                    <a:lnL w="9525">
                      <a:solidFill>
                        <a:srgbClr val="BFCEC3"/>
                      </a:solidFill>
                      <a:prstDash val="solid"/>
                    </a:lnL>
                    <a:lnR w="9525">
                      <a:solidFill>
                        <a:srgbClr val="BFCEC3"/>
                      </a:solidFill>
                      <a:prstDash val="solid"/>
                    </a:lnR>
                    <a:lnB w="9525">
                      <a:solidFill>
                        <a:srgbClr val="BFCEC3"/>
                      </a:solidFill>
                      <a:prstDash val="solid"/>
                    </a:lnB>
                    <a:solidFill>
                      <a:srgbClr val="EAF3EC"/>
                    </a:solidFill>
                  </a:tcPr>
                </a:tc>
                <a:tc>
                  <a:txBody>
                    <a:bodyPr/>
                    <a:lstStyle/>
                    <a:p>
                      <a:r>
                        <a:rPr sz="2025" b="0">
                          <a:solidFill>
                            <a:srgbClr val="14231E"/>
                          </a:solidFill>
                          <a:latin typeface="Arial"/>
                          <a:ea typeface="Arial"/>
                          <a:cs typeface="Arial"/>
                        </a:rPr>
                        <a:t>Cambio que se propone y motivo</a:t>
                      </a:r>
                    </a:p>
                  </a:txBody>
                  <a:tcPr marL="91440" marR="91440" marT="45720" marB="45720">
                    <a:lnR w="9525">
                      <a:solidFill>
                        <a:srgbClr val="BFCEC3"/>
                      </a:solidFill>
                      <a:prstDash val="solid"/>
                    </a:lnR>
                    <a:lnB w="9525">
                      <a:solidFill>
                        <a:srgbClr val="BFCEC3"/>
                      </a:solidFill>
                      <a:prstDash val="solid"/>
                    </a:lnB>
                    <a:solidFill>
                      <a:srgbClr val="EAF3EC"/>
                    </a:solidFill>
                  </a:tcPr>
                </a:tc>
              </a:tr>
            </a:tbl>
          </a:graphicData>
        </a:graphic>
      </p:graphicFrame>
    </p:spTree>
    <p:extLst>
      <p:ext uri="{BB962C8B-B14F-4D97-AF65-F5344CB8AC3E}">
        <p14:creationId xmlns:p14="http://schemas.microsoft.com/office/powerpoint/2010/main" val="2063131908"/>
      </p:ext>
    </p:extLst>
  </p:cSld>
</p:sld>
</file>

<file path=ppt/slides/slide31.xml><?xml version="1.0" encoding="utf-8"?>
<p:sld xmlns:p="http://schemas.openxmlformats.org/presentationml/2006/main">
  <p:cSld>
    <p:bg>
      <p:bgPr>
        <a:solidFill xmlns:a="http://schemas.openxmlformats.org/drawingml/2006/main">
          <a:srgbClr val="090F10"/>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34CDE28D-A388-4ED4-A1AB-BA9FE7A68F99}"/>
              </a:ext>
            </a:extLst>
          </p:cNvPr>
          <p:cNvSpPr>
            <a:spLocks xmlns:a="http://schemas.openxmlformats.org/drawingml/2006/main" noGrp="1"/>
          </p:cNvSpPr>
          <p:nvPr/>
        </p:nvSpPr>
        <p:spPr>
          <a:xfrm xmlns:a="http://schemas.openxmlformats.org/drawingml/2006/main">
            <a:off x="590550" y="428625"/>
            <a:ext cx="100965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75" b="1">
                <a:solidFill>
                  <a:srgbClr val="FCFCF8"/>
                </a:solidFill>
                <a:latin typeface="Arial Narrow"/>
                <a:ea typeface="Arial Narrow"/>
                <a:cs typeface="Arial Narrow"/>
              </a:defRPr>
            </a:defPPr>
            <a:lvl1pPr>
              <a:defRPr sz="3375" b="1">
                <a:solidFill>
                  <a:srgbClr val="FCFCF8"/>
                </a:solidFill>
                <a:latin typeface="Arial Narrow"/>
                <a:ea typeface="Arial Narrow"/>
                <a:cs typeface="Arial Narrow"/>
              </a:defRPr>
            </a:lvl1pPr>
            <a:lvl2pPr>
              <a:defRPr sz="3375" b="1">
                <a:solidFill>
                  <a:srgbClr val="FCFCF8"/>
                </a:solidFill>
                <a:latin typeface="Arial Narrow"/>
                <a:ea typeface="Arial Narrow"/>
                <a:cs typeface="Arial Narrow"/>
              </a:defRPr>
            </a:lvl2pPr>
            <a:lvl3pPr>
              <a:defRPr sz="3375" b="1">
                <a:solidFill>
                  <a:srgbClr val="FCFCF8"/>
                </a:solidFill>
                <a:latin typeface="Arial Narrow"/>
                <a:ea typeface="Arial Narrow"/>
                <a:cs typeface="Arial Narrow"/>
              </a:defRPr>
            </a:lvl3pPr>
            <a:lvl4pPr>
              <a:defRPr sz="3375" b="1">
                <a:solidFill>
                  <a:srgbClr val="FCFCF8"/>
                </a:solidFill>
                <a:latin typeface="Arial Narrow"/>
                <a:ea typeface="Arial Narrow"/>
                <a:cs typeface="Arial Narrow"/>
              </a:defRPr>
            </a:lvl4pPr>
            <a:lvl5pPr>
              <a:defRPr sz="3375" b="1">
                <a:solidFill>
                  <a:srgbClr val="FCFCF8"/>
                </a:solidFill>
                <a:latin typeface="Arial Narrow"/>
                <a:ea typeface="Arial Narrow"/>
                <a:cs typeface="Arial Narrow"/>
              </a:defRPr>
            </a:lvl5pPr>
            <a:lvl6pPr>
              <a:defRPr sz="3375" b="1">
                <a:solidFill>
                  <a:srgbClr val="FCFCF8"/>
                </a:solidFill>
                <a:latin typeface="Arial Narrow"/>
                <a:ea typeface="Arial Narrow"/>
                <a:cs typeface="Arial Narrow"/>
              </a:defRPr>
            </a:lvl6pPr>
            <a:lvl7pPr>
              <a:defRPr sz="3375" b="1">
                <a:solidFill>
                  <a:srgbClr val="FCFCF8"/>
                </a:solidFill>
                <a:latin typeface="Arial Narrow"/>
                <a:ea typeface="Arial Narrow"/>
                <a:cs typeface="Arial Narrow"/>
              </a:defRPr>
            </a:lvl7pPr>
            <a:lvl8pPr>
              <a:defRPr sz="3375" b="1">
                <a:solidFill>
                  <a:srgbClr val="FCFCF8"/>
                </a:solidFill>
                <a:latin typeface="Arial Narrow"/>
                <a:ea typeface="Arial Narrow"/>
                <a:cs typeface="Arial Narrow"/>
              </a:defRPr>
            </a:lvl8pPr>
            <a:lvl9pPr>
              <a:defRPr sz="3375" b="1">
                <a:solidFill>
                  <a:srgbClr val="FCFCF8"/>
                </a:solidFill>
                <a:latin typeface="Arial Narrow"/>
                <a:ea typeface="Arial Narrow"/>
                <a:cs typeface="Arial Narrow"/>
              </a:defRPr>
            </a:lvl9pPr>
          </a:lstStyle>
          <a:p xmlns:a="http://schemas.openxmlformats.org/drawingml/2006/main">
            <a:pPr>
              <a:defRPr sz="3375" b="1">
                <a:solidFill>
                  <a:srgbClr val="FCFCF8"/>
                </a:solidFill>
                <a:latin typeface="Arial Narrow"/>
                <a:ea typeface="Arial Narrow"/>
                <a:cs typeface="Arial Narrow"/>
              </a:defRPr>
            </a:pPr>
            <a:r>
              <a:rPr sz="3375" b="1">
                <a:solidFill>
                  <a:srgbClr val="FCFCF8"/>
                </a:solidFill>
                <a:latin typeface="Arial Narrow"/>
                <a:ea typeface="Arial Narrow"/>
                <a:cs typeface="Arial Narrow"/>
              </a:rPr>
              <a:t>La muestra no se comporta como el CAD</a:t>
            </a:r>
          </a:p>
        </p:txBody>
      </p:sp>
      <p:pic>
        <p:nvPicPr>
          <p:cNvPr id="2" name="">
            <a:extLst xmlns:a="http://schemas.openxmlformats.org/drawingml/2006/main">
              <a:ext uri="{FF2B5EF4-FFF2-40B4-BE49-F238E27FC236}">
                <a16:creationId xmlns:a16="http://schemas.microsoft.com/office/drawing/2014/main" id="{DD426AFC-2218-4171-9651-35B90C0ECDE1}"/>
              </a:ext>
            </a:extLst>
          </p:cNvPr>
          <p:cNvPicPr>
            <a:picLocks xmlns:a="http://schemas.openxmlformats.org/drawingml/2006/main" noChangeAspect="1"/>
          </p:cNvPicPr>
          <p:nvPr/>
        </p:nvPicPr>
        <p:blipFill>
          <a:blip xmlns:r="http://schemas.openxmlformats.org/officeDocument/2006/relationships" xmlns:a="http://schemas.openxmlformats.org/drawingml/2006/main" r:embed="R0c385f49b86944d1"/>
          <a:stretch xmlns:a="http://schemas.openxmlformats.org/drawingml/2006/main"/>
        </p:blipFill>
        <p:spPr>
          <a:xfrm xmlns:a="http://schemas.openxmlformats.org/drawingml/2006/main">
            <a:off x="10858500" y="337942"/>
            <a:ext cx="762000" cy="276616"/>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7CAACFEE-2C7D-4FA3-BDE2-D6A9C18AE1CF}"/>
              </a:ext>
            </a:extLst>
          </p:cNvPr>
          <p:cNvSpPr>
            <a:spLocks xmlns:a="http://schemas.openxmlformats.org/drawingml/2006/main" noGrp="1"/>
          </p:cNvSpPr>
          <p:nvPr/>
        </p:nvSpPr>
        <p:spPr>
          <a:xfrm xmlns:a="http://schemas.openxmlformats.org/drawingml/2006/main">
            <a:off x="590550" y="6467475"/>
            <a:ext cx="108108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B8C8C1"/>
                </a:solidFill>
                <a:latin typeface="Consolas"/>
                <a:ea typeface="Consolas"/>
                <a:cs typeface="Consolas"/>
              </a:defRPr>
            </a:defPPr>
            <a:lvl1pPr>
              <a:defRPr sz="1125" b="0">
                <a:solidFill>
                  <a:srgbClr val="B8C8C1"/>
                </a:solidFill>
                <a:latin typeface="Consolas"/>
                <a:ea typeface="Consolas"/>
                <a:cs typeface="Consolas"/>
              </a:defRPr>
            </a:lvl1pPr>
            <a:lvl2pPr>
              <a:defRPr sz="1125" b="0">
                <a:solidFill>
                  <a:srgbClr val="B8C8C1"/>
                </a:solidFill>
                <a:latin typeface="Consolas"/>
                <a:ea typeface="Consolas"/>
                <a:cs typeface="Consolas"/>
              </a:defRPr>
            </a:lvl2pPr>
            <a:lvl3pPr>
              <a:defRPr sz="1125" b="0">
                <a:solidFill>
                  <a:srgbClr val="B8C8C1"/>
                </a:solidFill>
                <a:latin typeface="Consolas"/>
                <a:ea typeface="Consolas"/>
                <a:cs typeface="Consolas"/>
              </a:defRPr>
            </a:lvl3pPr>
            <a:lvl4pPr>
              <a:defRPr sz="1125" b="0">
                <a:solidFill>
                  <a:srgbClr val="B8C8C1"/>
                </a:solidFill>
                <a:latin typeface="Consolas"/>
                <a:ea typeface="Consolas"/>
                <a:cs typeface="Consolas"/>
              </a:defRPr>
            </a:lvl4pPr>
            <a:lvl5pPr>
              <a:defRPr sz="1125" b="0">
                <a:solidFill>
                  <a:srgbClr val="B8C8C1"/>
                </a:solidFill>
                <a:latin typeface="Consolas"/>
                <a:ea typeface="Consolas"/>
                <a:cs typeface="Consolas"/>
              </a:defRPr>
            </a:lvl5pPr>
            <a:lvl6pPr>
              <a:defRPr sz="1125" b="0">
                <a:solidFill>
                  <a:srgbClr val="B8C8C1"/>
                </a:solidFill>
                <a:latin typeface="Consolas"/>
                <a:ea typeface="Consolas"/>
                <a:cs typeface="Consolas"/>
              </a:defRPr>
            </a:lvl6pPr>
            <a:lvl7pPr>
              <a:defRPr sz="1125" b="0">
                <a:solidFill>
                  <a:srgbClr val="B8C8C1"/>
                </a:solidFill>
                <a:latin typeface="Consolas"/>
                <a:ea typeface="Consolas"/>
                <a:cs typeface="Consolas"/>
              </a:defRPr>
            </a:lvl7pPr>
            <a:lvl8pPr>
              <a:defRPr sz="1125" b="0">
                <a:solidFill>
                  <a:srgbClr val="B8C8C1"/>
                </a:solidFill>
                <a:latin typeface="Consolas"/>
                <a:ea typeface="Consolas"/>
                <a:cs typeface="Consolas"/>
              </a:defRPr>
            </a:lvl8pPr>
            <a:lvl9pPr>
              <a:defRPr sz="1125" b="0">
                <a:solidFill>
                  <a:srgbClr val="B8C8C1"/>
                </a:solidFill>
                <a:latin typeface="Consolas"/>
                <a:ea typeface="Consolas"/>
                <a:cs typeface="Consolas"/>
              </a:defRPr>
            </a:lvl9pPr>
          </a:lstStyle>
          <a:p xmlns:a="http://schemas.openxmlformats.org/drawingml/2006/main">
            <a:pPr>
              <a:defRPr sz="1125" b="0">
                <a:solidFill>
                  <a:srgbClr val="B8C8C1"/>
                </a:solidFill>
                <a:latin typeface="Consolas"/>
                <a:ea typeface="Consolas"/>
                <a:cs typeface="Consolas"/>
              </a:defRPr>
            </a:pPr>
            <a:r>
              <a:rPr sz="1125" b="0">
                <a:solidFill>
                  <a:srgbClr val="B8C8C1"/>
                </a:solidFill>
                <a:latin typeface="Consolas"/>
                <a:ea typeface="Consolas"/>
                <a:cs typeface="Consolas"/>
              </a:rPr>
              <a:t>MECRO   SEMANA 3   CLASE 06   07/24</a:t>
            </a:r>
          </a:p>
        </p:txBody>
      </p:sp>
      <p:sp>
        <p:nvSpPr>
          <p:cNvPr id="4" name="">
            <a:extLst xmlns:a="http://schemas.openxmlformats.org/drawingml/2006/main">
              <a:ext uri="{FF2B5EF4-FFF2-40B4-BE49-F238E27FC236}">
                <a16:creationId xmlns:a16="http://schemas.microsoft.com/office/drawing/2014/main" id="{435C7A50-12D5-416E-9309-DF763A187691}"/>
              </a:ext>
            </a:extLst>
          </p:cNvPr>
          <p:cNvSpPr>
            <a:spLocks xmlns:a="http://schemas.openxmlformats.org/drawingml/2006/main" noGrp="1"/>
          </p:cNvSpPr>
          <p:nvPr/>
        </p:nvSpPr>
        <p:spPr>
          <a:xfrm xmlns:a="http://schemas.openxmlformats.org/drawingml/2006/main">
            <a:off x="590550" y="1809750"/>
            <a:ext cx="10715625" cy="2047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700" b="1">
                <a:solidFill>
                  <a:srgbClr val="AEF4BB"/>
                </a:solidFill>
                <a:latin typeface="Arial"/>
                <a:ea typeface="Arial"/>
                <a:cs typeface="Arial"/>
              </a:defRPr>
            </a:defPPr>
            <a:lvl1pPr>
              <a:defRPr sz="2700" b="1">
                <a:solidFill>
                  <a:srgbClr val="AEF4BB"/>
                </a:solidFill>
                <a:latin typeface="Arial"/>
                <a:ea typeface="Arial"/>
                <a:cs typeface="Arial"/>
              </a:defRPr>
            </a:lvl1pPr>
            <a:lvl2pPr>
              <a:defRPr sz="2700" b="1">
                <a:solidFill>
                  <a:srgbClr val="AEF4BB"/>
                </a:solidFill>
                <a:latin typeface="Arial"/>
                <a:ea typeface="Arial"/>
                <a:cs typeface="Arial"/>
              </a:defRPr>
            </a:lvl2pPr>
            <a:lvl3pPr>
              <a:defRPr sz="2700" b="1">
                <a:solidFill>
                  <a:srgbClr val="AEF4BB"/>
                </a:solidFill>
                <a:latin typeface="Arial"/>
                <a:ea typeface="Arial"/>
                <a:cs typeface="Arial"/>
              </a:defRPr>
            </a:lvl3pPr>
            <a:lvl4pPr>
              <a:defRPr sz="2700" b="1">
                <a:solidFill>
                  <a:srgbClr val="AEF4BB"/>
                </a:solidFill>
                <a:latin typeface="Arial"/>
                <a:ea typeface="Arial"/>
                <a:cs typeface="Arial"/>
              </a:defRPr>
            </a:lvl4pPr>
            <a:lvl5pPr>
              <a:defRPr sz="2700" b="1">
                <a:solidFill>
                  <a:srgbClr val="AEF4BB"/>
                </a:solidFill>
                <a:latin typeface="Arial"/>
                <a:ea typeface="Arial"/>
                <a:cs typeface="Arial"/>
              </a:defRPr>
            </a:lvl5pPr>
            <a:lvl6pPr>
              <a:defRPr sz="2700" b="1">
                <a:solidFill>
                  <a:srgbClr val="AEF4BB"/>
                </a:solidFill>
                <a:latin typeface="Arial"/>
                <a:ea typeface="Arial"/>
                <a:cs typeface="Arial"/>
              </a:defRPr>
            </a:lvl6pPr>
            <a:lvl7pPr>
              <a:defRPr sz="2700" b="1">
                <a:solidFill>
                  <a:srgbClr val="AEF4BB"/>
                </a:solidFill>
                <a:latin typeface="Arial"/>
                <a:ea typeface="Arial"/>
                <a:cs typeface="Arial"/>
              </a:defRPr>
            </a:lvl7pPr>
            <a:lvl8pPr>
              <a:defRPr sz="2700" b="1">
                <a:solidFill>
                  <a:srgbClr val="AEF4BB"/>
                </a:solidFill>
                <a:latin typeface="Arial"/>
                <a:ea typeface="Arial"/>
                <a:cs typeface="Arial"/>
              </a:defRPr>
            </a:lvl8pPr>
            <a:lvl9pPr>
              <a:defRPr sz="2700" b="1">
                <a:solidFill>
                  <a:srgbClr val="AEF4BB"/>
                </a:solidFill>
                <a:latin typeface="Arial"/>
                <a:ea typeface="Arial"/>
                <a:cs typeface="Arial"/>
              </a:defRPr>
            </a:lvl9pPr>
          </a:lstStyle>
          <a:p xmlns:a="http://schemas.openxmlformats.org/drawingml/2006/main">
            <a:pPr>
              <a:defRPr sz="2700" b="1">
                <a:solidFill>
                  <a:srgbClr val="AEF4BB"/>
                </a:solidFill>
                <a:latin typeface="Arial"/>
                <a:ea typeface="Arial"/>
                <a:cs typeface="Arial"/>
              </a:defRPr>
            </a:pPr>
            <a:r>
              <a:rPr sz="2700" b="1">
                <a:solidFill>
                  <a:srgbClr val="AEF4BB"/>
                </a:solidFill>
                <a:latin typeface="Arial"/>
                <a:ea typeface="Arial"/>
                <a:cs typeface="Arial"/>
              </a:rPr>
              <a:t>Ejercicio: dos muestras se dibujaron iguales, pero una entra y otra no.</a:t>
            </a:r>
          </a:p>
        </p:txBody>
      </p:sp>
      <p:sp>
        <p:nvSpPr>
          <p:cNvPr id="5" name="">
            <a:extLst xmlns:a="http://schemas.openxmlformats.org/drawingml/2006/main">
              <a:ext uri="{FF2B5EF4-FFF2-40B4-BE49-F238E27FC236}">
                <a16:creationId xmlns:a16="http://schemas.microsoft.com/office/drawing/2014/main" id="{2765C0A4-820B-4FBA-8399-90C0094E5D13}"/>
              </a:ext>
            </a:extLst>
          </p:cNvPr>
          <p:cNvSpPr>
            <a:spLocks xmlns:a="http://schemas.openxmlformats.org/drawingml/2006/main" noGrp="1"/>
          </p:cNvSpPr>
          <p:nvPr/>
        </p:nvSpPr>
        <p:spPr>
          <a:xfrm xmlns:a="http://schemas.openxmlformats.org/drawingml/2006/main">
            <a:off x="590550" y="4629150"/>
            <a:ext cx="10715625" cy="1162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250" b="0">
                <a:solidFill>
                  <a:srgbClr val="FCFCF8"/>
                </a:solidFill>
                <a:latin typeface="Arial"/>
                <a:ea typeface="Arial"/>
                <a:cs typeface="Arial"/>
              </a:defRPr>
            </a:defPPr>
            <a:lvl1pPr>
              <a:defRPr sz="2250" b="0">
                <a:solidFill>
                  <a:srgbClr val="FCFCF8"/>
                </a:solidFill>
                <a:latin typeface="Arial"/>
                <a:ea typeface="Arial"/>
                <a:cs typeface="Arial"/>
              </a:defRPr>
            </a:lvl1pPr>
            <a:lvl2pPr>
              <a:defRPr sz="2250" b="0">
                <a:solidFill>
                  <a:srgbClr val="FCFCF8"/>
                </a:solidFill>
                <a:latin typeface="Arial"/>
                <a:ea typeface="Arial"/>
                <a:cs typeface="Arial"/>
              </a:defRPr>
            </a:lvl2pPr>
            <a:lvl3pPr>
              <a:defRPr sz="2250" b="0">
                <a:solidFill>
                  <a:srgbClr val="FCFCF8"/>
                </a:solidFill>
                <a:latin typeface="Arial"/>
                <a:ea typeface="Arial"/>
                <a:cs typeface="Arial"/>
              </a:defRPr>
            </a:lvl3pPr>
            <a:lvl4pPr>
              <a:defRPr sz="2250" b="0">
                <a:solidFill>
                  <a:srgbClr val="FCFCF8"/>
                </a:solidFill>
                <a:latin typeface="Arial"/>
                <a:ea typeface="Arial"/>
                <a:cs typeface="Arial"/>
              </a:defRPr>
            </a:lvl4pPr>
            <a:lvl5pPr>
              <a:defRPr sz="2250" b="0">
                <a:solidFill>
                  <a:srgbClr val="FCFCF8"/>
                </a:solidFill>
                <a:latin typeface="Arial"/>
                <a:ea typeface="Arial"/>
                <a:cs typeface="Arial"/>
              </a:defRPr>
            </a:lvl5pPr>
            <a:lvl6pPr>
              <a:defRPr sz="2250" b="0">
                <a:solidFill>
                  <a:srgbClr val="FCFCF8"/>
                </a:solidFill>
                <a:latin typeface="Arial"/>
                <a:ea typeface="Arial"/>
                <a:cs typeface="Arial"/>
              </a:defRPr>
            </a:lvl6pPr>
            <a:lvl7pPr>
              <a:defRPr sz="2250" b="0">
                <a:solidFill>
                  <a:srgbClr val="FCFCF8"/>
                </a:solidFill>
                <a:latin typeface="Arial"/>
                <a:ea typeface="Arial"/>
                <a:cs typeface="Arial"/>
              </a:defRPr>
            </a:lvl7pPr>
            <a:lvl8pPr>
              <a:defRPr sz="2250" b="0">
                <a:solidFill>
                  <a:srgbClr val="FCFCF8"/>
                </a:solidFill>
                <a:latin typeface="Arial"/>
                <a:ea typeface="Arial"/>
                <a:cs typeface="Arial"/>
              </a:defRPr>
            </a:lvl8pPr>
            <a:lvl9pPr>
              <a:defRPr sz="2250" b="0">
                <a:solidFill>
                  <a:srgbClr val="FCFCF8"/>
                </a:solidFill>
                <a:latin typeface="Arial"/>
                <a:ea typeface="Arial"/>
                <a:cs typeface="Arial"/>
              </a:defRPr>
            </a:lvl9pPr>
          </a:lstStyle>
          <a:p xmlns:a="http://schemas.openxmlformats.org/drawingml/2006/main">
            <a:pPr>
              <a:defRPr sz="2250" b="0">
                <a:solidFill>
                  <a:srgbClr val="FCFCF8"/>
                </a:solidFill>
                <a:latin typeface="Arial"/>
                <a:ea typeface="Arial"/>
                <a:cs typeface="Arial"/>
              </a:defRPr>
            </a:pPr>
            <a:r>
              <a:rPr sz="2250" b="0">
                <a:solidFill>
                  <a:srgbClr val="FCFCF8"/>
                </a:solidFill>
                <a:latin typeface="Arial"/>
                <a:ea typeface="Arial"/>
                <a:cs typeface="Arial"/>
              </a:rPr>
              <a:t>¿Desde qué superficies se midió?</a:t>
            </a:r>
          </a:p>
        </p:txBody>
      </p:sp>
    </p:spTree>
    <p:extLst>
      <p:ext uri="{BB962C8B-B14F-4D97-AF65-F5344CB8AC3E}">
        <p14:creationId xmlns:p14="http://schemas.microsoft.com/office/powerpoint/2010/main" val="1015756661"/>
      </p:ext>
    </p:extLst>
  </p:cSld>
</p:sld>
</file>

<file path=ppt/slides/slide32.xml><?xml version="1.0" encoding="utf-8"?>
<p:sld xmlns:p="http://schemas.openxmlformats.org/presentationml/2006/main">
  <p:cSld>
    <p:bg>
      <p:bgPr>
        <a:solidFill xmlns:a="http://schemas.openxmlformats.org/drawingml/2006/main">
          <a:srgbClr val="FCFCF8"/>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14FB5F41-F488-451B-A133-08D6D50DCB7A}"/>
              </a:ext>
            </a:extLst>
          </p:cNvPr>
          <p:cNvSpPr>
            <a:spLocks xmlns:a="http://schemas.openxmlformats.org/drawingml/2006/main" noGrp="1"/>
          </p:cNvSpPr>
          <p:nvPr/>
        </p:nvSpPr>
        <p:spPr>
          <a:xfrm xmlns:a="http://schemas.openxmlformats.org/drawingml/2006/main">
            <a:off x="590550" y="428625"/>
            <a:ext cx="100965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75" b="1">
                <a:solidFill>
                  <a:srgbClr val="14231E"/>
                </a:solidFill>
                <a:latin typeface="Arial Narrow"/>
                <a:ea typeface="Arial Narrow"/>
                <a:cs typeface="Arial Narrow"/>
              </a:defRPr>
            </a:defPPr>
            <a:lvl1pPr>
              <a:defRPr sz="3375" b="1">
                <a:solidFill>
                  <a:srgbClr val="14231E"/>
                </a:solidFill>
                <a:latin typeface="Arial Narrow"/>
                <a:ea typeface="Arial Narrow"/>
                <a:cs typeface="Arial Narrow"/>
              </a:defRPr>
            </a:lvl1pPr>
            <a:lvl2pPr>
              <a:defRPr sz="3375" b="1">
                <a:solidFill>
                  <a:srgbClr val="14231E"/>
                </a:solidFill>
                <a:latin typeface="Arial Narrow"/>
                <a:ea typeface="Arial Narrow"/>
                <a:cs typeface="Arial Narrow"/>
              </a:defRPr>
            </a:lvl2pPr>
            <a:lvl3pPr>
              <a:defRPr sz="3375" b="1">
                <a:solidFill>
                  <a:srgbClr val="14231E"/>
                </a:solidFill>
                <a:latin typeface="Arial Narrow"/>
                <a:ea typeface="Arial Narrow"/>
                <a:cs typeface="Arial Narrow"/>
              </a:defRPr>
            </a:lvl3pPr>
            <a:lvl4pPr>
              <a:defRPr sz="3375" b="1">
                <a:solidFill>
                  <a:srgbClr val="14231E"/>
                </a:solidFill>
                <a:latin typeface="Arial Narrow"/>
                <a:ea typeface="Arial Narrow"/>
                <a:cs typeface="Arial Narrow"/>
              </a:defRPr>
            </a:lvl4pPr>
            <a:lvl5pPr>
              <a:defRPr sz="3375" b="1">
                <a:solidFill>
                  <a:srgbClr val="14231E"/>
                </a:solidFill>
                <a:latin typeface="Arial Narrow"/>
                <a:ea typeface="Arial Narrow"/>
                <a:cs typeface="Arial Narrow"/>
              </a:defRPr>
            </a:lvl5pPr>
            <a:lvl6pPr>
              <a:defRPr sz="3375" b="1">
                <a:solidFill>
                  <a:srgbClr val="14231E"/>
                </a:solidFill>
                <a:latin typeface="Arial Narrow"/>
                <a:ea typeface="Arial Narrow"/>
                <a:cs typeface="Arial Narrow"/>
              </a:defRPr>
            </a:lvl6pPr>
            <a:lvl7pPr>
              <a:defRPr sz="3375" b="1">
                <a:solidFill>
                  <a:srgbClr val="14231E"/>
                </a:solidFill>
                <a:latin typeface="Arial Narrow"/>
                <a:ea typeface="Arial Narrow"/>
                <a:cs typeface="Arial Narrow"/>
              </a:defRPr>
            </a:lvl7pPr>
            <a:lvl8pPr>
              <a:defRPr sz="3375" b="1">
                <a:solidFill>
                  <a:srgbClr val="14231E"/>
                </a:solidFill>
                <a:latin typeface="Arial Narrow"/>
                <a:ea typeface="Arial Narrow"/>
                <a:cs typeface="Arial Narrow"/>
              </a:defRPr>
            </a:lvl8pPr>
            <a:lvl9pPr>
              <a:defRPr sz="3375" b="1">
                <a:solidFill>
                  <a:srgbClr val="14231E"/>
                </a:solidFill>
                <a:latin typeface="Arial Narrow"/>
                <a:ea typeface="Arial Narrow"/>
                <a:cs typeface="Arial Narrow"/>
              </a:defRPr>
            </a:lvl9pPr>
          </a:lstStyle>
          <a:p xmlns:a="http://schemas.openxmlformats.org/drawingml/2006/main">
            <a:pPr>
              <a:defRPr sz="3375" b="1">
                <a:solidFill>
                  <a:srgbClr val="14231E"/>
                </a:solidFill>
                <a:latin typeface="Arial Narrow"/>
                <a:ea typeface="Arial Narrow"/>
                <a:cs typeface="Arial Narrow"/>
              </a:defRPr>
            </a:pPr>
            <a:r>
              <a:rPr sz="3375" b="1">
                <a:solidFill>
                  <a:srgbClr val="14231E"/>
                </a:solidFill>
                <a:latin typeface="Arial Narrow"/>
                <a:ea typeface="Arial Narrow"/>
                <a:cs typeface="Arial Narrow"/>
              </a:rPr>
              <a:t>Estación de presentación: el conjunto sin pegar</a:t>
            </a:r>
          </a:p>
        </p:txBody>
      </p:sp>
      <p:pic>
        <p:nvPicPr>
          <p:cNvPr id="2" name="">
            <a:extLst xmlns:a="http://schemas.openxmlformats.org/drawingml/2006/main">
              <a:ext uri="{FF2B5EF4-FFF2-40B4-BE49-F238E27FC236}">
                <a16:creationId xmlns:a16="http://schemas.microsoft.com/office/drawing/2014/main" id="{A2E09D9E-06FD-4689-AF1B-6F1B8C82578F}"/>
              </a:ext>
            </a:extLst>
          </p:cNvPr>
          <p:cNvPicPr>
            <a:picLocks xmlns:a="http://schemas.openxmlformats.org/drawingml/2006/main" noChangeAspect="1"/>
          </p:cNvPicPr>
          <p:nvPr/>
        </p:nvPicPr>
        <p:blipFill>
          <a:blip xmlns:r="http://schemas.openxmlformats.org/officeDocument/2006/relationships" xmlns:a="http://schemas.openxmlformats.org/drawingml/2006/main" r:embed="Ra3604d5d8a1f4ecb"/>
          <a:stretch xmlns:a="http://schemas.openxmlformats.org/drawingml/2006/main"/>
        </p:blipFill>
        <p:spPr>
          <a:xfrm xmlns:a="http://schemas.openxmlformats.org/drawingml/2006/main">
            <a:off x="10858500" y="337942"/>
            <a:ext cx="762000" cy="276616"/>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0D4DE8BF-3048-4CEB-BDF5-31F8E4673E2D}"/>
              </a:ext>
            </a:extLst>
          </p:cNvPr>
          <p:cNvSpPr>
            <a:spLocks xmlns:a="http://schemas.openxmlformats.org/drawingml/2006/main" noGrp="1"/>
          </p:cNvSpPr>
          <p:nvPr/>
        </p:nvSpPr>
        <p:spPr>
          <a:xfrm xmlns:a="http://schemas.openxmlformats.org/drawingml/2006/main">
            <a:off x="590550" y="6467475"/>
            <a:ext cx="108108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58665F"/>
                </a:solidFill>
                <a:latin typeface="Consolas"/>
                <a:ea typeface="Consolas"/>
                <a:cs typeface="Consolas"/>
              </a:defRPr>
            </a:defPPr>
            <a:lvl1pPr>
              <a:defRPr sz="1125" b="0">
                <a:solidFill>
                  <a:srgbClr val="58665F"/>
                </a:solidFill>
                <a:latin typeface="Consolas"/>
                <a:ea typeface="Consolas"/>
                <a:cs typeface="Consolas"/>
              </a:defRPr>
            </a:lvl1pPr>
            <a:lvl2pPr>
              <a:defRPr sz="1125" b="0">
                <a:solidFill>
                  <a:srgbClr val="58665F"/>
                </a:solidFill>
                <a:latin typeface="Consolas"/>
                <a:ea typeface="Consolas"/>
                <a:cs typeface="Consolas"/>
              </a:defRPr>
            </a:lvl2pPr>
            <a:lvl3pPr>
              <a:defRPr sz="1125" b="0">
                <a:solidFill>
                  <a:srgbClr val="58665F"/>
                </a:solidFill>
                <a:latin typeface="Consolas"/>
                <a:ea typeface="Consolas"/>
                <a:cs typeface="Consolas"/>
              </a:defRPr>
            </a:lvl3pPr>
            <a:lvl4pPr>
              <a:defRPr sz="1125" b="0">
                <a:solidFill>
                  <a:srgbClr val="58665F"/>
                </a:solidFill>
                <a:latin typeface="Consolas"/>
                <a:ea typeface="Consolas"/>
                <a:cs typeface="Consolas"/>
              </a:defRPr>
            </a:lvl4pPr>
            <a:lvl5pPr>
              <a:defRPr sz="1125" b="0">
                <a:solidFill>
                  <a:srgbClr val="58665F"/>
                </a:solidFill>
                <a:latin typeface="Consolas"/>
                <a:ea typeface="Consolas"/>
                <a:cs typeface="Consolas"/>
              </a:defRPr>
            </a:lvl5pPr>
            <a:lvl6pPr>
              <a:defRPr sz="1125" b="0">
                <a:solidFill>
                  <a:srgbClr val="58665F"/>
                </a:solidFill>
                <a:latin typeface="Consolas"/>
                <a:ea typeface="Consolas"/>
                <a:cs typeface="Consolas"/>
              </a:defRPr>
            </a:lvl6pPr>
            <a:lvl7pPr>
              <a:defRPr sz="1125" b="0">
                <a:solidFill>
                  <a:srgbClr val="58665F"/>
                </a:solidFill>
                <a:latin typeface="Consolas"/>
                <a:ea typeface="Consolas"/>
                <a:cs typeface="Consolas"/>
              </a:defRPr>
            </a:lvl7pPr>
            <a:lvl8pPr>
              <a:defRPr sz="1125" b="0">
                <a:solidFill>
                  <a:srgbClr val="58665F"/>
                </a:solidFill>
                <a:latin typeface="Consolas"/>
                <a:ea typeface="Consolas"/>
                <a:cs typeface="Consolas"/>
              </a:defRPr>
            </a:lvl8pPr>
            <a:lvl9pPr>
              <a:defRPr sz="1125" b="0">
                <a:solidFill>
                  <a:srgbClr val="58665F"/>
                </a:solidFill>
                <a:latin typeface="Consolas"/>
                <a:ea typeface="Consolas"/>
                <a:cs typeface="Consolas"/>
              </a:defRPr>
            </a:lvl9pPr>
          </a:lstStyle>
          <a:p xmlns:a="http://schemas.openxmlformats.org/drawingml/2006/main">
            <a:pPr>
              <a:defRPr sz="1125" b="0">
                <a:solidFill>
                  <a:srgbClr val="58665F"/>
                </a:solidFill>
                <a:latin typeface="Consolas"/>
                <a:ea typeface="Consolas"/>
                <a:cs typeface="Consolas"/>
              </a:defRPr>
            </a:pPr>
            <a:r>
              <a:rPr sz="1125" b="0">
                <a:solidFill>
                  <a:srgbClr val="58665F"/>
                </a:solidFill>
                <a:latin typeface="Consolas"/>
                <a:ea typeface="Consolas"/>
                <a:cs typeface="Consolas"/>
              </a:rPr>
              <a:t>MECRO   SEMANA 3   CLASE 06   08/24</a:t>
            </a:r>
          </a:p>
        </p:txBody>
      </p:sp>
      <p:sp>
        <p:nvSpPr>
          <p:cNvPr id="4" name="">
            <a:extLst xmlns:a="http://schemas.openxmlformats.org/drawingml/2006/main">
              <a:ext uri="{FF2B5EF4-FFF2-40B4-BE49-F238E27FC236}">
                <a16:creationId xmlns:a16="http://schemas.microsoft.com/office/drawing/2014/main" id="{EB2489BE-E838-4389-BEE6-451385CC669F}"/>
              </a:ext>
            </a:extLst>
          </p:cNvPr>
          <p:cNvSpPr>
            <a:spLocks xmlns:a="http://schemas.openxmlformats.org/drawingml/2006/main" noGrp="1"/>
          </p:cNvSpPr>
          <p:nvPr/>
        </p:nvSpPr>
        <p:spPr>
          <a:xfrm xmlns:a="http://schemas.openxmlformats.org/drawingml/2006/main">
            <a:off x="590550" y="1743075"/>
            <a:ext cx="10810875" cy="425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325" b="0">
                <a:solidFill>
                  <a:srgbClr val="14231E"/>
                </a:solidFill>
                <a:latin typeface="Arial"/>
                <a:ea typeface="Arial"/>
                <a:cs typeface="Arial"/>
              </a:defRPr>
            </a:defPPr>
            <a:lvl1pPr>
              <a:defRPr sz="2325" b="0">
                <a:solidFill>
                  <a:srgbClr val="14231E"/>
                </a:solidFill>
                <a:latin typeface="Arial"/>
                <a:ea typeface="Arial"/>
                <a:cs typeface="Arial"/>
              </a:defRPr>
            </a:lvl1pPr>
            <a:lvl2pPr>
              <a:defRPr sz="2325" b="0">
                <a:solidFill>
                  <a:srgbClr val="14231E"/>
                </a:solidFill>
                <a:latin typeface="Arial"/>
                <a:ea typeface="Arial"/>
                <a:cs typeface="Arial"/>
              </a:defRPr>
            </a:lvl2pPr>
            <a:lvl3pPr>
              <a:defRPr sz="2325" b="0">
                <a:solidFill>
                  <a:srgbClr val="14231E"/>
                </a:solidFill>
                <a:latin typeface="Arial"/>
                <a:ea typeface="Arial"/>
                <a:cs typeface="Arial"/>
              </a:defRPr>
            </a:lvl3pPr>
            <a:lvl4pPr>
              <a:defRPr sz="2325" b="0">
                <a:solidFill>
                  <a:srgbClr val="14231E"/>
                </a:solidFill>
                <a:latin typeface="Arial"/>
                <a:ea typeface="Arial"/>
                <a:cs typeface="Arial"/>
              </a:defRPr>
            </a:lvl4pPr>
            <a:lvl5pPr>
              <a:defRPr sz="2325" b="0">
                <a:solidFill>
                  <a:srgbClr val="14231E"/>
                </a:solidFill>
                <a:latin typeface="Arial"/>
                <a:ea typeface="Arial"/>
                <a:cs typeface="Arial"/>
              </a:defRPr>
            </a:lvl5pPr>
            <a:lvl6pPr>
              <a:defRPr sz="2325" b="0">
                <a:solidFill>
                  <a:srgbClr val="14231E"/>
                </a:solidFill>
                <a:latin typeface="Arial"/>
                <a:ea typeface="Arial"/>
                <a:cs typeface="Arial"/>
              </a:defRPr>
            </a:lvl6pPr>
            <a:lvl7pPr>
              <a:defRPr sz="2325" b="0">
                <a:solidFill>
                  <a:srgbClr val="14231E"/>
                </a:solidFill>
                <a:latin typeface="Arial"/>
                <a:ea typeface="Arial"/>
                <a:cs typeface="Arial"/>
              </a:defRPr>
            </a:lvl7pPr>
            <a:lvl8pPr>
              <a:defRPr sz="2325" b="0">
                <a:solidFill>
                  <a:srgbClr val="14231E"/>
                </a:solidFill>
                <a:latin typeface="Arial"/>
                <a:ea typeface="Arial"/>
                <a:cs typeface="Arial"/>
              </a:defRPr>
            </a:lvl8pPr>
            <a:lvl9pPr>
              <a:defRPr sz="2325" b="0">
                <a:solidFill>
                  <a:srgbClr val="14231E"/>
                </a:solidFill>
                <a:latin typeface="Arial"/>
                <a:ea typeface="Arial"/>
                <a:cs typeface="Arial"/>
              </a:defRPr>
            </a:lvl9pPr>
          </a:lstStyle>
          <a:p xmlns:a="http://schemas.openxmlformats.org/drawingml/2006/main">
            <a:pPr>
              <a:defRPr sz="2325" b="0">
                <a:solidFill>
                  <a:srgbClr val="14231E"/>
                </a:solidFill>
                <a:latin typeface="Arial"/>
                <a:ea typeface="Arial"/>
                <a:cs typeface="Arial"/>
              </a:defRPr>
            </a:pPr>
            <a:r>
              <a:rPr sz="2325" b="0">
                <a:solidFill>
                  <a:srgbClr val="14231E"/>
                </a:solidFill>
                <a:latin typeface="Arial"/>
                <a:ea typeface="Arial"/>
                <a:cs typeface="Arial"/>
              </a:rPr>
              <a:t>La presentación también permite discutir cómo sostener el objeto mientras se fabrica. Si el útil impide acceder a una unión o tapa una referencia necesaria, debe corregirse. Una herramienta de montaje se evalúa por el trabajo que permite hacer.</a:t>
            </a:r>
          </a:p>
        </p:txBody>
      </p:sp>
    </p:spTree>
    <p:extLst>
      <p:ext uri="{BB962C8B-B14F-4D97-AF65-F5344CB8AC3E}">
        <p14:creationId xmlns:p14="http://schemas.microsoft.com/office/powerpoint/2010/main" val="1504369470"/>
      </p:ext>
    </p:extLst>
  </p:cSld>
</p:sld>
</file>

<file path=ppt/slides/slide33.xml><?xml version="1.0" encoding="utf-8"?>
<p:sld xmlns:p="http://schemas.openxmlformats.org/presentationml/2006/main">
  <p:cSld>
    <p:bg>
      <p:bgPr>
        <a:solidFill xmlns:a="http://schemas.openxmlformats.org/drawingml/2006/main">
          <a:srgbClr val="FCFCF8"/>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89665F8A-D7B2-4FE6-A987-AFD488522A60}"/>
              </a:ext>
            </a:extLst>
          </p:cNvPr>
          <p:cNvSpPr>
            <a:spLocks xmlns:a="http://schemas.openxmlformats.org/drawingml/2006/main" noGrp="1"/>
          </p:cNvSpPr>
          <p:nvPr/>
        </p:nvSpPr>
        <p:spPr>
          <a:xfrm xmlns:a="http://schemas.openxmlformats.org/drawingml/2006/main">
            <a:off x="590550" y="428625"/>
            <a:ext cx="100965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75" b="1">
                <a:solidFill>
                  <a:srgbClr val="14231E"/>
                </a:solidFill>
                <a:latin typeface="Arial Narrow"/>
                <a:ea typeface="Arial Narrow"/>
                <a:cs typeface="Arial Narrow"/>
              </a:defRPr>
            </a:defPPr>
            <a:lvl1pPr>
              <a:defRPr sz="3375" b="1">
                <a:solidFill>
                  <a:srgbClr val="14231E"/>
                </a:solidFill>
                <a:latin typeface="Arial Narrow"/>
                <a:ea typeface="Arial Narrow"/>
                <a:cs typeface="Arial Narrow"/>
              </a:defRPr>
            </a:lvl1pPr>
            <a:lvl2pPr>
              <a:defRPr sz="3375" b="1">
                <a:solidFill>
                  <a:srgbClr val="14231E"/>
                </a:solidFill>
                <a:latin typeface="Arial Narrow"/>
                <a:ea typeface="Arial Narrow"/>
                <a:cs typeface="Arial Narrow"/>
              </a:defRPr>
            </a:lvl2pPr>
            <a:lvl3pPr>
              <a:defRPr sz="3375" b="1">
                <a:solidFill>
                  <a:srgbClr val="14231E"/>
                </a:solidFill>
                <a:latin typeface="Arial Narrow"/>
                <a:ea typeface="Arial Narrow"/>
                <a:cs typeface="Arial Narrow"/>
              </a:defRPr>
            </a:lvl3pPr>
            <a:lvl4pPr>
              <a:defRPr sz="3375" b="1">
                <a:solidFill>
                  <a:srgbClr val="14231E"/>
                </a:solidFill>
                <a:latin typeface="Arial Narrow"/>
                <a:ea typeface="Arial Narrow"/>
                <a:cs typeface="Arial Narrow"/>
              </a:defRPr>
            </a:lvl4pPr>
            <a:lvl5pPr>
              <a:defRPr sz="3375" b="1">
                <a:solidFill>
                  <a:srgbClr val="14231E"/>
                </a:solidFill>
                <a:latin typeface="Arial Narrow"/>
                <a:ea typeface="Arial Narrow"/>
                <a:cs typeface="Arial Narrow"/>
              </a:defRPr>
            </a:lvl5pPr>
            <a:lvl6pPr>
              <a:defRPr sz="3375" b="1">
                <a:solidFill>
                  <a:srgbClr val="14231E"/>
                </a:solidFill>
                <a:latin typeface="Arial Narrow"/>
                <a:ea typeface="Arial Narrow"/>
                <a:cs typeface="Arial Narrow"/>
              </a:defRPr>
            </a:lvl6pPr>
            <a:lvl7pPr>
              <a:defRPr sz="3375" b="1">
                <a:solidFill>
                  <a:srgbClr val="14231E"/>
                </a:solidFill>
                <a:latin typeface="Arial Narrow"/>
                <a:ea typeface="Arial Narrow"/>
                <a:cs typeface="Arial Narrow"/>
              </a:defRPr>
            </a:lvl7pPr>
            <a:lvl8pPr>
              <a:defRPr sz="3375" b="1">
                <a:solidFill>
                  <a:srgbClr val="14231E"/>
                </a:solidFill>
                <a:latin typeface="Arial Narrow"/>
                <a:ea typeface="Arial Narrow"/>
                <a:cs typeface="Arial Narrow"/>
              </a:defRPr>
            </a:lvl8pPr>
            <a:lvl9pPr>
              <a:defRPr sz="3375" b="1">
                <a:solidFill>
                  <a:srgbClr val="14231E"/>
                </a:solidFill>
                <a:latin typeface="Arial Narrow"/>
                <a:ea typeface="Arial Narrow"/>
                <a:cs typeface="Arial Narrow"/>
              </a:defRPr>
            </a:lvl9pPr>
          </a:lstStyle>
          <a:p xmlns:a="http://schemas.openxmlformats.org/drawingml/2006/main">
            <a:pPr>
              <a:defRPr sz="3375" b="1">
                <a:solidFill>
                  <a:srgbClr val="14231E"/>
                </a:solidFill>
                <a:latin typeface="Arial Narrow"/>
                <a:ea typeface="Arial Narrow"/>
                <a:cs typeface="Arial Narrow"/>
              </a:defRPr>
            </a:pPr>
            <a:r>
              <a:rPr sz="3375" b="1">
                <a:solidFill>
                  <a:srgbClr val="14231E"/>
                </a:solidFill>
                <a:latin typeface="Arial Narrow"/>
                <a:ea typeface="Arial Narrow"/>
                <a:cs typeface="Arial Narrow"/>
              </a:rPr>
              <a:t>Estación de presentación: el conjunto sin pegar</a:t>
            </a:r>
          </a:p>
        </p:txBody>
      </p:sp>
      <p:pic>
        <p:nvPicPr>
          <p:cNvPr id="2" name="">
            <a:extLst xmlns:a="http://schemas.openxmlformats.org/drawingml/2006/main">
              <a:ext uri="{FF2B5EF4-FFF2-40B4-BE49-F238E27FC236}">
                <a16:creationId xmlns:a16="http://schemas.microsoft.com/office/drawing/2014/main" id="{4146C00E-858E-4BA0-8E85-0D2FAD13038A}"/>
              </a:ext>
            </a:extLst>
          </p:cNvPr>
          <p:cNvPicPr>
            <a:picLocks xmlns:a="http://schemas.openxmlformats.org/drawingml/2006/main" noChangeAspect="1"/>
          </p:cNvPicPr>
          <p:nvPr/>
        </p:nvPicPr>
        <p:blipFill>
          <a:blip xmlns:r="http://schemas.openxmlformats.org/officeDocument/2006/relationships" xmlns:a="http://schemas.openxmlformats.org/drawingml/2006/main" r:embed="R07d89c004d6b4155"/>
          <a:stretch xmlns:a="http://schemas.openxmlformats.org/drawingml/2006/main"/>
        </p:blipFill>
        <p:spPr>
          <a:xfrm xmlns:a="http://schemas.openxmlformats.org/drawingml/2006/main">
            <a:off x="10858500" y="337942"/>
            <a:ext cx="762000" cy="276616"/>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688D6AC6-7E8A-494C-97E6-580F3C36764A}"/>
              </a:ext>
            </a:extLst>
          </p:cNvPr>
          <p:cNvSpPr>
            <a:spLocks xmlns:a="http://schemas.openxmlformats.org/drawingml/2006/main" noGrp="1"/>
          </p:cNvSpPr>
          <p:nvPr/>
        </p:nvSpPr>
        <p:spPr>
          <a:xfrm xmlns:a="http://schemas.openxmlformats.org/drawingml/2006/main">
            <a:off x="590550" y="6467475"/>
            <a:ext cx="108108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58665F"/>
                </a:solidFill>
                <a:latin typeface="Consolas"/>
                <a:ea typeface="Consolas"/>
                <a:cs typeface="Consolas"/>
              </a:defRPr>
            </a:defPPr>
            <a:lvl1pPr>
              <a:defRPr sz="1125" b="0">
                <a:solidFill>
                  <a:srgbClr val="58665F"/>
                </a:solidFill>
                <a:latin typeface="Consolas"/>
                <a:ea typeface="Consolas"/>
                <a:cs typeface="Consolas"/>
              </a:defRPr>
            </a:lvl1pPr>
            <a:lvl2pPr>
              <a:defRPr sz="1125" b="0">
                <a:solidFill>
                  <a:srgbClr val="58665F"/>
                </a:solidFill>
                <a:latin typeface="Consolas"/>
                <a:ea typeface="Consolas"/>
                <a:cs typeface="Consolas"/>
              </a:defRPr>
            </a:lvl2pPr>
            <a:lvl3pPr>
              <a:defRPr sz="1125" b="0">
                <a:solidFill>
                  <a:srgbClr val="58665F"/>
                </a:solidFill>
                <a:latin typeface="Consolas"/>
                <a:ea typeface="Consolas"/>
                <a:cs typeface="Consolas"/>
              </a:defRPr>
            </a:lvl3pPr>
            <a:lvl4pPr>
              <a:defRPr sz="1125" b="0">
                <a:solidFill>
                  <a:srgbClr val="58665F"/>
                </a:solidFill>
                <a:latin typeface="Consolas"/>
                <a:ea typeface="Consolas"/>
                <a:cs typeface="Consolas"/>
              </a:defRPr>
            </a:lvl4pPr>
            <a:lvl5pPr>
              <a:defRPr sz="1125" b="0">
                <a:solidFill>
                  <a:srgbClr val="58665F"/>
                </a:solidFill>
                <a:latin typeface="Consolas"/>
                <a:ea typeface="Consolas"/>
                <a:cs typeface="Consolas"/>
              </a:defRPr>
            </a:lvl5pPr>
            <a:lvl6pPr>
              <a:defRPr sz="1125" b="0">
                <a:solidFill>
                  <a:srgbClr val="58665F"/>
                </a:solidFill>
                <a:latin typeface="Consolas"/>
                <a:ea typeface="Consolas"/>
                <a:cs typeface="Consolas"/>
              </a:defRPr>
            </a:lvl6pPr>
            <a:lvl7pPr>
              <a:defRPr sz="1125" b="0">
                <a:solidFill>
                  <a:srgbClr val="58665F"/>
                </a:solidFill>
                <a:latin typeface="Consolas"/>
                <a:ea typeface="Consolas"/>
                <a:cs typeface="Consolas"/>
              </a:defRPr>
            </a:lvl7pPr>
            <a:lvl8pPr>
              <a:defRPr sz="1125" b="0">
                <a:solidFill>
                  <a:srgbClr val="58665F"/>
                </a:solidFill>
                <a:latin typeface="Consolas"/>
                <a:ea typeface="Consolas"/>
                <a:cs typeface="Consolas"/>
              </a:defRPr>
            </a:lvl8pPr>
            <a:lvl9pPr>
              <a:defRPr sz="1125" b="0">
                <a:solidFill>
                  <a:srgbClr val="58665F"/>
                </a:solidFill>
                <a:latin typeface="Consolas"/>
                <a:ea typeface="Consolas"/>
                <a:cs typeface="Consolas"/>
              </a:defRPr>
            </a:lvl9pPr>
          </a:lstStyle>
          <a:p xmlns:a="http://schemas.openxmlformats.org/drawingml/2006/main">
            <a:pPr>
              <a:defRPr sz="1125" b="0">
                <a:solidFill>
                  <a:srgbClr val="58665F"/>
                </a:solidFill>
                <a:latin typeface="Consolas"/>
                <a:ea typeface="Consolas"/>
                <a:cs typeface="Consolas"/>
              </a:defRPr>
            </a:pPr>
            <a:r>
              <a:rPr sz="1125" b="0">
                <a:solidFill>
                  <a:srgbClr val="58665F"/>
                </a:solidFill>
                <a:latin typeface="Consolas"/>
                <a:ea typeface="Consolas"/>
                <a:cs typeface="Consolas"/>
              </a:rPr>
              <a:t>MECRO   SEMANA 3   CLASE 06   09/24</a:t>
            </a:r>
          </a:p>
        </p:txBody>
      </p:sp>
      <p:pic>
        <p:nvPicPr>
          <p:cNvPr id="4" name="">
            <a:extLst xmlns:a="http://schemas.openxmlformats.org/drawingml/2006/main">
              <a:ext uri="{FF2B5EF4-FFF2-40B4-BE49-F238E27FC236}">
                <a16:creationId xmlns:a16="http://schemas.microsoft.com/office/drawing/2014/main" id="{3E2D5443-1897-4DD4-9DBB-FE4507D68BB9}"/>
              </a:ext>
            </a:extLst>
          </p:cNvPr>
          <p:cNvPicPr>
            <a:picLocks xmlns:a="http://schemas.openxmlformats.org/drawingml/2006/main" noChangeAspect="1"/>
          </p:cNvPicPr>
          <p:nvPr/>
        </p:nvPicPr>
        <p:blipFill>
          <a:blip xmlns:r="http://schemas.openxmlformats.org/officeDocument/2006/relationships" xmlns:a="http://schemas.openxmlformats.org/drawingml/2006/main" r:embed="Rd0346c6dfe0e4fab"/>
          <a:stretch xmlns:a="http://schemas.openxmlformats.org/drawingml/2006/main"/>
        </p:blipFill>
        <p:spPr>
          <a:xfrm xmlns:a="http://schemas.openxmlformats.org/drawingml/2006/main">
            <a:off x="1279525" y="1657350"/>
            <a:ext cx="6032500" cy="3981450"/>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E0D3F3A6-6435-4EFA-B8EB-600B8B9199FD}"/>
              </a:ext>
            </a:extLst>
          </p:cNvPr>
          <p:cNvSpPr>
            <a:spLocks xmlns:a="http://schemas.openxmlformats.org/drawingml/2006/main" noGrp="1"/>
          </p:cNvSpPr>
          <p:nvPr/>
        </p:nvSpPr>
        <p:spPr>
          <a:xfrm xmlns:a="http://schemas.openxmlformats.org/drawingml/2006/main">
            <a:off x="8315325" y="1781175"/>
            <a:ext cx="3248025" cy="3590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325" b="1">
                <a:solidFill>
                  <a:srgbClr val="244F3D"/>
                </a:solidFill>
                <a:latin typeface="Arial"/>
                <a:ea typeface="Arial"/>
                <a:cs typeface="Arial"/>
              </a:defRPr>
            </a:defPPr>
            <a:lvl1pPr>
              <a:defRPr sz="2325" b="1">
                <a:solidFill>
                  <a:srgbClr val="244F3D"/>
                </a:solidFill>
                <a:latin typeface="Arial"/>
                <a:ea typeface="Arial"/>
                <a:cs typeface="Arial"/>
              </a:defRPr>
            </a:lvl1pPr>
            <a:lvl2pPr>
              <a:defRPr sz="2325" b="1">
                <a:solidFill>
                  <a:srgbClr val="244F3D"/>
                </a:solidFill>
                <a:latin typeface="Arial"/>
                <a:ea typeface="Arial"/>
                <a:cs typeface="Arial"/>
              </a:defRPr>
            </a:lvl2pPr>
            <a:lvl3pPr>
              <a:defRPr sz="2325" b="1">
                <a:solidFill>
                  <a:srgbClr val="244F3D"/>
                </a:solidFill>
                <a:latin typeface="Arial"/>
                <a:ea typeface="Arial"/>
                <a:cs typeface="Arial"/>
              </a:defRPr>
            </a:lvl3pPr>
            <a:lvl4pPr>
              <a:defRPr sz="2325" b="1">
                <a:solidFill>
                  <a:srgbClr val="244F3D"/>
                </a:solidFill>
                <a:latin typeface="Arial"/>
                <a:ea typeface="Arial"/>
                <a:cs typeface="Arial"/>
              </a:defRPr>
            </a:lvl4pPr>
            <a:lvl5pPr>
              <a:defRPr sz="2325" b="1">
                <a:solidFill>
                  <a:srgbClr val="244F3D"/>
                </a:solidFill>
                <a:latin typeface="Arial"/>
                <a:ea typeface="Arial"/>
                <a:cs typeface="Arial"/>
              </a:defRPr>
            </a:lvl5pPr>
            <a:lvl6pPr>
              <a:defRPr sz="2325" b="1">
                <a:solidFill>
                  <a:srgbClr val="244F3D"/>
                </a:solidFill>
                <a:latin typeface="Arial"/>
                <a:ea typeface="Arial"/>
                <a:cs typeface="Arial"/>
              </a:defRPr>
            </a:lvl6pPr>
            <a:lvl7pPr>
              <a:defRPr sz="2325" b="1">
                <a:solidFill>
                  <a:srgbClr val="244F3D"/>
                </a:solidFill>
                <a:latin typeface="Arial"/>
                <a:ea typeface="Arial"/>
                <a:cs typeface="Arial"/>
              </a:defRPr>
            </a:lvl7pPr>
            <a:lvl8pPr>
              <a:defRPr sz="2325" b="1">
                <a:solidFill>
                  <a:srgbClr val="244F3D"/>
                </a:solidFill>
                <a:latin typeface="Arial"/>
                <a:ea typeface="Arial"/>
                <a:cs typeface="Arial"/>
              </a:defRPr>
            </a:lvl8pPr>
            <a:lvl9pPr>
              <a:defRPr sz="2325" b="1">
                <a:solidFill>
                  <a:srgbClr val="244F3D"/>
                </a:solidFill>
                <a:latin typeface="Arial"/>
                <a:ea typeface="Arial"/>
                <a:cs typeface="Arial"/>
              </a:defRPr>
            </a:lvl9pPr>
          </a:lstStyle>
          <a:p xmlns:a="http://schemas.openxmlformats.org/drawingml/2006/main">
            <a:pPr>
              <a:defRPr sz="2325" b="1">
                <a:solidFill>
                  <a:srgbClr val="244F3D"/>
                </a:solidFill>
                <a:latin typeface="Arial"/>
                <a:ea typeface="Arial"/>
                <a:cs typeface="Arial"/>
              </a:defRPr>
            </a:pPr>
            <a:r>
              <a:rPr sz="2325" b="1">
                <a:solidFill>
                  <a:srgbClr val="244F3D"/>
                </a:solidFill>
                <a:latin typeface="Arial"/>
                <a:ea typeface="Arial"/>
                <a:cs typeface="Arial"/>
              </a:rPr>
              <a:t>¿Qué puedes descubrir sin pegar todavía?</a:t>
            </a:r>
          </a:p>
        </p:txBody>
      </p:sp>
      <p:sp>
        <p:nvSpPr>
          <p:cNvPr id="6" name="">
            <a:extLst xmlns:a="http://schemas.openxmlformats.org/drawingml/2006/main">
              <a:ext uri="{FF2B5EF4-FFF2-40B4-BE49-F238E27FC236}">
                <a16:creationId xmlns:a16="http://schemas.microsoft.com/office/drawing/2014/main" id="{1796CA1C-2E03-472E-90E7-1AF48BF780D4}"/>
              </a:ext>
            </a:extLst>
          </p:cNvPr>
          <p:cNvSpPr>
            <a:spLocks xmlns:a="http://schemas.openxmlformats.org/drawingml/2006/main" noGrp="1"/>
          </p:cNvSpPr>
          <p:nvPr/>
        </p:nvSpPr>
        <p:spPr>
          <a:xfrm xmlns:a="http://schemas.openxmlformats.org/drawingml/2006/main">
            <a:off x="590550" y="5848350"/>
            <a:ext cx="10953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350" b="0">
                <a:solidFill>
                  <a:srgbClr val="58665F"/>
                </a:solidFill>
                <a:latin typeface="Arial"/>
                <a:ea typeface="Arial"/>
                <a:cs typeface="Arial"/>
              </a:defRPr>
            </a:defPPr>
            <a:lvl1pPr>
              <a:defRPr sz="1350" b="0">
                <a:solidFill>
                  <a:srgbClr val="58665F"/>
                </a:solidFill>
                <a:latin typeface="Arial"/>
                <a:ea typeface="Arial"/>
                <a:cs typeface="Arial"/>
              </a:defRPr>
            </a:lvl1pPr>
            <a:lvl2pPr>
              <a:defRPr sz="1350" b="0">
                <a:solidFill>
                  <a:srgbClr val="58665F"/>
                </a:solidFill>
                <a:latin typeface="Arial"/>
                <a:ea typeface="Arial"/>
                <a:cs typeface="Arial"/>
              </a:defRPr>
            </a:lvl2pPr>
            <a:lvl3pPr>
              <a:defRPr sz="1350" b="0">
                <a:solidFill>
                  <a:srgbClr val="58665F"/>
                </a:solidFill>
                <a:latin typeface="Arial"/>
                <a:ea typeface="Arial"/>
                <a:cs typeface="Arial"/>
              </a:defRPr>
            </a:lvl3pPr>
            <a:lvl4pPr>
              <a:defRPr sz="1350" b="0">
                <a:solidFill>
                  <a:srgbClr val="58665F"/>
                </a:solidFill>
                <a:latin typeface="Arial"/>
                <a:ea typeface="Arial"/>
                <a:cs typeface="Arial"/>
              </a:defRPr>
            </a:lvl4pPr>
            <a:lvl5pPr>
              <a:defRPr sz="1350" b="0">
                <a:solidFill>
                  <a:srgbClr val="58665F"/>
                </a:solidFill>
                <a:latin typeface="Arial"/>
                <a:ea typeface="Arial"/>
                <a:cs typeface="Arial"/>
              </a:defRPr>
            </a:lvl5pPr>
            <a:lvl6pPr>
              <a:defRPr sz="1350" b="0">
                <a:solidFill>
                  <a:srgbClr val="58665F"/>
                </a:solidFill>
                <a:latin typeface="Arial"/>
                <a:ea typeface="Arial"/>
                <a:cs typeface="Arial"/>
              </a:defRPr>
            </a:lvl6pPr>
            <a:lvl7pPr>
              <a:defRPr sz="1350" b="0">
                <a:solidFill>
                  <a:srgbClr val="58665F"/>
                </a:solidFill>
                <a:latin typeface="Arial"/>
                <a:ea typeface="Arial"/>
                <a:cs typeface="Arial"/>
              </a:defRPr>
            </a:lvl7pPr>
            <a:lvl8pPr>
              <a:defRPr sz="1350" b="0">
                <a:solidFill>
                  <a:srgbClr val="58665F"/>
                </a:solidFill>
                <a:latin typeface="Arial"/>
                <a:ea typeface="Arial"/>
                <a:cs typeface="Arial"/>
              </a:defRPr>
            </a:lvl8pPr>
            <a:lvl9pPr>
              <a:defRPr sz="1350" b="0">
                <a:solidFill>
                  <a:srgbClr val="58665F"/>
                </a:solidFill>
                <a:latin typeface="Arial"/>
                <a:ea typeface="Arial"/>
                <a:cs typeface="Arial"/>
              </a:defRPr>
            </a:lvl9pPr>
          </a:lstStyle>
          <a:p xmlns:a="http://schemas.openxmlformats.org/drawingml/2006/main">
            <a:pPr>
              <a:defRPr sz="1350" b="0">
                <a:solidFill>
                  <a:srgbClr val="58665F"/>
                </a:solidFill>
                <a:latin typeface="Arial"/>
                <a:ea typeface="Arial"/>
                <a:cs typeface="Arial"/>
              </a:defRPr>
            </a:pPr>
            <a:r>
              <a:rPr sz="1350" b="0">
                <a:solidFill>
                  <a:srgbClr val="58665F"/>
                </a:solidFill>
                <a:latin typeface="Arial"/>
                <a:ea typeface="Arial"/>
                <a:cs typeface="Arial"/>
              </a:rPr>
              <a:t>Vista posterior del ejemplo de OpenRocket. En el taller se compara la distribución dibujada con la presentación real.</a:t>
            </a:r>
          </a:p>
        </p:txBody>
      </p:sp>
    </p:spTree>
    <p:extLst>
      <p:ext uri="{BB962C8B-B14F-4D97-AF65-F5344CB8AC3E}">
        <p14:creationId xmlns:p14="http://schemas.microsoft.com/office/powerpoint/2010/main" val="557772935"/>
      </p:ext>
    </p:extLst>
  </p:cSld>
</p:sld>
</file>

<file path=ppt/slides/slide34.xml><?xml version="1.0" encoding="utf-8"?>
<p:sld xmlns:p="http://schemas.openxmlformats.org/presentationml/2006/main">
  <p:cSld>
    <p:bg>
      <p:bgPr>
        <a:solidFill xmlns:a="http://schemas.openxmlformats.org/drawingml/2006/main">
          <a:srgbClr val="FCFCF8"/>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AC1E350D-3DC3-4D69-9455-B49F5C396472}"/>
              </a:ext>
            </a:extLst>
          </p:cNvPr>
          <p:cNvSpPr>
            <a:spLocks xmlns:a="http://schemas.openxmlformats.org/drawingml/2006/main" noGrp="1"/>
          </p:cNvSpPr>
          <p:nvPr/>
        </p:nvSpPr>
        <p:spPr>
          <a:xfrm xmlns:a="http://schemas.openxmlformats.org/drawingml/2006/main">
            <a:off x="590550" y="428625"/>
            <a:ext cx="100965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75" b="1">
                <a:solidFill>
                  <a:srgbClr val="14231E"/>
                </a:solidFill>
                <a:latin typeface="Arial Narrow"/>
                <a:ea typeface="Arial Narrow"/>
                <a:cs typeface="Arial Narrow"/>
              </a:defRPr>
            </a:defPPr>
            <a:lvl1pPr>
              <a:defRPr sz="3375" b="1">
                <a:solidFill>
                  <a:srgbClr val="14231E"/>
                </a:solidFill>
                <a:latin typeface="Arial Narrow"/>
                <a:ea typeface="Arial Narrow"/>
                <a:cs typeface="Arial Narrow"/>
              </a:defRPr>
            </a:lvl1pPr>
            <a:lvl2pPr>
              <a:defRPr sz="3375" b="1">
                <a:solidFill>
                  <a:srgbClr val="14231E"/>
                </a:solidFill>
                <a:latin typeface="Arial Narrow"/>
                <a:ea typeface="Arial Narrow"/>
                <a:cs typeface="Arial Narrow"/>
              </a:defRPr>
            </a:lvl2pPr>
            <a:lvl3pPr>
              <a:defRPr sz="3375" b="1">
                <a:solidFill>
                  <a:srgbClr val="14231E"/>
                </a:solidFill>
                <a:latin typeface="Arial Narrow"/>
                <a:ea typeface="Arial Narrow"/>
                <a:cs typeface="Arial Narrow"/>
              </a:defRPr>
            </a:lvl3pPr>
            <a:lvl4pPr>
              <a:defRPr sz="3375" b="1">
                <a:solidFill>
                  <a:srgbClr val="14231E"/>
                </a:solidFill>
                <a:latin typeface="Arial Narrow"/>
                <a:ea typeface="Arial Narrow"/>
                <a:cs typeface="Arial Narrow"/>
              </a:defRPr>
            </a:lvl4pPr>
            <a:lvl5pPr>
              <a:defRPr sz="3375" b="1">
                <a:solidFill>
                  <a:srgbClr val="14231E"/>
                </a:solidFill>
                <a:latin typeface="Arial Narrow"/>
                <a:ea typeface="Arial Narrow"/>
                <a:cs typeface="Arial Narrow"/>
              </a:defRPr>
            </a:lvl5pPr>
            <a:lvl6pPr>
              <a:defRPr sz="3375" b="1">
                <a:solidFill>
                  <a:srgbClr val="14231E"/>
                </a:solidFill>
                <a:latin typeface="Arial Narrow"/>
                <a:ea typeface="Arial Narrow"/>
                <a:cs typeface="Arial Narrow"/>
              </a:defRPr>
            </a:lvl6pPr>
            <a:lvl7pPr>
              <a:defRPr sz="3375" b="1">
                <a:solidFill>
                  <a:srgbClr val="14231E"/>
                </a:solidFill>
                <a:latin typeface="Arial Narrow"/>
                <a:ea typeface="Arial Narrow"/>
                <a:cs typeface="Arial Narrow"/>
              </a:defRPr>
            </a:lvl7pPr>
            <a:lvl8pPr>
              <a:defRPr sz="3375" b="1">
                <a:solidFill>
                  <a:srgbClr val="14231E"/>
                </a:solidFill>
                <a:latin typeface="Arial Narrow"/>
                <a:ea typeface="Arial Narrow"/>
                <a:cs typeface="Arial Narrow"/>
              </a:defRPr>
            </a:lvl8pPr>
            <a:lvl9pPr>
              <a:defRPr sz="3375" b="1">
                <a:solidFill>
                  <a:srgbClr val="14231E"/>
                </a:solidFill>
                <a:latin typeface="Arial Narrow"/>
                <a:ea typeface="Arial Narrow"/>
                <a:cs typeface="Arial Narrow"/>
              </a:defRPr>
            </a:lvl9pPr>
          </a:lstStyle>
          <a:p xmlns:a="http://schemas.openxmlformats.org/drawingml/2006/main">
            <a:pPr>
              <a:defRPr sz="3375" b="1">
                <a:solidFill>
                  <a:srgbClr val="14231E"/>
                </a:solidFill>
                <a:latin typeface="Arial Narrow"/>
                <a:ea typeface="Arial Narrow"/>
                <a:cs typeface="Arial Narrow"/>
              </a:defRPr>
            </a:pPr>
            <a:r>
              <a:rPr sz="3375" b="1">
                <a:solidFill>
                  <a:srgbClr val="14231E"/>
                </a:solidFill>
                <a:latin typeface="Arial Narrow"/>
                <a:ea typeface="Arial Narrow"/>
                <a:cs typeface="Arial Narrow"/>
              </a:rPr>
              <a:t>Práctica: Estación de presentación: el conjunto sin pegar</a:t>
            </a:r>
          </a:p>
        </p:txBody>
      </p:sp>
      <p:pic>
        <p:nvPicPr>
          <p:cNvPr id="2" name="">
            <a:extLst xmlns:a="http://schemas.openxmlformats.org/drawingml/2006/main">
              <a:ext uri="{FF2B5EF4-FFF2-40B4-BE49-F238E27FC236}">
                <a16:creationId xmlns:a16="http://schemas.microsoft.com/office/drawing/2014/main" id="{F2492B31-ED36-4201-915D-F68076845A55}"/>
              </a:ext>
            </a:extLst>
          </p:cNvPr>
          <p:cNvPicPr>
            <a:picLocks xmlns:a="http://schemas.openxmlformats.org/drawingml/2006/main" noChangeAspect="1"/>
          </p:cNvPicPr>
          <p:nvPr/>
        </p:nvPicPr>
        <p:blipFill>
          <a:blip xmlns:r="http://schemas.openxmlformats.org/officeDocument/2006/relationships" xmlns:a="http://schemas.openxmlformats.org/drawingml/2006/main" r:embed="Rbcf29670d15746c4"/>
          <a:stretch xmlns:a="http://schemas.openxmlformats.org/drawingml/2006/main"/>
        </p:blipFill>
        <p:spPr>
          <a:xfrm xmlns:a="http://schemas.openxmlformats.org/drawingml/2006/main">
            <a:off x="10858500" y="337942"/>
            <a:ext cx="762000" cy="276616"/>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4791EFC7-6567-4640-B6E1-6F1DC4464E07}"/>
              </a:ext>
            </a:extLst>
          </p:cNvPr>
          <p:cNvSpPr>
            <a:spLocks xmlns:a="http://schemas.openxmlformats.org/drawingml/2006/main" noGrp="1"/>
          </p:cNvSpPr>
          <p:nvPr/>
        </p:nvSpPr>
        <p:spPr>
          <a:xfrm xmlns:a="http://schemas.openxmlformats.org/drawingml/2006/main">
            <a:off x="590550" y="6467475"/>
            <a:ext cx="108108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58665F"/>
                </a:solidFill>
                <a:latin typeface="Consolas"/>
                <a:ea typeface="Consolas"/>
                <a:cs typeface="Consolas"/>
              </a:defRPr>
            </a:defPPr>
            <a:lvl1pPr>
              <a:defRPr sz="1125" b="0">
                <a:solidFill>
                  <a:srgbClr val="58665F"/>
                </a:solidFill>
                <a:latin typeface="Consolas"/>
                <a:ea typeface="Consolas"/>
                <a:cs typeface="Consolas"/>
              </a:defRPr>
            </a:lvl1pPr>
            <a:lvl2pPr>
              <a:defRPr sz="1125" b="0">
                <a:solidFill>
                  <a:srgbClr val="58665F"/>
                </a:solidFill>
                <a:latin typeface="Consolas"/>
                <a:ea typeface="Consolas"/>
                <a:cs typeface="Consolas"/>
              </a:defRPr>
            </a:lvl2pPr>
            <a:lvl3pPr>
              <a:defRPr sz="1125" b="0">
                <a:solidFill>
                  <a:srgbClr val="58665F"/>
                </a:solidFill>
                <a:latin typeface="Consolas"/>
                <a:ea typeface="Consolas"/>
                <a:cs typeface="Consolas"/>
              </a:defRPr>
            </a:lvl3pPr>
            <a:lvl4pPr>
              <a:defRPr sz="1125" b="0">
                <a:solidFill>
                  <a:srgbClr val="58665F"/>
                </a:solidFill>
                <a:latin typeface="Consolas"/>
                <a:ea typeface="Consolas"/>
                <a:cs typeface="Consolas"/>
              </a:defRPr>
            </a:lvl4pPr>
            <a:lvl5pPr>
              <a:defRPr sz="1125" b="0">
                <a:solidFill>
                  <a:srgbClr val="58665F"/>
                </a:solidFill>
                <a:latin typeface="Consolas"/>
                <a:ea typeface="Consolas"/>
                <a:cs typeface="Consolas"/>
              </a:defRPr>
            </a:lvl5pPr>
            <a:lvl6pPr>
              <a:defRPr sz="1125" b="0">
                <a:solidFill>
                  <a:srgbClr val="58665F"/>
                </a:solidFill>
                <a:latin typeface="Consolas"/>
                <a:ea typeface="Consolas"/>
                <a:cs typeface="Consolas"/>
              </a:defRPr>
            </a:lvl6pPr>
            <a:lvl7pPr>
              <a:defRPr sz="1125" b="0">
                <a:solidFill>
                  <a:srgbClr val="58665F"/>
                </a:solidFill>
                <a:latin typeface="Consolas"/>
                <a:ea typeface="Consolas"/>
                <a:cs typeface="Consolas"/>
              </a:defRPr>
            </a:lvl7pPr>
            <a:lvl8pPr>
              <a:defRPr sz="1125" b="0">
                <a:solidFill>
                  <a:srgbClr val="58665F"/>
                </a:solidFill>
                <a:latin typeface="Consolas"/>
                <a:ea typeface="Consolas"/>
                <a:cs typeface="Consolas"/>
              </a:defRPr>
            </a:lvl8pPr>
            <a:lvl9pPr>
              <a:defRPr sz="1125" b="0">
                <a:solidFill>
                  <a:srgbClr val="58665F"/>
                </a:solidFill>
                <a:latin typeface="Consolas"/>
                <a:ea typeface="Consolas"/>
                <a:cs typeface="Consolas"/>
              </a:defRPr>
            </a:lvl9pPr>
          </a:lstStyle>
          <a:p xmlns:a="http://schemas.openxmlformats.org/drawingml/2006/main">
            <a:pPr>
              <a:defRPr sz="1125" b="0">
                <a:solidFill>
                  <a:srgbClr val="58665F"/>
                </a:solidFill>
                <a:latin typeface="Consolas"/>
                <a:ea typeface="Consolas"/>
                <a:cs typeface="Consolas"/>
              </a:defRPr>
            </a:pPr>
            <a:r>
              <a:rPr sz="1125" b="0">
                <a:solidFill>
                  <a:srgbClr val="58665F"/>
                </a:solidFill>
                <a:latin typeface="Consolas"/>
                <a:ea typeface="Consolas"/>
                <a:cs typeface="Consolas"/>
              </a:rPr>
              <a:t>MECRO   SEMANA 3   CLASE 06   10/24</a:t>
            </a:r>
          </a:p>
        </p:txBody>
      </p:sp>
      <p:sp>
        <p:nvSpPr>
          <p:cNvPr id="4" name="">
            <a:extLst xmlns:a="http://schemas.openxmlformats.org/drawingml/2006/main">
              <a:ext uri="{FF2B5EF4-FFF2-40B4-BE49-F238E27FC236}">
                <a16:creationId xmlns:a16="http://schemas.microsoft.com/office/drawing/2014/main" id="{30FCE51A-B0DC-4076-B2A2-761FA8552A6E}"/>
              </a:ext>
            </a:extLst>
          </p:cNvPr>
          <p:cNvSpPr>
            <a:spLocks xmlns:a="http://schemas.openxmlformats.org/drawingml/2006/main" noGrp="1"/>
          </p:cNvSpPr>
          <p:nvPr/>
        </p:nvSpPr>
        <p:spPr>
          <a:xfrm xmlns:a="http://schemas.openxmlformats.org/drawingml/2006/main">
            <a:off x="590550" y="1743075"/>
            <a:ext cx="10810875" cy="425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950" b="0">
                <a:solidFill>
                  <a:srgbClr val="14231E"/>
                </a:solidFill>
                <a:latin typeface="Arial"/>
                <a:ea typeface="Arial"/>
                <a:cs typeface="Arial"/>
              </a:defRPr>
            </a:defPPr>
            <a:lvl1pPr>
              <a:defRPr sz="1950" b="0">
                <a:solidFill>
                  <a:srgbClr val="14231E"/>
                </a:solidFill>
                <a:latin typeface="Arial"/>
                <a:ea typeface="Arial"/>
                <a:cs typeface="Arial"/>
              </a:defRPr>
            </a:lvl1pPr>
            <a:lvl2pPr>
              <a:defRPr sz="1950" b="0">
                <a:solidFill>
                  <a:srgbClr val="14231E"/>
                </a:solidFill>
                <a:latin typeface="Arial"/>
                <a:ea typeface="Arial"/>
                <a:cs typeface="Arial"/>
              </a:defRPr>
            </a:lvl2pPr>
            <a:lvl3pPr>
              <a:defRPr sz="1950" b="0">
                <a:solidFill>
                  <a:srgbClr val="14231E"/>
                </a:solidFill>
                <a:latin typeface="Arial"/>
                <a:ea typeface="Arial"/>
                <a:cs typeface="Arial"/>
              </a:defRPr>
            </a:lvl3pPr>
            <a:lvl4pPr>
              <a:defRPr sz="1950" b="0">
                <a:solidFill>
                  <a:srgbClr val="14231E"/>
                </a:solidFill>
                <a:latin typeface="Arial"/>
                <a:ea typeface="Arial"/>
                <a:cs typeface="Arial"/>
              </a:defRPr>
            </a:lvl4pPr>
            <a:lvl5pPr>
              <a:defRPr sz="1950" b="0">
                <a:solidFill>
                  <a:srgbClr val="14231E"/>
                </a:solidFill>
                <a:latin typeface="Arial"/>
                <a:ea typeface="Arial"/>
                <a:cs typeface="Arial"/>
              </a:defRPr>
            </a:lvl5pPr>
            <a:lvl6pPr>
              <a:defRPr sz="1950" b="0">
                <a:solidFill>
                  <a:srgbClr val="14231E"/>
                </a:solidFill>
                <a:latin typeface="Arial"/>
                <a:ea typeface="Arial"/>
                <a:cs typeface="Arial"/>
              </a:defRPr>
            </a:lvl6pPr>
            <a:lvl7pPr>
              <a:defRPr sz="1950" b="0">
                <a:solidFill>
                  <a:srgbClr val="14231E"/>
                </a:solidFill>
                <a:latin typeface="Arial"/>
                <a:ea typeface="Arial"/>
                <a:cs typeface="Arial"/>
              </a:defRPr>
            </a:lvl7pPr>
            <a:lvl8pPr>
              <a:defRPr sz="1950" b="0">
                <a:solidFill>
                  <a:srgbClr val="14231E"/>
                </a:solidFill>
                <a:latin typeface="Arial"/>
                <a:ea typeface="Arial"/>
                <a:cs typeface="Arial"/>
              </a:defRPr>
            </a:lvl8pPr>
            <a:lvl9pPr>
              <a:defRPr sz="1950" b="0">
                <a:solidFill>
                  <a:srgbClr val="14231E"/>
                </a:solidFill>
                <a:latin typeface="Arial"/>
                <a:ea typeface="Arial"/>
                <a:cs typeface="Arial"/>
              </a:defRPr>
            </a:lvl9pPr>
          </a:lstStyle>
          <a:p xmlns:a="http://schemas.openxmlformats.org/drawingml/2006/main">
            <a:pPr>
              <a:defRPr sz="1950" b="0">
                <a:solidFill>
                  <a:srgbClr val="14231E"/>
                </a:solidFill>
                <a:latin typeface="Arial"/>
                <a:ea typeface="Arial"/>
                <a:cs typeface="Arial"/>
              </a:defRPr>
            </a:pPr>
            <a:r>
              <a:rPr sz="1950" b="0">
                <a:solidFill>
                  <a:srgbClr val="14231E"/>
                </a:solidFill>
                <a:latin typeface="Arial"/>
                <a:ea typeface="Arial"/>
                <a:cs typeface="Arial"/>
              </a:rPr>
              <a:t>1. Presenta la nariz y el cuerpo para observar continuidad y longitud exterior.</a:t>
            </a:r>
          </a:p>
          <a:p xmlns:a="http://schemas.openxmlformats.org/drawingml/2006/main">
            <a:r>
              <a:t/>
            </a:r>
          </a:p>
          <a:p xmlns:a="http://schemas.openxmlformats.org/drawingml/2006/main">
            <a:pPr>
              <a:defRPr sz="1950" b="0">
                <a:solidFill>
                  <a:srgbClr val="14231E"/>
                </a:solidFill>
                <a:latin typeface="Arial"/>
                <a:ea typeface="Arial"/>
                <a:cs typeface="Arial"/>
              </a:defRPr>
            </a:pPr>
            <a:r>
              <a:rPr sz="1950" b="0">
                <a:solidFill>
                  <a:srgbClr val="14231E"/>
                </a:solidFill>
                <a:latin typeface="Arial"/>
                <a:ea typeface="Arial"/>
                <a:cs typeface="Arial"/>
              </a:rPr>
              <a:t>2. Coloca el útil sin forzar el tubo. Presenta todas las aletas según su referencia.</a:t>
            </a:r>
          </a:p>
          <a:p xmlns:a="http://schemas.openxmlformats.org/drawingml/2006/main">
            <a:r>
              <a:t/>
            </a:r>
          </a:p>
          <a:p xmlns:a="http://schemas.openxmlformats.org/drawingml/2006/main">
            <a:pPr>
              <a:defRPr sz="1950" b="0">
                <a:solidFill>
                  <a:srgbClr val="14231E"/>
                </a:solidFill>
                <a:latin typeface="Arial"/>
                <a:ea typeface="Arial"/>
                <a:cs typeface="Arial"/>
              </a:defRPr>
            </a:pPr>
            <a:r>
              <a:rPr sz="1950" b="0">
                <a:solidFill>
                  <a:srgbClr val="14231E"/>
                </a:solidFill>
                <a:latin typeface="Arial"/>
                <a:ea typeface="Arial"/>
                <a:cs typeface="Arial"/>
              </a:rPr>
              <a:t>3. Observa la distribución desde atrás y la posición desde un lateral.</a:t>
            </a:r>
          </a:p>
          <a:p xmlns:a="http://schemas.openxmlformats.org/drawingml/2006/main">
            <a:r>
              <a:t/>
            </a:r>
          </a:p>
          <a:p xmlns:a="http://schemas.openxmlformats.org/drawingml/2006/main">
            <a:pPr>
              <a:defRPr sz="1950" b="0">
                <a:solidFill>
                  <a:srgbClr val="14231E"/>
                </a:solidFill>
                <a:latin typeface="Arial"/>
                <a:ea typeface="Arial"/>
                <a:cs typeface="Arial"/>
              </a:defRPr>
            </a:pPr>
            <a:r>
              <a:rPr sz="1950" b="0">
                <a:solidFill>
                  <a:srgbClr val="14231E"/>
                </a:solidFill>
                <a:latin typeface="Arial"/>
                <a:ea typeface="Arial"/>
                <a:cs typeface="Arial"/>
              </a:rPr>
              <a:t>4. Comprueba que ninguna pieza haya quedado invertida o en una referencia diferente al plano.</a:t>
            </a:r>
          </a:p>
          <a:p xmlns:a="http://schemas.openxmlformats.org/drawingml/2006/main">
            <a:r>
              <a:t/>
            </a:r>
          </a:p>
          <a:p xmlns:a="http://schemas.openxmlformats.org/drawingml/2006/main">
            <a:pPr>
              <a:defRPr sz="1950" b="0">
                <a:solidFill>
                  <a:srgbClr val="14231E"/>
                </a:solidFill>
                <a:latin typeface="Arial"/>
                <a:ea typeface="Arial"/>
                <a:cs typeface="Arial"/>
              </a:defRPr>
            </a:pPr>
            <a:r>
              <a:rPr sz="1950" b="0">
                <a:solidFill>
                  <a:srgbClr val="14231E"/>
                </a:solidFill>
                <a:latin typeface="Arial"/>
                <a:ea typeface="Arial"/>
                <a:cs typeface="Arial"/>
              </a:rPr>
              <a:t>5. Fotografía las vistas necesarias y escribe un resultado concreto por vista.</a:t>
            </a:r>
          </a:p>
        </p:txBody>
      </p:sp>
    </p:spTree>
    <p:extLst>
      <p:ext uri="{BB962C8B-B14F-4D97-AF65-F5344CB8AC3E}">
        <p14:creationId xmlns:p14="http://schemas.microsoft.com/office/powerpoint/2010/main" val="762974379"/>
      </p:ext>
    </p:extLst>
  </p:cSld>
</p:sld>
</file>

<file path=ppt/slides/slide35.xml><?xml version="1.0" encoding="utf-8"?>
<p:sld xmlns:p="http://schemas.openxmlformats.org/presentationml/2006/main">
  <p:cSld>
    <p:bg>
      <p:bgPr>
        <a:solidFill xmlns:a="http://schemas.openxmlformats.org/drawingml/2006/main">
          <a:srgbClr val="FCFCF8"/>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A50774C6-F19A-43FD-AC1C-3689BFAD4B0F}"/>
              </a:ext>
            </a:extLst>
          </p:cNvPr>
          <p:cNvSpPr>
            <a:spLocks xmlns:a="http://schemas.openxmlformats.org/drawingml/2006/main" noGrp="1"/>
          </p:cNvSpPr>
          <p:nvPr/>
        </p:nvSpPr>
        <p:spPr>
          <a:xfrm xmlns:a="http://schemas.openxmlformats.org/drawingml/2006/main">
            <a:off x="590550" y="428625"/>
            <a:ext cx="100965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75" b="1">
                <a:solidFill>
                  <a:srgbClr val="14231E"/>
                </a:solidFill>
                <a:latin typeface="Arial Narrow"/>
                <a:ea typeface="Arial Narrow"/>
                <a:cs typeface="Arial Narrow"/>
              </a:defRPr>
            </a:defPPr>
            <a:lvl1pPr>
              <a:defRPr sz="3375" b="1">
                <a:solidFill>
                  <a:srgbClr val="14231E"/>
                </a:solidFill>
                <a:latin typeface="Arial Narrow"/>
                <a:ea typeface="Arial Narrow"/>
                <a:cs typeface="Arial Narrow"/>
              </a:defRPr>
            </a:lvl1pPr>
            <a:lvl2pPr>
              <a:defRPr sz="3375" b="1">
                <a:solidFill>
                  <a:srgbClr val="14231E"/>
                </a:solidFill>
                <a:latin typeface="Arial Narrow"/>
                <a:ea typeface="Arial Narrow"/>
                <a:cs typeface="Arial Narrow"/>
              </a:defRPr>
            </a:lvl2pPr>
            <a:lvl3pPr>
              <a:defRPr sz="3375" b="1">
                <a:solidFill>
                  <a:srgbClr val="14231E"/>
                </a:solidFill>
                <a:latin typeface="Arial Narrow"/>
                <a:ea typeface="Arial Narrow"/>
                <a:cs typeface="Arial Narrow"/>
              </a:defRPr>
            </a:lvl3pPr>
            <a:lvl4pPr>
              <a:defRPr sz="3375" b="1">
                <a:solidFill>
                  <a:srgbClr val="14231E"/>
                </a:solidFill>
                <a:latin typeface="Arial Narrow"/>
                <a:ea typeface="Arial Narrow"/>
                <a:cs typeface="Arial Narrow"/>
              </a:defRPr>
            </a:lvl4pPr>
            <a:lvl5pPr>
              <a:defRPr sz="3375" b="1">
                <a:solidFill>
                  <a:srgbClr val="14231E"/>
                </a:solidFill>
                <a:latin typeface="Arial Narrow"/>
                <a:ea typeface="Arial Narrow"/>
                <a:cs typeface="Arial Narrow"/>
              </a:defRPr>
            </a:lvl5pPr>
            <a:lvl6pPr>
              <a:defRPr sz="3375" b="1">
                <a:solidFill>
                  <a:srgbClr val="14231E"/>
                </a:solidFill>
                <a:latin typeface="Arial Narrow"/>
                <a:ea typeface="Arial Narrow"/>
                <a:cs typeface="Arial Narrow"/>
              </a:defRPr>
            </a:lvl6pPr>
            <a:lvl7pPr>
              <a:defRPr sz="3375" b="1">
                <a:solidFill>
                  <a:srgbClr val="14231E"/>
                </a:solidFill>
                <a:latin typeface="Arial Narrow"/>
                <a:ea typeface="Arial Narrow"/>
                <a:cs typeface="Arial Narrow"/>
              </a:defRPr>
            </a:lvl7pPr>
            <a:lvl8pPr>
              <a:defRPr sz="3375" b="1">
                <a:solidFill>
                  <a:srgbClr val="14231E"/>
                </a:solidFill>
                <a:latin typeface="Arial Narrow"/>
                <a:ea typeface="Arial Narrow"/>
                <a:cs typeface="Arial Narrow"/>
              </a:defRPr>
            </a:lvl8pPr>
            <a:lvl9pPr>
              <a:defRPr sz="3375" b="1">
                <a:solidFill>
                  <a:srgbClr val="14231E"/>
                </a:solidFill>
                <a:latin typeface="Arial Narrow"/>
                <a:ea typeface="Arial Narrow"/>
                <a:cs typeface="Arial Narrow"/>
              </a:defRPr>
            </a:lvl9pPr>
          </a:lstStyle>
          <a:p xmlns:a="http://schemas.openxmlformats.org/drawingml/2006/main">
            <a:pPr>
              <a:defRPr sz="3375" b="1">
                <a:solidFill>
                  <a:srgbClr val="14231E"/>
                </a:solidFill>
                <a:latin typeface="Arial Narrow"/>
                <a:ea typeface="Arial Narrow"/>
                <a:cs typeface="Arial Narrow"/>
              </a:defRPr>
            </a:pPr>
            <a:r>
              <a:rPr sz="3375" b="1">
                <a:solidFill>
                  <a:srgbClr val="14231E"/>
                </a:solidFill>
                <a:latin typeface="Arial Narrow"/>
                <a:ea typeface="Arial Narrow"/>
                <a:cs typeface="Arial Narrow"/>
              </a:rPr>
              <a:t>Actualizar el modelo desde la pieza</a:t>
            </a:r>
          </a:p>
        </p:txBody>
      </p:sp>
      <p:pic>
        <p:nvPicPr>
          <p:cNvPr id="2" name="">
            <a:extLst xmlns:a="http://schemas.openxmlformats.org/drawingml/2006/main">
              <a:ext uri="{FF2B5EF4-FFF2-40B4-BE49-F238E27FC236}">
                <a16:creationId xmlns:a16="http://schemas.microsoft.com/office/drawing/2014/main" id="{28E12DA7-0746-4D6B-B4FA-F03AB46343BF}"/>
              </a:ext>
            </a:extLst>
          </p:cNvPr>
          <p:cNvPicPr>
            <a:picLocks xmlns:a="http://schemas.openxmlformats.org/drawingml/2006/main" noChangeAspect="1"/>
          </p:cNvPicPr>
          <p:nvPr/>
        </p:nvPicPr>
        <p:blipFill>
          <a:blip xmlns:r="http://schemas.openxmlformats.org/officeDocument/2006/relationships" xmlns:a="http://schemas.openxmlformats.org/drawingml/2006/main" r:embed="Rb997aa04e7854c0e"/>
          <a:stretch xmlns:a="http://schemas.openxmlformats.org/drawingml/2006/main"/>
        </p:blipFill>
        <p:spPr>
          <a:xfrm xmlns:a="http://schemas.openxmlformats.org/drawingml/2006/main">
            <a:off x="10858500" y="337942"/>
            <a:ext cx="762000" cy="276616"/>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1B438F6A-CBA1-415B-834F-7EDC21694E38}"/>
              </a:ext>
            </a:extLst>
          </p:cNvPr>
          <p:cNvSpPr>
            <a:spLocks xmlns:a="http://schemas.openxmlformats.org/drawingml/2006/main" noGrp="1"/>
          </p:cNvSpPr>
          <p:nvPr/>
        </p:nvSpPr>
        <p:spPr>
          <a:xfrm xmlns:a="http://schemas.openxmlformats.org/drawingml/2006/main">
            <a:off x="590550" y="6467475"/>
            <a:ext cx="108108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58665F"/>
                </a:solidFill>
                <a:latin typeface="Consolas"/>
                <a:ea typeface="Consolas"/>
                <a:cs typeface="Consolas"/>
              </a:defRPr>
            </a:defPPr>
            <a:lvl1pPr>
              <a:defRPr sz="1125" b="0">
                <a:solidFill>
                  <a:srgbClr val="58665F"/>
                </a:solidFill>
                <a:latin typeface="Consolas"/>
                <a:ea typeface="Consolas"/>
                <a:cs typeface="Consolas"/>
              </a:defRPr>
            </a:lvl1pPr>
            <a:lvl2pPr>
              <a:defRPr sz="1125" b="0">
                <a:solidFill>
                  <a:srgbClr val="58665F"/>
                </a:solidFill>
                <a:latin typeface="Consolas"/>
                <a:ea typeface="Consolas"/>
                <a:cs typeface="Consolas"/>
              </a:defRPr>
            </a:lvl2pPr>
            <a:lvl3pPr>
              <a:defRPr sz="1125" b="0">
                <a:solidFill>
                  <a:srgbClr val="58665F"/>
                </a:solidFill>
                <a:latin typeface="Consolas"/>
                <a:ea typeface="Consolas"/>
                <a:cs typeface="Consolas"/>
              </a:defRPr>
            </a:lvl3pPr>
            <a:lvl4pPr>
              <a:defRPr sz="1125" b="0">
                <a:solidFill>
                  <a:srgbClr val="58665F"/>
                </a:solidFill>
                <a:latin typeface="Consolas"/>
                <a:ea typeface="Consolas"/>
                <a:cs typeface="Consolas"/>
              </a:defRPr>
            </a:lvl4pPr>
            <a:lvl5pPr>
              <a:defRPr sz="1125" b="0">
                <a:solidFill>
                  <a:srgbClr val="58665F"/>
                </a:solidFill>
                <a:latin typeface="Consolas"/>
                <a:ea typeface="Consolas"/>
                <a:cs typeface="Consolas"/>
              </a:defRPr>
            </a:lvl5pPr>
            <a:lvl6pPr>
              <a:defRPr sz="1125" b="0">
                <a:solidFill>
                  <a:srgbClr val="58665F"/>
                </a:solidFill>
                <a:latin typeface="Consolas"/>
                <a:ea typeface="Consolas"/>
                <a:cs typeface="Consolas"/>
              </a:defRPr>
            </a:lvl6pPr>
            <a:lvl7pPr>
              <a:defRPr sz="1125" b="0">
                <a:solidFill>
                  <a:srgbClr val="58665F"/>
                </a:solidFill>
                <a:latin typeface="Consolas"/>
                <a:ea typeface="Consolas"/>
                <a:cs typeface="Consolas"/>
              </a:defRPr>
            </a:lvl7pPr>
            <a:lvl8pPr>
              <a:defRPr sz="1125" b="0">
                <a:solidFill>
                  <a:srgbClr val="58665F"/>
                </a:solidFill>
                <a:latin typeface="Consolas"/>
                <a:ea typeface="Consolas"/>
                <a:cs typeface="Consolas"/>
              </a:defRPr>
            </a:lvl8pPr>
            <a:lvl9pPr>
              <a:defRPr sz="1125" b="0">
                <a:solidFill>
                  <a:srgbClr val="58665F"/>
                </a:solidFill>
                <a:latin typeface="Consolas"/>
                <a:ea typeface="Consolas"/>
                <a:cs typeface="Consolas"/>
              </a:defRPr>
            </a:lvl9pPr>
          </a:lstStyle>
          <a:p xmlns:a="http://schemas.openxmlformats.org/drawingml/2006/main">
            <a:pPr>
              <a:defRPr sz="1125" b="0">
                <a:solidFill>
                  <a:srgbClr val="58665F"/>
                </a:solidFill>
                <a:latin typeface="Consolas"/>
                <a:ea typeface="Consolas"/>
                <a:cs typeface="Consolas"/>
              </a:defRPr>
            </a:pPr>
            <a:r>
              <a:rPr sz="1125" b="0">
                <a:solidFill>
                  <a:srgbClr val="58665F"/>
                </a:solidFill>
                <a:latin typeface="Consolas"/>
                <a:ea typeface="Consolas"/>
                <a:cs typeface="Consolas"/>
              </a:rPr>
              <a:t>MECRO   SEMANA 3   CLASE 06   11/24</a:t>
            </a:r>
          </a:p>
        </p:txBody>
      </p:sp>
      <p:sp>
        <p:nvSpPr>
          <p:cNvPr id="4" name="">
            <a:extLst xmlns:a="http://schemas.openxmlformats.org/drawingml/2006/main">
              <a:ext uri="{FF2B5EF4-FFF2-40B4-BE49-F238E27FC236}">
                <a16:creationId xmlns:a16="http://schemas.microsoft.com/office/drawing/2014/main" id="{EBFEDBC6-816B-4A9A-993B-7DB9B49F06AC}"/>
              </a:ext>
            </a:extLst>
          </p:cNvPr>
          <p:cNvSpPr>
            <a:spLocks xmlns:a="http://schemas.openxmlformats.org/drawingml/2006/main" noGrp="1"/>
          </p:cNvSpPr>
          <p:nvPr/>
        </p:nvSpPr>
        <p:spPr>
          <a:xfrm xmlns:a="http://schemas.openxmlformats.org/drawingml/2006/main">
            <a:off x="590550" y="1743075"/>
            <a:ext cx="10810875" cy="425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325" b="0">
                <a:solidFill>
                  <a:srgbClr val="14231E"/>
                </a:solidFill>
                <a:latin typeface="Arial"/>
                <a:ea typeface="Arial"/>
                <a:cs typeface="Arial"/>
              </a:defRPr>
            </a:defPPr>
            <a:lvl1pPr>
              <a:defRPr sz="2325" b="0">
                <a:solidFill>
                  <a:srgbClr val="14231E"/>
                </a:solidFill>
                <a:latin typeface="Arial"/>
                <a:ea typeface="Arial"/>
                <a:cs typeface="Arial"/>
              </a:defRPr>
            </a:lvl1pPr>
            <a:lvl2pPr>
              <a:defRPr sz="2325" b="0">
                <a:solidFill>
                  <a:srgbClr val="14231E"/>
                </a:solidFill>
                <a:latin typeface="Arial"/>
                <a:ea typeface="Arial"/>
                <a:cs typeface="Arial"/>
              </a:defRPr>
            </a:lvl2pPr>
            <a:lvl3pPr>
              <a:defRPr sz="2325" b="0">
                <a:solidFill>
                  <a:srgbClr val="14231E"/>
                </a:solidFill>
                <a:latin typeface="Arial"/>
                <a:ea typeface="Arial"/>
                <a:cs typeface="Arial"/>
              </a:defRPr>
            </a:lvl3pPr>
            <a:lvl4pPr>
              <a:defRPr sz="2325" b="0">
                <a:solidFill>
                  <a:srgbClr val="14231E"/>
                </a:solidFill>
                <a:latin typeface="Arial"/>
                <a:ea typeface="Arial"/>
                <a:cs typeface="Arial"/>
              </a:defRPr>
            </a:lvl4pPr>
            <a:lvl5pPr>
              <a:defRPr sz="2325" b="0">
                <a:solidFill>
                  <a:srgbClr val="14231E"/>
                </a:solidFill>
                <a:latin typeface="Arial"/>
                <a:ea typeface="Arial"/>
                <a:cs typeface="Arial"/>
              </a:defRPr>
            </a:lvl5pPr>
            <a:lvl6pPr>
              <a:defRPr sz="2325" b="0">
                <a:solidFill>
                  <a:srgbClr val="14231E"/>
                </a:solidFill>
                <a:latin typeface="Arial"/>
                <a:ea typeface="Arial"/>
                <a:cs typeface="Arial"/>
              </a:defRPr>
            </a:lvl6pPr>
            <a:lvl7pPr>
              <a:defRPr sz="2325" b="0">
                <a:solidFill>
                  <a:srgbClr val="14231E"/>
                </a:solidFill>
                <a:latin typeface="Arial"/>
                <a:ea typeface="Arial"/>
                <a:cs typeface="Arial"/>
              </a:defRPr>
            </a:lvl7pPr>
            <a:lvl8pPr>
              <a:defRPr sz="2325" b="0">
                <a:solidFill>
                  <a:srgbClr val="14231E"/>
                </a:solidFill>
                <a:latin typeface="Arial"/>
                <a:ea typeface="Arial"/>
                <a:cs typeface="Arial"/>
              </a:defRPr>
            </a:lvl8pPr>
            <a:lvl9pPr>
              <a:defRPr sz="2325" b="0">
                <a:solidFill>
                  <a:srgbClr val="14231E"/>
                </a:solidFill>
                <a:latin typeface="Arial"/>
                <a:ea typeface="Arial"/>
                <a:cs typeface="Arial"/>
              </a:defRPr>
            </a:lvl9pPr>
          </a:lstStyle>
          <a:p xmlns:a="http://schemas.openxmlformats.org/drawingml/2006/main">
            <a:pPr>
              <a:defRPr sz="2325" b="0">
                <a:solidFill>
                  <a:srgbClr val="14231E"/>
                </a:solidFill>
                <a:latin typeface="Arial"/>
                <a:ea typeface="Arial"/>
                <a:cs typeface="Arial"/>
              </a:defRPr>
            </a:pPr>
            <a:r>
              <a:rPr sz="2325" b="0">
                <a:solidFill>
                  <a:srgbClr val="14231E"/>
                </a:solidFill>
                <a:latin typeface="Arial"/>
                <a:ea typeface="Arial"/>
                <a:cs typeface="Arial"/>
              </a:rPr>
              <a:t>Una pieza puede conservar la geometría dibujada y tener una masa diferente a la estimada. Antes de introducir la medida en el programa, se define qué se pesó: pieza sola, conjunto o pieza con acabado. Si se ajusta la masa de una pieza y además se añade otra masa que representa lo mismo, el modelo la cuenta dos veces.</a:t>
            </a:r>
          </a:p>
        </p:txBody>
      </p:sp>
    </p:spTree>
    <p:extLst>
      <p:ext uri="{BB962C8B-B14F-4D97-AF65-F5344CB8AC3E}">
        <p14:creationId xmlns:p14="http://schemas.microsoft.com/office/powerpoint/2010/main" val="1456336820"/>
      </p:ext>
    </p:extLst>
  </p:cSld>
</p:sld>
</file>

<file path=ppt/slides/slide36.xml><?xml version="1.0" encoding="utf-8"?>
<p:sld xmlns:p="http://schemas.openxmlformats.org/presentationml/2006/main">
  <p:cSld>
    <p:bg>
      <p:bgPr>
        <a:solidFill xmlns:a="http://schemas.openxmlformats.org/drawingml/2006/main">
          <a:srgbClr val="FCFCF8"/>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DCB76504-7176-4600-A03C-503AD3DF6A65}"/>
              </a:ext>
            </a:extLst>
          </p:cNvPr>
          <p:cNvSpPr>
            <a:spLocks xmlns:a="http://schemas.openxmlformats.org/drawingml/2006/main" noGrp="1"/>
          </p:cNvSpPr>
          <p:nvPr/>
        </p:nvSpPr>
        <p:spPr>
          <a:xfrm xmlns:a="http://schemas.openxmlformats.org/drawingml/2006/main">
            <a:off x="590550" y="428625"/>
            <a:ext cx="100965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75" b="1">
                <a:solidFill>
                  <a:srgbClr val="14231E"/>
                </a:solidFill>
                <a:latin typeface="Arial Narrow"/>
                <a:ea typeface="Arial Narrow"/>
                <a:cs typeface="Arial Narrow"/>
              </a:defRPr>
            </a:defPPr>
            <a:lvl1pPr>
              <a:defRPr sz="3375" b="1">
                <a:solidFill>
                  <a:srgbClr val="14231E"/>
                </a:solidFill>
                <a:latin typeface="Arial Narrow"/>
                <a:ea typeface="Arial Narrow"/>
                <a:cs typeface="Arial Narrow"/>
              </a:defRPr>
            </a:lvl1pPr>
            <a:lvl2pPr>
              <a:defRPr sz="3375" b="1">
                <a:solidFill>
                  <a:srgbClr val="14231E"/>
                </a:solidFill>
                <a:latin typeface="Arial Narrow"/>
                <a:ea typeface="Arial Narrow"/>
                <a:cs typeface="Arial Narrow"/>
              </a:defRPr>
            </a:lvl2pPr>
            <a:lvl3pPr>
              <a:defRPr sz="3375" b="1">
                <a:solidFill>
                  <a:srgbClr val="14231E"/>
                </a:solidFill>
                <a:latin typeface="Arial Narrow"/>
                <a:ea typeface="Arial Narrow"/>
                <a:cs typeface="Arial Narrow"/>
              </a:defRPr>
            </a:lvl3pPr>
            <a:lvl4pPr>
              <a:defRPr sz="3375" b="1">
                <a:solidFill>
                  <a:srgbClr val="14231E"/>
                </a:solidFill>
                <a:latin typeface="Arial Narrow"/>
                <a:ea typeface="Arial Narrow"/>
                <a:cs typeface="Arial Narrow"/>
              </a:defRPr>
            </a:lvl4pPr>
            <a:lvl5pPr>
              <a:defRPr sz="3375" b="1">
                <a:solidFill>
                  <a:srgbClr val="14231E"/>
                </a:solidFill>
                <a:latin typeface="Arial Narrow"/>
                <a:ea typeface="Arial Narrow"/>
                <a:cs typeface="Arial Narrow"/>
              </a:defRPr>
            </a:lvl5pPr>
            <a:lvl6pPr>
              <a:defRPr sz="3375" b="1">
                <a:solidFill>
                  <a:srgbClr val="14231E"/>
                </a:solidFill>
                <a:latin typeface="Arial Narrow"/>
                <a:ea typeface="Arial Narrow"/>
                <a:cs typeface="Arial Narrow"/>
              </a:defRPr>
            </a:lvl6pPr>
            <a:lvl7pPr>
              <a:defRPr sz="3375" b="1">
                <a:solidFill>
                  <a:srgbClr val="14231E"/>
                </a:solidFill>
                <a:latin typeface="Arial Narrow"/>
                <a:ea typeface="Arial Narrow"/>
                <a:cs typeface="Arial Narrow"/>
              </a:defRPr>
            </a:lvl7pPr>
            <a:lvl8pPr>
              <a:defRPr sz="3375" b="1">
                <a:solidFill>
                  <a:srgbClr val="14231E"/>
                </a:solidFill>
                <a:latin typeface="Arial Narrow"/>
                <a:ea typeface="Arial Narrow"/>
                <a:cs typeface="Arial Narrow"/>
              </a:defRPr>
            </a:lvl8pPr>
            <a:lvl9pPr>
              <a:defRPr sz="3375" b="1">
                <a:solidFill>
                  <a:srgbClr val="14231E"/>
                </a:solidFill>
                <a:latin typeface="Arial Narrow"/>
                <a:ea typeface="Arial Narrow"/>
                <a:cs typeface="Arial Narrow"/>
              </a:defRPr>
            </a:lvl9pPr>
          </a:lstStyle>
          <a:p xmlns:a="http://schemas.openxmlformats.org/drawingml/2006/main">
            <a:pPr>
              <a:defRPr sz="3375" b="1">
                <a:solidFill>
                  <a:srgbClr val="14231E"/>
                </a:solidFill>
                <a:latin typeface="Arial Narrow"/>
                <a:ea typeface="Arial Narrow"/>
                <a:cs typeface="Arial Narrow"/>
              </a:defRPr>
            </a:pPr>
            <a:r>
              <a:rPr sz="3375" b="1">
                <a:solidFill>
                  <a:srgbClr val="14231E"/>
                </a:solidFill>
                <a:latin typeface="Arial Narrow"/>
                <a:ea typeface="Arial Narrow"/>
                <a:cs typeface="Arial Narrow"/>
              </a:rPr>
              <a:t>Actualizar el modelo desde la pieza</a:t>
            </a:r>
          </a:p>
        </p:txBody>
      </p:sp>
      <p:pic>
        <p:nvPicPr>
          <p:cNvPr id="2" name="">
            <a:extLst xmlns:a="http://schemas.openxmlformats.org/drawingml/2006/main">
              <a:ext uri="{FF2B5EF4-FFF2-40B4-BE49-F238E27FC236}">
                <a16:creationId xmlns:a16="http://schemas.microsoft.com/office/drawing/2014/main" id="{A15FAF8F-8F12-4E27-A522-07E3FC22F51E}"/>
              </a:ext>
            </a:extLst>
          </p:cNvPr>
          <p:cNvPicPr>
            <a:picLocks xmlns:a="http://schemas.openxmlformats.org/drawingml/2006/main" noChangeAspect="1"/>
          </p:cNvPicPr>
          <p:nvPr/>
        </p:nvPicPr>
        <p:blipFill>
          <a:blip xmlns:r="http://schemas.openxmlformats.org/officeDocument/2006/relationships" xmlns:a="http://schemas.openxmlformats.org/drawingml/2006/main" r:embed="Rdf50c8270e444bb3"/>
          <a:stretch xmlns:a="http://schemas.openxmlformats.org/drawingml/2006/main"/>
        </p:blipFill>
        <p:spPr>
          <a:xfrm xmlns:a="http://schemas.openxmlformats.org/drawingml/2006/main">
            <a:off x="10858500" y="337942"/>
            <a:ext cx="762000" cy="276616"/>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91F85BE7-420D-4C8C-B67F-8472CF750BFF}"/>
              </a:ext>
            </a:extLst>
          </p:cNvPr>
          <p:cNvSpPr>
            <a:spLocks xmlns:a="http://schemas.openxmlformats.org/drawingml/2006/main" noGrp="1"/>
          </p:cNvSpPr>
          <p:nvPr/>
        </p:nvSpPr>
        <p:spPr>
          <a:xfrm xmlns:a="http://schemas.openxmlformats.org/drawingml/2006/main">
            <a:off x="590550" y="6467475"/>
            <a:ext cx="108108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58665F"/>
                </a:solidFill>
                <a:latin typeface="Consolas"/>
                <a:ea typeface="Consolas"/>
                <a:cs typeface="Consolas"/>
              </a:defRPr>
            </a:defPPr>
            <a:lvl1pPr>
              <a:defRPr sz="1125" b="0">
                <a:solidFill>
                  <a:srgbClr val="58665F"/>
                </a:solidFill>
                <a:latin typeface="Consolas"/>
                <a:ea typeface="Consolas"/>
                <a:cs typeface="Consolas"/>
              </a:defRPr>
            </a:lvl1pPr>
            <a:lvl2pPr>
              <a:defRPr sz="1125" b="0">
                <a:solidFill>
                  <a:srgbClr val="58665F"/>
                </a:solidFill>
                <a:latin typeface="Consolas"/>
                <a:ea typeface="Consolas"/>
                <a:cs typeface="Consolas"/>
              </a:defRPr>
            </a:lvl2pPr>
            <a:lvl3pPr>
              <a:defRPr sz="1125" b="0">
                <a:solidFill>
                  <a:srgbClr val="58665F"/>
                </a:solidFill>
                <a:latin typeface="Consolas"/>
                <a:ea typeface="Consolas"/>
                <a:cs typeface="Consolas"/>
              </a:defRPr>
            </a:lvl3pPr>
            <a:lvl4pPr>
              <a:defRPr sz="1125" b="0">
                <a:solidFill>
                  <a:srgbClr val="58665F"/>
                </a:solidFill>
                <a:latin typeface="Consolas"/>
                <a:ea typeface="Consolas"/>
                <a:cs typeface="Consolas"/>
              </a:defRPr>
            </a:lvl4pPr>
            <a:lvl5pPr>
              <a:defRPr sz="1125" b="0">
                <a:solidFill>
                  <a:srgbClr val="58665F"/>
                </a:solidFill>
                <a:latin typeface="Consolas"/>
                <a:ea typeface="Consolas"/>
                <a:cs typeface="Consolas"/>
              </a:defRPr>
            </a:lvl5pPr>
            <a:lvl6pPr>
              <a:defRPr sz="1125" b="0">
                <a:solidFill>
                  <a:srgbClr val="58665F"/>
                </a:solidFill>
                <a:latin typeface="Consolas"/>
                <a:ea typeface="Consolas"/>
                <a:cs typeface="Consolas"/>
              </a:defRPr>
            </a:lvl6pPr>
            <a:lvl7pPr>
              <a:defRPr sz="1125" b="0">
                <a:solidFill>
                  <a:srgbClr val="58665F"/>
                </a:solidFill>
                <a:latin typeface="Consolas"/>
                <a:ea typeface="Consolas"/>
                <a:cs typeface="Consolas"/>
              </a:defRPr>
            </a:lvl7pPr>
            <a:lvl8pPr>
              <a:defRPr sz="1125" b="0">
                <a:solidFill>
                  <a:srgbClr val="58665F"/>
                </a:solidFill>
                <a:latin typeface="Consolas"/>
                <a:ea typeface="Consolas"/>
                <a:cs typeface="Consolas"/>
              </a:defRPr>
            </a:lvl8pPr>
            <a:lvl9pPr>
              <a:defRPr sz="1125" b="0">
                <a:solidFill>
                  <a:srgbClr val="58665F"/>
                </a:solidFill>
                <a:latin typeface="Consolas"/>
                <a:ea typeface="Consolas"/>
                <a:cs typeface="Consolas"/>
              </a:defRPr>
            </a:lvl9pPr>
          </a:lstStyle>
          <a:p xmlns:a="http://schemas.openxmlformats.org/drawingml/2006/main">
            <a:pPr>
              <a:defRPr sz="1125" b="0">
                <a:solidFill>
                  <a:srgbClr val="58665F"/>
                </a:solidFill>
                <a:latin typeface="Consolas"/>
                <a:ea typeface="Consolas"/>
                <a:cs typeface="Consolas"/>
              </a:defRPr>
            </a:pPr>
            <a:r>
              <a:rPr sz="1125" b="0">
                <a:solidFill>
                  <a:srgbClr val="58665F"/>
                </a:solidFill>
                <a:latin typeface="Consolas"/>
                <a:ea typeface="Consolas"/>
                <a:cs typeface="Consolas"/>
              </a:rPr>
              <a:t>MECRO   SEMANA 3   CLASE 06   12/24</a:t>
            </a:r>
          </a:p>
        </p:txBody>
      </p:sp>
      <p:pic>
        <p:nvPicPr>
          <p:cNvPr id="4" name="">
            <a:extLst xmlns:a="http://schemas.openxmlformats.org/drawingml/2006/main">
              <a:ext uri="{FF2B5EF4-FFF2-40B4-BE49-F238E27FC236}">
                <a16:creationId xmlns:a16="http://schemas.microsoft.com/office/drawing/2014/main" id="{D901E022-3C79-4E8F-BED4-5BF0FE8A228B}"/>
              </a:ext>
            </a:extLst>
          </p:cNvPr>
          <p:cNvPicPr>
            <a:picLocks xmlns:a="http://schemas.openxmlformats.org/drawingml/2006/main" noChangeAspect="1"/>
          </p:cNvPicPr>
          <p:nvPr/>
        </p:nvPicPr>
        <p:blipFill>
          <a:blip xmlns:r="http://schemas.openxmlformats.org/officeDocument/2006/relationships" xmlns:a="http://schemas.openxmlformats.org/drawingml/2006/main" r:embed="R95d37de2dd6144f3"/>
          <a:stretch xmlns:a="http://schemas.openxmlformats.org/drawingml/2006/main"/>
        </p:blipFill>
        <p:spPr>
          <a:xfrm xmlns:a="http://schemas.openxmlformats.org/drawingml/2006/main">
            <a:off x="1408464" y="1657350"/>
            <a:ext cx="5774622" cy="3981450"/>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6441E79B-27FF-49E9-9042-297A44F5E57A}"/>
              </a:ext>
            </a:extLst>
          </p:cNvPr>
          <p:cNvSpPr>
            <a:spLocks xmlns:a="http://schemas.openxmlformats.org/drawingml/2006/main" noGrp="1"/>
          </p:cNvSpPr>
          <p:nvPr/>
        </p:nvSpPr>
        <p:spPr>
          <a:xfrm xmlns:a="http://schemas.openxmlformats.org/drawingml/2006/main">
            <a:off x="8315325" y="1781175"/>
            <a:ext cx="3248025" cy="3590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325" b="1">
                <a:solidFill>
                  <a:srgbClr val="244F3D"/>
                </a:solidFill>
                <a:latin typeface="Arial"/>
                <a:ea typeface="Arial"/>
                <a:cs typeface="Arial"/>
              </a:defRPr>
            </a:defPPr>
            <a:lvl1pPr>
              <a:defRPr sz="2325" b="1">
                <a:solidFill>
                  <a:srgbClr val="244F3D"/>
                </a:solidFill>
                <a:latin typeface="Arial"/>
                <a:ea typeface="Arial"/>
                <a:cs typeface="Arial"/>
              </a:defRPr>
            </a:lvl1pPr>
            <a:lvl2pPr>
              <a:defRPr sz="2325" b="1">
                <a:solidFill>
                  <a:srgbClr val="244F3D"/>
                </a:solidFill>
                <a:latin typeface="Arial"/>
                <a:ea typeface="Arial"/>
                <a:cs typeface="Arial"/>
              </a:defRPr>
            </a:lvl2pPr>
            <a:lvl3pPr>
              <a:defRPr sz="2325" b="1">
                <a:solidFill>
                  <a:srgbClr val="244F3D"/>
                </a:solidFill>
                <a:latin typeface="Arial"/>
                <a:ea typeface="Arial"/>
                <a:cs typeface="Arial"/>
              </a:defRPr>
            </a:lvl3pPr>
            <a:lvl4pPr>
              <a:defRPr sz="2325" b="1">
                <a:solidFill>
                  <a:srgbClr val="244F3D"/>
                </a:solidFill>
                <a:latin typeface="Arial"/>
                <a:ea typeface="Arial"/>
                <a:cs typeface="Arial"/>
              </a:defRPr>
            </a:lvl4pPr>
            <a:lvl5pPr>
              <a:defRPr sz="2325" b="1">
                <a:solidFill>
                  <a:srgbClr val="244F3D"/>
                </a:solidFill>
                <a:latin typeface="Arial"/>
                <a:ea typeface="Arial"/>
                <a:cs typeface="Arial"/>
              </a:defRPr>
            </a:lvl5pPr>
            <a:lvl6pPr>
              <a:defRPr sz="2325" b="1">
                <a:solidFill>
                  <a:srgbClr val="244F3D"/>
                </a:solidFill>
                <a:latin typeface="Arial"/>
                <a:ea typeface="Arial"/>
                <a:cs typeface="Arial"/>
              </a:defRPr>
            </a:lvl6pPr>
            <a:lvl7pPr>
              <a:defRPr sz="2325" b="1">
                <a:solidFill>
                  <a:srgbClr val="244F3D"/>
                </a:solidFill>
                <a:latin typeface="Arial"/>
                <a:ea typeface="Arial"/>
                <a:cs typeface="Arial"/>
              </a:defRPr>
            </a:lvl7pPr>
            <a:lvl8pPr>
              <a:defRPr sz="2325" b="1">
                <a:solidFill>
                  <a:srgbClr val="244F3D"/>
                </a:solidFill>
                <a:latin typeface="Arial"/>
                <a:ea typeface="Arial"/>
                <a:cs typeface="Arial"/>
              </a:defRPr>
            </a:lvl8pPr>
            <a:lvl9pPr>
              <a:defRPr sz="2325" b="1">
                <a:solidFill>
                  <a:srgbClr val="244F3D"/>
                </a:solidFill>
                <a:latin typeface="Arial"/>
                <a:ea typeface="Arial"/>
                <a:cs typeface="Arial"/>
              </a:defRPr>
            </a:lvl9pPr>
          </a:lstStyle>
          <a:p xmlns:a="http://schemas.openxmlformats.org/drawingml/2006/main">
            <a:pPr>
              <a:defRPr sz="2325" b="1">
                <a:solidFill>
                  <a:srgbClr val="244F3D"/>
                </a:solidFill>
                <a:latin typeface="Arial"/>
                <a:ea typeface="Arial"/>
                <a:cs typeface="Arial"/>
              </a:defRPr>
            </a:pPr>
            <a:r>
              <a:rPr sz="2325" b="1">
                <a:solidFill>
                  <a:srgbClr val="244F3D"/>
                </a:solidFill>
                <a:latin typeface="Arial"/>
                <a:ea typeface="Arial"/>
                <a:cs typeface="Arial"/>
              </a:rPr>
              <a:t>¿Qué incluye exactamente la masa pesada?</a:t>
            </a:r>
          </a:p>
        </p:txBody>
      </p:sp>
      <p:sp>
        <p:nvSpPr>
          <p:cNvPr id="6" name="">
            <a:extLst xmlns:a="http://schemas.openxmlformats.org/drawingml/2006/main">
              <a:ext uri="{FF2B5EF4-FFF2-40B4-BE49-F238E27FC236}">
                <a16:creationId xmlns:a16="http://schemas.microsoft.com/office/drawing/2014/main" id="{22D5B5B8-A9D7-4B4B-A8BC-1BDF010CFD18}"/>
              </a:ext>
            </a:extLst>
          </p:cNvPr>
          <p:cNvSpPr>
            <a:spLocks xmlns:a="http://schemas.openxmlformats.org/drawingml/2006/main" noGrp="1"/>
          </p:cNvSpPr>
          <p:nvPr/>
        </p:nvSpPr>
        <p:spPr>
          <a:xfrm xmlns:a="http://schemas.openxmlformats.org/drawingml/2006/main">
            <a:off x="590550" y="5848350"/>
            <a:ext cx="10953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350" b="0">
                <a:solidFill>
                  <a:srgbClr val="58665F"/>
                </a:solidFill>
                <a:latin typeface="Arial"/>
                <a:ea typeface="Arial"/>
                <a:cs typeface="Arial"/>
              </a:defRPr>
            </a:defPPr>
            <a:lvl1pPr>
              <a:defRPr sz="1350" b="0">
                <a:solidFill>
                  <a:srgbClr val="58665F"/>
                </a:solidFill>
                <a:latin typeface="Arial"/>
                <a:ea typeface="Arial"/>
                <a:cs typeface="Arial"/>
              </a:defRPr>
            </a:lvl1pPr>
            <a:lvl2pPr>
              <a:defRPr sz="1350" b="0">
                <a:solidFill>
                  <a:srgbClr val="58665F"/>
                </a:solidFill>
                <a:latin typeface="Arial"/>
                <a:ea typeface="Arial"/>
                <a:cs typeface="Arial"/>
              </a:defRPr>
            </a:lvl2pPr>
            <a:lvl3pPr>
              <a:defRPr sz="1350" b="0">
                <a:solidFill>
                  <a:srgbClr val="58665F"/>
                </a:solidFill>
                <a:latin typeface="Arial"/>
                <a:ea typeface="Arial"/>
                <a:cs typeface="Arial"/>
              </a:defRPr>
            </a:lvl3pPr>
            <a:lvl4pPr>
              <a:defRPr sz="1350" b="0">
                <a:solidFill>
                  <a:srgbClr val="58665F"/>
                </a:solidFill>
                <a:latin typeface="Arial"/>
                <a:ea typeface="Arial"/>
                <a:cs typeface="Arial"/>
              </a:defRPr>
            </a:lvl4pPr>
            <a:lvl5pPr>
              <a:defRPr sz="1350" b="0">
                <a:solidFill>
                  <a:srgbClr val="58665F"/>
                </a:solidFill>
                <a:latin typeface="Arial"/>
                <a:ea typeface="Arial"/>
                <a:cs typeface="Arial"/>
              </a:defRPr>
            </a:lvl5pPr>
            <a:lvl6pPr>
              <a:defRPr sz="1350" b="0">
                <a:solidFill>
                  <a:srgbClr val="58665F"/>
                </a:solidFill>
                <a:latin typeface="Arial"/>
                <a:ea typeface="Arial"/>
                <a:cs typeface="Arial"/>
              </a:defRPr>
            </a:lvl6pPr>
            <a:lvl7pPr>
              <a:defRPr sz="1350" b="0">
                <a:solidFill>
                  <a:srgbClr val="58665F"/>
                </a:solidFill>
                <a:latin typeface="Arial"/>
                <a:ea typeface="Arial"/>
                <a:cs typeface="Arial"/>
              </a:defRPr>
            </a:lvl7pPr>
            <a:lvl8pPr>
              <a:defRPr sz="1350" b="0">
                <a:solidFill>
                  <a:srgbClr val="58665F"/>
                </a:solidFill>
                <a:latin typeface="Arial"/>
                <a:ea typeface="Arial"/>
                <a:cs typeface="Arial"/>
              </a:defRPr>
            </a:lvl8pPr>
            <a:lvl9pPr>
              <a:defRPr sz="1350" b="0">
                <a:solidFill>
                  <a:srgbClr val="58665F"/>
                </a:solidFill>
                <a:latin typeface="Arial"/>
                <a:ea typeface="Arial"/>
                <a:cs typeface="Arial"/>
              </a:defRPr>
            </a:lvl9pPr>
          </a:lstStyle>
          <a:p xmlns:a="http://schemas.openxmlformats.org/drawingml/2006/main">
            <a:pPr>
              <a:defRPr sz="1350" b="0">
                <a:solidFill>
                  <a:srgbClr val="58665F"/>
                </a:solidFill>
                <a:latin typeface="Arial"/>
                <a:ea typeface="Arial"/>
                <a:cs typeface="Arial"/>
              </a:defRPr>
            </a:pPr>
            <a:r>
              <a:rPr sz="1350" b="0">
                <a:solidFill>
                  <a:srgbClr val="58665F"/>
                </a:solidFill>
                <a:latin typeface="Arial"/>
                <a:ea typeface="Arial"/>
                <a:cs typeface="Arial"/>
              </a:rPr>
              <a:t>Pestaña de ajustes de masa en el manual de OpenRocket. Se usa con datos identificados, sin duplicar componentes.</a:t>
            </a:r>
          </a:p>
        </p:txBody>
      </p:sp>
    </p:spTree>
    <p:extLst>
      <p:ext uri="{BB962C8B-B14F-4D97-AF65-F5344CB8AC3E}">
        <p14:creationId xmlns:p14="http://schemas.microsoft.com/office/powerpoint/2010/main" val="198043104"/>
      </p:ext>
    </p:extLst>
  </p:cSld>
</p:sld>
</file>

<file path=ppt/slides/slide37.xml><?xml version="1.0" encoding="utf-8"?>
<p:sld xmlns:p="http://schemas.openxmlformats.org/presentationml/2006/main">
  <p:cSld>
    <p:bg>
      <p:bgPr>
        <a:solidFill xmlns:a="http://schemas.openxmlformats.org/drawingml/2006/main">
          <a:srgbClr val="FCFCF8"/>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B5619B05-A069-464D-9A39-71D2CE72C45C}"/>
              </a:ext>
            </a:extLst>
          </p:cNvPr>
          <p:cNvSpPr>
            <a:spLocks xmlns:a="http://schemas.openxmlformats.org/drawingml/2006/main" noGrp="1"/>
          </p:cNvSpPr>
          <p:nvPr/>
        </p:nvSpPr>
        <p:spPr>
          <a:xfrm xmlns:a="http://schemas.openxmlformats.org/drawingml/2006/main">
            <a:off x="590550" y="428625"/>
            <a:ext cx="100965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75" b="1">
                <a:solidFill>
                  <a:srgbClr val="14231E"/>
                </a:solidFill>
                <a:latin typeface="Arial Narrow"/>
                <a:ea typeface="Arial Narrow"/>
                <a:cs typeface="Arial Narrow"/>
              </a:defRPr>
            </a:defPPr>
            <a:lvl1pPr>
              <a:defRPr sz="3375" b="1">
                <a:solidFill>
                  <a:srgbClr val="14231E"/>
                </a:solidFill>
                <a:latin typeface="Arial Narrow"/>
                <a:ea typeface="Arial Narrow"/>
                <a:cs typeface="Arial Narrow"/>
              </a:defRPr>
            </a:lvl1pPr>
            <a:lvl2pPr>
              <a:defRPr sz="3375" b="1">
                <a:solidFill>
                  <a:srgbClr val="14231E"/>
                </a:solidFill>
                <a:latin typeface="Arial Narrow"/>
                <a:ea typeface="Arial Narrow"/>
                <a:cs typeface="Arial Narrow"/>
              </a:defRPr>
            </a:lvl2pPr>
            <a:lvl3pPr>
              <a:defRPr sz="3375" b="1">
                <a:solidFill>
                  <a:srgbClr val="14231E"/>
                </a:solidFill>
                <a:latin typeface="Arial Narrow"/>
                <a:ea typeface="Arial Narrow"/>
                <a:cs typeface="Arial Narrow"/>
              </a:defRPr>
            </a:lvl3pPr>
            <a:lvl4pPr>
              <a:defRPr sz="3375" b="1">
                <a:solidFill>
                  <a:srgbClr val="14231E"/>
                </a:solidFill>
                <a:latin typeface="Arial Narrow"/>
                <a:ea typeface="Arial Narrow"/>
                <a:cs typeface="Arial Narrow"/>
              </a:defRPr>
            </a:lvl4pPr>
            <a:lvl5pPr>
              <a:defRPr sz="3375" b="1">
                <a:solidFill>
                  <a:srgbClr val="14231E"/>
                </a:solidFill>
                <a:latin typeface="Arial Narrow"/>
                <a:ea typeface="Arial Narrow"/>
                <a:cs typeface="Arial Narrow"/>
              </a:defRPr>
            </a:lvl5pPr>
            <a:lvl6pPr>
              <a:defRPr sz="3375" b="1">
                <a:solidFill>
                  <a:srgbClr val="14231E"/>
                </a:solidFill>
                <a:latin typeface="Arial Narrow"/>
                <a:ea typeface="Arial Narrow"/>
                <a:cs typeface="Arial Narrow"/>
              </a:defRPr>
            </a:lvl6pPr>
            <a:lvl7pPr>
              <a:defRPr sz="3375" b="1">
                <a:solidFill>
                  <a:srgbClr val="14231E"/>
                </a:solidFill>
                <a:latin typeface="Arial Narrow"/>
                <a:ea typeface="Arial Narrow"/>
                <a:cs typeface="Arial Narrow"/>
              </a:defRPr>
            </a:lvl7pPr>
            <a:lvl8pPr>
              <a:defRPr sz="3375" b="1">
                <a:solidFill>
                  <a:srgbClr val="14231E"/>
                </a:solidFill>
                <a:latin typeface="Arial Narrow"/>
                <a:ea typeface="Arial Narrow"/>
                <a:cs typeface="Arial Narrow"/>
              </a:defRPr>
            </a:lvl8pPr>
            <a:lvl9pPr>
              <a:defRPr sz="3375" b="1">
                <a:solidFill>
                  <a:srgbClr val="14231E"/>
                </a:solidFill>
                <a:latin typeface="Arial Narrow"/>
                <a:ea typeface="Arial Narrow"/>
                <a:cs typeface="Arial Narrow"/>
              </a:defRPr>
            </a:lvl9pPr>
          </a:lstStyle>
          <a:p xmlns:a="http://schemas.openxmlformats.org/drawingml/2006/main">
            <a:pPr>
              <a:defRPr sz="3375" b="1">
                <a:solidFill>
                  <a:srgbClr val="14231E"/>
                </a:solidFill>
                <a:latin typeface="Arial Narrow"/>
                <a:ea typeface="Arial Narrow"/>
                <a:cs typeface="Arial Narrow"/>
              </a:defRPr>
            </a:pPr>
            <a:r>
              <a:rPr sz="3375" b="1">
                <a:solidFill>
                  <a:srgbClr val="14231E"/>
                </a:solidFill>
                <a:latin typeface="Arial Narrow"/>
                <a:ea typeface="Arial Narrow"/>
                <a:cs typeface="Arial Narrow"/>
              </a:rPr>
              <a:t>Práctica: Actualizar el modelo desde la pieza</a:t>
            </a:r>
          </a:p>
        </p:txBody>
      </p:sp>
      <p:pic>
        <p:nvPicPr>
          <p:cNvPr id="2" name="">
            <a:extLst xmlns:a="http://schemas.openxmlformats.org/drawingml/2006/main">
              <a:ext uri="{FF2B5EF4-FFF2-40B4-BE49-F238E27FC236}">
                <a16:creationId xmlns:a16="http://schemas.microsoft.com/office/drawing/2014/main" id="{632CBDC0-B0AB-4666-8FB2-C8713163B534}"/>
              </a:ext>
            </a:extLst>
          </p:cNvPr>
          <p:cNvPicPr>
            <a:picLocks xmlns:a="http://schemas.openxmlformats.org/drawingml/2006/main" noChangeAspect="1"/>
          </p:cNvPicPr>
          <p:nvPr/>
        </p:nvPicPr>
        <p:blipFill>
          <a:blip xmlns:r="http://schemas.openxmlformats.org/officeDocument/2006/relationships" xmlns:a="http://schemas.openxmlformats.org/drawingml/2006/main" r:embed="R3ba9c100df6440cc"/>
          <a:stretch xmlns:a="http://schemas.openxmlformats.org/drawingml/2006/main"/>
        </p:blipFill>
        <p:spPr>
          <a:xfrm xmlns:a="http://schemas.openxmlformats.org/drawingml/2006/main">
            <a:off x="10858500" y="337942"/>
            <a:ext cx="762000" cy="276616"/>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1D923820-0E6C-4DF3-A200-7F701115CE08}"/>
              </a:ext>
            </a:extLst>
          </p:cNvPr>
          <p:cNvSpPr>
            <a:spLocks xmlns:a="http://schemas.openxmlformats.org/drawingml/2006/main" noGrp="1"/>
          </p:cNvSpPr>
          <p:nvPr/>
        </p:nvSpPr>
        <p:spPr>
          <a:xfrm xmlns:a="http://schemas.openxmlformats.org/drawingml/2006/main">
            <a:off x="590550" y="6467475"/>
            <a:ext cx="108108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58665F"/>
                </a:solidFill>
                <a:latin typeface="Consolas"/>
                <a:ea typeface="Consolas"/>
                <a:cs typeface="Consolas"/>
              </a:defRPr>
            </a:defPPr>
            <a:lvl1pPr>
              <a:defRPr sz="1125" b="0">
                <a:solidFill>
                  <a:srgbClr val="58665F"/>
                </a:solidFill>
                <a:latin typeface="Consolas"/>
                <a:ea typeface="Consolas"/>
                <a:cs typeface="Consolas"/>
              </a:defRPr>
            </a:lvl1pPr>
            <a:lvl2pPr>
              <a:defRPr sz="1125" b="0">
                <a:solidFill>
                  <a:srgbClr val="58665F"/>
                </a:solidFill>
                <a:latin typeface="Consolas"/>
                <a:ea typeface="Consolas"/>
                <a:cs typeface="Consolas"/>
              </a:defRPr>
            </a:lvl2pPr>
            <a:lvl3pPr>
              <a:defRPr sz="1125" b="0">
                <a:solidFill>
                  <a:srgbClr val="58665F"/>
                </a:solidFill>
                <a:latin typeface="Consolas"/>
                <a:ea typeface="Consolas"/>
                <a:cs typeface="Consolas"/>
              </a:defRPr>
            </a:lvl3pPr>
            <a:lvl4pPr>
              <a:defRPr sz="1125" b="0">
                <a:solidFill>
                  <a:srgbClr val="58665F"/>
                </a:solidFill>
                <a:latin typeface="Consolas"/>
                <a:ea typeface="Consolas"/>
                <a:cs typeface="Consolas"/>
              </a:defRPr>
            </a:lvl4pPr>
            <a:lvl5pPr>
              <a:defRPr sz="1125" b="0">
                <a:solidFill>
                  <a:srgbClr val="58665F"/>
                </a:solidFill>
                <a:latin typeface="Consolas"/>
                <a:ea typeface="Consolas"/>
                <a:cs typeface="Consolas"/>
              </a:defRPr>
            </a:lvl5pPr>
            <a:lvl6pPr>
              <a:defRPr sz="1125" b="0">
                <a:solidFill>
                  <a:srgbClr val="58665F"/>
                </a:solidFill>
                <a:latin typeface="Consolas"/>
                <a:ea typeface="Consolas"/>
                <a:cs typeface="Consolas"/>
              </a:defRPr>
            </a:lvl6pPr>
            <a:lvl7pPr>
              <a:defRPr sz="1125" b="0">
                <a:solidFill>
                  <a:srgbClr val="58665F"/>
                </a:solidFill>
                <a:latin typeface="Consolas"/>
                <a:ea typeface="Consolas"/>
                <a:cs typeface="Consolas"/>
              </a:defRPr>
            </a:lvl7pPr>
            <a:lvl8pPr>
              <a:defRPr sz="1125" b="0">
                <a:solidFill>
                  <a:srgbClr val="58665F"/>
                </a:solidFill>
                <a:latin typeface="Consolas"/>
                <a:ea typeface="Consolas"/>
                <a:cs typeface="Consolas"/>
              </a:defRPr>
            </a:lvl8pPr>
            <a:lvl9pPr>
              <a:defRPr sz="1125" b="0">
                <a:solidFill>
                  <a:srgbClr val="58665F"/>
                </a:solidFill>
                <a:latin typeface="Consolas"/>
                <a:ea typeface="Consolas"/>
                <a:cs typeface="Consolas"/>
              </a:defRPr>
            </a:lvl9pPr>
          </a:lstStyle>
          <a:p xmlns:a="http://schemas.openxmlformats.org/drawingml/2006/main">
            <a:pPr>
              <a:defRPr sz="1125" b="0">
                <a:solidFill>
                  <a:srgbClr val="58665F"/>
                </a:solidFill>
                <a:latin typeface="Consolas"/>
                <a:ea typeface="Consolas"/>
                <a:cs typeface="Consolas"/>
              </a:defRPr>
            </a:pPr>
            <a:r>
              <a:rPr sz="1125" b="0">
                <a:solidFill>
                  <a:srgbClr val="58665F"/>
                </a:solidFill>
                <a:latin typeface="Consolas"/>
                <a:ea typeface="Consolas"/>
                <a:cs typeface="Consolas"/>
              </a:rPr>
              <a:t>MECRO   SEMANA 3   CLASE 06   13/24</a:t>
            </a:r>
          </a:p>
        </p:txBody>
      </p:sp>
      <p:sp>
        <p:nvSpPr>
          <p:cNvPr id="4" name="">
            <a:extLst xmlns:a="http://schemas.openxmlformats.org/drawingml/2006/main">
              <a:ext uri="{FF2B5EF4-FFF2-40B4-BE49-F238E27FC236}">
                <a16:creationId xmlns:a16="http://schemas.microsoft.com/office/drawing/2014/main" id="{2592BE2C-E3C5-4EA7-8F17-7DB0D9D0757F}"/>
              </a:ext>
            </a:extLst>
          </p:cNvPr>
          <p:cNvSpPr>
            <a:spLocks xmlns:a="http://schemas.openxmlformats.org/drawingml/2006/main" noGrp="1"/>
          </p:cNvSpPr>
          <p:nvPr/>
        </p:nvSpPr>
        <p:spPr>
          <a:xfrm xmlns:a="http://schemas.openxmlformats.org/drawingml/2006/main">
            <a:off x="590550" y="1743075"/>
            <a:ext cx="10810875" cy="425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950" b="0">
                <a:solidFill>
                  <a:srgbClr val="14231E"/>
                </a:solidFill>
                <a:latin typeface="Arial"/>
                <a:ea typeface="Arial"/>
                <a:cs typeface="Arial"/>
              </a:defRPr>
            </a:defPPr>
            <a:lvl1pPr>
              <a:defRPr sz="1950" b="0">
                <a:solidFill>
                  <a:srgbClr val="14231E"/>
                </a:solidFill>
                <a:latin typeface="Arial"/>
                <a:ea typeface="Arial"/>
                <a:cs typeface="Arial"/>
              </a:defRPr>
            </a:lvl1pPr>
            <a:lvl2pPr>
              <a:defRPr sz="1950" b="0">
                <a:solidFill>
                  <a:srgbClr val="14231E"/>
                </a:solidFill>
                <a:latin typeface="Arial"/>
                <a:ea typeface="Arial"/>
                <a:cs typeface="Arial"/>
              </a:defRPr>
            </a:lvl2pPr>
            <a:lvl3pPr>
              <a:defRPr sz="1950" b="0">
                <a:solidFill>
                  <a:srgbClr val="14231E"/>
                </a:solidFill>
                <a:latin typeface="Arial"/>
                <a:ea typeface="Arial"/>
                <a:cs typeface="Arial"/>
              </a:defRPr>
            </a:lvl3pPr>
            <a:lvl4pPr>
              <a:defRPr sz="1950" b="0">
                <a:solidFill>
                  <a:srgbClr val="14231E"/>
                </a:solidFill>
                <a:latin typeface="Arial"/>
                <a:ea typeface="Arial"/>
                <a:cs typeface="Arial"/>
              </a:defRPr>
            </a:lvl4pPr>
            <a:lvl5pPr>
              <a:defRPr sz="1950" b="0">
                <a:solidFill>
                  <a:srgbClr val="14231E"/>
                </a:solidFill>
                <a:latin typeface="Arial"/>
                <a:ea typeface="Arial"/>
                <a:cs typeface="Arial"/>
              </a:defRPr>
            </a:lvl5pPr>
            <a:lvl6pPr>
              <a:defRPr sz="1950" b="0">
                <a:solidFill>
                  <a:srgbClr val="14231E"/>
                </a:solidFill>
                <a:latin typeface="Arial"/>
                <a:ea typeface="Arial"/>
                <a:cs typeface="Arial"/>
              </a:defRPr>
            </a:lvl6pPr>
            <a:lvl7pPr>
              <a:defRPr sz="1950" b="0">
                <a:solidFill>
                  <a:srgbClr val="14231E"/>
                </a:solidFill>
                <a:latin typeface="Arial"/>
                <a:ea typeface="Arial"/>
                <a:cs typeface="Arial"/>
              </a:defRPr>
            </a:lvl7pPr>
            <a:lvl8pPr>
              <a:defRPr sz="1950" b="0">
                <a:solidFill>
                  <a:srgbClr val="14231E"/>
                </a:solidFill>
                <a:latin typeface="Arial"/>
                <a:ea typeface="Arial"/>
                <a:cs typeface="Arial"/>
              </a:defRPr>
            </a:lvl8pPr>
            <a:lvl9pPr>
              <a:defRPr sz="1950" b="0">
                <a:solidFill>
                  <a:srgbClr val="14231E"/>
                </a:solidFill>
                <a:latin typeface="Arial"/>
                <a:ea typeface="Arial"/>
                <a:cs typeface="Arial"/>
              </a:defRPr>
            </a:lvl9pPr>
          </a:lstStyle>
          <a:p xmlns:a="http://schemas.openxmlformats.org/drawingml/2006/main">
            <a:pPr>
              <a:defRPr sz="1950" b="0">
                <a:solidFill>
                  <a:srgbClr val="14231E"/>
                </a:solidFill>
                <a:latin typeface="Arial"/>
                <a:ea typeface="Arial"/>
                <a:cs typeface="Arial"/>
              </a:defRPr>
            </a:pPr>
            <a:r>
              <a:rPr sz="1950" b="0">
                <a:solidFill>
                  <a:srgbClr val="14231E"/>
                </a:solidFill>
                <a:latin typeface="Arial"/>
                <a:ea typeface="Arial"/>
                <a:cs typeface="Arial"/>
              </a:rPr>
              <a:t>1. Pesa la pieza identificada y anota qué incluye.</a:t>
            </a:r>
          </a:p>
          <a:p xmlns:a="http://schemas.openxmlformats.org/drawingml/2006/main">
            <a:r>
              <a:t/>
            </a:r>
          </a:p>
          <a:p xmlns:a="http://schemas.openxmlformats.org/drawingml/2006/main">
            <a:pPr>
              <a:defRPr sz="1950" b="0">
                <a:solidFill>
                  <a:srgbClr val="14231E"/>
                </a:solidFill>
                <a:latin typeface="Arial"/>
                <a:ea typeface="Arial"/>
                <a:cs typeface="Arial"/>
              </a:defRPr>
            </a:pPr>
            <a:r>
              <a:rPr sz="1950" b="0">
                <a:solidFill>
                  <a:srgbClr val="14231E"/>
                </a:solidFill>
                <a:latin typeface="Arial"/>
                <a:ea typeface="Arial"/>
                <a:cs typeface="Arial"/>
              </a:rPr>
              <a:t>2. Compara el resultado con la estimación del modelo.</a:t>
            </a:r>
          </a:p>
          <a:p xmlns:a="http://schemas.openxmlformats.org/drawingml/2006/main">
            <a:r>
              <a:t/>
            </a:r>
          </a:p>
          <a:p xmlns:a="http://schemas.openxmlformats.org/drawingml/2006/main">
            <a:pPr>
              <a:defRPr sz="1950" b="0">
                <a:solidFill>
                  <a:srgbClr val="14231E"/>
                </a:solidFill>
                <a:latin typeface="Arial"/>
                <a:ea typeface="Arial"/>
                <a:cs typeface="Arial"/>
              </a:defRPr>
            </a:pPr>
            <a:r>
              <a:rPr sz="1950" b="0">
                <a:solidFill>
                  <a:srgbClr val="14231E"/>
                </a:solidFill>
                <a:latin typeface="Arial"/>
                <a:ea typeface="Arial"/>
                <a:cs typeface="Arial"/>
              </a:rPr>
              <a:t>3. Actualiza la representación de esa pieza según la versión del programa.</a:t>
            </a:r>
          </a:p>
          <a:p xmlns:a="http://schemas.openxmlformats.org/drawingml/2006/main">
            <a:r>
              <a:t/>
            </a:r>
          </a:p>
          <a:p xmlns:a="http://schemas.openxmlformats.org/drawingml/2006/main">
            <a:pPr>
              <a:defRPr sz="1950" b="0">
                <a:solidFill>
                  <a:srgbClr val="14231E"/>
                </a:solidFill>
                <a:latin typeface="Arial"/>
                <a:ea typeface="Arial"/>
                <a:cs typeface="Arial"/>
              </a:defRPr>
            </a:pPr>
            <a:r>
              <a:rPr sz="1950" b="0">
                <a:solidFill>
                  <a:srgbClr val="14231E"/>
                </a:solidFill>
                <a:latin typeface="Arial"/>
                <a:ea typeface="Arial"/>
                <a:cs typeface="Arial"/>
              </a:rPr>
              <a:t>4. Revisa el total y conserva una copia anterior.</a:t>
            </a:r>
          </a:p>
          <a:p xmlns:a="http://schemas.openxmlformats.org/drawingml/2006/main">
            <a:r>
              <a:t/>
            </a:r>
          </a:p>
          <a:p xmlns:a="http://schemas.openxmlformats.org/drawingml/2006/main">
            <a:pPr>
              <a:defRPr sz="1950" b="0">
                <a:solidFill>
                  <a:srgbClr val="14231E"/>
                </a:solidFill>
                <a:latin typeface="Arial"/>
                <a:ea typeface="Arial"/>
                <a:cs typeface="Arial"/>
              </a:defRPr>
            </a:pPr>
            <a:r>
              <a:rPr sz="1950" b="0">
                <a:solidFill>
                  <a:srgbClr val="14231E"/>
                </a:solidFill>
                <a:latin typeface="Arial"/>
                <a:ea typeface="Arial"/>
                <a:cs typeface="Arial"/>
              </a:rPr>
              <a:t>5. Añade en el comentario la fecha y el origen de la medida.</a:t>
            </a:r>
          </a:p>
        </p:txBody>
      </p:sp>
    </p:spTree>
    <p:extLst>
      <p:ext uri="{BB962C8B-B14F-4D97-AF65-F5344CB8AC3E}">
        <p14:creationId xmlns:p14="http://schemas.microsoft.com/office/powerpoint/2010/main" val="1337975588"/>
      </p:ext>
    </p:extLst>
  </p:cSld>
</p:sld>
</file>

<file path=ppt/slides/slide38.xml><?xml version="1.0" encoding="utf-8"?>
<p:sld xmlns:p="http://schemas.openxmlformats.org/presentationml/2006/main">
  <p:cSld>
    <p:bg>
      <p:bgPr>
        <a:solidFill xmlns:a="http://schemas.openxmlformats.org/drawingml/2006/main">
          <a:srgbClr val="FCFCF8"/>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FC769DFC-931C-43FE-A393-6B45D2FBE92B}"/>
              </a:ext>
            </a:extLst>
          </p:cNvPr>
          <p:cNvSpPr>
            <a:spLocks xmlns:a="http://schemas.openxmlformats.org/drawingml/2006/main" noGrp="1"/>
          </p:cNvSpPr>
          <p:nvPr/>
        </p:nvSpPr>
        <p:spPr>
          <a:xfrm xmlns:a="http://schemas.openxmlformats.org/drawingml/2006/main">
            <a:off x="590550" y="428625"/>
            <a:ext cx="100965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75" b="1">
                <a:solidFill>
                  <a:srgbClr val="14231E"/>
                </a:solidFill>
                <a:latin typeface="Arial Narrow"/>
                <a:ea typeface="Arial Narrow"/>
                <a:cs typeface="Arial Narrow"/>
              </a:defRPr>
            </a:defPPr>
            <a:lvl1pPr>
              <a:defRPr sz="3375" b="1">
                <a:solidFill>
                  <a:srgbClr val="14231E"/>
                </a:solidFill>
                <a:latin typeface="Arial Narrow"/>
                <a:ea typeface="Arial Narrow"/>
                <a:cs typeface="Arial Narrow"/>
              </a:defRPr>
            </a:lvl1pPr>
            <a:lvl2pPr>
              <a:defRPr sz="3375" b="1">
                <a:solidFill>
                  <a:srgbClr val="14231E"/>
                </a:solidFill>
                <a:latin typeface="Arial Narrow"/>
                <a:ea typeface="Arial Narrow"/>
                <a:cs typeface="Arial Narrow"/>
              </a:defRPr>
            </a:lvl2pPr>
            <a:lvl3pPr>
              <a:defRPr sz="3375" b="1">
                <a:solidFill>
                  <a:srgbClr val="14231E"/>
                </a:solidFill>
                <a:latin typeface="Arial Narrow"/>
                <a:ea typeface="Arial Narrow"/>
                <a:cs typeface="Arial Narrow"/>
              </a:defRPr>
            </a:lvl3pPr>
            <a:lvl4pPr>
              <a:defRPr sz="3375" b="1">
                <a:solidFill>
                  <a:srgbClr val="14231E"/>
                </a:solidFill>
                <a:latin typeface="Arial Narrow"/>
                <a:ea typeface="Arial Narrow"/>
                <a:cs typeface="Arial Narrow"/>
              </a:defRPr>
            </a:lvl4pPr>
            <a:lvl5pPr>
              <a:defRPr sz="3375" b="1">
                <a:solidFill>
                  <a:srgbClr val="14231E"/>
                </a:solidFill>
                <a:latin typeface="Arial Narrow"/>
                <a:ea typeface="Arial Narrow"/>
                <a:cs typeface="Arial Narrow"/>
              </a:defRPr>
            </a:lvl5pPr>
            <a:lvl6pPr>
              <a:defRPr sz="3375" b="1">
                <a:solidFill>
                  <a:srgbClr val="14231E"/>
                </a:solidFill>
                <a:latin typeface="Arial Narrow"/>
                <a:ea typeface="Arial Narrow"/>
                <a:cs typeface="Arial Narrow"/>
              </a:defRPr>
            </a:lvl6pPr>
            <a:lvl7pPr>
              <a:defRPr sz="3375" b="1">
                <a:solidFill>
                  <a:srgbClr val="14231E"/>
                </a:solidFill>
                <a:latin typeface="Arial Narrow"/>
                <a:ea typeface="Arial Narrow"/>
                <a:cs typeface="Arial Narrow"/>
              </a:defRPr>
            </a:lvl7pPr>
            <a:lvl8pPr>
              <a:defRPr sz="3375" b="1">
                <a:solidFill>
                  <a:srgbClr val="14231E"/>
                </a:solidFill>
                <a:latin typeface="Arial Narrow"/>
                <a:ea typeface="Arial Narrow"/>
                <a:cs typeface="Arial Narrow"/>
              </a:defRPr>
            </a:lvl8pPr>
            <a:lvl9pPr>
              <a:defRPr sz="3375" b="1">
                <a:solidFill>
                  <a:srgbClr val="14231E"/>
                </a:solidFill>
                <a:latin typeface="Arial Narrow"/>
                <a:ea typeface="Arial Narrow"/>
                <a:cs typeface="Arial Narrow"/>
              </a:defRPr>
            </a:lvl9pPr>
          </a:lstStyle>
          <a:p xmlns:a="http://schemas.openxmlformats.org/drawingml/2006/main">
            <a:pPr>
              <a:defRPr sz="3375" b="1">
                <a:solidFill>
                  <a:srgbClr val="14231E"/>
                </a:solidFill>
                <a:latin typeface="Arial Narrow"/>
                <a:ea typeface="Arial Narrow"/>
                <a:cs typeface="Arial Narrow"/>
              </a:defRPr>
            </a:pPr>
            <a:r>
              <a:rPr sz="3375" b="1">
                <a:solidFill>
                  <a:srgbClr val="14231E"/>
                </a:solidFill>
                <a:latin typeface="Arial Narrow"/>
                <a:ea typeface="Arial Narrow"/>
                <a:cs typeface="Arial Narrow"/>
              </a:rPr>
              <a:t>Cómo se reparten las cuatro horas</a:t>
            </a:r>
          </a:p>
        </p:txBody>
      </p:sp>
      <p:pic>
        <p:nvPicPr>
          <p:cNvPr id="2" name="">
            <a:extLst xmlns:a="http://schemas.openxmlformats.org/drawingml/2006/main">
              <a:ext uri="{FF2B5EF4-FFF2-40B4-BE49-F238E27FC236}">
                <a16:creationId xmlns:a16="http://schemas.microsoft.com/office/drawing/2014/main" id="{7D1F281B-D5D1-4884-B5FA-CE24989C33CB}"/>
              </a:ext>
            </a:extLst>
          </p:cNvPr>
          <p:cNvPicPr>
            <a:picLocks xmlns:a="http://schemas.openxmlformats.org/drawingml/2006/main" noChangeAspect="1"/>
          </p:cNvPicPr>
          <p:nvPr/>
        </p:nvPicPr>
        <p:blipFill>
          <a:blip xmlns:r="http://schemas.openxmlformats.org/officeDocument/2006/relationships" xmlns:a="http://schemas.openxmlformats.org/drawingml/2006/main" r:embed="R6f54754071c5406c"/>
          <a:stretch xmlns:a="http://schemas.openxmlformats.org/drawingml/2006/main"/>
        </p:blipFill>
        <p:spPr>
          <a:xfrm xmlns:a="http://schemas.openxmlformats.org/drawingml/2006/main">
            <a:off x="10858500" y="337942"/>
            <a:ext cx="762000" cy="276616"/>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78F324DD-C929-4190-A80E-B58EA2E4AF99}"/>
              </a:ext>
            </a:extLst>
          </p:cNvPr>
          <p:cNvSpPr>
            <a:spLocks xmlns:a="http://schemas.openxmlformats.org/drawingml/2006/main" noGrp="1"/>
          </p:cNvSpPr>
          <p:nvPr/>
        </p:nvSpPr>
        <p:spPr>
          <a:xfrm xmlns:a="http://schemas.openxmlformats.org/drawingml/2006/main">
            <a:off x="590550" y="6467475"/>
            <a:ext cx="108108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58665F"/>
                </a:solidFill>
                <a:latin typeface="Consolas"/>
                <a:ea typeface="Consolas"/>
                <a:cs typeface="Consolas"/>
              </a:defRPr>
            </a:defPPr>
            <a:lvl1pPr>
              <a:defRPr sz="1125" b="0">
                <a:solidFill>
                  <a:srgbClr val="58665F"/>
                </a:solidFill>
                <a:latin typeface="Consolas"/>
                <a:ea typeface="Consolas"/>
                <a:cs typeface="Consolas"/>
              </a:defRPr>
            </a:lvl1pPr>
            <a:lvl2pPr>
              <a:defRPr sz="1125" b="0">
                <a:solidFill>
                  <a:srgbClr val="58665F"/>
                </a:solidFill>
                <a:latin typeface="Consolas"/>
                <a:ea typeface="Consolas"/>
                <a:cs typeface="Consolas"/>
              </a:defRPr>
            </a:lvl2pPr>
            <a:lvl3pPr>
              <a:defRPr sz="1125" b="0">
                <a:solidFill>
                  <a:srgbClr val="58665F"/>
                </a:solidFill>
                <a:latin typeface="Consolas"/>
                <a:ea typeface="Consolas"/>
                <a:cs typeface="Consolas"/>
              </a:defRPr>
            </a:lvl3pPr>
            <a:lvl4pPr>
              <a:defRPr sz="1125" b="0">
                <a:solidFill>
                  <a:srgbClr val="58665F"/>
                </a:solidFill>
                <a:latin typeface="Consolas"/>
                <a:ea typeface="Consolas"/>
                <a:cs typeface="Consolas"/>
              </a:defRPr>
            </a:lvl4pPr>
            <a:lvl5pPr>
              <a:defRPr sz="1125" b="0">
                <a:solidFill>
                  <a:srgbClr val="58665F"/>
                </a:solidFill>
                <a:latin typeface="Consolas"/>
                <a:ea typeface="Consolas"/>
                <a:cs typeface="Consolas"/>
              </a:defRPr>
            </a:lvl5pPr>
            <a:lvl6pPr>
              <a:defRPr sz="1125" b="0">
                <a:solidFill>
                  <a:srgbClr val="58665F"/>
                </a:solidFill>
                <a:latin typeface="Consolas"/>
                <a:ea typeface="Consolas"/>
                <a:cs typeface="Consolas"/>
              </a:defRPr>
            </a:lvl6pPr>
            <a:lvl7pPr>
              <a:defRPr sz="1125" b="0">
                <a:solidFill>
                  <a:srgbClr val="58665F"/>
                </a:solidFill>
                <a:latin typeface="Consolas"/>
                <a:ea typeface="Consolas"/>
                <a:cs typeface="Consolas"/>
              </a:defRPr>
            </a:lvl7pPr>
            <a:lvl8pPr>
              <a:defRPr sz="1125" b="0">
                <a:solidFill>
                  <a:srgbClr val="58665F"/>
                </a:solidFill>
                <a:latin typeface="Consolas"/>
                <a:ea typeface="Consolas"/>
                <a:cs typeface="Consolas"/>
              </a:defRPr>
            </a:lvl8pPr>
            <a:lvl9pPr>
              <a:defRPr sz="1125" b="0">
                <a:solidFill>
                  <a:srgbClr val="58665F"/>
                </a:solidFill>
                <a:latin typeface="Consolas"/>
                <a:ea typeface="Consolas"/>
                <a:cs typeface="Consolas"/>
              </a:defRPr>
            </a:lvl9pPr>
          </a:lstStyle>
          <a:p xmlns:a="http://schemas.openxmlformats.org/drawingml/2006/main">
            <a:pPr>
              <a:defRPr sz="1125" b="0">
                <a:solidFill>
                  <a:srgbClr val="58665F"/>
                </a:solidFill>
                <a:latin typeface="Consolas"/>
                <a:ea typeface="Consolas"/>
                <a:cs typeface="Consolas"/>
              </a:defRPr>
            </a:pPr>
            <a:r>
              <a:rPr sz="1125" b="0">
                <a:solidFill>
                  <a:srgbClr val="58665F"/>
                </a:solidFill>
                <a:latin typeface="Consolas"/>
                <a:ea typeface="Consolas"/>
                <a:cs typeface="Consolas"/>
              </a:rPr>
              <a:t>MECRO   SEMANA 3   CLASE 06   14/24</a:t>
            </a:r>
          </a:p>
        </p:txBody>
      </p:sp>
      <p:sp>
        <p:nvSpPr>
          <p:cNvPr id="4" name="">
            <a:extLst xmlns:a="http://schemas.openxmlformats.org/drawingml/2006/main">
              <a:ext uri="{FF2B5EF4-FFF2-40B4-BE49-F238E27FC236}">
                <a16:creationId xmlns:a16="http://schemas.microsoft.com/office/drawing/2014/main" id="{B6298A48-3644-4BD2-947A-630A962056CD}"/>
              </a:ext>
            </a:extLst>
          </p:cNvPr>
          <p:cNvSpPr>
            <a:spLocks xmlns:a="http://schemas.openxmlformats.org/drawingml/2006/main" noGrp="1"/>
          </p:cNvSpPr>
          <p:nvPr/>
        </p:nvSpPr>
        <p:spPr>
          <a:xfrm xmlns:a="http://schemas.openxmlformats.org/drawingml/2006/main">
            <a:off x="590550" y="1743075"/>
            <a:ext cx="10810875" cy="425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325" b="0">
                <a:solidFill>
                  <a:srgbClr val="14231E"/>
                </a:solidFill>
                <a:latin typeface="Arial"/>
                <a:ea typeface="Arial"/>
                <a:cs typeface="Arial"/>
              </a:defRPr>
            </a:defPPr>
            <a:lvl1pPr>
              <a:defRPr sz="2325" b="0">
                <a:solidFill>
                  <a:srgbClr val="14231E"/>
                </a:solidFill>
                <a:latin typeface="Arial"/>
                <a:ea typeface="Arial"/>
                <a:cs typeface="Arial"/>
              </a:defRPr>
            </a:lvl1pPr>
            <a:lvl2pPr>
              <a:defRPr sz="2325" b="0">
                <a:solidFill>
                  <a:srgbClr val="14231E"/>
                </a:solidFill>
                <a:latin typeface="Arial"/>
                <a:ea typeface="Arial"/>
                <a:cs typeface="Arial"/>
              </a:defRPr>
            </a:lvl2pPr>
            <a:lvl3pPr>
              <a:defRPr sz="2325" b="0">
                <a:solidFill>
                  <a:srgbClr val="14231E"/>
                </a:solidFill>
                <a:latin typeface="Arial"/>
                <a:ea typeface="Arial"/>
                <a:cs typeface="Arial"/>
              </a:defRPr>
            </a:lvl3pPr>
            <a:lvl4pPr>
              <a:defRPr sz="2325" b="0">
                <a:solidFill>
                  <a:srgbClr val="14231E"/>
                </a:solidFill>
                <a:latin typeface="Arial"/>
                <a:ea typeface="Arial"/>
                <a:cs typeface="Arial"/>
              </a:defRPr>
            </a:lvl4pPr>
            <a:lvl5pPr>
              <a:defRPr sz="2325" b="0">
                <a:solidFill>
                  <a:srgbClr val="14231E"/>
                </a:solidFill>
                <a:latin typeface="Arial"/>
                <a:ea typeface="Arial"/>
                <a:cs typeface="Arial"/>
              </a:defRPr>
            </a:lvl5pPr>
            <a:lvl6pPr>
              <a:defRPr sz="2325" b="0">
                <a:solidFill>
                  <a:srgbClr val="14231E"/>
                </a:solidFill>
                <a:latin typeface="Arial"/>
                <a:ea typeface="Arial"/>
                <a:cs typeface="Arial"/>
              </a:defRPr>
            </a:lvl6pPr>
            <a:lvl7pPr>
              <a:defRPr sz="2325" b="0">
                <a:solidFill>
                  <a:srgbClr val="14231E"/>
                </a:solidFill>
                <a:latin typeface="Arial"/>
                <a:ea typeface="Arial"/>
                <a:cs typeface="Arial"/>
              </a:defRPr>
            </a:lvl7pPr>
            <a:lvl8pPr>
              <a:defRPr sz="2325" b="0">
                <a:solidFill>
                  <a:srgbClr val="14231E"/>
                </a:solidFill>
                <a:latin typeface="Arial"/>
                <a:ea typeface="Arial"/>
                <a:cs typeface="Arial"/>
              </a:defRPr>
            </a:lvl8pPr>
            <a:lvl9pPr>
              <a:defRPr sz="2325" b="0">
                <a:solidFill>
                  <a:srgbClr val="14231E"/>
                </a:solidFill>
                <a:latin typeface="Arial"/>
                <a:ea typeface="Arial"/>
                <a:cs typeface="Arial"/>
              </a:defRPr>
            </a:lvl9pPr>
          </a:lstStyle>
          <a:p xmlns:a="http://schemas.openxmlformats.org/drawingml/2006/main">
            <a:pPr>
              <a:defRPr sz="2325" b="0">
                <a:solidFill>
                  <a:srgbClr val="14231E"/>
                </a:solidFill>
                <a:latin typeface="Arial"/>
                <a:ea typeface="Arial"/>
                <a:cs typeface="Arial"/>
              </a:defRPr>
            </a:pPr>
            <a:r>
              <a:rPr sz="2325" b="0">
                <a:solidFill>
                  <a:srgbClr val="14231E"/>
                </a:solidFill>
                <a:latin typeface="Arial"/>
                <a:ea typeface="Arial"/>
                <a:cs typeface="Arial"/>
              </a:rPr>
              <a:t>Las impresiones largas se preparan fuera del encuentro. Durante la sesión se priorizan comprobaciones, correcciones de archivo y, si el equipo lo permite, una muestra corta. El docente dispone de piezas de reserva para que un fallo de impresión no impida aprender a medir y revisar.</a:t>
            </a:r>
          </a:p>
        </p:txBody>
      </p:sp>
    </p:spTree>
    <p:extLst>
      <p:ext uri="{BB962C8B-B14F-4D97-AF65-F5344CB8AC3E}">
        <p14:creationId xmlns:p14="http://schemas.microsoft.com/office/powerpoint/2010/main" val="241132436"/>
      </p:ext>
    </p:extLst>
  </p:cSld>
</p:sld>
</file>

<file path=ppt/slides/slide39.xml><?xml version="1.0" encoding="utf-8"?>
<p:sld xmlns:p="http://schemas.openxmlformats.org/presentationml/2006/main">
  <p:cSld>
    <p:bg>
      <p:bgPr>
        <a:solidFill xmlns:a="http://schemas.openxmlformats.org/drawingml/2006/main">
          <a:srgbClr val="FCFCF8"/>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A816457F-2DB8-45B7-871C-A32B7A0F1365}"/>
              </a:ext>
            </a:extLst>
          </p:cNvPr>
          <p:cNvSpPr>
            <a:spLocks xmlns:a="http://schemas.openxmlformats.org/drawingml/2006/main" noGrp="1"/>
          </p:cNvSpPr>
          <p:nvPr/>
        </p:nvSpPr>
        <p:spPr>
          <a:xfrm xmlns:a="http://schemas.openxmlformats.org/drawingml/2006/main">
            <a:off x="590550" y="428625"/>
            <a:ext cx="100965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75" b="1">
                <a:solidFill>
                  <a:srgbClr val="14231E"/>
                </a:solidFill>
                <a:latin typeface="Arial Narrow"/>
                <a:ea typeface="Arial Narrow"/>
                <a:cs typeface="Arial Narrow"/>
              </a:defRPr>
            </a:defPPr>
            <a:lvl1pPr>
              <a:defRPr sz="3375" b="1">
                <a:solidFill>
                  <a:srgbClr val="14231E"/>
                </a:solidFill>
                <a:latin typeface="Arial Narrow"/>
                <a:ea typeface="Arial Narrow"/>
                <a:cs typeface="Arial Narrow"/>
              </a:defRPr>
            </a:lvl1pPr>
            <a:lvl2pPr>
              <a:defRPr sz="3375" b="1">
                <a:solidFill>
                  <a:srgbClr val="14231E"/>
                </a:solidFill>
                <a:latin typeface="Arial Narrow"/>
                <a:ea typeface="Arial Narrow"/>
                <a:cs typeface="Arial Narrow"/>
              </a:defRPr>
            </a:lvl2pPr>
            <a:lvl3pPr>
              <a:defRPr sz="3375" b="1">
                <a:solidFill>
                  <a:srgbClr val="14231E"/>
                </a:solidFill>
                <a:latin typeface="Arial Narrow"/>
                <a:ea typeface="Arial Narrow"/>
                <a:cs typeface="Arial Narrow"/>
              </a:defRPr>
            </a:lvl3pPr>
            <a:lvl4pPr>
              <a:defRPr sz="3375" b="1">
                <a:solidFill>
                  <a:srgbClr val="14231E"/>
                </a:solidFill>
                <a:latin typeface="Arial Narrow"/>
                <a:ea typeface="Arial Narrow"/>
                <a:cs typeface="Arial Narrow"/>
              </a:defRPr>
            </a:lvl4pPr>
            <a:lvl5pPr>
              <a:defRPr sz="3375" b="1">
                <a:solidFill>
                  <a:srgbClr val="14231E"/>
                </a:solidFill>
                <a:latin typeface="Arial Narrow"/>
                <a:ea typeface="Arial Narrow"/>
                <a:cs typeface="Arial Narrow"/>
              </a:defRPr>
            </a:lvl5pPr>
            <a:lvl6pPr>
              <a:defRPr sz="3375" b="1">
                <a:solidFill>
                  <a:srgbClr val="14231E"/>
                </a:solidFill>
                <a:latin typeface="Arial Narrow"/>
                <a:ea typeface="Arial Narrow"/>
                <a:cs typeface="Arial Narrow"/>
              </a:defRPr>
            </a:lvl6pPr>
            <a:lvl7pPr>
              <a:defRPr sz="3375" b="1">
                <a:solidFill>
                  <a:srgbClr val="14231E"/>
                </a:solidFill>
                <a:latin typeface="Arial Narrow"/>
                <a:ea typeface="Arial Narrow"/>
                <a:cs typeface="Arial Narrow"/>
              </a:defRPr>
            </a:lvl7pPr>
            <a:lvl8pPr>
              <a:defRPr sz="3375" b="1">
                <a:solidFill>
                  <a:srgbClr val="14231E"/>
                </a:solidFill>
                <a:latin typeface="Arial Narrow"/>
                <a:ea typeface="Arial Narrow"/>
                <a:cs typeface="Arial Narrow"/>
              </a:defRPr>
            </a:lvl8pPr>
            <a:lvl9pPr>
              <a:defRPr sz="3375" b="1">
                <a:solidFill>
                  <a:srgbClr val="14231E"/>
                </a:solidFill>
                <a:latin typeface="Arial Narrow"/>
                <a:ea typeface="Arial Narrow"/>
                <a:cs typeface="Arial Narrow"/>
              </a:defRPr>
            </a:lvl9pPr>
          </a:lstStyle>
          <a:p xmlns:a="http://schemas.openxmlformats.org/drawingml/2006/main">
            <a:pPr>
              <a:defRPr sz="3375" b="1">
                <a:solidFill>
                  <a:srgbClr val="14231E"/>
                </a:solidFill>
                <a:latin typeface="Arial Narrow"/>
                <a:ea typeface="Arial Narrow"/>
                <a:cs typeface="Arial Narrow"/>
              </a:defRPr>
            </a:pPr>
            <a:r>
              <a:rPr sz="3375" b="1">
                <a:solidFill>
                  <a:srgbClr val="14231E"/>
                </a:solidFill>
                <a:latin typeface="Arial Narrow"/>
                <a:ea typeface="Arial Narrow"/>
                <a:cs typeface="Arial Narrow"/>
              </a:rPr>
              <a:t>Horario del taller 1</a:t>
            </a:r>
          </a:p>
        </p:txBody>
      </p:sp>
      <p:pic>
        <p:nvPicPr>
          <p:cNvPr id="2" name="">
            <a:extLst xmlns:a="http://schemas.openxmlformats.org/drawingml/2006/main">
              <a:ext uri="{FF2B5EF4-FFF2-40B4-BE49-F238E27FC236}">
                <a16:creationId xmlns:a16="http://schemas.microsoft.com/office/drawing/2014/main" id="{987F10DF-561A-4D1D-8404-76A47A4E6455}"/>
              </a:ext>
            </a:extLst>
          </p:cNvPr>
          <p:cNvPicPr>
            <a:picLocks xmlns:a="http://schemas.openxmlformats.org/drawingml/2006/main" noChangeAspect="1"/>
          </p:cNvPicPr>
          <p:nvPr/>
        </p:nvPicPr>
        <p:blipFill>
          <a:blip xmlns:r="http://schemas.openxmlformats.org/officeDocument/2006/relationships" xmlns:a="http://schemas.openxmlformats.org/drawingml/2006/main" r:embed="R5b4e4e73ba9d4759"/>
          <a:stretch xmlns:a="http://schemas.openxmlformats.org/drawingml/2006/main"/>
        </p:blipFill>
        <p:spPr>
          <a:xfrm xmlns:a="http://schemas.openxmlformats.org/drawingml/2006/main">
            <a:off x="10858500" y="337942"/>
            <a:ext cx="762000" cy="276616"/>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0649D43F-4C29-4698-BD13-7119362C4DC7}"/>
              </a:ext>
            </a:extLst>
          </p:cNvPr>
          <p:cNvSpPr>
            <a:spLocks xmlns:a="http://schemas.openxmlformats.org/drawingml/2006/main" noGrp="1"/>
          </p:cNvSpPr>
          <p:nvPr/>
        </p:nvSpPr>
        <p:spPr>
          <a:xfrm xmlns:a="http://schemas.openxmlformats.org/drawingml/2006/main">
            <a:off x="590550" y="6467475"/>
            <a:ext cx="108108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58665F"/>
                </a:solidFill>
                <a:latin typeface="Consolas"/>
                <a:ea typeface="Consolas"/>
                <a:cs typeface="Consolas"/>
              </a:defRPr>
            </a:defPPr>
            <a:lvl1pPr>
              <a:defRPr sz="1125" b="0">
                <a:solidFill>
                  <a:srgbClr val="58665F"/>
                </a:solidFill>
                <a:latin typeface="Consolas"/>
                <a:ea typeface="Consolas"/>
                <a:cs typeface="Consolas"/>
              </a:defRPr>
            </a:lvl1pPr>
            <a:lvl2pPr>
              <a:defRPr sz="1125" b="0">
                <a:solidFill>
                  <a:srgbClr val="58665F"/>
                </a:solidFill>
                <a:latin typeface="Consolas"/>
                <a:ea typeface="Consolas"/>
                <a:cs typeface="Consolas"/>
              </a:defRPr>
            </a:lvl2pPr>
            <a:lvl3pPr>
              <a:defRPr sz="1125" b="0">
                <a:solidFill>
                  <a:srgbClr val="58665F"/>
                </a:solidFill>
                <a:latin typeface="Consolas"/>
                <a:ea typeface="Consolas"/>
                <a:cs typeface="Consolas"/>
              </a:defRPr>
            </a:lvl3pPr>
            <a:lvl4pPr>
              <a:defRPr sz="1125" b="0">
                <a:solidFill>
                  <a:srgbClr val="58665F"/>
                </a:solidFill>
                <a:latin typeface="Consolas"/>
                <a:ea typeface="Consolas"/>
                <a:cs typeface="Consolas"/>
              </a:defRPr>
            </a:lvl4pPr>
            <a:lvl5pPr>
              <a:defRPr sz="1125" b="0">
                <a:solidFill>
                  <a:srgbClr val="58665F"/>
                </a:solidFill>
                <a:latin typeface="Consolas"/>
                <a:ea typeface="Consolas"/>
                <a:cs typeface="Consolas"/>
              </a:defRPr>
            </a:lvl5pPr>
            <a:lvl6pPr>
              <a:defRPr sz="1125" b="0">
                <a:solidFill>
                  <a:srgbClr val="58665F"/>
                </a:solidFill>
                <a:latin typeface="Consolas"/>
                <a:ea typeface="Consolas"/>
                <a:cs typeface="Consolas"/>
              </a:defRPr>
            </a:lvl6pPr>
            <a:lvl7pPr>
              <a:defRPr sz="1125" b="0">
                <a:solidFill>
                  <a:srgbClr val="58665F"/>
                </a:solidFill>
                <a:latin typeface="Consolas"/>
                <a:ea typeface="Consolas"/>
                <a:cs typeface="Consolas"/>
              </a:defRPr>
            </a:lvl7pPr>
            <a:lvl8pPr>
              <a:defRPr sz="1125" b="0">
                <a:solidFill>
                  <a:srgbClr val="58665F"/>
                </a:solidFill>
                <a:latin typeface="Consolas"/>
                <a:ea typeface="Consolas"/>
                <a:cs typeface="Consolas"/>
              </a:defRPr>
            </a:lvl8pPr>
            <a:lvl9pPr>
              <a:defRPr sz="1125" b="0">
                <a:solidFill>
                  <a:srgbClr val="58665F"/>
                </a:solidFill>
                <a:latin typeface="Consolas"/>
                <a:ea typeface="Consolas"/>
                <a:cs typeface="Consolas"/>
              </a:defRPr>
            </a:lvl9pPr>
          </a:lstStyle>
          <a:p xmlns:a="http://schemas.openxmlformats.org/drawingml/2006/main">
            <a:pPr>
              <a:defRPr sz="1125" b="0">
                <a:solidFill>
                  <a:srgbClr val="58665F"/>
                </a:solidFill>
                <a:latin typeface="Consolas"/>
                <a:ea typeface="Consolas"/>
                <a:cs typeface="Consolas"/>
              </a:defRPr>
            </a:pPr>
            <a:r>
              <a:rPr sz="1125" b="0">
                <a:solidFill>
                  <a:srgbClr val="58665F"/>
                </a:solidFill>
                <a:latin typeface="Consolas"/>
                <a:ea typeface="Consolas"/>
                <a:cs typeface="Consolas"/>
              </a:rPr>
              <a:t>MECRO   SEMANA 3   CLASE 06   15/24</a:t>
            </a:r>
          </a:p>
        </p:txBody>
      </p:sp>
      <p:graphicFrame>
        <p:nvGraphicFramePr>
          <p:cNvPr id="4" name="">
            <a:extLst xmlns:a="http://schemas.openxmlformats.org/drawingml/2006/main">
              <a:ext uri="{FF2B5EF4-FFF2-40B4-BE49-F238E27FC236}">
                <a16:creationId xmlns:a16="http://schemas.microsoft.com/office/drawing/2014/main" id="{A2456614-3C8C-463F-83F1-04516782CDD8}"/>
              </a:ext>
            </a:extLst>
          </p:cNvPr>
          <p:cNvGraphicFramePr/>
          <p:nvPr/>
        </p:nvGraphicFramePr>
        <p:xfrm>
          <a:off xmlns:a="http://schemas.openxmlformats.org/drawingml/2006/main" x="590550" y="1752600"/>
          <a:ext xmlns:a="http://schemas.openxmlformats.org/drawingml/2006/main" cx="11010900" cy="3590925"/>
        </p:xfrm>
        <a:graphic xmlns:a="http://schemas.openxmlformats.org/drawingml/2006/main">
          <a:graphicData uri="http://schemas.openxmlformats.org/drawingml/2006/table">
            <a:tbl>
              <a:tblPr/>
              <a:tblGrid>
                <a:gridCol w="2143125"/>
                <a:gridCol w="4524375"/>
                <a:gridCol w="4343400"/>
              </a:tblGrid>
              <a:tr h="718185">
                <a:tc>
                  <a:txBody>
                    <a:bodyPr/>
                    <a:lstStyle/>
                    <a:p>
                      <a:r>
                        <a:rPr sz="2025" b="1">
                          <a:solidFill>
                            <a:srgbClr val="FFFFFF"/>
                          </a:solidFill>
                          <a:latin typeface="Arial"/>
                          <a:ea typeface="Arial"/>
                          <a:cs typeface="Arial"/>
                        </a:rPr>
                        <a:t>Minutos</a:t>
                      </a:r>
                    </a:p>
                  </a:txBody>
                  <a:tcPr marL="91440" marR="91440" marT="45720" marB="45720">
                    <a:lnL w="9525">
                      <a:solidFill>
                        <a:srgbClr val="BFCEC3"/>
                      </a:solidFill>
                      <a:prstDash val="solid"/>
                    </a:lnL>
                    <a:lnR w="9525">
                      <a:solidFill>
                        <a:srgbClr val="BFCEC3"/>
                      </a:solidFill>
                      <a:prstDash val="solid"/>
                    </a:lnR>
                    <a:lnT w="9525">
                      <a:solidFill>
                        <a:srgbClr val="BFCEC3"/>
                      </a:solidFill>
                      <a:prstDash val="solid"/>
                    </a:lnT>
                    <a:lnB w="9525">
                      <a:solidFill>
                        <a:srgbClr val="BFCEC3"/>
                      </a:solidFill>
                      <a:prstDash val="solid"/>
                    </a:lnB>
                    <a:solidFill>
                      <a:srgbClr val="244F3D"/>
                    </a:solidFill>
                  </a:tcPr>
                </a:tc>
                <a:tc>
                  <a:txBody>
                    <a:bodyPr/>
                    <a:lstStyle/>
                    <a:p>
                      <a:r>
                        <a:rPr sz="2025" b="1">
                          <a:solidFill>
                            <a:srgbClr val="FFFFFF"/>
                          </a:solidFill>
                          <a:latin typeface="Arial"/>
                          <a:ea typeface="Arial"/>
                          <a:cs typeface="Arial"/>
                        </a:rPr>
                        <a:t>Trabajo</a:t>
                      </a:r>
                    </a:p>
                  </a:txBody>
                  <a:tcPr marL="91440" marR="91440" marT="45720" marB="45720">
                    <a:lnR w="9525">
                      <a:solidFill>
                        <a:srgbClr val="BFCEC3"/>
                      </a:solidFill>
                      <a:prstDash val="solid"/>
                    </a:lnR>
                    <a:lnT w="9525">
                      <a:solidFill>
                        <a:srgbClr val="BFCEC3"/>
                      </a:solidFill>
                      <a:prstDash val="solid"/>
                    </a:lnT>
                    <a:lnB w="9525">
                      <a:solidFill>
                        <a:srgbClr val="BFCEC3"/>
                      </a:solidFill>
                      <a:prstDash val="solid"/>
                    </a:lnB>
                    <a:solidFill>
                      <a:srgbClr val="244F3D"/>
                    </a:solidFill>
                  </a:tcPr>
                </a:tc>
                <a:tc>
                  <a:txBody>
                    <a:bodyPr/>
                    <a:lstStyle/>
                    <a:p>
                      <a:r>
                        <a:rPr sz="2025" b="1">
                          <a:solidFill>
                            <a:srgbClr val="FFFFFF"/>
                          </a:solidFill>
                          <a:latin typeface="Arial"/>
                          <a:ea typeface="Arial"/>
                          <a:cs typeface="Arial"/>
                        </a:rPr>
                        <a:t>Producto</a:t>
                      </a:r>
                    </a:p>
                  </a:txBody>
                  <a:tcPr marL="91440" marR="91440" marT="45720" marB="45720">
                    <a:lnR w="9525">
                      <a:solidFill>
                        <a:srgbClr val="BFCEC3"/>
                      </a:solidFill>
                      <a:prstDash val="solid"/>
                    </a:lnR>
                    <a:lnT w="9525">
                      <a:solidFill>
                        <a:srgbClr val="BFCEC3"/>
                      </a:solidFill>
                      <a:prstDash val="solid"/>
                    </a:lnT>
                    <a:lnB w="9525">
                      <a:solidFill>
                        <a:srgbClr val="BFCEC3"/>
                      </a:solidFill>
                      <a:prstDash val="solid"/>
                    </a:lnB>
                    <a:solidFill>
                      <a:srgbClr val="244F3D"/>
                    </a:solidFill>
                  </a:tcPr>
                </a:tc>
              </a:tr>
              <a:tr h="718185">
                <a:tc>
                  <a:txBody>
                    <a:bodyPr/>
                    <a:lstStyle/>
                    <a:p>
                      <a:r>
                        <a:rPr sz="2025" b="0">
                          <a:solidFill>
                            <a:srgbClr val="14231E"/>
                          </a:solidFill>
                          <a:latin typeface="Arial"/>
                          <a:ea typeface="Arial"/>
                          <a:cs typeface="Arial"/>
                        </a:rPr>
                        <a:t>0–30</a:t>
                      </a:r>
                    </a:p>
                  </a:txBody>
                  <a:tcPr marL="91440" marR="91440" marT="45720" marB="45720">
                    <a:lnL w="9525">
                      <a:solidFill>
                        <a:srgbClr val="BFCEC3"/>
                      </a:solidFill>
                      <a:prstDash val="solid"/>
                    </a:lnL>
                    <a:lnR w="9525">
                      <a:solidFill>
                        <a:srgbClr val="BFCEC3"/>
                      </a:solidFill>
                      <a:prstDash val="solid"/>
                    </a:lnR>
                    <a:lnB w="9525">
                      <a:solidFill>
                        <a:srgbClr val="BFCEC3"/>
                      </a:solidFill>
                      <a:prstDash val="solid"/>
                    </a:lnB>
                    <a:solidFill>
                      <a:srgbClr val="EAF3EC"/>
                    </a:solidFill>
                  </a:tcPr>
                </a:tc>
                <a:tc>
                  <a:txBody>
                    <a:bodyPr/>
                    <a:lstStyle/>
                    <a:p>
                      <a:r>
                        <a:rPr sz="2025" b="0">
                          <a:solidFill>
                            <a:srgbClr val="14231E"/>
                          </a:solidFill>
                          <a:latin typeface="Arial"/>
                          <a:ea typeface="Arial"/>
                          <a:cs typeface="Arial"/>
                        </a:rPr>
                        <a:t>Demostración de herramientas y referencias</a:t>
                      </a:r>
                    </a:p>
                  </a:txBody>
                  <a:tcPr marL="91440" marR="91440" marT="45720" marB="45720">
                    <a:lnR w="9525">
                      <a:solidFill>
                        <a:srgbClr val="BFCEC3"/>
                      </a:solidFill>
                      <a:prstDash val="solid"/>
                    </a:lnR>
                    <a:lnB w="9525">
                      <a:solidFill>
                        <a:srgbClr val="BFCEC3"/>
                      </a:solidFill>
                      <a:prstDash val="solid"/>
                    </a:lnB>
                    <a:solidFill>
                      <a:srgbClr val="EAF3EC"/>
                    </a:solidFill>
                  </a:tcPr>
                </a:tc>
                <a:tc>
                  <a:txBody>
                    <a:bodyPr/>
                    <a:lstStyle/>
                    <a:p>
                      <a:r>
                        <a:rPr sz="2025" b="0">
                          <a:solidFill>
                            <a:srgbClr val="14231E"/>
                          </a:solidFill>
                          <a:latin typeface="Arial"/>
                          <a:ea typeface="Arial"/>
                          <a:cs typeface="Arial"/>
                        </a:rPr>
                        <a:t>Todos reconocen las medidas</a:t>
                      </a:r>
                    </a:p>
                  </a:txBody>
                  <a:tcPr marL="91440" marR="91440" marT="45720" marB="45720">
                    <a:lnR w="9525">
                      <a:solidFill>
                        <a:srgbClr val="BFCEC3"/>
                      </a:solidFill>
                      <a:prstDash val="solid"/>
                    </a:lnR>
                    <a:lnB w="9525">
                      <a:solidFill>
                        <a:srgbClr val="BFCEC3"/>
                      </a:solidFill>
                      <a:prstDash val="solid"/>
                    </a:lnB>
                    <a:solidFill>
                      <a:srgbClr val="EAF3EC"/>
                    </a:solidFill>
                  </a:tcPr>
                </a:tc>
              </a:tr>
              <a:tr h="718185">
                <a:tc>
                  <a:txBody>
                    <a:bodyPr/>
                    <a:lstStyle/>
                    <a:p>
                      <a:r>
                        <a:rPr sz="2025" b="0">
                          <a:solidFill>
                            <a:srgbClr val="14231E"/>
                          </a:solidFill>
                          <a:latin typeface="Arial"/>
                          <a:ea typeface="Arial"/>
                          <a:cs typeface="Arial"/>
                        </a:rPr>
                        <a:t>30–105</a:t>
                      </a:r>
                    </a:p>
                  </a:txBody>
                  <a:tcPr marL="91440" marR="91440" marT="45720" marB="45720">
                    <a:lnL w="9525">
                      <a:solidFill>
                        <a:srgbClr val="BFCEC3"/>
                      </a:solidFill>
                      <a:prstDash val="solid"/>
                    </a:lnL>
                    <a:lnR w="9525">
                      <a:solidFill>
                        <a:srgbClr val="BFCEC3"/>
                      </a:solidFill>
                      <a:prstDash val="solid"/>
                    </a:lnR>
                    <a:lnB w="9525">
                      <a:solidFill>
                        <a:srgbClr val="BFCEC3"/>
                      </a:solidFill>
                      <a:prstDash val="solid"/>
                    </a:lnB>
                    <a:solidFill>
                      <a:srgbClr val="FCFCF8"/>
                    </a:solidFill>
                  </a:tcPr>
                </a:tc>
                <a:tc>
                  <a:txBody>
                    <a:bodyPr/>
                    <a:lstStyle/>
                    <a:p>
                      <a:r>
                        <a:rPr sz="2025" b="0">
                          <a:solidFill>
                            <a:srgbClr val="14231E"/>
                          </a:solidFill>
                          <a:latin typeface="Arial"/>
                          <a:ea typeface="Arial"/>
                          <a:cs typeface="Arial"/>
                        </a:rPr>
                        <a:t>Medición y series de encaje</a:t>
                      </a:r>
                    </a:p>
                  </a:txBody>
                  <a:tcPr marL="91440" marR="91440" marT="45720" marB="45720">
                    <a:lnR w="9525">
                      <a:solidFill>
                        <a:srgbClr val="BFCEC3"/>
                      </a:solidFill>
                      <a:prstDash val="solid"/>
                    </a:lnR>
                    <a:lnB w="9525">
                      <a:solidFill>
                        <a:srgbClr val="BFCEC3"/>
                      </a:solidFill>
                      <a:prstDash val="solid"/>
                    </a:lnB>
                    <a:solidFill>
                      <a:srgbClr val="FCFCF8"/>
                    </a:solidFill>
                  </a:tcPr>
                </a:tc>
                <a:tc>
                  <a:txBody>
                    <a:bodyPr/>
                    <a:lstStyle/>
                    <a:p>
                      <a:r>
                        <a:rPr sz="2025" b="0">
                          <a:solidFill>
                            <a:srgbClr val="14231E"/>
                          </a:solidFill>
                          <a:latin typeface="Arial"/>
                          <a:ea typeface="Arial"/>
                          <a:cs typeface="Arial"/>
                        </a:rPr>
                        <a:t>Ficha por interfaz</a:t>
                      </a:r>
                    </a:p>
                  </a:txBody>
                  <a:tcPr marL="91440" marR="91440" marT="45720" marB="45720">
                    <a:lnR w="9525">
                      <a:solidFill>
                        <a:srgbClr val="BFCEC3"/>
                      </a:solidFill>
                      <a:prstDash val="solid"/>
                    </a:lnR>
                    <a:lnB w="9525">
                      <a:solidFill>
                        <a:srgbClr val="BFCEC3"/>
                      </a:solidFill>
                      <a:prstDash val="solid"/>
                    </a:lnB>
                    <a:solidFill>
                      <a:srgbClr val="FCFCF8"/>
                    </a:solidFill>
                  </a:tcPr>
                </a:tc>
              </a:tr>
              <a:tr h="718185">
                <a:tc>
                  <a:txBody>
                    <a:bodyPr/>
                    <a:lstStyle/>
                    <a:p>
                      <a:r>
                        <a:rPr sz="2025" b="0">
                          <a:solidFill>
                            <a:srgbClr val="14231E"/>
                          </a:solidFill>
                          <a:latin typeface="Arial"/>
                          <a:ea typeface="Arial"/>
                          <a:cs typeface="Arial"/>
                        </a:rPr>
                        <a:t>105–180</a:t>
                      </a:r>
                    </a:p>
                  </a:txBody>
                  <a:tcPr marL="91440" marR="91440" marT="45720" marB="45720">
                    <a:lnL w="9525">
                      <a:solidFill>
                        <a:srgbClr val="BFCEC3"/>
                      </a:solidFill>
                      <a:prstDash val="solid"/>
                    </a:lnL>
                    <a:lnR w="9525">
                      <a:solidFill>
                        <a:srgbClr val="BFCEC3"/>
                      </a:solidFill>
                      <a:prstDash val="solid"/>
                    </a:lnR>
                    <a:lnB w="9525">
                      <a:solidFill>
                        <a:srgbClr val="BFCEC3"/>
                      </a:solidFill>
                      <a:prstDash val="solid"/>
                    </a:lnB>
                    <a:solidFill>
                      <a:srgbClr val="EAF3EC"/>
                    </a:solidFill>
                  </a:tcPr>
                </a:tc>
                <a:tc>
                  <a:txBody>
                    <a:bodyPr/>
                    <a:lstStyle/>
                    <a:p>
                      <a:r>
                        <a:rPr sz="2025" b="0">
                          <a:solidFill>
                            <a:srgbClr val="14231E"/>
                          </a:solidFill>
                          <a:latin typeface="Arial"/>
                          <a:ea typeface="Arial"/>
                          <a:cs typeface="Arial"/>
                        </a:rPr>
                        <a:t>Presentación, útiles y correcciones</a:t>
                      </a:r>
                    </a:p>
                  </a:txBody>
                  <a:tcPr marL="91440" marR="91440" marT="45720" marB="45720">
                    <a:lnR w="9525">
                      <a:solidFill>
                        <a:srgbClr val="BFCEC3"/>
                      </a:solidFill>
                      <a:prstDash val="solid"/>
                    </a:lnR>
                    <a:lnB w="9525">
                      <a:solidFill>
                        <a:srgbClr val="BFCEC3"/>
                      </a:solidFill>
                      <a:prstDash val="solid"/>
                    </a:lnB>
                    <a:solidFill>
                      <a:srgbClr val="EAF3EC"/>
                    </a:solidFill>
                  </a:tcPr>
                </a:tc>
                <a:tc>
                  <a:txBody>
                    <a:bodyPr/>
                    <a:lstStyle/>
                    <a:p>
                      <a:r>
                        <a:rPr sz="2025" b="0">
                          <a:solidFill>
                            <a:srgbClr val="14231E"/>
                          </a:solidFill>
                          <a:latin typeface="Arial"/>
                          <a:ea typeface="Arial"/>
                          <a:cs typeface="Arial"/>
                        </a:rPr>
                        <a:t>Fotos y cambios propuestos</a:t>
                      </a:r>
                    </a:p>
                  </a:txBody>
                  <a:tcPr marL="91440" marR="91440" marT="45720" marB="45720">
                    <a:lnR w="9525">
                      <a:solidFill>
                        <a:srgbClr val="BFCEC3"/>
                      </a:solidFill>
                      <a:prstDash val="solid"/>
                    </a:lnR>
                    <a:lnB w="9525">
                      <a:solidFill>
                        <a:srgbClr val="BFCEC3"/>
                      </a:solidFill>
                      <a:prstDash val="solid"/>
                    </a:lnB>
                    <a:solidFill>
                      <a:srgbClr val="EAF3EC"/>
                    </a:solidFill>
                  </a:tcPr>
                </a:tc>
              </a:tr>
              <a:tr h="718185">
                <a:tc>
                  <a:txBody>
                    <a:bodyPr/>
                    <a:lstStyle/>
                    <a:p>
                      <a:r>
                        <a:rPr sz="2025" b="0">
                          <a:solidFill>
                            <a:srgbClr val="14231E"/>
                          </a:solidFill>
                          <a:latin typeface="Arial"/>
                          <a:ea typeface="Arial"/>
                          <a:cs typeface="Arial"/>
                        </a:rPr>
                        <a:t>180–240</a:t>
                      </a:r>
                    </a:p>
                  </a:txBody>
                  <a:tcPr marL="91440" marR="91440" marT="45720" marB="45720">
                    <a:lnL w="9525">
                      <a:solidFill>
                        <a:srgbClr val="BFCEC3"/>
                      </a:solidFill>
                      <a:prstDash val="solid"/>
                    </a:lnL>
                    <a:lnR w="9525">
                      <a:solidFill>
                        <a:srgbClr val="BFCEC3"/>
                      </a:solidFill>
                      <a:prstDash val="solid"/>
                    </a:lnR>
                    <a:lnB w="9525">
                      <a:solidFill>
                        <a:srgbClr val="BFCEC3"/>
                      </a:solidFill>
                      <a:prstDash val="solid"/>
                    </a:lnB>
                    <a:solidFill>
                      <a:srgbClr val="FCFCF8"/>
                    </a:solidFill>
                  </a:tcPr>
                </a:tc>
                <a:tc>
                  <a:txBody>
                    <a:bodyPr/>
                    <a:lstStyle/>
                    <a:p>
                      <a:r>
                        <a:rPr sz="2025" b="0">
                          <a:solidFill>
                            <a:srgbClr val="14231E"/>
                          </a:solidFill>
                          <a:latin typeface="Arial"/>
                          <a:ea typeface="Arial"/>
                          <a:cs typeface="Arial"/>
                        </a:rPr>
                        <a:t>Actualización digital y revisión</a:t>
                      </a:r>
                    </a:p>
                  </a:txBody>
                  <a:tcPr marL="91440" marR="91440" marT="45720" marB="45720">
                    <a:lnR w="9525">
                      <a:solidFill>
                        <a:srgbClr val="BFCEC3"/>
                      </a:solidFill>
                      <a:prstDash val="solid"/>
                    </a:lnR>
                    <a:lnB w="9525">
                      <a:solidFill>
                        <a:srgbClr val="BFCEC3"/>
                      </a:solidFill>
                      <a:prstDash val="solid"/>
                    </a:lnB>
                    <a:solidFill>
                      <a:srgbClr val="FCFCF8"/>
                    </a:solidFill>
                  </a:tcPr>
                </a:tc>
                <a:tc>
                  <a:txBody>
                    <a:bodyPr/>
                    <a:lstStyle/>
                    <a:p>
                      <a:r>
                        <a:rPr sz="2025" b="0">
                          <a:solidFill>
                            <a:srgbClr val="14231E"/>
                          </a:solidFill>
                          <a:latin typeface="Arial"/>
                          <a:ea typeface="Arial"/>
                          <a:cs typeface="Arial"/>
                        </a:rPr>
                        <a:t>Plano y archivo revisados</a:t>
                      </a:r>
                    </a:p>
                  </a:txBody>
                  <a:tcPr marL="91440" marR="91440" marT="45720" marB="45720">
                    <a:lnR w="9525">
                      <a:solidFill>
                        <a:srgbClr val="BFCEC3"/>
                      </a:solidFill>
                      <a:prstDash val="solid"/>
                    </a:lnR>
                    <a:lnB w="9525">
                      <a:solidFill>
                        <a:srgbClr val="BFCEC3"/>
                      </a:solidFill>
                      <a:prstDash val="solid"/>
                    </a:lnB>
                    <a:solidFill>
                      <a:srgbClr val="FCFCF8"/>
                    </a:solidFill>
                  </a:tcPr>
                </a:tc>
              </a:tr>
            </a:tbl>
          </a:graphicData>
        </a:graphic>
      </p:graphicFrame>
    </p:spTree>
    <p:extLst>
      <p:ext uri="{BB962C8B-B14F-4D97-AF65-F5344CB8AC3E}">
        <p14:creationId xmlns:p14="http://schemas.microsoft.com/office/powerpoint/2010/main" val="1092713473"/>
      </p:ext>
    </p:extLst>
  </p:cSld>
</p:sld>
</file>

<file path=ppt/slides/slide40.xml><?xml version="1.0" encoding="utf-8"?>
<p:sld xmlns:p="http://schemas.openxmlformats.org/presentationml/2006/main">
  <p:cSld>
    <p:bg>
      <p:bgPr>
        <a:solidFill xmlns:a="http://schemas.openxmlformats.org/drawingml/2006/main">
          <a:srgbClr val="090F10"/>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9143D103-CD9D-4F78-878B-114B8E8642C0}"/>
              </a:ext>
            </a:extLst>
          </p:cNvPr>
          <p:cNvSpPr>
            <a:spLocks xmlns:a="http://schemas.openxmlformats.org/drawingml/2006/main" noGrp="1"/>
          </p:cNvSpPr>
          <p:nvPr/>
        </p:nvSpPr>
        <p:spPr>
          <a:xfrm xmlns:a="http://schemas.openxmlformats.org/drawingml/2006/main">
            <a:off x="590550" y="428625"/>
            <a:ext cx="100965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75" b="1">
                <a:solidFill>
                  <a:srgbClr val="FCFCF8"/>
                </a:solidFill>
                <a:latin typeface="Arial Narrow"/>
                <a:ea typeface="Arial Narrow"/>
                <a:cs typeface="Arial Narrow"/>
              </a:defRPr>
            </a:defPPr>
            <a:lvl1pPr>
              <a:defRPr sz="3375" b="1">
                <a:solidFill>
                  <a:srgbClr val="FCFCF8"/>
                </a:solidFill>
                <a:latin typeface="Arial Narrow"/>
                <a:ea typeface="Arial Narrow"/>
                <a:cs typeface="Arial Narrow"/>
              </a:defRPr>
            </a:lvl1pPr>
            <a:lvl2pPr>
              <a:defRPr sz="3375" b="1">
                <a:solidFill>
                  <a:srgbClr val="FCFCF8"/>
                </a:solidFill>
                <a:latin typeface="Arial Narrow"/>
                <a:ea typeface="Arial Narrow"/>
                <a:cs typeface="Arial Narrow"/>
              </a:defRPr>
            </a:lvl2pPr>
            <a:lvl3pPr>
              <a:defRPr sz="3375" b="1">
                <a:solidFill>
                  <a:srgbClr val="FCFCF8"/>
                </a:solidFill>
                <a:latin typeface="Arial Narrow"/>
                <a:ea typeface="Arial Narrow"/>
                <a:cs typeface="Arial Narrow"/>
              </a:defRPr>
            </a:lvl3pPr>
            <a:lvl4pPr>
              <a:defRPr sz="3375" b="1">
                <a:solidFill>
                  <a:srgbClr val="FCFCF8"/>
                </a:solidFill>
                <a:latin typeface="Arial Narrow"/>
                <a:ea typeface="Arial Narrow"/>
                <a:cs typeface="Arial Narrow"/>
              </a:defRPr>
            </a:lvl4pPr>
            <a:lvl5pPr>
              <a:defRPr sz="3375" b="1">
                <a:solidFill>
                  <a:srgbClr val="FCFCF8"/>
                </a:solidFill>
                <a:latin typeface="Arial Narrow"/>
                <a:ea typeface="Arial Narrow"/>
                <a:cs typeface="Arial Narrow"/>
              </a:defRPr>
            </a:lvl5pPr>
            <a:lvl6pPr>
              <a:defRPr sz="3375" b="1">
                <a:solidFill>
                  <a:srgbClr val="FCFCF8"/>
                </a:solidFill>
                <a:latin typeface="Arial Narrow"/>
                <a:ea typeface="Arial Narrow"/>
                <a:cs typeface="Arial Narrow"/>
              </a:defRPr>
            </a:lvl6pPr>
            <a:lvl7pPr>
              <a:defRPr sz="3375" b="1">
                <a:solidFill>
                  <a:srgbClr val="FCFCF8"/>
                </a:solidFill>
                <a:latin typeface="Arial Narrow"/>
                <a:ea typeface="Arial Narrow"/>
                <a:cs typeface="Arial Narrow"/>
              </a:defRPr>
            </a:lvl7pPr>
            <a:lvl8pPr>
              <a:defRPr sz="3375" b="1">
                <a:solidFill>
                  <a:srgbClr val="FCFCF8"/>
                </a:solidFill>
                <a:latin typeface="Arial Narrow"/>
                <a:ea typeface="Arial Narrow"/>
                <a:cs typeface="Arial Narrow"/>
              </a:defRPr>
            </a:lvl8pPr>
            <a:lvl9pPr>
              <a:defRPr sz="3375" b="1">
                <a:solidFill>
                  <a:srgbClr val="FCFCF8"/>
                </a:solidFill>
                <a:latin typeface="Arial Narrow"/>
                <a:ea typeface="Arial Narrow"/>
                <a:cs typeface="Arial Narrow"/>
              </a:defRPr>
            </a:lvl9pPr>
          </a:lstStyle>
          <a:p xmlns:a="http://schemas.openxmlformats.org/drawingml/2006/main">
            <a:pPr>
              <a:defRPr sz="3375" b="1">
                <a:solidFill>
                  <a:srgbClr val="FCFCF8"/>
                </a:solidFill>
                <a:latin typeface="Arial Narrow"/>
                <a:ea typeface="Arial Narrow"/>
                <a:cs typeface="Arial Narrow"/>
              </a:defRPr>
            </a:pPr>
            <a:r>
              <a:rPr sz="3375" b="1">
                <a:solidFill>
                  <a:srgbClr val="FCFCF8"/>
                </a:solidFill>
                <a:latin typeface="Arial Narrow"/>
                <a:ea typeface="Arial Narrow"/>
                <a:cs typeface="Arial Narrow"/>
              </a:rPr>
              <a:t>Una corrección documentada</a:t>
            </a:r>
          </a:p>
        </p:txBody>
      </p:sp>
      <p:pic>
        <p:nvPicPr>
          <p:cNvPr id="2" name="">
            <a:extLst xmlns:a="http://schemas.openxmlformats.org/drawingml/2006/main">
              <a:ext uri="{FF2B5EF4-FFF2-40B4-BE49-F238E27FC236}">
                <a16:creationId xmlns:a16="http://schemas.microsoft.com/office/drawing/2014/main" id="{1681710F-F19D-49BB-BE45-07D69221E2C6}"/>
              </a:ext>
            </a:extLst>
          </p:cNvPr>
          <p:cNvPicPr>
            <a:picLocks xmlns:a="http://schemas.openxmlformats.org/drawingml/2006/main" noChangeAspect="1"/>
          </p:cNvPicPr>
          <p:nvPr/>
        </p:nvPicPr>
        <p:blipFill>
          <a:blip xmlns:r="http://schemas.openxmlformats.org/officeDocument/2006/relationships" xmlns:a="http://schemas.openxmlformats.org/drawingml/2006/main" r:embed="R48850eedc3604f99"/>
          <a:stretch xmlns:a="http://schemas.openxmlformats.org/drawingml/2006/main"/>
        </p:blipFill>
        <p:spPr>
          <a:xfrm xmlns:a="http://schemas.openxmlformats.org/drawingml/2006/main">
            <a:off x="10858500" y="337942"/>
            <a:ext cx="762000" cy="276616"/>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C4A6DBBA-C8C6-4E84-BF16-B179C85D4C4E}"/>
              </a:ext>
            </a:extLst>
          </p:cNvPr>
          <p:cNvSpPr>
            <a:spLocks xmlns:a="http://schemas.openxmlformats.org/drawingml/2006/main" noGrp="1"/>
          </p:cNvSpPr>
          <p:nvPr/>
        </p:nvSpPr>
        <p:spPr>
          <a:xfrm xmlns:a="http://schemas.openxmlformats.org/drawingml/2006/main">
            <a:off x="590550" y="6467475"/>
            <a:ext cx="108108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B8C8C1"/>
                </a:solidFill>
                <a:latin typeface="Consolas"/>
                <a:ea typeface="Consolas"/>
                <a:cs typeface="Consolas"/>
              </a:defRPr>
            </a:defPPr>
            <a:lvl1pPr>
              <a:defRPr sz="1125" b="0">
                <a:solidFill>
                  <a:srgbClr val="B8C8C1"/>
                </a:solidFill>
                <a:latin typeface="Consolas"/>
                <a:ea typeface="Consolas"/>
                <a:cs typeface="Consolas"/>
              </a:defRPr>
            </a:lvl1pPr>
            <a:lvl2pPr>
              <a:defRPr sz="1125" b="0">
                <a:solidFill>
                  <a:srgbClr val="B8C8C1"/>
                </a:solidFill>
                <a:latin typeface="Consolas"/>
                <a:ea typeface="Consolas"/>
                <a:cs typeface="Consolas"/>
              </a:defRPr>
            </a:lvl2pPr>
            <a:lvl3pPr>
              <a:defRPr sz="1125" b="0">
                <a:solidFill>
                  <a:srgbClr val="B8C8C1"/>
                </a:solidFill>
                <a:latin typeface="Consolas"/>
                <a:ea typeface="Consolas"/>
                <a:cs typeface="Consolas"/>
              </a:defRPr>
            </a:lvl3pPr>
            <a:lvl4pPr>
              <a:defRPr sz="1125" b="0">
                <a:solidFill>
                  <a:srgbClr val="B8C8C1"/>
                </a:solidFill>
                <a:latin typeface="Consolas"/>
                <a:ea typeface="Consolas"/>
                <a:cs typeface="Consolas"/>
              </a:defRPr>
            </a:lvl4pPr>
            <a:lvl5pPr>
              <a:defRPr sz="1125" b="0">
                <a:solidFill>
                  <a:srgbClr val="B8C8C1"/>
                </a:solidFill>
                <a:latin typeface="Consolas"/>
                <a:ea typeface="Consolas"/>
                <a:cs typeface="Consolas"/>
              </a:defRPr>
            </a:lvl5pPr>
            <a:lvl6pPr>
              <a:defRPr sz="1125" b="0">
                <a:solidFill>
                  <a:srgbClr val="B8C8C1"/>
                </a:solidFill>
                <a:latin typeface="Consolas"/>
                <a:ea typeface="Consolas"/>
                <a:cs typeface="Consolas"/>
              </a:defRPr>
            </a:lvl6pPr>
            <a:lvl7pPr>
              <a:defRPr sz="1125" b="0">
                <a:solidFill>
                  <a:srgbClr val="B8C8C1"/>
                </a:solidFill>
                <a:latin typeface="Consolas"/>
                <a:ea typeface="Consolas"/>
                <a:cs typeface="Consolas"/>
              </a:defRPr>
            </a:lvl7pPr>
            <a:lvl8pPr>
              <a:defRPr sz="1125" b="0">
                <a:solidFill>
                  <a:srgbClr val="B8C8C1"/>
                </a:solidFill>
                <a:latin typeface="Consolas"/>
                <a:ea typeface="Consolas"/>
                <a:cs typeface="Consolas"/>
              </a:defRPr>
            </a:lvl8pPr>
            <a:lvl9pPr>
              <a:defRPr sz="1125" b="0">
                <a:solidFill>
                  <a:srgbClr val="B8C8C1"/>
                </a:solidFill>
                <a:latin typeface="Consolas"/>
                <a:ea typeface="Consolas"/>
                <a:cs typeface="Consolas"/>
              </a:defRPr>
            </a:lvl9pPr>
          </a:lstStyle>
          <a:p xmlns:a="http://schemas.openxmlformats.org/drawingml/2006/main">
            <a:pPr>
              <a:defRPr sz="1125" b="0">
                <a:solidFill>
                  <a:srgbClr val="B8C8C1"/>
                </a:solidFill>
                <a:latin typeface="Consolas"/>
                <a:ea typeface="Consolas"/>
                <a:cs typeface="Consolas"/>
              </a:defRPr>
            </a:pPr>
            <a:r>
              <a:rPr sz="1125" b="0">
                <a:solidFill>
                  <a:srgbClr val="B8C8C1"/>
                </a:solidFill>
                <a:latin typeface="Consolas"/>
                <a:ea typeface="Consolas"/>
                <a:cs typeface="Consolas"/>
              </a:rPr>
              <a:t>MECRO   SEMANA 3   CLASE 06   16/24</a:t>
            </a:r>
          </a:p>
        </p:txBody>
      </p:sp>
      <p:sp>
        <p:nvSpPr>
          <p:cNvPr id="4" name="">
            <a:extLst xmlns:a="http://schemas.openxmlformats.org/drawingml/2006/main">
              <a:ext uri="{FF2B5EF4-FFF2-40B4-BE49-F238E27FC236}">
                <a16:creationId xmlns:a16="http://schemas.microsoft.com/office/drawing/2014/main" id="{B9C3980B-C2D5-48E8-AB26-1405E20F33F6}"/>
              </a:ext>
            </a:extLst>
          </p:cNvPr>
          <p:cNvSpPr>
            <a:spLocks xmlns:a="http://schemas.openxmlformats.org/drawingml/2006/main" noGrp="1"/>
          </p:cNvSpPr>
          <p:nvPr/>
        </p:nvSpPr>
        <p:spPr>
          <a:xfrm xmlns:a="http://schemas.openxmlformats.org/drawingml/2006/main">
            <a:off x="590550" y="1809750"/>
            <a:ext cx="10715625" cy="2047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700" b="1">
                <a:solidFill>
                  <a:srgbClr val="AEF4BB"/>
                </a:solidFill>
                <a:latin typeface="Arial"/>
                <a:ea typeface="Arial"/>
                <a:cs typeface="Arial"/>
              </a:defRPr>
            </a:defPPr>
            <a:lvl1pPr>
              <a:defRPr sz="2700" b="1">
                <a:solidFill>
                  <a:srgbClr val="AEF4BB"/>
                </a:solidFill>
                <a:latin typeface="Arial"/>
                <a:ea typeface="Arial"/>
                <a:cs typeface="Arial"/>
              </a:defRPr>
            </a:lvl1pPr>
            <a:lvl2pPr>
              <a:defRPr sz="2700" b="1">
                <a:solidFill>
                  <a:srgbClr val="AEF4BB"/>
                </a:solidFill>
                <a:latin typeface="Arial"/>
                <a:ea typeface="Arial"/>
                <a:cs typeface="Arial"/>
              </a:defRPr>
            </a:lvl2pPr>
            <a:lvl3pPr>
              <a:defRPr sz="2700" b="1">
                <a:solidFill>
                  <a:srgbClr val="AEF4BB"/>
                </a:solidFill>
                <a:latin typeface="Arial"/>
                <a:ea typeface="Arial"/>
                <a:cs typeface="Arial"/>
              </a:defRPr>
            </a:lvl3pPr>
            <a:lvl4pPr>
              <a:defRPr sz="2700" b="1">
                <a:solidFill>
                  <a:srgbClr val="AEF4BB"/>
                </a:solidFill>
                <a:latin typeface="Arial"/>
                <a:ea typeface="Arial"/>
                <a:cs typeface="Arial"/>
              </a:defRPr>
            </a:lvl4pPr>
            <a:lvl5pPr>
              <a:defRPr sz="2700" b="1">
                <a:solidFill>
                  <a:srgbClr val="AEF4BB"/>
                </a:solidFill>
                <a:latin typeface="Arial"/>
                <a:ea typeface="Arial"/>
                <a:cs typeface="Arial"/>
              </a:defRPr>
            </a:lvl5pPr>
            <a:lvl6pPr>
              <a:defRPr sz="2700" b="1">
                <a:solidFill>
                  <a:srgbClr val="AEF4BB"/>
                </a:solidFill>
                <a:latin typeface="Arial"/>
                <a:ea typeface="Arial"/>
                <a:cs typeface="Arial"/>
              </a:defRPr>
            </a:lvl6pPr>
            <a:lvl7pPr>
              <a:defRPr sz="2700" b="1">
                <a:solidFill>
                  <a:srgbClr val="AEF4BB"/>
                </a:solidFill>
                <a:latin typeface="Arial"/>
                <a:ea typeface="Arial"/>
                <a:cs typeface="Arial"/>
              </a:defRPr>
            </a:lvl7pPr>
            <a:lvl8pPr>
              <a:defRPr sz="2700" b="1">
                <a:solidFill>
                  <a:srgbClr val="AEF4BB"/>
                </a:solidFill>
                <a:latin typeface="Arial"/>
                <a:ea typeface="Arial"/>
                <a:cs typeface="Arial"/>
              </a:defRPr>
            </a:lvl8pPr>
            <a:lvl9pPr>
              <a:defRPr sz="2700" b="1">
                <a:solidFill>
                  <a:srgbClr val="AEF4BB"/>
                </a:solidFill>
                <a:latin typeface="Arial"/>
                <a:ea typeface="Arial"/>
                <a:cs typeface="Arial"/>
              </a:defRPr>
            </a:lvl9pPr>
          </a:lstStyle>
          <a:p xmlns:a="http://schemas.openxmlformats.org/drawingml/2006/main">
            <a:pPr>
              <a:defRPr sz="2700" b="1">
                <a:solidFill>
                  <a:srgbClr val="AEF4BB"/>
                </a:solidFill>
                <a:latin typeface="Arial"/>
                <a:ea typeface="Arial"/>
                <a:cs typeface="Arial"/>
              </a:defRPr>
            </a:pPr>
            <a:r>
              <a:rPr sz="2700" b="1">
                <a:solidFill>
                  <a:srgbClr val="AEF4BB"/>
                </a:solidFill>
                <a:latin typeface="Arial"/>
                <a:ea typeface="Arial"/>
                <a:cs typeface="Arial"/>
              </a:rPr>
              <a:t>El hombro se traba solo al final del recorrido y la medida inicial parecía correcta.</a:t>
            </a:r>
          </a:p>
        </p:txBody>
      </p:sp>
      <p:sp>
        <p:nvSpPr>
          <p:cNvPr id="5" name="">
            <a:extLst xmlns:a="http://schemas.openxmlformats.org/drawingml/2006/main">
              <a:ext uri="{FF2B5EF4-FFF2-40B4-BE49-F238E27FC236}">
                <a16:creationId xmlns:a16="http://schemas.microsoft.com/office/drawing/2014/main" id="{221799C5-72C3-4431-801B-FDB02935E4CB}"/>
              </a:ext>
            </a:extLst>
          </p:cNvPr>
          <p:cNvSpPr>
            <a:spLocks xmlns:a="http://schemas.openxmlformats.org/drawingml/2006/main" noGrp="1"/>
          </p:cNvSpPr>
          <p:nvPr/>
        </p:nvSpPr>
        <p:spPr>
          <a:xfrm xmlns:a="http://schemas.openxmlformats.org/drawingml/2006/main">
            <a:off x="590550" y="4629150"/>
            <a:ext cx="10715625" cy="1162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250" b="0">
                <a:solidFill>
                  <a:srgbClr val="FCFCF8"/>
                </a:solidFill>
                <a:latin typeface="Arial"/>
                <a:ea typeface="Arial"/>
                <a:cs typeface="Arial"/>
              </a:defRPr>
            </a:defPPr>
            <a:lvl1pPr>
              <a:defRPr sz="2250" b="0">
                <a:solidFill>
                  <a:srgbClr val="FCFCF8"/>
                </a:solidFill>
                <a:latin typeface="Arial"/>
                <a:ea typeface="Arial"/>
                <a:cs typeface="Arial"/>
              </a:defRPr>
            </a:lvl1pPr>
            <a:lvl2pPr>
              <a:defRPr sz="2250" b="0">
                <a:solidFill>
                  <a:srgbClr val="FCFCF8"/>
                </a:solidFill>
                <a:latin typeface="Arial"/>
                <a:ea typeface="Arial"/>
                <a:cs typeface="Arial"/>
              </a:defRPr>
            </a:lvl2pPr>
            <a:lvl3pPr>
              <a:defRPr sz="2250" b="0">
                <a:solidFill>
                  <a:srgbClr val="FCFCF8"/>
                </a:solidFill>
                <a:latin typeface="Arial"/>
                <a:ea typeface="Arial"/>
                <a:cs typeface="Arial"/>
              </a:defRPr>
            </a:lvl3pPr>
            <a:lvl4pPr>
              <a:defRPr sz="2250" b="0">
                <a:solidFill>
                  <a:srgbClr val="FCFCF8"/>
                </a:solidFill>
                <a:latin typeface="Arial"/>
                <a:ea typeface="Arial"/>
                <a:cs typeface="Arial"/>
              </a:defRPr>
            </a:lvl4pPr>
            <a:lvl5pPr>
              <a:defRPr sz="2250" b="0">
                <a:solidFill>
                  <a:srgbClr val="FCFCF8"/>
                </a:solidFill>
                <a:latin typeface="Arial"/>
                <a:ea typeface="Arial"/>
                <a:cs typeface="Arial"/>
              </a:defRPr>
            </a:lvl5pPr>
            <a:lvl6pPr>
              <a:defRPr sz="2250" b="0">
                <a:solidFill>
                  <a:srgbClr val="FCFCF8"/>
                </a:solidFill>
                <a:latin typeface="Arial"/>
                <a:ea typeface="Arial"/>
                <a:cs typeface="Arial"/>
              </a:defRPr>
            </a:lvl6pPr>
            <a:lvl7pPr>
              <a:defRPr sz="2250" b="0">
                <a:solidFill>
                  <a:srgbClr val="FCFCF8"/>
                </a:solidFill>
                <a:latin typeface="Arial"/>
                <a:ea typeface="Arial"/>
                <a:cs typeface="Arial"/>
              </a:defRPr>
            </a:lvl7pPr>
            <a:lvl8pPr>
              <a:defRPr sz="2250" b="0">
                <a:solidFill>
                  <a:srgbClr val="FCFCF8"/>
                </a:solidFill>
                <a:latin typeface="Arial"/>
                <a:ea typeface="Arial"/>
                <a:cs typeface="Arial"/>
              </a:defRPr>
            </a:lvl8pPr>
            <a:lvl9pPr>
              <a:defRPr sz="2250" b="0">
                <a:solidFill>
                  <a:srgbClr val="FCFCF8"/>
                </a:solidFill>
                <a:latin typeface="Arial"/>
                <a:ea typeface="Arial"/>
                <a:cs typeface="Arial"/>
              </a:defRPr>
            </a:lvl9pPr>
          </a:lstStyle>
          <a:p xmlns:a="http://schemas.openxmlformats.org/drawingml/2006/main">
            <a:pPr>
              <a:defRPr sz="2250" b="0">
                <a:solidFill>
                  <a:srgbClr val="FCFCF8"/>
                </a:solidFill>
                <a:latin typeface="Arial"/>
                <a:ea typeface="Arial"/>
                <a:cs typeface="Arial"/>
              </a:defRPr>
            </a:pPr>
            <a:r>
              <a:rPr sz="2250" b="0">
                <a:solidFill>
                  <a:srgbClr val="FCFCF8"/>
                </a:solidFill>
                <a:latin typeface="Arial"/>
                <a:ea typeface="Arial"/>
                <a:cs typeface="Arial"/>
              </a:rPr>
              <a:t>¿Qué corrección pequeña comprobarás primero?</a:t>
            </a:r>
          </a:p>
        </p:txBody>
      </p:sp>
    </p:spTree>
    <p:extLst>
      <p:ext uri="{BB962C8B-B14F-4D97-AF65-F5344CB8AC3E}">
        <p14:creationId xmlns:p14="http://schemas.microsoft.com/office/powerpoint/2010/main" val="1604903456"/>
      </p:ext>
    </p:extLst>
  </p:cSld>
</p:sld>
</file>

<file path=ppt/slides/slide41.xml><?xml version="1.0" encoding="utf-8"?>
<p:sld xmlns:p="http://schemas.openxmlformats.org/presentationml/2006/main">
  <p:cSld>
    <p:bg>
      <p:bgPr>
        <a:solidFill xmlns:a="http://schemas.openxmlformats.org/drawingml/2006/main">
          <a:srgbClr val="FCFCF8"/>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A240EBEB-B33D-439C-A5C5-5DC4C47C1F83}"/>
              </a:ext>
            </a:extLst>
          </p:cNvPr>
          <p:cNvSpPr>
            <a:spLocks xmlns:a="http://schemas.openxmlformats.org/drawingml/2006/main" noGrp="1"/>
          </p:cNvSpPr>
          <p:nvPr/>
        </p:nvSpPr>
        <p:spPr>
          <a:xfrm xmlns:a="http://schemas.openxmlformats.org/drawingml/2006/main">
            <a:off x="590550" y="428625"/>
            <a:ext cx="100965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75" b="1">
                <a:solidFill>
                  <a:srgbClr val="14231E"/>
                </a:solidFill>
                <a:latin typeface="Arial Narrow"/>
                <a:ea typeface="Arial Narrow"/>
                <a:cs typeface="Arial Narrow"/>
              </a:defRPr>
            </a:defPPr>
            <a:lvl1pPr>
              <a:defRPr sz="3375" b="1">
                <a:solidFill>
                  <a:srgbClr val="14231E"/>
                </a:solidFill>
                <a:latin typeface="Arial Narrow"/>
                <a:ea typeface="Arial Narrow"/>
                <a:cs typeface="Arial Narrow"/>
              </a:defRPr>
            </a:lvl1pPr>
            <a:lvl2pPr>
              <a:defRPr sz="3375" b="1">
                <a:solidFill>
                  <a:srgbClr val="14231E"/>
                </a:solidFill>
                <a:latin typeface="Arial Narrow"/>
                <a:ea typeface="Arial Narrow"/>
                <a:cs typeface="Arial Narrow"/>
              </a:defRPr>
            </a:lvl2pPr>
            <a:lvl3pPr>
              <a:defRPr sz="3375" b="1">
                <a:solidFill>
                  <a:srgbClr val="14231E"/>
                </a:solidFill>
                <a:latin typeface="Arial Narrow"/>
                <a:ea typeface="Arial Narrow"/>
                <a:cs typeface="Arial Narrow"/>
              </a:defRPr>
            </a:lvl3pPr>
            <a:lvl4pPr>
              <a:defRPr sz="3375" b="1">
                <a:solidFill>
                  <a:srgbClr val="14231E"/>
                </a:solidFill>
                <a:latin typeface="Arial Narrow"/>
                <a:ea typeface="Arial Narrow"/>
                <a:cs typeface="Arial Narrow"/>
              </a:defRPr>
            </a:lvl4pPr>
            <a:lvl5pPr>
              <a:defRPr sz="3375" b="1">
                <a:solidFill>
                  <a:srgbClr val="14231E"/>
                </a:solidFill>
                <a:latin typeface="Arial Narrow"/>
                <a:ea typeface="Arial Narrow"/>
                <a:cs typeface="Arial Narrow"/>
              </a:defRPr>
            </a:lvl5pPr>
            <a:lvl6pPr>
              <a:defRPr sz="3375" b="1">
                <a:solidFill>
                  <a:srgbClr val="14231E"/>
                </a:solidFill>
                <a:latin typeface="Arial Narrow"/>
                <a:ea typeface="Arial Narrow"/>
                <a:cs typeface="Arial Narrow"/>
              </a:defRPr>
            </a:lvl6pPr>
            <a:lvl7pPr>
              <a:defRPr sz="3375" b="1">
                <a:solidFill>
                  <a:srgbClr val="14231E"/>
                </a:solidFill>
                <a:latin typeface="Arial Narrow"/>
                <a:ea typeface="Arial Narrow"/>
                <a:cs typeface="Arial Narrow"/>
              </a:defRPr>
            </a:lvl7pPr>
            <a:lvl8pPr>
              <a:defRPr sz="3375" b="1">
                <a:solidFill>
                  <a:srgbClr val="14231E"/>
                </a:solidFill>
                <a:latin typeface="Arial Narrow"/>
                <a:ea typeface="Arial Narrow"/>
                <a:cs typeface="Arial Narrow"/>
              </a:defRPr>
            </a:lvl8pPr>
            <a:lvl9pPr>
              <a:defRPr sz="3375" b="1">
                <a:solidFill>
                  <a:srgbClr val="14231E"/>
                </a:solidFill>
                <a:latin typeface="Arial Narrow"/>
                <a:ea typeface="Arial Narrow"/>
                <a:cs typeface="Arial Narrow"/>
              </a:defRPr>
            </a:lvl9pPr>
          </a:lstStyle>
          <a:p xmlns:a="http://schemas.openxmlformats.org/drawingml/2006/main">
            <a:pPr>
              <a:defRPr sz="3375" b="1">
                <a:solidFill>
                  <a:srgbClr val="14231E"/>
                </a:solidFill>
                <a:latin typeface="Arial Narrow"/>
                <a:ea typeface="Arial Narrow"/>
                <a:cs typeface="Arial Narrow"/>
              </a:defRPr>
            </a:pPr>
            <a:r>
              <a:rPr sz="3375" b="1">
                <a:solidFill>
                  <a:srgbClr val="14231E"/>
                </a:solidFill>
                <a:latin typeface="Arial Narrow"/>
                <a:ea typeface="Arial Narrow"/>
                <a:cs typeface="Arial Narrow"/>
              </a:rPr>
              <a:t>Qué queda listo para la clase siguiente</a:t>
            </a:r>
          </a:p>
        </p:txBody>
      </p:sp>
      <p:pic>
        <p:nvPicPr>
          <p:cNvPr id="2" name="">
            <a:extLst xmlns:a="http://schemas.openxmlformats.org/drawingml/2006/main">
              <a:ext uri="{FF2B5EF4-FFF2-40B4-BE49-F238E27FC236}">
                <a16:creationId xmlns:a16="http://schemas.microsoft.com/office/drawing/2014/main" id="{61F9FDDE-D990-40C9-A24D-8ADBB9343CED}"/>
              </a:ext>
            </a:extLst>
          </p:cNvPr>
          <p:cNvPicPr>
            <a:picLocks xmlns:a="http://schemas.openxmlformats.org/drawingml/2006/main" noChangeAspect="1"/>
          </p:cNvPicPr>
          <p:nvPr/>
        </p:nvPicPr>
        <p:blipFill>
          <a:blip xmlns:r="http://schemas.openxmlformats.org/officeDocument/2006/relationships" xmlns:a="http://schemas.openxmlformats.org/drawingml/2006/main" r:embed="Rcdc3b8c03e944721"/>
          <a:stretch xmlns:a="http://schemas.openxmlformats.org/drawingml/2006/main"/>
        </p:blipFill>
        <p:spPr>
          <a:xfrm xmlns:a="http://schemas.openxmlformats.org/drawingml/2006/main">
            <a:off x="10858500" y="337942"/>
            <a:ext cx="762000" cy="276616"/>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357765AB-18EC-4B8A-876C-35C3148429DC}"/>
              </a:ext>
            </a:extLst>
          </p:cNvPr>
          <p:cNvSpPr>
            <a:spLocks xmlns:a="http://schemas.openxmlformats.org/drawingml/2006/main" noGrp="1"/>
          </p:cNvSpPr>
          <p:nvPr/>
        </p:nvSpPr>
        <p:spPr>
          <a:xfrm xmlns:a="http://schemas.openxmlformats.org/drawingml/2006/main">
            <a:off x="590550" y="6467475"/>
            <a:ext cx="108108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58665F"/>
                </a:solidFill>
                <a:latin typeface="Consolas"/>
                <a:ea typeface="Consolas"/>
                <a:cs typeface="Consolas"/>
              </a:defRPr>
            </a:defPPr>
            <a:lvl1pPr>
              <a:defRPr sz="1125" b="0">
                <a:solidFill>
                  <a:srgbClr val="58665F"/>
                </a:solidFill>
                <a:latin typeface="Consolas"/>
                <a:ea typeface="Consolas"/>
                <a:cs typeface="Consolas"/>
              </a:defRPr>
            </a:lvl1pPr>
            <a:lvl2pPr>
              <a:defRPr sz="1125" b="0">
                <a:solidFill>
                  <a:srgbClr val="58665F"/>
                </a:solidFill>
                <a:latin typeface="Consolas"/>
                <a:ea typeface="Consolas"/>
                <a:cs typeface="Consolas"/>
              </a:defRPr>
            </a:lvl2pPr>
            <a:lvl3pPr>
              <a:defRPr sz="1125" b="0">
                <a:solidFill>
                  <a:srgbClr val="58665F"/>
                </a:solidFill>
                <a:latin typeface="Consolas"/>
                <a:ea typeface="Consolas"/>
                <a:cs typeface="Consolas"/>
              </a:defRPr>
            </a:lvl3pPr>
            <a:lvl4pPr>
              <a:defRPr sz="1125" b="0">
                <a:solidFill>
                  <a:srgbClr val="58665F"/>
                </a:solidFill>
                <a:latin typeface="Consolas"/>
                <a:ea typeface="Consolas"/>
                <a:cs typeface="Consolas"/>
              </a:defRPr>
            </a:lvl4pPr>
            <a:lvl5pPr>
              <a:defRPr sz="1125" b="0">
                <a:solidFill>
                  <a:srgbClr val="58665F"/>
                </a:solidFill>
                <a:latin typeface="Consolas"/>
                <a:ea typeface="Consolas"/>
                <a:cs typeface="Consolas"/>
              </a:defRPr>
            </a:lvl5pPr>
            <a:lvl6pPr>
              <a:defRPr sz="1125" b="0">
                <a:solidFill>
                  <a:srgbClr val="58665F"/>
                </a:solidFill>
                <a:latin typeface="Consolas"/>
                <a:ea typeface="Consolas"/>
                <a:cs typeface="Consolas"/>
              </a:defRPr>
            </a:lvl6pPr>
            <a:lvl7pPr>
              <a:defRPr sz="1125" b="0">
                <a:solidFill>
                  <a:srgbClr val="58665F"/>
                </a:solidFill>
                <a:latin typeface="Consolas"/>
                <a:ea typeface="Consolas"/>
                <a:cs typeface="Consolas"/>
              </a:defRPr>
            </a:lvl7pPr>
            <a:lvl8pPr>
              <a:defRPr sz="1125" b="0">
                <a:solidFill>
                  <a:srgbClr val="58665F"/>
                </a:solidFill>
                <a:latin typeface="Consolas"/>
                <a:ea typeface="Consolas"/>
                <a:cs typeface="Consolas"/>
              </a:defRPr>
            </a:lvl8pPr>
            <a:lvl9pPr>
              <a:defRPr sz="1125" b="0">
                <a:solidFill>
                  <a:srgbClr val="58665F"/>
                </a:solidFill>
                <a:latin typeface="Consolas"/>
                <a:ea typeface="Consolas"/>
                <a:cs typeface="Consolas"/>
              </a:defRPr>
            </a:lvl9pPr>
          </a:lstStyle>
          <a:p xmlns:a="http://schemas.openxmlformats.org/drawingml/2006/main">
            <a:pPr>
              <a:defRPr sz="1125" b="0">
                <a:solidFill>
                  <a:srgbClr val="58665F"/>
                </a:solidFill>
                <a:latin typeface="Consolas"/>
                <a:ea typeface="Consolas"/>
                <a:cs typeface="Consolas"/>
              </a:defRPr>
            </a:pPr>
            <a:r>
              <a:rPr sz="1125" b="0">
                <a:solidFill>
                  <a:srgbClr val="58665F"/>
                </a:solidFill>
                <a:latin typeface="Consolas"/>
                <a:ea typeface="Consolas"/>
                <a:cs typeface="Consolas"/>
              </a:rPr>
              <a:t>MECRO   SEMANA 3   CLASE 06   17/24</a:t>
            </a:r>
          </a:p>
        </p:txBody>
      </p:sp>
      <p:sp>
        <p:nvSpPr>
          <p:cNvPr id="4" name="">
            <a:extLst xmlns:a="http://schemas.openxmlformats.org/drawingml/2006/main">
              <a:ext uri="{FF2B5EF4-FFF2-40B4-BE49-F238E27FC236}">
                <a16:creationId xmlns:a16="http://schemas.microsoft.com/office/drawing/2014/main" id="{0E7DCF63-280F-46C6-94D8-AEFBCCF61FC1}"/>
              </a:ext>
            </a:extLst>
          </p:cNvPr>
          <p:cNvSpPr>
            <a:spLocks xmlns:a="http://schemas.openxmlformats.org/drawingml/2006/main" noGrp="1"/>
          </p:cNvSpPr>
          <p:nvPr/>
        </p:nvSpPr>
        <p:spPr>
          <a:xfrm xmlns:a="http://schemas.openxmlformats.org/drawingml/2006/main">
            <a:off x="590550" y="1743075"/>
            <a:ext cx="10810875" cy="425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325" b="0">
                <a:solidFill>
                  <a:srgbClr val="14231E"/>
                </a:solidFill>
                <a:latin typeface="Arial"/>
                <a:ea typeface="Arial"/>
                <a:cs typeface="Arial"/>
              </a:defRPr>
            </a:defPPr>
            <a:lvl1pPr>
              <a:defRPr sz="2325" b="0">
                <a:solidFill>
                  <a:srgbClr val="14231E"/>
                </a:solidFill>
                <a:latin typeface="Arial"/>
                <a:ea typeface="Arial"/>
                <a:cs typeface="Arial"/>
              </a:defRPr>
            </a:lvl1pPr>
            <a:lvl2pPr>
              <a:defRPr sz="2325" b="0">
                <a:solidFill>
                  <a:srgbClr val="14231E"/>
                </a:solidFill>
                <a:latin typeface="Arial"/>
                <a:ea typeface="Arial"/>
                <a:cs typeface="Arial"/>
              </a:defRPr>
            </a:lvl2pPr>
            <a:lvl3pPr>
              <a:defRPr sz="2325" b="0">
                <a:solidFill>
                  <a:srgbClr val="14231E"/>
                </a:solidFill>
                <a:latin typeface="Arial"/>
                <a:ea typeface="Arial"/>
                <a:cs typeface="Arial"/>
              </a:defRPr>
            </a:lvl3pPr>
            <a:lvl4pPr>
              <a:defRPr sz="2325" b="0">
                <a:solidFill>
                  <a:srgbClr val="14231E"/>
                </a:solidFill>
                <a:latin typeface="Arial"/>
                <a:ea typeface="Arial"/>
                <a:cs typeface="Arial"/>
              </a:defRPr>
            </a:lvl4pPr>
            <a:lvl5pPr>
              <a:defRPr sz="2325" b="0">
                <a:solidFill>
                  <a:srgbClr val="14231E"/>
                </a:solidFill>
                <a:latin typeface="Arial"/>
                <a:ea typeface="Arial"/>
                <a:cs typeface="Arial"/>
              </a:defRPr>
            </a:lvl5pPr>
            <a:lvl6pPr>
              <a:defRPr sz="2325" b="0">
                <a:solidFill>
                  <a:srgbClr val="14231E"/>
                </a:solidFill>
                <a:latin typeface="Arial"/>
                <a:ea typeface="Arial"/>
                <a:cs typeface="Arial"/>
              </a:defRPr>
            </a:lvl6pPr>
            <a:lvl7pPr>
              <a:defRPr sz="2325" b="0">
                <a:solidFill>
                  <a:srgbClr val="14231E"/>
                </a:solidFill>
                <a:latin typeface="Arial"/>
                <a:ea typeface="Arial"/>
                <a:cs typeface="Arial"/>
              </a:defRPr>
            </a:lvl7pPr>
            <a:lvl8pPr>
              <a:defRPr sz="2325" b="0">
                <a:solidFill>
                  <a:srgbClr val="14231E"/>
                </a:solidFill>
                <a:latin typeface="Arial"/>
                <a:ea typeface="Arial"/>
                <a:cs typeface="Arial"/>
              </a:defRPr>
            </a:lvl8pPr>
            <a:lvl9pPr>
              <a:defRPr sz="2325" b="0">
                <a:solidFill>
                  <a:srgbClr val="14231E"/>
                </a:solidFill>
                <a:latin typeface="Arial"/>
                <a:ea typeface="Arial"/>
                <a:cs typeface="Arial"/>
              </a:defRPr>
            </a:lvl9pPr>
          </a:lstStyle>
          <a:p xmlns:a="http://schemas.openxmlformats.org/drawingml/2006/main">
            <a:pPr>
              <a:defRPr sz="2325" b="0">
                <a:solidFill>
                  <a:srgbClr val="14231E"/>
                </a:solidFill>
                <a:latin typeface="Arial"/>
                <a:ea typeface="Arial"/>
                <a:cs typeface="Arial"/>
              </a:defRPr>
            </a:pPr>
            <a:r>
              <a:rPr sz="2325" b="0">
                <a:solidFill>
                  <a:srgbClr val="14231E"/>
                </a:solidFill>
                <a:latin typeface="Arial"/>
                <a:ea typeface="Arial"/>
                <a:cs typeface="Arial"/>
              </a:rPr>
              <a:t>El taller termina con un conjunto que puede presentarse de forma coherente y con sus correcciones pendientes identificadas. Aún faltan integración final, recuperación y revisión para vuelo. El próximo bloque utilizará las piezas y masas conocidas para entender la estabilidad del modelo completo.</a:t>
            </a:r>
          </a:p>
        </p:txBody>
      </p:sp>
    </p:spTree>
    <p:extLst>
      <p:ext uri="{BB962C8B-B14F-4D97-AF65-F5344CB8AC3E}">
        <p14:creationId xmlns:p14="http://schemas.microsoft.com/office/powerpoint/2010/main" val="1218738091"/>
      </p:ext>
    </p:extLst>
  </p:cSld>
</p:sld>
</file>

<file path=ppt/slides/slide42.xml><?xml version="1.0" encoding="utf-8"?>
<p:sld xmlns:p="http://schemas.openxmlformats.org/presentationml/2006/main">
  <p:cSld>
    <p:bg>
      <p:bgPr>
        <a:solidFill xmlns:a="http://schemas.openxmlformats.org/drawingml/2006/main">
          <a:srgbClr val="FCFCF8"/>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A246EA66-7A0B-4D1F-9251-1FEED3487465}"/>
              </a:ext>
            </a:extLst>
          </p:cNvPr>
          <p:cNvSpPr>
            <a:spLocks xmlns:a="http://schemas.openxmlformats.org/drawingml/2006/main" noGrp="1"/>
          </p:cNvSpPr>
          <p:nvPr/>
        </p:nvSpPr>
        <p:spPr>
          <a:xfrm xmlns:a="http://schemas.openxmlformats.org/drawingml/2006/main">
            <a:off x="590550" y="428625"/>
            <a:ext cx="100965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75" b="1">
                <a:solidFill>
                  <a:srgbClr val="14231E"/>
                </a:solidFill>
                <a:latin typeface="Arial Narrow"/>
                <a:ea typeface="Arial Narrow"/>
                <a:cs typeface="Arial Narrow"/>
              </a:defRPr>
            </a:defPPr>
            <a:lvl1pPr>
              <a:defRPr sz="3375" b="1">
                <a:solidFill>
                  <a:srgbClr val="14231E"/>
                </a:solidFill>
                <a:latin typeface="Arial Narrow"/>
                <a:ea typeface="Arial Narrow"/>
                <a:cs typeface="Arial Narrow"/>
              </a:defRPr>
            </a:lvl1pPr>
            <a:lvl2pPr>
              <a:defRPr sz="3375" b="1">
                <a:solidFill>
                  <a:srgbClr val="14231E"/>
                </a:solidFill>
                <a:latin typeface="Arial Narrow"/>
                <a:ea typeface="Arial Narrow"/>
                <a:cs typeface="Arial Narrow"/>
              </a:defRPr>
            </a:lvl2pPr>
            <a:lvl3pPr>
              <a:defRPr sz="3375" b="1">
                <a:solidFill>
                  <a:srgbClr val="14231E"/>
                </a:solidFill>
                <a:latin typeface="Arial Narrow"/>
                <a:ea typeface="Arial Narrow"/>
                <a:cs typeface="Arial Narrow"/>
              </a:defRPr>
            </a:lvl3pPr>
            <a:lvl4pPr>
              <a:defRPr sz="3375" b="1">
                <a:solidFill>
                  <a:srgbClr val="14231E"/>
                </a:solidFill>
                <a:latin typeface="Arial Narrow"/>
                <a:ea typeface="Arial Narrow"/>
                <a:cs typeface="Arial Narrow"/>
              </a:defRPr>
            </a:lvl4pPr>
            <a:lvl5pPr>
              <a:defRPr sz="3375" b="1">
                <a:solidFill>
                  <a:srgbClr val="14231E"/>
                </a:solidFill>
                <a:latin typeface="Arial Narrow"/>
                <a:ea typeface="Arial Narrow"/>
                <a:cs typeface="Arial Narrow"/>
              </a:defRPr>
            </a:lvl5pPr>
            <a:lvl6pPr>
              <a:defRPr sz="3375" b="1">
                <a:solidFill>
                  <a:srgbClr val="14231E"/>
                </a:solidFill>
                <a:latin typeface="Arial Narrow"/>
                <a:ea typeface="Arial Narrow"/>
                <a:cs typeface="Arial Narrow"/>
              </a:defRPr>
            </a:lvl6pPr>
            <a:lvl7pPr>
              <a:defRPr sz="3375" b="1">
                <a:solidFill>
                  <a:srgbClr val="14231E"/>
                </a:solidFill>
                <a:latin typeface="Arial Narrow"/>
                <a:ea typeface="Arial Narrow"/>
                <a:cs typeface="Arial Narrow"/>
              </a:defRPr>
            </a:lvl7pPr>
            <a:lvl8pPr>
              <a:defRPr sz="3375" b="1">
                <a:solidFill>
                  <a:srgbClr val="14231E"/>
                </a:solidFill>
                <a:latin typeface="Arial Narrow"/>
                <a:ea typeface="Arial Narrow"/>
                <a:cs typeface="Arial Narrow"/>
              </a:defRPr>
            </a:lvl8pPr>
            <a:lvl9pPr>
              <a:defRPr sz="3375" b="1">
                <a:solidFill>
                  <a:srgbClr val="14231E"/>
                </a:solidFill>
                <a:latin typeface="Arial Narrow"/>
                <a:ea typeface="Arial Narrow"/>
                <a:cs typeface="Arial Narrow"/>
              </a:defRPr>
            </a:lvl9pPr>
          </a:lstStyle>
          <a:p xmlns:a="http://schemas.openxmlformats.org/drawingml/2006/main">
            <a:pPr>
              <a:defRPr sz="3375" b="1">
                <a:solidFill>
                  <a:srgbClr val="14231E"/>
                </a:solidFill>
                <a:latin typeface="Arial Narrow"/>
                <a:ea typeface="Arial Narrow"/>
                <a:cs typeface="Arial Narrow"/>
              </a:defRPr>
            </a:pPr>
            <a:r>
              <a:rPr sz="3375" b="1">
                <a:solidFill>
                  <a:srgbClr val="14231E"/>
                </a:solidFill>
                <a:latin typeface="Arial Narrow"/>
                <a:ea typeface="Arial Narrow"/>
                <a:cs typeface="Arial Narrow"/>
              </a:rPr>
              <a:t>Salida del taller</a:t>
            </a:r>
          </a:p>
        </p:txBody>
      </p:sp>
      <p:pic>
        <p:nvPicPr>
          <p:cNvPr id="2" name="">
            <a:extLst xmlns:a="http://schemas.openxmlformats.org/drawingml/2006/main">
              <a:ext uri="{FF2B5EF4-FFF2-40B4-BE49-F238E27FC236}">
                <a16:creationId xmlns:a16="http://schemas.microsoft.com/office/drawing/2014/main" id="{AB1F17AF-A858-4963-8DF0-1F12A25A2A5B}"/>
              </a:ext>
            </a:extLst>
          </p:cNvPr>
          <p:cNvPicPr>
            <a:picLocks xmlns:a="http://schemas.openxmlformats.org/drawingml/2006/main" noChangeAspect="1"/>
          </p:cNvPicPr>
          <p:nvPr/>
        </p:nvPicPr>
        <p:blipFill>
          <a:blip xmlns:r="http://schemas.openxmlformats.org/officeDocument/2006/relationships" xmlns:a="http://schemas.openxmlformats.org/drawingml/2006/main" r:embed="Ref8fa5bf4dc245dd"/>
          <a:stretch xmlns:a="http://schemas.openxmlformats.org/drawingml/2006/main"/>
        </p:blipFill>
        <p:spPr>
          <a:xfrm xmlns:a="http://schemas.openxmlformats.org/drawingml/2006/main">
            <a:off x="10858500" y="337942"/>
            <a:ext cx="762000" cy="276616"/>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80FFF307-1060-443F-A349-137DBC8E511F}"/>
              </a:ext>
            </a:extLst>
          </p:cNvPr>
          <p:cNvSpPr>
            <a:spLocks xmlns:a="http://schemas.openxmlformats.org/drawingml/2006/main" noGrp="1"/>
          </p:cNvSpPr>
          <p:nvPr/>
        </p:nvSpPr>
        <p:spPr>
          <a:xfrm xmlns:a="http://schemas.openxmlformats.org/drawingml/2006/main">
            <a:off x="590550" y="6467475"/>
            <a:ext cx="108108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58665F"/>
                </a:solidFill>
                <a:latin typeface="Consolas"/>
                <a:ea typeface="Consolas"/>
                <a:cs typeface="Consolas"/>
              </a:defRPr>
            </a:defPPr>
            <a:lvl1pPr>
              <a:defRPr sz="1125" b="0">
                <a:solidFill>
                  <a:srgbClr val="58665F"/>
                </a:solidFill>
                <a:latin typeface="Consolas"/>
                <a:ea typeface="Consolas"/>
                <a:cs typeface="Consolas"/>
              </a:defRPr>
            </a:lvl1pPr>
            <a:lvl2pPr>
              <a:defRPr sz="1125" b="0">
                <a:solidFill>
                  <a:srgbClr val="58665F"/>
                </a:solidFill>
                <a:latin typeface="Consolas"/>
                <a:ea typeface="Consolas"/>
                <a:cs typeface="Consolas"/>
              </a:defRPr>
            </a:lvl2pPr>
            <a:lvl3pPr>
              <a:defRPr sz="1125" b="0">
                <a:solidFill>
                  <a:srgbClr val="58665F"/>
                </a:solidFill>
                <a:latin typeface="Consolas"/>
                <a:ea typeface="Consolas"/>
                <a:cs typeface="Consolas"/>
              </a:defRPr>
            </a:lvl3pPr>
            <a:lvl4pPr>
              <a:defRPr sz="1125" b="0">
                <a:solidFill>
                  <a:srgbClr val="58665F"/>
                </a:solidFill>
                <a:latin typeface="Consolas"/>
                <a:ea typeface="Consolas"/>
                <a:cs typeface="Consolas"/>
              </a:defRPr>
            </a:lvl4pPr>
            <a:lvl5pPr>
              <a:defRPr sz="1125" b="0">
                <a:solidFill>
                  <a:srgbClr val="58665F"/>
                </a:solidFill>
                <a:latin typeface="Consolas"/>
                <a:ea typeface="Consolas"/>
                <a:cs typeface="Consolas"/>
              </a:defRPr>
            </a:lvl5pPr>
            <a:lvl6pPr>
              <a:defRPr sz="1125" b="0">
                <a:solidFill>
                  <a:srgbClr val="58665F"/>
                </a:solidFill>
                <a:latin typeface="Consolas"/>
                <a:ea typeface="Consolas"/>
                <a:cs typeface="Consolas"/>
              </a:defRPr>
            </a:lvl6pPr>
            <a:lvl7pPr>
              <a:defRPr sz="1125" b="0">
                <a:solidFill>
                  <a:srgbClr val="58665F"/>
                </a:solidFill>
                <a:latin typeface="Consolas"/>
                <a:ea typeface="Consolas"/>
                <a:cs typeface="Consolas"/>
              </a:defRPr>
            </a:lvl7pPr>
            <a:lvl8pPr>
              <a:defRPr sz="1125" b="0">
                <a:solidFill>
                  <a:srgbClr val="58665F"/>
                </a:solidFill>
                <a:latin typeface="Consolas"/>
                <a:ea typeface="Consolas"/>
                <a:cs typeface="Consolas"/>
              </a:defRPr>
            </a:lvl8pPr>
            <a:lvl9pPr>
              <a:defRPr sz="1125" b="0">
                <a:solidFill>
                  <a:srgbClr val="58665F"/>
                </a:solidFill>
                <a:latin typeface="Consolas"/>
                <a:ea typeface="Consolas"/>
                <a:cs typeface="Consolas"/>
              </a:defRPr>
            </a:lvl9pPr>
          </a:lstStyle>
          <a:p xmlns:a="http://schemas.openxmlformats.org/drawingml/2006/main">
            <a:pPr>
              <a:defRPr sz="1125" b="0">
                <a:solidFill>
                  <a:srgbClr val="58665F"/>
                </a:solidFill>
                <a:latin typeface="Consolas"/>
                <a:ea typeface="Consolas"/>
                <a:cs typeface="Consolas"/>
              </a:defRPr>
            </a:pPr>
            <a:r>
              <a:rPr sz="1125" b="0">
                <a:solidFill>
                  <a:srgbClr val="58665F"/>
                </a:solidFill>
                <a:latin typeface="Consolas"/>
                <a:ea typeface="Consolas"/>
                <a:cs typeface="Consolas"/>
              </a:rPr>
              <a:t>MECRO   SEMANA 3   CLASE 06   18/24</a:t>
            </a:r>
          </a:p>
        </p:txBody>
      </p:sp>
      <p:graphicFrame>
        <p:nvGraphicFramePr>
          <p:cNvPr id="4" name="">
            <a:extLst xmlns:a="http://schemas.openxmlformats.org/drawingml/2006/main">
              <a:ext uri="{FF2B5EF4-FFF2-40B4-BE49-F238E27FC236}">
                <a16:creationId xmlns:a16="http://schemas.microsoft.com/office/drawing/2014/main" id="{86BD96B7-0F1C-415E-997D-76AAA8964F0C}"/>
              </a:ext>
            </a:extLst>
          </p:cNvPr>
          <p:cNvGraphicFramePr/>
          <p:nvPr/>
        </p:nvGraphicFramePr>
        <p:xfrm>
          <a:off xmlns:a="http://schemas.openxmlformats.org/drawingml/2006/main" x="590550" y="1752600"/>
          <a:ext xmlns:a="http://schemas.openxmlformats.org/drawingml/2006/main" cx="11010900" cy="3952875"/>
        </p:xfrm>
        <a:graphic xmlns:a="http://schemas.openxmlformats.org/drawingml/2006/main">
          <a:graphicData uri="http://schemas.openxmlformats.org/drawingml/2006/table">
            <a:tbl>
              <a:tblPr/>
              <a:tblGrid>
                <a:gridCol w="5505450"/>
                <a:gridCol w="5505450"/>
              </a:tblGrid>
              <a:tr h="658813">
                <a:tc>
                  <a:txBody>
                    <a:bodyPr/>
                    <a:lstStyle/>
                    <a:p>
                      <a:r>
                        <a:rPr sz="2025" b="1">
                          <a:solidFill>
                            <a:srgbClr val="FFFFFF"/>
                          </a:solidFill>
                          <a:latin typeface="Arial"/>
                          <a:ea typeface="Arial"/>
                          <a:cs typeface="Arial"/>
                        </a:rPr>
                        <a:t>Entrega</a:t>
                      </a:r>
                    </a:p>
                  </a:txBody>
                  <a:tcPr marL="91440" marR="91440" marT="45720" marB="45720">
                    <a:lnL w="9525">
                      <a:solidFill>
                        <a:srgbClr val="BFCEC3"/>
                      </a:solidFill>
                      <a:prstDash val="solid"/>
                    </a:lnL>
                    <a:lnR w="9525">
                      <a:solidFill>
                        <a:srgbClr val="BFCEC3"/>
                      </a:solidFill>
                      <a:prstDash val="solid"/>
                    </a:lnR>
                    <a:lnT w="9525">
                      <a:solidFill>
                        <a:srgbClr val="BFCEC3"/>
                      </a:solidFill>
                      <a:prstDash val="solid"/>
                    </a:lnT>
                    <a:lnB w="9525">
                      <a:solidFill>
                        <a:srgbClr val="BFCEC3"/>
                      </a:solidFill>
                      <a:prstDash val="solid"/>
                    </a:lnB>
                    <a:solidFill>
                      <a:srgbClr val="244F3D"/>
                    </a:solidFill>
                  </a:tcPr>
                </a:tc>
                <a:tc>
                  <a:txBody>
                    <a:bodyPr/>
                    <a:lstStyle/>
                    <a:p>
                      <a:r>
                        <a:rPr sz="2025" b="1">
                          <a:solidFill>
                            <a:srgbClr val="FFFFFF"/>
                          </a:solidFill>
                          <a:latin typeface="Arial"/>
                          <a:ea typeface="Arial"/>
                          <a:cs typeface="Arial"/>
                        </a:rPr>
                        <a:t>Revisión breve</a:t>
                      </a:r>
                    </a:p>
                  </a:txBody>
                  <a:tcPr marL="91440" marR="91440" marT="45720" marB="45720">
                    <a:lnR w="9525">
                      <a:solidFill>
                        <a:srgbClr val="BFCEC3"/>
                      </a:solidFill>
                      <a:prstDash val="solid"/>
                    </a:lnR>
                    <a:lnT w="9525">
                      <a:solidFill>
                        <a:srgbClr val="BFCEC3"/>
                      </a:solidFill>
                      <a:prstDash val="solid"/>
                    </a:lnT>
                    <a:lnB w="9525">
                      <a:solidFill>
                        <a:srgbClr val="BFCEC3"/>
                      </a:solidFill>
                      <a:prstDash val="solid"/>
                    </a:lnB>
                    <a:solidFill>
                      <a:srgbClr val="244F3D"/>
                    </a:solidFill>
                  </a:tcPr>
                </a:tc>
              </a:tr>
              <a:tr h="658813">
                <a:tc>
                  <a:txBody>
                    <a:bodyPr/>
                    <a:lstStyle/>
                    <a:p>
                      <a:r>
                        <a:rPr sz="2025" b="0">
                          <a:solidFill>
                            <a:srgbClr val="14231E"/>
                          </a:solidFill>
                          <a:latin typeface="Arial"/>
                          <a:ea typeface="Arial"/>
                          <a:cs typeface="Arial"/>
                        </a:rPr>
                        <a:t>Ficha de encaje</a:t>
                      </a:r>
                    </a:p>
                  </a:txBody>
                  <a:tcPr marL="91440" marR="91440" marT="45720" marB="45720">
                    <a:lnL w="9525">
                      <a:solidFill>
                        <a:srgbClr val="BFCEC3"/>
                      </a:solidFill>
                      <a:prstDash val="solid"/>
                    </a:lnL>
                    <a:lnR w="9525">
                      <a:solidFill>
                        <a:srgbClr val="BFCEC3"/>
                      </a:solidFill>
                      <a:prstDash val="solid"/>
                    </a:lnR>
                    <a:lnB w="9525">
                      <a:solidFill>
                        <a:srgbClr val="BFCEC3"/>
                      </a:solidFill>
                      <a:prstDash val="solid"/>
                    </a:lnB>
                    <a:solidFill>
                      <a:srgbClr val="EAF3EC"/>
                    </a:solidFill>
                  </a:tcPr>
                </a:tc>
                <a:tc>
                  <a:txBody>
                    <a:bodyPr/>
                    <a:lstStyle/>
                    <a:p>
                      <a:r>
                        <a:rPr sz="2025" b="0">
                          <a:solidFill>
                            <a:srgbClr val="14231E"/>
                          </a:solidFill>
                          <a:latin typeface="Arial"/>
                          <a:ea typeface="Arial"/>
                          <a:cs typeface="Arial"/>
                        </a:rPr>
                        <a:t>Tubo y muestra identificados</a:t>
                      </a:r>
                    </a:p>
                  </a:txBody>
                  <a:tcPr marL="91440" marR="91440" marT="45720" marB="45720">
                    <a:lnR w="9525">
                      <a:solidFill>
                        <a:srgbClr val="BFCEC3"/>
                      </a:solidFill>
                      <a:prstDash val="solid"/>
                    </a:lnR>
                    <a:lnB w="9525">
                      <a:solidFill>
                        <a:srgbClr val="BFCEC3"/>
                      </a:solidFill>
                      <a:prstDash val="solid"/>
                    </a:lnB>
                    <a:solidFill>
                      <a:srgbClr val="EAF3EC"/>
                    </a:solidFill>
                  </a:tcPr>
                </a:tc>
              </a:tr>
              <a:tr h="658813">
                <a:tc>
                  <a:txBody>
                    <a:bodyPr/>
                    <a:lstStyle/>
                    <a:p>
                      <a:r>
                        <a:rPr sz="2025" b="0">
                          <a:solidFill>
                            <a:srgbClr val="14231E"/>
                          </a:solidFill>
                          <a:latin typeface="Arial"/>
                          <a:ea typeface="Arial"/>
                          <a:cs typeface="Arial"/>
                        </a:rPr>
                        <a:t>Medidas y masas</a:t>
                      </a:r>
                    </a:p>
                  </a:txBody>
                  <a:tcPr marL="91440" marR="91440" marT="45720" marB="45720">
                    <a:lnL w="9525">
                      <a:solidFill>
                        <a:srgbClr val="BFCEC3"/>
                      </a:solidFill>
                      <a:prstDash val="solid"/>
                    </a:lnL>
                    <a:lnR w="9525">
                      <a:solidFill>
                        <a:srgbClr val="BFCEC3"/>
                      </a:solidFill>
                      <a:prstDash val="solid"/>
                    </a:lnR>
                    <a:lnB w="9525">
                      <a:solidFill>
                        <a:srgbClr val="BFCEC3"/>
                      </a:solidFill>
                      <a:prstDash val="solid"/>
                    </a:lnB>
                    <a:solidFill>
                      <a:srgbClr val="FCFCF8"/>
                    </a:solidFill>
                  </a:tcPr>
                </a:tc>
                <a:tc>
                  <a:txBody>
                    <a:bodyPr/>
                    <a:lstStyle/>
                    <a:p>
                      <a:r>
                        <a:rPr sz="2025" b="0">
                          <a:solidFill>
                            <a:srgbClr val="14231E"/>
                          </a:solidFill>
                          <a:latin typeface="Arial"/>
                          <a:ea typeface="Arial"/>
                          <a:cs typeface="Arial"/>
                        </a:rPr>
                        <a:t>Unidad y objeto pesado claros</a:t>
                      </a:r>
                    </a:p>
                  </a:txBody>
                  <a:tcPr marL="91440" marR="91440" marT="45720" marB="45720">
                    <a:lnR w="9525">
                      <a:solidFill>
                        <a:srgbClr val="BFCEC3"/>
                      </a:solidFill>
                      <a:prstDash val="solid"/>
                    </a:lnR>
                    <a:lnB w="9525">
                      <a:solidFill>
                        <a:srgbClr val="BFCEC3"/>
                      </a:solidFill>
                      <a:prstDash val="solid"/>
                    </a:lnB>
                    <a:solidFill>
                      <a:srgbClr val="FCFCF8"/>
                    </a:solidFill>
                  </a:tcPr>
                </a:tc>
              </a:tr>
              <a:tr h="658813">
                <a:tc>
                  <a:txBody>
                    <a:bodyPr/>
                    <a:lstStyle/>
                    <a:p>
                      <a:r>
                        <a:rPr sz="2025" b="0">
                          <a:solidFill>
                            <a:srgbClr val="14231E"/>
                          </a:solidFill>
                          <a:latin typeface="Arial"/>
                          <a:ea typeface="Arial"/>
                          <a:cs typeface="Arial"/>
                        </a:rPr>
                        <a:t>Fotografías</a:t>
                      </a:r>
                    </a:p>
                  </a:txBody>
                  <a:tcPr marL="91440" marR="91440" marT="45720" marB="45720">
                    <a:lnL w="9525">
                      <a:solidFill>
                        <a:srgbClr val="BFCEC3"/>
                      </a:solidFill>
                      <a:prstDash val="solid"/>
                    </a:lnL>
                    <a:lnR w="9525">
                      <a:solidFill>
                        <a:srgbClr val="BFCEC3"/>
                      </a:solidFill>
                      <a:prstDash val="solid"/>
                    </a:lnR>
                    <a:lnB w="9525">
                      <a:solidFill>
                        <a:srgbClr val="BFCEC3"/>
                      </a:solidFill>
                      <a:prstDash val="solid"/>
                    </a:lnB>
                    <a:solidFill>
                      <a:srgbClr val="EAF3EC"/>
                    </a:solidFill>
                  </a:tcPr>
                </a:tc>
                <a:tc>
                  <a:txBody>
                    <a:bodyPr/>
                    <a:lstStyle/>
                    <a:p>
                      <a:r>
                        <a:rPr sz="2025" b="0">
                          <a:solidFill>
                            <a:srgbClr val="14231E"/>
                          </a:solidFill>
                          <a:latin typeface="Arial"/>
                          <a:ea typeface="Arial"/>
                          <a:cs typeface="Arial"/>
                        </a:rPr>
                        <a:t>Vista lateral y posterior</a:t>
                      </a:r>
                    </a:p>
                  </a:txBody>
                  <a:tcPr marL="91440" marR="91440" marT="45720" marB="45720">
                    <a:lnR w="9525">
                      <a:solidFill>
                        <a:srgbClr val="BFCEC3"/>
                      </a:solidFill>
                      <a:prstDash val="solid"/>
                    </a:lnR>
                    <a:lnB w="9525">
                      <a:solidFill>
                        <a:srgbClr val="BFCEC3"/>
                      </a:solidFill>
                      <a:prstDash val="solid"/>
                    </a:lnB>
                    <a:solidFill>
                      <a:srgbClr val="EAF3EC"/>
                    </a:solidFill>
                  </a:tcPr>
                </a:tc>
              </a:tr>
              <a:tr h="658813">
                <a:tc>
                  <a:txBody>
                    <a:bodyPr/>
                    <a:lstStyle/>
                    <a:p>
                      <a:r>
                        <a:rPr sz="2025" b="0">
                          <a:solidFill>
                            <a:srgbClr val="14231E"/>
                          </a:solidFill>
                          <a:latin typeface="Arial"/>
                          <a:ea typeface="Arial"/>
                          <a:cs typeface="Arial"/>
                        </a:rPr>
                        <a:t>Archivos</a:t>
                      </a:r>
                    </a:p>
                  </a:txBody>
                  <a:tcPr marL="91440" marR="91440" marT="45720" marB="45720">
                    <a:lnL w="9525">
                      <a:solidFill>
                        <a:srgbClr val="BFCEC3"/>
                      </a:solidFill>
                      <a:prstDash val="solid"/>
                    </a:lnL>
                    <a:lnR w="9525">
                      <a:solidFill>
                        <a:srgbClr val="BFCEC3"/>
                      </a:solidFill>
                      <a:prstDash val="solid"/>
                    </a:lnR>
                    <a:lnB w="9525">
                      <a:solidFill>
                        <a:srgbClr val="BFCEC3"/>
                      </a:solidFill>
                      <a:prstDash val="solid"/>
                    </a:lnB>
                    <a:solidFill>
                      <a:srgbClr val="FCFCF8"/>
                    </a:solidFill>
                  </a:tcPr>
                </a:tc>
                <a:tc>
                  <a:txBody>
                    <a:bodyPr/>
                    <a:lstStyle/>
                    <a:p>
                      <a:r>
                        <a:rPr sz="2025" b="0">
                          <a:solidFill>
                            <a:srgbClr val="14231E"/>
                          </a:solidFill>
                          <a:latin typeface="Arial"/>
                          <a:ea typeface="Arial"/>
                          <a:cs typeface="Arial"/>
                        </a:rPr>
                        <a:t>Misma revisión que la pieza</a:t>
                      </a:r>
                    </a:p>
                  </a:txBody>
                  <a:tcPr marL="91440" marR="91440" marT="45720" marB="45720">
                    <a:lnR w="9525">
                      <a:solidFill>
                        <a:srgbClr val="BFCEC3"/>
                      </a:solidFill>
                      <a:prstDash val="solid"/>
                    </a:lnR>
                    <a:lnB w="9525">
                      <a:solidFill>
                        <a:srgbClr val="BFCEC3"/>
                      </a:solidFill>
                      <a:prstDash val="solid"/>
                    </a:lnB>
                    <a:solidFill>
                      <a:srgbClr val="FCFCF8"/>
                    </a:solidFill>
                  </a:tcPr>
                </a:tc>
              </a:tr>
              <a:tr h="658813">
                <a:tc>
                  <a:txBody>
                    <a:bodyPr/>
                    <a:lstStyle/>
                    <a:p>
                      <a:r>
                        <a:rPr sz="2025" b="0">
                          <a:solidFill>
                            <a:srgbClr val="14231E"/>
                          </a:solidFill>
                          <a:latin typeface="Arial"/>
                          <a:ea typeface="Arial"/>
                          <a:cs typeface="Arial"/>
                        </a:rPr>
                        <a:t>Pendientes</a:t>
                      </a:r>
                    </a:p>
                  </a:txBody>
                  <a:tcPr marL="91440" marR="91440" marT="45720" marB="45720">
                    <a:lnL w="9525">
                      <a:solidFill>
                        <a:srgbClr val="BFCEC3"/>
                      </a:solidFill>
                      <a:prstDash val="solid"/>
                    </a:lnL>
                    <a:lnR w="9525">
                      <a:solidFill>
                        <a:srgbClr val="BFCEC3"/>
                      </a:solidFill>
                      <a:prstDash val="solid"/>
                    </a:lnR>
                    <a:lnB w="9525">
                      <a:solidFill>
                        <a:srgbClr val="BFCEC3"/>
                      </a:solidFill>
                      <a:prstDash val="solid"/>
                    </a:lnB>
                    <a:solidFill>
                      <a:srgbClr val="EAF3EC"/>
                    </a:solidFill>
                  </a:tcPr>
                </a:tc>
                <a:tc>
                  <a:txBody>
                    <a:bodyPr/>
                    <a:lstStyle/>
                    <a:p>
                      <a:r>
                        <a:rPr sz="2025" b="0">
                          <a:solidFill>
                            <a:srgbClr val="14231E"/>
                          </a:solidFill>
                          <a:latin typeface="Arial"/>
                          <a:ea typeface="Arial"/>
                          <a:cs typeface="Arial"/>
                        </a:rPr>
                        <a:t>Responsable y comprobación siguiente</a:t>
                      </a:r>
                    </a:p>
                  </a:txBody>
                  <a:tcPr marL="91440" marR="91440" marT="45720" marB="45720">
                    <a:lnR w="9525">
                      <a:solidFill>
                        <a:srgbClr val="BFCEC3"/>
                      </a:solidFill>
                      <a:prstDash val="solid"/>
                    </a:lnR>
                    <a:lnB w="9525">
                      <a:solidFill>
                        <a:srgbClr val="BFCEC3"/>
                      </a:solidFill>
                      <a:prstDash val="solid"/>
                    </a:lnB>
                    <a:solidFill>
                      <a:srgbClr val="EAF3EC"/>
                    </a:solidFill>
                  </a:tcPr>
                </a:tc>
              </a:tr>
            </a:tbl>
          </a:graphicData>
        </a:graphic>
      </p:graphicFrame>
    </p:spTree>
    <p:extLst>
      <p:ext uri="{BB962C8B-B14F-4D97-AF65-F5344CB8AC3E}">
        <p14:creationId xmlns:p14="http://schemas.microsoft.com/office/powerpoint/2010/main" val="825739852"/>
      </p:ext>
    </p:extLst>
  </p:cSld>
</p:sld>
</file>

<file path=ppt/slides/slide43.xml><?xml version="1.0" encoding="utf-8"?>
<p:sld xmlns:p="http://schemas.openxmlformats.org/presentationml/2006/main">
  <p:cSld>
    <p:bg>
      <p:bgPr>
        <a:solidFill xmlns:a="http://schemas.openxmlformats.org/drawingml/2006/main">
          <a:srgbClr val="090F10"/>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C2162BBD-BFF6-4D3F-A427-698495CF14DC}"/>
              </a:ext>
            </a:extLst>
          </p:cNvPr>
          <p:cNvSpPr>
            <a:spLocks xmlns:a="http://schemas.openxmlformats.org/drawingml/2006/main" noGrp="1"/>
          </p:cNvSpPr>
          <p:nvPr/>
        </p:nvSpPr>
        <p:spPr>
          <a:xfrm xmlns:a="http://schemas.openxmlformats.org/drawingml/2006/main">
            <a:off x="590550" y="428625"/>
            <a:ext cx="100965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75" b="1">
                <a:solidFill>
                  <a:srgbClr val="FCFCF8"/>
                </a:solidFill>
                <a:latin typeface="Arial Narrow"/>
                <a:ea typeface="Arial Narrow"/>
                <a:cs typeface="Arial Narrow"/>
              </a:defRPr>
            </a:defPPr>
            <a:lvl1pPr>
              <a:defRPr sz="3375" b="1">
                <a:solidFill>
                  <a:srgbClr val="FCFCF8"/>
                </a:solidFill>
                <a:latin typeface="Arial Narrow"/>
                <a:ea typeface="Arial Narrow"/>
                <a:cs typeface="Arial Narrow"/>
              </a:defRPr>
            </a:lvl1pPr>
            <a:lvl2pPr>
              <a:defRPr sz="3375" b="1">
                <a:solidFill>
                  <a:srgbClr val="FCFCF8"/>
                </a:solidFill>
                <a:latin typeface="Arial Narrow"/>
                <a:ea typeface="Arial Narrow"/>
                <a:cs typeface="Arial Narrow"/>
              </a:defRPr>
            </a:lvl2pPr>
            <a:lvl3pPr>
              <a:defRPr sz="3375" b="1">
                <a:solidFill>
                  <a:srgbClr val="FCFCF8"/>
                </a:solidFill>
                <a:latin typeface="Arial Narrow"/>
                <a:ea typeface="Arial Narrow"/>
                <a:cs typeface="Arial Narrow"/>
              </a:defRPr>
            </a:lvl3pPr>
            <a:lvl4pPr>
              <a:defRPr sz="3375" b="1">
                <a:solidFill>
                  <a:srgbClr val="FCFCF8"/>
                </a:solidFill>
                <a:latin typeface="Arial Narrow"/>
                <a:ea typeface="Arial Narrow"/>
                <a:cs typeface="Arial Narrow"/>
              </a:defRPr>
            </a:lvl4pPr>
            <a:lvl5pPr>
              <a:defRPr sz="3375" b="1">
                <a:solidFill>
                  <a:srgbClr val="FCFCF8"/>
                </a:solidFill>
                <a:latin typeface="Arial Narrow"/>
                <a:ea typeface="Arial Narrow"/>
                <a:cs typeface="Arial Narrow"/>
              </a:defRPr>
            </a:lvl5pPr>
            <a:lvl6pPr>
              <a:defRPr sz="3375" b="1">
                <a:solidFill>
                  <a:srgbClr val="FCFCF8"/>
                </a:solidFill>
                <a:latin typeface="Arial Narrow"/>
                <a:ea typeface="Arial Narrow"/>
                <a:cs typeface="Arial Narrow"/>
              </a:defRPr>
            </a:lvl6pPr>
            <a:lvl7pPr>
              <a:defRPr sz="3375" b="1">
                <a:solidFill>
                  <a:srgbClr val="FCFCF8"/>
                </a:solidFill>
                <a:latin typeface="Arial Narrow"/>
                <a:ea typeface="Arial Narrow"/>
                <a:cs typeface="Arial Narrow"/>
              </a:defRPr>
            </a:lvl7pPr>
            <a:lvl8pPr>
              <a:defRPr sz="3375" b="1">
                <a:solidFill>
                  <a:srgbClr val="FCFCF8"/>
                </a:solidFill>
                <a:latin typeface="Arial Narrow"/>
                <a:ea typeface="Arial Narrow"/>
                <a:cs typeface="Arial Narrow"/>
              </a:defRPr>
            </a:lvl8pPr>
            <a:lvl9pPr>
              <a:defRPr sz="3375" b="1">
                <a:solidFill>
                  <a:srgbClr val="FCFCF8"/>
                </a:solidFill>
                <a:latin typeface="Arial Narrow"/>
                <a:ea typeface="Arial Narrow"/>
                <a:cs typeface="Arial Narrow"/>
              </a:defRPr>
            </a:lvl9pPr>
          </a:lstStyle>
          <a:p xmlns:a="http://schemas.openxmlformats.org/drawingml/2006/main">
            <a:pPr>
              <a:defRPr sz="3375" b="1">
                <a:solidFill>
                  <a:srgbClr val="FCFCF8"/>
                </a:solidFill>
                <a:latin typeface="Arial Narrow"/>
                <a:ea typeface="Arial Narrow"/>
                <a:cs typeface="Arial Narrow"/>
              </a:defRPr>
            </a:pPr>
            <a:r>
              <a:rPr sz="3375" b="1">
                <a:solidFill>
                  <a:srgbClr val="FCFCF8"/>
                </a:solidFill>
                <a:latin typeface="Arial Narrow"/>
                <a:ea typeface="Arial Narrow"/>
                <a:cs typeface="Arial Narrow"/>
              </a:rPr>
              <a:t>Pieza que no debe pasar sin revisión</a:t>
            </a:r>
          </a:p>
        </p:txBody>
      </p:sp>
      <p:pic>
        <p:nvPicPr>
          <p:cNvPr id="2" name="">
            <a:extLst xmlns:a="http://schemas.openxmlformats.org/drawingml/2006/main">
              <a:ext uri="{FF2B5EF4-FFF2-40B4-BE49-F238E27FC236}">
                <a16:creationId xmlns:a16="http://schemas.microsoft.com/office/drawing/2014/main" id="{BE9C0178-541B-484D-AF98-A8C318F17406}"/>
              </a:ext>
            </a:extLst>
          </p:cNvPr>
          <p:cNvPicPr>
            <a:picLocks xmlns:a="http://schemas.openxmlformats.org/drawingml/2006/main" noChangeAspect="1"/>
          </p:cNvPicPr>
          <p:nvPr/>
        </p:nvPicPr>
        <p:blipFill>
          <a:blip xmlns:r="http://schemas.openxmlformats.org/officeDocument/2006/relationships" xmlns:a="http://schemas.openxmlformats.org/drawingml/2006/main" r:embed="Rdc35c421b523401b"/>
          <a:stretch xmlns:a="http://schemas.openxmlformats.org/drawingml/2006/main"/>
        </p:blipFill>
        <p:spPr>
          <a:xfrm xmlns:a="http://schemas.openxmlformats.org/drawingml/2006/main">
            <a:off x="10858500" y="337942"/>
            <a:ext cx="762000" cy="276616"/>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73B4E168-09C5-4187-A2BE-A60356C2D606}"/>
              </a:ext>
            </a:extLst>
          </p:cNvPr>
          <p:cNvSpPr>
            <a:spLocks xmlns:a="http://schemas.openxmlformats.org/drawingml/2006/main" noGrp="1"/>
          </p:cNvSpPr>
          <p:nvPr/>
        </p:nvSpPr>
        <p:spPr>
          <a:xfrm xmlns:a="http://schemas.openxmlformats.org/drawingml/2006/main">
            <a:off x="590550" y="6467475"/>
            <a:ext cx="108108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B8C8C1"/>
                </a:solidFill>
                <a:latin typeface="Consolas"/>
                <a:ea typeface="Consolas"/>
                <a:cs typeface="Consolas"/>
              </a:defRPr>
            </a:defPPr>
            <a:lvl1pPr>
              <a:defRPr sz="1125" b="0">
                <a:solidFill>
                  <a:srgbClr val="B8C8C1"/>
                </a:solidFill>
                <a:latin typeface="Consolas"/>
                <a:ea typeface="Consolas"/>
                <a:cs typeface="Consolas"/>
              </a:defRPr>
            </a:lvl1pPr>
            <a:lvl2pPr>
              <a:defRPr sz="1125" b="0">
                <a:solidFill>
                  <a:srgbClr val="B8C8C1"/>
                </a:solidFill>
                <a:latin typeface="Consolas"/>
                <a:ea typeface="Consolas"/>
                <a:cs typeface="Consolas"/>
              </a:defRPr>
            </a:lvl2pPr>
            <a:lvl3pPr>
              <a:defRPr sz="1125" b="0">
                <a:solidFill>
                  <a:srgbClr val="B8C8C1"/>
                </a:solidFill>
                <a:latin typeface="Consolas"/>
                <a:ea typeface="Consolas"/>
                <a:cs typeface="Consolas"/>
              </a:defRPr>
            </a:lvl3pPr>
            <a:lvl4pPr>
              <a:defRPr sz="1125" b="0">
                <a:solidFill>
                  <a:srgbClr val="B8C8C1"/>
                </a:solidFill>
                <a:latin typeface="Consolas"/>
                <a:ea typeface="Consolas"/>
                <a:cs typeface="Consolas"/>
              </a:defRPr>
            </a:lvl4pPr>
            <a:lvl5pPr>
              <a:defRPr sz="1125" b="0">
                <a:solidFill>
                  <a:srgbClr val="B8C8C1"/>
                </a:solidFill>
                <a:latin typeface="Consolas"/>
                <a:ea typeface="Consolas"/>
                <a:cs typeface="Consolas"/>
              </a:defRPr>
            </a:lvl5pPr>
            <a:lvl6pPr>
              <a:defRPr sz="1125" b="0">
                <a:solidFill>
                  <a:srgbClr val="B8C8C1"/>
                </a:solidFill>
                <a:latin typeface="Consolas"/>
                <a:ea typeface="Consolas"/>
                <a:cs typeface="Consolas"/>
              </a:defRPr>
            </a:lvl6pPr>
            <a:lvl7pPr>
              <a:defRPr sz="1125" b="0">
                <a:solidFill>
                  <a:srgbClr val="B8C8C1"/>
                </a:solidFill>
                <a:latin typeface="Consolas"/>
                <a:ea typeface="Consolas"/>
                <a:cs typeface="Consolas"/>
              </a:defRPr>
            </a:lvl7pPr>
            <a:lvl8pPr>
              <a:defRPr sz="1125" b="0">
                <a:solidFill>
                  <a:srgbClr val="B8C8C1"/>
                </a:solidFill>
                <a:latin typeface="Consolas"/>
                <a:ea typeface="Consolas"/>
                <a:cs typeface="Consolas"/>
              </a:defRPr>
            </a:lvl8pPr>
            <a:lvl9pPr>
              <a:defRPr sz="1125" b="0">
                <a:solidFill>
                  <a:srgbClr val="B8C8C1"/>
                </a:solidFill>
                <a:latin typeface="Consolas"/>
                <a:ea typeface="Consolas"/>
                <a:cs typeface="Consolas"/>
              </a:defRPr>
            </a:lvl9pPr>
          </a:lstStyle>
          <a:p xmlns:a="http://schemas.openxmlformats.org/drawingml/2006/main">
            <a:pPr>
              <a:defRPr sz="1125" b="0">
                <a:solidFill>
                  <a:srgbClr val="B8C8C1"/>
                </a:solidFill>
                <a:latin typeface="Consolas"/>
                <a:ea typeface="Consolas"/>
                <a:cs typeface="Consolas"/>
              </a:defRPr>
            </a:pPr>
            <a:r>
              <a:rPr sz="1125" b="0">
                <a:solidFill>
                  <a:srgbClr val="B8C8C1"/>
                </a:solidFill>
                <a:latin typeface="Consolas"/>
                <a:ea typeface="Consolas"/>
                <a:cs typeface="Consolas"/>
              </a:rPr>
              <a:t>MECRO   SEMANA 3   CLASE 06   19/24</a:t>
            </a:r>
          </a:p>
        </p:txBody>
      </p:sp>
      <p:sp>
        <p:nvSpPr>
          <p:cNvPr id="4" name="">
            <a:extLst xmlns:a="http://schemas.openxmlformats.org/drawingml/2006/main">
              <a:ext uri="{FF2B5EF4-FFF2-40B4-BE49-F238E27FC236}">
                <a16:creationId xmlns:a16="http://schemas.microsoft.com/office/drawing/2014/main" id="{3E04F47A-BCB1-4440-9D2C-1F2DAD4D9447}"/>
              </a:ext>
            </a:extLst>
          </p:cNvPr>
          <p:cNvSpPr>
            <a:spLocks xmlns:a="http://schemas.openxmlformats.org/drawingml/2006/main" noGrp="1"/>
          </p:cNvSpPr>
          <p:nvPr/>
        </p:nvSpPr>
        <p:spPr>
          <a:xfrm xmlns:a="http://schemas.openxmlformats.org/drawingml/2006/main">
            <a:off x="590550" y="1809750"/>
            <a:ext cx="10715625" cy="2047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700" b="1">
                <a:solidFill>
                  <a:srgbClr val="AEF4BB"/>
                </a:solidFill>
                <a:latin typeface="Arial"/>
                <a:ea typeface="Arial"/>
                <a:cs typeface="Arial"/>
              </a:defRPr>
            </a:defPPr>
            <a:lvl1pPr>
              <a:defRPr sz="2700" b="1">
                <a:solidFill>
                  <a:srgbClr val="AEF4BB"/>
                </a:solidFill>
                <a:latin typeface="Arial"/>
                <a:ea typeface="Arial"/>
                <a:cs typeface="Arial"/>
              </a:defRPr>
            </a:lvl1pPr>
            <a:lvl2pPr>
              <a:defRPr sz="2700" b="1">
                <a:solidFill>
                  <a:srgbClr val="AEF4BB"/>
                </a:solidFill>
                <a:latin typeface="Arial"/>
                <a:ea typeface="Arial"/>
                <a:cs typeface="Arial"/>
              </a:defRPr>
            </a:lvl2pPr>
            <a:lvl3pPr>
              <a:defRPr sz="2700" b="1">
                <a:solidFill>
                  <a:srgbClr val="AEF4BB"/>
                </a:solidFill>
                <a:latin typeface="Arial"/>
                <a:ea typeface="Arial"/>
                <a:cs typeface="Arial"/>
              </a:defRPr>
            </a:lvl3pPr>
            <a:lvl4pPr>
              <a:defRPr sz="2700" b="1">
                <a:solidFill>
                  <a:srgbClr val="AEF4BB"/>
                </a:solidFill>
                <a:latin typeface="Arial"/>
                <a:ea typeface="Arial"/>
                <a:cs typeface="Arial"/>
              </a:defRPr>
            </a:lvl4pPr>
            <a:lvl5pPr>
              <a:defRPr sz="2700" b="1">
                <a:solidFill>
                  <a:srgbClr val="AEF4BB"/>
                </a:solidFill>
                <a:latin typeface="Arial"/>
                <a:ea typeface="Arial"/>
                <a:cs typeface="Arial"/>
              </a:defRPr>
            </a:lvl5pPr>
            <a:lvl6pPr>
              <a:defRPr sz="2700" b="1">
                <a:solidFill>
                  <a:srgbClr val="AEF4BB"/>
                </a:solidFill>
                <a:latin typeface="Arial"/>
                <a:ea typeface="Arial"/>
                <a:cs typeface="Arial"/>
              </a:defRPr>
            </a:lvl6pPr>
            <a:lvl7pPr>
              <a:defRPr sz="2700" b="1">
                <a:solidFill>
                  <a:srgbClr val="AEF4BB"/>
                </a:solidFill>
                <a:latin typeface="Arial"/>
                <a:ea typeface="Arial"/>
                <a:cs typeface="Arial"/>
              </a:defRPr>
            </a:lvl7pPr>
            <a:lvl8pPr>
              <a:defRPr sz="2700" b="1">
                <a:solidFill>
                  <a:srgbClr val="AEF4BB"/>
                </a:solidFill>
                <a:latin typeface="Arial"/>
                <a:ea typeface="Arial"/>
                <a:cs typeface="Arial"/>
              </a:defRPr>
            </a:lvl8pPr>
            <a:lvl9pPr>
              <a:defRPr sz="2700" b="1">
                <a:solidFill>
                  <a:srgbClr val="AEF4BB"/>
                </a:solidFill>
                <a:latin typeface="Arial"/>
                <a:ea typeface="Arial"/>
                <a:cs typeface="Arial"/>
              </a:defRPr>
            </a:lvl9pPr>
          </a:lstStyle>
          <a:p xmlns:a="http://schemas.openxmlformats.org/drawingml/2006/main">
            <a:pPr>
              <a:defRPr sz="2700" b="1">
                <a:solidFill>
                  <a:srgbClr val="AEF4BB"/>
                </a:solidFill>
                <a:latin typeface="Arial"/>
                <a:ea typeface="Arial"/>
                <a:cs typeface="Arial"/>
              </a:defRPr>
            </a:pPr>
            <a:r>
              <a:rPr sz="2700" b="1">
                <a:solidFill>
                  <a:srgbClr val="AEF4BB"/>
                </a:solidFill>
                <a:latin typeface="Arial"/>
                <a:ea typeface="Arial"/>
                <a:cs typeface="Arial"/>
              </a:rPr>
              <a:t>Una aleta presenta una separación visible entre capas, aunque entra en el útil.</a:t>
            </a:r>
          </a:p>
        </p:txBody>
      </p:sp>
      <p:sp>
        <p:nvSpPr>
          <p:cNvPr id="5" name="">
            <a:extLst xmlns:a="http://schemas.openxmlformats.org/drawingml/2006/main">
              <a:ext uri="{FF2B5EF4-FFF2-40B4-BE49-F238E27FC236}">
                <a16:creationId xmlns:a16="http://schemas.microsoft.com/office/drawing/2014/main" id="{2BA21FC4-50EF-4EC7-97DB-CCE177B4F6E9}"/>
              </a:ext>
            </a:extLst>
          </p:cNvPr>
          <p:cNvSpPr>
            <a:spLocks xmlns:a="http://schemas.openxmlformats.org/drawingml/2006/main" noGrp="1"/>
          </p:cNvSpPr>
          <p:nvPr/>
        </p:nvSpPr>
        <p:spPr>
          <a:xfrm xmlns:a="http://schemas.openxmlformats.org/drawingml/2006/main">
            <a:off x="590550" y="4629150"/>
            <a:ext cx="10715625" cy="1162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250" b="0">
                <a:solidFill>
                  <a:srgbClr val="FCFCF8"/>
                </a:solidFill>
                <a:latin typeface="Arial"/>
                <a:ea typeface="Arial"/>
                <a:cs typeface="Arial"/>
              </a:defRPr>
            </a:defPPr>
            <a:lvl1pPr>
              <a:defRPr sz="2250" b="0">
                <a:solidFill>
                  <a:srgbClr val="FCFCF8"/>
                </a:solidFill>
                <a:latin typeface="Arial"/>
                <a:ea typeface="Arial"/>
                <a:cs typeface="Arial"/>
              </a:defRPr>
            </a:lvl1pPr>
            <a:lvl2pPr>
              <a:defRPr sz="2250" b="0">
                <a:solidFill>
                  <a:srgbClr val="FCFCF8"/>
                </a:solidFill>
                <a:latin typeface="Arial"/>
                <a:ea typeface="Arial"/>
                <a:cs typeface="Arial"/>
              </a:defRPr>
            </a:lvl2pPr>
            <a:lvl3pPr>
              <a:defRPr sz="2250" b="0">
                <a:solidFill>
                  <a:srgbClr val="FCFCF8"/>
                </a:solidFill>
                <a:latin typeface="Arial"/>
                <a:ea typeface="Arial"/>
                <a:cs typeface="Arial"/>
              </a:defRPr>
            </a:lvl3pPr>
            <a:lvl4pPr>
              <a:defRPr sz="2250" b="0">
                <a:solidFill>
                  <a:srgbClr val="FCFCF8"/>
                </a:solidFill>
                <a:latin typeface="Arial"/>
                <a:ea typeface="Arial"/>
                <a:cs typeface="Arial"/>
              </a:defRPr>
            </a:lvl4pPr>
            <a:lvl5pPr>
              <a:defRPr sz="2250" b="0">
                <a:solidFill>
                  <a:srgbClr val="FCFCF8"/>
                </a:solidFill>
                <a:latin typeface="Arial"/>
                <a:ea typeface="Arial"/>
                <a:cs typeface="Arial"/>
              </a:defRPr>
            </a:lvl5pPr>
            <a:lvl6pPr>
              <a:defRPr sz="2250" b="0">
                <a:solidFill>
                  <a:srgbClr val="FCFCF8"/>
                </a:solidFill>
                <a:latin typeface="Arial"/>
                <a:ea typeface="Arial"/>
                <a:cs typeface="Arial"/>
              </a:defRPr>
            </a:lvl6pPr>
            <a:lvl7pPr>
              <a:defRPr sz="2250" b="0">
                <a:solidFill>
                  <a:srgbClr val="FCFCF8"/>
                </a:solidFill>
                <a:latin typeface="Arial"/>
                <a:ea typeface="Arial"/>
                <a:cs typeface="Arial"/>
              </a:defRPr>
            </a:lvl7pPr>
            <a:lvl8pPr>
              <a:defRPr sz="2250" b="0">
                <a:solidFill>
                  <a:srgbClr val="FCFCF8"/>
                </a:solidFill>
                <a:latin typeface="Arial"/>
                <a:ea typeface="Arial"/>
                <a:cs typeface="Arial"/>
              </a:defRPr>
            </a:lvl8pPr>
            <a:lvl9pPr>
              <a:defRPr sz="2250" b="0">
                <a:solidFill>
                  <a:srgbClr val="FCFCF8"/>
                </a:solidFill>
                <a:latin typeface="Arial"/>
                <a:ea typeface="Arial"/>
                <a:cs typeface="Arial"/>
              </a:defRPr>
            </a:lvl9pPr>
          </a:lstStyle>
          <a:p xmlns:a="http://schemas.openxmlformats.org/drawingml/2006/main">
            <a:pPr>
              <a:defRPr sz="2250" b="0">
                <a:solidFill>
                  <a:srgbClr val="FCFCF8"/>
                </a:solidFill>
                <a:latin typeface="Arial"/>
                <a:ea typeface="Arial"/>
                <a:cs typeface="Arial"/>
              </a:defRPr>
            </a:pPr>
            <a:r>
              <a:rPr sz="2250" b="0">
                <a:solidFill>
                  <a:srgbClr val="FCFCF8"/>
                </a:solidFill>
                <a:latin typeface="Arial"/>
                <a:ea typeface="Arial"/>
                <a:cs typeface="Arial"/>
              </a:rPr>
              <a:t>¿Qué queda preparado para estudiar estabilidad?</a:t>
            </a:r>
          </a:p>
        </p:txBody>
      </p:sp>
    </p:spTree>
    <p:extLst>
      <p:ext uri="{BB962C8B-B14F-4D97-AF65-F5344CB8AC3E}">
        <p14:creationId xmlns:p14="http://schemas.microsoft.com/office/powerpoint/2010/main" val="1054638990"/>
      </p:ext>
    </p:extLst>
  </p:cSld>
</p:sld>
</file>

<file path=ppt/slides/slide44.xml><?xml version="1.0" encoding="utf-8"?>
<p:sld xmlns:p="http://schemas.openxmlformats.org/presentationml/2006/main">
  <p:cSld>
    <p:bg>
      <p:bgPr>
        <a:solidFill xmlns:a="http://schemas.openxmlformats.org/drawingml/2006/main">
          <a:srgbClr val="FCFCF8"/>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F23202CF-B584-4254-95E2-852C96F7A819}"/>
              </a:ext>
            </a:extLst>
          </p:cNvPr>
          <p:cNvSpPr>
            <a:spLocks xmlns:a="http://schemas.openxmlformats.org/drawingml/2006/main" noGrp="1"/>
          </p:cNvSpPr>
          <p:nvPr/>
        </p:nvSpPr>
        <p:spPr>
          <a:xfrm xmlns:a="http://schemas.openxmlformats.org/drawingml/2006/main">
            <a:off x="590550" y="428625"/>
            <a:ext cx="100965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75" b="1">
                <a:solidFill>
                  <a:srgbClr val="14231E"/>
                </a:solidFill>
                <a:latin typeface="Arial Narrow"/>
                <a:ea typeface="Arial Narrow"/>
                <a:cs typeface="Arial Narrow"/>
              </a:defRPr>
            </a:defPPr>
            <a:lvl1pPr>
              <a:defRPr sz="3375" b="1">
                <a:solidFill>
                  <a:srgbClr val="14231E"/>
                </a:solidFill>
                <a:latin typeface="Arial Narrow"/>
                <a:ea typeface="Arial Narrow"/>
                <a:cs typeface="Arial Narrow"/>
              </a:defRPr>
            </a:lvl1pPr>
            <a:lvl2pPr>
              <a:defRPr sz="3375" b="1">
                <a:solidFill>
                  <a:srgbClr val="14231E"/>
                </a:solidFill>
                <a:latin typeface="Arial Narrow"/>
                <a:ea typeface="Arial Narrow"/>
                <a:cs typeface="Arial Narrow"/>
              </a:defRPr>
            </a:lvl2pPr>
            <a:lvl3pPr>
              <a:defRPr sz="3375" b="1">
                <a:solidFill>
                  <a:srgbClr val="14231E"/>
                </a:solidFill>
                <a:latin typeface="Arial Narrow"/>
                <a:ea typeface="Arial Narrow"/>
                <a:cs typeface="Arial Narrow"/>
              </a:defRPr>
            </a:lvl3pPr>
            <a:lvl4pPr>
              <a:defRPr sz="3375" b="1">
                <a:solidFill>
                  <a:srgbClr val="14231E"/>
                </a:solidFill>
                <a:latin typeface="Arial Narrow"/>
                <a:ea typeface="Arial Narrow"/>
                <a:cs typeface="Arial Narrow"/>
              </a:defRPr>
            </a:lvl4pPr>
            <a:lvl5pPr>
              <a:defRPr sz="3375" b="1">
                <a:solidFill>
                  <a:srgbClr val="14231E"/>
                </a:solidFill>
                <a:latin typeface="Arial Narrow"/>
                <a:ea typeface="Arial Narrow"/>
                <a:cs typeface="Arial Narrow"/>
              </a:defRPr>
            </a:lvl5pPr>
            <a:lvl6pPr>
              <a:defRPr sz="3375" b="1">
                <a:solidFill>
                  <a:srgbClr val="14231E"/>
                </a:solidFill>
                <a:latin typeface="Arial Narrow"/>
                <a:ea typeface="Arial Narrow"/>
                <a:cs typeface="Arial Narrow"/>
              </a:defRPr>
            </a:lvl6pPr>
            <a:lvl7pPr>
              <a:defRPr sz="3375" b="1">
                <a:solidFill>
                  <a:srgbClr val="14231E"/>
                </a:solidFill>
                <a:latin typeface="Arial Narrow"/>
                <a:ea typeface="Arial Narrow"/>
                <a:cs typeface="Arial Narrow"/>
              </a:defRPr>
            </a:lvl7pPr>
            <a:lvl8pPr>
              <a:defRPr sz="3375" b="1">
                <a:solidFill>
                  <a:srgbClr val="14231E"/>
                </a:solidFill>
                <a:latin typeface="Arial Narrow"/>
                <a:ea typeface="Arial Narrow"/>
                <a:cs typeface="Arial Narrow"/>
              </a:defRPr>
            </a:lvl8pPr>
            <a:lvl9pPr>
              <a:defRPr sz="3375" b="1">
                <a:solidFill>
                  <a:srgbClr val="14231E"/>
                </a:solidFill>
                <a:latin typeface="Arial Narrow"/>
                <a:ea typeface="Arial Narrow"/>
                <a:cs typeface="Arial Narrow"/>
              </a:defRPr>
            </a:lvl9pPr>
          </a:lstStyle>
          <a:p xmlns:a="http://schemas.openxmlformats.org/drawingml/2006/main">
            <a:pPr>
              <a:defRPr sz="3375" b="1">
                <a:solidFill>
                  <a:srgbClr val="14231E"/>
                </a:solidFill>
                <a:latin typeface="Arial Narrow"/>
                <a:ea typeface="Arial Narrow"/>
                <a:cs typeface="Arial Narrow"/>
              </a:defRPr>
            </a:pPr>
            <a:r>
              <a:rPr sz="3375" b="1">
                <a:solidFill>
                  <a:srgbClr val="14231E"/>
                </a:solidFill>
                <a:latin typeface="Arial Narrow"/>
                <a:ea typeface="Arial Narrow"/>
                <a:cs typeface="Arial Narrow"/>
              </a:rPr>
              <a:t>Trabajo guiado del equipo</a:t>
            </a:r>
          </a:p>
        </p:txBody>
      </p:sp>
      <p:pic>
        <p:nvPicPr>
          <p:cNvPr id="2" name="">
            <a:extLst xmlns:a="http://schemas.openxmlformats.org/drawingml/2006/main">
              <a:ext uri="{FF2B5EF4-FFF2-40B4-BE49-F238E27FC236}">
                <a16:creationId xmlns:a16="http://schemas.microsoft.com/office/drawing/2014/main" id="{C2E0A26E-3848-40FC-90D7-F4BC58554CDF}"/>
              </a:ext>
            </a:extLst>
          </p:cNvPr>
          <p:cNvPicPr>
            <a:picLocks xmlns:a="http://schemas.openxmlformats.org/drawingml/2006/main" noChangeAspect="1"/>
          </p:cNvPicPr>
          <p:nvPr/>
        </p:nvPicPr>
        <p:blipFill>
          <a:blip xmlns:r="http://schemas.openxmlformats.org/officeDocument/2006/relationships" xmlns:a="http://schemas.openxmlformats.org/drawingml/2006/main" r:embed="R7ddc1521e97e48c4"/>
          <a:stretch xmlns:a="http://schemas.openxmlformats.org/drawingml/2006/main"/>
        </p:blipFill>
        <p:spPr>
          <a:xfrm xmlns:a="http://schemas.openxmlformats.org/drawingml/2006/main">
            <a:off x="10858500" y="337942"/>
            <a:ext cx="762000" cy="276616"/>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D17BED36-3250-4D26-82E4-727F0A9794A4}"/>
              </a:ext>
            </a:extLst>
          </p:cNvPr>
          <p:cNvSpPr>
            <a:spLocks xmlns:a="http://schemas.openxmlformats.org/drawingml/2006/main" noGrp="1"/>
          </p:cNvSpPr>
          <p:nvPr/>
        </p:nvSpPr>
        <p:spPr>
          <a:xfrm xmlns:a="http://schemas.openxmlformats.org/drawingml/2006/main">
            <a:off x="590550" y="6467475"/>
            <a:ext cx="108108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58665F"/>
                </a:solidFill>
                <a:latin typeface="Consolas"/>
                <a:ea typeface="Consolas"/>
                <a:cs typeface="Consolas"/>
              </a:defRPr>
            </a:defPPr>
            <a:lvl1pPr>
              <a:defRPr sz="1125" b="0">
                <a:solidFill>
                  <a:srgbClr val="58665F"/>
                </a:solidFill>
                <a:latin typeface="Consolas"/>
                <a:ea typeface="Consolas"/>
                <a:cs typeface="Consolas"/>
              </a:defRPr>
            </a:lvl1pPr>
            <a:lvl2pPr>
              <a:defRPr sz="1125" b="0">
                <a:solidFill>
                  <a:srgbClr val="58665F"/>
                </a:solidFill>
                <a:latin typeface="Consolas"/>
                <a:ea typeface="Consolas"/>
                <a:cs typeface="Consolas"/>
              </a:defRPr>
            </a:lvl2pPr>
            <a:lvl3pPr>
              <a:defRPr sz="1125" b="0">
                <a:solidFill>
                  <a:srgbClr val="58665F"/>
                </a:solidFill>
                <a:latin typeface="Consolas"/>
                <a:ea typeface="Consolas"/>
                <a:cs typeface="Consolas"/>
              </a:defRPr>
            </a:lvl3pPr>
            <a:lvl4pPr>
              <a:defRPr sz="1125" b="0">
                <a:solidFill>
                  <a:srgbClr val="58665F"/>
                </a:solidFill>
                <a:latin typeface="Consolas"/>
                <a:ea typeface="Consolas"/>
                <a:cs typeface="Consolas"/>
              </a:defRPr>
            </a:lvl4pPr>
            <a:lvl5pPr>
              <a:defRPr sz="1125" b="0">
                <a:solidFill>
                  <a:srgbClr val="58665F"/>
                </a:solidFill>
                <a:latin typeface="Consolas"/>
                <a:ea typeface="Consolas"/>
                <a:cs typeface="Consolas"/>
              </a:defRPr>
            </a:lvl5pPr>
            <a:lvl6pPr>
              <a:defRPr sz="1125" b="0">
                <a:solidFill>
                  <a:srgbClr val="58665F"/>
                </a:solidFill>
                <a:latin typeface="Consolas"/>
                <a:ea typeface="Consolas"/>
                <a:cs typeface="Consolas"/>
              </a:defRPr>
            </a:lvl6pPr>
            <a:lvl7pPr>
              <a:defRPr sz="1125" b="0">
                <a:solidFill>
                  <a:srgbClr val="58665F"/>
                </a:solidFill>
                <a:latin typeface="Consolas"/>
                <a:ea typeface="Consolas"/>
                <a:cs typeface="Consolas"/>
              </a:defRPr>
            </a:lvl7pPr>
            <a:lvl8pPr>
              <a:defRPr sz="1125" b="0">
                <a:solidFill>
                  <a:srgbClr val="58665F"/>
                </a:solidFill>
                <a:latin typeface="Consolas"/>
                <a:ea typeface="Consolas"/>
                <a:cs typeface="Consolas"/>
              </a:defRPr>
            </a:lvl8pPr>
            <a:lvl9pPr>
              <a:defRPr sz="1125" b="0">
                <a:solidFill>
                  <a:srgbClr val="58665F"/>
                </a:solidFill>
                <a:latin typeface="Consolas"/>
                <a:ea typeface="Consolas"/>
                <a:cs typeface="Consolas"/>
              </a:defRPr>
            </a:lvl9pPr>
          </a:lstStyle>
          <a:p xmlns:a="http://schemas.openxmlformats.org/drawingml/2006/main">
            <a:pPr>
              <a:defRPr sz="1125" b="0">
                <a:solidFill>
                  <a:srgbClr val="58665F"/>
                </a:solidFill>
                <a:latin typeface="Consolas"/>
                <a:ea typeface="Consolas"/>
                <a:cs typeface="Consolas"/>
              </a:defRPr>
            </a:pPr>
            <a:r>
              <a:rPr sz="1125" b="0">
                <a:solidFill>
                  <a:srgbClr val="58665F"/>
                </a:solidFill>
                <a:latin typeface="Consolas"/>
                <a:ea typeface="Consolas"/>
                <a:cs typeface="Consolas"/>
              </a:rPr>
              <a:t>MECRO   SEMANA 3   CLASE 06   20/24</a:t>
            </a:r>
          </a:p>
        </p:txBody>
      </p:sp>
      <p:sp>
        <p:nvSpPr>
          <p:cNvPr id="4" name="">
            <a:extLst xmlns:a="http://schemas.openxmlformats.org/drawingml/2006/main">
              <a:ext uri="{FF2B5EF4-FFF2-40B4-BE49-F238E27FC236}">
                <a16:creationId xmlns:a16="http://schemas.microsoft.com/office/drawing/2014/main" id="{8D7B2C28-C1B2-49E8-9AD9-D75DE1B830B7}"/>
              </a:ext>
            </a:extLst>
          </p:cNvPr>
          <p:cNvSpPr>
            <a:spLocks xmlns:a="http://schemas.openxmlformats.org/drawingml/2006/main" noGrp="1"/>
          </p:cNvSpPr>
          <p:nvPr/>
        </p:nvSpPr>
        <p:spPr>
          <a:xfrm xmlns:a="http://schemas.openxmlformats.org/drawingml/2006/main">
            <a:off x="590550" y="1743075"/>
            <a:ext cx="10810875" cy="425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250" b="0">
                <a:solidFill>
                  <a:srgbClr val="14231E"/>
                </a:solidFill>
                <a:latin typeface="Arial"/>
                <a:ea typeface="Arial"/>
                <a:cs typeface="Arial"/>
              </a:defRPr>
            </a:defPPr>
            <a:lvl1pPr>
              <a:defRPr sz="2250" b="0">
                <a:solidFill>
                  <a:srgbClr val="14231E"/>
                </a:solidFill>
                <a:latin typeface="Arial"/>
                <a:ea typeface="Arial"/>
                <a:cs typeface="Arial"/>
              </a:defRPr>
            </a:lvl1pPr>
            <a:lvl2pPr>
              <a:defRPr sz="2250" b="0">
                <a:solidFill>
                  <a:srgbClr val="14231E"/>
                </a:solidFill>
                <a:latin typeface="Arial"/>
                <a:ea typeface="Arial"/>
                <a:cs typeface="Arial"/>
              </a:defRPr>
            </a:lvl2pPr>
            <a:lvl3pPr>
              <a:defRPr sz="2250" b="0">
                <a:solidFill>
                  <a:srgbClr val="14231E"/>
                </a:solidFill>
                <a:latin typeface="Arial"/>
                <a:ea typeface="Arial"/>
                <a:cs typeface="Arial"/>
              </a:defRPr>
            </a:lvl3pPr>
            <a:lvl4pPr>
              <a:defRPr sz="2250" b="0">
                <a:solidFill>
                  <a:srgbClr val="14231E"/>
                </a:solidFill>
                <a:latin typeface="Arial"/>
                <a:ea typeface="Arial"/>
                <a:cs typeface="Arial"/>
              </a:defRPr>
            </a:lvl4pPr>
            <a:lvl5pPr>
              <a:defRPr sz="2250" b="0">
                <a:solidFill>
                  <a:srgbClr val="14231E"/>
                </a:solidFill>
                <a:latin typeface="Arial"/>
                <a:ea typeface="Arial"/>
                <a:cs typeface="Arial"/>
              </a:defRPr>
            </a:lvl5pPr>
            <a:lvl6pPr>
              <a:defRPr sz="2250" b="0">
                <a:solidFill>
                  <a:srgbClr val="14231E"/>
                </a:solidFill>
                <a:latin typeface="Arial"/>
                <a:ea typeface="Arial"/>
                <a:cs typeface="Arial"/>
              </a:defRPr>
            </a:lvl6pPr>
            <a:lvl7pPr>
              <a:defRPr sz="2250" b="0">
                <a:solidFill>
                  <a:srgbClr val="14231E"/>
                </a:solidFill>
                <a:latin typeface="Arial"/>
                <a:ea typeface="Arial"/>
                <a:cs typeface="Arial"/>
              </a:defRPr>
            </a:lvl7pPr>
            <a:lvl8pPr>
              <a:defRPr sz="2250" b="0">
                <a:solidFill>
                  <a:srgbClr val="14231E"/>
                </a:solidFill>
                <a:latin typeface="Arial"/>
                <a:ea typeface="Arial"/>
                <a:cs typeface="Arial"/>
              </a:defRPr>
            </a:lvl8pPr>
            <a:lvl9pPr>
              <a:defRPr sz="2250" b="0">
                <a:solidFill>
                  <a:srgbClr val="14231E"/>
                </a:solidFill>
                <a:latin typeface="Arial"/>
                <a:ea typeface="Arial"/>
                <a:cs typeface="Arial"/>
              </a:defRPr>
            </a:lvl9pPr>
          </a:lstStyle>
          <a:p xmlns:a="http://schemas.openxmlformats.org/drawingml/2006/main">
            <a:pPr>
              <a:defRPr sz="2250" b="0">
                <a:solidFill>
                  <a:srgbClr val="14231E"/>
                </a:solidFill>
                <a:latin typeface="Arial"/>
                <a:ea typeface="Arial"/>
                <a:cs typeface="Arial"/>
              </a:defRPr>
            </a:pPr>
            <a:r>
              <a:rPr sz="2250" b="0">
                <a:solidFill>
                  <a:srgbClr val="14231E"/>
                </a:solidFill>
                <a:latin typeface="Arial"/>
                <a:ea typeface="Arial"/>
                <a:cs typeface="Arial"/>
              </a:rPr>
              <a:t>1. Preparar las dos estaciones y rotar roles.</a:t>
            </a:r>
          </a:p>
          <a:p xmlns:a="http://schemas.openxmlformats.org/drawingml/2006/main">
            <a:r>
              <a:t/>
            </a:r>
          </a:p>
          <a:p xmlns:a="http://schemas.openxmlformats.org/drawingml/2006/main">
            <a:pPr>
              <a:defRPr sz="2250" b="0">
                <a:solidFill>
                  <a:srgbClr val="14231E"/>
                </a:solidFill>
                <a:latin typeface="Arial"/>
                <a:ea typeface="Arial"/>
                <a:cs typeface="Arial"/>
              </a:defRPr>
            </a:pPr>
            <a:r>
              <a:rPr sz="2250" b="0">
                <a:solidFill>
                  <a:srgbClr val="14231E"/>
                </a:solidFill>
                <a:latin typeface="Arial"/>
                <a:ea typeface="Arial"/>
                <a:cs typeface="Arial"/>
              </a:rPr>
              <a:t>2. Medir y registrar interfaces antes de corregirlas.</a:t>
            </a:r>
          </a:p>
          <a:p xmlns:a="http://schemas.openxmlformats.org/drawingml/2006/main">
            <a:r>
              <a:t/>
            </a:r>
          </a:p>
          <a:p xmlns:a="http://schemas.openxmlformats.org/drawingml/2006/main">
            <a:pPr>
              <a:defRPr sz="2250" b="0">
                <a:solidFill>
                  <a:srgbClr val="14231E"/>
                </a:solidFill>
                <a:latin typeface="Arial"/>
                <a:ea typeface="Arial"/>
                <a:cs typeface="Arial"/>
              </a:defRPr>
            </a:pPr>
            <a:r>
              <a:rPr sz="2250" b="0">
                <a:solidFill>
                  <a:srgbClr val="14231E"/>
                </a:solidFill>
                <a:latin typeface="Arial"/>
                <a:ea typeface="Arial"/>
                <a:cs typeface="Arial"/>
              </a:rPr>
              <a:t>3. Presentar nariz, cuerpo y aletas sin montaje definitivo.</a:t>
            </a:r>
          </a:p>
          <a:p xmlns:a="http://schemas.openxmlformats.org/drawingml/2006/main">
            <a:r>
              <a:t/>
            </a:r>
          </a:p>
          <a:p xmlns:a="http://schemas.openxmlformats.org/drawingml/2006/main">
            <a:pPr>
              <a:defRPr sz="2250" b="0">
                <a:solidFill>
                  <a:srgbClr val="14231E"/>
                </a:solidFill>
                <a:latin typeface="Arial"/>
                <a:ea typeface="Arial"/>
                <a:cs typeface="Arial"/>
              </a:defRPr>
            </a:pPr>
            <a:r>
              <a:rPr sz="2250" b="0">
                <a:solidFill>
                  <a:srgbClr val="14231E"/>
                </a:solidFill>
                <a:latin typeface="Arial"/>
                <a:ea typeface="Arial"/>
                <a:cs typeface="Arial"/>
              </a:rPr>
              <a:t>4. Actualizar archivos y acordar una comprobación por pendiente.</a:t>
            </a:r>
          </a:p>
        </p:txBody>
      </p:sp>
    </p:spTree>
    <p:extLst>
      <p:ext uri="{BB962C8B-B14F-4D97-AF65-F5344CB8AC3E}">
        <p14:creationId xmlns:p14="http://schemas.microsoft.com/office/powerpoint/2010/main" val="1258333833"/>
      </p:ext>
    </p:extLst>
  </p:cSld>
</p:sld>
</file>

<file path=ppt/slides/slide45.xml><?xml version="1.0" encoding="utf-8"?>
<p:sld xmlns:p="http://schemas.openxmlformats.org/presentationml/2006/main">
  <p:cSld>
    <p:bg>
      <p:bgPr>
        <a:solidFill xmlns:a="http://schemas.openxmlformats.org/drawingml/2006/main">
          <a:srgbClr val="090F10"/>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FDE477FD-DC96-41C6-A9E4-06137C7C8F12}"/>
              </a:ext>
            </a:extLst>
          </p:cNvPr>
          <p:cNvSpPr>
            <a:spLocks xmlns:a="http://schemas.openxmlformats.org/drawingml/2006/main" noGrp="1"/>
          </p:cNvSpPr>
          <p:nvPr/>
        </p:nvSpPr>
        <p:spPr>
          <a:xfrm xmlns:a="http://schemas.openxmlformats.org/drawingml/2006/main">
            <a:off x="590550" y="428625"/>
            <a:ext cx="100965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75" b="1">
                <a:solidFill>
                  <a:srgbClr val="FCFCF8"/>
                </a:solidFill>
                <a:latin typeface="Arial Narrow"/>
                <a:ea typeface="Arial Narrow"/>
                <a:cs typeface="Arial Narrow"/>
              </a:defRPr>
            </a:defPPr>
            <a:lvl1pPr>
              <a:defRPr sz="3375" b="1">
                <a:solidFill>
                  <a:srgbClr val="FCFCF8"/>
                </a:solidFill>
                <a:latin typeface="Arial Narrow"/>
                <a:ea typeface="Arial Narrow"/>
                <a:cs typeface="Arial Narrow"/>
              </a:defRPr>
            </a:lvl1pPr>
            <a:lvl2pPr>
              <a:defRPr sz="3375" b="1">
                <a:solidFill>
                  <a:srgbClr val="FCFCF8"/>
                </a:solidFill>
                <a:latin typeface="Arial Narrow"/>
                <a:ea typeface="Arial Narrow"/>
                <a:cs typeface="Arial Narrow"/>
              </a:defRPr>
            </a:lvl2pPr>
            <a:lvl3pPr>
              <a:defRPr sz="3375" b="1">
                <a:solidFill>
                  <a:srgbClr val="FCFCF8"/>
                </a:solidFill>
                <a:latin typeface="Arial Narrow"/>
                <a:ea typeface="Arial Narrow"/>
                <a:cs typeface="Arial Narrow"/>
              </a:defRPr>
            </a:lvl3pPr>
            <a:lvl4pPr>
              <a:defRPr sz="3375" b="1">
                <a:solidFill>
                  <a:srgbClr val="FCFCF8"/>
                </a:solidFill>
                <a:latin typeface="Arial Narrow"/>
                <a:ea typeface="Arial Narrow"/>
                <a:cs typeface="Arial Narrow"/>
              </a:defRPr>
            </a:lvl4pPr>
            <a:lvl5pPr>
              <a:defRPr sz="3375" b="1">
                <a:solidFill>
                  <a:srgbClr val="FCFCF8"/>
                </a:solidFill>
                <a:latin typeface="Arial Narrow"/>
                <a:ea typeface="Arial Narrow"/>
                <a:cs typeface="Arial Narrow"/>
              </a:defRPr>
            </a:lvl5pPr>
            <a:lvl6pPr>
              <a:defRPr sz="3375" b="1">
                <a:solidFill>
                  <a:srgbClr val="FCFCF8"/>
                </a:solidFill>
                <a:latin typeface="Arial Narrow"/>
                <a:ea typeface="Arial Narrow"/>
                <a:cs typeface="Arial Narrow"/>
              </a:defRPr>
            </a:lvl6pPr>
            <a:lvl7pPr>
              <a:defRPr sz="3375" b="1">
                <a:solidFill>
                  <a:srgbClr val="FCFCF8"/>
                </a:solidFill>
                <a:latin typeface="Arial Narrow"/>
                <a:ea typeface="Arial Narrow"/>
                <a:cs typeface="Arial Narrow"/>
              </a:defRPr>
            </a:lvl7pPr>
            <a:lvl8pPr>
              <a:defRPr sz="3375" b="1">
                <a:solidFill>
                  <a:srgbClr val="FCFCF8"/>
                </a:solidFill>
                <a:latin typeface="Arial Narrow"/>
                <a:ea typeface="Arial Narrow"/>
                <a:cs typeface="Arial Narrow"/>
              </a:defRPr>
            </a:lvl8pPr>
            <a:lvl9pPr>
              <a:defRPr sz="3375" b="1">
                <a:solidFill>
                  <a:srgbClr val="FCFCF8"/>
                </a:solidFill>
                <a:latin typeface="Arial Narrow"/>
                <a:ea typeface="Arial Narrow"/>
                <a:cs typeface="Arial Narrow"/>
              </a:defRPr>
            </a:lvl9pPr>
          </a:lstStyle>
          <a:p xmlns:a="http://schemas.openxmlformats.org/drawingml/2006/main">
            <a:pPr>
              <a:defRPr sz="3375" b="1">
                <a:solidFill>
                  <a:srgbClr val="FCFCF8"/>
                </a:solidFill>
                <a:latin typeface="Arial Narrow"/>
                <a:ea typeface="Arial Narrow"/>
                <a:cs typeface="Arial Narrow"/>
              </a:defRPr>
            </a:pPr>
            <a:r>
              <a:rPr sz="3375" b="1">
                <a:solidFill>
                  <a:srgbClr val="FCFCF8"/>
                </a:solidFill>
                <a:latin typeface="Arial Narrow"/>
                <a:ea typeface="Arial Narrow"/>
                <a:cs typeface="Arial Narrow"/>
              </a:rPr>
              <a:t>Decisión según la misión</a:t>
            </a:r>
          </a:p>
        </p:txBody>
      </p:sp>
      <p:pic>
        <p:nvPicPr>
          <p:cNvPr id="2" name="">
            <a:extLst xmlns:a="http://schemas.openxmlformats.org/drawingml/2006/main">
              <a:ext uri="{FF2B5EF4-FFF2-40B4-BE49-F238E27FC236}">
                <a16:creationId xmlns:a16="http://schemas.microsoft.com/office/drawing/2014/main" id="{57149469-A696-4CAD-BA0B-81914DF2C61D}"/>
              </a:ext>
            </a:extLst>
          </p:cNvPr>
          <p:cNvPicPr>
            <a:picLocks xmlns:a="http://schemas.openxmlformats.org/drawingml/2006/main" noChangeAspect="1"/>
          </p:cNvPicPr>
          <p:nvPr/>
        </p:nvPicPr>
        <p:blipFill>
          <a:blip xmlns:r="http://schemas.openxmlformats.org/officeDocument/2006/relationships" xmlns:a="http://schemas.openxmlformats.org/drawingml/2006/main" r:embed="R5648a6fd55eb45b4"/>
          <a:stretch xmlns:a="http://schemas.openxmlformats.org/drawingml/2006/main"/>
        </p:blipFill>
        <p:spPr>
          <a:xfrm xmlns:a="http://schemas.openxmlformats.org/drawingml/2006/main">
            <a:off x="10858500" y="337942"/>
            <a:ext cx="762000" cy="276616"/>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592DDFFE-F725-4B33-A174-0082A606D712}"/>
              </a:ext>
            </a:extLst>
          </p:cNvPr>
          <p:cNvSpPr>
            <a:spLocks xmlns:a="http://schemas.openxmlformats.org/drawingml/2006/main" noGrp="1"/>
          </p:cNvSpPr>
          <p:nvPr/>
        </p:nvSpPr>
        <p:spPr>
          <a:xfrm xmlns:a="http://schemas.openxmlformats.org/drawingml/2006/main">
            <a:off x="590550" y="6467475"/>
            <a:ext cx="108108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B8C8C1"/>
                </a:solidFill>
                <a:latin typeface="Consolas"/>
                <a:ea typeface="Consolas"/>
                <a:cs typeface="Consolas"/>
              </a:defRPr>
            </a:defPPr>
            <a:lvl1pPr>
              <a:defRPr sz="1125" b="0">
                <a:solidFill>
                  <a:srgbClr val="B8C8C1"/>
                </a:solidFill>
                <a:latin typeface="Consolas"/>
                <a:ea typeface="Consolas"/>
                <a:cs typeface="Consolas"/>
              </a:defRPr>
            </a:lvl1pPr>
            <a:lvl2pPr>
              <a:defRPr sz="1125" b="0">
                <a:solidFill>
                  <a:srgbClr val="B8C8C1"/>
                </a:solidFill>
                <a:latin typeface="Consolas"/>
                <a:ea typeface="Consolas"/>
                <a:cs typeface="Consolas"/>
              </a:defRPr>
            </a:lvl2pPr>
            <a:lvl3pPr>
              <a:defRPr sz="1125" b="0">
                <a:solidFill>
                  <a:srgbClr val="B8C8C1"/>
                </a:solidFill>
                <a:latin typeface="Consolas"/>
                <a:ea typeface="Consolas"/>
                <a:cs typeface="Consolas"/>
              </a:defRPr>
            </a:lvl3pPr>
            <a:lvl4pPr>
              <a:defRPr sz="1125" b="0">
                <a:solidFill>
                  <a:srgbClr val="B8C8C1"/>
                </a:solidFill>
                <a:latin typeface="Consolas"/>
                <a:ea typeface="Consolas"/>
                <a:cs typeface="Consolas"/>
              </a:defRPr>
            </a:lvl4pPr>
            <a:lvl5pPr>
              <a:defRPr sz="1125" b="0">
                <a:solidFill>
                  <a:srgbClr val="B8C8C1"/>
                </a:solidFill>
                <a:latin typeface="Consolas"/>
                <a:ea typeface="Consolas"/>
                <a:cs typeface="Consolas"/>
              </a:defRPr>
            </a:lvl5pPr>
            <a:lvl6pPr>
              <a:defRPr sz="1125" b="0">
                <a:solidFill>
                  <a:srgbClr val="B8C8C1"/>
                </a:solidFill>
                <a:latin typeface="Consolas"/>
                <a:ea typeface="Consolas"/>
                <a:cs typeface="Consolas"/>
              </a:defRPr>
            </a:lvl6pPr>
            <a:lvl7pPr>
              <a:defRPr sz="1125" b="0">
                <a:solidFill>
                  <a:srgbClr val="B8C8C1"/>
                </a:solidFill>
                <a:latin typeface="Consolas"/>
                <a:ea typeface="Consolas"/>
                <a:cs typeface="Consolas"/>
              </a:defRPr>
            </a:lvl7pPr>
            <a:lvl8pPr>
              <a:defRPr sz="1125" b="0">
                <a:solidFill>
                  <a:srgbClr val="B8C8C1"/>
                </a:solidFill>
                <a:latin typeface="Consolas"/>
                <a:ea typeface="Consolas"/>
                <a:cs typeface="Consolas"/>
              </a:defRPr>
            </a:lvl8pPr>
            <a:lvl9pPr>
              <a:defRPr sz="1125" b="0">
                <a:solidFill>
                  <a:srgbClr val="B8C8C1"/>
                </a:solidFill>
                <a:latin typeface="Consolas"/>
                <a:ea typeface="Consolas"/>
                <a:cs typeface="Consolas"/>
              </a:defRPr>
            </a:lvl9pPr>
          </a:lstStyle>
          <a:p xmlns:a="http://schemas.openxmlformats.org/drawingml/2006/main">
            <a:pPr>
              <a:defRPr sz="1125" b="0">
                <a:solidFill>
                  <a:srgbClr val="B8C8C1"/>
                </a:solidFill>
                <a:latin typeface="Consolas"/>
                <a:ea typeface="Consolas"/>
                <a:cs typeface="Consolas"/>
              </a:defRPr>
            </a:pPr>
            <a:r>
              <a:rPr sz="1125" b="0">
                <a:solidFill>
                  <a:srgbClr val="B8C8C1"/>
                </a:solidFill>
                <a:latin typeface="Consolas"/>
                <a:ea typeface="Consolas"/>
                <a:cs typeface="Consolas"/>
              </a:rPr>
              <a:t>MECRO   SEMANA 3   CLASE 06   21/24</a:t>
            </a:r>
          </a:p>
        </p:txBody>
      </p:sp>
      <p:sp>
        <p:nvSpPr>
          <p:cNvPr id="4" name="">
            <a:extLst xmlns:a="http://schemas.openxmlformats.org/drawingml/2006/main">
              <a:ext uri="{FF2B5EF4-FFF2-40B4-BE49-F238E27FC236}">
                <a16:creationId xmlns:a16="http://schemas.microsoft.com/office/drawing/2014/main" id="{D4652187-E474-477C-8838-0396C3C505F8}"/>
              </a:ext>
            </a:extLst>
          </p:cNvPr>
          <p:cNvSpPr>
            <a:spLocks xmlns:a="http://schemas.openxmlformats.org/drawingml/2006/main" noGrp="1"/>
          </p:cNvSpPr>
          <p:nvPr/>
        </p:nvSpPr>
        <p:spPr>
          <a:xfrm xmlns:a="http://schemas.openxmlformats.org/drawingml/2006/main">
            <a:off x="590550" y="1771650"/>
            <a:ext cx="10715625"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775" b="1">
                <a:solidFill>
                  <a:srgbClr val="AEF4BB"/>
                </a:solidFill>
                <a:latin typeface="Arial"/>
                <a:ea typeface="Arial"/>
                <a:cs typeface="Arial"/>
              </a:defRPr>
            </a:defPPr>
            <a:lvl1pPr>
              <a:defRPr sz="2775" b="1">
                <a:solidFill>
                  <a:srgbClr val="AEF4BB"/>
                </a:solidFill>
                <a:latin typeface="Arial"/>
                <a:ea typeface="Arial"/>
                <a:cs typeface="Arial"/>
              </a:defRPr>
            </a:lvl1pPr>
            <a:lvl2pPr>
              <a:defRPr sz="2775" b="1">
                <a:solidFill>
                  <a:srgbClr val="AEF4BB"/>
                </a:solidFill>
                <a:latin typeface="Arial"/>
                <a:ea typeface="Arial"/>
                <a:cs typeface="Arial"/>
              </a:defRPr>
            </a:lvl2pPr>
            <a:lvl3pPr>
              <a:defRPr sz="2775" b="1">
                <a:solidFill>
                  <a:srgbClr val="AEF4BB"/>
                </a:solidFill>
                <a:latin typeface="Arial"/>
                <a:ea typeface="Arial"/>
                <a:cs typeface="Arial"/>
              </a:defRPr>
            </a:lvl3pPr>
            <a:lvl4pPr>
              <a:defRPr sz="2775" b="1">
                <a:solidFill>
                  <a:srgbClr val="AEF4BB"/>
                </a:solidFill>
                <a:latin typeface="Arial"/>
                <a:ea typeface="Arial"/>
                <a:cs typeface="Arial"/>
              </a:defRPr>
            </a:lvl4pPr>
            <a:lvl5pPr>
              <a:defRPr sz="2775" b="1">
                <a:solidFill>
                  <a:srgbClr val="AEF4BB"/>
                </a:solidFill>
                <a:latin typeface="Arial"/>
                <a:ea typeface="Arial"/>
                <a:cs typeface="Arial"/>
              </a:defRPr>
            </a:lvl5pPr>
            <a:lvl6pPr>
              <a:defRPr sz="2775" b="1">
                <a:solidFill>
                  <a:srgbClr val="AEF4BB"/>
                </a:solidFill>
                <a:latin typeface="Arial"/>
                <a:ea typeface="Arial"/>
                <a:cs typeface="Arial"/>
              </a:defRPr>
            </a:lvl6pPr>
            <a:lvl7pPr>
              <a:defRPr sz="2775" b="1">
                <a:solidFill>
                  <a:srgbClr val="AEF4BB"/>
                </a:solidFill>
                <a:latin typeface="Arial"/>
                <a:ea typeface="Arial"/>
                <a:cs typeface="Arial"/>
              </a:defRPr>
            </a:lvl7pPr>
            <a:lvl8pPr>
              <a:defRPr sz="2775" b="1">
                <a:solidFill>
                  <a:srgbClr val="AEF4BB"/>
                </a:solidFill>
                <a:latin typeface="Arial"/>
                <a:ea typeface="Arial"/>
                <a:cs typeface="Arial"/>
              </a:defRPr>
            </a:lvl8pPr>
            <a:lvl9pPr>
              <a:defRPr sz="2775" b="1">
                <a:solidFill>
                  <a:srgbClr val="AEF4BB"/>
                </a:solidFill>
                <a:latin typeface="Arial"/>
                <a:ea typeface="Arial"/>
                <a:cs typeface="Arial"/>
              </a:defRPr>
            </a:lvl9pPr>
          </a:lstStyle>
          <a:p xmlns:a="http://schemas.openxmlformats.org/drawingml/2006/main">
            <a:pPr>
              <a:defRPr sz="2775" b="1">
                <a:solidFill>
                  <a:srgbClr val="AEF4BB"/>
                </a:solidFill>
                <a:latin typeface="Arial"/>
                <a:ea typeface="Arial"/>
                <a:cs typeface="Arial"/>
              </a:defRPr>
            </a:pPr>
            <a:r>
              <a:rPr sz="2775" b="1">
                <a:solidFill>
                  <a:srgbClr val="AEF4BB"/>
                </a:solidFill>
                <a:latin typeface="Arial"/>
                <a:ea typeface="Arial"/>
                <a:cs typeface="Arial"/>
              </a:rPr>
              <a:t>Conseguir que las piezas fabricadas correspondan al plano y puedan presentarse juntas.</a:t>
            </a:r>
          </a:p>
        </p:txBody>
      </p:sp>
      <p:sp>
        <p:nvSpPr>
          <p:cNvPr id="5" name="">
            <a:extLst xmlns:a="http://schemas.openxmlformats.org/drawingml/2006/main">
              <a:ext uri="{FF2B5EF4-FFF2-40B4-BE49-F238E27FC236}">
                <a16:creationId xmlns:a16="http://schemas.microsoft.com/office/drawing/2014/main" id="{59EDC84A-F1E3-4C9D-892E-80D9162D3E09}"/>
              </a:ext>
            </a:extLst>
          </p:cNvPr>
          <p:cNvSpPr>
            <a:spLocks xmlns:a="http://schemas.openxmlformats.org/drawingml/2006/main" noGrp="1"/>
          </p:cNvSpPr>
          <p:nvPr/>
        </p:nvSpPr>
        <p:spPr>
          <a:xfrm xmlns:a="http://schemas.openxmlformats.org/drawingml/2006/main">
            <a:off x="590550" y="3638550"/>
            <a:ext cx="10715625"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625" b="0">
                <a:solidFill>
                  <a:srgbClr val="FCFCF8"/>
                </a:solidFill>
                <a:latin typeface="Arial"/>
                <a:ea typeface="Arial"/>
                <a:cs typeface="Arial"/>
              </a:defRPr>
            </a:defPPr>
            <a:lvl1pPr>
              <a:defRPr sz="2625" b="0">
                <a:solidFill>
                  <a:srgbClr val="FCFCF8"/>
                </a:solidFill>
                <a:latin typeface="Arial"/>
                <a:ea typeface="Arial"/>
                <a:cs typeface="Arial"/>
              </a:defRPr>
            </a:lvl1pPr>
            <a:lvl2pPr>
              <a:defRPr sz="2625" b="0">
                <a:solidFill>
                  <a:srgbClr val="FCFCF8"/>
                </a:solidFill>
                <a:latin typeface="Arial"/>
                <a:ea typeface="Arial"/>
                <a:cs typeface="Arial"/>
              </a:defRPr>
            </a:lvl2pPr>
            <a:lvl3pPr>
              <a:defRPr sz="2625" b="0">
                <a:solidFill>
                  <a:srgbClr val="FCFCF8"/>
                </a:solidFill>
                <a:latin typeface="Arial"/>
                <a:ea typeface="Arial"/>
                <a:cs typeface="Arial"/>
              </a:defRPr>
            </a:lvl3pPr>
            <a:lvl4pPr>
              <a:defRPr sz="2625" b="0">
                <a:solidFill>
                  <a:srgbClr val="FCFCF8"/>
                </a:solidFill>
                <a:latin typeface="Arial"/>
                <a:ea typeface="Arial"/>
                <a:cs typeface="Arial"/>
              </a:defRPr>
            </a:lvl4pPr>
            <a:lvl5pPr>
              <a:defRPr sz="2625" b="0">
                <a:solidFill>
                  <a:srgbClr val="FCFCF8"/>
                </a:solidFill>
                <a:latin typeface="Arial"/>
                <a:ea typeface="Arial"/>
                <a:cs typeface="Arial"/>
              </a:defRPr>
            </a:lvl5pPr>
            <a:lvl6pPr>
              <a:defRPr sz="2625" b="0">
                <a:solidFill>
                  <a:srgbClr val="FCFCF8"/>
                </a:solidFill>
                <a:latin typeface="Arial"/>
                <a:ea typeface="Arial"/>
                <a:cs typeface="Arial"/>
              </a:defRPr>
            </a:lvl6pPr>
            <a:lvl7pPr>
              <a:defRPr sz="2625" b="0">
                <a:solidFill>
                  <a:srgbClr val="FCFCF8"/>
                </a:solidFill>
                <a:latin typeface="Arial"/>
                <a:ea typeface="Arial"/>
                <a:cs typeface="Arial"/>
              </a:defRPr>
            </a:lvl7pPr>
            <a:lvl8pPr>
              <a:defRPr sz="2625" b="0">
                <a:solidFill>
                  <a:srgbClr val="FCFCF8"/>
                </a:solidFill>
                <a:latin typeface="Arial"/>
                <a:ea typeface="Arial"/>
                <a:cs typeface="Arial"/>
              </a:defRPr>
            </a:lvl8pPr>
            <a:lvl9pPr>
              <a:defRPr sz="2625" b="0">
                <a:solidFill>
                  <a:srgbClr val="FCFCF8"/>
                </a:solidFill>
                <a:latin typeface="Arial"/>
                <a:ea typeface="Arial"/>
                <a:cs typeface="Arial"/>
              </a:defRPr>
            </a:lvl9pPr>
          </a:lstStyle>
          <a:p xmlns:a="http://schemas.openxmlformats.org/drawingml/2006/main">
            <a:pPr>
              <a:defRPr sz="2625" b="0">
                <a:solidFill>
                  <a:srgbClr val="FCFCF8"/>
                </a:solidFill>
                <a:latin typeface="Arial"/>
                <a:ea typeface="Arial"/>
                <a:cs typeface="Arial"/>
              </a:defRPr>
            </a:pPr>
            <a:r>
              <a:rPr sz="2625" b="0">
                <a:solidFill>
                  <a:srgbClr val="FCFCF8"/>
                </a:solidFill>
                <a:latin typeface="Arial"/>
                <a:ea typeface="Arial"/>
                <a:cs typeface="Arial"/>
              </a:rPr>
              <a:t>¿Qué queda preparado para estudiar estabilidad?</a:t>
            </a:r>
          </a:p>
        </p:txBody>
      </p:sp>
      <p:sp>
        <p:nvSpPr>
          <p:cNvPr id="6" name="">
            <a:extLst xmlns:a="http://schemas.openxmlformats.org/drawingml/2006/main">
              <a:ext uri="{FF2B5EF4-FFF2-40B4-BE49-F238E27FC236}">
                <a16:creationId xmlns:a16="http://schemas.microsoft.com/office/drawing/2014/main" id="{C877DFFD-51BC-44EB-BFE2-478726471750}"/>
              </a:ext>
            </a:extLst>
          </p:cNvPr>
          <p:cNvSpPr>
            <a:spLocks xmlns:a="http://schemas.openxmlformats.org/drawingml/2006/main" noGrp="1"/>
          </p:cNvSpPr>
          <p:nvPr/>
        </p:nvSpPr>
        <p:spPr>
          <a:xfrm xmlns:a="http://schemas.openxmlformats.org/drawingml/2006/main">
            <a:off x="590550" y="5486400"/>
            <a:ext cx="1071562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0">
                <a:solidFill>
                  <a:srgbClr val="B8C8C1"/>
                </a:solidFill>
                <a:latin typeface="Arial"/>
                <a:ea typeface="Arial"/>
                <a:cs typeface="Arial"/>
              </a:defRPr>
            </a:defPPr>
            <a:lvl1pPr>
              <a:defRPr sz="2175" b="0">
                <a:solidFill>
                  <a:srgbClr val="B8C8C1"/>
                </a:solidFill>
                <a:latin typeface="Arial"/>
                <a:ea typeface="Arial"/>
                <a:cs typeface="Arial"/>
              </a:defRPr>
            </a:lvl1pPr>
            <a:lvl2pPr>
              <a:defRPr sz="2175" b="0">
                <a:solidFill>
                  <a:srgbClr val="B8C8C1"/>
                </a:solidFill>
                <a:latin typeface="Arial"/>
                <a:ea typeface="Arial"/>
                <a:cs typeface="Arial"/>
              </a:defRPr>
            </a:lvl2pPr>
            <a:lvl3pPr>
              <a:defRPr sz="2175" b="0">
                <a:solidFill>
                  <a:srgbClr val="B8C8C1"/>
                </a:solidFill>
                <a:latin typeface="Arial"/>
                <a:ea typeface="Arial"/>
                <a:cs typeface="Arial"/>
              </a:defRPr>
            </a:lvl3pPr>
            <a:lvl4pPr>
              <a:defRPr sz="2175" b="0">
                <a:solidFill>
                  <a:srgbClr val="B8C8C1"/>
                </a:solidFill>
                <a:latin typeface="Arial"/>
                <a:ea typeface="Arial"/>
                <a:cs typeface="Arial"/>
              </a:defRPr>
            </a:lvl4pPr>
            <a:lvl5pPr>
              <a:defRPr sz="2175" b="0">
                <a:solidFill>
                  <a:srgbClr val="B8C8C1"/>
                </a:solidFill>
                <a:latin typeface="Arial"/>
                <a:ea typeface="Arial"/>
                <a:cs typeface="Arial"/>
              </a:defRPr>
            </a:lvl5pPr>
            <a:lvl6pPr>
              <a:defRPr sz="2175" b="0">
                <a:solidFill>
                  <a:srgbClr val="B8C8C1"/>
                </a:solidFill>
                <a:latin typeface="Arial"/>
                <a:ea typeface="Arial"/>
                <a:cs typeface="Arial"/>
              </a:defRPr>
            </a:lvl6pPr>
            <a:lvl7pPr>
              <a:defRPr sz="2175" b="0">
                <a:solidFill>
                  <a:srgbClr val="B8C8C1"/>
                </a:solidFill>
                <a:latin typeface="Arial"/>
                <a:ea typeface="Arial"/>
                <a:cs typeface="Arial"/>
              </a:defRPr>
            </a:lvl7pPr>
            <a:lvl8pPr>
              <a:defRPr sz="2175" b="0">
                <a:solidFill>
                  <a:srgbClr val="B8C8C1"/>
                </a:solidFill>
                <a:latin typeface="Arial"/>
                <a:ea typeface="Arial"/>
                <a:cs typeface="Arial"/>
              </a:defRPr>
            </a:lvl8pPr>
            <a:lvl9pPr>
              <a:defRPr sz="2175" b="0">
                <a:solidFill>
                  <a:srgbClr val="B8C8C1"/>
                </a:solidFill>
                <a:latin typeface="Arial"/>
                <a:ea typeface="Arial"/>
                <a:cs typeface="Arial"/>
              </a:defRPr>
            </a:lvl9pPr>
          </a:lstStyle>
          <a:p xmlns:a="http://schemas.openxmlformats.org/drawingml/2006/main">
            <a:pPr>
              <a:defRPr sz="2175" b="0">
                <a:solidFill>
                  <a:srgbClr val="B8C8C1"/>
                </a:solidFill>
                <a:latin typeface="Arial"/>
                <a:ea typeface="Arial"/>
                <a:cs typeface="Arial"/>
              </a:defRPr>
            </a:pPr>
            <a:r>
              <a:rPr sz="2175" b="0">
                <a:solidFill>
                  <a:srgbClr val="B8C8C1"/>
                </a:solidFill>
                <a:latin typeface="Arial"/>
                <a:ea typeface="Arial"/>
                <a:cs typeface="Arial"/>
              </a:rPr>
              <a:t>Explica tu elección con una pieza, un archivo o un dato de la clase.</a:t>
            </a:r>
          </a:p>
        </p:txBody>
      </p:sp>
    </p:spTree>
    <p:extLst>
      <p:ext uri="{BB962C8B-B14F-4D97-AF65-F5344CB8AC3E}">
        <p14:creationId xmlns:p14="http://schemas.microsoft.com/office/powerpoint/2010/main" val="491446224"/>
      </p:ext>
    </p:extLst>
  </p:cSld>
</p:sld>
</file>

<file path=ppt/slides/slide46.xml><?xml version="1.0" encoding="utf-8"?>
<p:sld xmlns:p="http://schemas.openxmlformats.org/presentationml/2006/main">
  <p:cSld>
    <p:bg>
      <p:bgPr>
        <a:solidFill xmlns:a="http://schemas.openxmlformats.org/drawingml/2006/main">
          <a:srgbClr val="090F10"/>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0DA7FEA5-ED18-4220-9EEA-EB4711FE1C14}"/>
              </a:ext>
            </a:extLst>
          </p:cNvPr>
          <p:cNvSpPr>
            <a:spLocks xmlns:a="http://schemas.openxmlformats.org/drawingml/2006/main" noGrp="1"/>
          </p:cNvSpPr>
          <p:nvPr/>
        </p:nvSpPr>
        <p:spPr>
          <a:xfrm xmlns:a="http://schemas.openxmlformats.org/drawingml/2006/main">
            <a:off x="590550" y="428625"/>
            <a:ext cx="100965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75" b="1">
                <a:solidFill>
                  <a:srgbClr val="FCFCF8"/>
                </a:solidFill>
                <a:latin typeface="Arial Narrow"/>
                <a:ea typeface="Arial Narrow"/>
                <a:cs typeface="Arial Narrow"/>
              </a:defRPr>
            </a:defPPr>
            <a:lvl1pPr>
              <a:defRPr sz="3375" b="1">
                <a:solidFill>
                  <a:srgbClr val="FCFCF8"/>
                </a:solidFill>
                <a:latin typeface="Arial Narrow"/>
                <a:ea typeface="Arial Narrow"/>
                <a:cs typeface="Arial Narrow"/>
              </a:defRPr>
            </a:lvl1pPr>
            <a:lvl2pPr>
              <a:defRPr sz="3375" b="1">
                <a:solidFill>
                  <a:srgbClr val="FCFCF8"/>
                </a:solidFill>
                <a:latin typeface="Arial Narrow"/>
                <a:ea typeface="Arial Narrow"/>
                <a:cs typeface="Arial Narrow"/>
              </a:defRPr>
            </a:lvl2pPr>
            <a:lvl3pPr>
              <a:defRPr sz="3375" b="1">
                <a:solidFill>
                  <a:srgbClr val="FCFCF8"/>
                </a:solidFill>
                <a:latin typeface="Arial Narrow"/>
                <a:ea typeface="Arial Narrow"/>
                <a:cs typeface="Arial Narrow"/>
              </a:defRPr>
            </a:lvl3pPr>
            <a:lvl4pPr>
              <a:defRPr sz="3375" b="1">
                <a:solidFill>
                  <a:srgbClr val="FCFCF8"/>
                </a:solidFill>
                <a:latin typeface="Arial Narrow"/>
                <a:ea typeface="Arial Narrow"/>
                <a:cs typeface="Arial Narrow"/>
              </a:defRPr>
            </a:lvl4pPr>
            <a:lvl5pPr>
              <a:defRPr sz="3375" b="1">
                <a:solidFill>
                  <a:srgbClr val="FCFCF8"/>
                </a:solidFill>
                <a:latin typeface="Arial Narrow"/>
                <a:ea typeface="Arial Narrow"/>
                <a:cs typeface="Arial Narrow"/>
              </a:defRPr>
            </a:lvl5pPr>
            <a:lvl6pPr>
              <a:defRPr sz="3375" b="1">
                <a:solidFill>
                  <a:srgbClr val="FCFCF8"/>
                </a:solidFill>
                <a:latin typeface="Arial Narrow"/>
                <a:ea typeface="Arial Narrow"/>
                <a:cs typeface="Arial Narrow"/>
              </a:defRPr>
            </a:lvl6pPr>
            <a:lvl7pPr>
              <a:defRPr sz="3375" b="1">
                <a:solidFill>
                  <a:srgbClr val="FCFCF8"/>
                </a:solidFill>
                <a:latin typeface="Arial Narrow"/>
                <a:ea typeface="Arial Narrow"/>
                <a:cs typeface="Arial Narrow"/>
              </a:defRPr>
            </a:lvl7pPr>
            <a:lvl8pPr>
              <a:defRPr sz="3375" b="1">
                <a:solidFill>
                  <a:srgbClr val="FCFCF8"/>
                </a:solidFill>
                <a:latin typeface="Arial Narrow"/>
                <a:ea typeface="Arial Narrow"/>
                <a:cs typeface="Arial Narrow"/>
              </a:defRPr>
            </a:lvl8pPr>
            <a:lvl9pPr>
              <a:defRPr sz="3375" b="1">
                <a:solidFill>
                  <a:srgbClr val="FCFCF8"/>
                </a:solidFill>
                <a:latin typeface="Arial Narrow"/>
                <a:ea typeface="Arial Narrow"/>
                <a:cs typeface="Arial Narrow"/>
              </a:defRPr>
            </a:lvl9pPr>
          </a:lstStyle>
          <a:p xmlns:a="http://schemas.openxmlformats.org/drawingml/2006/main">
            <a:pPr>
              <a:defRPr sz="3375" b="1">
                <a:solidFill>
                  <a:srgbClr val="FCFCF8"/>
                </a:solidFill>
                <a:latin typeface="Arial Narrow"/>
                <a:ea typeface="Arial Narrow"/>
                <a:cs typeface="Arial Narrow"/>
              </a:defRPr>
            </a:pPr>
            <a:r>
              <a:rPr sz="3375" b="1">
                <a:solidFill>
                  <a:srgbClr val="FCFCF8"/>
                </a:solidFill>
                <a:latin typeface="Arial Narrow"/>
                <a:ea typeface="Arial Narrow"/>
                <a:cs typeface="Arial Narrow"/>
              </a:rPr>
              <a:t>Tres preguntas para cerrar</a:t>
            </a:r>
          </a:p>
        </p:txBody>
      </p:sp>
      <p:pic>
        <p:nvPicPr>
          <p:cNvPr id="2" name="">
            <a:extLst xmlns:a="http://schemas.openxmlformats.org/drawingml/2006/main">
              <a:ext uri="{FF2B5EF4-FFF2-40B4-BE49-F238E27FC236}">
                <a16:creationId xmlns:a16="http://schemas.microsoft.com/office/drawing/2014/main" id="{8C9417FC-D868-4950-955A-97DC049E0136}"/>
              </a:ext>
            </a:extLst>
          </p:cNvPr>
          <p:cNvPicPr>
            <a:picLocks xmlns:a="http://schemas.openxmlformats.org/drawingml/2006/main" noChangeAspect="1"/>
          </p:cNvPicPr>
          <p:nvPr/>
        </p:nvPicPr>
        <p:blipFill>
          <a:blip xmlns:r="http://schemas.openxmlformats.org/officeDocument/2006/relationships" xmlns:a="http://schemas.openxmlformats.org/drawingml/2006/main" r:embed="R0ac5858cd2fb4940"/>
          <a:stretch xmlns:a="http://schemas.openxmlformats.org/drawingml/2006/main"/>
        </p:blipFill>
        <p:spPr>
          <a:xfrm xmlns:a="http://schemas.openxmlformats.org/drawingml/2006/main">
            <a:off x="10858500" y="337942"/>
            <a:ext cx="762000" cy="276616"/>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32F1F89F-1327-4BF2-AD32-622F68086FB8}"/>
              </a:ext>
            </a:extLst>
          </p:cNvPr>
          <p:cNvSpPr>
            <a:spLocks xmlns:a="http://schemas.openxmlformats.org/drawingml/2006/main" noGrp="1"/>
          </p:cNvSpPr>
          <p:nvPr/>
        </p:nvSpPr>
        <p:spPr>
          <a:xfrm xmlns:a="http://schemas.openxmlformats.org/drawingml/2006/main">
            <a:off x="590550" y="6467475"/>
            <a:ext cx="108108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B8C8C1"/>
                </a:solidFill>
                <a:latin typeface="Consolas"/>
                <a:ea typeface="Consolas"/>
                <a:cs typeface="Consolas"/>
              </a:defRPr>
            </a:defPPr>
            <a:lvl1pPr>
              <a:defRPr sz="1125" b="0">
                <a:solidFill>
                  <a:srgbClr val="B8C8C1"/>
                </a:solidFill>
                <a:latin typeface="Consolas"/>
                <a:ea typeface="Consolas"/>
                <a:cs typeface="Consolas"/>
              </a:defRPr>
            </a:lvl1pPr>
            <a:lvl2pPr>
              <a:defRPr sz="1125" b="0">
                <a:solidFill>
                  <a:srgbClr val="B8C8C1"/>
                </a:solidFill>
                <a:latin typeface="Consolas"/>
                <a:ea typeface="Consolas"/>
                <a:cs typeface="Consolas"/>
              </a:defRPr>
            </a:lvl2pPr>
            <a:lvl3pPr>
              <a:defRPr sz="1125" b="0">
                <a:solidFill>
                  <a:srgbClr val="B8C8C1"/>
                </a:solidFill>
                <a:latin typeface="Consolas"/>
                <a:ea typeface="Consolas"/>
                <a:cs typeface="Consolas"/>
              </a:defRPr>
            </a:lvl3pPr>
            <a:lvl4pPr>
              <a:defRPr sz="1125" b="0">
                <a:solidFill>
                  <a:srgbClr val="B8C8C1"/>
                </a:solidFill>
                <a:latin typeface="Consolas"/>
                <a:ea typeface="Consolas"/>
                <a:cs typeface="Consolas"/>
              </a:defRPr>
            </a:lvl4pPr>
            <a:lvl5pPr>
              <a:defRPr sz="1125" b="0">
                <a:solidFill>
                  <a:srgbClr val="B8C8C1"/>
                </a:solidFill>
                <a:latin typeface="Consolas"/>
                <a:ea typeface="Consolas"/>
                <a:cs typeface="Consolas"/>
              </a:defRPr>
            </a:lvl5pPr>
            <a:lvl6pPr>
              <a:defRPr sz="1125" b="0">
                <a:solidFill>
                  <a:srgbClr val="B8C8C1"/>
                </a:solidFill>
                <a:latin typeface="Consolas"/>
                <a:ea typeface="Consolas"/>
                <a:cs typeface="Consolas"/>
              </a:defRPr>
            </a:lvl6pPr>
            <a:lvl7pPr>
              <a:defRPr sz="1125" b="0">
                <a:solidFill>
                  <a:srgbClr val="B8C8C1"/>
                </a:solidFill>
                <a:latin typeface="Consolas"/>
                <a:ea typeface="Consolas"/>
                <a:cs typeface="Consolas"/>
              </a:defRPr>
            </a:lvl7pPr>
            <a:lvl8pPr>
              <a:defRPr sz="1125" b="0">
                <a:solidFill>
                  <a:srgbClr val="B8C8C1"/>
                </a:solidFill>
                <a:latin typeface="Consolas"/>
                <a:ea typeface="Consolas"/>
                <a:cs typeface="Consolas"/>
              </a:defRPr>
            </a:lvl8pPr>
            <a:lvl9pPr>
              <a:defRPr sz="1125" b="0">
                <a:solidFill>
                  <a:srgbClr val="B8C8C1"/>
                </a:solidFill>
                <a:latin typeface="Consolas"/>
                <a:ea typeface="Consolas"/>
                <a:cs typeface="Consolas"/>
              </a:defRPr>
            </a:lvl9pPr>
          </a:lstStyle>
          <a:p xmlns:a="http://schemas.openxmlformats.org/drawingml/2006/main">
            <a:pPr>
              <a:defRPr sz="1125" b="0">
                <a:solidFill>
                  <a:srgbClr val="B8C8C1"/>
                </a:solidFill>
                <a:latin typeface="Consolas"/>
                <a:ea typeface="Consolas"/>
                <a:cs typeface="Consolas"/>
              </a:defRPr>
            </a:pPr>
            <a:r>
              <a:rPr sz="1125" b="0">
                <a:solidFill>
                  <a:srgbClr val="B8C8C1"/>
                </a:solidFill>
                <a:latin typeface="Consolas"/>
                <a:ea typeface="Consolas"/>
                <a:cs typeface="Consolas"/>
              </a:rPr>
              <a:t>MECRO   SEMANA 3   CLASE 06   22/24</a:t>
            </a:r>
          </a:p>
        </p:txBody>
      </p:sp>
      <p:sp>
        <p:nvSpPr>
          <p:cNvPr id="4" name="">
            <a:extLst xmlns:a="http://schemas.openxmlformats.org/drawingml/2006/main">
              <a:ext uri="{FF2B5EF4-FFF2-40B4-BE49-F238E27FC236}">
                <a16:creationId xmlns:a16="http://schemas.microsoft.com/office/drawing/2014/main" id="{B25B3C50-0C98-4F9C-8AD1-C297202A4432}"/>
              </a:ext>
            </a:extLst>
          </p:cNvPr>
          <p:cNvSpPr>
            <a:spLocks xmlns:a="http://schemas.openxmlformats.org/drawingml/2006/main" noGrp="1"/>
          </p:cNvSpPr>
          <p:nvPr/>
        </p:nvSpPr>
        <p:spPr>
          <a:xfrm xmlns:a="http://schemas.openxmlformats.org/drawingml/2006/main">
            <a:off x="590550" y="1743075"/>
            <a:ext cx="10810875" cy="425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550" b="0">
                <a:solidFill>
                  <a:srgbClr val="FCFCF8"/>
                </a:solidFill>
                <a:latin typeface="Arial"/>
                <a:ea typeface="Arial"/>
                <a:cs typeface="Arial"/>
              </a:defRPr>
            </a:defPPr>
            <a:lvl1pPr>
              <a:defRPr sz="2550" b="0">
                <a:solidFill>
                  <a:srgbClr val="FCFCF8"/>
                </a:solidFill>
                <a:latin typeface="Arial"/>
                <a:ea typeface="Arial"/>
                <a:cs typeface="Arial"/>
              </a:defRPr>
            </a:lvl1pPr>
            <a:lvl2pPr>
              <a:defRPr sz="2550" b="0">
                <a:solidFill>
                  <a:srgbClr val="FCFCF8"/>
                </a:solidFill>
                <a:latin typeface="Arial"/>
                <a:ea typeface="Arial"/>
                <a:cs typeface="Arial"/>
              </a:defRPr>
            </a:lvl2pPr>
            <a:lvl3pPr>
              <a:defRPr sz="2550" b="0">
                <a:solidFill>
                  <a:srgbClr val="FCFCF8"/>
                </a:solidFill>
                <a:latin typeface="Arial"/>
                <a:ea typeface="Arial"/>
                <a:cs typeface="Arial"/>
              </a:defRPr>
            </a:lvl3pPr>
            <a:lvl4pPr>
              <a:defRPr sz="2550" b="0">
                <a:solidFill>
                  <a:srgbClr val="FCFCF8"/>
                </a:solidFill>
                <a:latin typeface="Arial"/>
                <a:ea typeface="Arial"/>
                <a:cs typeface="Arial"/>
              </a:defRPr>
            </a:lvl4pPr>
            <a:lvl5pPr>
              <a:defRPr sz="2550" b="0">
                <a:solidFill>
                  <a:srgbClr val="FCFCF8"/>
                </a:solidFill>
                <a:latin typeface="Arial"/>
                <a:ea typeface="Arial"/>
                <a:cs typeface="Arial"/>
              </a:defRPr>
            </a:lvl5pPr>
            <a:lvl6pPr>
              <a:defRPr sz="2550" b="0">
                <a:solidFill>
                  <a:srgbClr val="FCFCF8"/>
                </a:solidFill>
                <a:latin typeface="Arial"/>
                <a:ea typeface="Arial"/>
                <a:cs typeface="Arial"/>
              </a:defRPr>
            </a:lvl6pPr>
            <a:lvl7pPr>
              <a:defRPr sz="2550" b="0">
                <a:solidFill>
                  <a:srgbClr val="FCFCF8"/>
                </a:solidFill>
                <a:latin typeface="Arial"/>
                <a:ea typeface="Arial"/>
                <a:cs typeface="Arial"/>
              </a:defRPr>
            </a:lvl7pPr>
            <a:lvl8pPr>
              <a:defRPr sz="2550" b="0">
                <a:solidFill>
                  <a:srgbClr val="FCFCF8"/>
                </a:solidFill>
                <a:latin typeface="Arial"/>
                <a:ea typeface="Arial"/>
                <a:cs typeface="Arial"/>
              </a:defRPr>
            </a:lvl8pPr>
            <a:lvl9pPr>
              <a:defRPr sz="2550" b="0">
                <a:solidFill>
                  <a:srgbClr val="FCFCF8"/>
                </a:solidFill>
                <a:latin typeface="Arial"/>
                <a:ea typeface="Arial"/>
                <a:cs typeface="Arial"/>
              </a:defRPr>
            </a:lvl9pPr>
          </a:lstStyle>
          <a:p xmlns:a="http://schemas.openxmlformats.org/drawingml/2006/main">
            <a:pPr>
              <a:defRPr sz="2550" b="0">
                <a:solidFill>
                  <a:srgbClr val="FCFCF8"/>
                </a:solidFill>
                <a:latin typeface="Arial"/>
                <a:ea typeface="Arial"/>
                <a:cs typeface="Arial"/>
              </a:defRPr>
            </a:pPr>
            <a:r>
              <a:rPr sz="2550" b="0">
                <a:solidFill>
                  <a:srgbClr val="FCFCF8"/>
                </a:solidFill>
                <a:latin typeface="Arial"/>
                <a:ea typeface="Arial"/>
                <a:cs typeface="Arial"/>
              </a:rPr>
              <a:t>1. ¿Una pieza que entra en el útil ya está aceptada para vuelo?</a:t>
            </a:r>
          </a:p>
          <a:p xmlns:a="http://schemas.openxmlformats.org/drawingml/2006/main">
            <a:r>
              <a:t/>
            </a:r>
          </a:p>
          <a:p xmlns:a="http://schemas.openxmlformats.org/drawingml/2006/main">
            <a:pPr>
              <a:defRPr sz="2550" b="0">
                <a:solidFill>
                  <a:srgbClr val="FCFCF8"/>
                </a:solidFill>
                <a:latin typeface="Arial"/>
                <a:ea typeface="Arial"/>
                <a:cs typeface="Arial"/>
              </a:defRPr>
            </a:pPr>
            <a:r>
              <a:rPr sz="2550" b="0">
                <a:solidFill>
                  <a:srgbClr val="FCFCF8"/>
                </a:solidFill>
                <a:latin typeface="Arial"/>
                <a:ea typeface="Arial"/>
                <a:cs typeface="Arial"/>
              </a:rPr>
              <a:t>2. ¿Qué incluye una masa medida útil?</a:t>
            </a:r>
          </a:p>
          <a:p xmlns:a="http://schemas.openxmlformats.org/drawingml/2006/main">
            <a:r>
              <a:t/>
            </a:r>
          </a:p>
          <a:p xmlns:a="http://schemas.openxmlformats.org/drawingml/2006/main">
            <a:pPr>
              <a:defRPr sz="2550" b="0">
                <a:solidFill>
                  <a:srgbClr val="FCFCF8"/>
                </a:solidFill>
                <a:latin typeface="Arial"/>
                <a:ea typeface="Arial"/>
                <a:cs typeface="Arial"/>
              </a:defRPr>
            </a:pPr>
            <a:r>
              <a:rPr sz="2550" b="0">
                <a:solidFill>
                  <a:srgbClr val="FCFCF8"/>
                </a:solidFill>
                <a:latin typeface="Arial"/>
                <a:ea typeface="Arial"/>
                <a:cs typeface="Arial"/>
              </a:rPr>
              <a:t>3. ¿Qué se conserva al corregir?</a:t>
            </a:r>
          </a:p>
        </p:txBody>
      </p:sp>
    </p:spTree>
    <p:extLst>
      <p:ext uri="{BB962C8B-B14F-4D97-AF65-F5344CB8AC3E}">
        <p14:creationId xmlns:p14="http://schemas.microsoft.com/office/powerpoint/2010/main" val="199327675"/>
      </p:ext>
    </p:extLst>
  </p:cSld>
</p:sld>
</file>

<file path=ppt/slides/slide47.xml><?xml version="1.0" encoding="utf-8"?>
<p:sld xmlns:p="http://schemas.openxmlformats.org/presentationml/2006/main">
  <p:cSld>
    <p:bg>
      <p:bgPr>
        <a:solidFill xmlns:a="http://schemas.openxmlformats.org/drawingml/2006/main">
          <a:srgbClr val="FCFCF8"/>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E663FA1F-BFF7-4CB8-A8CE-DE6825E2A3CB}"/>
              </a:ext>
            </a:extLst>
          </p:cNvPr>
          <p:cNvSpPr>
            <a:spLocks xmlns:a="http://schemas.openxmlformats.org/drawingml/2006/main" noGrp="1"/>
          </p:cNvSpPr>
          <p:nvPr/>
        </p:nvSpPr>
        <p:spPr>
          <a:xfrm xmlns:a="http://schemas.openxmlformats.org/drawingml/2006/main">
            <a:off x="590550" y="428625"/>
            <a:ext cx="100965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75" b="1">
                <a:solidFill>
                  <a:srgbClr val="14231E"/>
                </a:solidFill>
                <a:latin typeface="Arial Narrow"/>
                <a:ea typeface="Arial Narrow"/>
                <a:cs typeface="Arial Narrow"/>
              </a:defRPr>
            </a:defPPr>
            <a:lvl1pPr>
              <a:defRPr sz="3375" b="1">
                <a:solidFill>
                  <a:srgbClr val="14231E"/>
                </a:solidFill>
                <a:latin typeface="Arial Narrow"/>
                <a:ea typeface="Arial Narrow"/>
                <a:cs typeface="Arial Narrow"/>
              </a:defRPr>
            </a:lvl1pPr>
            <a:lvl2pPr>
              <a:defRPr sz="3375" b="1">
                <a:solidFill>
                  <a:srgbClr val="14231E"/>
                </a:solidFill>
                <a:latin typeface="Arial Narrow"/>
                <a:ea typeface="Arial Narrow"/>
                <a:cs typeface="Arial Narrow"/>
              </a:defRPr>
            </a:lvl2pPr>
            <a:lvl3pPr>
              <a:defRPr sz="3375" b="1">
                <a:solidFill>
                  <a:srgbClr val="14231E"/>
                </a:solidFill>
                <a:latin typeface="Arial Narrow"/>
                <a:ea typeface="Arial Narrow"/>
                <a:cs typeface="Arial Narrow"/>
              </a:defRPr>
            </a:lvl3pPr>
            <a:lvl4pPr>
              <a:defRPr sz="3375" b="1">
                <a:solidFill>
                  <a:srgbClr val="14231E"/>
                </a:solidFill>
                <a:latin typeface="Arial Narrow"/>
                <a:ea typeface="Arial Narrow"/>
                <a:cs typeface="Arial Narrow"/>
              </a:defRPr>
            </a:lvl4pPr>
            <a:lvl5pPr>
              <a:defRPr sz="3375" b="1">
                <a:solidFill>
                  <a:srgbClr val="14231E"/>
                </a:solidFill>
                <a:latin typeface="Arial Narrow"/>
                <a:ea typeface="Arial Narrow"/>
                <a:cs typeface="Arial Narrow"/>
              </a:defRPr>
            </a:lvl5pPr>
            <a:lvl6pPr>
              <a:defRPr sz="3375" b="1">
                <a:solidFill>
                  <a:srgbClr val="14231E"/>
                </a:solidFill>
                <a:latin typeface="Arial Narrow"/>
                <a:ea typeface="Arial Narrow"/>
                <a:cs typeface="Arial Narrow"/>
              </a:defRPr>
            </a:lvl6pPr>
            <a:lvl7pPr>
              <a:defRPr sz="3375" b="1">
                <a:solidFill>
                  <a:srgbClr val="14231E"/>
                </a:solidFill>
                <a:latin typeface="Arial Narrow"/>
                <a:ea typeface="Arial Narrow"/>
                <a:cs typeface="Arial Narrow"/>
              </a:defRPr>
            </a:lvl7pPr>
            <a:lvl8pPr>
              <a:defRPr sz="3375" b="1">
                <a:solidFill>
                  <a:srgbClr val="14231E"/>
                </a:solidFill>
                <a:latin typeface="Arial Narrow"/>
                <a:ea typeface="Arial Narrow"/>
                <a:cs typeface="Arial Narrow"/>
              </a:defRPr>
            </a:lvl8pPr>
            <a:lvl9pPr>
              <a:defRPr sz="3375" b="1">
                <a:solidFill>
                  <a:srgbClr val="14231E"/>
                </a:solidFill>
                <a:latin typeface="Arial Narrow"/>
                <a:ea typeface="Arial Narrow"/>
                <a:cs typeface="Arial Narrow"/>
              </a:defRPr>
            </a:lvl9pPr>
          </a:lstStyle>
          <a:p xmlns:a="http://schemas.openxmlformats.org/drawingml/2006/main">
            <a:pPr>
              <a:defRPr sz="3375" b="1">
                <a:solidFill>
                  <a:srgbClr val="14231E"/>
                </a:solidFill>
                <a:latin typeface="Arial Narrow"/>
                <a:ea typeface="Arial Narrow"/>
                <a:cs typeface="Arial Narrow"/>
              </a:defRPr>
            </a:pPr>
            <a:r>
              <a:rPr sz="3375" b="1">
                <a:solidFill>
                  <a:srgbClr val="14231E"/>
                </a:solidFill>
                <a:latin typeface="Arial Narrow"/>
                <a:ea typeface="Arial Narrow"/>
                <a:cs typeface="Arial Narrow"/>
              </a:rPr>
              <a:t>Cómo explicar las respuestas</a:t>
            </a:r>
          </a:p>
        </p:txBody>
      </p:sp>
      <p:pic>
        <p:nvPicPr>
          <p:cNvPr id="2" name="">
            <a:extLst xmlns:a="http://schemas.openxmlformats.org/drawingml/2006/main">
              <a:ext uri="{FF2B5EF4-FFF2-40B4-BE49-F238E27FC236}">
                <a16:creationId xmlns:a16="http://schemas.microsoft.com/office/drawing/2014/main" id="{BEFFB906-9176-4640-AE35-76A840FDD077}"/>
              </a:ext>
            </a:extLst>
          </p:cNvPr>
          <p:cNvPicPr>
            <a:picLocks xmlns:a="http://schemas.openxmlformats.org/drawingml/2006/main" noChangeAspect="1"/>
          </p:cNvPicPr>
          <p:nvPr/>
        </p:nvPicPr>
        <p:blipFill>
          <a:blip xmlns:r="http://schemas.openxmlformats.org/officeDocument/2006/relationships" xmlns:a="http://schemas.openxmlformats.org/drawingml/2006/main" r:embed="Raa644de77f8e43d4"/>
          <a:stretch xmlns:a="http://schemas.openxmlformats.org/drawingml/2006/main"/>
        </p:blipFill>
        <p:spPr>
          <a:xfrm xmlns:a="http://schemas.openxmlformats.org/drawingml/2006/main">
            <a:off x="10858500" y="337942"/>
            <a:ext cx="762000" cy="276616"/>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DB808254-FDE6-4C52-95F0-C56AA6785FF0}"/>
              </a:ext>
            </a:extLst>
          </p:cNvPr>
          <p:cNvSpPr>
            <a:spLocks xmlns:a="http://schemas.openxmlformats.org/drawingml/2006/main" noGrp="1"/>
          </p:cNvSpPr>
          <p:nvPr/>
        </p:nvSpPr>
        <p:spPr>
          <a:xfrm xmlns:a="http://schemas.openxmlformats.org/drawingml/2006/main">
            <a:off x="590550" y="6467475"/>
            <a:ext cx="108108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58665F"/>
                </a:solidFill>
                <a:latin typeface="Consolas"/>
                <a:ea typeface="Consolas"/>
                <a:cs typeface="Consolas"/>
              </a:defRPr>
            </a:defPPr>
            <a:lvl1pPr>
              <a:defRPr sz="1125" b="0">
                <a:solidFill>
                  <a:srgbClr val="58665F"/>
                </a:solidFill>
                <a:latin typeface="Consolas"/>
                <a:ea typeface="Consolas"/>
                <a:cs typeface="Consolas"/>
              </a:defRPr>
            </a:lvl1pPr>
            <a:lvl2pPr>
              <a:defRPr sz="1125" b="0">
                <a:solidFill>
                  <a:srgbClr val="58665F"/>
                </a:solidFill>
                <a:latin typeface="Consolas"/>
                <a:ea typeface="Consolas"/>
                <a:cs typeface="Consolas"/>
              </a:defRPr>
            </a:lvl2pPr>
            <a:lvl3pPr>
              <a:defRPr sz="1125" b="0">
                <a:solidFill>
                  <a:srgbClr val="58665F"/>
                </a:solidFill>
                <a:latin typeface="Consolas"/>
                <a:ea typeface="Consolas"/>
                <a:cs typeface="Consolas"/>
              </a:defRPr>
            </a:lvl3pPr>
            <a:lvl4pPr>
              <a:defRPr sz="1125" b="0">
                <a:solidFill>
                  <a:srgbClr val="58665F"/>
                </a:solidFill>
                <a:latin typeface="Consolas"/>
                <a:ea typeface="Consolas"/>
                <a:cs typeface="Consolas"/>
              </a:defRPr>
            </a:lvl4pPr>
            <a:lvl5pPr>
              <a:defRPr sz="1125" b="0">
                <a:solidFill>
                  <a:srgbClr val="58665F"/>
                </a:solidFill>
                <a:latin typeface="Consolas"/>
                <a:ea typeface="Consolas"/>
                <a:cs typeface="Consolas"/>
              </a:defRPr>
            </a:lvl5pPr>
            <a:lvl6pPr>
              <a:defRPr sz="1125" b="0">
                <a:solidFill>
                  <a:srgbClr val="58665F"/>
                </a:solidFill>
                <a:latin typeface="Consolas"/>
                <a:ea typeface="Consolas"/>
                <a:cs typeface="Consolas"/>
              </a:defRPr>
            </a:lvl6pPr>
            <a:lvl7pPr>
              <a:defRPr sz="1125" b="0">
                <a:solidFill>
                  <a:srgbClr val="58665F"/>
                </a:solidFill>
                <a:latin typeface="Consolas"/>
                <a:ea typeface="Consolas"/>
                <a:cs typeface="Consolas"/>
              </a:defRPr>
            </a:lvl7pPr>
            <a:lvl8pPr>
              <a:defRPr sz="1125" b="0">
                <a:solidFill>
                  <a:srgbClr val="58665F"/>
                </a:solidFill>
                <a:latin typeface="Consolas"/>
                <a:ea typeface="Consolas"/>
                <a:cs typeface="Consolas"/>
              </a:defRPr>
            </a:lvl8pPr>
            <a:lvl9pPr>
              <a:defRPr sz="1125" b="0">
                <a:solidFill>
                  <a:srgbClr val="58665F"/>
                </a:solidFill>
                <a:latin typeface="Consolas"/>
                <a:ea typeface="Consolas"/>
                <a:cs typeface="Consolas"/>
              </a:defRPr>
            </a:lvl9pPr>
          </a:lstStyle>
          <a:p xmlns:a="http://schemas.openxmlformats.org/drawingml/2006/main">
            <a:pPr>
              <a:defRPr sz="1125" b="0">
                <a:solidFill>
                  <a:srgbClr val="58665F"/>
                </a:solidFill>
                <a:latin typeface="Consolas"/>
                <a:ea typeface="Consolas"/>
                <a:cs typeface="Consolas"/>
              </a:defRPr>
            </a:pPr>
            <a:r>
              <a:rPr sz="1125" b="0">
                <a:solidFill>
                  <a:srgbClr val="58665F"/>
                </a:solidFill>
                <a:latin typeface="Consolas"/>
                <a:ea typeface="Consolas"/>
                <a:cs typeface="Consolas"/>
              </a:rPr>
              <a:t>MECRO   SEMANA 3   CLASE 06   23/24</a:t>
            </a:r>
          </a:p>
        </p:txBody>
      </p:sp>
      <p:sp>
        <p:nvSpPr>
          <p:cNvPr id="4" name="">
            <a:extLst xmlns:a="http://schemas.openxmlformats.org/drawingml/2006/main">
              <a:ext uri="{FF2B5EF4-FFF2-40B4-BE49-F238E27FC236}">
                <a16:creationId xmlns:a16="http://schemas.microsoft.com/office/drawing/2014/main" id="{9B6928E7-905B-479F-8AF6-4BDCF11F0569}"/>
              </a:ext>
            </a:extLst>
          </p:cNvPr>
          <p:cNvSpPr>
            <a:spLocks xmlns:a="http://schemas.openxmlformats.org/drawingml/2006/main" noGrp="1"/>
          </p:cNvSpPr>
          <p:nvPr/>
        </p:nvSpPr>
        <p:spPr>
          <a:xfrm xmlns:a="http://schemas.openxmlformats.org/drawingml/2006/main">
            <a:off x="590550" y="1743075"/>
            <a:ext cx="10810875" cy="425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325" b="0">
                <a:solidFill>
                  <a:srgbClr val="14231E"/>
                </a:solidFill>
                <a:latin typeface="Arial"/>
                <a:ea typeface="Arial"/>
                <a:cs typeface="Arial"/>
              </a:defRPr>
            </a:defPPr>
            <a:lvl1pPr>
              <a:defRPr sz="2325" b="0">
                <a:solidFill>
                  <a:srgbClr val="14231E"/>
                </a:solidFill>
                <a:latin typeface="Arial"/>
                <a:ea typeface="Arial"/>
                <a:cs typeface="Arial"/>
              </a:defRPr>
            </a:lvl1pPr>
            <a:lvl2pPr>
              <a:defRPr sz="2325" b="0">
                <a:solidFill>
                  <a:srgbClr val="14231E"/>
                </a:solidFill>
                <a:latin typeface="Arial"/>
                <a:ea typeface="Arial"/>
                <a:cs typeface="Arial"/>
              </a:defRPr>
            </a:lvl2pPr>
            <a:lvl3pPr>
              <a:defRPr sz="2325" b="0">
                <a:solidFill>
                  <a:srgbClr val="14231E"/>
                </a:solidFill>
                <a:latin typeface="Arial"/>
                <a:ea typeface="Arial"/>
                <a:cs typeface="Arial"/>
              </a:defRPr>
            </a:lvl3pPr>
            <a:lvl4pPr>
              <a:defRPr sz="2325" b="0">
                <a:solidFill>
                  <a:srgbClr val="14231E"/>
                </a:solidFill>
                <a:latin typeface="Arial"/>
                <a:ea typeface="Arial"/>
                <a:cs typeface="Arial"/>
              </a:defRPr>
            </a:lvl4pPr>
            <a:lvl5pPr>
              <a:defRPr sz="2325" b="0">
                <a:solidFill>
                  <a:srgbClr val="14231E"/>
                </a:solidFill>
                <a:latin typeface="Arial"/>
                <a:ea typeface="Arial"/>
                <a:cs typeface="Arial"/>
              </a:defRPr>
            </a:lvl5pPr>
            <a:lvl6pPr>
              <a:defRPr sz="2325" b="0">
                <a:solidFill>
                  <a:srgbClr val="14231E"/>
                </a:solidFill>
                <a:latin typeface="Arial"/>
                <a:ea typeface="Arial"/>
                <a:cs typeface="Arial"/>
              </a:defRPr>
            </a:lvl6pPr>
            <a:lvl7pPr>
              <a:defRPr sz="2325" b="0">
                <a:solidFill>
                  <a:srgbClr val="14231E"/>
                </a:solidFill>
                <a:latin typeface="Arial"/>
                <a:ea typeface="Arial"/>
                <a:cs typeface="Arial"/>
              </a:defRPr>
            </a:lvl7pPr>
            <a:lvl8pPr>
              <a:defRPr sz="2325" b="0">
                <a:solidFill>
                  <a:srgbClr val="14231E"/>
                </a:solidFill>
                <a:latin typeface="Arial"/>
                <a:ea typeface="Arial"/>
                <a:cs typeface="Arial"/>
              </a:defRPr>
            </a:lvl8pPr>
            <a:lvl9pPr>
              <a:defRPr sz="2325" b="0">
                <a:solidFill>
                  <a:srgbClr val="14231E"/>
                </a:solidFill>
                <a:latin typeface="Arial"/>
                <a:ea typeface="Arial"/>
                <a:cs typeface="Arial"/>
              </a:defRPr>
            </a:lvl9pPr>
          </a:lstStyle>
          <a:p xmlns:a="http://schemas.openxmlformats.org/drawingml/2006/main">
            <a:pPr>
              <a:defRPr sz="2325" b="0">
                <a:solidFill>
                  <a:srgbClr val="14231E"/>
                </a:solidFill>
                <a:latin typeface="Arial"/>
                <a:ea typeface="Arial"/>
                <a:cs typeface="Arial"/>
              </a:defRPr>
            </a:pPr>
            <a:r>
              <a:rPr sz="2325" b="0">
                <a:solidFill>
                  <a:srgbClr val="14231E"/>
                </a:solidFill>
                <a:latin typeface="Arial"/>
                <a:ea typeface="Arial"/>
                <a:cs typeface="Arial"/>
              </a:rPr>
              <a:t>1. No. El encaje es una comprobación parcial.</a:t>
            </a:r>
          </a:p>
          <a:p xmlns:a="http://schemas.openxmlformats.org/drawingml/2006/main">
            <a:r>
              <a:t/>
            </a:r>
          </a:p>
          <a:p xmlns:a="http://schemas.openxmlformats.org/drawingml/2006/main">
            <a:pPr>
              <a:defRPr sz="2325" b="0">
                <a:solidFill>
                  <a:srgbClr val="14231E"/>
                </a:solidFill>
                <a:latin typeface="Arial"/>
                <a:ea typeface="Arial"/>
                <a:cs typeface="Arial"/>
              </a:defRPr>
            </a:pPr>
            <a:r>
              <a:rPr sz="2325" b="0">
                <a:solidFill>
                  <a:srgbClr val="14231E"/>
                </a:solidFill>
                <a:latin typeface="Arial"/>
                <a:ea typeface="Arial"/>
                <a:cs typeface="Arial"/>
              </a:rPr>
              <a:t>2. Identificador, unidad y descripción de las piezas o acabado incluidos.</a:t>
            </a:r>
          </a:p>
          <a:p xmlns:a="http://schemas.openxmlformats.org/drawingml/2006/main">
            <a:r>
              <a:t/>
            </a:r>
          </a:p>
          <a:p xmlns:a="http://schemas.openxmlformats.org/drawingml/2006/main">
            <a:pPr>
              <a:defRPr sz="2325" b="0">
                <a:solidFill>
                  <a:srgbClr val="14231E"/>
                </a:solidFill>
                <a:latin typeface="Arial"/>
                <a:ea typeface="Arial"/>
                <a:cs typeface="Arial"/>
              </a:defRPr>
            </a:pPr>
            <a:r>
              <a:rPr sz="2325" b="0">
                <a:solidFill>
                  <a:srgbClr val="14231E"/>
                </a:solidFill>
                <a:latin typeface="Arial"/>
                <a:ea typeface="Arial"/>
                <a:cs typeface="Arial"/>
              </a:rPr>
              <a:t>3. Dato anterior, cambio y nueva comprobación.</a:t>
            </a:r>
          </a:p>
        </p:txBody>
      </p:sp>
    </p:spTree>
    <p:extLst>
      <p:ext uri="{BB962C8B-B14F-4D97-AF65-F5344CB8AC3E}">
        <p14:creationId xmlns:p14="http://schemas.microsoft.com/office/powerpoint/2010/main" val="643379978"/>
      </p:ext>
    </p:extLst>
  </p:cSld>
</p:sld>
</file>

<file path=ppt/slides/slide48.xml><?xml version="1.0" encoding="utf-8"?>
<p:sld xmlns:p="http://schemas.openxmlformats.org/presentationml/2006/main">
  <p:cSld>
    <p:bg>
      <p:bgPr>
        <a:solidFill xmlns:a="http://schemas.openxmlformats.org/drawingml/2006/main">
          <a:srgbClr val="090F10"/>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C8527186-1B7C-4D8D-BA81-C09308EED17F}"/>
              </a:ext>
            </a:extLst>
          </p:cNvPr>
          <p:cNvSpPr>
            <a:spLocks xmlns:a="http://schemas.openxmlformats.org/drawingml/2006/main" noGrp="1"/>
          </p:cNvSpPr>
          <p:nvPr/>
        </p:nvSpPr>
        <p:spPr>
          <a:xfrm xmlns:a="http://schemas.openxmlformats.org/drawingml/2006/main">
            <a:off x="590550" y="428625"/>
            <a:ext cx="100965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75" b="1">
                <a:solidFill>
                  <a:srgbClr val="FCFCF8"/>
                </a:solidFill>
                <a:latin typeface="Arial Narrow"/>
                <a:ea typeface="Arial Narrow"/>
                <a:cs typeface="Arial Narrow"/>
              </a:defRPr>
            </a:defPPr>
            <a:lvl1pPr>
              <a:defRPr sz="3375" b="1">
                <a:solidFill>
                  <a:srgbClr val="FCFCF8"/>
                </a:solidFill>
                <a:latin typeface="Arial Narrow"/>
                <a:ea typeface="Arial Narrow"/>
                <a:cs typeface="Arial Narrow"/>
              </a:defRPr>
            </a:lvl1pPr>
            <a:lvl2pPr>
              <a:defRPr sz="3375" b="1">
                <a:solidFill>
                  <a:srgbClr val="FCFCF8"/>
                </a:solidFill>
                <a:latin typeface="Arial Narrow"/>
                <a:ea typeface="Arial Narrow"/>
                <a:cs typeface="Arial Narrow"/>
              </a:defRPr>
            </a:lvl2pPr>
            <a:lvl3pPr>
              <a:defRPr sz="3375" b="1">
                <a:solidFill>
                  <a:srgbClr val="FCFCF8"/>
                </a:solidFill>
                <a:latin typeface="Arial Narrow"/>
                <a:ea typeface="Arial Narrow"/>
                <a:cs typeface="Arial Narrow"/>
              </a:defRPr>
            </a:lvl3pPr>
            <a:lvl4pPr>
              <a:defRPr sz="3375" b="1">
                <a:solidFill>
                  <a:srgbClr val="FCFCF8"/>
                </a:solidFill>
                <a:latin typeface="Arial Narrow"/>
                <a:ea typeface="Arial Narrow"/>
                <a:cs typeface="Arial Narrow"/>
              </a:defRPr>
            </a:lvl4pPr>
            <a:lvl5pPr>
              <a:defRPr sz="3375" b="1">
                <a:solidFill>
                  <a:srgbClr val="FCFCF8"/>
                </a:solidFill>
                <a:latin typeface="Arial Narrow"/>
                <a:ea typeface="Arial Narrow"/>
                <a:cs typeface="Arial Narrow"/>
              </a:defRPr>
            </a:lvl5pPr>
            <a:lvl6pPr>
              <a:defRPr sz="3375" b="1">
                <a:solidFill>
                  <a:srgbClr val="FCFCF8"/>
                </a:solidFill>
                <a:latin typeface="Arial Narrow"/>
                <a:ea typeface="Arial Narrow"/>
                <a:cs typeface="Arial Narrow"/>
              </a:defRPr>
            </a:lvl6pPr>
            <a:lvl7pPr>
              <a:defRPr sz="3375" b="1">
                <a:solidFill>
                  <a:srgbClr val="FCFCF8"/>
                </a:solidFill>
                <a:latin typeface="Arial Narrow"/>
                <a:ea typeface="Arial Narrow"/>
                <a:cs typeface="Arial Narrow"/>
              </a:defRPr>
            </a:lvl7pPr>
            <a:lvl8pPr>
              <a:defRPr sz="3375" b="1">
                <a:solidFill>
                  <a:srgbClr val="FCFCF8"/>
                </a:solidFill>
                <a:latin typeface="Arial Narrow"/>
                <a:ea typeface="Arial Narrow"/>
                <a:cs typeface="Arial Narrow"/>
              </a:defRPr>
            </a:lvl8pPr>
            <a:lvl9pPr>
              <a:defRPr sz="3375" b="1">
                <a:solidFill>
                  <a:srgbClr val="FCFCF8"/>
                </a:solidFill>
                <a:latin typeface="Arial Narrow"/>
                <a:ea typeface="Arial Narrow"/>
                <a:cs typeface="Arial Narrow"/>
              </a:defRPr>
            </a:lvl9pPr>
          </a:lstStyle>
          <a:p xmlns:a="http://schemas.openxmlformats.org/drawingml/2006/main">
            <a:pPr>
              <a:defRPr sz="3375" b="1">
                <a:solidFill>
                  <a:srgbClr val="FCFCF8"/>
                </a:solidFill>
                <a:latin typeface="Arial Narrow"/>
                <a:ea typeface="Arial Narrow"/>
                <a:cs typeface="Arial Narrow"/>
              </a:defRPr>
            </a:pPr>
            <a:r>
              <a:rPr sz="3375" b="1">
                <a:solidFill>
                  <a:srgbClr val="FCFCF8"/>
                </a:solidFill>
                <a:latin typeface="Arial Narrow"/>
                <a:ea typeface="Arial Narrow"/>
                <a:cs typeface="Arial Narrow"/>
              </a:rPr>
              <a:t>Entrega de la clase</a:t>
            </a:r>
          </a:p>
        </p:txBody>
      </p:sp>
      <p:pic>
        <p:nvPicPr>
          <p:cNvPr id="2" name="">
            <a:extLst xmlns:a="http://schemas.openxmlformats.org/drawingml/2006/main">
              <a:ext uri="{FF2B5EF4-FFF2-40B4-BE49-F238E27FC236}">
                <a16:creationId xmlns:a16="http://schemas.microsoft.com/office/drawing/2014/main" id="{BA156AB2-0DDE-439F-9741-FF6F4ECB69FC}"/>
              </a:ext>
            </a:extLst>
          </p:cNvPr>
          <p:cNvPicPr>
            <a:picLocks xmlns:a="http://schemas.openxmlformats.org/drawingml/2006/main" noChangeAspect="1"/>
          </p:cNvPicPr>
          <p:nvPr/>
        </p:nvPicPr>
        <p:blipFill>
          <a:blip xmlns:r="http://schemas.openxmlformats.org/officeDocument/2006/relationships" xmlns:a="http://schemas.openxmlformats.org/drawingml/2006/main" r:embed="R9a77c405c85c42d5"/>
          <a:stretch xmlns:a="http://schemas.openxmlformats.org/drawingml/2006/main"/>
        </p:blipFill>
        <p:spPr>
          <a:xfrm xmlns:a="http://schemas.openxmlformats.org/drawingml/2006/main">
            <a:off x="10858500" y="337942"/>
            <a:ext cx="762000" cy="276616"/>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38B736B0-1A9B-43F7-BE93-E1926DEAA23C}"/>
              </a:ext>
            </a:extLst>
          </p:cNvPr>
          <p:cNvSpPr>
            <a:spLocks xmlns:a="http://schemas.openxmlformats.org/drawingml/2006/main" noGrp="1"/>
          </p:cNvSpPr>
          <p:nvPr/>
        </p:nvSpPr>
        <p:spPr>
          <a:xfrm xmlns:a="http://schemas.openxmlformats.org/drawingml/2006/main">
            <a:off x="590550" y="6467475"/>
            <a:ext cx="108108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B8C8C1"/>
                </a:solidFill>
                <a:latin typeface="Consolas"/>
                <a:ea typeface="Consolas"/>
                <a:cs typeface="Consolas"/>
              </a:defRPr>
            </a:defPPr>
            <a:lvl1pPr>
              <a:defRPr sz="1125" b="0">
                <a:solidFill>
                  <a:srgbClr val="B8C8C1"/>
                </a:solidFill>
                <a:latin typeface="Consolas"/>
                <a:ea typeface="Consolas"/>
                <a:cs typeface="Consolas"/>
              </a:defRPr>
            </a:lvl1pPr>
            <a:lvl2pPr>
              <a:defRPr sz="1125" b="0">
                <a:solidFill>
                  <a:srgbClr val="B8C8C1"/>
                </a:solidFill>
                <a:latin typeface="Consolas"/>
                <a:ea typeface="Consolas"/>
                <a:cs typeface="Consolas"/>
              </a:defRPr>
            </a:lvl2pPr>
            <a:lvl3pPr>
              <a:defRPr sz="1125" b="0">
                <a:solidFill>
                  <a:srgbClr val="B8C8C1"/>
                </a:solidFill>
                <a:latin typeface="Consolas"/>
                <a:ea typeface="Consolas"/>
                <a:cs typeface="Consolas"/>
              </a:defRPr>
            </a:lvl3pPr>
            <a:lvl4pPr>
              <a:defRPr sz="1125" b="0">
                <a:solidFill>
                  <a:srgbClr val="B8C8C1"/>
                </a:solidFill>
                <a:latin typeface="Consolas"/>
                <a:ea typeface="Consolas"/>
                <a:cs typeface="Consolas"/>
              </a:defRPr>
            </a:lvl4pPr>
            <a:lvl5pPr>
              <a:defRPr sz="1125" b="0">
                <a:solidFill>
                  <a:srgbClr val="B8C8C1"/>
                </a:solidFill>
                <a:latin typeface="Consolas"/>
                <a:ea typeface="Consolas"/>
                <a:cs typeface="Consolas"/>
              </a:defRPr>
            </a:lvl5pPr>
            <a:lvl6pPr>
              <a:defRPr sz="1125" b="0">
                <a:solidFill>
                  <a:srgbClr val="B8C8C1"/>
                </a:solidFill>
                <a:latin typeface="Consolas"/>
                <a:ea typeface="Consolas"/>
                <a:cs typeface="Consolas"/>
              </a:defRPr>
            </a:lvl6pPr>
            <a:lvl7pPr>
              <a:defRPr sz="1125" b="0">
                <a:solidFill>
                  <a:srgbClr val="B8C8C1"/>
                </a:solidFill>
                <a:latin typeface="Consolas"/>
                <a:ea typeface="Consolas"/>
                <a:cs typeface="Consolas"/>
              </a:defRPr>
            </a:lvl7pPr>
            <a:lvl8pPr>
              <a:defRPr sz="1125" b="0">
                <a:solidFill>
                  <a:srgbClr val="B8C8C1"/>
                </a:solidFill>
                <a:latin typeface="Consolas"/>
                <a:ea typeface="Consolas"/>
                <a:cs typeface="Consolas"/>
              </a:defRPr>
            </a:lvl8pPr>
            <a:lvl9pPr>
              <a:defRPr sz="1125" b="0">
                <a:solidFill>
                  <a:srgbClr val="B8C8C1"/>
                </a:solidFill>
                <a:latin typeface="Consolas"/>
                <a:ea typeface="Consolas"/>
                <a:cs typeface="Consolas"/>
              </a:defRPr>
            </a:lvl9pPr>
          </a:lstStyle>
          <a:p xmlns:a="http://schemas.openxmlformats.org/drawingml/2006/main">
            <a:pPr>
              <a:defRPr sz="1125" b="0">
                <a:solidFill>
                  <a:srgbClr val="B8C8C1"/>
                </a:solidFill>
                <a:latin typeface="Consolas"/>
                <a:ea typeface="Consolas"/>
                <a:cs typeface="Consolas"/>
              </a:defRPr>
            </a:pPr>
            <a:r>
              <a:rPr sz="1125" b="0">
                <a:solidFill>
                  <a:srgbClr val="B8C8C1"/>
                </a:solidFill>
                <a:latin typeface="Consolas"/>
                <a:ea typeface="Consolas"/>
                <a:cs typeface="Consolas"/>
              </a:rPr>
              <a:t>MECRO   SEMANA 3   CLASE 06   24/24</a:t>
            </a:r>
          </a:p>
        </p:txBody>
      </p:sp>
      <p:sp>
        <p:nvSpPr>
          <p:cNvPr id="4" name="">
            <a:extLst xmlns:a="http://schemas.openxmlformats.org/drawingml/2006/main">
              <a:ext uri="{FF2B5EF4-FFF2-40B4-BE49-F238E27FC236}">
                <a16:creationId xmlns:a16="http://schemas.microsoft.com/office/drawing/2014/main" id="{B0DD27EC-C250-423B-B404-3EE458EFE29D}"/>
              </a:ext>
            </a:extLst>
          </p:cNvPr>
          <p:cNvSpPr>
            <a:spLocks xmlns:a="http://schemas.openxmlformats.org/drawingml/2006/main" noGrp="1"/>
          </p:cNvSpPr>
          <p:nvPr/>
        </p:nvSpPr>
        <p:spPr>
          <a:xfrm xmlns:a="http://schemas.openxmlformats.org/drawingml/2006/main">
            <a:off x="590550" y="1800225"/>
            <a:ext cx="10715625" cy="152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925" b="1">
                <a:solidFill>
                  <a:srgbClr val="AEF4BB"/>
                </a:solidFill>
                <a:latin typeface="Arial"/>
                <a:ea typeface="Arial"/>
                <a:cs typeface="Arial"/>
              </a:defRPr>
            </a:defPPr>
            <a:lvl1pPr>
              <a:defRPr sz="2925" b="1">
                <a:solidFill>
                  <a:srgbClr val="AEF4BB"/>
                </a:solidFill>
                <a:latin typeface="Arial"/>
                <a:ea typeface="Arial"/>
                <a:cs typeface="Arial"/>
              </a:defRPr>
            </a:lvl1pPr>
            <a:lvl2pPr>
              <a:defRPr sz="2925" b="1">
                <a:solidFill>
                  <a:srgbClr val="AEF4BB"/>
                </a:solidFill>
                <a:latin typeface="Arial"/>
                <a:ea typeface="Arial"/>
                <a:cs typeface="Arial"/>
              </a:defRPr>
            </a:lvl2pPr>
            <a:lvl3pPr>
              <a:defRPr sz="2925" b="1">
                <a:solidFill>
                  <a:srgbClr val="AEF4BB"/>
                </a:solidFill>
                <a:latin typeface="Arial"/>
                <a:ea typeface="Arial"/>
                <a:cs typeface="Arial"/>
              </a:defRPr>
            </a:lvl3pPr>
            <a:lvl4pPr>
              <a:defRPr sz="2925" b="1">
                <a:solidFill>
                  <a:srgbClr val="AEF4BB"/>
                </a:solidFill>
                <a:latin typeface="Arial"/>
                <a:ea typeface="Arial"/>
                <a:cs typeface="Arial"/>
              </a:defRPr>
            </a:lvl4pPr>
            <a:lvl5pPr>
              <a:defRPr sz="2925" b="1">
                <a:solidFill>
                  <a:srgbClr val="AEF4BB"/>
                </a:solidFill>
                <a:latin typeface="Arial"/>
                <a:ea typeface="Arial"/>
                <a:cs typeface="Arial"/>
              </a:defRPr>
            </a:lvl5pPr>
            <a:lvl6pPr>
              <a:defRPr sz="2925" b="1">
                <a:solidFill>
                  <a:srgbClr val="AEF4BB"/>
                </a:solidFill>
                <a:latin typeface="Arial"/>
                <a:ea typeface="Arial"/>
                <a:cs typeface="Arial"/>
              </a:defRPr>
            </a:lvl6pPr>
            <a:lvl7pPr>
              <a:defRPr sz="2925" b="1">
                <a:solidFill>
                  <a:srgbClr val="AEF4BB"/>
                </a:solidFill>
                <a:latin typeface="Arial"/>
                <a:ea typeface="Arial"/>
                <a:cs typeface="Arial"/>
              </a:defRPr>
            </a:lvl7pPr>
            <a:lvl8pPr>
              <a:defRPr sz="2925" b="1">
                <a:solidFill>
                  <a:srgbClr val="AEF4BB"/>
                </a:solidFill>
                <a:latin typeface="Arial"/>
                <a:ea typeface="Arial"/>
                <a:cs typeface="Arial"/>
              </a:defRPr>
            </a:lvl8pPr>
            <a:lvl9pPr>
              <a:defRPr sz="2925" b="1">
                <a:solidFill>
                  <a:srgbClr val="AEF4BB"/>
                </a:solidFill>
                <a:latin typeface="Arial"/>
                <a:ea typeface="Arial"/>
                <a:cs typeface="Arial"/>
              </a:defRPr>
            </a:lvl9pPr>
          </a:lstStyle>
          <a:p xmlns:a="http://schemas.openxmlformats.org/drawingml/2006/main">
            <a:pPr>
              <a:defRPr sz="2925" b="1">
                <a:solidFill>
                  <a:srgbClr val="AEF4BB"/>
                </a:solidFill>
                <a:latin typeface="Arial"/>
                <a:ea typeface="Arial"/>
                <a:cs typeface="Arial"/>
              </a:defRPr>
            </a:pPr>
            <a:r>
              <a:rPr sz="2925" b="1">
                <a:solidFill>
                  <a:srgbClr val="AEF4BB"/>
                </a:solidFill>
                <a:latin typeface="Arial"/>
                <a:ea typeface="Arial"/>
                <a:cs typeface="Arial"/>
              </a:rPr>
              <a:t>Ficha completa, fotografías, plano y .ork corregidos.</a:t>
            </a:r>
          </a:p>
        </p:txBody>
      </p:sp>
      <p:sp>
        <p:nvSpPr>
          <p:cNvPr id="5" name="">
            <a:extLst xmlns:a="http://schemas.openxmlformats.org/drawingml/2006/main">
              <a:ext uri="{FF2B5EF4-FFF2-40B4-BE49-F238E27FC236}">
                <a16:creationId xmlns:a16="http://schemas.microsoft.com/office/drawing/2014/main" id="{EDE28EA9-D297-4DC1-B2C5-D4133B4C8955}"/>
              </a:ext>
            </a:extLst>
          </p:cNvPr>
          <p:cNvSpPr>
            <a:spLocks xmlns:a="http://schemas.openxmlformats.org/drawingml/2006/main" noGrp="1"/>
          </p:cNvSpPr>
          <p:nvPr/>
        </p:nvSpPr>
        <p:spPr>
          <a:xfrm xmlns:a="http://schemas.openxmlformats.org/drawingml/2006/main">
            <a:off x="590550" y="4314825"/>
            <a:ext cx="10715625" cy="1219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325" b="0">
                <a:solidFill>
                  <a:srgbClr val="FCFCF8"/>
                </a:solidFill>
                <a:latin typeface="Arial"/>
                <a:ea typeface="Arial"/>
                <a:cs typeface="Arial"/>
              </a:defRPr>
            </a:defPPr>
            <a:lvl1pPr>
              <a:defRPr sz="2325" b="0">
                <a:solidFill>
                  <a:srgbClr val="FCFCF8"/>
                </a:solidFill>
                <a:latin typeface="Arial"/>
                <a:ea typeface="Arial"/>
                <a:cs typeface="Arial"/>
              </a:defRPr>
            </a:lvl1pPr>
            <a:lvl2pPr>
              <a:defRPr sz="2325" b="0">
                <a:solidFill>
                  <a:srgbClr val="FCFCF8"/>
                </a:solidFill>
                <a:latin typeface="Arial"/>
                <a:ea typeface="Arial"/>
                <a:cs typeface="Arial"/>
              </a:defRPr>
            </a:lvl2pPr>
            <a:lvl3pPr>
              <a:defRPr sz="2325" b="0">
                <a:solidFill>
                  <a:srgbClr val="FCFCF8"/>
                </a:solidFill>
                <a:latin typeface="Arial"/>
                <a:ea typeface="Arial"/>
                <a:cs typeface="Arial"/>
              </a:defRPr>
            </a:lvl3pPr>
            <a:lvl4pPr>
              <a:defRPr sz="2325" b="0">
                <a:solidFill>
                  <a:srgbClr val="FCFCF8"/>
                </a:solidFill>
                <a:latin typeface="Arial"/>
                <a:ea typeface="Arial"/>
                <a:cs typeface="Arial"/>
              </a:defRPr>
            </a:lvl4pPr>
            <a:lvl5pPr>
              <a:defRPr sz="2325" b="0">
                <a:solidFill>
                  <a:srgbClr val="FCFCF8"/>
                </a:solidFill>
                <a:latin typeface="Arial"/>
                <a:ea typeface="Arial"/>
                <a:cs typeface="Arial"/>
              </a:defRPr>
            </a:lvl5pPr>
            <a:lvl6pPr>
              <a:defRPr sz="2325" b="0">
                <a:solidFill>
                  <a:srgbClr val="FCFCF8"/>
                </a:solidFill>
                <a:latin typeface="Arial"/>
                <a:ea typeface="Arial"/>
                <a:cs typeface="Arial"/>
              </a:defRPr>
            </a:lvl6pPr>
            <a:lvl7pPr>
              <a:defRPr sz="2325" b="0">
                <a:solidFill>
                  <a:srgbClr val="FCFCF8"/>
                </a:solidFill>
                <a:latin typeface="Arial"/>
                <a:ea typeface="Arial"/>
                <a:cs typeface="Arial"/>
              </a:defRPr>
            </a:lvl7pPr>
            <a:lvl8pPr>
              <a:defRPr sz="2325" b="0">
                <a:solidFill>
                  <a:srgbClr val="FCFCF8"/>
                </a:solidFill>
                <a:latin typeface="Arial"/>
                <a:ea typeface="Arial"/>
                <a:cs typeface="Arial"/>
              </a:defRPr>
            </a:lvl8pPr>
            <a:lvl9pPr>
              <a:defRPr sz="2325" b="0">
                <a:solidFill>
                  <a:srgbClr val="FCFCF8"/>
                </a:solidFill>
                <a:latin typeface="Arial"/>
                <a:ea typeface="Arial"/>
                <a:cs typeface="Arial"/>
              </a:defRPr>
            </a:lvl9pPr>
          </a:lstStyle>
          <a:p xmlns:a="http://schemas.openxmlformats.org/drawingml/2006/main">
            <a:pPr>
              <a:defRPr sz="2325" b="0">
                <a:solidFill>
                  <a:srgbClr val="FCFCF8"/>
                </a:solidFill>
                <a:latin typeface="Arial"/>
                <a:ea typeface="Arial"/>
                <a:cs typeface="Arial"/>
              </a:defRPr>
            </a:pPr>
            <a:r>
              <a:rPr sz="2325" b="0">
                <a:solidFill>
                  <a:srgbClr val="FCFCF8"/>
                </a:solidFill>
                <a:latin typeface="Arial"/>
                <a:ea typeface="Arial"/>
                <a:cs typeface="Arial"/>
              </a:rPr>
              <a:t>Conserva la revisión del equipo y señala qué comprobación sigue pendiente.</a:t>
            </a:r>
          </a:p>
        </p:txBody>
      </p:sp>
    </p:spTree>
    <p:extLst>
      <p:ext uri="{BB962C8B-B14F-4D97-AF65-F5344CB8AC3E}">
        <p14:creationId xmlns:p14="http://schemas.microsoft.com/office/powerpoint/2010/main" val="988617226"/>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2026-10-22T18:50:06.0330000Z</dcterms:created>
  <dcterms:modified xsi:type="dcterms:W3CDTF">2026-10-22T18:50:06.0330000Z</dcterms:modified>
</coreProperties>
</file>