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1c6fdd9d9b34e30" /><Relationship Type="http://schemas.openxmlformats.org/officeDocument/2006/relationships/extended-properties" Target="/docProps/app.xml" Id="Rbb25b69b8e81496e" /><Relationship Type="http://schemas.openxmlformats.org/officeDocument/2006/relationships/officeDocument" Target="/ppt/presentation.xml" Id="Re1f9e3cf4d644376" /></Relationships>
</file>

<file path=ppt/presentation.xml><?xml version="1.0" encoding="utf-8"?>
<p:presentation xmlns:p="http://schemas.openxmlformats.org/presentationml/2006/main">
  <p:sldMasterIdLst>
    <p:sldMasterId xmlns:r="http://schemas.openxmlformats.org/officeDocument/2006/relationships" id="2147483648" r:id="R5223c0a945004799"/>
  </p:sldMasterIdLst>
  <p:notesMasterIdLst>
    <p:notesMasterId xmlns:r="http://schemas.openxmlformats.org/officeDocument/2006/relationships" r:id="R7d4a57f1ad1e4466"/>
  </p:notesMasterIdLst>
  <p:sldIdLst>
    <p:sldId xmlns:r="http://schemas.openxmlformats.org/officeDocument/2006/relationships" id="256" r:id="Raad120948fb04da9"/>
    <p:sldId xmlns:r="http://schemas.openxmlformats.org/officeDocument/2006/relationships" id="257" r:id="R74d3efc23a454065"/>
    <p:sldId xmlns:r="http://schemas.openxmlformats.org/officeDocument/2006/relationships" id="258" r:id="R682cc24d8cf54db0"/>
    <p:sldId xmlns:r="http://schemas.openxmlformats.org/officeDocument/2006/relationships" id="259" r:id="R59458e01359d43e2"/>
    <p:sldId xmlns:r="http://schemas.openxmlformats.org/officeDocument/2006/relationships" id="260" r:id="R0bf66455af164da5"/>
    <p:sldId xmlns:r="http://schemas.openxmlformats.org/officeDocument/2006/relationships" id="261" r:id="Rac62de641d264db5"/>
    <p:sldId xmlns:r="http://schemas.openxmlformats.org/officeDocument/2006/relationships" id="262" r:id="R01706af9eb0e41c1"/>
    <p:sldId xmlns:r="http://schemas.openxmlformats.org/officeDocument/2006/relationships" id="263" r:id="R1ae834ba81c14370"/>
    <p:sldId xmlns:r="http://schemas.openxmlformats.org/officeDocument/2006/relationships" id="264" r:id="R427f4b2be3a2422b"/>
    <p:sldId xmlns:r="http://schemas.openxmlformats.org/officeDocument/2006/relationships" id="265" r:id="R402cc3540fd84f71"/>
    <p:sldId xmlns:r="http://schemas.openxmlformats.org/officeDocument/2006/relationships" id="266" r:id="Rcf0a020fd1d04d5c"/>
    <p:sldId xmlns:r="http://schemas.openxmlformats.org/officeDocument/2006/relationships" id="267" r:id="R8bcf337b2a594c9c"/>
    <p:sldId xmlns:r="http://schemas.openxmlformats.org/officeDocument/2006/relationships" id="268" r:id="R242e2395522e4f34"/>
    <p:sldId xmlns:r="http://schemas.openxmlformats.org/officeDocument/2006/relationships" id="269" r:id="R7b435dea4d474185"/>
    <p:sldId xmlns:r="http://schemas.openxmlformats.org/officeDocument/2006/relationships" id="270" r:id="R5fb1c551a1884f39"/>
    <p:sldId xmlns:r="http://schemas.openxmlformats.org/officeDocument/2006/relationships" id="271" r:id="R381b7a9dad1e4894"/>
    <p:sldId xmlns:r="http://schemas.openxmlformats.org/officeDocument/2006/relationships" id="272" r:id="Re3d710ac98724839"/>
    <p:sldId xmlns:r="http://schemas.openxmlformats.org/officeDocument/2006/relationships" id="273" r:id="R3d09491e6b814f60"/>
    <p:sldId xmlns:r="http://schemas.openxmlformats.org/officeDocument/2006/relationships" id="274" r:id="Red92f9b555634891"/>
    <p:sldId xmlns:r="http://schemas.openxmlformats.org/officeDocument/2006/relationships" id="275" r:id="R04581d9a4b814595"/>
    <p:sldId xmlns:r="http://schemas.openxmlformats.org/officeDocument/2006/relationships" id="276" r:id="Rf11b6766404244cb"/>
    <p:sldId xmlns:r="http://schemas.openxmlformats.org/officeDocument/2006/relationships" id="277" r:id="R494bcc849e3c4079"/>
    <p:sldId xmlns:r="http://schemas.openxmlformats.org/officeDocument/2006/relationships" id="278" r:id="Rb8b243614d4445c0"/>
    <p:sldId xmlns:r="http://schemas.openxmlformats.org/officeDocument/2006/relationships" id="279" r:id="R20dfd8bed81f4e93"/>
    <p:sldId xmlns:r="http://schemas.openxmlformats.org/officeDocument/2006/relationships" id="280" r:id="Rac58aac0f4e54b9b"/>
    <p:sldId xmlns:r="http://schemas.openxmlformats.org/officeDocument/2006/relationships" id="281" r:id="R0011b95e2f454b6f"/>
    <p:sldId xmlns:r="http://schemas.openxmlformats.org/officeDocument/2006/relationships" id="282" r:id="R2eba64acc4ff4d7d"/>
    <p:sldId xmlns:r="http://schemas.openxmlformats.org/officeDocument/2006/relationships" id="283" r:id="Rdebbaac6a3e34df8"/>
    <p:sldId xmlns:r="http://schemas.openxmlformats.org/officeDocument/2006/relationships" id="284" r:id="Rdf398390b69c4bd4"/>
    <p:sldId xmlns:r="http://schemas.openxmlformats.org/officeDocument/2006/relationships" id="285" r:id="Re691903d95b74bf4"/>
    <p:sldId xmlns:r="http://schemas.openxmlformats.org/officeDocument/2006/relationships" id="286" r:id="R45e9042443d249bb"/>
    <p:sldId xmlns:r="http://schemas.openxmlformats.org/officeDocument/2006/relationships" id="287" r:id="R2ec8a8cd1d4d4bfb"/>
    <p:sldId xmlns:r="http://schemas.openxmlformats.org/officeDocument/2006/relationships" id="288" r:id="R324714ad3e004685"/>
    <p:sldId xmlns:r="http://schemas.openxmlformats.org/officeDocument/2006/relationships" id="289" r:id="R814220ba862c44c8"/>
    <p:sldId xmlns:r="http://schemas.openxmlformats.org/officeDocument/2006/relationships" id="290" r:id="Rff7edb55b7604879"/>
    <p:sldId xmlns:r="http://schemas.openxmlformats.org/officeDocument/2006/relationships" id="291" r:id="Rd9f63c8b23f0410b"/>
    <p:sldId xmlns:r="http://schemas.openxmlformats.org/officeDocument/2006/relationships" id="292" r:id="R703adaea8fb042b7"/>
    <p:sldId xmlns:r="http://schemas.openxmlformats.org/officeDocument/2006/relationships" id="293" r:id="Rdc442e50094f4d3e"/>
    <p:sldId xmlns:r="http://schemas.openxmlformats.org/officeDocument/2006/relationships" id="294" r:id="R9ba4923f725c4334"/>
    <p:sldId xmlns:r="http://schemas.openxmlformats.org/officeDocument/2006/relationships" id="295" r:id="Rdafa816d52f5455a"/>
    <p:sldId xmlns:r="http://schemas.openxmlformats.org/officeDocument/2006/relationships" id="296" r:id="Red8b2c5ddf454cf4"/>
    <p:sldId xmlns:r="http://schemas.openxmlformats.org/officeDocument/2006/relationships" id="297" r:id="Rb81f472682874481"/>
    <p:sldId xmlns:r="http://schemas.openxmlformats.org/officeDocument/2006/relationships" id="298" r:id="R4503a1f2afc24e74"/>
    <p:sldId xmlns:r="http://schemas.openxmlformats.org/officeDocument/2006/relationships" id="299" r:id="Rc8582c8ed40249b9"/>
    <p:sldId xmlns:r="http://schemas.openxmlformats.org/officeDocument/2006/relationships" id="300" r:id="Rf6d2baa1f9304708"/>
    <p:sldId xmlns:r="http://schemas.openxmlformats.org/officeDocument/2006/relationships" id="301" r:id="R2739b9a6e8014bf9"/>
    <p:sldId xmlns:r="http://schemas.openxmlformats.org/officeDocument/2006/relationships" id="302" r:id="R6d05659b70544a84"/>
    <p:sldId xmlns:r="http://schemas.openxmlformats.org/officeDocument/2006/relationships" id="303" r:id="R6d54bceebb1a4e9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e1d84d573e3440d" /><Relationship Type="http://schemas.openxmlformats.org/officeDocument/2006/relationships/slideMaster" Target="/ppt/slideMasters/slideMaster1.xml" Id="R5223c0a945004799" /><Relationship Type="http://schemas.openxmlformats.org/officeDocument/2006/relationships/notesMaster" Target="/ppt/notesMasters/notesMaster1.xml" Id="R7d4a57f1ad1e4466" /><Relationship Type="http://schemas.openxmlformats.org/officeDocument/2006/relationships/presProps" Target="/ppt/presProps.xml" Id="R281279acc31b442f" /><Relationship Type="http://schemas.openxmlformats.org/officeDocument/2006/relationships/tableStyles" Target="/ppt/tableStyles.xml" Id="R8cb0ef56b8024886" /><Relationship Type="http://schemas.openxmlformats.org/officeDocument/2006/relationships/slide" Target="/ppt/slides/slide1.xml" Id="Raad120948fb04da9" /><Relationship Type="http://schemas.openxmlformats.org/officeDocument/2006/relationships/slide" Target="/ppt/slides/slide2.xml" Id="R74d3efc23a454065" /><Relationship Type="http://schemas.openxmlformats.org/officeDocument/2006/relationships/slide" Target="/ppt/slides/slide3.xml" Id="R682cc24d8cf54db0" /><Relationship Type="http://schemas.openxmlformats.org/officeDocument/2006/relationships/slide" Target="/ppt/slides/slide4.xml" Id="R59458e01359d43e2" /><Relationship Type="http://schemas.openxmlformats.org/officeDocument/2006/relationships/slide" Target="/ppt/slides/slide5.xml" Id="R0bf66455af164da5" /><Relationship Type="http://schemas.openxmlformats.org/officeDocument/2006/relationships/slide" Target="/ppt/slides/slide6.xml" Id="Rac62de641d264db5" /><Relationship Type="http://schemas.openxmlformats.org/officeDocument/2006/relationships/slide" Target="/ppt/slides/slide7.xml" Id="R01706af9eb0e41c1" /><Relationship Type="http://schemas.openxmlformats.org/officeDocument/2006/relationships/slide" Target="/ppt/slides/slide8.xml" Id="R1ae834ba81c14370" /><Relationship Type="http://schemas.openxmlformats.org/officeDocument/2006/relationships/slide" Target="/ppt/slides/slide9.xml" Id="R427f4b2be3a2422b" /><Relationship Type="http://schemas.openxmlformats.org/officeDocument/2006/relationships/slide" Target="/ppt/slides/slide10.xml" Id="R402cc3540fd84f71" /><Relationship Type="http://schemas.openxmlformats.org/officeDocument/2006/relationships/slide" Target="/ppt/slides/slide11.xml" Id="Rcf0a020fd1d04d5c" /><Relationship Type="http://schemas.openxmlformats.org/officeDocument/2006/relationships/slide" Target="/ppt/slides/slide12.xml" Id="R8bcf337b2a594c9c" /><Relationship Type="http://schemas.openxmlformats.org/officeDocument/2006/relationships/slide" Target="/ppt/slides/slide13.xml" Id="R242e2395522e4f34" /><Relationship Type="http://schemas.openxmlformats.org/officeDocument/2006/relationships/slide" Target="/ppt/slides/slide14.xml" Id="R7b435dea4d474185" /><Relationship Type="http://schemas.openxmlformats.org/officeDocument/2006/relationships/slide" Target="/ppt/slides/slide15.xml" Id="R5fb1c551a1884f39" /><Relationship Type="http://schemas.openxmlformats.org/officeDocument/2006/relationships/slide" Target="/ppt/slides/slide16.xml" Id="R381b7a9dad1e4894" /><Relationship Type="http://schemas.openxmlformats.org/officeDocument/2006/relationships/slide" Target="/ppt/slides/slide17.xml" Id="Re3d710ac98724839" /><Relationship Type="http://schemas.openxmlformats.org/officeDocument/2006/relationships/slide" Target="/ppt/slides/slide18.xml" Id="R3d09491e6b814f60" /><Relationship Type="http://schemas.openxmlformats.org/officeDocument/2006/relationships/slide" Target="/ppt/slides/slide19.xml" Id="Red92f9b555634891" /><Relationship Type="http://schemas.openxmlformats.org/officeDocument/2006/relationships/slide" Target="/ppt/slides/slide20.xml" Id="R04581d9a4b814595" /><Relationship Type="http://schemas.openxmlformats.org/officeDocument/2006/relationships/slide" Target="/ppt/slides/slide21.xml" Id="Rf11b6766404244cb" /><Relationship Type="http://schemas.openxmlformats.org/officeDocument/2006/relationships/slide" Target="/ppt/slides/slide22.xml" Id="R494bcc849e3c4079" /><Relationship Type="http://schemas.openxmlformats.org/officeDocument/2006/relationships/slide" Target="/ppt/slides/slide23.xml" Id="Rb8b243614d4445c0" /><Relationship Type="http://schemas.openxmlformats.org/officeDocument/2006/relationships/slide" Target="/ppt/slides/slide24.xml" Id="R20dfd8bed81f4e93" /><Relationship Type="http://schemas.openxmlformats.org/officeDocument/2006/relationships/slide" Target="/ppt/slides/slide25.xml" Id="Rac58aac0f4e54b9b" /><Relationship Type="http://schemas.openxmlformats.org/officeDocument/2006/relationships/slide" Target="/ppt/slides/slide26.xml" Id="R0011b95e2f454b6f" /><Relationship Type="http://schemas.openxmlformats.org/officeDocument/2006/relationships/slide" Target="/ppt/slides/slide27.xml" Id="R2eba64acc4ff4d7d" /><Relationship Type="http://schemas.openxmlformats.org/officeDocument/2006/relationships/slide" Target="/ppt/slides/slide28.xml" Id="Rdebbaac6a3e34df8" /><Relationship Type="http://schemas.openxmlformats.org/officeDocument/2006/relationships/slide" Target="/ppt/slides/slide29.xml" Id="Rdf398390b69c4bd4" /><Relationship Type="http://schemas.openxmlformats.org/officeDocument/2006/relationships/slide" Target="/ppt/slides/slide30.xml" Id="Re691903d95b74bf4" /><Relationship Type="http://schemas.openxmlformats.org/officeDocument/2006/relationships/slide" Target="/ppt/slides/slide31.xml" Id="R45e9042443d249bb" /><Relationship Type="http://schemas.openxmlformats.org/officeDocument/2006/relationships/slide" Target="/ppt/slides/slide32.xml" Id="R2ec8a8cd1d4d4bfb" /><Relationship Type="http://schemas.openxmlformats.org/officeDocument/2006/relationships/slide" Target="/ppt/slides/slide33.xml" Id="R324714ad3e004685" /><Relationship Type="http://schemas.openxmlformats.org/officeDocument/2006/relationships/slide" Target="/ppt/slides/slide34.xml" Id="R814220ba862c44c8" /><Relationship Type="http://schemas.openxmlformats.org/officeDocument/2006/relationships/slide" Target="/ppt/slides/slide35.xml" Id="Rff7edb55b7604879" /><Relationship Type="http://schemas.openxmlformats.org/officeDocument/2006/relationships/slide" Target="/ppt/slides/slide36.xml" Id="Rd9f63c8b23f0410b" /><Relationship Type="http://schemas.openxmlformats.org/officeDocument/2006/relationships/slide" Target="/ppt/slides/slide37.xml" Id="R703adaea8fb042b7" /><Relationship Type="http://schemas.openxmlformats.org/officeDocument/2006/relationships/slide" Target="/ppt/slides/slide38.xml" Id="Rdc442e50094f4d3e" /><Relationship Type="http://schemas.openxmlformats.org/officeDocument/2006/relationships/slide" Target="/ppt/slides/slide39.xml" Id="R9ba4923f725c4334" /><Relationship Type="http://schemas.openxmlformats.org/officeDocument/2006/relationships/slide" Target="/ppt/slides/slide40.xml" Id="Rdafa816d52f5455a" /><Relationship Type="http://schemas.openxmlformats.org/officeDocument/2006/relationships/slide" Target="/ppt/slides/slide41.xml" Id="Red8b2c5ddf454cf4" /><Relationship Type="http://schemas.openxmlformats.org/officeDocument/2006/relationships/slide" Target="/ppt/slides/slide42.xml" Id="Rb81f472682874481" /><Relationship Type="http://schemas.openxmlformats.org/officeDocument/2006/relationships/slide" Target="/ppt/slides/slide43.xml" Id="R4503a1f2afc24e74" /><Relationship Type="http://schemas.openxmlformats.org/officeDocument/2006/relationships/slide" Target="/ppt/slides/slide44.xml" Id="Rc8582c8ed40249b9" /><Relationship Type="http://schemas.openxmlformats.org/officeDocument/2006/relationships/slide" Target="/ppt/slides/slide45.xml" Id="Rf6d2baa1f9304708" /><Relationship Type="http://schemas.openxmlformats.org/officeDocument/2006/relationships/slide" Target="/ppt/slides/slide46.xml" Id="R2739b9a6e8014bf9" /><Relationship Type="http://schemas.openxmlformats.org/officeDocument/2006/relationships/slide" Target="/ppt/slides/slide47.xml" Id="R6d05659b70544a84" /><Relationship Type="http://schemas.openxmlformats.org/officeDocument/2006/relationships/slide" Target="/ppt/slides/slide48.xml" Id="R6d54bceebb1a4e9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4692b7627944b7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7dd01d34dbf40a6" /><Relationship Type="http://schemas.openxmlformats.org/officeDocument/2006/relationships/notesMaster" Target="/ppt/notesMasters/notesMaster1.xml" Id="R03f8ca43002a4db9" /></Relationships>
</file>

<file path=ppt/notesSlides/_rels/notesSlide2.xml.rels>&#65279;<?xml version="1.0" encoding="utf-8"?><Relationships xmlns="http://schemas.openxmlformats.org/package/2006/relationships"><Relationship Type="http://schemas.openxmlformats.org/officeDocument/2006/relationships/slide" Target="/ppt/slides/slide2.xml" Id="Ra6f035eda4264094" /><Relationship Type="http://schemas.openxmlformats.org/officeDocument/2006/relationships/notesMaster" Target="/ppt/notesMasters/notesMaster1.xml" Id="R9daf757b4f314770" /></Relationships>
</file>

<file path=ppt/notesSlides/_rels/notesSlide3.xml.rels>&#65279;<?xml version="1.0" encoding="utf-8"?><Relationships xmlns="http://schemas.openxmlformats.org/package/2006/relationships"><Relationship Type="http://schemas.openxmlformats.org/officeDocument/2006/relationships/slide" Target="/ppt/slides/slide3.xml" Id="R86d08680f20b45bd" /><Relationship Type="http://schemas.openxmlformats.org/officeDocument/2006/relationships/notesMaster" Target="/ppt/notesMasters/notesMaster1.xml" Id="Rf0c5d2a3d19045cc" /></Relationships>
</file>

<file path=ppt/notesSlides/_rels/notesSlide4.xml.rels>&#65279;<?xml version="1.0" encoding="utf-8"?><Relationships xmlns="http://schemas.openxmlformats.org/package/2006/relationships"><Relationship Type="http://schemas.openxmlformats.org/officeDocument/2006/relationships/slide" Target="/ppt/slides/slide4.xml" Id="Rbb7baa7c079f47e8" /><Relationship Type="http://schemas.openxmlformats.org/officeDocument/2006/relationships/notesMaster" Target="/ppt/notesMasters/notesMaster1.xml" Id="R4386103a983247d6" /></Relationships>
</file>

<file path=ppt/notesSlides/_rels/notesSlide5.xml.rels>&#65279;<?xml version="1.0" encoding="utf-8"?><Relationships xmlns="http://schemas.openxmlformats.org/package/2006/relationships"><Relationship Type="http://schemas.openxmlformats.org/officeDocument/2006/relationships/slide" Target="/ppt/slides/slide5.xml" Id="R585f849262244060" /><Relationship Type="http://schemas.openxmlformats.org/officeDocument/2006/relationships/notesMaster" Target="/ppt/notesMasters/notesMaster1.xml" Id="R7068437cb314407f" /></Relationships>
</file>

<file path=ppt/notesSlides/_rels/notesSlide6.xml.rels>&#65279;<?xml version="1.0" encoding="utf-8"?><Relationships xmlns="http://schemas.openxmlformats.org/package/2006/relationships"><Relationship Type="http://schemas.openxmlformats.org/officeDocument/2006/relationships/slide" Target="/ppt/slides/slide6.xml" Id="R4b2d729336d94598" /><Relationship Type="http://schemas.openxmlformats.org/officeDocument/2006/relationships/notesMaster" Target="/ppt/notesMasters/notesMaster1.xml" Id="R60d22cebcd944f77" /></Relationships>
</file>

<file path=ppt/notesSlides/_rels/notesSlide7.xml.rels>&#65279;<?xml version="1.0" encoding="utf-8"?><Relationships xmlns="http://schemas.openxmlformats.org/package/2006/relationships"><Relationship Type="http://schemas.openxmlformats.org/officeDocument/2006/relationships/slide" Target="/ppt/slides/slide7.xml" Id="R2ad09da933ef4cf9" /><Relationship Type="http://schemas.openxmlformats.org/officeDocument/2006/relationships/notesMaster" Target="/ppt/notesMasters/notesMaster1.xml" Id="R2812f58b3ca646c6" /></Relationships>
</file>

<file path=ppt/notesSlides/_rels/notesSlide8.xml.rels>&#65279;<?xml version="1.0" encoding="utf-8"?><Relationships xmlns="http://schemas.openxmlformats.org/package/2006/relationships"><Relationship Type="http://schemas.openxmlformats.org/officeDocument/2006/relationships/slide" Target="/ppt/slides/slide8.xml" Id="R8c64990cc8844141" /><Relationship Type="http://schemas.openxmlformats.org/officeDocument/2006/relationships/notesMaster" Target="/ppt/notesMasters/notesMaster1.xml" Id="R5b4608a9ef584104" /></Relationships>
</file>

<file path=ppt/notesSlides/_rels/notesSlide9.xml.rels>&#65279;<?xml version="1.0" encoding="utf-8"?><Relationships xmlns="http://schemas.openxmlformats.org/package/2006/relationships"><Relationship Type="http://schemas.openxmlformats.org/officeDocument/2006/relationships/slide" Target="/ppt/slides/slide9.xml" Id="R1b86c60e44b04d3f" /><Relationship Type="http://schemas.openxmlformats.org/officeDocument/2006/relationships/notesMaster" Target="/ppt/notesMasters/notesMaster1.xml" Id="Rfacc83be86294ba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3c4ebfcdb0d4c5c" /><Relationship Type="http://schemas.openxmlformats.org/officeDocument/2006/relationships/notesMaster" Target="/ppt/notesMasters/notesMaster1.xml" Id="R695890503b6e4dc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39fc26690bd4bba" /><Relationship Type="http://schemas.openxmlformats.org/officeDocument/2006/relationships/notesMaster" Target="/ppt/notesMasters/notesMaster1.xml" Id="Rb84e28f0c7094d1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64a07f2fc484839" /><Relationship Type="http://schemas.openxmlformats.org/officeDocument/2006/relationships/notesMaster" Target="/ppt/notesMasters/notesMaster1.xml" Id="R4357477a99a74d5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a03c6c8a405448d" /><Relationship Type="http://schemas.openxmlformats.org/officeDocument/2006/relationships/notesMaster" Target="/ppt/notesMasters/notesMaster1.xml" Id="R8738a3ea185749c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b3c35bd77514cac" /><Relationship Type="http://schemas.openxmlformats.org/officeDocument/2006/relationships/notesMaster" Target="/ppt/notesMasters/notesMaster1.xml" Id="R7dd473f1db3549f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b203babd97a4f1d" /><Relationship Type="http://schemas.openxmlformats.org/officeDocument/2006/relationships/notesMaster" Target="/ppt/notesMasters/notesMaster1.xml" Id="Racd3e351c413489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a9f23b7925d46d5" /><Relationship Type="http://schemas.openxmlformats.org/officeDocument/2006/relationships/notesMaster" Target="/ppt/notesMasters/notesMaster1.xml" Id="Ra394deb4d411431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9505d8c110d4917" /><Relationship Type="http://schemas.openxmlformats.org/officeDocument/2006/relationships/notesMaster" Target="/ppt/notesMasters/notesMaster1.xml" Id="Rdaf638804a29490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f4163cee75e4d2a" /><Relationship Type="http://schemas.openxmlformats.org/officeDocument/2006/relationships/notesMaster" Target="/ppt/notesMasters/notesMaster1.xml" Id="R702bcc04ca24492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835d3d1cd814e15" /><Relationship Type="http://schemas.openxmlformats.org/officeDocument/2006/relationships/notesMaster" Target="/ppt/notesMasters/notesMaster1.xml" Id="R298627b26138416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22dc060983b400c" /><Relationship Type="http://schemas.openxmlformats.org/officeDocument/2006/relationships/notesMaster" Target="/ppt/notesMasters/notesMaster1.xml" Id="R49450be30e8b49c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80d402cf16b4493" /><Relationship Type="http://schemas.openxmlformats.org/officeDocument/2006/relationships/notesMaster" Target="/ppt/notesMasters/notesMaster1.xml" Id="Rccf0b653dcad4c1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21de196dcf04b39" /><Relationship Type="http://schemas.openxmlformats.org/officeDocument/2006/relationships/notesMaster" Target="/ppt/notesMasters/notesMaster1.xml" Id="Rbd8663e3b2ff4da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4ef7463aa7d47b0" /><Relationship Type="http://schemas.openxmlformats.org/officeDocument/2006/relationships/notesMaster" Target="/ppt/notesMasters/notesMaster1.xml" Id="R32e256135bb34c2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24133c4c9c94eb1" /><Relationship Type="http://schemas.openxmlformats.org/officeDocument/2006/relationships/notesMaster" Target="/ppt/notesMasters/notesMaster1.xml" Id="Raaa67607ec5b4a3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f6083fda57646a5" /><Relationship Type="http://schemas.openxmlformats.org/officeDocument/2006/relationships/notesMaster" Target="/ppt/notesMasters/notesMaster1.xml" Id="Re70bedacc49643b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6d9705be2d54a1a" /><Relationship Type="http://schemas.openxmlformats.org/officeDocument/2006/relationships/notesMaster" Target="/ppt/notesMasters/notesMaster1.xml" Id="Rd47eb6ba05204ff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f18642695854414" /><Relationship Type="http://schemas.openxmlformats.org/officeDocument/2006/relationships/notesMaster" Target="/ppt/notesMasters/notesMaster1.xml" Id="Rd892b919bbb9415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3ac75d3bf964637" /><Relationship Type="http://schemas.openxmlformats.org/officeDocument/2006/relationships/notesMaster" Target="/ppt/notesMasters/notesMaster1.xml" Id="Re04ef76cfdaa4a1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fac4fdb038d461d" /><Relationship Type="http://schemas.openxmlformats.org/officeDocument/2006/relationships/notesMaster" Target="/ppt/notesMasters/notesMaster1.xml" Id="Re0a643f8d45b47b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684eebc16d6473b" /><Relationship Type="http://schemas.openxmlformats.org/officeDocument/2006/relationships/notesMaster" Target="/ppt/notesMasters/notesMaster1.xml" Id="R6a1e1186d93f48f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a1c2d2be2ab4855" /><Relationship Type="http://schemas.openxmlformats.org/officeDocument/2006/relationships/notesMaster" Target="/ppt/notesMasters/notesMaster1.xml" Id="R725f0fa9cbbb45e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ba4a570ad7b4b4b" /><Relationship Type="http://schemas.openxmlformats.org/officeDocument/2006/relationships/notesMaster" Target="/ppt/notesMasters/notesMaster1.xml" Id="R6440a6418fe047b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30e9ada1a900409f" /><Relationship Type="http://schemas.openxmlformats.org/officeDocument/2006/relationships/notesMaster" Target="/ppt/notesMasters/notesMaster1.xml" Id="R5decbbe35aa8467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357451f1fc14977" /><Relationship Type="http://schemas.openxmlformats.org/officeDocument/2006/relationships/notesMaster" Target="/ppt/notesMasters/notesMaster1.xml" Id="Rb09b1ae78455403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7b375c3c8cb4ea8" /><Relationship Type="http://schemas.openxmlformats.org/officeDocument/2006/relationships/notesMaster" Target="/ppt/notesMasters/notesMaster1.xml" Id="Rf1ace64cc43c4f35"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b3f781040f7f446d" /><Relationship Type="http://schemas.openxmlformats.org/officeDocument/2006/relationships/notesMaster" Target="/ppt/notesMasters/notesMaster1.xml" Id="Ra13b08d8b631449e"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df7488bdd9ad4bb0" /><Relationship Type="http://schemas.openxmlformats.org/officeDocument/2006/relationships/notesMaster" Target="/ppt/notesMasters/notesMaster1.xml" Id="Raea8b74ed57c4f5c"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3d50ea61d6e64d9f" /><Relationship Type="http://schemas.openxmlformats.org/officeDocument/2006/relationships/notesMaster" Target="/ppt/notesMasters/notesMaster1.xml" Id="R388d6d2360ea4ffd"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f26c4ba657d0477e" /><Relationship Type="http://schemas.openxmlformats.org/officeDocument/2006/relationships/notesMaster" Target="/ppt/notesMasters/notesMaster1.xml" Id="Raa04381a98ec4483"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efbfc26ed4c145c2" /><Relationship Type="http://schemas.openxmlformats.org/officeDocument/2006/relationships/notesMaster" Target="/ppt/notesMasters/notesMaster1.xml" Id="R19a500db49ad420e"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e7787e10720a43a1" /><Relationship Type="http://schemas.openxmlformats.org/officeDocument/2006/relationships/notesMaster" Target="/ppt/notesMasters/notesMaster1.xml" Id="R91f4694726aa4efe"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2b4fc4e0a7dc4eda" /><Relationship Type="http://schemas.openxmlformats.org/officeDocument/2006/relationships/notesMaster" Target="/ppt/notesMasters/notesMaster1.xml" Id="R442de4c39a974860"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d1c33b0665a649ff" /><Relationship Type="http://schemas.openxmlformats.org/officeDocument/2006/relationships/notesMaster" Target="/ppt/notesMasters/notesMaster1.xml" Id="R9c192bc215c04c8f"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a7a8560a065549e6" /><Relationship Type="http://schemas.openxmlformats.org/officeDocument/2006/relationships/notesMaster" Target="/ppt/notesMasters/notesMaster1.xml" Id="Rd07a0563acac4566"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1ed550b98a104bc8" /><Relationship Type="http://schemas.openxmlformats.org/officeDocument/2006/relationships/notesMaster" Target="/ppt/notesMasters/notesMaster1.xml" Id="Ra50c564f7b1e40fd"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7ffea846f700412b" /><Relationship Type="http://schemas.openxmlformats.org/officeDocument/2006/relationships/notesMaster" Target="/ppt/notesMasters/notesMaster1.xml" Id="Rf788734b701049ba"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c5983b8368954df5" /><Relationship Type="http://schemas.openxmlformats.org/officeDocument/2006/relationships/notesMaster" Target="/ppt/notesMasters/notesMaster1.xml" Id="R7d69906645a44e42"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ef4b893ae8774cb7" /><Relationship Type="http://schemas.openxmlformats.org/officeDocument/2006/relationships/notesMaster" Target="/ppt/notesMasters/notesMaster1.xml" Id="Rc0e303d67a3c417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Cuerpo, dimensiones y espacio interior.</a:t>
            </a:r>
          </a:p>
          <a:p xmlns:a="http://schemas.openxmlformats.org/drawingml/2006/main">
            <a:r>
              <a:t>En línea, 2 h. Tramo del núcleo: 3 min.</a:t>
            </a:r>
          </a:p>
          <a:p xmlns:a="http://schemas.openxmlformats.org/drawingml/2006/main">
            <a:r>
              <a:t/>
            </a:r>
          </a:p>
          <a:p xmlns:a="http://schemas.openxmlformats.org/drawingml/2006/main">
            <a:r>
              <a:t>Muestra un tubo y una pieza que no pase por su abertura: pregunta si alargar el tubo lo resolvería.</a:t>
            </a:r>
          </a:p>
          <a:p xmlns:a="http://schemas.openxmlformats.org/drawingml/2006/main">
            <a:r>
              <a:t/>
            </a:r>
          </a:p>
          <a:p xmlns:a="http://schemas.openxmlformats.org/drawingml/2006/main">
            <a:r>
              <a:t>Resultado: Elegir un tubo disponible y distribuir componentes sin confundir longitud exterior con espacio útil.</a:t>
            </a:r>
          </a:p>
          <a:p xmlns:a="http://schemas.openxmlformats.org/drawingml/2006/main">
            <a:r>
              <a:t>Misión: Construir un modelo compacto que pueda montarse, inspeccionarse y recuperarse.</a:t>
            </a:r>
          </a:p>
          <a:p xmlns:a="http://schemas.openxmlformats.org/drawingml/2006/main">
            <a:r>
              <a:t>Entrega: Plano de distribución, archivo actualizado y ficha del cuerpo.</a:t>
            </a:r>
          </a:p>
          <a:p xmlns:a="http://schemas.openxmlformats.org/drawingml/2006/main">
            <a:r>
              <a:t/>
            </a:r>
          </a:p>
          <a:p xmlns:a="http://schemas.openxmlformats.org/drawingml/2006/main">
            <a:r>
              <a:t>Preguntas y respuestas</a:t>
            </a:r>
          </a:p>
          <a:p xmlns:a="http://schemas.openxmlformats.org/drawingml/2006/main">
            <a:r>
              <a:t>¿Alargar el cuerpo permite introducir una pieza demasiado ancha?</a:t>
            </a:r>
          </a:p>
          <a:p xmlns:a="http://schemas.openxmlformats.org/drawingml/2006/main">
            <a:r>
              <a:t>No. Hay que revisar el paso transversal.</a:t>
            </a:r>
          </a:p>
          <a:p xmlns:a="http://schemas.openxmlformats.org/drawingml/2006/main">
            <a:r>
              <a:t/>
            </a:r>
          </a:p>
          <a:p xmlns:a="http://schemas.openxmlformats.org/drawingml/2006/main">
            <a:r>
              <a:t>¿Se suma dos veces la zona de un encaje?</a:t>
            </a:r>
          </a:p>
          <a:p xmlns:a="http://schemas.openxmlformats.org/drawingml/2006/main">
            <a:r>
              <a:t>No. Debe distinguirse longitud de pieza y longitud visible ensamblada.</a:t>
            </a:r>
          </a:p>
          <a:p xmlns:a="http://schemas.openxmlformats.org/drawingml/2006/main">
            <a:r>
              <a:t/>
            </a:r>
          </a:p>
          <a:p xmlns:a="http://schemas.openxmlformats.org/drawingml/2006/main">
            <a:r>
              <a:t>¿Qué falta si solo tenemos el volumen del paracaídas?</a:t>
            </a:r>
          </a:p>
          <a:p xmlns:a="http://schemas.openxmlformats.org/drawingml/2006/main">
            <a:r>
              <a:t>Su envolvente plegada, cordones, acceso y comprobación de movimiento.</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OpenRocket. Basic Rocket Design. https://openrocket.readthedocs.io/en/latest/user_guide/basic_rocket_design.html</a:t>
            </a:r>
          </a:p>
          <a:p xmlns:a="http://schemas.openxmlformats.org/drawingml/2006/main">
            <a:r>
              <a:t>OpenRocket. Getting Started. https://openrocket.readthedocs.io/en/latest/setup/getting_started.html</a:t>
            </a:r>
          </a:p>
          <a:p xmlns:a="http://schemas.openxmlformats.org/drawingml/2006/main">
            <a:r>
              <a:t>OpenRocket. Body Components Basics. https://wiki.openrocket.info/Body_Components_Basics</a:t>
            </a:r>
          </a:p>
          <a:p xmlns:a="http://schemas.openxmlformats.org/drawingml/2006/main">
            <a:r>
              <a:t>Lectura: MECRO_Coheteria_Clase_03.pdf.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Cuerpo, dimensiones y espacio interior.</a:t>
            </a:r>
          </a:p>
          <a:p xmlns:a="http://schemas.openxmlformats.org/drawingml/2006/main">
            <a:r>
              <a:t>En línea, 2 h. Tramo del núcleo: 4 min.</a:t>
            </a:r>
          </a:p>
          <a:p xmlns:a="http://schemas.openxmlformats.org/drawingml/2006/main">
            <a:r>
              <a:t/>
            </a:r>
          </a:p>
          <a:p xmlns:a="http://schemas.openxmlformats.org/drawingml/2006/main">
            <a:r>
              <a:t>Elegir la longitud del cuerpo no consiste en copiar una fotografía. Debe haber lugar para el conjunto comercial previsto, sus interfaces y el sistema de recuperación. El tamaño también determina qué herramientas permiten trabajar dentro y cómo se sostiene el modelo durante el montaje. En un proyecto pequeño, unos centímetros pueden facilitar el acceso o dejar un espacio que no se puede aprovechar.</a:t>
            </a:r>
          </a:p>
          <a:p xmlns:a="http://schemas.openxmlformats.org/drawingml/2006/main">
            <a:r>
              <a:t/>
            </a:r>
          </a:p>
          <a:p xmlns:a="http://schemas.openxmlformats.org/drawingml/2006/main">
            <a:r>
              <a:t>El plano de distribución comienza con la longitud real del tubo y con bloques que representan componentes. No hace falta diseñar cada detalle desde el principio. Sí hace falta que cada bloque tenga un tamaño y una función reconocibles.</a:t>
            </a:r>
          </a:p>
          <a:p xmlns:a="http://schemas.openxmlformats.org/drawingml/2006/main">
            <a:r>
              <a:t/>
            </a:r>
          </a:p>
          <a:p xmlns:a="http://schemas.openxmlformats.org/drawingml/2006/main">
            <a:r>
              <a:t>El cuerpo cumple varias funciones a la vez. Mantiene una referencia longitudinal, conecta el frente con la zona posterior y ofrece volumen para componentes. Su pared separa el diámetro exterior del espacio disponible. Al sostener un tubo, busca su eje imaginario y observa si los bordes son razonablemente perpendiculares a él. Un dibujo puede mostrar un cilindro perfecto mientras el tubo real presenta un borde inclinado o una sección deformada. Reconocer esa diferencia forma parte de aprender a fabricar.</a:t>
            </a:r>
          </a:p>
          <a:p xmlns:a="http://schemas.openxmlformats.org/drawingml/2006/main">
            <a:r>
              <a:t>Pregunta para el grupo: ¿Qué debe caber y qué debe poder montarse?</a:t>
            </a:r>
          </a:p>
          <a:p xmlns:a="http://schemas.openxmlformats.org/drawingml/2006/main">
            <a:r>
              <a:t/>
            </a:r>
          </a:p>
          <a:p xmlns:a="http://schemas.openxmlformats.org/drawingml/2006/main">
            <a:r>
              <a:t>Resultado: Elegir un tubo disponible y distribuir componentes sin confundir longitud exterior con espacio útil.</a:t>
            </a:r>
          </a:p>
          <a:p xmlns:a="http://schemas.openxmlformats.org/drawingml/2006/main">
            <a:r>
              <a:t>Misión: Construir un modelo compacto que pueda montarse, inspeccionarse y recuperarse.</a:t>
            </a:r>
          </a:p>
          <a:p xmlns:a="http://schemas.openxmlformats.org/drawingml/2006/main">
            <a:r>
              <a:t>Entrega: Plano de distribución, archivo actualizado y ficha del cuerpo.</a:t>
            </a:r>
          </a:p>
          <a:p xmlns:a="http://schemas.openxmlformats.org/drawingml/2006/main">
            <a:r>
              <a:t/>
            </a:r>
          </a:p>
          <a:p xmlns:a="http://schemas.openxmlformats.org/drawingml/2006/main">
            <a:r>
              <a:t>Preguntas y respuestas</a:t>
            </a:r>
          </a:p>
          <a:p xmlns:a="http://schemas.openxmlformats.org/drawingml/2006/main">
            <a:r>
              <a:t>¿Alargar el cuerpo permite introducir una pieza demasiado ancha?</a:t>
            </a:r>
          </a:p>
          <a:p xmlns:a="http://schemas.openxmlformats.org/drawingml/2006/main">
            <a:r>
              <a:t>No. Hay que revisar el paso transversal.</a:t>
            </a:r>
          </a:p>
          <a:p xmlns:a="http://schemas.openxmlformats.org/drawingml/2006/main">
            <a:r>
              <a:t/>
            </a:r>
          </a:p>
          <a:p xmlns:a="http://schemas.openxmlformats.org/drawingml/2006/main">
            <a:r>
              <a:t>¿Se suma dos veces la zona de un encaje?</a:t>
            </a:r>
          </a:p>
          <a:p xmlns:a="http://schemas.openxmlformats.org/drawingml/2006/main">
            <a:r>
              <a:t>No. Debe distinguirse longitud de pieza y longitud visible ensamblada.</a:t>
            </a:r>
          </a:p>
          <a:p xmlns:a="http://schemas.openxmlformats.org/drawingml/2006/main">
            <a:r>
              <a:t/>
            </a:r>
          </a:p>
          <a:p xmlns:a="http://schemas.openxmlformats.org/drawingml/2006/main">
            <a:r>
              <a:t>¿Qué falta si solo tenemos el volumen del paracaídas?</a:t>
            </a:r>
          </a:p>
          <a:p xmlns:a="http://schemas.openxmlformats.org/drawingml/2006/main">
            <a:r>
              <a:t>Su envolvente plegada, cordones, acceso y comprobación de movimiento.</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OpenRocket. Basic Rocket Design. https://openrocket.readthedocs.io/en/latest/user_guide/basic_rocket_design.html</a:t>
            </a:r>
          </a:p>
          <a:p xmlns:a="http://schemas.openxmlformats.org/drawingml/2006/main">
            <a:r>
              <a:t>OpenRocket. Getting Started. https://openrocket.readthedocs.io/en/latest/setup/getting_started.html</a:t>
            </a:r>
          </a:p>
          <a:p xmlns:a="http://schemas.openxmlformats.org/drawingml/2006/main">
            <a:r>
              <a:t>OpenRocket. Body Components Basics. https://wiki.openrocket.info/Body_Components_Basics</a:t>
            </a:r>
          </a:p>
          <a:p xmlns:a="http://schemas.openxmlformats.org/drawingml/2006/main">
            <a:r>
              <a:t>Lectura: MECRO_Coheteria_Clase_03.pdf.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Cuerpo, dimensiones y espacio interior.</a:t>
            </a:r>
          </a:p>
          <a:p xmlns:a="http://schemas.openxmlformats.org/drawingml/2006/main">
            <a:r>
              <a:t>En línea, 2 h. Tramo del núcleo: 4 min.</a:t>
            </a:r>
          </a:p>
          <a:p xmlns:a="http://schemas.openxmlformats.org/drawingml/2006/main">
            <a:r>
              <a:t/>
            </a:r>
          </a:p>
          <a:p xmlns:a="http://schemas.openxmlformats.org/drawingml/2006/main">
            <a:r>
              <a:t>Vista interior del ejemplo de OpenRocket. Muestra relaciones entre piezas, no las dimensiones del proyecto MECRO.</a:t>
            </a:r>
          </a:p>
          <a:p xmlns:a="http://schemas.openxmlformats.org/drawingml/2006/main">
            <a:r>
              <a:t>Localizar en la imagen las partes relacionadas con la pregunta.</a:t>
            </a:r>
          </a:p>
          <a:p xmlns:a="http://schemas.openxmlformats.org/drawingml/2006/main">
            <a:r>
              <a:t>¿Qué debe caber y qué debe poder montarse?</a:t>
            </a:r>
          </a:p>
          <a:p xmlns:a="http://schemas.openxmlformats.org/drawingml/2006/main">
            <a:r>
              <a:t/>
            </a:r>
          </a:p>
          <a:p xmlns:a="http://schemas.openxmlformats.org/drawingml/2006/main">
            <a:r>
              <a:t>Resultado: Elegir un tubo disponible y distribuir componentes sin confundir longitud exterior con espacio útil.</a:t>
            </a:r>
          </a:p>
          <a:p xmlns:a="http://schemas.openxmlformats.org/drawingml/2006/main">
            <a:r>
              <a:t>Misión: Construir un modelo compacto que pueda montarse, inspeccionarse y recuperarse.</a:t>
            </a:r>
          </a:p>
          <a:p xmlns:a="http://schemas.openxmlformats.org/drawingml/2006/main">
            <a:r>
              <a:t>Entrega: Plano de distribución, archivo actualizado y ficha del cuerpo.</a:t>
            </a:r>
          </a:p>
          <a:p xmlns:a="http://schemas.openxmlformats.org/drawingml/2006/main">
            <a:r>
              <a:t/>
            </a:r>
          </a:p>
          <a:p xmlns:a="http://schemas.openxmlformats.org/drawingml/2006/main">
            <a:r>
              <a:t>Preguntas y respuestas</a:t>
            </a:r>
          </a:p>
          <a:p xmlns:a="http://schemas.openxmlformats.org/drawingml/2006/main">
            <a:r>
              <a:t>¿Alargar el cuerpo permite introducir una pieza demasiado ancha?</a:t>
            </a:r>
          </a:p>
          <a:p xmlns:a="http://schemas.openxmlformats.org/drawingml/2006/main">
            <a:r>
              <a:t>No. Hay que revisar el paso transversal.</a:t>
            </a:r>
          </a:p>
          <a:p xmlns:a="http://schemas.openxmlformats.org/drawingml/2006/main">
            <a:r>
              <a:t/>
            </a:r>
          </a:p>
          <a:p xmlns:a="http://schemas.openxmlformats.org/drawingml/2006/main">
            <a:r>
              <a:t>¿Se suma dos veces la zona de un encaje?</a:t>
            </a:r>
          </a:p>
          <a:p xmlns:a="http://schemas.openxmlformats.org/drawingml/2006/main">
            <a:r>
              <a:t>No. Debe distinguirse longitud de pieza y longitud visible ensamblada.</a:t>
            </a:r>
          </a:p>
          <a:p xmlns:a="http://schemas.openxmlformats.org/drawingml/2006/main">
            <a:r>
              <a:t/>
            </a:r>
          </a:p>
          <a:p xmlns:a="http://schemas.openxmlformats.org/drawingml/2006/main">
            <a:r>
              <a:t>¿Qué falta si solo tenemos el volumen del paracaídas?</a:t>
            </a:r>
          </a:p>
          <a:p xmlns:a="http://schemas.openxmlformats.org/drawingml/2006/main">
            <a:r>
              <a:t>Su envolvente plegada, cordones, acceso y comprobación de movimiento.</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OpenRocket. Basic Rocket Design. https://openrocket.readthedocs.io/en/latest/user_guide/basic_rocket_design.html</a:t>
            </a:r>
          </a:p>
          <a:p xmlns:a="http://schemas.openxmlformats.org/drawingml/2006/main">
            <a:r>
              <a:t>OpenRocket. Getting Started. https://openrocket.readthedocs.io/en/latest/setup/getting_started.html</a:t>
            </a:r>
          </a:p>
          <a:p xmlns:a="http://schemas.openxmlformats.org/drawingml/2006/main">
            <a:r>
              <a:t>OpenRocket. Body Components Basics. https://wiki.openrocket.info/Body_Components_Basics</a:t>
            </a:r>
          </a:p>
          <a:p xmlns:a="http://schemas.openxmlformats.org/drawingml/2006/main">
            <a:r>
              <a:t>Lectura: MECRO_Coheteria_Clase_03.pdf.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Cuerpo, dimensiones y espacio interior.</a:t>
            </a:r>
          </a:p>
          <a:p xmlns:a="http://schemas.openxmlformats.org/drawingml/2006/main">
            <a:r>
              <a:t>En línea, 2 h. Tramo del núcleo: 5 min.</a:t>
            </a:r>
          </a:p>
          <a:p xmlns:a="http://schemas.openxmlformats.org/drawingml/2006/main">
            <a:r>
              <a:t/>
            </a:r>
          </a:p>
          <a:p xmlns:a="http://schemas.openxmlformats.org/drawingml/2006/main">
            <a:r>
              <a:t>Pregunta / Qué comprobar</a:t>
            </a:r>
          </a:p>
          <a:p xmlns:a="http://schemas.openxmlformats.org/drawingml/2006/main">
            <a:r>
              <a:t>¿Qué tubo tenemos? / Diámetros, longitud, estado y masa</a:t>
            </a:r>
          </a:p>
          <a:p xmlns:a="http://schemas.openxmlformats.org/drawingml/2006/main">
            <a:r>
              <a:t>¿Qué debe alojar? / Lista y envolvente de los componentes</a:t>
            </a:r>
          </a:p>
          <a:p xmlns:a="http://schemas.openxmlformats.org/drawingml/2006/main">
            <a:r>
              <a:t>¿Cómo se conecta? / Nariz, uniones y conjunto comercial</a:t>
            </a:r>
          </a:p>
          <a:p xmlns:a="http://schemas.openxmlformats.org/drawingml/2006/main">
            <a:r>
              <a:t>¿Cómo se revisa? / Acceso, desmontaje y recuperación</a:t>
            </a:r>
          </a:p>
          <a:p xmlns:a="http://schemas.openxmlformats.org/drawingml/2006/main">
            <a:r>
              <a:t>Justificar una alternativa con la misión y señalar la comprobación necesaria.</a:t>
            </a:r>
          </a:p>
          <a:p xmlns:a="http://schemas.openxmlformats.org/drawingml/2006/main">
            <a:r>
              <a:t/>
            </a:r>
          </a:p>
          <a:p xmlns:a="http://schemas.openxmlformats.org/drawingml/2006/main">
            <a:r>
              <a:t>Resultado: Elegir un tubo disponible y distribuir componentes sin confundir longitud exterior con espacio útil.</a:t>
            </a:r>
          </a:p>
          <a:p xmlns:a="http://schemas.openxmlformats.org/drawingml/2006/main">
            <a:r>
              <a:t>Misión: Construir un modelo compacto que pueda montarse, inspeccionarse y recuperarse.</a:t>
            </a:r>
          </a:p>
          <a:p xmlns:a="http://schemas.openxmlformats.org/drawingml/2006/main">
            <a:r>
              <a:t>Entrega: Plano de distribución, archivo actualizado y ficha del cuerpo.</a:t>
            </a:r>
          </a:p>
          <a:p xmlns:a="http://schemas.openxmlformats.org/drawingml/2006/main">
            <a:r>
              <a:t/>
            </a:r>
          </a:p>
          <a:p xmlns:a="http://schemas.openxmlformats.org/drawingml/2006/main">
            <a:r>
              <a:t>Preguntas y respuestas</a:t>
            </a:r>
          </a:p>
          <a:p xmlns:a="http://schemas.openxmlformats.org/drawingml/2006/main">
            <a:r>
              <a:t>¿Alargar el cuerpo permite introducir una pieza demasiado ancha?</a:t>
            </a:r>
          </a:p>
          <a:p xmlns:a="http://schemas.openxmlformats.org/drawingml/2006/main">
            <a:r>
              <a:t>No. Hay que revisar el paso transversal.</a:t>
            </a:r>
          </a:p>
          <a:p xmlns:a="http://schemas.openxmlformats.org/drawingml/2006/main">
            <a:r>
              <a:t/>
            </a:r>
          </a:p>
          <a:p xmlns:a="http://schemas.openxmlformats.org/drawingml/2006/main">
            <a:r>
              <a:t>¿Se suma dos veces la zona de un encaje?</a:t>
            </a:r>
          </a:p>
          <a:p xmlns:a="http://schemas.openxmlformats.org/drawingml/2006/main">
            <a:r>
              <a:t>No. Debe distinguirse longitud de pieza y longitud visible ensamblada.</a:t>
            </a:r>
          </a:p>
          <a:p xmlns:a="http://schemas.openxmlformats.org/drawingml/2006/main">
            <a:r>
              <a:t/>
            </a:r>
          </a:p>
          <a:p xmlns:a="http://schemas.openxmlformats.org/drawingml/2006/main">
            <a:r>
              <a:t>¿Qué falta si solo tenemos el volumen del paracaídas?</a:t>
            </a:r>
          </a:p>
          <a:p xmlns:a="http://schemas.openxmlformats.org/drawingml/2006/main">
            <a:r>
              <a:t>Su envolvente plegada, cordones, acceso y comprobación de movimiento.</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OpenRocket. Basic Rocket Design. https://openrocket.readthedocs.io/en/latest/user_guide/basic_rocket_design.html</a:t>
            </a:r>
          </a:p>
          <a:p xmlns:a="http://schemas.openxmlformats.org/drawingml/2006/main">
            <a:r>
              <a:t>OpenRocket. Getting Started. https://openrocket.readthedocs.io/en/latest/setup/getting_started.html</a:t>
            </a:r>
          </a:p>
          <a:p xmlns:a="http://schemas.openxmlformats.org/drawingml/2006/main">
            <a:r>
              <a:t>OpenRocket. Body Components Basics. https://wiki.openrocket.info/Body_Components_Basics</a:t>
            </a:r>
          </a:p>
          <a:p xmlns:a="http://schemas.openxmlformats.org/drawingml/2006/main">
            <a:r>
              <a:t>Lectura: MECRO_Coheteria_Clase_03.pdf.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Cuerpo, dimensiones y espacio interior.</a:t>
            </a:r>
          </a:p>
          <a:p xmlns:a="http://schemas.openxmlformats.org/drawingml/2006/main">
            <a:r>
              <a:t>En línea, 2 h. Tramo del núcleo: 4 min.</a:t>
            </a:r>
          </a:p>
          <a:p xmlns:a="http://schemas.openxmlformats.org/drawingml/2006/main">
            <a:r>
              <a:t/>
            </a:r>
          </a:p>
          <a:p xmlns:a="http://schemas.openxmlformats.org/drawingml/2006/main">
            <a:r>
              <a:t>Aumentar el diámetro abre más espacio transversal y cambia el contorno exterior del vehículo. Aumentar longitud añade espacio a lo largo del eje, pero no ayuda a que entre una pieza demasiado ancha. Una tarjeta electrónica puede caber por volumen total y aun así no pasar por la abertura. Por eso probaremos envolventes o maquetas simples en lugar de decidir solo con litros o centímetros cúbicos.</a:t>
            </a:r>
          </a:p>
          <a:p xmlns:a="http://schemas.openxmlformats.org/drawingml/2006/main">
            <a:r>
              <a:t/>
            </a:r>
          </a:p>
          <a:p xmlns:a="http://schemas.openxmlformats.org/drawingml/2006/main">
            <a:r>
              <a:t>Una maqueta de carga tiene 31 mm de ancho y el tubo tiene 30 mm de diámetro interior. Alargar el tubo 40 mm aumenta el espacio disponible.</a:t>
            </a:r>
          </a:p>
          <a:p xmlns:a="http://schemas.openxmlformats.org/drawingml/2006/main">
            <a:r>
              <a:t/>
            </a:r>
          </a:p>
          <a:p xmlns:a="http://schemas.openxmlformats.org/drawingml/2006/main">
            <a:r>
              <a:t>Esta misma idea sirve para el sistema de recuperación plegado. Debe poder entrar y salir según el conjunto elegido. Un dibujo con espacio aparente puede ocultar cordones, uniones o rebordes impresos.</a:t>
            </a:r>
          </a:p>
          <a:p xmlns:a="http://schemas.openxmlformats.org/drawingml/2006/main">
            <a:r>
              <a:t/>
            </a:r>
          </a:p>
          <a:p xmlns:a="http://schemas.openxmlformats.org/drawingml/2006/main">
            <a:r>
              <a:t>El espacio útil incluye la posibilidad de trabajar. Una conexión puede caber después de montada y aun así requerir un acceso que el cuerpo no ofrece durante la fabricación. Por eso la distribución se revisa también siguiendo el orden de montaje. Pregunta qué pieza entra primero, cuál debe quedar accesible y qué información tendrás que fotografiar antes de cerrar. Dibujar el orden junto a la vista lateral ayuda a resolverlo sin un modelo tridimensional complejo.</a:t>
            </a:r>
          </a:p>
          <a:p xmlns:a="http://schemas.openxmlformats.org/drawingml/2006/main">
            <a:r>
              <a:t/>
            </a:r>
          </a:p>
          <a:p xmlns:a="http://schemas.openxmlformats.org/drawingml/2006/main">
            <a:r>
              <a:t>El diámetro se mide atravesando la sección del tubo, mientras la longitud se sigue a lo largo de su eje. Dos tubos de igual diámetro exterior pueden tener interiores diferentes si cambia el espesor. Para visualizarlo, coloca uno junto a otro y compara sus aberturas. La elección del cuerpo afecta a otras piezas porque la nariz debe relacionarse con esa abertura y la recuperación necesita espacio y acceso. Por eso el diámetro del tubo se decide con componentes presentes o representados por envolventes identificadas.</a:t>
            </a:r>
          </a:p>
          <a:p xmlns:a="http://schemas.openxmlformats.org/drawingml/2006/main">
            <a:r>
              <a:t>Pregunta para el grupo: ¿Alargar el tubo resuelve una pieza demasiado ancha?</a:t>
            </a:r>
          </a:p>
          <a:p xmlns:a="http://schemas.openxmlformats.org/drawingml/2006/main">
            <a:r>
              <a:t/>
            </a:r>
          </a:p>
          <a:p xmlns:a="http://schemas.openxmlformats.org/drawingml/2006/main">
            <a:r>
              <a:t>Resultado: Elegir un tubo disponible y distribuir componentes sin confundir longitud exterior con espacio útil.</a:t>
            </a:r>
          </a:p>
          <a:p xmlns:a="http://schemas.openxmlformats.org/drawingml/2006/main">
            <a:r>
              <a:t>Misión: Construir un modelo compacto que pueda montarse, inspeccionarse y recuperarse.</a:t>
            </a:r>
          </a:p>
          <a:p xmlns:a="http://schemas.openxmlformats.org/drawingml/2006/main">
            <a:r>
              <a:t>Entrega: Plano de distribución, archivo actualizado y ficha del cuerpo.</a:t>
            </a:r>
          </a:p>
          <a:p xmlns:a="http://schemas.openxmlformats.org/drawingml/2006/main">
            <a:r>
              <a:t/>
            </a:r>
          </a:p>
          <a:p xmlns:a="http://schemas.openxmlformats.org/drawingml/2006/main">
            <a:r>
              <a:t>Preguntas y respuestas</a:t>
            </a:r>
          </a:p>
          <a:p xmlns:a="http://schemas.openxmlformats.org/drawingml/2006/main">
            <a:r>
              <a:t>¿Alargar el cuerpo permite introducir una pieza demasiado ancha?</a:t>
            </a:r>
          </a:p>
          <a:p xmlns:a="http://schemas.openxmlformats.org/drawingml/2006/main">
            <a:r>
              <a:t>No. Hay que revisar el paso transversal.</a:t>
            </a:r>
          </a:p>
          <a:p xmlns:a="http://schemas.openxmlformats.org/drawingml/2006/main">
            <a:r>
              <a:t/>
            </a:r>
          </a:p>
          <a:p xmlns:a="http://schemas.openxmlformats.org/drawingml/2006/main">
            <a:r>
              <a:t>¿Se suma dos veces la zona de un encaje?</a:t>
            </a:r>
          </a:p>
          <a:p xmlns:a="http://schemas.openxmlformats.org/drawingml/2006/main">
            <a:r>
              <a:t>No. Debe distinguirse longitud de pieza y longitud visible ensamblada.</a:t>
            </a:r>
          </a:p>
          <a:p xmlns:a="http://schemas.openxmlformats.org/drawingml/2006/main">
            <a:r>
              <a:t/>
            </a:r>
          </a:p>
          <a:p xmlns:a="http://schemas.openxmlformats.org/drawingml/2006/main">
            <a:r>
              <a:t>¿Qué falta si solo tenemos el volumen del paracaídas?</a:t>
            </a:r>
          </a:p>
          <a:p xmlns:a="http://schemas.openxmlformats.org/drawingml/2006/main">
            <a:r>
              <a:t>Su envolvente plegada, cordones, acceso y comprobación de movimiento.</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OpenRocket. Basic Rocket Design. https://openrocket.readthedocs.io/en/latest/user_guide/basic_rocket_design.html</a:t>
            </a:r>
          </a:p>
          <a:p xmlns:a="http://schemas.openxmlformats.org/drawingml/2006/main">
            <a:r>
              <a:t>OpenRocket. Getting Started. https://openrocket.readthedocs.io/en/latest/setup/getting_started.html</a:t>
            </a:r>
          </a:p>
          <a:p xmlns:a="http://schemas.openxmlformats.org/drawingml/2006/main">
            <a:r>
              <a:t>OpenRocket. Body Components Basics. https://wiki.openrocket.info/Body_Components_Basics</a:t>
            </a:r>
          </a:p>
          <a:p xmlns:a="http://schemas.openxmlformats.org/drawingml/2006/main">
            <a:r>
              <a:t>Lectura: MECRO_Coheteria_Clase_03.pdf.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Cuerpo, dimensiones y espacio interior.</a:t>
            </a:r>
          </a:p>
          <a:p xmlns:a="http://schemas.openxmlformats.org/drawingml/2006/main">
            <a:r>
              <a:t>En línea, 2 h. Tramo del núcleo: 4 min.</a:t>
            </a:r>
          </a:p>
          <a:p xmlns:a="http://schemas.openxmlformats.org/drawingml/2006/main">
            <a:r>
              <a:t/>
            </a:r>
          </a:p>
          <a:p xmlns:a="http://schemas.openxmlformats.org/drawingml/2006/main">
            <a:r>
              <a:t>Cambio / Lo que puede resolver / Qué vuelve a revisarse</a:t>
            </a:r>
          </a:p>
          <a:p xmlns:a="http://schemas.openxmlformats.org/drawingml/2006/main">
            <a:r>
              <a:t>Mayor diámetro / Paso de una pieza más ancha / Nariz, aletas, masa y modelo</a:t>
            </a:r>
          </a:p>
          <a:p xmlns:a="http://schemas.openxmlformats.org/drawingml/2006/main">
            <a:r>
              <a:t>Mayor longitud / Separar zonas interiores / Masa, distribución y acceso</a:t>
            </a:r>
          </a:p>
          <a:p xmlns:a="http://schemas.openxmlformats.org/drawingml/2006/main">
            <a:r>
              <a:t>Mayor espesor / Cambiar rigidez y fabricación / Interior útil y masa</a:t>
            </a:r>
          </a:p>
          <a:p xmlns:a="http://schemas.openxmlformats.org/drawingml/2006/main">
            <a:r>
              <a:t>Otra sección de tubo / Facilitar recambio o unión / Alineación y continuidad</a:t>
            </a:r>
          </a:p>
          <a:p xmlns:a="http://schemas.openxmlformats.org/drawingml/2006/main">
            <a:r>
              <a:t>Comparar dos filas y justificar con la misión.</a:t>
            </a:r>
          </a:p>
          <a:p xmlns:a="http://schemas.openxmlformats.org/drawingml/2006/main">
            <a:r>
              <a:t/>
            </a:r>
          </a:p>
          <a:p xmlns:a="http://schemas.openxmlformats.org/drawingml/2006/main">
            <a:r>
              <a:t>Resultado: Elegir un tubo disponible y distribuir componentes sin confundir longitud exterior con espacio útil.</a:t>
            </a:r>
          </a:p>
          <a:p xmlns:a="http://schemas.openxmlformats.org/drawingml/2006/main">
            <a:r>
              <a:t>Misión: Construir un modelo compacto que pueda montarse, inspeccionarse y recuperarse.</a:t>
            </a:r>
          </a:p>
          <a:p xmlns:a="http://schemas.openxmlformats.org/drawingml/2006/main">
            <a:r>
              <a:t>Entrega: Plano de distribución, archivo actualizado y ficha del cuerpo.</a:t>
            </a:r>
          </a:p>
          <a:p xmlns:a="http://schemas.openxmlformats.org/drawingml/2006/main">
            <a:r>
              <a:t/>
            </a:r>
          </a:p>
          <a:p xmlns:a="http://schemas.openxmlformats.org/drawingml/2006/main">
            <a:r>
              <a:t>Preguntas y respuestas</a:t>
            </a:r>
          </a:p>
          <a:p xmlns:a="http://schemas.openxmlformats.org/drawingml/2006/main">
            <a:r>
              <a:t>¿Alargar el cuerpo permite introducir una pieza demasiado ancha?</a:t>
            </a:r>
          </a:p>
          <a:p xmlns:a="http://schemas.openxmlformats.org/drawingml/2006/main">
            <a:r>
              <a:t>No. Hay que revisar el paso transversal.</a:t>
            </a:r>
          </a:p>
          <a:p xmlns:a="http://schemas.openxmlformats.org/drawingml/2006/main">
            <a:r>
              <a:t/>
            </a:r>
          </a:p>
          <a:p xmlns:a="http://schemas.openxmlformats.org/drawingml/2006/main">
            <a:r>
              <a:t>¿Se suma dos veces la zona de un encaje?</a:t>
            </a:r>
          </a:p>
          <a:p xmlns:a="http://schemas.openxmlformats.org/drawingml/2006/main">
            <a:r>
              <a:t>No. Debe distinguirse longitud de pieza y longitud visible ensamblada.</a:t>
            </a:r>
          </a:p>
          <a:p xmlns:a="http://schemas.openxmlformats.org/drawingml/2006/main">
            <a:r>
              <a:t/>
            </a:r>
          </a:p>
          <a:p xmlns:a="http://schemas.openxmlformats.org/drawingml/2006/main">
            <a:r>
              <a:t>¿Qué falta si solo tenemos el volumen del paracaídas?</a:t>
            </a:r>
          </a:p>
          <a:p xmlns:a="http://schemas.openxmlformats.org/drawingml/2006/main">
            <a:r>
              <a:t>Su envolvente plegada, cordones, acceso y comprobación de movimiento.</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OpenRocket. Basic Rocket Design. https://openrocket.readthedocs.io/en/latest/user_guide/basic_rocket_design.html</a:t>
            </a:r>
          </a:p>
          <a:p xmlns:a="http://schemas.openxmlformats.org/drawingml/2006/main">
            <a:r>
              <a:t>OpenRocket. Getting Started. https://openrocket.readthedocs.io/en/latest/setup/getting_started.html</a:t>
            </a:r>
          </a:p>
          <a:p xmlns:a="http://schemas.openxmlformats.org/drawingml/2006/main">
            <a:r>
              <a:t>OpenRocket. Body Components Basics. https://wiki.openrocket.info/Body_Components_Basics</a:t>
            </a:r>
          </a:p>
          <a:p xmlns:a="http://schemas.openxmlformats.org/drawingml/2006/main">
            <a:r>
              <a:t>Lectura: MECRO_Coheteria_Clase_03.pdf.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Cuerpo, dimensiones y espacio interior.</a:t>
            </a:r>
          </a:p>
          <a:p xmlns:a="http://schemas.openxmlformats.org/drawingml/2006/main">
            <a:r>
              <a:t>En línea, 2 h. Tramo del núcleo: 5 min.</a:t>
            </a:r>
          </a:p>
          <a:p xmlns:a="http://schemas.openxmlformats.org/drawingml/2006/main">
            <a:r>
              <a:t/>
            </a:r>
          </a:p>
          <a:p xmlns:a="http://schemas.openxmlformats.org/drawingml/2006/main">
            <a:r>
              <a:t>Caso</a:t>
            </a:r>
          </a:p>
          <a:p xmlns:a="http://schemas.openxmlformats.org/drawingml/2006/main">
            <a:r>
              <a:t>Una maqueta de carga tiene 31 mm de ancho y el tubo tiene 30 mm de diámetro interior. Alargar el tubo 40 mm aumenta el espacio disponible.</a:t>
            </a:r>
          </a:p>
          <a:p xmlns:a="http://schemas.openxmlformats.org/drawingml/2006/main">
            <a:r>
              <a:t>Explicación</a:t>
            </a:r>
          </a:p>
          <a:p xmlns:a="http://schemas.openxmlformats.org/drawingml/2006/main">
            <a:r>
              <a:t>La modificación no resuelve el paso transversal de la carga. Hay que revisar su envolvente, su orientación o el diámetro útil. La conclusión sale de la pieza real y de dos medidas, sin calcular un volumen complicado.</a:t>
            </a:r>
          </a:p>
          <a:p xmlns:a="http://schemas.openxmlformats.org/drawingml/2006/main">
            <a:r>
              <a:t>Dar tiempo para responder antes de presentar la solución oralmente.</a:t>
            </a:r>
          </a:p>
          <a:p xmlns:a="http://schemas.openxmlformats.org/drawingml/2006/main">
            <a:r>
              <a:t/>
            </a:r>
          </a:p>
          <a:p xmlns:a="http://schemas.openxmlformats.org/drawingml/2006/main">
            <a:r>
              <a:t>Resultado: Elegir un tubo disponible y distribuir componentes sin confundir longitud exterior con espacio útil.</a:t>
            </a:r>
          </a:p>
          <a:p xmlns:a="http://schemas.openxmlformats.org/drawingml/2006/main">
            <a:r>
              <a:t>Misión: Construir un modelo compacto que pueda montarse, inspeccionarse y recuperarse.</a:t>
            </a:r>
          </a:p>
          <a:p xmlns:a="http://schemas.openxmlformats.org/drawingml/2006/main">
            <a:r>
              <a:t>Entrega: Plano de distribución, archivo actualizado y ficha del cuerpo.</a:t>
            </a:r>
          </a:p>
          <a:p xmlns:a="http://schemas.openxmlformats.org/drawingml/2006/main">
            <a:r>
              <a:t/>
            </a:r>
          </a:p>
          <a:p xmlns:a="http://schemas.openxmlformats.org/drawingml/2006/main">
            <a:r>
              <a:t>Preguntas y respuestas</a:t>
            </a:r>
          </a:p>
          <a:p xmlns:a="http://schemas.openxmlformats.org/drawingml/2006/main">
            <a:r>
              <a:t>¿Alargar el cuerpo permite introducir una pieza demasiado ancha?</a:t>
            </a:r>
          </a:p>
          <a:p xmlns:a="http://schemas.openxmlformats.org/drawingml/2006/main">
            <a:r>
              <a:t>No. Hay que revisar el paso transversal.</a:t>
            </a:r>
          </a:p>
          <a:p xmlns:a="http://schemas.openxmlformats.org/drawingml/2006/main">
            <a:r>
              <a:t/>
            </a:r>
          </a:p>
          <a:p xmlns:a="http://schemas.openxmlformats.org/drawingml/2006/main">
            <a:r>
              <a:t>¿Se suma dos veces la zona de un encaje?</a:t>
            </a:r>
          </a:p>
          <a:p xmlns:a="http://schemas.openxmlformats.org/drawingml/2006/main">
            <a:r>
              <a:t>No. Debe distinguirse longitud de pieza y longitud visible ensamblada.</a:t>
            </a:r>
          </a:p>
          <a:p xmlns:a="http://schemas.openxmlformats.org/drawingml/2006/main">
            <a:r>
              <a:t/>
            </a:r>
          </a:p>
          <a:p xmlns:a="http://schemas.openxmlformats.org/drawingml/2006/main">
            <a:r>
              <a:t>¿Qué falta si solo tenemos el volumen del paracaídas?</a:t>
            </a:r>
          </a:p>
          <a:p xmlns:a="http://schemas.openxmlformats.org/drawingml/2006/main">
            <a:r>
              <a:t>Su envolvente plegada, cordones, acceso y comprobación de movimiento.</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OpenRocket. Basic Rocket Design. https://openrocket.readthedocs.io/en/latest/user_guide/basic_rocket_design.html</a:t>
            </a:r>
          </a:p>
          <a:p xmlns:a="http://schemas.openxmlformats.org/drawingml/2006/main">
            <a:r>
              <a:t>OpenRocket. Getting Started. https://openrocket.readthedocs.io/en/latest/setup/getting_started.html</a:t>
            </a:r>
          </a:p>
          <a:p xmlns:a="http://schemas.openxmlformats.org/drawingml/2006/main">
            <a:r>
              <a:t>OpenRocket. Body Components Basics. https://wiki.openrocket.info/Body_Components_Basics</a:t>
            </a:r>
          </a:p>
          <a:p xmlns:a="http://schemas.openxmlformats.org/drawingml/2006/main">
            <a:r>
              <a:t>Lectura: MECRO_Coheteria_Clase_03.pdf.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Cuerpo, dimensiones y espacio interior.</a:t>
            </a:r>
          </a:p>
          <a:p xmlns:a="http://schemas.openxmlformats.org/drawingml/2006/main">
            <a:r>
              <a:t>En línea, 2 h. Tramo del núcleo: 4 min.</a:t>
            </a:r>
          </a:p>
          <a:p xmlns:a="http://schemas.openxmlformats.org/drawingml/2006/main">
            <a:r>
              <a:t/>
            </a:r>
          </a:p>
          <a:p xmlns:a="http://schemas.openxmlformats.org/drawingml/2006/main">
            <a:r>
              <a:t>El plano del equipo debe tener vista lateral, una referencia de inicio y cotas legibles. Identifica qué longitud es de una pieza suelta y cuál corresponde al conjunto ensamblado. Si el hombro de la nariz entra en el cuerpo, esa parte queda superpuesta. Sumar todas las longitudes de piezas sin considerar los encajes produce un cohete más corto de lo que se esperaba.</a:t>
            </a:r>
          </a:p>
          <a:p xmlns:a="http://schemas.openxmlformats.org/drawingml/2006/main">
            <a:r>
              <a:t/>
            </a:r>
          </a:p>
          <a:p xmlns:a="http://schemas.openxmlformats.org/drawingml/2006/main">
            <a:r>
              <a:t>Nariz visible de 70 mm, cuerpo de 280 mm y hombro de 20 mm que queda completamente dentro del cuerpo.</a:t>
            </a:r>
          </a:p>
          <a:p xmlns:a="http://schemas.openxmlformats.org/drawingml/2006/main">
            <a:r>
              <a:t/>
            </a:r>
          </a:p>
          <a:p xmlns:a="http://schemas.openxmlformats.org/drawingml/2006/main">
            <a:r>
              <a:t>No dibujes conexiones internas por intuición si vas a usar un conjunto comercial. Usa sus dimensiones y documentación. Si todavía no se ha seleccionado, representa la zona como pendiente y evita cerrar detalles que dependan de ella. Un plano preliminar puede estar incompleto y seguir siendo útil si lo declara.</a:t>
            </a:r>
          </a:p>
          <a:p xmlns:a="http://schemas.openxmlformats.org/drawingml/2006/main">
            <a:r>
              <a:t/>
            </a:r>
          </a:p>
          <a:p xmlns:a="http://schemas.openxmlformats.org/drawingml/2006/main">
            <a:r>
              <a:t>En una unión entre tramos de cuerpo se diferencia la longitud de cada pieza y el solapamiento del conjunto. La referencia de una aleta tampoco se toma desde un borde que vaya a cambiar en el acabado. El plano debe permitir reconstruir el objeto ensamblado. Si al presentarlo aparece una diferencia, mide dónde comienza y termina; no distribuyas el error moviendo varias piezas a la vez, porque perderías la causa de la discrepancia.</a:t>
            </a:r>
          </a:p>
          <a:p xmlns:a="http://schemas.openxmlformats.org/drawingml/2006/main">
            <a:r>
              <a:t>Pregunta para el grupo: ¿Qué longitud del hombro queda oculta?</a:t>
            </a:r>
          </a:p>
          <a:p xmlns:a="http://schemas.openxmlformats.org/drawingml/2006/main">
            <a:r>
              <a:t/>
            </a:r>
          </a:p>
          <a:p xmlns:a="http://schemas.openxmlformats.org/drawingml/2006/main">
            <a:r>
              <a:t>Resultado: Elegir un tubo disponible y distribuir componentes sin confundir longitud exterior con espacio útil.</a:t>
            </a:r>
          </a:p>
          <a:p xmlns:a="http://schemas.openxmlformats.org/drawingml/2006/main">
            <a:r>
              <a:t>Misión: Construir un modelo compacto que pueda montarse, inspeccionarse y recuperarse.</a:t>
            </a:r>
          </a:p>
          <a:p xmlns:a="http://schemas.openxmlformats.org/drawingml/2006/main">
            <a:r>
              <a:t>Entrega: Plano de distribución, archivo actualizado y ficha del cuerpo.</a:t>
            </a:r>
          </a:p>
          <a:p xmlns:a="http://schemas.openxmlformats.org/drawingml/2006/main">
            <a:r>
              <a:t/>
            </a:r>
          </a:p>
          <a:p xmlns:a="http://schemas.openxmlformats.org/drawingml/2006/main">
            <a:r>
              <a:t>Preguntas y respuestas</a:t>
            </a:r>
          </a:p>
          <a:p xmlns:a="http://schemas.openxmlformats.org/drawingml/2006/main">
            <a:r>
              <a:t>¿Alargar el cuerpo permite introducir una pieza demasiado ancha?</a:t>
            </a:r>
          </a:p>
          <a:p xmlns:a="http://schemas.openxmlformats.org/drawingml/2006/main">
            <a:r>
              <a:t>No. Hay que revisar el paso transversal.</a:t>
            </a:r>
          </a:p>
          <a:p xmlns:a="http://schemas.openxmlformats.org/drawingml/2006/main">
            <a:r>
              <a:t/>
            </a:r>
          </a:p>
          <a:p xmlns:a="http://schemas.openxmlformats.org/drawingml/2006/main">
            <a:r>
              <a:t>¿Se suma dos veces la zona de un encaje?</a:t>
            </a:r>
          </a:p>
          <a:p xmlns:a="http://schemas.openxmlformats.org/drawingml/2006/main">
            <a:r>
              <a:t>No. Debe distinguirse longitud de pieza y longitud visible ensamblada.</a:t>
            </a:r>
          </a:p>
          <a:p xmlns:a="http://schemas.openxmlformats.org/drawingml/2006/main">
            <a:r>
              <a:t/>
            </a:r>
          </a:p>
          <a:p xmlns:a="http://schemas.openxmlformats.org/drawingml/2006/main">
            <a:r>
              <a:t>¿Qué falta si solo tenemos el volumen del paracaídas?</a:t>
            </a:r>
          </a:p>
          <a:p xmlns:a="http://schemas.openxmlformats.org/drawingml/2006/main">
            <a:r>
              <a:t>Su envolvente plegada, cordones, acceso y comprobación de movimiento.</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OpenRocket. Basic Rocket Design. https://openrocket.readthedocs.io/en/latest/user_guide/basic_rocket_design.html</a:t>
            </a:r>
          </a:p>
          <a:p xmlns:a="http://schemas.openxmlformats.org/drawingml/2006/main">
            <a:r>
              <a:t>OpenRocket. Getting Started. https://openrocket.readthedocs.io/en/latest/setup/getting_started.html</a:t>
            </a:r>
          </a:p>
          <a:p xmlns:a="http://schemas.openxmlformats.org/drawingml/2006/main">
            <a:r>
              <a:t>OpenRocket. Body Components Basics. https://wiki.openrocket.info/Body_Components_Basics</a:t>
            </a:r>
          </a:p>
          <a:p xmlns:a="http://schemas.openxmlformats.org/drawingml/2006/main">
            <a:r>
              <a:t>Lectura: MECRO_Coheteria_Clase_03.pdf.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Cuerpo, dimensiones y espacio interior.</a:t>
            </a:r>
          </a:p>
          <a:p xmlns:a="http://schemas.openxmlformats.org/drawingml/2006/main">
            <a:r>
              <a:t>En línea, 2 h. Tramo del núcleo: 4 min.</a:t>
            </a:r>
          </a:p>
          <a:p xmlns:a="http://schemas.openxmlformats.org/drawingml/2006/main">
            <a:r>
              <a:t/>
            </a:r>
          </a:p>
          <a:p xmlns:a="http://schemas.openxmlformats.org/drawingml/2006/main">
            <a:r>
              <a:t>Elemento / Dato que debe aparecer</a:t>
            </a:r>
          </a:p>
          <a:p xmlns:a="http://schemas.openxmlformats.org/drawingml/2006/main">
            <a:r>
              <a:t>Nariz / Longitud visible, base y hombro</a:t>
            </a:r>
          </a:p>
          <a:p xmlns:a="http://schemas.openxmlformats.org/drawingml/2006/main">
            <a:r>
              <a:t>Cuerpo / Longitud y diámetros</a:t>
            </a:r>
          </a:p>
          <a:p xmlns:a="http://schemas.openxmlformats.org/drawingml/2006/main">
            <a:r>
              <a:t>Aletas / Zona de unión y posición longitudinal</a:t>
            </a:r>
          </a:p>
          <a:p xmlns:a="http://schemas.openxmlformats.org/drawingml/2006/main">
            <a:r>
              <a:t>Recuperación / Zona reservada y acceso</a:t>
            </a:r>
          </a:p>
          <a:p xmlns:a="http://schemas.openxmlformats.org/drawingml/2006/main">
            <a:r>
              <a:t>Conjunto comercial / Referencia de componente y envolvente</a:t>
            </a:r>
          </a:p>
          <a:p xmlns:a="http://schemas.openxmlformats.org/drawingml/2006/main">
            <a:r>
              <a:t>Comparar dos filas y justificar con la misión.</a:t>
            </a:r>
          </a:p>
          <a:p xmlns:a="http://schemas.openxmlformats.org/drawingml/2006/main">
            <a:r>
              <a:t/>
            </a:r>
          </a:p>
          <a:p xmlns:a="http://schemas.openxmlformats.org/drawingml/2006/main">
            <a:r>
              <a:t>Resultado: Elegir un tubo disponible y distribuir componentes sin confundir longitud exterior con espacio útil.</a:t>
            </a:r>
          </a:p>
          <a:p xmlns:a="http://schemas.openxmlformats.org/drawingml/2006/main">
            <a:r>
              <a:t>Misión: Construir un modelo compacto que pueda montarse, inspeccionarse y recuperarse.</a:t>
            </a:r>
          </a:p>
          <a:p xmlns:a="http://schemas.openxmlformats.org/drawingml/2006/main">
            <a:r>
              <a:t>Entrega: Plano de distribución, archivo actualizado y ficha del cuerpo.</a:t>
            </a:r>
          </a:p>
          <a:p xmlns:a="http://schemas.openxmlformats.org/drawingml/2006/main">
            <a:r>
              <a:t/>
            </a:r>
          </a:p>
          <a:p xmlns:a="http://schemas.openxmlformats.org/drawingml/2006/main">
            <a:r>
              <a:t>Preguntas y respuestas</a:t>
            </a:r>
          </a:p>
          <a:p xmlns:a="http://schemas.openxmlformats.org/drawingml/2006/main">
            <a:r>
              <a:t>¿Alargar el cuerpo permite introducir una pieza demasiado ancha?</a:t>
            </a:r>
          </a:p>
          <a:p xmlns:a="http://schemas.openxmlformats.org/drawingml/2006/main">
            <a:r>
              <a:t>No. Hay que revisar el paso transversal.</a:t>
            </a:r>
          </a:p>
          <a:p xmlns:a="http://schemas.openxmlformats.org/drawingml/2006/main">
            <a:r>
              <a:t/>
            </a:r>
          </a:p>
          <a:p xmlns:a="http://schemas.openxmlformats.org/drawingml/2006/main">
            <a:r>
              <a:t>¿Se suma dos veces la zona de un encaje?</a:t>
            </a:r>
          </a:p>
          <a:p xmlns:a="http://schemas.openxmlformats.org/drawingml/2006/main">
            <a:r>
              <a:t>No. Debe distinguirse longitud de pieza y longitud visible ensamblada.</a:t>
            </a:r>
          </a:p>
          <a:p xmlns:a="http://schemas.openxmlformats.org/drawingml/2006/main">
            <a:r>
              <a:t/>
            </a:r>
          </a:p>
          <a:p xmlns:a="http://schemas.openxmlformats.org/drawingml/2006/main">
            <a:r>
              <a:t>¿Qué falta si solo tenemos el volumen del paracaídas?</a:t>
            </a:r>
          </a:p>
          <a:p xmlns:a="http://schemas.openxmlformats.org/drawingml/2006/main">
            <a:r>
              <a:t>Su envolvente plegada, cordones, acceso y comprobación de movimiento.</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OpenRocket. Basic Rocket Design. https://openrocket.readthedocs.io/en/latest/user_guide/basic_rocket_design.html</a:t>
            </a:r>
          </a:p>
          <a:p xmlns:a="http://schemas.openxmlformats.org/drawingml/2006/main">
            <a:r>
              <a:t>OpenRocket. Getting Started. https://openrocket.readthedocs.io/en/latest/setup/getting_started.html</a:t>
            </a:r>
          </a:p>
          <a:p xmlns:a="http://schemas.openxmlformats.org/drawingml/2006/main">
            <a:r>
              <a:t>OpenRocket. Body Components Basics. https://wiki.openrocket.info/Body_Components_Basics</a:t>
            </a:r>
          </a:p>
          <a:p xmlns:a="http://schemas.openxmlformats.org/drawingml/2006/main">
            <a:r>
              <a:t>Lectura: MECRO_Coheteria_Clase_03.pdf.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Cuerpo, dimensiones y espacio interior.</a:t>
            </a:r>
          </a:p>
          <a:p xmlns:a="http://schemas.openxmlformats.org/drawingml/2006/main">
            <a:r>
              <a:t>En línea, 2 h. Tramo del núcleo: 5 min.</a:t>
            </a:r>
          </a:p>
          <a:p xmlns:a="http://schemas.openxmlformats.org/drawingml/2006/main">
            <a:r>
              <a:t/>
            </a:r>
          </a:p>
          <a:p xmlns:a="http://schemas.openxmlformats.org/drawingml/2006/main">
            <a:r>
              <a:t>Caso</a:t>
            </a:r>
          </a:p>
          <a:p xmlns:a="http://schemas.openxmlformats.org/drawingml/2006/main">
            <a:r>
              <a:t>Nariz visible de 70 mm, cuerpo de 280 mm y hombro de 20 mm que queda completamente dentro del cuerpo.</a:t>
            </a:r>
          </a:p>
          <a:p xmlns:a="http://schemas.openxmlformats.org/drawingml/2006/main">
            <a:r>
              <a:t>Explicación</a:t>
            </a:r>
          </a:p>
          <a:p xmlns:a="http://schemas.openxmlformats.org/drawingml/2006/main">
            <a:r>
              <a:t>La longitud exterior es 350 mm. El hombro permite unir las piezas y no añade otros 20 mm al exterior. Si una parte queda expuesta por otro diseño, debe representarse y medirse explícitamente.</a:t>
            </a:r>
          </a:p>
          <a:p xmlns:a="http://schemas.openxmlformats.org/drawingml/2006/main">
            <a:r>
              <a:t>Dar tiempo para responder antes de presentar la solución oralmente.</a:t>
            </a:r>
          </a:p>
          <a:p xmlns:a="http://schemas.openxmlformats.org/drawingml/2006/main">
            <a:r>
              <a:t/>
            </a:r>
          </a:p>
          <a:p xmlns:a="http://schemas.openxmlformats.org/drawingml/2006/main">
            <a:r>
              <a:t>Resultado: Elegir un tubo disponible y distribuir componentes sin confundir longitud exterior con espacio útil.</a:t>
            </a:r>
          </a:p>
          <a:p xmlns:a="http://schemas.openxmlformats.org/drawingml/2006/main">
            <a:r>
              <a:t>Misión: Construir un modelo compacto que pueda montarse, inspeccionarse y recuperarse.</a:t>
            </a:r>
          </a:p>
          <a:p xmlns:a="http://schemas.openxmlformats.org/drawingml/2006/main">
            <a:r>
              <a:t>Entrega: Plano de distribución, archivo actualizado y ficha del cuerpo.</a:t>
            </a:r>
          </a:p>
          <a:p xmlns:a="http://schemas.openxmlformats.org/drawingml/2006/main">
            <a:r>
              <a:t/>
            </a:r>
          </a:p>
          <a:p xmlns:a="http://schemas.openxmlformats.org/drawingml/2006/main">
            <a:r>
              <a:t>Preguntas y respuestas</a:t>
            </a:r>
          </a:p>
          <a:p xmlns:a="http://schemas.openxmlformats.org/drawingml/2006/main">
            <a:r>
              <a:t>¿Alargar el cuerpo permite introducir una pieza demasiado ancha?</a:t>
            </a:r>
          </a:p>
          <a:p xmlns:a="http://schemas.openxmlformats.org/drawingml/2006/main">
            <a:r>
              <a:t>No. Hay que revisar el paso transversal.</a:t>
            </a:r>
          </a:p>
          <a:p xmlns:a="http://schemas.openxmlformats.org/drawingml/2006/main">
            <a:r>
              <a:t/>
            </a:r>
          </a:p>
          <a:p xmlns:a="http://schemas.openxmlformats.org/drawingml/2006/main">
            <a:r>
              <a:t>¿Se suma dos veces la zona de un encaje?</a:t>
            </a:r>
          </a:p>
          <a:p xmlns:a="http://schemas.openxmlformats.org/drawingml/2006/main">
            <a:r>
              <a:t>No. Debe distinguirse longitud de pieza y longitud visible ensamblada.</a:t>
            </a:r>
          </a:p>
          <a:p xmlns:a="http://schemas.openxmlformats.org/drawingml/2006/main">
            <a:r>
              <a:t/>
            </a:r>
          </a:p>
          <a:p xmlns:a="http://schemas.openxmlformats.org/drawingml/2006/main">
            <a:r>
              <a:t>¿Qué falta si solo tenemos el volumen del paracaídas?</a:t>
            </a:r>
          </a:p>
          <a:p xmlns:a="http://schemas.openxmlformats.org/drawingml/2006/main">
            <a:r>
              <a:t>Su envolvente plegada, cordones, acceso y comprobación de movimiento.</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OpenRocket. Basic Rocket Design. https://openrocket.readthedocs.io/en/latest/user_guide/basic_rocket_design.html</a:t>
            </a:r>
          </a:p>
          <a:p xmlns:a="http://schemas.openxmlformats.org/drawingml/2006/main">
            <a:r>
              <a:t>OpenRocket. Getting Started. https://openrocket.readthedocs.io/en/latest/setup/getting_started.html</a:t>
            </a:r>
          </a:p>
          <a:p xmlns:a="http://schemas.openxmlformats.org/drawingml/2006/main">
            <a:r>
              <a:t>OpenRocket. Body Components Basics. https://wiki.openrocket.info/Body_Components_Basics</a:t>
            </a:r>
          </a:p>
          <a:p xmlns:a="http://schemas.openxmlformats.org/drawingml/2006/main">
            <a:r>
              <a:t>Lectura: MECRO_Coheteria_Clase_03.pdf.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Cuerpo, dimensiones y espacio interior.</a:t>
            </a:r>
          </a:p>
          <a:p xmlns:a="http://schemas.openxmlformats.org/drawingml/2006/main">
            <a:r>
              <a:t>En línea, 2 h. Tramo del núcleo: 4 min.</a:t>
            </a:r>
          </a:p>
          <a:p xmlns:a="http://schemas.openxmlformats.org/drawingml/2006/main">
            <a:r>
              <a:t/>
            </a:r>
          </a:p>
          <a:p xmlns:a="http://schemas.openxmlformats.org/drawingml/2006/main">
            <a:r>
              <a:t>El modelo facilita ver posiciones, pero no representa automáticamente todos los cables, pliegues y detalles de una pieza impresa. El plano de fabricación y la prueba física siguen siendo necesarios. [OR1, OR2]</a:t>
            </a:r>
          </a:p>
          <a:p xmlns:a="http://schemas.openxmlformats.org/drawingml/2006/main">
            <a:r>
              <a:t/>
            </a:r>
          </a:p>
          <a:p xmlns:a="http://schemas.openxmlformats.org/drawingml/2006/main">
            <a:r>
              <a:t>Body Tube representa una pared cilíndrica con dimensiones y propiedades. El programa puede calcular una masa a partir de geometría y material, pero el tubo del taller puede incluir variación de espesor, uniones y acabado. Primero se comprueba que la geometría sea la que se pretendía introducir. Después, cuando exista una medida real, se compara la masa bajo la misma condición. Corregir un campo de masa no debe esconder que se dibujó un diámetro equivocado.</a:t>
            </a:r>
          </a:p>
          <a:p xmlns:a="http://schemas.openxmlformats.org/drawingml/2006/main">
            <a:r>
              <a:t>Pregunta para el grupo: ¿Qué representa Filled en tu cuerpo?</a:t>
            </a:r>
          </a:p>
          <a:p xmlns:a="http://schemas.openxmlformats.org/drawingml/2006/main">
            <a:r>
              <a:t/>
            </a:r>
          </a:p>
          <a:p xmlns:a="http://schemas.openxmlformats.org/drawingml/2006/main">
            <a:r>
              <a:t>Resultado: Elegir un tubo disponible y distribuir componentes sin confundir longitud exterior con espacio útil.</a:t>
            </a:r>
          </a:p>
          <a:p xmlns:a="http://schemas.openxmlformats.org/drawingml/2006/main">
            <a:r>
              <a:t>Misión: Construir un modelo compacto que pueda montarse, inspeccionarse y recuperarse.</a:t>
            </a:r>
          </a:p>
          <a:p xmlns:a="http://schemas.openxmlformats.org/drawingml/2006/main">
            <a:r>
              <a:t>Entrega: Plano de distribución, archivo actualizado y ficha del cuerpo.</a:t>
            </a:r>
          </a:p>
          <a:p xmlns:a="http://schemas.openxmlformats.org/drawingml/2006/main">
            <a:r>
              <a:t/>
            </a:r>
          </a:p>
          <a:p xmlns:a="http://schemas.openxmlformats.org/drawingml/2006/main">
            <a:r>
              <a:t>Preguntas y respuestas</a:t>
            </a:r>
          </a:p>
          <a:p xmlns:a="http://schemas.openxmlformats.org/drawingml/2006/main">
            <a:r>
              <a:t>¿Alargar el cuerpo permite introducir una pieza demasiado ancha?</a:t>
            </a:r>
          </a:p>
          <a:p xmlns:a="http://schemas.openxmlformats.org/drawingml/2006/main">
            <a:r>
              <a:t>No. Hay que revisar el paso transversal.</a:t>
            </a:r>
          </a:p>
          <a:p xmlns:a="http://schemas.openxmlformats.org/drawingml/2006/main">
            <a:r>
              <a:t/>
            </a:r>
          </a:p>
          <a:p xmlns:a="http://schemas.openxmlformats.org/drawingml/2006/main">
            <a:r>
              <a:t>¿Se suma dos veces la zona de un encaje?</a:t>
            </a:r>
          </a:p>
          <a:p xmlns:a="http://schemas.openxmlformats.org/drawingml/2006/main">
            <a:r>
              <a:t>No. Debe distinguirse longitud de pieza y longitud visible ensamblada.</a:t>
            </a:r>
          </a:p>
          <a:p xmlns:a="http://schemas.openxmlformats.org/drawingml/2006/main">
            <a:r>
              <a:t/>
            </a:r>
          </a:p>
          <a:p xmlns:a="http://schemas.openxmlformats.org/drawingml/2006/main">
            <a:r>
              <a:t>¿Qué falta si solo tenemos el volumen del paracaídas?</a:t>
            </a:r>
          </a:p>
          <a:p xmlns:a="http://schemas.openxmlformats.org/drawingml/2006/main">
            <a:r>
              <a:t>Su envolvente plegada, cordones, acceso y comprobación de movimiento.</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OpenRocket. Basic Rocket Design. https://openrocket.readthedocs.io/en/latest/user_guide/basic_rocket_design.html</a:t>
            </a:r>
          </a:p>
          <a:p xmlns:a="http://schemas.openxmlformats.org/drawingml/2006/main">
            <a:r>
              <a:t>OpenRocket. Getting Started. https://openrocket.readthedocs.io/en/latest/setup/getting_started.html</a:t>
            </a:r>
          </a:p>
          <a:p xmlns:a="http://schemas.openxmlformats.org/drawingml/2006/main">
            <a:r>
              <a:t>OpenRocket. Body Components Basics. https://wiki.openrocket.info/Body_Components_Basics</a:t>
            </a:r>
          </a:p>
          <a:p xmlns:a="http://schemas.openxmlformats.org/drawingml/2006/main">
            <a:r>
              <a:t>Lectura: MECRO_Coheteria_Clase_03.pdf.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Cuerpo, dimensiones y espacio interior.</a:t>
            </a:r>
          </a:p>
          <a:p xmlns:a="http://schemas.openxmlformats.org/drawingml/2006/main">
            <a:r>
              <a:t>En línea, 2 h. Tramo del núcleo: 4 min.</a:t>
            </a:r>
          </a:p>
          <a:p xmlns:a="http://schemas.openxmlformats.org/drawingml/2006/main">
            <a:r>
              <a:t/>
            </a:r>
          </a:p>
          <a:p xmlns:a="http://schemas.openxmlformats.org/drawingml/2006/main">
            <a:r>
              <a:t>Configuración de cuerpo del manual de OpenRocket. Revisa unidades, diámetro exterior, interior, pared y casilla Filled.</a:t>
            </a:r>
          </a:p>
          <a:p xmlns:a="http://schemas.openxmlformats.org/drawingml/2006/main">
            <a:r>
              <a:t>Localizar en la imagen las partes relacionadas con la pregunta.</a:t>
            </a:r>
          </a:p>
          <a:p xmlns:a="http://schemas.openxmlformats.org/drawingml/2006/main">
            <a:r>
              <a:t>¿Qué representa Filled en tu cuerpo?</a:t>
            </a:r>
          </a:p>
          <a:p xmlns:a="http://schemas.openxmlformats.org/drawingml/2006/main">
            <a:r>
              <a:t/>
            </a:r>
          </a:p>
          <a:p xmlns:a="http://schemas.openxmlformats.org/drawingml/2006/main">
            <a:r>
              <a:t>Resultado: Elegir un tubo disponible y distribuir componentes sin confundir longitud exterior con espacio útil.</a:t>
            </a:r>
          </a:p>
          <a:p xmlns:a="http://schemas.openxmlformats.org/drawingml/2006/main">
            <a:r>
              <a:t>Misión: Construir un modelo compacto que pueda montarse, inspeccionarse y recuperarse.</a:t>
            </a:r>
          </a:p>
          <a:p xmlns:a="http://schemas.openxmlformats.org/drawingml/2006/main">
            <a:r>
              <a:t>Entrega: Plano de distribución, archivo actualizado y ficha del cuerpo.</a:t>
            </a:r>
          </a:p>
          <a:p xmlns:a="http://schemas.openxmlformats.org/drawingml/2006/main">
            <a:r>
              <a:t/>
            </a:r>
          </a:p>
          <a:p xmlns:a="http://schemas.openxmlformats.org/drawingml/2006/main">
            <a:r>
              <a:t>Preguntas y respuestas</a:t>
            </a:r>
          </a:p>
          <a:p xmlns:a="http://schemas.openxmlformats.org/drawingml/2006/main">
            <a:r>
              <a:t>¿Alargar el cuerpo permite introducir una pieza demasiado ancha?</a:t>
            </a:r>
          </a:p>
          <a:p xmlns:a="http://schemas.openxmlformats.org/drawingml/2006/main">
            <a:r>
              <a:t>No. Hay que revisar el paso transversal.</a:t>
            </a:r>
          </a:p>
          <a:p xmlns:a="http://schemas.openxmlformats.org/drawingml/2006/main">
            <a:r>
              <a:t/>
            </a:r>
          </a:p>
          <a:p xmlns:a="http://schemas.openxmlformats.org/drawingml/2006/main">
            <a:r>
              <a:t>¿Se suma dos veces la zona de un encaje?</a:t>
            </a:r>
          </a:p>
          <a:p xmlns:a="http://schemas.openxmlformats.org/drawingml/2006/main">
            <a:r>
              <a:t>No. Debe distinguirse longitud de pieza y longitud visible ensamblada.</a:t>
            </a:r>
          </a:p>
          <a:p xmlns:a="http://schemas.openxmlformats.org/drawingml/2006/main">
            <a:r>
              <a:t/>
            </a:r>
          </a:p>
          <a:p xmlns:a="http://schemas.openxmlformats.org/drawingml/2006/main">
            <a:r>
              <a:t>¿Qué falta si solo tenemos el volumen del paracaídas?</a:t>
            </a:r>
          </a:p>
          <a:p xmlns:a="http://schemas.openxmlformats.org/drawingml/2006/main">
            <a:r>
              <a:t>Su envolvente plegada, cordones, acceso y comprobación de movimiento.</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OpenRocket. Basic Rocket Design. https://openrocket.readthedocs.io/en/latest/user_guide/basic_rocket_design.html</a:t>
            </a:r>
          </a:p>
          <a:p xmlns:a="http://schemas.openxmlformats.org/drawingml/2006/main">
            <a:r>
              <a:t>OpenRocket. Getting Started. https://openrocket.readthedocs.io/en/latest/setup/getting_started.html</a:t>
            </a:r>
          </a:p>
          <a:p xmlns:a="http://schemas.openxmlformats.org/drawingml/2006/main">
            <a:r>
              <a:t>OpenRocket. Body Components Basics. https://wiki.openrocket.info/Body_Components_Basics</a:t>
            </a:r>
          </a:p>
          <a:p xmlns:a="http://schemas.openxmlformats.org/drawingml/2006/main">
            <a:r>
              <a:t>Lectura: MECRO_Coheteria_Clase_03.pdf.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Cuerpo, dimensiones y espacio interior.</a:t>
            </a:r>
          </a:p>
          <a:p xmlns:a="http://schemas.openxmlformats.org/drawingml/2006/main">
            <a:r>
              <a:t>En línea, 2 h. Tramo del núcleo: 5 min.</a:t>
            </a:r>
          </a:p>
          <a:p xmlns:a="http://schemas.openxmlformats.org/drawingml/2006/main">
            <a:r>
              <a:t/>
            </a:r>
          </a:p>
          <a:p xmlns:a="http://schemas.openxmlformats.org/drawingml/2006/main">
            <a:r>
              <a:t>Abre el archivo del equipo y guarda una revisión CUERPO_v02. Selecciona Body Tube.</a:t>
            </a:r>
          </a:p>
          <a:p xmlns:a="http://schemas.openxmlformats.org/drawingml/2006/main">
            <a:r>
              <a:t>Sustituye longitud y diámetros por las medidas disponibles. Conserva una tabla con el dato anterior y el nuevo.</a:t>
            </a:r>
          </a:p>
          <a:p xmlns:a="http://schemas.openxmlformats.org/drawingml/2006/main">
            <a:r>
              <a:t>Comprueba que Filled esté desactivado si el tubo es hueco. Revisa cómo se relacionan espesor e interior.</a:t>
            </a:r>
          </a:p>
          <a:p xmlns:a="http://schemas.openxmlformats.org/drawingml/2006/main">
            <a:r>
              <a:t>Añade los componentes interiores que ya tienen referencia y dimensiones conocidas. Nómbralos según su función.</a:t>
            </a:r>
          </a:p>
          <a:p xmlns:a="http://schemas.openxmlformats.org/drawingml/2006/main">
            <a:r>
              <a:t>Usa la vista interior para revisar interferencias. Guarda una captura y anota lo que todavía no puede comprobarse.</a:t>
            </a:r>
          </a:p>
          <a:p xmlns:a="http://schemas.openxmlformats.org/drawingml/2006/main">
            <a:r>
              <a:t>Comprobar un paso en el objeto o programa antes de continuar.</a:t>
            </a:r>
          </a:p>
          <a:p xmlns:a="http://schemas.openxmlformats.org/drawingml/2006/main">
            <a:r>
              <a:t/>
            </a:r>
          </a:p>
          <a:p xmlns:a="http://schemas.openxmlformats.org/drawingml/2006/main">
            <a:r>
              <a:t>Resultado: Elegir un tubo disponible y distribuir componentes sin confundir longitud exterior con espacio útil.</a:t>
            </a:r>
          </a:p>
          <a:p xmlns:a="http://schemas.openxmlformats.org/drawingml/2006/main">
            <a:r>
              <a:t>Misión: Construir un modelo compacto que pueda montarse, inspeccionarse y recuperarse.</a:t>
            </a:r>
          </a:p>
          <a:p xmlns:a="http://schemas.openxmlformats.org/drawingml/2006/main">
            <a:r>
              <a:t>Entrega: Plano de distribución, archivo actualizado y ficha del cuerpo.</a:t>
            </a:r>
          </a:p>
          <a:p xmlns:a="http://schemas.openxmlformats.org/drawingml/2006/main">
            <a:r>
              <a:t/>
            </a:r>
          </a:p>
          <a:p xmlns:a="http://schemas.openxmlformats.org/drawingml/2006/main">
            <a:r>
              <a:t>Preguntas y respuestas</a:t>
            </a:r>
          </a:p>
          <a:p xmlns:a="http://schemas.openxmlformats.org/drawingml/2006/main">
            <a:r>
              <a:t>¿Alargar el cuerpo permite introducir una pieza demasiado ancha?</a:t>
            </a:r>
          </a:p>
          <a:p xmlns:a="http://schemas.openxmlformats.org/drawingml/2006/main">
            <a:r>
              <a:t>No. Hay que revisar el paso transversal.</a:t>
            </a:r>
          </a:p>
          <a:p xmlns:a="http://schemas.openxmlformats.org/drawingml/2006/main">
            <a:r>
              <a:t/>
            </a:r>
          </a:p>
          <a:p xmlns:a="http://schemas.openxmlformats.org/drawingml/2006/main">
            <a:r>
              <a:t>¿Se suma dos veces la zona de un encaje?</a:t>
            </a:r>
          </a:p>
          <a:p xmlns:a="http://schemas.openxmlformats.org/drawingml/2006/main">
            <a:r>
              <a:t>No. Debe distinguirse longitud de pieza y longitud visible ensamblada.</a:t>
            </a:r>
          </a:p>
          <a:p xmlns:a="http://schemas.openxmlformats.org/drawingml/2006/main">
            <a:r>
              <a:t/>
            </a:r>
          </a:p>
          <a:p xmlns:a="http://schemas.openxmlformats.org/drawingml/2006/main">
            <a:r>
              <a:t>¿Qué falta si solo tenemos el volumen del paracaídas?</a:t>
            </a:r>
          </a:p>
          <a:p xmlns:a="http://schemas.openxmlformats.org/drawingml/2006/main">
            <a:r>
              <a:t>Su envolvente plegada, cordones, acceso y comprobación de movimiento.</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OpenRocket. Basic Rocket Design. https://openrocket.readthedocs.io/en/latest/user_guide/basic_rocket_design.html</a:t>
            </a:r>
          </a:p>
          <a:p xmlns:a="http://schemas.openxmlformats.org/drawingml/2006/main">
            <a:r>
              <a:t>OpenRocket. Getting Started. https://openrocket.readthedocs.io/en/latest/setup/getting_started.html</a:t>
            </a:r>
          </a:p>
          <a:p xmlns:a="http://schemas.openxmlformats.org/drawingml/2006/main">
            <a:r>
              <a:t>OpenRocket. Body Components Basics. https://wiki.openrocket.info/Body_Components_Basics</a:t>
            </a:r>
          </a:p>
          <a:p xmlns:a="http://schemas.openxmlformats.org/drawingml/2006/main">
            <a:r>
              <a:t>Lectura: MECRO_Coheteria_Clase_03.pdf.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Cuerpo, dimensiones y espacio interior.</a:t>
            </a:r>
          </a:p>
          <a:p xmlns:a="http://schemas.openxmlformats.org/drawingml/2006/main">
            <a:r>
              <a:t>En línea, 2 h. Tramo del núcleo: 4 min.</a:t>
            </a:r>
          </a:p>
          <a:p xmlns:a="http://schemas.openxmlformats.org/drawingml/2006/main">
            <a:r>
              <a:t/>
            </a:r>
          </a:p>
          <a:p xmlns:a="http://schemas.openxmlformats.org/drawingml/2006/main">
            <a:r>
              <a:t>Antes de modificar el cuerpo, el equipo comprueba que el tubo no esté aplastado y define desde qué extremo medirá. Una marca de longitud requiere una referencia clara. Repetir la medición desde un borde irregular puede producir diferencias que después se interpretan como errores de la pieza impresa.</a:t>
            </a:r>
          </a:p>
          <a:p xmlns:a="http://schemas.openxmlformats.org/drawingml/2006/main">
            <a:r>
              <a:t/>
            </a:r>
          </a:p>
          <a:p xmlns:a="http://schemas.openxmlformats.org/drawingml/2006/main">
            <a:r>
              <a:t>La presentación en seco permite descubrir interferencias cuando todavía es fácil corregirlas. Pegar primero y medir después convierte un problema de diseño en una reparación.</a:t>
            </a:r>
          </a:p>
          <a:p xmlns:a="http://schemas.openxmlformats.org/drawingml/2006/main">
            <a:r>
              <a:t>Pregunta para el grupo: ¿Qué revisión harás antes de pegar?</a:t>
            </a:r>
          </a:p>
          <a:p xmlns:a="http://schemas.openxmlformats.org/drawingml/2006/main">
            <a:r>
              <a:t/>
            </a:r>
          </a:p>
          <a:p xmlns:a="http://schemas.openxmlformats.org/drawingml/2006/main">
            <a:r>
              <a:t>Resultado: Elegir un tubo disponible y distribuir componentes sin confundir longitud exterior con espacio útil.</a:t>
            </a:r>
          </a:p>
          <a:p xmlns:a="http://schemas.openxmlformats.org/drawingml/2006/main">
            <a:r>
              <a:t>Misión: Construir un modelo compacto que pueda montarse, inspeccionarse y recuperarse.</a:t>
            </a:r>
          </a:p>
          <a:p xmlns:a="http://schemas.openxmlformats.org/drawingml/2006/main">
            <a:r>
              <a:t>Entrega: Plano de distribución, archivo actualizado y ficha del cuerpo.</a:t>
            </a:r>
          </a:p>
          <a:p xmlns:a="http://schemas.openxmlformats.org/drawingml/2006/main">
            <a:r>
              <a:t/>
            </a:r>
          </a:p>
          <a:p xmlns:a="http://schemas.openxmlformats.org/drawingml/2006/main">
            <a:r>
              <a:t>Preguntas y respuestas</a:t>
            </a:r>
          </a:p>
          <a:p xmlns:a="http://schemas.openxmlformats.org/drawingml/2006/main">
            <a:r>
              <a:t>¿Alargar el cuerpo permite introducir una pieza demasiado ancha?</a:t>
            </a:r>
          </a:p>
          <a:p xmlns:a="http://schemas.openxmlformats.org/drawingml/2006/main">
            <a:r>
              <a:t>No. Hay que revisar el paso transversal.</a:t>
            </a:r>
          </a:p>
          <a:p xmlns:a="http://schemas.openxmlformats.org/drawingml/2006/main">
            <a:r>
              <a:t/>
            </a:r>
          </a:p>
          <a:p xmlns:a="http://schemas.openxmlformats.org/drawingml/2006/main">
            <a:r>
              <a:t>¿Se suma dos veces la zona de un encaje?</a:t>
            </a:r>
          </a:p>
          <a:p xmlns:a="http://schemas.openxmlformats.org/drawingml/2006/main">
            <a:r>
              <a:t>No. Debe distinguirse longitud de pieza y longitud visible ensamblada.</a:t>
            </a:r>
          </a:p>
          <a:p xmlns:a="http://schemas.openxmlformats.org/drawingml/2006/main">
            <a:r>
              <a:t/>
            </a:r>
          </a:p>
          <a:p xmlns:a="http://schemas.openxmlformats.org/drawingml/2006/main">
            <a:r>
              <a:t>¿Qué falta si solo tenemos el volumen del paracaídas?</a:t>
            </a:r>
          </a:p>
          <a:p xmlns:a="http://schemas.openxmlformats.org/drawingml/2006/main">
            <a:r>
              <a:t>Su envolvente plegada, cordones, acceso y comprobación de movimiento.</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OpenRocket. Basic Rocket Design. https://openrocket.readthedocs.io/en/latest/user_guide/basic_rocket_design.html</a:t>
            </a:r>
          </a:p>
          <a:p xmlns:a="http://schemas.openxmlformats.org/drawingml/2006/main">
            <a:r>
              <a:t>OpenRocket. Getting Started. https://openrocket.readthedocs.io/en/latest/setup/getting_started.html</a:t>
            </a:r>
          </a:p>
          <a:p xmlns:a="http://schemas.openxmlformats.org/drawingml/2006/main">
            <a:r>
              <a:t>OpenRocket. Body Components Basics. https://wiki.openrocket.info/Body_Components_Basics</a:t>
            </a:r>
          </a:p>
          <a:p xmlns:a="http://schemas.openxmlformats.org/drawingml/2006/main">
            <a:r>
              <a:t>Lectura: MECRO_Coheteria_Clase_03.pdf.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Cuerpo, dimensiones y espacio interior.</a:t>
            </a:r>
          </a:p>
          <a:p xmlns:a="http://schemas.openxmlformats.org/drawingml/2006/main">
            <a:r>
              <a:t>En línea, 2 h. Tramo del núcleo: 4 min.</a:t>
            </a:r>
          </a:p>
          <a:p xmlns:a="http://schemas.openxmlformats.org/drawingml/2006/main">
            <a:r>
              <a:t/>
            </a:r>
          </a:p>
          <a:p xmlns:a="http://schemas.openxmlformats.org/drawingml/2006/main">
            <a:r>
              <a:t>Momento / Dato a conservar</a:t>
            </a:r>
          </a:p>
          <a:p xmlns:a="http://schemas.openxmlformats.org/drawingml/2006/main">
            <a:r>
              <a:t>Al recibir / Medidas y masa</a:t>
            </a:r>
          </a:p>
          <a:p xmlns:a="http://schemas.openxmlformats.org/drawingml/2006/main">
            <a:r>
              <a:t>Después de preparar / Longitud y estado del borde</a:t>
            </a:r>
          </a:p>
          <a:p xmlns:a="http://schemas.openxmlformats.org/drawingml/2006/main">
            <a:r>
              <a:t>Con piezas presentadas / Longitud total y acceso</a:t>
            </a:r>
          </a:p>
          <a:p xmlns:a="http://schemas.openxmlformats.org/drawingml/2006/main">
            <a:r>
              <a:t>Antes de montar / Referencia del plano aceptado</a:t>
            </a:r>
          </a:p>
          <a:p xmlns:a="http://schemas.openxmlformats.org/drawingml/2006/main">
            <a:r>
              <a:t>Comparar dos filas y justificar con la misión.</a:t>
            </a:r>
          </a:p>
          <a:p xmlns:a="http://schemas.openxmlformats.org/drawingml/2006/main">
            <a:r>
              <a:t/>
            </a:r>
          </a:p>
          <a:p xmlns:a="http://schemas.openxmlformats.org/drawingml/2006/main">
            <a:r>
              <a:t>Resultado: Elegir un tubo disponible y distribuir componentes sin confundir longitud exterior con espacio útil.</a:t>
            </a:r>
          </a:p>
          <a:p xmlns:a="http://schemas.openxmlformats.org/drawingml/2006/main">
            <a:r>
              <a:t>Misión: Construir un modelo compacto que pueda montarse, inspeccionarse y recuperarse.</a:t>
            </a:r>
          </a:p>
          <a:p xmlns:a="http://schemas.openxmlformats.org/drawingml/2006/main">
            <a:r>
              <a:t>Entrega: Plano de distribución, archivo actualizado y ficha del cuerpo.</a:t>
            </a:r>
          </a:p>
          <a:p xmlns:a="http://schemas.openxmlformats.org/drawingml/2006/main">
            <a:r>
              <a:t/>
            </a:r>
          </a:p>
          <a:p xmlns:a="http://schemas.openxmlformats.org/drawingml/2006/main">
            <a:r>
              <a:t>Preguntas y respuestas</a:t>
            </a:r>
          </a:p>
          <a:p xmlns:a="http://schemas.openxmlformats.org/drawingml/2006/main">
            <a:r>
              <a:t>¿Alargar el cuerpo permite introducir una pieza demasiado ancha?</a:t>
            </a:r>
          </a:p>
          <a:p xmlns:a="http://schemas.openxmlformats.org/drawingml/2006/main">
            <a:r>
              <a:t>No. Hay que revisar el paso transversal.</a:t>
            </a:r>
          </a:p>
          <a:p xmlns:a="http://schemas.openxmlformats.org/drawingml/2006/main">
            <a:r>
              <a:t/>
            </a:r>
          </a:p>
          <a:p xmlns:a="http://schemas.openxmlformats.org/drawingml/2006/main">
            <a:r>
              <a:t>¿Se suma dos veces la zona de un encaje?</a:t>
            </a:r>
          </a:p>
          <a:p xmlns:a="http://schemas.openxmlformats.org/drawingml/2006/main">
            <a:r>
              <a:t>No. Debe distinguirse longitud de pieza y longitud visible ensamblada.</a:t>
            </a:r>
          </a:p>
          <a:p xmlns:a="http://schemas.openxmlformats.org/drawingml/2006/main">
            <a:r>
              <a:t/>
            </a:r>
          </a:p>
          <a:p xmlns:a="http://schemas.openxmlformats.org/drawingml/2006/main">
            <a:r>
              <a:t>¿Qué falta si solo tenemos el volumen del paracaídas?</a:t>
            </a:r>
          </a:p>
          <a:p xmlns:a="http://schemas.openxmlformats.org/drawingml/2006/main">
            <a:r>
              <a:t>Su envolvente plegada, cordones, acceso y comprobación de movimiento.</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OpenRocket. Basic Rocket Design. https://openrocket.readthedocs.io/en/latest/user_guide/basic_rocket_design.html</a:t>
            </a:r>
          </a:p>
          <a:p xmlns:a="http://schemas.openxmlformats.org/drawingml/2006/main">
            <a:r>
              <a:t>OpenRocket. Getting Started. https://openrocket.readthedocs.io/en/latest/setup/getting_started.html</a:t>
            </a:r>
          </a:p>
          <a:p xmlns:a="http://schemas.openxmlformats.org/drawingml/2006/main">
            <a:r>
              <a:t>OpenRocket. Body Components Basics. https://wiki.openrocket.info/Body_Components_Basics</a:t>
            </a:r>
          </a:p>
          <a:p xmlns:a="http://schemas.openxmlformats.org/drawingml/2006/main">
            <a:r>
              <a:t>Lectura: MECRO_Coheteria_Clase_03.pdf.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Cuerpo, dimensiones y espacio interior.</a:t>
            </a:r>
          </a:p>
          <a:p xmlns:a="http://schemas.openxmlformats.org/drawingml/2006/main">
            <a:r>
              <a:t>En línea, 2 h. Tramo del núcleo: 5 min.</a:t>
            </a:r>
          </a:p>
          <a:p xmlns:a="http://schemas.openxmlformats.org/drawingml/2006/main">
            <a:r>
              <a:t/>
            </a:r>
          </a:p>
          <a:p xmlns:a="http://schemas.openxmlformats.org/drawingml/2006/main">
            <a:r>
              <a:t>Identifica cada tubo con equipo y revisión. Mide en más de una orientación y anota si el borde está deformado.</a:t>
            </a:r>
          </a:p>
          <a:p xmlns:a="http://schemas.openxmlformats.org/drawingml/2006/main">
            <a:r>
              <a:t>Traza la longitud de acuerdo con el plano revisado. El docente valida el método de corte y acabado adecuado al material y a las herramientas del taller.</a:t>
            </a:r>
          </a:p>
          <a:p xmlns:a="http://schemas.openxmlformats.org/drawingml/2006/main">
            <a:r>
              <a:t>Comprueba el borde y la continuidad de la sección antes de intentar un encaje. No ocultes una deformación aumentando a la fuerza el tamaño de la unión.</a:t>
            </a:r>
          </a:p>
          <a:p xmlns:a="http://schemas.openxmlformats.org/drawingml/2006/main">
            <a:r>
              <a:t>Presenta las piezas sin pegarlas y verifica longitud ensamblada y acceso.</a:t>
            </a:r>
          </a:p>
          <a:p xmlns:a="http://schemas.openxmlformats.org/drawingml/2006/main">
            <a:r>
              <a:t>Pesa el cuerpo preparado. Si se añadieron uniones o acabado, conserva la diferencia respecto a la pieza inicial.</a:t>
            </a:r>
          </a:p>
          <a:p xmlns:a="http://schemas.openxmlformats.org/drawingml/2006/main">
            <a:r>
              <a:t>Comprobar un paso en el objeto o programa antes de continuar.</a:t>
            </a:r>
          </a:p>
          <a:p xmlns:a="http://schemas.openxmlformats.org/drawingml/2006/main">
            <a:r>
              <a:t/>
            </a:r>
          </a:p>
          <a:p xmlns:a="http://schemas.openxmlformats.org/drawingml/2006/main">
            <a:r>
              <a:t>Resultado: Elegir un tubo disponible y distribuir componentes sin confundir longitud exterior con espacio útil.</a:t>
            </a:r>
          </a:p>
          <a:p xmlns:a="http://schemas.openxmlformats.org/drawingml/2006/main">
            <a:r>
              <a:t>Misión: Construir un modelo compacto que pueda montarse, inspeccionarse y recuperarse.</a:t>
            </a:r>
          </a:p>
          <a:p xmlns:a="http://schemas.openxmlformats.org/drawingml/2006/main">
            <a:r>
              <a:t>Entrega: Plano de distribución, archivo actualizado y ficha del cuerpo.</a:t>
            </a:r>
          </a:p>
          <a:p xmlns:a="http://schemas.openxmlformats.org/drawingml/2006/main">
            <a:r>
              <a:t/>
            </a:r>
          </a:p>
          <a:p xmlns:a="http://schemas.openxmlformats.org/drawingml/2006/main">
            <a:r>
              <a:t>Preguntas y respuestas</a:t>
            </a:r>
          </a:p>
          <a:p xmlns:a="http://schemas.openxmlformats.org/drawingml/2006/main">
            <a:r>
              <a:t>¿Alargar el cuerpo permite introducir una pieza demasiado ancha?</a:t>
            </a:r>
          </a:p>
          <a:p xmlns:a="http://schemas.openxmlformats.org/drawingml/2006/main">
            <a:r>
              <a:t>No. Hay que revisar el paso transversal.</a:t>
            </a:r>
          </a:p>
          <a:p xmlns:a="http://schemas.openxmlformats.org/drawingml/2006/main">
            <a:r>
              <a:t/>
            </a:r>
          </a:p>
          <a:p xmlns:a="http://schemas.openxmlformats.org/drawingml/2006/main">
            <a:r>
              <a:t>¿Se suma dos veces la zona de un encaje?</a:t>
            </a:r>
          </a:p>
          <a:p xmlns:a="http://schemas.openxmlformats.org/drawingml/2006/main">
            <a:r>
              <a:t>No. Debe distinguirse longitud de pieza y longitud visible ensamblada.</a:t>
            </a:r>
          </a:p>
          <a:p xmlns:a="http://schemas.openxmlformats.org/drawingml/2006/main">
            <a:r>
              <a:t/>
            </a:r>
          </a:p>
          <a:p xmlns:a="http://schemas.openxmlformats.org/drawingml/2006/main">
            <a:r>
              <a:t>¿Qué falta si solo tenemos el volumen del paracaídas?</a:t>
            </a:r>
          </a:p>
          <a:p xmlns:a="http://schemas.openxmlformats.org/drawingml/2006/main">
            <a:r>
              <a:t>Su envolvente plegada, cordones, acceso y comprobación de movimiento.</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OpenRocket. Basic Rocket Design. https://openrocket.readthedocs.io/en/latest/user_guide/basic_rocket_design.html</a:t>
            </a:r>
          </a:p>
          <a:p xmlns:a="http://schemas.openxmlformats.org/drawingml/2006/main">
            <a:r>
              <a:t>OpenRocket. Getting Started. https://openrocket.readthedocs.io/en/latest/setup/getting_started.html</a:t>
            </a:r>
          </a:p>
          <a:p xmlns:a="http://schemas.openxmlformats.org/drawingml/2006/main">
            <a:r>
              <a:t>OpenRocket. Body Components Basics. https://wiki.openrocket.info/Body_Components_Basics</a:t>
            </a:r>
          </a:p>
          <a:p xmlns:a="http://schemas.openxmlformats.org/drawingml/2006/main">
            <a:r>
              <a:t>Lectura: MECRO_Coheteria_Clase_03.pdf.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Cuerpo, dimensiones y espacio interior.</a:t>
            </a:r>
          </a:p>
          <a:p xmlns:a="http://schemas.openxmlformats.org/drawingml/2006/main">
            <a:r>
              <a:t>En línea, 2 h. Tramo del núcleo: 4 min.</a:t>
            </a:r>
          </a:p>
          <a:p xmlns:a="http://schemas.openxmlformats.org/drawingml/2006/main">
            <a:r>
              <a:t/>
            </a:r>
          </a:p>
          <a:p xmlns:a="http://schemas.openxmlformats.org/drawingml/2006/main">
            <a:r>
              <a:t>El cuerpo más corto no es necesariamente el más fácil de construir. El más largo tampoco es automáticamente el más estable. En esta etapa elegimos una distribución que pueda montarse y reservar el espacio necesario. La estabilidad y el comportamiento del conjunto se revisarán cuando el modelo tenga sus piezas y masas.</a:t>
            </a:r>
          </a:p>
          <a:p xmlns:a="http://schemas.openxmlformats.org/drawingml/2006/main">
            <a:r>
              <a:t/>
            </a:r>
          </a:p>
          <a:p xmlns:a="http://schemas.openxmlformats.org/drawingml/2006/main">
            <a:r>
              <a:t>El plano solo cabe si el paracaídas ocupa exactamente el hueco dibujado, pero todavía no se ha plegado ni probado con sus cordones.</a:t>
            </a:r>
          </a:p>
          <a:p xmlns:a="http://schemas.openxmlformats.org/drawingml/2006/main">
            <a:r>
              <a:t/>
            </a:r>
          </a:p>
          <a:p xmlns:a="http://schemas.openxmlformats.org/drawingml/2006/main">
            <a:r>
              <a:t>Entrega una vista lateral acotada y una fotografía o captura de la presentación. Señala una interferencia que hayas resuelto y una comprobación que quede pendiente. El diseño mejora cuando las decisiones se relacionan con objetos que puedes medir.</a:t>
            </a:r>
          </a:p>
          <a:p xmlns:a="http://schemas.openxmlformats.org/drawingml/2006/main">
            <a:r>
              <a:t>Pregunta para el grupo: ¿Qué espacio todavía no has comprobado?</a:t>
            </a:r>
          </a:p>
          <a:p xmlns:a="http://schemas.openxmlformats.org/drawingml/2006/main">
            <a:r>
              <a:t/>
            </a:r>
          </a:p>
          <a:p xmlns:a="http://schemas.openxmlformats.org/drawingml/2006/main">
            <a:r>
              <a:t>Resultado: Elegir un tubo disponible y distribuir componentes sin confundir longitud exterior con espacio útil.</a:t>
            </a:r>
          </a:p>
          <a:p xmlns:a="http://schemas.openxmlformats.org/drawingml/2006/main">
            <a:r>
              <a:t>Misión: Construir un modelo compacto que pueda montarse, inspeccionarse y recuperarse.</a:t>
            </a:r>
          </a:p>
          <a:p xmlns:a="http://schemas.openxmlformats.org/drawingml/2006/main">
            <a:r>
              <a:t>Entrega: Plano de distribución, archivo actualizado y ficha del cuerpo.</a:t>
            </a:r>
          </a:p>
          <a:p xmlns:a="http://schemas.openxmlformats.org/drawingml/2006/main">
            <a:r>
              <a:t/>
            </a:r>
          </a:p>
          <a:p xmlns:a="http://schemas.openxmlformats.org/drawingml/2006/main">
            <a:r>
              <a:t>Preguntas y respuestas</a:t>
            </a:r>
          </a:p>
          <a:p xmlns:a="http://schemas.openxmlformats.org/drawingml/2006/main">
            <a:r>
              <a:t>¿Alargar el cuerpo permite introducir una pieza demasiado ancha?</a:t>
            </a:r>
          </a:p>
          <a:p xmlns:a="http://schemas.openxmlformats.org/drawingml/2006/main">
            <a:r>
              <a:t>No. Hay que revisar el paso transversal.</a:t>
            </a:r>
          </a:p>
          <a:p xmlns:a="http://schemas.openxmlformats.org/drawingml/2006/main">
            <a:r>
              <a:t/>
            </a:r>
          </a:p>
          <a:p xmlns:a="http://schemas.openxmlformats.org/drawingml/2006/main">
            <a:r>
              <a:t>¿Se suma dos veces la zona de un encaje?</a:t>
            </a:r>
          </a:p>
          <a:p xmlns:a="http://schemas.openxmlformats.org/drawingml/2006/main">
            <a:r>
              <a:t>No. Debe distinguirse longitud de pieza y longitud visible ensamblada.</a:t>
            </a:r>
          </a:p>
          <a:p xmlns:a="http://schemas.openxmlformats.org/drawingml/2006/main">
            <a:r>
              <a:t/>
            </a:r>
          </a:p>
          <a:p xmlns:a="http://schemas.openxmlformats.org/drawingml/2006/main">
            <a:r>
              <a:t>¿Qué falta si solo tenemos el volumen del paracaídas?</a:t>
            </a:r>
          </a:p>
          <a:p xmlns:a="http://schemas.openxmlformats.org/drawingml/2006/main">
            <a:r>
              <a:t>Su envolvente plegada, cordones, acceso y comprobación de movimiento.</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OpenRocket. Basic Rocket Design. https://openrocket.readthedocs.io/en/latest/user_guide/basic_rocket_design.html</a:t>
            </a:r>
          </a:p>
          <a:p xmlns:a="http://schemas.openxmlformats.org/drawingml/2006/main">
            <a:r>
              <a:t>OpenRocket. Getting Started. https://openrocket.readthedocs.io/en/latest/setup/getting_started.html</a:t>
            </a:r>
          </a:p>
          <a:p xmlns:a="http://schemas.openxmlformats.org/drawingml/2006/main">
            <a:r>
              <a:t>OpenRocket. Body Components Basics. https://wiki.openrocket.info/Body_Components_Basics</a:t>
            </a:r>
          </a:p>
          <a:p xmlns:a="http://schemas.openxmlformats.org/drawingml/2006/main">
            <a:r>
              <a:t>Lectura: MECRO_Coheteria_Clase_03.pdf.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Cuerpo, dimensiones y espacio interior.</a:t>
            </a:r>
          </a:p>
          <a:p xmlns:a="http://schemas.openxmlformats.org/drawingml/2006/main">
            <a:r>
              <a:t>En línea, 2 h. Tramo del núcleo: 4 min.</a:t>
            </a:r>
          </a:p>
          <a:p xmlns:a="http://schemas.openxmlformats.org/drawingml/2006/main">
            <a:r>
              <a:t/>
            </a:r>
          </a:p>
          <a:p xmlns:a="http://schemas.openxmlformats.org/drawingml/2006/main">
            <a:r>
              <a:t>Misión / Qué priorizar / Evidencia útil</a:t>
            </a:r>
          </a:p>
          <a:p xmlns:a="http://schemas.openxmlformats.org/drawingml/2006/main">
            <a:r>
              <a:t>Aprender a montar / Disponibilidad y acceso / Plano y presentación en seco</a:t>
            </a:r>
          </a:p>
          <a:p xmlns:a="http://schemas.openxmlformats.org/drawingml/2006/main">
            <a:r>
              <a:t>Reutilizar / Recambio y revisión de uniones / Desmontajes y estado del tubo</a:t>
            </a:r>
          </a:p>
          <a:p xmlns:a="http://schemas.openxmlformats.org/drawingml/2006/main">
            <a:r>
              <a:t>Carga docente / Envolvente y conexiones / Maqueta de carga y acceso a datos</a:t>
            </a:r>
          </a:p>
          <a:p xmlns:a="http://schemas.openxmlformats.org/drawingml/2006/main">
            <a:r>
              <a:t>Comparar dos filas y justificar con la misión.</a:t>
            </a:r>
          </a:p>
          <a:p xmlns:a="http://schemas.openxmlformats.org/drawingml/2006/main">
            <a:r>
              <a:t/>
            </a:r>
          </a:p>
          <a:p xmlns:a="http://schemas.openxmlformats.org/drawingml/2006/main">
            <a:r>
              <a:t>Resultado: Elegir un tubo disponible y distribuir componentes sin confundir longitud exterior con espacio útil.</a:t>
            </a:r>
          </a:p>
          <a:p xmlns:a="http://schemas.openxmlformats.org/drawingml/2006/main">
            <a:r>
              <a:t>Misión: Construir un modelo compacto que pueda montarse, inspeccionarse y recuperarse.</a:t>
            </a:r>
          </a:p>
          <a:p xmlns:a="http://schemas.openxmlformats.org/drawingml/2006/main">
            <a:r>
              <a:t>Entrega: Plano de distribución, archivo actualizado y ficha del cuerpo.</a:t>
            </a:r>
          </a:p>
          <a:p xmlns:a="http://schemas.openxmlformats.org/drawingml/2006/main">
            <a:r>
              <a:t/>
            </a:r>
          </a:p>
          <a:p xmlns:a="http://schemas.openxmlformats.org/drawingml/2006/main">
            <a:r>
              <a:t>Preguntas y respuestas</a:t>
            </a:r>
          </a:p>
          <a:p xmlns:a="http://schemas.openxmlformats.org/drawingml/2006/main">
            <a:r>
              <a:t>¿Alargar el cuerpo permite introducir una pieza demasiado ancha?</a:t>
            </a:r>
          </a:p>
          <a:p xmlns:a="http://schemas.openxmlformats.org/drawingml/2006/main">
            <a:r>
              <a:t>No. Hay que revisar el paso transversal.</a:t>
            </a:r>
          </a:p>
          <a:p xmlns:a="http://schemas.openxmlformats.org/drawingml/2006/main">
            <a:r>
              <a:t/>
            </a:r>
          </a:p>
          <a:p xmlns:a="http://schemas.openxmlformats.org/drawingml/2006/main">
            <a:r>
              <a:t>¿Se suma dos veces la zona de un encaje?</a:t>
            </a:r>
          </a:p>
          <a:p xmlns:a="http://schemas.openxmlformats.org/drawingml/2006/main">
            <a:r>
              <a:t>No. Debe distinguirse longitud de pieza y longitud visible ensamblada.</a:t>
            </a:r>
          </a:p>
          <a:p xmlns:a="http://schemas.openxmlformats.org/drawingml/2006/main">
            <a:r>
              <a:t/>
            </a:r>
          </a:p>
          <a:p xmlns:a="http://schemas.openxmlformats.org/drawingml/2006/main">
            <a:r>
              <a:t>¿Qué falta si solo tenemos el volumen del paracaídas?</a:t>
            </a:r>
          </a:p>
          <a:p xmlns:a="http://schemas.openxmlformats.org/drawingml/2006/main">
            <a:r>
              <a:t>Su envolvente plegada, cordones, acceso y comprobación de movimiento.</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OpenRocket. Basic Rocket Design. https://openrocket.readthedocs.io/en/latest/user_guide/basic_rocket_design.html</a:t>
            </a:r>
          </a:p>
          <a:p xmlns:a="http://schemas.openxmlformats.org/drawingml/2006/main">
            <a:r>
              <a:t>OpenRocket. Getting Started. https://openrocket.readthedocs.io/en/latest/setup/getting_started.html</a:t>
            </a:r>
          </a:p>
          <a:p xmlns:a="http://schemas.openxmlformats.org/drawingml/2006/main">
            <a:r>
              <a:t>OpenRocket. Body Components Basics. https://wiki.openrocket.info/Body_Components_Basics</a:t>
            </a:r>
          </a:p>
          <a:p xmlns:a="http://schemas.openxmlformats.org/drawingml/2006/main">
            <a:r>
              <a:t>Lectura: MECRO_Coheteria_Clase_03.pdf.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Cuerpo, dimensiones y espacio interior.</a:t>
            </a:r>
          </a:p>
          <a:p xmlns:a="http://schemas.openxmlformats.org/drawingml/2006/main">
            <a:r>
              <a:t>En línea, 2 h. Tramo del núcleo: 5 min.</a:t>
            </a:r>
          </a:p>
          <a:p xmlns:a="http://schemas.openxmlformats.org/drawingml/2006/main">
            <a:r>
              <a:t/>
            </a:r>
          </a:p>
          <a:p xmlns:a="http://schemas.openxmlformats.org/drawingml/2006/main">
            <a:r>
              <a:t>Caso</a:t>
            </a:r>
          </a:p>
          <a:p xmlns:a="http://schemas.openxmlformats.org/drawingml/2006/main">
            <a:r>
              <a:t>El plano solo cabe si el paracaídas ocupa exactamente el hueco dibujado, pero todavía no se ha plegado ni probado con sus cordones.</a:t>
            </a:r>
          </a:p>
          <a:p xmlns:a="http://schemas.openxmlformats.org/drawingml/2006/main">
            <a:r>
              <a:t>Explicación</a:t>
            </a:r>
          </a:p>
          <a:p xmlns:a="http://schemas.openxmlformats.org/drawingml/2006/main">
            <a:r>
              <a:t>La distribución sigue pendiente. Conviene comprobar una muestra real y revisar el acceso antes de congelar la longitud. La evidencia que falta es una presentación del conjunto de recuperación, no una ecuación más detallada del tubo.</a:t>
            </a:r>
          </a:p>
          <a:p xmlns:a="http://schemas.openxmlformats.org/drawingml/2006/main">
            <a:r>
              <a:t>Dar tiempo para responder antes de presentar la solución oralmente.</a:t>
            </a:r>
          </a:p>
          <a:p xmlns:a="http://schemas.openxmlformats.org/drawingml/2006/main">
            <a:r>
              <a:t/>
            </a:r>
          </a:p>
          <a:p xmlns:a="http://schemas.openxmlformats.org/drawingml/2006/main">
            <a:r>
              <a:t>Resultado: Elegir un tubo disponible y distribuir componentes sin confundir longitud exterior con espacio útil.</a:t>
            </a:r>
          </a:p>
          <a:p xmlns:a="http://schemas.openxmlformats.org/drawingml/2006/main">
            <a:r>
              <a:t>Misión: Construir un modelo compacto que pueda montarse, inspeccionarse y recuperarse.</a:t>
            </a:r>
          </a:p>
          <a:p xmlns:a="http://schemas.openxmlformats.org/drawingml/2006/main">
            <a:r>
              <a:t>Entrega: Plano de distribución, archivo actualizado y ficha del cuerpo.</a:t>
            </a:r>
          </a:p>
          <a:p xmlns:a="http://schemas.openxmlformats.org/drawingml/2006/main">
            <a:r>
              <a:t/>
            </a:r>
          </a:p>
          <a:p xmlns:a="http://schemas.openxmlformats.org/drawingml/2006/main">
            <a:r>
              <a:t>Preguntas y respuestas</a:t>
            </a:r>
          </a:p>
          <a:p xmlns:a="http://schemas.openxmlformats.org/drawingml/2006/main">
            <a:r>
              <a:t>¿Alargar el cuerpo permite introducir una pieza demasiado ancha?</a:t>
            </a:r>
          </a:p>
          <a:p xmlns:a="http://schemas.openxmlformats.org/drawingml/2006/main">
            <a:r>
              <a:t>No. Hay que revisar el paso transversal.</a:t>
            </a:r>
          </a:p>
          <a:p xmlns:a="http://schemas.openxmlformats.org/drawingml/2006/main">
            <a:r>
              <a:t/>
            </a:r>
          </a:p>
          <a:p xmlns:a="http://schemas.openxmlformats.org/drawingml/2006/main">
            <a:r>
              <a:t>¿Se suma dos veces la zona de un encaje?</a:t>
            </a:r>
          </a:p>
          <a:p xmlns:a="http://schemas.openxmlformats.org/drawingml/2006/main">
            <a:r>
              <a:t>No. Debe distinguirse longitud de pieza y longitud visible ensamblada.</a:t>
            </a:r>
          </a:p>
          <a:p xmlns:a="http://schemas.openxmlformats.org/drawingml/2006/main">
            <a:r>
              <a:t/>
            </a:r>
          </a:p>
          <a:p xmlns:a="http://schemas.openxmlformats.org/drawingml/2006/main">
            <a:r>
              <a:t>¿Qué falta si solo tenemos el volumen del paracaídas?</a:t>
            </a:r>
          </a:p>
          <a:p xmlns:a="http://schemas.openxmlformats.org/drawingml/2006/main">
            <a:r>
              <a:t>Su envolvente plegada, cordones, acceso y comprobación de movimiento.</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OpenRocket. Basic Rocket Design. https://openrocket.readthedocs.io/en/latest/user_guide/basic_rocket_design.html</a:t>
            </a:r>
          </a:p>
          <a:p xmlns:a="http://schemas.openxmlformats.org/drawingml/2006/main">
            <a:r>
              <a:t>OpenRocket. Getting Started. https://openrocket.readthedocs.io/en/latest/setup/getting_started.html</a:t>
            </a:r>
          </a:p>
          <a:p xmlns:a="http://schemas.openxmlformats.org/drawingml/2006/main">
            <a:r>
              <a:t>OpenRocket. Body Components Basics. https://wiki.openrocket.info/Body_Components_Basics</a:t>
            </a:r>
          </a:p>
          <a:p xmlns:a="http://schemas.openxmlformats.org/drawingml/2006/main">
            <a:r>
              <a:t>Lectura: MECRO_Coheteria_Clase_03.pdf.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Cuerpo, dimensiones y espacio interior.</a:t>
            </a:r>
          </a:p>
          <a:p xmlns:a="http://schemas.openxmlformats.org/drawingml/2006/main">
            <a:r>
              <a:t>En línea, 2 h. Tramo del núcleo: 12 min.</a:t>
            </a:r>
          </a:p>
          <a:p xmlns:a="http://schemas.openxmlformats.org/drawingml/2006/main">
            <a:r>
              <a:t/>
            </a:r>
          </a:p>
          <a:p xmlns:a="http://schemas.openxmlformats.org/drawingml/2006/main">
            <a:r>
              <a:t>Medir e identificar el tubo disponible.</a:t>
            </a:r>
          </a:p>
          <a:p xmlns:a="http://schemas.openxmlformats.org/drawingml/2006/main">
            <a:r>
              <a:t>Preparar una distribución con componentes reales o envolventes identificadas.</a:t>
            </a:r>
          </a:p>
          <a:p xmlns:a="http://schemas.openxmlformats.org/drawingml/2006/main">
            <a:r>
              <a:t>Actualizar Body Tube y revisar el interior en OpenRocket.</a:t>
            </a:r>
          </a:p>
          <a:p xmlns:a="http://schemas.openxmlformats.org/drawingml/2006/main">
            <a:r>
              <a:t>Preparar el plano de corte y una presentación en seco.</a:t>
            </a:r>
          </a:p>
          <a:p xmlns:a="http://schemas.openxmlformats.org/drawingml/2006/main">
            <a:r>
              <a:t>Rotar los roles y conservar al menos una evidencia revisable.</a:t>
            </a:r>
          </a:p>
          <a:p xmlns:a="http://schemas.openxmlformats.org/drawingml/2006/main">
            <a:r>
              <a:t/>
            </a:r>
          </a:p>
          <a:p xmlns:a="http://schemas.openxmlformats.org/drawingml/2006/main">
            <a:r>
              <a:t>Resultado: Elegir un tubo disponible y distribuir componentes sin confundir longitud exterior con espacio útil.</a:t>
            </a:r>
          </a:p>
          <a:p xmlns:a="http://schemas.openxmlformats.org/drawingml/2006/main">
            <a:r>
              <a:t>Misión: Construir un modelo compacto que pueda montarse, inspeccionarse y recuperarse.</a:t>
            </a:r>
          </a:p>
          <a:p xmlns:a="http://schemas.openxmlformats.org/drawingml/2006/main">
            <a:r>
              <a:t>Entrega: Plano de distribución, archivo actualizado y ficha del cuerpo.</a:t>
            </a:r>
          </a:p>
          <a:p xmlns:a="http://schemas.openxmlformats.org/drawingml/2006/main">
            <a:r>
              <a:t/>
            </a:r>
          </a:p>
          <a:p xmlns:a="http://schemas.openxmlformats.org/drawingml/2006/main">
            <a:r>
              <a:t>Preguntas y respuestas</a:t>
            </a:r>
          </a:p>
          <a:p xmlns:a="http://schemas.openxmlformats.org/drawingml/2006/main">
            <a:r>
              <a:t>¿Alargar el cuerpo permite introducir una pieza demasiado ancha?</a:t>
            </a:r>
          </a:p>
          <a:p xmlns:a="http://schemas.openxmlformats.org/drawingml/2006/main">
            <a:r>
              <a:t>No. Hay que revisar el paso transversal.</a:t>
            </a:r>
          </a:p>
          <a:p xmlns:a="http://schemas.openxmlformats.org/drawingml/2006/main">
            <a:r>
              <a:t/>
            </a:r>
          </a:p>
          <a:p xmlns:a="http://schemas.openxmlformats.org/drawingml/2006/main">
            <a:r>
              <a:t>¿Se suma dos veces la zona de un encaje?</a:t>
            </a:r>
          </a:p>
          <a:p xmlns:a="http://schemas.openxmlformats.org/drawingml/2006/main">
            <a:r>
              <a:t>No. Debe distinguirse longitud de pieza y longitud visible ensamblada.</a:t>
            </a:r>
          </a:p>
          <a:p xmlns:a="http://schemas.openxmlformats.org/drawingml/2006/main">
            <a:r>
              <a:t/>
            </a:r>
          </a:p>
          <a:p xmlns:a="http://schemas.openxmlformats.org/drawingml/2006/main">
            <a:r>
              <a:t>¿Qué falta si solo tenemos el volumen del paracaídas?</a:t>
            </a:r>
          </a:p>
          <a:p xmlns:a="http://schemas.openxmlformats.org/drawingml/2006/main">
            <a:r>
              <a:t>Su envolvente plegada, cordones, acceso y comprobación de movimiento.</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OpenRocket. Basic Rocket Design. https://openrocket.readthedocs.io/en/latest/user_guide/basic_rocket_design.html</a:t>
            </a:r>
          </a:p>
          <a:p xmlns:a="http://schemas.openxmlformats.org/drawingml/2006/main">
            <a:r>
              <a:t>OpenRocket. Getting Started. https://openrocket.readthedocs.io/en/latest/setup/getting_started.html</a:t>
            </a:r>
          </a:p>
          <a:p xmlns:a="http://schemas.openxmlformats.org/drawingml/2006/main">
            <a:r>
              <a:t>OpenRocket. Body Components Basics. https://wiki.openrocket.info/Body_Components_Basics</a:t>
            </a:r>
          </a:p>
          <a:p xmlns:a="http://schemas.openxmlformats.org/drawingml/2006/main">
            <a:r>
              <a:t>Lectura: MECRO_Coheteria_Clase_03.pdf.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Cuerpo, dimensiones y espacio interior.</a:t>
            </a:r>
          </a:p>
          <a:p xmlns:a="http://schemas.openxmlformats.org/drawingml/2006/main">
            <a:r>
              <a:t>En línea, 2 h. Tramo del núcleo: 10 min.</a:t>
            </a:r>
          </a:p>
          <a:p xmlns:a="http://schemas.openxmlformats.org/drawingml/2006/main">
            <a:r>
              <a:t/>
            </a:r>
          </a:p>
          <a:p xmlns:a="http://schemas.openxmlformats.org/drawingml/2006/main">
            <a:r>
              <a:t>Cada equipo prepara una decisión y una evidencia. No aceptar una preferencia sin relacionarla con la misión.</a:t>
            </a:r>
          </a:p>
          <a:p xmlns:a="http://schemas.openxmlformats.org/drawingml/2006/main">
            <a:r>
              <a:t>Plano de distribución, archivo actualizado y ficha del cuerpo.</a:t>
            </a:r>
          </a:p>
          <a:p xmlns:a="http://schemas.openxmlformats.org/drawingml/2006/main">
            <a:r>
              <a:t/>
            </a:r>
          </a:p>
          <a:p xmlns:a="http://schemas.openxmlformats.org/drawingml/2006/main">
            <a:r>
              <a:t>Resultado: Elegir un tubo disponible y distribuir componentes sin confundir longitud exterior con espacio útil.</a:t>
            </a:r>
          </a:p>
          <a:p xmlns:a="http://schemas.openxmlformats.org/drawingml/2006/main">
            <a:r>
              <a:t>Misión: Construir un modelo compacto que pueda montarse, inspeccionarse y recuperarse.</a:t>
            </a:r>
          </a:p>
          <a:p xmlns:a="http://schemas.openxmlformats.org/drawingml/2006/main">
            <a:r>
              <a:t>Entrega: Plano de distribución, archivo actualizado y ficha del cuerpo.</a:t>
            </a:r>
          </a:p>
          <a:p xmlns:a="http://schemas.openxmlformats.org/drawingml/2006/main">
            <a:r>
              <a:t/>
            </a:r>
          </a:p>
          <a:p xmlns:a="http://schemas.openxmlformats.org/drawingml/2006/main">
            <a:r>
              <a:t>Preguntas y respuestas</a:t>
            </a:r>
          </a:p>
          <a:p xmlns:a="http://schemas.openxmlformats.org/drawingml/2006/main">
            <a:r>
              <a:t>¿Alargar el cuerpo permite introducir una pieza demasiado ancha?</a:t>
            </a:r>
          </a:p>
          <a:p xmlns:a="http://schemas.openxmlformats.org/drawingml/2006/main">
            <a:r>
              <a:t>No. Hay que revisar el paso transversal.</a:t>
            </a:r>
          </a:p>
          <a:p xmlns:a="http://schemas.openxmlformats.org/drawingml/2006/main">
            <a:r>
              <a:t/>
            </a:r>
          </a:p>
          <a:p xmlns:a="http://schemas.openxmlformats.org/drawingml/2006/main">
            <a:r>
              <a:t>¿Se suma dos veces la zona de un encaje?</a:t>
            </a:r>
          </a:p>
          <a:p xmlns:a="http://schemas.openxmlformats.org/drawingml/2006/main">
            <a:r>
              <a:t>No. Debe distinguirse longitud de pieza y longitud visible ensamblada.</a:t>
            </a:r>
          </a:p>
          <a:p xmlns:a="http://schemas.openxmlformats.org/drawingml/2006/main">
            <a:r>
              <a:t/>
            </a:r>
          </a:p>
          <a:p xmlns:a="http://schemas.openxmlformats.org/drawingml/2006/main">
            <a:r>
              <a:t>¿Qué falta si solo tenemos el volumen del paracaídas?</a:t>
            </a:r>
          </a:p>
          <a:p xmlns:a="http://schemas.openxmlformats.org/drawingml/2006/main">
            <a:r>
              <a:t>Su envolvente plegada, cordones, acceso y comprobación de movimiento.</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OpenRocket. Basic Rocket Design. https://openrocket.readthedocs.io/en/latest/user_guide/basic_rocket_design.html</a:t>
            </a:r>
          </a:p>
          <a:p xmlns:a="http://schemas.openxmlformats.org/drawingml/2006/main">
            <a:r>
              <a:t>OpenRocket. Getting Started. https://openrocket.readthedocs.io/en/latest/setup/getting_started.html</a:t>
            </a:r>
          </a:p>
          <a:p xmlns:a="http://schemas.openxmlformats.org/drawingml/2006/main">
            <a:r>
              <a:t>OpenRocket. Body Components Basics. https://wiki.openrocket.info/Body_Components_Basics</a:t>
            </a:r>
          </a:p>
          <a:p xmlns:a="http://schemas.openxmlformats.org/drawingml/2006/main">
            <a:r>
              <a:t>Lectura: MECRO_Coheteria_Clase_03.pdf.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Cuerpo, dimensiones y espacio interior.</a:t>
            </a:r>
          </a:p>
          <a:p xmlns:a="http://schemas.openxmlformats.org/drawingml/2006/main">
            <a:r>
              <a:t>En línea, 2 h. Tramo del núcleo: 7 min.</a:t>
            </a:r>
          </a:p>
          <a:p xmlns:a="http://schemas.openxmlformats.org/drawingml/2006/main">
            <a:r>
              <a:t/>
            </a:r>
          </a:p>
          <a:p xmlns:a="http://schemas.openxmlformats.org/drawingml/2006/main">
            <a:r>
              <a:t>Primero respuesta individual, después discusión por equipos.</a:t>
            </a:r>
          </a:p>
          <a:p xmlns:a="http://schemas.openxmlformats.org/drawingml/2006/main">
            <a:r>
              <a:t>¿Alargar el cuerpo permite introducir una pieza demasiado ancha?</a:t>
            </a:r>
          </a:p>
          <a:p xmlns:a="http://schemas.openxmlformats.org/drawingml/2006/main">
            <a:r>
              <a:t>No. Hay que revisar el paso transversal.</a:t>
            </a:r>
          </a:p>
          <a:p xmlns:a="http://schemas.openxmlformats.org/drawingml/2006/main">
            <a:r>
              <a:t/>
            </a:r>
          </a:p>
          <a:p xmlns:a="http://schemas.openxmlformats.org/drawingml/2006/main">
            <a:r>
              <a:t>¿Se suma dos veces la zona de un encaje?</a:t>
            </a:r>
          </a:p>
          <a:p xmlns:a="http://schemas.openxmlformats.org/drawingml/2006/main">
            <a:r>
              <a:t>No. Debe distinguirse longitud de pieza y longitud visible ensamblada.</a:t>
            </a:r>
          </a:p>
          <a:p xmlns:a="http://schemas.openxmlformats.org/drawingml/2006/main">
            <a:r>
              <a:t/>
            </a:r>
          </a:p>
          <a:p xmlns:a="http://schemas.openxmlformats.org/drawingml/2006/main">
            <a:r>
              <a:t>¿Qué falta si solo tenemos el volumen del paracaídas?</a:t>
            </a:r>
          </a:p>
          <a:p xmlns:a="http://schemas.openxmlformats.org/drawingml/2006/main">
            <a:r>
              <a:t>Su envolvente plegada, cordones, acceso y comprobación de movimiento.</a:t>
            </a:r>
          </a:p>
          <a:p xmlns:a="http://schemas.openxmlformats.org/drawingml/2006/main">
            <a:r>
              <a:t/>
            </a:r>
          </a:p>
          <a:p xmlns:a="http://schemas.openxmlformats.org/drawingml/2006/main">
            <a:r>
              <a:t>Resultado: Elegir un tubo disponible y distribuir componentes sin confundir longitud exterior con espacio útil.</a:t>
            </a:r>
          </a:p>
          <a:p xmlns:a="http://schemas.openxmlformats.org/drawingml/2006/main">
            <a:r>
              <a:t>Misión: Construir un modelo compacto que pueda montarse, inspeccionarse y recuperarse.</a:t>
            </a:r>
          </a:p>
          <a:p xmlns:a="http://schemas.openxmlformats.org/drawingml/2006/main">
            <a:r>
              <a:t>Entrega: Plano de distribución, archivo actualizado y ficha del cuerpo.</a:t>
            </a:r>
          </a:p>
          <a:p xmlns:a="http://schemas.openxmlformats.org/drawingml/2006/main">
            <a:r>
              <a:t/>
            </a:r>
          </a:p>
          <a:p xmlns:a="http://schemas.openxmlformats.org/drawingml/2006/main">
            <a:r>
              <a:t>Preguntas y respuestas</a:t>
            </a:r>
          </a:p>
          <a:p xmlns:a="http://schemas.openxmlformats.org/drawingml/2006/main">
            <a:r>
              <a:t>¿Alargar el cuerpo permite introducir una pieza demasiado ancha?</a:t>
            </a:r>
          </a:p>
          <a:p xmlns:a="http://schemas.openxmlformats.org/drawingml/2006/main">
            <a:r>
              <a:t>No. Hay que revisar el paso transversal.</a:t>
            </a:r>
          </a:p>
          <a:p xmlns:a="http://schemas.openxmlformats.org/drawingml/2006/main">
            <a:r>
              <a:t/>
            </a:r>
          </a:p>
          <a:p xmlns:a="http://schemas.openxmlformats.org/drawingml/2006/main">
            <a:r>
              <a:t>¿Se suma dos veces la zona de un encaje?</a:t>
            </a:r>
          </a:p>
          <a:p xmlns:a="http://schemas.openxmlformats.org/drawingml/2006/main">
            <a:r>
              <a:t>No. Debe distinguirse longitud de pieza y longitud visible ensamblada.</a:t>
            </a:r>
          </a:p>
          <a:p xmlns:a="http://schemas.openxmlformats.org/drawingml/2006/main">
            <a:r>
              <a:t/>
            </a:r>
          </a:p>
          <a:p xmlns:a="http://schemas.openxmlformats.org/drawingml/2006/main">
            <a:r>
              <a:t>¿Qué falta si solo tenemos el volumen del paracaídas?</a:t>
            </a:r>
          </a:p>
          <a:p xmlns:a="http://schemas.openxmlformats.org/drawingml/2006/main">
            <a:r>
              <a:t>Su envolvente plegada, cordones, acceso y comprobación de movimiento.</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OpenRocket. Basic Rocket Design. https://openrocket.readthedocs.io/en/latest/user_guide/basic_rocket_design.html</a:t>
            </a:r>
          </a:p>
          <a:p xmlns:a="http://schemas.openxmlformats.org/drawingml/2006/main">
            <a:r>
              <a:t>OpenRocket. Getting Started. https://openrocket.readthedocs.io/en/latest/setup/getting_started.html</a:t>
            </a:r>
          </a:p>
          <a:p xmlns:a="http://schemas.openxmlformats.org/drawingml/2006/main">
            <a:r>
              <a:t>OpenRocket. Body Components Basics. https://wiki.openrocket.info/Body_Components_Basics</a:t>
            </a:r>
          </a:p>
          <a:p xmlns:a="http://schemas.openxmlformats.org/drawingml/2006/main">
            <a:r>
              <a:t>Lectura: MECRO_Coheteria_Clase_03.pdf.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Cuerpo, dimensiones y espacio interior.</a:t>
            </a:r>
          </a:p>
          <a:p xmlns:a="http://schemas.openxmlformats.org/drawingml/2006/main">
            <a:r>
              <a:t>En línea, 2 h. Tramo del núcleo: 5 min.</a:t>
            </a:r>
          </a:p>
          <a:p xmlns:a="http://schemas.openxmlformats.org/drawingml/2006/main">
            <a:r>
              <a:t/>
            </a:r>
          </a:p>
          <a:p xmlns:a="http://schemas.openxmlformats.org/drawingml/2006/main">
            <a:r>
              <a:t>Pedir un ejemplo del objeto o del archivo para una de las respuestas.</a:t>
            </a:r>
          </a:p>
          <a:p xmlns:a="http://schemas.openxmlformats.org/drawingml/2006/main">
            <a:r>
              <a:t/>
            </a:r>
          </a:p>
          <a:p xmlns:a="http://schemas.openxmlformats.org/drawingml/2006/main">
            <a:r>
              <a:t>Resultado: Elegir un tubo disponible y distribuir componentes sin confundir longitud exterior con espacio útil.</a:t>
            </a:r>
          </a:p>
          <a:p xmlns:a="http://schemas.openxmlformats.org/drawingml/2006/main">
            <a:r>
              <a:t>Misión: Construir un modelo compacto que pueda montarse, inspeccionarse y recuperarse.</a:t>
            </a:r>
          </a:p>
          <a:p xmlns:a="http://schemas.openxmlformats.org/drawingml/2006/main">
            <a:r>
              <a:t>Entrega: Plano de distribución, archivo actualizado y ficha del cuerpo.</a:t>
            </a:r>
          </a:p>
          <a:p xmlns:a="http://schemas.openxmlformats.org/drawingml/2006/main">
            <a:r>
              <a:t/>
            </a:r>
          </a:p>
          <a:p xmlns:a="http://schemas.openxmlformats.org/drawingml/2006/main">
            <a:r>
              <a:t>Preguntas y respuestas</a:t>
            </a:r>
          </a:p>
          <a:p xmlns:a="http://schemas.openxmlformats.org/drawingml/2006/main">
            <a:r>
              <a:t>¿Alargar el cuerpo permite introducir una pieza demasiado ancha?</a:t>
            </a:r>
          </a:p>
          <a:p xmlns:a="http://schemas.openxmlformats.org/drawingml/2006/main">
            <a:r>
              <a:t>No. Hay que revisar el paso transversal.</a:t>
            </a:r>
          </a:p>
          <a:p xmlns:a="http://schemas.openxmlformats.org/drawingml/2006/main">
            <a:r>
              <a:t/>
            </a:r>
          </a:p>
          <a:p xmlns:a="http://schemas.openxmlformats.org/drawingml/2006/main">
            <a:r>
              <a:t>¿Se suma dos veces la zona de un encaje?</a:t>
            </a:r>
          </a:p>
          <a:p xmlns:a="http://schemas.openxmlformats.org/drawingml/2006/main">
            <a:r>
              <a:t>No. Debe distinguirse longitud de pieza y longitud visible ensamblada.</a:t>
            </a:r>
          </a:p>
          <a:p xmlns:a="http://schemas.openxmlformats.org/drawingml/2006/main">
            <a:r>
              <a:t/>
            </a:r>
          </a:p>
          <a:p xmlns:a="http://schemas.openxmlformats.org/drawingml/2006/main">
            <a:r>
              <a:t>¿Qué falta si solo tenemos el volumen del paracaídas?</a:t>
            </a:r>
          </a:p>
          <a:p xmlns:a="http://schemas.openxmlformats.org/drawingml/2006/main">
            <a:r>
              <a:t>Su envolvente plegada, cordones, acceso y comprobación de movimiento.</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OpenRocket. Basic Rocket Design. https://openrocket.readthedocs.io/en/latest/user_guide/basic_rocket_design.html</a:t>
            </a:r>
          </a:p>
          <a:p xmlns:a="http://schemas.openxmlformats.org/drawingml/2006/main">
            <a:r>
              <a:t>OpenRocket. Getting Started. https://openrocket.readthedocs.io/en/latest/setup/getting_started.html</a:t>
            </a:r>
          </a:p>
          <a:p xmlns:a="http://schemas.openxmlformats.org/drawingml/2006/main">
            <a:r>
              <a:t>OpenRocket. Body Components Basics. https://wiki.openrocket.info/Body_Components_Basics</a:t>
            </a:r>
          </a:p>
          <a:p xmlns:a="http://schemas.openxmlformats.org/drawingml/2006/main">
            <a:r>
              <a:t>Lectura: MECRO_Coheteria_Clase_03.pdf.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3: Cuerpo, dimensiones y espacio interior.</a:t>
            </a:r>
          </a:p>
          <a:p xmlns:a="http://schemas.openxmlformats.org/drawingml/2006/main">
            <a:r>
              <a:t>En línea, 2 h. Tramo del núcleo: 5 min.</a:t>
            </a:r>
          </a:p>
          <a:p xmlns:a="http://schemas.openxmlformats.org/drawingml/2006/main">
            <a:r>
              <a:t/>
            </a:r>
          </a:p>
          <a:p xmlns:a="http://schemas.openxmlformats.org/drawingml/2006/main">
            <a:r>
              <a:t>Plano de distribución, archivo actualizado y ficha del cuerpo.</a:t>
            </a:r>
          </a:p>
          <a:p xmlns:a="http://schemas.openxmlformats.org/drawingml/2006/main">
            <a:r>
              <a:t>Las fuentes enlazadas de la lectura permiten ampliar la explicación sin exigir cálculo avanzado.</a:t>
            </a:r>
          </a:p>
          <a:p xmlns:a="http://schemas.openxmlformats.org/drawingml/2006/main">
            <a:r>
              <a:t/>
            </a:r>
          </a:p>
          <a:p xmlns:a="http://schemas.openxmlformats.org/drawingml/2006/main">
            <a:r>
              <a:t>Resultado: Elegir un tubo disponible y distribuir componentes sin confundir longitud exterior con espacio útil.</a:t>
            </a:r>
          </a:p>
          <a:p xmlns:a="http://schemas.openxmlformats.org/drawingml/2006/main">
            <a:r>
              <a:t>Misión: Construir un modelo compacto que pueda montarse, inspeccionarse y recuperarse.</a:t>
            </a:r>
          </a:p>
          <a:p xmlns:a="http://schemas.openxmlformats.org/drawingml/2006/main">
            <a:r>
              <a:t>Entrega: Plano de distribución, archivo actualizado y ficha del cuerpo.</a:t>
            </a:r>
          </a:p>
          <a:p xmlns:a="http://schemas.openxmlformats.org/drawingml/2006/main">
            <a:r>
              <a:t/>
            </a:r>
          </a:p>
          <a:p xmlns:a="http://schemas.openxmlformats.org/drawingml/2006/main">
            <a:r>
              <a:t>Preguntas y respuestas</a:t>
            </a:r>
          </a:p>
          <a:p xmlns:a="http://schemas.openxmlformats.org/drawingml/2006/main">
            <a:r>
              <a:t>¿Alargar el cuerpo permite introducir una pieza demasiado ancha?</a:t>
            </a:r>
          </a:p>
          <a:p xmlns:a="http://schemas.openxmlformats.org/drawingml/2006/main">
            <a:r>
              <a:t>No. Hay que revisar el paso transversal.</a:t>
            </a:r>
          </a:p>
          <a:p xmlns:a="http://schemas.openxmlformats.org/drawingml/2006/main">
            <a:r>
              <a:t/>
            </a:r>
          </a:p>
          <a:p xmlns:a="http://schemas.openxmlformats.org/drawingml/2006/main">
            <a:r>
              <a:t>¿Se suma dos veces la zona de un encaje?</a:t>
            </a:r>
          </a:p>
          <a:p xmlns:a="http://schemas.openxmlformats.org/drawingml/2006/main">
            <a:r>
              <a:t>No. Debe distinguirse longitud de pieza y longitud visible ensamblada.</a:t>
            </a:r>
          </a:p>
          <a:p xmlns:a="http://schemas.openxmlformats.org/drawingml/2006/main">
            <a:r>
              <a:t/>
            </a:r>
          </a:p>
          <a:p xmlns:a="http://schemas.openxmlformats.org/drawingml/2006/main">
            <a:r>
              <a:t>¿Qué falta si solo tenemos el volumen del paracaídas?</a:t>
            </a:r>
          </a:p>
          <a:p xmlns:a="http://schemas.openxmlformats.org/drawingml/2006/main">
            <a:r>
              <a:t>Su envolvente plegada, cordones, acceso y comprobación de movimiento.</a:t>
            </a:r>
          </a:p>
          <a:p xmlns:a="http://schemas.openxmlformats.org/drawingml/2006/main">
            <a:r>
              <a:t/>
            </a:r>
          </a:p>
          <a:p xmlns:a="http://schemas.openxmlformats.org/drawingml/2006/main">
            <a:r>
              <a:t>Fuentes</a:t>
            </a:r>
          </a:p>
          <a:p xmlns:a="http://schemas.openxmlformats.org/drawingml/2006/main">
            <a:r>
              <a:t>NASA Glenn. Model Rockets. https://www1.grc.nasa.gov/beginners-guide-to-aeronautics/model-rockets/</a:t>
            </a:r>
          </a:p>
          <a:p xmlns:a="http://schemas.openxmlformats.org/drawingml/2006/main">
            <a:r>
              <a:t>OpenRocket. Basic Rocket Design. https://openrocket.readthedocs.io/en/latest/user_guide/basic_rocket_design.html</a:t>
            </a:r>
          </a:p>
          <a:p xmlns:a="http://schemas.openxmlformats.org/drawingml/2006/main">
            <a:r>
              <a:t>OpenRocket. Getting Started. https://openrocket.readthedocs.io/en/latest/setup/getting_started.html</a:t>
            </a:r>
          </a:p>
          <a:p xmlns:a="http://schemas.openxmlformats.org/drawingml/2006/main">
            <a:r>
              <a:t>OpenRocket. Body Components Basics. https://wiki.openrocket.info/Body_Components_Basics</a:t>
            </a:r>
          </a:p>
          <a:p xmlns:a="http://schemas.openxmlformats.org/drawingml/2006/main">
            <a:r>
              <a:t>Lectura: MECRO_Coheteria_Clase_03.pdf.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Aletas: forma, posición y alineación.</a:t>
            </a:r>
          </a:p>
          <a:p xmlns:a="http://schemas.openxmlformats.org/drawingml/2006/main">
            <a:r>
              <a:t>En línea, 2 h. Tramo del núcleo: 3 min.</a:t>
            </a:r>
          </a:p>
          <a:p xmlns:a="http://schemas.openxmlformats.org/drawingml/2006/main">
            <a:r>
              <a:t/>
            </a:r>
          </a:p>
          <a:p xmlns:a="http://schemas.openxmlformats.org/drawingml/2006/main">
            <a:r>
              <a:t>Muestra dos aletas iguales y una torcida: pide que identifiquen qué puede y qué no puede mostrar el archivo digital.</a:t>
            </a:r>
          </a:p>
          <a:p xmlns:a="http://schemas.openxmlformats.org/drawingml/2006/main">
            <a:r>
              <a:t/>
            </a:r>
          </a:p>
          <a:p xmlns:a="http://schemas.openxmlformats.org/drawingml/2006/main">
            <a:r>
              <a:t>Resultado: Comparar contornos de aletas y preparar piezas repetibles con un útil de alineación.</a:t>
            </a:r>
          </a:p>
          <a:p xmlns:a="http://schemas.openxmlformats.org/drawingml/2006/main">
            <a:r>
              <a:t>Misión: Aprender a fabricar superficies estabilizadoras que el equipo pueda colocar y revisar.</a:t>
            </a:r>
          </a:p>
          <a:p xmlns:a="http://schemas.openxmlformats.org/drawingml/2006/main">
            <a:r>
              <a:t>Entrega: Plano, dos versiones .ork, plantilla y propuesta de útil.</a:t>
            </a:r>
          </a:p>
          <a:p xmlns:a="http://schemas.openxmlformats.org/drawingml/2006/main">
            <a:r>
              <a:t/>
            </a:r>
          </a:p>
          <a:p xmlns:a="http://schemas.openxmlformats.org/drawingml/2006/main">
            <a:r>
              <a:t>Preguntas y respuestas</a:t>
            </a:r>
          </a:p>
          <a:p xmlns:a="http://schemas.openxmlformats.org/drawingml/2006/main">
            <a:r>
              <a:t>¿Tres aletas se separan 90°?</a:t>
            </a:r>
          </a:p>
          <a:p xmlns:a="http://schemas.openxmlformats.org/drawingml/2006/main">
            <a:r>
              <a:t>No. Si están equiespaciadas, 360/3 = 120°.</a:t>
            </a:r>
          </a:p>
          <a:p xmlns:a="http://schemas.openxmlformats.org/drawingml/2006/main">
            <a:r>
              <a:t/>
            </a:r>
          </a:p>
          <a:p xmlns:a="http://schemas.openxmlformats.org/drawingml/2006/main">
            <a:r>
              <a:t>¿Comparar siluetas prueba cuál vuela mejor?</a:t>
            </a:r>
          </a:p>
          <a:p xmlns:a="http://schemas.openxmlformats.org/drawingml/2006/main">
            <a:r>
              <a:t>No. También importan medidas, posición, masa y conjunto.</a:t>
            </a:r>
          </a:p>
          <a:p xmlns:a="http://schemas.openxmlformats.org/drawingml/2006/main">
            <a:r>
              <a:t/>
            </a:r>
          </a:p>
          <a:p xmlns:a="http://schemas.openxmlformats.org/drawingml/2006/main">
            <a:r>
              <a:t>¿Qué resuelve el útil?</a:t>
            </a:r>
          </a:p>
          <a:p xmlns:a="http://schemas.openxmlformats.org/drawingml/2006/main">
            <a:r>
              <a:t>Ayuda a conservar la posición y orientación durante el montaje.</a:t>
            </a:r>
          </a:p>
          <a:p xmlns:a="http://schemas.openxmlformats.org/drawingml/2006/main">
            <a:r>
              <a:t/>
            </a:r>
          </a:p>
          <a:p xmlns:a="http://schemas.openxmlformats.org/drawingml/2006/main">
            <a:r>
              <a:t>Fuentes</a:t>
            </a:r>
          </a:p>
          <a:p xmlns:a="http://schemas.openxmlformats.org/drawingml/2006/main">
            <a:r>
              <a:t>Richard Nakka. Fins for Rocket Stability. https://www.nakka-rocketry.net/fins.html</a:t>
            </a:r>
          </a:p>
          <a:p xmlns:a="http://schemas.openxmlformats.org/drawingml/2006/main">
            <a:r>
              <a:t>OpenRocket. Basic Rocket Design. https://openrocket.readthedocs.io/en/latest/user_guide/basic_rocket_design.html</a:t>
            </a:r>
          </a:p>
          <a:p xmlns:a="http://schemas.openxmlformats.org/drawingml/2006/main">
            <a:r>
              <a:t>OpenRocket. Body Components Basics. https://wiki.openrocket.info/Body_Components_Basics</a:t>
            </a:r>
          </a:p>
          <a:p xmlns:a="http://schemas.openxmlformats.org/drawingml/2006/main">
            <a:r>
              <a:t>Prusa Research. Modeling with 3D printing in mind. https://help.prusa3d.com/article/modeling-with-3d-printing-in-mind_164135</a:t>
            </a:r>
          </a:p>
          <a:p xmlns:a="http://schemas.openxmlformats.org/drawingml/2006/main">
            <a:r>
              <a:t>Lectura: MECRO_Coheteria_Clase_04.pdf.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Aletas: forma, posición y alineación.</a:t>
            </a:r>
          </a:p>
          <a:p xmlns:a="http://schemas.openxmlformats.org/drawingml/2006/main">
            <a:r>
              <a:t>En línea, 2 h. Tramo del núcleo: 4 min.</a:t>
            </a:r>
          </a:p>
          <a:p xmlns:a="http://schemas.openxmlformats.org/drawingml/2006/main">
            <a:r>
              <a:t/>
            </a:r>
          </a:p>
          <a:p xmlns:a="http://schemas.openxmlformats.org/drawingml/2006/main">
            <a:r>
              <a:t>Las aletas son superficies sobre las que actúa el aire cuando cambia la orientación del cohete. Su contribución a la estabilidad depende del conjunto y de su ubicación. Para nuestro primer diseño interesa que todas tengan la geometría definida y queden alineadas. Una buena silueta en el programa no corrige una pieza torcida en el montaje.</a:t>
            </a:r>
          </a:p>
          <a:p xmlns:a="http://schemas.openxmlformats.org/drawingml/2006/main">
            <a:r>
              <a:t/>
            </a:r>
          </a:p>
          <a:p xmlns:a="http://schemas.openxmlformats.org/drawingml/2006/main">
            <a:r>
              <a:t>La raíz se une al cuerpo. La punta del trapecio es el borde exterior paralelo a la raíz. La semienvergadura es la distancia radial desde el cuerpo. El barrido desplaza la punta hacia atrás. Esas medidas deben poder señalarse en un recorte, localizarse en CAD e introducirse en OpenRocket.</a:t>
            </a:r>
          </a:p>
          <a:p xmlns:a="http://schemas.openxmlformats.org/drawingml/2006/main">
            <a:r>
              <a:t/>
            </a:r>
          </a:p>
          <a:p xmlns:a="http://schemas.openxmlformats.org/drawingml/2006/main">
            <a:r>
              <a:t>Antes de abrir el programa, cada integrante señala raíz y semienvergadura en una misma pieza. Esto evita copiar cinco números correctos en cinco campos equivocados. [NK, OR1]</a:t>
            </a:r>
          </a:p>
          <a:p xmlns:a="http://schemas.openxmlformats.org/drawingml/2006/main">
            <a:r>
              <a:t/>
            </a:r>
          </a:p>
          <a:p xmlns:a="http://schemas.openxmlformats.org/drawingml/2006/main">
            <a:r>
              <a:t>Imagina el cohete avanzando y desviando ligeramente su punta. El aire llega con otra dirección relativa y actúa sobre las superficies exteriores. Las aletas posteriores contribuyen a la respuesta aerodinámica del vehículo. Su papel depende de su tamaño, posición y del conjunto del cohete. Para comprenderlo basta relacionar una vista lateral con la ubicación de las superficies. Las clases de estabilidad retomarán esa observación; hoy nos interesa que las aletas construidas correspondan a las que aparecen en el modelo.</a:t>
            </a:r>
          </a:p>
          <a:p xmlns:a="http://schemas.openxmlformats.org/drawingml/2006/main">
            <a:r>
              <a:t>Pregunta para el grupo: Señala raíz y semienvergadura en una pieza.</a:t>
            </a:r>
          </a:p>
          <a:p xmlns:a="http://schemas.openxmlformats.org/drawingml/2006/main">
            <a:r>
              <a:t/>
            </a:r>
          </a:p>
          <a:p xmlns:a="http://schemas.openxmlformats.org/drawingml/2006/main">
            <a:r>
              <a:t>Resultado: Comparar contornos de aletas y preparar piezas repetibles con un útil de alineación.</a:t>
            </a:r>
          </a:p>
          <a:p xmlns:a="http://schemas.openxmlformats.org/drawingml/2006/main">
            <a:r>
              <a:t>Misión: Aprender a fabricar superficies estabilizadoras que el equipo pueda colocar y revisar.</a:t>
            </a:r>
          </a:p>
          <a:p xmlns:a="http://schemas.openxmlformats.org/drawingml/2006/main">
            <a:r>
              <a:t>Entrega: Plano, dos versiones .ork, plantilla y propuesta de útil.</a:t>
            </a:r>
          </a:p>
          <a:p xmlns:a="http://schemas.openxmlformats.org/drawingml/2006/main">
            <a:r>
              <a:t/>
            </a:r>
          </a:p>
          <a:p xmlns:a="http://schemas.openxmlformats.org/drawingml/2006/main">
            <a:r>
              <a:t>Preguntas y respuestas</a:t>
            </a:r>
          </a:p>
          <a:p xmlns:a="http://schemas.openxmlformats.org/drawingml/2006/main">
            <a:r>
              <a:t>¿Tres aletas se separan 90°?</a:t>
            </a:r>
          </a:p>
          <a:p xmlns:a="http://schemas.openxmlformats.org/drawingml/2006/main">
            <a:r>
              <a:t>No. Si están equiespaciadas, 360/3 = 120°.</a:t>
            </a:r>
          </a:p>
          <a:p xmlns:a="http://schemas.openxmlformats.org/drawingml/2006/main">
            <a:r>
              <a:t/>
            </a:r>
          </a:p>
          <a:p xmlns:a="http://schemas.openxmlformats.org/drawingml/2006/main">
            <a:r>
              <a:t>¿Comparar siluetas prueba cuál vuela mejor?</a:t>
            </a:r>
          </a:p>
          <a:p xmlns:a="http://schemas.openxmlformats.org/drawingml/2006/main">
            <a:r>
              <a:t>No. También importan medidas, posición, masa y conjunto.</a:t>
            </a:r>
          </a:p>
          <a:p xmlns:a="http://schemas.openxmlformats.org/drawingml/2006/main">
            <a:r>
              <a:t/>
            </a:r>
          </a:p>
          <a:p xmlns:a="http://schemas.openxmlformats.org/drawingml/2006/main">
            <a:r>
              <a:t>¿Qué resuelve el útil?</a:t>
            </a:r>
          </a:p>
          <a:p xmlns:a="http://schemas.openxmlformats.org/drawingml/2006/main">
            <a:r>
              <a:t>Ayuda a conservar la posición y orientación durante el montaje.</a:t>
            </a:r>
          </a:p>
          <a:p xmlns:a="http://schemas.openxmlformats.org/drawingml/2006/main">
            <a:r>
              <a:t/>
            </a:r>
          </a:p>
          <a:p xmlns:a="http://schemas.openxmlformats.org/drawingml/2006/main">
            <a:r>
              <a:t>Fuentes</a:t>
            </a:r>
          </a:p>
          <a:p xmlns:a="http://schemas.openxmlformats.org/drawingml/2006/main">
            <a:r>
              <a:t>Richard Nakka. Fins for Rocket Stability. https://www.nakka-rocketry.net/fins.html</a:t>
            </a:r>
          </a:p>
          <a:p xmlns:a="http://schemas.openxmlformats.org/drawingml/2006/main">
            <a:r>
              <a:t>OpenRocket. Basic Rocket Design. https://openrocket.readthedocs.io/en/latest/user_guide/basic_rocket_design.html</a:t>
            </a:r>
          </a:p>
          <a:p xmlns:a="http://schemas.openxmlformats.org/drawingml/2006/main">
            <a:r>
              <a:t>OpenRocket. Body Components Basics. https://wiki.openrocket.info/Body_Components_Basics</a:t>
            </a:r>
          </a:p>
          <a:p xmlns:a="http://schemas.openxmlformats.org/drawingml/2006/main">
            <a:r>
              <a:t>Prusa Research. Modeling with 3D printing in mind. https://help.prusa3d.com/article/modeling-with-3d-printing-in-mind_164135</a:t>
            </a:r>
          </a:p>
          <a:p xmlns:a="http://schemas.openxmlformats.org/drawingml/2006/main">
            <a:r>
              <a:t>Lectura: MECRO_Coheteria_Clase_04.pdf.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Aletas: forma, posición y alineación.</a:t>
            </a:r>
          </a:p>
          <a:p xmlns:a="http://schemas.openxmlformats.org/drawingml/2006/main">
            <a:r>
              <a:t>En línea, 2 h. Tramo del núcleo: 4 min.</a:t>
            </a:r>
          </a:p>
          <a:p xmlns:a="http://schemas.openxmlformats.org/drawingml/2006/main">
            <a:r>
              <a:t/>
            </a:r>
          </a:p>
          <a:p xmlns:a="http://schemas.openxmlformats.org/drawingml/2006/main">
            <a:r>
              <a:t>Formas de aleta, Richard Nakka. Root indica raíz, tip borde exterior y S semienvergadura. Las proporciones de la ilustración no son medidas del proyecto.</a:t>
            </a:r>
          </a:p>
          <a:p xmlns:a="http://schemas.openxmlformats.org/drawingml/2006/main">
            <a:r>
              <a:t>Localizar en la imagen las partes relacionadas con la pregunta.</a:t>
            </a:r>
          </a:p>
          <a:p xmlns:a="http://schemas.openxmlformats.org/drawingml/2006/main">
            <a:r>
              <a:t>Señala raíz y semienvergadura en una pieza.</a:t>
            </a:r>
          </a:p>
          <a:p xmlns:a="http://schemas.openxmlformats.org/drawingml/2006/main">
            <a:r>
              <a:t/>
            </a:r>
          </a:p>
          <a:p xmlns:a="http://schemas.openxmlformats.org/drawingml/2006/main">
            <a:r>
              <a:t>Resultado: Comparar contornos de aletas y preparar piezas repetibles con un útil de alineación.</a:t>
            </a:r>
          </a:p>
          <a:p xmlns:a="http://schemas.openxmlformats.org/drawingml/2006/main">
            <a:r>
              <a:t>Misión: Aprender a fabricar superficies estabilizadoras que el equipo pueda colocar y revisar.</a:t>
            </a:r>
          </a:p>
          <a:p xmlns:a="http://schemas.openxmlformats.org/drawingml/2006/main">
            <a:r>
              <a:t>Entrega: Plano, dos versiones .ork, plantilla y propuesta de útil.</a:t>
            </a:r>
          </a:p>
          <a:p xmlns:a="http://schemas.openxmlformats.org/drawingml/2006/main">
            <a:r>
              <a:t/>
            </a:r>
          </a:p>
          <a:p xmlns:a="http://schemas.openxmlformats.org/drawingml/2006/main">
            <a:r>
              <a:t>Preguntas y respuestas</a:t>
            </a:r>
          </a:p>
          <a:p xmlns:a="http://schemas.openxmlformats.org/drawingml/2006/main">
            <a:r>
              <a:t>¿Tres aletas se separan 90°?</a:t>
            </a:r>
          </a:p>
          <a:p xmlns:a="http://schemas.openxmlformats.org/drawingml/2006/main">
            <a:r>
              <a:t>No. Si están equiespaciadas, 360/3 = 120°.</a:t>
            </a:r>
          </a:p>
          <a:p xmlns:a="http://schemas.openxmlformats.org/drawingml/2006/main">
            <a:r>
              <a:t/>
            </a:r>
          </a:p>
          <a:p xmlns:a="http://schemas.openxmlformats.org/drawingml/2006/main">
            <a:r>
              <a:t>¿Comparar siluetas prueba cuál vuela mejor?</a:t>
            </a:r>
          </a:p>
          <a:p xmlns:a="http://schemas.openxmlformats.org/drawingml/2006/main">
            <a:r>
              <a:t>No. También importan medidas, posición, masa y conjunto.</a:t>
            </a:r>
          </a:p>
          <a:p xmlns:a="http://schemas.openxmlformats.org/drawingml/2006/main">
            <a:r>
              <a:t/>
            </a:r>
          </a:p>
          <a:p xmlns:a="http://schemas.openxmlformats.org/drawingml/2006/main">
            <a:r>
              <a:t>¿Qué resuelve el útil?</a:t>
            </a:r>
          </a:p>
          <a:p xmlns:a="http://schemas.openxmlformats.org/drawingml/2006/main">
            <a:r>
              <a:t>Ayuda a conservar la posición y orientación durante el montaje.</a:t>
            </a:r>
          </a:p>
          <a:p xmlns:a="http://schemas.openxmlformats.org/drawingml/2006/main">
            <a:r>
              <a:t/>
            </a:r>
          </a:p>
          <a:p xmlns:a="http://schemas.openxmlformats.org/drawingml/2006/main">
            <a:r>
              <a:t>Fuentes</a:t>
            </a:r>
          </a:p>
          <a:p xmlns:a="http://schemas.openxmlformats.org/drawingml/2006/main">
            <a:r>
              <a:t>Richard Nakka. Fins for Rocket Stability. https://www.nakka-rocketry.net/fins.html</a:t>
            </a:r>
          </a:p>
          <a:p xmlns:a="http://schemas.openxmlformats.org/drawingml/2006/main">
            <a:r>
              <a:t>OpenRocket. Basic Rocket Design. https://openrocket.readthedocs.io/en/latest/user_guide/basic_rocket_design.html</a:t>
            </a:r>
          </a:p>
          <a:p xmlns:a="http://schemas.openxmlformats.org/drawingml/2006/main">
            <a:r>
              <a:t>OpenRocket. Body Components Basics. https://wiki.openrocket.info/Body_Components_Basics</a:t>
            </a:r>
          </a:p>
          <a:p xmlns:a="http://schemas.openxmlformats.org/drawingml/2006/main">
            <a:r>
              <a:t>Prusa Research. Modeling with 3D printing in mind. https://help.prusa3d.com/article/modeling-with-3d-printing-in-mind_164135</a:t>
            </a:r>
          </a:p>
          <a:p xmlns:a="http://schemas.openxmlformats.org/drawingml/2006/main">
            <a:r>
              <a:t>Lectura: MECRO_Coheteria_Clase_04.pdf.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Aletas: forma, posición y alineación.</a:t>
            </a:r>
          </a:p>
          <a:p xmlns:a="http://schemas.openxmlformats.org/drawingml/2006/main">
            <a:r>
              <a:t>En línea, 2 h. Tramo del núcleo: 5 min.</a:t>
            </a:r>
          </a:p>
          <a:p xmlns:a="http://schemas.openxmlformats.org/drawingml/2006/main">
            <a:r>
              <a:t/>
            </a:r>
          </a:p>
          <a:p xmlns:a="http://schemas.openxmlformats.org/drawingml/2006/main">
            <a:r>
              <a:t>Señala raíz y semienvergadura en una pieza.</a:t>
            </a:r>
          </a:p>
          <a:p xmlns:a="http://schemas.openxmlformats.org/drawingml/2006/main">
            <a:r>
              <a:t>Relacionar la explicación con una decisión del proyecto.</a:t>
            </a:r>
          </a:p>
          <a:p xmlns:a="http://schemas.openxmlformats.org/drawingml/2006/main">
            <a:r>
              <a:t/>
            </a:r>
          </a:p>
          <a:p xmlns:a="http://schemas.openxmlformats.org/drawingml/2006/main">
            <a:r>
              <a:t>Resultado: Comparar contornos de aletas y preparar piezas repetibles con un útil de alineación.</a:t>
            </a:r>
          </a:p>
          <a:p xmlns:a="http://schemas.openxmlformats.org/drawingml/2006/main">
            <a:r>
              <a:t>Misión: Aprender a fabricar superficies estabilizadoras que el equipo pueda colocar y revisar.</a:t>
            </a:r>
          </a:p>
          <a:p xmlns:a="http://schemas.openxmlformats.org/drawingml/2006/main">
            <a:r>
              <a:t>Entrega: Plano, dos versiones .ork, plantilla y propuesta de útil.</a:t>
            </a:r>
          </a:p>
          <a:p xmlns:a="http://schemas.openxmlformats.org/drawingml/2006/main">
            <a:r>
              <a:t/>
            </a:r>
          </a:p>
          <a:p xmlns:a="http://schemas.openxmlformats.org/drawingml/2006/main">
            <a:r>
              <a:t>Preguntas y respuestas</a:t>
            </a:r>
          </a:p>
          <a:p xmlns:a="http://schemas.openxmlformats.org/drawingml/2006/main">
            <a:r>
              <a:t>¿Tres aletas se separan 90°?</a:t>
            </a:r>
          </a:p>
          <a:p xmlns:a="http://schemas.openxmlformats.org/drawingml/2006/main">
            <a:r>
              <a:t>No. Si están equiespaciadas, 360/3 = 120°.</a:t>
            </a:r>
          </a:p>
          <a:p xmlns:a="http://schemas.openxmlformats.org/drawingml/2006/main">
            <a:r>
              <a:t/>
            </a:r>
          </a:p>
          <a:p xmlns:a="http://schemas.openxmlformats.org/drawingml/2006/main">
            <a:r>
              <a:t>¿Comparar siluetas prueba cuál vuela mejor?</a:t>
            </a:r>
          </a:p>
          <a:p xmlns:a="http://schemas.openxmlformats.org/drawingml/2006/main">
            <a:r>
              <a:t>No. También importan medidas, posición, masa y conjunto.</a:t>
            </a:r>
          </a:p>
          <a:p xmlns:a="http://schemas.openxmlformats.org/drawingml/2006/main">
            <a:r>
              <a:t/>
            </a:r>
          </a:p>
          <a:p xmlns:a="http://schemas.openxmlformats.org/drawingml/2006/main">
            <a:r>
              <a:t>¿Qué resuelve el útil?</a:t>
            </a:r>
          </a:p>
          <a:p xmlns:a="http://schemas.openxmlformats.org/drawingml/2006/main">
            <a:r>
              <a:t>Ayuda a conservar la posición y orientación durante el montaje.</a:t>
            </a:r>
          </a:p>
          <a:p xmlns:a="http://schemas.openxmlformats.org/drawingml/2006/main">
            <a:r>
              <a:t/>
            </a:r>
          </a:p>
          <a:p xmlns:a="http://schemas.openxmlformats.org/drawingml/2006/main">
            <a:r>
              <a:t>Fuentes</a:t>
            </a:r>
          </a:p>
          <a:p xmlns:a="http://schemas.openxmlformats.org/drawingml/2006/main">
            <a:r>
              <a:t>Richard Nakka. Fins for Rocket Stability. https://www.nakka-rocketry.net/fins.html</a:t>
            </a:r>
          </a:p>
          <a:p xmlns:a="http://schemas.openxmlformats.org/drawingml/2006/main">
            <a:r>
              <a:t>OpenRocket. Basic Rocket Design. https://openrocket.readthedocs.io/en/latest/user_guide/basic_rocket_design.html</a:t>
            </a:r>
          </a:p>
          <a:p xmlns:a="http://schemas.openxmlformats.org/drawingml/2006/main">
            <a:r>
              <a:t>OpenRocket. Body Components Basics. https://wiki.openrocket.info/Body_Components_Basics</a:t>
            </a:r>
          </a:p>
          <a:p xmlns:a="http://schemas.openxmlformats.org/drawingml/2006/main">
            <a:r>
              <a:t>Prusa Research. Modeling with 3D printing in mind. https://help.prusa3d.com/article/modeling-with-3d-printing-in-mind_164135</a:t>
            </a:r>
          </a:p>
          <a:p xmlns:a="http://schemas.openxmlformats.org/drawingml/2006/main">
            <a:r>
              <a:t>Lectura: MECRO_Coheteria_Clase_04.pdf.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Aletas: forma, posición y alineación.</a:t>
            </a:r>
          </a:p>
          <a:p xmlns:a="http://schemas.openxmlformats.org/drawingml/2006/main">
            <a:r>
              <a:t>En línea, 2 h. Tramo del núcleo: 4 min.</a:t>
            </a:r>
          </a:p>
          <a:p xmlns:a="http://schemas.openxmlformats.org/drawingml/2006/main">
            <a:r>
              <a:t/>
            </a:r>
          </a:p>
          <a:p xmlns:a="http://schemas.openxmlformats.org/drawingml/2006/main">
            <a:r>
              <a:t>Cambiar forma también puede cambiar área, masa y superficie de unión. Por eso no basta decir “la triangular vuela mejor”. Primero debemos saber si se mantuvieron las otras medidas y qué misión se comparó. En un taller inicial puede pesar más la facilidad de repetir tres piezas iguales que una pequeña diferencia del modelo aerodinámico.</a:t>
            </a:r>
          </a:p>
          <a:p xmlns:a="http://schemas.openxmlformats.org/drawingml/2006/main">
            <a:r>
              <a:t/>
            </a:r>
          </a:p>
          <a:p xmlns:a="http://schemas.openxmlformats.org/drawingml/2006/main">
            <a:r>
              <a:t>Un equipo puede cortar tres trapecios iguales con una plantilla, pero sus tres aletas curvas salen diferentes.</a:t>
            </a:r>
          </a:p>
          <a:p xmlns:a="http://schemas.openxmlformats.org/drawingml/2006/main">
            <a:r>
              <a:t/>
            </a:r>
          </a:p>
          <a:p xmlns:a="http://schemas.openxmlformats.org/drawingml/2006/main">
            <a:r>
              <a:t>Conserva una plantilla maestra y utiliza la misma referencia de medida. Si comparas dos contornos, mantén definida la forma de unirlos al cuerpo y documenta su masa. El nombre de la figura no resume todo el diseño.</a:t>
            </a:r>
          </a:p>
          <a:p xmlns:a="http://schemas.openxmlformats.org/drawingml/2006/main">
            <a:r>
              <a:t/>
            </a:r>
          </a:p>
          <a:p xmlns:a="http://schemas.openxmlformats.org/drawingml/2006/main">
            <a:r>
              <a:t>Una comparación de contornos requiere mirar también el área. Como ejemplo de geometría plana, un trapecio con raíz de 50 mm, punta de 25 mm y semienvergadura de 22 mm tiene un área de (50 + 25) × 22 / 2 = 825 mm². Un triángulo de raíz 50 mm y altura 22 mm tiene 550 mm². Aunque comparten dos medidas, no tienen la misma área. Si luego cambia una predicción, la palabra “triangular” no explica por sí sola qué cambió.</a:t>
            </a:r>
          </a:p>
          <a:p xmlns:a="http://schemas.openxmlformats.org/drawingml/2006/main">
            <a:r>
              <a:t/>
            </a:r>
          </a:p>
          <a:p xmlns:a="http://schemas.openxmlformats.org/drawingml/2006/main">
            <a:r>
              <a:t>La raíz es el borde de referencia cercano al cuerpo. La punta o cuerda de punta es el borde exterior en un contorno trapezoidal. Los bordes de ataque y de salida encuentran y dejan el flujo en el sentido de avance. La semienvergadura mide cuánto sobresale la aleta desde el cuerpo. Una forma barrida desplaza parte de esa superficie hacia atrás. Estos nombres sirven para señalar el plano y detectar diferencias entre dos piezas, incluso antes de usar cualquier cálculo.</a:t>
            </a:r>
          </a:p>
          <a:p xmlns:a="http://schemas.openxmlformats.org/drawingml/2006/main">
            <a:r>
              <a:t>Pregunta para el grupo: ¿Cambió solo la forma o también el área?</a:t>
            </a:r>
          </a:p>
          <a:p xmlns:a="http://schemas.openxmlformats.org/drawingml/2006/main">
            <a:r>
              <a:t/>
            </a:r>
          </a:p>
          <a:p xmlns:a="http://schemas.openxmlformats.org/drawingml/2006/main">
            <a:r>
              <a:t>Resultado: Comparar contornos de aletas y preparar piezas repetibles con un útil de alineación.</a:t>
            </a:r>
          </a:p>
          <a:p xmlns:a="http://schemas.openxmlformats.org/drawingml/2006/main">
            <a:r>
              <a:t>Misión: Aprender a fabricar superficies estabilizadoras que el equipo pueda colocar y revisar.</a:t>
            </a:r>
          </a:p>
          <a:p xmlns:a="http://schemas.openxmlformats.org/drawingml/2006/main">
            <a:r>
              <a:t>Entrega: Plano, dos versiones .ork, plantilla y propuesta de útil.</a:t>
            </a:r>
          </a:p>
          <a:p xmlns:a="http://schemas.openxmlformats.org/drawingml/2006/main">
            <a:r>
              <a:t/>
            </a:r>
          </a:p>
          <a:p xmlns:a="http://schemas.openxmlformats.org/drawingml/2006/main">
            <a:r>
              <a:t>Preguntas y respuestas</a:t>
            </a:r>
          </a:p>
          <a:p xmlns:a="http://schemas.openxmlformats.org/drawingml/2006/main">
            <a:r>
              <a:t>¿Tres aletas se separan 90°?</a:t>
            </a:r>
          </a:p>
          <a:p xmlns:a="http://schemas.openxmlformats.org/drawingml/2006/main">
            <a:r>
              <a:t>No. Si están equiespaciadas, 360/3 = 120°.</a:t>
            </a:r>
          </a:p>
          <a:p xmlns:a="http://schemas.openxmlformats.org/drawingml/2006/main">
            <a:r>
              <a:t/>
            </a:r>
          </a:p>
          <a:p xmlns:a="http://schemas.openxmlformats.org/drawingml/2006/main">
            <a:r>
              <a:t>¿Comparar siluetas prueba cuál vuela mejor?</a:t>
            </a:r>
          </a:p>
          <a:p xmlns:a="http://schemas.openxmlformats.org/drawingml/2006/main">
            <a:r>
              <a:t>No. También importan medidas, posición, masa y conjunto.</a:t>
            </a:r>
          </a:p>
          <a:p xmlns:a="http://schemas.openxmlformats.org/drawingml/2006/main">
            <a:r>
              <a:t/>
            </a:r>
          </a:p>
          <a:p xmlns:a="http://schemas.openxmlformats.org/drawingml/2006/main">
            <a:r>
              <a:t>¿Qué resuelve el útil?</a:t>
            </a:r>
          </a:p>
          <a:p xmlns:a="http://schemas.openxmlformats.org/drawingml/2006/main">
            <a:r>
              <a:t>Ayuda a conservar la posición y orientación durante el montaje.</a:t>
            </a:r>
          </a:p>
          <a:p xmlns:a="http://schemas.openxmlformats.org/drawingml/2006/main">
            <a:r>
              <a:t/>
            </a:r>
          </a:p>
          <a:p xmlns:a="http://schemas.openxmlformats.org/drawingml/2006/main">
            <a:r>
              <a:t>Fuentes</a:t>
            </a:r>
          </a:p>
          <a:p xmlns:a="http://schemas.openxmlformats.org/drawingml/2006/main">
            <a:r>
              <a:t>Richard Nakka. Fins for Rocket Stability. https://www.nakka-rocketry.net/fins.html</a:t>
            </a:r>
          </a:p>
          <a:p xmlns:a="http://schemas.openxmlformats.org/drawingml/2006/main">
            <a:r>
              <a:t>OpenRocket. Basic Rocket Design. https://openrocket.readthedocs.io/en/latest/user_guide/basic_rocket_design.html</a:t>
            </a:r>
          </a:p>
          <a:p xmlns:a="http://schemas.openxmlformats.org/drawingml/2006/main">
            <a:r>
              <a:t>OpenRocket. Body Components Basics. https://wiki.openrocket.info/Body_Components_Basics</a:t>
            </a:r>
          </a:p>
          <a:p xmlns:a="http://schemas.openxmlformats.org/drawingml/2006/main">
            <a:r>
              <a:t>Prusa Research. Modeling with 3D printing in mind. https://help.prusa3d.com/article/modeling-with-3d-printing-in-mind_164135</a:t>
            </a:r>
          </a:p>
          <a:p xmlns:a="http://schemas.openxmlformats.org/drawingml/2006/main">
            <a:r>
              <a:t>Lectura: MECRO_Coheteria_Clase_04.pdf.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Aletas: forma, posición y alineación.</a:t>
            </a:r>
          </a:p>
          <a:p xmlns:a="http://schemas.openxmlformats.org/drawingml/2006/main">
            <a:r>
              <a:t>En línea, 2 h. Tramo del núcleo: 4 min.</a:t>
            </a:r>
          </a:p>
          <a:p xmlns:a="http://schemas.openxmlformats.org/drawingml/2006/main">
            <a:r>
              <a:t/>
            </a:r>
          </a:p>
          <a:p xmlns:a="http://schemas.openxmlformats.org/drawingml/2006/main">
            <a:r>
              <a:t>Contorno / Para aprender a construir / Detalle que revisar</a:t>
            </a:r>
          </a:p>
          <a:p xmlns:a="http://schemas.openxmlformats.org/drawingml/2006/main">
            <a:r>
              <a:t>Triangular / Trazado sencillo y pocas referencias / Punta y longitud de unión</a:t>
            </a:r>
          </a:p>
          <a:p xmlns:a="http://schemas.openxmlformats.org/drawingml/2006/main">
            <a:r>
              <a:t>Trapezoidal / Raíz y punta se cambian por separado / Barrido y repetición</a:t>
            </a:r>
          </a:p>
          <a:p xmlns:a="http://schemas.openxmlformats.org/drawingml/2006/main">
            <a:r>
              <a:t>Elíptico / Contorno continuo para comparar / Corte o impresión fiel al plano</a:t>
            </a:r>
          </a:p>
          <a:p xmlns:a="http://schemas.openxmlformats.org/drawingml/2006/main">
            <a:r>
              <a:t>Muy barrido / Permite discutir posición y protección de bordes / Parte que sobresale y posibles golpes</a:t>
            </a:r>
          </a:p>
          <a:p xmlns:a="http://schemas.openxmlformats.org/drawingml/2006/main">
            <a:r>
              <a:t>Comparar dos filas y justificar con la misión.</a:t>
            </a:r>
          </a:p>
          <a:p xmlns:a="http://schemas.openxmlformats.org/drawingml/2006/main">
            <a:r>
              <a:t/>
            </a:r>
          </a:p>
          <a:p xmlns:a="http://schemas.openxmlformats.org/drawingml/2006/main">
            <a:r>
              <a:t>Resultado: Comparar contornos de aletas y preparar piezas repetibles con un útil de alineación.</a:t>
            </a:r>
          </a:p>
          <a:p xmlns:a="http://schemas.openxmlformats.org/drawingml/2006/main">
            <a:r>
              <a:t>Misión: Aprender a fabricar superficies estabilizadoras que el equipo pueda colocar y revisar.</a:t>
            </a:r>
          </a:p>
          <a:p xmlns:a="http://schemas.openxmlformats.org/drawingml/2006/main">
            <a:r>
              <a:t>Entrega: Plano, dos versiones .ork, plantilla y propuesta de útil.</a:t>
            </a:r>
          </a:p>
          <a:p xmlns:a="http://schemas.openxmlformats.org/drawingml/2006/main">
            <a:r>
              <a:t/>
            </a:r>
          </a:p>
          <a:p xmlns:a="http://schemas.openxmlformats.org/drawingml/2006/main">
            <a:r>
              <a:t>Preguntas y respuestas</a:t>
            </a:r>
          </a:p>
          <a:p xmlns:a="http://schemas.openxmlformats.org/drawingml/2006/main">
            <a:r>
              <a:t>¿Tres aletas se separan 90°?</a:t>
            </a:r>
          </a:p>
          <a:p xmlns:a="http://schemas.openxmlformats.org/drawingml/2006/main">
            <a:r>
              <a:t>No. Si están equiespaciadas, 360/3 = 120°.</a:t>
            </a:r>
          </a:p>
          <a:p xmlns:a="http://schemas.openxmlformats.org/drawingml/2006/main">
            <a:r>
              <a:t/>
            </a:r>
          </a:p>
          <a:p xmlns:a="http://schemas.openxmlformats.org/drawingml/2006/main">
            <a:r>
              <a:t>¿Comparar siluetas prueba cuál vuela mejor?</a:t>
            </a:r>
          </a:p>
          <a:p xmlns:a="http://schemas.openxmlformats.org/drawingml/2006/main">
            <a:r>
              <a:t>No. También importan medidas, posición, masa y conjunto.</a:t>
            </a:r>
          </a:p>
          <a:p xmlns:a="http://schemas.openxmlformats.org/drawingml/2006/main">
            <a:r>
              <a:t/>
            </a:r>
          </a:p>
          <a:p xmlns:a="http://schemas.openxmlformats.org/drawingml/2006/main">
            <a:r>
              <a:t>¿Qué resuelve el útil?</a:t>
            </a:r>
          </a:p>
          <a:p xmlns:a="http://schemas.openxmlformats.org/drawingml/2006/main">
            <a:r>
              <a:t>Ayuda a conservar la posición y orientación durante el montaje.</a:t>
            </a:r>
          </a:p>
          <a:p xmlns:a="http://schemas.openxmlformats.org/drawingml/2006/main">
            <a:r>
              <a:t/>
            </a:r>
          </a:p>
          <a:p xmlns:a="http://schemas.openxmlformats.org/drawingml/2006/main">
            <a:r>
              <a:t>Fuentes</a:t>
            </a:r>
          </a:p>
          <a:p xmlns:a="http://schemas.openxmlformats.org/drawingml/2006/main">
            <a:r>
              <a:t>Richard Nakka. Fins for Rocket Stability. https://www.nakka-rocketry.net/fins.html</a:t>
            </a:r>
          </a:p>
          <a:p xmlns:a="http://schemas.openxmlformats.org/drawingml/2006/main">
            <a:r>
              <a:t>OpenRocket. Basic Rocket Design. https://openrocket.readthedocs.io/en/latest/user_guide/basic_rocket_design.html</a:t>
            </a:r>
          </a:p>
          <a:p xmlns:a="http://schemas.openxmlformats.org/drawingml/2006/main">
            <a:r>
              <a:t>OpenRocket. Body Components Basics. https://wiki.openrocket.info/Body_Components_Basics</a:t>
            </a:r>
          </a:p>
          <a:p xmlns:a="http://schemas.openxmlformats.org/drawingml/2006/main">
            <a:r>
              <a:t>Prusa Research. Modeling with 3D printing in mind. https://help.prusa3d.com/article/modeling-with-3d-printing-in-mind_164135</a:t>
            </a:r>
          </a:p>
          <a:p xmlns:a="http://schemas.openxmlformats.org/drawingml/2006/main">
            <a:r>
              <a:t>Lectura: MECRO_Coheteria_Clase_04.pdf.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Aletas: forma, posición y alineación.</a:t>
            </a:r>
          </a:p>
          <a:p xmlns:a="http://schemas.openxmlformats.org/drawingml/2006/main">
            <a:r>
              <a:t>En línea, 2 h. Tramo del núcleo: 5 min.</a:t>
            </a:r>
          </a:p>
          <a:p xmlns:a="http://schemas.openxmlformats.org/drawingml/2006/main">
            <a:r>
              <a:t/>
            </a:r>
          </a:p>
          <a:p xmlns:a="http://schemas.openxmlformats.org/drawingml/2006/main">
            <a:r>
              <a:t>Caso</a:t>
            </a:r>
          </a:p>
          <a:p xmlns:a="http://schemas.openxmlformats.org/drawingml/2006/main">
            <a:r>
              <a:t>Un equipo puede cortar tres trapecios iguales con una plantilla, pero sus tres aletas curvas salen diferentes.</a:t>
            </a:r>
          </a:p>
          <a:p xmlns:a="http://schemas.openxmlformats.org/drawingml/2006/main">
            <a:r>
              <a:t>Explicación</a:t>
            </a:r>
          </a:p>
          <a:p xmlns:a="http://schemas.openxmlformats.org/drawingml/2006/main">
            <a:r>
              <a:t>Para el primer montaje, el trapecio ofrece una ventaja de repetibilidad. La decisión se basa en el proceso disponible. No afirma una superioridad universal del trapecio ni reemplaza la revisión de estabilidad.</a:t>
            </a:r>
          </a:p>
          <a:p xmlns:a="http://schemas.openxmlformats.org/drawingml/2006/main">
            <a:r>
              <a:t>Dar tiempo para responder antes de presentar la solución oralmente.</a:t>
            </a:r>
          </a:p>
          <a:p xmlns:a="http://schemas.openxmlformats.org/drawingml/2006/main">
            <a:r>
              <a:t/>
            </a:r>
          </a:p>
          <a:p xmlns:a="http://schemas.openxmlformats.org/drawingml/2006/main">
            <a:r>
              <a:t>Resultado: Comparar contornos de aletas y preparar piezas repetibles con un útil de alineación.</a:t>
            </a:r>
          </a:p>
          <a:p xmlns:a="http://schemas.openxmlformats.org/drawingml/2006/main">
            <a:r>
              <a:t>Misión: Aprender a fabricar superficies estabilizadoras que el equipo pueda colocar y revisar.</a:t>
            </a:r>
          </a:p>
          <a:p xmlns:a="http://schemas.openxmlformats.org/drawingml/2006/main">
            <a:r>
              <a:t>Entrega: Plano, dos versiones .ork, plantilla y propuesta de útil.</a:t>
            </a:r>
          </a:p>
          <a:p xmlns:a="http://schemas.openxmlformats.org/drawingml/2006/main">
            <a:r>
              <a:t/>
            </a:r>
          </a:p>
          <a:p xmlns:a="http://schemas.openxmlformats.org/drawingml/2006/main">
            <a:r>
              <a:t>Preguntas y respuestas</a:t>
            </a:r>
          </a:p>
          <a:p xmlns:a="http://schemas.openxmlformats.org/drawingml/2006/main">
            <a:r>
              <a:t>¿Tres aletas se separan 90°?</a:t>
            </a:r>
          </a:p>
          <a:p xmlns:a="http://schemas.openxmlformats.org/drawingml/2006/main">
            <a:r>
              <a:t>No. Si están equiespaciadas, 360/3 = 120°.</a:t>
            </a:r>
          </a:p>
          <a:p xmlns:a="http://schemas.openxmlformats.org/drawingml/2006/main">
            <a:r>
              <a:t/>
            </a:r>
          </a:p>
          <a:p xmlns:a="http://schemas.openxmlformats.org/drawingml/2006/main">
            <a:r>
              <a:t>¿Comparar siluetas prueba cuál vuela mejor?</a:t>
            </a:r>
          </a:p>
          <a:p xmlns:a="http://schemas.openxmlformats.org/drawingml/2006/main">
            <a:r>
              <a:t>No. También importan medidas, posición, masa y conjunto.</a:t>
            </a:r>
          </a:p>
          <a:p xmlns:a="http://schemas.openxmlformats.org/drawingml/2006/main">
            <a:r>
              <a:t/>
            </a:r>
          </a:p>
          <a:p xmlns:a="http://schemas.openxmlformats.org/drawingml/2006/main">
            <a:r>
              <a:t>¿Qué resuelve el útil?</a:t>
            </a:r>
          </a:p>
          <a:p xmlns:a="http://schemas.openxmlformats.org/drawingml/2006/main">
            <a:r>
              <a:t>Ayuda a conservar la posición y orientación durante el montaje.</a:t>
            </a:r>
          </a:p>
          <a:p xmlns:a="http://schemas.openxmlformats.org/drawingml/2006/main">
            <a:r>
              <a:t/>
            </a:r>
          </a:p>
          <a:p xmlns:a="http://schemas.openxmlformats.org/drawingml/2006/main">
            <a:r>
              <a:t>Fuentes</a:t>
            </a:r>
          </a:p>
          <a:p xmlns:a="http://schemas.openxmlformats.org/drawingml/2006/main">
            <a:r>
              <a:t>Richard Nakka. Fins for Rocket Stability. https://www.nakka-rocketry.net/fins.html</a:t>
            </a:r>
          </a:p>
          <a:p xmlns:a="http://schemas.openxmlformats.org/drawingml/2006/main">
            <a:r>
              <a:t>OpenRocket. Basic Rocket Design. https://openrocket.readthedocs.io/en/latest/user_guide/basic_rocket_design.html</a:t>
            </a:r>
          </a:p>
          <a:p xmlns:a="http://schemas.openxmlformats.org/drawingml/2006/main">
            <a:r>
              <a:t>OpenRocket. Body Components Basics. https://wiki.openrocket.info/Body_Components_Basics</a:t>
            </a:r>
          </a:p>
          <a:p xmlns:a="http://schemas.openxmlformats.org/drawingml/2006/main">
            <a:r>
              <a:t>Prusa Research. Modeling with 3D printing in mind. https://help.prusa3d.com/article/modeling-with-3d-printing-in-mind_164135</a:t>
            </a:r>
          </a:p>
          <a:p xmlns:a="http://schemas.openxmlformats.org/drawingml/2006/main">
            <a:r>
              <a:t>Lectura: MECRO_Coheteria_Clase_04.pdf.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Aletas: forma, posición y alineación.</a:t>
            </a:r>
          </a:p>
          <a:p xmlns:a="http://schemas.openxmlformats.org/drawingml/2006/main">
            <a:r>
              <a:t>En línea, 2 h. Tramo del núcleo: 4 min.</a:t>
            </a:r>
          </a:p>
          <a:p xmlns:a="http://schemas.openxmlformats.org/drawingml/2006/main">
            <a:r>
              <a:t/>
            </a:r>
          </a:p>
          <a:p xmlns:a="http://schemas.openxmlformats.org/drawingml/2006/main">
            <a:r>
              <a:t>Tres aletas equiespaciadas se separan 120° alrededor del cuerpo. Cuatro se separan 90°. Una vista lateral puede esconder una pieza; por eso la distribución se revisa también desde atrás. El útil de alineación ayuda a conservar ángulos y dirección mientras el conjunto se monta según el proceso aprobado.</a:t>
            </a:r>
          </a:p>
          <a:p xmlns:a="http://schemas.openxmlformats.org/drawingml/2006/main">
            <a:r>
              <a:t/>
            </a:r>
          </a:p>
          <a:p xmlns:a="http://schemas.openxmlformats.org/drawingml/2006/main">
            <a:r>
              <a:t>En un ejercicio, cada aleta pesa 2 g. Tres suman 6 g y cuatro suman 8 g.</a:t>
            </a:r>
          </a:p>
          <a:p xmlns:a="http://schemas.openxmlformats.org/drawingml/2006/main">
            <a:r>
              <a:t/>
            </a:r>
          </a:p>
          <a:p xmlns:a="http://schemas.openxmlformats.org/drawingml/2006/main">
            <a:r>
              <a:t>No confundas cantidad con alineación. Cuatro piezas torcidas no se vuelven correctas por ser cuatro. Si el útil deja una aleta inclinada respecto al eje, hay que corregir el útil o el montaje antes de atribuir al contorno un comportamiento inesperado.</a:t>
            </a:r>
          </a:p>
          <a:p xmlns:a="http://schemas.openxmlformats.org/drawingml/2006/main">
            <a:r>
              <a:t>Pregunta para el grupo: ¿Qué cambia al pasar de tres a cuatro aletas?</a:t>
            </a:r>
          </a:p>
          <a:p xmlns:a="http://schemas.openxmlformats.org/drawingml/2006/main">
            <a:r>
              <a:t/>
            </a:r>
          </a:p>
          <a:p xmlns:a="http://schemas.openxmlformats.org/drawingml/2006/main">
            <a:r>
              <a:t>Resultado: Comparar contornos de aletas y preparar piezas repetibles con un útil de alineación.</a:t>
            </a:r>
          </a:p>
          <a:p xmlns:a="http://schemas.openxmlformats.org/drawingml/2006/main">
            <a:r>
              <a:t>Misión: Aprender a fabricar superficies estabilizadoras que el equipo pueda colocar y revisar.</a:t>
            </a:r>
          </a:p>
          <a:p xmlns:a="http://schemas.openxmlformats.org/drawingml/2006/main">
            <a:r>
              <a:t>Entrega: Plano, dos versiones .ork, plantilla y propuesta de útil.</a:t>
            </a:r>
          </a:p>
          <a:p xmlns:a="http://schemas.openxmlformats.org/drawingml/2006/main">
            <a:r>
              <a:t/>
            </a:r>
          </a:p>
          <a:p xmlns:a="http://schemas.openxmlformats.org/drawingml/2006/main">
            <a:r>
              <a:t>Preguntas y respuestas</a:t>
            </a:r>
          </a:p>
          <a:p xmlns:a="http://schemas.openxmlformats.org/drawingml/2006/main">
            <a:r>
              <a:t>¿Tres aletas se separan 90°?</a:t>
            </a:r>
          </a:p>
          <a:p xmlns:a="http://schemas.openxmlformats.org/drawingml/2006/main">
            <a:r>
              <a:t>No. Si están equiespaciadas, 360/3 = 120°.</a:t>
            </a:r>
          </a:p>
          <a:p xmlns:a="http://schemas.openxmlformats.org/drawingml/2006/main">
            <a:r>
              <a:t/>
            </a:r>
          </a:p>
          <a:p xmlns:a="http://schemas.openxmlformats.org/drawingml/2006/main">
            <a:r>
              <a:t>¿Comparar siluetas prueba cuál vuela mejor?</a:t>
            </a:r>
          </a:p>
          <a:p xmlns:a="http://schemas.openxmlformats.org/drawingml/2006/main">
            <a:r>
              <a:t>No. También importan medidas, posición, masa y conjunto.</a:t>
            </a:r>
          </a:p>
          <a:p xmlns:a="http://schemas.openxmlformats.org/drawingml/2006/main">
            <a:r>
              <a:t/>
            </a:r>
          </a:p>
          <a:p xmlns:a="http://schemas.openxmlformats.org/drawingml/2006/main">
            <a:r>
              <a:t>¿Qué resuelve el útil?</a:t>
            </a:r>
          </a:p>
          <a:p xmlns:a="http://schemas.openxmlformats.org/drawingml/2006/main">
            <a:r>
              <a:t>Ayuda a conservar la posición y orientación durante el montaje.</a:t>
            </a:r>
          </a:p>
          <a:p xmlns:a="http://schemas.openxmlformats.org/drawingml/2006/main">
            <a:r>
              <a:t/>
            </a:r>
          </a:p>
          <a:p xmlns:a="http://schemas.openxmlformats.org/drawingml/2006/main">
            <a:r>
              <a:t>Fuentes</a:t>
            </a:r>
          </a:p>
          <a:p xmlns:a="http://schemas.openxmlformats.org/drawingml/2006/main">
            <a:r>
              <a:t>Richard Nakka. Fins for Rocket Stability. https://www.nakka-rocketry.net/fins.html</a:t>
            </a:r>
          </a:p>
          <a:p xmlns:a="http://schemas.openxmlformats.org/drawingml/2006/main">
            <a:r>
              <a:t>OpenRocket. Basic Rocket Design. https://openrocket.readthedocs.io/en/latest/user_guide/basic_rocket_design.html</a:t>
            </a:r>
          </a:p>
          <a:p xmlns:a="http://schemas.openxmlformats.org/drawingml/2006/main">
            <a:r>
              <a:t>OpenRocket. Body Components Basics. https://wiki.openrocket.info/Body_Components_Basics</a:t>
            </a:r>
          </a:p>
          <a:p xmlns:a="http://schemas.openxmlformats.org/drawingml/2006/main">
            <a:r>
              <a:t>Prusa Research. Modeling with 3D printing in mind. https://help.prusa3d.com/article/modeling-with-3d-printing-in-mind_164135</a:t>
            </a:r>
          </a:p>
          <a:p xmlns:a="http://schemas.openxmlformats.org/drawingml/2006/main">
            <a:r>
              <a:t>Lectura: MECRO_Coheteria_Clase_04.pdf.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Aletas: forma, posición y alineación.</a:t>
            </a:r>
          </a:p>
          <a:p xmlns:a="http://schemas.openxmlformats.org/drawingml/2006/main">
            <a:r>
              <a:t>En línea, 2 h. Tramo del núcleo: 4 min.</a:t>
            </a:r>
          </a:p>
          <a:p xmlns:a="http://schemas.openxmlformats.org/drawingml/2006/main">
            <a:r>
              <a:t/>
            </a:r>
          </a:p>
          <a:p xmlns:a="http://schemas.openxmlformats.org/drawingml/2006/main">
            <a:r>
              <a:t>Opción / Lo que cambia / Qué observar</a:t>
            </a:r>
          </a:p>
          <a:p xmlns:a="http://schemas.openxmlformats.org/drawingml/2006/main">
            <a:r>
              <a:t>Tres aletas / Tres piezas y tres uniones / Separación 120° y simetría</a:t>
            </a:r>
          </a:p>
          <a:p xmlns:a="http://schemas.openxmlformats.org/drawingml/2006/main">
            <a:r>
              <a:t>Cuatro aletas / Una pieza y una unión adicionales / Separación 90° y masa total</a:t>
            </a:r>
          </a:p>
          <a:p xmlns:a="http://schemas.openxmlformats.org/drawingml/2006/main">
            <a:r>
              <a:t>Aleta integrada impresa / Posición fijada por el archivo y la impresión / Deformación, masa y posibilidad de reparación</a:t>
            </a:r>
          </a:p>
          <a:p xmlns:a="http://schemas.openxmlformats.org/drawingml/2006/main">
            <a:r>
              <a:t>Comparar dos filas y justificar con la misión.</a:t>
            </a:r>
          </a:p>
          <a:p xmlns:a="http://schemas.openxmlformats.org/drawingml/2006/main">
            <a:r>
              <a:t/>
            </a:r>
          </a:p>
          <a:p xmlns:a="http://schemas.openxmlformats.org/drawingml/2006/main">
            <a:r>
              <a:t>Resultado: Comparar contornos de aletas y preparar piezas repetibles con un útil de alineación.</a:t>
            </a:r>
          </a:p>
          <a:p xmlns:a="http://schemas.openxmlformats.org/drawingml/2006/main">
            <a:r>
              <a:t>Misión: Aprender a fabricar superficies estabilizadoras que el equipo pueda colocar y revisar.</a:t>
            </a:r>
          </a:p>
          <a:p xmlns:a="http://schemas.openxmlformats.org/drawingml/2006/main">
            <a:r>
              <a:t>Entrega: Plano, dos versiones .ork, plantilla y propuesta de útil.</a:t>
            </a:r>
          </a:p>
          <a:p xmlns:a="http://schemas.openxmlformats.org/drawingml/2006/main">
            <a:r>
              <a:t/>
            </a:r>
          </a:p>
          <a:p xmlns:a="http://schemas.openxmlformats.org/drawingml/2006/main">
            <a:r>
              <a:t>Preguntas y respuestas</a:t>
            </a:r>
          </a:p>
          <a:p xmlns:a="http://schemas.openxmlformats.org/drawingml/2006/main">
            <a:r>
              <a:t>¿Tres aletas se separan 90°?</a:t>
            </a:r>
          </a:p>
          <a:p xmlns:a="http://schemas.openxmlformats.org/drawingml/2006/main">
            <a:r>
              <a:t>No. Si están equiespaciadas, 360/3 = 120°.</a:t>
            </a:r>
          </a:p>
          <a:p xmlns:a="http://schemas.openxmlformats.org/drawingml/2006/main">
            <a:r>
              <a:t/>
            </a:r>
          </a:p>
          <a:p xmlns:a="http://schemas.openxmlformats.org/drawingml/2006/main">
            <a:r>
              <a:t>¿Comparar siluetas prueba cuál vuela mejor?</a:t>
            </a:r>
          </a:p>
          <a:p xmlns:a="http://schemas.openxmlformats.org/drawingml/2006/main">
            <a:r>
              <a:t>No. También importan medidas, posición, masa y conjunto.</a:t>
            </a:r>
          </a:p>
          <a:p xmlns:a="http://schemas.openxmlformats.org/drawingml/2006/main">
            <a:r>
              <a:t/>
            </a:r>
          </a:p>
          <a:p xmlns:a="http://schemas.openxmlformats.org/drawingml/2006/main">
            <a:r>
              <a:t>¿Qué resuelve el útil?</a:t>
            </a:r>
          </a:p>
          <a:p xmlns:a="http://schemas.openxmlformats.org/drawingml/2006/main">
            <a:r>
              <a:t>Ayuda a conservar la posición y orientación durante el montaje.</a:t>
            </a:r>
          </a:p>
          <a:p xmlns:a="http://schemas.openxmlformats.org/drawingml/2006/main">
            <a:r>
              <a:t/>
            </a:r>
          </a:p>
          <a:p xmlns:a="http://schemas.openxmlformats.org/drawingml/2006/main">
            <a:r>
              <a:t>Fuentes</a:t>
            </a:r>
          </a:p>
          <a:p xmlns:a="http://schemas.openxmlformats.org/drawingml/2006/main">
            <a:r>
              <a:t>Richard Nakka. Fins for Rocket Stability. https://www.nakka-rocketry.net/fins.html</a:t>
            </a:r>
          </a:p>
          <a:p xmlns:a="http://schemas.openxmlformats.org/drawingml/2006/main">
            <a:r>
              <a:t>OpenRocket. Basic Rocket Design. https://openrocket.readthedocs.io/en/latest/user_guide/basic_rocket_design.html</a:t>
            </a:r>
          </a:p>
          <a:p xmlns:a="http://schemas.openxmlformats.org/drawingml/2006/main">
            <a:r>
              <a:t>OpenRocket. Body Components Basics. https://wiki.openrocket.info/Body_Components_Basics</a:t>
            </a:r>
          </a:p>
          <a:p xmlns:a="http://schemas.openxmlformats.org/drawingml/2006/main">
            <a:r>
              <a:t>Prusa Research. Modeling with 3D printing in mind. https://help.prusa3d.com/article/modeling-with-3d-printing-in-mind_164135</a:t>
            </a:r>
          </a:p>
          <a:p xmlns:a="http://schemas.openxmlformats.org/drawingml/2006/main">
            <a:r>
              <a:t>Lectura: MECRO_Coheteria_Clase_04.pdf.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Aletas: forma, posición y alineación.</a:t>
            </a:r>
          </a:p>
          <a:p xmlns:a="http://schemas.openxmlformats.org/drawingml/2006/main">
            <a:r>
              <a:t>En línea, 2 h. Tramo del núcleo: 5 min.</a:t>
            </a:r>
          </a:p>
          <a:p xmlns:a="http://schemas.openxmlformats.org/drawingml/2006/main">
            <a:r>
              <a:t/>
            </a:r>
          </a:p>
          <a:p xmlns:a="http://schemas.openxmlformats.org/drawingml/2006/main">
            <a:r>
              <a:t>Caso</a:t>
            </a:r>
          </a:p>
          <a:p xmlns:a="http://schemas.openxmlformats.org/drawingml/2006/main">
            <a:r>
              <a:t>En un ejercicio, cada aleta pesa 2 g. Tres suman 6 g y cuatro suman 8 g.</a:t>
            </a:r>
          </a:p>
          <a:p xmlns:a="http://schemas.openxmlformats.org/drawingml/2006/main">
            <a:r>
              <a:t>Explicación</a:t>
            </a:r>
          </a:p>
          <a:p xmlns:a="http://schemas.openxmlformats.org/drawingml/2006/main">
            <a:r>
              <a:t>El cambio añade 2 g en esa parte del vehículo, además de cualquier diferencia de unión. No permite calcular cuánto cambia la estabilidad o la altura. Para eso se actualiza el conjunto y se compara con iguales condiciones.</a:t>
            </a:r>
          </a:p>
          <a:p xmlns:a="http://schemas.openxmlformats.org/drawingml/2006/main">
            <a:r>
              <a:t>Dar tiempo para responder antes de presentar la solución oralmente.</a:t>
            </a:r>
          </a:p>
          <a:p xmlns:a="http://schemas.openxmlformats.org/drawingml/2006/main">
            <a:r>
              <a:t/>
            </a:r>
          </a:p>
          <a:p xmlns:a="http://schemas.openxmlformats.org/drawingml/2006/main">
            <a:r>
              <a:t>Resultado: Comparar contornos de aletas y preparar piezas repetibles con un útil de alineación.</a:t>
            </a:r>
          </a:p>
          <a:p xmlns:a="http://schemas.openxmlformats.org/drawingml/2006/main">
            <a:r>
              <a:t>Misión: Aprender a fabricar superficies estabilizadoras que el equipo pueda colocar y revisar.</a:t>
            </a:r>
          </a:p>
          <a:p xmlns:a="http://schemas.openxmlformats.org/drawingml/2006/main">
            <a:r>
              <a:t>Entrega: Plano, dos versiones .ork, plantilla y propuesta de útil.</a:t>
            </a:r>
          </a:p>
          <a:p xmlns:a="http://schemas.openxmlformats.org/drawingml/2006/main">
            <a:r>
              <a:t/>
            </a:r>
          </a:p>
          <a:p xmlns:a="http://schemas.openxmlformats.org/drawingml/2006/main">
            <a:r>
              <a:t>Preguntas y respuestas</a:t>
            </a:r>
          </a:p>
          <a:p xmlns:a="http://schemas.openxmlformats.org/drawingml/2006/main">
            <a:r>
              <a:t>¿Tres aletas se separan 90°?</a:t>
            </a:r>
          </a:p>
          <a:p xmlns:a="http://schemas.openxmlformats.org/drawingml/2006/main">
            <a:r>
              <a:t>No. Si están equiespaciadas, 360/3 = 120°.</a:t>
            </a:r>
          </a:p>
          <a:p xmlns:a="http://schemas.openxmlformats.org/drawingml/2006/main">
            <a:r>
              <a:t/>
            </a:r>
          </a:p>
          <a:p xmlns:a="http://schemas.openxmlformats.org/drawingml/2006/main">
            <a:r>
              <a:t>¿Comparar siluetas prueba cuál vuela mejor?</a:t>
            </a:r>
          </a:p>
          <a:p xmlns:a="http://schemas.openxmlformats.org/drawingml/2006/main">
            <a:r>
              <a:t>No. También importan medidas, posición, masa y conjunto.</a:t>
            </a:r>
          </a:p>
          <a:p xmlns:a="http://schemas.openxmlformats.org/drawingml/2006/main">
            <a:r>
              <a:t/>
            </a:r>
          </a:p>
          <a:p xmlns:a="http://schemas.openxmlformats.org/drawingml/2006/main">
            <a:r>
              <a:t>¿Qué resuelve el útil?</a:t>
            </a:r>
          </a:p>
          <a:p xmlns:a="http://schemas.openxmlformats.org/drawingml/2006/main">
            <a:r>
              <a:t>Ayuda a conservar la posición y orientación durante el montaje.</a:t>
            </a:r>
          </a:p>
          <a:p xmlns:a="http://schemas.openxmlformats.org/drawingml/2006/main">
            <a:r>
              <a:t/>
            </a:r>
          </a:p>
          <a:p xmlns:a="http://schemas.openxmlformats.org/drawingml/2006/main">
            <a:r>
              <a:t>Fuentes</a:t>
            </a:r>
          </a:p>
          <a:p xmlns:a="http://schemas.openxmlformats.org/drawingml/2006/main">
            <a:r>
              <a:t>Richard Nakka. Fins for Rocket Stability. https://www.nakka-rocketry.net/fins.html</a:t>
            </a:r>
          </a:p>
          <a:p xmlns:a="http://schemas.openxmlformats.org/drawingml/2006/main">
            <a:r>
              <a:t>OpenRocket. Basic Rocket Design. https://openrocket.readthedocs.io/en/latest/user_guide/basic_rocket_design.html</a:t>
            </a:r>
          </a:p>
          <a:p xmlns:a="http://schemas.openxmlformats.org/drawingml/2006/main">
            <a:r>
              <a:t>OpenRocket. Body Components Basics. https://wiki.openrocket.info/Body_Components_Basics</a:t>
            </a:r>
          </a:p>
          <a:p xmlns:a="http://schemas.openxmlformats.org/drawingml/2006/main">
            <a:r>
              <a:t>Prusa Research. Modeling with 3D printing in mind. https://help.prusa3d.com/article/modeling-with-3d-printing-in-mind_164135</a:t>
            </a:r>
          </a:p>
          <a:p xmlns:a="http://schemas.openxmlformats.org/drawingml/2006/main">
            <a:r>
              <a:t>Lectura: MECRO_Coheteria_Clase_04.pdf.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Aletas: forma, posición y alineación.</a:t>
            </a:r>
          </a:p>
          <a:p xmlns:a="http://schemas.openxmlformats.org/drawingml/2006/main">
            <a:r>
              <a:t>En línea, 2 h. Tramo del núcleo: 4 min.</a:t>
            </a:r>
          </a:p>
          <a:p xmlns:a="http://schemas.openxmlformats.org/drawingml/2006/main">
            <a:r>
              <a:t/>
            </a:r>
          </a:p>
          <a:p xmlns:a="http://schemas.openxmlformats.org/drawingml/2006/main">
            <a:r>
              <a:t>Si un contorno libre resulta difícil de reproducir en CAD o fabricar, vuelve a una forma que puedas comprobar. La libertad del programa sirve para representar tu pieza; no obliga a complicarla. [OR1]</a:t>
            </a:r>
          </a:p>
          <a:p xmlns:a="http://schemas.openxmlformats.org/drawingml/2006/main">
            <a:r>
              <a:t/>
            </a:r>
          </a:p>
          <a:p xmlns:a="http://schemas.openxmlformats.org/drawingml/2006/main">
            <a:r>
              <a:t>La alineación se revisa en dos vistas. En una vista posterior interesa la separación alrededor del tubo. En la vista lateral interesa la dirección y la posición longitudinal de las raíces. Un útil que solo fija el ángulo entre aletas puede dejar libre otra desviación. Por eso conviene presentar el conjunto sin pegarlo y observarlo desde ambos lados. El útil facilita repetir una posición; su presencia no demuestra por sí sola que todas las referencias sean correctas.</a:t>
            </a:r>
          </a:p>
          <a:p xmlns:a="http://schemas.openxmlformats.org/drawingml/2006/main">
            <a:r>
              <a:t>Pregunta para el grupo: ¿Desde dónde estás midiendo la posición?</a:t>
            </a:r>
          </a:p>
          <a:p xmlns:a="http://schemas.openxmlformats.org/drawingml/2006/main">
            <a:r>
              <a:t/>
            </a:r>
          </a:p>
          <a:p xmlns:a="http://schemas.openxmlformats.org/drawingml/2006/main">
            <a:r>
              <a:t>Resultado: Comparar contornos de aletas y preparar piezas repetibles con un útil de alineación.</a:t>
            </a:r>
          </a:p>
          <a:p xmlns:a="http://schemas.openxmlformats.org/drawingml/2006/main">
            <a:r>
              <a:t>Misión: Aprender a fabricar superficies estabilizadoras que el equipo pueda colocar y revisar.</a:t>
            </a:r>
          </a:p>
          <a:p xmlns:a="http://schemas.openxmlformats.org/drawingml/2006/main">
            <a:r>
              <a:t>Entrega: Plano, dos versiones .ork, plantilla y propuesta de útil.</a:t>
            </a:r>
          </a:p>
          <a:p xmlns:a="http://schemas.openxmlformats.org/drawingml/2006/main">
            <a:r>
              <a:t/>
            </a:r>
          </a:p>
          <a:p xmlns:a="http://schemas.openxmlformats.org/drawingml/2006/main">
            <a:r>
              <a:t>Preguntas y respuestas</a:t>
            </a:r>
          </a:p>
          <a:p xmlns:a="http://schemas.openxmlformats.org/drawingml/2006/main">
            <a:r>
              <a:t>¿Tres aletas se separan 90°?</a:t>
            </a:r>
          </a:p>
          <a:p xmlns:a="http://schemas.openxmlformats.org/drawingml/2006/main">
            <a:r>
              <a:t>No. Si están equiespaciadas, 360/3 = 120°.</a:t>
            </a:r>
          </a:p>
          <a:p xmlns:a="http://schemas.openxmlformats.org/drawingml/2006/main">
            <a:r>
              <a:t/>
            </a:r>
          </a:p>
          <a:p xmlns:a="http://schemas.openxmlformats.org/drawingml/2006/main">
            <a:r>
              <a:t>¿Comparar siluetas prueba cuál vuela mejor?</a:t>
            </a:r>
          </a:p>
          <a:p xmlns:a="http://schemas.openxmlformats.org/drawingml/2006/main">
            <a:r>
              <a:t>No. También importan medidas, posición, masa y conjunto.</a:t>
            </a:r>
          </a:p>
          <a:p xmlns:a="http://schemas.openxmlformats.org/drawingml/2006/main">
            <a:r>
              <a:t/>
            </a:r>
          </a:p>
          <a:p xmlns:a="http://schemas.openxmlformats.org/drawingml/2006/main">
            <a:r>
              <a:t>¿Qué resuelve el útil?</a:t>
            </a:r>
          </a:p>
          <a:p xmlns:a="http://schemas.openxmlformats.org/drawingml/2006/main">
            <a:r>
              <a:t>Ayuda a conservar la posición y orientación durante el montaje.</a:t>
            </a:r>
          </a:p>
          <a:p xmlns:a="http://schemas.openxmlformats.org/drawingml/2006/main">
            <a:r>
              <a:t/>
            </a:r>
          </a:p>
          <a:p xmlns:a="http://schemas.openxmlformats.org/drawingml/2006/main">
            <a:r>
              <a:t>Fuentes</a:t>
            </a:r>
          </a:p>
          <a:p xmlns:a="http://schemas.openxmlformats.org/drawingml/2006/main">
            <a:r>
              <a:t>Richard Nakka. Fins for Rocket Stability. https://www.nakka-rocketry.net/fins.html</a:t>
            </a:r>
          </a:p>
          <a:p xmlns:a="http://schemas.openxmlformats.org/drawingml/2006/main">
            <a:r>
              <a:t>OpenRocket. Basic Rocket Design. https://openrocket.readthedocs.io/en/latest/user_guide/basic_rocket_design.html</a:t>
            </a:r>
          </a:p>
          <a:p xmlns:a="http://schemas.openxmlformats.org/drawingml/2006/main">
            <a:r>
              <a:t>OpenRocket. Body Components Basics. https://wiki.openrocket.info/Body_Components_Basics</a:t>
            </a:r>
          </a:p>
          <a:p xmlns:a="http://schemas.openxmlformats.org/drawingml/2006/main">
            <a:r>
              <a:t>Prusa Research. Modeling with 3D printing in mind. https://help.prusa3d.com/article/modeling-with-3d-printing-in-mind_164135</a:t>
            </a:r>
          </a:p>
          <a:p xmlns:a="http://schemas.openxmlformats.org/drawingml/2006/main">
            <a:r>
              <a:t>Lectura: MECRO_Coheteria_Clase_04.pdf.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Aletas: forma, posición y alineación.</a:t>
            </a:r>
          </a:p>
          <a:p xmlns:a="http://schemas.openxmlformats.org/drawingml/2006/main">
            <a:r>
              <a:t>En línea, 2 h. Tramo del núcleo: 4 min.</a:t>
            </a:r>
          </a:p>
          <a:p xmlns:a="http://schemas.openxmlformats.org/drawingml/2006/main">
            <a:r>
              <a:t/>
            </a:r>
          </a:p>
          <a:p xmlns:a="http://schemas.openxmlformats.org/drawingml/2006/main">
            <a:r>
              <a:t>Geometría del ejemplo oficial de OpenRocket. La captura permite reconocer aletas y posición, no fija el diseño del alumno.</a:t>
            </a:r>
          </a:p>
          <a:p xmlns:a="http://schemas.openxmlformats.org/drawingml/2006/main">
            <a:r>
              <a:t>Localizar en la imagen las partes relacionadas con la pregunta.</a:t>
            </a:r>
          </a:p>
          <a:p xmlns:a="http://schemas.openxmlformats.org/drawingml/2006/main">
            <a:r>
              <a:t>¿Desde dónde estás midiendo la posición?</a:t>
            </a:r>
          </a:p>
          <a:p xmlns:a="http://schemas.openxmlformats.org/drawingml/2006/main">
            <a:r>
              <a:t/>
            </a:r>
          </a:p>
          <a:p xmlns:a="http://schemas.openxmlformats.org/drawingml/2006/main">
            <a:r>
              <a:t>Resultado: Comparar contornos de aletas y preparar piezas repetibles con un útil de alineación.</a:t>
            </a:r>
          </a:p>
          <a:p xmlns:a="http://schemas.openxmlformats.org/drawingml/2006/main">
            <a:r>
              <a:t>Misión: Aprender a fabricar superficies estabilizadoras que el equipo pueda colocar y revisar.</a:t>
            </a:r>
          </a:p>
          <a:p xmlns:a="http://schemas.openxmlformats.org/drawingml/2006/main">
            <a:r>
              <a:t>Entrega: Plano, dos versiones .ork, plantilla y propuesta de útil.</a:t>
            </a:r>
          </a:p>
          <a:p xmlns:a="http://schemas.openxmlformats.org/drawingml/2006/main">
            <a:r>
              <a:t/>
            </a:r>
          </a:p>
          <a:p xmlns:a="http://schemas.openxmlformats.org/drawingml/2006/main">
            <a:r>
              <a:t>Preguntas y respuestas</a:t>
            </a:r>
          </a:p>
          <a:p xmlns:a="http://schemas.openxmlformats.org/drawingml/2006/main">
            <a:r>
              <a:t>¿Tres aletas se separan 90°?</a:t>
            </a:r>
          </a:p>
          <a:p xmlns:a="http://schemas.openxmlformats.org/drawingml/2006/main">
            <a:r>
              <a:t>No. Si están equiespaciadas, 360/3 = 120°.</a:t>
            </a:r>
          </a:p>
          <a:p xmlns:a="http://schemas.openxmlformats.org/drawingml/2006/main">
            <a:r>
              <a:t/>
            </a:r>
          </a:p>
          <a:p xmlns:a="http://schemas.openxmlformats.org/drawingml/2006/main">
            <a:r>
              <a:t>¿Comparar siluetas prueba cuál vuela mejor?</a:t>
            </a:r>
          </a:p>
          <a:p xmlns:a="http://schemas.openxmlformats.org/drawingml/2006/main">
            <a:r>
              <a:t>No. También importan medidas, posición, masa y conjunto.</a:t>
            </a:r>
          </a:p>
          <a:p xmlns:a="http://schemas.openxmlformats.org/drawingml/2006/main">
            <a:r>
              <a:t/>
            </a:r>
          </a:p>
          <a:p xmlns:a="http://schemas.openxmlformats.org/drawingml/2006/main">
            <a:r>
              <a:t>¿Qué resuelve el útil?</a:t>
            </a:r>
          </a:p>
          <a:p xmlns:a="http://schemas.openxmlformats.org/drawingml/2006/main">
            <a:r>
              <a:t>Ayuda a conservar la posición y orientación durante el montaje.</a:t>
            </a:r>
          </a:p>
          <a:p xmlns:a="http://schemas.openxmlformats.org/drawingml/2006/main">
            <a:r>
              <a:t/>
            </a:r>
          </a:p>
          <a:p xmlns:a="http://schemas.openxmlformats.org/drawingml/2006/main">
            <a:r>
              <a:t>Fuentes</a:t>
            </a:r>
          </a:p>
          <a:p xmlns:a="http://schemas.openxmlformats.org/drawingml/2006/main">
            <a:r>
              <a:t>Richard Nakka. Fins for Rocket Stability. https://www.nakka-rocketry.net/fins.html</a:t>
            </a:r>
          </a:p>
          <a:p xmlns:a="http://schemas.openxmlformats.org/drawingml/2006/main">
            <a:r>
              <a:t>OpenRocket. Basic Rocket Design. https://openrocket.readthedocs.io/en/latest/user_guide/basic_rocket_design.html</a:t>
            </a:r>
          </a:p>
          <a:p xmlns:a="http://schemas.openxmlformats.org/drawingml/2006/main">
            <a:r>
              <a:t>OpenRocket. Body Components Basics. https://wiki.openrocket.info/Body_Components_Basics</a:t>
            </a:r>
          </a:p>
          <a:p xmlns:a="http://schemas.openxmlformats.org/drawingml/2006/main">
            <a:r>
              <a:t>Prusa Research. Modeling with 3D printing in mind. https://help.prusa3d.com/article/modeling-with-3d-printing-in-mind_164135</a:t>
            </a:r>
          </a:p>
          <a:p xmlns:a="http://schemas.openxmlformats.org/drawingml/2006/main">
            <a:r>
              <a:t>Lectura: MECRO_Coheteria_Clase_04.pdf.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Aletas: forma, posición y alineación.</a:t>
            </a:r>
          </a:p>
          <a:p xmlns:a="http://schemas.openxmlformats.org/drawingml/2006/main">
            <a:r>
              <a:t>En línea, 2 h. Tramo del núcleo: 5 min.</a:t>
            </a:r>
          </a:p>
          <a:p xmlns:a="http://schemas.openxmlformats.org/drawingml/2006/main">
            <a:r>
              <a:t/>
            </a:r>
          </a:p>
          <a:p xmlns:a="http://schemas.openxmlformats.org/drawingml/2006/main">
            <a:r>
              <a:t>Abre el modelo y guarda ALETAS_A. Selecciona el conjunto y registra cantidad, raíz, punta, semienvergadura, barrido y espesor.</a:t>
            </a:r>
          </a:p>
          <a:p xmlns:a="http://schemas.openxmlformats.org/drawingml/2006/main">
            <a:r>
              <a:t>Haz una copia ALETAS_B y cambia solamente el contorno que deseas comparar. Si cambian otras medidas, escríbelas en la tabla.</a:t>
            </a:r>
          </a:p>
          <a:p xmlns:a="http://schemas.openxmlformats.org/drawingml/2006/main">
            <a:r>
              <a:t>Revisa la posición de la raíz respecto al extremo del cuerpo. Comprueba la referencia usada por el programa.</a:t>
            </a:r>
          </a:p>
          <a:p xmlns:a="http://schemas.openxmlformats.org/drawingml/2006/main">
            <a:r>
              <a:t>Usa vista posterior para revisar cantidad y distribución. Después observa la vista lateral.</a:t>
            </a:r>
          </a:p>
          <a:p xmlns:a="http://schemas.openxmlformats.org/drawingml/2006/main">
            <a:r>
              <a:t>Conserva las dos versiones. La comparación de vuelo se completará después de introducir materiales y masas reales.</a:t>
            </a:r>
          </a:p>
          <a:p xmlns:a="http://schemas.openxmlformats.org/drawingml/2006/main">
            <a:r>
              <a:t>Comprobar un paso en el objeto o programa antes de continuar.</a:t>
            </a:r>
          </a:p>
          <a:p xmlns:a="http://schemas.openxmlformats.org/drawingml/2006/main">
            <a:r>
              <a:t/>
            </a:r>
          </a:p>
          <a:p xmlns:a="http://schemas.openxmlformats.org/drawingml/2006/main">
            <a:r>
              <a:t>Resultado: Comparar contornos de aletas y preparar piezas repetibles con un útil de alineación.</a:t>
            </a:r>
          </a:p>
          <a:p xmlns:a="http://schemas.openxmlformats.org/drawingml/2006/main">
            <a:r>
              <a:t>Misión: Aprender a fabricar superficies estabilizadoras que el equipo pueda colocar y revisar.</a:t>
            </a:r>
          </a:p>
          <a:p xmlns:a="http://schemas.openxmlformats.org/drawingml/2006/main">
            <a:r>
              <a:t>Entrega: Plano, dos versiones .ork, plantilla y propuesta de útil.</a:t>
            </a:r>
          </a:p>
          <a:p xmlns:a="http://schemas.openxmlformats.org/drawingml/2006/main">
            <a:r>
              <a:t/>
            </a:r>
          </a:p>
          <a:p xmlns:a="http://schemas.openxmlformats.org/drawingml/2006/main">
            <a:r>
              <a:t>Preguntas y respuestas</a:t>
            </a:r>
          </a:p>
          <a:p xmlns:a="http://schemas.openxmlformats.org/drawingml/2006/main">
            <a:r>
              <a:t>¿Tres aletas se separan 90°?</a:t>
            </a:r>
          </a:p>
          <a:p xmlns:a="http://schemas.openxmlformats.org/drawingml/2006/main">
            <a:r>
              <a:t>No. Si están equiespaciadas, 360/3 = 120°.</a:t>
            </a:r>
          </a:p>
          <a:p xmlns:a="http://schemas.openxmlformats.org/drawingml/2006/main">
            <a:r>
              <a:t/>
            </a:r>
          </a:p>
          <a:p xmlns:a="http://schemas.openxmlformats.org/drawingml/2006/main">
            <a:r>
              <a:t>¿Comparar siluetas prueba cuál vuela mejor?</a:t>
            </a:r>
          </a:p>
          <a:p xmlns:a="http://schemas.openxmlformats.org/drawingml/2006/main">
            <a:r>
              <a:t>No. También importan medidas, posición, masa y conjunto.</a:t>
            </a:r>
          </a:p>
          <a:p xmlns:a="http://schemas.openxmlformats.org/drawingml/2006/main">
            <a:r>
              <a:t/>
            </a:r>
          </a:p>
          <a:p xmlns:a="http://schemas.openxmlformats.org/drawingml/2006/main">
            <a:r>
              <a:t>¿Qué resuelve el útil?</a:t>
            </a:r>
          </a:p>
          <a:p xmlns:a="http://schemas.openxmlformats.org/drawingml/2006/main">
            <a:r>
              <a:t>Ayuda a conservar la posición y orientación durante el montaje.</a:t>
            </a:r>
          </a:p>
          <a:p xmlns:a="http://schemas.openxmlformats.org/drawingml/2006/main">
            <a:r>
              <a:t/>
            </a:r>
          </a:p>
          <a:p xmlns:a="http://schemas.openxmlformats.org/drawingml/2006/main">
            <a:r>
              <a:t>Fuentes</a:t>
            </a:r>
          </a:p>
          <a:p xmlns:a="http://schemas.openxmlformats.org/drawingml/2006/main">
            <a:r>
              <a:t>Richard Nakka. Fins for Rocket Stability. https://www.nakka-rocketry.net/fins.html</a:t>
            </a:r>
          </a:p>
          <a:p xmlns:a="http://schemas.openxmlformats.org/drawingml/2006/main">
            <a:r>
              <a:t>OpenRocket. Basic Rocket Design. https://openrocket.readthedocs.io/en/latest/user_guide/basic_rocket_design.html</a:t>
            </a:r>
          </a:p>
          <a:p xmlns:a="http://schemas.openxmlformats.org/drawingml/2006/main">
            <a:r>
              <a:t>OpenRocket. Body Components Basics. https://wiki.openrocket.info/Body_Components_Basics</a:t>
            </a:r>
          </a:p>
          <a:p xmlns:a="http://schemas.openxmlformats.org/drawingml/2006/main">
            <a:r>
              <a:t>Prusa Research. Modeling with 3D printing in mind. https://help.prusa3d.com/article/modeling-with-3d-printing-in-mind_164135</a:t>
            </a:r>
          </a:p>
          <a:p xmlns:a="http://schemas.openxmlformats.org/drawingml/2006/main">
            <a:r>
              <a:t>Lectura: MECRO_Coheteria_Clase_04.pdf.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Aletas: forma, posición y alineación.</a:t>
            </a:r>
          </a:p>
          <a:p xmlns:a="http://schemas.openxmlformats.org/drawingml/2006/main">
            <a:r>
              <a:t>En línea, 2 h. Tramo del núcleo: 4 min.</a:t>
            </a:r>
          </a:p>
          <a:p xmlns:a="http://schemas.openxmlformats.org/drawingml/2006/main">
            <a:r>
              <a:t/>
            </a:r>
          </a:p>
          <a:p xmlns:a="http://schemas.openxmlformats.org/drawingml/2006/main">
            <a:r>
              <a:t>La plantilla define el contorno de la aleta. El útil define cómo se coloca respecto al tubo y al eje del vehículo. Son piezas distintas: una aleta bien cortada puede montarse mal, y un útil preciso no repara un contorno diferente al plano. En impresión 3D, el útil puede ser una de las aplicaciones más útiles del taller.</a:t>
            </a:r>
          </a:p>
          <a:p xmlns:a="http://schemas.openxmlformats.org/drawingml/2006/main">
            <a:r>
              <a:t/>
            </a:r>
          </a:p>
          <a:p xmlns:a="http://schemas.openxmlformats.org/drawingml/2006/main">
            <a:r>
              <a:t>La fotografía necesita una referencia y un ángulo útil. Una imagen oblicua atractiva puede ocultar desalineación. Conserva al menos una vista lateral y otra posterior.</a:t>
            </a:r>
          </a:p>
          <a:p xmlns:a="http://schemas.openxmlformats.org/drawingml/2006/main">
            <a:r>
              <a:t/>
            </a:r>
          </a:p>
          <a:p xmlns:a="http://schemas.openxmlformats.org/drawingml/2006/main">
            <a:r>
              <a:t>El útil y la plantilla deben compartir las referencias del plano. Una marca puede corresponder al comienzo de la raíz y otra al extremo del cuerpo. Si la pieza impresa incorpora pestañas o detalles de montaje, estos deben aparecer en su CAD y ser compatibles con la solución de unión aprobada. El contorno que ve el aire y el detalle usado para montar no se confunden al introducir las medidas exteriores del modelo.</a:t>
            </a:r>
          </a:p>
          <a:p xmlns:a="http://schemas.openxmlformats.org/drawingml/2006/main">
            <a:r>
              <a:t>Pregunta para el grupo: ¿El útil conserva la referencia mientras se manipula?</a:t>
            </a:r>
          </a:p>
          <a:p xmlns:a="http://schemas.openxmlformats.org/drawingml/2006/main">
            <a:r>
              <a:t/>
            </a:r>
          </a:p>
          <a:p xmlns:a="http://schemas.openxmlformats.org/drawingml/2006/main">
            <a:r>
              <a:t>Resultado: Comparar contornos de aletas y preparar piezas repetibles con un útil de alineación.</a:t>
            </a:r>
          </a:p>
          <a:p xmlns:a="http://schemas.openxmlformats.org/drawingml/2006/main">
            <a:r>
              <a:t>Misión: Aprender a fabricar superficies estabilizadoras que el equipo pueda colocar y revisar.</a:t>
            </a:r>
          </a:p>
          <a:p xmlns:a="http://schemas.openxmlformats.org/drawingml/2006/main">
            <a:r>
              <a:t>Entrega: Plano, dos versiones .ork, plantilla y propuesta de útil.</a:t>
            </a:r>
          </a:p>
          <a:p xmlns:a="http://schemas.openxmlformats.org/drawingml/2006/main">
            <a:r>
              <a:t/>
            </a:r>
          </a:p>
          <a:p xmlns:a="http://schemas.openxmlformats.org/drawingml/2006/main">
            <a:r>
              <a:t>Preguntas y respuestas</a:t>
            </a:r>
          </a:p>
          <a:p xmlns:a="http://schemas.openxmlformats.org/drawingml/2006/main">
            <a:r>
              <a:t>¿Tres aletas se separan 90°?</a:t>
            </a:r>
          </a:p>
          <a:p xmlns:a="http://schemas.openxmlformats.org/drawingml/2006/main">
            <a:r>
              <a:t>No. Si están equiespaciadas, 360/3 = 120°.</a:t>
            </a:r>
          </a:p>
          <a:p xmlns:a="http://schemas.openxmlformats.org/drawingml/2006/main">
            <a:r>
              <a:t/>
            </a:r>
          </a:p>
          <a:p xmlns:a="http://schemas.openxmlformats.org/drawingml/2006/main">
            <a:r>
              <a:t>¿Comparar siluetas prueba cuál vuela mejor?</a:t>
            </a:r>
          </a:p>
          <a:p xmlns:a="http://schemas.openxmlformats.org/drawingml/2006/main">
            <a:r>
              <a:t>No. También importan medidas, posición, masa y conjunto.</a:t>
            </a:r>
          </a:p>
          <a:p xmlns:a="http://schemas.openxmlformats.org/drawingml/2006/main">
            <a:r>
              <a:t/>
            </a:r>
          </a:p>
          <a:p xmlns:a="http://schemas.openxmlformats.org/drawingml/2006/main">
            <a:r>
              <a:t>¿Qué resuelve el útil?</a:t>
            </a:r>
          </a:p>
          <a:p xmlns:a="http://schemas.openxmlformats.org/drawingml/2006/main">
            <a:r>
              <a:t>Ayuda a conservar la posición y orientación durante el montaje.</a:t>
            </a:r>
          </a:p>
          <a:p xmlns:a="http://schemas.openxmlformats.org/drawingml/2006/main">
            <a:r>
              <a:t/>
            </a:r>
          </a:p>
          <a:p xmlns:a="http://schemas.openxmlformats.org/drawingml/2006/main">
            <a:r>
              <a:t>Fuentes</a:t>
            </a:r>
          </a:p>
          <a:p xmlns:a="http://schemas.openxmlformats.org/drawingml/2006/main">
            <a:r>
              <a:t>Richard Nakka. Fins for Rocket Stability. https://www.nakka-rocketry.net/fins.html</a:t>
            </a:r>
          </a:p>
          <a:p xmlns:a="http://schemas.openxmlformats.org/drawingml/2006/main">
            <a:r>
              <a:t>OpenRocket. Basic Rocket Design. https://openrocket.readthedocs.io/en/latest/user_guide/basic_rocket_design.html</a:t>
            </a:r>
          </a:p>
          <a:p xmlns:a="http://schemas.openxmlformats.org/drawingml/2006/main">
            <a:r>
              <a:t>OpenRocket. Body Components Basics. https://wiki.openrocket.info/Body_Components_Basics</a:t>
            </a:r>
          </a:p>
          <a:p xmlns:a="http://schemas.openxmlformats.org/drawingml/2006/main">
            <a:r>
              <a:t>Prusa Research. Modeling with 3D printing in mind. https://help.prusa3d.com/article/modeling-with-3d-printing-in-mind_164135</a:t>
            </a:r>
          </a:p>
          <a:p xmlns:a="http://schemas.openxmlformats.org/drawingml/2006/main">
            <a:r>
              <a:t>Lectura: MECRO_Coheteria_Clase_04.pdf.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Aletas: forma, posición y alineación.</a:t>
            </a:r>
          </a:p>
          <a:p xmlns:a="http://schemas.openxmlformats.org/drawingml/2006/main">
            <a:r>
              <a:t>En línea, 2 h. Tramo del núcleo: 4 min.</a:t>
            </a:r>
          </a:p>
          <a:p xmlns:a="http://schemas.openxmlformats.org/drawingml/2006/main">
            <a:r>
              <a:t/>
            </a:r>
          </a:p>
          <a:p xmlns:a="http://schemas.openxmlformats.org/drawingml/2006/main">
            <a:r>
              <a:t>Vista / Qué permite revisar</a:t>
            </a:r>
          </a:p>
          <a:p xmlns:a="http://schemas.openxmlformats.org/drawingml/2006/main">
            <a:r>
              <a:t>Lateral / Posición longitudinal y orientación</a:t>
            </a:r>
          </a:p>
          <a:p xmlns:a="http://schemas.openxmlformats.org/drawingml/2006/main">
            <a:r>
              <a:t>Posterior / Cantidad y separación regular</a:t>
            </a:r>
          </a:p>
          <a:p xmlns:a="http://schemas.openxmlformats.org/drawingml/2006/main">
            <a:r>
              <a:t>Detalle de raíz / Presentación de la unión</a:t>
            </a:r>
          </a:p>
          <a:p xmlns:a="http://schemas.openxmlformats.org/drawingml/2006/main">
            <a:r>
              <a:t>Con plantilla / Coincidencia de contornos</a:t>
            </a:r>
          </a:p>
          <a:p xmlns:a="http://schemas.openxmlformats.org/drawingml/2006/main">
            <a:r>
              <a:t>Comparar dos filas y justificar con la misión.</a:t>
            </a:r>
          </a:p>
          <a:p xmlns:a="http://schemas.openxmlformats.org/drawingml/2006/main">
            <a:r>
              <a:t/>
            </a:r>
          </a:p>
          <a:p xmlns:a="http://schemas.openxmlformats.org/drawingml/2006/main">
            <a:r>
              <a:t>Resultado: Comparar contornos de aletas y preparar piezas repetibles con un útil de alineación.</a:t>
            </a:r>
          </a:p>
          <a:p xmlns:a="http://schemas.openxmlformats.org/drawingml/2006/main">
            <a:r>
              <a:t>Misión: Aprender a fabricar superficies estabilizadoras que el equipo pueda colocar y revisar.</a:t>
            </a:r>
          </a:p>
          <a:p xmlns:a="http://schemas.openxmlformats.org/drawingml/2006/main">
            <a:r>
              <a:t>Entrega: Plano, dos versiones .ork, plantilla y propuesta de útil.</a:t>
            </a:r>
          </a:p>
          <a:p xmlns:a="http://schemas.openxmlformats.org/drawingml/2006/main">
            <a:r>
              <a:t/>
            </a:r>
          </a:p>
          <a:p xmlns:a="http://schemas.openxmlformats.org/drawingml/2006/main">
            <a:r>
              <a:t>Preguntas y respuestas</a:t>
            </a:r>
          </a:p>
          <a:p xmlns:a="http://schemas.openxmlformats.org/drawingml/2006/main">
            <a:r>
              <a:t>¿Tres aletas se separan 90°?</a:t>
            </a:r>
          </a:p>
          <a:p xmlns:a="http://schemas.openxmlformats.org/drawingml/2006/main">
            <a:r>
              <a:t>No. Si están equiespaciadas, 360/3 = 120°.</a:t>
            </a:r>
          </a:p>
          <a:p xmlns:a="http://schemas.openxmlformats.org/drawingml/2006/main">
            <a:r>
              <a:t/>
            </a:r>
          </a:p>
          <a:p xmlns:a="http://schemas.openxmlformats.org/drawingml/2006/main">
            <a:r>
              <a:t>¿Comparar siluetas prueba cuál vuela mejor?</a:t>
            </a:r>
          </a:p>
          <a:p xmlns:a="http://schemas.openxmlformats.org/drawingml/2006/main">
            <a:r>
              <a:t>No. También importan medidas, posición, masa y conjunto.</a:t>
            </a:r>
          </a:p>
          <a:p xmlns:a="http://schemas.openxmlformats.org/drawingml/2006/main">
            <a:r>
              <a:t/>
            </a:r>
          </a:p>
          <a:p xmlns:a="http://schemas.openxmlformats.org/drawingml/2006/main">
            <a:r>
              <a:t>¿Qué resuelve el útil?</a:t>
            </a:r>
          </a:p>
          <a:p xmlns:a="http://schemas.openxmlformats.org/drawingml/2006/main">
            <a:r>
              <a:t>Ayuda a conservar la posición y orientación durante el montaje.</a:t>
            </a:r>
          </a:p>
          <a:p xmlns:a="http://schemas.openxmlformats.org/drawingml/2006/main">
            <a:r>
              <a:t/>
            </a:r>
          </a:p>
          <a:p xmlns:a="http://schemas.openxmlformats.org/drawingml/2006/main">
            <a:r>
              <a:t>Fuentes</a:t>
            </a:r>
          </a:p>
          <a:p xmlns:a="http://schemas.openxmlformats.org/drawingml/2006/main">
            <a:r>
              <a:t>Richard Nakka. Fins for Rocket Stability. https://www.nakka-rocketry.net/fins.html</a:t>
            </a:r>
          </a:p>
          <a:p xmlns:a="http://schemas.openxmlformats.org/drawingml/2006/main">
            <a:r>
              <a:t>OpenRocket. Basic Rocket Design. https://openrocket.readthedocs.io/en/latest/user_guide/basic_rocket_design.html</a:t>
            </a:r>
          </a:p>
          <a:p xmlns:a="http://schemas.openxmlformats.org/drawingml/2006/main">
            <a:r>
              <a:t>OpenRocket. Body Components Basics. https://wiki.openrocket.info/Body_Components_Basics</a:t>
            </a:r>
          </a:p>
          <a:p xmlns:a="http://schemas.openxmlformats.org/drawingml/2006/main">
            <a:r>
              <a:t>Prusa Research. Modeling with 3D printing in mind. https://help.prusa3d.com/article/modeling-with-3d-printing-in-mind_164135</a:t>
            </a:r>
          </a:p>
          <a:p xmlns:a="http://schemas.openxmlformats.org/drawingml/2006/main">
            <a:r>
              <a:t>Lectura: MECRO_Coheteria_Clase_04.pdf.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Aletas: forma, posición y alineación.</a:t>
            </a:r>
          </a:p>
          <a:p xmlns:a="http://schemas.openxmlformats.org/drawingml/2006/main">
            <a:r>
              <a:t>En línea, 2 h. Tramo del núcleo: 5 min.</a:t>
            </a:r>
          </a:p>
          <a:p xmlns:a="http://schemas.openxmlformats.org/drawingml/2006/main">
            <a:r>
              <a:t/>
            </a:r>
          </a:p>
          <a:p xmlns:a="http://schemas.openxmlformats.org/drawingml/2006/main">
            <a:r>
              <a:t>Dibuja el contorno con las cotas que se conservarán en el archivo de OpenRocket. Identifica raíz y cara de referencia.</a:t>
            </a:r>
          </a:p>
          <a:p xmlns:a="http://schemas.openxmlformats.org/drawingml/2006/main">
            <a:r>
              <a:t>Comprueba las piezas una sobre otra o con la plantilla, sin forzar ni dar por iguales medidas que no se han tomado.</a:t>
            </a:r>
          </a:p>
          <a:p xmlns:a="http://schemas.openxmlformats.org/drawingml/2006/main">
            <a:r>
              <a:t>Presenta el útil sobre el tubo real y observa si altera su forma.</a:t>
            </a:r>
          </a:p>
          <a:p xmlns:a="http://schemas.openxmlformats.org/drawingml/2006/main">
            <a:r>
              <a:t>Revisa posición de las raíces, separación angular y dirección de las piezas sin pegarlas.</a:t>
            </a:r>
          </a:p>
          <a:p xmlns:a="http://schemas.openxmlformats.org/drawingml/2006/main">
            <a:r>
              <a:t>Anota una corrección del útil o de la pieza. El docente aprueba el proceso de unión correspondiente al material.</a:t>
            </a:r>
          </a:p>
          <a:p xmlns:a="http://schemas.openxmlformats.org/drawingml/2006/main">
            <a:r>
              <a:t>Comprobar un paso en el objeto o programa antes de continuar.</a:t>
            </a:r>
          </a:p>
          <a:p xmlns:a="http://schemas.openxmlformats.org/drawingml/2006/main">
            <a:r>
              <a:t/>
            </a:r>
          </a:p>
          <a:p xmlns:a="http://schemas.openxmlformats.org/drawingml/2006/main">
            <a:r>
              <a:t>Resultado: Comparar contornos de aletas y preparar piezas repetibles con un útil de alineación.</a:t>
            </a:r>
          </a:p>
          <a:p xmlns:a="http://schemas.openxmlformats.org/drawingml/2006/main">
            <a:r>
              <a:t>Misión: Aprender a fabricar superficies estabilizadoras que el equipo pueda colocar y revisar.</a:t>
            </a:r>
          </a:p>
          <a:p xmlns:a="http://schemas.openxmlformats.org/drawingml/2006/main">
            <a:r>
              <a:t>Entrega: Plano, dos versiones .ork, plantilla y propuesta de útil.</a:t>
            </a:r>
          </a:p>
          <a:p xmlns:a="http://schemas.openxmlformats.org/drawingml/2006/main">
            <a:r>
              <a:t/>
            </a:r>
          </a:p>
          <a:p xmlns:a="http://schemas.openxmlformats.org/drawingml/2006/main">
            <a:r>
              <a:t>Preguntas y respuestas</a:t>
            </a:r>
          </a:p>
          <a:p xmlns:a="http://schemas.openxmlformats.org/drawingml/2006/main">
            <a:r>
              <a:t>¿Tres aletas se separan 90°?</a:t>
            </a:r>
          </a:p>
          <a:p xmlns:a="http://schemas.openxmlformats.org/drawingml/2006/main">
            <a:r>
              <a:t>No. Si están equiespaciadas, 360/3 = 120°.</a:t>
            </a:r>
          </a:p>
          <a:p xmlns:a="http://schemas.openxmlformats.org/drawingml/2006/main">
            <a:r>
              <a:t/>
            </a:r>
          </a:p>
          <a:p xmlns:a="http://schemas.openxmlformats.org/drawingml/2006/main">
            <a:r>
              <a:t>¿Comparar siluetas prueba cuál vuela mejor?</a:t>
            </a:r>
          </a:p>
          <a:p xmlns:a="http://schemas.openxmlformats.org/drawingml/2006/main">
            <a:r>
              <a:t>No. También importan medidas, posición, masa y conjunto.</a:t>
            </a:r>
          </a:p>
          <a:p xmlns:a="http://schemas.openxmlformats.org/drawingml/2006/main">
            <a:r>
              <a:t/>
            </a:r>
          </a:p>
          <a:p xmlns:a="http://schemas.openxmlformats.org/drawingml/2006/main">
            <a:r>
              <a:t>¿Qué resuelve el útil?</a:t>
            </a:r>
          </a:p>
          <a:p xmlns:a="http://schemas.openxmlformats.org/drawingml/2006/main">
            <a:r>
              <a:t>Ayuda a conservar la posición y orientación durante el montaje.</a:t>
            </a:r>
          </a:p>
          <a:p xmlns:a="http://schemas.openxmlformats.org/drawingml/2006/main">
            <a:r>
              <a:t/>
            </a:r>
          </a:p>
          <a:p xmlns:a="http://schemas.openxmlformats.org/drawingml/2006/main">
            <a:r>
              <a:t>Fuentes</a:t>
            </a:r>
          </a:p>
          <a:p xmlns:a="http://schemas.openxmlformats.org/drawingml/2006/main">
            <a:r>
              <a:t>Richard Nakka. Fins for Rocket Stability. https://www.nakka-rocketry.net/fins.html</a:t>
            </a:r>
          </a:p>
          <a:p xmlns:a="http://schemas.openxmlformats.org/drawingml/2006/main">
            <a:r>
              <a:t>OpenRocket. Basic Rocket Design. https://openrocket.readthedocs.io/en/latest/user_guide/basic_rocket_design.html</a:t>
            </a:r>
          </a:p>
          <a:p xmlns:a="http://schemas.openxmlformats.org/drawingml/2006/main">
            <a:r>
              <a:t>OpenRocket. Body Components Basics. https://wiki.openrocket.info/Body_Components_Basics</a:t>
            </a:r>
          </a:p>
          <a:p xmlns:a="http://schemas.openxmlformats.org/drawingml/2006/main">
            <a:r>
              <a:t>Prusa Research. Modeling with 3D printing in mind. https://help.prusa3d.com/article/modeling-with-3d-printing-in-mind_164135</a:t>
            </a:r>
          </a:p>
          <a:p xmlns:a="http://schemas.openxmlformats.org/drawingml/2006/main">
            <a:r>
              <a:t>Lectura: MECRO_Coheteria_Clase_04.pdf.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Aletas: forma, posición y alineación.</a:t>
            </a:r>
          </a:p>
          <a:p xmlns:a="http://schemas.openxmlformats.org/drawingml/2006/main">
            <a:r>
              <a:t>En línea, 2 h. Tramo del núcleo: 4 min.</a:t>
            </a:r>
          </a:p>
          <a:p xmlns:a="http://schemas.openxmlformats.org/drawingml/2006/main">
            <a:r>
              <a:t/>
            </a:r>
          </a:p>
          <a:p xmlns:a="http://schemas.openxmlformats.org/drawingml/2006/main">
            <a:r>
              <a:t>La conclusión del equipo debe distinguir geometría, fabricación y funcionamiento. “Elegimos tres trapecios porque los repetimos y alineamos con nuestro útil” es una decisión de fabricación. “El conjunto simulado cumple las condiciones revisadas por el docente” es otra afirmación y requiere el archivo completo. Todavía no se debe convertir una en la otra.</a:t>
            </a:r>
          </a:p>
          <a:p xmlns:a="http://schemas.openxmlformats.org/drawingml/2006/main">
            <a:r>
              <a:t/>
            </a:r>
          </a:p>
          <a:p xmlns:a="http://schemas.openxmlformats.org/drawingml/2006/main">
            <a:r>
              <a:t>El modelo usa tres aletas simétricas, pero la fotografía muestra una raíz más adelantada que las demás.</a:t>
            </a:r>
          </a:p>
          <a:p xmlns:a="http://schemas.openxmlformats.org/drawingml/2006/main">
            <a:r>
              <a:t/>
            </a:r>
          </a:p>
          <a:p xmlns:a="http://schemas.openxmlformats.org/drawingml/2006/main">
            <a:r>
              <a:t>Entrega la comparación de contornos, el plano de la alternativa elegida y el útil de alineación. Identifica qué se revisará físicamente en el taller 1. La fabricación deja de ser una lista de instrucciones cuando el equipo puede explicar cómo comprobó cada decisión.</a:t>
            </a:r>
          </a:p>
          <a:p xmlns:a="http://schemas.openxmlformats.org/drawingml/2006/main">
            <a:r>
              <a:t>Pregunta para el grupo: ¿Qué contorno puedes repetir mejor en este taller?</a:t>
            </a:r>
          </a:p>
          <a:p xmlns:a="http://schemas.openxmlformats.org/drawingml/2006/main">
            <a:r>
              <a:t/>
            </a:r>
          </a:p>
          <a:p xmlns:a="http://schemas.openxmlformats.org/drawingml/2006/main">
            <a:r>
              <a:t>Resultado: Comparar contornos de aletas y preparar piezas repetibles con un útil de alineación.</a:t>
            </a:r>
          </a:p>
          <a:p xmlns:a="http://schemas.openxmlformats.org/drawingml/2006/main">
            <a:r>
              <a:t>Misión: Aprender a fabricar superficies estabilizadoras que el equipo pueda colocar y revisar.</a:t>
            </a:r>
          </a:p>
          <a:p xmlns:a="http://schemas.openxmlformats.org/drawingml/2006/main">
            <a:r>
              <a:t>Entrega: Plano, dos versiones .ork, plantilla y propuesta de útil.</a:t>
            </a:r>
          </a:p>
          <a:p xmlns:a="http://schemas.openxmlformats.org/drawingml/2006/main">
            <a:r>
              <a:t/>
            </a:r>
          </a:p>
          <a:p xmlns:a="http://schemas.openxmlformats.org/drawingml/2006/main">
            <a:r>
              <a:t>Preguntas y respuestas</a:t>
            </a:r>
          </a:p>
          <a:p xmlns:a="http://schemas.openxmlformats.org/drawingml/2006/main">
            <a:r>
              <a:t>¿Tres aletas se separan 90°?</a:t>
            </a:r>
          </a:p>
          <a:p xmlns:a="http://schemas.openxmlformats.org/drawingml/2006/main">
            <a:r>
              <a:t>No. Si están equiespaciadas, 360/3 = 120°.</a:t>
            </a:r>
          </a:p>
          <a:p xmlns:a="http://schemas.openxmlformats.org/drawingml/2006/main">
            <a:r>
              <a:t/>
            </a:r>
          </a:p>
          <a:p xmlns:a="http://schemas.openxmlformats.org/drawingml/2006/main">
            <a:r>
              <a:t>¿Comparar siluetas prueba cuál vuela mejor?</a:t>
            </a:r>
          </a:p>
          <a:p xmlns:a="http://schemas.openxmlformats.org/drawingml/2006/main">
            <a:r>
              <a:t>No. También importan medidas, posición, masa y conjunto.</a:t>
            </a:r>
          </a:p>
          <a:p xmlns:a="http://schemas.openxmlformats.org/drawingml/2006/main">
            <a:r>
              <a:t/>
            </a:r>
          </a:p>
          <a:p xmlns:a="http://schemas.openxmlformats.org/drawingml/2006/main">
            <a:r>
              <a:t>¿Qué resuelve el útil?</a:t>
            </a:r>
          </a:p>
          <a:p xmlns:a="http://schemas.openxmlformats.org/drawingml/2006/main">
            <a:r>
              <a:t>Ayuda a conservar la posición y orientación durante el montaje.</a:t>
            </a:r>
          </a:p>
          <a:p xmlns:a="http://schemas.openxmlformats.org/drawingml/2006/main">
            <a:r>
              <a:t/>
            </a:r>
          </a:p>
          <a:p xmlns:a="http://schemas.openxmlformats.org/drawingml/2006/main">
            <a:r>
              <a:t>Fuentes</a:t>
            </a:r>
          </a:p>
          <a:p xmlns:a="http://schemas.openxmlformats.org/drawingml/2006/main">
            <a:r>
              <a:t>Richard Nakka. Fins for Rocket Stability. https://www.nakka-rocketry.net/fins.html</a:t>
            </a:r>
          </a:p>
          <a:p xmlns:a="http://schemas.openxmlformats.org/drawingml/2006/main">
            <a:r>
              <a:t>OpenRocket. Basic Rocket Design. https://openrocket.readthedocs.io/en/latest/user_guide/basic_rocket_design.html</a:t>
            </a:r>
          </a:p>
          <a:p xmlns:a="http://schemas.openxmlformats.org/drawingml/2006/main">
            <a:r>
              <a:t>OpenRocket. Body Components Basics. https://wiki.openrocket.info/Body_Components_Basics</a:t>
            </a:r>
          </a:p>
          <a:p xmlns:a="http://schemas.openxmlformats.org/drawingml/2006/main">
            <a:r>
              <a:t>Prusa Research. Modeling with 3D printing in mind. https://help.prusa3d.com/article/modeling-with-3d-printing-in-mind_164135</a:t>
            </a:r>
          </a:p>
          <a:p xmlns:a="http://schemas.openxmlformats.org/drawingml/2006/main">
            <a:r>
              <a:t>Lectura: MECRO_Coheteria_Clase_04.pdf.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Aletas: forma, posición y alineación.</a:t>
            </a:r>
          </a:p>
          <a:p xmlns:a="http://schemas.openxmlformats.org/drawingml/2006/main">
            <a:r>
              <a:t>En línea, 2 h. Tramo del núcleo: 4 min.</a:t>
            </a:r>
          </a:p>
          <a:p xmlns:a="http://schemas.openxmlformats.org/drawingml/2006/main">
            <a:r>
              <a:t/>
            </a:r>
          </a:p>
          <a:p xmlns:a="http://schemas.openxmlformats.org/drawingml/2006/main">
            <a:r>
              <a:t>Misión / Criterio principal / Comprobación</a:t>
            </a:r>
          </a:p>
          <a:p xmlns:a="http://schemas.openxmlformats.org/drawingml/2006/main">
            <a:r>
              <a:t>Primer montaje / Piezas repetibles / Plantilla y útil</a:t>
            </a:r>
          </a:p>
          <a:p xmlns:a="http://schemas.openxmlformats.org/drawingml/2006/main">
            <a:r>
              <a:t>Reutilización / Reparación y protección de bordes / Revisión tras montaje y uso</a:t>
            </a:r>
          </a:p>
          <a:p xmlns:a="http://schemas.openxmlformats.org/drawingml/2006/main">
            <a:r>
              <a:t>Carga docente / Compatibilidad con masa y configuración / Modelo completo y revisión del responsable</a:t>
            </a:r>
          </a:p>
          <a:p xmlns:a="http://schemas.openxmlformats.org/drawingml/2006/main">
            <a:r>
              <a:t>Comparar dos filas y justificar con la misión.</a:t>
            </a:r>
          </a:p>
          <a:p xmlns:a="http://schemas.openxmlformats.org/drawingml/2006/main">
            <a:r>
              <a:t/>
            </a:r>
          </a:p>
          <a:p xmlns:a="http://schemas.openxmlformats.org/drawingml/2006/main">
            <a:r>
              <a:t>Resultado: Comparar contornos de aletas y preparar piezas repetibles con un útil de alineación.</a:t>
            </a:r>
          </a:p>
          <a:p xmlns:a="http://schemas.openxmlformats.org/drawingml/2006/main">
            <a:r>
              <a:t>Misión: Aprender a fabricar superficies estabilizadoras que el equipo pueda colocar y revisar.</a:t>
            </a:r>
          </a:p>
          <a:p xmlns:a="http://schemas.openxmlformats.org/drawingml/2006/main">
            <a:r>
              <a:t>Entrega: Plano, dos versiones .ork, plantilla y propuesta de útil.</a:t>
            </a:r>
          </a:p>
          <a:p xmlns:a="http://schemas.openxmlformats.org/drawingml/2006/main">
            <a:r>
              <a:t/>
            </a:r>
          </a:p>
          <a:p xmlns:a="http://schemas.openxmlformats.org/drawingml/2006/main">
            <a:r>
              <a:t>Preguntas y respuestas</a:t>
            </a:r>
          </a:p>
          <a:p xmlns:a="http://schemas.openxmlformats.org/drawingml/2006/main">
            <a:r>
              <a:t>¿Tres aletas se separan 90°?</a:t>
            </a:r>
          </a:p>
          <a:p xmlns:a="http://schemas.openxmlformats.org/drawingml/2006/main">
            <a:r>
              <a:t>No. Si están equiespaciadas, 360/3 = 120°.</a:t>
            </a:r>
          </a:p>
          <a:p xmlns:a="http://schemas.openxmlformats.org/drawingml/2006/main">
            <a:r>
              <a:t/>
            </a:r>
          </a:p>
          <a:p xmlns:a="http://schemas.openxmlformats.org/drawingml/2006/main">
            <a:r>
              <a:t>¿Comparar siluetas prueba cuál vuela mejor?</a:t>
            </a:r>
          </a:p>
          <a:p xmlns:a="http://schemas.openxmlformats.org/drawingml/2006/main">
            <a:r>
              <a:t>No. También importan medidas, posición, masa y conjunto.</a:t>
            </a:r>
          </a:p>
          <a:p xmlns:a="http://schemas.openxmlformats.org/drawingml/2006/main">
            <a:r>
              <a:t/>
            </a:r>
          </a:p>
          <a:p xmlns:a="http://schemas.openxmlformats.org/drawingml/2006/main">
            <a:r>
              <a:t>¿Qué resuelve el útil?</a:t>
            </a:r>
          </a:p>
          <a:p xmlns:a="http://schemas.openxmlformats.org/drawingml/2006/main">
            <a:r>
              <a:t>Ayuda a conservar la posición y orientación durante el montaje.</a:t>
            </a:r>
          </a:p>
          <a:p xmlns:a="http://schemas.openxmlformats.org/drawingml/2006/main">
            <a:r>
              <a:t/>
            </a:r>
          </a:p>
          <a:p xmlns:a="http://schemas.openxmlformats.org/drawingml/2006/main">
            <a:r>
              <a:t>Fuentes</a:t>
            </a:r>
          </a:p>
          <a:p xmlns:a="http://schemas.openxmlformats.org/drawingml/2006/main">
            <a:r>
              <a:t>Richard Nakka. Fins for Rocket Stability. https://www.nakka-rocketry.net/fins.html</a:t>
            </a:r>
          </a:p>
          <a:p xmlns:a="http://schemas.openxmlformats.org/drawingml/2006/main">
            <a:r>
              <a:t>OpenRocket. Basic Rocket Design. https://openrocket.readthedocs.io/en/latest/user_guide/basic_rocket_design.html</a:t>
            </a:r>
          </a:p>
          <a:p xmlns:a="http://schemas.openxmlformats.org/drawingml/2006/main">
            <a:r>
              <a:t>OpenRocket. Body Components Basics. https://wiki.openrocket.info/Body_Components_Basics</a:t>
            </a:r>
          </a:p>
          <a:p xmlns:a="http://schemas.openxmlformats.org/drawingml/2006/main">
            <a:r>
              <a:t>Prusa Research. Modeling with 3D printing in mind. https://help.prusa3d.com/article/modeling-with-3d-printing-in-mind_164135</a:t>
            </a:r>
          </a:p>
          <a:p xmlns:a="http://schemas.openxmlformats.org/drawingml/2006/main">
            <a:r>
              <a:t>Lectura: MECRO_Coheteria_Clase_04.pdf.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Aletas: forma, posición y alineación.</a:t>
            </a:r>
          </a:p>
          <a:p xmlns:a="http://schemas.openxmlformats.org/drawingml/2006/main">
            <a:r>
              <a:t>En línea, 2 h. Tramo del núcleo: 5 min.</a:t>
            </a:r>
          </a:p>
          <a:p xmlns:a="http://schemas.openxmlformats.org/drawingml/2006/main">
            <a:r>
              <a:t/>
            </a:r>
          </a:p>
          <a:p xmlns:a="http://schemas.openxmlformats.org/drawingml/2006/main">
            <a:r>
              <a:t>Caso</a:t>
            </a:r>
          </a:p>
          <a:p xmlns:a="http://schemas.openxmlformats.org/drawingml/2006/main">
            <a:r>
              <a:t>El modelo usa tres aletas simétricas, pero la fotografía muestra una raíz más adelantada que las demás.</a:t>
            </a:r>
          </a:p>
          <a:p xmlns:a="http://schemas.openxmlformats.org/drawingml/2006/main">
            <a:r>
              <a:t>Explicación</a:t>
            </a:r>
          </a:p>
          <a:p xmlns:a="http://schemas.openxmlformats.org/drawingml/2006/main">
            <a:r>
              <a:t>Primero corrige o representa la fabricación real. No cambies un coeficiente del programa para ocultar la diferencia. El archivo y el objeto deben describir el mismo conjunto.</a:t>
            </a:r>
          </a:p>
          <a:p xmlns:a="http://schemas.openxmlformats.org/drawingml/2006/main">
            <a:r>
              <a:t>Dar tiempo para responder antes de presentar la solución oralmente.</a:t>
            </a:r>
          </a:p>
          <a:p xmlns:a="http://schemas.openxmlformats.org/drawingml/2006/main">
            <a:r>
              <a:t/>
            </a:r>
          </a:p>
          <a:p xmlns:a="http://schemas.openxmlformats.org/drawingml/2006/main">
            <a:r>
              <a:t>Resultado: Comparar contornos de aletas y preparar piezas repetibles con un útil de alineación.</a:t>
            </a:r>
          </a:p>
          <a:p xmlns:a="http://schemas.openxmlformats.org/drawingml/2006/main">
            <a:r>
              <a:t>Misión: Aprender a fabricar superficies estabilizadoras que el equipo pueda colocar y revisar.</a:t>
            </a:r>
          </a:p>
          <a:p xmlns:a="http://schemas.openxmlformats.org/drawingml/2006/main">
            <a:r>
              <a:t>Entrega: Plano, dos versiones .ork, plantilla y propuesta de útil.</a:t>
            </a:r>
          </a:p>
          <a:p xmlns:a="http://schemas.openxmlformats.org/drawingml/2006/main">
            <a:r>
              <a:t/>
            </a:r>
          </a:p>
          <a:p xmlns:a="http://schemas.openxmlformats.org/drawingml/2006/main">
            <a:r>
              <a:t>Preguntas y respuestas</a:t>
            </a:r>
          </a:p>
          <a:p xmlns:a="http://schemas.openxmlformats.org/drawingml/2006/main">
            <a:r>
              <a:t>¿Tres aletas se separan 90°?</a:t>
            </a:r>
          </a:p>
          <a:p xmlns:a="http://schemas.openxmlformats.org/drawingml/2006/main">
            <a:r>
              <a:t>No. Si están equiespaciadas, 360/3 = 120°.</a:t>
            </a:r>
          </a:p>
          <a:p xmlns:a="http://schemas.openxmlformats.org/drawingml/2006/main">
            <a:r>
              <a:t/>
            </a:r>
          </a:p>
          <a:p xmlns:a="http://schemas.openxmlformats.org/drawingml/2006/main">
            <a:r>
              <a:t>¿Comparar siluetas prueba cuál vuela mejor?</a:t>
            </a:r>
          </a:p>
          <a:p xmlns:a="http://schemas.openxmlformats.org/drawingml/2006/main">
            <a:r>
              <a:t>No. También importan medidas, posición, masa y conjunto.</a:t>
            </a:r>
          </a:p>
          <a:p xmlns:a="http://schemas.openxmlformats.org/drawingml/2006/main">
            <a:r>
              <a:t/>
            </a:r>
          </a:p>
          <a:p xmlns:a="http://schemas.openxmlformats.org/drawingml/2006/main">
            <a:r>
              <a:t>¿Qué resuelve el útil?</a:t>
            </a:r>
          </a:p>
          <a:p xmlns:a="http://schemas.openxmlformats.org/drawingml/2006/main">
            <a:r>
              <a:t>Ayuda a conservar la posición y orientación durante el montaje.</a:t>
            </a:r>
          </a:p>
          <a:p xmlns:a="http://schemas.openxmlformats.org/drawingml/2006/main">
            <a:r>
              <a:t/>
            </a:r>
          </a:p>
          <a:p xmlns:a="http://schemas.openxmlformats.org/drawingml/2006/main">
            <a:r>
              <a:t>Fuentes</a:t>
            </a:r>
          </a:p>
          <a:p xmlns:a="http://schemas.openxmlformats.org/drawingml/2006/main">
            <a:r>
              <a:t>Richard Nakka. Fins for Rocket Stability. https://www.nakka-rocketry.net/fins.html</a:t>
            </a:r>
          </a:p>
          <a:p xmlns:a="http://schemas.openxmlformats.org/drawingml/2006/main">
            <a:r>
              <a:t>OpenRocket. Basic Rocket Design. https://openrocket.readthedocs.io/en/latest/user_guide/basic_rocket_design.html</a:t>
            </a:r>
          </a:p>
          <a:p xmlns:a="http://schemas.openxmlformats.org/drawingml/2006/main">
            <a:r>
              <a:t>OpenRocket. Body Components Basics. https://wiki.openrocket.info/Body_Components_Basics</a:t>
            </a:r>
          </a:p>
          <a:p xmlns:a="http://schemas.openxmlformats.org/drawingml/2006/main">
            <a:r>
              <a:t>Prusa Research. Modeling with 3D printing in mind. https://help.prusa3d.com/article/modeling-with-3d-printing-in-mind_164135</a:t>
            </a:r>
          </a:p>
          <a:p xmlns:a="http://schemas.openxmlformats.org/drawingml/2006/main">
            <a:r>
              <a:t>Lectura: MECRO_Coheteria_Clase_04.pdf.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Aletas: forma, posición y alineación.</a:t>
            </a:r>
          </a:p>
          <a:p xmlns:a="http://schemas.openxmlformats.org/drawingml/2006/main">
            <a:r>
              <a:t>En línea, 2 h. Tramo del núcleo: 12 min.</a:t>
            </a:r>
          </a:p>
          <a:p xmlns:a="http://schemas.openxmlformats.org/drawingml/2006/main">
            <a:r>
              <a:t/>
            </a:r>
          </a:p>
          <a:p xmlns:a="http://schemas.openxmlformats.org/drawingml/2006/main">
            <a:r>
              <a:t>Identificar y medir las partes de una aleta.</a:t>
            </a:r>
          </a:p>
          <a:p xmlns:a="http://schemas.openxmlformats.org/drawingml/2006/main">
            <a:r>
              <a:t>Crear dos alternativas conservando las condiciones de comparación.</a:t>
            </a:r>
          </a:p>
          <a:p xmlns:a="http://schemas.openxmlformats.org/drawingml/2006/main">
            <a:r>
              <a:t>Dibujar una plantilla y un útil compatible con el tubo.</a:t>
            </a:r>
          </a:p>
          <a:p xmlns:a="http://schemas.openxmlformats.org/drawingml/2006/main">
            <a:r>
              <a:t>Preparar las vistas necesarias para revisar alineación.</a:t>
            </a:r>
          </a:p>
          <a:p xmlns:a="http://schemas.openxmlformats.org/drawingml/2006/main">
            <a:r>
              <a:t>Rotar los roles y conservar al menos una evidencia revisable.</a:t>
            </a:r>
          </a:p>
          <a:p xmlns:a="http://schemas.openxmlformats.org/drawingml/2006/main">
            <a:r>
              <a:t/>
            </a:r>
          </a:p>
          <a:p xmlns:a="http://schemas.openxmlformats.org/drawingml/2006/main">
            <a:r>
              <a:t>Resultado: Comparar contornos de aletas y preparar piezas repetibles con un útil de alineación.</a:t>
            </a:r>
          </a:p>
          <a:p xmlns:a="http://schemas.openxmlformats.org/drawingml/2006/main">
            <a:r>
              <a:t>Misión: Aprender a fabricar superficies estabilizadoras que el equipo pueda colocar y revisar.</a:t>
            </a:r>
          </a:p>
          <a:p xmlns:a="http://schemas.openxmlformats.org/drawingml/2006/main">
            <a:r>
              <a:t>Entrega: Plano, dos versiones .ork, plantilla y propuesta de útil.</a:t>
            </a:r>
          </a:p>
          <a:p xmlns:a="http://schemas.openxmlformats.org/drawingml/2006/main">
            <a:r>
              <a:t/>
            </a:r>
          </a:p>
          <a:p xmlns:a="http://schemas.openxmlformats.org/drawingml/2006/main">
            <a:r>
              <a:t>Preguntas y respuestas</a:t>
            </a:r>
          </a:p>
          <a:p xmlns:a="http://schemas.openxmlformats.org/drawingml/2006/main">
            <a:r>
              <a:t>¿Tres aletas se separan 90°?</a:t>
            </a:r>
          </a:p>
          <a:p xmlns:a="http://schemas.openxmlformats.org/drawingml/2006/main">
            <a:r>
              <a:t>No. Si están equiespaciadas, 360/3 = 120°.</a:t>
            </a:r>
          </a:p>
          <a:p xmlns:a="http://schemas.openxmlformats.org/drawingml/2006/main">
            <a:r>
              <a:t/>
            </a:r>
          </a:p>
          <a:p xmlns:a="http://schemas.openxmlformats.org/drawingml/2006/main">
            <a:r>
              <a:t>¿Comparar siluetas prueba cuál vuela mejor?</a:t>
            </a:r>
          </a:p>
          <a:p xmlns:a="http://schemas.openxmlformats.org/drawingml/2006/main">
            <a:r>
              <a:t>No. También importan medidas, posición, masa y conjunto.</a:t>
            </a:r>
          </a:p>
          <a:p xmlns:a="http://schemas.openxmlformats.org/drawingml/2006/main">
            <a:r>
              <a:t/>
            </a:r>
          </a:p>
          <a:p xmlns:a="http://schemas.openxmlformats.org/drawingml/2006/main">
            <a:r>
              <a:t>¿Qué resuelve el útil?</a:t>
            </a:r>
          </a:p>
          <a:p xmlns:a="http://schemas.openxmlformats.org/drawingml/2006/main">
            <a:r>
              <a:t>Ayuda a conservar la posición y orientación durante el montaje.</a:t>
            </a:r>
          </a:p>
          <a:p xmlns:a="http://schemas.openxmlformats.org/drawingml/2006/main">
            <a:r>
              <a:t/>
            </a:r>
          </a:p>
          <a:p xmlns:a="http://schemas.openxmlformats.org/drawingml/2006/main">
            <a:r>
              <a:t>Fuentes</a:t>
            </a:r>
          </a:p>
          <a:p xmlns:a="http://schemas.openxmlformats.org/drawingml/2006/main">
            <a:r>
              <a:t>Richard Nakka. Fins for Rocket Stability. https://www.nakka-rocketry.net/fins.html</a:t>
            </a:r>
          </a:p>
          <a:p xmlns:a="http://schemas.openxmlformats.org/drawingml/2006/main">
            <a:r>
              <a:t>OpenRocket. Basic Rocket Design. https://openrocket.readthedocs.io/en/latest/user_guide/basic_rocket_design.html</a:t>
            </a:r>
          </a:p>
          <a:p xmlns:a="http://schemas.openxmlformats.org/drawingml/2006/main">
            <a:r>
              <a:t>OpenRocket. Body Components Basics. https://wiki.openrocket.info/Body_Components_Basics</a:t>
            </a:r>
          </a:p>
          <a:p xmlns:a="http://schemas.openxmlformats.org/drawingml/2006/main">
            <a:r>
              <a:t>Prusa Research. Modeling with 3D printing in mind. https://help.prusa3d.com/article/modeling-with-3d-printing-in-mind_164135</a:t>
            </a:r>
          </a:p>
          <a:p xmlns:a="http://schemas.openxmlformats.org/drawingml/2006/main">
            <a:r>
              <a:t>Lectura: MECRO_Coheteria_Clase_04.pdf.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Aletas: forma, posición y alineación.</a:t>
            </a:r>
          </a:p>
          <a:p xmlns:a="http://schemas.openxmlformats.org/drawingml/2006/main">
            <a:r>
              <a:t>En línea, 2 h. Tramo del núcleo: 10 min.</a:t>
            </a:r>
          </a:p>
          <a:p xmlns:a="http://schemas.openxmlformats.org/drawingml/2006/main">
            <a:r>
              <a:t/>
            </a:r>
          </a:p>
          <a:p xmlns:a="http://schemas.openxmlformats.org/drawingml/2006/main">
            <a:r>
              <a:t>Cada equipo prepara una decisión y una evidencia. No aceptar una preferencia sin relacionarla con la misión.</a:t>
            </a:r>
          </a:p>
          <a:p xmlns:a="http://schemas.openxmlformats.org/drawingml/2006/main">
            <a:r>
              <a:t>Plano, dos versiones .ork, plantilla y propuesta de útil.</a:t>
            </a:r>
          </a:p>
          <a:p xmlns:a="http://schemas.openxmlformats.org/drawingml/2006/main">
            <a:r>
              <a:t/>
            </a:r>
          </a:p>
          <a:p xmlns:a="http://schemas.openxmlformats.org/drawingml/2006/main">
            <a:r>
              <a:t>Resultado: Comparar contornos de aletas y preparar piezas repetibles con un útil de alineación.</a:t>
            </a:r>
          </a:p>
          <a:p xmlns:a="http://schemas.openxmlformats.org/drawingml/2006/main">
            <a:r>
              <a:t>Misión: Aprender a fabricar superficies estabilizadoras que el equipo pueda colocar y revisar.</a:t>
            </a:r>
          </a:p>
          <a:p xmlns:a="http://schemas.openxmlformats.org/drawingml/2006/main">
            <a:r>
              <a:t>Entrega: Plano, dos versiones .ork, plantilla y propuesta de útil.</a:t>
            </a:r>
          </a:p>
          <a:p xmlns:a="http://schemas.openxmlformats.org/drawingml/2006/main">
            <a:r>
              <a:t/>
            </a:r>
          </a:p>
          <a:p xmlns:a="http://schemas.openxmlformats.org/drawingml/2006/main">
            <a:r>
              <a:t>Preguntas y respuestas</a:t>
            </a:r>
          </a:p>
          <a:p xmlns:a="http://schemas.openxmlformats.org/drawingml/2006/main">
            <a:r>
              <a:t>¿Tres aletas se separan 90°?</a:t>
            </a:r>
          </a:p>
          <a:p xmlns:a="http://schemas.openxmlformats.org/drawingml/2006/main">
            <a:r>
              <a:t>No. Si están equiespaciadas, 360/3 = 120°.</a:t>
            </a:r>
          </a:p>
          <a:p xmlns:a="http://schemas.openxmlformats.org/drawingml/2006/main">
            <a:r>
              <a:t/>
            </a:r>
          </a:p>
          <a:p xmlns:a="http://schemas.openxmlformats.org/drawingml/2006/main">
            <a:r>
              <a:t>¿Comparar siluetas prueba cuál vuela mejor?</a:t>
            </a:r>
          </a:p>
          <a:p xmlns:a="http://schemas.openxmlformats.org/drawingml/2006/main">
            <a:r>
              <a:t>No. También importan medidas, posición, masa y conjunto.</a:t>
            </a:r>
          </a:p>
          <a:p xmlns:a="http://schemas.openxmlformats.org/drawingml/2006/main">
            <a:r>
              <a:t/>
            </a:r>
          </a:p>
          <a:p xmlns:a="http://schemas.openxmlformats.org/drawingml/2006/main">
            <a:r>
              <a:t>¿Qué resuelve el útil?</a:t>
            </a:r>
          </a:p>
          <a:p xmlns:a="http://schemas.openxmlformats.org/drawingml/2006/main">
            <a:r>
              <a:t>Ayuda a conservar la posición y orientación durante el montaje.</a:t>
            </a:r>
          </a:p>
          <a:p xmlns:a="http://schemas.openxmlformats.org/drawingml/2006/main">
            <a:r>
              <a:t/>
            </a:r>
          </a:p>
          <a:p xmlns:a="http://schemas.openxmlformats.org/drawingml/2006/main">
            <a:r>
              <a:t>Fuentes</a:t>
            </a:r>
          </a:p>
          <a:p xmlns:a="http://schemas.openxmlformats.org/drawingml/2006/main">
            <a:r>
              <a:t>Richard Nakka. Fins for Rocket Stability. https://www.nakka-rocketry.net/fins.html</a:t>
            </a:r>
          </a:p>
          <a:p xmlns:a="http://schemas.openxmlformats.org/drawingml/2006/main">
            <a:r>
              <a:t>OpenRocket. Basic Rocket Design. https://openrocket.readthedocs.io/en/latest/user_guide/basic_rocket_design.html</a:t>
            </a:r>
          </a:p>
          <a:p xmlns:a="http://schemas.openxmlformats.org/drawingml/2006/main">
            <a:r>
              <a:t>OpenRocket. Body Components Basics. https://wiki.openrocket.info/Body_Components_Basics</a:t>
            </a:r>
          </a:p>
          <a:p xmlns:a="http://schemas.openxmlformats.org/drawingml/2006/main">
            <a:r>
              <a:t>Prusa Research. Modeling with 3D printing in mind. https://help.prusa3d.com/article/modeling-with-3d-printing-in-mind_164135</a:t>
            </a:r>
          </a:p>
          <a:p xmlns:a="http://schemas.openxmlformats.org/drawingml/2006/main">
            <a:r>
              <a:t>Lectura: MECRO_Coheteria_Clase_04.pdf.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Aletas: forma, posición y alineación.</a:t>
            </a:r>
          </a:p>
          <a:p xmlns:a="http://schemas.openxmlformats.org/drawingml/2006/main">
            <a:r>
              <a:t>En línea, 2 h. Tramo del núcleo: 7 min.</a:t>
            </a:r>
          </a:p>
          <a:p xmlns:a="http://schemas.openxmlformats.org/drawingml/2006/main">
            <a:r>
              <a:t/>
            </a:r>
          </a:p>
          <a:p xmlns:a="http://schemas.openxmlformats.org/drawingml/2006/main">
            <a:r>
              <a:t>Primero respuesta individual, después discusión por equipos.</a:t>
            </a:r>
          </a:p>
          <a:p xmlns:a="http://schemas.openxmlformats.org/drawingml/2006/main">
            <a:r>
              <a:t>¿Tres aletas se separan 90°?</a:t>
            </a:r>
          </a:p>
          <a:p xmlns:a="http://schemas.openxmlformats.org/drawingml/2006/main">
            <a:r>
              <a:t>No. Si están equiespaciadas, 360/3 = 120°.</a:t>
            </a:r>
          </a:p>
          <a:p xmlns:a="http://schemas.openxmlformats.org/drawingml/2006/main">
            <a:r>
              <a:t/>
            </a:r>
          </a:p>
          <a:p xmlns:a="http://schemas.openxmlformats.org/drawingml/2006/main">
            <a:r>
              <a:t>¿Comparar siluetas prueba cuál vuela mejor?</a:t>
            </a:r>
          </a:p>
          <a:p xmlns:a="http://schemas.openxmlformats.org/drawingml/2006/main">
            <a:r>
              <a:t>No. También importan medidas, posición, masa y conjunto.</a:t>
            </a:r>
          </a:p>
          <a:p xmlns:a="http://schemas.openxmlformats.org/drawingml/2006/main">
            <a:r>
              <a:t/>
            </a:r>
          </a:p>
          <a:p xmlns:a="http://schemas.openxmlformats.org/drawingml/2006/main">
            <a:r>
              <a:t>¿Qué resuelve el útil?</a:t>
            </a:r>
          </a:p>
          <a:p xmlns:a="http://schemas.openxmlformats.org/drawingml/2006/main">
            <a:r>
              <a:t>Ayuda a conservar la posición y orientación durante el montaje.</a:t>
            </a:r>
          </a:p>
          <a:p xmlns:a="http://schemas.openxmlformats.org/drawingml/2006/main">
            <a:r>
              <a:t/>
            </a:r>
          </a:p>
          <a:p xmlns:a="http://schemas.openxmlformats.org/drawingml/2006/main">
            <a:r>
              <a:t>Resultado: Comparar contornos de aletas y preparar piezas repetibles con un útil de alineación.</a:t>
            </a:r>
          </a:p>
          <a:p xmlns:a="http://schemas.openxmlformats.org/drawingml/2006/main">
            <a:r>
              <a:t>Misión: Aprender a fabricar superficies estabilizadoras que el equipo pueda colocar y revisar.</a:t>
            </a:r>
          </a:p>
          <a:p xmlns:a="http://schemas.openxmlformats.org/drawingml/2006/main">
            <a:r>
              <a:t>Entrega: Plano, dos versiones .ork, plantilla y propuesta de útil.</a:t>
            </a:r>
          </a:p>
          <a:p xmlns:a="http://schemas.openxmlformats.org/drawingml/2006/main">
            <a:r>
              <a:t/>
            </a:r>
          </a:p>
          <a:p xmlns:a="http://schemas.openxmlformats.org/drawingml/2006/main">
            <a:r>
              <a:t>Preguntas y respuestas</a:t>
            </a:r>
          </a:p>
          <a:p xmlns:a="http://schemas.openxmlformats.org/drawingml/2006/main">
            <a:r>
              <a:t>¿Tres aletas se separan 90°?</a:t>
            </a:r>
          </a:p>
          <a:p xmlns:a="http://schemas.openxmlformats.org/drawingml/2006/main">
            <a:r>
              <a:t>No. Si están equiespaciadas, 360/3 = 120°.</a:t>
            </a:r>
          </a:p>
          <a:p xmlns:a="http://schemas.openxmlformats.org/drawingml/2006/main">
            <a:r>
              <a:t/>
            </a:r>
          </a:p>
          <a:p xmlns:a="http://schemas.openxmlformats.org/drawingml/2006/main">
            <a:r>
              <a:t>¿Comparar siluetas prueba cuál vuela mejor?</a:t>
            </a:r>
          </a:p>
          <a:p xmlns:a="http://schemas.openxmlformats.org/drawingml/2006/main">
            <a:r>
              <a:t>No. También importan medidas, posición, masa y conjunto.</a:t>
            </a:r>
          </a:p>
          <a:p xmlns:a="http://schemas.openxmlformats.org/drawingml/2006/main">
            <a:r>
              <a:t/>
            </a:r>
          </a:p>
          <a:p xmlns:a="http://schemas.openxmlformats.org/drawingml/2006/main">
            <a:r>
              <a:t>¿Qué resuelve el útil?</a:t>
            </a:r>
          </a:p>
          <a:p xmlns:a="http://schemas.openxmlformats.org/drawingml/2006/main">
            <a:r>
              <a:t>Ayuda a conservar la posición y orientación durante el montaje.</a:t>
            </a:r>
          </a:p>
          <a:p xmlns:a="http://schemas.openxmlformats.org/drawingml/2006/main">
            <a:r>
              <a:t/>
            </a:r>
          </a:p>
          <a:p xmlns:a="http://schemas.openxmlformats.org/drawingml/2006/main">
            <a:r>
              <a:t>Fuentes</a:t>
            </a:r>
          </a:p>
          <a:p xmlns:a="http://schemas.openxmlformats.org/drawingml/2006/main">
            <a:r>
              <a:t>Richard Nakka. Fins for Rocket Stability. https://www.nakka-rocketry.net/fins.html</a:t>
            </a:r>
          </a:p>
          <a:p xmlns:a="http://schemas.openxmlformats.org/drawingml/2006/main">
            <a:r>
              <a:t>OpenRocket. Basic Rocket Design. https://openrocket.readthedocs.io/en/latest/user_guide/basic_rocket_design.html</a:t>
            </a:r>
          </a:p>
          <a:p xmlns:a="http://schemas.openxmlformats.org/drawingml/2006/main">
            <a:r>
              <a:t>OpenRocket. Body Components Basics. https://wiki.openrocket.info/Body_Components_Basics</a:t>
            </a:r>
          </a:p>
          <a:p xmlns:a="http://schemas.openxmlformats.org/drawingml/2006/main">
            <a:r>
              <a:t>Prusa Research. Modeling with 3D printing in mind. https://help.prusa3d.com/article/modeling-with-3d-printing-in-mind_164135</a:t>
            </a:r>
          </a:p>
          <a:p xmlns:a="http://schemas.openxmlformats.org/drawingml/2006/main">
            <a:r>
              <a:t>Lectura: MECRO_Coheteria_Clase_04.pdf.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Aletas: forma, posición y alineación.</a:t>
            </a:r>
          </a:p>
          <a:p xmlns:a="http://schemas.openxmlformats.org/drawingml/2006/main">
            <a:r>
              <a:t>En línea, 2 h. Tramo del núcleo: 5 min.</a:t>
            </a:r>
          </a:p>
          <a:p xmlns:a="http://schemas.openxmlformats.org/drawingml/2006/main">
            <a:r>
              <a:t/>
            </a:r>
          </a:p>
          <a:p xmlns:a="http://schemas.openxmlformats.org/drawingml/2006/main">
            <a:r>
              <a:t>Pedir un ejemplo del objeto o del archivo para una de las respuestas.</a:t>
            </a:r>
          </a:p>
          <a:p xmlns:a="http://schemas.openxmlformats.org/drawingml/2006/main">
            <a:r>
              <a:t/>
            </a:r>
          </a:p>
          <a:p xmlns:a="http://schemas.openxmlformats.org/drawingml/2006/main">
            <a:r>
              <a:t>Resultado: Comparar contornos de aletas y preparar piezas repetibles con un útil de alineación.</a:t>
            </a:r>
          </a:p>
          <a:p xmlns:a="http://schemas.openxmlformats.org/drawingml/2006/main">
            <a:r>
              <a:t>Misión: Aprender a fabricar superficies estabilizadoras que el equipo pueda colocar y revisar.</a:t>
            </a:r>
          </a:p>
          <a:p xmlns:a="http://schemas.openxmlformats.org/drawingml/2006/main">
            <a:r>
              <a:t>Entrega: Plano, dos versiones .ork, plantilla y propuesta de útil.</a:t>
            </a:r>
          </a:p>
          <a:p xmlns:a="http://schemas.openxmlformats.org/drawingml/2006/main">
            <a:r>
              <a:t/>
            </a:r>
          </a:p>
          <a:p xmlns:a="http://schemas.openxmlformats.org/drawingml/2006/main">
            <a:r>
              <a:t>Preguntas y respuestas</a:t>
            </a:r>
          </a:p>
          <a:p xmlns:a="http://schemas.openxmlformats.org/drawingml/2006/main">
            <a:r>
              <a:t>¿Tres aletas se separan 90°?</a:t>
            </a:r>
          </a:p>
          <a:p xmlns:a="http://schemas.openxmlformats.org/drawingml/2006/main">
            <a:r>
              <a:t>No. Si están equiespaciadas, 360/3 = 120°.</a:t>
            </a:r>
          </a:p>
          <a:p xmlns:a="http://schemas.openxmlformats.org/drawingml/2006/main">
            <a:r>
              <a:t/>
            </a:r>
          </a:p>
          <a:p xmlns:a="http://schemas.openxmlformats.org/drawingml/2006/main">
            <a:r>
              <a:t>¿Comparar siluetas prueba cuál vuela mejor?</a:t>
            </a:r>
          </a:p>
          <a:p xmlns:a="http://schemas.openxmlformats.org/drawingml/2006/main">
            <a:r>
              <a:t>No. También importan medidas, posición, masa y conjunto.</a:t>
            </a:r>
          </a:p>
          <a:p xmlns:a="http://schemas.openxmlformats.org/drawingml/2006/main">
            <a:r>
              <a:t/>
            </a:r>
          </a:p>
          <a:p xmlns:a="http://schemas.openxmlformats.org/drawingml/2006/main">
            <a:r>
              <a:t>¿Qué resuelve el útil?</a:t>
            </a:r>
          </a:p>
          <a:p xmlns:a="http://schemas.openxmlformats.org/drawingml/2006/main">
            <a:r>
              <a:t>Ayuda a conservar la posición y orientación durante el montaje.</a:t>
            </a:r>
          </a:p>
          <a:p xmlns:a="http://schemas.openxmlformats.org/drawingml/2006/main">
            <a:r>
              <a:t/>
            </a:r>
          </a:p>
          <a:p xmlns:a="http://schemas.openxmlformats.org/drawingml/2006/main">
            <a:r>
              <a:t>Fuentes</a:t>
            </a:r>
          </a:p>
          <a:p xmlns:a="http://schemas.openxmlformats.org/drawingml/2006/main">
            <a:r>
              <a:t>Richard Nakka. Fins for Rocket Stability. https://www.nakka-rocketry.net/fins.html</a:t>
            </a:r>
          </a:p>
          <a:p xmlns:a="http://schemas.openxmlformats.org/drawingml/2006/main">
            <a:r>
              <a:t>OpenRocket. Basic Rocket Design. https://openrocket.readthedocs.io/en/latest/user_guide/basic_rocket_design.html</a:t>
            </a:r>
          </a:p>
          <a:p xmlns:a="http://schemas.openxmlformats.org/drawingml/2006/main">
            <a:r>
              <a:t>OpenRocket. Body Components Basics. https://wiki.openrocket.info/Body_Components_Basics</a:t>
            </a:r>
          </a:p>
          <a:p xmlns:a="http://schemas.openxmlformats.org/drawingml/2006/main">
            <a:r>
              <a:t>Prusa Research. Modeling with 3D printing in mind. https://help.prusa3d.com/article/modeling-with-3d-printing-in-mind_164135</a:t>
            </a:r>
          </a:p>
          <a:p xmlns:a="http://schemas.openxmlformats.org/drawingml/2006/main">
            <a:r>
              <a:t>Lectura: MECRO_Coheteria_Clase_04.pdf.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4: Aletas: forma, posición y alineación.</a:t>
            </a:r>
          </a:p>
          <a:p xmlns:a="http://schemas.openxmlformats.org/drawingml/2006/main">
            <a:r>
              <a:t>En línea, 2 h. Tramo del núcleo: 5 min.</a:t>
            </a:r>
          </a:p>
          <a:p xmlns:a="http://schemas.openxmlformats.org/drawingml/2006/main">
            <a:r>
              <a:t/>
            </a:r>
          </a:p>
          <a:p xmlns:a="http://schemas.openxmlformats.org/drawingml/2006/main">
            <a:r>
              <a:t>Plano, dos versiones .ork, plantilla y propuesta de útil.</a:t>
            </a:r>
          </a:p>
          <a:p xmlns:a="http://schemas.openxmlformats.org/drawingml/2006/main">
            <a:r>
              <a:t>Las fuentes enlazadas de la lectura permiten ampliar la explicación sin exigir cálculo avanzado.</a:t>
            </a:r>
          </a:p>
          <a:p xmlns:a="http://schemas.openxmlformats.org/drawingml/2006/main">
            <a:r>
              <a:t/>
            </a:r>
          </a:p>
          <a:p xmlns:a="http://schemas.openxmlformats.org/drawingml/2006/main">
            <a:r>
              <a:t>Resultado: Comparar contornos de aletas y preparar piezas repetibles con un útil de alineación.</a:t>
            </a:r>
          </a:p>
          <a:p xmlns:a="http://schemas.openxmlformats.org/drawingml/2006/main">
            <a:r>
              <a:t>Misión: Aprender a fabricar superficies estabilizadoras que el equipo pueda colocar y revisar.</a:t>
            </a:r>
          </a:p>
          <a:p xmlns:a="http://schemas.openxmlformats.org/drawingml/2006/main">
            <a:r>
              <a:t>Entrega: Plano, dos versiones .ork, plantilla y propuesta de útil.</a:t>
            </a:r>
          </a:p>
          <a:p xmlns:a="http://schemas.openxmlformats.org/drawingml/2006/main">
            <a:r>
              <a:t/>
            </a:r>
          </a:p>
          <a:p xmlns:a="http://schemas.openxmlformats.org/drawingml/2006/main">
            <a:r>
              <a:t>Preguntas y respuestas</a:t>
            </a:r>
          </a:p>
          <a:p xmlns:a="http://schemas.openxmlformats.org/drawingml/2006/main">
            <a:r>
              <a:t>¿Tres aletas se separan 90°?</a:t>
            </a:r>
          </a:p>
          <a:p xmlns:a="http://schemas.openxmlformats.org/drawingml/2006/main">
            <a:r>
              <a:t>No. Si están equiespaciadas, 360/3 = 120°.</a:t>
            </a:r>
          </a:p>
          <a:p xmlns:a="http://schemas.openxmlformats.org/drawingml/2006/main">
            <a:r>
              <a:t/>
            </a:r>
          </a:p>
          <a:p xmlns:a="http://schemas.openxmlformats.org/drawingml/2006/main">
            <a:r>
              <a:t>¿Comparar siluetas prueba cuál vuela mejor?</a:t>
            </a:r>
          </a:p>
          <a:p xmlns:a="http://schemas.openxmlformats.org/drawingml/2006/main">
            <a:r>
              <a:t>No. También importan medidas, posición, masa y conjunto.</a:t>
            </a:r>
          </a:p>
          <a:p xmlns:a="http://schemas.openxmlformats.org/drawingml/2006/main">
            <a:r>
              <a:t/>
            </a:r>
          </a:p>
          <a:p xmlns:a="http://schemas.openxmlformats.org/drawingml/2006/main">
            <a:r>
              <a:t>¿Qué resuelve el útil?</a:t>
            </a:r>
          </a:p>
          <a:p xmlns:a="http://schemas.openxmlformats.org/drawingml/2006/main">
            <a:r>
              <a:t>Ayuda a conservar la posición y orientación durante el montaje.</a:t>
            </a:r>
          </a:p>
          <a:p xmlns:a="http://schemas.openxmlformats.org/drawingml/2006/main">
            <a:r>
              <a:t/>
            </a:r>
          </a:p>
          <a:p xmlns:a="http://schemas.openxmlformats.org/drawingml/2006/main">
            <a:r>
              <a:t>Fuentes</a:t>
            </a:r>
          </a:p>
          <a:p xmlns:a="http://schemas.openxmlformats.org/drawingml/2006/main">
            <a:r>
              <a:t>Richard Nakka. Fins for Rocket Stability. https://www.nakka-rocketry.net/fins.html</a:t>
            </a:r>
          </a:p>
          <a:p xmlns:a="http://schemas.openxmlformats.org/drawingml/2006/main">
            <a:r>
              <a:t>OpenRocket. Basic Rocket Design. https://openrocket.readthedocs.io/en/latest/user_guide/basic_rocket_design.html</a:t>
            </a:r>
          </a:p>
          <a:p xmlns:a="http://schemas.openxmlformats.org/drawingml/2006/main">
            <a:r>
              <a:t>OpenRocket. Body Components Basics. https://wiki.openrocket.info/Body_Components_Basics</a:t>
            </a:r>
          </a:p>
          <a:p xmlns:a="http://schemas.openxmlformats.org/drawingml/2006/main">
            <a:r>
              <a:t>Prusa Research. Modeling with 3D printing in mind. https://help.prusa3d.com/article/modeling-with-3d-printing-in-mind_164135</a:t>
            </a:r>
          </a:p>
          <a:p xmlns:a="http://schemas.openxmlformats.org/drawingml/2006/main">
            <a:r>
              <a:t>Lectura: MECRO_Coheteria_Clase_04.pdf.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d9802e01418488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b0eb35f339642a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4f8a78782604d2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8a0d8f5ff364d4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5cb110df28f46c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77d4405c6674a6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6DEE2FF-D443-4AB6-B19A-70B1E3C41E6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4774323-09B2-43C7-A193-2DE11D48A74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C1211F2-39D9-4AB8-A7C1-04B6E2C8FEA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706D986-F126-4D2F-A83F-212F47BD502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08E9A03-F315-49E0-A8EC-B8D8131A9A7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02F4355-794D-422E-A333-4172D412D8F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980B20A-B6AD-4F00-A19F-21961CFD547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BAAD43B-EF1D-4D67-BB23-9811841DE32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FEB9D3D-8872-471E-9127-BDAAB09305A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47D42F6-165E-4FE6-8D58-EB4C3A7226E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66e78a79bb04901" /><Relationship Type="http://schemas.openxmlformats.org/officeDocument/2006/relationships/slideLayout" Target="/ppt/slideLayouts/slideLayout1.xml" Id="R42c49554e54e4cc4" /><Relationship Type="http://schemas.openxmlformats.org/officeDocument/2006/relationships/slideLayout" Target="/ppt/slideLayouts/slideLayout2.xml" Id="Re458688587fc4944" /><Relationship Type="http://schemas.openxmlformats.org/officeDocument/2006/relationships/slideLayout" Target="/ppt/slideLayouts/slideLayout3.xml" Id="Ra8a4c7434d514180" /><Relationship Type="http://schemas.openxmlformats.org/officeDocument/2006/relationships/slideLayout" Target="/ppt/slideLayouts/slideLayout4.xml" Id="R1e97ff33690e478c" /><Relationship Type="http://schemas.openxmlformats.org/officeDocument/2006/relationships/slideLayout" Target="/ppt/slideLayouts/slideLayout5.xml" Id="Rf278520fe61142d9" /><Relationship Type="http://schemas.openxmlformats.org/officeDocument/2006/relationships/slideLayout" Target="/ppt/slideLayouts/slideLayout6.xml" Id="Re86ec3cc1fb34a0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2c49554e54e4cc4"/>
    <p:sldLayoutId xmlns:r="http://schemas.openxmlformats.org/officeDocument/2006/relationships" id="2147483650" r:id="Re458688587fc4944"/>
    <p:sldLayoutId xmlns:r="http://schemas.openxmlformats.org/officeDocument/2006/relationships" id="2147483651" r:id="Ra8a4c7434d514180"/>
    <p:sldLayoutId xmlns:r="http://schemas.openxmlformats.org/officeDocument/2006/relationships" id="2147483652" r:id="R1e97ff33690e478c"/>
    <p:sldLayoutId xmlns:r="http://schemas.openxmlformats.org/officeDocument/2006/relationships" id="2147483653" r:id="Rf278520fe61142d9"/>
    <p:sldLayoutId xmlns:r="http://schemas.openxmlformats.org/officeDocument/2006/relationships" id="2147483654" r:id="Re86ec3cc1fb34a0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de875843aba4551" /><Relationship Type="http://schemas.openxmlformats.org/officeDocument/2006/relationships/image" Target="/ppt/media/image.png" Id="R6f99b0a9a9384689" /><Relationship Type="http://schemas.openxmlformats.org/officeDocument/2006/relationships/notesSlide" Target="/ppt/notesSlides/notesSlide1.xml" Id="R8d5c53156f88427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abaede552ba492c" /><Relationship Type="http://schemas.openxmlformats.org/officeDocument/2006/relationships/image" Target="/ppt/media/image2.png" Id="Rcbd74ca92dce41f9" /><Relationship Type="http://schemas.openxmlformats.org/officeDocument/2006/relationships/notesSlide" Target="/ppt/notesSlides/notesSlide2.xml" Id="Rf14cc20393f64f2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621f0d3b57e4f54" /><Relationship Type="http://schemas.openxmlformats.org/officeDocument/2006/relationships/image" Target="/ppt/media/image3.png" Id="Rc8c60ce4da9245c6" /><Relationship Type="http://schemas.openxmlformats.org/officeDocument/2006/relationships/image" Target="/ppt/media/image4.png" Id="Rd25ef5479caf4051" /><Relationship Type="http://schemas.openxmlformats.org/officeDocument/2006/relationships/notesSlide" Target="/ppt/notesSlides/notesSlide3.xml" Id="R7c624acd6053498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6c5ef9542824faa" /><Relationship Type="http://schemas.openxmlformats.org/officeDocument/2006/relationships/image" Target="/ppt/media/image5.png" Id="R6cb4c5af49ea4f66" /><Relationship Type="http://schemas.openxmlformats.org/officeDocument/2006/relationships/notesSlide" Target="/ppt/notesSlides/notesSlide4.xml" Id="Ra68eb13f5b75464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9816cb5583a46d4" /><Relationship Type="http://schemas.openxmlformats.org/officeDocument/2006/relationships/image" Target="/ppt/media/image6.png" Id="R782597df7964416d" /><Relationship Type="http://schemas.openxmlformats.org/officeDocument/2006/relationships/notesSlide" Target="/ppt/notesSlides/notesSlide5.xml" Id="Rb5b60a01f9f44ae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5020025ae214af5" /><Relationship Type="http://schemas.openxmlformats.org/officeDocument/2006/relationships/image" Target="/ppt/media/image7.png" Id="R3c87d842662e473f" /><Relationship Type="http://schemas.openxmlformats.org/officeDocument/2006/relationships/notesSlide" Target="/ppt/notesSlides/notesSlide6.xml" Id="R2667360245614c6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cd4b0d3689c4d0b" /><Relationship Type="http://schemas.openxmlformats.org/officeDocument/2006/relationships/image" Target="/ppt/media/image8.png" Id="R805ccf1405c84f48" /><Relationship Type="http://schemas.openxmlformats.org/officeDocument/2006/relationships/notesSlide" Target="/ppt/notesSlides/notesSlide7.xml" Id="R56b8d3d3a87f4cb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311f6c6972e47a8" /><Relationship Type="http://schemas.openxmlformats.org/officeDocument/2006/relationships/image" Target="/ppt/media/image9.png" Id="Rdd87b9eb014b496a" /><Relationship Type="http://schemas.openxmlformats.org/officeDocument/2006/relationships/notesSlide" Target="/ppt/notesSlides/notesSlide8.xml" Id="Rfae39677be984e1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7dd9ea963bd4f4d" /><Relationship Type="http://schemas.openxmlformats.org/officeDocument/2006/relationships/image" Target="/ppt/media/image10.png" Id="R50ad3e704fe44920" /><Relationship Type="http://schemas.openxmlformats.org/officeDocument/2006/relationships/notesSlide" Target="/ppt/notesSlides/notesSlide9.xml" Id="R7e93b57076044b7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c4b9d8647b24fc6" /><Relationship Type="http://schemas.openxmlformats.org/officeDocument/2006/relationships/image" Target="/ppt/media/image11.png" Id="Rc650df82b80a4968" /><Relationship Type="http://schemas.openxmlformats.org/officeDocument/2006/relationships/notesSlide" Target="/ppt/notesSlides/notesSlide10.xml" Id="R51683b912cce441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082979be8c14fa3" /><Relationship Type="http://schemas.openxmlformats.org/officeDocument/2006/relationships/image" Target="/ppt/media/image12.png" Id="R92d80e33092949ee" /><Relationship Type="http://schemas.openxmlformats.org/officeDocument/2006/relationships/notesSlide" Target="/ppt/notesSlides/notesSlide11.xml" Id="R7065babc86ce4ad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b0f5fa5baf04bd1" /><Relationship Type="http://schemas.openxmlformats.org/officeDocument/2006/relationships/image" Target="/ppt/media/image13.png" Id="R5d14040d0c46435e" /><Relationship Type="http://schemas.openxmlformats.org/officeDocument/2006/relationships/image" Target="/ppt/media/image14.png" Id="R123333e474274fd8" /><Relationship Type="http://schemas.openxmlformats.org/officeDocument/2006/relationships/notesSlide" Target="/ppt/notesSlides/notesSlide12.xml" Id="Rbb979c8b2481472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b9257597a8f4ccc" /><Relationship Type="http://schemas.openxmlformats.org/officeDocument/2006/relationships/image" Target="/ppt/media/image15.png" Id="R1b1d542f5ce74262" /><Relationship Type="http://schemas.openxmlformats.org/officeDocument/2006/relationships/notesSlide" Target="/ppt/notesSlides/notesSlide13.xml" Id="R79b37a50727c482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d78217e83f2465e" /><Relationship Type="http://schemas.openxmlformats.org/officeDocument/2006/relationships/image" Target="/ppt/media/image16.png" Id="Rc55f5ccc07d144a0" /><Relationship Type="http://schemas.openxmlformats.org/officeDocument/2006/relationships/notesSlide" Target="/ppt/notesSlides/notesSlide14.xml" Id="R8eae30986d564f8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332265d75974480" /><Relationship Type="http://schemas.openxmlformats.org/officeDocument/2006/relationships/image" Target="/ppt/media/image17.png" Id="Rb571b160c364441d" /><Relationship Type="http://schemas.openxmlformats.org/officeDocument/2006/relationships/notesSlide" Target="/ppt/notesSlides/notesSlide15.xml" Id="Rd7631de80511448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d9a45f0cf9949ec" /><Relationship Type="http://schemas.openxmlformats.org/officeDocument/2006/relationships/image" Target="/ppt/media/image18.png" Id="R0f1f6cfa9c5a460f" /><Relationship Type="http://schemas.openxmlformats.org/officeDocument/2006/relationships/notesSlide" Target="/ppt/notesSlides/notesSlide16.xml" Id="Rcfe79a2794e84fe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8da5b7f48934ef8" /><Relationship Type="http://schemas.openxmlformats.org/officeDocument/2006/relationships/image" Target="/ppt/media/image19.png" Id="R40f87bf92dd343ab" /><Relationship Type="http://schemas.openxmlformats.org/officeDocument/2006/relationships/notesSlide" Target="/ppt/notesSlides/notesSlide17.xml" Id="R71225f70d9ec452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bcd857a40d2f4f28" /><Relationship Type="http://schemas.openxmlformats.org/officeDocument/2006/relationships/image" Target="/ppt/media/image20.png" Id="Rc90a7abad8324ec1" /><Relationship Type="http://schemas.openxmlformats.org/officeDocument/2006/relationships/notesSlide" Target="/ppt/notesSlides/notesSlide18.xml" Id="R27c63bf8b93f4bd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f5d1c3ce6ab04875" /><Relationship Type="http://schemas.openxmlformats.org/officeDocument/2006/relationships/image" Target="/ppt/media/image21.png" Id="Rfcde0bfead214e47" /><Relationship Type="http://schemas.openxmlformats.org/officeDocument/2006/relationships/notesSlide" Target="/ppt/notesSlides/notesSlide19.xml" Id="R0d1764250add472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714cd8c5cef848f9" /><Relationship Type="http://schemas.openxmlformats.org/officeDocument/2006/relationships/image" Target="/ppt/media/image22.png" Id="R965978f956264db0" /><Relationship Type="http://schemas.openxmlformats.org/officeDocument/2006/relationships/notesSlide" Target="/ppt/notesSlides/notesSlide20.xml" Id="Ree6352e8804a42e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b2adb2c6f53f4d4d" /><Relationship Type="http://schemas.openxmlformats.org/officeDocument/2006/relationships/image" Target="/ppt/media/image23.png" Id="Rbf85df83d3f14deb" /><Relationship Type="http://schemas.openxmlformats.org/officeDocument/2006/relationships/notesSlide" Target="/ppt/notesSlides/notesSlide21.xml" Id="R3b4360dd10b0456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70d1fbfbf7a44ec" /><Relationship Type="http://schemas.openxmlformats.org/officeDocument/2006/relationships/image" Target="/ppt/media/image24.png" Id="Rdc071bb8e99a4220" /><Relationship Type="http://schemas.openxmlformats.org/officeDocument/2006/relationships/notesSlide" Target="/ppt/notesSlides/notesSlide22.xml" Id="R077a6fa09728453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ca10e4db62dc4336" /><Relationship Type="http://schemas.openxmlformats.org/officeDocument/2006/relationships/image" Target="/ppt/media/image25.png" Id="R382c7836d1de4828" /><Relationship Type="http://schemas.openxmlformats.org/officeDocument/2006/relationships/notesSlide" Target="/ppt/notesSlides/notesSlide23.xml" Id="Rb9cef534b97b498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c897c04976ef49c9" /><Relationship Type="http://schemas.openxmlformats.org/officeDocument/2006/relationships/image" Target="/ppt/media/image26.png" Id="R81edaad63f454b68" /><Relationship Type="http://schemas.openxmlformats.org/officeDocument/2006/relationships/notesSlide" Target="/ppt/notesSlides/notesSlide24.xml" Id="R527d7cf5a5c8440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4bb6e0433e274776" /><Relationship Type="http://schemas.openxmlformats.org/officeDocument/2006/relationships/image" Target="/ppt/media/image27.png" Id="R84f38ee4bc91425e" /><Relationship Type="http://schemas.openxmlformats.org/officeDocument/2006/relationships/notesSlide" Target="/ppt/notesSlides/notesSlide25.xml" Id="R9fce95dded1d40a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d92130ed98014821" /><Relationship Type="http://schemas.openxmlformats.org/officeDocument/2006/relationships/image" Target="/ppt/media/image28.png" Id="Re19e9c33d3234ae9" /><Relationship Type="http://schemas.openxmlformats.org/officeDocument/2006/relationships/notesSlide" Target="/ppt/notesSlides/notesSlide26.xml" Id="R0e579d10b3a3486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dfc4a5428c064ec5" /><Relationship Type="http://schemas.openxmlformats.org/officeDocument/2006/relationships/image" Target="/ppt/media/image29.png" Id="Rf96f9dde6d124d2c" /><Relationship Type="http://schemas.openxmlformats.org/officeDocument/2006/relationships/image" Target="/ppt/media/image30.png" Id="Re5d1479355764094" /><Relationship Type="http://schemas.openxmlformats.org/officeDocument/2006/relationships/notesSlide" Target="/ppt/notesSlides/notesSlide27.xml" Id="R48757996cda54ee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740bf3438bd74a92" /><Relationship Type="http://schemas.openxmlformats.org/officeDocument/2006/relationships/image" Target="/ppt/media/image31.png" Id="R8dbb16c3975d4e60" /><Relationship Type="http://schemas.openxmlformats.org/officeDocument/2006/relationships/notesSlide" Target="/ppt/notesSlides/notesSlide28.xml" Id="R5eefb2828ce64f6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456dfed2425c44d7" /><Relationship Type="http://schemas.openxmlformats.org/officeDocument/2006/relationships/image" Target="/ppt/media/image32.png" Id="R27a19ef1b36546f8" /><Relationship Type="http://schemas.openxmlformats.org/officeDocument/2006/relationships/notesSlide" Target="/ppt/notesSlides/notesSlide29.xml" Id="Rcf96bcecae8b439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c5e5e787cc6842fc" /><Relationship Type="http://schemas.openxmlformats.org/officeDocument/2006/relationships/image" Target="/ppt/media/image33.png" Id="R109b1100cd8b4292" /><Relationship Type="http://schemas.openxmlformats.org/officeDocument/2006/relationships/notesSlide" Target="/ppt/notesSlides/notesSlide30.xml" Id="Rd92098ab73914fa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0956b0880cde4b8c" /><Relationship Type="http://schemas.openxmlformats.org/officeDocument/2006/relationships/image" Target="/ppt/media/image34.png" Id="Reb26c2fcaa684ee8" /><Relationship Type="http://schemas.openxmlformats.org/officeDocument/2006/relationships/notesSlide" Target="/ppt/notesSlides/notesSlide31.xml" Id="R6cb33d42e935454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9ff380e88beb4f17" /><Relationship Type="http://schemas.openxmlformats.org/officeDocument/2006/relationships/image" Target="/ppt/media/image35.png" Id="Rb9e253b66ab440bc" /><Relationship Type="http://schemas.openxmlformats.org/officeDocument/2006/relationships/notesSlide" Target="/ppt/notesSlides/notesSlide32.xml" Id="R3ada71cf6483499d"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8aa78aab010b4baa" /><Relationship Type="http://schemas.openxmlformats.org/officeDocument/2006/relationships/image" Target="/ppt/media/image36.png" Id="Re6bbbd368729462a" /><Relationship Type="http://schemas.openxmlformats.org/officeDocument/2006/relationships/notesSlide" Target="/ppt/notesSlides/notesSlide33.xml" Id="R25bd46a4a9f44752"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18629912530a41a0" /><Relationship Type="http://schemas.openxmlformats.org/officeDocument/2006/relationships/image" Target="/ppt/media/image37.png" Id="R2a988c9368974f9f" /><Relationship Type="http://schemas.openxmlformats.org/officeDocument/2006/relationships/notesSlide" Target="/ppt/notesSlides/notesSlide34.xml" Id="Rf108dfa0feff42c5"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4bb650b503f2446c" /><Relationship Type="http://schemas.openxmlformats.org/officeDocument/2006/relationships/image" Target="/ppt/media/image38.png" Id="R41477bda2178493b" /><Relationship Type="http://schemas.openxmlformats.org/officeDocument/2006/relationships/notesSlide" Target="/ppt/notesSlides/notesSlide35.xml" Id="R36c785f7ac3848d2"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74316a6599a943a4" /><Relationship Type="http://schemas.openxmlformats.org/officeDocument/2006/relationships/image" Target="/ppt/media/image39.png" Id="R089d7eded4294a6a" /><Relationship Type="http://schemas.openxmlformats.org/officeDocument/2006/relationships/image" Target="/ppt/media/image40.png" Id="R5684666f982d4e4a" /><Relationship Type="http://schemas.openxmlformats.org/officeDocument/2006/relationships/notesSlide" Target="/ppt/notesSlides/notesSlide36.xml" Id="R3fee5c639e794b0c"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d0e2087cd2544675" /><Relationship Type="http://schemas.openxmlformats.org/officeDocument/2006/relationships/image" Target="/ppt/media/image41.png" Id="R51c6486fbf5b4655" /><Relationship Type="http://schemas.openxmlformats.org/officeDocument/2006/relationships/notesSlide" Target="/ppt/notesSlides/notesSlide37.xml" Id="R4f1ea71f1d4e4cc9"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9efc2031ca3845af" /><Relationship Type="http://schemas.openxmlformats.org/officeDocument/2006/relationships/image" Target="/ppt/media/image42.png" Id="Re91c2968c0f24612" /><Relationship Type="http://schemas.openxmlformats.org/officeDocument/2006/relationships/notesSlide" Target="/ppt/notesSlides/notesSlide38.xml" Id="Rbc155b22c74b4561"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075cb5fc108c4e8c" /><Relationship Type="http://schemas.openxmlformats.org/officeDocument/2006/relationships/image" Target="/ppt/media/image43.png" Id="R343b65ee09604117" /><Relationship Type="http://schemas.openxmlformats.org/officeDocument/2006/relationships/notesSlide" Target="/ppt/notesSlides/notesSlide39.xml" Id="R1ff6db5d670a4c91"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b9fab4605bb04ffc" /><Relationship Type="http://schemas.openxmlformats.org/officeDocument/2006/relationships/image" Target="/ppt/media/image44.png" Id="R790304309a3a4d84" /><Relationship Type="http://schemas.openxmlformats.org/officeDocument/2006/relationships/notesSlide" Target="/ppt/notesSlides/notesSlide40.xml" Id="R7a3b387c5874436e"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d7b926c1c96943ef" /><Relationship Type="http://schemas.openxmlformats.org/officeDocument/2006/relationships/image" Target="/ppt/media/image45.png" Id="R29708950f9bb4e50" /><Relationship Type="http://schemas.openxmlformats.org/officeDocument/2006/relationships/notesSlide" Target="/ppt/notesSlides/notesSlide41.xml" Id="Rddb561ea6c4d4a34"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9ffb45fe7c9541fd" /><Relationship Type="http://schemas.openxmlformats.org/officeDocument/2006/relationships/image" Target="/ppt/media/image46.png" Id="R10a39edc7fee418b" /><Relationship Type="http://schemas.openxmlformats.org/officeDocument/2006/relationships/notesSlide" Target="/ppt/notesSlides/notesSlide42.xml" Id="R6f4de0ba334d48fa"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5d73650790d940e5" /><Relationship Type="http://schemas.openxmlformats.org/officeDocument/2006/relationships/image" Target="/ppt/media/image47.png" Id="R8787f6e79e384a4e" /><Relationship Type="http://schemas.openxmlformats.org/officeDocument/2006/relationships/notesSlide" Target="/ppt/notesSlides/notesSlide43.xml" Id="Rfbaef7b6ca494ba1"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08cdc5a6b5394820" /><Relationship Type="http://schemas.openxmlformats.org/officeDocument/2006/relationships/image" Target="/ppt/media/image48.png" Id="Rfc5fe0407dfa4cb4" /><Relationship Type="http://schemas.openxmlformats.org/officeDocument/2006/relationships/notesSlide" Target="/ppt/notesSlides/notesSlide44.xml" Id="Red24250e78d54293"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e85f6982834544fb" /><Relationship Type="http://schemas.openxmlformats.org/officeDocument/2006/relationships/image" Target="/ppt/media/image49.png" Id="R9bdc22b90452496d" /><Relationship Type="http://schemas.openxmlformats.org/officeDocument/2006/relationships/notesSlide" Target="/ppt/notesSlides/notesSlide45.xml" Id="Rf1a554bbc0e54aef"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74eb047a2da84754" /><Relationship Type="http://schemas.openxmlformats.org/officeDocument/2006/relationships/image" Target="/ppt/media/image50.png" Id="R652cd302f053421b" /><Relationship Type="http://schemas.openxmlformats.org/officeDocument/2006/relationships/notesSlide" Target="/ppt/notesSlides/notesSlide46.xml" Id="R05419f3b0366488b"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c5b74581a18443e0" /><Relationship Type="http://schemas.openxmlformats.org/officeDocument/2006/relationships/image" Target="/ppt/media/image51.png" Id="R827d1c7b1e9e464d" /><Relationship Type="http://schemas.openxmlformats.org/officeDocument/2006/relationships/notesSlide" Target="/ppt/notesSlides/notesSlide47.xml" Id="Rb9cbdef58a734394"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9554b758f8f04406" /><Relationship Type="http://schemas.openxmlformats.org/officeDocument/2006/relationships/image" Target="/ppt/media/image52.png" Id="Rcfb26154ad5a4717" /><Relationship Type="http://schemas.openxmlformats.org/officeDocument/2006/relationships/notesSlide" Target="/ppt/notesSlides/notesSlide48.xml" Id="R7ab317aea5ae4f30" /></Relationships>
</file>

<file path=ppt/slides/slide1.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105C619-21BB-4E33-B066-6C5AE7DF6FB5}"/>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Cuerpo, dimensiones y espacio interior</a:t>
            </a:r>
          </a:p>
        </p:txBody>
      </p:sp>
      <p:pic>
        <p:nvPicPr>
          <p:cNvPr id="2" name="">
            <a:extLst xmlns:a="http://schemas.openxmlformats.org/drawingml/2006/main">
              <a:ext uri="{FF2B5EF4-FFF2-40B4-BE49-F238E27FC236}">
                <a16:creationId xmlns:a16="http://schemas.microsoft.com/office/drawing/2014/main" id="{268BE212-A03D-4CA0-BF92-E124EFACC3BD}"/>
              </a:ext>
            </a:extLst>
          </p:cNvPr>
          <p:cNvPicPr>
            <a:picLocks xmlns:a="http://schemas.openxmlformats.org/drawingml/2006/main" noChangeAspect="1"/>
          </p:cNvPicPr>
          <p:nvPr/>
        </p:nvPicPr>
        <p:blipFill>
          <a:blip xmlns:r="http://schemas.openxmlformats.org/officeDocument/2006/relationships" xmlns:a="http://schemas.openxmlformats.org/drawingml/2006/main" r:embed="R6f99b0a9a938468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5E40B7B-A443-4044-BC1C-84184D7A98F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2   CLASE 03   01/24</a:t>
            </a:r>
          </a:p>
        </p:txBody>
      </p:sp>
      <p:sp>
        <p:nvSpPr>
          <p:cNvPr id="4" name="">
            <a:extLst xmlns:a="http://schemas.openxmlformats.org/drawingml/2006/main">
              <a:ext uri="{FF2B5EF4-FFF2-40B4-BE49-F238E27FC236}">
                <a16:creationId xmlns:a16="http://schemas.microsoft.com/office/drawing/2014/main" id="{883D1D3D-9C7C-4F7B-AC2C-69F9F92C4EC8}"/>
              </a:ext>
            </a:extLst>
          </p:cNvPr>
          <p:cNvSpPr>
            <a:spLocks xmlns:a="http://schemas.openxmlformats.org/drawingml/2006/main" noGrp="1"/>
          </p:cNvSpPr>
          <p:nvPr/>
        </p:nvSpPr>
        <p:spPr>
          <a:xfrm xmlns:a="http://schemas.openxmlformats.org/drawingml/2006/main">
            <a:off x="590550" y="1762125"/>
            <a:ext cx="10715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Elegir un tubo disponible y distribuir componentes sin confundir longitud exterior con espacio útil.</a:t>
            </a:r>
          </a:p>
        </p:txBody>
      </p:sp>
      <p:sp>
        <p:nvSpPr>
          <p:cNvPr id="5" name="">
            <a:extLst xmlns:a="http://schemas.openxmlformats.org/drawingml/2006/main">
              <a:ext uri="{FF2B5EF4-FFF2-40B4-BE49-F238E27FC236}">
                <a16:creationId xmlns:a16="http://schemas.microsoft.com/office/drawing/2014/main" id="{95EF1F5C-AAAA-4189-BD2A-DE703A07596A}"/>
              </a:ext>
            </a:extLst>
          </p:cNvPr>
          <p:cNvSpPr>
            <a:spLocks xmlns:a="http://schemas.openxmlformats.org/drawingml/2006/main" noGrp="1"/>
          </p:cNvSpPr>
          <p:nvPr/>
        </p:nvSpPr>
        <p:spPr>
          <a:xfrm xmlns:a="http://schemas.openxmlformats.org/drawingml/2006/main">
            <a:off x="590550" y="3705225"/>
            <a:ext cx="10715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CFCF8"/>
                </a:solidFill>
                <a:latin typeface="Arial"/>
                <a:ea typeface="Arial"/>
                <a:cs typeface="Arial"/>
              </a:defRPr>
            </a:defPPr>
            <a:lvl1pPr>
              <a:defRPr sz="2325" b="0">
                <a:solidFill>
                  <a:srgbClr val="FCFCF8"/>
                </a:solidFill>
                <a:latin typeface="Arial"/>
                <a:ea typeface="Arial"/>
                <a:cs typeface="Arial"/>
              </a:defRPr>
            </a:lvl1pPr>
            <a:lvl2pPr>
              <a:defRPr sz="2325" b="0">
                <a:solidFill>
                  <a:srgbClr val="FCFCF8"/>
                </a:solidFill>
                <a:latin typeface="Arial"/>
                <a:ea typeface="Arial"/>
                <a:cs typeface="Arial"/>
              </a:defRPr>
            </a:lvl2pPr>
            <a:lvl3pPr>
              <a:defRPr sz="2325" b="0">
                <a:solidFill>
                  <a:srgbClr val="FCFCF8"/>
                </a:solidFill>
                <a:latin typeface="Arial"/>
                <a:ea typeface="Arial"/>
                <a:cs typeface="Arial"/>
              </a:defRPr>
            </a:lvl3pPr>
            <a:lvl4pPr>
              <a:defRPr sz="2325" b="0">
                <a:solidFill>
                  <a:srgbClr val="FCFCF8"/>
                </a:solidFill>
                <a:latin typeface="Arial"/>
                <a:ea typeface="Arial"/>
                <a:cs typeface="Arial"/>
              </a:defRPr>
            </a:lvl4pPr>
            <a:lvl5pPr>
              <a:defRPr sz="2325" b="0">
                <a:solidFill>
                  <a:srgbClr val="FCFCF8"/>
                </a:solidFill>
                <a:latin typeface="Arial"/>
                <a:ea typeface="Arial"/>
                <a:cs typeface="Arial"/>
              </a:defRPr>
            </a:lvl5pPr>
            <a:lvl6pPr>
              <a:defRPr sz="2325" b="0">
                <a:solidFill>
                  <a:srgbClr val="FCFCF8"/>
                </a:solidFill>
                <a:latin typeface="Arial"/>
                <a:ea typeface="Arial"/>
                <a:cs typeface="Arial"/>
              </a:defRPr>
            </a:lvl6pPr>
            <a:lvl7pPr>
              <a:defRPr sz="2325" b="0">
                <a:solidFill>
                  <a:srgbClr val="FCFCF8"/>
                </a:solidFill>
                <a:latin typeface="Arial"/>
                <a:ea typeface="Arial"/>
                <a:cs typeface="Arial"/>
              </a:defRPr>
            </a:lvl7pPr>
            <a:lvl8pPr>
              <a:defRPr sz="2325" b="0">
                <a:solidFill>
                  <a:srgbClr val="FCFCF8"/>
                </a:solidFill>
                <a:latin typeface="Arial"/>
                <a:ea typeface="Arial"/>
                <a:cs typeface="Arial"/>
              </a:defRPr>
            </a:lvl8pPr>
            <a:lvl9pPr>
              <a:defRPr sz="2325" b="0">
                <a:solidFill>
                  <a:srgbClr val="FCFCF8"/>
                </a:solidFill>
                <a:latin typeface="Arial"/>
                <a:ea typeface="Arial"/>
                <a:cs typeface="Arial"/>
              </a:defRPr>
            </a:lvl9pPr>
          </a:lstStyle>
          <a:p xmlns:a="http://schemas.openxmlformats.org/drawingml/2006/main">
            <a:pPr>
              <a:defRPr sz="2325" b="0">
                <a:solidFill>
                  <a:srgbClr val="FCFCF8"/>
                </a:solidFill>
                <a:latin typeface="Arial"/>
                <a:ea typeface="Arial"/>
                <a:cs typeface="Arial"/>
              </a:defRPr>
            </a:pPr>
            <a:r>
              <a:rPr sz="2325" b="0">
                <a:solidFill>
                  <a:srgbClr val="FCFCF8"/>
                </a:solidFill>
                <a:latin typeface="Arial"/>
                <a:ea typeface="Arial"/>
                <a:cs typeface="Arial"/>
              </a:rPr>
              <a:t>Construir un modelo compacto que pueda montarse, inspeccionarse y recuperarse.</a:t>
            </a:r>
          </a:p>
        </p:txBody>
      </p:sp>
      <p:sp>
        <p:nvSpPr>
          <p:cNvPr id="6" name="">
            <a:extLst xmlns:a="http://schemas.openxmlformats.org/drawingml/2006/main">
              <a:ext uri="{FF2B5EF4-FFF2-40B4-BE49-F238E27FC236}">
                <a16:creationId xmlns:a16="http://schemas.microsoft.com/office/drawing/2014/main" id="{7CEEC8AB-9E68-49A5-89F4-15AAE7D3825B}"/>
              </a:ext>
            </a:extLst>
          </p:cNvPr>
          <p:cNvSpPr>
            <a:spLocks xmlns:a="http://schemas.openxmlformats.org/drawingml/2006/main" noGrp="1"/>
          </p:cNvSpPr>
          <p:nvPr/>
        </p:nvSpPr>
        <p:spPr>
          <a:xfrm xmlns:a="http://schemas.openxmlformats.org/drawingml/2006/main">
            <a:off x="590550" y="5648325"/>
            <a:ext cx="1071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8C8C1"/>
                </a:solidFill>
                <a:latin typeface="Consolas"/>
                <a:ea typeface="Consolas"/>
                <a:cs typeface="Consolas"/>
              </a:defRPr>
            </a:defPPr>
            <a:lvl1pPr>
              <a:defRPr sz="1800" b="0">
                <a:solidFill>
                  <a:srgbClr val="B8C8C1"/>
                </a:solidFill>
                <a:latin typeface="Consolas"/>
                <a:ea typeface="Consolas"/>
                <a:cs typeface="Consolas"/>
              </a:defRPr>
            </a:lvl1pPr>
            <a:lvl2pPr>
              <a:defRPr sz="1800" b="0">
                <a:solidFill>
                  <a:srgbClr val="B8C8C1"/>
                </a:solidFill>
                <a:latin typeface="Consolas"/>
                <a:ea typeface="Consolas"/>
                <a:cs typeface="Consolas"/>
              </a:defRPr>
            </a:lvl2pPr>
            <a:lvl3pPr>
              <a:defRPr sz="1800" b="0">
                <a:solidFill>
                  <a:srgbClr val="B8C8C1"/>
                </a:solidFill>
                <a:latin typeface="Consolas"/>
                <a:ea typeface="Consolas"/>
                <a:cs typeface="Consolas"/>
              </a:defRPr>
            </a:lvl3pPr>
            <a:lvl4pPr>
              <a:defRPr sz="1800" b="0">
                <a:solidFill>
                  <a:srgbClr val="B8C8C1"/>
                </a:solidFill>
                <a:latin typeface="Consolas"/>
                <a:ea typeface="Consolas"/>
                <a:cs typeface="Consolas"/>
              </a:defRPr>
            </a:lvl4pPr>
            <a:lvl5pPr>
              <a:defRPr sz="1800" b="0">
                <a:solidFill>
                  <a:srgbClr val="B8C8C1"/>
                </a:solidFill>
                <a:latin typeface="Consolas"/>
                <a:ea typeface="Consolas"/>
                <a:cs typeface="Consolas"/>
              </a:defRPr>
            </a:lvl5pPr>
            <a:lvl6pPr>
              <a:defRPr sz="1800" b="0">
                <a:solidFill>
                  <a:srgbClr val="B8C8C1"/>
                </a:solidFill>
                <a:latin typeface="Consolas"/>
                <a:ea typeface="Consolas"/>
                <a:cs typeface="Consolas"/>
              </a:defRPr>
            </a:lvl6pPr>
            <a:lvl7pPr>
              <a:defRPr sz="1800" b="0">
                <a:solidFill>
                  <a:srgbClr val="B8C8C1"/>
                </a:solidFill>
                <a:latin typeface="Consolas"/>
                <a:ea typeface="Consolas"/>
                <a:cs typeface="Consolas"/>
              </a:defRPr>
            </a:lvl7pPr>
            <a:lvl8pPr>
              <a:defRPr sz="1800" b="0">
                <a:solidFill>
                  <a:srgbClr val="B8C8C1"/>
                </a:solidFill>
                <a:latin typeface="Consolas"/>
                <a:ea typeface="Consolas"/>
                <a:cs typeface="Consolas"/>
              </a:defRPr>
            </a:lvl8pPr>
            <a:lvl9pPr>
              <a:defRPr sz="1800" b="0">
                <a:solidFill>
                  <a:srgbClr val="B8C8C1"/>
                </a:solidFill>
                <a:latin typeface="Consolas"/>
                <a:ea typeface="Consolas"/>
                <a:cs typeface="Consolas"/>
              </a:defRPr>
            </a:lvl9pPr>
          </a:lstStyle>
          <a:p xmlns:a="http://schemas.openxmlformats.org/drawingml/2006/main">
            <a:pPr>
              <a:defRPr sz="1800" b="0">
                <a:solidFill>
                  <a:srgbClr val="B8C8C1"/>
                </a:solidFill>
                <a:latin typeface="Consolas"/>
                <a:ea typeface="Consolas"/>
                <a:cs typeface="Consolas"/>
              </a:defRPr>
            </a:pPr>
            <a:r>
              <a:rPr sz="1800" b="0">
                <a:solidFill>
                  <a:srgbClr val="B8C8C1"/>
                </a:solidFill>
                <a:latin typeface="Consolas"/>
                <a:ea typeface="Consolas"/>
                <a:cs typeface="Consolas"/>
              </a:rPr>
              <a:t>EN LÍNEA   2 HORAS</a:t>
            </a:r>
          </a:p>
        </p:txBody>
      </p:sp>
    </p:spTree>
    <p:extLst>
      <p:ext uri="{BB962C8B-B14F-4D97-AF65-F5344CB8AC3E}">
        <p14:creationId xmlns:p14="http://schemas.microsoft.com/office/powerpoint/2010/main" val="220499041"/>
      </p:ext>
    </p:extLst>
  </p:cSld>
</p:sld>
</file>

<file path=ppt/slides/slide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D9EAA95-D23A-422F-8D8C-C1D375FF3305}"/>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El cuerpo organiza el proyecto</a:t>
            </a:r>
          </a:p>
        </p:txBody>
      </p:sp>
      <p:pic>
        <p:nvPicPr>
          <p:cNvPr id="2" name="">
            <a:extLst xmlns:a="http://schemas.openxmlformats.org/drawingml/2006/main">
              <a:ext uri="{FF2B5EF4-FFF2-40B4-BE49-F238E27FC236}">
                <a16:creationId xmlns:a16="http://schemas.microsoft.com/office/drawing/2014/main" id="{BF9842E9-A166-4422-B905-2970B9B318A0}"/>
              </a:ext>
            </a:extLst>
          </p:cNvPr>
          <p:cNvPicPr>
            <a:picLocks xmlns:a="http://schemas.openxmlformats.org/drawingml/2006/main" noChangeAspect="1"/>
          </p:cNvPicPr>
          <p:nvPr/>
        </p:nvPicPr>
        <p:blipFill>
          <a:blip xmlns:r="http://schemas.openxmlformats.org/officeDocument/2006/relationships" xmlns:a="http://schemas.openxmlformats.org/drawingml/2006/main" r:embed="Rcbd74ca92dce41f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3F70DEB-E4C9-4366-AF0D-6678224F58B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03   02/24</a:t>
            </a:r>
          </a:p>
        </p:txBody>
      </p:sp>
      <p:sp>
        <p:nvSpPr>
          <p:cNvPr id="4" name="">
            <a:extLst xmlns:a="http://schemas.openxmlformats.org/drawingml/2006/main">
              <a:ext uri="{FF2B5EF4-FFF2-40B4-BE49-F238E27FC236}">
                <a16:creationId xmlns:a16="http://schemas.microsoft.com/office/drawing/2014/main" id="{630051E3-870E-4F1E-A281-4A7FEB2FCE63}"/>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Elegir la longitud del cuerpo no consiste en copiar una fotografía. Debe haber lugar para el conjunto comercial previsto, sus interfaces y el sistema de recuperación. El tamaño también determina qué herramientas permiten trabajar dentro y cómo se sostiene el modelo durante el montaje. En un proyecto pequeño, unos centímetros pueden facilitar el acceso o dejar un espacio que no se puede aprovechar.</a:t>
            </a:r>
          </a:p>
        </p:txBody>
      </p:sp>
    </p:spTree>
    <p:extLst>
      <p:ext uri="{BB962C8B-B14F-4D97-AF65-F5344CB8AC3E}">
        <p14:creationId xmlns:p14="http://schemas.microsoft.com/office/powerpoint/2010/main" val="1826544942"/>
      </p:ext>
    </p:extLst>
  </p:cSld>
</p:sld>
</file>

<file path=ppt/slides/slide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6C8101B-6725-458D-B9DC-52144C4288F4}"/>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El cuerpo organiza el proyecto</a:t>
            </a:r>
          </a:p>
        </p:txBody>
      </p:sp>
      <p:pic>
        <p:nvPicPr>
          <p:cNvPr id="2" name="">
            <a:extLst xmlns:a="http://schemas.openxmlformats.org/drawingml/2006/main">
              <a:ext uri="{FF2B5EF4-FFF2-40B4-BE49-F238E27FC236}">
                <a16:creationId xmlns:a16="http://schemas.microsoft.com/office/drawing/2014/main" id="{B3DAF584-92C1-44A6-8204-F572D048EA82}"/>
              </a:ext>
            </a:extLst>
          </p:cNvPr>
          <p:cNvPicPr>
            <a:picLocks xmlns:a="http://schemas.openxmlformats.org/drawingml/2006/main" noChangeAspect="1"/>
          </p:cNvPicPr>
          <p:nvPr/>
        </p:nvPicPr>
        <p:blipFill>
          <a:blip xmlns:r="http://schemas.openxmlformats.org/officeDocument/2006/relationships" xmlns:a="http://schemas.openxmlformats.org/drawingml/2006/main" r:embed="Rc8c60ce4da9245c6"/>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07C78DC-5FF0-4411-B862-E7858D2527C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03   03/24</a:t>
            </a:r>
          </a:p>
        </p:txBody>
      </p:sp>
      <p:pic>
        <p:nvPicPr>
          <p:cNvPr id="4" name="">
            <a:extLst xmlns:a="http://schemas.openxmlformats.org/drawingml/2006/main">
              <a:ext uri="{FF2B5EF4-FFF2-40B4-BE49-F238E27FC236}">
                <a16:creationId xmlns:a16="http://schemas.microsoft.com/office/drawing/2014/main" id="{CC958A46-D7D4-445E-BAA0-7B8C26FD1F82}"/>
              </a:ext>
            </a:extLst>
          </p:cNvPr>
          <p:cNvPicPr>
            <a:picLocks xmlns:a="http://schemas.openxmlformats.org/drawingml/2006/main" noChangeAspect="1"/>
          </p:cNvPicPr>
          <p:nvPr/>
        </p:nvPicPr>
        <p:blipFill>
          <a:blip xmlns:r="http://schemas.openxmlformats.org/officeDocument/2006/relationships" xmlns:a="http://schemas.openxmlformats.org/drawingml/2006/main" r:embed="Rd25ef5479caf4051"/>
          <a:stretch xmlns:a="http://schemas.openxmlformats.org/drawingml/2006/main"/>
        </p:blipFill>
        <p:spPr>
          <a:xfrm xmlns:a="http://schemas.openxmlformats.org/drawingml/2006/main">
            <a:off x="1279525" y="1657350"/>
            <a:ext cx="6032500" cy="39814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395E548-1763-44B5-9174-649DFFAB554B}"/>
              </a:ext>
            </a:extLst>
          </p:cNvPr>
          <p:cNvSpPr>
            <a:spLocks xmlns:a="http://schemas.openxmlformats.org/drawingml/2006/main" noGrp="1"/>
          </p:cNvSpPr>
          <p:nvPr/>
        </p:nvSpPr>
        <p:spPr>
          <a:xfrm xmlns:a="http://schemas.openxmlformats.org/drawingml/2006/main">
            <a:off x="8315325" y="1781175"/>
            <a:ext cx="3248025" cy="3590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44F3D"/>
                </a:solidFill>
                <a:latin typeface="Arial"/>
                <a:ea typeface="Arial"/>
                <a:cs typeface="Arial"/>
              </a:defRPr>
            </a:defPPr>
            <a:lvl1pPr>
              <a:defRPr sz="2325" b="1">
                <a:solidFill>
                  <a:srgbClr val="244F3D"/>
                </a:solidFill>
                <a:latin typeface="Arial"/>
                <a:ea typeface="Arial"/>
                <a:cs typeface="Arial"/>
              </a:defRPr>
            </a:lvl1pPr>
            <a:lvl2pPr>
              <a:defRPr sz="2325" b="1">
                <a:solidFill>
                  <a:srgbClr val="244F3D"/>
                </a:solidFill>
                <a:latin typeface="Arial"/>
                <a:ea typeface="Arial"/>
                <a:cs typeface="Arial"/>
              </a:defRPr>
            </a:lvl2pPr>
            <a:lvl3pPr>
              <a:defRPr sz="2325" b="1">
                <a:solidFill>
                  <a:srgbClr val="244F3D"/>
                </a:solidFill>
                <a:latin typeface="Arial"/>
                <a:ea typeface="Arial"/>
                <a:cs typeface="Arial"/>
              </a:defRPr>
            </a:lvl3pPr>
            <a:lvl4pPr>
              <a:defRPr sz="2325" b="1">
                <a:solidFill>
                  <a:srgbClr val="244F3D"/>
                </a:solidFill>
                <a:latin typeface="Arial"/>
                <a:ea typeface="Arial"/>
                <a:cs typeface="Arial"/>
              </a:defRPr>
            </a:lvl4pPr>
            <a:lvl5pPr>
              <a:defRPr sz="2325" b="1">
                <a:solidFill>
                  <a:srgbClr val="244F3D"/>
                </a:solidFill>
                <a:latin typeface="Arial"/>
                <a:ea typeface="Arial"/>
                <a:cs typeface="Arial"/>
              </a:defRPr>
            </a:lvl5pPr>
            <a:lvl6pPr>
              <a:defRPr sz="2325" b="1">
                <a:solidFill>
                  <a:srgbClr val="244F3D"/>
                </a:solidFill>
                <a:latin typeface="Arial"/>
                <a:ea typeface="Arial"/>
                <a:cs typeface="Arial"/>
              </a:defRPr>
            </a:lvl6pPr>
            <a:lvl7pPr>
              <a:defRPr sz="2325" b="1">
                <a:solidFill>
                  <a:srgbClr val="244F3D"/>
                </a:solidFill>
                <a:latin typeface="Arial"/>
                <a:ea typeface="Arial"/>
                <a:cs typeface="Arial"/>
              </a:defRPr>
            </a:lvl7pPr>
            <a:lvl8pPr>
              <a:defRPr sz="2325" b="1">
                <a:solidFill>
                  <a:srgbClr val="244F3D"/>
                </a:solidFill>
                <a:latin typeface="Arial"/>
                <a:ea typeface="Arial"/>
                <a:cs typeface="Arial"/>
              </a:defRPr>
            </a:lvl8pPr>
            <a:lvl9pPr>
              <a:defRPr sz="2325" b="1">
                <a:solidFill>
                  <a:srgbClr val="244F3D"/>
                </a:solidFill>
                <a:latin typeface="Arial"/>
                <a:ea typeface="Arial"/>
                <a:cs typeface="Arial"/>
              </a:defRPr>
            </a:lvl9pPr>
          </a:lstStyle>
          <a:p xmlns:a="http://schemas.openxmlformats.org/drawingml/2006/main">
            <a:pPr>
              <a:defRPr sz="2325" b="1">
                <a:solidFill>
                  <a:srgbClr val="244F3D"/>
                </a:solidFill>
                <a:latin typeface="Arial"/>
                <a:ea typeface="Arial"/>
                <a:cs typeface="Arial"/>
              </a:defRPr>
            </a:pPr>
            <a:r>
              <a:rPr sz="2325" b="1">
                <a:solidFill>
                  <a:srgbClr val="244F3D"/>
                </a:solidFill>
                <a:latin typeface="Arial"/>
                <a:ea typeface="Arial"/>
                <a:cs typeface="Arial"/>
              </a:rPr>
              <a:t>¿Qué debe caber y qué debe poder montarse?</a:t>
            </a:r>
          </a:p>
        </p:txBody>
      </p:sp>
      <p:sp>
        <p:nvSpPr>
          <p:cNvPr id="6" name="">
            <a:extLst xmlns:a="http://schemas.openxmlformats.org/drawingml/2006/main">
              <a:ext uri="{FF2B5EF4-FFF2-40B4-BE49-F238E27FC236}">
                <a16:creationId xmlns:a16="http://schemas.microsoft.com/office/drawing/2014/main" id="{DD98B0F2-785C-475D-B8E6-B92006F8A920}"/>
              </a:ext>
            </a:extLst>
          </p:cNvPr>
          <p:cNvSpPr>
            <a:spLocks xmlns:a="http://schemas.openxmlformats.org/drawingml/2006/main" noGrp="1"/>
          </p:cNvSpPr>
          <p:nvPr/>
        </p:nvSpPr>
        <p:spPr>
          <a:xfrm xmlns:a="http://schemas.openxmlformats.org/drawingml/2006/main">
            <a:off x="590550" y="58483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8665F"/>
                </a:solidFill>
                <a:latin typeface="Arial"/>
                <a:ea typeface="Arial"/>
                <a:cs typeface="Arial"/>
              </a:defRPr>
            </a:defPPr>
            <a:lvl1pPr>
              <a:defRPr sz="1350" b="0">
                <a:solidFill>
                  <a:srgbClr val="58665F"/>
                </a:solidFill>
                <a:latin typeface="Arial"/>
                <a:ea typeface="Arial"/>
                <a:cs typeface="Arial"/>
              </a:defRPr>
            </a:lvl1pPr>
            <a:lvl2pPr>
              <a:defRPr sz="1350" b="0">
                <a:solidFill>
                  <a:srgbClr val="58665F"/>
                </a:solidFill>
                <a:latin typeface="Arial"/>
                <a:ea typeface="Arial"/>
                <a:cs typeface="Arial"/>
              </a:defRPr>
            </a:lvl2pPr>
            <a:lvl3pPr>
              <a:defRPr sz="1350" b="0">
                <a:solidFill>
                  <a:srgbClr val="58665F"/>
                </a:solidFill>
                <a:latin typeface="Arial"/>
                <a:ea typeface="Arial"/>
                <a:cs typeface="Arial"/>
              </a:defRPr>
            </a:lvl3pPr>
            <a:lvl4pPr>
              <a:defRPr sz="1350" b="0">
                <a:solidFill>
                  <a:srgbClr val="58665F"/>
                </a:solidFill>
                <a:latin typeface="Arial"/>
                <a:ea typeface="Arial"/>
                <a:cs typeface="Arial"/>
              </a:defRPr>
            </a:lvl4pPr>
            <a:lvl5pPr>
              <a:defRPr sz="1350" b="0">
                <a:solidFill>
                  <a:srgbClr val="58665F"/>
                </a:solidFill>
                <a:latin typeface="Arial"/>
                <a:ea typeface="Arial"/>
                <a:cs typeface="Arial"/>
              </a:defRPr>
            </a:lvl5pPr>
            <a:lvl6pPr>
              <a:defRPr sz="1350" b="0">
                <a:solidFill>
                  <a:srgbClr val="58665F"/>
                </a:solidFill>
                <a:latin typeface="Arial"/>
                <a:ea typeface="Arial"/>
                <a:cs typeface="Arial"/>
              </a:defRPr>
            </a:lvl6pPr>
            <a:lvl7pPr>
              <a:defRPr sz="1350" b="0">
                <a:solidFill>
                  <a:srgbClr val="58665F"/>
                </a:solidFill>
                <a:latin typeface="Arial"/>
                <a:ea typeface="Arial"/>
                <a:cs typeface="Arial"/>
              </a:defRPr>
            </a:lvl7pPr>
            <a:lvl8pPr>
              <a:defRPr sz="1350" b="0">
                <a:solidFill>
                  <a:srgbClr val="58665F"/>
                </a:solidFill>
                <a:latin typeface="Arial"/>
                <a:ea typeface="Arial"/>
                <a:cs typeface="Arial"/>
              </a:defRPr>
            </a:lvl8pPr>
            <a:lvl9pPr>
              <a:defRPr sz="1350" b="0">
                <a:solidFill>
                  <a:srgbClr val="58665F"/>
                </a:solidFill>
                <a:latin typeface="Arial"/>
                <a:ea typeface="Arial"/>
                <a:cs typeface="Arial"/>
              </a:defRPr>
            </a:lvl9pPr>
          </a:lstStyle>
          <a:p xmlns:a="http://schemas.openxmlformats.org/drawingml/2006/main">
            <a:pPr>
              <a:defRPr sz="1350" b="0">
                <a:solidFill>
                  <a:srgbClr val="58665F"/>
                </a:solidFill>
                <a:latin typeface="Arial"/>
                <a:ea typeface="Arial"/>
                <a:cs typeface="Arial"/>
              </a:defRPr>
            </a:pPr>
            <a:r>
              <a:rPr sz="1350" b="0">
                <a:solidFill>
                  <a:srgbClr val="58665F"/>
                </a:solidFill>
                <a:latin typeface="Arial"/>
                <a:ea typeface="Arial"/>
                <a:cs typeface="Arial"/>
              </a:rPr>
              <a:t>Vista interior del ejemplo de OpenRocket. Muestra relaciones entre piezas, no las dimensiones del proyecto MECRO.</a:t>
            </a:r>
          </a:p>
        </p:txBody>
      </p:sp>
    </p:spTree>
    <p:extLst>
      <p:ext uri="{BB962C8B-B14F-4D97-AF65-F5344CB8AC3E}">
        <p14:creationId xmlns:p14="http://schemas.microsoft.com/office/powerpoint/2010/main" val="1674399235"/>
      </p:ext>
    </p:extLst>
  </p:cSld>
</p:sld>
</file>

<file path=ppt/slides/slide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43707EC-B757-43BE-9977-F47B797BEB54}"/>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Cuatro preguntas antes de cortar</a:t>
            </a:r>
          </a:p>
        </p:txBody>
      </p:sp>
      <p:pic>
        <p:nvPicPr>
          <p:cNvPr id="2" name="">
            <a:extLst xmlns:a="http://schemas.openxmlformats.org/drawingml/2006/main">
              <a:ext uri="{FF2B5EF4-FFF2-40B4-BE49-F238E27FC236}">
                <a16:creationId xmlns:a16="http://schemas.microsoft.com/office/drawing/2014/main" id="{9BB8E324-51F3-4F96-92C3-59FDF19786B1}"/>
              </a:ext>
            </a:extLst>
          </p:cNvPr>
          <p:cNvPicPr>
            <a:picLocks xmlns:a="http://schemas.openxmlformats.org/drawingml/2006/main" noChangeAspect="1"/>
          </p:cNvPicPr>
          <p:nvPr/>
        </p:nvPicPr>
        <p:blipFill>
          <a:blip xmlns:r="http://schemas.openxmlformats.org/officeDocument/2006/relationships" xmlns:a="http://schemas.openxmlformats.org/drawingml/2006/main" r:embed="R6cb4c5af49ea4f66"/>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C8D3C03-0690-461D-8071-A856EFDA9C3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03   04/24</a:t>
            </a:r>
          </a:p>
        </p:txBody>
      </p:sp>
      <p:graphicFrame>
        <p:nvGraphicFramePr>
          <p:cNvPr id="4" name="">
            <a:extLst xmlns:a="http://schemas.openxmlformats.org/drawingml/2006/main">
              <a:ext uri="{FF2B5EF4-FFF2-40B4-BE49-F238E27FC236}">
                <a16:creationId xmlns:a16="http://schemas.microsoft.com/office/drawing/2014/main" id="{F72A87EC-4A40-4577-ACC4-AE22CD52B8EF}"/>
              </a:ext>
            </a:extLst>
          </p:cNvPr>
          <p:cNvGraphicFramePr/>
          <p:nvPr/>
        </p:nvGraphicFramePr>
        <p:xfrm>
          <a:off xmlns:a="http://schemas.openxmlformats.org/drawingml/2006/main" x="590550" y="1752600"/>
          <a:ext xmlns:a="http://schemas.openxmlformats.org/drawingml/2006/main" cx="11010900" cy="3590925"/>
        </p:xfrm>
        <a:graphic xmlns:a="http://schemas.openxmlformats.org/drawingml/2006/main">
          <a:graphicData uri="http://schemas.openxmlformats.org/drawingml/2006/table">
            <a:tbl>
              <a:tblPr/>
              <a:tblGrid>
                <a:gridCol w="5505450"/>
                <a:gridCol w="5505450"/>
              </a:tblGrid>
              <a:tr h="718185">
                <a:tc>
                  <a:txBody>
                    <a:bodyPr/>
                    <a:lstStyle/>
                    <a:p>
                      <a:r>
                        <a:rPr sz="2025" b="1">
                          <a:solidFill>
                            <a:srgbClr val="FFFFFF"/>
                          </a:solidFill>
                          <a:latin typeface="Arial"/>
                          <a:ea typeface="Arial"/>
                          <a:cs typeface="Arial"/>
                        </a:rPr>
                        <a:t>Pregunta</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Qué comprobar</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18185">
                <a:tc>
                  <a:txBody>
                    <a:bodyPr/>
                    <a:lstStyle/>
                    <a:p>
                      <a:r>
                        <a:rPr sz="2025" b="0">
                          <a:solidFill>
                            <a:srgbClr val="14231E"/>
                          </a:solidFill>
                          <a:latin typeface="Arial"/>
                          <a:ea typeface="Arial"/>
                          <a:cs typeface="Arial"/>
                        </a:rPr>
                        <a:t>¿Qué tubo tenemos?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Diámetros, longitud, estado y masa</a:t>
                      </a:r>
                    </a:p>
                  </a:txBody>
                  <a:tcPr marL="91440" marR="91440" marT="45720" marB="45720">
                    <a:lnR w="9525">
                      <a:solidFill>
                        <a:srgbClr val="BFCEC3"/>
                      </a:solidFill>
                      <a:prstDash val="solid"/>
                    </a:lnR>
                    <a:lnB w="9525">
                      <a:solidFill>
                        <a:srgbClr val="BFCEC3"/>
                      </a:solidFill>
                      <a:prstDash val="solid"/>
                    </a:lnB>
                    <a:solidFill>
                      <a:srgbClr val="EAF3EC"/>
                    </a:solidFill>
                  </a:tcPr>
                </a:tc>
              </a:tr>
              <a:tr h="718185">
                <a:tc>
                  <a:txBody>
                    <a:bodyPr/>
                    <a:lstStyle/>
                    <a:p>
                      <a:r>
                        <a:rPr sz="2025" b="0">
                          <a:solidFill>
                            <a:srgbClr val="14231E"/>
                          </a:solidFill>
                          <a:latin typeface="Arial"/>
                          <a:ea typeface="Arial"/>
                          <a:cs typeface="Arial"/>
                        </a:rPr>
                        <a:t>¿Qué debe alojar?</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Lista y envolvente de los componentes</a:t>
                      </a:r>
                    </a:p>
                  </a:txBody>
                  <a:tcPr marL="91440" marR="91440" marT="45720" marB="45720">
                    <a:lnR w="9525">
                      <a:solidFill>
                        <a:srgbClr val="BFCEC3"/>
                      </a:solidFill>
                      <a:prstDash val="solid"/>
                    </a:lnR>
                    <a:lnB w="9525">
                      <a:solidFill>
                        <a:srgbClr val="BFCEC3"/>
                      </a:solidFill>
                      <a:prstDash val="solid"/>
                    </a:lnB>
                    <a:solidFill>
                      <a:srgbClr val="FCFCF8"/>
                    </a:solidFill>
                  </a:tcPr>
                </a:tc>
              </a:tr>
              <a:tr h="718185">
                <a:tc>
                  <a:txBody>
                    <a:bodyPr/>
                    <a:lstStyle/>
                    <a:p>
                      <a:r>
                        <a:rPr sz="2025" b="0">
                          <a:solidFill>
                            <a:srgbClr val="14231E"/>
                          </a:solidFill>
                          <a:latin typeface="Arial"/>
                          <a:ea typeface="Arial"/>
                          <a:cs typeface="Arial"/>
                        </a:rPr>
                        <a:t>¿Cómo se conecta?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Nariz, uniones y conjunto comercial</a:t>
                      </a:r>
                    </a:p>
                  </a:txBody>
                  <a:tcPr marL="91440" marR="91440" marT="45720" marB="45720">
                    <a:lnR w="9525">
                      <a:solidFill>
                        <a:srgbClr val="BFCEC3"/>
                      </a:solidFill>
                      <a:prstDash val="solid"/>
                    </a:lnR>
                    <a:lnB w="9525">
                      <a:solidFill>
                        <a:srgbClr val="BFCEC3"/>
                      </a:solidFill>
                      <a:prstDash val="solid"/>
                    </a:lnB>
                    <a:solidFill>
                      <a:srgbClr val="EAF3EC"/>
                    </a:solidFill>
                  </a:tcPr>
                </a:tc>
              </a:tr>
              <a:tr h="718185">
                <a:tc>
                  <a:txBody>
                    <a:bodyPr/>
                    <a:lstStyle/>
                    <a:p>
                      <a:r>
                        <a:rPr sz="2025" b="0">
                          <a:solidFill>
                            <a:srgbClr val="14231E"/>
                          </a:solidFill>
                          <a:latin typeface="Arial"/>
                          <a:ea typeface="Arial"/>
                          <a:cs typeface="Arial"/>
                        </a:rPr>
                        <a:t>¿Cómo se revisa?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Acceso, desmontaje y recuperación</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1845310661"/>
      </p:ext>
    </p:extLst>
  </p:cSld>
</p:sld>
</file>

<file path=ppt/slides/slide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F9E6914-5539-4825-AF10-BB08F58110C3}"/>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Diámetro y longitud cumplen funciones diferentes</a:t>
            </a:r>
          </a:p>
        </p:txBody>
      </p:sp>
      <p:pic>
        <p:nvPicPr>
          <p:cNvPr id="2" name="">
            <a:extLst xmlns:a="http://schemas.openxmlformats.org/drawingml/2006/main">
              <a:ext uri="{FF2B5EF4-FFF2-40B4-BE49-F238E27FC236}">
                <a16:creationId xmlns:a16="http://schemas.microsoft.com/office/drawing/2014/main" id="{98BC057B-B8B6-412A-8735-5328211A9364}"/>
              </a:ext>
            </a:extLst>
          </p:cNvPr>
          <p:cNvPicPr>
            <a:picLocks xmlns:a="http://schemas.openxmlformats.org/drawingml/2006/main" noChangeAspect="1"/>
          </p:cNvPicPr>
          <p:nvPr/>
        </p:nvPicPr>
        <p:blipFill>
          <a:blip xmlns:r="http://schemas.openxmlformats.org/officeDocument/2006/relationships" xmlns:a="http://schemas.openxmlformats.org/drawingml/2006/main" r:embed="R782597df7964416d"/>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6AD7B19-0BF7-4737-9F1A-99FF4060A446}"/>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03   05/24</a:t>
            </a:r>
          </a:p>
        </p:txBody>
      </p:sp>
      <p:sp>
        <p:nvSpPr>
          <p:cNvPr id="4" name="">
            <a:extLst xmlns:a="http://schemas.openxmlformats.org/drawingml/2006/main">
              <a:ext uri="{FF2B5EF4-FFF2-40B4-BE49-F238E27FC236}">
                <a16:creationId xmlns:a16="http://schemas.microsoft.com/office/drawing/2014/main" id="{9F4D0C98-B455-4168-9D0D-2C4A78179411}"/>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Aumentar el diámetro abre más espacio transversal y cambia el contorno exterior del vehículo. Aumentar longitud añade espacio a lo largo del eje, pero no ayuda a que entre una pieza demasiado ancha. Una tarjeta electrónica puede caber por volumen total y aun así no pasar por la abertura. Por eso probaremos envolventes o maquetas simples en lugar de decidir solo con litros o centímetros cúbicos.</a:t>
            </a:r>
          </a:p>
        </p:txBody>
      </p:sp>
    </p:spTree>
    <p:extLst>
      <p:ext uri="{BB962C8B-B14F-4D97-AF65-F5344CB8AC3E}">
        <p14:creationId xmlns:p14="http://schemas.microsoft.com/office/powerpoint/2010/main" val="351700021"/>
      </p:ext>
    </p:extLst>
  </p:cSld>
</p:sld>
</file>

<file path=ppt/slides/slide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8642451-B74F-4B28-B986-BA1C6554FD8D}"/>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Qué sucede al modificar el cuerpo</a:t>
            </a:r>
          </a:p>
        </p:txBody>
      </p:sp>
      <p:pic>
        <p:nvPicPr>
          <p:cNvPr id="2" name="">
            <a:extLst xmlns:a="http://schemas.openxmlformats.org/drawingml/2006/main">
              <a:ext uri="{FF2B5EF4-FFF2-40B4-BE49-F238E27FC236}">
                <a16:creationId xmlns:a16="http://schemas.microsoft.com/office/drawing/2014/main" id="{8188219C-2454-4D67-A8A5-9702B1127B55}"/>
              </a:ext>
            </a:extLst>
          </p:cNvPr>
          <p:cNvPicPr>
            <a:picLocks xmlns:a="http://schemas.openxmlformats.org/drawingml/2006/main" noChangeAspect="1"/>
          </p:cNvPicPr>
          <p:nvPr/>
        </p:nvPicPr>
        <p:blipFill>
          <a:blip xmlns:r="http://schemas.openxmlformats.org/officeDocument/2006/relationships" xmlns:a="http://schemas.openxmlformats.org/drawingml/2006/main" r:embed="R3c87d842662e473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5DE150D-C366-4CBC-9C4A-72DA2FD736E4}"/>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03   06/24</a:t>
            </a:r>
          </a:p>
        </p:txBody>
      </p:sp>
      <p:graphicFrame>
        <p:nvGraphicFramePr>
          <p:cNvPr id="4" name="">
            <a:extLst xmlns:a="http://schemas.openxmlformats.org/drawingml/2006/main">
              <a:ext uri="{FF2B5EF4-FFF2-40B4-BE49-F238E27FC236}">
                <a16:creationId xmlns:a16="http://schemas.microsoft.com/office/drawing/2014/main" id="{A4DDC87C-D12F-4FC4-AEC7-CB1183B581E5}"/>
              </a:ext>
            </a:extLst>
          </p:cNvPr>
          <p:cNvGraphicFramePr/>
          <p:nvPr/>
        </p:nvGraphicFramePr>
        <p:xfrm>
          <a:off xmlns:a="http://schemas.openxmlformats.org/drawingml/2006/main" x="590550" y="1752600"/>
          <a:ext xmlns:a="http://schemas.openxmlformats.org/drawingml/2006/main" cx="11010900" cy="3590925"/>
        </p:xfrm>
        <a:graphic xmlns:a="http://schemas.openxmlformats.org/drawingml/2006/main">
          <a:graphicData uri="http://schemas.openxmlformats.org/drawingml/2006/table">
            <a:tbl>
              <a:tblPr/>
              <a:tblGrid>
                <a:gridCol w="2143125"/>
                <a:gridCol w="4524375"/>
                <a:gridCol w="4343400"/>
              </a:tblGrid>
              <a:tr h="718185">
                <a:tc>
                  <a:txBody>
                    <a:bodyPr/>
                    <a:lstStyle/>
                    <a:p>
                      <a:r>
                        <a:rPr sz="2025" b="1">
                          <a:solidFill>
                            <a:srgbClr val="FFFFFF"/>
                          </a:solidFill>
                          <a:latin typeface="Arial"/>
                          <a:ea typeface="Arial"/>
                          <a:cs typeface="Arial"/>
                        </a:rPr>
                        <a:t>Cambio</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Lo que puede resolver</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Qué vuelve a revisarse</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18185">
                <a:tc>
                  <a:txBody>
                    <a:bodyPr/>
                    <a:lstStyle/>
                    <a:p>
                      <a:r>
                        <a:rPr sz="2025" b="0">
                          <a:solidFill>
                            <a:srgbClr val="14231E"/>
                          </a:solidFill>
                          <a:latin typeface="Arial"/>
                          <a:ea typeface="Arial"/>
                          <a:cs typeface="Arial"/>
                        </a:rPr>
                        <a:t>Mayor diámetro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Paso de una pieza más ancha</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Nariz, aletas, masa y modelo</a:t>
                      </a:r>
                    </a:p>
                  </a:txBody>
                  <a:tcPr marL="91440" marR="91440" marT="45720" marB="45720">
                    <a:lnR w="9525">
                      <a:solidFill>
                        <a:srgbClr val="BFCEC3"/>
                      </a:solidFill>
                      <a:prstDash val="solid"/>
                    </a:lnR>
                    <a:lnB w="9525">
                      <a:solidFill>
                        <a:srgbClr val="BFCEC3"/>
                      </a:solidFill>
                      <a:prstDash val="solid"/>
                    </a:lnB>
                    <a:solidFill>
                      <a:srgbClr val="EAF3EC"/>
                    </a:solidFill>
                  </a:tcPr>
                </a:tc>
              </a:tr>
              <a:tr h="718185">
                <a:tc>
                  <a:txBody>
                    <a:bodyPr/>
                    <a:lstStyle/>
                    <a:p>
                      <a:r>
                        <a:rPr sz="2025" b="0">
                          <a:solidFill>
                            <a:srgbClr val="14231E"/>
                          </a:solidFill>
                          <a:latin typeface="Arial"/>
                          <a:ea typeface="Arial"/>
                          <a:cs typeface="Arial"/>
                        </a:rPr>
                        <a:t>Mayor longitud</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Separar zonas interiores</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Masa, distribución y acceso</a:t>
                      </a:r>
                    </a:p>
                  </a:txBody>
                  <a:tcPr marL="91440" marR="91440" marT="45720" marB="45720">
                    <a:lnR w="9525">
                      <a:solidFill>
                        <a:srgbClr val="BFCEC3"/>
                      </a:solidFill>
                      <a:prstDash val="solid"/>
                    </a:lnR>
                    <a:lnB w="9525">
                      <a:solidFill>
                        <a:srgbClr val="BFCEC3"/>
                      </a:solidFill>
                      <a:prstDash val="solid"/>
                    </a:lnB>
                    <a:solidFill>
                      <a:srgbClr val="FCFCF8"/>
                    </a:solidFill>
                  </a:tcPr>
                </a:tc>
              </a:tr>
              <a:tr h="718185">
                <a:tc>
                  <a:txBody>
                    <a:bodyPr/>
                    <a:lstStyle/>
                    <a:p>
                      <a:r>
                        <a:rPr sz="2025" b="0">
                          <a:solidFill>
                            <a:srgbClr val="14231E"/>
                          </a:solidFill>
                          <a:latin typeface="Arial"/>
                          <a:ea typeface="Arial"/>
                          <a:cs typeface="Arial"/>
                        </a:rPr>
                        <a:t>Mayor espesor</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Cambiar rigidez y fabricación</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Interior útil y masa</a:t>
                      </a:r>
                    </a:p>
                  </a:txBody>
                  <a:tcPr marL="91440" marR="91440" marT="45720" marB="45720">
                    <a:lnR w="9525">
                      <a:solidFill>
                        <a:srgbClr val="BFCEC3"/>
                      </a:solidFill>
                      <a:prstDash val="solid"/>
                    </a:lnR>
                    <a:lnB w="9525">
                      <a:solidFill>
                        <a:srgbClr val="BFCEC3"/>
                      </a:solidFill>
                      <a:prstDash val="solid"/>
                    </a:lnB>
                    <a:solidFill>
                      <a:srgbClr val="EAF3EC"/>
                    </a:solidFill>
                  </a:tcPr>
                </a:tc>
              </a:tr>
              <a:tr h="718185">
                <a:tc>
                  <a:txBody>
                    <a:bodyPr/>
                    <a:lstStyle/>
                    <a:p>
                      <a:r>
                        <a:rPr sz="2025" b="0">
                          <a:solidFill>
                            <a:srgbClr val="14231E"/>
                          </a:solidFill>
                          <a:latin typeface="Arial"/>
                          <a:ea typeface="Arial"/>
                          <a:cs typeface="Arial"/>
                        </a:rPr>
                        <a:t>Otra sección de tubo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Facilitar recambio o unión</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Alineación y continuidad</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1398634836"/>
      </p:ext>
    </p:extLst>
  </p:cSld>
</p:sld>
</file>

<file path=ppt/slides/slide7.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790CF1E-8725-4AB4-A609-4DCC95BBF4DE}"/>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La pieza cabe en el dibujo, pero no entra</a:t>
            </a:r>
          </a:p>
        </p:txBody>
      </p:sp>
      <p:pic>
        <p:nvPicPr>
          <p:cNvPr id="2" name="">
            <a:extLst xmlns:a="http://schemas.openxmlformats.org/drawingml/2006/main">
              <a:ext uri="{FF2B5EF4-FFF2-40B4-BE49-F238E27FC236}">
                <a16:creationId xmlns:a16="http://schemas.microsoft.com/office/drawing/2014/main" id="{14C4DE9C-035E-467F-ADDE-79FAB33AC4D0}"/>
              </a:ext>
            </a:extLst>
          </p:cNvPr>
          <p:cNvPicPr>
            <a:picLocks xmlns:a="http://schemas.openxmlformats.org/drawingml/2006/main" noChangeAspect="1"/>
          </p:cNvPicPr>
          <p:nvPr/>
        </p:nvPicPr>
        <p:blipFill>
          <a:blip xmlns:r="http://schemas.openxmlformats.org/officeDocument/2006/relationships" xmlns:a="http://schemas.openxmlformats.org/drawingml/2006/main" r:embed="R805ccf1405c84f48"/>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06C2A95-BA85-4B5B-99CF-D8C683A6637B}"/>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2   CLASE 03   07/24</a:t>
            </a:r>
          </a:p>
        </p:txBody>
      </p:sp>
      <p:sp>
        <p:nvSpPr>
          <p:cNvPr id="4" name="">
            <a:extLst xmlns:a="http://schemas.openxmlformats.org/drawingml/2006/main">
              <a:ext uri="{FF2B5EF4-FFF2-40B4-BE49-F238E27FC236}">
                <a16:creationId xmlns:a16="http://schemas.microsoft.com/office/drawing/2014/main" id="{E4FC01AB-DE0E-4AE8-9F33-A21DE47B449B}"/>
              </a:ext>
            </a:extLst>
          </p:cNvPr>
          <p:cNvSpPr>
            <a:spLocks xmlns:a="http://schemas.openxmlformats.org/drawingml/2006/main" noGrp="1"/>
          </p:cNvSpPr>
          <p:nvPr/>
        </p:nvSpPr>
        <p:spPr>
          <a:xfrm xmlns:a="http://schemas.openxmlformats.org/drawingml/2006/main">
            <a:off x="590550" y="1809750"/>
            <a:ext cx="107156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Una maqueta de carga tiene 31 mm de ancho y el tubo tiene 30 mm de diámetro interior. Alargar el tubo 40 mm aumenta el espacio disponible.</a:t>
            </a:r>
          </a:p>
        </p:txBody>
      </p:sp>
      <p:sp>
        <p:nvSpPr>
          <p:cNvPr id="5" name="">
            <a:extLst xmlns:a="http://schemas.openxmlformats.org/drawingml/2006/main">
              <a:ext uri="{FF2B5EF4-FFF2-40B4-BE49-F238E27FC236}">
                <a16:creationId xmlns:a16="http://schemas.microsoft.com/office/drawing/2014/main" id="{8073FBE3-C7FF-4304-9CE0-C7BA8F19981D}"/>
              </a:ext>
            </a:extLst>
          </p:cNvPr>
          <p:cNvSpPr>
            <a:spLocks xmlns:a="http://schemas.openxmlformats.org/drawingml/2006/main" noGrp="1"/>
          </p:cNvSpPr>
          <p:nvPr/>
        </p:nvSpPr>
        <p:spPr>
          <a:xfrm xmlns:a="http://schemas.openxmlformats.org/drawingml/2006/main">
            <a:off x="590550" y="4629150"/>
            <a:ext cx="10715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¿Alargar el tubo resuelve una pieza demasiado ancha?</a:t>
            </a:r>
          </a:p>
        </p:txBody>
      </p:sp>
    </p:spTree>
    <p:extLst>
      <p:ext uri="{BB962C8B-B14F-4D97-AF65-F5344CB8AC3E}">
        <p14:creationId xmlns:p14="http://schemas.microsoft.com/office/powerpoint/2010/main" val="1750283615"/>
      </p:ext>
    </p:extLst>
  </p:cSld>
</p:sld>
</file>

<file path=ppt/slides/slide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E1459D5-BC26-414B-84FC-9950D84E4D39}"/>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Un plano sencillo que sí ayuda a fabricar</a:t>
            </a:r>
          </a:p>
        </p:txBody>
      </p:sp>
      <p:pic>
        <p:nvPicPr>
          <p:cNvPr id="2" name="">
            <a:extLst xmlns:a="http://schemas.openxmlformats.org/drawingml/2006/main">
              <a:ext uri="{FF2B5EF4-FFF2-40B4-BE49-F238E27FC236}">
                <a16:creationId xmlns:a16="http://schemas.microsoft.com/office/drawing/2014/main" id="{9C6CA679-3CF7-4D02-B50F-EEF0650ADFA1}"/>
              </a:ext>
            </a:extLst>
          </p:cNvPr>
          <p:cNvPicPr>
            <a:picLocks xmlns:a="http://schemas.openxmlformats.org/drawingml/2006/main" noChangeAspect="1"/>
          </p:cNvPicPr>
          <p:nvPr/>
        </p:nvPicPr>
        <p:blipFill>
          <a:blip xmlns:r="http://schemas.openxmlformats.org/officeDocument/2006/relationships" xmlns:a="http://schemas.openxmlformats.org/drawingml/2006/main" r:embed="Rdd87b9eb014b496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87465E4-0E75-46F6-9723-A8B05424809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03   08/24</a:t>
            </a:r>
          </a:p>
        </p:txBody>
      </p:sp>
      <p:sp>
        <p:nvSpPr>
          <p:cNvPr id="4" name="">
            <a:extLst xmlns:a="http://schemas.openxmlformats.org/drawingml/2006/main">
              <a:ext uri="{FF2B5EF4-FFF2-40B4-BE49-F238E27FC236}">
                <a16:creationId xmlns:a16="http://schemas.microsoft.com/office/drawing/2014/main" id="{3337C788-8F54-4BE7-B596-859914CFB403}"/>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 plano del equipo debe tener vista lateral, una referencia de inicio y cotas legibles. Identifica qué longitud es de una pieza suelta y cuál corresponde al conjunto ensamblado. Si el hombro de la nariz entra en el cuerpo, esa parte queda superpuesta. Sumar todas las longitudes de piezas sin considerar los encajes produce un cohete más corto de lo que se esperaba.</a:t>
            </a:r>
          </a:p>
        </p:txBody>
      </p:sp>
    </p:spTree>
    <p:extLst>
      <p:ext uri="{BB962C8B-B14F-4D97-AF65-F5344CB8AC3E}">
        <p14:creationId xmlns:p14="http://schemas.microsoft.com/office/powerpoint/2010/main" val="70364286"/>
      </p:ext>
    </p:extLst>
  </p:cSld>
</p:sld>
</file>

<file path=ppt/slides/slide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89B8A87-8BEA-48F3-AF71-112D03FD38AE}"/>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Información mínima del plano</a:t>
            </a:r>
          </a:p>
        </p:txBody>
      </p:sp>
      <p:pic>
        <p:nvPicPr>
          <p:cNvPr id="2" name="">
            <a:extLst xmlns:a="http://schemas.openxmlformats.org/drawingml/2006/main">
              <a:ext uri="{FF2B5EF4-FFF2-40B4-BE49-F238E27FC236}">
                <a16:creationId xmlns:a16="http://schemas.microsoft.com/office/drawing/2014/main" id="{37B62F4E-9404-4481-960A-1FFBC06C26D4}"/>
              </a:ext>
            </a:extLst>
          </p:cNvPr>
          <p:cNvPicPr>
            <a:picLocks xmlns:a="http://schemas.openxmlformats.org/drawingml/2006/main" noChangeAspect="1"/>
          </p:cNvPicPr>
          <p:nvPr/>
        </p:nvPicPr>
        <p:blipFill>
          <a:blip xmlns:r="http://schemas.openxmlformats.org/officeDocument/2006/relationships" xmlns:a="http://schemas.openxmlformats.org/drawingml/2006/main" r:embed="R50ad3e704fe4492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C011D1E-D740-404E-B964-DAE4D02E7A5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03   09/24</a:t>
            </a:r>
          </a:p>
        </p:txBody>
      </p:sp>
      <p:graphicFrame>
        <p:nvGraphicFramePr>
          <p:cNvPr id="4" name="">
            <a:extLst xmlns:a="http://schemas.openxmlformats.org/drawingml/2006/main">
              <a:ext uri="{FF2B5EF4-FFF2-40B4-BE49-F238E27FC236}">
                <a16:creationId xmlns:a16="http://schemas.microsoft.com/office/drawing/2014/main" id="{ACDEC348-C76E-401E-AD81-CDFB15B2277A}"/>
              </a:ext>
            </a:extLst>
          </p:cNvPr>
          <p:cNvGraphicFramePr/>
          <p:nvPr/>
        </p:nvGraphicFramePr>
        <p:xfrm>
          <a:off xmlns:a="http://schemas.openxmlformats.org/drawingml/2006/main" x="590550" y="1752600"/>
          <a:ext xmlns:a="http://schemas.openxmlformats.org/drawingml/2006/main" cx="11010900" cy="3952875"/>
        </p:xfrm>
        <a:graphic xmlns:a="http://schemas.openxmlformats.org/drawingml/2006/main">
          <a:graphicData uri="http://schemas.openxmlformats.org/drawingml/2006/table">
            <a:tbl>
              <a:tblPr/>
              <a:tblGrid>
                <a:gridCol w="5505450"/>
                <a:gridCol w="5505450"/>
              </a:tblGrid>
              <a:tr h="658813">
                <a:tc>
                  <a:txBody>
                    <a:bodyPr/>
                    <a:lstStyle/>
                    <a:p>
                      <a:r>
                        <a:rPr sz="2025" b="1">
                          <a:solidFill>
                            <a:srgbClr val="FFFFFF"/>
                          </a:solidFill>
                          <a:latin typeface="Arial"/>
                          <a:ea typeface="Arial"/>
                          <a:cs typeface="Arial"/>
                        </a:rPr>
                        <a:t>Elemento</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Dato que debe aparecer</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658813">
                <a:tc>
                  <a:txBody>
                    <a:bodyPr/>
                    <a:lstStyle/>
                    <a:p>
                      <a:r>
                        <a:rPr sz="2025" b="0">
                          <a:solidFill>
                            <a:srgbClr val="14231E"/>
                          </a:solidFill>
                          <a:latin typeface="Arial"/>
                          <a:ea typeface="Arial"/>
                          <a:cs typeface="Arial"/>
                        </a:rPr>
                        <a:t>Nariz</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Longitud visible, base y hombro</a:t>
                      </a:r>
                    </a:p>
                  </a:txBody>
                  <a:tcPr marL="91440" marR="91440" marT="45720" marB="45720">
                    <a:lnR w="9525">
                      <a:solidFill>
                        <a:srgbClr val="BFCEC3"/>
                      </a:solidFill>
                      <a:prstDash val="solid"/>
                    </a:lnR>
                    <a:lnB w="9525">
                      <a:solidFill>
                        <a:srgbClr val="BFCEC3"/>
                      </a:solidFill>
                      <a:prstDash val="solid"/>
                    </a:lnB>
                    <a:solidFill>
                      <a:srgbClr val="EAF3EC"/>
                    </a:solidFill>
                  </a:tcPr>
                </a:tc>
              </a:tr>
              <a:tr h="658813">
                <a:tc>
                  <a:txBody>
                    <a:bodyPr/>
                    <a:lstStyle/>
                    <a:p>
                      <a:r>
                        <a:rPr sz="2025" b="0">
                          <a:solidFill>
                            <a:srgbClr val="14231E"/>
                          </a:solidFill>
                          <a:latin typeface="Arial"/>
                          <a:ea typeface="Arial"/>
                          <a:cs typeface="Arial"/>
                        </a:rPr>
                        <a:t>Cuerpo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Longitud y diámetros</a:t>
                      </a:r>
                    </a:p>
                  </a:txBody>
                  <a:tcPr marL="91440" marR="91440" marT="45720" marB="45720">
                    <a:lnR w="9525">
                      <a:solidFill>
                        <a:srgbClr val="BFCEC3"/>
                      </a:solidFill>
                      <a:prstDash val="solid"/>
                    </a:lnR>
                    <a:lnB w="9525">
                      <a:solidFill>
                        <a:srgbClr val="BFCEC3"/>
                      </a:solidFill>
                      <a:prstDash val="solid"/>
                    </a:lnB>
                    <a:solidFill>
                      <a:srgbClr val="FCFCF8"/>
                    </a:solidFill>
                  </a:tcPr>
                </a:tc>
              </a:tr>
              <a:tr h="658813">
                <a:tc>
                  <a:txBody>
                    <a:bodyPr/>
                    <a:lstStyle/>
                    <a:p>
                      <a:r>
                        <a:rPr sz="2025" b="0">
                          <a:solidFill>
                            <a:srgbClr val="14231E"/>
                          </a:solidFill>
                          <a:latin typeface="Arial"/>
                          <a:ea typeface="Arial"/>
                          <a:cs typeface="Arial"/>
                        </a:rPr>
                        <a:t>Aletas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Zona de unión y posición longitudinal</a:t>
                      </a:r>
                    </a:p>
                  </a:txBody>
                  <a:tcPr marL="91440" marR="91440" marT="45720" marB="45720">
                    <a:lnR w="9525">
                      <a:solidFill>
                        <a:srgbClr val="BFCEC3"/>
                      </a:solidFill>
                      <a:prstDash val="solid"/>
                    </a:lnR>
                    <a:lnB w="9525">
                      <a:solidFill>
                        <a:srgbClr val="BFCEC3"/>
                      </a:solidFill>
                      <a:prstDash val="solid"/>
                    </a:lnB>
                    <a:solidFill>
                      <a:srgbClr val="EAF3EC"/>
                    </a:solidFill>
                  </a:tcPr>
                </a:tc>
              </a:tr>
              <a:tr h="658813">
                <a:tc>
                  <a:txBody>
                    <a:bodyPr/>
                    <a:lstStyle/>
                    <a:p>
                      <a:r>
                        <a:rPr sz="2025" b="0">
                          <a:solidFill>
                            <a:srgbClr val="14231E"/>
                          </a:solidFill>
                          <a:latin typeface="Arial"/>
                          <a:ea typeface="Arial"/>
                          <a:cs typeface="Arial"/>
                        </a:rPr>
                        <a:t>Recuperación</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Zona reservada y acceso</a:t>
                      </a:r>
                    </a:p>
                  </a:txBody>
                  <a:tcPr marL="91440" marR="91440" marT="45720" marB="45720">
                    <a:lnR w="9525">
                      <a:solidFill>
                        <a:srgbClr val="BFCEC3"/>
                      </a:solidFill>
                      <a:prstDash val="solid"/>
                    </a:lnR>
                    <a:lnB w="9525">
                      <a:solidFill>
                        <a:srgbClr val="BFCEC3"/>
                      </a:solidFill>
                      <a:prstDash val="solid"/>
                    </a:lnB>
                    <a:solidFill>
                      <a:srgbClr val="FCFCF8"/>
                    </a:solidFill>
                  </a:tcPr>
                </a:tc>
              </a:tr>
              <a:tr h="658813">
                <a:tc>
                  <a:txBody>
                    <a:bodyPr/>
                    <a:lstStyle/>
                    <a:p>
                      <a:r>
                        <a:rPr sz="2025" b="0">
                          <a:solidFill>
                            <a:srgbClr val="14231E"/>
                          </a:solidFill>
                          <a:latin typeface="Arial"/>
                          <a:ea typeface="Arial"/>
                          <a:cs typeface="Arial"/>
                        </a:rPr>
                        <a:t>Conjunto comercial</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Referencia de componente y envolvente</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304957692"/>
      </p:ext>
    </p:extLst>
  </p:cSld>
</p:sld>
</file>

<file path=ppt/slides/slide10.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256F660-778F-4932-A0AA-6B034802B67A}"/>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Longitud ensamblada</a:t>
            </a:r>
          </a:p>
        </p:txBody>
      </p:sp>
      <p:pic>
        <p:nvPicPr>
          <p:cNvPr id="2" name="">
            <a:extLst xmlns:a="http://schemas.openxmlformats.org/drawingml/2006/main">
              <a:ext uri="{FF2B5EF4-FFF2-40B4-BE49-F238E27FC236}">
                <a16:creationId xmlns:a16="http://schemas.microsoft.com/office/drawing/2014/main" id="{FB6A5577-E6E1-4391-B804-F66687320AC9}"/>
              </a:ext>
            </a:extLst>
          </p:cNvPr>
          <p:cNvPicPr>
            <a:picLocks xmlns:a="http://schemas.openxmlformats.org/drawingml/2006/main" noChangeAspect="1"/>
          </p:cNvPicPr>
          <p:nvPr/>
        </p:nvPicPr>
        <p:blipFill>
          <a:blip xmlns:r="http://schemas.openxmlformats.org/officeDocument/2006/relationships" xmlns:a="http://schemas.openxmlformats.org/drawingml/2006/main" r:embed="Rc650df82b80a4968"/>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CDD38B2-533E-4AF6-980C-3023A193AFF6}"/>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2   CLASE 03   10/24</a:t>
            </a:r>
          </a:p>
        </p:txBody>
      </p:sp>
      <p:sp>
        <p:nvSpPr>
          <p:cNvPr id="4" name="">
            <a:extLst xmlns:a="http://schemas.openxmlformats.org/drawingml/2006/main">
              <a:ext uri="{FF2B5EF4-FFF2-40B4-BE49-F238E27FC236}">
                <a16:creationId xmlns:a16="http://schemas.microsoft.com/office/drawing/2014/main" id="{6E713701-F717-419C-90C8-6FDC7ACB3A9B}"/>
              </a:ext>
            </a:extLst>
          </p:cNvPr>
          <p:cNvSpPr>
            <a:spLocks xmlns:a="http://schemas.openxmlformats.org/drawingml/2006/main" noGrp="1"/>
          </p:cNvSpPr>
          <p:nvPr/>
        </p:nvSpPr>
        <p:spPr>
          <a:xfrm xmlns:a="http://schemas.openxmlformats.org/drawingml/2006/main">
            <a:off x="590550" y="1809750"/>
            <a:ext cx="107156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Nariz visible de 70 mm, cuerpo de 280 mm y hombro de 20 mm que queda completamente dentro del cuerpo.</a:t>
            </a:r>
          </a:p>
        </p:txBody>
      </p:sp>
      <p:sp>
        <p:nvSpPr>
          <p:cNvPr id="5" name="">
            <a:extLst xmlns:a="http://schemas.openxmlformats.org/drawingml/2006/main">
              <a:ext uri="{FF2B5EF4-FFF2-40B4-BE49-F238E27FC236}">
                <a16:creationId xmlns:a16="http://schemas.microsoft.com/office/drawing/2014/main" id="{9695EE6A-D6D3-4542-8D4C-A1CA9DD7324E}"/>
              </a:ext>
            </a:extLst>
          </p:cNvPr>
          <p:cNvSpPr>
            <a:spLocks xmlns:a="http://schemas.openxmlformats.org/drawingml/2006/main" noGrp="1"/>
          </p:cNvSpPr>
          <p:nvPr/>
        </p:nvSpPr>
        <p:spPr>
          <a:xfrm xmlns:a="http://schemas.openxmlformats.org/drawingml/2006/main">
            <a:off x="590550" y="4629150"/>
            <a:ext cx="10715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¿Qué longitud del hombro queda oculta?</a:t>
            </a:r>
          </a:p>
        </p:txBody>
      </p:sp>
    </p:spTree>
    <p:extLst>
      <p:ext uri="{BB962C8B-B14F-4D97-AF65-F5344CB8AC3E}">
        <p14:creationId xmlns:p14="http://schemas.microsoft.com/office/powerpoint/2010/main" val="1558576789"/>
      </p:ext>
    </p:extLst>
  </p:cSld>
</p:sld>
</file>

<file path=ppt/slides/slide1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076BB17-2B5D-4ED6-ADD0-C04060178355}"/>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OpenRocket: representar el tubo real</a:t>
            </a:r>
          </a:p>
        </p:txBody>
      </p:sp>
      <p:pic>
        <p:nvPicPr>
          <p:cNvPr id="2" name="">
            <a:extLst xmlns:a="http://schemas.openxmlformats.org/drawingml/2006/main">
              <a:ext uri="{FF2B5EF4-FFF2-40B4-BE49-F238E27FC236}">
                <a16:creationId xmlns:a16="http://schemas.microsoft.com/office/drawing/2014/main" id="{59BD3093-D067-4BD3-8B69-7D80058E23C8}"/>
              </a:ext>
            </a:extLst>
          </p:cNvPr>
          <p:cNvPicPr>
            <a:picLocks xmlns:a="http://schemas.openxmlformats.org/drawingml/2006/main" noChangeAspect="1"/>
          </p:cNvPicPr>
          <p:nvPr/>
        </p:nvPicPr>
        <p:blipFill>
          <a:blip xmlns:r="http://schemas.openxmlformats.org/officeDocument/2006/relationships" xmlns:a="http://schemas.openxmlformats.org/drawingml/2006/main" r:embed="R92d80e33092949ee"/>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CD59FC0-A681-4701-87C7-6F9AD40D3C6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03   11/24</a:t>
            </a:r>
          </a:p>
        </p:txBody>
      </p:sp>
      <p:sp>
        <p:nvSpPr>
          <p:cNvPr id="4" name="">
            <a:extLst xmlns:a="http://schemas.openxmlformats.org/drawingml/2006/main">
              <a:ext uri="{FF2B5EF4-FFF2-40B4-BE49-F238E27FC236}">
                <a16:creationId xmlns:a16="http://schemas.microsoft.com/office/drawing/2014/main" id="{C3986C58-8BD0-431A-AFF4-A225EA3780BF}"/>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 modelo facilita ver posiciones, pero no representa automáticamente todos los cables, pliegues y detalles de una pieza impresa. El plano de fabricación y la prueba física siguen siendo necesarios. [OR1, OR2]</a:t>
            </a:r>
          </a:p>
        </p:txBody>
      </p:sp>
    </p:spTree>
    <p:extLst>
      <p:ext uri="{BB962C8B-B14F-4D97-AF65-F5344CB8AC3E}">
        <p14:creationId xmlns:p14="http://schemas.microsoft.com/office/powerpoint/2010/main" val="289939134"/>
      </p:ext>
    </p:extLst>
  </p:cSld>
</p:sld>
</file>

<file path=ppt/slides/slide1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53EFA74-ED48-413E-A86D-F777BC91150F}"/>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OpenRocket: representar el tubo real</a:t>
            </a:r>
          </a:p>
        </p:txBody>
      </p:sp>
      <p:pic>
        <p:nvPicPr>
          <p:cNvPr id="2" name="">
            <a:extLst xmlns:a="http://schemas.openxmlformats.org/drawingml/2006/main">
              <a:ext uri="{FF2B5EF4-FFF2-40B4-BE49-F238E27FC236}">
                <a16:creationId xmlns:a16="http://schemas.microsoft.com/office/drawing/2014/main" id="{952DBCD6-E0FD-4F5B-99DE-35B4DB62E30E}"/>
              </a:ext>
            </a:extLst>
          </p:cNvPr>
          <p:cNvPicPr>
            <a:picLocks xmlns:a="http://schemas.openxmlformats.org/drawingml/2006/main" noChangeAspect="1"/>
          </p:cNvPicPr>
          <p:nvPr/>
        </p:nvPicPr>
        <p:blipFill>
          <a:blip xmlns:r="http://schemas.openxmlformats.org/officeDocument/2006/relationships" xmlns:a="http://schemas.openxmlformats.org/drawingml/2006/main" r:embed="R5d14040d0c46435e"/>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E760A9F-653E-49CD-B38A-317C35C94266}"/>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03   12/24</a:t>
            </a:r>
          </a:p>
        </p:txBody>
      </p:sp>
      <p:pic>
        <p:nvPicPr>
          <p:cNvPr id="4" name="">
            <a:extLst xmlns:a="http://schemas.openxmlformats.org/drawingml/2006/main">
              <a:ext uri="{FF2B5EF4-FFF2-40B4-BE49-F238E27FC236}">
                <a16:creationId xmlns:a16="http://schemas.microsoft.com/office/drawing/2014/main" id="{63F825AC-7B0D-4D76-B965-D61369E6DEE3}"/>
              </a:ext>
            </a:extLst>
          </p:cNvPr>
          <p:cNvPicPr>
            <a:picLocks xmlns:a="http://schemas.openxmlformats.org/drawingml/2006/main" noChangeAspect="1"/>
          </p:cNvPicPr>
          <p:nvPr/>
        </p:nvPicPr>
        <p:blipFill>
          <a:blip xmlns:r="http://schemas.openxmlformats.org/officeDocument/2006/relationships" xmlns:a="http://schemas.openxmlformats.org/drawingml/2006/main" r:embed="R123333e474274fd8"/>
          <a:stretch xmlns:a="http://schemas.openxmlformats.org/drawingml/2006/main"/>
        </p:blipFill>
        <p:spPr>
          <a:xfrm xmlns:a="http://schemas.openxmlformats.org/drawingml/2006/main">
            <a:off x="1406750" y="1657350"/>
            <a:ext cx="5778051" cy="39814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1224813-19F9-460E-91CF-435E3CBC04D3}"/>
              </a:ext>
            </a:extLst>
          </p:cNvPr>
          <p:cNvSpPr>
            <a:spLocks xmlns:a="http://schemas.openxmlformats.org/drawingml/2006/main" noGrp="1"/>
          </p:cNvSpPr>
          <p:nvPr/>
        </p:nvSpPr>
        <p:spPr>
          <a:xfrm xmlns:a="http://schemas.openxmlformats.org/drawingml/2006/main">
            <a:off x="8315325" y="1781175"/>
            <a:ext cx="3248025" cy="3590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44F3D"/>
                </a:solidFill>
                <a:latin typeface="Arial"/>
                <a:ea typeface="Arial"/>
                <a:cs typeface="Arial"/>
              </a:defRPr>
            </a:defPPr>
            <a:lvl1pPr>
              <a:defRPr sz="2325" b="1">
                <a:solidFill>
                  <a:srgbClr val="244F3D"/>
                </a:solidFill>
                <a:latin typeface="Arial"/>
                <a:ea typeface="Arial"/>
                <a:cs typeface="Arial"/>
              </a:defRPr>
            </a:lvl1pPr>
            <a:lvl2pPr>
              <a:defRPr sz="2325" b="1">
                <a:solidFill>
                  <a:srgbClr val="244F3D"/>
                </a:solidFill>
                <a:latin typeface="Arial"/>
                <a:ea typeface="Arial"/>
                <a:cs typeface="Arial"/>
              </a:defRPr>
            </a:lvl2pPr>
            <a:lvl3pPr>
              <a:defRPr sz="2325" b="1">
                <a:solidFill>
                  <a:srgbClr val="244F3D"/>
                </a:solidFill>
                <a:latin typeface="Arial"/>
                <a:ea typeface="Arial"/>
                <a:cs typeface="Arial"/>
              </a:defRPr>
            </a:lvl3pPr>
            <a:lvl4pPr>
              <a:defRPr sz="2325" b="1">
                <a:solidFill>
                  <a:srgbClr val="244F3D"/>
                </a:solidFill>
                <a:latin typeface="Arial"/>
                <a:ea typeface="Arial"/>
                <a:cs typeface="Arial"/>
              </a:defRPr>
            </a:lvl4pPr>
            <a:lvl5pPr>
              <a:defRPr sz="2325" b="1">
                <a:solidFill>
                  <a:srgbClr val="244F3D"/>
                </a:solidFill>
                <a:latin typeface="Arial"/>
                <a:ea typeface="Arial"/>
                <a:cs typeface="Arial"/>
              </a:defRPr>
            </a:lvl5pPr>
            <a:lvl6pPr>
              <a:defRPr sz="2325" b="1">
                <a:solidFill>
                  <a:srgbClr val="244F3D"/>
                </a:solidFill>
                <a:latin typeface="Arial"/>
                <a:ea typeface="Arial"/>
                <a:cs typeface="Arial"/>
              </a:defRPr>
            </a:lvl6pPr>
            <a:lvl7pPr>
              <a:defRPr sz="2325" b="1">
                <a:solidFill>
                  <a:srgbClr val="244F3D"/>
                </a:solidFill>
                <a:latin typeface="Arial"/>
                <a:ea typeface="Arial"/>
                <a:cs typeface="Arial"/>
              </a:defRPr>
            </a:lvl7pPr>
            <a:lvl8pPr>
              <a:defRPr sz="2325" b="1">
                <a:solidFill>
                  <a:srgbClr val="244F3D"/>
                </a:solidFill>
                <a:latin typeface="Arial"/>
                <a:ea typeface="Arial"/>
                <a:cs typeface="Arial"/>
              </a:defRPr>
            </a:lvl8pPr>
            <a:lvl9pPr>
              <a:defRPr sz="2325" b="1">
                <a:solidFill>
                  <a:srgbClr val="244F3D"/>
                </a:solidFill>
                <a:latin typeface="Arial"/>
                <a:ea typeface="Arial"/>
                <a:cs typeface="Arial"/>
              </a:defRPr>
            </a:lvl9pPr>
          </a:lstStyle>
          <a:p xmlns:a="http://schemas.openxmlformats.org/drawingml/2006/main">
            <a:pPr>
              <a:defRPr sz="2325" b="1">
                <a:solidFill>
                  <a:srgbClr val="244F3D"/>
                </a:solidFill>
                <a:latin typeface="Arial"/>
                <a:ea typeface="Arial"/>
                <a:cs typeface="Arial"/>
              </a:defRPr>
            </a:pPr>
            <a:r>
              <a:rPr sz="2325" b="1">
                <a:solidFill>
                  <a:srgbClr val="244F3D"/>
                </a:solidFill>
                <a:latin typeface="Arial"/>
                <a:ea typeface="Arial"/>
                <a:cs typeface="Arial"/>
              </a:rPr>
              <a:t>¿Qué representa Filled en tu cuerpo?</a:t>
            </a:r>
          </a:p>
        </p:txBody>
      </p:sp>
      <p:sp>
        <p:nvSpPr>
          <p:cNvPr id="6" name="">
            <a:extLst xmlns:a="http://schemas.openxmlformats.org/drawingml/2006/main">
              <a:ext uri="{FF2B5EF4-FFF2-40B4-BE49-F238E27FC236}">
                <a16:creationId xmlns:a16="http://schemas.microsoft.com/office/drawing/2014/main" id="{BE2C4809-2144-4111-83C7-C22D63FCB9AB}"/>
              </a:ext>
            </a:extLst>
          </p:cNvPr>
          <p:cNvSpPr>
            <a:spLocks xmlns:a="http://schemas.openxmlformats.org/drawingml/2006/main" noGrp="1"/>
          </p:cNvSpPr>
          <p:nvPr/>
        </p:nvSpPr>
        <p:spPr>
          <a:xfrm xmlns:a="http://schemas.openxmlformats.org/drawingml/2006/main">
            <a:off x="590550" y="58483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8665F"/>
                </a:solidFill>
                <a:latin typeface="Arial"/>
                <a:ea typeface="Arial"/>
                <a:cs typeface="Arial"/>
              </a:defRPr>
            </a:defPPr>
            <a:lvl1pPr>
              <a:defRPr sz="1350" b="0">
                <a:solidFill>
                  <a:srgbClr val="58665F"/>
                </a:solidFill>
                <a:latin typeface="Arial"/>
                <a:ea typeface="Arial"/>
                <a:cs typeface="Arial"/>
              </a:defRPr>
            </a:lvl1pPr>
            <a:lvl2pPr>
              <a:defRPr sz="1350" b="0">
                <a:solidFill>
                  <a:srgbClr val="58665F"/>
                </a:solidFill>
                <a:latin typeface="Arial"/>
                <a:ea typeface="Arial"/>
                <a:cs typeface="Arial"/>
              </a:defRPr>
            </a:lvl2pPr>
            <a:lvl3pPr>
              <a:defRPr sz="1350" b="0">
                <a:solidFill>
                  <a:srgbClr val="58665F"/>
                </a:solidFill>
                <a:latin typeface="Arial"/>
                <a:ea typeface="Arial"/>
                <a:cs typeface="Arial"/>
              </a:defRPr>
            </a:lvl3pPr>
            <a:lvl4pPr>
              <a:defRPr sz="1350" b="0">
                <a:solidFill>
                  <a:srgbClr val="58665F"/>
                </a:solidFill>
                <a:latin typeface="Arial"/>
                <a:ea typeface="Arial"/>
                <a:cs typeface="Arial"/>
              </a:defRPr>
            </a:lvl4pPr>
            <a:lvl5pPr>
              <a:defRPr sz="1350" b="0">
                <a:solidFill>
                  <a:srgbClr val="58665F"/>
                </a:solidFill>
                <a:latin typeface="Arial"/>
                <a:ea typeface="Arial"/>
                <a:cs typeface="Arial"/>
              </a:defRPr>
            </a:lvl5pPr>
            <a:lvl6pPr>
              <a:defRPr sz="1350" b="0">
                <a:solidFill>
                  <a:srgbClr val="58665F"/>
                </a:solidFill>
                <a:latin typeface="Arial"/>
                <a:ea typeface="Arial"/>
                <a:cs typeface="Arial"/>
              </a:defRPr>
            </a:lvl6pPr>
            <a:lvl7pPr>
              <a:defRPr sz="1350" b="0">
                <a:solidFill>
                  <a:srgbClr val="58665F"/>
                </a:solidFill>
                <a:latin typeface="Arial"/>
                <a:ea typeface="Arial"/>
                <a:cs typeface="Arial"/>
              </a:defRPr>
            </a:lvl7pPr>
            <a:lvl8pPr>
              <a:defRPr sz="1350" b="0">
                <a:solidFill>
                  <a:srgbClr val="58665F"/>
                </a:solidFill>
                <a:latin typeface="Arial"/>
                <a:ea typeface="Arial"/>
                <a:cs typeface="Arial"/>
              </a:defRPr>
            </a:lvl8pPr>
            <a:lvl9pPr>
              <a:defRPr sz="1350" b="0">
                <a:solidFill>
                  <a:srgbClr val="58665F"/>
                </a:solidFill>
                <a:latin typeface="Arial"/>
                <a:ea typeface="Arial"/>
                <a:cs typeface="Arial"/>
              </a:defRPr>
            </a:lvl9pPr>
          </a:lstStyle>
          <a:p xmlns:a="http://schemas.openxmlformats.org/drawingml/2006/main">
            <a:pPr>
              <a:defRPr sz="1350" b="0">
                <a:solidFill>
                  <a:srgbClr val="58665F"/>
                </a:solidFill>
                <a:latin typeface="Arial"/>
                <a:ea typeface="Arial"/>
                <a:cs typeface="Arial"/>
              </a:defRPr>
            </a:pPr>
            <a:r>
              <a:rPr sz="1350" b="0">
                <a:solidFill>
                  <a:srgbClr val="58665F"/>
                </a:solidFill>
                <a:latin typeface="Arial"/>
                <a:ea typeface="Arial"/>
                <a:cs typeface="Arial"/>
              </a:rPr>
              <a:t>Configuración de cuerpo del manual de OpenRocket. Revisa unidades, diámetro exterior, interior, pared y casilla Filled.</a:t>
            </a:r>
          </a:p>
        </p:txBody>
      </p:sp>
    </p:spTree>
    <p:extLst>
      <p:ext uri="{BB962C8B-B14F-4D97-AF65-F5344CB8AC3E}">
        <p14:creationId xmlns:p14="http://schemas.microsoft.com/office/powerpoint/2010/main" val="239986055"/>
      </p:ext>
    </p:extLst>
  </p:cSld>
</p:sld>
</file>

<file path=ppt/slides/slide1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9EEA263-E908-4658-ACB9-6AD5B71345EA}"/>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OpenRocket: representar el tubo real</a:t>
            </a:r>
          </a:p>
        </p:txBody>
      </p:sp>
      <p:pic>
        <p:nvPicPr>
          <p:cNvPr id="2" name="">
            <a:extLst xmlns:a="http://schemas.openxmlformats.org/drawingml/2006/main">
              <a:ext uri="{FF2B5EF4-FFF2-40B4-BE49-F238E27FC236}">
                <a16:creationId xmlns:a16="http://schemas.microsoft.com/office/drawing/2014/main" id="{BF11B40E-A57C-4795-82E3-6D80878522B1}"/>
              </a:ext>
            </a:extLst>
          </p:cNvPr>
          <p:cNvPicPr>
            <a:picLocks xmlns:a="http://schemas.openxmlformats.org/drawingml/2006/main" noChangeAspect="1"/>
          </p:cNvPicPr>
          <p:nvPr/>
        </p:nvPicPr>
        <p:blipFill>
          <a:blip xmlns:r="http://schemas.openxmlformats.org/officeDocument/2006/relationships" xmlns:a="http://schemas.openxmlformats.org/drawingml/2006/main" r:embed="R1b1d542f5ce74262"/>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95FB64B-21C9-4D21-A627-2A07EBE62E0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03   13/24</a:t>
            </a:r>
          </a:p>
        </p:txBody>
      </p:sp>
      <p:sp>
        <p:nvSpPr>
          <p:cNvPr id="4" name="">
            <a:extLst xmlns:a="http://schemas.openxmlformats.org/drawingml/2006/main">
              <a:ext uri="{FF2B5EF4-FFF2-40B4-BE49-F238E27FC236}">
                <a16:creationId xmlns:a16="http://schemas.microsoft.com/office/drawing/2014/main" id="{A50E774F-0D61-412A-AFBD-B9258D42382D}"/>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4231E"/>
                </a:solidFill>
                <a:latin typeface="Arial"/>
                <a:ea typeface="Arial"/>
                <a:cs typeface="Arial"/>
              </a:defRPr>
            </a:defPPr>
            <a:lvl1pPr>
              <a:defRPr sz="1950" b="0">
                <a:solidFill>
                  <a:srgbClr val="14231E"/>
                </a:solidFill>
                <a:latin typeface="Arial"/>
                <a:ea typeface="Arial"/>
                <a:cs typeface="Arial"/>
              </a:defRPr>
            </a:lvl1pPr>
            <a:lvl2pPr>
              <a:defRPr sz="1950" b="0">
                <a:solidFill>
                  <a:srgbClr val="14231E"/>
                </a:solidFill>
                <a:latin typeface="Arial"/>
                <a:ea typeface="Arial"/>
                <a:cs typeface="Arial"/>
              </a:defRPr>
            </a:lvl2pPr>
            <a:lvl3pPr>
              <a:defRPr sz="1950" b="0">
                <a:solidFill>
                  <a:srgbClr val="14231E"/>
                </a:solidFill>
                <a:latin typeface="Arial"/>
                <a:ea typeface="Arial"/>
                <a:cs typeface="Arial"/>
              </a:defRPr>
            </a:lvl3pPr>
            <a:lvl4pPr>
              <a:defRPr sz="1950" b="0">
                <a:solidFill>
                  <a:srgbClr val="14231E"/>
                </a:solidFill>
                <a:latin typeface="Arial"/>
                <a:ea typeface="Arial"/>
                <a:cs typeface="Arial"/>
              </a:defRPr>
            </a:lvl4pPr>
            <a:lvl5pPr>
              <a:defRPr sz="1950" b="0">
                <a:solidFill>
                  <a:srgbClr val="14231E"/>
                </a:solidFill>
                <a:latin typeface="Arial"/>
                <a:ea typeface="Arial"/>
                <a:cs typeface="Arial"/>
              </a:defRPr>
            </a:lvl5pPr>
            <a:lvl6pPr>
              <a:defRPr sz="1950" b="0">
                <a:solidFill>
                  <a:srgbClr val="14231E"/>
                </a:solidFill>
                <a:latin typeface="Arial"/>
                <a:ea typeface="Arial"/>
                <a:cs typeface="Arial"/>
              </a:defRPr>
            </a:lvl6pPr>
            <a:lvl7pPr>
              <a:defRPr sz="1950" b="0">
                <a:solidFill>
                  <a:srgbClr val="14231E"/>
                </a:solidFill>
                <a:latin typeface="Arial"/>
                <a:ea typeface="Arial"/>
                <a:cs typeface="Arial"/>
              </a:defRPr>
            </a:lvl7pPr>
            <a:lvl8pPr>
              <a:defRPr sz="1950" b="0">
                <a:solidFill>
                  <a:srgbClr val="14231E"/>
                </a:solidFill>
                <a:latin typeface="Arial"/>
                <a:ea typeface="Arial"/>
                <a:cs typeface="Arial"/>
              </a:defRPr>
            </a:lvl8pPr>
            <a:lvl9pPr>
              <a:defRPr sz="1950" b="0">
                <a:solidFill>
                  <a:srgbClr val="14231E"/>
                </a:solidFill>
                <a:latin typeface="Arial"/>
                <a:ea typeface="Arial"/>
                <a:cs typeface="Arial"/>
              </a:defRPr>
            </a:lvl9pPr>
          </a:lstStyle>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1. Abre el archivo del equipo y guarda una revisión CUERPO_v02. Selecciona Body Tube.</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2. Sustituye longitud y diámetros por las medidas disponibles. Conserva una tabla con el dato anterior y el nuevo.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3. Comprueba que Filled esté desactivado si el tubo es hueco. Revisa cómo se relacionan espesor e interior.</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4. Añade los componentes interiores que ya tienen referencia y dimensiones conocidas. Nómbralos según su función.</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5. Usa la vista interior para revisar interferencias. Guarda una captura y anota lo que todavía no puede comprobarse.</a:t>
            </a:r>
          </a:p>
        </p:txBody>
      </p:sp>
    </p:spTree>
    <p:extLst>
      <p:ext uri="{BB962C8B-B14F-4D97-AF65-F5344CB8AC3E}">
        <p14:creationId xmlns:p14="http://schemas.microsoft.com/office/powerpoint/2010/main" val="1139657401"/>
      </p:ext>
    </p:extLst>
  </p:cSld>
</p:sld>
</file>

<file path=ppt/slides/slide1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56E82B9-E585-401D-AA79-F241028C9CF6}"/>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Del tubo disponible al corte y al montaje</a:t>
            </a:r>
          </a:p>
        </p:txBody>
      </p:sp>
      <p:pic>
        <p:nvPicPr>
          <p:cNvPr id="2" name="">
            <a:extLst xmlns:a="http://schemas.openxmlformats.org/drawingml/2006/main">
              <a:ext uri="{FF2B5EF4-FFF2-40B4-BE49-F238E27FC236}">
                <a16:creationId xmlns:a16="http://schemas.microsoft.com/office/drawing/2014/main" id="{E7F45082-3937-4B6E-B133-92D21304739E}"/>
              </a:ext>
            </a:extLst>
          </p:cNvPr>
          <p:cNvPicPr>
            <a:picLocks xmlns:a="http://schemas.openxmlformats.org/drawingml/2006/main" noChangeAspect="1"/>
          </p:cNvPicPr>
          <p:nvPr/>
        </p:nvPicPr>
        <p:blipFill>
          <a:blip xmlns:r="http://schemas.openxmlformats.org/officeDocument/2006/relationships" xmlns:a="http://schemas.openxmlformats.org/drawingml/2006/main" r:embed="Rc55f5ccc07d144a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0023F4F-EC61-463E-98FE-64626DE62C4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03   14/24</a:t>
            </a:r>
          </a:p>
        </p:txBody>
      </p:sp>
      <p:sp>
        <p:nvSpPr>
          <p:cNvPr id="4" name="">
            <a:extLst xmlns:a="http://schemas.openxmlformats.org/drawingml/2006/main">
              <a:ext uri="{FF2B5EF4-FFF2-40B4-BE49-F238E27FC236}">
                <a16:creationId xmlns:a16="http://schemas.microsoft.com/office/drawing/2014/main" id="{2C87EAFB-09B1-400F-BA5D-B354B77AADDC}"/>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Antes de modificar el cuerpo, el equipo comprueba que el tubo no esté aplastado y define desde qué extremo medirá. Una marca de longitud requiere una referencia clara. Repetir la medición desde un borde irregular puede producir diferencias que después se interpretan como errores de la pieza impresa.</a:t>
            </a:r>
          </a:p>
        </p:txBody>
      </p:sp>
    </p:spTree>
    <p:extLst>
      <p:ext uri="{BB962C8B-B14F-4D97-AF65-F5344CB8AC3E}">
        <p14:creationId xmlns:p14="http://schemas.microsoft.com/office/powerpoint/2010/main" val="2067870316"/>
      </p:ext>
    </p:extLst>
  </p:cSld>
</p:sld>
</file>

<file path=ppt/slides/slide1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F719E8D-A8C5-4535-8E3F-0A68514B4D1A}"/>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Registro del cuerpo</a:t>
            </a:r>
          </a:p>
        </p:txBody>
      </p:sp>
      <p:pic>
        <p:nvPicPr>
          <p:cNvPr id="2" name="">
            <a:extLst xmlns:a="http://schemas.openxmlformats.org/drawingml/2006/main">
              <a:ext uri="{FF2B5EF4-FFF2-40B4-BE49-F238E27FC236}">
                <a16:creationId xmlns:a16="http://schemas.microsoft.com/office/drawing/2014/main" id="{3F887590-70E4-4591-8797-E1A76C728AF9}"/>
              </a:ext>
            </a:extLst>
          </p:cNvPr>
          <p:cNvPicPr>
            <a:picLocks xmlns:a="http://schemas.openxmlformats.org/drawingml/2006/main" noChangeAspect="1"/>
          </p:cNvPicPr>
          <p:nvPr/>
        </p:nvPicPr>
        <p:blipFill>
          <a:blip xmlns:r="http://schemas.openxmlformats.org/officeDocument/2006/relationships" xmlns:a="http://schemas.openxmlformats.org/drawingml/2006/main" r:embed="Rb571b160c364441d"/>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DE4E1FB-C9A0-4D31-BBBA-92E3844415D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03   15/24</a:t>
            </a:r>
          </a:p>
        </p:txBody>
      </p:sp>
      <p:graphicFrame>
        <p:nvGraphicFramePr>
          <p:cNvPr id="4" name="">
            <a:extLst xmlns:a="http://schemas.openxmlformats.org/drawingml/2006/main">
              <a:ext uri="{FF2B5EF4-FFF2-40B4-BE49-F238E27FC236}">
                <a16:creationId xmlns:a16="http://schemas.microsoft.com/office/drawing/2014/main" id="{9581BA73-2172-4938-8E3E-1BCEF99D25D4}"/>
              </a:ext>
            </a:extLst>
          </p:cNvPr>
          <p:cNvGraphicFramePr/>
          <p:nvPr/>
        </p:nvGraphicFramePr>
        <p:xfrm>
          <a:off xmlns:a="http://schemas.openxmlformats.org/drawingml/2006/main" x="590550" y="1752600"/>
          <a:ext xmlns:a="http://schemas.openxmlformats.org/drawingml/2006/main" cx="11010900" cy="3590925"/>
        </p:xfrm>
        <a:graphic xmlns:a="http://schemas.openxmlformats.org/drawingml/2006/main">
          <a:graphicData uri="http://schemas.openxmlformats.org/drawingml/2006/table">
            <a:tbl>
              <a:tblPr/>
              <a:tblGrid>
                <a:gridCol w="5505450"/>
                <a:gridCol w="5505450"/>
              </a:tblGrid>
              <a:tr h="718185">
                <a:tc>
                  <a:txBody>
                    <a:bodyPr/>
                    <a:lstStyle/>
                    <a:p>
                      <a:r>
                        <a:rPr sz="2025" b="1">
                          <a:solidFill>
                            <a:srgbClr val="FFFFFF"/>
                          </a:solidFill>
                          <a:latin typeface="Arial"/>
                          <a:ea typeface="Arial"/>
                          <a:cs typeface="Arial"/>
                        </a:rPr>
                        <a:t>Momento</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Dato a conservar</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18185">
                <a:tc>
                  <a:txBody>
                    <a:bodyPr/>
                    <a:lstStyle/>
                    <a:p>
                      <a:r>
                        <a:rPr sz="2025" b="0">
                          <a:solidFill>
                            <a:srgbClr val="14231E"/>
                          </a:solidFill>
                          <a:latin typeface="Arial"/>
                          <a:ea typeface="Arial"/>
                          <a:cs typeface="Arial"/>
                        </a:rPr>
                        <a:t>Al recibir</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Medidas y masa</a:t>
                      </a:r>
                    </a:p>
                  </a:txBody>
                  <a:tcPr marL="91440" marR="91440" marT="45720" marB="45720">
                    <a:lnR w="9525">
                      <a:solidFill>
                        <a:srgbClr val="BFCEC3"/>
                      </a:solidFill>
                      <a:prstDash val="solid"/>
                    </a:lnR>
                    <a:lnB w="9525">
                      <a:solidFill>
                        <a:srgbClr val="BFCEC3"/>
                      </a:solidFill>
                      <a:prstDash val="solid"/>
                    </a:lnB>
                    <a:solidFill>
                      <a:srgbClr val="EAF3EC"/>
                    </a:solidFill>
                  </a:tcPr>
                </a:tc>
              </a:tr>
              <a:tr h="718185">
                <a:tc>
                  <a:txBody>
                    <a:bodyPr/>
                    <a:lstStyle/>
                    <a:p>
                      <a:r>
                        <a:rPr sz="2025" b="0">
                          <a:solidFill>
                            <a:srgbClr val="14231E"/>
                          </a:solidFill>
                          <a:latin typeface="Arial"/>
                          <a:ea typeface="Arial"/>
                          <a:cs typeface="Arial"/>
                        </a:rPr>
                        <a:t>Después de preparar</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Longitud y estado del borde</a:t>
                      </a:r>
                    </a:p>
                  </a:txBody>
                  <a:tcPr marL="91440" marR="91440" marT="45720" marB="45720">
                    <a:lnR w="9525">
                      <a:solidFill>
                        <a:srgbClr val="BFCEC3"/>
                      </a:solidFill>
                      <a:prstDash val="solid"/>
                    </a:lnR>
                    <a:lnB w="9525">
                      <a:solidFill>
                        <a:srgbClr val="BFCEC3"/>
                      </a:solidFill>
                      <a:prstDash val="solid"/>
                    </a:lnB>
                    <a:solidFill>
                      <a:srgbClr val="FCFCF8"/>
                    </a:solidFill>
                  </a:tcPr>
                </a:tc>
              </a:tr>
              <a:tr h="718185">
                <a:tc>
                  <a:txBody>
                    <a:bodyPr/>
                    <a:lstStyle/>
                    <a:p>
                      <a:r>
                        <a:rPr sz="2025" b="0">
                          <a:solidFill>
                            <a:srgbClr val="14231E"/>
                          </a:solidFill>
                          <a:latin typeface="Arial"/>
                          <a:ea typeface="Arial"/>
                          <a:cs typeface="Arial"/>
                        </a:rPr>
                        <a:t>Con piezas presentadas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Longitud total y acceso</a:t>
                      </a:r>
                    </a:p>
                  </a:txBody>
                  <a:tcPr marL="91440" marR="91440" marT="45720" marB="45720">
                    <a:lnR w="9525">
                      <a:solidFill>
                        <a:srgbClr val="BFCEC3"/>
                      </a:solidFill>
                      <a:prstDash val="solid"/>
                    </a:lnR>
                    <a:lnB w="9525">
                      <a:solidFill>
                        <a:srgbClr val="BFCEC3"/>
                      </a:solidFill>
                      <a:prstDash val="solid"/>
                    </a:lnB>
                    <a:solidFill>
                      <a:srgbClr val="EAF3EC"/>
                    </a:solidFill>
                  </a:tcPr>
                </a:tc>
              </a:tr>
              <a:tr h="718185">
                <a:tc>
                  <a:txBody>
                    <a:bodyPr/>
                    <a:lstStyle/>
                    <a:p>
                      <a:r>
                        <a:rPr sz="2025" b="0">
                          <a:solidFill>
                            <a:srgbClr val="14231E"/>
                          </a:solidFill>
                          <a:latin typeface="Arial"/>
                          <a:ea typeface="Arial"/>
                          <a:cs typeface="Arial"/>
                        </a:rPr>
                        <a:t>Antes de montar</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Referencia del plano aceptado</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260243566"/>
      </p:ext>
    </p:extLst>
  </p:cSld>
</p:sld>
</file>

<file path=ppt/slides/slide1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0B56020-BACB-4F2B-BFB4-E53864C7B452}"/>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Del tubo disponible al corte y al montaje</a:t>
            </a:r>
          </a:p>
        </p:txBody>
      </p:sp>
      <p:pic>
        <p:nvPicPr>
          <p:cNvPr id="2" name="">
            <a:extLst xmlns:a="http://schemas.openxmlformats.org/drawingml/2006/main">
              <a:ext uri="{FF2B5EF4-FFF2-40B4-BE49-F238E27FC236}">
                <a16:creationId xmlns:a16="http://schemas.microsoft.com/office/drawing/2014/main" id="{6F19C0B4-4F41-4247-AA2F-D746EFB66536}"/>
              </a:ext>
            </a:extLst>
          </p:cNvPr>
          <p:cNvPicPr>
            <a:picLocks xmlns:a="http://schemas.openxmlformats.org/drawingml/2006/main" noChangeAspect="1"/>
          </p:cNvPicPr>
          <p:nvPr/>
        </p:nvPicPr>
        <p:blipFill>
          <a:blip xmlns:r="http://schemas.openxmlformats.org/officeDocument/2006/relationships" xmlns:a="http://schemas.openxmlformats.org/drawingml/2006/main" r:embed="R0f1f6cfa9c5a460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A693F47-FE96-4CF7-82C7-E84B998B6FD8}"/>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03   16/24</a:t>
            </a:r>
          </a:p>
        </p:txBody>
      </p:sp>
      <p:sp>
        <p:nvSpPr>
          <p:cNvPr id="4" name="">
            <a:extLst xmlns:a="http://schemas.openxmlformats.org/drawingml/2006/main">
              <a:ext uri="{FF2B5EF4-FFF2-40B4-BE49-F238E27FC236}">
                <a16:creationId xmlns:a16="http://schemas.microsoft.com/office/drawing/2014/main" id="{59B359C0-940C-4DCD-8F99-C88BE4C180B1}"/>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4231E"/>
                </a:solidFill>
                <a:latin typeface="Arial"/>
                <a:ea typeface="Arial"/>
                <a:cs typeface="Arial"/>
              </a:defRPr>
            </a:defPPr>
            <a:lvl1pPr>
              <a:defRPr sz="1950" b="0">
                <a:solidFill>
                  <a:srgbClr val="14231E"/>
                </a:solidFill>
                <a:latin typeface="Arial"/>
                <a:ea typeface="Arial"/>
                <a:cs typeface="Arial"/>
              </a:defRPr>
            </a:lvl1pPr>
            <a:lvl2pPr>
              <a:defRPr sz="1950" b="0">
                <a:solidFill>
                  <a:srgbClr val="14231E"/>
                </a:solidFill>
                <a:latin typeface="Arial"/>
                <a:ea typeface="Arial"/>
                <a:cs typeface="Arial"/>
              </a:defRPr>
            </a:lvl2pPr>
            <a:lvl3pPr>
              <a:defRPr sz="1950" b="0">
                <a:solidFill>
                  <a:srgbClr val="14231E"/>
                </a:solidFill>
                <a:latin typeface="Arial"/>
                <a:ea typeface="Arial"/>
                <a:cs typeface="Arial"/>
              </a:defRPr>
            </a:lvl3pPr>
            <a:lvl4pPr>
              <a:defRPr sz="1950" b="0">
                <a:solidFill>
                  <a:srgbClr val="14231E"/>
                </a:solidFill>
                <a:latin typeface="Arial"/>
                <a:ea typeface="Arial"/>
                <a:cs typeface="Arial"/>
              </a:defRPr>
            </a:lvl4pPr>
            <a:lvl5pPr>
              <a:defRPr sz="1950" b="0">
                <a:solidFill>
                  <a:srgbClr val="14231E"/>
                </a:solidFill>
                <a:latin typeface="Arial"/>
                <a:ea typeface="Arial"/>
                <a:cs typeface="Arial"/>
              </a:defRPr>
            </a:lvl5pPr>
            <a:lvl6pPr>
              <a:defRPr sz="1950" b="0">
                <a:solidFill>
                  <a:srgbClr val="14231E"/>
                </a:solidFill>
                <a:latin typeface="Arial"/>
                <a:ea typeface="Arial"/>
                <a:cs typeface="Arial"/>
              </a:defRPr>
            </a:lvl6pPr>
            <a:lvl7pPr>
              <a:defRPr sz="1950" b="0">
                <a:solidFill>
                  <a:srgbClr val="14231E"/>
                </a:solidFill>
                <a:latin typeface="Arial"/>
                <a:ea typeface="Arial"/>
                <a:cs typeface="Arial"/>
              </a:defRPr>
            </a:lvl7pPr>
            <a:lvl8pPr>
              <a:defRPr sz="1950" b="0">
                <a:solidFill>
                  <a:srgbClr val="14231E"/>
                </a:solidFill>
                <a:latin typeface="Arial"/>
                <a:ea typeface="Arial"/>
                <a:cs typeface="Arial"/>
              </a:defRPr>
            </a:lvl8pPr>
            <a:lvl9pPr>
              <a:defRPr sz="1950" b="0">
                <a:solidFill>
                  <a:srgbClr val="14231E"/>
                </a:solidFill>
                <a:latin typeface="Arial"/>
                <a:ea typeface="Arial"/>
                <a:cs typeface="Arial"/>
              </a:defRPr>
            </a:lvl9pPr>
          </a:lstStyle>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1. Identifica cada tubo con equipo y revisión. Mide en más de una orientación y anota si el borde está deformado.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2. Traza la longitud de acuerdo con el plano revisado. El docente valida el método de corte y acabado adecuado al material y a las herramientas del taller.</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3. Comprueba el borde y la continuidad de la sección antes de intentar un encaje. No ocultes una deformación aumentando a la fuerza el tamaño de la unión.</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4. Presenta las piezas sin pegarlas y verifica longitud ensamblada y acceso.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5. Pesa el cuerpo preparado. Si se añadieron uniones o acabado, conserva la diferencia respecto a la pieza inicial.</a:t>
            </a:r>
          </a:p>
        </p:txBody>
      </p:sp>
    </p:spTree>
    <p:extLst>
      <p:ext uri="{BB962C8B-B14F-4D97-AF65-F5344CB8AC3E}">
        <p14:creationId xmlns:p14="http://schemas.microsoft.com/office/powerpoint/2010/main" val="1565757266"/>
      </p:ext>
    </p:extLst>
  </p:cSld>
</p:sld>
</file>

<file path=ppt/slides/slide1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EDD5FE5-BD24-42CC-8AE4-747E8C220BA6}"/>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Elegir un cuerpo para la misión del equipo</a:t>
            </a:r>
          </a:p>
        </p:txBody>
      </p:sp>
      <p:pic>
        <p:nvPicPr>
          <p:cNvPr id="2" name="">
            <a:extLst xmlns:a="http://schemas.openxmlformats.org/drawingml/2006/main">
              <a:ext uri="{FF2B5EF4-FFF2-40B4-BE49-F238E27FC236}">
                <a16:creationId xmlns:a16="http://schemas.microsoft.com/office/drawing/2014/main" id="{7F29BD16-7258-435B-8FFE-30F0283EFA17}"/>
              </a:ext>
            </a:extLst>
          </p:cNvPr>
          <p:cNvPicPr>
            <a:picLocks xmlns:a="http://schemas.openxmlformats.org/drawingml/2006/main" noChangeAspect="1"/>
          </p:cNvPicPr>
          <p:nvPr/>
        </p:nvPicPr>
        <p:blipFill>
          <a:blip xmlns:r="http://schemas.openxmlformats.org/officeDocument/2006/relationships" xmlns:a="http://schemas.openxmlformats.org/drawingml/2006/main" r:embed="R40f87bf92dd343ab"/>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B781ACC-EC78-4FAA-B464-A36F3DCD8F4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03   17/24</a:t>
            </a:r>
          </a:p>
        </p:txBody>
      </p:sp>
      <p:sp>
        <p:nvSpPr>
          <p:cNvPr id="4" name="">
            <a:extLst xmlns:a="http://schemas.openxmlformats.org/drawingml/2006/main">
              <a:ext uri="{FF2B5EF4-FFF2-40B4-BE49-F238E27FC236}">
                <a16:creationId xmlns:a16="http://schemas.microsoft.com/office/drawing/2014/main" id="{736FAD81-D7FD-42C9-9743-D195470040DF}"/>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 cuerpo más corto no es necesariamente el más fácil de construir. El más largo tampoco es automáticamente el más estable. En esta etapa elegimos una distribución que pueda montarse y reservar el espacio necesario. La estabilidad y el comportamiento del conjunto se revisarán cuando el modelo tenga sus piezas y masas.</a:t>
            </a:r>
          </a:p>
        </p:txBody>
      </p:sp>
    </p:spTree>
    <p:extLst>
      <p:ext uri="{BB962C8B-B14F-4D97-AF65-F5344CB8AC3E}">
        <p14:creationId xmlns:p14="http://schemas.microsoft.com/office/powerpoint/2010/main" val="702899446"/>
      </p:ext>
    </p:extLst>
  </p:cSld>
</p:sld>
</file>

<file path=ppt/slides/slide1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263AA3B-169A-4FCA-8872-2104164CF112}"/>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Comparativa según uso</a:t>
            </a:r>
          </a:p>
        </p:txBody>
      </p:sp>
      <p:pic>
        <p:nvPicPr>
          <p:cNvPr id="2" name="">
            <a:extLst xmlns:a="http://schemas.openxmlformats.org/drawingml/2006/main">
              <a:ext uri="{FF2B5EF4-FFF2-40B4-BE49-F238E27FC236}">
                <a16:creationId xmlns:a16="http://schemas.microsoft.com/office/drawing/2014/main" id="{C8F59C17-2701-4C62-A8AE-7D3499B9AB3A}"/>
              </a:ext>
            </a:extLst>
          </p:cNvPr>
          <p:cNvPicPr>
            <a:picLocks xmlns:a="http://schemas.openxmlformats.org/drawingml/2006/main" noChangeAspect="1"/>
          </p:cNvPicPr>
          <p:nvPr/>
        </p:nvPicPr>
        <p:blipFill>
          <a:blip xmlns:r="http://schemas.openxmlformats.org/officeDocument/2006/relationships" xmlns:a="http://schemas.openxmlformats.org/drawingml/2006/main" r:embed="Rc90a7abad8324ec1"/>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E172559-C189-4570-8947-07B7E49A5C3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03   18/24</a:t>
            </a:r>
          </a:p>
        </p:txBody>
      </p:sp>
      <p:graphicFrame>
        <p:nvGraphicFramePr>
          <p:cNvPr id="4" name="">
            <a:extLst xmlns:a="http://schemas.openxmlformats.org/drawingml/2006/main">
              <a:ext uri="{FF2B5EF4-FFF2-40B4-BE49-F238E27FC236}">
                <a16:creationId xmlns:a16="http://schemas.microsoft.com/office/drawing/2014/main" id="{B4955A96-96BE-49B8-8F6F-46361E93867A}"/>
              </a:ext>
            </a:extLst>
          </p:cNvPr>
          <p:cNvGraphicFramePr/>
          <p:nvPr/>
        </p:nvGraphicFramePr>
        <p:xfrm>
          <a:off xmlns:a="http://schemas.openxmlformats.org/drawingml/2006/main" x="590550" y="1752600"/>
          <a:ext xmlns:a="http://schemas.openxmlformats.org/drawingml/2006/main" cx="11010900" cy="3590925"/>
        </p:xfrm>
        <a:graphic xmlns:a="http://schemas.openxmlformats.org/drawingml/2006/main">
          <a:graphicData uri="http://schemas.openxmlformats.org/drawingml/2006/table">
            <a:tbl>
              <a:tblPr/>
              <a:tblGrid>
                <a:gridCol w="2143125"/>
                <a:gridCol w="4524375"/>
                <a:gridCol w="4343400"/>
              </a:tblGrid>
              <a:tr h="897731">
                <a:tc>
                  <a:txBody>
                    <a:bodyPr/>
                    <a:lstStyle/>
                    <a:p>
                      <a:r>
                        <a:rPr sz="2025" b="1">
                          <a:solidFill>
                            <a:srgbClr val="FFFFFF"/>
                          </a:solidFill>
                          <a:latin typeface="Arial"/>
                          <a:ea typeface="Arial"/>
                          <a:cs typeface="Arial"/>
                        </a:rPr>
                        <a:t>Misión</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Qué priorizar</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Evidencia útil</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897731">
                <a:tc>
                  <a:txBody>
                    <a:bodyPr/>
                    <a:lstStyle/>
                    <a:p>
                      <a:r>
                        <a:rPr sz="2025" b="0">
                          <a:solidFill>
                            <a:srgbClr val="14231E"/>
                          </a:solidFill>
                          <a:latin typeface="Arial"/>
                          <a:ea typeface="Arial"/>
                          <a:cs typeface="Arial"/>
                        </a:rPr>
                        <a:t>Aprender a montar</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Disponibilidad y acceso</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Plano y presentación en seco</a:t>
                      </a:r>
                    </a:p>
                  </a:txBody>
                  <a:tcPr marL="91440" marR="91440" marT="45720" marB="45720">
                    <a:lnR w="9525">
                      <a:solidFill>
                        <a:srgbClr val="BFCEC3"/>
                      </a:solidFill>
                      <a:prstDash val="solid"/>
                    </a:lnR>
                    <a:lnB w="9525">
                      <a:solidFill>
                        <a:srgbClr val="BFCEC3"/>
                      </a:solidFill>
                      <a:prstDash val="solid"/>
                    </a:lnB>
                    <a:solidFill>
                      <a:srgbClr val="EAF3EC"/>
                    </a:solidFill>
                  </a:tcPr>
                </a:tc>
              </a:tr>
              <a:tr h="897731">
                <a:tc>
                  <a:txBody>
                    <a:bodyPr/>
                    <a:lstStyle/>
                    <a:p>
                      <a:r>
                        <a:rPr sz="2025" b="0">
                          <a:solidFill>
                            <a:srgbClr val="14231E"/>
                          </a:solidFill>
                          <a:latin typeface="Arial"/>
                          <a:ea typeface="Arial"/>
                          <a:cs typeface="Arial"/>
                        </a:rPr>
                        <a:t>Reutilizar</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Recambio y revisión de uniones</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Desmontajes y estado del tubo</a:t>
                      </a:r>
                    </a:p>
                  </a:txBody>
                  <a:tcPr marL="91440" marR="91440" marT="45720" marB="45720">
                    <a:lnR w="9525">
                      <a:solidFill>
                        <a:srgbClr val="BFCEC3"/>
                      </a:solidFill>
                      <a:prstDash val="solid"/>
                    </a:lnR>
                    <a:lnB w="9525">
                      <a:solidFill>
                        <a:srgbClr val="BFCEC3"/>
                      </a:solidFill>
                      <a:prstDash val="solid"/>
                    </a:lnB>
                    <a:solidFill>
                      <a:srgbClr val="FCFCF8"/>
                    </a:solidFill>
                  </a:tcPr>
                </a:tc>
              </a:tr>
              <a:tr h="897731">
                <a:tc>
                  <a:txBody>
                    <a:bodyPr/>
                    <a:lstStyle/>
                    <a:p>
                      <a:r>
                        <a:rPr sz="2025" b="0">
                          <a:solidFill>
                            <a:srgbClr val="14231E"/>
                          </a:solidFill>
                          <a:latin typeface="Arial"/>
                          <a:ea typeface="Arial"/>
                          <a:cs typeface="Arial"/>
                        </a:rPr>
                        <a:t>Carga docente</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Envolvente y conexiones</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Maqueta de carga y acceso a datos</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167544314"/>
      </p:ext>
    </p:extLst>
  </p:cSld>
</p:sld>
</file>

<file path=ppt/slides/slide19.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086BF8F-0CCF-457C-ABE7-D4BF6939ECD9}"/>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Decisión antes de fabricar</a:t>
            </a:r>
          </a:p>
        </p:txBody>
      </p:sp>
      <p:pic>
        <p:nvPicPr>
          <p:cNvPr id="2" name="">
            <a:extLst xmlns:a="http://schemas.openxmlformats.org/drawingml/2006/main">
              <a:ext uri="{FF2B5EF4-FFF2-40B4-BE49-F238E27FC236}">
                <a16:creationId xmlns:a16="http://schemas.microsoft.com/office/drawing/2014/main" id="{C38B42C2-F952-4DF9-88B8-24DC035DFA37}"/>
              </a:ext>
            </a:extLst>
          </p:cNvPr>
          <p:cNvPicPr>
            <a:picLocks xmlns:a="http://schemas.openxmlformats.org/drawingml/2006/main" noChangeAspect="1"/>
          </p:cNvPicPr>
          <p:nvPr/>
        </p:nvPicPr>
        <p:blipFill>
          <a:blip xmlns:r="http://schemas.openxmlformats.org/officeDocument/2006/relationships" xmlns:a="http://schemas.openxmlformats.org/drawingml/2006/main" r:embed="Rfcde0bfead214e47"/>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B31430B-2F76-48E4-8A3B-9350AE626674}"/>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2   CLASE 03   19/24</a:t>
            </a:r>
          </a:p>
        </p:txBody>
      </p:sp>
      <p:sp>
        <p:nvSpPr>
          <p:cNvPr id="4" name="">
            <a:extLst xmlns:a="http://schemas.openxmlformats.org/drawingml/2006/main">
              <a:ext uri="{FF2B5EF4-FFF2-40B4-BE49-F238E27FC236}">
                <a16:creationId xmlns:a16="http://schemas.microsoft.com/office/drawing/2014/main" id="{B4F0FEC0-A6EA-414B-8943-D64DCF6CE8E7}"/>
              </a:ext>
            </a:extLst>
          </p:cNvPr>
          <p:cNvSpPr>
            <a:spLocks xmlns:a="http://schemas.openxmlformats.org/drawingml/2006/main" noGrp="1"/>
          </p:cNvSpPr>
          <p:nvPr/>
        </p:nvSpPr>
        <p:spPr>
          <a:xfrm xmlns:a="http://schemas.openxmlformats.org/drawingml/2006/main">
            <a:off x="590550" y="1809750"/>
            <a:ext cx="107156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El plano solo cabe si el paracaídas ocupa exactamente el hueco dibujado, pero todavía no se ha plegado ni probado con sus cordones.</a:t>
            </a:r>
          </a:p>
        </p:txBody>
      </p:sp>
      <p:sp>
        <p:nvSpPr>
          <p:cNvPr id="5" name="">
            <a:extLst xmlns:a="http://schemas.openxmlformats.org/drawingml/2006/main">
              <a:ext uri="{FF2B5EF4-FFF2-40B4-BE49-F238E27FC236}">
                <a16:creationId xmlns:a16="http://schemas.microsoft.com/office/drawing/2014/main" id="{082AEA9B-DA9A-4AC3-AC0E-68DCF5877B1D}"/>
              </a:ext>
            </a:extLst>
          </p:cNvPr>
          <p:cNvSpPr>
            <a:spLocks xmlns:a="http://schemas.openxmlformats.org/drawingml/2006/main" noGrp="1"/>
          </p:cNvSpPr>
          <p:nvPr/>
        </p:nvSpPr>
        <p:spPr>
          <a:xfrm xmlns:a="http://schemas.openxmlformats.org/drawingml/2006/main">
            <a:off x="590550" y="4629150"/>
            <a:ext cx="10715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¿Qué espacio todavía no has comprobado?</a:t>
            </a:r>
          </a:p>
        </p:txBody>
      </p:sp>
    </p:spTree>
    <p:extLst>
      <p:ext uri="{BB962C8B-B14F-4D97-AF65-F5344CB8AC3E}">
        <p14:creationId xmlns:p14="http://schemas.microsoft.com/office/powerpoint/2010/main" val="1827919768"/>
      </p:ext>
    </p:extLst>
  </p:cSld>
</p:sld>
</file>

<file path=ppt/slides/slide2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58D879C-3F97-4AE5-9E36-2F5DB8BB1151}"/>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Trabajo guiado del equipo</a:t>
            </a:r>
          </a:p>
        </p:txBody>
      </p:sp>
      <p:pic>
        <p:nvPicPr>
          <p:cNvPr id="2" name="">
            <a:extLst xmlns:a="http://schemas.openxmlformats.org/drawingml/2006/main">
              <a:ext uri="{FF2B5EF4-FFF2-40B4-BE49-F238E27FC236}">
                <a16:creationId xmlns:a16="http://schemas.microsoft.com/office/drawing/2014/main" id="{05689CFA-6895-4D59-A65B-614B563168BE}"/>
              </a:ext>
            </a:extLst>
          </p:cNvPr>
          <p:cNvPicPr>
            <a:picLocks xmlns:a="http://schemas.openxmlformats.org/drawingml/2006/main" noChangeAspect="1"/>
          </p:cNvPicPr>
          <p:nvPr/>
        </p:nvPicPr>
        <p:blipFill>
          <a:blip xmlns:r="http://schemas.openxmlformats.org/officeDocument/2006/relationships" xmlns:a="http://schemas.openxmlformats.org/drawingml/2006/main" r:embed="R965978f956264db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92DE5D9-E8F7-45D7-A274-45BC47DD23B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03   20/24</a:t>
            </a:r>
          </a:p>
        </p:txBody>
      </p:sp>
      <p:sp>
        <p:nvSpPr>
          <p:cNvPr id="4" name="">
            <a:extLst xmlns:a="http://schemas.openxmlformats.org/drawingml/2006/main">
              <a:ext uri="{FF2B5EF4-FFF2-40B4-BE49-F238E27FC236}">
                <a16:creationId xmlns:a16="http://schemas.microsoft.com/office/drawing/2014/main" id="{88438167-AE29-470F-B3C2-0BBBE0925FD6}"/>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1E"/>
                </a:solidFill>
                <a:latin typeface="Arial"/>
                <a:ea typeface="Arial"/>
                <a:cs typeface="Arial"/>
              </a:defRPr>
            </a:defPPr>
            <a:lvl1pPr>
              <a:defRPr sz="2250" b="0">
                <a:solidFill>
                  <a:srgbClr val="14231E"/>
                </a:solidFill>
                <a:latin typeface="Arial"/>
                <a:ea typeface="Arial"/>
                <a:cs typeface="Arial"/>
              </a:defRPr>
            </a:lvl1pPr>
            <a:lvl2pPr>
              <a:defRPr sz="2250" b="0">
                <a:solidFill>
                  <a:srgbClr val="14231E"/>
                </a:solidFill>
                <a:latin typeface="Arial"/>
                <a:ea typeface="Arial"/>
                <a:cs typeface="Arial"/>
              </a:defRPr>
            </a:lvl2pPr>
            <a:lvl3pPr>
              <a:defRPr sz="2250" b="0">
                <a:solidFill>
                  <a:srgbClr val="14231E"/>
                </a:solidFill>
                <a:latin typeface="Arial"/>
                <a:ea typeface="Arial"/>
                <a:cs typeface="Arial"/>
              </a:defRPr>
            </a:lvl3pPr>
            <a:lvl4pPr>
              <a:defRPr sz="2250" b="0">
                <a:solidFill>
                  <a:srgbClr val="14231E"/>
                </a:solidFill>
                <a:latin typeface="Arial"/>
                <a:ea typeface="Arial"/>
                <a:cs typeface="Arial"/>
              </a:defRPr>
            </a:lvl4pPr>
            <a:lvl5pPr>
              <a:defRPr sz="2250" b="0">
                <a:solidFill>
                  <a:srgbClr val="14231E"/>
                </a:solidFill>
                <a:latin typeface="Arial"/>
                <a:ea typeface="Arial"/>
                <a:cs typeface="Arial"/>
              </a:defRPr>
            </a:lvl5pPr>
            <a:lvl6pPr>
              <a:defRPr sz="2250" b="0">
                <a:solidFill>
                  <a:srgbClr val="14231E"/>
                </a:solidFill>
                <a:latin typeface="Arial"/>
                <a:ea typeface="Arial"/>
                <a:cs typeface="Arial"/>
              </a:defRPr>
            </a:lvl6pPr>
            <a:lvl7pPr>
              <a:defRPr sz="2250" b="0">
                <a:solidFill>
                  <a:srgbClr val="14231E"/>
                </a:solidFill>
                <a:latin typeface="Arial"/>
                <a:ea typeface="Arial"/>
                <a:cs typeface="Arial"/>
              </a:defRPr>
            </a:lvl7pPr>
            <a:lvl8pPr>
              <a:defRPr sz="2250" b="0">
                <a:solidFill>
                  <a:srgbClr val="14231E"/>
                </a:solidFill>
                <a:latin typeface="Arial"/>
                <a:ea typeface="Arial"/>
                <a:cs typeface="Arial"/>
              </a:defRPr>
            </a:lvl8pPr>
            <a:lvl9pPr>
              <a:defRPr sz="2250" b="0">
                <a:solidFill>
                  <a:srgbClr val="14231E"/>
                </a:solidFill>
                <a:latin typeface="Arial"/>
                <a:ea typeface="Arial"/>
                <a:cs typeface="Arial"/>
              </a:defRPr>
            </a:lvl9pPr>
          </a:lstStyle>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1. Medir e identificar el tubo disponible.</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2. Preparar una distribución con componentes reales o envolventes identificadas.</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3. Actualizar Body Tube y revisar el interior en OpenRocket.</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4. Preparar el plano de corte y una presentación en seco.</a:t>
            </a:r>
          </a:p>
        </p:txBody>
      </p:sp>
    </p:spTree>
    <p:extLst>
      <p:ext uri="{BB962C8B-B14F-4D97-AF65-F5344CB8AC3E}">
        <p14:creationId xmlns:p14="http://schemas.microsoft.com/office/powerpoint/2010/main" val="1346983785"/>
      </p:ext>
    </p:extLst>
  </p:cSld>
</p:sld>
</file>

<file path=ppt/slides/slide21.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067E529-B2E7-4F05-AA31-C908C471C84F}"/>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Decisión según la misión</a:t>
            </a:r>
          </a:p>
        </p:txBody>
      </p:sp>
      <p:pic>
        <p:nvPicPr>
          <p:cNvPr id="2" name="">
            <a:extLst xmlns:a="http://schemas.openxmlformats.org/drawingml/2006/main">
              <a:ext uri="{FF2B5EF4-FFF2-40B4-BE49-F238E27FC236}">
                <a16:creationId xmlns:a16="http://schemas.microsoft.com/office/drawing/2014/main" id="{9F26FBF9-7134-4CD0-9691-5A3F7F47AAF8}"/>
              </a:ext>
            </a:extLst>
          </p:cNvPr>
          <p:cNvPicPr>
            <a:picLocks xmlns:a="http://schemas.openxmlformats.org/drawingml/2006/main" noChangeAspect="1"/>
          </p:cNvPicPr>
          <p:nvPr/>
        </p:nvPicPr>
        <p:blipFill>
          <a:blip xmlns:r="http://schemas.openxmlformats.org/officeDocument/2006/relationships" xmlns:a="http://schemas.openxmlformats.org/drawingml/2006/main" r:embed="Rbf85df83d3f14deb"/>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D913866-1C9A-4822-AA2E-719116E708C8}"/>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2   CLASE 03   21/24</a:t>
            </a:r>
          </a:p>
        </p:txBody>
      </p:sp>
      <p:sp>
        <p:nvSpPr>
          <p:cNvPr id="4" name="">
            <a:extLst xmlns:a="http://schemas.openxmlformats.org/drawingml/2006/main">
              <a:ext uri="{FF2B5EF4-FFF2-40B4-BE49-F238E27FC236}">
                <a16:creationId xmlns:a16="http://schemas.microsoft.com/office/drawing/2014/main" id="{12A0E25E-EAC4-4133-98B4-7E1DC2EC1621}"/>
              </a:ext>
            </a:extLst>
          </p:cNvPr>
          <p:cNvSpPr>
            <a:spLocks xmlns:a="http://schemas.openxmlformats.org/drawingml/2006/main" noGrp="1"/>
          </p:cNvSpPr>
          <p:nvPr/>
        </p:nvSpPr>
        <p:spPr>
          <a:xfrm xmlns:a="http://schemas.openxmlformats.org/drawingml/2006/main">
            <a:off x="590550" y="1771650"/>
            <a:ext cx="10715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75" b="1">
                <a:solidFill>
                  <a:srgbClr val="AEF4BB"/>
                </a:solidFill>
                <a:latin typeface="Arial"/>
                <a:ea typeface="Arial"/>
                <a:cs typeface="Arial"/>
              </a:defRPr>
            </a:defPPr>
            <a:lvl1pPr>
              <a:defRPr sz="2775" b="1">
                <a:solidFill>
                  <a:srgbClr val="AEF4BB"/>
                </a:solidFill>
                <a:latin typeface="Arial"/>
                <a:ea typeface="Arial"/>
                <a:cs typeface="Arial"/>
              </a:defRPr>
            </a:lvl1pPr>
            <a:lvl2pPr>
              <a:defRPr sz="2775" b="1">
                <a:solidFill>
                  <a:srgbClr val="AEF4BB"/>
                </a:solidFill>
                <a:latin typeface="Arial"/>
                <a:ea typeface="Arial"/>
                <a:cs typeface="Arial"/>
              </a:defRPr>
            </a:lvl2pPr>
            <a:lvl3pPr>
              <a:defRPr sz="2775" b="1">
                <a:solidFill>
                  <a:srgbClr val="AEF4BB"/>
                </a:solidFill>
                <a:latin typeface="Arial"/>
                <a:ea typeface="Arial"/>
                <a:cs typeface="Arial"/>
              </a:defRPr>
            </a:lvl3pPr>
            <a:lvl4pPr>
              <a:defRPr sz="2775" b="1">
                <a:solidFill>
                  <a:srgbClr val="AEF4BB"/>
                </a:solidFill>
                <a:latin typeface="Arial"/>
                <a:ea typeface="Arial"/>
                <a:cs typeface="Arial"/>
              </a:defRPr>
            </a:lvl4pPr>
            <a:lvl5pPr>
              <a:defRPr sz="2775" b="1">
                <a:solidFill>
                  <a:srgbClr val="AEF4BB"/>
                </a:solidFill>
                <a:latin typeface="Arial"/>
                <a:ea typeface="Arial"/>
                <a:cs typeface="Arial"/>
              </a:defRPr>
            </a:lvl5pPr>
            <a:lvl6pPr>
              <a:defRPr sz="2775" b="1">
                <a:solidFill>
                  <a:srgbClr val="AEF4BB"/>
                </a:solidFill>
                <a:latin typeface="Arial"/>
                <a:ea typeface="Arial"/>
                <a:cs typeface="Arial"/>
              </a:defRPr>
            </a:lvl6pPr>
            <a:lvl7pPr>
              <a:defRPr sz="2775" b="1">
                <a:solidFill>
                  <a:srgbClr val="AEF4BB"/>
                </a:solidFill>
                <a:latin typeface="Arial"/>
                <a:ea typeface="Arial"/>
                <a:cs typeface="Arial"/>
              </a:defRPr>
            </a:lvl7pPr>
            <a:lvl8pPr>
              <a:defRPr sz="2775" b="1">
                <a:solidFill>
                  <a:srgbClr val="AEF4BB"/>
                </a:solidFill>
                <a:latin typeface="Arial"/>
                <a:ea typeface="Arial"/>
                <a:cs typeface="Arial"/>
              </a:defRPr>
            </a:lvl8pPr>
            <a:lvl9pPr>
              <a:defRPr sz="2775" b="1">
                <a:solidFill>
                  <a:srgbClr val="AEF4BB"/>
                </a:solidFill>
                <a:latin typeface="Arial"/>
                <a:ea typeface="Arial"/>
                <a:cs typeface="Arial"/>
              </a:defRPr>
            </a:lvl9pPr>
          </a:lstStyle>
          <a:p xmlns:a="http://schemas.openxmlformats.org/drawingml/2006/main">
            <a:pPr>
              <a:defRPr sz="2775" b="1">
                <a:solidFill>
                  <a:srgbClr val="AEF4BB"/>
                </a:solidFill>
                <a:latin typeface="Arial"/>
                <a:ea typeface="Arial"/>
                <a:cs typeface="Arial"/>
              </a:defRPr>
            </a:pPr>
            <a:r>
              <a:rPr sz="2775" b="1">
                <a:solidFill>
                  <a:srgbClr val="AEF4BB"/>
                </a:solidFill>
                <a:latin typeface="Arial"/>
                <a:ea typeface="Arial"/>
                <a:cs typeface="Arial"/>
              </a:rPr>
              <a:t>Construir un modelo compacto que pueda montarse, inspeccionarse y recuperarse.</a:t>
            </a:r>
          </a:p>
        </p:txBody>
      </p:sp>
      <p:sp>
        <p:nvSpPr>
          <p:cNvPr id="5" name="">
            <a:extLst xmlns:a="http://schemas.openxmlformats.org/drawingml/2006/main">
              <a:ext uri="{FF2B5EF4-FFF2-40B4-BE49-F238E27FC236}">
                <a16:creationId xmlns:a16="http://schemas.microsoft.com/office/drawing/2014/main" id="{1E16DFBA-906F-49DD-9DE3-981EB6CF764E}"/>
              </a:ext>
            </a:extLst>
          </p:cNvPr>
          <p:cNvSpPr>
            <a:spLocks xmlns:a="http://schemas.openxmlformats.org/drawingml/2006/main" noGrp="1"/>
          </p:cNvSpPr>
          <p:nvPr/>
        </p:nvSpPr>
        <p:spPr>
          <a:xfrm xmlns:a="http://schemas.openxmlformats.org/drawingml/2006/main">
            <a:off x="590550" y="3638550"/>
            <a:ext cx="107156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0">
                <a:solidFill>
                  <a:srgbClr val="FCFCF8"/>
                </a:solidFill>
                <a:latin typeface="Arial"/>
                <a:ea typeface="Arial"/>
                <a:cs typeface="Arial"/>
              </a:defRPr>
            </a:defPPr>
            <a:lvl1pPr>
              <a:defRPr sz="2625" b="0">
                <a:solidFill>
                  <a:srgbClr val="FCFCF8"/>
                </a:solidFill>
                <a:latin typeface="Arial"/>
                <a:ea typeface="Arial"/>
                <a:cs typeface="Arial"/>
              </a:defRPr>
            </a:lvl1pPr>
            <a:lvl2pPr>
              <a:defRPr sz="2625" b="0">
                <a:solidFill>
                  <a:srgbClr val="FCFCF8"/>
                </a:solidFill>
                <a:latin typeface="Arial"/>
                <a:ea typeface="Arial"/>
                <a:cs typeface="Arial"/>
              </a:defRPr>
            </a:lvl2pPr>
            <a:lvl3pPr>
              <a:defRPr sz="2625" b="0">
                <a:solidFill>
                  <a:srgbClr val="FCFCF8"/>
                </a:solidFill>
                <a:latin typeface="Arial"/>
                <a:ea typeface="Arial"/>
                <a:cs typeface="Arial"/>
              </a:defRPr>
            </a:lvl3pPr>
            <a:lvl4pPr>
              <a:defRPr sz="2625" b="0">
                <a:solidFill>
                  <a:srgbClr val="FCFCF8"/>
                </a:solidFill>
                <a:latin typeface="Arial"/>
                <a:ea typeface="Arial"/>
                <a:cs typeface="Arial"/>
              </a:defRPr>
            </a:lvl4pPr>
            <a:lvl5pPr>
              <a:defRPr sz="2625" b="0">
                <a:solidFill>
                  <a:srgbClr val="FCFCF8"/>
                </a:solidFill>
                <a:latin typeface="Arial"/>
                <a:ea typeface="Arial"/>
                <a:cs typeface="Arial"/>
              </a:defRPr>
            </a:lvl5pPr>
            <a:lvl6pPr>
              <a:defRPr sz="2625" b="0">
                <a:solidFill>
                  <a:srgbClr val="FCFCF8"/>
                </a:solidFill>
                <a:latin typeface="Arial"/>
                <a:ea typeface="Arial"/>
                <a:cs typeface="Arial"/>
              </a:defRPr>
            </a:lvl6pPr>
            <a:lvl7pPr>
              <a:defRPr sz="2625" b="0">
                <a:solidFill>
                  <a:srgbClr val="FCFCF8"/>
                </a:solidFill>
                <a:latin typeface="Arial"/>
                <a:ea typeface="Arial"/>
                <a:cs typeface="Arial"/>
              </a:defRPr>
            </a:lvl7pPr>
            <a:lvl8pPr>
              <a:defRPr sz="2625" b="0">
                <a:solidFill>
                  <a:srgbClr val="FCFCF8"/>
                </a:solidFill>
                <a:latin typeface="Arial"/>
                <a:ea typeface="Arial"/>
                <a:cs typeface="Arial"/>
              </a:defRPr>
            </a:lvl8pPr>
            <a:lvl9pPr>
              <a:defRPr sz="2625" b="0">
                <a:solidFill>
                  <a:srgbClr val="FCFCF8"/>
                </a:solidFill>
                <a:latin typeface="Arial"/>
                <a:ea typeface="Arial"/>
                <a:cs typeface="Arial"/>
              </a:defRPr>
            </a:lvl9pPr>
          </a:lstStyle>
          <a:p xmlns:a="http://schemas.openxmlformats.org/drawingml/2006/main">
            <a:pPr>
              <a:defRPr sz="2625" b="0">
                <a:solidFill>
                  <a:srgbClr val="FCFCF8"/>
                </a:solidFill>
                <a:latin typeface="Arial"/>
                <a:ea typeface="Arial"/>
                <a:cs typeface="Arial"/>
              </a:defRPr>
            </a:pPr>
            <a:r>
              <a:rPr sz="2625" b="0">
                <a:solidFill>
                  <a:srgbClr val="FCFCF8"/>
                </a:solidFill>
                <a:latin typeface="Arial"/>
                <a:ea typeface="Arial"/>
                <a:cs typeface="Arial"/>
              </a:rPr>
              <a:t>¿Qué espacio todavía no has comprobado?</a:t>
            </a:r>
          </a:p>
        </p:txBody>
      </p:sp>
      <p:sp>
        <p:nvSpPr>
          <p:cNvPr id="6" name="">
            <a:extLst xmlns:a="http://schemas.openxmlformats.org/drawingml/2006/main">
              <a:ext uri="{FF2B5EF4-FFF2-40B4-BE49-F238E27FC236}">
                <a16:creationId xmlns:a16="http://schemas.microsoft.com/office/drawing/2014/main" id="{479EC24A-3141-4DE4-B443-E1D4BE12E7D8}"/>
              </a:ext>
            </a:extLst>
          </p:cNvPr>
          <p:cNvSpPr>
            <a:spLocks xmlns:a="http://schemas.openxmlformats.org/drawingml/2006/main" noGrp="1"/>
          </p:cNvSpPr>
          <p:nvPr/>
        </p:nvSpPr>
        <p:spPr>
          <a:xfrm xmlns:a="http://schemas.openxmlformats.org/drawingml/2006/main">
            <a:off x="590550" y="5486400"/>
            <a:ext cx="10715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B8C8C1"/>
                </a:solidFill>
                <a:latin typeface="Arial"/>
                <a:ea typeface="Arial"/>
                <a:cs typeface="Arial"/>
              </a:defRPr>
            </a:defPPr>
            <a:lvl1pPr>
              <a:defRPr sz="2175" b="0">
                <a:solidFill>
                  <a:srgbClr val="B8C8C1"/>
                </a:solidFill>
                <a:latin typeface="Arial"/>
                <a:ea typeface="Arial"/>
                <a:cs typeface="Arial"/>
              </a:defRPr>
            </a:lvl1pPr>
            <a:lvl2pPr>
              <a:defRPr sz="2175" b="0">
                <a:solidFill>
                  <a:srgbClr val="B8C8C1"/>
                </a:solidFill>
                <a:latin typeface="Arial"/>
                <a:ea typeface="Arial"/>
                <a:cs typeface="Arial"/>
              </a:defRPr>
            </a:lvl2pPr>
            <a:lvl3pPr>
              <a:defRPr sz="2175" b="0">
                <a:solidFill>
                  <a:srgbClr val="B8C8C1"/>
                </a:solidFill>
                <a:latin typeface="Arial"/>
                <a:ea typeface="Arial"/>
                <a:cs typeface="Arial"/>
              </a:defRPr>
            </a:lvl3pPr>
            <a:lvl4pPr>
              <a:defRPr sz="2175" b="0">
                <a:solidFill>
                  <a:srgbClr val="B8C8C1"/>
                </a:solidFill>
                <a:latin typeface="Arial"/>
                <a:ea typeface="Arial"/>
                <a:cs typeface="Arial"/>
              </a:defRPr>
            </a:lvl4pPr>
            <a:lvl5pPr>
              <a:defRPr sz="2175" b="0">
                <a:solidFill>
                  <a:srgbClr val="B8C8C1"/>
                </a:solidFill>
                <a:latin typeface="Arial"/>
                <a:ea typeface="Arial"/>
                <a:cs typeface="Arial"/>
              </a:defRPr>
            </a:lvl5pPr>
            <a:lvl6pPr>
              <a:defRPr sz="2175" b="0">
                <a:solidFill>
                  <a:srgbClr val="B8C8C1"/>
                </a:solidFill>
                <a:latin typeface="Arial"/>
                <a:ea typeface="Arial"/>
                <a:cs typeface="Arial"/>
              </a:defRPr>
            </a:lvl6pPr>
            <a:lvl7pPr>
              <a:defRPr sz="2175" b="0">
                <a:solidFill>
                  <a:srgbClr val="B8C8C1"/>
                </a:solidFill>
                <a:latin typeface="Arial"/>
                <a:ea typeface="Arial"/>
                <a:cs typeface="Arial"/>
              </a:defRPr>
            </a:lvl7pPr>
            <a:lvl8pPr>
              <a:defRPr sz="2175" b="0">
                <a:solidFill>
                  <a:srgbClr val="B8C8C1"/>
                </a:solidFill>
                <a:latin typeface="Arial"/>
                <a:ea typeface="Arial"/>
                <a:cs typeface="Arial"/>
              </a:defRPr>
            </a:lvl8pPr>
            <a:lvl9pPr>
              <a:defRPr sz="2175" b="0">
                <a:solidFill>
                  <a:srgbClr val="B8C8C1"/>
                </a:solidFill>
                <a:latin typeface="Arial"/>
                <a:ea typeface="Arial"/>
                <a:cs typeface="Arial"/>
              </a:defRPr>
            </a:lvl9pPr>
          </a:lstStyle>
          <a:p xmlns:a="http://schemas.openxmlformats.org/drawingml/2006/main">
            <a:pPr>
              <a:defRPr sz="2175" b="0">
                <a:solidFill>
                  <a:srgbClr val="B8C8C1"/>
                </a:solidFill>
                <a:latin typeface="Arial"/>
                <a:ea typeface="Arial"/>
                <a:cs typeface="Arial"/>
              </a:defRPr>
            </a:pPr>
            <a:r>
              <a:rPr sz="2175" b="0">
                <a:solidFill>
                  <a:srgbClr val="B8C8C1"/>
                </a:solidFill>
                <a:latin typeface="Arial"/>
                <a:ea typeface="Arial"/>
                <a:cs typeface="Arial"/>
              </a:rPr>
              <a:t>Explica tu elección con una pieza, un archivo o un dato de la clase.</a:t>
            </a:r>
          </a:p>
        </p:txBody>
      </p:sp>
    </p:spTree>
    <p:extLst>
      <p:ext uri="{BB962C8B-B14F-4D97-AF65-F5344CB8AC3E}">
        <p14:creationId xmlns:p14="http://schemas.microsoft.com/office/powerpoint/2010/main" val="1355017176"/>
      </p:ext>
    </p:extLst>
  </p:cSld>
</p:sld>
</file>

<file path=ppt/slides/slide22.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B0C5DBE-052E-4BC9-8D9D-D3BA92BC3C4B}"/>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Tres preguntas para cerrar</a:t>
            </a:r>
          </a:p>
        </p:txBody>
      </p:sp>
      <p:pic>
        <p:nvPicPr>
          <p:cNvPr id="2" name="">
            <a:extLst xmlns:a="http://schemas.openxmlformats.org/drawingml/2006/main">
              <a:ext uri="{FF2B5EF4-FFF2-40B4-BE49-F238E27FC236}">
                <a16:creationId xmlns:a16="http://schemas.microsoft.com/office/drawing/2014/main" id="{5756BFD6-6E38-4B53-8859-5B598421F4CA}"/>
              </a:ext>
            </a:extLst>
          </p:cNvPr>
          <p:cNvPicPr>
            <a:picLocks xmlns:a="http://schemas.openxmlformats.org/drawingml/2006/main" noChangeAspect="1"/>
          </p:cNvPicPr>
          <p:nvPr/>
        </p:nvPicPr>
        <p:blipFill>
          <a:blip xmlns:r="http://schemas.openxmlformats.org/officeDocument/2006/relationships" xmlns:a="http://schemas.openxmlformats.org/drawingml/2006/main" r:embed="Rdc071bb8e99a422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C62F4A5-C79A-4601-8B1E-F91FDA90492E}"/>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2   CLASE 03   22/24</a:t>
            </a:r>
          </a:p>
        </p:txBody>
      </p:sp>
      <p:sp>
        <p:nvSpPr>
          <p:cNvPr id="4" name="">
            <a:extLst xmlns:a="http://schemas.openxmlformats.org/drawingml/2006/main">
              <a:ext uri="{FF2B5EF4-FFF2-40B4-BE49-F238E27FC236}">
                <a16:creationId xmlns:a16="http://schemas.microsoft.com/office/drawing/2014/main" id="{56D81E9B-D63A-417A-91C3-C2F2845BA56E}"/>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1. ¿Alargar el cuerpo permite introducir una pieza demasiado ancha?</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2. ¿Se suma dos veces la zona de un encaje?</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3. ¿Qué falta si solo tenemos el volumen del paracaídas?</a:t>
            </a:r>
          </a:p>
        </p:txBody>
      </p:sp>
    </p:spTree>
    <p:extLst>
      <p:ext uri="{BB962C8B-B14F-4D97-AF65-F5344CB8AC3E}">
        <p14:creationId xmlns:p14="http://schemas.microsoft.com/office/powerpoint/2010/main" val="1431813035"/>
      </p:ext>
    </p:extLst>
  </p:cSld>
</p:sld>
</file>

<file path=ppt/slides/slide2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306E542-13DA-445A-B118-9634BDA99770}"/>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Cómo explicar las respuestas</a:t>
            </a:r>
          </a:p>
        </p:txBody>
      </p:sp>
      <p:pic>
        <p:nvPicPr>
          <p:cNvPr id="2" name="">
            <a:extLst xmlns:a="http://schemas.openxmlformats.org/drawingml/2006/main">
              <a:ext uri="{FF2B5EF4-FFF2-40B4-BE49-F238E27FC236}">
                <a16:creationId xmlns:a16="http://schemas.microsoft.com/office/drawing/2014/main" id="{368A4EA8-EDBC-4A94-9BA3-85874889F308}"/>
              </a:ext>
            </a:extLst>
          </p:cNvPr>
          <p:cNvPicPr>
            <a:picLocks xmlns:a="http://schemas.openxmlformats.org/drawingml/2006/main" noChangeAspect="1"/>
          </p:cNvPicPr>
          <p:nvPr/>
        </p:nvPicPr>
        <p:blipFill>
          <a:blip xmlns:r="http://schemas.openxmlformats.org/officeDocument/2006/relationships" xmlns:a="http://schemas.openxmlformats.org/drawingml/2006/main" r:embed="R382c7836d1de4828"/>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5326705-A312-4A15-B617-A79B643BD21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03   23/24</a:t>
            </a:r>
          </a:p>
        </p:txBody>
      </p:sp>
      <p:sp>
        <p:nvSpPr>
          <p:cNvPr id="4" name="">
            <a:extLst xmlns:a="http://schemas.openxmlformats.org/drawingml/2006/main">
              <a:ext uri="{FF2B5EF4-FFF2-40B4-BE49-F238E27FC236}">
                <a16:creationId xmlns:a16="http://schemas.microsoft.com/office/drawing/2014/main" id="{65D80BD5-1492-4155-B644-E72A68E662BB}"/>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1. No. Hay que revisar el paso transversal.</a:t>
            </a:r>
          </a:p>
          <a:p xmlns:a="http://schemas.openxmlformats.org/drawingml/2006/main">
            <a:r>
              <a:t/>
            </a:r>
          </a:p>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2. No. Debe distinguirse longitud de pieza y longitud visible ensamblada.</a:t>
            </a:r>
          </a:p>
          <a:p xmlns:a="http://schemas.openxmlformats.org/drawingml/2006/main">
            <a:r>
              <a:t/>
            </a:r>
          </a:p>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3. Su envolvente plegada, cordones, acceso y comprobación de movimiento.</a:t>
            </a:r>
          </a:p>
        </p:txBody>
      </p:sp>
    </p:spTree>
    <p:extLst>
      <p:ext uri="{BB962C8B-B14F-4D97-AF65-F5344CB8AC3E}">
        <p14:creationId xmlns:p14="http://schemas.microsoft.com/office/powerpoint/2010/main" val="2056305917"/>
      </p:ext>
    </p:extLst>
  </p:cSld>
</p:sld>
</file>

<file path=ppt/slides/slide24.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D2256D2-A8D9-4158-8606-BCC4DD671570}"/>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Entrega de la clase</a:t>
            </a:r>
          </a:p>
        </p:txBody>
      </p:sp>
      <p:pic>
        <p:nvPicPr>
          <p:cNvPr id="2" name="">
            <a:extLst xmlns:a="http://schemas.openxmlformats.org/drawingml/2006/main">
              <a:ext uri="{FF2B5EF4-FFF2-40B4-BE49-F238E27FC236}">
                <a16:creationId xmlns:a16="http://schemas.microsoft.com/office/drawing/2014/main" id="{863BDDA8-A9B5-4743-88BA-F8702C56C53B}"/>
              </a:ext>
            </a:extLst>
          </p:cNvPr>
          <p:cNvPicPr>
            <a:picLocks xmlns:a="http://schemas.openxmlformats.org/drawingml/2006/main" noChangeAspect="1"/>
          </p:cNvPicPr>
          <p:nvPr/>
        </p:nvPicPr>
        <p:blipFill>
          <a:blip xmlns:r="http://schemas.openxmlformats.org/officeDocument/2006/relationships" xmlns:a="http://schemas.openxmlformats.org/drawingml/2006/main" r:embed="R81edaad63f454b68"/>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F6A0CCF-E062-4D85-BB6A-9A240BD3CC82}"/>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2   CLASE 03   24/24</a:t>
            </a:r>
          </a:p>
        </p:txBody>
      </p:sp>
      <p:sp>
        <p:nvSpPr>
          <p:cNvPr id="4" name="">
            <a:extLst xmlns:a="http://schemas.openxmlformats.org/drawingml/2006/main">
              <a:ext uri="{FF2B5EF4-FFF2-40B4-BE49-F238E27FC236}">
                <a16:creationId xmlns:a16="http://schemas.microsoft.com/office/drawing/2014/main" id="{B7C873DF-7608-42BB-B195-0DD5FEEB88CF}"/>
              </a:ext>
            </a:extLst>
          </p:cNvPr>
          <p:cNvSpPr>
            <a:spLocks xmlns:a="http://schemas.openxmlformats.org/drawingml/2006/main" noGrp="1"/>
          </p:cNvSpPr>
          <p:nvPr/>
        </p:nvSpPr>
        <p:spPr>
          <a:xfrm xmlns:a="http://schemas.openxmlformats.org/drawingml/2006/main">
            <a:off x="590550" y="1800225"/>
            <a:ext cx="10715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1">
                <a:solidFill>
                  <a:srgbClr val="AEF4BB"/>
                </a:solidFill>
                <a:latin typeface="Arial"/>
                <a:ea typeface="Arial"/>
                <a:cs typeface="Arial"/>
              </a:defRPr>
            </a:defPPr>
            <a:lvl1pPr>
              <a:defRPr sz="2925" b="1">
                <a:solidFill>
                  <a:srgbClr val="AEF4BB"/>
                </a:solidFill>
                <a:latin typeface="Arial"/>
                <a:ea typeface="Arial"/>
                <a:cs typeface="Arial"/>
              </a:defRPr>
            </a:lvl1pPr>
            <a:lvl2pPr>
              <a:defRPr sz="2925" b="1">
                <a:solidFill>
                  <a:srgbClr val="AEF4BB"/>
                </a:solidFill>
                <a:latin typeface="Arial"/>
                <a:ea typeface="Arial"/>
                <a:cs typeface="Arial"/>
              </a:defRPr>
            </a:lvl2pPr>
            <a:lvl3pPr>
              <a:defRPr sz="2925" b="1">
                <a:solidFill>
                  <a:srgbClr val="AEF4BB"/>
                </a:solidFill>
                <a:latin typeface="Arial"/>
                <a:ea typeface="Arial"/>
                <a:cs typeface="Arial"/>
              </a:defRPr>
            </a:lvl3pPr>
            <a:lvl4pPr>
              <a:defRPr sz="2925" b="1">
                <a:solidFill>
                  <a:srgbClr val="AEF4BB"/>
                </a:solidFill>
                <a:latin typeface="Arial"/>
                <a:ea typeface="Arial"/>
                <a:cs typeface="Arial"/>
              </a:defRPr>
            </a:lvl4pPr>
            <a:lvl5pPr>
              <a:defRPr sz="2925" b="1">
                <a:solidFill>
                  <a:srgbClr val="AEF4BB"/>
                </a:solidFill>
                <a:latin typeface="Arial"/>
                <a:ea typeface="Arial"/>
                <a:cs typeface="Arial"/>
              </a:defRPr>
            </a:lvl5pPr>
            <a:lvl6pPr>
              <a:defRPr sz="2925" b="1">
                <a:solidFill>
                  <a:srgbClr val="AEF4BB"/>
                </a:solidFill>
                <a:latin typeface="Arial"/>
                <a:ea typeface="Arial"/>
                <a:cs typeface="Arial"/>
              </a:defRPr>
            </a:lvl6pPr>
            <a:lvl7pPr>
              <a:defRPr sz="2925" b="1">
                <a:solidFill>
                  <a:srgbClr val="AEF4BB"/>
                </a:solidFill>
                <a:latin typeface="Arial"/>
                <a:ea typeface="Arial"/>
                <a:cs typeface="Arial"/>
              </a:defRPr>
            </a:lvl7pPr>
            <a:lvl8pPr>
              <a:defRPr sz="2925" b="1">
                <a:solidFill>
                  <a:srgbClr val="AEF4BB"/>
                </a:solidFill>
                <a:latin typeface="Arial"/>
                <a:ea typeface="Arial"/>
                <a:cs typeface="Arial"/>
              </a:defRPr>
            </a:lvl8pPr>
            <a:lvl9pPr>
              <a:defRPr sz="2925" b="1">
                <a:solidFill>
                  <a:srgbClr val="AEF4BB"/>
                </a:solidFill>
                <a:latin typeface="Arial"/>
                <a:ea typeface="Arial"/>
                <a:cs typeface="Arial"/>
              </a:defRPr>
            </a:lvl9pPr>
          </a:lstStyle>
          <a:p xmlns:a="http://schemas.openxmlformats.org/drawingml/2006/main">
            <a:pPr>
              <a:defRPr sz="2925" b="1">
                <a:solidFill>
                  <a:srgbClr val="AEF4BB"/>
                </a:solidFill>
                <a:latin typeface="Arial"/>
                <a:ea typeface="Arial"/>
                <a:cs typeface="Arial"/>
              </a:defRPr>
            </a:pPr>
            <a:r>
              <a:rPr sz="2925" b="1">
                <a:solidFill>
                  <a:srgbClr val="AEF4BB"/>
                </a:solidFill>
                <a:latin typeface="Arial"/>
                <a:ea typeface="Arial"/>
                <a:cs typeface="Arial"/>
              </a:rPr>
              <a:t>Plano de distribución, archivo actualizado y ficha del cuerpo.</a:t>
            </a:r>
          </a:p>
        </p:txBody>
      </p:sp>
      <p:sp>
        <p:nvSpPr>
          <p:cNvPr id="5" name="">
            <a:extLst xmlns:a="http://schemas.openxmlformats.org/drawingml/2006/main">
              <a:ext uri="{FF2B5EF4-FFF2-40B4-BE49-F238E27FC236}">
                <a16:creationId xmlns:a16="http://schemas.microsoft.com/office/drawing/2014/main" id="{5E20D096-0C50-4EFE-B7E4-7958C24873EC}"/>
              </a:ext>
            </a:extLst>
          </p:cNvPr>
          <p:cNvSpPr>
            <a:spLocks xmlns:a="http://schemas.openxmlformats.org/drawingml/2006/main" noGrp="1"/>
          </p:cNvSpPr>
          <p:nvPr/>
        </p:nvSpPr>
        <p:spPr>
          <a:xfrm xmlns:a="http://schemas.openxmlformats.org/drawingml/2006/main">
            <a:off x="590550" y="4314825"/>
            <a:ext cx="1071562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CFCF8"/>
                </a:solidFill>
                <a:latin typeface="Arial"/>
                <a:ea typeface="Arial"/>
                <a:cs typeface="Arial"/>
              </a:defRPr>
            </a:defPPr>
            <a:lvl1pPr>
              <a:defRPr sz="2325" b="0">
                <a:solidFill>
                  <a:srgbClr val="FCFCF8"/>
                </a:solidFill>
                <a:latin typeface="Arial"/>
                <a:ea typeface="Arial"/>
                <a:cs typeface="Arial"/>
              </a:defRPr>
            </a:lvl1pPr>
            <a:lvl2pPr>
              <a:defRPr sz="2325" b="0">
                <a:solidFill>
                  <a:srgbClr val="FCFCF8"/>
                </a:solidFill>
                <a:latin typeface="Arial"/>
                <a:ea typeface="Arial"/>
                <a:cs typeface="Arial"/>
              </a:defRPr>
            </a:lvl2pPr>
            <a:lvl3pPr>
              <a:defRPr sz="2325" b="0">
                <a:solidFill>
                  <a:srgbClr val="FCFCF8"/>
                </a:solidFill>
                <a:latin typeface="Arial"/>
                <a:ea typeface="Arial"/>
                <a:cs typeface="Arial"/>
              </a:defRPr>
            </a:lvl3pPr>
            <a:lvl4pPr>
              <a:defRPr sz="2325" b="0">
                <a:solidFill>
                  <a:srgbClr val="FCFCF8"/>
                </a:solidFill>
                <a:latin typeface="Arial"/>
                <a:ea typeface="Arial"/>
                <a:cs typeface="Arial"/>
              </a:defRPr>
            </a:lvl4pPr>
            <a:lvl5pPr>
              <a:defRPr sz="2325" b="0">
                <a:solidFill>
                  <a:srgbClr val="FCFCF8"/>
                </a:solidFill>
                <a:latin typeface="Arial"/>
                <a:ea typeface="Arial"/>
                <a:cs typeface="Arial"/>
              </a:defRPr>
            </a:lvl5pPr>
            <a:lvl6pPr>
              <a:defRPr sz="2325" b="0">
                <a:solidFill>
                  <a:srgbClr val="FCFCF8"/>
                </a:solidFill>
                <a:latin typeface="Arial"/>
                <a:ea typeface="Arial"/>
                <a:cs typeface="Arial"/>
              </a:defRPr>
            </a:lvl6pPr>
            <a:lvl7pPr>
              <a:defRPr sz="2325" b="0">
                <a:solidFill>
                  <a:srgbClr val="FCFCF8"/>
                </a:solidFill>
                <a:latin typeface="Arial"/>
                <a:ea typeface="Arial"/>
                <a:cs typeface="Arial"/>
              </a:defRPr>
            </a:lvl7pPr>
            <a:lvl8pPr>
              <a:defRPr sz="2325" b="0">
                <a:solidFill>
                  <a:srgbClr val="FCFCF8"/>
                </a:solidFill>
                <a:latin typeface="Arial"/>
                <a:ea typeface="Arial"/>
                <a:cs typeface="Arial"/>
              </a:defRPr>
            </a:lvl8pPr>
            <a:lvl9pPr>
              <a:defRPr sz="2325" b="0">
                <a:solidFill>
                  <a:srgbClr val="FCFCF8"/>
                </a:solidFill>
                <a:latin typeface="Arial"/>
                <a:ea typeface="Arial"/>
                <a:cs typeface="Arial"/>
              </a:defRPr>
            </a:lvl9pPr>
          </a:lstStyle>
          <a:p xmlns:a="http://schemas.openxmlformats.org/drawingml/2006/main">
            <a:pPr>
              <a:defRPr sz="2325" b="0">
                <a:solidFill>
                  <a:srgbClr val="FCFCF8"/>
                </a:solidFill>
                <a:latin typeface="Arial"/>
                <a:ea typeface="Arial"/>
                <a:cs typeface="Arial"/>
              </a:defRPr>
            </a:pPr>
            <a:r>
              <a:rPr sz="2325" b="0">
                <a:solidFill>
                  <a:srgbClr val="FCFCF8"/>
                </a:solidFill>
                <a:latin typeface="Arial"/>
                <a:ea typeface="Arial"/>
                <a:cs typeface="Arial"/>
              </a:rPr>
              <a:t>Conserva la revisión del equipo y señala qué comprobación sigue pendiente.</a:t>
            </a:r>
          </a:p>
        </p:txBody>
      </p:sp>
    </p:spTree>
    <p:extLst>
      <p:ext uri="{BB962C8B-B14F-4D97-AF65-F5344CB8AC3E}">
        <p14:creationId xmlns:p14="http://schemas.microsoft.com/office/powerpoint/2010/main" val="718709769"/>
      </p:ext>
    </p:extLst>
  </p:cSld>
</p:sld>
</file>

<file path=ppt/slides/slide25.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D94B7C1-B400-433F-9378-8B08D28AD428}"/>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Aletas: forma, posición y alineación</a:t>
            </a:r>
          </a:p>
        </p:txBody>
      </p:sp>
      <p:pic>
        <p:nvPicPr>
          <p:cNvPr id="2" name="">
            <a:extLst xmlns:a="http://schemas.openxmlformats.org/drawingml/2006/main">
              <a:ext uri="{FF2B5EF4-FFF2-40B4-BE49-F238E27FC236}">
                <a16:creationId xmlns:a16="http://schemas.microsoft.com/office/drawing/2014/main" id="{68EEA679-8EEA-4DC0-B1AC-26B077A07E52}"/>
              </a:ext>
            </a:extLst>
          </p:cNvPr>
          <p:cNvPicPr>
            <a:picLocks xmlns:a="http://schemas.openxmlformats.org/drawingml/2006/main" noChangeAspect="1"/>
          </p:cNvPicPr>
          <p:nvPr/>
        </p:nvPicPr>
        <p:blipFill>
          <a:blip xmlns:r="http://schemas.openxmlformats.org/officeDocument/2006/relationships" xmlns:a="http://schemas.openxmlformats.org/drawingml/2006/main" r:embed="R84f38ee4bc91425e"/>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6D60A8D-DCDC-4176-B669-554C335EA7C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2   CLASE 04   01/24</a:t>
            </a:r>
          </a:p>
        </p:txBody>
      </p:sp>
      <p:sp>
        <p:nvSpPr>
          <p:cNvPr id="4" name="">
            <a:extLst xmlns:a="http://schemas.openxmlformats.org/drawingml/2006/main">
              <a:ext uri="{FF2B5EF4-FFF2-40B4-BE49-F238E27FC236}">
                <a16:creationId xmlns:a16="http://schemas.microsoft.com/office/drawing/2014/main" id="{7A158960-30CA-49EE-8CEB-55BA14B87C16}"/>
              </a:ext>
            </a:extLst>
          </p:cNvPr>
          <p:cNvSpPr>
            <a:spLocks xmlns:a="http://schemas.openxmlformats.org/drawingml/2006/main" noGrp="1"/>
          </p:cNvSpPr>
          <p:nvPr/>
        </p:nvSpPr>
        <p:spPr>
          <a:xfrm xmlns:a="http://schemas.openxmlformats.org/drawingml/2006/main">
            <a:off x="590550" y="1762125"/>
            <a:ext cx="10715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Comparar contornos de aletas y preparar piezas repetibles con un útil de alineación.</a:t>
            </a:r>
          </a:p>
        </p:txBody>
      </p:sp>
      <p:sp>
        <p:nvSpPr>
          <p:cNvPr id="5" name="">
            <a:extLst xmlns:a="http://schemas.openxmlformats.org/drawingml/2006/main">
              <a:ext uri="{FF2B5EF4-FFF2-40B4-BE49-F238E27FC236}">
                <a16:creationId xmlns:a16="http://schemas.microsoft.com/office/drawing/2014/main" id="{FD2577DB-1431-4E0B-84F7-A6989DEA598B}"/>
              </a:ext>
            </a:extLst>
          </p:cNvPr>
          <p:cNvSpPr>
            <a:spLocks xmlns:a="http://schemas.openxmlformats.org/drawingml/2006/main" noGrp="1"/>
          </p:cNvSpPr>
          <p:nvPr/>
        </p:nvSpPr>
        <p:spPr>
          <a:xfrm xmlns:a="http://schemas.openxmlformats.org/drawingml/2006/main">
            <a:off x="590550" y="3705225"/>
            <a:ext cx="10715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CFCF8"/>
                </a:solidFill>
                <a:latin typeface="Arial"/>
                <a:ea typeface="Arial"/>
                <a:cs typeface="Arial"/>
              </a:defRPr>
            </a:defPPr>
            <a:lvl1pPr>
              <a:defRPr sz="2325" b="0">
                <a:solidFill>
                  <a:srgbClr val="FCFCF8"/>
                </a:solidFill>
                <a:latin typeface="Arial"/>
                <a:ea typeface="Arial"/>
                <a:cs typeface="Arial"/>
              </a:defRPr>
            </a:lvl1pPr>
            <a:lvl2pPr>
              <a:defRPr sz="2325" b="0">
                <a:solidFill>
                  <a:srgbClr val="FCFCF8"/>
                </a:solidFill>
                <a:latin typeface="Arial"/>
                <a:ea typeface="Arial"/>
                <a:cs typeface="Arial"/>
              </a:defRPr>
            </a:lvl2pPr>
            <a:lvl3pPr>
              <a:defRPr sz="2325" b="0">
                <a:solidFill>
                  <a:srgbClr val="FCFCF8"/>
                </a:solidFill>
                <a:latin typeface="Arial"/>
                <a:ea typeface="Arial"/>
                <a:cs typeface="Arial"/>
              </a:defRPr>
            </a:lvl3pPr>
            <a:lvl4pPr>
              <a:defRPr sz="2325" b="0">
                <a:solidFill>
                  <a:srgbClr val="FCFCF8"/>
                </a:solidFill>
                <a:latin typeface="Arial"/>
                <a:ea typeface="Arial"/>
                <a:cs typeface="Arial"/>
              </a:defRPr>
            </a:lvl4pPr>
            <a:lvl5pPr>
              <a:defRPr sz="2325" b="0">
                <a:solidFill>
                  <a:srgbClr val="FCFCF8"/>
                </a:solidFill>
                <a:latin typeface="Arial"/>
                <a:ea typeface="Arial"/>
                <a:cs typeface="Arial"/>
              </a:defRPr>
            </a:lvl5pPr>
            <a:lvl6pPr>
              <a:defRPr sz="2325" b="0">
                <a:solidFill>
                  <a:srgbClr val="FCFCF8"/>
                </a:solidFill>
                <a:latin typeface="Arial"/>
                <a:ea typeface="Arial"/>
                <a:cs typeface="Arial"/>
              </a:defRPr>
            </a:lvl6pPr>
            <a:lvl7pPr>
              <a:defRPr sz="2325" b="0">
                <a:solidFill>
                  <a:srgbClr val="FCFCF8"/>
                </a:solidFill>
                <a:latin typeface="Arial"/>
                <a:ea typeface="Arial"/>
                <a:cs typeface="Arial"/>
              </a:defRPr>
            </a:lvl7pPr>
            <a:lvl8pPr>
              <a:defRPr sz="2325" b="0">
                <a:solidFill>
                  <a:srgbClr val="FCFCF8"/>
                </a:solidFill>
                <a:latin typeface="Arial"/>
                <a:ea typeface="Arial"/>
                <a:cs typeface="Arial"/>
              </a:defRPr>
            </a:lvl8pPr>
            <a:lvl9pPr>
              <a:defRPr sz="2325" b="0">
                <a:solidFill>
                  <a:srgbClr val="FCFCF8"/>
                </a:solidFill>
                <a:latin typeface="Arial"/>
                <a:ea typeface="Arial"/>
                <a:cs typeface="Arial"/>
              </a:defRPr>
            </a:lvl9pPr>
          </a:lstStyle>
          <a:p xmlns:a="http://schemas.openxmlformats.org/drawingml/2006/main">
            <a:pPr>
              <a:defRPr sz="2325" b="0">
                <a:solidFill>
                  <a:srgbClr val="FCFCF8"/>
                </a:solidFill>
                <a:latin typeface="Arial"/>
                <a:ea typeface="Arial"/>
                <a:cs typeface="Arial"/>
              </a:defRPr>
            </a:pPr>
            <a:r>
              <a:rPr sz="2325" b="0">
                <a:solidFill>
                  <a:srgbClr val="FCFCF8"/>
                </a:solidFill>
                <a:latin typeface="Arial"/>
                <a:ea typeface="Arial"/>
                <a:cs typeface="Arial"/>
              </a:rPr>
              <a:t>Aprender a fabricar superficies estabilizadoras que el equipo pueda colocar y revisar.</a:t>
            </a:r>
          </a:p>
        </p:txBody>
      </p:sp>
      <p:sp>
        <p:nvSpPr>
          <p:cNvPr id="6" name="">
            <a:extLst xmlns:a="http://schemas.openxmlformats.org/drawingml/2006/main">
              <a:ext uri="{FF2B5EF4-FFF2-40B4-BE49-F238E27FC236}">
                <a16:creationId xmlns:a16="http://schemas.microsoft.com/office/drawing/2014/main" id="{7E735E8B-F406-422B-A0E6-1AF9F00476AA}"/>
              </a:ext>
            </a:extLst>
          </p:cNvPr>
          <p:cNvSpPr>
            <a:spLocks xmlns:a="http://schemas.openxmlformats.org/drawingml/2006/main" noGrp="1"/>
          </p:cNvSpPr>
          <p:nvPr/>
        </p:nvSpPr>
        <p:spPr>
          <a:xfrm xmlns:a="http://schemas.openxmlformats.org/drawingml/2006/main">
            <a:off x="590550" y="5648325"/>
            <a:ext cx="1071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8C8C1"/>
                </a:solidFill>
                <a:latin typeface="Consolas"/>
                <a:ea typeface="Consolas"/>
                <a:cs typeface="Consolas"/>
              </a:defRPr>
            </a:defPPr>
            <a:lvl1pPr>
              <a:defRPr sz="1800" b="0">
                <a:solidFill>
                  <a:srgbClr val="B8C8C1"/>
                </a:solidFill>
                <a:latin typeface="Consolas"/>
                <a:ea typeface="Consolas"/>
                <a:cs typeface="Consolas"/>
              </a:defRPr>
            </a:lvl1pPr>
            <a:lvl2pPr>
              <a:defRPr sz="1800" b="0">
                <a:solidFill>
                  <a:srgbClr val="B8C8C1"/>
                </a:solidFill>
                <a:latin typeface="Consolas"/>
                <a:ea typeface="Consolas"/>
                <a:cs typeface="Consolas"/>
              </a:defRPr>
            </a:lvl2pPr>
            <a:lvl3pPr>
              <a:defRPr sz="1800" b="0">
                <a:solidFill>
                  <a:srgbClr val="B8C8C1"/>
                </a:solidFill>
                <a:latin typeface="Consolas"/>
                <a:ea typeface="Consolas"/>
                <a:cs typeface="Consolas"/>
              </a:defRPr>
            </a:lvl3pPr>
            <a:lvl4pPr>
              <a:defRPr sz="1800" b="0">
                <a:solidFill>
                  <a:srgbClr val="B8C8C1"/>
                </a:solidFill>
                <a:latin typeface="Consolas"/>
                <a:ea typeface="Consolas"/>
                <a:cs typeface="Consolas"/>
              </a:defRPr>
            </a:lvl4pPr>
            <a:lvl5pPr>
              <a:defRPr sz="1800" b="0">
                <a:solidFill>
                  <a:srgbClr val="B8C8C1"/>
                </a:solidFill>
                <a:latin typeface="Consolas"/>
                <a:ea typeface="Consolas"/>
                <a:cs typeface="Consolas"/>
              </a:defRPr>
            </a:lvl5pPr>
            <a:lvl6pPr>
              <a:defRPr sz="1800" b="0">
                <a:solidFill>
                  <a:srgbClr val="B8C8C1"/>
                </a:solidFill>
                <a:latin typeface="Consolas"/>
                <a:ea typeface="Consolas"/>
                <a:cs typeface="Consolas"/>
              </a:defRPr>
            </a:lvl6pPr>
            <a:lvl7pPr>
              <a:defRPr sz="1800" b="0">
                <a:solidFill>
                  <a:srgbClr val="B8C8C1"/>
                </a:solidFill>
                <a:latin typeface="Consolas"/>
                <a:ea typeface="Consolas"/>
                <a:cs typeface="Consolas"/>
              </a:defRPr>
            </a:lvl7pPr>
            <a:lvl8pPr>
              <a:defRPr sz="1800" b="0">
                <a:solidFill>
                  <a:srgbClr val="B8C8C1"/>
                </a:solidFill>
                <a:latin typeface="Consolas"/>
                <a:ea typeface="Consolas"/>
                <a:cs typeface="Consolas"/>
              </a:defRPr>
            </a:lvl8pPr>
            <a:lvl9pPr>
              <a:defRPr sz="1800" b="0">
                <a:solidFill>
                  <a:srgbClr val="B8C8C1"/>
                </a:solidFill>
                <a:latin typeface="Consolas"/>
                <a:ea typeface="Consolas"/>
                <a:cs typeface="Consolas"/>
              </a:defRPr>
            </a:lvl9pPr>
          </a:lstStyle>
          <a:p xmlns:a="http://schemas.openxmlformats.org/drawingml/2006/main">
            <a:pPr>
              <a:defRPr sz="1800" b="0">
                <a:solidFill>
                  <a:srgbClr val="B8C8C1"/>
                </a:solidFill>
                <a:latin typeface="Consolas"/>
                <a:ea typeface="Consolas"/>
                <a:cs typeface="Consolas"/>
              </a:defRPr>
            </a:pPr>
            <a:r>
              <a:rPr sz="1800" b="0">
                <a:solidFill>
                  <a:srgbClr val="B8C8C1"/>
                </a:solidFill>
                <a:latin typeface="Consolas"/>
                <a:ea typeface="Consolas"/>
                <a:cs typeface="Consolas"/>
              </a:rPr>
              <a:t>EN LÍNEA   2 HORAS</a:t>
            </a:r>
          </a:p>
        </p:txBody>
      </p:sp>
    </p:spTree>
    <p:extLst>
      <p:ext uri="{BB962C8B-B14F-4D97-AF65-F5344CB8AC3E}">
        <p14:creationId xmlns:p14="http://schemas.microsoft.com/office/powerpoint/2010/main" val="914966989"/>
      </p:ext>
    </p:extLst>
  </p:cSld>
</p:sld>
</file>

<file path=ppt/slides/slide2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77588C3-F288-4A63-A489-EC77AD4641FC}"/>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Por qué el cohete lleva aletas atrás</a:t>
            </a:r>
          </a:p>
        </p:txBody>
      </p:sp>
      <p:pic>
        <p:nvPicPr>
          <p:cNvPr id="2" name="">
            <a:extLst xmlns:a="http://schemas.openxmlformats.org/drawingml/2006/main">
              <a:ext uri="{FF2B5EF4-FFF2-40B4-BE49-F238E27FC236}">
                <a16:creationId xmlns:a16="http://schemas.microsoft.com/office/drawing/2014/main" id="{877DE11E-BAD9-48DF-BDE0-7F6C42850E31}"/>
              </a:ext>
            </a:extLst>
          </p:cNvPr>
          <p:cNvPicPr>
            <a:picLocks xmlns:a="http://schemas.openxmlformats.org/drawingml/2006/main" noChangeAspect="1"/>
          </p:cNvPicPr>
          <p:nvPr/>
        </p:nvPicPr>
        <p:blipFill>
          <a:blip xmlns:r="http://schemas.openxmlformats.org/officeDocument/2006/relationships" xmlns:a="http://schemas.openxmlformats.org/drawingml/2006/main" r:embed="Re19e9c33d3234ae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198E16E-500D-4DC6-B881-67A476EA37E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04   02/24</a:t>
            </a:r>
          </a:p>
        </p:txBody>
      </p:sp>
      <p:sp>
        <p:nvSpPr>
          <p:cNvPr id="4" name="">
            <a:extLst xmlns:a="http://schemas.openxmlformats.org/drawingml/2006/main">
              <a:ext uri="{FF2B5EF4-FFF2-40B4-BE49-F238E27FC236}">
                <a16:creationId xmlns:a16="http://schemas.microsoft.com/office/drawing/2014/main" id="{C6ACBF07-8E3C-40CB-A88D-5415FABC6F01}"/>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Las aletas son superficies sobre las que actúa el aire cuando cambia la orientación del cohete. Su contribución a la estabilidad depende del conjunto y de su ubicación. Para nuestro primer diseño interesa que todas tengan la geometría definida y queden alineadas. Una buena silueta en el programa no corrige una pieza torcida en el montaje.</a:t>
            </a:r>
          </a:p>
        </p:txBody>
      </p:sp>
    </p:spTree>
    <p:extLst>
      <p:ext uri="{BB962C8B-B14F-4D97-AF65-F5344CB8AC3E}">
        <p14:creationId xmlns:p14="http://schemas.microsoft.com/office/powerpoint/2010/main" val="384097813"/>
      </p:ext>
    </p:extLst>
  </p:cSld>
</p:sld>
</file>

<file path=ppt/slides/slide2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79B55DB-5BCB-4C72-A7AD-CDBB146A6325}"/>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Por qué el cohete lleva aletas atrás</a:t>
            </a:r>
          </a:p>
        </p:txBody>
      </p:sp>
      <p:pic>
        <p:nvPicPr>
          <p:cNvPr id="2" name="">
            <a:extLst xmlns:a="http://schemas.openxmlformats.org/drawingml/2006/main">
              <a:ext uri="{FF2B5EF4-FFF2-40B4-BE49-F238E27FC236}">
                <a16:creationId xmlns:a16="http://schemas.microsoft.com/office/drawing/2014/main" id="{B754A589-1CD9-4F87-9737-63F67BDD13BD}"/>
              </a:ext>
            </a:extLst>
          </p:cNvPr>
          <p:cNvPicPr>
            <a:picLocks xmlns:a="http://schemas.openxmlformats.org/drawingml/2006/main" noChangeAspect="1"/>
          </p:cNvPicPr>
          <p:nvPr/>
        </p:nvPicPr>
        <p:blipFill>
          <a:blip xmlns:r="http://schemas.openxmlformats.org/officeDocument/2006/relationships" xmlns:a="http://schemas.openxmlformats.org/drawingml/2006/main" r:embed="Rf96f9dde6d124d2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7972711-4CA5-40D1-BC76-3B53DBEFFE2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04   03/24</a:t>
            </a:r>
          </a:p>
        </p:txBody>
      </p:sp>
      <p:pic>
        <p:nvPicPr>
          <p:cNvPr id="4" name="">
            <a:extLst xmlns:a="http://schemas.openxmlformats.org/drawingml/2006/main">
              <a:ext uri="{FF2B5EF4-FFF2-40B4-BE49-F238E27FC236}">
                <a16:creationId xmlns:a16="http://schemas.microsoft.com/office/drawing/2014/main" id="{899DC4DD-921C-4C03-8305-D0D00CA35F04}"/>
              </a:ext>
            </a:extLst>
          </p:cNvPr>
          <p:cNvPicPr>
            <a:picLocks xmlns:a="http://schemas.openxmlformats.org/drawingml/2006/main" noChangeAspect="1"/>
          </p:cNvPicPr>
          <p:nvPr/>
        </p:nvPicPr>
        <p:blipFill>
          <a:blip xmlns:r="http://schemas.openxmlformats.org/officeDocument/2006/relationships" xmlns:a="http://schemas.openxmlformats.org/drawingml/2006/main" r:embed="Re5d1479355764094"/>
          <a:stretch xmlns:a="http://schemas.openxmlformats.org/drawingml/2006/main"/>
        </p:blipFill>
        <p:spPr>
          <a:xfrm xmlns:a="http://schemas.openxmlformats.org/drawingml/2006/main">
            <a:off x="590550" y="1664757"/>
            <a:ext cx="7410450" cy="3966637"/>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5BEC416-4462-4CF5-9B80-223DCA63C4C6}"/>
              </a:ext>
            </a:extLst>
          </p:cNvPr>
          <p:cNvSpPr>
            <a:spLocks xmlns:a="http://schemas.openxmlformats.org/drawingml/2006/main" noGrp="1"/>
          </p:cNvSpPr>
          <p:nvPr/>
        </p:nvSpPr>
        <p:spPr>
          <a:xfrm xmlns:a="http://schemas.openxmlformats.org/drawingml/2006/main">
            <a:off x="8315325" y="1781175"/>
            <a:ext cx="3248025" cy="3590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44F3D"/>
                </a:solidFill>
                <a:latin typeface="Arial"/>
                <a:ea typeface="Arial"/>
                <a:cs typeface="Arial"/>
              </a:defRPr>
            </a:defPPr>
            <a:lvl1pPr>
              <a:defRPr sz="2325" b="1">
                <a:solidFill>
                  <a:srgbClr val="244F3D"/>
                </a:solidFill>
                <a:latin typeface="Arial"/>
                <a:ea typeface="Arial"/>
                <a:cs typeface="Arial"/>
              </a:defRPr>
            </a:lvl1pPr>
            <a:lvl2pPr>
              <a:defRPr sz="2325" b="1">
                <a:solidFill>
                  <a:srgbClr val="244F3D"/>
                </a:solidFill>
                <a:latin typeface="Arial"/>
                <a:ea typeface="Arial"/>
                <a:cs typeface="Arial"/>
              </a:defRPr>
            </a:lvl2pPr>
            <a:lvl3pPr>
              <a:defRPr sz="2325" b="1">
                <a:solidFill>
                  <a:srgbClr val="244F3D"/>
                </a:solidFill>
                <a:latin typeface="Arial"/>
                <a:ea typeface="Arial"/>
                <a:cs typeface="Arial"/>
              </a:defRPr>
            </a:lvl3pPr>
            <a:lvl4pPr>
              <a:defRPr sz="2325" b="1">
                <a:solidFill>
                  <a:srgbClr val="244F3D"/>
                </a:solidFill>
                <a:latin typeface="Arial"/>
                <a:ea typeface="Arial"/>
                <a:cs typeface="Arial"/>
              </a:defRPr>
            </a:lvl4pPr>
            <a:lvl5pPr>
              <a:defRPr sz="2325" b="1">
                <a:solidFill>
                  <a:srgbClr val="244F3D"/>
                </a:solidFill>
                <a:latin typeface="Arial"/>
                <a:ea typeface="Arial"/>
                <a:cs typeface="Arial"/>
              </a:defRPr>
            </a:lvl5pPr>
            <a:lvl6pPr>
              <a:defRPr sz="2325" b="1">
                <a:solidFill>
                  <a:srgbClr val="244F3D"/>
                </a:solidFill>
                <a:latin typeface="Arial"/>
                <a:ea typeface="Arial"/>
                <a:cs typeface="Arial"/>
              </a:defRPr>
            </a:lvl6pPr>
            <a:lvl7pPr>
              <a:defRPr sz="2325" b="1">
                <a:solidFill>
                  <a:srgbClr val="244F3D"/>
                </a:solidFill>
                <a:latin typeface="Arial"/>
                <a:ea typeface="Arial"/>
                <a:cs typeface="Arial"/>
              </a:defRPr>
            </a:lvl7pPr>
            <a:lvl8pPr>
              <a:defRPr sz="2325" b="1">
                <a:solidFill>
                  <a:srgbClr val="244F3D"/>
                </a:solidFill>
                <a:latin typeface="Arial"/>
                <a:ea typeface="Arial"/>
                <a:cs typeface="Arial"/>
              </a:defRPr>
            </a:lvl8pPr>
            <a:lvl9pPr>
              <a:defRPr sz="2325" b="1">
                <a:solidFill>
                  <a:srgbClr val="244F3D"/>
                </a:solidFill>
                <a:latin typeface="Arial"/>
                <a:ea typeface="Arial"/>
                <a:cs typeface="Arial"/>
              </a:defRPr>
            </a:lvl9pPr>
          </a:lstStyle>
          <a:p xmlns:a="http://schemas.openxmlformats.org/drawingml/2006/main">
            <a:pPr>
              <a:defRPr sz="2325" b="1">
                <a:solidFill>
                  <a:srgbClr val="244F3D"/>
                </a:solidFill>
                <a:latin typeface="Arial"/>
                <a:ea typeface="Arial"/>
                <a:cs typeface="Arial"/>
              </a:defRPr>
            </a:pPr>
            <a:r>
              <a:rPr sz="2325" b="1">
                <a:solidFill>
                  <a:srgbClr val="244F3D"/>
                </a:solidFill>
                <a:latin typeface="Arial"/>
                <a:ea typeface="Arial"/>
                <a:cs typeface="Arial"/>
              </a:rPr>
              <a:t>Señala raíz y semienvergadura en una pieza.</a:t>
            </a:r>
          </a:p>
        </p:txBody>
      </p:sp>
      <p:sp>
        <p:nvSpPr>
          <p:cNvPr id="6" name="">
            <a:extLst xmlns:a="http://schemas.openxmlformats.org/drawingml/2006/main">
              <a:ext uri="{FF2B5EF4-FFF2-40B4-BE49-F238E27FC236}">
                <a16:creationId xmlns:a16="http://schemas.microsoft.com/office/drawing/2014/main" id="{C7EA71F5-D40C-4671-ACDB-5F3CA34EB5EB}"/>
              </a:ext>
            </a:extLst>
          </p:cNvPr>
          <p:cNvSpPr>
            <a:spLocks xmlns:a="http://schemas.openxmlformats.org/drawingml/2006/main" noGrp="1"/>
          </p:cNvSpPr>
          <p:nvPr/>
        </p:nvSpPr>
        <p:spPr>
          <a:xfrm xmlns:a="http://schemas.openxmlformats.org/drawingml/2006/main">
            <a:off x="590550" y="58483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8665F"/>
                </a:solidFill>
                <a:latin typeface="Arial"/>
                <a:ea typeface="Arial"/>
                <a:cs typeface="Arial"/>
              </a:defRPr>
            </a:defPPr>
            <a:lvl1pPr>
              <a:defRPr sz="1350" b="0">
                <a:solidFill>
                  <a:srgbClr val="58665F"/>
                </a:solidFill>
                <a:latin typeface="Arial"/>
                <a:ea typeface="Arial"/>
                <a:cs typeface="Arial"/>
              </a:defRPr>
            </a:lvl1pPr>
            <a:lvl2pPr>
              <a:defRPr sz="1350" b="0">
                <a:solidFill>
                  <a:srgbClr val="58665F"/>
                </a:solidFill>
                <a:latin typeface="Arial"/>
                <a:ea typeface="Arial"/>
                <a:cs typeface="Arial"/>
              </a:defRPr>
            </a:lvl2pPr>
            <a:lvl3pPr>
              <a:defRPr sz="1350" b="0">
                <a:solidFill>
                  <a:srgbClr val="58665F"/>
                </a:solidFill>
                <a:latin typeface="Arial"/>
                <a:ea typeface="Arial"/>
                <a:cs typeface="Arial"/>
              </a:defRPr>
            </a:lvl3pPr>
            <a:lvl4pPr>
              <a:defRPr sz="1350" b="0">
                <a:solidFill>
                  <a:srgbClr val="58665F"/>
                </a:solidFill>
                <a:latin typeface="Arial"/>
                <a:ea typeface="Arial"/>
                <a:cs typeface="Arial"/>
              </a:defRPr>
            </a:lvl4pPr>
            <a:lvl5pPr>
              <a:defRPr sz="1350" b="0">
                <a:solidFill>
                  <a:srgbClr val="58665F"/>
                </a:solidFill>
                <a:latin typeface="Arial"/>
                <a:ea typeface="Arial"/>
                <a:cs typeface="Arial"/>
              </a:defRPr>
            </a:lvl5pPr>
            <a:lvl6pPr>
              <a:defRPr sz="1350" b="0">
                <a:solidFill>
                  <a:srgbClr val="58665F"/>
                </a:solidFill>
                <a:latin typeface="Arial"/>
                <a:ea typeface="Arial"/>
                <a:cs typeface="Arial"/>
              </a:defRPr>
            </a:lvl6pPr>
            <a:lvl7pPr>
              <a:defRPr sz="1350" b="0">
                <a:solidFill>
                  <a:srgbClr val="58665F"/>
                </a:solidFill>
                <a:latin typeface="Arial"/>
                <a:ea typeface="Arial"/>
                <a:cs typeface="Arial"/>
              </a:defRPr>
            </a:lvl7pPr>
            <a:lvl8pPr>
              <a:defRPr sz="1350" b="0">
                <a:solidFill>
                  <a:srgbClr val="58665F"/>
                </a:solidFill>
                <a:latin typeface="Arial"/>
                <a:ea typeface="Arial"/>
                <a:cs typeface="Arial"/>
              </a:defRPr>
            </a:lvl8pPr>
            <a:lvl9pPr>
              <a:defRPr sz="1350" b="0">
                <a:solidFill>
                  <a:srgbClr val="58665F"/>
                </a:solidFill>
                <a:latin typeface="Arial"/>
                <a:ea typeface="Arial"/>
                <a:cs typeface="Arial"/>
              </a:defRPr>
            </a:lvl9pPr>
          </a:lstStyle>
          <a:p xmlns:a="http://schemas.openxmlformats.org/drawingml/2006/main">
            <a:pPr>
              <a:defRPr sz="1350" b="0">
                <a:solidFill>
                  <a:srgbClr val="58665F"/>
                </a:solidFill>
                <a:latin typeface="Arial"/>
                <a:ea typeface="Arial"/>
                <a:cs typeface="Arial"/>
              </a:defRPr>
            </a:pPr>
            <a:r>
              <a:rPr sz="1350" b="0">
                <a:solidFill>
                  <a:srgbClr val="58665F"/>
                </a:solidFill>
                <a:latin typeface="Arial"/>
                <a:ea typeface="Arial"/>
                <a:cs typeface="Arial"/>
              </a:rPr>
              <a:t>Formas de aleta, Richard Nakka. Root indica raíz, tip borde exterior y S semienvergadura. Las proporciones de la ilustración no son medidas del proyecto.</a:t>
            </a:r>
          </a:p>
        </p:txBody>
      </p:sp>
    </p:spTree>
    <p:extLst>
      <p:ext uri="{BB962C8B-B14F-4D97-AF65-F5344CB8AC3E}">
        <p14:creationId xmlns:p14="http://schemas.microsoft.com/office/powerpoint/2010/main" val="922370604"/>
      </p:ext>
    </p:extLst>
  </p:cSld>
</p:sld>
</file>

<file path=ppt/slides/slide2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A108D18-D283-4A39-88EB-26516AE4A97F}"/>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Por qué el cohete lleva aletas atrás</a:t>
            </a:r>
          </a:p>
        </p:txBody>
      </p:sp>
      <p:pic>
        <p:nvPicPr>
          <p:cNvPr id="2" name="">
            <a:extLst xmlns:a="http://schemas.openxmlformats.org/drawingml/2006/main">
              <a:ext uri="{FF2B5EF4-FFF2-40B4-BE49-F238E27FC236}">
                <a16:creationId xmlns:a16="http://schemas.microsoft.com/office/drawing/2014/main" id="{B1CD4C9E-AF59-4310-8A4E-A49D804C7AF7}"/>
              </a:ext>
            </a:extLst>
          </p:cNvPr>
          <p:cNvPicPr>
            <a:picLocks xmlns:a="http://schemas.openxmlformats.org/drawingml/2006/main" noChangeAspect="1"/>
          </p:cNvPicPr>
          <p:nvPr/>
        </p:nvPicPr>
        <p:blipFill>
          <a:blip xmlns:r="http://schemas.openxmlformats.org/officeDocument/2006/relationships" xmlns:a="http://schemas.openxmlformats.org/drawingml/2006/main" r:embed="R8dbb16c3975d4e6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8A2D0AE-726B-4DE8-9119-CCD930CE07F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04   04/24</a:t>
            </a:r>
          </a:p>
        </p:txBody>
      </p:sp>
      <p:sp>
        <p:nvSpPr>
          <p:cNvPr id="4" name="">
            <a:extLst xmlns:a="http://schemas.openxmlformats.org/drawingml/2006/main">
              <a:ext uri="{FF2B5EF4-FFF2-40B4-BE49-F238E27FC236}">
                <a16:creationId xmlns:a16="http://schemas.microsoft.com/office/drawing/2014/main" id="{64075B32-326A-4C6F-AC55-A050CEF18EE4}"/>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Imagina el cohete avanzando y desviando ligeramente su punta. El aire llega con otra dirección relativa y actúa sobre las superficies exteriores. Las aletas posteriores contribuyen a la respuesta aerodinámica del vehículo. Su papel depende de su tamaño, posición y del conjunto del cohete. Para comprenderlo basta relacionar una vista lateral con la ubicación de las superficies. Las clases de estabilidad retomarán esa observación; hoy nos interesa que las aletas construidas correspondan a las que aparecen en el modelo.</a:t>
            </a:r>
          </a:p>
        </p:txBody>
      </p:sp>
    </p:spTree>
    <p:extLst>
      <p:ext uri="{BB962C8B-B14F-4D97-AF65-F5344CB8AC3E}">
        <p14:creationId xmlns:p14="http://schemas.microsoft.com/office/powerpoint/2010/main" val="1352774368"/>
      </p:ext>
    </p:extLst>
  </p:cSld>
</p:sld>
</file>

<file path=ppt/slides/slide2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B19E88C-DCB8-447A-AF7C-5B9357AB43FF}"/>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Comparar contornos con criterios de taller</a:t>
            </a:r>
          </a:p>
        </p:txBody>
      </p:sp>
      <p:pic>
        <p:nvPicPr>
          <p:cNvPr id="2" name="">
            <a:extLst xmlns:a="http://schemas.openxmlformats.org/drawingml/2006/main">
              <a:ext uri="{FF2B5EF4-FFF2-40B4-BE49-F238E27FC236}">
                <a16:creationId xmlns:a16="http://schemas.microsoft.com/office/drawing/2014/main" id="{63AD031D-9D46-4703-A47E-462E7786EF10}"/>
              </a:ext>
            </a:extLst>
          </p:cNvPr>
          <p:cNvPicPr>
            <a:picLocks xmlns:a="http://schemas.openxmlformats.org/drawingml/2006/main" noChangeAspect="1"/>
          </p:cNvPicPr>
          <p:nvPr/>
        </p:nvPicPr>
        <p:blipFill>
          <a:blip xmlns:r="http://schemas.openxmlformats.org/officeDocument/2006/relationships" xmlns:a="http://schemas.openxmlformats.org/drawingml/2006/main" r:embed="R27a19ef1b36546f8"/>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B0EBC7B-AE19-49DD-8237-BBFB6EA62F9B}"/>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04   05/24</a:t>
            </a:r>
          </a:p>
        </p:txBody>
      </p:sp>
      <p:sp>
        <p:nvSpPr>
          <p:cNvPr id="4" name="">
            <a:extLst xmlns:a="http://schemas.openxmlformats.org/drawingml/2006/main">
              <a:ext uri="{FF2B5EF4-FFF2-40B4-BE49-F238E27FC236}">
                <a16:creationId xmlns:a16="http://schemas.microsoft.com/office/drawing/2014/main" id="{05566EEB-CED5-46CB-B32B-0B4D03B3CCE1}"/>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Cambiar forma también puede cambiar área, masa y superficie de unión. Por eso no basta decir “la triangular vuela mejor”. Primero debemos saber si se mantuvieron las otras medidas y qué misión se comparó. En un taller inicial puede pesar más la facilidad de repetir tres piezas iguales que una pequeña diferencia del modelo aerodinámico.</a:t>
            </a:r>
          </a:p>
        </p:txBody>
      </p:sp>
    </p:spTree>
    <p:extLst>
      <p:ext uri="{BB962C8B-B14F-4D97-AF65-F5344CB8AC3E}">
        <p14:creationId xmlns:p14="http://schemas.microsoft.com/office/powerpoint/2010/main" val="255685586"/>
      </p:ext>
    </p:extLst>
  </p:cSld>
</p:sld>
</file>

<file path=ppt/slides/slide3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A98B4D1-AA61-4C9B-8EDD-54C67C03CD22}"/>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Qué ofrecen formas habituales</a:t>
            </a:r>
          </a:p>
        </p:txBody>
      </p:sp>
      <p:pic>
        <p:nvPicPr>
          <p:cNvPr id="2" name="">
            <a:extLst xmlns:a="http://schemas.openxmlformats.org/drawingml/2006/main">
              <a:ext uri="{FF2B5EF4-FFF2-40B4-BE49-F238E27FC236}">
                <a16:creationId xmlns:a16="http://schemas.microsoft.com/office/drawing/2014/main" id="{B8268FF5-E06F-4964-AEEA-FA8369B4BC2A}"/>
              </a:ext>
            </a:extLst>
          </p:cNvPr>
          <p:cNvPicPr>
            <a:picLocks xmlns:a="http://schemas.openxmlformats.org/drawingml/2006/main" noChangeAspect="1"/>
          </p:cNvPicPr>
          <p:nvPr/>
        </p:nvPicPr>
        <p:blipFill>
          <a:blip xmlns:r="http://schemas.openxmlformats.org/officeDocument/2006/relationships" xmlns:a="http://schemas.openxmlformats.org/drawingml/2006/main" r:embed="R109b1100cd8b4292"/>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7D9E4FF-7C82-4C11-9293-9EF0E6BE7FA2}"/>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04   06/24</a:t>
            </a:r>
          </a:p>
        </p:txBody>
      </p:sp>
      <p:graphicFrame>
        <p:nvGraphicFramePr>
          <p:cNvPr id="4" name="">
            <a:extLst xmlns:a="http://schemas.openxmlformats.org/drawingml/2006/main">
              <a:ext uri="{FF2B5EF4-FFF2-40B4-BE49-F238E27FC236}">
                <a16:creationId xmlns:a16="http://schemas.microsoft.com/office/drawing/2014/main" id="{7B68BDC9-1DA0-4D3A-B898-1DB862115468}"/>
              </a:ext>
            </a:extLst>
          </p:cNvPr>
          <p:cNvGraphicFramePr/>
          <p:nvPr/>
        </p:nvGraphicFramePr>
        <p:xfrm>
          <a:off xmlns:a="http://schemas.openxmlformats.org/drawingml/2006/main" x="590550" y="1752600"/>
          <a:ext xmlns:a="http://schemas.openxmlformats.org/drawingml/2006/main" cx="11010900" cy="3590925"/>
        </p:xfrm>
        <a:graphic xmlns:a="http://schemas.openxmlformats.org/drawingml/2006/main">
          <a:graphicData uri="http://schemas.openxmlformats.org/drawingml/2006/table">
            <a:tbl>
              <a:tblPr/>
              <a:tblGrid>
                <a:gridCol w="2143125"/>
                <a:gridCol w="4524375"/>
                <a:gridCol w="4343400"/>
              </a:tblGrid>
              <a:tr h="718185">
                <a:tc>
                  <a:txBody>
                    <a:bodyPr/>
                    <a:lstStyle/>
                    <a:p>
                      <a:r>
                        <a:rPr sz="2025" b="1">
                          <a:solidFill>
                            <a:srgbClr val="FFFFFF"/>
                          </a:solidFill>
                          <a:latin typeface="Arial"/>
                          <a:ea typeface="Arial"/>
                          <a:cs typeface="Arial"/>
                        </a:rPr>
                        <a:t>Contorno</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Para aprender a construir</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Detalle que revisar</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18185">
                <a:tc>
                  <a:txBody>
                    <a:bodyPr/>
                    <a:lstStyle/>
                    <a:p>
                      <a:r>
                        <a:rPr sz="2025" b="0">
                          <a:solidFill>
                            <a:srgbClr val="14231E"/>
                          </a:solidFill>
                          <a:latin typeface="Arial"/>
                          <a:ea typeface="Arial"/>
                          <a:cs typeface="Arial"/>
                        </a:rPr>
                        <a:t>Triangular</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Trazado sencillo y pocas referencias</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Punta y longitud de unión</a:t>
                      </a:r>
                    </a:p>
                  </a:txBody>
                  <a:tcPr marL="91440" marR="91440" marT="45720" marB="45720">
                    <a:lnR w="9525">
                      <a:solidFill>
                        <a:srgbClr val="BFCEC3"/>
                      </a:solidFill>
                      <a:prstDash val="solid"/>
                    </a:lnR>
                    <a:lnB w="9525">
                      <a:solidFill>
                        <a:srgbClr val="BFCEC3"/>
                      </a:solidFill>
                      <a:prstDash val="solid"/>
                    </a:lnB>
                    <a:solidFill>
                      <a:srgbClr val="EAF3EC"/>
                    </a:solidFill>
                  </a:tcPr>
                </a:tc>
              </a:tr>
              <a:tr h="718185">
                <a:tc>
                  <a:txBody>
                    <a:bodyPr/>
                    <a:lstStyle/>
                    <a:p>
                      <a:r>
                        <a:rPr sz="2025" b="0">
                          <a:solidFill>
                            <a:srgbClr val="14231E"/>
                          </a:solidFill>
                          <a:latin typeface="Arial"/>
                          <a:ea typeface="Arial"/>
                          <a:cs typeface="Arial"/>
                        </a:rPr>
                        <a:t>Trapezoidal</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Raíz y punta se cambian por separado</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Barrido y repetición</a:t>
                      </a:r>
                    </a:p>
                  </a:txBody>
                  <a:tcPr marL="91440" marR="91440" marT="45720" marB="45720">
                    <a:lnR w="9525">
                      <a:solidFill>
                        <a:srgbClr val="BFCEC3"/>
                      </a:solidFill>
                      <a:prstDash val="solid"/>
                    </a:lnR>
                    <a:lnB w="9525">
                      <a:solidFill>
                        <a:srgbClr val="BFCEC3"/>
                      </a:solidFill>
                      <a:prstDash val="solid"/>
                    </a:lnB>
                    <a:solidFill>
                      <a:srgbClr val="FCFCF8"/>
                    </a:solidFill>
                  </a:tcPr>
                </a:tc>
              </a:tr>
              <a:tr h="718185">
                <a:tc>
                  <a:txBody>
                    <a:bodyPr/>
                    <a:lstStyle/>
                    <a:p>
                      <a:r>
                        <a:rPr sz="2025" b="0">
                          <a:solidFill>
                            <a:srgbClr val="14231E"/>
                          </a:solidFill>
                          <a:latin typeface="Arial"/>
                          <a:ea typeface="Arial"/>
                          <a:cs typeface="Arial"/>
                        </a:rPr>
                        <a:t>Elíptico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Contorno continuo para comparar</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Corte o impresión fiel al plano</a:t>
                      </a:r>
                    </a:p>
                  </a:txBody>
                  <a:tcPr marL="91440" marR="91440" marT="45720" marB="45720">
                    <a:lnR w="9525">
                      <a:solidFill>
                        <a:srgbClr val="BFCEC3"/>
                      </a:solidFill>
                      <a:prstDash val="solid"/>
                    </a:lnR>
                    <a:lnB w="9525">
                      <a:solidFill>
                        <a:srgbClr val="BFCEC3"/>
                      </a:solidFill>
                      <a:prstDash val="solid"/>
                    </a:lnB>
                    <a:solidFill>
                      <a:srgbClr val="EAF3EC"/>
                    </a:solidFill>
                  </a:tcPr>
                </a:tc>
              </a:tr>
              <a:tr h="718185">
                <a:tc>
                  <a:txBody>
                    <a:bodyPr/>
                    <a:lstStyle/>
                    <a:p>
                      <a:r>
                        <a:rPr sz="2025" b="0">
                          <a:solidFill>
                            <a:srgbClr val="14231E"/>
                          </a:solidFill>
                          <a:latin typeface="Arial"/>
                          <a:ea typeface="Arial"/>
                          <a:cs typeface="Arial"/>
                        </a:rPr>
                        <a:t>Muy barrido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Permite discutir posición y protección de bordes</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Parte que sobresale y posibles golpes</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580350457"/>
      </p:ext>
    </p:extLst>
  </p:cSld>
</p:sld>
</file>

<file path=ppt/slides/slide31.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253C6FC-0A9A-4215-8DD9-0B7936B133A4}"/>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La forma más simple evita otro problema</a:t>
            </a:r>
          </a:p>
        </p:txBody>
      </p:sp>
      <p:pic>
        <p:nvPicPr>
          <p:cNvPr id="2" name="">
            <a:extLst xmlns:a="http://schemas.openxmlformats.org/drawingml/2006/main">
              <a:ext uri="{FF2B5EF4-FFF2-40B4-BE49-F238E27FC236}">
                <a16:creationId xmlns:a16="http://schemas.microsoft.com/office/drawing/2014/main" id="{518C0CA9-6FC5-46A0-8BC6-61811049C9C3}"/>
              </a:ext>
            </a:extLst>
          </p:cNvPr>
          <p:cNvPicPr>
            <a:picLocks xmlns:a="http://schemas.openxmlformats.org/drawingml/2006/main" noChangeAspect="1"/>
          </p:cNvPicPr>
          <p:nvPr/>
        </p:nvPicPr>
        <p:blipFill>
          <a:blip xmlns:r="http://schemas.openxmlformats.org/officeDocument/2006/relationships" xmlns:a="http://schemas.openxmlformats.org/drawingml/2006/main" r:embed="Reb26c2fcaa684ee8"/>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707046B-DB04-426A-92FF-E6AD71FB93E2}"/>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2   CLASE 04   07/24</a:t>
            </a:r>
          </a:p>
        </p:txBody>
      </p:sp>
      <p:sp>
        <p:nvSpPr>
          <p:cNvPr id="4" name="">
            <a:extLst xmlns:a="http://schemas.openxmlformats.org/drawingml/2006/main">
              <a:ext uri="{FF2B5EF4-FFF2-40B4-BE49-F238E27FC236}">
                <a16:creationId xmlns:a16="http://schemas.microsoft.com/office/drawing/2014/main" id="{B63CCE06-7297-4294-B2CD-068E631A4318}"/>
              </a:ext>
            </a:extLst>
          </p:cNvPr>
          <p:cNvSpPr>
            <a:spLocks xmlns:a="http://schemas.openxmlformats.org/drawingml/2006/main" noGrp="1"/>
          </p:cNvSpPr>
          <p:nvPr/>
        </p:nvSpPr>
        <p:spPr>
          <a:xfrm xmlns:a="http://schemas.openxmlformats.org/drawingml/2006/main">
            <a:off x="590550" y="1809750"/>
            <a:ext cx="107156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Un equipo puede cortar tres trapecios iguales con una plantilla, pero sus tres aletas curvas salen diferentes.</a:t>
            </a:r>
          </a:p>
        </p:txBody>
      </p:sp>
      <p:sp>
        <p:nvSpPr>
          <p:cNvPr id="5" name="">
            <a:extLst xmlns:a="http://schemas.openxmlformats.org/drawingml/2006/main">
              <a:ext uri="{FF2B5EF4-FFF2-40B4-BE49-F238E27FC236}">
                <a16:creationId xmlns:a16="http://schemas.microsoft.com/office/drawing/2014/main" id="{C23EA9F5-D288-4323-9E3D-873F8BEC71CB}"/>
              </a:ext>
            </a:extLst>
          </p:cNvPr>
          <p:cNvSpPr>
            <a:spLocks xmlns:a="http://schemas.openxmlformats.org/drawingml/2006/main" noGrp="1"/>
          </p:cNvSpPr>
          <p:nvPr/>
        </p:nvSpPr>
        <p:spPr>
          <a:xfrm xmlns:a="http://schemas.openxmlformats.org/drawingml/2006/main">
            <a:off x="590550" y="4629150"/>
            <a:ext cx="10715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¿Cambió solo la forma o también el área?</a:t>
            </a:r>
          </a:p>
        </p:txBody>
      </p:sp>
    </p:spTree>
    <p:extLst>
      <p:ext uri="{BB962C8B-B14F-4D97-AF65-F5344CB8AC3E}">
        <p14:creationId xmlns:p14="http://schemas.microsoft.com/office/powerpoint/2010/main" val="594569628"/>
      </p:ext>
    </p:extLst>
  </p:cSld>
</p:sld>
</file>

<file path=ppt/slides/slide3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DF2B93D-93E6-4B50-858E-F6B3ADDD0D5F}"/>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Tres o cuatro aletas: también cambia el montaje</a:t>
            </a:r>
          </a:p>
        </p:txBody>
      </p:sp>
      <p:pic>
        <p:nvPicPr>
          <p:cNvPr id="2" name="">
            <a:extLst xmlns:a="http://schemas.openxmlformats.org/drawingml/2006/main">
              <a:ext uri="{FF2B5EF4-FFF2-40B4-BE49-F238E27FC236}">
                <a16:creationId xmlns:a16="http://schemas.microsoft.com/office/drawing/2014/main" id="{7C1833CE-971C-4163-881D-0247549F436E}"/>
              </a:ext>
            </a:extLst>
          </p:cNvPr>
          <p:cNvPicPr>
            <a:picLocks xmlns:a="http://schemas.openxmlformats.org/drawingml/2006/main" noChangeAspect="1"/>
          </p:cNvPicPr>
          <p:nvPr/>
        </p:nvPicPr>
        <p:blipFill>
          <a:blip xmlns:r="http://schemas.openxmlformats.org/officeDocument/2006/relationships" xmlns:a="http://schemas.openxmlformats.org/drawingml/2006/main" r:embed="Rb9e253b66ab440b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E3BA91A-E73E-4FE3-A821-97A5B0E3E09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04   08/24</a:t>
            </a:r>
          </a:p>
        </p:txBody>
      </p:sp>
      <p:sp>
        <p:nvSpPr>
          <p:cNvPr id="4" name="">
            <a:extLst xmlns:a="http://schemas.openxmlformats.org/drawingml/2006/main">
              <a:ext uri="{FF2B5EF4-FFF2-40B4-BE49-F238E27FC236}">
                <a16:creationId xmlns:a16="http://schemas.microsoft.com/office/drawing/2014/main" id="{955DF554-D6B8-4EED-B521-B8A98122E4CD}"/>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Tres aletas equiespaciadas se separan 120° alrededor del cuerpo. Cuatro se separan 90°. Una vista lateral puede esconder una pieza; por eso la distribución se revisa también desde atrás. El útil de alineación ayuda a conservar ángulos y dirección mientras el conjunto se monta según el proceso aprobado.</a:t>
            </a:r>
          </a:p>
        </p:txBody>
      </p:sp>
    </p:spTree>
    <p:extLst>
      <p:ext uri="{BB962C8B-B14F-4D97-AF65-F5344CB8AC3E}">
        <p14:creationId xmlns:p14="http://schemas.microsoft.com/office/powerpoint/2010/main" val="269232844"/>
      </p:ext>
    </p:extLst>
  </p:cSld>
</p:sld>
</file>

<file path=ppt/slides/slide3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853EBD4-FEBA-49BB-A206-EE3CF0C4D357}"/>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Comparación para un mismo taller</a:t>
            </a:r>
          </a:p>
        </p:txBody>
      </p:sp>
      <p:pic>
        <p:nvPicPr>
          <p:cNvPr id="2" name="">
            <a:extLst xmlns:a="http://schemas.openxmlformats.org/drawingml/2006/main">
              <a:ext uri="{FF2B5EF4-FFF2-40B4-BE49-F238E27FC236}">
                <a16:creationId xmlns:a16="http://schemas.microsoft.com/office/drawing/2014/main" id="{C143345E-54F8-4574-820F-52403B236A5E}"/>
              </a:ext>
            </a:extLst>
          </p:cNvPr>
          <p:cNvPicPr>
            <a:picLocks xmlns:a="http://schemas.openxmlformats.org/drawingml/2006/main" noChangeAspect="1"/>
          </p:cNvPicPr>
          <p:nvPr/>
        </p:nvPicPr>
        <p:blipFill>
          <a:blip xmlns:r="http://schemas.openxmlformats.org/officeDocument/2006/relationships" xmlns:a="http://schemas.openxmlformats.org/drawingml/2006/main" r:embed="Re6bbbd368729462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E8B1758-524D-4321-8BDA-AB1EA69BEE94}"/>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04   09/24</a:t>
            </a:r>
          </a:p>
        </p:txBody>
      </p:sp>
      <p:graphicFrame>
        <p:nvGraphicFramePr>
          <p:cNvPr id="4" name="">
            <a:extLst xmlns:a="http://schemas.openxmlformats.org/drawingml/2006/main">
              <a:ext uri="{FF2B5EF4-FFF2-40B4-BE49-F238E27FC236}">
                <a16:creationId xmlns:a16="http://schemas.microsoft.com/office/drawing/2014/main" id="{E229FE08-A9F0-479B-9574-E0DBBDAC34D5}"/>
              </a:ext>
            </a:extLst>
          </p:cNvPr>
          <p:cNvGraphicFramePr/>
          <p:nvPr/>
        </p:nvGraphicFramePr>
        <p:xfrm>
          <a:off xmlns:a="http://schemas.openxmlformats.org/drawingml/2006/main" x="590550" y="1752600"/>
          <a:ext xmlns:a="http://schemas.openxmlformats.org/drawingml/2006/main" cx="11010900" cy="3590925"/>
        </p:xfrm>
        <a:graphic xmlns:a="http://schemas.openxmlformats.org/drawingml/2006/main">
          <a:graphicData uri="http://schemas.openxmlformats.org/drawingml/2006/table">
            <a:tbl>
              <a:tblPr/>
              <a:tblGrid>
                <a:gridCol w="2143125"/>
                <a:gridCol w="4524375"/>
                <a:gridCol w="4343400"/>
              </a:tblGrid>
              <a:tr h="897731">
                <a:tc>
                  <a:txBody>
                    <a:bodyPr/>
                    <a:lstStyle/>
                    <a:p>
                      <a:r>
                        <a:rPr sz="2025" b="1">
                          <a:solidFill>
                            <a:srgbClr val="FFFFFF"/>
                          </a:solidFill>
                          <a:latin typeface="Arial"/>
                          <a:ea typeface="Arial"/>
                          <a:cs typeface="Arial"/>
                        </a:rPr>
                        <a:t>Opción</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Lo que cambia</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Qué observar</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897731">
                <a:tc>
                  <a:txBody>
                    <a:bodyPr/>
                    <a:lstStyle/>
                    <a:p>
                      <a:r>
                        <a:rPr sz="2025" b="0">
                          <a:solidFill>
                            <a:srgbClr val="14231E"/>
                          </a:solidFill>
                          <a:latin typeface="Arial"/>
                          <a:ea typeface="Arial"/>
                          <a:cs typeface="Arial"/>
                        </a:rPr>
                        <a:t>Tres aletas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Tres piezas y tres uniones</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Separación 120° y simetría</a:t>
                      </a:r>
                    </a:p>
                  </a:txBody>
                  <a:tcPr marL="91440" marR="91440" marT="45720" marB="45720">
                    <a:lnR w="9525">
                      <a:solidFill>
                        <a:srgbClr val="BFCEC3"/>
                      </a:solidFill>
                      <a:prstDash val="solid"/>
                    </a:lnR>
                    <a:lnB w="9525">
                      <a:solidFill>
                        <a:srgbClr val="BFCEC3"/>
                      </a:solidFill>
                      <a:prstDash val="solid"/>
                    </a:lnB>
                    <a:solidFill>
                      <a:srgbClr val="EAF3EC"/>
                    </a:solidFill>
                  </a:tcPr>
                </a:tc>
              </a:tr>
              <a:tr h="897731">
                <a:tc>
                  <a:txBody>
                    <a:bodyPr/>
                    <a:lstStyle/>
                    <a:p>
                      <a:r>
                        <a:rPr sz="2025" b="0">
                          <a:solidFill>
                            <a:srgbClr val="14231E"/>
                          </a:solidFill>
                          <a:latin typeface="Arial"/>
                          <a:ea typeface="Arial"/>
                          <a:cs typeface="Arial"/>
                        </a:rPr>
                        <a:t>Cuatro aletas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Una pieza y una unión adicionales</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Separación 90° y masa total</a:t>
                      </a:r>
                    </a:p>
                  </a:txBody>
                  <a:tcPr marL="91440" marR="91440" marT="45720" marB="45720">
                    <a:lnR w="9525">
                      <a:solidFill>
                        <a:srgbClr val="BFCEC3"/>
                      </a:solidFill>
                      <a:prstDash val="solid"/>
                    </a:lnR>
                    <a:lnB w="9525">
                      <a:solidFill>
                        <a:srgbClr val="BFCEC3"/>
                      </a:solidFill>
                      <a:prstDash val="solid"/>
                    </a:lnB>
                    <a:solidFill>
                      <a:srgbClr val="FCFCF8"/>
                    </a:solidFill>
                  </a:tcPr>
                </a:tc>
              </a:tr>
              <a:tr h="897731">
                <a:tc>
                  <a:txBody>
                    <a:bodyPr/>
                    <a:lstStyle/>
                    <a:p>
                      <a:r>
                        <a:rPr sz="2025" b="0">
                          <a:solidFill>
                            <a:srgbClr val="14231E"/>
                          </a:solidFill>
                          <a:latin typeface="Arial"/>
                          <a:ea typeface="Arial"/>
                          <a:cs typeface="Arial"/>
                        </a:rPr>
                        <a:t>Aleta integrada impresa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Posición fijada por el archivo y la impresión</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Deformación, masa y posibilidad de reparación</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811845125"/>
      </p:ext>
    </p:extLst>
  </p:cSld>
</p:sld>
</file>

<file path=ppt/slides/slide34.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37E3192-08DA-4AAF-ADDE-3A8495F4E0FB}"/>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Masa de un cambio de cantidad</a:t>
            </a:r>
          </a:p>
        </p:txBody>
      </p:sp>
      <p:pic>
        <p:nvPicPr>
          <p:cNvPr id="2" name="">
            <a:extLst xmlns:a="http://schemas.openxmlformats.org/drawingml/2006/main">
              <a:ext uri="{FF2B5EF4-FFF2-40B4-BE49-F238E27FC236}">
                <a16:creationId xmlns:a16="http://schemas.microsoft.com/office/drawing/2014/main" id="{1F1EBAE5-BAFF-4291-858C-CEABC4B352BE}"/>
              </a:ext>
            </a:extLst>
          </p:cNvPr>
          <p:cNvPicPr>
            <a:picLocks xmlns:a="http://schemas.openxmlformats.org/drawingml/2006/main" noChangeAspect="1"/>
          </p:cNvPicPr>
          <p:nvPr/>
        </p:nvPicPr>
        <p:blipFill>
          <a:blip xmlns:r="http://schemas.openxmlformats.org/officeDocument/2006/relationships" xmlns:a="http://schemas.openxmlformats.org/drawingml/2006/main" r:embed="R2a988c9368974f9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F54CF65-ABEB-434D-BC73-0B28160D812B}"/>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2   CLASE 04   10/24</a:t>
            </a:r>
          </a:p>
        </p:txBody>
      </p:sp>
      <p:sp>
        <p:nvSpPr>
          <p:cNvPr id="4" name="">
            <a:extLst xmlns:a="http://schemas.openxmlformats.org/drawingml/2006/main">
              <a:ext uri="{FF2B5EF4-FFF2-40B4-BE49-F238E27FC236}">
                <a16:creationId xmlns:a16="http://schemas.microsoft.com/office/drawing/2014/main" id="{807B489C-A8B0-41E2-B1BB-E37C888F63CA}"/>
              </a:ext>
            </a:extLst>
          </p:cNvPr>
          <p:cNvSpPr>
            <a:spLocks xmlns:a="http://schemas.openxmlformats.org/drawingml/2006/main" noGrp="1"/>
          </p:cNvSpPr>
          <p:nvPr/>
        </p:nvSpPr>
        <p:spPr>
          <a:xfrm xmlns:a="http://schemas.openxmlformats.org/drawingml/2006/main">
            <a:off x="590550" y="1809750"/>
            <a:ext cx="107156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En un ejercicio, cada aleta pesa 2 g. Tres suman 6 g y cuatro suman 8 g.</a:t>
            </a:r>
          </a:p>
        </p:txBody>
      </p:sp>
      <p:sp>
        <p:nvSpPr>
          <p:cNvPr id="5" name="">
            <a:extLst xmlns:a="http://schemas.openxmlformats.org/drawingml/2006/main">
              <a:ext uri="{FF2B5EF4-FFF2-40B4-BE49-F238E27FC236}">
                <a16:creationId xmlns:a16="http://schemas.microsoft.com/office/drawing/2014/main" id="{A16468C5-D0A8-4594-85DD-4C6E087EA5CD}"/>
              </a:ext>
            </a:extLst>
          </p:cNvPr>
          <p:cNvSpPr>
            <a:spLocks xmlns:a="http://schemas.openxmlformats.org/drawingml/2006/main" noGrp="1"/>
          </p:cNvSpPr>
          <p:nvPr/>
        </p:nvSpPr>
        <p:spPr>
          <a:xfrm xmlns:a="http://schemas.openxmlformats.org/drawingml/2006/main">
            <a:off x="590550" y="4629150"/>
            <a:ext cx="10715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¿Qué cambia al pasar de tres a cuatro aletas?</a:t>
            </a:r>
          </a:p>
        </p:txBody>
      </p:sp>
    </p:spTree>
    <p:extLst>
      <p:ext uri="{BB962C8B-B14F-4D97-AF65-F5344CB8AC3E}">
        <p14:creationId xmlns:p14="http://schemas.microsoft.com/office/powerpoint/2010/main" val="237907804"/>
      </p:ext>
    </p:extLst>
  </p:cSld>
</p:sld>
</file>

<file path=ppt/slides/slide3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E02B21E-FAD1-4E63-BAB9-0AE48CEEDD09}"/>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OpenRocket: cambiar una cosa cada vez</a:t>
            </a:r>
          </a:p>
        </p:txBody>
      </p:sp>
      <p:pic>
        <p:nvPicPr>
          <p:cNvPr id="2" name="">
            <a:extLst xmlns:a="http://schemas.openxmlformats.org/drawingml/2006/main">
              <a:ext uri="{FF2B5EF4-FFF2-40B4-BE49-F238E27FC236}">
                <a16:creationId xmlns:a16="http://schemas.microsoft.com/office/drawing/2014/main" id="{A563D3EA-AC61-407B-B23B-A809378398E1}"/>
              </a:ext>
            </a:extLst>
          </p:cNvPr>
          <p:cNvPicPr>
            <a:picLocks xmlns:a="http://schemas.openxmlformats.org/drawingml/2006/main" noChangeAspect="1"/>
          </p:cNvPicPr>
          <p:nvPr/>
        </p:nvPicPr>
        <p:blipFill>
          <a:blip xmlns:r="http://schemas.openxmlformats.org/officeDocument/2006/relationships" xmlns:a="http://schemas.openxmlformats.org/drawingml/2006/main" r:embed="R41477bda2178493b"/>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BB8FC68-FAFE-460E-8300-69269069465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04   11/24</a:t>
            </a:r>
          </a:p>
        </p:txBody>
      </p:sp>
      <p:sp>
        <p:nvSpPr>
          <p:cNvPr id="4" name="">
            <a:extLst xmlns:a="http://schemas.openxmlformats.org/drawingml/2006/main">
              <a:ext uri="{FF2B5EF4-FFF2-40B4-BE49-F238E27FC236}">
                <a16:creationId xmlns:a16="http://schemas.microsoft.com/office/drawing/2014/main" id="{39D4464A-5DC7-4EF0-8F9A-EFD8D33FB410}"/>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Si un contorno libre resulta difícil de reproducir en CAD o fabricar, vuelve a una forma que puedas comprobar. La libertad del programa sirve para representar tu pieza; no obliga a complicarla. [OR1]</a:t>
            </a:r>
          </a:p>
        </p:txBody>
      </p:sp>
    </p:spTree>
    <p:extLst>
      <p:ext uri="{BB962C8B-B14F-4D97-AF65-F5344CB8AC3E}">
        <p14:creationId xmlns:p14="http://schemas.microsoft.com/office/powerpoint/2010/main" val="762544934"/>
      </p:ext>
    </p:extLst>
  </p:cSld>
</p:sld>
</file>

<file path=ppt/slides/slide3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0A2A804-BB8B-4B9A-8268-12D8CAB38FB9}"/>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OpenRocket: cambiar una cosa cada vez</a:t>
            </a:r>
          </a:p>
        </p:txBody>
      </p:sp>
      <p:pic>
        <p:nvPicPr>
          <p:cNvPr id="2" name="">
            <a:extLst xmlns:a="http://schemas.openxmlformats.org/drawingml/2006/main">
              <a:ext uri="{FF2B5EF4-FFF2-40B4-BE49-F238E27FC236}">
                <a16:creationId xmlns:a16="http://schemas.microsoft.com/office/drawing/2014/main" id="{3343A603-F4FA-4281-9108-C44A14B18EB4}"/>
              </a:ext>
            </a:extLst>
          </p:cNvPr>
          <p:cNvPicPr>
            <a:picLocks xmlns:a="http://schemas.openxmlformats.org/drawingml/2006/main" noChangeAspect="1"/>
          </p:cNvPicPr>
          <p:nvPr/>
        </p:nvPicPr>
        <p:blipFill>
          <a:blip xmlns:r="http://schemas.openxmlformats.org/officeDocument/2006/relationships" xmlns:a="http://schemas.openxmlformats.org/drawingml/2006/main" r:embed="R089d7eded4294a6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7DAF638-553F-468C-A7CB-5E16A442912E}"/>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04   12/24</a:t>
            </a:r>
          </a:p>
        </p:txBody>
      </p:sp>
      <p:pic>
        <p:nvPicPr>
          <p:cNvPr id="4" name="">
            <a:extLst xmlns:a="http://schemas.openxmlformats.org/drawingml/2006/main">
              <a:ext uri="{FF2B5EF4-FFF2-40B4-BE49-F238E27FC236}">
                <a16:creationId xmlns:a16="http://schemas.microsoft.com/office/drawing/2014/main" id="{9655BD8C-B04A-4FEB-8108-A0CFBE4FD96A}"/>
              </a:ext>
            </a:extLst>
          </p:cNvPr>
          <p:cNvPicPr>
            <a:picLocks xmlns:a="http://schemas.openxmlformats.org/drawingml/2006/main" noChangeAspect="1"/>
          </p:cNvPicPr>
          <p:nvPr/>
        </p:nvPicPr>
        <p:blipFill>
          <a:blip xmlns:r="http://schemas.openxmlformats.org/officeDocument/2006/relationships" xmlns:a="http://schemas.openxmlformats.org/drawingml/2006/main" r:embed="R5684666f982d4e4a"/>
          <a:stretch xmlns:a="http://schemas.openxmlformats.org/drawingml/2006/main"/>
        </p:blipFill>
        <p:spPr>
          <a:xfrm xmlns:a="http://schemas.openxmlformats.org/drawingml/2006/main">
            <a:off x="590550" y="2865227"/>
            <a:ext cx="7410450" cy="156569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736295B-6BB6-47C3-9FA6-1EC404E64121}"/>
              </a:ext>
            </a:extLst>
          </p:cNvPr>
          <p:cNvSpPr>
            <a:spLocks xmlns:a="http://schemas.openxmlformats.org/drawingml/2006/main" noGrp="1"/>
          </p:cNvSpPr>
          <p:nvPr/>
        </p:nvSpPr>
        <p:spPr>
          <a:xfrm xmlns:a="http://schemas.openxmlformats.org/drawingml/2006/main">
            <a:off x="8315325" y="1781175"/>
            <a:ext cx="3248025" cy="3590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44F3D"/>
                </a:solidFill>
                <a:latin typeface="Arial"/>
                <a:ea typeface="Arial"/>
                <a:cs typeface="Arial"/>
              </a:defRPr>
            </a:defPPr>
            <a:lvl1pPr>
              <a:defRPr sz="2325" b="1">
                <a:solidFill>
                  <a:srgbClr val="244F3D"/>
                </a:solidFill>
                <a:latin typeface="Arial"/>
                <a:ea typeface="Arial"/>
                <a:cs typeface="Arial"/>
              </a:defRPr>
            </a:lvl1pPr>
            <a:lvl2pPr>
              <a:defRPr sz="2325" b="1">
                <a:solidFill>
                  <a:srgbClr val="244F3D"/>
                </a:solidFill>
                <a:latin typeface="Arial"/>
                <a:ea typeface="Arial"/>
                <a:cs typeface="Arial"/>
              </a:defRPr>
            </a:lvl2pPr>
            <a:lvl3pPr>
              <a:defRPr sz="2325" b="1">
                <a:solidFill>
                  <a:srgbClr val="244F3D"/>
                </a:solidFill>
                <a:latin typeface="Arial"/>
                <a:ea typeface="Arial"/>
                <a:cs typeface="Arial"/>
              </a:defRPr>
            </a:lvl3pPr>
            <a:lvl4pPr>
              <a:defRPr sz="2325" b="1">
                <a:solidFill>
                  <a:srgbClr val="244F3D"/>
                </a:solidFill>
                <a:latin typeface="Arial"/>
                <a:ea typeface="Arial"/>
                <a:cs typeface="Arial"/>
              </a:defRPr>
            </a:lvl4pPr>
            <a:lvl5pPr>
              <a:defRPr sz="2325" b="1">
                <a:solidFill>
                  <a:srgbClr val="244F3D"/>
                </a:solidFill>
                <a:latin typeface="Arial"/>
                <a:ea typeface="Arial"/>
                <a:cs typeface="Arial"/>
              </a:defRPr>
            </a:lvl5pPr>
            <a:lvl6pPr>
              <a:defRPr sz="2325" b="1">
                <a:solidFill>
                  <a:srgbClr val="244F3D"/>
                </a:solidFill>
                <a:latin typeface="Arial"/>
                <a:ea typeface="Arial"/>
                <a:cs typeface="Arial"/>
              </a:defRPr>
            </a:lvl6pPr>
            <a:lvl7pPr>
              <a:defRPr sz="2325" b="1">
                <a:solidFill>
                  <a:srgbClr val="244F3D"/>
                </a:solidFill>
                <a:latin typeface="Arial"/>
                <a:ea typeface="Arial"/>
                <a:cs typeface="Arial"/>
              </a:defRPr>
            </a:lvl7pPr>
            <a:lvl8pPr>
              <a:defRPr sz="2325" b="1">
                <a:solidFill>
                  <a:srgbClr val="244F3D"/>
                </a:solidFill>
                <a:latin typeface="Arial"/>
                <a:ea typeface="Arial"/>
                <a:cs typeface="Arial"/>
              </a:defRPr>
            </a:lvl8pPr>
            <a:lvl9pPr>
              <a:defRPr sz="2325" b="1">
                <a:solidFill>
                  <a:srgbClr val="244F3D"/>
                </a:solidFill>
                <a:latin typeface="Arial"/>
                <a:ea typeface="Arial"/>
                <a:cs typeface="Arial"/>
              </a:defRPr>
            </a:lvl9pPr>
          </a:lstStyle>
          <a:p xmlns:a="http://schemas.openxmlformats.org/drawingml/2006/main">
            <a:pPr>
              <a:defRPr sz="2325" b="1">
                <a:solidFill>
                  <a:srgbClr val="244F3D"/>
                </a:solidFill>
                <a:latin typeface="Arial"/>
                <a:ea typeface="Arial"/>
                <a:cs typeface="Arial"/>
              </a:defRPr>
            </a:pPr>
            <a:r>
              <a:rPr sz="2325" b="1">
                <a:solidFill>
                  <a:srgbClr val="244F3D"/>
                </a:solidFill>
                <a:latin typeface="Arial"/>
                <a:ea typeface="Arial"/>
                <a:cs typeface="Arial"/>
              </a:rPr>
              <a:t>¿Desde dónde estás midiendo la posición?</a:t>
            </a:r>
          </a:p>
        </p:txBody>
      </p:sp>
      <p:sp>
        <p:nvSpPr>
          <p:cNvPr id="6" name="">
            <a:extLst xmlns:a="http://schemas.openxmlformats.org/drawingml/2006/main">
              <a:ext uri="{FF2B5EF4-FFF2-40B4-BE49-F238E27FC236}">
                <a16:creationId xmlns:a16="http://schemas.microsoft.com/office/drawing/2014/main" id="{89A32A08-D5B3-4269-B988-CE67D15C7B3D}"/>
              </a:ext>
            </a:extLst>
          </p:cNvPr>
          <p:cNvSpPr>
            <a:spLocks xmlns:a="http://schemas.openxmlformats.org/drawingml/2006/main" noGrp="1"/>
          </p:cNvSpPr>
          <p:nvPr/>
        </p:nvSpPr>
        <p:spPr>
          <a:xfrm xmlns:a="http://schemas.openxmlformats.org/drawingml/2006/main">
            <a:off x="590550" y="58483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8665F"/>
                </a:solidFill>
                <a:latin typeface="Arial"/>
                <a:ea typeface="Arial"/>
                <a:cs typeface="Arial"/>
              </a:defRPr>
            </a:defPPr>
            <a:lvl1pPr>
              <a:defRPr sz="1350" b="0">
                <a:solidFill>
                  <a:srgbClr val="58665F"/>
                </a:solidFill>
                <a:latin typeface="Arial"/>
                <a:ea typeface="Arial"/>
                <a:cs typeface="Arial"/>
              </a:defRPr>
            </a:lvl1pPr>
            <a:lvl2pPr>
              <a:defRPr sz="1350" b="0">
                <a:solidFill>
                  <a:srgbClr val="58665F"/>
                </a:solidFill>
                <a:latin typeface="Arial"/>
                <a:ea typeface="Arial"/>
                <a:cs typeface="Arial"/>
              </a:defRPr>
            </a:lvl2pPr>
            <a:lvl3pPr>
              <a:defRPr sz="1350" b="0">
                <a:solidFill>
                  <a:srgbClr val="58665F"/>
                </a:solidFill>
                <a:latin typeface="Arial"/>
                <a:ea typeface="Arial"/>
                <a:cs typeface="Arial"/>
              </a:defRPr>
            </a:lvl3pPr>
            <a:lvl4pPr>
              <a:defRPr sz="1350" b="0">
                <a:solidFill>
                  <a:srgbClr val="58665F"/>
                </a:solidFill>
                <a:latin typeface="Arial"/>
                <a:ea typeface="Arial"/>
                <a:cs typeface="Arial"/>
              </a:defRPr>
            </a:lvl4pPr>
            <a:lvl5pPr>
              <a:defRPr sz="1350" b="0">
                <a:solidFill>
                  <a:srgbClr val="58665F"/>
                </a:solidFill>
                <a:latin typeface="Arial"/>
                <a:ea typeface="Arial"/>
                <a:cs typeface="Arial"/>
              </a:defRPr>
            </a:lvl5pPr>
            <a:lvl6pPr>
              <a:defRPr sz="1350" b="0">
                <a:solidFill>
                  <a:srgbClr val="58665F"/>
                </a:solidFill>
                <a:latin typeface="Arial"/>
                <a:ea typeface="Arial"/>
                <a:cs typeface="Arial"/>
              </a:defRPr>
            </a:lvl6pPr>
            <a:lvl7pPr>
              <a:defRPr sz="1350" b="0">
                <a:solidFill>
                  <a:srgbClr val="58665F"/>
                </a:solidFill>
                <a:latin typeface="Arial"/>
                <a:ea typeface="Arial"/>
                <a:cs typeface="Arial"/>
              </a:defRPr>
            </a:lvl7pPr>
            <a:lvl8pPr>
              <a:defRPr sz="1350" b="0">
                <a:solidFill>
                  <a:srgbClr val="58665F"/>
                </a:solidFill>
                <a:latin typeface="Arial"/>
                <a:ea typeface="Arial"/>
                <a:cs typeface="Arial"/>
              </a:defRPr>
            </a:lvl8pPr>
            <a:lvl9pPr>
              <a:defRPr sz="1350" b="0">
                <a:solidFill>
                  <a:srgbClr val="58665F"/>
                </a:solidFill>
                <a:latin typeface="Arial"/>
                <a:ea typeface="Arial"/>
                <a:cs typeface="Arial"/>
              </a:defRPr>
            </a:lvl9pPr>
          </a:lstStyle>
          <a:p xmlns:a="http://schemas.openxmlformats.org/drawingml/2006/main">
            <a:pPr>
              <a:defRPr sz="1350" b="0">
                <a:solidFill>
                  <a:srgbClr val="58665F"/>
                </a:solidFill>
                <a:latin typeface="Arial"/>
                <a:ea typeface="Arial"/>
                <a:cs typeface="Arial"/>
              </a:defRPr>
            </a:pPr>
            <a:r>
              <a:rPr sz="1350" b="0">
                <a:solidFill>
                  <a:srgbClr val="58665F"/>
                </a:solidFill>
                <a:latin typeface="Arial"/>
                <a:ea typeface="Arial"/>
                <a:cs typeface="Arial"/>
              </a:rPr>
              <a:t>Geometría del ejemplo oficial de OpenRocket. La captura permite reconocer aletas y posición, no fija el diseño del alumno.</a:t>
            </a:r>
          </a:p>
        </p:txBody>
      </p:sp>
    </p:spTree>
    <p:extLst>
      <p:ext uri="{BB962C8B-B14F-4D97-AF65-F5344CB8AC3E}">
        <p14:creationId xmlns:p14="http://schemas.microsoft.com/office/powerpoint/2010/main" val="1798347920"/>
      </p:ext>
    </p:extLst>
  </p:cSld>
</p:sld>
</file>

<file path=ppt/slides/slide3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B79DBD1-FDB0-4383-80A9-7B9852DF8E13}"/>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OpenRocket: cambiar una cosa cada vez</a:t>
            </a:r>
          </a:p>
        </p:txBody>
      </p:sp>
      <p:pic>
        <p:nvPicPr>
          <p:cNvPr id="2" name="">
            <a:extLst xmlns:a="http://schemas.openxmlformats.org/drawingml/2006/main">
              <a:ext uri="{FF2B5EF4-FFF2-40B4-BE49-F238E27FC236}">
                <a16:creationId xmlns:a16="http://schemas.microsoft.com/office/drawing/2014/main" id="{6AB3D434-A938-4DA7-8349-319673AF1E7B}"/>
              </a:ext>
            </a:extLst>
          </p:cNvPr>
          <p:cNvPicPr>
            <a:picLocks xmlns:a="http://schemas.openxmlformats.org/drawingml/2006/main" noChangeAspect="1"/>
          </p:cNvPicPr>
          <p:nvPr/>
        </p:nvPicPr>
        <p:blipFill>
          <a:blip xmlns:r="http://schemas.openxmlformats.org/officeDocument/2006/relationships" xmlns:a="http://schemas.openxmlformats.org/drawingml/2006/main" r:embed="R51c6486fbf5b465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890945F-DB1E-49C5-A9F3-B0924311463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04   13/24</a:t>
            </a:r>
          </a:p>
        </p:txBody>
      </p:sp>
      <p:sp>
        <p:nvSpPr>
          <p:cNvPr id="4" name="">
            <a:extLst xmlns:a="http://schemas.openxmlformats.org/drawingml/2006/main">
              <a:ext uri="{FF2B5EF4-FFF2-40B4-BE49-F238E27FC236}">
                <a16:creationId xmlns:a16="http://schemas.microsoft.com/office/drawing/2014/main" id="{B6C2F6CD-B3C6-4388-90FF-333F3EABF58E}"/>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4231E"/>
                </a:solidFill>
                <a:latin typeface="Arial"/>
                <a:ea typeface="Arial"/>
                <a:cs typeface="Arial"/>
              </a:defRPr>
            </a:defPPr>
            <a:lvl1pPr>
              <a:defRPr sz="1950" b="0">
                <a:solidFill>
                  <a:srgbClr val="14231E"/>
                </a:solidFill>
                <a:latin typeface="Arial"/>
                <a:ea typeface="Arial"/>
                <a:cs typeface="Arial"/>
              </a:defRPr>
            </a:lvl1pPr>
            <a:lvl2pPr>
              <a:defRPr sz="1950" b="0">
                <a:solidFill>
                  <a:srgbClr val="14231E"/>
                </a:solidFill>
                <a:latin typeface="Arial"/>
                <a:ea typeface="Arial"/>
                <a:cs typeface="Arial"/>
              </a:defRPr>
            </a:lvl2pPr>
            <a:lvl3pPr>
              <a:defRPr sz="1950" b="0">
                <a:solidFill>
                  <a:srgbClr val="14231E"/>
                </a:solidFill>
                <a:latin typeface="Arial"/>
                <a:ea typeface="Arial"/>
                <a:cs typeface="Arial"/>
              </a:defRPr>
            </a:lvl3pPr>
            <a:lvl4pPr>
              <a:defRPr sz="1950" b="0">
                <a:solidFill>
                  <a:srgbClr val="14231E"/>
                </a:solidFill>
                <a:latin typeface="Arial"/>
                <a:ea typeface="Arial"/>
                <a:cs typeface="Arial"/>
              </a:defRPr>
            </a:lvl4pPr>
            <a:lvl5pPr>
              <a:defRPr sz="1950" b="0">
                <a:solidFill>
                  <a:srgbClr val="14231E"/>
                </a:solidFill>
                <a:latin typeface="Arial"/>
                <a:ea typeface="Arial"/>
                <a:cs typeface="Arial"/>
              </a:defRPr>
            </a:lvl5pPr>
            <a:lvl6pPr>
              <a:defRPr sz="1950" b="0">
                <a:solidFill>
                  <a:srgbClr val="14231E"/>
                </a:solidFill>
                <a:latin typeface="Arial"/>
                <a:ea typeface="Arial"/>
                <a:cs typeface="Arial"/>
              </a:defRPr>
            </a:lvl6pPr>
            <a:lvl7pPr>
              <a:defRPr sz="1950" b="0">
                <a:solidFill>
                  <a:srgbClr val="14231E"/>
                </a:solidFill>
                <a:latin typeface="Arial"/>
                <a:ea typeface="Arial"/>
                <a:cs typeface="Arial"/>
              </a:defRPr>
            </a:lvl7pPr>
            <a:lvl8pPr>
              <a:defRPr sz="1950" b="0">
                <a:solidFill>
                  <a:srgbClr val="14231E"/>
                </a:solidFill>
                <a:latin typeface="Arial"/>
                <a:ea typeface="Arial"/>
                <a:cs typeface="Arial"/>
              </a:defRPr>
            </a:lvl8pPr>
            <a:lvl9pPr>
              <a:defRPr sz="1950" b="0">
                <a:solidFill>
                  <a:srgbClr val="14231E"/>
                </a:solidFill>
                <a:latin typeface="Arial"/>
                <a:ea typeface="Arial"/>
                <a:cs typeface="Arial"/>
              </a:defRPr>
            </a:lvl9pPr>
          </a:lstStyle>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1. Abre el modelo y guarda ALETAS_A. Selecciona el conjunto y registra cantidad, raíz, punta, semienvergadura, barrido y espesor.</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2. Haz una copia ALETAS_B y cambia solamente el contorno que deseas comparar. Si cambian otras medidas, escríbelas en la tabla.</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3. Revisa la posición de la raíz respecto al extremo del cuerpo. Comprueba la referencia usada por el programa.</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4. Usa vista posterior para revisar cantidad y distribución. Después observa la vista lateral.</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5. Conserva las dos versiones. La comparación de vuelo se completará después de introducir materiales y masas reales.</a:t>
            </a:r>
          </a:p>
        </p:txBody>
      </p:sp>
    </p:spTree>
    <p:extLst>
      <p:ext uri="{BB962C8B-B14F-4D97-AF65-F5344CB8AC3E}">
        <p14:creationId xmlns:p14="http://schemas.microsoft.com/office/powerpoint/2010/main" val="2082879603"/>
      </p:ext>
    </p:extLst>
  </p:cSld>
</p:sld>
</file>

<file path=ppt/slides/slide3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1F1118C-4223-4773-8A1E-AABEB2133E08}"/>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plantilla y útil de alineación</a:t>
            </a:r>
          </a:p>
        </p:txBody>
      </p:sp>
      <p:pic>
        <p:nvPicPr>
          <p:cNvPr id="2" name="">
            <a:extLst xmlns:a="http://schemas.openxmlformats.org/drawingml/2006/main">
              <a:ext uri="{FF2B5EF4-FFF2-40B4-BE49-F238E27FC236}">
                <a16:creationId xmlns:a16="http://schemas.microsoft.com/office/drawing/2014/main" id="{A35E8058-E043-460D-9AC7-7E7BD8845673}"/>
              </a:ext>
            </a:extLst>
          </p:cNvPr>
          <p:cNvPicPr>
            <a:picLocks xmlns:a="http://schemas.openxmlformats.org/drawingml/2006/main" noChangeAspect="1"/>
          </p:cNvPicPr>
          <p:nvPr/>
        </p:nvPicPr>
        <p:blipFill>
          <a:blip xmlns:r="http://schemas.openxmlformats.org/officeDocument/2006/relationships" xmlns:a="http://schemas.openxmlformats.org/drawingml/2006/main" r:embed="Re91c2968c0f24612"/>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C295ACA-F1DA-4470-9B9F-B7793FEB1DB2}"/>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04   14/24</a:t>
            </a:r>
          </a:p>
        </p:txBody>
      </p:sp>
      <p:sp>
        <p:nvSpPr>
          <p:cNvPr id="4" name="">
            <a:extLst xmlns:a="http://schemas.openxmlformats.org/drawingml/2006/main">
              <a:ext uri="{FF2B5EF4-FFF2-40B4-BE49-F238E27FC236}">
                <a16:creationId xmlns:a16="http://schemas.microsoft.com/office/drawing/2014/main" id="{92A3CD00-C632-4BC5-810E-A3AD94F037C0}"/>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La plantilla define el contorno de la aleta. El útil define cómo se coloca respecto al tubo y al eje del vehículo. Son piezas distintas: una aleta bien cortada puede montarse mal, y un útil preciso no repara un contorno diferente al plano. En impresión 3D, el útil puede ser una de las aplicaciones más útiles del taller.</a:t>
            </a:r>
          </a:p>
        </p:txBody>
      </p:sp>
    </p:spTree>
    <p:extLst>
      <p:ext uri="{BB962C8B-B14F-4D97-AF65-F5344CB8AC3E}">
        <p14:creationId xmlns:p14="http://schemas.microsoft.com/office/powerpoint/2010/main" val="2063495642"/>
      </p:ext>
    </p:extLst>
  </p:cSld>
</p:sld>
</file>

<file path=ppt/slides/slide3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62B8D84-60C9-4120-9891-DC18D431F41F}"/>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Qué debe mostrar la fotografía del equipo</a:t>
            </a:r>
          </a:p>
        </p:txBody>
      </p:sp>
      <p:pic>
        <p:nvPicPr>
          <p:cNvPr id="2" name="">
            <a:extLst xmlns:a="http://schemas.openxmlformats.org/drawingml/2006/main">
              <a:ext uri="{FF2B5EF4-FFF2-40B4-BE49-F238E27FC236}">
                <a16:creationId xmlns:a16="http://schemas.microsoft.com/office/drawing/2014/main" id="{E60EC10A-7EA9-4759-9CC8-972D55287115}"/>
              </a:ext>
            </a:extLst>
          </p:cNvPr>
          <p:cNvPicPr>
            <a:picLocks xmlns:a="http://schemas.openxmlformats.org/drawingml/2006/main" noChangeAspect="1"/>
          </p:cNvPicPr>
          <p:nvPr/>
        </p:nvPicPr>
        <p:blipFill>
          <a:blip xmlns:r="http://schemas.openxmlformats.org/officeDocument/2006/relationships" xmlns:a="http://schemas.openxmlformats.org/drawingml/2006/main" r:embed="R343b65ee09604117"/>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B072DD5-1B0C-498B-AB3F-1BEF080867FB}"/>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04   15/24</a:t>
            </a:r>
          </a:p>
        </p:txBody>
      </p:sp>
      <p:graphicFrame>
        <p:nvGraphicFramePr>
          <p:cNvPr id="4" name="">
            <a:extLst xmlns:a="http://schemas.openxmlformats.org/drawingml/2006/main">
              <a:ext uri="{FF2B5EF4-FFF2-40B4-BE49-F238E27FC236}">
                <a16:creationId xmlns:a16="http://schemas.microsoft.com/office/drawing/2014/main" id="{730F3671-C8DD-4045-83A0-85BF89C7D474}"/>
              </a:ext>
            </a:extLst>
          </p:cNvPr>
          <p:cNvGraphicFramePr/>
          <p:nvPr/>
        </p:nvGraphicFramePr>
        <p:xfrm>
          <a:off xmlns:a="http://schemas.openxmlformats.org/drawingml/2006/main" x="590550" y="1752600"/>
          <a:ext xmlns:a="http://schemas.openxmlformats.org/drawingml/2006/main" cx="11010900" cy="3590925"/>
        </p:xfrm>
        <a:graphic xmlns:a="http://schemas.openxmlformats.org/drawingml/2006/main">
          <a:graphicData uri="http://schemas.openxmlformats.org/drawingml/2006/table">
            <a:tbl>
              <a:tblPr/>
              <a:tblGrid>
                <a:gridCol w="5505450"/>
                <a:gridCol w="5505450"/>
              </a:tblGrid>
              <a:tr h="718185">
                <a:tc>
                  <a:txBody>
                    <a:bodyPr/>
                    <a:lstStyle/>
                    <a:p>
                      <a:r>
                        <a:rPr sz="2025" b="1">
                          <a:solidFill>
                            <a:srgbClr val="FFFFFF"/>
                          </a:solidFill>
                          <a:latin typeface="Arial"/>
                          <a:ea typeface="Arial"/>
                          <a:cs typeface="Arial"/>
                        </a:rPr>
                        <a:t>Vista</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Qué permite revisar</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18185">
                <a:tc>
                  <a:txBody>
                    <a:bodyPr/>
                    <a:lstStyle/>
                    <a:p>
                      <a:r>
                        <a:rPr sz="2025" b="0">
                          <a:solidFill>
                            <a:srgbClr val="14231E"/>
                          </a:solidFill>
                          <a:latin typeface="Arial"/>
                          <a:ea typeface="Arial"/>
                          <a:cs typeface="Arial"/>
                        </a:rPr>
                        <a:t>Lateral</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Posición longitudinal y orientación</a:t>
                      </a:r>
                    </a:p>
                  </a:txBody>
                  <a:tcPr marL="91440" marR="91440" marT="45720" marB="45720">
                    <a:lnR w="9525">
                      <a:solidFill>
                        <a:srgbClr val="BFCEC3"/>
                      </a:solidFill>
                      <a:prstDash val="solid"/>
                    </a:lnR>
                    <a:lnB w="9525">
                      <a:solidFill>
                        <a:srgbClr val="BFCEC3"/>
                      </a:solidFill>
                      <a:prstDash val="solid"/>
                    </a:lnB>
                    <a:solidFill>
                      <a:srgbClr val="EAF3EC"/>
                    </a:solidFill>
                  </a:tcPr>
                </a:tc>
              </a:tr>
              <a:tr h="718185">
                <a:tc>
                  <a:txBody>
                    <a:bodyPr/>
                    <a:lstStyle/>
                    <a:p>
                      <a:r>
                        <a:rPr sz="2025" b="0">
                          <a:solidFill>
                            <a:srgbClr val="14231E"/>
                          </a:solidFill>
                          <a:latin typeface="Arial"/>
                          <a:ea typeface="Arial"/>
                          <a:cs typeface="Arial"/>
                        </a:rPr>
                        <a:t>Posterior</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Cantidad y separación regular</a:t>
                      </a:r>
                    </a:p>
                  </a:txBody>
                  <a:tcPr marL="91440" marR="91440" marT="45720" marB="45720">
                    <a:lnR w="9525">
                      <a:solidFill>
                        <a:srgbClr val="BFCEC3"/>
                      </a:solidFill>
                      <a:prstDash val="solid"/>
                    </a:lnR>
                    <a:lnB w="9525">
                      <a:solidFill>
                        <a:srgbClr val="BFCEC3"/>
                      </a:solidFill>
                      <a:prstDash val="solid"/>
                    </a:lnB>
                    <a:solidFill>
                      <a:srgbClr val="FCFCF8"/>
                    </a:solidFill>
                  </a:tcPr>
                </a:tc>
              </a:tr>
              <a:tr h="718185">
                <a:tc>
                  <a:txBody>
                    <a:bodyPr/>
                    <a:lstStyle/>
                    <a:p>
                      <a:r>
                        <a:rPr sz="2025" b="0">
                          <a:solidFill>
                            <a:srgbClr val="14231E"/>
                          </a:solidFill>
                          <a:latin typeface="Arial"/>
                          <a:ea typeface="Arial"/>
                          <a:cs typeface="Arial"/>
                        </a:rPr>
                        <a:t>Detalle de raíz</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Presentación de la unión</a:t>
                      </a:r>
                    </a:p>
                  </a:txBody>
                  <a:tcPr marL="91440" marR="91440" marT="45720" marB="45720">
                    <a:lnR w="9525">
                      <a:solidFill>
                        <a:srgbClr val="BFCEC3"/>
                      </a:solidFill>
                      <a:prstDash val="solid"/>
                    </a:lnR>
                    <a:lnB w="9525">
                      <a:solidFill>
                        <a:srgbClr val="BFCEC3"/>
                      </a:solidFill>
                      <a:prstDash val="solid"/>
                    </a:lnB>
                    <a:solidFill>
                      <a:srgbClr val="EAF3EC"/>
                    </a:solidFill>
                  </a:tcPr>
                </a:tc>
              </a:tr>
              <a:tr h="718185">
                <a:tc>
                  <a:txBody>
                    <a:bodyPr/>
                    <a:lstStyle/>
                    <a:p>
                      <a:r>
                        <a:rPr sz="2025" b="0">
                          <a:solidFill>
                            <a:srgbClr val="14231E"/>
                          </a:solidFill>
                          <a:latin typeface="Arial"/>
                          <a:ea typeface="Arial"/>
                          <a:cs typeface="Arial"/>
                        </a:rPr>
                        <a:t>Con plantilla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Coincidencia de contornos</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1826466259"/>
      </p:ext>
    </p:extLst>
  </p:cSld>
</p:sld>
</file>

<file path=ppt/slides/slide4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B45A0BB-494D-4ABD-9BA9-0D7B1026992A}"/>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plantilla y útil de alineación</a:t>
            </a:r>
          </a:p>
        </p:txBody>
      </p:sp>
      <p:pic>
        <p:nvPicPr>
          <p:cNvPr id="2" name="">
            <a:extLst xmlns:a="http://schemas.openxmlformats.org/drawingml/2006/main">
              <a:ext uri="{FF2B5EF4-FFF2-40B4-BE49-F238E27FC236}">
                <a16:creationId xmlns:a16="http://schemas.microsoft.com/office/drawing/2014/main" id="{2437F801-3414-4C83-B72D-3F78FC46DE97}"/>
              </a:ext>
            </a:extLst>
          </p:cNvPr>
          <p:cNvPicPr>
            <a:picLocks xmlns:a="http://schemas.openxmlformats.org/drawingml/2006/main" noChangeAspect="1"/>
          </p:cNvPicPr>
          <p:nvPr/>
        </p:nvPicPr>
        <p:blipFill>
          <a:blip xmlns:r="http://schemas.openxmlformats.org/officeDocument/2006/relationships" xmlns:a="http://schemas.openxmlformats.org/drawingml/2006/main" r:embed="R790304309a3a4d8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6BFF682-1AFC-4DFC-A26F-2D5FDA095941}"/>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04   16/24</a:t>
            </a:r>
          </a:p>
        </p:txBody>
      </p:sp>
      <p:sp>
        <p:nvSpPr>
          <p:cNvPr id="4" name="">
            <a:extLst xmlns:a="http://schemas.openxmlformats.org/drawingml/2006/main">
              <a:ext uri="{FF2B5EF4-FFF2-40B4-BE49-F238E27FC236}">
                <a16:creationId xmlns:a16="http://schemas.microsoft.com/office/drawing/2014/main" id="{A319922B-7255-47EB-AEDA-8ABC27AC7CAB}"/>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4231E"/>
                </a:solidFill>
                <a:latin typeface="Arial"/>
                <a:ea typeface="Arial"/>
                <a:cs typeface="Arial"/>
              </a:defRPr>
            </a:defPPr>
            <a:lvl1pPr>
              <a:defRPr sz="1950" b="0">
                <a:solidFill>
                  <a:srgbClr val="14231E"/>
                </a:solidFill>
                <a:latin typeface="Arial"/>
                <a:ea typeface="Arial"/>
                <a:cs typeface="Arial"/>
              </a:defRPr>
            </a:lvl1pPr>
            <a:lvl2pPr>
              <a:defRPr sz="1950" b="0">
                <a:solidFill>
                  <a:srgbClr val="14231E"/>
                </a:solidFill>
                <a:latin typeface="Arial"/>
                <a:ea typeface="Arial"/>
                <a:cs typeface="Arial"/>
              </a:defRPr>
            </a:lvl2pPr>
            <a:lvl3pPr>
              <a:defRPr sz="1950" b="0">
                <a:solidFill>
                  <a:srgbClr val="14231E"/>
                </a:solidFill>
                <a:latin typeface="Arial"/>
                <a:ea typeface="Arial"/>
                <a:cs typeface="Arial"/>
              </a:defRPr>
            </a:lvl3pPr>
            <a:lvl4pPr>
              <a:defRPr sz="1950" b="0">
                <a:solidFill>
                  <a:srgbClr val="14231E"/>
                </a:solidFill>
                <a:latin typeface="Arial"/>
                <a:ea typeface="Arial"/>
                <a:cs typeface="Arial"/>
              </a:defRPr>
            </a:lvl4pPr>
            <a:lvl5pPr>
              <a:defRPr sz="1950" b="0">
                <a:solidFill>
                  <a:srgbClr val="14231E"/>
                </a:solidFill>
                <a:latin typeface="Arial"/>
                <a:ea typeface="Arial"/>
                <a:cs typeface="Arial"/>
              </a:defRPr>
            </a:lvl5pPr>
            <a:lvl6pPr>
              <a:defRPr sz="1950" b="0">
                <a:solidFill>
                  <a:srgbClr val="14231E"/>
                </a:solidFill>
                <a:latin typeface="Arial"/>
                <a:ea typeface="Arial"/>
                <a:cs typeface="Arial"/>
              </a:defRPr>
            </a:lvl6pPr>
            <a:lvl7pPr>
              <a:defRPr sz="1950" b="0">
                <a:solidFill>
                  <a:srgbClr val="14231E"/>
                </a:solidFill>
                <a:latin typeface="Arial"/>
                <a:ea typeface="Arial"/>
                <a:cs typeface="Arial"/>
              </a:defRPr>
            </a:lvl7pPr>
            <a:lvl8pPr>
              <a:defRPr sz="1950" b="0">
                <a:solidFill>
                  <a:srgbClr val="14231E"/>
                </a:solidFill>
                <a:latin typeface="Arial"/>
                <a:ea typeface="Arial"/>
                <a:cs typeface="Arial"/>
              </a:defRPr>
            </a:lvl8pPr>
            <a:lvl9pPr>
              <a:defRPr sz="1950" b="0">
                <a:solidFill>
                  <a:srgbClr val="14231E"/>
                </a:solidFill>
                <a:latin typeface="Arial"/>
                <a:ea typeface="Arial"/>
                <a:cs typeface="Arial"/>
              </a:defRPr>
            </a:lvl9pPr>
          </a:lstStyle>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1. Dibuja el contorno con las cotas que se conservarán en el archivo de OpenRocket. Identifica raíz y cara de referencia.</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2. Comprueba las piezas una sobre otra o con la plantilla, sin forzar ni dar por iguales medidas que no se han tomado.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3. Presenta el útil sobre el tubo real y observa si altera su forma.</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4. Revisa posición de las raíces, separación angular y dirección de las piezas sin pegarlas.</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5. Anota una corrección del útil o de la pieza. El docente aprueba el proceso de unión correspondiente al material.</a:t>
            </a:r>
          </a:p>
        </p:txBody>
      </p:sp>
    </p:spTree>
    <p:extLst>
      <p:ext uri="{BB962C8B-B14F-4D97-AF65-F5344CB8AC3E}">
        <p14:creationId xmlns:p14="http://schemas.microsoft.com/office/powerpoint/2010/main" val="2021259995"/>
      </p:ext>
    </p:extLst>
  </p:cSld>
</p:sld>
</file>

<file path=ppt/slides/slide4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4A8A45C-BAB8-4B3E-A279-135BF5602487}"/>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Qué aleta conviene para cada misión</a:t>
            </a:r>
          </a:p>
        </p:txBody>
      </p:sp>
      <p:pic>
        <p:nvPicPr>
          <p:cNvPr id="2" name="">
            <a:extLst xmlns:a="http://schemas.openxmlformats.org/drawingml/2006/main">
              <a:ext uri="{FF2B5EF4-FFF2-40B4-BE49-F238E27FC236}">
                <a16:creationId xmlns:a16="http://schemas.microsoft.com/office/drawing/2014/main" id="{41810115-688D-4FF9-B8A8-106B965E6200}"/>
              </a:ext>
            </a:extLst>
          </p:cNvPr>
          <p:cNvPicPr>
            <a:picLocks xmlns:a="http://schemas.openxmlformats.org/drawingml/2006/main" noChangeAspect="1"/>
          </p:cNvPicPr>
          <p:nvPr/>
        </p:nvPicPr>
        <p:blipFill>
          <a:blip xmlns:r="http://schemas.openxmlformats.org/officeDocument/2006/relationships" xmlns:a="http://schemas.openxmlformats.org/drawingml/2006/main" r:embed="R29708950f9bb4e5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946083B-1793-4ACC-B26E-FBA06A46964B}"/>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04   17/24</a:t>
            </a:r>
          </a:p>
        </p:txBody>
      </p:sp>
      <p:sp>
        <p:nvSpPr>
          <p:cNvPr id="4" name="">
            <a:extLst xmlns:a="http://schemas.openxmlformats.org/drawingml/2006/main">
              <a:ext uri="{FF2B5EF4-FFF2-40B4-BE49-F238E27FC236}">
                <a16:creationId xmlns:a16="http://schemas.microsoft.com/office/drawing/2014/main" id="{190BAA52-C82F-4FCC-B0FB-93F7071325F9}"/>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La conclusión del equipo debe distinguir geometría, fabricación y funcionamiento. “Elegimos tres trapecios porque los repetimos y alineamos con nuestro útil” es una decisión de fabricación. “El conjunto simulado cumple las condiciones revisadas por el docente” es otra afirmación y requiere el archivo completo. Todavía no se debe convertir una en la otra.</a:t>
            </a:r>
          </a:p>
        </p:txBody>
      </p:sp>
    </p:spTree>
    <p:extLst>
      <p:ext uri="{BB962C8B-B14F-4D97-AF65-F5344CB8AC3E}">
        <p14:creationId xmlns:p14="http://schemas.microsoft.com/office/powerpoint/2010/main" val="1654504939"/>
      </p:ext>
    </p:extLst>
  </p:cSld>
</p:sld>
</file>

<file path=ppt/slides/slide4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9694241-0D12-4274-BAB5-E46DDB4BB26E}"/>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Una elección que se pueda comprobar</a:t>
            </a:r>
          </a:p>
        </p:txBody>
      </p:sp>
      <p:pic>
        <p:nvPicPr>
          <p:cNvPr id="2" name="">
            <a:extLst xmlns:a="http://schemas.openxmlformats.org/drawingml/2006/main">
              <a:ext uri="{FF2B5EF4-FFF2-40B4-BE49-F238E27FC236}">
                <a16:creationId xmlns:a16="http://schemas.microsoft.com/office/drawing/2014/main" id="{719BA161-D161-4A97-9441-DCA015B56E3D}"/>
              </a:ext>
            </a:extLst>
          </p:cNvPr>
          <p:cNvPicPr>
            <a:picLocks xmlns:a="http://schemas.openxmlformats.org/drawingml/2006/main" noChangeAspect="1"/>
          </p:cNvPicPr>
          <p:nvPr/>
        </p:nvPicPr>
        <p:blipFill>
          <a:blip xmlns:r="http://schemas.openxmlformats.org/officeDocument/2006/relationships" xmlns:a="http://schemas.openxmlformats.org/drawingml/2006/main" r:embed="R10a39edc7fee418b"/>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4F0ED76-55E9-4152-A160-B5912523AF15}"/>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04   18/24</a:t>
            </a:r>
          </a:p>
        </p:txBody>
      </p:sp>
      <p:graphicFrame>
        <p:nvGraphicFramePr>
          <p:cNvPr id="4" name="">
            <a:extLst xmlns:a="http://schemas.openxmlformats.org/drawingml/2006/main">
              <a:ext uri="{FF2B5EF4-FFF2-40B4-BE49-F238E27FC236}">
                <a16:creationId xmlns:a16="http://schemas.microsoft.com/office/drawing/2014/main" id="{ED99BFA5-952C-4A0F-AA46-2C615F3E0E5F}"/>
              </a:ext>
            </a:extLst>
          </p:cNvPr>
          <p:cNvGraphicFramePr/>
          <p:nvPr/>
        </p:nvGraphicFramePr>
        <p:xfrm>
          <a:off xmlns:a="http://schemas.openxmlformats.org/drawingml/2006/main" x="590550" y="1752600"/>
          <a:ext xmlns:a="http://schemas.openxmlformats.org/drawingml/2006/main" cx="11010900" cy="3590925"/>
        </p:xfrm>
        <a:graphic xmlns:a="http://schemas.openxmlformats.org/drawingml/2006/main">
          <a:graphicData uri="http://schemas.openxmlformats.org/drawingml/2006/table">
            <a:tbl>
              <a:tblPr/>
              <a:tblGrid>
                <a:gridCol w="2143125"/>
                <a:gridCol w="4524375"/>
                <a:gridCol w="4343400"/>
              </a:tblGrid>
              <a:tr h="897731">
                <a:tc>
                  <a:txBody>
                    <a:bodyPr/>
                    <a:lstStyle/>
                    <a:p>
                      <a:r>
                        <a:rPr sz="2025" b="1">
                          <a:solidFill>
                            <a:srgbClr val="FFFFFF"/>
                          </a:solidFill>
                          <a:latin typeface="Arial"/>
                          <a:ea typeface="Arial"/>
                          <a:cs typeface="Arial"/>
                        </a:rPr>
                        <a:t>Misión</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Criterio principal</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Comprobación</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897731">
                <a:tc>
                  <a:txBody>
                    <a:bodyPr/>
                    <a:lstStyle/>
                    <a:p>
                      <a:r>
                        <a:rPr sz="2025" b="0">
                          <a:solidFill>
                            <a:srgbClr val="14231E"/>
                          </a:solidFill>
                          <a:latin typeface="Arial"/>
                          <a:ea typeface="Arial"/>
                          <a:cs typeface="Arial"/>
                        </a:rPr>
                        <a:t>Primer montaje</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Piezas repetibles</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Plantilla y útil</a:t>
                      </a:r>
                    </a:p>
                  </a:txBody>
                  <a:tcPr marL="91440" marR="91440" marT="45720" marB="45720">
                    <a:lnR w="9525">
                      <a:solidFill>
                        <a:srgbClr val="BFCEC3"/>
                      </a:solidFill>
                      <a:prstDash val="solid"/>
                    </a:lnR>
                    <a:lnB w="9525">
                      <a:solidFill>
                        <a:srgbClr val="BFCEC3"/>
                      </a:solidFill>
                      <a:prstDash val="solid"/>
                    </a:lnB>
                    <a:solidFill>
                      <a:srgbClr val="EAF3EC"/>
                    </a:solidFill>
                  </a:tcPr>
                </a:tc>
              </a:tr>
              <a:tr h="897731">
                <a:tc>
                  <a:txBody>
                    <a:bodyPr/>
                    <a:lstStyle/>
                    <a:p>
                      <a:r>
                        <a:rPr sz="2025" b="0">
                          <a:solidFill>
                            <a:srgbClr val="14231E"/>
                          </a:solidFill>
                          <a:latin typeface="Arial"/>
                          <a:ea typeface="Arial"/>
                          <a:cs typeface="Arial"/>
                        </a:rPr>
                        <a:t>Reutilización</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Reparación y protección de bordes</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Revisión tras montaje y uso</a:t>
                      </a:r>
                    </a:p>
                  </a:txBody>
                  <a:tcPr marL="91440" marR="91440" marT="45720" marB="45720">
                    <a:lnR w="9525">
                      <a:solidFill>
                        <a:srgbClr val="BFCEC3"/>
                      </a:solidFill>
                      <a:prstDash val="solid"/>
                    </a:lnR>
                    <a:lnB w="9525">
                      <a:solidFill>
                        <a:srgbClr val="BFCEC3"/>
                      </a:solidFill>
                      <a:prstDash val="solid"/>
                    </a:lnB>
                    <a:solidFill>
                      <a:srgbClr val="FCFCF8"/>
                    </a:solidFill>
                  </a:tcPr>
                </a:tc>
              </a:tr>
              <a:tr h="897731">
                <a:tc>
                  <a:txBody>
                    <a:bodyPr/>
                    <a:lstStyle/>
                    <a:p>
                      <a:r>
                        <a:rPr sz="2025" b="0">
                          <a:solidFill>
                            <a:srgbClr val="14231E"/>
                          </a:solidFill>
                          <a:latin typeface="Arial"/>
                          <a:ea typeface="Arial"/>
                          <a:cs typeface="Arial"/>
                        </a:rPr>
                        <a:t>Carga docente</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Compatibilidad con masa y configuración</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Modelo completo y revisión del responsable</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421373447"/>
      </p:ext>
    </p:extLst>
  </p:cSld>
</p:sld>
</file>

<file path=ppt/slides/slide43.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36F0703-533B-477C-9FF2-35278FFE6E75}"/>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Qué harías ante una discrepancia</a:t>
            </a:r>
          </a:p>
        </p:txBody>
      </p:sp>
      <p:pic>
        <p:nvPicPr>
          <p:cNvPr id="2" name="">
            <a:extLst xmlns:a="http://schemas.openxmlformats.org/drawingml/2006/main">
              <a:ext uri="{FF2B5EF4-FFF2-40B4-BE49-F238E27FC236}">
                <a16:creationId xmlns:a16="http://schemas.microsoft.com/office/drawing/2014/main" id="{71FAD905-9358-4BBE-9641-3BE302E2AC09}"/>
              </a:ext>
            </a:extLst>
          </p:cNvPr>
          <p:cNvPicPr>
            <a:picLocks xmlns:a="http://schemas.openxmlformats.org/drawingml/2006/main" noChangeAspect="1"/>
          </p:cNvPicPr>
          <p:nvPr/>
        </p:nvPicPr>
        <p:blipFill>
          <a:blip xmlns:r="http://schemas.openxmlformats.org/officeDocument/2006/relationships" xmlns:a="http://schemas.openxmlformats.org/drawingml/2006/main" r:embed="R8787f6e79e384a4e"/>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0C5A5AD-F397-440F-8358-2A63DC5D0EA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2   CLASE 04   19/24</a:t>
            </a:r>
          </a:p>
        </p:txBody>
      </p:sp>
      <p:sp>
        <p:nvSpPr>
          <p:cNvPr id="4" name="">
            <a:extLst xmlns:a="http://schemas.openxmlformats.org/drawingml/2006/main">
              <a:ext uri="{FF2B5EF4-FFF2-40B4-BE49-F238E27FC236}">
                <a16:creationId xmlns:a16="http://schemas.microsoft.com/office/drawing/2014/main" id="{9BCC7ACF-D315-4397-BD2E-6215D88DF1A2}"/>
              </a:ext>
            </a:extLst>
          </p:cNvPr>
          <p:cNvSpPr>
            <a:spLocks xmlns:a="http://schemas.openxmlformats.org/drawingml/2006/main" noGrp="1"/>
          </p:cNvSpPr>
          <p:nvPr/>
        </p:nvSpPr>
        <p:spPr>
          <a:xfrm xmlns:a="http://schemas.openxmlformats.org/drawingml/2006/main">
            <a:off x="590550" y="1809750"/>
            <a:ext cx="107156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El modelo usa tres aletas simétricas, pero la fotografía muestra una raíz más adelantada que las demás.</a:t>
            </a:r>
          </a:p>
        </p:txBody>
      </p:sp>
      <p:sp>
        <p:nvSpPr>
          <p:cNvPr id="5" name="">
            <a:extLst xmlns:a="http://schemas.openxmlformats.org/drawingml/2006/main">
              <a:ext uri="{FF2B5EF4-FFF2-40B4-BE49-F238E27FC236}">
                <a16:creationId xmlns:a16="http://schemas.microsoft.com/office/drawing/2014/main" id="{F07589A0-8AAA-49BC-AA5A-550098CE1A2D}"/>
              </a:ext>
            </a:extLst>
          </p:cNvPr>
          <p:cNvSpPr>
            <a:spLocks xmlns:a="http://schemas.openxmlformats.org/drawingml/2006/main" noGrp="1"/>
          </p:cNvSpPr>
          <p:nvPr/>
        </p:nvSpPr>
        <p:spPr>
          <a:xfrm xmlns:a="http://schemas.openxmlformats.org/drawingml/2006/main">
            <a:off x="590550" y="4629150"/>
            <a:ext cx="10715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¿Qué contorno puedes repetir mejor en este taller?</a:t>
            </a:r>
          </a:p>
        </p:txBody>
      </p:sp>
    </p:spTree>
    <p:extLst>
      <p:ext uri="{BB962C8B-B14F-4D97-AF65-F5344CB8AC3E}">
        <p14:creationId xmlns:p14="http://schemas.microsoft.com/office/powerpoint/2010/main" val="1295823212"/>
      </p:ext>
    </p:extLst>
  </p:cSld>
</p:sld>
</file>

<file path=ppt/slides/slide4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FD06C2D-AF73-43F0-83F2-8CDE33444B7D}"/>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Trabajo guiado del equipo</a:t>
            </a:r>
          </a:p>
        </p:txBody>
      </p:sp>
      <p:pic>
        <p:nvPicPr>
          <p:cNvPr id="2" name="">
            <a:extLst xmlns:a="http://schemas.openxmlformats.org/drawingml/2006/main">
              <a:ext uri="{FF2B5EF4-FFF2-40B4-BE49-F238E27FC236}">
                <a16:creationId xmlns:a16="http://schemas.microsoft.com/office/drawing/2014/main" id="{8921D6F2-5BB1-4874-A370-6A24E26948CF}"/>
              </a:ext>
            </a:extLst>
          </p:cNvPr>
          <p:cNvPicPr>
            <a:picLocks xmlns:a="http://schemas.openxmlformats.org/drawingml/2006/main" noChangeAspect="1"/>
          </p:cNvPicPr>
          <p:nvPr/>
        </p:nvPicPr>
        <p:blipFill>
          <a:blip xmlns:r="http://schemas.openxmlformats.org/officeDocument/2006/relationships" xmlns:a="http://schemas.openxmlformats.org/drawingml/2006/main" r:embed="Rfc5fe0407dfa4cb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5608752-2A31-4A49-BA2C-E61F304E189B}"/>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04   20/24</a:t>
            </a:r>
          </a:p>
        </p:txBody>
      </p:sp>
      <p:sp>
        <p:nvSpPr>
          <p:cNvPr id="4" name="">
            <a:extLst xmlns:a="http://schemas.openxmlformats.org/drawingml/2006/main">
              <a:ext uri="{FF2B5EF4-FFF2-40B4-BE49-F238E27FC236}">
                <a16:creationId xmlns:a16="http://schemas.microsoft.com/office/drawing/2014/main" id="{2D851CF3-CFFE-414E-AFDD-5DAD0D01DF22}"/>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1E"/>
                </a:solidFill>
                <a:latin typeface="Arial"/>
                <a:ea typeface="Arial"/>
                <a:cs typeface="Arial"/>
              </a:defRPr>
            </a:defPPr>
            <a:lvl1pPr>
              <a:defRPr sz="2250" b="0">
                <a:solidFill>
                  <a:srgbClr val="14231E"/>
                </a:solidFill>
                <a:latin typeface="Arial"/>
                <a:ea typeface="Arial"/>
                <a:cs typeface="Arial"/>
              </a:defRPr>
            </a:lvl1pPr>
            <a:lvl2pPr>
              <a:defRPr sz="2250" b="0">
                <a:solidFill>
                  <a:srgbClr val="14231E"/>
                </a:solidFill>
                <a:latin typeface="Arial"/>
                <a:ea typeface="Arial"/>
                <a:cs typeface="Arial"/>
              </a:defRPr>
            </a:lvl2pPr>
            <a:lvl3pPr>
              <a:defRPr sz="2250" b="0">
                <a:solidFill>
                  <a:srgbClr val="14231E"/>
                </a:solidFill>
                <a:latin typeface="Arial"/>
                <a:ea typeface="Arial"/>
                <a:cs typeface="Arial"/>
              </a:defRPr>
            </a:lvl3pPr>
            <a:lvl4pPr>
              <a:defRPr sz="2250" b="0">
                <a:solidFill>
                  <a:srgbClr val="14231E"/>
                </a:solidFill>
                <a:latin typeface="Arial"/>
                <a:ea typeface="Arial"/>
                <a:cs typeface="Arial"/>
              </a:defRPr>
            </a:lvl4pPr>
            <a:lvl5pPr>
              <a:defRPr sz="2250" b="0">
                <a:solidFill>
                  <a:srgbClr val="14231E"/>
                </a:solidFill>
                <a:latin typeface="Arial"/>
                <a:ea typeface="Arial"/>
                <a:cs typeface="Arial"/>
              </a:defRPr>
            </a:lvl5pPr>
            <a:lvl6pPr>
              <a:defRPr sz="2250" b="0">
                <a:solidFill>
                  <a:srgbClr val="14231E"/>
                </a:solidFill>
                <a:latin typeface="Arial"/>
                <a:ea typeface="Arial"/>
                <a:cs typeface="Arial"/>
              </a:defRPr>
            </a:lvl6pPr>
            <a:lvl7pPr>
              <a:defRPr sz="2250" b="0">
                <a:solidFill>
                  <a:srgbClr val="14231E"/>
                </a:solidFill>
                <a:latin typeface="Arial"/>
                <a:ea typeface="Arial"/>
                <a:cs typeface="Arial"/>
              </a:defRPr>
            </a:lvl7pPr>
            <a:lvl8pPr>
              <a:defRPr sz="2250" b="0">
                <a:solidFill>
                  <a:srgbClr val="14231E"/>
                </a:solidFill>
                <a:latin typeface="Arial"/>
                <a:ea typeface="Arial"/>
                <a:cs typeface="Arial"/>
              </a:defRPr>
            </a:lvl8pPr>
            <a:lvl9pPr>
              <a:defRPr sz="2250" b="0">
                <a:solidFill>
                  <a:srgbClr val="14231E"/>
                </a:solidFill>
                <a:latin typeface="Arial"/>
                <a:ea typeface="Arial"/>
                <a:cs typeface="Arial"/>
              </a:defRPr>
            </a:lvl9pPr>
          </a:lstStyle>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1. Identificar y medir las partes de una aleta.</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2. Crear dos alternativas conservando las condiciones de comparación.</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3. Dibujar una plantilla y un útil compatible con el tubo.</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4. Preparar las vistas necesarias para revisar alineación.</a:t>
            </a:r>
          </a:p>
        </p:txBody>
      </p:sp>
    </p:spTree>
    <p:extLst>
      <p:ext uri="{BB962C8B-B14F-4D97-AF65-F5344CB8AC3E}">
        <p14:creationId xmlns:p14="http://schemas.microsoft.com/office/powerpoint/2010/main" val="1404791310"/>
      </p:ext>
    </p:extLst>
  </p:cSld>
</p:sld>
</file>

<file path=ppt/slides/slide45.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C64CF55-A649-44D9-9F42-B84C62045438}"/>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Decisión según la misión</a:t>
            </a:r>
          </a:p>
        </p:txBody>
      </p:sp>
      <p:pic>
        <p:nvPicPr>
          <p:cNvPr id="2" name="">
            <a:extLst xmlns:a="http://schemas.openxmlformats.org/drawingml/2006/main">
              <a:ext uri="{FF2B5EF4-FFF2-40B4-BE49-F238E27FC236}">
                <a16:creationId xmlns:a16="http://schemas.microsoft.com/office/drawing/2014/main" id="{0A135FDD-B71A-4048-A3DD-3F6037F08C7C}"/>
              </a:ext>
            </a:extLst>
          </p:cNvPr>
          <p:cNvPicPr>
            <a:picLocks xmlns:a="http://schemas.openxmlformats.org/drawingml/2006/main" noChangeAspect="1"/>
          </p:cNvPicPr>
          <p:nvPr/>
        </p:nvPicPr>
        <p:blipFill>
          <a:blip xmlns:r="http://schemas.openxmlformats.org/officeDocument/2006/relationships" xmlns:a="http://schemas.openxmlformats.org/drawingml/2006/main" r:embed="R9bdc22b90452496d"/>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480B17C-893A-4731-8A9F-BE551E4246A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2   CLASE 04   21/24</a:t>
            </a:r>
          </a:p>
        </p:txBody>
      </p:sp>
      <p:sp>
        <p:nvSpPr>
          <p:cNvPr id="4" name="">
            <a:extLst xmlns:a="http://schemas.openxmlformats.org/drawingml/2006/main">
              <a:ext uri="{FF2B5EF4-FFF2-40B4-BE49-F238E27FC236}">
                <a16:creationId xmlns:a16="http://schemas.microsoft.com/office/drawing/2014/main" id="{CEFBE287-952A-441B-AAF8-66710A3D2685}"/>
              </a:ext>
            </a:extLst>
          </p:cNvPr>
          <p:cNvSpPr>
            <a:spLocks xmlns:a="http://schemas.openxmlformats.org/drawingml/2006/main" noGrp="1"/>
          </p:cNvSpPr>
          <p:nvPr/>
        </p:nvSpPr>
        <p:spPr>
          <a:xfrm xmlns:a="http://schemas.openxmlformats.org/drawingml/2006/main">
            <a:off x="590550" y="1771650"/>
            <a:ext cx="10715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75" b="1">
                <a:solidFill>
                  <a:srgbClr val="AEF4BB"/>
                </a:solidFill>
                <a:latin typeface="Arial"/>
                <a:ea typeface="Arial"/>
                <a:cs typeface="Arial"/>
              </a:defRPr>
            </a:defPPr>
            <a:lvl1pPr>
              <a:defRPr sz="2775" b="1">
                <a:solidFill>
                  <a:srgbClr val="AEF4BB"/>
                </a:solidFill>
                <a:latin typeface="Arial"/>
                <a:ea typeface="Arial"/>
                <a:cs typeface="Arial"/>
              </a:defRPr>
            </a:lvl1pPr>
            <a:lvl2pPr>
              <a:defRPr sz="2775" b="1">
                <a:solidFill>
                  <a:srgbClr val="AEF4BB"/>
                </a:solidFill>
                <a:latin typeface="Arial"/>
                <a:ea typeface="Arial"/>
                <a:cs typeface="Arial"/>
              </a:defRPr>
            </a:lvl2pPr>
            <a:lvl3pPr>
              <a:defRPr sz="2775" b="1">
                <a:solidFill>
                  <a:srgbClr val="AEF4BB"/>
                </a:solidFill>
                <a:latin typeface="Arial"/>
                <a:ea typeface="Arial"/>
                <a:cs typeface="Arial"/>
              </a:defRPr>
            </a:lvl3pPr>
            <a:lvl4pPr>
              <a:defRPr sz="2775" b="1">
                <a:solidFill>
                  <a:srgbClr val="AEF4BB"/>
                </a:solidFill>
                <a:latin typeface="Arial"/>
                <a:ea typeface="Arial"/>
                <a:cs typeface="Arial"/>
              </a:defRPr>
            </a:lvl4pPr>
            <a:lvl5pPr>
              <a:defRPr sz="2775" b="1">
                <a:solidFill>
                  <a:srgbClr val="AEF4BB"/>
                </a:solidFill>
                <a:latin typeface="Arial"/>
                <a:ea typeface="Arial"/>
                <a:cs typeface="Arial"/>
              </a:defRPr>
            </a:lvl5pPr>
            <a:lvl6pPr>
              <a:defRPr sz="2775" b="1">
                <a:solidFill>
                  <a:srgbClr val="AEF4BB"/>
                </a:solidFill>
                <a:latin typeface="Arial"/>
                <a:ea typeface="Arial"/>
                <a:cs typeface="Arial"/>
              </a:defRPr>
            </a:lvl6pPr>
            <a:lvl7pPr>
              <a:defRPr sz="2775" b="1">
                <a:solidFill>
                  <a:srgbClr val="AEF4BB"/>
                </a:solidFill>
                <a:latin typeface="Arial"/>
                <a:ea typeface="Arial"/>
                <a:cs typeface="Arial"/>
              </a:defRPr>
            </a:lvl7pPr>
            <a:lvl8pPr>
              <a:defRPr sz="2775" b="1">
                <a:solidFill>
                  <a:srgbClr val="AEF4BB"/>
                </a:solidFill>
                <a:latin typeface="Arial"/>
                <a:ea typeface="Arial"/>
                <a:cs typeface="Arial"/>
              </a:defRPr>
            </a:lvl8pPr>
            <a:lvl9pPr>
              <a:defRPr sz="2775" b="1">
                <a:solidFill>
                  <a:srgbClr val="AEF4BB"/>
                </a:solidFill>
                <a:latin typeface="Arial"/>
                <a:ea typeface="Arial"/>
                <a:cs typeface="Arial"/>
              </a:defRPr>
            </a:lvl9pPr>
          </a:lstStyle>
          <a:p xmlns:a="http://schemas.openxmlformats.org/drawingml/2006/main">
            <a:pPr>
              <a:defRPr sz="2775" b="1">
                <a:solidFill>
                  <a:srgbClr val="AEF4BB"/>
                </a:solidFill>
                <a:latin typeface="Arial"/>
                <a:ea typeface="Arial"/>
                <a:cs typeface="Arial"/>
              </a:defRPr>
            </a:pPr>
            <a:r>
              <a:rPr sz="2775" b="1">
                <a:solidFill>
                  <a:srgbClr val="AEF4BB"/>
                </a:solidFill>
                <a:latin typeface="Arial"/>
                <a:ea typeface="Arial"/>
                <a:cs typeface="Arial"/>
              </a:rPr>
              <a:t>Aprender a fabricar superficies estabilizadoras que el equipo pueda colocar y revisar.</a:t>
            </a:r>
          </a:p>
        </p:txBody>
      </p:sp>
      <p:sp>
        <p:nvSpPr>
          <p:cNvPr id="5" name="">
            <a:extLst xmlns:a="http://schemas.openxmlformats.org/drawingml/2006/main">
              <a:ext uri="{FF2B5EF4-FFF2-40B4-BE49-F238E27FC236}">
                <a16:creationId xmlns:a16="http://schemas.microsoft.com/office/drawing/2014/main" id="{680E7F31-4F8C-41C1-955F-3100993B68E1}"/>
              </a:ext>
            </a:extLst>
          </p:cNvPr>
          <p:cNvSpPr>
            <a:spLocks xmlns:a="http://schemas.openxmlformats.org/drawingml/2006/main" noGrp="1"/>
          </p:cNvSpPr>
          <p:nvPr/>
        </p:nvSpPr>
        <p:spPr>
          <a:xfrm xmlns:a="http://schemas.openxmlformats.org/drawingml/2006/main">
            <a:off x="590550" y="3638550"/>
            <a:ext cx="107156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0">
                <a:solidFill>
                  <a:srgbClr val="FCFCF8"/>
                </a:solidFill>
                <a:latin typeface="Arial"/>
                <a:ea typeface="Arial"/>
                <a:cs typeface="Arial"/>
              </a:defRPr>
            </a:defPPr>
            <a:lvl1pPr>
              <a:defRPr sz="2625" b="0">
                <a:solidFill>
                  <a:srgbClr val="FCFCF8"/>
                </a:solidFill>
                <a:latin typeface="Arial"/>
                <a:ea typeface="Arial"/>
                <a:cs typeface="Arial"/>
              </a:defRPr>
            </a:lvl1pPr>
            <a:lvl2pPr>
              <a:defRPr sz="2625" b="0">
                <a:solidFill>
                  <a:srgbClr val="FCFCF8"/>
                </a:solidFill>
                <a:latin typeface="Arial"/>
                <a:ea typeface="Arial"/>
                <a:cs typeface="Arial"/>
              </a:defRPr>
            </a:lvl2pPr>
            <a:lvl3pPr>
              <a:defRPr sz="2625" b="0">
                <a:solidFill>
                  <a:srgbClr val="FCFCF8"/>
                </a:solidFill>
                <a:latin typeface="Arial"/>
                <a:ea typeface="Arial"/>
                <a:cs typeface="Arial"/>
              </a:defRPr>
            </a:lvl3pPr>
            <a:lvl4pPr>
              <a:defRPr sz="2625" b="0">
                <a:solidFill>
                  <a:srgbClr val="FCFCF8"/>
                </a:solidFill>
                <a:latin typeface="Arial"/>
                <a:ea typeface="Arial"/>
                <a:cs typeface="Arial"/>
              </a:defRPr>
            </a:lvl4pPr>
            <a:lvl5pPr>
              <a:defRPr sz="2625" b="0">
                <a:solidFill>
                  <a:srgbClr val="FCFCF8"/>
                </a:solidFill>
                <a:latin typeface="Arial"/>
                <a:ea typeface="Arial"/>
                <a:cs typeface="Arial"/>
              </a:defRPr>
            </a:lvl5pPr>
            <a:lvl6pPr>
              <a:defRPr sz="2625" b="0">
                <a:solidFill>
                  <a:srgbClr val="FCFCF8"/>
                </a:solidFill>
                <a:latin typeface="Arial"/>
                <a:ea typeface="Arial"/>
                <a:cs typeface="Arial"/>
              </a:defRPr>
            </a:lvl6pPr>
            <a:lvl7pPr>
              <a:defRPr sz="2625" b="0">
                <a:solidFill>
                  <a:srgbClr val="FCFCF8"/>
                </a:solidFill>
                <a:latin typeface="Arial"/>
                <a:ea typeface="Arial"/>
                <a:cs typeface="Arial"/>
              </a:defRPr>
            </a:lvl7pPr>
            <a:lvl8pPr>
              <a:defRPr sz="2625" b="0">
                <a:solidFill>
                  <a:srgbClr val="FCFCF8"/>
                </a:solidFill>
                <a:latin typeface="Arial"/>
                <a:ea typeface="Arial"/>
                <a:cs typeface="Arial"/>
              </a:defRPr>
            </a:lvl8pPr>
            <a:lvl9pPr>
              <a:defRPr sz="2625" b="0">
                <a:solidFill>
                  <a:srgbClr val="FCFCF8"/>
                </a:solidFill>
                <a:latin typeface="Arial"/>
                <a:ea typeface="Arial"/>
                <a:cs typeface="Arial"/>
              </a:defRPr>
            </a:lvl9pPr>
          </a:lstStyle>
          <a:p xmlns:a="http://schemas.openxmlformats.org/drawingml/2006/main">
            <a:pPr>
              <a:defRPr sz="2625" b="0">
                <a:solidFill>
                  <a:srgbClr val="FCFCF8"/>
                </a:solidFill>
                <a:latin typeface="Arial"/>
                <a:ea typeface="Arial"/>
                <a:cs typeface="Arial"/>
              </a:defRPr>
            </a:pPr>
            <a:r>
              <a:rPr sz="2625" b="0">
                <a:solidFill>
                  <a:srgbClr val="FCFCF8"/>
                </a:solidFill>
                <a:latin typeface="Arial"/>
                <a:ea typeface="Arial"/>
                <a:cs typeface="Arial"/>
              </a:rPr>
              <a:t>¿Qué contorno puedes repetir mejor en este taller?</a:t>
            </a:r>
          </a:p>
        </p:txBody>
      </p:sp>
      <p:sp>
        <p:nvSpPr>
          <p:cNvPr id="6" name="">
            <a:extLst xmlns:a="http://schemas.openxmlformats.org/drawingml/2006/main">
              <a:ext uri="{FF2B5EF4-FFF2-40B4-BE49-F238E27FC236}">
                <a16:creationId xmlns:a16="http://schemas.microsoft.com/office/drawing/2014/main" id="{98C53D30-3D7F-4FF2-95DB-1C25CB43B7D0}"/>
              </a:ext>
            </a:extLst>
          </p:cNvPr>
          <p:cNvSpPr>
            <a:spLocks xmlns:a="http://schemas.openxmlformats.org/drawingml/2006/main" noGrp="1"/>
          </p:cNvSpPr>
          <p:nvPr/>
        </p:nvSpPr>
        <p:spPr>
          <a:xfrm xmlns:a="http://schemas.openxmlformats.org/drawingml/2006/main">
            <a:off x="590550" y="5486400"/>
            <a:ext cx="10715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B8C8C1"/>
                </a:solidFill>
                <a:latin typeface="Arial"/>
                <a:ea typeface="Arial"/>
                <a:cs typeface="Arial"/>
              </a:defRPr>
            </a:defPPr>
            <a:lvl1pPr>
              <a:defRPr sz="2175" b="0">
                <a:solidFill>
                  <a:srgbClr val="B8C8C1"/>
                </a:solidFill>
                <a:latin typeface="Arial"/>
                <a:ea typeface="Arial"/>
                <a:cs typeface="Arial"/>
              </a:defRPr>
            </a:lvl1pPr>
            <a:lvl2pPr>
              <a:defRPr sz="2175" b="0">
                <a:solidFill>
                  <a:srgbClr val="B8C8C1"/>
                </a:solidFill>
                <a:latin typeface="Arial"/>
                <a:ea typeface="Arial"/>
                <a:cs typeface="Arial"/>
              </a:defRPr>
            </a:lvl2pPr>
            <a:lvl3pPr>
              <a:defRPr sz="2175" b="0">
                <a:solidFill>
                  <a:srgbClr val="B8C8C1"/>
                </a:solidFill>
                <a:latin typeface="Arial"/>
                <a:ea typeface="Arial"/>
                <a:cs typeface="Arial"/>
              </a:defRPr>
            </a:lvl3pPr>
            <a:lvl4pPr>
              <a:defRPr sz="2175" b="0">
                <a:solidFill>
                  <a:srgbClr val="B8C8C1"/>
                </a:solidFill>
                <a:latin typeface="Arial"/>
                <a:ea typeface="Arial"/>
                <a:cs typeface="Arial"/>
              </a:defRPr>
            </a:lvl4pPr>
            <a:lvl5pPr>
              <a:defRPr sz="2175" b="0">
                <a:solidFill>
                  <a:srgbClr val="B8C8C1"/>
                </a:solidFill>
                <a:latin typeface="Arial"/>
                <a:ea typeface="Arial"/>
                <a:cs typeface="Arial"/>
              </a:defRPr>
            </a:lvl5pPr>
            <a:lvl6pPr>
              <a:defRPr sz="2175" b="0">
                <a:solidFill>
                  <a:srgbClr val="B8C8C1"/>
                </a:solidFill>
                <a:latin typeface="Arial"/>
                <a:ea typeface="Arial"/>
                <a:cs typeface="Arial"/>
              </a:defRPr>
            </a:lvl6pPr>
            <a:lvl7pPr>
              <a:defRPr sz="2175" b="0">
                <a:solidFill>
                  <a:srgbClr val="B8C8C1"/>
                </a:solidFill>
                <a:latin typeface="Arial"/>
                <a:ea typeface="Arial"/>
                <a:cs typeface="Arial"/>
              </a:defRPr>
            </a:lvl7pPr>
            <a:lvl8pPr>
              <a:defRPr sz="2175" b="0">
                <a:solidFill>
                  <a:srgbClr val="B8C8C1"/>
                </a:solidFill>
                <a:latin typeface="Arial"/>
                <a:ea typeface="Arial"/>
                <a:cs typeface="Arial"/>
              </a:defRPr>
            </a:lvl8pPr>
            <a:lvl9pPr>
              <a:defRPr sz="2175" b="0">
                <a:solidFill>
                  <a:srgbClr val="B8C8C1"/>
                </a:solidFill>
                <a:latin typeface="Arial"/>
                <a:ea typeface="Arial"/>
                <a:cs typeface="Arial"/>
              </a:defRPr>
            </a:lvl9pPr>
          </a:lstStyle>
          <a:p xmlns:a="http://schemas.openxmlformats.org/drawingml/2006/main">
            <a:pPr>
              <a:defRPr sz="2175" b="0">
                <a:solidFill>
                  <a:srgbClr val="B8C8C1"/>
                </a:solidFill>
                <a:latin typeface="Arial"/>
                <a:ea typeface="Arial"/>
                <a:cs typeface="Arial"/>
              </a:defRPr>
            </a:pPr>
            <a:r>
              <a:rPr sz="2175" b="0">
                <a:solidFill>
                  <a:srgbClr val="B8C8C1"/>
                </a:solidFill>
                <a:latin typeface="Arial"/>
                <a:ea typeface="Arial"/>
                <a:cs typeface="Arial"/>
              </a:rPr>
              <a:t>Explica tu elección con una pieza, un archivo o un dato de la clase.</a:t>
            </a:r>
          </a:p>
        </p:txBody>
      </p:sp>
    </p:spTree>
    <p:extLst>
      <p:ext uri="{BB962C8B-B14F-4D97-AF65-F5344CB8AC3E}">
        <p14:creationId xmlns:p14="http://schemas.microsoft.com/office/powerpoint/2010/main" val="513373184"/>
      </p:ext>
    </p:extLst>
  </p:cSld>
</p:sld>
</file>

<file path=ppt/slides/slide46.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99C463B-6472-495E-A9F5-AE766FE2A54C}"/>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Tres preguntas para cerrar</a:t>
            </a:r>
          </a:p>
        </p:txBody>
      </p:sp>
      <p:pic>
        <p:nvPicPr>
          <p:cNvPr id="2" name="">
            <a:extLst xmlns:a="http://schemas.openxmlformats.org/drawingml/2006/main">
              <a:ext uri="{FF2B5EF4-FFF2-40B4-BE49-F238E27FC236}">
                <a16:creationId xmlns:a16="http://schemas.microsoft.com/office/drawing/2014/main" id="{DAD39FC8-55D6-4D1B-86CE-5F334D615BD9}"/>
              </a:ext>
            </a:extLst>
          </p:cNvPr>
          <p:cNvPicPr>
            <a:picLocks xmlns:a="http://schemas.openxmlformats.org/drawingml/2006/main" noChangeAspect="1"/>
          </p:cNvPicPr>
          <p:nvPr/>
        </p:nvPicPr>
        <p:blipFill>
          <a:blip xmlns:r="http://schemas.openxmlformats.org/officeDocument/2006/relationships" xmlns:a="http://schemas.openxmlformats.org/drawingml/2006/main" r:embed="R652cd302f053421b"/>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D5BA6B1-EF99-4BBC-88BE-27533C17064E}"/>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2   CLASE 04   22/24</a:t>
            </a:r>
          </a:p>
        </p:txBody>
      </p:sp>
      <p:sp>
        <p:nvSpPr>
          <p:cNvPr id="4" name="">
            <a:extLst xmlns:a="http://schemas.openxmlformats.org/drawingml/2006/main">
              <a:ext uri="{FF2B5EF4-FFF2-40B4-BE49-F238E27FC236}">
                <a16:creationId xmlns:a16="http://schemas.microsoft.com/office/drawing/2014/main" id="{89E80AD4-D5AF-4C72-871A-422D5678A39F}"/>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1. ¿Tres aletas se separan 90°?</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2. ¿Comparar siluetas prueba cuál vuela mejor?</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3. ¿Qué resuelve el útil?</a:t>
            </a:r>
          </a:p>
        </p:txBody>
      </p:sp>
    </p:spTree>
    <p:extLst>
      <p:ext uri="{BB962C8B-B14F-4D97-AF65-F5344CB8AC3E}">
        <p14:creationId xmlns:p14="http://schemas.microsoft.com/office/powerpoint/2010/main" val="1577715493"/>
      </p:ext>
    </p:extLst>
  </p:cSld>
</p:sld>
</file>

<file path=ppt/slides/slide4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E14DAC6-31EA-4458-B60E-7880BD3D9DBC}"/>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Cómo explicar las respuestas</a:t>
            </a:r>
          </a:p>
        </p:txBody>
      </p:sp>
      <p:pic>
        <p:nvPicPr>
          <p:cNvPr id="2" name="">
            <a:extLst xmlns:a="http://schemas.openxmlformats.org/drawingml/2006/main">
              <a:ext uri="{FF2B5EF4-FFF2-40B4-BE49-F238E27FC236}">
                <a16:creationId xmlns:a16="http://schemas.microsoft.com/office/drawing/2014/main" id="{EBDFC1D2-0370-461C-B58A-852587F570E1}"/>
              </a:ext>
            </a:extLst>
          </p:cNvPr>
          <p:cNvPicPr>
            <a:picLocks xmlns:a="http://schemas.openxmlformats.org/drawingml/2006/main" noChangeAspect="1"/>
          </p:cNvPicPr>
          <p:nvPr/>
        </p:nvPicPr>
        <p:blipFill>
          <a:blip xmlns:r="http://schemas.openxmlformats.org/officeDocument/2006/relationships" xmlns:a="http://schemas.openxmlformats.org/drawingml/2006/main" r:embed="R827d1c7b1e9e464d"/>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1D6344A-786B-4453-9188-3CB0124C041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2   CLASE 04   23/24</a:t>
            </a:r>
          </a:p>
        </p:txBody>
      </p:sp>
      <p:sp>
        <p:nvSpPr>
          <p:cNvPr id="4" name="">
            <a:extLst xmlns:a="http://schemas.openxmlformats.org/drawingml/2006/main">
              <a:ext uri="{FF2B5EF4-FFF2-40B4-BE49-F238E27FC236}">
                <a16:creationId xmlns:a16="http://schemas.microsoft.com/office/drawing/2014/main" id="{70AE18E5-BBB7-4723-AE99-2A20496F0B79}"/>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1. No. Si están equiespaciadas, 360/3 = 120°.</a:t>
            </a:r>
          </a:p>
          <a:p xmlns:a="http://schemas.openxmlformats.org/drawingml/2006/main">
            <a:r>
              <a:t/>
            </a:r>
          </a:p>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2. No. También importan medidas, posición, masa y conjunto.</a:t>
            </a:r>
          </a:p>
          <a:p xmlns:a="http://schemas.openxmlformats.org/drawingml/2006/main">
            <a:r>
              <a:t/>
            </a:r>
          </a:p>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3. Ayuda a conservar la posición y orientación durante el montaje.</a:t>
            </a:r>
          </a:p>
        </p:txBody>
      </p:sp>
    </p:spTree>
    <p:extLst>
      <p:ext uri="{BB962C8B-B14F-4D97-AF65-F5344CB8AC3E}">
        <p14:creationId xmlns:p14="http://schemas.microsoft.com/office/powerpoint/2010/main" val="1130287623"/>
      </p:ext>
    </p:extLst>
  </p:cSld>
</p:sld>
</file>

<file path=ppt/slides/slide48.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0A92A6C-4EA1-4704-97EF-6AC2D5F2CFD7}"/>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Entrega de la clase</a:t>
            </a:r>
          </a:p>
        </p:txBody>
      </p:sp>
      <p:pic>
        <p:nvPicPr>
          <p:cNvPr id="2" name="">
            <a:extLst xmlns:a="http://schemas.openxmlformats.org/drawingml/2006/main">
              <a:ext uri="{FF2B5EF4-FFF2-40B4-BE49-F238E27FC236}">
                <a16:creationId xmlns:a16="http://schemas.microsoft.com/office/drawing/2014/main" id="{596F1C7A-1987-44FF-B796-F9F9A676CCAE}"/>
              </a:ext>
            </a:extLst>
          </p:cNvPr>
          <p:cNvPicPr>
            <a:picLocks xmlns:a="http://schemas.openxmlformats.org/drawingml/2006/main" noChangeAspect="1"/>
          </p:cNvPicPr>
          <p:nvPr/>
        </p:nvPicPr>
        <p:blipFill>
          <a:blip xmlns:r="http://schemas.openxmlformats.org/officeDocument/2006/relationships" xmlns:a="http://schemas.openxmlformats.org/drawingml/2006/main" r:embed="Rcfb26154ad5a4717"/>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1DFE358-D773-49D2-8E9D-81A6BED4971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2   CLASE 04   24/24</a:t>
            </a:r>
          </a:p>
        </p:txBody>
      </p:sp>
      <p:sp>
        <p:nvSpPr>
          <p:cNvPr id="4" name="">
            <a:extLst xmlns:a="http://schemas.openxmlformats.org/drawingml/2006/main">
              <a:ext uri="{FF2B5EF4-FFF2-40B4-BE49-F238E27FC236}">
                <a16:creationId xmlns:a16="http://schemas.microsoft.com/office/drawing/2014/main" id="{3435CD61-AA3F-47B6-B8D0-924FA1F36BA3}"/>
              </a:ext>
            </a:extLst>
          </p:cNvPr>
          <p:cNvSpPr>
            <a:spLocks xmlns:a="http://schemas.openxmlformats.org/drawingml/2006/main" noGrp="1"/>
          </p:cNvSpPr>
          <p:nvPr/>
        </p:nvSpPr>
        <p:spPr>
          <a:xfrm xmlns:a="http://schemas.openxmlformats.org/drawingml/2006/main">
            <a:off x="590550" y="1800225"/>
            <a:ext cx="10715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1">
                <a:solidFill>
                  <a:srgbClr val="AEF4BB"/>
                </a:solidFill>
                <a:latin typeface="Arial"/>
                <a:ea typeface="Arial"/>
                <a:cs typeface="Arial"/>
              </a:defRPr>
            </a:defPPr>
            <a:lvl1pPr>
              <a:defRPr sz="2925" b="1">
                <a:solidFill>
                  <a:srgbClr val="AEF4BB"/>
                </a:solidFill>
                <a:latin typeface="Arial"/>
                <a:ea typeface="Arial"/>
                <a:cs typeface="Arial"/>
              </a:defRPr>
            </a:lvl1pPr>
            <a:lvl2pPr>
              <a:defRPr sz="2925" b="1">
                <a:solidFill>
                  <a:srgbClr val="AEF4BB"/>
                </a:solidFill>
                <a:latin typeface="Arial"/>
                <a:ea typeface="Arial"/>
                <a:cs typeface="Arial"/>
              </a:defRPr>
            </a:lvl2pPr>
            <a:lvl3pPr>
              <a:defRPr sz="2925" b="1">
                <a:solidFill>
                  <a:srgbClr val="AEF4BB"/>
                </a:solidFill>
                <a:latin typeface="Arial"/>
                <a:ea typeface="Arial"/>
                <a:cs typeface="Arial"/>
              </a:defRPr>
            </a:lvl3pPr>
            <a:lvl4pPr>
              <a:defRPr sz="2925" b="1">
                <a:solidFill>
                  <a:srgbClr val="AEF4BB"/>
                </a:solidFill>
                <a:latin typeface="Arial"/>
                <a:ea typeface="Arial"/>
                <a:cs typeface="Arial"/>
              </a:defRPr>
            </a:lvl4pPr>
            <a:lvl5pPr>
              <a:defRPr sz="2925" b="1">
                <a:solidFill>
                  <a:srgbClr val="AEF4BB"/>
                </a:solidFill>
                <a:latin typeface="Arial"/>
                <a:ea typeface="Arial"/>
                <a:cs typeface="Arial"/>
              </a:defRPr>
            </a:lvl5pPr>
            <a:lvl6pPr>
              <a:defRPr sz="2925" b="1">
                <a:solidFill>
                  <a:srgbClr val="AEF4BB"/>
                </a:solidFill>
                <a:latin typeface="Arial"/>
                <a:ea typeface="Arial"/>
                <a:cs typeface="Arial"/>
              </a:defRPr>
            </a:lvl6pPr>
            <a:lvl7pPr>
              <a:defRPr sz="2925" b="1">
                <a:solidFill>
                  <a:srgbClr val="AEF4BB"/>
                </a:solidFill>
                <a:latin typeface="Arial"/>
                <a:ea typeface="Arial"/>
                <a:cs typeface="Arial"/>
              </a:defRPr>
            </a:lvl7pPr>
            <a:lvl8pPr>
              <a:defRPr sz="2925" b="1">
                <a:solidFill>
                  <a:srgbClr val="AEF4BB"/>
                </a:solidFill>
                <a:latin typeface="Arial"/>
                <a:ea typeface="Arial"/>
                <a:cs typeface="Arial"/>
              </a:defRPr>
            </a:lvl8pPr>
            <a:lvl9pPr>
              <a:defRPr sz="2925" b="1">
                <a:solidFill>
                  <a:srgbClr val="AEF4BB"/>
                </a:solidFill>
                <a:latin typeface="Arial"/>
                <a:ea typeface="Arial"/>
                <a:cs typeface="Arial"/>
              </a:defRPr>
            </a:lvl9pPr>
          </a:lstStyle>
          <a:p xmlns:a="http://schemas.openxmlformats.org/drawingml/2006/main">
            <a:pPr>
              <a:defRPr sz="2925" b="1">
                <a:solidFill>
                  <a:srgbClr val="AEF4BB"/>
                </a:solidFill>
                <a:latin typeface="Arial"/>
                <a:ea typeface="Arial"/>
                <a:cs typeface="Arial"/>
              </a:defRPr>
            </a:pPr>
            <a:r>
              <a:rPr sz="2925" b="1">
                <a:solidFill>
                  <a:srgbClr val="AEF4BB"/>
                </a:solidFill>
                <a:latin typeface="Arial"/>
                <a:ea typeface="Arial"/>
                <a:cs typeface="Arial"/>
              </a:rPr>
              <a:t>Plano, dos versiones .ork, plantilla y propuesta de útil.</a:t>
            </a:r>
          </a:p>
        </p:txBody>
      </p:sp>
      <p:sp>
        <p:nvSpPr>
          <p:cNvPr id="5" name="">
            <a:extLst xmlns:a="http://schemas.openxmlformats.org/drawingml/2006/main">
              <a:ext uri="{FF2B5EF4-FFF2-40B4-BE49-F238E27FC236}">
                <a16:creationId xmlns:a16="http://schemas.microsoft.com/office/drawing/2014/main" id="{3C4D7EDE-C79B-4D69-8E1A-721BF12B9391}"/>
              </a:ext>
            </a:extLst>
          </p:cNvPr>
          <p:cNvSpPr>
            <a:spLocks xmlns:a="http://schemas.openxmlformats.org/drawingml/2006/main" noGrp="1"/>
          </p:cNvSpPr>
          <p:nvPr/>
        </p:nvSpPr>
        <p:spPr>
          <a:xfrm xmlns:a="http://schemas.openxmlformats.org/drawingml/2006/main">
            <a:off x="590550" y="4314825"/>
            <a:ext cx="1071562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CFCF8"/>
                </a:solidFill>
                <a:latin typeface="Arial"/>
                <a:ea typeface="Arial"/>
                <a:cs typeface="Arial"/>
              </a:defRPr>
            </a:defPPr>
            <a:lvl1pPr>
              <a:defRPr sz="2325" b="0">
                <a:solidFill>
                  <a:srgbClr val="FCFCF8"/>
                </a:solidFill>
                <a:latin typeface="Arial"/>
                <a:ea typeface="Arial"/>
                <a:cs typeface="Arial"/>
              </a:defRPr>
            </a:lvl1pPr>
            <a:lvl2pPr>
              <a:defRPr sz="2325" b="0">
                <a:solidFill>
                  <a:srgbClr val="FCFCF8"/>
                </a:solidFill>
                <a:latin typeface="Arial"/>
                <a:ea typeface="Arial"/>
                <a:cs typeface="Arial"/>
              </a:defRPr>
            </a:lvl2pPr>
            <a:lvl3pPr>
              <a:defRPr sz="2325" b="0">
                <a:solidFill>
                  <a:srgbClr val="FCFCF8"/>
                </a:solidFill>
                <a:latin typeface="Arial"/>
                <a:ea typeface="Arial"/>
                <a:cs typeface="Arial"/>
              </a:defRPr>
            </a:lvl3pPr>
            <a:lvl4pPr>
              <a:defRPr sz="2325" b="0">
                <a:solidFill>
                  <a:srgbClr val="FCFCF8"/>
                </a:solidFill>
                <a:latin typeface="Arial"/>
                <a:ea typeface="Arial"/>
                <a:cs typeface="Arial"/>
              </a:defRPr>
            </a:lvl4pPr>
            <a:lvl5pPr>
              <a:defRPr sz="2325" b="0">
                <a:solidFill>
                  <a:srgbClr val="FCFCF8"/>
                </a:solidFill>
                <a:latin typeface="Arial"/>
                <a:ea typeface="Arial"/>
                <a:cs typeface="Arial"/>
              </a:defRPr>
            </a:lvl5pPr>
            <a:lvl6pPr>
              <a:defRPr sz="2325" b="0">
                <a:solidFill>
                  <a:srgbClr val="FCFCF8"/>
                </a:solidFill>
                <a:latin typeface="Arial"/>
                <a:ea typeface="Arial"/>
                <a:cs typeface="Arial"/>
              </a:defRPr>
            </a:lvl6pPr>
            <a:lvl7pPr>
              <a:defRPr sz="2325" b="0">
                <a:solidFill>
                  <a:srgbClr val="FCFCF8"/>
                </a:solidFill>
                <a:latin typeface="Arial"/>
                <a:ea typeface="Arial"/>
                <a:cs typeface="Arial"/>
              </a:defRPr>
            </a:lvl7pPr>
            <a:lvl8pPr>
              <a:defRPr sz="2325" b="0">
                <a:solidFill>
                  <a:srgbClr val="FCFCF8"/>
                </a:solidFill>
                <a:latin typeface="Arial"/>
                <a:ea typeface="Arial"/>
                <a:cs typeface="Arial"/>
              </a:defRPr>
            </a:lvl8pPr>
            <a:lvl9pPr>
              <a:defRPr sz="2325" b="0">
                <a:solidFill>
                  <a:srgbClr val="FCFCF8"/>
                </a:solidFill>
                <a:latin typeface="Arial"/>
                <a:ea typeface="Arial"/>
                <a:cs typeface="Arial"/>
              </a:defRPr>
            </a:lvl9pPr>
          </a:lstStyle>
          <a:p xmlns:a="http://schemas.openxmlformats.org/drawingml/2006/main">
            <a:pPr>
              <a:defRPr sz="2325" b="0">
                <a:solidFill>
                  <a:srgbClr val="FCFCF8"/>
                </a:solidFill>
                <a:latin typeface="Arial"/>
                <a:ea typeface="Arial"/>
                <a:cs typeface="Arial"/>
              </a:defRPr>
            </a:pPr>
            <a:r>
              <a:rPr sz="2325" b="0">
                <a:solidFill>
                  <a:srgbClr val="FCFCF8"/>
                </a:solidFill>
                <a:latin typeface="Arial"/>
                <a:ea typeface="Arial"/>
                <a:cs typeface="Arial"/>
              </a:rPr>
              <a:t>Conserva la revisión del equipo y señala qué comprobación sigue pendiente.</a:t>
            </a:r>
          </a:p>
        </p:txBody>
      </p:sp>
    </p:spTree>
    <p:extLst>
      <p:ext uri="{BB962C8B-B14F-4D97-AF65-F5344CB8AC3E}">
        <p14:creationId xmlns:p14="http://schemas.microsoft.com/office/powerpoint/2010/main" val="21250851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2026-10-22T18:49:57.5330000Z</dcterms:created>
  <dcterms:modified xsi:type="dcterms:W3CDTF">2026-10-22T18:49:57.5330000Z</dcterms:modified>
</coreProperties>
</file>