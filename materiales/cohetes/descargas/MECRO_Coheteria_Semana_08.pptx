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6aacdff1794bcf" /><Relationship Type="http://schemas.openxmlformats.org/officeDocument/2006/relationships/extended-properties" Target="/docProps/app.xml" Id="R044ed03fc35b4c18" /><Relationship Type="http://schemas.openxmlformats.org/officeDocument/2006/relationships/officeDocument" Target="/ppt/presentation.xml" Id="Rae669619eaf746b4" /></Relationships>
</file>

<file path=ppt/presentation.xml><?xml version="1.0" encoding="utf-8"?>
<p:presentation xmlns:p="http://schemas.openxmlformats.org/presentationml/2006/main">
  <p:sldMasterIdLst>
    <p:sldMasterId xmlns:r="http://schemas.openxmlformats.org/officeDocument/2006/relationships" id="2147483648" r:id="Rb6d1ae7f19e148d5"/>
  </p:sldMasterIdLst>
  <p:notesMasterIdLst>
    <p:notesMasterId xmlns:r="http://schemas.openxmlformats.org/officeDocument/2006/relationships" r:id="Re2413ab757464eae"/>
  </p:notesMasterIdLst>
  <p:sldIdLst>
    <p:sldId xmlns:r="http://schemas.openxmlformats.org/officeDocument/2006/relationships" id="256" r:id="Rafcc0c7c8ca4457b"/>
    <p:sldId xmlns:r="http://schemas.openxmlformats.org/officeDocument/2006/relationships" id="257" r:id="Rb5675fc08e594f0d"/>
    <p:sldId xmlns:r="http://schemas.openxmlformats.org/officeDocument/2006/relationships" id="258" r:id="Rfcd8c7784bdf4167"/>
    <p:sldId xmlns:r="http://schemas.openxmlformats.org/officeDocument/2006/relationships" id="259" r:id="Rcbf38f1d82ee4c47"/>
    <p:sldId xmlns:r="http://schemas.openxmlformats.org/officeDocument/2006/relationships" id="260" r:id="R27f85b90244842e3"/>
    <p:sldId xmlns:r="http://schemas.openxmlformats.org/officeDocument/2006/relationships" id="261" r:id="R96bc86ddef004af0"/>
    <p:sldId xmlns:r="http://schemas.openxmlformats.org/officeDocument/2006/relationships" id="262" r:id="Rb3a68a03e70d4279"/>
    <p:sldId xmlns:r="http://schemas.openxmlformats.org/officeDocument/2006/relationships" id="263" r:id="R8e54bb136e484e10"/>
    <p:sldId xmlns:r="http://schemas.openxmlformats.org/officeDocument/2006/relationships" id="264" r:id="R3af0528300cd4811"/>
    <p:sldId xmlns:r="http://schemas.openxmlformats.org/officeDocument/2006/relationships" id="265" r:id="R20ac6afe26384c5d"/>
    <p:sldId xmlns:r="http://schemas.openxmlformats.org/officeDocument/2006/relationships" id="266" r:id="Rf3109e1d2c5747fe"/>
    <p:sldId xmlns:r="http://schemas.openxmlformats.org/officeDocument/2006/relationships" id="267" r:id="R3a50018bbfc7490d"/>
    <p:sldId xmlns:r="http://schemas.openxmlformats.org/officeDocument/2006/relationships" id="268" r:id="Rf44601e005d24088"/>
    <p:sldId xmlns:r="http://schemas.openxmlformats.org/officeDocument/2006/relationships" id="269" r:id="R489bdba52a554a47"/>
    <p:sldId xmlns:r="http://schemas.openxmlformats.org/officeDocument/2006/relationships" id="270" r:id="R10b7481675284be1"/>
    <p:sldId xmlns:r="http://schemas.openxmlformats.org/officeDocument/2006/relationships" id="271" r:id="Rdee7855d7c0d43ec"/>
    <p:sldId xmlns:r="http://schemas.openxmlformats.org/officeDocument/2006/relationships" id="272" r:id="R07c045e7412e452a"/>
    <p:sldId xmlns:r="http://schemas.openxmlformats.org/officeDocument/2006/relationships" id="273" r:id="Ra254e9da25144fe0"/>
    <p:sldId xmlns:r="http://schemas.openxmlformats.org/officeDocument/2006/relationships" id="274" r:id="Rf3c53c3536b744e4"/>
    <p:sldId xmlns:r="http://schemas.openxmlformats.org/officeDocument/2006/relationships" id="275" r:id="Rf62c500eae3d4f1e"/>
    <p:sldId xmlns:r="http://schemas.openxmlformats.org/officeDocument/2006/relationships" id="276" r:id="R4ea5dfec7aee4780"/>
    <p:sldId xmlns:r="http://schemas.openxmlformats.org/officeDocument/2006/relationships" id="277" r:id="R2db9765c1aee485d"/>
    <p:sldId xmlns:r="http://schemas.openxmlformats.org/officeDocument/2006/relationships" id="278" r:id="R0bf7bcc5f21e4d2f"/>
    <p:sldId xmlns:r="http://schemas.openxmlformats.org/officeDocument/2006/relationships" id="279" r:id="R7cc68a8524614aba"/>
    <p:sldId xmlns:r="http://schemas.openxmlformats.org/officeDocument/2006/relationships" id="280" r:id="R85e0dd986f5947e6"/>
    <p:sldId xmlns:r="http://schemas.openxmlformats.org/officeDocument/2006/relationships" id="281" r:id="Rbb0bf530c7e9475d"/>
    <p:sldId xmlns:r="http://schemas.openxmlformats.org/officeDocument/2006/relationships" id="282" r:id="R83acab1f9dd842c6"/>
    <p:sldId xmlns:r="http://schemas.openxmlformats.org/officeDocument/2006/relationships" id="283" r:id="Rbf7448b2b73b4f08"/>
    <p:sldId xmlns:r="http://schemas.openxmlformats.org/officeDocument/2006/relationships" id="284" r:id="R2a573b5c96ed4b70"/>
    <p:sldId xmlns:r="http://schemas.openxmlformats.org/officeDocument/2006/relationships" id="285" r:id="R772ada4785a44a04"/>
    <p:sldId xmlns:r="http://schemas.openxmlformats.org/officeDocument/2006/relationships" id="286" r:id="Rd123d30aba6e4082"/>
    <p:sldId xmlns:r="http://schemas.openxmlformats.org/officeDocument/2006/relationships" id="287" r:id="R069b4600a1e3452c"/>
    <p:sldId xmlns:r="http://schemas.openxmlformats.org/officeDocument/2006/relationships" id="288" r:id="R1ef0eabf7d634a14"/>
    <p:sldId xmlns:r="http://schemas.openxmlformats.org/officeDocument/2006/relationships" id="289" r:id="Rffca147705404c5c"/>
    <p:sldId xmlns:r="http://schemas.openxmlformats.org/officeDocument/2006/relationships" id="290" r:id="R52da406dbb59468d"/>
    <p:sldId xmlns:r="http://schemas.openxmlformats.org/officeDocument/2006/relationships" id="291" r:id="R70ae0b208544445a"/>
    <p:sldId xmlns:r="http://schemas.openxmlformats.org/officeDocument/2006/relationships" id="292" r:id="Re28eadc8c924462f"/>
    <p:sldId xmlns:r="http://schemas.openxmlformats.org/officeDocument/2006/relationships" id="293" r:id="R40a12cba4d03454b"/>
    <p:sldId xmlns:r="http://schemas.openxmlformats.org/officeDocument/2006/relationships" id="294" r:id="R36bb84d5dd8b4513"/>
    <p:sldId xmlns:r="http://schemas.openxmlformats.org/officeDocument/2006/relationships" id="295" r:id="R16ea5202c68843dc"/>
    <p:sldId xmlns:r="http://schemas.openxmlformats.org/officeDocument/2006/relationships" id="296" r:id="R33c2600a4aef47f8"/>
    <p:sldId xmlns:r="http://schemas.openxmlformats.org/officeDocument/2006/relationships" id="297" r:id="R9bc4a140da564c6e"/>
    <p:sldId xmlns:r="http://schemas.openxmlformats.org/officeDocument/2006/relationships" id="298" r:id="R1480fbdced094be2"/>
    <p:sldId xmlns:r="http://schemas.openxmlformats.org/officeDocument/2006/relationships" id="299" r:id="R459ba24bfa3c44db"/>
    <p:sldId xmlns:r="http://schemas.openxmlformats.org/officeDocument/2006/relationships" id="300" r:id="R153776f1e18b4541"/>
    <p:sldId xmlns:r="http://schemas.openxmlformats.org/officeDocument/2006/relationships" id="301" r:id="Rf1d4b67f0bc2450b"/>
    <p:sldId xmlns:r="http://schemas.openxmlformats.org/officeDocument/2006/relationships" id="302" r:id="R0b9c67504ea748a2"/>
    <p:sldId xmlns:r="http://schemas.openxmlformats.org/officeDocument/2006/relationships" id="303" r:id="R8b8e9f85edc142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a26a0bfc4f4e33" /><Relationship Type="http://schemas.openxmlformats.org/officeDocument/2006/relationships/slideMaster" Target="/ppt/slideMasters/slideMaster1.xml" Id="Rb6d1ae7f19e148d5" /><Relationship Type="http://schemas.openxmlformats.org/officeDocument/2006/relationships/notesMaster" Target="/ppt/notesMasters/notesMaster1.xml" Id="Re2413ab757464eae" /><Relationship Type="http://schemas.openxmlformats.org/officeDocument/2006/relationships/presProps" Target="/ppt/presProps.xml" Id="R7d634f0df4294e5e" /><Relationship Type="http://schemas.openxmlformats.org/officeDocument/2006/relationships/tableStyles" Target="/ppt/tableStyles.xml" Id="Ra47184c6fd094aeb" /><Relationship Type="http://schemas.openxmlformats.org/officeDocument/2006/relationships/slide" Target="/ppt/slides/slide1.xml" Id="Rafcc0c7c8ca4457b" /><Relationship Type="http://schemas.openxmlformats.org/officeDocument/2006/relationships/slide" Target="/ppt/slides/slide2.xml" Id="Rb5675fc08e594f0d" /><Relationship Type="http://schemas.openxmlformats.org/officeDocument/2006/relationships/slide" Target="/ppt/slides/slide3.xml" Id="Rfcd8c7784bdf4167" /><Relationship Type="http://schemas.openxmlformats.org/officeDocument/2006/relationships/slide" Target="/ppt/slides/slide4.xml" Id="Rcbf38f1d82ee4c47" /><Relationship Type="http://schemas.openxmlformats.org/officeDocument/2006/relationships/slide" Target="/ppt/slides/slide5.xml" Id="R27f85b90244842e3" /><Relationship Type="http://schemas.openxmlformats.org/officeDocument/2006/relationships/slide" Target="/ppt/slides/slide6.xml" Id="R96bc86ddef004af0" /><Relationship Type="http://schemas.openxmlformats.org/officeDocument/2006/relationships/slide" Target="/ppt/slides/slide7.xml" Id="Rb3a68a03e70d4279" /><Relationship Type="http://schemas.openxmlformats.org/officeDocument/2006/relationships/slide" Target="/ppt/slides/slide8.xml" Id="R8e54bb136e484e10" /><Relationship Type="http://schemas.openxmlformats.org/officeDocument/2006/relationships/slide" Target="/ppt/slides/slide9.xml" Id="R3af0528300cd4811" /><Relationship Type="http://schemas.openxmlformats.org/officeDocument/2006/relationships/slide" Target="/ppt/slides/slide10.xml" Id="R20ac6afe26384c5d" /><Relationship Type="http://schemas.openxmlformats.org/officeDocument/2006/relationships/slide" Target="/ppt/slides/slide11.xml" Id="Rf3109e1d2c5747fe" /><Relationship Type="http://schemas.openxmlformats.org/officeDocument/2006/relationships/slide" Target="/ppt/slides/slide12.xml" Id="R3a50018bbfc7490d" /><Relationship Type="http://schemas.openxmlformats.org/officeDocument/2006/relationships/slide" Target="/ppt/slides/slide13.xml" Id="Rf44601e005d24088" /><Relationship Type="http://schemas.openxmlformats.org/officeDocument/2006/relationships/slide" Target="/ppt/slides/slide14.xml" Id="R489bdba52a554a47" /><Relationship Type="http://schemas.openxmlformats.org/officeDocument/2006/relationships/slide" Target="/ppt/slides/slide15.xml" Id="R10b7481675284be1" /><Relationship Type="http://schemas.openxmlformats.org/officeDocument/2006/relationships/slide" Target="/ppt/slides/slide16.xml" Id="Rdee7855d7c0d43ec" /><Relationship Type="http://schemas.openxmlformats.org/officeDocument/2006/relationships/slide" Target="/ppt/slides/slide17.xml" Id="R07c045e7412e452a" /><Relationship Type="http://schemas.openxmlformats.org/officeDocument/2006/relationships/slide" Target="/ppt/slides/slide18.xml" Id="Ra254e9da25144fe0" /><Relationship Type="http://schemas.openxmlformats.org/officeDocument/2006/relationships/slide" Target="/ppt/slides/slide19.xml" Id="Rf3c53c3536b744e4" /><Relationship Type="http://schemas.openxmlformats.org/officeDocument/2006/relationships/slide" Target="/ppt/slides/slide20.xml" Id="Rf62c500eae3d4f1e" /><Relationship Type="http://schemas.openxmlformats.org/officeDocument/2006/relationships/slide" Target="/ppt/slides/slide21.xml" Id="R4ea5dfec7aee4780" /><Relationship Type="http://schemas.openxmlformats.org/officeDocument/2006/relationships/slide" Target="/ppt/slides/slide22.xml" Id="R2db9765c1aee485d" /><Relationship Type="http://schemas.openxmlformats.org/officeDocument/2006/relationships/slide" Target="/ppt/slides/slide23.xml" Id="R0bf7bcc5f21e4d2f" /><Relationship Type="http://schemas.openxmlformats.org/officeDocument/2006/relationships/slide" Target="/ppt/slides/slide24.xml" Id="R7cc68a8524614aba" /><Relationship Type="http://schemas.openxmlformats.org/officeDocument/2006/relationships/slide" Target="/ppt/slides/slide25.xml" Id="R85e0dd986f5947e6" /><Relationship Type="http://schemas.openxmlformats.org/officeDocument/2006/relationships/slide" Target="/ppt/slides/slide26.xml" Id="Rbb0bf530c7e9475d" /><Relationship Type="http://schemas.openxmlformats.org/officeDocument/2006/relationships/slide" Target="/ppt/slides/slide27.xml" Id="R83acab1f9dd842c6" /><Relationship Type="http://schemas.openxmlformats.org/officeDocument/2006/relationships/slide" Target="/ppt/slides/slide28.xml" Id="Rbf7448b2b73b4f08" /><Relationship Type="http://schemas.openxmlformats.org/officeDocument/2006/relationships/slide" Target="/ppt/slides/slide29.xml" Id="R2a573b5c96ed4b70" /><Relationship Type="http://schemas.openxmlformats.org/officeDocument/2006/relationships/slide" Target="/ppt/slides/slide30.xml" Id="R772ada4785a44a04" /><Relationship Type="http://schemas.openxmlformats.org/officeDocument/2006/relationships/slide" Target="/ppt/slides/slide31.xml" Id="Rd123d30aba6e4082" /><Relationship Type="http://schemas.openxmlformats.org/officeDocument/2006/relationships/slide" Target="/ppt/slides/slide32.xml" Id="R069b4600a1e3452c" /><Relationship Type="http://schemas.openxmlformats.org/officeDocument/2006/relationships/slide" Target="/ppt/slides/slide33.xml" Id="R1ef0eabf7d634a14" /><Relationship Type="http://schemas.openxmlformats.org/officeDocument/2006/relationships/slide" Target="/ppt/slides/slide34.xml" Id="Rffca147705404c5c" /><Relationship Type="http://schemas.openxmlformats.org/officeDocument/2006/relationships/slide" Target="/ppt/slides/slide35.xml" Id="R52da406dbb59468d" /><Relationship Type="http://schemas.openxmlformats.org/officeDocument/2006/relationships/slide" Target="/ppt/slides/slide36.xml" Id="R70ae0b208544445a" /><Relationship Type="http://schemas.openxmlformats.org/officeDocument/2006/relationships/slide" Target="/ppt/slides/slide37.xml" Id="Re28eadc8c924462f" /><Relationship Type="http://schemas.openxmlformats.org/officeDocument/2006/relationships/slide" Target="/ppt/slides/slide38.xml" Id="R40a12cba4d03454b" /><Relationship Type="http://schemas.openxmlformats.org/officeDocument/2006/relationships/slide" Target="/ppt/slides/slide39.xml" Id="R36bb84d5dd8b4513" /><Relationship Type="http://schemas.openxmlformats.org/officeDocument/2006/relationships/slide" Target="/ppt/slides/slide40.xml" Id="R16ea5202c68843dc" /><Relationship Type="http://schemas.openxmlformats.org/officeDocument/2006/relationships/slide" Target="/ppt/slides/slide41.xml" Id="R33c2600a4aef47f8" /><Relationship Type="http://schemas.openxmlformats.org/officeDocument/2006/relationships/slide" Target="/ppt/slides/slide42.xml" Id="R9bc4a140da564c6e" /><Relationship Type="http://schemas.openxmlformats.org/officeDocument/2006/relationships/slide" Target="/ppt/slides/slide43.xml" Id="R1480fbdced094be2" /><Relationship Type="http://schemas.openxmlformats.org/officeDocument/2006/relationships/slide" Target="/ppt/slides/slide44.xml" Id="R459ba24bfa3c44db" /><Relationship Type="http://schemas.openxmlformats.org/officeDocument/2006/relationships/slide" Target="/ppt/slides/slide45.xml" Id="R153776f1e18b4541" /><Relationship Type="http://schemas.openxmlformats.org/officeDocument/2006/relationships/slide" Target="/ppt/slides/slide46.xml" Id="Rf1d4b67f0bc2450b" /><Relationship Type="http://schemas.openxmlformats.org/officeDocument/2006/relationships/slide" Target="/ppt/slides/slide47.xml" Id="R0b9c67504ea748a2" /><Relationship Type="http://schemas.openxmlformats.org/officeDocument/2006/relationships/slide" Target="/ppt/slides/slide48.xml" Id="R8b8e9f85edc142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569cb7a8ac44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b35251be1a4333" /><Relationship Type="http://schemas.openxmlformats.org/officeDocument/2006/relationships/notesMaster" Target="/ppt/notesMasters/notesMaster1.xml" Id="R80bc10cac37b48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51555402e74cd3" /><Relationship Type="http://schemas.openxmlformats.org/officeDocument/2006/relationships/notesMaster" Target="/ppt/notesMasters/notesMaster1.xml" Id="R4a19e682093a47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deda75b4364fe0" /><Relationship Type="http://schemas.openxmlformats.org/officeDocument/2006/relationships/notesMaster" Target="/ppt/notesMasters/notesMaster1.xml" Id="R57f49dc3501840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f83d57a98c42e3" /><Relationship Type="http://schemas.openxmlformats.org/officeDocument/2006/relationships/notesMaster" Target="/ppt/notesMasters/notesMaster1.xml" Id="Rece66a07be3b43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5e92c96e654ff9" /><Relationship Type="http://schemas.openxmlformats.org/officeDocument/2006/relationships/notesMaster" Target="/ppt/notesMasters/notesMaster1.xml" Id="Rc689454c35084f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13e2032fc646ed" /><Relationship Type="http://schemas.openxmlformats.org/officeDocument/2006/relationships/notesMaster" Target="/ppt/notesMasters/notesMaster1.xml" Id="Ra1162e969ba74a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fe2d3efc774209" /><Relationship Type="http://schemas.openxmlformats.org/officeDocument/2006/relationships/notesMaster" Target="/ppt/notesMasters/notesMaster1.xml" Id="R53687145b0d54e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bf8142e71c469d" /><Relationship Type="http://schemas.openxmlformats.org/officeDocument/2006/relationships/notesMaster" Target="/ppt/notesMasters/notesMaster1.xml" Id="R4766eaf1f4d94c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97707ee1014555" /><Relationship Type="http://schemas.openxmlformats.org/officeDocument/2006/relationships/notesMaster" Target="/ppt/notesMasters/notesMaster1.xml" Id="R762e910097354d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7baba574f24da4" /><Relationship Type="http://schemas.openxmlformats.org/officeDocument/2006/relationships/notesMaster" Target="/ppt/notesMasters/notesMaster1.xml" Id="R6c18efac2e6e4b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5d180072d84cde" /><Relationship Type="http://schemas.openxmlformats.org/officeDocument/2006/relationships/notesMaster" Target="/ppt/notesMasters/notesMaster1.xml" Id="R4425695e1a1f4e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2268633ee14d58" /><Relationship Type="http://schemas.openxmlformats.org/officeDocument/2006/relationships/notesMaster" Target="/ppt/notesMasters/notesMaster1.xml" Id="R523c0c5096984b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f0f728c0614897" /><Relationship Type="http://schemas.openxmlformats.org/officeDocument/2006/relationships/notesMaster" Target="/ppt/notesMasters/notesMaster1.xml" Id="Re52c54e193ca43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3a474716d84c1f" /><Relationship Type="http://schemas.openxmlformats.org/officeDocument/2006/relationships/notesMaster" Target="/ppt/notesMasters/notesMaster1.xml" Id="R804d9f2c62944a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ced1d6d92ab45ac" /><Relationship Type="http://schemas.openxmlformats.org/officeDocument/2006/relationships/notesMaster" Target="/ppt/notesMasters/notesMaster1.xml" Id="R7f7ee0bd65fc4a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5f01d4a83724d8c" /><Relationship Type="http://schemas.openxmlformats.org/officeDocument/2006/relationships/notesMaster" Target="/ppt/notesMasters/notesMaster1.xml" Id="R888ae052ed9046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2a783a390514bb7" /><Relationship Type="http://schemas.openxmlformats.org/officeDocument/2006/relationships/notesMaster" Target="/ppt/notesMasters/notesMaster1.xml" Id="Rf0772e54572b471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49169e05ec452c" /><Relationship Type="http://schemas.openxmlformats.org/officeDocument/2006/relationships/notesMaster" Target="/ppt/notesMasters/notesMaster1.xml" Id="R67ed77d1131245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f8ab6faddf42cc" /><Relationship Type="http://schemas.openxmlformats.org/officeDocument/2006/relationships/notesMaster" Target="/ppt/notesMasters/notesMaster1.xml" Id="Rf5466422f57346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b75de1656304d93" /><Relationship Type="http://schemas.openxmlformats.org/officeDocument/2006/relationships/notesMaster" Target="/ppt/notesMasters/notesMaster1.xml" Id="Rf0d4ed0f97d7497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5a1bc4844c649c8" /><Relationship Type="http://schemas.openxmlformats.org/officeDocument/2006/relationships/notesMaster" Target="/ppt/notesMasters/notesMaster1.xml" Id="Rb26b7c6b5ead41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a68b5e40b584543" /><Relationship Type="http://schemas.openxmlformats.org/officeDocument/2006/relationships/notesMaster" Target="/ppt/notesMasters/notesMaster1.xml" Id="R38eb7e8ff4f642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b64c1cd594846f0" /><Relationship Type="http://schemas.openxmlformats.org/officeDocument/2006/relationships/notesMaster" Target="/ppt/notesMasters/notesMaster1.xml" Id="R511f62886f084a3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071490eb4404389" /><Relationship Type="http://schemas.openxmlformats.org/officeDocument/2006/relationships/notesMaster" Target="/ppt/notesMasters/notesMaster1.xml" Id="R03124c79c56c438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98f0a5519f84686" /><Relationship Type="http://schemas.openxmlformats.org/officeDocument/2006/relationships/notesMaster" Target="/ppt/notesMasters/notesMaster1.xml" Id="R5f2141837ab54d5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02450abcb6649d3" /><Relationship Type="http://schemas.openxmlformats.org/officeDocument/2006/relationships/notesMaster" Target="/ppt/notesMasters/notesMaster1.xml" Id="R9c0e1ecf6dfa4b8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585287908b04354" /><Relationship Type="http://schemas.openxmlformats.org/officeDocument/2006/relationships/notesMaster" Target="/ppt/notesMasters/notesMaster1.xml" Id="R6316275aa6f1466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f33ef48ad8344ac" /><Relationship Type="http://schemas.openxmlformats.org/officeDocument/2006/relationships/notesMaster" Target="/ppt/notesMasters/notesMaster1.xml" Id="R655e0c04849a4f4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be778dff9de4087" /><Relationship Type="http://schemas.openxmlformats.org/officeDocument/2006/relationships/notesMaster" Target="/ppt/notesMasters/notesMaster1.xml" Id="Rcd696f92d7ce4a2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497e8030c594f28" /><Relationship Type="http://schemas.openxmlformats.org/officeDocument/2006/relationships/notesMaster" Target="/ppt/notesMasters/notesMaster1.xml" Id="R501cec07b06545b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81dfcd5441d47c1" /><Relationship Type="http://schemas.openxmlformats.org/officeDocument/2006/relationships/notesMaster" Target="/ppt/notesMasters/notesMaster1.xml" Id="R1b9fd5e40b7f4e9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44cebe260244450" /><Relationship Type="http://schemas.openxmlformats.org/officeDocument/2006/relationships/notesMaster" Target="/ppt/notesMasters/notesMaster1.xml" Id="R55cc61bf837845d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7fca4b5bf6e42e8" /><Relationship Type="http://schemas.openxmlformats.org/officeDocument/2006/relationships/notesMaster" Target="/ppt/notesMasters/notesMaster1.xml" Id="Rf8ce716e27f6450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f626fed710f4bd0" /><Relationship Type="http://schemas.openxmlformats.org/officeDocument/2006/relationships/notesMaster" Target="/ppt/notesMasters/notesMaster1.xml" Id="R67dd1f844a98401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6931c4343304bdb" /><Relationship Type="http://schemas.openxmlformats.org/officeDocument/2006/relationships/notesMaster" Target="/ppt/notesMasters/notesMaster1.xml" Id="R556bf5dead9d405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abbe8c9c3df4929" /><Relationship Type="http://schemas.openxmlformats.org/officeDocument/2006/relationships/notesMaster" Target="/ppt/notesMasters/notesMaster1.xml" Id="Rc28a721520fc421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1b3c68b1a9c474e" /><Relationship Type="http://schemas.openxmlformats.org/officeDocument/2006/relationships/notesMaster" Target="/ppt/notesMasters/notesMaster1.xml" Id="R02bba4bb87044bd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6515f5b4a71447b" /><Relationship Type="http://schemas.openxmlformats.org/officeDocument/2006/relationships/notesMaster" Target="/ppt/notesMasters/notesMaster1.xml" Id="R344406c411a44bc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6cae9b7a3ff4812" /><Relationship Type="http://schemas.openxmlformats.org/officeDocument/2006/relationships/notesMaster" Target="/ppt/notesMasters/notesMaster1.xml" Id="R50c70648f3a34e7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337abbe01394d7e" /><Relationship Type="http://schemas.openxmlformats.org/officeDocument/2006/relationships/notesMaster" Target="/ppt/notesMasters/notesMaster1.xml" Id="Rcc2c105bdff14e3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d7f1fa29d31479b" /><Relationship Type="http://schemas.openxmlformats.org/officeDocument/2006/relationships/notesMaster" Target="/ppt/notesMasters/notesMaster1.xml" Id="R26b484d438594cc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e46519fd8464c69" /><Relationship Type="http://schemas.openxmlformats.org/officeDocument/2006/relationships/notesMaster" Target="/ppt/notesMasters/notesMaster1.xml" Id="R62c0bf64f2f14fb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c24bbeff2bf4aee" /><Relationship Type="http://schemas.openxmlformats.org/officeDocument/2006/relationships/notesMaster" Target="/ppt/notesMasters/notesMaster1.xml" Id="Ra81d912469dd45f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3235b9172fe47d8" /><Relationship Type="http://schemas.openxmlformats.org/officeDocument/2006/relationships/notesMaster" Target="/ppt/notesMasters/notesMaster1.xml" Id="Raaa0642b4b21471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c7f00586e1548bf" /><Relationship Type="http://schemas.openxmlformats.org/officeDocument/2006/relationships/notesMaster" Target="/ppt/notesMasters/notesMaster1.xml" Id="R3422da62daf54d6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fa90b27b5084230" /><Relationship Type="http://schemas.openxmlformats.org/officeDocument/2006/relationships/notesMaster" Target="/ppt/notesMasters/notesMaster1.xml" Id="Ra25146fea2c14e8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35e53690dff45b2" /><Relationship Type="http://schemas.openxmlformats.org/officeDocument/2006/relationships/notesMaster" Target="/ppt/notesMasters/notesMaster1.xml" Id="Rc7491cad6e7c41e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b8c992ffed54088" /><Relationship Type="http://schemas.openxmlformats.org/officeDocument/2006/relationships/notesMaster" Target="/ppt/notesMasters/notesMaster1.xml" Id="Rd91b3d503a5740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3 min.</a:t>
            </a:r>
          </a:p>
          <a:p xmlns:a="http://schemas.openxmlformats.org/drawingml/2006/main">
            <a:r>
              <a:t/>
            </a:r>
          </a:p>
          <a:p xmlns:a="http://schemas.openxmlformats.org/drawingml/2006/main">
            <a:r>
              <a:t>Muestra una pieza cambiada después del taller y pide identificar qué documentos y comprobaciones pueden haberse afectado.</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Antes de la jornada, cada equipo reúne el cohete, la revisión final del archivo, el plano y el registro de montaje. Una modificación posterior al taller debe aparecer en los documentos. Si se cambió una nariz o una aleta, el expediente anterior deja de describir por completo el objeto actual.</a:t>
            </a:r>
          </a:p>
          <a:p xmlns:a="http://schemas.openxmlformats.org/drawingml/2006/main">
            <a:r>
              <a:t/>
            </a:r>
          </a:p>
          <a:p xmlns:a="http://schemas.openxmlformats.org/drawingml/2006/main">
            <a:r>
              <a:t>La preparación no consiste en llenar casillas sin mirar las piezas. Cada condición debe poder mostrarse. El docente revisa el sistema comercial, la recuperación, la configuración y los pendientes. El responsable de operaciones determina la aceptación y las condiciones de la actividad.</a:t>
            </a:r>
          </a:p>
          <a:p xmlns:a="http://schemas.openxmlformats.org/drawingml/2006/main">
            <a:r>
              <a:t/>
            </a:r>
          </a:p>
          <a:p xmlns:a="http://schemas.openxmlformats.org/drawingml/2006/main">
            <a:r>
              <a:t>El terreno identificado por el organizador forma parte de la planificación. La clase no da por transferibles las reglas de un país ni considera un resultado del simulador como autorización de operación.</a:t>
            </a:r>
          </a:p>
          <a:p xmlns:a="http://schemas.openxmlformats.org/drawingml/2006/main">
            <a:r>
              <a:t/>
            </a:r>
          </a:p>
          <a:p xmlns:a="http://schemas.openxmlformats.org/drawingml/2006/main">
            <a:r>
              <a:t>Preparar una jornada consiste en conectar el estado del objeto con un expediente vigente y con el trabajo de las personas. El equipo debe poder mostrar cuál es su revisión, qué comprobaciones realizó y qué queda pendiente. Una ficha marcada antes de cambiar una pieza puede haber perdido parte de su valor. La revisión previa identifica esas relaciones y permite al responsable decidir con información sobre el conjunto que realmente se presenta.</a:t>
            </a:r>
          </a:p>
          <a:p xmlns:a="http://schemas.openxmlformats.org/drawingml/2006/main">
            <a:r>
              <a:t>Pregunta para el grupo: ¿El expediente todavía describe el objeto actual?</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Referencia / Qué contiene</a:t>
            </a:r>
          </a:p>
          <a:p xmlns:a="http://schemas.openxmlformats.org/drawingml/2006/main">
            <a:r>
              <a:t>Objeto / Piezas y estado final</a:t>
            </a:r>
          </a:p>
          <a:p xmlns:a="http://schemas.openxmlformats.org/drawingml/2006/main">
            <a:r>
              <a:t>Archivo / Geometría, masas y configuración</a:t>
            </a:r>
          </a:p>
          <a:p xmlns:a="http://schemas.openxmlformats.org/drawingml/2006/main">
            <a:r>
              <a:t>Registro / Comprobaciones y cambios</a:t>
            </a:r>
          </a:p>
          <a:p xmlns:a="http://schemas.openxmlformats.org/drawingml/2006/main">
            <a:r>
              <a:t>Comparar dos filas y justificar con la misión.</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5 min.</a:t>
            </a:r>
          </a:p>
          <a:p xmlns:a="http://schemas.openxmlformats.org/drawingml/2006/main">
            <a:r>
              <a:t/>
            </a:r>
          </a:p>
          <a:p xmlns:a="http://schemas.openxmlformats.org/drawingml/2006/main">
            <a:r>
              <a:t>¿El expediente todavía describe el objeto actual?</a:t>
            </a:r>
          </a:p>
          <a:p xmlns:a="http://schemas.openxmlformats.org/drawingml/2006/main">
            <a:r>
              <a:t>Relacionar la explicación con una decisión del proyecto.</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El estado “pendiente” debe conservarse cuando falta información. Marcar todo como terminado para que el expediente se vea bien impide organizar la jornada. Si una condición importante no se puede cerrar, el equipo participa en la observación y el análisis de los otros proyectos mientras resuelve su caso.</a:t>
            </a:r>
          </a:p>
          <a:p xmlns:a="http://schemas.openxmlformats.org/drawingml/2006/main">
            <a:r>
              <a:t/>
            </a:r>
          </a:p>
          <a:p xmlns:a="http://schemas.openxmlformats.org/drawingml/2006/main">
            <a:r>
              <a:t>El equipo sustituyó una pieza después de la última simulación, pero afirma que se parece mucho.</a:t>
            </a:r>
          </a:p>
          <a:p xmlns:a="http://schemas.openxmlformats.org/drawingml/2006/main">
            <a:r>
              <a:t/>
            </a:r>
          </a:p>
          <a:p xmlns:a="http://schemas.openxmlformats.org/drawingml/2006/main">
            <a:r>
              <a:t>No es necesario convertir la revisión en una matriz estadística avanzada. Basta identificar el objeto, la pregunta, la evidencia y quién revisa el resultado.</a:t>
            </a:r>
          </a:p>
          <a:p xmlns:a="http://schemas.openxmlformats.org/drawingml/2006/main">
            <a:r>
              <a:t/>
            </a:r>
          </a:p>
          <a:p xmlns:a="http://schemas.openxmlformats.org/drawingml/2006/main">
            <a:r>
              <a:t>Una condición cerrada con una revisión anterior puede volver a abrirse después de un cambio. No se trata de repetir todo por rutina, sino de identificar qué función se afectó. Cambiar una pieza de cierre puede afectar acceso y recuperación; cambiar una aleta puede afectar geometría y masa. El equipo explica esa relación y el docente decide las comprobaciones que corresponden a la nueva configuración.</a:t>
            </a:r>
          </a:p>
          <a:p xmlns:a="http://schemas.openxmlformats.org/drawingml/2006/main">
            <a:r>
              <a:t/>
            </a:r>
          </a:p>
          <a:p xmlns:a="http://schemas.openxmlformats.org/drawingml/2006/main">
            <a:r>
              <a:t>Una lista de revisión es útil cuando cada punto pide una evidencia o una comprobación observable. “Todo correcto” no describe qué se examinó. Es preferible identificar componente, condición y responsable de la revisión. El registro permite que otro compañero entienda la situación y evita depender de la memoria de una sola persona. La explicación se hace con el cohete y el archivo delante para relacionar las palabras con referencias físicas.</a:t>
            </a:r>
          </a:p>
          <a:p xmlns:a="http://schemas.openxmlformats.org/drawingml/2006/main">
            <a:r>
              <a:t>Pregunta para el grupo: ¿Qué evidencia permite cerrar cada punto?</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Punto / Evidencia concreta</a:t>
            </a:r>
          </a:p>
          <a:p xmlns:a="http://schemas.openxmlformats.org/drawingml/2006/main">
            <a:r>
              <a:t>Identificación / Nombre de equipo y revisión</a:t>
            </a:r>
          </a:p>
          <a:p xmlns:a="http://schemas.openxmlformats.org/drawingml/2006/main">
            <a:r>
              <a:t>Piezas y alineación / Vistas y observación actual</a:t>
            </a:r>
          </a:p>
          <a:p xmlns:a="http://schemas.openxmlformats.org/drawingml/2006/main">
            <a:r>
              <a:t>Masas y dimensiones / Registro de la condición medida</a:t>
            </a:r>
          </a:p>
          <a:p xmlns:a="http://schemas.openxmlformats.org/drawingml/2006/main">
            <a:r>
              <a:t>Recuperación / Comprobación de banco correspondiente</a:t>
            </a:r>
          </a:p>
          <a:p xmlns:a="http://schemas.openxmlformats.org/drawingml/2006/main">
            <a:r>
              <a:t>Conjunto comercial / Referencia e instrucciones</a:t>
            </a:r>
          </a:p>
          <a:p xmlns:a="http://schemas.openxmlformats.org/drawingml/2006/main">
            <a:r>
              <a:t>Pendientes / Corrección y revisión posterior</a:t>
            </a:r>
          </a:p>
          <a:p xmlns:a="http://schemas.openxmlformats.org/drawingml/2006/main">
            <a:r>
              <a:t>Comparar dos filas y justificar con la misión.</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El equipo sustituyó una pieza después de la última simulación, pero afirma que se parece mucho.</a:t>
            </a:r>
          </a:p>
          <a:p xmlns:a="http://schemas.openxmlformats.org/drawingml/2006/main">
            <a:r>
              <a:t>Explicación</a:t>
            </a:r>
          </a:p>
          <a:p xmlns:a="http://schemas.openxmlformats.org/drawingml/2006/main">
            <a:r>
              <a:t>Compara referencia, masa, geometría y función. Actualiza lo que corresponda y repite las comprobaciones afectadas. La similitud visual no demuestra equivalencia.</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En una jornada hay actividades de operación, observación y recuperación. No todos los participantes manipulan el conjunto al mismo tiempo. El equipo docente establece las funciones y los límites de intervención. Cada grupo de alumnos puede asignar responsable de expediente, observación, registro audiovisual y análisis de datos.</a:t>
            </a:r>
          </a:p>
          <a:p xmlns:a="http://schemas.openxmlformats.org/drawingml/2006/main">
            <a:r>
              <a:t/>
            </a:r>
          </a:p>
          <a:p xmlns:a="http://schemas.openxmlformats.org/drawingml/2006/main">
            <a:r>
              <a:t>Las funciones de responsable de campo, operación del sistema de lanzamiento y aceptación del vehículo corresponden a quienes haya designado la organización. La operación utiliza equipos comerciales y procedimientos revisados. Esta clase prepara al alumno para colaborar y observar de forma ordenada.</a:t>
            </a:r>
          </a:p>
          <a:p xmlns:a="http://schemas.openxmlformats.org/drawingml/2006/main">
            <a:r>
              <a:t/>
            </a:r>
          </a:p>
          <a:p xmlns:a="http://schemas.openxmlformats.org/drawingml/2006/main">
            <a:r>
              <a:t>Nadie anotó qué revisión del cohete se utilizó ni qué archivo estaba asociado.</a:t>
            </a:r>
          </a:p>
          <a:p xmlns:a="http://schemas.openxmlformats.org/drawingml/2006/main">
            <a:r>
              <a:t>Pregunta para el grupo: ¿Quién registra la configuración?</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Rol / Responsabilidad</a:t>
            </a:r>
          </a:p>
          <a:p xmlns:a="http://schemas.openxmlformats.org/drawingml/2006/main">
            <a:r>
              <a:t>Expediente / Conservar la configuración y registrar cambios</a:t>
            </a:r>
          </a:p>
          <a:p xmlns:a="http://schemas.openxmlformats.org/drawingml/2006/main">
            <a:r>
              <a:t>Observación / Anotar eventos reconocibles</a:t>
            </a:r>
          </a:p>
          <a:p xmlns:a="http://schemas.openxmlformats.org/drawingml/2006/main">
            <a:r>
              <a:t>Imagen / Registrar con referencias útiles</a:t>
            </a:r>
          </a:p>
          <a:p xmlns:a="http://schemas.openxmlformats.org/drawingml/2006/main">
            <a:r>
              <a:t>Datos / Relacionar archivos y preguntas</a:t>
            </a:r>
          </a:p>
          <a:p xmlns:a="http://schemas.openxmlformats.org/drawingml/2006/main">
            <a:r>
              <a:t>Portavoz / Explicar el estado del proyecto</a:t>
            </a:r>
          </a:p>
          <a:p xmlns:a="http://schemas.openxmlformats.org/drawingml/2006/main">
            <a:r>
              <a:t>Comparar dos filas y justificar con la misión.</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Nadie anotó qué revisión del cohete se utilizó ni qué archivo estaba asociado.</a:t>
            </a:r>
          </a:p>
          <a:p xmlns:a="http://schemas.openxmlformats.org/drawingml/2006/main">
            <a:r>
              <a:t>Explicación</a:t>
            </a:r>
          </a:p>
          <a:p xmlns:a="http://schemas.openxmlformats.org/drawingml/2006/main">
            <a:r>
              <a:t>La grabación pierde contexto. Antes de la actividad se asigna quién conserva configuración y referencias, de modo que imagen y datos se puedan relacionar después.</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Una observación visual puede describir una fase sin medir una altura. No se convierte una impresión del espectador en un número exacto de metros. El demostrador docente con CanSat tiene otra fuente de datos y otro expediente.</a:t>
            </a:r>
          </a:p>
          <a:p xmlns:a="http://schemas.openxmlformats.org/drawingml/2006/main">
            <a:r>
              <a:t/>
            </a:r>
          </a:p>
          <a:p xmlns:a="http://schemas.openxmlformats.org/drawingml/2006/main">
            <a:r>
              <a:t>El plan de observación se prepara antes del evento porque después no se puede recuperar lo que nadie registró. Cada dato necesita una fuente posible. Una grabación puede permitir identificar la secuencia general, pero no convierte automáticamente la imagen en una medida de altura. Un sensor requiere su propia referencia y unidades. La tarea del alumno es reconocer qué podrá observar de forma defendible y dejar abiertas las variables que no cuenten con un método.</a:t>
            </a:r>
          </a:p>
          <a:p xmlns:a="http://schemas.openxmlformats.org/drawingml/2006/main">
            <a:r>
              <a:t>Pregunta para el grupo: ¿Qué eventos se podrán observar realmente?</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NASA Glenn: secuencia de eventos para preparar una hoja de observación. No se usa la figura para estimar alturas del proyecto.</a:t>
            </a:r>
          </a:p>
          <a:p xmlns:a="http://schemas.openxmlformats.org/drawingml/2006/main">
            <a:r>
              <a:t>Localizar en la imagen las partes relacionadas con la pregunta.</a:t>
            </a:r>
          </a:p>
          <a:p xmlns:a="http://schemas.openxmlformats.org/drawingml/2006/main">
            <a:r>
              <a:t>¿Qué eventos se podrán observar realmente?</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5 min.</a:t>
            </a:r>
          </a:p>
          <a:p xmlns:a="http://schemas.openxmlformats.org/drawingml/2006/main">
            <a:r>
              <a:t/>
            </a:r>
          </a:p>
          <a:p xmlns:a="http://schemas.openxmlformats.org/drawingml/2006/main">
            <a:r>
              <a:t>Escribe la identificación del modelo y su configuración de referencia.</a:t>
            </a:r>
          </a:p>
          <a:p xmlns:a="http://schemas.openxmlformats.org/drawingml/2006/main">
            <a:r>
              <a:t>Define qué eventos reconocerá el observador: salida, subida, recuperación visible y contacto con el suelo cuando sea observable.</a:t>
            </a:r>
          </a:p>
          <a:p xmlns:a="http://schemas.openxmlformats.org/drawingml/2006/main">
            <a:r>
              <a:t>Declara el origen de tiempo de la grabación o del registro.</a:t>
            </a:r>
          </a:p>
          <a:p xmlns:a="http://schemas.openxmlformats.org/drawingml/2006/main">
            <a:r>
              <a:t>Anota qué magnitudes se podrán medir y cuáles solo describir cualitativamente.</a:t>
            </a:r>
          </a:p>
          <a:p xmlns:a="http://schemas.openxmlformats.org/drawingml/2006/main">
            <a:r>
              <a:t>Prepara espacio para un evento no observado o una interrupción del registro.</a:t>
            </a:r>
          </a:p>
          <a:p xmlns:a="http://schemas.openxmlformats.org/drawingml/2006/main">
            <a:r>
              <a:t>Comprobar un paso en el objeto o programa antes de continuar.</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Las condiciones de la jornada no permiten realizar todas las operaciones previstas o un modelo conserva un pendiente.</a:t>
            </a:r>
          </a:p>
          <a:p xmlns:a="http://schemas.openxmlformats.org/drawingml/2006/main">
            <a:r>
              <a:t/>
            </a:r>
          </a:p>
          <a:p xmlns:a="http://schemas.openxmlformats.org/drawingml/2006/main">
            <a:r>
              <a:t>La agenda reserva tiempo para revisión, desplazamientos organizados, pausas y análisis. El día completo no es una secuencia ininterrumpida de lanzamientos. Si el curso quiere enseñar a construir de forma responsable, también debe enseñar a conservar una decisión de aplazamiento y su motivo.</a:t>
            </a:r>
          </a:p>
          <a:p xmlns:a="http://schemas.openxmlformats.org/drawingml/2006/main">
            <a:r>
              <a:t/>
            </a:r>
          </a:p>
          <a:p xmlns:a="http://schemas.openxmlformats.org/drawingml/2006/main">
            <a:r>
              <a:t>El plan alternativo evita que un equipo pierda la jornada si su prototipo no puede operar. Puede encargarse de documentar una revisión, contrastar la configuración de un caso observado o analizar registros del demostrador. Ese trabajo debe conservar una pregunta y una evidencia. Participar como observador no se presenta como haber ejecutado la operación del vehículo propio.</a:t>
            </a:r>
          </a:p>
          <a:p xmlns:a="http://schemas.openxmlformats.org/drawingml/2006/main">
            <a:r>
              <a:t>Pregunta para el grupo: ¿Qué se hace si una condición no queda cerrada?</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Situación / Decisión de organización / Aprendizaje posible</a:t>
            </a:r>
          </a:p>
          <a:p xmlns:a="http://schemas.openxmlformats.org/drawingml/2006/main">
            <a:r>
              <a:t>Condición de campo no aceptada / Adaptar o aplazar operaciones / Revisar predicciones y registros de banco</a:t>
            </a:r>
          </a:p>
          <a:p xmlns:a="http://schemas.openxmlformats.org/drawingml/2006/main">
            <a:r>
              <a:t>Pendiente del vehículo / Conservar la revisión abierta / Observar y comparar otros proyectos</a:t>
            </a:r>
          </a:p>
          <a:p xmlns:a="http://schemas.openxmlformats.org/drawingml/2006/main">
            <a:r>
              <a:t>Falta de un registro / Identificar el dato ausente / Mejorar la pauta de observación</a:t>
            </a:r>
          </a:p>
          <a:p xmlns:a="http://schemas.openxmlformats.org/drawingml/2006/main">
            <a:r>
              <a:t>Comparar dos filas y justificar con la misión.</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5 min.</a:t>
            </a:r>
          </a:p>
          <a:p xmlns:a="http://schemas.openxmlformats.org/drawingml/2006/main">
            <a:r>
              <a:t/>
            </a:r>
          </a:p>
          <a:p xmlns:a="http://schemas.openxmlformats.org/drawingml/2006/main">
            <a:r>
              <a:t>Revisa que las piezas y archivos tengan copia y transporte identificado.</a:t>
            </a:r>
          </a:p>
          <a:p xmlns:a="http://schemas.openxmlformats.org/drawingml/2006/main">
            <a:r>
              <a:t>Prepara fichas, cámara y medios de registro necesarios para la función del equipo.</a:t>
            </a:r>
          </a:p>
          <a:p xmlns:a="http://schemas.openxmlformats.org/drawingml/2006/main">
            <a:r>
              <a:t>Confirma los horarios y la organización de campo con el docente.</a:t>
            </a:r>
          </a:p>
          <a:p xmlns:a="http://schemas.openxmlformats.org/drawingml/2006/main">
            <a:r>
              <a:t>Comprueba qué se hará si el proyecto no puede operar en la ventana prevista.</a:t>
            </a:r>
          </a:p>
          <a:p xmlns:a="http://schemas.openxmlformats.org/drawingml/2006/main">
            <a:r>
              <a:t>Conserva una lista de pendientes que todavía requiera cierre.</a:t>
            </a:r>
          </a:p>
          <a:p xmlns:a="http://schemas.openxmlformats.org/drawingml/2006/main">
            <a:r>
              <a:t>Comprobar un paso en el objeto o programa antes de continuar.</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Cada equipo prepara una explicación corta con el objeto delante: qué construyó, por qué eligió nariz y aletas, qué comprobó y qué falta. El docente puede pedir una medida o abrir una entrada del archivo para contrastar la respuesta. La defensa se apoya en el proyecto, no en memorizar fórmulas.</a:t>
            </a:r>
          </a:p>
          <a:p xmlns:a="http://schemas.openxmlformats.org/drawingml/2006/main">
            <a:r>
              <a:t/>
            </a:r>
          </a:p>
          <a:p xmlns:a="http://schemas.openxmlformats.org/drawingml/2006/main">
            <a:r>
              <a:t>“Este es el estado revisado de nuestro prototipo. Estas son las comprobaciones hechas y estos los cambios posteriores al taller”.</a:t>
            </a:r>
          </a:p>
          <a:p xmlns:a="http://schemas.openxmlformats.org/drawingml/2006/main">
            <a:r>
              <a:t/>
            </a:r>
          </a:p>
          <a:p xmlns:a="http://schemas.openxmlformats.org/drawingml/2006/main">
            <a:r>
              <a:t>Entrega el expediente previo y la hoja de observación. El último encuentro utilizará esos documentos para que las experiencias de campo puedan convertirse en aprendizaje y mejoras.</a:t>
            </a:r>
          </a:p>
          <a:p xmlns:a="http://schemas.openxmlformats.org/drawingml/2006/main">
            <a:r>
              <a:t>Pregunta para el grupo: ¿Puedes explicar el estado con el cohete delante?</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4 min.</a:t>
            </a:r>
          </a:p>
          <a:p xmlns:a="http://schemas.openxmlformats.org/drawingml/2006/main">
            <a:r>
              <a:t/>
            </a:r>
          </a:p>
          <a:p xmlns:a="http://schemas.openxmlformats.org/drawingml/2006/main">
            <a:r>
              <a:t>Pregunta / Apoyo que debe mostrarse</a:t>
            </a:r>
          </a:p>
          <a:p xmlns:a="http://schemas.openxmlformats.org/drawingml/2006/main">
            <a:r>
              <a:t>¿Qué misión tiene? / Criterios de selección</a:t>
            </a:r>
          </a:p>
          <a:p xmlns:a="http://schemas.openxmlformats.org/drawingml/2006/main">
            <a:r>
              <a:t>¿Por qué esas piezas? / Comparativas y fabricación</a:t>
            </a:r>
          </a:p>
          <a:p xmlns:a="http://schemas.openxmlformats.org/drawingml/2006/main">
            <a:r>
              <a:t>¿Qué representa el archivo? / Configuración y masas</a:t>
            </a:r>
          </a:p>
          <a:p xmlns:a="http://schemas.openxmlformats.org/drawingml/2006/main">
            <a:r>
              <a:t>¿Qué comprobamos? / Fotos y fichas de banco</a:t>
            </a:r>
          </a:p>
          <a:p xmlns:a="http://schemas.openxmlformats.org/drawingml/2006/main">
            <a:r>
              <a:t>¿Qué sigue pendiente? / Acción y revisión</a:t>
            </a:r>
          </a:p>
          <a:p xmlns:a="http://schemas.openxmlformats.org/drawingml/2006/main">
            <a:r>
              <a:t>Comparar dos filas y justificar con la misión.</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“Este es el estado revisado de nuestro prototipo. Estas son las comprobaciones hechas y estos los cambios posteriores al taller”.</a:t>
            </a:r>
          </a:p>
          <a:p xmlns:a="http://schemas.openxmlformats.org/drawingml/2006/main">
            <a:r>
              <a:t>Explicación</a:t>
            </a:r>
          </a:p>
          <a:p xmlns:a="http://schemas.openxmlformats.org/drawingml/2006/main">
            <a:r>
              <a:t>La organización puede tomar decisiones con información concreta. Una carpeta llena de archivos sin esa relación no cumple la misma función.</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12 min.</a:t>
            </a:r>
          </a:p>
          <a:p xmlns:a="http://schemas.openxmlformats.org/drawingml/2006/main">
            <a:r>
              <a:t/>
            </a:r>
          </a:p>
          <a:p xmlns:a="http://schemas.openxmlformats.org/drawingml/2006/main">
            <a:r>
              <a:t>Comparar objeto, archivo y registro de montaje.</a:t>
            </a:r>
          </a:p>
          <a:p xmlns:a="http://schemas.openxmlformats.org/drawingml/2006/main">
            <a:r>
              <a:t>Cerrar o conservar pendientes con evidencia.</a:t>
            </a:r>
          </a:p>
          <a:p xmlns:a="http://schemas.openxmlformats.org/drawingml/2006/main">
            <a:r>
              <a:t>Distribuir roles de observación y documentación.</a:t>
            </a:r>
          </a:p>
          <a:p xmlns:a="http://schemas.openxmlformats.org/drawingml/2006/main">
            <a:r>
              <a:t>Preparar una defensa breve y una alternativa de aprendizaje.</a:t>
            </a:r>
          </a:p>
          <a:p xmlns:a="http://schemas.openxmlformats.org/drawingml/2006/main">
            <a:r>
              <a:t>Rotar los roles y conservar al menos una evidencia revisable.</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Expediente previo, roles y hoja de observación.</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15: Preparar la jornada con el cohete terminado.</a:t>
            </a:r>
          </a:p>
          <a:p xmlns:a="http://schemas.openxmlformats.org/drawingml/2006/main">
            <a:r>
              <a:t>En línea, 2 h. Tramo del núcleo: 5 min.</a:t>
            </a:r>
          </a:p>
          <a:p xmlns:a="http://schemas.openxmlformats.org/drawingml/2006/main">
            <a:r>
              <a:t/>
            </a:r>
          </a:p>
          <a:p xmlns:a="http://schemas.openxmlformats.org/drawingml/2006/main">
            <a:r>
              <a:t>Expediente previo, roles y hoja de observación.</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Relacionar el objeto, el archivo y las comprobaciones pendientes antes de la revisión del responsable.</a:t>
            </a:r>
          </a:p>
          <a:p xmlns:a="http://schemas.openxmlformats.org/drawingml/2006/main">
            <a:r>
              <a:t>Misión: Llegar al día de campo con un conjunto identificado y un equipo organizado.</a:t>
            </a:r>
          </a:p>
          <a:p xmlns:a="http://schemas.openxmlformats.org/drawingml/2006/main">
            <a:r>
              <a:t>Entrega: Expediente previo, roles y hoja de observación.</a:t>
            </a:r>
          </a:p>
          <a:p xmlns:a="http://schemas.openxmlformats.org/drawingml/2006/main">
            <a:r>
              <a:t/>
            </a:r>
          </a:p>
          <a:p xmlns:a="http://schemas.openxmlformats.org/drawingml/2006/main">
            <a:r>
              <a:t>Preguntas y respuestas</a:t>
            </a:r>
          </a:p>
          <a:p xmlns:a="http://schemas.openxmlformats.org/drawingml/2006/main">
            <a:r>
              <a:t>¿Un resultado de simulación autoriza la operación?</a:t>
            </a:r>
          </a:p>
          <a:p xmlns:a="http://schemas.openxmlformats.org/drawingml/2006/main">
            <a:r>
              <a:t>No. La aceptación y las condiciones corresponden al responsable.</a:t>
            </a:r>
          </a:p>
          <a:p xmlns:a="http://schemas.openxmlformats.org/drawingml/2006/main">
            <a:r>
              <a:t/>
            </a:r>
          </a:p>
          <a:p xmlns:a="http://schemas.openxmlformats.org/drawingml/2006/main">
            <a:r>
              <a:t>¿Una impresión visual da una altura exacta?</a:t>
            </a:r>
          </a:p>
          <a:p xmlns:a="http://schemas.openxmlformats.org/drawingml/2006/main">
            <a:r>
              <a:t>No. Hay que distinguir observación y medición.</a:t>
            </a:r>
          </a:p>
          <a:p xmlns:a="http://schemas.openxmlformats.org/drawingml/2006/main">
            <a:r>
              <a:t/>
            </a:r>
          </a:p>
          <a:p xmlns:a="http://schemas.openxmlformats.org/drawingml/2006/main">
            <a:r>
              <a:t>¿Qué hacer si el modelo conserva un pendiente?</a:t>
            </a:r>
          </a:p>
          <a:p xmlns:a="http://schemas.openxmlformats.org/drawingml/2006/main">
            <a:r>
              <a:t>Documentarlo, resolverlo con el docente y participar según la organización.</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MECRO_Coheteria_Clase_15.pdf.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3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Abre el expediente antes de mostrar el objeto: pide al equipo identificar qué configuración y qué caso va a observar.</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El encuentro final dura ocho horas e incluye organización, revisión de modelos, una ventana de operaciones y análisis. Los equipos llegan con sus prototipos y expedientes. El responsable decide qué conjuntos y qué condiciones permiten operar. El curso no garantiza un lanzamiento por alumno ni por equipo al margen de esa revisión.</a:t>
            </a:r>
          </a:p>
          <a:p xmlns:a="http://schemas.openxmlformats.org/drawingml/2006/main">
            <a:r>
              <a:t/>
            </a:r>
          </a:p>
          <a:p xmlns:a="http://schemas.openxmlformats.org/drawingml/2006/main">
            <a:r>
              <a:t>La demostración CanSat utiliza el vehículo del equipo docente y su propio registro. Los modelos pequeños de alumnos mantienen su misión de aprendizaje. Los roles de operación y observación se respetan durante toda la actividad.</a:t>
            </a:r>
          </a:p>
          <a:p xmlns:a="http://schemas.openxmlformats.org/drawingml/2006/main">
            <a:r>
              <a:t/>
            </a:r>
          </a:p>
          <a:p xmlns:a="http://schemas.openxmlformats.org/drawingml/2006/main">
            <a:r>
              <a:t>Los horarios son una pauta de organización y pueden adaptarse a las condiciones reales. Se conserva el motivo de cualquier cambio.</a:t>
            </a:r>
          </a:p>
          <a:p xmlns:a="http://schemas.openxmlformats.org/drawingml/2006/main">
            <a:r>
              <a:t/>
            </a:r>
          </a:p>
          <a:p xmlns:a="http://schemas.openxmlformats.org/drawingml/2006/main">
            <a:r>
              <a:t>Una jornada de curso reúne operación, observación y aprendizaje. La participación del equipo incluye presentar el modelo, explicar sus decisiones y conservar un registro del caso. La operación se realiza bajo la dirección del responsable. Si una condición no permite continuar, el trabajo formativo puede seguir con revisión del objeto y análisis de otros registros. La evaluación conserva el vínculo con las evidencias que cada equipo produjo durante todo el curso.</a:t>
            </a:r>
          </a:p>
          <a:p xmlns:a="http://schemas.openxmlformats.org/drawingml/2006/main">
            <a:r>
              <a:t>Pregunta para el grupo: ¿Qué se adapta si cambia la jornada?</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Minutos / Actividad</a:t>
            </a:r>
          </a:p>
          <a:p xmlns:a="http://schemas.openxmlformats.org/drawingml/2006/main">
            <a:r>
              <a:t>0–60 / Organización y revisión del lugar</a:t>
            </a:r>
          </a:p>
          <a:p xmlns:a="http://schemas.openxmlformats.org/drawingml/2006/main">
            <a:r>
              <a:t>60–150 / Revisión de conjuntos y funciones</a:t>
            </a:r>
          </a:p>
          <a:p xmlns:a="http://schemas.openxmlformats.org/drawingml/2006/main">
            <a:r>
              <a:t>150–330 / Ventana de operaciones según condiciones</a:t>
            </a:r>
          </a:p>
          <a:p xmlns:a="http://schemas.openxmlformats.org/drawingml/2006/main">
            <a:r>
              <a:t>330–390 / Pausa y recuperación organizada</a:t>
            </a:r>
          </a:p>
          <a:p xmlns:a="http://schemas.openxmlformats.org/drawingml/2006/main">
            <a:r>
              <a:t>390–480 / Revisión de objetos, datos y conclusiones</a:t>
            </a:r>
          </a:p>
          <a:p xmlns:a="http://schemas.openxmlformats.org/drawingml/2006/main">
            <a:r>
              <a:t>Comparar dos filas y justificar con la misión.</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5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¿Qué se adapta si cambia la jornada?</a:t>
            </a:r>
          </a:p>
          <a:p xmlns:a="http://schemas.openxmlformats.org/drawingml/2006/main">
            <a:r>
              <a:t>Relacionar la explicación con una decisión del proyecto.</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El expediente debe corresponder al objeto que se presenta. Si se reemplazó una pieza durante la jornada, el equipo lo indica antes de la siguiente revisión. Los registros necesitan un identificador de caso o intento para distinguir operaciones que usan el mismo nombre de equipo.</a:t>
            </a:r>
          </a:p>
          <a:p xmlns:a="http://schemas.openxmlformats.org/drawingml/2006/main">
            <a:r>
              <a:t/>
            </a:r>
          </a:p>
          <a:p xmlns:a="http://schemas.openxmlformats.org/drawingml/2006/main">
            <a:r>
              <a:t>No se improvisa una solución sobre el componente comercial para aprovechar una ventana de tiempo. Las incidencias se trasladan a la revisión del responsable y quedan registradas.</a:t>
            </a:r>
          </a:p>
          <a:p xmlns:a="http://schemas.openxmlformats.org/drawingml/2006/main">
            <a:r>
              <a:t/>
            </a:r>
          </a:p>
          <a:p xmlns:a="http://schemas.openxmlformats.org/drawingml/2006/main">
            <a:r>
              <a:t>Un identificador de caso une las fotografías, la configuración y las anotaciones. Si el equipo tiene dos versiones parecidas, el color del vehículo puede ser insuficiente para distinguirlas. Se conserva una referencia legible junto al registro y se anota cualquier cambio antes de una nueva actividad. Esa disciplina hace posible revisar después qué objeto se observó y evita atribuir un resultado a una versión que solo existía en el archivo.</a:t>
            </a:r>
          </a:p>
          <a:p xmlns:a="http://schemas.openxmlformats.org/drawingml/2006/main">
            <a:r>
              <a:t>Pregunta para el grupo: ¿Qué identifica cada caso?</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Campo / Contenido</a:t>
            </a:r>
          </a:p>
          <a:p xmlns:a="http://schemas.openxmlformats.org/drawingml/2006/main">
            <a:r>
              <a:t>Identificador / Equipo, modelo y caso</a:t>
            </a:r>
          </a:p>
          <a:p xmlns:a="http://schemas.openxmlformats.org/drawingml/2006/main">
            <a:r>
              <a:t>Configuración / Revisión y referencia comercial</a:t>
            </a:r>
          </a:p>
          <a:p xmlns:a="http://schemas.openxmlformats.org/drawingml/2006/main">
            <a:r>
              <a:t>Registro / Archivo de imagen o datos</a:t>
            </a:r>
          </a:p>
          <a:p xmlns:a="http://schemas.openxmlformats.org/drawingml/2006/main">
            <a:r>
              <a:t>Condiciones / Notas del responsable</a:t>
            </a:r>
          </a:p>
          <a:p xmlns:a="http://schemas.openxmlformats.org/drawingml/2006/main">
            <a:r>
              <a:t>Resultado observable / Descripción y referencias</a:t>
            </a:r>
          </a:p>
          <a:p xmlns:a="http://schemas.openxmlformats.org/drawingml/2006/main">
            <a:r>
              <a:t>Comparar dos filas y justificar con la misión.</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5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Identifica modelo, revisión y caso de la actividad.</a:t>
            </a:r>
          </a:p>
          <a:p xmlns:a="http://schemas.openxmlformats.org/drawingml/2006/main">
            <a:r>
              <a:t>Confirma los roles de observación y registro definidos por la organización.</a:t>
            </a:r>
          </a:p>
          <a:p xmlns:a="http://schemas.openxmlformats.org/drawingml/2006/main">
            <a:r>
              <a:t>Conserva el archivo y la configuración de referencia asociados al objeto.</a:t>
            </a:r>
          </a:p>
          <a:p xmlns:a="http://schemas.openxmlformats.org/drawingml/2006/main">
            <a:r>
              <a:t>Anota cambios y pendientes revisados por el responsable.</a:t>
            </a:r>
          </a:p>
          <a:p xmlns:a="http://schemas.openxmlformats.org/drawingml/2006/main">
            <a:r>
              <a:t>Permanece en la zona y función indicadas para la actividad.</a:t>
            </a:r>
          </a:p>
          <a:p xmlns:a="http://schemas.openxmlformats.org/drawingml/2006/main">
            <a:r>
              <a:t>Comprobar un paso en el objeto o programa antes de continuar.</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El observador puede reconocer salida, subida, recuperación visible y estado de descenso cuando las condiciones permiten verlo. Si pierde el modelo de vista, registra ese hecho. Una observación parcial sigue siendo útil si se conserva su límite.</a:t>
            </a:r>
          </a:p>
          <a:p xmlns:a="http://schemas.openxmlformats.org/drawingml/2006/main">
            <a:r>
              <a:t/>
            </a:r>
          </a:p>
          <a:p xmlns:a="http://schemas.openxmlformats.org/drawingml/2006/main">
            <a:r>
              <a:t>La cámara registra la salida, después pierde al cohete y vuelve a mostrar el descenso.</a:t>
            </a:r>
          </a:p>
          <a:p xmlns:a="http://schemas.openxmlformats.org/drawingml/2006/main">
            <a:r>
              <a:t/>
            </a:r>
          </a:p>
          <a:p xmlns:a="http://schemas.openxmlformats.org/drawingml/2006/main">
            <a:r>
              <a:t>En el caso docente con CanSat se conservan el registro local y la recepción de tierra cuando estén disponibles. Un dato de ese vehículo no se atribuye a los modelos de alumnos. Cada conclusión debe corresponder a su objeto y su caso.</a:t>
            </a:r>
          </a:p>
          <a:p xmlns:a="http://schemas.openxmlformats.org/drawingml/2006/main">
            <a:r>
              <a:t>Pregunta para el grupo: ¿Qué tramo del evento no se observó?</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¿Qué tramo del evento no se observó?</a:t>
            </a:r>
          </a:p>
          <a:p xmlns:a="http://schemas.openxmlformats.org/drawingml/2006/main">
            <a:r>
              <a:t>Pedir una respuesta antes de consultar la explicación de la lectura.</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5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Caso</a:t>
            </a:r>
          </a:p>
          <a:p xmlns:a="http://schemas.openxmlformats.org/drawingml/2006/main">
            <a:r>
              <a:t>La cámara registra la salida, después pierde al cohete y vuelve a mostrar el descenso.</a:t>
            </a:r>
          </a:p>
          <a:p xmlns:a="http://schemas.openxmlformats.org/drawingml/2006/main">
            <a:r>
              <a:t>Explicación</a:t>
            </a:r>
          </a:p>
          <a:p xmlns:a="http://schemas.openxmlformats.org/drawingml/2006/main">
            <a:r>
              <a:t>Se pueden describir los dos segmentos visibles. No se asigna una altura máxima exacta ni se afirma qué ocurrió en el intervalo ausente. Se buscan otras observaciones identificadas sin rellenar el hueco por apariencia.</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La recuperación del conjunto permite observar piezas y conservar evidencia del estado posterior. La organización determina cuándo y cómo se realiza la recuperación. El alumno no persigue un objeto ni accede a un lugar de riesgo por completar la tarea. Una vez autorizado el trabajo sobre el modelo, se identifica y fotografía antes de cambiarlo.</a:t>
            </a:r>
          </a:p>
          <a:p xmlns:a="http://schemas.openxmlformats.org/drawingml/2006/main">
            <a:r>
              <a:t/>
            </a:r>
          </a:p>
          <a:p xmlns:a="http://schemas.openxmlformats.org/drawingml/2006/main">
            <a:r>
              <a:t>Una marca o una rotura no revela por sí sola su causa. Primero se describe dónde está y cómo cambió la pieza. Después se contrasta con video, observaciones y configuración.</a:t>
            </a:r>
          </a:p>
          <a:p xmlns:a="http://schemas.openxmlformats.org/drawingml/2006/main">
            <a:r>
              <a:t/>
            </a:r>
          </a:p>
          <a:p xmlns:a="http://schemas.openxmlformats.org/drawingml/2006/main">
            <a:r>
              <a:t>Antes de reparar conviene relacionar las imágenes del objeto con las del montaje previo. Una marca puede estar presente desde el taller. Sin esa comparación, el equipo podría atribuir al vuelo algo que ocurrió durante fabricación o transporte. El registro anterior no necesita ser elaborado: basta que tenga identificación, contexto y una vista útil de las superficies que se desean revisar.</a:t>
            </a:r>
          </a:p>
          <a:p xmlns:a="http://schemas.openxmlformats.org/drawingml/2006/main">
            <a:r>
              <a:t/>
            </a:r>
          </a:p>
          <a:p xmlns:a="http://schemas.openxmlformats.org/drawingml/2006/main">
            <a:r>
              <a:t>La revisión posterior empieza conservando el estado recibido antes de desmontar o reparar. Se compara con las imágenes del taller y se describen daños, holguras o cambios observables. Después se propone una explicación y se señala qué evidencia la apoya. Una marca nueva puede orientar una investigación, pero no demuestra por sí sola cuándo ni cómo apareció. El informe final debe permitir distinguir la observación directa de la interpretación del equipo.</a:t>
            </a:r>
          </a:p>
          <a:p xmlns:a="http://schemas.openxmlformats.org/drawingml/2006/main">
            <a:r>
              <a:t>Pregunta para el grupo: ¿La marca ya existía antes de la actividad?</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Zona / Observación concreta</a:t>
            </a:r>
          </a:p>
          <a:p xmlns:a="http://schemas.openxmlformats.org/drawingml/2006/main">
            <a:r>
              <a:t>Nariz / Borde, unión y marcas visibles</a:t>
            </a:r>
          </a:p>
          <a:p xmlns:a="http://schemas.openxmlformats.org/drawingml/2006/main">
            <a:r>
              <a:t>Cuerpo / Forma, superficie y acceso</a:t>
            </a:r>
          </a:p>
          <a:p xmlns:a="http://schemas.openxmlformats.org/drawingml/2006/main">
            <a:r>
              <a:t>Aletas / Posición, unión y daños visibles</a:t>
            </a:r>
          </a:p>
          <a:p xmlns:a="http://schemas.openxmlformats.org/drawingml/2006/main">
            <a:r>
              <a:t>Recuperación / Estado y continuidad de sus partes</a:t>
            </a:r>
          </a:p>
          <a:p xmlns:a="http://schemas.openxmlformats.org/drawingml/2006/main">
            <a:r>
              <a:t>Datos / Archivo disponible e identificación</a:t>
            </a:r>
          </a:p>
          <a:p xmlns:a="http://schemas.openxmlformats.org/drawingml/2006/main">
            <a:r>
              <a:t>Comparar dos filas y justificar con la misión.</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5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Relaciona el objeto recuperado con su identificador de caso.</a:t>
            </a:r>
          </a:p>
          <a:p xmlns:a="http://schemas.openxmlformats.org/drawingml/2006/main">
            <a:r>
              <a:t>Registra el estado de nariz, cuerpo, aletas y sistema de recuperación.</a:t>
            </a:r>
          </a:p>
          <a:p xmlns:a="http://schemas.openxmlformats.org/drawingml/2006/main">
            <a:r>
              <a:t>Fotografía una diferencia respecto al estado previo, si existe.</a:t>
            </a:r>
          </a:p>
          <a:p xmlns:a="http://schemas.openxmlformats.org/drawingml/2006/main">
            <a:r>
              <a:t>Conserva los archivos o registros de datos que correspondan.</a:t>
            </a:r>
          </a:p>
          <a:p xmlns:a="http://schemas.openxmlformats.org/drawingml/2006/main">
            <a:r>
              <a:t>Consulta al docente antes de reparar o preparar otra actividad.</a:t>
            </a:r>
          </a:p>
          <a:p xmlns:a="http://schemas.openxmlformats.org/drawingml/2006/main">
            <a:r>
              <a:t>Comprobar un paso en el objeto o programa antes de continuar.</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El informe final distingue tres fuentes: predicción del programa, medición disponible y observación cualitativa. Si el alumno no dispone de un altímetro o de un método de medida revisado, no tiene que inventar un apogeo para completar una tabla. Puede comparar eventos, recuperación y estado de la pieza con un alcance claro.</a:t>
            </a:r>
          </a:p>
          <a:p xmlns:a="http://schemas.openxmlformats.org/drawingml/2006/main">
            <a:r>
              <a:t/>
            </a:r>
          </a:p>
          <a:p xmlns:a="http://schemas.openxmlformats.org/drawingml/2006/main">
            <a:r>
              <a:t>“No medimos altura, pero registramos la recuperación visible y el estado de las tres aletas. Una unión presenta una diferencia respecto al registro previo”.</a:t>
            </a:r>
          </a:p>
          <a:p xmlns:a="http://schemas.openxmlformats.org/drawingml/2006/main">
            <a:r>
              <a:t/>
            </a:r>
          </a:p>
          <a:p xmlns:a="http://schemas.openxmlformats.org/drawingml/2006/main">
            <a:r>
              <a:t>Para el CanSat docente se puede añadir la continuidad del registro y las muestras únicas recibidas. La cuenta se refiere a ese sistema y no certifica por sí sola su exactitud.</a:t>
            </a:r>
          </a:p>
          <a:p xmlns:a="http://schemas.openxmlformats.org/drawingml/2006/main">
            <a:r>
              <a:t/>
            </a:r>
          </a:p>
          <a:p xmlns:a="http://schemas.openxmlformats.org/drawingml/2006/main">
            <a:r>
              <a:t>El informe diferencia una causa propuesta de una causa demostrada. Si una aleta aparece dañada, pueden plantearse hipótesis sobre montaje, transporte, descenso o contacto con el suelo. Se buscan evidencias que permitan distinguirlas y se evita elegir la explicación más llamativa. Una mejora de la siguiente versión puede consistir precisamente en registrar mejor esa zona o hacer una comprobación de banco más clara.</a:t>
            </a:r>
          </a:p>
          <a:p xmlns:a="http://schemas.openxmlformats.org/drawingml/2006/main">
            <a:r>
              <a:t>Pregunta para el grupo: ¿Qué fuente respalda cada afirmación?</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Pregunta / Predicción o plan / Evidencia disponible</a:t>
            </a:r>
          </a:p>
          <a:p xmlns:a="http://schemas.openxmlformats.org/drawingml/2006/main">
            <a:r>
              <a:t>Fases / Eventos del modelo / Video y observación</a:t>
            </a:r>
          </a:p>
          <a:p xmlns:a="http://schemas.openxmlformats.org/drawingml/2006/main">
            <a:r>
              <a:t>Recuperación / Sistema previsto / Estado y evento visible</a:t>
            </a:r>
          </a:p>
          <a:p xmlns:a="http://schemas.openxmlformats.org/drawingml/2006/main">
            <a:r>
              <a:t>Altura / Predicción declarada / Solo medida si existe</a:t>
            </a:r>
          </a:p>
          <a:p xmlns:a="http://schemas.openxmlformats.org/drawingml/2006/main">
            <a:r>
              <a:t>Pieza / Estado y función esperados / Inspección posterior</a:t>
            </a:r>
          </a:p>
          <a:p xmlns:a="http://schemas.openxmlformats.org/drawingml/2006/main">
            <a:r>
              <a:t>Comparar dos filas y justificar con la misión.</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5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Caso</a:t>
            </a:r>
          </a:p>
          <a:p xmlns:a="http://schemas.openxmlformats.org/drawingml/2006/main">
            <a:r>
              <a:t>“No medimos altura, pero registramos la recuperación visible y el estado de las tres aletas. Una unión presenta una diferencia respecto al registro previo”.</a:t>
            </a:r>
          </a:p>
          <a:p xmlns:a="http://schemas.openxmlformats.org/drawingml/2006/main">
            <a:r>
              <a:t>Explicación</a:t>
            </a:r>
          </a:p>
          <a:p xmlns:a="http://schemas.openxmlformats.org/drawingml/2006/main">
            <a:r>
              <a:t>La conclusión es útil y revisable. Señala qué se sabe y abre una pregunta de mejora sin atribuir causas no observadas.</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El aprendizaje no depende únicamente de que el cohete salga en una operación. Un proyecto con un pendiente bien detectado puede demostrar buenas decisiones y comprensión. La evaluación considera el trabajo construido, su representación y la capacidad de explicar qué se comprobó.</a:t>
            </a:r>
          </a:p>
          <a:p xmlns:a="http://schemas.openxmlformats.org/drawingml/2006/main">
            <a:r>
              <a:t/>
            </a:r>
          </a:p>
          <a:p xmlns:a="http://schemas.openxmlformats.org/drawingml/2006/main">
            <a:r>
              <a:t>El equipo propone cambiar la nariz porque la actual se repone con dificultad, o rediseñar el útil porque una referencia fue incómoda durante el montaje.</a:t>
            </a:r>
          </a:p>
          <a:p xmlns:a="http://schemas.openxmlformats.org/drawingml/2006/main">
            <a:r>
              <a:t/>
            </a:r>
          </a:p>
          <a:p xmlns:a="http://schemas.openxmlformats.org/drawingml/2006/main">
            <a:r>
              <a:t>Entrega una ficha final con cinco elementos: fotografía del conjunto, configuración de referencia, observaciones del caso, comparación con lo previsto y una mejora justificada. Conserva los archivos originales. El resultado del curso es poder construir y explicar un primer cohete, con criterio para seguir aprendiendo.</a:t>
            </a:r>
          </a:p>
          <a:p xmlns:a="http://schemas.openxmlformats.org/drawingml/2006/main">
            <a:r>
              <a:t>Pregunta para el grupo: ¿Qué cambio comprobarás en la siguiente versión?</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4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Aspecto / Peso propuesto</a:t>
            </a:r>
          </a:p>
          <a:p xmlns:a="http://schemas.openxmlformats.org/drawingml/2006/main">
            <a:r>
              <a:t>Decisiones según misión / 25%</a:t>
            </a:r>
          </a:p>
          <a:p xmlns:a="http://schemas.openxmlformats.org/drawingml/2006/main">
            <a:r>
              <a:t>Modelo digital y representación / 25%</a:t>
            </a:r>
          </a:p>
          <a:p xmlns:a="http://schemas.openxmlformats.org/drawingml/2006/main">
            <a:r>
              <a:t>Fabricación y comprobaciones / 30%</a:t>
            </a:r>
          </a:p>
          <a:p xmlns:a="http://schemas.openxmlformats.org/drawingml/2006/main">
            <a:r>
              <a:t>Explicación con evidencias / 20%</a:t>
            </a:r>
          </a:p>
          <a:p xmlns:a="http://schemas.openxmlformats.org/drawingml/2006/main">
            <a:r>
              <a:t>Comparar dos filas y justificar con la misión.</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5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Caso</a:t>
            </a:r>
          </a:p>
          <a:p xmlns:a="http://schemas.openxmlformats.org/drawingml/2006/main">
            <a:r>
              <a:t>El equipo propone cambiar la nariz porque la actual se repone con dificultad, o rediseñar el útil porque una referencia fue incómoda durante el montaje.</a:t>
            </a:r>
          </a:p>
          <a:p xmlns:a="http://schemas.openxmlformats.org/drawingml/2006/main">
            <a:r>
              <a:t>Explicación</a:t>
            </a:r>
          </a:p>
          <a:p xmlns:a="http://schemas.openxmlformats.org/drawingml/2006/main">
            <a:r>
              <a:t>La mejora parte de una experiencia documentada y de la misión. Antes de fabricar de nuevo, se define qué cambiará y cómo se comprobará. Así se cierra un ciclo de diseño, fabricación y revisión.</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12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Preparar caso, roles y configuración antes de la ventana de operaciones.</a:t>
            </a:r>
          </a:p>
          <a:p xmlns:a="http://schemas.openxmlformats.org/drawingml/2006/main">
            <a:r>
              <a:t>Registrar únicamente eventos y magnitudes que se puedan sostener.</a:t>
            </a:r>
          </a:p>
          <a:p xmlns:a="http://schemas.openxmlformats.org/drawingml/2006/main">
            <a:r>
              <a:t>Inspeccionar el modelo recuperado según la organización.</a:t>
            </a:r>
          </a:p>
          <a:p xmlns:a="http://schemas.openxmlformats.org/drawingml/2006/main">
            <a:r>
              <a:t>Comparar fuentes y proponer una mejora por equipo.</a:t>
            </a:r>
          </a:p>
          <a:p xmlns:a="http://schemas.openxmlformats.org/drawingml/2006/main">
            <a:r>
              <a:t>Rotar los roles y conservar al menos una evidencia revisable.</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10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Ficha final del proyecto, archivos conservados y mejora justificada.</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7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Primero respuesta individual, después discusión por equipos.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5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16: Jornada de lanzamiento y revisión del proyecto.</a:t>
            </a:r>
          </a:p>
          <a:p xmlns:a="http://schemas.openxmlformats.org/drawingml/2006/main">
            <a:r>
              <a:t>Presencial, 8 h. Tramo del núcleo: 5 min.</a:t>
            </a:r>
          </a:p>
          <a:p xmlns:a="http://schemas.openxmlformats.org/drawingml/2006/main">
            <a:r>
              <a:t>En presencial, integrar estas explicaciones con la agenda de 8 horas de la lectura; las actividades de banco o campo ocupan el tiempo previsto.</a:t>
            </a:r>
          </a:p>
          <a:p xmlns:a="http://schemas.openxmlformats.org/drawingml/2006/main">
            <a:r>
              <a:t/>
            </a:r>
          </a:p>
          <a:p xmlns:a="http://schemas.openxmlformats.org/drawingml/2006/main">
            <a:r>
              <a:t>Ficha final del proyecto, archivos conservados y mejora justificada.</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Participar en una jornada organizada, conservar observaciones y explicar mejoras del cohete construido.</a:t>
            </a:r>
          </a:p>
          <a:p xmlns:a="http://schemas.openxmlformats.org/drawingml/2006/main">
            <a:r>
              <a:t>Misión: Cerrar el aprendizaje con el objeto, sus registros y una comparación honesta con la predicción.</a:t>
            </a:r>
          </a:p>
          <a:p xmlns:a="http://schemas.openxmlformats.org/drawingml/2006/main">
            <a:r>
              <a:t>Entrega: Ficha final del proyecto, archivos conservados y mejora justificada.</a:t>
            </a:r>
          </a:p>
          <a:p xmlns:a="http://schemas.openxmlformats.org/drawingml/2006/main">
            <a:r>
              <a:t/>
            </a:r>
          </a:p>
          <a:p xmlns:a="http://schemas.openxmlformats.org/drawingml/2006/main">
            <a:r>
              <a:t>Preguntas y respuestas</a:t>
            </a:r>
          </a:p>
          <a:p xmlns:a="http://schemas.openxmlformats.org/drawingml/2006/main">
            <a:r>
              <a:t>¿Qué se escribe si el video pierde al cohete?</a:t>
            </a:r>
          </a:p>
          <a:p xmlns:a="http://schemas.openxmlformats.org/drawingml/2006/main">
            <a:r>
              <a:t>Se identifica el tramo no observado, sin inventar eventos o alturas.</a:t>
            </a:r>
          </a:p>
          <a:p xmlns:a="http://schemas.openxmlformats.org/drawingml/2006/main">
            <a:r>
              <a:t/>
            </a:r>
          </a:p>
          <a:p xmlns:a="http://schemas.openxmlformats.org/drawingml/2006/main">
            <a:r>
              <a:t>¿Una marca revela automáticamente su causa?</a:t>
            </a:r>
          </a:p>
          <a:p xmlns:a="http://schemas.openxmlformats.org/drawingml/2006/main">
            <a:r>
              <a:t>No. Se describe y se contrasta con otras evidencias.</a:t>
            </a:r>
          </a:p>
          <a:p xmlns:a="http://schemas.openxmlformats.org/drawingml/2006/main">
            <a:r>
              <a:t/>
            </a:r>
          </a:p>
          <a:p xmlns:a="http://schemas.openxmlformats.org/drawingml/2006/main">
            <a:r>
              <a:t>¿Qué define una mejora útil?</a:t>
            </a:r>
          </a:p>
          <a:p xmlns:a="http://schemas.openxmlformats.org/drawingml/2006/main">
            <a:r>
              <a:t>Un problema de misión identificado y una forma de comprobar el cambio.</a:t>
            </a:r>
          </a:p>
          <a:p xmlns:a="http://schemas.openxmlformats.org/drawingml/2006/main">
            <a:r>
              <a:t/>
            </a:r>
          </a:p>
          <a:p xmlns:a="http://schemas.openxmlformats.org/drawingml/2006/main">
            <a:r>
              <a:t>Fuentes</a:t>
            </a:r>
          </a:p>
          <a:p xmlns:a="http://schemas.openxmlformats.org/drawingml/2006/main">
            <a:r>
              <a:t>National Association of Rocketry. Model Rocket Safety Code. https://www.nar.org/ModelRocketSafetyCode</a:t>
            </a:r>
          </a:p>
          <a:p xmlns:a="http://schemas.openxmlformats.org/drawingml/2006/main">
            <a:r>
              <a:t>NASA Glenn. Flight of a Model Rocket. https://www1.grc.nasa.gov/beginners-guide-to-aeronautics/flight-of-a-model-rocket/</a:t>
            </a:r>
          </a:p>
          <a:p xmlns:a="http://schemas.openxmlformats.org/drawingml/2006/main">
            <a:r>
              <a:t>European Space Agency. What is a CanSat?. https://www.esa.int/Education/CanSat/What_is_a_CanSat</a:t>
            </a:r>
          </a:p>
          <a:p xmlns:a="http://schemas.openxmlformats.org/drawingml/2006/main">
            <a:r>
              <a:t>OpenRocket. Advanced Flight Simulation. https://openrocket.readthedocs.io/en/latest/user_guide/advanced_flight_simulation.html</a:t>
            </a:r>
          </a:p>
          <a:p xmlns:a="http://schemas.openxmlformats.org/drawingml/2006/main">
            <a:r>
              <a:t>Lectura: MECRO_Coheteria_Clase_16.pdf.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8a04a97ef444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3c3d744fba48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2282e8bc3840b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421ad45da3b44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4d2b30f13c45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922fd83b8e747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3E5598-8B51-4198-912D-06C12F8166F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7E66C4F-3198-4F36-A76D-C36C11085E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47FB998-7126-4EAE-AC00-BB80DAABCD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CCBA84-F913-496B-A877-F33CF3818E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7D6DE4-0A6C-4B46-87D9-D236461A46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BB308D-342A-4A8A-B0A2-078765BBA6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76D74D-2AFB-4F79-BBD3-A3ACDB6529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3AD531-BFEF-43E4-99F0-7ADE96ADB2A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AA9C48-918F-4BE7-921D-B916B71C76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4778E4-E387-46DC-B2E9-167D52D783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d9c2dbe8ba4034" /><Relationship Type="http://schemas.openxmlformats.org/officeDocument/2006/relationships/slideLayout" Target="/ppt/slideLayouts/slideLayout1.xml" Id="Rab8f81cd061a4c06" /><Relationship Type="http://schemas.openxmlformats.org/officeDocument/2006/relationships/slideLayout" Target="/ppt/slideLayouts/slideLayout2.xml" Id="R17921df2a2464f28" /><Relationship Type="http://schemas.openxmlformats.org/officeDocument/2006/relationships/slideLayout" Target="/ppt/slideLayouts/slideLayout3.xml" Id="R237cad8f545e45ba" /><Relationship Type="http://schemas.openxmlformats.org/officeDocument/2006/relationships/slideLayout" Target="/ppt/slideLayouts/slideLayout4.xml" Id="R47220baf605747c4" /><Relationship Type="http://schemas.openxmlformats.org/officeDocument/2006/relationships/slideLayout" Target="/ppt/slideLayouts/slideLayout5.xml" Id="R3389c3efe8324af3" /><Relationship Type="http://schemas.openxmlformats.org/officeDocument/2006/relationships/slideLayout" Target="/ppt/slideLayouts/slideLayout6.xml" Id="Ra534c63e003040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8f81cd061a4c06"/>
    <p:sldLayoutId xmlns:r="http://schemas.openxmlformats.org/officeDocument/2006/relationships" id="2147483650" r:id="R17921df2a2464f28"/>
    <p:sldLayoutId xmlns:r="http://schemas.openxmlformats.org/officeDocument/2006/relationships" id="2147483651" r:id="R237cad8f545e45ba"/>
    <p:sldLayoutId xmlns:r="http://schemas.openxmlformats.org/officeDocument/2006/relationships" id="2147483652" r:id="R47220baf605747c4"/>
    <p:sldLayoutId xmlns:r="http://schemas.openxmlformats.org/officeDocument/2006/relationships" id="2147483653" r:id="R3389c3efe8324af3"/>
    <p:sldLayoutId xmlns:r="http://schemas.openxmlformats.org/officeDocument/2006/relationships" id="2147483654" r:id="Ra534c63e003040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e3c3eb9e3f4e47" /><Relationship Type="http://schemas.openxmlformats.org/officeDocument/2006/relationships/image" Target="/ppt/media/image.png" Id="R544446dfbef64ee9" /><Relationship Type="http://schemas.openxmlformats.org/officeDocument/2006/relationships/notesSlide" Target="/ppt/notesSlides/notesSlide1.xml" Id="Re9a0622069c542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62a214a11c4a99" /><Relationship Type="http://schemas.openxmlformats.org/officeDocument/2006/relationships/image" Target="/ppt/media/image2.png" Id="Rbc47c050adb54b97" /><Relationship Type="http://schemas.openxmlformats.org/officeDocument/2006/relationships/notesSlide" Target="/ppt/notesSlides/notesSlide2.xml" Id="R67e0d9d951284a7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c405abacbf84e2c" /><Relationship Type="http://schemas.openxmlformats.org/officeDocument/2006/relationships/image" Target="/ppt/media/image3.png" Id="R0e1674133f474958" /><Relationship Type="http://schemas.openxmlformats.org/officeDocument/2006/relationships/notesSlide" Target="/ppt/notesSlides/notesSlide3.xml" Id="Rf9f6966d1f544e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ab860ba1534dcd" /><Relationship Type="http://schemas.openxmlformats.org/officeDocument/2006/relationships/image" Target="/ppt/media/image4.png" Id="R1a538f6c3e9048b2" /><Relationship Type="http://schemas.openxmlformats.org/officeDocument/2006/relationships/notesSlide" Target="/ppt/notesSlides/notesSlide4.xml" Id="Rff6d5174495d42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9f12971b7c49a7" /><Relationship Type="http://schemas.openxmlformats.org/officeDocument/2006/relationships/image" Target="/ppt/media/image5.png" Id="Rb6e9280ea306401b" /><Relationship Type="http://schemas.openxmlformats.org/officeDocument/2006/relationships/notesSlide" Target="/ppt/notesSlides/notesSlide5.xml" Id="R61502a81a33d4f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5963012b99c4052" /><Relationship Type="http://schemas.openxmlformats.org/officeDocument/2006/relationships/image" Target="/ppt/media/image6.png" Id="R15da155f99ec4fac" /><Relationship Type="http://schemas.openxmlformats.org/officeDocument/2006/relationships/notesSlide" Target="/ppt/notesSlides/notesSlide6.xml" Id="R1ccf700e433945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fb416aa6584abc" /><Relationship Type="http://schemas.openxmlformats.org/officeDocument/2006/relationships/image" Target="/ppt/media/image7.png" Id="R9ab3f5f99d9c426a" /><Relationship Type="http://schemas.openxmlformats.org/officeDocument/2006/relationships/notesSlide" Target="/ppt/notesSlides/notesSlide7.xml" Id="R18459646231a4b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f3d903277cf49ce" /><Relationship Type="http://schemas.openxmlformats.org/officeDocument/2006/relationships/image" Target="/ppt/media/image8.png" Id="R469935960b8e4bee" /><Relationship Type="http://schemas.openxmlformats.org/officeDocument/2006/relationships/notesSlide" Target="/ppt/notesSlides/notesSlide8.xml" Id="R3d68466d408043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c937f05d9d40fd" /><Relationship Type="http://schemas.openxmlformats.org/officeDocument/2006/relationships/image" Target="/ppt/media/image9.png" Id="Rc5fe3a01d71c4024" /><Relationship Type="http://schemas.openxmlformats.org/officeDocument/2006/relationships/notesSlide" Target="/ppt/notesSlides/notesSlide9.xml" Id="Rbe47963749e942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a83e0ce4d3e4a67" /><Relationship Type="http://schemas.openxmlformats.org/officeDocument/2006/relationships/image" Target="/ppt/media/image10.png" Id="R3916cf50703d405b" /><Relationship Type="http://schemas.openxmlformats.org/officeDocument/2006/relationships/notesSlide" Target="/ppt/notesSlides/notesSlide10.xml" Id="R71e0be1ffe6c40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aa43f174924f33" /><Relationship Type="http://schemas.openxmlformats.org/officeDocument/2006/relationships/image" Target="/ppt/media/image11.png" Id="Rec111ac36f0d4254" /><Relationship Type="http://schemas.openxmlformats.org/officeDocument/2006/relationships/notesSlide" Target="/ppt/notesSlides/notesSlide11.xml" Id="Rb58ec01c02ad4d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3fec67a686b4191" /><Relationship Type="http://schemas.openxmlformats.org/officeDocument/2006/relationships/image" Target="/ppt/media/image12.png" Id="Rec16e387a40c454d" /><Relationship Type="http://schemas.openxmlformats.org/officeDocument/2006/relationships/image" Target="/ppt/media/image13.png" Id="R33a73c9cf1b746e0" /><Relationship Type="http://schemas.openxmlformats.org/officeDocument/2006/relationships/notesSlide" Target="/ppt/notesSlides/notesSlide12.xml" Id="R039ada80da0f43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7fcbeee51ff4763" /><Relationship Type="http://schemas.openxmlformats.org/officeDocument/2006/relationships/image" Target="/ppt/media/image14.png" Id="R6c2310e0acbe4a23" /><Relationship Type="http://schemas.openxmlformats.org/officeDocument/2006/relationships/notesSlide" Target="/ppt/notesSlides/notesSlide13.xml" Id="R84ef5ef2fc7249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d126b44907b4eb9" /><Relationship Type="http://schemas.openxmlformats.org/officeDocument/2006/relationships/image" Target="/ppt/media/image15.png" Id="Rc220b708b22041c5" /><Relationship Type="http://schemas.openxmlformats.org/officeDocument/2006/relationships/notesSlide" Target="/ppt/notesSlides/notesSlide14.xml" Id="Rb924302d504f49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d9864e8f5f149e5" /><Relationship Type="http://schemas.openxmlformats.org/officeDocument/2006/relationships/image" Target="/ppt/media/image16.png" Id="Rd16e7aee0c814fdd" /><Relationship Type="http://schemas.openxmlformats.org/officeDocument/2006/relationships/notesSlide" Target="/ppt/notesSlides/notesSlide15.xml" Id="R75ee2ee7656144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df795141bdd496e" /><Relationship Type="http://schemas.openxmlformats.org/officeDocument/2006/relationships/image" Target="/ppt/media/image17.png" Id="Rb7b0e506642f45d6" /><Relationship Type="http://schemas.openxmlformats.org/officeDocument/2006/relationships/notesSlide" Target="/ppt/notesSlides/notesSlide16.xml" Id="Rc92a87b9b90f492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a1a42b8041644b1" /><Relationship Type="http://schemas.openxmlformats.org/officeDocument/2006/relationships/image" Target="/ppt/media/image18.png" Id="R92719721d0424b84" /><Relationship Type="http://schemas.openxmlformats.org/officeDocument/2006/relationships/notesSlide" Target="/ppt/notesSlides/notesSlide17.xml" Id="R2b4e3770cefa4a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8e8a97a72d14dae" /><Relationship Type="http://schemas.openxmlformats.org/officeDocument/2006/relationships/image" Target="/ppt/media/image19.png" Id="R7c0bd0b821b64aa8" /><Relationship Type="http://schemas.openxmlformats.org/officeDocument/2006/relationships/notesSlide" Target="/ppt/notesSlides/notesSlide18.xml" Id="R2c7f4d568dcb4b2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63a184cd99c40b5" /><Relationship Type="http://schemas.openxmlformats.org/officeDocument/2006/relationships/image" Target="/ppt/media/image20.png" Id="R67255d4f3df74ae5" /><Relationship Type="http://schemas.openxmlformats.org/officeDocument/2006/relationships/notesSlide" Target="/ppt/notesSlides/notesSlide19.xml" Id="Rdf3a8a5d7d574a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178dc05646147e0" /><Relationship Type="http://schemas.openxmlformats.org/officeDocument/2006/relationships/image" Target="/ppt/media/image21.png" Id="R4684382641c949af" /><Relationship Type="http://schemas.openxmlformats.org/officeDocument/2006/relationships/notesSlide" Target="/ppt/notesSlides/notesSlide20.xml" Id="R0945aada46014e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804fb051c474658" /><Relationship Type="http://schemas.openxmlformats.org/officeDocument/2006/relationships/image" Target="/ppt/media/image22.png" Id="R4c4d8385c82f432f" /><Relationship Type="http://schemas.openxmlformats.org/officeDocument/2006/relationships/notesSlide" Target="/ppt/notesSlides/notesSlide21.xml" Id="Ra8ddbaf7cda3451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bfbcbac62d54fab" /><Relationship Type="http://schemas.openxmlformats.org/officeDocument/2006/relationships/image" Target="/ppt/media/image23.png" Id="R437e3235aab844f9" /><Relationship Type="http://schemas.openxmlformats.org/officeDocument/2006/relationships/notesSlide" Target="/ppt/notesSlides/notesSlide22.xml" Id="R4c1c38e1dad547d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69db7ee25dd4d9b" /><Relationship Type="http://schemas.openxmlformats.org/officeDocument/2006/relationships/image" Target="/ppt/media/image24.png" Id="R15a150a634f14ac7" /><Relationship Type="http://schemas.openxmlformats.org/officeDocument/2006/relationships/notesSlide" Target="/ppt/notesSlides/notesSlide23.xml" Id="R54de69290df54e1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9a79bb4931749e1" /><Relationship Type="http://schemas.openxmlformats.org/officeDocument/2006/relationships/image" Target="/ppt/media/image25.png" Id="R17537a97f25a40c8" /><Relationship Type="http://schemas.openxmlformats.org/officeDocument/2006/relationships/notesSlide" Target="/ppt/notesSlides/notesSlide24.xml" Id="R4b7fefe4045342d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0d0c070b4b24462" /><Relationship Type="http://schemas.openxmlformats.org/officeDocument/2006/relationships/image" Target="/ppt/media/image26.png" Id="Re57ddfa6aded4c08" /><Relationship Type="http://schemas.openxmlformats.org/officeDocument/2006/relationships/notesSlide" Target="/ppt/notesSlides/notesSlide25.xml" Id="Rc0513e40cf2848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29a07b2da454a56" /><Relationship Type="http://schemas.openxmlformats.org/officeDocument/2006/relationships/image" Target="/ppt/media/image27.png" Id="Rbf40b06c99c448e7" /><Relationship Type="http://schemas.openxmlformats.org/officeDocument/2006/relationships/notesSlide" Target="/ppt/notesSlides/notesSlide26.xml" Id="Rcff3285d716e417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db9bf3cdefd4ff9" /><Relationship Type="http://schemas.openxmlformats.org/officeDocument/2006/relationships/image" Target="/ppt/media/image28.png" Id="Ra50d13f52c784b23" /><Relationship Type="http://schemas.openxmlformats.org/officeDocument/2006/relationships/notesSlide" Target="/ppt/notesSlides/notesSlide27.xml" Id="R340bdacc7dbc433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8dc67ae7afd43a4" /><Relationship Type="http://schemas.openxmlformats.org/officeDocument/2006/relationships/image" Target="/ppt/media/image29.png" Id="R36f4a885ed9f4a6b" /><Relationship Type="http://schemas.openxmlformats.org/officeDocument/2006/relationships/notesSlide" Target="/ppt/notesSlides/notesSlide28.xml" Id="R60b876b18ef34fb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929779a7f6045cd" /><Relationship Type="http://schemas.openxmlformats.org/officeDocument/2006/relationships/image" Target="/ppt/media/image30.png" Id="Rd9d107dda9824b36" /><Relationship Type="http://schemas.openxmlformats.org/officeDocument/2006/relationships/notesSlide" Target="/ppt/notesSlides/notesSlide29.xml" Id="Rfcafb134d30a43b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279c07351514aba" /><Relationship Type="http://schemas.openxmlformats.org/officeDocument/2006/relationships/image" Target="/ppt/media/image31.png" Id="Rdc791b48e8f24d18" /><Relationship Type="http://schemas.openxmlformats.org/officeDocument/2006/relationships/notesSlide" Target="/ppt/notesSlides/notesSlide30.xml" Id="Rf3ea5b4412da4c8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8620da89d784499" /><Relationship Type="http://schemas.openxmlformats.org/officeDocument/2006/relationships/image" Target="/ppt/media/image32.png" Id="Rfa704df2da734830" /><Relationship Type="http://schemas.openxmlformats.org/officeDocument/2006/relationships/notesSlide" Target="/ppt/notesSlides/notesSlide31.xml" Id="Rbf38ad115aab418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837f6020bb7403e" /><Relationship Type="http://schemas.openxmlformats.org/officeDocument/2006/relationships/image" Target="/ppt/media/image33.png" Id="R311b87f9052641f9" /><Relationship Type="http://schemas.openxmlformats.org/officeDocument/2006/relationships/notesSlide" Target="/ppt/notesSlides/notesSlide32.xml" Id="R7b6f1270808c491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1896fa79def4eb2" /><Relationship Type="http://schemas.openxmlformats.org/officeDocument/2006/relationships/image" Target="/ppt/media/image34.png" Id="R602a0e98c7514577" /><Relationship Type="http://schemas.openxmlformats.org/officeDocument/2006/relationships/notesSlide" Target="/ppt/notesSlides/notesSlide33.xml" Id="Rc36d28233e1c456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849beb377542d9" /><Relationship Type="http://schemas.openxmlformats.org/officeDocument/2006/relationships/image" Target="/ppt/media/image35.png" Id="R32d9087181ac4fe8" /><Relationship Type="http://schemas.openxmlformats.org/officeDocument/2006/relationships/notesSlide" Target="/ppt/notesSlides/notesSlide34.xml" Id="R36aebd8723e747b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c638f28c22440cc" /><Relationship Type="http://schemas.openxmlformats.org/officeDocument/2006/relationships/image" Target="/ppt/media/image36.png" Id="R005679e4316242a5" /><Relationship Type="http://schemas.openxmlformats.org/officeDocument/2006/relationships/notesSlide" Target="/ppt/notesSlides/notesSlide35.xml" Id="R5c1b8201f0a14d8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c813af31a534a04" /><Relationship Type="http://schemas.openxmlformats.org/officeDocument/2006/relationships/image" Target="/ppt/media/image37.png" Id="R0a28c6ba94264468" /><Relationship Type="http://schemas.openxmlformats.org/officeDocument/2006/relationships/notesSlide" Target="/ppt/notesSlides/notesSlide36.xml" Id="R7639f67239aa4da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6871fc985ee4ab2" /><Relationship Type="http://schemas.openxmlformats.org/officeDocument/2006/relationships/image" Target="/ppt/media/image38.png" Id="R0be30f15368540e8" /><Relationship Type="http://schemas.openxmlformats.org/officeDocument/2006/relationships/notesSlide" Target="/ppt/notesSlides/notesSlide37.xml" Id="R383fcedcea92444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131010990984678" /><Relationship Type="http://schemas.openxmlformats.org/officeDocument/2006/relationships/image" Target="/ppt/media/image39.png" Id="R76cfc2f997fd4421" /><Relationship Type="http://schemas.openxmlformats.org/officeDocument/2006/relationships/notesSlide" Target="/ppt/notesSlides/notesSlide38.xml" Id="R0a64adbd9ac84cd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8e81191b68249fc" /><Relationship Type="http://schemas.openxmlformats.org/officeDocument/2006/relationships/image" Target="/ppt/media/image40.png" Id="R3a78ca3a07694e25" /><Relationship Type="http://schemas.openxmlformats.org/officeDocument/2006/relationships/notesSlide" Target="/ppt/notesSlides/notesSlide39.xml" Id="R51b6e1669a444d4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ee6da325a934201" /><Relationship Type="http://schemas.openxmlformats.org/officeDocument/2006/relationships/image" Target="/ppt/media/image41.png" Id="R9d77bbab61f84d32" /><Relationship Type="http://schemas.openxmlformats.org/officeDocument/2006/relationships/notesSlide" Target="/ppt/notesSlides/notesSlide40.xml" Id="Ra241aed44b904ea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b9995b02f474852" /><Relationship Type="http://schemas.openxmlformats.org/officeDocument/2006/relationships/image" Target="/ppt/media/image42.png" Id="R51cda89f94384e52" /><Relationship Type="http://schemas.openxmlformats.org/officeDocument/2006/relationships/notesSlide" Target="/ppt/notesSlides/notesSlide41.xml" Id="Rb1a45ffe7987456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d4c7515b6cb4d72" /><Relationship Type="http://schemas.openxmlformats.org/officeDocument/2006/relationships/image" Target="/ppt/media/image43.png" Id="Rbe398ea1c06247d5" /><Relationship Type="http://schemas.openxmlformats.org/officeDocument/2006/relationships/notesSlide" Target="/ppt/notesSlides/notesSlide42.xml" Id="R43bc43ebcc13434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ac74e86d0704aa7" /><Relationship Type="http://schemas.openxmlformats.org/officeDocument/2006/relationships/image" Target="/ppt/media/image44.png" Id="R58d6cdbbde8c4814" /><Relationship Type="http://schemas.openxmlformats.org/officeDocument/2006/relationships/notesSlide" Target="/ppt/notesSlides/notesSlide43.xml" Id="Raadafcd9373045c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ce1fa0e4ba44114" /><Relationship Type="http://schemas.openxmlformats.org/officeDocument/2006/relationships/image" Target="/ppt/media/image45.png" Id="R755168376c2f4d99" /><Relationship Type="http://schemas.openxmlformats.org/officeDocument/2006/relationships/notesSlide" Target="/ppt/notesSlides/notesSlide44.xml" Id="R067d853a99ce418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853076deae4d419c" /><Relationship Type="http://schemas.openxmlformats.org/officeDocument/2006/relationships/image" Target="/ppt/media/image46.png" Id="R4871ecccb0714d17" /><Relationship Type="http://schemas.openxmlformats.org/officeDocument/2006/relationships/notesSlide" Target="/ppt/notesSlides/notesSlide45.xml" Id="R7fe3a03700cc420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c8a5f35976c4a19" /><Relationship Type="http://schemas.openxmlformats.org/officeDocument/2006/relationships/image" Target="/ppt/media/image47.png" Id="R3c0a1d819dae400a" /><Relationship Type="http://schemas.openxmlformats.org/officeDocument/2006/relationships/notesSlide" Target="/ppt/notesSlides/notesSlide46.xml" Id="R68d02b164596432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298474cffed44af" /><Relationship Type="http://schemas.openxmlformats.org/officeDocument/2006/relationships/image" Target="/ppt/media/image48.png" Id="R06072bf0f1194d8a" /><Relationship Type="http://schemas.openxmlformats.org/officeDocument/2006/relationships/notesSlide" Target="/ppt/notesSlides/notesSlide47.xml" Id="R3dd5caf8b19f498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43bc098ee684f1e" /><Relationship Type="http://schemas.openxmlformats.org/officeDocument/2006/relationships/image" Target="/ppt/media/image49.png" Id="R463e42cb44044089" /><Relationship Type="http://schemas.openxmlformats.org/officeDocument/2006/relationships/notesSlide" Target="/ppt/notesSlides/notesSlide48.xml" Id="Raa4c6d7deb294e74" /></Relationships>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422513-ED4A-4108-9659-FA9F284C960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Preparar la jornada con el cohete terminado</a:t>
            </a:r>
          </a:p>
        </p:txBody>
      </p:sp>
      <p:pic>
        <p:nvPicPr>
          <p:cNvPr id="2" name="">
            <a:extLst xmlns:a="http://schemas.openxmlformats.org/drawingml/2006/main">
              <a:ext uri="{FF2B5EF4-FFF2-40B4-BE49-F238E27FC236}">
                <a16:creationId xmlns:a16="http://schemas.microsoft.com/office/drawing/2014/main" id="{A3E92A48-064C-4D71-B585-B41E4898FC35}"/>
              </a:ext>
            </a:extLst>
          </p:cNvPr>
          <p:cNvPicPr>
            <a:picLocks xmlns:a="http://schemas.openxmlformats.org/drawingml/2006/main" noChangeAspect="1"/>
          </p:cNvPicPr>
          <p:nvPr/>
        </p:nvPicPr>
        <p:blipFill>
          <a:blip xmlns:r="http://schemas.openxmlformats.org/officeDocument/2006/relationships" xmlns:a="http://schemas.openxmlformats.org/drawingml/2006/main" r:embed="R544446dfbef64ee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369CB5A-658A-472A-9D70-10591A22CE7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01/24</a:t>
            </a:r>
          </a:p>
        </p:txBody>
      </p:sp>
      <p:sp>
        <p:nvSpPr>
          <p:cNvPr id="4" name="">
            <a:extLst xmlns:a="http://schemas.openxmlformats.org/drawingml/2006/main">
              <a:ext uri="{FF2B5EF4-FFF2-40B4-BE49-F238E27FC236}">
                <a16:creationId xmlns:a16="http://schemas.microsoft.com/office/drawing/2014/main" id="{13AC03B4-0E37-4FF1-A9C0-1B13A5E9CB72}"/>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Relacionar el objeto, el archivo y las comprobaciones pendientes antes de la revisión del responsable.</a:t>
            </a:r>
          </a:p>
        </p:txBody>
      </p:sp>
      <p:sp>
        <p:nvSpPr>
          <p:cNvPr id="5" name="">
            <a:extLst xmlns:a="http://schemas.openxmlformats.org/drawingml/2006/main">
              <a:ext uri="{FF2B5EF4-FFF2-40B4-BE49-F238E27FC236}">
                <a16:creationId xmlns:a16="http://schemas.microsoft.com/office/drawing/2014/main" id="{C44415AF-AEDD-487E-927D-4F7B3F34FF16}"/>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Llegar al día de campo con un conjunto identificado y un equipo organizado.</a:t>
            </a:r>
          </a:p>
        </p:txBody>
      </p:sp>
      <p:sp>
        <p:nvSpPr>
          <p:cNvPr id="6" name="">
            <a:extLst xmlns:a="http://schemas.openxmlformats.org/drawingml/2006/main">
              <a:ext uri="{FF2B5EF4-FFF2-40B4-BE49-F238E27FC236}">
                <a16:creationId xmlns:a16="http://schemas.microsoft.com/office/drawing/2014/main" id="{5B162EDD-164D-4B26-B12C-3DFE0ADE5880}"/>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404559038"/>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8FAE3C-681F-401F-8133-7B147748C50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revisión comienza con el objeto que existe</a:t>
            </a:r>
          </a:p>
        </p:txBody>
      </p:sp>
      <p:pic>
        <p:nvPicPr>
          <p:cNvPr id="2" name="">
            <a:extLst xmlns:a="http://schemas.openxmlformats.org/drawingml/2006/main">
              <a:ext uri="{FF2B5EF4-FFF2-40B4-BE49-F238E27FC236}">
                <a16:creationId xmlns:a16="http://schemas.microsoft.com/office/drawing/2014/main" id="{FCED381F-7D2F-4E56-99C5-19D348886842}"/>
              </a:ext>
            </a:extLst>
          </p:cNvPr>
          <p:cNvPicPr>
            <a:picLocks xmlns:a="http://schemas.openxmlformats.org/drawingml/2006/main" noChangeAspect="1"/>
          </p:cNvPicPr>
          <p:nvPr/>
        </p:nvPicPr>
        <p:blipFill>
          <a:blip xmlns:r="http://schemas.openxmlformats.org/officeDocument/2006/relationships" xmlns:a="http://schemas.openxmlformats.org/drawingml/2006/main" r:embed="Rbc47c050adb54b9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4037D03-8859-4B4E-91E7-D487DE6EC1A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02/24</a:t>
            </a:r>
          </a:p>
        </p:txBody>
      </p:sp>
      <p:sp>
        <p:nvSpPr>
          <p:cNvPr id="4" name="">
            <a:extLst xmlns:a="http://schemas.openxmlformats.org/drawingml/2006/main">
              <a:ext uri="{FF2B5EF4-FFF2-40B4-BE49-F238E27FC236}">
                <a16:creationId xmlns:a16="http://schemas.microsoft.com/office/drawing/2014/main" id="{0AFB65E5-B786-4847-B438-21694439E21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Antes de la jornada, cada equipo reúne el cohete, la revisión final del archivo, el plano y el registro de montaje. Una modificación posterior al taller debe aparecer en los documentos. Si se cambió una nariz o una aleta, el expediente anterior deja de describir por completo el objeto actual.</a:t>
            </a:r>
          </a:p>
        </p:txBody>
      </p:sp>
    </p:spTree>
    <p:extLst>
      <p:ext uri="{BB962C8B-B14F-4D97-AF65-F5344CB8AC3E}">
        <p14:creationId xmlns:p14="http://schemas.microsoft.com/office/powerpoint/2010/main" val="1863365445"/>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84B5B6-9E08-4028-9425-81E466E6D08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Tres referencias que deben corresponder</a:t>
            </a:r>
          </a:p>
        </p:txBody>
      </p:sp>
      <p:pic>
        <p:nvPicPr>
          <p:cNvPr id="2" name="">
            <a:extLst xmlns:a="http://schemas.openxmlformats.org/drawingml/2006/main">
              <a:ext uri="{FF2B5EF4-FFF2-40B4-BE49-F238E27FC236}">
                <a16:creationId xmlns:a16="http://schemas.microsoft.com/office/drawing/2014/main" id="{4C29A928-C54E-4BF3-849D-A3D18DB95AE6}"/>
              </a:ext>
            </a:extLst>
          </p:cNvPr>
          <p:cNvPicPr>
            <a:picLocks xmlns:a="http://schemas.openxmlformats.org/drawingml/2006/main" noChangeAspect="1"/>
          </p:cNvPicPr>
          <p:nvPr/>
        </p:nvPicPr>
        <p:blipFill>
          <a:blip xmlns:r="http://schemas.openxmlformats.org/officeDocument/2006/relationships" xmlns:a="http://schemas.openxmlformats.org/drawingml/2006/main" r:embed="R0e1674133f47495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9D4244-6CEF-43ED-9062-0D11C88D03E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03/24</a:t>
            </a:r>
          </a:p>
        </p:txBody>
      </p:sp>
      <p:graphicFrame>
        <p:nvGraphicFramePr>
          <p:cNvPr id="4" name="">
            <a:extLst xmlns:a="http://schemas.openxmlformats.org/drawingml/2006/main">
              <a:ext uri="{FF2B5EF4-FFF2-40B4-BE49-F238E27FC236}">
                <a16:creationId xmlns:a16="http://schemas.microsoft.com/office/drawing/2014/main" id="{203E1313-3652-40E1-963A-0045CA7EF490}"/>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897731">
                <a:tc>
                  <a:txBody>
                    <a:bodyPr/>
                    <a:lstStyle/>
                    <a:p>
                      <a:r>
                        <a:rPr sz="2025" b="1">
                          <a:solidFill>
                            <a:srgbClr val="FFFFFF"/>
                          </a:solidFill>
                          <a:latin typeface="Arial"/>
                          <a:ea typeface="Arial"/>
                          <a:cs typeface="Arial"/>
                        </a:rPr>
                        <a:t>Referencia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contiene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Objeto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Piezas y estado final</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Archivo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Geometría, masas y configuración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Registro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Comprobaciones y cambios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892881540"/>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EFE78A-3E3E-4702-AA17-4B1BA245F3A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revisión comienza con el objeto que existe</a:t>
            </a:r>
          </a:p>
        </p:txBody>
      </p:sp>
      <p:pic>
        <p:nvPicPr>
          <p:cNvPr id="2" name="">
            <a:extLst xmlns:a="http://schemas.openxmlformats.org/drawingml/2006/main">
              <a:ext uri="{FF2B5EF4-FFF2-40B4-BE49-F238E27FC236}">
                <a16:creationId xmlns:a16="http://schemas.microsoft.com/office/drawing/2014/main" id="{55E73A22-1B5A-4080-99C2-0376D36892C8}"/>
              </a:ext>
            </a:extLst>
          </p:cNvPr>
          <p:cNvPicPr>
            <a:picLocks xmlns:a="http://schemas.openxmlformats.org/drawingml/2006/main" noChangeAspect="1"/>
          </p:cNvPicPr>
          <p:nvPr/>
        </p:nvPicPr>
        <p:blipFill>
          <a:blip xmlns:r="http://schemas.openxmlformats.org/officeDocument/2006/relationships" xmlns:a="http://schemas.openxmlformats.org/drawingml/2006/main" r:embed="R1a538f6c3e9048b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E9AB73C-FAD4-4491-817E-1FAF4AC16E6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04/24</a:t>
            </a:r>
          </a:p>
        </p:txBody>
      </p:sp>
      <p:sp>
        <p:nvSpPr>
          <p:cNvPr id="4" name="">
            <a:extLst xmlns:a="http://schemas.openxmlformats.org/drawingml/2006/main">
              <a:ext uri="{FF2B5EF4-FFF2-40B4-BE49-F238E27FC236}">
                <a16:creationId xmlns:a16="http://schemas.microsoft.com/office/drawing/2014/main" id="{ADB3D34C-16AF-41B0-8ABC-23C736B77DA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Preparar una jornada consiste en conectar el estado del objeto con un expediente vigente y con el trabajo de las personas. El equipo debe poder mostrar cuál es su revisión, qué comprobaciones realizó y qué queda pendiente. Una ficha marcada antes de cambiar una pieza puede haber perdido parte de su valor. La revisión previa identifica esas relaciones y permite al responsable decidir con información sobre el conjunto que realmente se presenta.</a:t>
            </a:r>
          </a:p>
        </p:txBody>
      </p:sp>
    </p:spTree>
    <p:extLst>
      <p:ext uri="{BB962C8B-B14F-4D97-AF65-F5344CB8AC3E}">
        <p14:creationId xmlns:p14="http://schemas.microsoft.com/office/powerpoint/2010/main" val="177560737"/>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8E1706-990C-4992-B937-D97AA916B30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lista de revisión que se pueda demostrar</a:t>
            </a:r>
          </a:p>
        </p:txBody>
      </p:sp>
      <p:pic>
        <p:nvPicPr>
          <p:cNvPr id="2" name="">
            <a:extLst xmlns:a="http://schemas.openxmlformats.org/drawingml/2006/main">
              <a:ext uri="{FF2B5EF4-FFF2-40B4-BE49-F238E27FC236}">
                <a16:creationId xmlns:a16="http://schemas.microsoft.com/office/drawing/2014/main" id="{AE36355D-C4D4-4048-996A-59FE0B506CD4}"/>
              </a:ext>
            </a:extLst>
          </p:cNvPr>
          <p:cNvPicPr>
            <a:picLocks xmlns:a="http://schemas.openxmlformats.org/drawingml/2006/main" noChangeAspect="1"/>
          </p:cNvPicPr>
          <p:nvPr/>
        </p:nvPicPr>
        <p:blipFill>
          <a:blip xmlns:r="http://schemas.openxmlformats.org/officeDocument/2006/relationships" xmlns:a="http://schemas.openxmlformats.org/drawingml/2006/main" r:embed="Rb6e9280ea306401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C4C7C88-609F-4013-A42C-31D2E8AE162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05/24</a:t>
            </a:r>
          </a:p>
        </p:txBody>
      </p:sp>
      <p:sp>
        <p:nvSpPr>
          <p:cNvPr id="4" name="">
            <a:extLst xmlns:a="http://schemas.openxmlformats.org/drawingml/2006/main">
              <a:ext uri="{FF2B5EF4-FFF2-40B4-BE49-F238E27FC236}">
                <a16:creationId xmlns:a16="http://schemas.microsoft.com/office/drawing/2014/main" id="{4C4836A4-B485-4B32-90DB-0316B701E3B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estado “pendiente” debe conservarse cuando falta información. Marcar todo como terminado para que el expediente se vea bien impide organizar la jornada. Si una condición importante no se puede cerrar, el equipo participa en la observación y el análisis de los otros proyectos mientras resuelve su caso.</a:t>
            </a:r>
          </a:p>
        </p:txBody>
      </p:sp>
    </p:spTree>
    <p:extLst>
      <p:ext uri="{BB962C8B-B14F-4D97-AF65-F5344CB8AC3E}">
        <p14:creationId xmlns:p14="http://schemas.microsoft.com/office/powerpoint/2010/main" val="1725751474"/>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97A08F-CDF3-4037-BFD4-CC48B39687D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Revisión del equipo</a:t>
            </a:r>
          </a:p>
        </p:txBody>
      </p:sp>
      <p:pic>
        <p:nvPicPr>
          <p:cNvPr id="2" name="">
            <a:extLst xmlns:a="http://schemas.openxmlformats.org/drawingml/2006/main">
              <a:ext uri="{FF2B5EF4-FFF2-40B4-BE49-F238E27FC236}">
                <a16:creationId xmlns:a16="http://schemas.microsoft.com/office/drawing/2014/main" id="{A3ED8FE2-F958-4F36-A6FF-9CCD765486AD}"/>
              </a:ext>
            </a:extLst>
          </p:cNvPr>
          <p:cNvPicPr>
            <a:picLocks xmlns:a="http://schemas.openxmlformats.org/drawingml/2006/main" noChangeAspect="1"/>
          </p:cNvPicPr>
          <p:nvPr/>
        </p:nvPicPr>
        <p:blipFill>
          <a:blip xmlns:r="http://schemas.openxmlformats.org/officeDocument/2006/relationships" xmlns:a="http://schemas.openxmlformats.org/drawingml/2006/main" r:embed="R15da155f99ec4fa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3C4EA17-6C89-41DF-9C0F-4659CF458C4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06/24</a:t>
            </a:r>
          </a:p>
        </p:txBody>
      </p:sp>
      <p:graphicFrame>
        <p:nvGraphicFramePr>
          <p:cNvPr id="4" name="">
            <a:extLst xmlns:a="http://schemas.openxmlformats.org/drawingml/2006/main">
              <a:ext uri="{FF2B5EF4-FFF2-40B4-BE49-F238E27FC236}">
                <a16:creationId xmlns:a16="http://schemas.microsoft.com/office/drawing/2014/main" id="{F89F1460-6C4E-420A-8189-D8DE345D3338}"/>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564696">
                <a:tc>
                  <a:txBody>
                    <a:bodyPr/>
                    <a:lstStyle/>
                    <a:p>
                      <a:r>
                        <a:rPr sz="2025" b="1">
                          <a:solidFill>
                            <a:srgbClr val="FFFFFF"/>
                          </a:solidFill>
                          <a:latin typeface="Arial"/>
                          <a:ea typeface="Arial"/>
                          <a:cs typeface="Arial"/>
                        </a:rPr>
                        <a:t>Punto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Evidencia concreta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564696">
                <a:tc>
                  <a:txBody>
                    <a:bodyPr/>
                    <a:lstStyle/>
                    <a:p>
                      <a:r>
                        <a:rPr sz="2025" b="0">
                          <a:solidFill>
                            <a:srgbClr val="14231E"/>
                          </a:solidFill>
                          <a:latin typeface="Arial"/>
                          <a:ea typeface="Arial"/>
                          <a:cs typeface="Arial"/>
                        </a:rPr>
                        <a:t>Identificación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Nombre de equipo y revisión</a:t>
                      </a:r>
                    </a:p>
                  </a:txBody>
                  <a:tcPr marL="91440" marR="91440" marT="45720" marB="45720">
                    <a:lnR w="9525">
                      <a:solidFill>
                        <a:srgbClr val="BFCEC3"/>
                      </a:solidFill>
                      <a:prstDash val="solid"/>
                    </a:lnR>
                    <a:lnB w="9525">
                      <a:solidFill>
                        <a:srgbClr val="BFCEC3"/>
                      </a:solidFill>
                      <a:prstDash val="solid"/>
                    </a:lnB>
                    <a:solidFill>
                      <a:srgbClr val="EAF3EC"/>
                    </a:solidFill>
                  </a:tcPr>
                </a:tc>
              </a:tr>
              <a:tr h="564696">
                <a:tc>
                  <a:txBody>
                    <a:bodyPr/>
                    <a:lstStyle/>
                    <a:p>
                      <a:r>
                        <a:rPr sz="2025" b="0">
                          <a:solidFill>
                            <a:srgbClr val="14231E"/>
                          </a:solidFill>
                          <a:latin typeface="Arial"/>
                          <a:ea typeface="Arial"/>
                          <a:cs typeface="Arial"/>
                        </a:rPr>
                        <a:t>Piezas y alineación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Vistas y observación actual</a:t>
                      </a:r>
                    </a:p>
                  </a:txBody>
                  <a:tcPr marL="91440" marR="91440" marT="45720" marB="45720">
                    <a:lnR w="9525">
                      <a:solidFill>
                        <a:srgbClr val="BFCEC3"/>
                      </a:solidFill>
                      <a:prstDash val="solid"/>
                    </a:lnR>
                    <a:lnB w="9525">
                      <a:solidFill>
                        <a:srgbClr val="BFCEC3"/>
                      </a:solidFill>
                      <a:prstDash val="solid"/>
                    </a:lnB>
                    <a:solidFill>
                      <a:srgbClr val="FCFCF8"/>
                    </a:solidFill>
                  </a:tcPr>
                </a:tc>
              </a:tr>
              <a:tr h="564696">
                <a:tc>
                  <a:txBody>
                    <a:bodyPr/>
                    <a:lstStyle/>
                    <a:p>
                      <a:r>
                        <a:rPr sz="2025" b="0">
                          <a:solidFill>
                            <a:srgbClr val="14231E"/>
                          </a:solidFill>
                          <a:latin typeface="Arial"/>
                          <a:ea typeface="Arial"/>
                          <a:cs typeface="Arial"/>
                        </a:rPr>
                        <a:t>Masas y dimensiones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Registro de la condición medida</a:t>
                      </a:r>
                    </a:p>
                  </a:txBody>
                  <a:tcPr marL="91440" marR="91440" marT="45720" marB="45720">
                    <a:lnR w="9525">
                      <a:solidFill>
                        <a:srgbClr val="BFCEC3"/>
                      </a:solidFill>
                      <a:prstDash val="solid"/>
                    </a:lnR>
                    <a:lnB w="9525">
                      <a:solidFill>
                        <a:srgbClr val="BFCEC3"/>
                      </a:solidFill>
                      <a:prstDash val="solid"/>
                    </a:lnB>
                    <a:solidFill>
                      <a:srgbClr val="EAF3EC"/>
                    </a:solidFill>
                  </a:tcPr>
                </a:tc>
              </a:tr>
              <a:tr h="564696">
                <a:tc>
                  <a:txBody>
                    <a:bodyPr/>
                    <a:lstStyle/>
                    <a:p>
                      <a:r>
                        <a:rPr sz="2025" b="0">
                          <a:solidFill>
                            <a:srgbClr val="14231E"/>
                          </a:solidFill>
                          <a:latin typeface="Arial"/>
                          <a:ea typeface="Arial"/>
                          <a:cs typeface="Arial"/>
                        </a:rPr>
                        <a:t>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Comprobación de banco correspondiente</a:t>
                      </a:r>
                    </a:p>
                  </a:txBody>
                  <a:tcPr marL="91440" marR="91440" marT="45720" marB="45720">
                    <a:lnR w="9525">
                      <a:solidFill>
                        <a:srgbClr val="BFCEC3"/>
                      </a:solidFill>
                      <a:prstDash val="solid"/>
                    </a:lnR>
                    <a:lnB w="9525">
                      <a:solidFill>
                        <a:srgbClr val="BFCEC3"/>
                      </a:solidFill>
                      <a:prstDash val="solid"/>
                    </a:lnB>
                    <a:solidFill>
                      <a:srgbClr val="FCFCF8"/>
                    </a:solidFill>
                  </a:tcPr>
                </a:tc>
              </a:tr>
              <a:tr h="564696">
                <a:tc>
                  <a:txBody>
                    <a:bodyPr/>
                    <a:lstStyle/>
                    <a:p>
                      <a:r>
                        <a:rPr sz="2025" b="0">
                          <a:solidFill>
                            <a:srgbClr val="14231E"/>
                          </a:solidFill>
                          <a:latin typeface="Arial"/>
                          <a:ea typeface="Arial"/>
                          <a:cs typeface="Arial"/>
                        </a:rPr>
                        <a:t>Conjunto comercial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Referencia e instrucciones</a:t>
                      </a:r>
                    </a:p>
                  </a:txBody>
                  <a:tcPr marL="91440" marR="91440" marT="45720" marB="45720">
                    <a:lnR w="9525">
                      <a:solidFill>
                        <a:srgbClr val="BFCEC3"/>
                      </a:solidFill>
                      <a:prstDash val="solid"/>
                    </a:lnR>
                    <a:lnB w="9525">
                      <a:solidFill>
                        <a:srgbClr val="BFCEC3"/>
                      </a:solidFill>
                      <a:prstDash val="solid"/>
                    </a:lnB>
                    <a:solidFill>
                      <a:srgbClr val="EAF3EC"/>
                    </a:solidFill>
                  </a:tcPr>
                </a:tc>
              </a:tr>
              <a:tr h="564696">
                <a:tc>
                  <a:txBody>
                    <a:bodyPr/>
                    <a:lstStyle/>
                    <a:p>
                      <a:r>
                        <a:rPr sz="2025" b="0">
                          <a:solidFill>
                            <a:srgbClr val="14231E"/>
                          </a:solidFill>
                          <a:latin typeface="Arial"/>
                          <a:ea typeface="Arial"/>
                          <a:cs typeface="Arial"/>
                        </a:rPr>
                        <a:t>Pendientes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Corrección y revisión posterior</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831110331"/>
      </p:ext>
    </p:extLst>
  </p:cSld>
</p:sld>
</file>

<file path=ppt/slides/slide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38B2EF-7C3A-4F66-B934-1DF0C500CDE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 cambio pequeño que importa</a:t>
            </a:r>
          </a:p>
        </p:txBody>
      </p:sp>
      <p:pic>
        <p:nvPicPr>
          <p:cNvPr id="2" name="">
            <a:extLst xmlns:a="http://schemas.openxmlformats.org/drawingml/2006/main">
              <a:ext uri="{FF2B5EF4-FFF2-40B4-BE49-F238E27FC236}">
                <a16:creationId xmlns:a16="http://schemas.microsoft.com/office/drawing/2014/main" id="{A47F44B0-67FE-4386-963A-C25EB1F68381}"/>
              </a:ext>
            </a:extLst>
          </p:cNvPr>
          <p:cNvPicPr>
            <a:picLocks xmlns:a="http://schemas.openxmlformats.org/drawingml/2006/main" noChangeAspect="1"/>
          </p:cNvPicPr>
          <p:nvPr/>
        </p:nvPicPr>
        <p:blipFill>
          <a:blip xmlns:r="http://schemas.openxmlformats.org/officeDocument/2006/relationships" xmlns:a="http://schemas.openxmlformats.org/drawingml/2006/main" r:embed="R9ab3f5f99d9c426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98112F2-D81F-4B68-B692-F1D8BECAA72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07/24</a:t>
            </a:r>
          </a:p>
        </p:txBody>
      </p:sp>
      <p:sp>
        <p:nvSpPr>
          <p:cNvPr id="4" name="">
            <a:extLst xmlns:a="http://schemas.openxmlformats.org/drawingml/2006/main">
              <a:ext uri="{FF2B5EF4-FFF2-40B4-BE49-F238E27FC236}">
                <a16:creationId xmlns:a16="http://schemas.microsoft.com/office/drawing/2014/main" id="{A99B357C-8599-47BB-A3E6-0798AB363B43}"/>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equipo sustituyó una pieza después de la última simulación, pero afirma que se parece mucho.</a:t>
            </a:r>
          </a:p>
        </p:txBody>
      </p:sp>
      <p:sp>
        <p:nvSpPr>
          <p:cNvPr id="5" name="">
            <a:extLst xmlns:a="http://schemas.openxmlformats.org/drawingml/2006/main">
              <a:ext uri="{FF2B5EF4-FFF2-40B4-BE49-F238E27FC236}">
                <a16:creationId xmlns:a16="http://schemas.microsoft.com/office/drawing/2014/main" id="{3F531B63-660B-4258-BB09-55A7DCB60E27}"/>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evidencia permite cerrar cada punto?</a:t>
            </a:r>
          </a:p>
        </p:txBody>
      </p:sp>
    </p:spTree>
    <p:extLst>
      <p:ext uri="{BB962C8B-B14F-4D97-AF65-F5344CB8AC3E}">
        <p14:creationId xmlns:p14="http://schemas.microsoft.com/office/powerpoint/2010/main" val="1462547456"/>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94BD8D-E678-4598-AEB2-09DED7ABC54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Organizar responsabilidades</a:t>
            </a:r>
          </a:p>
        </p:txBody>
      </p:sp>
      <p:pic>
        <p:nvPicPr>
          <p:cNvPr id="2" name="">
            <a:extLst xmlns:a="http://schemas.openxmlformats.org/drawingml/2006/main">
              <a:ext uri="{FF2B5EF4-FFF2-40B4-BE49-F238E27FC236}">
                <a16:creationId xmlns:a16="http://schemas.microsoft.com/office/drawing/2014/main" id="{DB26DB3A-F125-420B-BF7D-624E95D8C0C2}"/>
              </a:ext>
            </a:extLst>
          </p:cNvPr>
          <p:cNvPicPr>
            <a:picLocks xmlns:a="http://schemas.openxmlformats.org/drawingml/2006/main" noChangeAspect="1"/>
          </p:cNvPicPr>
          <p:nvPr/>
        </p:nvPicPr>
        <p:blipFill>
          <a:blip xmlns:r="http://schemas.openxmlformats.org/officeDocument/2006/relationships" xmlns:a="http://schemas.openxmlformats.org/drawingml/2006/main" r:embed="R469935960b8e4be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3EB7265-CB60-4D74-8114-25697692912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08/24</a:t>
            </a:r>
          </a:p>
        </p:txBody>
      </p:sp>
      <p:sp>
        <p:nvSpPr>
          <p:cNvPr id="4" name="">
            <a:extLst xmlns:a="http://schemas.openxmlformats.org/drawingml/2006/main">
              <a:ext uri="{FF2B5EF4-FFF2-40B4-BE49-F238E27FC236}">
                <a16:creationId xmlns:a16="http://schemas.microsoft.com/office/drawing/2014/main" id="{0389BF63-3AB4-4D25-819E-F95D3EE19D38}"/>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una jornada hay actividades de operación, observación y recuperación. No todos los participantes manipulan el conjunto al mismo tiempo. El equipo docente establece las funciones y los límites de intervención. Cada grupo de alumnos puede asignar responsable de expediente, observación, registro audiovisual y análisis de datos.</a:t>
            </a:r>
          </a:p>
        </p:txBody>
      </p:sp>
    </p:spTree>
    <p:extLst>
      <p:ext uri="{BB962C8B-B14F-4D97-AF65-F5344CB8AC3E}">
        <p14:creationId xmlns:p14="http://schemas.microsoft.com/office/powerpoint/2010/main" val="1091446606"/>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5ECF00-E242-4031-8350-27590A3B0DA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Roles de aprendizaje</a:t>
            </a:r>
          </a:p>
        </p:txBody>
      </p:sp>
      <p:pic>
        <p:nvPicPr>
          <p:cNvPr id="2" name="">
            <a:extLst xmlns:a="http://schemas.openxmlformats.org/drawingml/2006/main">
              <a:ext uri="{FF2B5EF4-FFF2-40B4-BE49-F238E27FC236}">
                <a16:creationId xmlns:a16="http://schemas.microsoft.com/office/drawing/2014/main" id="{6AA5791C-4DCF-41D7-89CD-D514CF6402CA}"/>
              </a:ext>
            </a:extLst>
          </p:cNvPr>
          <p:cNvPicPr>
            <a:picLocks xmlns:a="http://schemas.openxmlformats.org/drawingml/2006/main" noChangeAspect="1"/>
          </p:cNvPicPr>
          <p:nvPr/>
        </p:nvPicPr>
        <p:blipFill>
          <a:blip xmlns:r="http://schemas.openxmlformats.org/officeDocument/2006/relationships" xmlns:a="http://schemas.openxmlformats.org/drawingml/2006/main" r:embed="Rc5fe3a01d71c402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EA6374C-1F2D-4F8C-AD3E-9819785153D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09/24</a:t>
            </a:r>
          </a:p>
        </p:txBody>
      </p:sp>
      <p:graphicFrame>
        <p:nvGraphicFramePr>
          <p:cNvPr id="4" name="">
            <a:extLst xmlns:a="http://schemas.openxmlformats.org/drawingml/2006/main">
              <a:ext uri="{FF2B5EF4-FFF2-40B4-BE49-F238E27FC236}">
                <a16:creationId xmlns:a16="http://schemas.microsoft.com/office/drawing/2014/main" id="{9DD667AE-B8D6-48D0-8129-23ED991B32E3}"/>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Rol</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Responsabilidad</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Expediente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Conservar la configuración y registrar cambios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Observación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Anotar eventos reconocibles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Imagen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Registrar con referencias útiles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Datos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Relacionar archivos y preguntas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Portavoz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Explicar el estado del proyecto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517845009"/>
      </p:ext>
    </p:extLst>
  </p:cSld>
</p:sld>
</file>

<file path=ppt/slides/slide1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DF88716-C408-4178-B81A-56B597D9E00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Todo el equipo quiere grabar</a:t>
            </a:r>
          </a:p>
        </p:txBody>
      </p:sp>
      <p:pic>
        <p:nvPicPr>
          <p:cNvPr id="2" name="">
            <a:extLst xmlns:a="http://schemas.openxmlformats.org/drawingml/2006/main">
              <a:ext uri="{FF2B5EF4-FFF2-40B4-BE49-F238E27FC236}">
                <a16:creationId xmlns:a16="http://schemas.microsoft.com/office/drawing/2014/main" id="{60E17625-7339-4589-BC13-059A11CEA478}"/>
              </a:ext>
            </a:extLst>
          </p:cNvPr>
          <p:cNvPicPr>
            <a:picLocks xmlns:a="http://schemas.openxmlformats.org/drawingml/2006/main" noChangeAspect="1"/>
          </p:cNvPicPr>
          <p:nvPr/>
        </p:nvPicPr>
        <p:blipFill>
          <a:blip xmlns:r="http://schemas.openxmlformats.org/officeDocument/2006/relationships" xmlns:a="http://schemas.openxmlformats.org/drawingml/2006/main" r:embed="R3916cf50703d405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512D49A-F224-4A26-9503-5F475DB207B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10/24</a:t>
            </a:r>
          </a:p>
        </p:txBody>
      </p:sp>
      <p:sp>
        <p:nvSpPr>
          <p:cNvPr id="4" name="">
            <a:extLst xmlns:a="http://schemas.openxmlformats.org/drawingml/2006/main">
              <a:ext uri="{FF2B5EF4-FFF2-40B4-BE49-F238E27FC236}">
                <a16:creationId xmlns:a16="http://schemas.microsoft.com/office/drawing/2014/main" id="{F1CC29A7-8639-470D-8EA0-4F4EEC8356C9}"/>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Nadie anotó qué revisión del cohete se utilizó ni qué archivo estaba asociado.</a:t>
            </a:r>
          </a:p>
        </p:txBody>
      </p:sp>
      <p:sp>
        <p:nvSpPr>
          <p:cNvPr id="5" name="">
            <a:extLst xmlns:a="http://schemas.openxmlformats.org/drawingml/2006/main">
              <a:ext uri="{FF2B5EF4-FFF2-40B4-BE49-F238E27FC236}">
                <a16:creationId xmlns:a16="http://schemas.microsoft.com/office/drawing/2014/main" id="{9F5D4945-0766-47E3-8931-568151A9BAFB}"/>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¿Quién registra la configuración?</a:t>
            </a:r>
          </a:p>
        </p:txBody>
      </p:sp>
    </p:spTree>
    <p:extLst>
      <p:ext uri="{BB962C8B-B14F-4D97-AF65-F5344CB8AC3E}">
        <p14:creationId xmlns:p14="http://schemas.microsoft.com/office/powerpoint/2010/main" val="1758852717"/>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BA90CC-4B2B-4855-8C51-D5A3625DE05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Preparar observaciones que después sirvan</a:t>
            </a:r>
          </a:p>
        </p:txBody>
      </p:sp>
      <p:pic>
        <p:nvPicPr>
          <p:cNvPr id="2" name="">
            <a:extLst xmlns:a="http://schemas.openxmlformats.org/drawingml/2006/main">
              <a:ext uri="{FF2B5EF4-FFF2-40B4-BE49-F238E27FC236}">
                <a16:creationId xmlns:a16="http://schemas.microsoft.com/office/drawing/2014/main" id="{23FB3B6E-A812-4ADE-98B2-E3F6C224C05E}"/>
              </a:ext>
            </a:extLst>
          </p:cNvPr>
          <p:cNvPicPr>
            <a:picLocks xmlns:a="http://schemas.openxmlformats.org/drawingml/2006/main" noChangeAspect="1"/>
          </p:cNvPicPr>
          <p:nvPr/>
        </p:nvPicPr>
        <p:blipFill>
          <a:blip xmlns:r="http://schemas.openxmlformats.org/officeDocument/2006/relationships" xmlns:a="http://schemas.openxmlformats.org/drawingml/2006/main" r:embed="Rec111ac36f0d425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BB6D200-8CA4-490C-916F-95BE530F932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11/24</a:t>
            </a:r>
          </a:p>
        </p:txBody>
      </p:sp>
      <p:sp>
        <p:nvSpPr>
          <p:cNvPr id="4" name="">
            <a:extLst xmlns:a="http://schemas.openxmlformats.org/drawingml/2006/main">
              <a:ext uri="{FF2B5EF4-FFF2-40B4-BE49-F238E27FC236}">
                <a16:creationId xmlns:a16="http://schemas.microsoft.com/office/drawing/2014/main" id="{CF545B3A-06E0-4459-B1FF-A538683B0E6A}"/>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observación visual puede describir una fase sin medir una altura. No se convierte una impresión del espectador en un número exacto de metros. El demostrador docente con CanSat tiene otra fuente de datos y otro expediente.</a:t>
            </a:r>
          </a:p>
        </p:txBody>
      </p:sp>
    </p:spTree>
    <p:extLst>
      <p:ext uri="{BB962C8B-B14F-4D97-AF65-F5344CB8AC3E}">
        <p14:creationId xmlns:p14="http://schemas.microsoft.com/office/powerpoint/2010/main" val="1610218835"/>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ACD77D-47D9-4F1A-89F4-BF863A9035B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Preparar observaciones que después sirvan</a:t>
            </a:r>
          </a:p>
        </p:txBody>
      </p:sp>
      <p:pic>
        <p:nvPicPr>
          <p:cNvPr id="2" name="">
            <a:extLst xmlns:a="http://schemas.openxmlformats.org/drawingml/2006/main">
              <a:ext uri="{FF2B5EF4-FFF2-40B4-BE49-F238E27FC236}">
                <a16:creationId xmlns:a16="http://schemas.microsoft.com/office/drawing/2014/main" id="{5E39AC4A-F526-456B-A0AB-2C5786561B09}"/>
              </a:ext>
            </a:extLst>
          </p:cNvPr>
          <p:cNvPicPr>
            <a:picLocks xmlns:a="http://schemas.openxmlformats.org/drawingml/2006/main" noChangeAspect="1"/>
          </p:cNvPicPr>
          <p:nvPr/>
        </p:nvPicPr>
        <p:blipFill>
          <a:blip xmlns:r="http://schemas.openxmlformats.org/officeDocument/2006/relationships" xmlns:a="http://schemas.openxmlformats.org/drawingml/2006/main" r:embed="Rec16e387a40c454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E4538D6-56D9-4C79-9170-8AD86198957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12/24</a:t>
            </a:r>
          </a:p>
        </p:txBody>
      </p:sp>
      <p:pic>
        <p:nvPicPr>
          <p:cNvPr id="4" name="">
            <a:extLst xmlns:a="http://schemas.openxmlformats.org/drawingml/2006/main">
              <a:ext uri="{FF2B5EF4-FFF2-40B4-BE49-F238E27FC236}">
                <a16:creationId xmlns:a16="http://schemas.microsoft.com/office/drawing/2014/main" id="{3099A038-3323-4566-B140-37DC65401EB3}"/>
              </a:ext>
            </a:extLst>
          </p:cNvPr>
          <p:cNvPicPr>
            <a:picLocks xmlns:a="http://schemas.openxmlformats.org/drawingml/2006/main" noChangeAspect="1"/>
          </p:cNvPicPr>
          <p:nvPr/>
        </p:nvPicPr>
        <p:blipFill>
          <a:blip xmlns:r="http://schemas.openxmlformats.org/officeDocument/2006/relationships" xmlns:a="http://schemas.openxmlformats.org/drawingml/2006/main" r:embed="R33a73c9cf1b746e0"/>
          <a:stretch xmlns:a="http://schemas.openxmlformats.org/drawingml/2006/main"/>
        </p:blipFill>
        <p:spPr>
          <a:xfrm xmlns:a="http://schemas.openxmlformats.org/drawingml/2006/main">
            <a:off x="1209380" y="1657350"/>
            <a:ext cx="6172791"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F3BF507-A113-4CFB-B697-6FEBDCE07530}"/>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eventos se podrán observar realmente?</a:t>
            </a:r>
          </a:p>
        </p:txBody>
      </p:sp>
      <p:sp>
        <p:nvSpPr>
          <p:cNvPr id="6" name="">
            <a:extLst xmlns:a="http://schemas.openxmlformats.org/drawingml/2006/main">
              <a:ext uri="{FF2B5EF4-FFF2-40B4-BE49-F238E27FC236}">
                <a16:creationId xmlns:a16="http://schemas.microsoft.com/office/drawing/2014/main" id="{7842FC55-FAA7-44DD-B434-3407913FE8EA}"/>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NASA Glenn: secuencia de eventos para preparar una hoja de observación. No se usa la figura para estimar alturas del proyecto.</a:t>
            </a:r>
          </a:p>
        </p:txBody>
      </p:sp>
    </p:spTree>
    <p:extLst>
      <p:ext uri="{BB962C8B-B14F-4D97-AF65-F5344CB8AC3E}">
        <p14:creationId xmlns:p14="http://schemas.microsoft.com/office/powerpoint/2010/main" val="1229164284"/>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8CE6C7-98A2-4BEA-BDF1-36FEED74BCD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Preparar observaciones que después sirvan</a:t>
            </a:r>
          </a:p>
        </p:txBody>
      </p:sp>
      <p:pic>
        <p:nvPicPr>
          <p:cNvPr id="2" name="">
            <a:extLst xmlns:a="http://schemas.openxmlformats.org/drawingml/2006/main">
              <a:ext uri="{FF2B5EF4-FFF2-40B4-BE49-F238E27FC236}">
                <a16:creationId xmlns:a16="http://schemas.microsoft.com/office/drawing/2014/main" id="{54EA9389-2F2C-4582-8738-53A2828A7266}"/>
              </a:ext>
            </a:extLst>
          </p:cNvPr>
          <p:cNvPicPr>
            <a:picLocks xmlns:a="http://schemas.openxmlformats.org/drawingml/2006/main" noChangeAspect="1"/>
          </p:cNvPicPr>
          <p:nvPr/>
        </p:nvPicPr>
        <p:blipFill>
          <a:blip xmlns:r="http://schemas.openxmlformats.org/officeDocument/2006/relationships" xmlns:a="http://schemas.openxmlformats.org/drawingml/2006/main" r:embed="R6c2310e0acbe4a2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9B1E61A-326A-4EDB-8D48-5A555EC43C1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13/24</a:t>
            </a:r>
          </a:p>
        </p:txBody>
      </p:sp>
      <p:sp>
        <p:nvSpPr>
          <p:cNvPr id="4" name="">
            <a:extLst xmlns:a="http://schemas.openxmlformats.org/drawingml/2006/main">
              <a:ext uri="{FF2B5EF4-FFF2-40B4-BE49-F238E27FC236}">
                <a16:creationId xmlns:a16="http://schemas.microsoft.com/office/drawing/2014/main" id="{4804C958-E87B-4782-873E-0B3F134080AA}"/>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Escribe la identificación del modelo y su configuración de referencia.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Define qué eventos reconocerá el observador: salida, subida, recuperación visible y contacto con el suelo cuando sea observable.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Declara el origen de tiempo de la grabación o del registro.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Anota qué magnitudes se podrán medir y cuáles solo describir cualitativamente.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Prepara espacio para un evento no observado o una interrupción del registro.</a:t>
            </a:r>
          </a:p>
        </p:txBody>
      </p:sp>
    </p:spTree>
    <p:extLst>
      <p:ext uri="{BB962C8B-B14F-4D97-AF65-F5344CB8AC3E}">
        <p14:creationId xmlns:p14="http://schemas.microsoft.com/office/powerpoint/2010/main" val="975466328"/>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59708A-2D99-4B78-9C2D-56AF7986E48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jornada también necesita alternativas</a:t>
            </a:r>
          </a:p>
        </p:txBody>
      </p:sp>
      <p:pic>
        <p:nvPicPr>
          <p:cNvPr id="2" name="">
            <a:extLst xmlns:a="http://schemas.openxmlformats.org/drawingml/2006/main">
              <a:ext uri="{FF2B5EF4-FFF2-40B4-BE49-F238E27FC236}">
                <a16:creationId xmlns:a16="http://schemas.microsoft.com/office/drawing/2014/main" id="{A515A37E-0B58-459D-AAF3-FA9E1F3DB600}"/>
              </a:ext>
            </a:extLst>
          </p:cNvPr>
          <p:cNvPicPr>
            <a:picLocks xmlns:a="http://schemas.openxmlformats.org/drawingml/2006/main" noChangeAspect="1"/>
          </p:cNvPicPr>
          <p:nvPr/>
        </p:nvPicPr>
        <p:blipFill>
          <a:blip xmlns:r="http://schemas.openxmlformats.org/officeDocument/2006/relationships" xmlns:a="http://schemas.openxmlformats.org/drawingml/2006/main" r:embed="Rc220b708b22041c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8FA16A4-0B16-4129-B82A-A4ABE0DF4D6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14/24</a:t>
            </a:r>
          </a:p>
        </p:txBody>
      </p:sp>
      <p:sp>
        <p:nvSpPr>
          <p:cNvPr id="4" name="">
            <a:extLst xmlns:a="http://schemas.openxmlformats.org/drawingml/2006/main">
              <a:ext uri="{FF2B5EF4-FFF2-40B4-BE49-F238E27FC236}">
                <a16:creationId xmlns:a16="http://schemas.microsoft.com/office/drawing/2014/main" id="{892BD22D-E943-4C5F-B97F-6F36D56CDCF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agenda reserva tiempo para revisión, desplazamientos organizados, pausas y análisis. El día completo no es una secuencia ininterrumpida de lanzamientos. Si el curso quiere enseñar a construir de forma responsable, también debe enseñar a conservar una decisión de aplazamiento y su motivo.</a:t>
            </a:r>
          </a:p>
        </p:txBody>
      </p:sp>
    </p:spTree>
    <p:extLst>
      <p:ext uri="{BB962C8B-B14F-4D97-AF65-F5344CB8AC3E}">
        <p14:creationId xmlns:p14="http://schemas.microsoft.com/office/powerpoint/2010/main" val="1721932330"/>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0C5F56-38E3-4E22-82C1-70E8280EE1E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Alternativas previstas</a:t>
            </a:r>
          </a:p>
        </p:txBody>
      </p:sp>
      <p:pic>
        <p:nvPicPr>
          <p:cNvPr id="2" name="">
            <a:extLst xmlns:a="http://schemas.openxmlformats.org/drawingml/2006/main">
              <a:ext uri="{FF2B5EF4-FFF2-40B4-BE49-F238E27FC236}">
                <a16:creationId xmlns:a16="http://schemas.microsoft.com/office/drawing/2014/main" id="{A61A4A74-03CF-424A-AE55-292027764A36}"/>
              </a:ext>
            </a:extLst>
          </p:cNvPr>
          <p:cNvPicPr>
            <a:picLocks xmlns:a="http://schemas.openxmlformats.org/drawingml/2006/main" noChangeAspect="1"/>
          </p:cNvPicPr>
          <p:nvPr/>
        </p:nvPicPr>
        <p:blipFill>
          <a:blip xmlns:r="http://schemas.openxmlformats.org/officeDocument/2006/relationships" xmlns:a="http://schemas.openxmlformats.org/drawingml/2006/main" r:embed="Rd16e7aee0c814fd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17CC4B5-EF75-492B-AFE1-1982A0D7D6B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15/24</a:t>
            </a:r>
          </a:p>
        </p:txBody>
      </p:sp>
      <p:graphicFrame>
        <p:nvGraphicFramePr>
          <p:cNvPr id="4" name="">
            <a:extLst xmlns:a="http://schemas.openxmlformats.org/drawingml/2006/main">
              <a:ext uri="{FF2B5EF4-FFF2-40B4-BE49-F238E27FC236}">
                <a16:creationId xmlns:a16="http://schemas.microsoft.com/office/drawing/2014/main" id="{2469579F-4615-40BE-A6A2-06DCB2EB12FC}"/>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Situación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Decisión de organización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Aprendizaje posible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Condición de campo no aceptada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Adaptar o aplazar operaciones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Revisar predicciones y registros de banco</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Pendiente del vehículo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Conservar la revisión abierta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Observar y comparar otros proyectos</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Falta de un registro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Identificar el dato ausente</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Mejorar la pauta de observación</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558143483"/>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63CCB9F-BE28-4C0C-928A-D0340D1C7BE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La jornada también necesita alternativas</a:t>
            </a:r>
          </a:p>
        </p:txBody>
      </p:sp>
      <p:pic>
        <p:nvPicPr>
          <p:cNvPr id="2" name="">
            <a:extLst xmlns:a="http://schemas.openxmlformats.org/drawingml/2006/main">
              <a:ext uri="{FF2B5EF4-FFF2-40B4-BE49-F238E27FC236}">
                <a16:creationId xmlns:a16="http://schemas.microsoft.com/office/drawing/2014/main" id="{47FDBE44-EA4F-48DD-BA75-052F7EAB54FC}"/>
              </a:ext>
            </a:extLst>
          </p:cNvPr>
          <p:cNvPicPr>
            <a:picLocks xmlns:a="http://schemas.openxmlformats.org/drawingml/2006/main" noChangeAspect="1"/>
          </p:cNvPicPr>
          <p:nvPr/>
        </p:nvPicPr>
        <p:blipFill>
          <a:blip xmlns:r="http://schemas.openxmlformats.org/officeDocument/2006/relationships" xmlns:a="http://schemas.openxmlformats.org/drawingml/2006/main" r:embed="Rb7b0e506642f45d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6A6F7D1-4113-4FF2-B9B9-7CDD13E69D6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16/24</a:t>
            </a:r>
          </a:p>
        </p:txBody>
      </p:sp>
      <p:sp>
        <p:nvSpPr>
          <p:cNvPr id="4" name="">
            <a:extLst xmlns:a="http://schemas.openxmlformats.org/drawingml/2006/main">
              <a:ext uri="{FF2B5EF4-FFF2-40B4-BE49-F238E27FC236}">
                <a16:creationId xmlns:a16="http://schemas.microsoft.com/office/drawing/2014/main" id="{2197ADF3-BBBB-46BD-9EDD-210586D3981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Revisa que las piezas y archivos tengan copia y transporte identificado.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Prepara fichas, cámara y medios de registro necesarios para la función del equipo.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Confirma los horarios y la organización de campo con el docente.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Comprueba qué se hará si el proyecto no puede operar en la ventana prevista.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Conserva una lista de pendientes que todavía requiera cierre.</a:t>
            </a:r>
          </a:p>
        </p:txBody>
      </p:sp>
    </p:spTree>
    <p:extLst>
      <p:ext uri="{BB962C8B-B14F-4D97-AF65-F5344CB8AC3E}">
        <p14:creationId xmlns:p14="http://schemas.microsoft.com/office/powerpoint/2010/main" val="880941286"/>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B3C087-8C1D-4881-A42D-CFD668E9C81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Explicar el estado en dos minutos</a:t>
            </a:r>
          </a:p>
        </p:txBody>
      </p:sp>
      <p:pic>
        <p:nvPicPr>
          <p:cNvPr id="2" name="">
            <a:extLst xmlns:a="http://schemas.openxmlformats.org/drawingml/2006/main">
              <a:ext uri="{FF2B5EF4-FFF2-40B4-BE49-F238E27FC236}">
                <a16:creationId xmlns:a16="http://schemas.microsoft.com/office/drawing/2014/main" id="{D90D091A-082F-4ABE-8AD1-5B3FB7532034}"/>
              </a:ext>
            </a:extLst>
          </p:cNvPr>
          <p:cNvPicPr>
            <a:picLocks xmlns:a="http://schemas.openxmlformats.org/drawingml/2006/main" noChangeAspect="1"/>
          </p:cNvPicPr>
          <p:nvPr/>
        </p:nvPicPr>
        <p:blipFill>
          <a:blip xmlns:r="http://schemas.openxmlformats.org/officeDocument/2006/relationships" xmlns:a="http://schemas.openxmlformats.org/drawingml/2006/main" r:embed="R92719721d0424b8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739C8C6-942C-4950-A39D-CE09397C11E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17/24</a:t>
            </a:r>
          </a:p>
        </p:txBody>
      </p:sp>
      <p:sp>
        <p:nvSpPr>
          <p:cNvPr id="4" name="">
            <a:extLst xmlns:a="http://schemas.openxmlformats.org/drawingml/2006/main">
              <a:ext uri="{FF2B5EF4-FFF2-40B4-BE49-F238E27FC236}">
                <a16:creationId xmlns:a16="http://schemas.microsoft.com/office/drawing/2014/main" id="{159BB04B-69A0-42B9-BF25-2656AE89E39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Cada equipo prepara una explicación corta con el objeto delante: qué construyó, por qué eligió nariz y aletas, qué comprobó y qué falta. El docente puede pedir una medida o abrir una entrada del archivo para contrastar la respuesta. La defensa se apoya en el proyecto, no en memorizar fórmulas.</a:t>
            </a:r>
          </a:p>
        </p:txBody>
      </p:sp>
    </p:spTree>
    <p:extLst>
      <p:ext uri="{BB962C8B-B14F-4D97-AF65-F5344CB8AC3E}">
        <p14:creationId xmlns:p14="http://schemas.microsoft.com/office/powerpoint/2010/main" val="148340794"/>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357E01-889E-4546-A4D7-0DBDA517D7B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Presentación previa a la jornada</a:t>
            </a:r>
          </a:p>
        </p:txBody>
      </p:sp>
      <p:pic>
        <p:nvPicPr>
          <p:cNvPr id="2" name="">
            <a:extLst xmlns:a="http://schemas.openxmlformats.org/drawingml/2006/main">
              <a:ext uri="{FF2B5EF4-FFF2-40B4-BE49-F238E27FC236}">
                <a16:creationId xmlns:a16="http://schemas.microsoft.com/office/drawing/2014/main" id="{9F961506-8BFC-491B-A86B-5DD0B7100F3F}"/>
              </a:ext>
            </a:extLst>
          </p:cNvPr>
          <p:cNvPicPr>
            <a:picLocks xmlns:a="http://schemas.openxmlformats.org/drawingml/2006/main" noChangeAspect="1"/>
          </p:cNvPicPr>
          <p:nvPr/>
        </p:nvPicPr>
        <p:blipFill>
          <a:blip xmlns:r="http://schemas.openxmlformats.org/officeDocument/2006/relationships" xmlns:a="http://schemas.openxmlformats.org/drawingml/2006/main" r:embed="R7c0bd0b821b64aa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67B204B-88F4-47DB-BDC0-DB7D07C246D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18/24</a:t>
            </a:r>
          </a:p>
        </p:txBody>
      </p:sp>
      <p:graphicFrame>
        <p:nvGraphicFramePr>
          <p:cNvPr id="4" name="">
            <a:extLst xmlns:a="http://schemas.openxmlformats.org/drawingml/2006/main">
              <a:ext uri="{FF2B5EF4-FFF2-40B4-BE49-F238E27FC236}">
                <a16:creationId xmlns:a16="http://schemas.microsoft.com/office/drawing/2014/main" id="{DE1D226D-2CA4-4912-A22B-6D1D9A181E19}"/>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Apoyo que debe mostrarse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¿Qué misión tiene?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Criterios de selección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¿Por qué esas piezas?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Comparativas y fabricación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¿Qué representa el archivo?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Configuración y masas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¿Qué comprobamos?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Fotos y fichas de banco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¿Qué sigue pendiente?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Acción y revisión</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142962416"/>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B5BA45-8B9A-47C6-A38E-86F78DC6F0C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Qué llevar como conclusión</a:t>
            </a:r>
          </a:p>
        </p:txBody>
      </p:sp>
      <p:pic>
        <p:nvPicPr>
          <p:cNvPr id="2" name="">
            <a:extLst xmlns:a="http://schemas.openxmlformats.org/drawingml/2006/main">
              <a:ext uri="{FF2B5EF4-FFF2-40B4-BE49-F238E27FC236}">
                <a16:creationId xmlns:a16="http://schemas.microsoft.com/office/drawing/2014/main" id="{5B068477-902D-4552-8B63-E19C229BB034}"/>
              </a:ext>
            </a:extLst>
          </p:cNvPr>
          <p:cNvPicPr>
            <a:picLocks xmlns:a="http://schemas.openxmlformats.org/drawingml/2006/main" noChangeAspect="1"/>
          </p:cNvPicPr>
          <p:nvPr/>
        </p:nvPicPr>
        <p:blipFill>
          <a:blip xmlns:r="http://schemas.openxmlformats.org/officeDocument/2006/relationships" xmlns:a="http://schemas.openxmlformats.org/drawingml/2006/main" r:embed="R67255d4f3df74ae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E15797-977D-4E5D-96AA-DCFEA20FA33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19/24</a:t>
            </a:r>
          </a:p>
        </p:txBody>
      </p:sp>
      <p:sp>
        <p:nvSpPr>
          <p:cNvPr id="4" name="">
            <a:extLst xmlns:a="http://schemas.openxmlformats.org/drawingml/2006/main">
              <a:ext uri="{FF2B5EF4-FFF2-40B4-BE49-F238E27FC236}">
                <a16:creationId xmlns:a16="http://schemas.microsoft.com/office/drawing/2014/main" id="{C8A9429E-B1DF-4E21-BBBB-0A907A7BBD50}"/>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“Este es el estado revisado de nuestro prototipo. Estas son las comprobaciones hechas y estos los cambios posteriores al taller”.</a:t>
            </a:r>
          </a:p>
        </p:txBody>
      </p:sp>
      <p:sp>
        <p:nvSpPr>
          <p:cNvPr id="5" name="">
            <a:extLst xmlns:a="http://schemas.openxmlformats.org/drawingml/2006/main">
              <a:ext uri="{FF2B5EF4-FFF2-40B4-BE49-F238E27FC236}">
                <a16:creationId xmlns:a16="http://schemas.microsoft.com/office/drawing/2014/main" id="{F55DD516-7E08-4ED7-8852-B44E5E0BC26C}"/>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¿Puedes explicar el estado con el cohete delante?</a:t>
            </a:r>
          </a:p>
        </p:txBody>
      </p:sp>
    </p:spTree>
    <p:extLst>
      <p:ext uri="{BB962C8B-B14F-4D97-AF65-F5344CB8AC3E}">
        <p14:creationId xmlns:p14="http://schemas.microsoft.com/office/powerpoint/2010/main" val="1959168623"/>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40116A-F127-4777-9DDE-AC21883D199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723FDD67-9F67-4B74-8AAE-EC212DB4749A}"/>
              </a:ext>
            </a:extLst>
          </p:cNvPr>
          <p:cNvPicPr>
            <a:picLocks xmlns:a="http://schemas.openxmlformats.org/drawingml/2006/main" noChangeAspect="1"/>
          </p:cNvPicPr>
          <p:nvPr/>
        </p:nvPicPr>
        <p:blipFill>
          <a:blip xmlns:r="http://schemas.openxmlformats.org/officeDocument/2006/relationships" xmlns:a="http://schemas.openxmlformats.org/drawingml/2006/main" r:embed="R4684382641c949a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4AD6519-3563-4150-ACA4-86DCFFF401E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20/24</a:t>
            </a:r>
          </a:p>
        </p:txBody>
      </p:sp>
      <p:sp>
        <p:nvSpPr>
          <p:cNvPr id="4" name="">
            <a:extLst xmlns:a="http://schemas.openxmlformats.org/drawingml/2006/main">
              <a:ext uri="{FF2B5EF4-FFF2-40B4-BE49-F238E27FC236}">
                <a16:creationId xmlns:a16="http://schemas.microsoft.com/office/drawing/2014/main" id="{A322AD72-82A4-4CE6-A598-FA5468FF8A4C}"/>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Comparar objeto, archivo y registro de montaje.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Cerrar o conservar pendientes con evidencia.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Distribuir roles de observación y documentación.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Preparar una defensa breve y una alternativa de aprendizaje.</a:t>
            </a:r>
          </a:p>
        </p:txBody>
      </p:sp>
    </p:spTree>
    <p:extLst>
      <p:ext uri="{BB962C8B-B14F-4D97-AF65-F5344CB8AC3E}">
        <p14:creationId xmlns:p14="http://schemas.microsoft.com/office/powerpoint/2010/main" val="1466665678"/>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AADC49-1125-4A93-B294-716CD359D38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23004091-2102-433E-9969-0F67F5931F70}"/>
              </a:ext>
            </a:extLst>
          </p:cNvPr>
          <p:cNvPicPr>
            <a:picLocks xmlns:a="http://schemas.openxmlformats.org/drawingml/2006/main" noChangeAspect="1"/>
          </p:cNvPicPr>
          <p:nvPr/>
        </p:nvPicPr>
        <p:blipFill>
          <a:blip xmlns:r="http://schemas.openxmlformats.org/officeDocument/2006/relationships" xmlns:a="http://schemas.openxmlformats.org/drawingml/2006/main" r:embed="R4c4d8385c82f432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580DC9C-2061-4D5D-8392-1B92C3E0756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21/24</a:t>
            </a:r>
          </a:p>
        </p:txBody>
      </p:sp>
      <p:sp>
        <p:nvSpPr>
          <p:cNvPr id="4" name="">
            <a:extLst xmlns:a="http://schemas.openxmlformats.org/drawingml/2006/main">
              <a:ext uri="{FF2B5EF4-FFF2-40B4-BE49-F238E27FC236}">
                <a16:creationId xmlns:a16="http://schemas.microsoft.com/office/drawing/2014/main" id="{6DE0D7F7-354E-4E8E-9F28-C7BA997236C5}"/>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Llegar al día de campo con un conjunto identificado y un equipo organizado.</a:t>
            </a:r>
          </a:p>
        </p:txBody>
      </p:sp>
      <p:sp>
        <p:nvSpPr>
          <p:cNvPr id="5" name="">
            <a:extLst xmlns:a="http://schemas.openxmlformats.org/drawingml/2006/main">
              <a:ext uri="{FF2B5EF4-FFF2-40B4-BE49-F238E27FC236}">
                <a16:creationId xmlns:a16="http://schemas.microsoft.com/office/drawing/2014/main" id="{06E8E87D-E90F-4033-902B-6BAF6062AC31}"/>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¿Puedes explicar el estado con el cohete delante?</a:t>
            </a:r>
          </a:p>
        </p:txBody>
      </p:sp>
      <p:sp>
        <p:nvSpPr>
          <p:cNvPr id="6" name="">
            <a:extLst xmlns:a="http://schemas.openxmlformats.org/drawingml/2006/main">
              <a:ext uri="{FF2B5EF4-FFF2-40B4-BE49-F238E27FC236}">
                <a16:creationId xmlns:a16="http://schemas.microsoft.com/office/drawing/2014/main" id="{6FAB2180-0AE2-4603-A3E2-81D1051EBA58}"/>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1287842782"/>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7CF78D-B962-45F2-9D45-A773571B574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2A04E550-FCE3-413D-B5FF-ACC1ED75C976}"/>
              </a:ext>
            </a:extLst>
          </p:cNvPr>
          <p:cNvPicPr>
            <a:picLocks xmlns:a="http://schemas.openxmlformats.org/drawingml/2006/main" noChangeAspect="1"/>
          </p:cNvPicPr>
          <p:nvPr/>
        </p:nvPicPr>
        <p:blipFill>
          <a:blip xmlns:r="http://schemas.openxmlformats.org/officeDocument/2006/relationships" xmlns:a="http://schemas.openxmlformats.org/drawingml/2006/main" r:embed="R437e3235aab844f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D8CDDA9-DED2-418C-90D5-E71D3643140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22/24</a:t>
            </a:r>
          </a:p>
        </p:txBody>
      </p:sp>
      <p:sp>
        <p:nvSpPr>
          <p:cNvPr id="4" name="">
            <a:extLst xmlns:a="http://schemas.openxmlformats.org/drawingml/2006/main">
              <a:ext uri="{FF2B5EF4-FFF2-40B4-BE49-F238E27FC236}">
                <a16:creationId xmlns:a16="http://schemas.microsoft.com/office/drawing/2014/main" id="{3BAFD91A-13F8-43BF-A7BC-C2C4B260ABD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¿Un resultado de simulación autoriza la operación?</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¿Una impresión visual da una altura exacta?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hacer si el modelo conserva un pendiente?</a:t>
            </a:r>
          </a:p>
        </p:txBody>
      </p:sp>
    </p:spTree>
    <p:extLst>
      <p:ext uri="{BB962C8B-B14F-4D97-AF65-F5344CB8AC3E}">
        <p14:creationId xmlns:p14="http://schemas.microsoft.com/office/powerpoint/2010/main" val="1149812413"/>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F10DE4-58F0-4264-9079-A558F3A3ECB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919FB4E5-C70A-48F7-BCBE-8AAB976FBD1F}"/>
              </a:ext>
            </a:extLst>
          </p:cNvPr>
          <p:cNvPicPr>
            <a:picLocks xmlns:a="http://schemas.openxmlformats.org/drawingml/2006/main" noChangeAspect="1"/>
          </p:cNvPicPr>
          <p:nvPr/>
        </p:nvPicPr>
        <p:blipFill>
          <a:blip xmlns:r="http://schemas.openxmlformats.org/officeDocument/2006/relationships" xmlns:a="http://schemas.openxmlformats.org/drawingml/2006/main" r:embed="R15a150a634f14ac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E7FD8B9-9D18-409B-B024-3C91DB6C46D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15   23/24</a:t>
            </a:r>
          </a:p>
        </p:txBody>
      </p:sp>
      <p:sp>
        <p:nvSpPr>
          <p:cNvPr id="4" name="">
            <a:extLst xmlns:a="http://schemas.openxmlformats.org/drawingml/2006/main">
              <a:ext uri="{FF2B5EF4-FFF2-40B4-BE49-F238E27FC236}">
                <a16:creationId xmlns:a16="http://schemas.microsoft.com/office/drawing/2014/main" id="{8242F4BD-D4D2-46DE-94DD-265944651907}"/>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La aceptación y las condiciones corresponden al responsable.</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Hay que distinguir observación y medición.</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Documentarlo, resolverlo con el docente y participar según la organización.</a:t>
            </a:r>
          </a:p>
        </p:txBody>
      </p:sp>
    </p:spTree>
    <p:extLst>
      <p:ext uri="{BB962C8B-B14F-4D97-AF65-F5344CB8AC3E}">
        <p14:creationId xmlns:p14="http://schemas.microsoft.com/office/powerpoint/2010/main" val="1044716395"/>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008DB6-4800-48C0-8F53-22697348A27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D409EE76-722F-40F8-A17C-A694F74F6CD1}"/>
              </a:ext>
            </a:extLst>
          </p:cNvPr>
          <p:cNvPicPr>
            <a:picLocks xmlns:a="http://schemas.openxmlformats.org/drawingml/2006/main" noChangeAspect="1"/>
          </p:cNvPicPr>
          <p:nvPr/>
        </p:nvPicPr>
        <p:blipFill>
          <a:blip xmlns:r="http://schemas.openxmlformats.org/officeDocument/2006/relationships" xmlns:a="http://schemas.openxmlformats.org/drawingml/2006/main" r:embed="R17537a97f25a40c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F6D511-863F-4820-9314-BED0D4BAD34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15   24/24</a:t>
            </a:r>
          </a:p>
        </p:txBody>
      </p:sp>
      <p:sp>
        <p:nvSpPr>
          <p:cNvPr id="4" name="">
            <a:extLst xmlns:a="http://schemas.openxmlformats.org/drawingml/2006/main">
              <a:ext uri="{FF2B5EF4-FFF2-40B4-BE49-F238E27FC236}">
                <a16:creationId xmlns:a16="http://schemas.microsoft.com/office/drawing/2014/main" id="{DA88237A-5DDD-4955-81E2-B29104C58D38}"/>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Expediente previo, roles y hoja de observación.</a:t>
            </a:r>
          </a:p>
        </p:txBody>
      </p:sp>
      <p:sp>
        <p:nvSpPr>
          <p:cNvPr id="5" name="">
            <a:extLst xmlns:a="http://schemas.openxmlformats.org/drawingml/2006/main">
              <a:ext uri="{FF2B5EF4-FFF2-40B4-BE49-F238E27FC236}">
                <a16:creationId xmlns:a16="http://schemas.microsoft.com/office/drawing/2014/main" id="{7ADE1C91-E398-42D7-9ADC-0986E28BDDDD}"/>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1506626885"/>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25AF19-7416-4827-9BC7-D5D3D917234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Jornada de lanzamiento y revisión del proyecto</a:t>
            </a:r>
          </a:p>
        </p:txBody>
      </p:sp>
      <p:pic>
        <p:nvPicPr>
          <p:cNvPr id="2" name="">
            <a:extLst xmlns:a="http://schemas.openxmlformats.org/drawingml/2006/main">
              <a:ext uri="{FF2B5EF4-FFF2-40B4-BE49-F238E27FC236}">
                <a16:creationId xmlns:a16="http://schemas.microsoft.com/office/drawing/2014/main" id="{229C5E8E-53F5-4E49-B292-03149174D325}"/>
              </a:ext>
            </a:extLst>
          </p:cNvPr>
          <p:cNvPicPr>
            <a:picLocks xmlns:a="http://schemas.openxmlformats.org/drawingml/2006/main" noChangeAspect="1"/>
          </p:cNvPicPr>
          <p:nvPr/>
        </p:nvPicPr>
        <p:blipFill>
          <a:blip xmlns:r="http://schemas.openxmlformats.org/officeDocument/2006/relationships" xmlns:a="http://schemas.openxmlformats.org/drawingml/2006/main" r:embed="Re57ddfa6aded4c0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4FA1144-2AF7-4509-813E-7B9393CB52C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01/24</a:t>
            </a:r>
          </a:p>
        </p:txBody>
      </p:sp>
      <p:sp>
        <p:nvSpPr>
          <p:cNvPr id="4" name="">
            <a:extLst xmlns:a="http://schemas.openxmlformats.org/drawingml/2006/main">
              <a:ext uri="{FF2B5EF4-FFF2-40B4-BE49-F238E27FC236}">
                <a16:creationId xmlns:a16="http://schemas.microsoft.com/office/drawing/2014/main" id="{B6F41515-6373-4D27-92CD-CBC643CB80D4}"/>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Participar en una jornada organizada, conservar observaciones y explicar mejoras del cohete construido.</a:t>
            </a:r>
          </a:p>
        </p:txBody>
      </p:sp>
      <p:sp>
        <p:nvSpPr>
          <p:cNvPr id="5" name="">
            <a:extLst xmlns:a="http://schemas.openxmlformats.org/drawingml/2006/main">
              <a:ext uri="{FF2B5EF4-FFF2-40B4-BE49-F238E27FC236}">
                <a16:creationId xmlns:a16="http://schemas.microsoft.com/office/drawing/2014/main" id="{F9D46938-9CCC-4629-861E-A4694F4358B1}"/>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Cerrar el aprendizaje con el objeto, sus registros y una comparación honesta con la predicción.</a:t>
            </a:r>
          </a:p>
        </p:txBody>
      </p:sp>
      <p:sp>
        <p:nvSpPr>
          <p:cNvPr id="6" name="">
            <a:extLst xmlns:a="http://schemas.openxmlformats.org/drawingml/2006/main">
              <a:ext uri="{FF2B5EF4-FFF2-40B4-BE49-F238E27FC236}">
                <a16:creationId xmlns:a16="http://schemas.microsoft.com/office/drawing/2014/main" id="{AB13CC53-2B42-40F5-BE64-D03175E38E68}"/>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PRESENCIAL   8 HORAS</a:t>
            </a:r>
          </a:p>
        </p:txBody>
      </p:sp>
    </p:spTree>
    <p:extLst>
      <p:ext uri="{BB962C8B-B14F-4D97-AF65-F5344CB8AC3E}">
        <p14:creationId xmlns:p14="http://schemas.microsoft.com/office/powerpoint/2010/main" val="651283842"/>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218AC8-ACB0-49A0-9FC6-888D00061AB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día completo para observar el proyecto</a:t>
            </a:r>
          </a:p>
        </p:txBody>
      </p:sp>
      <p:pic>
        <p:nvPicPr>
          <p:cNvPr id="2" name="">
            <a:extLst xmlns:a="http://schemas.openxmlformats.org/drawingml/2006/main">
              <a:ext uri="{FF2B5EF4-FFF2-40B4-BE49-F238E27FC236}">
                <a16:creationId xmlns:a16="http://schemas.microsoft.com/office/drawing/2014/main" id="{FDFDF353-1284-41DF-9EEA-EC1085FEAAE9}"/>
              </a:ext>
            </a:extLst>
          </p:cNvPr>
          <p:cNvPicPr>
            <a:picLocks xmlns:a="http://schemas.openxmlformats.org/drawingml/2006/main" noChangeAspect="1"/>
          </p:cNvPicPr>
          <p:nvPr/>
        </p:nvPicPr>
        <p:blipFill>
          <a:blip xmlns:r="http://schemas.openxmlformats.org/officeDocument/2006/relationships" xmlns:a="http://schemas.openxmlformats.org/drawingml/2006/main" r:embed="Rbf40b06c99c448e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D966ED0-D17A-48D1-8E74-59A8B8698E2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02/24</a:t>
            </a:r>
          </a:p>
        </p:txBody>
      </p:sp>
      <p:sp>
        <p:nvSpPr>
          <p:cNvPr id="4" name="">
            <a:extLst xmlns:a="http://schemas.openxmlformats.org/drawingml/2006/main">
              <a:ext uri="{FF2B5EF4-FFF2-40B4-BE49-F238E27FC236}">
                <a16:creationId xmlns:a16="http://schemas.microsoft.com/office/drawing/2014/main" id="{530F0F55-FE09-4849-AD54-76BD2D21B0D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encuentro final dura ocho horas e incluye organización, revisión de modelos, una ventana de operaciones y análisis. Los equipos llegan con sus prototipos y expedientes. El responsable decide qué conjuntos y qué condiciones permiten operar. El curso no garantiza un lanzamiento por alumno ni por equipo al margen de esa revisión.</a:t>
            </a:r>
          </a:p>
        </p:txBody>
      </p:sp>
    </p:spTree>
    <p:extLst>
      <p:ext uri="{BB962C8B-B14F-4D97-AF65-F5344CB8AC3E}">
        <p14:creationId xmlns:p14="http://schemas.microsoft.com/office/powerpoint/2010/main" val="776473506"/>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70642A-A415-4344-BC04-9C5943773E9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Agenda de la jornada</a:t>
            </a:r>
          </a:p>
        </p:txBody>
      </p:sp>
      <p:pic>
        <p:nvPicPr>
          <p:cNvPr id="2" name="">
            <a:extLst xmlns:a="http://schemas.openxmlformats.org/drawingml/2006/main">
              <a:ext uri="{FF2B5EF4-FFF2-40B4-BE49-F238E27FC236}">
                <a16:creationId xmlns:a16="http://schemas.microsoft.com/office/drawing/2014/main" id="{3BDF3A4C-1A24-4289-B868-051D72E05890}"/>
              </a:ext>
            </a:extLst>
          </p:cNvPr>
          <p:cNvPicPr>
            <a:picLocks xmlns:a="http://schemas.openxmlformats.org/drawingml/2006/main" noChangeAspect="1"/>
          </p:cNvPicPr>
          <p:nvPr/>
        </p:nvPicPr>
        <p:blipFill>
          <a:blip xmlns:r="http://schemas.openxmlformats.org/officeDocument/2006/relationships" xmlns:a="http://schemas.openxmlformats.org/drawingml/2006/main" r:embed="Ra50d13f52c784b2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764004C-A02A-4F40-9F02-16621A44FC6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03/24</a:t>
            </a:r>
          </a:p>
        </p:txBody>
      </p:sp>
      <p:graphicFrame>
        <p:nvGraphicFramePr>
          <p:cNvPr id="4" name="">
            <a:extLst xmlns:a="http://schemas.openxmlformats.org/drawingml/2006/main">
              <a:ext uri="{FF2B5EF4-FFF2-40B4-BE49-F238E27FC236}">
                <a16:creationId xmlns:a16="http://schemas.microsoft.com/office/drawing/2014/main" id="{86F3730D-23EA-43CC-9E4E-6DF9AE4D2722}"/>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Minutos</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Actividad</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0–60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Organización y revisión del lugar</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60–150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Revisión de conjuntos y funciones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150–330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Ventana de operaciones según condiciones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330–390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Pausa y recuperación organizada</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390–480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Revisión de objetos, datos y conclusiones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564659794"/>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A30A43-1AAA-433E-9BE7-8DA1EF3EBB1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día completo para observar el proyecto</a:t>
            </a:r>
          </a:p>
        </p:txBody>
      </p:sp>
      <p:pic>
        <p:nvPicPr>
          <p:cNvPr id="2" name="">
            <a:extLst xmlns:a="http://schemas.openxmlformats.org/drawingml/2006/main">
              <a:ext uri="{FF2B5EF4-FFF2-40B4-BE49-F238E27FC236}">
                <a16:creationId xmlns:a16="http://schemas.microsoft.com/office/drawing/2014/main" id="{789BD96E-626D-4394-BC75-9796FAFFEF44}"/>
              </a:ext>
            </a:extLst>
          </p:cNvPr>
          <p:cNvPicPr>
            <a:picLocks xmlns:a="http://schemas.openxmlformats.org/drawingml/2006/main" noChangeAspect="1"/>
          </p:cNvPicPr>
          <p:nvPr/>
        </p:nvPicPr>
        <p:blipFill>
          <a:blip xmlns:r="http://schemas.openxmlformats.org/officeDocument/2006/relationships" xmlns:a="http://schemas.openxmlformats.org/drawingml/2006/main" r:embed="R36f4a885ed9f4a6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067036C-7FDD-401E-8295-BF0D7A14594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04/24</a:t>
            </a:r>
          </a:p>
        </p:txBody>
      </p:sp>
      <p:sp>
        <p:nvSpPr>
          <p:cNvPr id="4" name="">
            <a:extLst xmlns:a="http://schemas.openxmlformats.org/drawingml/2006/main">
              <a:ext uri="{FF2B5EF4-FFF2-40B4-BE49-F238E27FC236}">
                <a16:creationId xmlns:a16="http://schemas.microsoft.com/office/drawing/2014/main" id="{BC097D4C-6B91-42CB-9D25-0916D84DE5C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jornada de curso reúne operación, observación y aprendizaje. La participación del equipo incluye presentar el modelo, explicar sus decisiones y conservar un registro del caso. La operación se realiza bajo la dirección del responsable. Si una condición no permite continuar, el trabajo formativo puede seguir con revisión del objeto y análisis de otros registros. La evaluación conserva el vínculo con las evidencias que cada equipo produjo durante todo el curso.</a:t>
            </a:r>
          </a:p>
        </p:txBody>
      </p:sp>
    </p:spTree>
    <p:extLst>
      <p:ext uri="{BB962C8B-B14F-4D97-AF65-F5344CB8AC3E}">
        <p14:creationId xmlns:p14="http://schemas.microsoft.com/office/powerpoint/2010/main" val="274020415"/>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A5F31E-4F20-42C3-A6A0-60C4A03C6A1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Antes de cada actividad</a:t>
            </a:r>
          </a:p>
        </p:txBody>
      </p:sp>
      <p:pic>
        <p:nvPicPr>
          <p:cNvPr id="2" name="">
            <a:extLst xmlns:a="http://schemas.openxmlformats.org/drawingml/2006/main">
              <a:ext uri="{FF2B5EF4-FFF2-40B4-BE49-F238E27FC236}">
                <a16:creationId xmlns:a16="http://schemas.microsoft.com/office/drawing/2014/main" id="{063ECA16-9D64-4B10-B308-49D8FF3CD42A}"/>
              </a:ext>
            </a:extLst>
          </p:cNvPr>
          <p:cNvPicPr>
            <a:picLocks xmlns:a="http://schemas.openxmlformats.org/drawingml/2006/main" noChangeAspect="1"/>
          </p:cNvPicPr>
          <p:nvPr/>
        </p:nvPicPr>
        <p:blipFill>
          <a:blip xmlns:r="http://schemas.openxmlformats.org/officeDocument/2006/relationships" xmlns:a="http://schemas.openxmlformats.org/drawingml/2006/main" r:embed="Rd9d107dda9824b3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A62749-9376-45EC-BEC2-131750132D1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05/24</a:t>
            </a:r>
          </a:p>
        </p:txBody>
      </p:sp>
      <p:sp>
        <p:nvSpPr>
          <p:cNvPr id="4" name="">
            <a:extLst xmlns:a="http://schemas.openxmlformats.org/drawingml/2006/main">
              <a:ext uri="{FF2B5EF4-FFF2-40B4-BE49-F238E27FC236}">
                <a16:creationId xmlns:a16="http://schemas.microsoft.com/office/drawing/2014/main" id="{1115833F-B0BF-4F8F-AB60-A4D1ECD92C33}"/>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expediente debe corresponder al objeto que se presenta. Si se reemplazó una pieza durante la jornada, el equipo lo indica antes de la siguiente revisión. Los registros necesitan un identificador de caso o intento para distinguir operaciones que usan el mismo nombre de equipo.</a:t>
            </a:r>
          </a:p>
        </p:txBody>
      </p:sp>
    </p:spTree>
    <p:extLst>
      <p:ext uri="{BB962C8B-B14F-4D97-AF65-F5344CB8AC3E}">
        <p14:creationId xmlns:p14="http://schemas.microsoft.com/office/powerpoint/2010/main" val="156488305"/>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84231A-3B8C-45F4-9A86-4775701307B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Hoja de caso</a:t>
            </a:r>
          </a:p>
        </p:txBody>
      </p:sp>
      <p:pic>
        <p:nvPicPr>
          <p:cNvPr id="2" name="">
            <a:extLst xmlns:a="http://schemas.openxmlformats.org/drawingml/2006/main">
              <a:ext uri="{FF2B5EF4-FFF2-40B4-BE49-F238E27FC236}">
                <a16:creationId xmlns:a16="http://schemas.microsoft.com/office/drawing/2014/main" id="{A7590E9B-2BDF-4B48-9EE9-33C271EEDA80}"/>
              </a:ext>
            </a:extLst>
          </p:cNvPr>
          <p:cNvPicPr>
            <a:picLocks xmlns:a="http://schemas.openxmlformats.org/drawingml/2006/main" noChangeAspect="1"/>
          </p:cNvPicPr>
          <p:nvPr/>
        </p:nvPicPr>
        <p:blipFill>
          <a:blip xmlns:r="http://schemas.openxmlformats.org/officeDocument/2006/relationships" xmlns:a="http://schemas.openxmlformats.org/drawingml/2006/main" r:embed="Rdc791b48e8f24d1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3E2D45F-5CC5-46A2-B02A-8237CF0BCAE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06/24</a:t>
            </a:r>
          </a:p>
        </p:txBody>
      </p:sp>
      <p:graphicFrame>
        <p:nvGraphicFramePr>
          <p:cNvPr id="4" name="">
            <a:extLst xmlns:a="http://schemas.openxmlformats.org/drawingml/2006/main">
              <a:ext uri="{FF2B5EF4-FFF2-40B4-BE49-F238E27FC236}">
                <a16:creationId xmlns:a16="http://schemas.microsoft.com/office/drawing/2014/main" id="{77E7FAA0-6FAE-4FDB-9E6E-010B0522F5C4}"/>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Campo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Contenido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Identificador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Equipo, modelo y caso</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Configuración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Revisión y referencia comercial</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Registro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Archivo de imagen o datos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Condiciones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Notas del responsable</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Resultado observable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Descripción y referencias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393961363"/>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AC3E16-149A-40CF-8CCF-7AE2C842F0F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Antes de cada actividad</a:t>
            </a:r>
          </a:p>
        </p:txBody>
      </p:sp>
      <p:pic>
        <p:nvPicPr>
          <p:cNvPr id="2" name="">
            <a:extLst xmlns:a="http://schemas.openxmlformats.org/drawingml/2006/main">
              <a:ext uri="{FF2B5EF4-FFF2-40B4-BE49-F238E27FC236}">
                <a16:creationId xmlns:a16="http://schemas.microsoft.com/office/drawing/2014/main" id="{6D7699C5-9E19-46C1-9E2A-764BABA8B7A4}"/>
              </a:ext>
            </a:extLst>
          </p:cNvPr>
          <p:cNvPicPr>
            <a:picLocks xmlns:a="http://schemas.openxmlformats.org/drawingml/2006/main" noChangeAspect="1"/>
          </p:cNvPicPr>
          <p:nvPr/>
        </p:nvPicPr>
        <p:blipFill>
          <a:blip xmlns:r="http://schemas.openxmlformats.org/officeDocument/2006/relationships" xmlns:a="http://schemas.openxmlformats.org/drawingml/2006/main" r:embed="Rfa704df2da73483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170A846-ADDE-4E9A-87B6-5D8D5D2F25A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07/24</a:t>
            </a:r>
          </a:p>
        </p:txBody>
      </p:sp>
      <p:sp>
        <p:nvSpPr>
          <p:cNvPr id="4" name="">
            <a:extLst xmlns:a="http://schemas.openxmlformats.org/drawingml/2006/main">
              <a:ext uri="{FF2B5EF4-FFF2-40B4-BE49-F238E27FC236}">
                <a16:creationId xmlns:a16="http://schemas.microsoft.com/office/drawing/2014/main" id="{F1A82CBA-F6EE-4DA4-85FC-F88582E5B1D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Identifica modelo, revisión y caso de la actividad.</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Confirma los roles de observación y registro definidos por la organización.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Conserva el archivo y la configuración de referencia asociados al objeto.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Anota cambios y pendientes revisados por el responsable.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Permanece en la zona y función indicadas para la actividad.</a:t>
            </a:r>
          </a:p>
        </p:txBody>
      </p:sp>
    </p:spTree>
    <p:extLst>
      <p:ext uri="{BB962C8B-B14F-4D97-AF65-F5344CB8AC3E}">
        <p14:creationId xmlns:p14="http://schemas.microsoft.com/office/powerpoint/2010/main" val="504224904"/>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B71162-8372-4FEC-BC80-A6C9F873C7C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Observar sin inventar una medición</a:t>
            </a:r>
          </a:p>
        </p:txBody>
      </p:sp>
      <p:pic>
        <p:nvPicPr>
          <p:cNvPr id="2" name="">
            <a:extLst xmlns:a="http://schemas.openxmlformats.org/drawingml/2006/main">
              <a:ext uri="{FF2B5EF4-FFF2-40B4-BE49-F238E27FC236}">
                <a16:creationId xmlns:a16="http://schemas.microsoft.com/office/drawing/2014/main" id="{2491E0C3-3A47-4225-A01F-68EB1D8A7BC3}"/>
              </a:ext>
            </a:extLst>
          </p:cNvPr>
          <p:cNvPicPr>
            <a:picLocks xmlns:a="http://schemas.openxmlformats.org/drawingml/2006/main" noChangeAspect="1"/>
          </p:cNvPicPr>
          <p:nvPr/>
        </p:nvPicPr>
        <p:blipFill>
          <a:blip xmlns:r="http://schemas.openxmlformats.org/officeDocument/2006/relationships" xmlns:a="http://schemas.openxmlformats.org/drawingml/2006/main" r:embed="R311b87f9052641f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05DD974-213B-4D0C-8CDB-5576135DBF6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08/24</a:t>
            </a:r>
          </a:p>
        </p:txBody>
      </p:sp>
      <p:sp>
        <p:nvSpPr>
          <p:cNvPr id="4" name="">
            <a:extLst xmlns:a="http://schemas.openxmlformats.org/drawingml/2006/main">
              <a:ext uri="{FF2B5EF4-FFF2-40B4-BE49-F238E27FC236}">
                <a16:creationId xmlns:a16="http://schemas.microsoft.com/office/drawing/2014/main" id="{BCE5026B-4F5C-4AB6-9178-B19831E3DC58}"/>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observador puede reconocer salida, subida, recuperación visible y estado de descenso cuando las condiciones permiten verlo. Si pierde el modelo de vista, registra ese hecho. Una observación parcial sigue siendo útil si se conserva su límite.</a:t>
            </a:r>
          </a:p>
        </p:txBody>
      </p:sp>
    </p:spTree>
    <p:extLst>
      <p:ext uri="{BB962C8B-B14F-4D97-AF65-F5344CB8AC3E}">
        <p14:creationId xmlns:p14="http://schemas.microsoft.com/office/powerpoint/2010/main" val="367003825"/>
      </p:ext>
    </p:extLst>
  </p:cSld>
</p:sld>
</file>

<file path=ppt/slides/slide3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2D6E59-608B-4BCE-AAD6-18A7FB7CCD1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 del equipo</a:t>
            </a:r>
          </a:p>
        </p:txBody>
      </p:sp>
      <p:pic>
        <p:nvPicPr>
          <p:cNvPr id="2" name="">
            <a:extLst xmlns:a="http://schemas.openxmlformats.org/drawingml/2006/main">
              <a:ext uri="{FF2B5EF4-FFF2-40B4-BE49-F238E27FC236}">
                <a16:creationId xmlns:a16="http://schemas.microsoft.com/office/drawing/2014/main" id="{A881C7E4-645B-4E4D-9C47-6A9AEFD21A99}"/>
              </a:ext>
            </a:extLst>
          </p:cNvPr>
          <p:cNvPicPr>
            <a:picLocks xmlns:a="http://schemas.openxmlformats.org/drawingml/2006/main" noChangeAspect="1"/>
          </p:cNvPicPr>
          <p:nvPr/>
        </p:nvPicPr>
        <p:blipFill>
          <a:blip xmlns:r="http://schemas.openxmlformats.org/officeDocument/2006/relationships" xmlns:a="http://schemas.openxmlformats.org/drawingml/2006/main" r:embed="R602a0e98c751457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925F694-15C6-4585-9FE7-72FF81E3E05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09/24</a:t>
            </a:r>
          </a:p>
        </p:txBody>
      </p:sp>
      <p:sp>
        <p:nvSpPr>
          <p:cNvPr id="4" name="">
            <a:extLst xmlns:a="http://schemas.openxmlformats.org/drawingml/2006/main">
              <a:ext uri="{FF2B5EF4-FFF2-40B4-BE49-F238E27FC236}">
                <a16:creationId xmlns:a16="http://schemas.microsoft.com/office/drawing/2014/main" id="{6D1D4E5B-1F93-413A-B403-AAFC677669DF}"/>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AEF4BB"/>
                </a:solidFill>
                <a:latin typeface="Arial"/>
                <a:ea typeface="Arial"/>
                <a:cs typeface="Arial"/>
              </a:defRPr>
            </a:defPPr>
            <a:lvl1pPr>
              <a:defRPr sz="3075" b="1">
                <a:solidFill>
                  <a:srgbClr val="AEF4BB"/>
                </a:solidFill>
                <a:latin typeface="Arial"/>
                <a:ea typeface="Arial"/>
                <a:cs typeface="Arial"/>
              </a:defRPr>
            </a:lvl1pPr>
            <a:lvl2pPr>
              <a:defRPr sz="3075" b="1">
                <a:solidFill>
                  <a:srgbClr val="AEF4BB"/>
                </a:solidFill>
                <a:latin typeface="Arial"/>
                <a:ea typeface="Arial"/>
                <a:cs typeface="Arial"/>
              </a:defRPr>
            </a:lvl2pPr>
            <a:lvl3pPr>
              <a:defRPr sz="3075" b="1">
                <a:solidFill>
                  <a:srgbClr val="AEF4BB"/>
                </a:solidFill>
                <a:latin typeface="Arial"/>
                <a:ea typeface="Arial"/>
                <a:cs typeface="Arial"/>
              </a:defRPr>
            </a:lvl3pPr>
            <a:lvl4pPr>
              <a:defRPr sz="3075" b="1">
                <a:solidFill>
                  <a:srgbClr val="AEF4BB"/>
                </a:solidFill>
                <a:latin typeface="Arial"/>
                <a:ea typeface="Arial"/>
                <a:cs typeface="Arial"/>
              </a:defRPr>
            </a:lvl4pPr>
            <a:lvl5pPr>
              <a:defRPr sz="3075" b="1">
                <a:solidFill>
                  <a:srgbClr val="AEF4BB"/>
                </a:solidFill>
                <a:latin typeface="Arial"/>
                <a:ea typeface="Arial"/>
                <a:cs typeface="Arial"/>
              </a:defRPr>
            </a:lvl5pPr>
            <a:lvl6pPr>
              <a:defRPr sz="3075" b="1">
                <a:solidFill>
                  <a:srgbClr val="AEF4BB"/>
                </a:solidFill>
                <a:latin typeface="Arial"/>
                <a:ea typeface="Arial"/>
                <a:cs typeface="Arial"/>
              </a:defRPr>
            </a:lvl6pPr>
            <a:lvl7pPr>
              <a:defRPr sz="3075" b="1">
                <a:solidFill>
                  <a:srgbClr val="AEF4BB"/>
                </a:solidFill>
                <a:latin typeface="Arial"/>
                <a:ea typeface="Arial"/>
                <a:cs typeface="Arial"/>
              </a:defRPr>
            </a:lvl7pPr>
            <a:lvl8pPr>
              <a:defRPr sz="3075" b="1">
                <a:solidFill>
                  <a:srgbClr val="AEF4BB"/>
                </a:solidFill>
                <a:latin typeface="Arial"/>
                <a:ea typeface="Arial"/>
                <a:cs typeface="Arial"/>
              </a:defRPr>
            </a:lvl8pPr>
            <a:lvl9pPr>
              <a:defRPr sz="3075" b="1">
                <a:solidFill>
                  <a:srgbClr val="AEF4BB"/>
                </a:solidFill>
                <a:latin typeface="Arial"/>
                <a:ea typeface="Arial"/>
                <a:cs typeface="Arial"/>
              </a:defRPr>
            </a:lvl9pPr>
          </a:lstStyle>
          <a:p xmlns:a="http://schemas.openxmlformats.org/drawingml/2006/main">
            <a:pPr>
              <a:defRPr sz="3075" b="1">
                <a:solidFill>
                  <a:srgbClr val="AEF4BB"/>
                </a:solidFill>
                <a:latin typeface="Arial"/>
                <a:ea typeface="Arial"/>
                <a:cs typeface="Arial"/>
              </a:defRPr>
            </a:pPr>
            <a:r>
              <a:rPr sz="3075" b="1">
                <a:solidFill>
                  <a:srgbClr val="AEF4BB"/>
                </a:solidFill>
                <a:latin typeface="Arial"/>
                <a:ea typeface="Arial"/>
                <a:cs typeface="Arial"/>
              </a:rPr>
              <a:t>¿Qué tramo del evento no se observó?</a:t>
            </a:r>
          </a:p>
        </p:txBody>
      </p:sp>
      <p:sp>
        <p:nvSpPr>
          <p:cNvPr id="5" name="">
            <a:extLst xmlns:a="http://schemas.openxmlformats.org/drawingml/2006/main">
              <a:ext uri="{FF2B5EF4-FFF2-40B4-BE49-F238E27FC236}">
                <a16:creationId xmlns:a16="http://schemas.microsoft.com/office/drawing/2014/main" id="{D08B7890-DEF0-4229-95CF-76D061F9702A}"/>
              </a:ext>
            </a:extLst>
          </p:cNvPr>
          <p:cNvSpPr>
            <a:spLocks xmlns:a="http://schemas.openxmlformats.org/drawingml/2006/main" noGrp="1"/>
          </p:cNvSpPr>
          <p:nvPr/>
        </p:nvSpPr>
        <p:spPr>
          <a:xfrm xmlns:a="http://schemas.openxmlformats.org/drawingml/2006/main">
            <a:off x="590550" y="3800475"/>
            <a:ext cx="10715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En el caso docente con CanSat se conservan el registro local y la recepción de tierra cuando estén disponibles. Un dato de ese vehículo no se atribuye a los modelos de alumnos. Cada conclusión debe corresponder a su objeto y su caso.</a:t>
            </a:r>
          </a:p>
        </p:txBody>
      </p:sp>
    </p:spTree>
    <p:extLst>
      <p:ext uri="{BB962C8B-B14F-4D97-AF65-F5344CB8AC3E}">
        <p14:creationId xmlns:p14="http://schemas.microsoft.com/office/powerpoint/2010/main" val="85373725"/>
      </p:ext>
    </p:extLst>
  </p:cSld>
</p:sld>
</file>

<file path=ppt/slides/slide3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1F31F9-252F-4410-9574-61DDFBA2B03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El video no muestra todo</a:t>
            </a:r>
          </a:p>
        </p:txBody>
      </p:sp>
      <p:pic>
        <p:nvPicPr>
          <p:cNvPr id="2" name="">
            <a:extLst xmlns:a="http://schemas.openxmlformats.org/drawingml/2006/main">
              <a:ext uri="{FF2B5EF4-FFF2-40B4-BE49-F238E27FC236}">
                <a16:creationId xmlns:a16="http://schemas.microsoft.com/office/drawing/2014/main" id="{15E662C9-110F-4E66-8397-9B9EB3E258FA}"/>
              </a:ext>
            </a:extLst>
          </p:cNvPr>
          <p:cNvPicPr>
            <a:picLocks xmlns:a="http://schemas.openxmlformats.org/drawingml/2006/main" noChangeAspect="1"/>
          </p:cNvPicPr>
          <p:nvPr/>
        </p:nvPicPr>
        <p:blipFill>
          <a:blip xmlns:r="http://schemas.openxmlformats.org/officeDocument/2006/relationships" xmlns:a="http://schemas.openxmlformats.org/drawingml/2006/main" r:embed="R32d9087181ac4fe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595540-53A1-4F51-98A4-8DA833BB738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10/24</a:t>
            </a:r>
          </a:p>
        </p:txBody>
      </p:sp>
      <p:sp>
        <p:nvSpPr>
          <p:cNvPr id="4" name="">
            <a:extLst xmlns:a="http://schemas.openxmlformats.org/drawingml/2006/main">
              <a:ext uri="{FF2B5EF4-FFF2-40B4-BE49-F238E27FC236}">
                <a16:creationId xmlns:a16="http://schemas.microsoft.com/office/drawing/2014/main" id="{4F52F8C2-D241-4C47-9B24-E82F11C0C319}"/>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cámara registra la salida, después pierde al cohete y vuelve a mostrar el descenso.</a:t>
            </a:r>
          </a:p>
        </p:txBody>
      </p:sp>
      <p:sp>
        <p:nvSpPr>
          <p:cNvPr id="5" name="">
            <a:extLst xmlns:a="http://schemas.openxmlformats.org/drawingml/2006/main">
              <a:ext uri="{FF2B5EF4-FFF2-40B4-BE49-F238E27FC236}">
                <a16:creationId xmlns:a16="http://schemas.microsoft.com/office/drawing/2014/main" id="{0E0A205D-AEB7-4252-ADE1-0A7D432ED869}"/>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tramo del evento no se observó?</a:t>
            </a:r>
          </a:p>
        </p:txBody>
      </p:sp>
    </p:spTree>
    <p:extLst>
      <p:ext uri="{BB962C8B-B14F-4D97-AF65-F5344CB8AC3E}">
        <p14:creationId xmlns:p14="http://schemas.microsoft.com/office/powerpoint/2010/main" val="1905740225"/>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093D83-8798-4953-B4C4-078291647FF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Después de recuperar: inspeccionar el objeto</a:t>
            </a:r>
          </a:p>
        </p:txBody>
      </p:sp>
      <p:pic>
        <p:nvPicPr>
          <p:cNvPr id="2" name="">
            <a:extLst xmlns:a="http://schemas.openxmlformats.org/drawingml/2006/main">
              <a:ext uri="{FF2B5EF4-FFF2-40B4-BE49-F238E27FC236}">
                <a16:creationId xmlns:a16="http://schemas.microsoft.com/office/drawing/2014/main" id="{8E858EF9-FD9B-4221-B077-94B25553F11A}"/>
              </a:ext>
            </a:extLst>
          </p:cNvPr>
          <p:cNvPicPr>
            <a:picLocks xmlns:a="http://schemas.openxmlformats.org/drawingml/2006/main" noChangeAspect="1"/>
          </p:cNvPicPr>
          <p:nvPr/>
        </p:nvPicPr>
        <p:blipFill>
          <a:blip xmlns:r="http://schemas.openxmlformats.org/officeDocument/2006/relationships" xmlns:a="http://schemas.openxmlformats.org/drawingml/2006/main" r:embed="R005679e4316242a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ACE21BA-452F-481B-A5E3-C0194C32A53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11/24</a:t>
            </a:r>
          </a:p>
        </p:txBody>
      </p:sp>
      <p:sp>
        <p:nvSpPr>
          <p:cNvPr id="4" name="">
            <a:extLst xmlns:a="http://schemas.openxmlformats.org/drawingml/2006/main">
              <a:ext uri="{FF2B5EF4-FFF2-40B4-BE49-F238E27FC236}">
                <a16:creationId xmlns:a16="http://schemas.microsoft.com/office/drawing/2014/main" id="{81E281CB-F34F-4D0C-98D8-C9573109087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recuperación del conjunto permite observar piezas y conservar evidencia del estado posterior. La organización determina cuándo y cómo se realiza la recuperación. El alumno no persigue un objeto ni accede a un lugar de riesgo por completar la tarea. Una vez autorizado el trabajo sobre el modelo, se identifica y fotografía antes de cambiarlo.</a:t>
            </a:r>
          </a:p>
        </p:txBody>
      </p:sp>
    </p:spTree>
    <p:extLst>
      <p:ext uri="{BB962C8B-B14F-4D97-AF65-F5344CB8AC3E}">
        <p14:creationId xmlns:p14="http://schemas.microsoft.com/office/powerpoint/2010/main" val="1049514387"/>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3BB701-DBEF-4CFD-9E83-62B94662CE1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describir en la inspección</a:t>
            </a:r>
          </a:p>
        </p:txBody>
      </p:sp>
      <p:pic>
        <p:nvPicPr>
          <p:cNvPr id="2" name="">
            <a:extLst xmlns:a="http://schemas.openxmlformats.org/drawingml/2006/main">
              <a:ext uri="{FF2B5EF4-FFF2-40B4-BE49-F238E27FC236}">
                <a16:creationId xmlns:a16="http://schemas.microsoft.com/office/drawing/2014/main" id="{AD6774F0-21E1-44D0-9D03-2B390D976A4E}"/>
              </a:ext>
            </a:extLst>
          </p:cNvPr>
          <p:cNvPicPr>
            <a:picLocks xmlns:a="http://schemas.openxmlformats.org/drawingml/2006/main" noChangeAspect="1"/>
          </p:cNvPicPr>
          <p:nvPr/>
        </p:nvPicPr>
        <p:blipFill>
          <a:blip xmlns:r="http://schemas.openxmlformats.org/officeDocument/2006/relationships" xmlns:a="http://schemas.openxmlformats.org/drawingml/2006/main" r:embed="R0a28c6ba9426446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A8FDB8D-E79D-454E-A952-6B7F00E26E5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12/24</a:t>
            </a:r>
          </a:p>
        </p:txBody>
      </p:sp>
      <p:graphicFrame>
        <p:nvGraphicFramePr>
          <p:cNvPr id="4" name="">
            <a:extLst xmlns:a="http://schemas.openxmlformats.org/drawingml/2006/main">
              <a:ext uri="{FF2B5EF4-FFF2-40B4-BE49-F238E27FC236}">
                <a16:creationId xmlns:a16="http://schemas.microsoft.com/office/drawing/2014/main" id="{480340AE-D429-449C-984C-795B7019D853}"/>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Zona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Observación concreta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Nariz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Borde, unión y marcas visibles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Cuerpo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Forma, superficie y acceso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Aletas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Posición, unión y daños visibles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Estado y continuidad de sus partes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Datos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Archivo disponible e identificación</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7116060"/>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2F143-1EFD-4B9E-AEF4-364AE866B07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Después de recuperar: inspeccionar el objeto</a:t>
            </a:r>
          </a:p>
        </p:txBody>
      </p:sp>
      <p:pic>
        <p:nvPicPr>
          <p:cNvPr id="2" name="">
            <a:extLst xmlns:a="http://schemas.openxmlformats.org/drawingml/2006/main">
              <a:ext uri="{FF2B5EF4-FFF2-40B4-BE49-F238E27FC236}">
                <a16:creationId xmlns:a16="http://schemas.microsoft.com/office/drawing/2014/main" id="{888BDFC1-ED7D-4818-9F7C-C82215605033}"/>
              </a:ext>
            </a:extLst>
          </p:cNvPr>
          <p:cNvPicPr>
            <a:picLocks xmlns:a="http://schemas.openxmlformats.org/drawingml/2006/main" noChangeAspect="1"/>
          </p:cNvPicPr>
          <p:nvPr/>
        </p:nvPicPr>
        <p:blipFill>
          <a:blip xmlns:r="http://schemas.openxmlformats.org/officeDocument/2006/relationships" xmlns:a="http://schemas.openxmlformats.org/drawingml/2006/main" r:embed="R0be30f15368540e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6129FD8-0050-4DAC-9E65-428D9755466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13/24</a:t>
            </a:r>
          </a:p>
        </p:txBody>
      </p:sp>
      <p:sp>
        <p:nvSpPr>
          <p:cNvPr id="4" name="">
            <a:extLst xmlns:a="http://schemas.openxmlformats.org/drawingml/2006/main">
              <a:ext uri="{FF2B5EF4-FFF2-40B4-BE49-F238E27FC236}">
                <a16:creationId xmlns:a16="http://schemas.microsoft.com/office/drawing/2014/main" id="{E8D2E5BC-49BB-4CA1-9302-59703901707C}"/>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Relaciona el objeto recuperado con su identificador de caso.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Registra el estado de nariz, cuerpo, aletas y sistema de recuperación.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Fotografía una diferencia respecto al estado previo, si existe.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Conserva los archivos o registros de datos que correspondan.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Consulta al docente antes de reparar o preparar otra actividad.</a:t>
            </a:r>
          </a:p>
        </p:txBody>
      </p:sp>
    </p:spTree>
    <p:extLst>
      <p:ext uri="{BB962C8B-B14F-4D97-AF65-F5344CB8AC3E}">
        <p14:creationId xmlns:p14="http://schemas.microsoft.com/office/powerpoint/2010/main" val="1963849364"/>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2897D3-2228-4A74-94EE-092780ED612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Comparar lo previsto y lo observado</a:t>
            </a:r>
          </a:p>
        </p:txBody>
      </p:sp>
      <p:pic>
        <p:nvPicPr>
          <p:cNvPr id="2" name="">
            <a:extLst xmlns:a="http://schemas.openxmlformats.org/drawingml/2006/main">
              <a:ext uri="{FF2B5EF4-FFF2-40B4-BE49-F238E27FC236}">
                <a16:creationId xmlns:a16="http://schemas.microsoft.com/office/drawing/2014/main" id="{BD4D439E-F24D-45B1-B6FE-2230E1AED531}"/>
              </a:ext>
            </a:extLst>
          </p:cNvPr>
          <p:cNvPicPr>
            <a:picLocks xmlns:a="http://schemas.openxmlformats.org/drawingml/2006/main" noChangeAspect="1"/>
          </p:cNvPicPr>
          <p:nvPr/>
        </p:nvPicPr>
        <p:blipFill>
          <a:blip xmlns:r="http://schemas.openxmlformats.org/officeDocument/2006/relationships" xmlns:a="http://schemas.openxmlformats.org/drawingml/2006/main" r:embed="R76cfc2f997fd442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8742F54-C849-4B59-ABBF-D98F1906075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14/24</a:t>
            </a:r>
          </a:p>
        </p:txBody>
      </p:sp>
      <p:sp>
        <p:nvSpPr>
          <p:cNvPr id="4" name="">
            <a:extLst xmlns:a="http://schemas.openxmlformats.org/drawingml/2006/main">
              <a:ext uri="{FF2B5EF4-FFF2-40B4-BE49-F238E27FC236}">
                <a16:creationId xmlns:a16="http://schemas.microsoft.com/office/drawing/2014/main" id="{DD44DE05-27F7-419D-8DC1-C45A72F4091E}"/>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informe final distingue tres fuentes: predicción del programa, medición disponible y observación cualitativa. Si el alumno no dispone de un altímetro o de un método de medida revisado, no tiene que inventar un apogeo para completar una tabla. Puede comparar eventos, recuperación y estado de la pieza con un alcance claro.</a:t>
            </a:r>
          </a:p>
        </p:txBody>
      </p:sp>
    </p:spTree>
    <p:extLst>
      <p:ext uri="{BB962C8B-B14F-4D97-AF65-F5344CB8AC3E}">
        <p14:creationId xmlns:p14="http://schemas.microsoft.com/office/powerpoint/2010/main" val="493173458"/>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6326D2-6D0D-4B0E-86D7-AB2B8B82D27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Comparación final del caso</a:t>
            </a:r>
          </a:p>
        </p:txBody>
      </p:sp>
      <p:pic>
        <p:nvPicPr>
          <p:cNvPr id="2" name="">
            <a:extLst xmlns:a="http://schemas.openxmlformats.org/drawingml/2006/main">
              <a:ext uri="{FF2B5EF4-FFF2-40B4-BE49-F238E27FC236}">
                <a16:creationId xmlns:a16="http://schemas.microsoft.com/office/drawing/2014/main" id="{92BFA929-F129-454D-BCE2-F199DF75AF2D}"/>
              </a:ext>
            </a:extLst>
          </p:cNvPr>
          <p:cNvPicPr>
            <a:picLocks xmlns:a="http://schemas.openxmlformats.org/drawingml/2006/main" noChangeAspect="1"/>
          </p:cNvPicPr>
          <p:nvPr/>
        </p:nvPicPr>
        <p:blipFill>
          <a:blip xmlns:r="http://schemas.openxmlformats.org/officeDocument/2006/relationships" xmlns:a="http://schemas.openxmlformats.org/drawingml/2006/main" r:embed="R3a78ca3a07694e2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5430DC7-6450-49E1-B957-443AAE5B0B2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15/24</a:t>
            </a:r>
          </a:p>
        </p:txBody>
      </p:sp>
      <p:graphicFrame>
        <p:nvGraphicFramePr>
          <p:cNvPr id="4" name="">
            <a:extLst xmlns:a="http://schemas.openxmlformats.org/drawingml/2006/main">
              <a:ext uri="{FF2B5EF4-FFF2-40B4-BE49-F238E27FC236}">
                <a16:creationId xmlns:a16="http://schemas.microsoft.com/office/drawing/2014/main" id="{CEC6FA21-D66D-4FB7-9A58-8BFFA5748E6A}"/>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Predicción o plan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Evidencia disponible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Fases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Eventos del modelo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Video y observación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Sistema previsto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Estado y evento visible</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Altura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Predicción declarada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Solo medida si existe</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Pieza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Estado y función esperados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Inspección posterior</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742550663"/>
      </p:ext>
    </p:extLst>
  </p:cSld>
</p:sld>
</file>

<file path=ppt/slides/slide4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13EFF9-C092-49FD-A7AF-1B0B6F4BE50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conclusión útil con pocos datos</a:t>
            </a:r>
          </a:p>
        </p:txBody>
      </p:sp>
      <p:pic>
        <p:nvPicPr>
          <p:cNvPr id="2" name="">
            <a:extLst xmlns:a="http://schemas.openxmlformats.org/drawingml/2006/main">
              <a:ext uri="{FF2B5EF4-FFF2-40B4-BE49-F238E27FC236}">
                <a16:creationId xmlns:a16="http://schemas.microsoft.com/office/drawing/2014/main" id="{287798A0-5C52-44BB-A427-5BB1BAEFFB9A}"/>
              </a:ext>
            </a:extLst>
          </p:cNvPr>
          <p:cNvPicPr>
            <a:picLocks xmlns:a="http://schemas.openxmlformats.org/drawingml/2006/main" noChangeAspect="1"/>
          </p:cNvPicPr>
          <p:nvPr/>
        </p:nvPicPr>
        <p:blipFill>
          <a:blip xmlns:r="http://schemas.openxmlformats.org/officeDocument/2006/relationships" xmlns:a="http://schemas.openxmlformats.org/drawingml/2006/main" r:embed="R9d77bbab61f84d3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339BAAC-5F52-4264-941E-E0E22958580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16/24</a:t>
            </a:r>
          </a:p>
        </p:txBody>
      </p:sp>
      <p:sp>
        <p:nvSpPr>
          <p:cNvPr id="4" name="">
            <a:extLst xmlns:a="http://schemas.openxmlformats.org/drawingml/2006/main">
              <a:ext uri="{FF2B5EF4-FFF2-40B4-BE49-F238E27FC236}">
                <a16:creationId xmlns:a16="http://schemas.microsoft.com/office/drawing/2014/main" id="{EBB199F3-3A10-4BB8-BEE9-4B776A028592}"/>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“No medimos altura, pero registramos la recuperación visible y el estado de las tres aletas. Una unión presenta una diferencia respecto al registro previo”.</a:t>
            </a:r>
          </a:p>
        </p:txBody>
      </p:sp>
      <p:sp>
        <p:nvSpPr>
          <p:cNvPr id="5" name="">
            <a:extLst xmlns:a="http://schemas.openxmlformats.org/drawingml/2006/main">
              <a:ext uri="{FF2B5EF4-FFF2-40B4-BE49-F238E27FC236}">
                <a16:creationId xmlns:a16="http://schemas.microsoft.com/office/drawing/2014/main" id="{7285BC8B-04F5-4E08-A948-F4782A8E407E}"/>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fuente respalda cada afirmación?</a:t>
            </a:r>
          </a:p>
        </p:txBody>
      </p:sp>
    </p:spTree>
    <p:extLst>
      <p:ext uri="{BB962C8B-B14F-4D97-AF65-F5344CB8AC3E}">
        <p14:creationId xmlns:p14="http://schemas.microsoft.com/office/powerpoint/2010/main" val="1085274850"/>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C36702F-AB90-4D23-9AF0-2AC3C8C3887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Cerrar el proyecto y proponer la siguiente versión</a:t>
            </a:r>
          </a:p>
        </p:txBody>
      </p:sp>
      <p:pic>
        <p:nvPicPr>
          <p:cNvPr id="2" name="">
            <a:extLst xmlns:a="http://schemas.openxmlformats.org/drawingml/2006/main">
              <a:ext uri="{FF2B5EF4-FFF2-40B4-BE49-F238E27FC236}">
                <a16:creationId xmlns:a16="http://schemas.microsoft.com/office/drawing/2014/main" id="{8A0F0AC9-A214-4507-B599-E1D4783E8D66}"/>
              </a:ext>
            </a:extLst>
          </p:cNvPr>
          <p:cNvPicPr>
            <a:picLocks xmlns:a="http://schemas.openxmlformats.org/drawingml/2006/main" noChangeAspect="1"/>
          </p:cNvPicPr>
          <p:nvPr/>
        </p:nvPicPr>
        <p:blipFill>
          <a:blip xmlns:r="http://schemas.openxmlformats.org/officeDocument/2006/relationships" xmlns:a="http://schemas.openxmlformats.org/drawingml/2006/main" r:embed="R51cda89f94384e5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5CF2B7F-D715-4231-B0F8-7CA1C9B794D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17/24</a:t>
            </a:r>
          </a:p>
        </p:txBody>
      </p:sp>
      <p:sp>
        <p:nvSpPr>
          <p:cNvPr id="4" name="">
            <a:extLst xmlns:a="http://schemas.openxmlformats.org/drawingml/2006/main">
              <a:ext uri="{FF2B5EF4-FFF2-40B4-BE49-F238E27FC236}">
                <a16:creationId xmlns:a16="http://schemas.microsoft.com/office/drawing/2014/main" id="{C840BE6B-3E7F-4AB5-9778-D7B42C11A913}"/>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aprendizaje no depende únicamente de que el cohete salga en una operación. Un proyecto con un pendiente bien detectado puede demostrar buenas decisiones y comprensión. La evaluación considera el trabajo construido, su representación y la capacidad de explicar qué se comprobó.</a:t>
            </a:r>
          </a:p>
        </p:txBody>
      </p:sp>
    </p:spTree>
    <p:extLst>
      <p:ext uri="{BB962C8B-B14F-4D97-AF65-F5344CB8AC3E}">
        <p14:creationId xmlns:p14="http://schemas.microsoft.com/office/powerpoint/2010/main" val="489897187"/>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BB4048-4502-444A-9897-34BA3CEF149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Evaluación del aprendizaje</a:t>
            </a:r>
          </a:p>
        </p:txBody>
      </p:sp>
      <p:pic>
        <p:nvPicPr>
          <p:cNvPr id="2" name="">
            <a:extLst xmlns:a="http://schemas.openxmlformats.org/drawingml/2006/main">
              <a:ext uri="{FF2B5EF4-FFF2-40B4-BE49-F238E27FC236}">
                <a16:creationId xmlns:a16="http://schemas.microsoft.com/office/drawing/2014/main" id="{BC24ADEE-9F66-45FA-9B00-B35969712A30}"/>
              </a:ext>
            </a:extLst>
          </p:cNvPr>
          <p:cNvPicPr>
            <a:picLocks xmlns:a="http://schemas.openxmlformats.org/drawingml/2006/main" noChangeAspect="1"/>
          </p:cNvPicPr>
          <p:nvPr/>
        </p:nvPicPr>
        <p:blipFill>
          <a:blip xmlns:r="http://schemas.openxmlformats.org/officeDocument/2006/relationships" xmlns:a="http://schemas.openxmlformats.org/drawingml/2006/main" r:embed="Rbe398ea1c06247d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D6C010-DF9E-44EC-8AF7-C85C7B9A51B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18/24</a:t>
            </a:r>
          </a:p>
        </p:txBody>
      </p:sp>
      <p:graphicFrame>
        <p:nvGraphicFramePr>
          <p:cNvPr id="4" name="">
            <a:extLst xmlns:a="http://schemas.openxmlformats.org/drawingml/2006/main">
              <a:ext uri="{FF2B5EF4-FFF2-40B4-BE49-F238E27FC236}">
                <a16:creationId xmlns:a16="http://schemas.microsoft.com/office/drawing/2014/main" id="{665409CA-ACC2-4B37-B470-21CB6509F311}"/>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Aspecto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Peso propuesto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Decisiones según misión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25%</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Modelo digital y representación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25%</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Fabricación y comprobaciones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30%</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Explicación con evidencias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20%</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577197567"/>
      </p:ext>
    </p:extLst>
  </p:cSld>
</p:sld>
</file>

<file path=ppt/slides/slide4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8E3459-51FC-4C84-8718-B22839E61AC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La próxima versión tiene una razón</a:t>
            </a:r>
          </a:p>
        </p:txBody>
      </p:sp>
      <p:pic>
        <p:nvPicPr>
          <p:cNvPr id="2" name="">
            <a:extLst xmlns:a="http://schemas.openxmlformats.org/drawingml/2006/main">
              <a:ext uri="{FF2B5EF4-FFF2-40B4-BE49-F238E27FC236}">
                <a16:creationId xmlns:a16="http://schemas.microsoft.com/office/drawing/2014/main" id="{504FCAD4-9A56-4F64-98E4-432EEA1BB38C}"/>
              </a:ext>
            </a:extLst>
          </p:cNvPr>
          <p:cNvPicPr>
            <a:picLocks xmlns:a="http://schemas.openxmlformats.org/drawingml/2006/main" noChangeAspect="1"/>
          </p:cNvPicPr>
          <p:nvPr/>
        </p:nvPicPr>
        <p:blipFill>
          <a:blip xmlns:r="http://schemas.openxmlformats.org/officeDocument/2006/relationships" xmlns:a="http://schemas.openxmlformats.org/drawingml/2006/main" r:embed="R58d6cdbbde8c481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3326891-A399-4D03-838C-9675F6D7BBC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19/24</a:t>
            </a:r>
          </a:p>
        </p:txBody>
      </p:sp>
      <p:sp>
        <p:nvSpPr>
          <p:cNvPr id="4" name="">
            <a:extLst xmlns:a="http://schemas.openxmlformats.org/drawingml/2006/main">
              <a:ext uri="{FF2B5EF4-FFF2-40B4-BE49-F238E27FC236}">
                <a16:creationId xmlns:a16="http://schemas.microsoft.com/office/drawing/2014/main" id="{23C03CAA-71D8-4953-A0C4-704E88F34119}"/>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equipo propone cambiar la nariz porque la actual se repone con dificultad, o rediseñar el útil porque una referencia fue incómoda durante el montaje.</a:t>
            </a:r>
          </a:p>
        </p:txBody>
      </p:sp>
      <p:sp>
        <p:nvSpPr>
          <p:cNvPr id="5" name="">
            <a:extLst xmlns:a="http://schemas.openxmlformats.org/drawingml/2006/main">
              <a:ext uri="{FF2B5EF4-FFF2-40B4-BE49-F238E27FC236}">
                <a16:creationId xmlns:a16="http://schemas.microsoft.com/office/drawing/2014/main" id="{E822166D-DA53-44DE-872B-983E45A9682B}"/>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cambio comprobarás en la siguiente versión?</a:t>
            </a:r>
          </a:p>
        </p:txBody>
      </p:sp>
    </p:spTree>
    <p:extLst>
      <p:ext uri="{BB962C8B-B14F-4D97-AF65-F5344CB8AC3E}">
        <p14:creationId xmlns:p14="http://schemas.microsoft.com/office/powerpoint/2010/main" val="251056739"/>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DB96D0-9A72-41E8-88D9-F084FECB65B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45B33544-44A3-4E86-8527-891A1C341ABE}"/>
              </a:ext>
            </a:extLst>
          </p:cNvPr>
          <p:cNvPicPr>
            <a:picLocks xmlns:a="http://schemas.openxmlformats.org/drawingml/2006/main" noChangeAspect="1"/>
          </p:cNvPicPr>
          <p:nvPr/>
        </p:nvPicPr>
        <p:blipFill>
          <a:blip xmlns:r="http://schemas.openxmlformats.org/officeDocument/2006/relationships" xmlns:a="http://schemas.openxmlformats.org/drawingml/2006/main" r:embed="R755168376c2f4d9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75FE66-2327-453A-B8B3-567DC8512E3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20/24</a:t>
            </a:r>
          </a:p>
        </p:txBody>
      </p:sp>
      <p:sp>
        <p:nvSpPr>
          <p:cNvPr id="4" name="">
            <a:extLst xmlns:a="http://schemas.openxmlformats.org/drawingml/2006/main">
              <a:ext uri="{FF2B5EF4-FFF2-40B4-BE49-F238E27FC236}">
                <a16:creationId xmlns:a16="http://schemas.microsoft.com/office/drawing/2014/main" id="{1F9695B7-495D-4B1C-91AC-399CBE61D48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Preparar caso, roles y configuración antes de la ventana de operaciones.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Registrar únicamente eventos y magnitudes que se puedan sostener.</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Inspeccionar el modelo recuperado según la organización.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Comparar fuentes y proponer una mejora por equipo.</a:t>
            </a:r>
          </a:p>
        </p:txBody>
      </p:sp>
    </p:spTree>
    <p:extLst>
      <p:ext uri="{BB962C8B-B14F-4D97-AF65-F5344CB8AC3E}">
        <p14:creationId xmlns:p14="http://schemas.microsoft.com/office/powerpoint/2010/main" val="1816979328"/>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770FDA-0C50-488D-85AF-A319A0B4FD9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FBC4FF0F-795F-4DD3-96FB-EA854D09F5C7}"/>
              </a:ext>
            </a:extLst>
          </p:cNvPr>
          <p:cNvPicPr>
            <a:picLocks xmlns:a="http://schemas.openxmlformats.org/drawingml/2006/main" noChangeAspect="1"/>
          </p:cNvPicPr>
          <p:nvPr/>
        </p:nvPicPr>
        <p:blipFill>
          <a:blip xmlns:r="http://schemas.openxmlformats.org/officeDocument/2006/relationships" xmlns:a="http://schemas.openxmlformats.org/drawingml/2006/main" r:embed="R4871ecccb0714d1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56E4B4-AFCE-4DD3-BA80-D691EA8829B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21/24</a:t>
            </a:r>
          </a:p>
        </p:txBody>
      </p:sp>
      <p:sp>
        <p:nvSpPr>
          <p:cNvPr id="4" name="">
            <a:extLst xmlns:a="http://schemas.openxmlformats.org/drawingml/2006/main">
              <a:ext uri="{FF2B5EF4-FFF2-40B4-BE49-F238E27FC236}">
                <a16:creationId xmlns:a16="http://schemas.microsoft.com/office/drawing/2014/main" id="{A45789DB-BE0D-400F-86A5-1E7E338C660F}"/>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Cerrar el aprendizaje con el objeto, sus registros y una comparación honesta con la predicción.</a:t>
            </a:r>
          </a:p>
        </p:txBody>
      </p:sp>
      <p:sp>
        <p:nvSpPr>
          <p:cNvPr id="5" name="">
            <a:extLst xmlns:a="http://schemas.openxmlformats.org/drawingml/2006/main">
              <a:ext uri="{FF2B5EF4-FFF2-40B4-BE49-F238E27FC236}">
                <a16:creationId xmlns:a16="http://schemas.microsoft.com/office/drawing/2014/main" id="{7274ECAA-CF92-4215-A093-CD1F8DA98CEE}"/>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cambio comprobarás en la siguiente versión?</a:t>
            </a:r>
          </a:p>
        </p:txBody>
      </p:sp>
      <p:sp>
        <p:nvSpPr>
          <p:cNvPr id="6" name="">
            <a:extLst xmlns:a="http://schemas.openxmlformats.org/drawingml/2006/main">
              <a:ext uri="{FF2B5EF4-FFF2-40B4-BE49-F238E27FC236}">
                <a16:creationId xmlns:a16="http://schemas.microsoft.com/office/drawing/2014/main" id="{40C68FBA-D7ED-4D5B-938E-B86DA1AE051E}"/>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283575268"/>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1AD7F6-4C8A-47B4-B3A6-74284106973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D4FF84E2-FDD3-434E-86B8-14CC8C071C8E}"/>
              </a:ext>
            </a:extLst>
          </p:cNvPr>
          <p:cNvPicPr>
            <a:picLocks xmlns:a="http://schemas.openxmlformats.org/drawingml/2006/main" noChangeAspect="1"/>
          </p:cNvPicPr>
          <p:nvPr/>
        </p:nvPicPr>
        <p:blipFill>
          <a:blip xmlns:r="http://schemas.openxmlformats.org/officeDocument/2006/relationships" xmlns:a="http://schemas.openxmlformats.org/drawingml/2006/main" r:embed="R3c0a1d819dae400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95517A2-BD06-422E-93F3-5D45BFBCF73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22/24</a:t>
            </a:r>
          </a:p>
        </p:txBody>
      </p:sp>
      <p:sp>
        <p:nvSpPr>
          <p:cNvPr id="4" name="">
            <a:extLst xmlns:a="http://schemas.openxmlformats.org/drawingml/2006/main">
              <a:ext uri="{FF2B5EF4-FFF2-40B4-BE49-F238E27FC236}">
                <a16:creationId xmlns:a16="http://schemas.microsoft.com/office/drawing/2014/main" id="{0C3F5433-D1FD-4B75-8484-6AD5F9901655}"/>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¿Qué se escribe si el video pierde al cohete?</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¿Una marca revela automáticamente su causa?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define una mejora útil?</a:t>
            </a:r>
          </a:p>
        </p:txBody>
      </p:sp>
    </p:spTree>
    <p:extLst>
      <p:ext uri="{BB962C8B-B14F-4D97-AF65-F5344CB8AC3E}">
        <p14:creationId xmlns:p14="http://schemas.microsoft.com/office/powerpoint/2010/main" val="1226425962"/>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83140A-4977-494E-B9B4-6972FEC8126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6729012B-F06E-45F7-9A04-A704F56BDD76}"/>
              </a:ext>
            </a:extLst>
          </p:cNvPr>
          <p:cNvPicPr>
            <a:picLocks xmlns:a="http://schemas.openxmlformats.org/drawingml/2006/main" noChangeAspect="1"/>
          </p:cNvPicPr>
          <p:nvPr/>
        </p:nvPicPr>
        <p:blipFill>
          <a:blip xmlns:r="http://schemas.openxmlformats.org/officeDocument/2006/relationships" xmlns:a="http://schemas.openxmlformats.org/drawingml/2006/main" r:embed="R06072bf0f1194d8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5D20FD2-1292-494D-A1CE-DBA866350DD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8   CLASE 16   23/24</a:t>
            </a:r>
          </a:p>
        </p:txBody>
      </p:sp>
      <p:sp>
        <p:nvSpPr>
          <p:cNvPr id="4" name="">
            <a:extLst xmlns:a="http://schemas.openxmlformats.org/drawingml/2006/main">
              <a:ext uri="{FF2B5EF4-FFF2-40B4-BE49-F238E27FC236}">
                <a16:creationId xmlns:a16="http://schemas.microsoft.com/office/drawing/2014/main" id="{A8B17B84-C8B1-43BB-A59C-7F0B18743C78}"/>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Se identifica el tramo no observado, sin inventar eventos o alturas.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Se describe y se contrasta con otras evidencias.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Un problema de misión identificado y una forma de comprobar el cambio.</a:t>
            </a:r>
          </a:p>
        </p:txBody>
      </p:sp>
    </p:spTree>
    <p:extLst>
      <p:ext uri="{BB962C8B-B14F-4D97-AF65-F5344CB8AC3E}">
        <p14:creationId xmlns:p14="http://schemas.microsoft.com/office/powerpoint/2010/main" val="1548907018"/>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AFB8DE-F345-4798-B30E-F55D134C007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44099855-65C2-493A-9ACF-2B35134E5F0D}"/>
              </a:ext>
            </a:extLst>
          </p:cNvPr>
          <p:cNvPicPr>
            <a:picLocks xmlns:a="http://schemas.openxmlformats.org/drawingml/2006/main" noChangeAspect="1"/>
          </p:cNvPicPr>
          <p:nvPr/>
        </p:nvPicPr>
        <p:blipFill>
          <a:blip xmlns:r="http://schemas.openxmlformats.org/officeDocument/2006/relationships" xmlns:a="http://schemas.openxmlformats.org/drawingml/2006/main" r:embed="R463e42cb4404408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D6E2DE7-040E-4A16-B3FA-C8121DBF631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8   CLASE 16   24/24</a:t>
            </a:r>
          </a:p>
        </p:txBody>
      </p:sp>
      <p:sp>
        <p:nvSpPr>
          <p:cNvPr id="4" name="">
            <a:extLst xmlns:a="http://schemas.openxmlformats.org/drawingml/2006/main">
              <a:ext uri="{FF2B5EF4-FFF2-40B4-BE49-F238E27FC236}">
                <a16:creationId xmlns:a16="http://schemas.microsoft.com/office/drawing/2014/main" id="{5A608861-4BA3-4798-9C43-253C02651A11}"/>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Ficha final del proyecto, archivos conservados y mejora justificada.</a:t>
            </a:r>
          </a:p>
        </p:txBody>
      </p:sp>
      <p:sp>
        <p:nvSpPr>
          <p:cNvPr id="5" name="">
            <a:extLst xmlns:a="http://schemas.openxmlformats.org/drawingml/2006/main">
              <a:ext uri="{FF2B5EF4-FFF2-40B4-BE49-F238E27FC236}">
                <a16:creationId xmlns:a16="http://schemas.microsoft.com/office/drawing/2014/main" id="{27E724BF-DF25-4E88-BDBF-F4E1D72D5252}"/>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4252475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2026-10-22T18:50:56.3880000Z</dcterms:created>
  <dcterms:modified xsi:type="dcterms:W3CDTF">2026-10-22T18:50:56.3880000Z</dcterms:modified>
</coreProperties>
</file>