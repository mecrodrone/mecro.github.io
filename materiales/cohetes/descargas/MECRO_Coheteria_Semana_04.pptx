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11e0609f754d43" /><Relationship Type="http://schemas.openxmlformats.org/officeDocument/2006/relationships/extended-properties" Target="/docProps/app.xml" Id="Re31b7b55d1d04000" /><Relationship Type="http://schemas.openxmlformats.org/officeDocument/2006/relationships/officeDocument" Target="/ppt/presentation.xml" Id="R92cb8c6f424e426d" /></Relationships>
</file>

<file path=ppt/presentation.xml><?xml version="1.0" encoding="utf-8"?>
<p:presentation xmlns:p="http://schemas.openxmlformats.org/presentationml/2006/main">
  <p:sldMasterIdLst>
    <p:sldMasterId xmlns:r="http://schemas.openxmlformats.org/officeDocument/2006/relationships" id="2147483648" r:id="R24145801c4974787"/>
  </p:sldMasterIdLst>
  <p:notesMasterIdLst>
    <p:notesMasterId xmlns:r="http://schemas.openxmlformats.org/officeDocument/2006/relationships" r:id="R125b1feda06f4306"/>
  </p:notesMasterIdLst>
  <p:sldIdLst>
    <p:sldId xmlns:r="http://schemas.openxmlformats.org/officeDocument/2006/relationships" id="256" r:id="R6bcd4ee64f6a4208"/>
    <p:sldId xmlns:r="http://schemas.openxmlformats.org/officeDocument/2006/relationships" id="257" r:id="R00ec8b9e13c446a2"/>
    <p:sldId xmlns:r="http://schemas.openxmlformats.org/officeDocument/2006/relationships" id="258" r:id="R96bbb901579547c5"/>
    <p:sldId xmlns:r="http://schemas.openxmlformats.org/officeDocument/2006/relationships" id="259" r:id="Rec51f8416535467d"/>
    <p:sldId xmlns:r="http://schemas.openxmlformats.org/officeDocument/2006/relationships" id="260" r:id="R8758744daca54b44"/>
    <p:sldId xmlns:r="http://schemas.openxmlformats.org/officeDocument/2006/relationships" id="261" r:id="R4edd0a60d3ca4af8"/>
    <p:sldId xmlns:r="http://schemas.openxmlformats.org/officeDocument/2006/relationships" id="262" r:id="R2636129316c344a3"/>
    <p:sldId xmlns:r="http://schemas.openxmlformats.org/officeDocument/2006/relationships" id="263" r:id="Re000c07a13a548be"/>
    <p:sldId xmlns:r="http://schemas.openxmlformats.org/officeDocument/2006/relationships" id="264" r:id="Ra7def9850b814ff1"/>
    <p:sldId xmlns:r="http://schemas.openxmlformats.org/officeDocument/2006/relationships" id="265" r:id="R2922ff6cecf94287"/>
    <p:sldId xmlns:r="http://schemas.openxmlformats.org/officeDocument/2006/relationships" id="266" r:id="Rcf2c7a56d73144a4"/>
    <p:sldId xmlns:r="http://schemas.openxmlformats.org/officeDocument/2006/relationships" id="267" r:id="R52e7622d4416431d"/>
    <p:sldId xmlns:r="http://schemas.openxmlformats.org/officeDocument/2006/relationships" id="268" r:id="Raa16c8686e874352"/>
    <p:sldId xmlns:r="http://schemas.openxmlformats.org/officeDocument/2006/relationships" id="269" r:id="R136276f332c84744"/>
    <p:sldId xmlns:r="http://schemas.openxmlformats.org/officeDocument/2006/relationships" id="270" r:id="R418053238bb3410c"/>
    <p:sldId xmlns:r="http://schemas.openxmlformats.org/officeDocument/2006/relationships" id="271" r:id="R98918870168542ef"/>
    <p:sldId xmlns:r="http://schemas.openxmlformats.org/officeDocument/2006/relationships" id="272" r:id="R5fddde6f06714c31"/>
    <p:sldId xmlns:r="http://schemas.openxmlformats.org/officeDocument/2006/relationships" id="273" r:id="R521f56f26a8543c6"/>
    <p:sldId xmlns:r="http://schemas.openxmlformats.org/officeDocument/2006/relationships" id="274" r:id="R1c34bac4220a48aa"/>
    <p:sldId xmlns:r="http://schemas.openxmlformats.org/officeDocument/2006/relationships" id="275" r:id="R453ab18ea1614450"/>
    <p:sldId xmlns:r="http://schemas.openxmlformats.org/officeDocument/2006/relationships" id="276" r:id="Rf07aadacc05a442b"/>
    <p:sldId xmlns:r="http://schemas.openxmlformats.org/officeDocument/2006/relationships" id="277" r:id="Reedc6745c86a4e15"/>
    <p:sldId xmlns:r="http://schemas.openxmlformats.org/officeDocument/2006/relationships" id="278" r:id="Re2325554c8aa46a3"/>
    <p:sldId xmlns:r="http://schemas.openxmlformats.org/officeDocument/2006/relationships" id="279" r:id="R9acfc7fcd8734dc8"/>
    <p:sldId xmlns:r="http://schemas.openxmlformats.org/officeDocument/2006/relationships" id="280" r:id="R344cf815f36048e5"/>
    <p:sldId xmlns:r="http://schemas.openxmlformats.org/officeDocument/2006/relationships" id="281" r:id="R9311b39965fa40eb"/>
    <p:sldId xmlns:r="http://schemas.openxmlformats.org/officeDocument/2006/relationships" id="282" r:id="R6c3877ef4d824d6a"/>
    <p:sldId xmlns:r="http://schemas.openxmlformats.org/officeDocument/2006/relationships" id="283" r:id="R212449fe9a4f4703"/>
    <p:sldId xmlns:r="http://schemas.openxmlformats.org/officeDocument/2006/relationships" id="284" r:id="R2d7c59a2b7e94916"/>
    <p:sldId xmlns:r="http://schemas.openxmlformats.org/officeDocument/2006/relationships" id="285" r:id="R2701694809a944a5"/>
    <p:sldId xmlns:r="http://schemas.openxmlformats.org/officeDocument/2006/relationships" id="286" r:id="R958a3fb576874e97"/>
    <p:sldId xmlns:r="http://schemas.openxmlformats.org/officeDocument/2006/relationships" id="287" r:id="Rcec16a1b303144e7"/>
    <p:sldId xmlns:r="http://schemas.openxmlformats.org/officeDocument/2006/relationships" id="288" r:id="R8140baabee6f4390"/>
    <p:sldId xmlns:r="http://schemas.openxmlformats.org/officeDocument/2006/relationships" id="289" r:id="R7c0a30bcd46745c1"/>
    <p:sldId xmlns:r="http://schemas.openxmlformats.org/officeDocument/2006/relationships" id="290" r:id="Rb4a5a189c60f4ebf"/>
    <p:sldId xmlns:r="http://schemas.openxmlformats.org/officeDocument/2006/relationships" id="291" r:id="R0b7b4fc0fce444de"/>
    <p:sldId xmlns:r="http://schemas.openxmlformats.org/officeDocument/2006/relationships" id="292" r:id="R26324810710240b4"/>
    <p:sldId xmlns:r="http://schemas.openxmlformats.org/officeDocument/2006/relationships" id="293" r:id="R1154a65588c546df"/>
    <p:sldId xmlns:r="http://schemas.openxmlformats.org/officeDocument/2006/relationships" id="294" r:id="R6630afa27e2246a1"/>
    <p:sldId xmlns:r="http://schemas.openxmlformats.org/officeDocument/2006/relationships" id="295" r:id="R070618dd630d4728"/>
    <p:sldId xmlns:r="http://schemas.openxmlformats.org/officeDocument/2006/relationships" id="296" r:id="Rf3d36d74ab6844a7"/>
    <p:sldId xmlns:r="http://schemas.openxmlformats.org/officeDocument/2006/relationships" id="297" r:id="R29d3d655f4d1445f"/>
    <p:sldId xmlns:r="http://schemas.openxmlformats.org/officeDocument/2006/relationships" id="298" r:id="R54b8d97a852a4654"/>
    <p:sldId xmlns:r="http://schemas.openxmlformats.org/officeDocument/2006/relationships" id="299" r:id="Ra1009231f8604010"/>
    <p:sldId xmlns:r="http://schemas.openxmlformats.org/officeDocument/2006/relationships" id="300" r:id="R9e2086d9f005411a"/>
    <p:sldId xmlns:r="http://schemas.openxmlformats.org/officeDocument/2006/relationships" id="301" r:id="Rbc71954455504db2"/>
    <p:sldId xmlns:r="http://schemas.openxmlformats.org/officeDocument/2006/relationships" id="302" r:id="R332e3a7329f149d2"/>
    <p:sldId xmlns:r="http://schemas.openxmlformats.org/officeDocument/2006/relationships" id="303" r:id="R745e4587705b4d2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54b65fba2d40e3" /><Relationship Type="http://schemas.openxmlformats.org/officeDocument/2006/relationships/slideMaster" Target="/ppt/slideMasters/slideMaster1.xml" Id="R24145801c4974787" /><Relationship Type="http://schemas.openxmlformats.org/officeDocument/2006/relationships/notesMaster" Target="/ppt/notesMasters/notesMaster1.xml" Id="R125b1feda06f4306" /><Relationship Type="http://schemas.openxmlformats.org/officeDocument/2006/relationships/presProps" Target="/ppt/presProps.xml" Id="R56a7c6f8e7c14632" /><Relationship Type="http://schemas.openxmlformats.org/officeDocument/2006/relationships/tableStyles" Target="/ppt/tableStyles.xml" Id="R7ddc50d54f3b48e8" /><Relationship Type="http://schemas.openxmlformats.org/officeDocument/2006/relationships/slide" Target="/ppt/slides/slide1.xml" Id="R6bcd4ee64f6a4208" /><Relationship Type="http://schemas.openxmlformats.org/officeDocument/2006/relationships/slide" Target="/ppt/slides/slide2.xml" Id="R00ec8b9e13c446a2" /><Relationship Type="http://schemas.openxmlformats.org/officeDocument/2006/relationships/slide" Target="/ppt/slides/slide3.xml" Id="R96bbb901579547c5" /><Relationship Type="http://schemas.openxmlformats.org/officeDocument/2006/relationships/slide" Target="/ppt/slides/slide4.xml" Id="Rec51f8416535467d" /><Relationship Type="http://schemas.openxmlformats.org/officeDocument/2006/relationships/slide" Target="/ppt/slides/slide5.xml" Id="R8758744daca54b44" /><Relationship Type="http://schemas.openxmlformats.org/officeDocument/2006/relationships/slide" Target="/ppt/slides/slide6.xml" Id="R4edd0a60d3ca4af8" /><Relationship Type="http://schemas.openxmlformats.org/officeDocument/2006/relationships/slide" Target="/ppt/slides/slide7.xml" Id="R2636129316c344a3" /><Relationship Type="http://schemas.openxmlformats.org/officeDocument/2006/relationships/slide" Target="/ppt/slides/slide8.xml" Id="Re000c07a13a548be" /><Relationship Type="http://schemas.openxmlformats.org/officeDocument/2006/relationships/slide" Target="/ppt/slides/slide9.xml" Id="Ra7def9850b814ff1" /><Relationship Type="http://schemas.openxmlformats.org/officeDocument/2006/relationships/slide" Target="/ppt/slides/slide10.xml" Id="R2922ff6cecf94287" /><Relationship Type="http://schemas.openxmlformats.org/officeDocument/2006/relationships/slide" Target="/ppt/slides/slide11.xml" Id="Rcf2c7a56d73144a4" /><Relationship Type="http://schemas.openxmlformats.org/officeDocument/2006/relationships/slide" Target="/ppt/slides/slide12.xml" Id="R52e7622d4416431d" /><Relationship Type="http://schemas.openxmlformats.org/officeDocument/2006/relationships/slide" Target="/ppt/slides/slide13.xml" Id="Raa16c8686e874352" /><Relationship Type="http://schemas.openxmlformats.org/officeDocument/2006/relationships/slide" Target="/ppt/slides/slide14.xml" Id="R136276f332c84744" /><Relationship Type="http://schemas.openxmlformats.org/officeDocument/2006/relationships/slide" Target="/ppt/slides/slide15.xml" Id="R418053238bb3410c" /><Relationship Type="http://schemas.openxmlformats.org/officeDocument/2006/relationships/slide" Target="/ppt/slides/slide16.xml" Id="R98918870168542ef" /><Relationship Type="http://schemas.openxmlformats.org/officeDocument/2006/relationships/slide" Target="/ppt/slides/slide17.xml" Id="R5fddde6f06714c31" /><Relationship Type="http://schemas.openxmlformats.org/officeDocument/2006/relationships/slide" Target="/ppt/slides/slide18.xml" Id="R521f56f26a8543c6" /><Relationship Type="http://schemas.openxmlformats.org/officeDocument/2006/relationships/slide" Target="/ppt/slides/slide19.xml" Id="R1c34bac4220a48aa" /><Relationship Type="http://schemas.openxmlformats.org/officeDocument/2006/relationships/slide" Target="/ppt/slides/slide20.xml" Id="R453ab18ea1614450" /><Relationship Type="http://schemas.openxmlformats.org/officeDocument/2006/relationships/slide" Target="/ppt/slides/slide21.xml" Id="Rf07aadacc05a442b" /><Relationship Type="http://schemas.openxmlformats.org/officeDocument/2006/relationships/slide" Target="/ppt/slides/slide22.xml" Id="Reedc6745c86a4e15" /><Relationship Type="http://schemas.openxmlformats.org/officeDocument/2006/relationships/slide" Target="/ppt/slides/slide23.xml" Id="Re2325554c8aa46a3" /><Relationship Type="http://schemas.openxmlformats.org/officeDocument/2006/relationships/slide" Target="/ppt/slides/slide24.xml" Id="R9acfc7fcd8734dc8" /><Relationship Type="http://schemas.openxmlformats.org/officeDocument/2006/relationships/slide" Target="/ppt/slides/slide25.xml" Id="R344cf815f36048e5" /><Relationship Type="http://schemas.openxmlformats.org/officeDocument/2006/relationships/slide" Target="/ppt/slides/slide26.xml" Id="R9311b39965fa40eb" /><Relationship Type="http://schemas.openxmlformats.org/officeDocument/2006/relationships/slide" Target="/ppt/slides/slide27.xml" Id="R6c3877ef4d824d6a" /><Relationship Type="http://schemas.openxmlformats.org/officeDocument/2006/relationships/slide" Target="/ppt/slides/slide28.xml" Id="R212449fe9a4f4703" /><Relationship Type="http://schemas.openxmlformats.org/officeDocument/2006/relationships/slide" Target="/ppt/slides/slide29.xml" Id="R2d7c59a2b7e94916" /><Relationship Type="http://schemas.openxmlformats.org/officeDocument/2006/relationships/slide" Target="/ppt/slides/slide30.xml" Id="R2701694809a944a5" /><Relationship Type="http://schemas.openxmlformats.org/officeDocument/2006/relationships/slide" Target="/ppt/slides/slide31.xml" Id="R958a3fb576874e97" /><Relationship Type="http://schemas.openxmlformats.org/officeDocument/2006/relationships/slide" Target="/ppt/slides/slide32.xml" Id="Rcec16a1b303144e7" /><Relationship Type="http://schemas.openxmlformats.org/officeDocument/2006/relationships/slide" Target="/ppt/slides/slide33.xml" Id="R8140baabee6f4390" /><Relationship Type="http://schemas.openxmlformats.org/officeDocument/2006/relationships/slide" Target="/ppt/slides/slide34.xml" Id="R7c0a30bcd46745c1" /><Relationship Type="http://schemas.openxmlformats.org/officeDocument/2006/relationships/slide" Target="/ppt/slides/slide35.xml" Id="Rb4a5a189c60f4ebf" /><Relationship Type="http://schemas.openxmlformats.org/officeDocument/2006/relationships/slide" Target="/ppt/slides/slide36.xml" Id="R0b7b4fc0fce444de" /><Relationship Type="http://schemas.openxmlformats.org/officeDocument/2006/relationships/slide" Target="/ppt/slides/slide37.xml" Id="R26324810710240b4" /><Relationship Type="http://schemas.openxmlformats.org/officeDocument/2006/relationships/slide" Target="/ppt/slides/slide38.xml" Id="R1154a65588c546df" /><Relationship Type="http://schemas.openxmlformats.org/officeDocument/2006/relationships/slide" Target="/ppt/slides/slide39.xml" Id="R6630afa27e2246a1" /><Relationship Type="http://schemas.openxmlformats.org/officeDocument/2006/relationships/slide" Target="/ppt/slides/slide40.xml" Id="R070618dd630d4728" /><Relationship Type="http://schemas.openxmlformats.org/officeDocument/2006/relationships/slide" Target="/ppt/slides/slide41.xml" Id="Rf3d36d74ab6844a7" /><Relationship Type="http://schemas.openxmlformats.org/officeDocument/2006/relationships/slide" Target="/ppt/slides/slide42.xml" Id="R29d3d655f4d1445f" /><Relationship Type="http://schemas.openxmlformats.org/officeDocument/2006/relationships/slide" Target="/ppt/slides/slide43.xml" Id="R54b8d97a852a4654" /><Relationship Type="http://schemas.openxmlformats.org/officeDocument/2006/relationships/slide" Target="/ppt/slides/slide44.xml" Id="Ra1009231f8604010" /><Relationship Type="http://schemas.openxmlformats.org/officeDocument/2006/relationships/slide" Target="/ppt/slides/slide45.xml" Id="R9e2086d9f005411a" /><Relationship Type="http://schemas.openxmlformats.org/officeDocument/2006/relationships/slide" Target="/ppt/slides/slide46.xml" Id="Rbc71954455504db2" /><Relationship Type="http://schemas.openxmlformats.org/officeDocument/2006/relationships/slide" Target="/ppt/slides/slide47.xml" Id="R332e3a7329f149d2" /><Relationship Type="http://schemas.openxmlformats.org/officeDocument/2006/relationships/slide" Target="/ppt/slides/slide48.xml" Id="R745e4587705b4d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420faf2f7348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52d2673d4143a9" /><Relationship Type="http://schemas.openxmlformats.org/officeDocument/2006/relationships/notesMaster" Target="/ppt/notesMasters/notesMaster1.xml" Id="R6042e570285441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c7fc4bab41422b" /><Relationship Type="http://schemas.openxmlformats.org/officeDocument/2006/relationships/notesMaster" Target="/ppt/notesMasters/notesMaster1.xml" Id="R8b8b443dcd524a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969bfcfd6f40f6" /><Relationship Type="http://schemas.openxmlformats.org/officeDocument/2006/relationships/notesMaster" Target="/ppt/notesMasters/notesMaster1.xml" Id="R8c1d4fd28ea747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10f1e0d09e4331" /><Relationship Type="http://schemas.openxmlformats.org/officeDocument/2006/relationships/notesMaster" Target="/ppt/notesMasters/notesMaster1.xml" Id="R470d3ab48dce4c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7120c35a1444f5" /><Relationship Type="http://schemas.openxmlformats.org/officeDocument/2006/relationships/notesMaster" Target="/ppt/notesMasters/notesMaster1.xml" Id="R3ad30648663146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51e20977ba4cc8" /><Relationship Type="http://schemas.openxmlformats.org/officeDocument/2006/relationships/notesMaster" Target="/ppt/notesMasters/notesMaster1.xml" Id="R346d228dc24e48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d0f5c54b274e9c" /><Relationship Type="http://schemas.openxmlformats.org/officeDocument/2006/relationships/notesMaster" Target="/ppt/notesMasters/notesMaster1.xml" Id="Rcd0eae1c9dd14e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1b19dd3b344afa" /><Relationship Type="http://schemas.openxmlformats.org/officeDocument/2006/relationships/notesMaster" Target="/ppt/notesMasters/notesMaster1.xml" Id="R60b51d6cab194a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4cc05a55a844d5" /><Relationship Type="http://schemas.openxmlformats.org/officeDocument/2006/relationships/notesMaster" Target="/ppt/notesMasters/notesMaster1.xml" Id="R0eb176552b8e49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5931ea02d84fa3" /><Relationship Type="http://schemas.openxmlformats.org/officeDocument/2006/relationships/notesMaster" Target="/ppt/notesMasters/notesMaster1.xml" Id="Rf7fc0685e4c943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e056a58d6f46cb" /><Relationship Type="http://schemas.openxmlformats.org/officeDocument/2006/relationships/notesMaster" Target="/ppt/notesMasters/notesMaster1.xml" Id="Rda3b031b1a1342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67931c8fb54180" /><Relationship Type="http://schemas.openxmlformats.org/officeDocument/2006/relationships/notesMaster" Target="/ppt/notesMasters/notesMaster1.xml" Id="R85d6540470c9428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81c006a08848e7" /><Relationship Type="http://schemas.openxmlformats.org/officeDocument/2006/relationships/notesMaster" Target="/ppt/notesMasters/notesMaster1.xml" Id="R77136dc58bed46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2bcdbfe8f6f43cc" /><Relationship Type="http://schemas.openxmlformats.org/officeDocument/2006/relationships/notesMaster" Target="/ppt/notesMasters/notesMaster1.xml" Id="Ra0f8d635213345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0e07d9b31a4f88" /><Relationship Type="http://schemas.openxmlformats.org/officeDocument/2006/relationships/notesMaster" Target="/ppt/notesMasters/notesMaster1.xml" Id="R3fef3d71fc8f477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9581f002dc4446f" /><Relationship Type="http://schemas.openxmlformats.org/officeDocument/2006/relationships/notesMaster" Target="/ppt/notesMasters/notesMaster1.xml" Id="R05b6be1276c1468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537cdf9b2b84358" /><Relationship Type="http://schemas.openxmlformats.org/officeDocument/2006/relationships/notesMaster" Target="/ppt/notesMasters/notesMaster1.xml" Id="Rcbb4ae59249e458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1b420f9ed44966" /><Relationship Type="http://schemas.openxmlformats.org/officeDocument/2006/relationships/notesMaster" Target="/ppt/notesMasters/notesMaster1.xml" Id="R45e51327ce9745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8b4a1dd2fc74e14" /><Relationship Type="http://schemas.openxmlformats.org/officeDocument/2006/relationships/notesMaster" Target="/ppt/notesMasters/notesMaster1.xml" Id="Re84bbb65330e4bc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7afd3fd8b74a28" /><Relationship Type="http://schemas.openxmlformats.org/officeDocument/2006/relationships/notesMaster" Target="/ppt/notesMasters/notesMaster1.xml" Id="R0cea2623303f4d9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c20c11bd2d6430b" /><Relationship Type="http://schemas.openxmlformats.org/officeDocument/2006/relationships/notesMaster" Target="/ppt/notesMasters/notesMaster1.xml" Id="R4832b9aca3ac45d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fa44b914374129" /><Relationship Type="http://schemas.openxmlformats.org/officeDocument/2006/relationships/notesMaster" Target="/ppt/notesMasters/notesMaster1.xml" Id="Rdb32c386b5a346e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22f1ea5ef544265" /><Relationship Type="http://schemas.openxmlformats.org/officeDocument/2006/relationships/notesMaster" Target="/ppt/notesMasters/notesMaster1.xml" Id="R1a8809abd7d24b0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64efb9cffad4860" /><Relationship Type="http://schemas.openxmlformats.org/officeDocument/2006/relationships/notesMaster" Target="/ppt/notesMasters/notesMaster1.xml" Id="R64a180192f3e46b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b092de0e2dd4ad4" /><Relationship Type="http://schemas.openxmlformats.org/officeDocument/2006/relationships/notesMaster" Target="/ppt/notesMasters/notesMaster1.xml" Id="R24f96dc953c749f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cb9600756ec461d" /><Relationship Type="http://schemas.openxmlformats.org/officeDocument/2006/relationships/notesMaster" Target="/ppt/notesMasters/notesMaster1.xml" Id="R29e0062593f3494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a4b17b43d194173" /><Relationship Type="http://schemas.openxmlformats.org/officeDocument/2006/relationships/notesMaster" Target="/ppt/notesMasters/notesMaster1.xml" Id="Recd0bae7f78a401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ea8767f916d4290" /><Relationship Type="http://schemas.openxmlformats.org/officeDocument/2006/relationships/notesMaster" Target="/ppt/notesMasters/notesMaster1.xml" Id="R3013f7eb7f16492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b9231a7c3254828" /><Relationship Type="http://schemas.openxmlformats.org/officeDocument/2006/relationships/notesMaster" Target="/ppt/notesMasters/notesMaster1.xml" Id="Rd2b17cdc2154464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e9f7efcdcec4506" /><Relationship Type="http://schemas.openxmlformats.org/officeDocument/2006/relationships/notesMaster" Target="/ppt/notesMasters/notesMaster1.xml" Id="R313307fae6eb417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7ac859ceec74bf7" /><Relationship Type="http://schemas.openxmlformats.org/officeDocument/2006/relationships/notesMaster" Target="/ppt/notesMasters/notesMaster1.xml" Id="R55f2ed859333438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6b5853992154041" /><Relationship Type="http://schemas.openxmlformats.org/officeDocument/2006/relationships/notesMaster" Target="/ppt/notesMasters/notesMaster1.xml" Id="Rb5d1a0ae0f324ca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8e2fe8cf6474dd4" /><Relationship Type="http://schemas.openxmlformats.org/officeDocument/2006/relationships/notesMaster" Target="/ppt/notesMasters/notesMaster1.xml" Id="R1fe1becaa4c5458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a42c5c76a3343da" /><Relationship Type="http://schemas.openxmlformats.org/officeDocument/2006/relationships/notesMaster" Target="/ppt/notesMasters/notesMaster1.xml" Id="Ra4bbc725ff744a4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c58f0f31b644bd1" /><Relationship Type="http://schemas.openxmlformats.org/officeDocument/2006/relationships/notesMaster" Target="/ppt/notesMasters/notesMaster1.xml" Id="R2e26de7e1a9941c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0e9015d6f444d99" /><Relationship Type="http://schemas.openxmlformats.org/officeDocument/2006/relationships/notesMaster" Target="/ppt/notesMasters/notesMaster1.xml" Id="Rc0373bd952c6471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ecc992ea9884a35" /><Relationship Type="http://schemas.openxmlformats.org/officeDocument/2006/relationships/notesMaster" Target="/ppt/notesMasters/notesMaster1.xml" Id="R82783c5a6538426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ad2deb6137d40bd" /><Relationship Type="http://schemas.openxmlformats.org/officeDocument/2006/relationships/notesMaster" Target="/ppt/notesMasters/notesMaster1.xml" Id="R7f70d989c089444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bdb7becd2dd4dde" /><Relationship Type="http://schemas.openxmlformats.org/officeDocument/2006/relationships/notesMaster" Target="/ppt/notesMasters/notesMaster1.xml" Id="Rdffb7127b7a1487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640838bd286464d" /><Relationship Type="http://schemas.openxmlformats.org/officeDocument/2006/relationships/notesMaster" Target="/ppt/notesMasters/notesMaster1.xml" Id="R2468e43f8e5948e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275e3730b5f4a9e" /><Relationship Type="http://schemas.openxmlformats.org/officeDocument/2006/relationships/notesMaster" Target="/ppt/notesMasters/notesMaster1.xml" Id="R1355800b3e1c4ed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f2cb9a974b24496" /><Relationship Type="http://schemas.openxmlformats.org/officeDocument/2006/relationships/notesMaster" Target="/ppt/notesMasters/notesMaster1.xml" Id="R4f1fa30801e84af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009972daec84fb5" /><Relationship Type="http://schemas.openxmlformats.org/officeDocument/2006/relationships/notesMaster" Target="/ppt/notesMasters/notesMaster1.xml" Id="R699a199850e0493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24b8a1cd85d418a" /><Relationship Type="http://schemas.openxmlformats.org/officeDocument/2006/relationships/notesMaster" Target="/ppt/notesMasters/notesMaster1.xml" Id="R8ef5d4afbcb34c1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a86f478d19e4860" /><Relationship Type="http://schemas.openxmlformats.org/officeDocument/2006/relationships/notesMaster" Target="/ppt/notesMasters/notesMaster1.xml" Id="R912ba06ef4ce44f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4b49a497ff04685" /><Relationship Type="http://schemas.openxmlformats.org/officeDocument/2006/relationships/notesMaster" Target="/ppt/notesMasters/notesMaster1.xml" Id="Rafd909ff08ce4d0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45243cedbd746b9" /><Relationship Type="http://schemas.openxmlformats.org/officeDocument/2006/relationships/notesMaster" Target="/ppt/notesMasters/notesMaster1.xml" Id="Rd9ab1c68a03e4da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4eab013e99e49f4" /><Relationship Type="http://schemas.openxmlformats.org/officeDocument/2006/relationships/notesMaster" Target="/ppt/notesMasters/notesMaster1.xml" Id="R130f0574d78f4e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3 min.</a:t>
            </a:r>
          </a:p>
          <a:p xmlns:a="http://schemas.openxmlformats.org/drawingml/2006/main">
            <a:r>
              <a:t/>
            </a:r>
          </a:p>
          <a:p xmlns:a="http://schemas.openxmlformats.org/drawingml/2006/main">
            <a:r>
              <a:t>Equilibra una maqueta y cambia una masa inerte de lugar para que se vea el efecto antes de nombrar el CG.</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Sostén una maqueta inerte y busca el lugar donde puede quedar equilibrada. Ese punto se relaciona con la distribución de masa. Si cambias una pieza delantera por otra más pesada, el equilibrio puede desplazarse. La observación permite entender qué representa el centro de gravedad antes de escribir una fórmula.</a:t>
            </a:r>
          </a:p>
          <a:p xmlns:a="http://schemas.openxmlformats.org/drawingml/2006/main">
            <a:r>
              <a:t/>
            </a:r>
          </a:p>
          <a:p xmlns:a="http://schemas.openxmlformats.org/drawingml/2006/main">
            <a:r>
              <a:t>En el programa se usa la abreviatura CG. Para un modelo pequeño, en condiciones terrestres habituales, podemos trabajar con la idea práctica de centro de masa y centro de gravedad coincidentes. Lo importante hoy es que el archivo y el objeto representen las mismas piezas, masas y posiciones.</a:t>
            </a:r>
          </a:p>
          <a:p xmlns:a="http://schemas.openxmlformats.org/drawingml/2006/main">
            <a:r>
              <a:t/>
            </a:r>
          </a:p>
          <a:p xmlns:a="http://schemas.openxmlformats.org/drawingml/2006/main">
            <a:r>
              <a:t>La demostración se hace con una maqueta y masas inertes aseguradas. No se cambian componentes del conjunto comercial para realizar el ejercicio.</a:t>
            </a:r>
          </a:p>
          <a:p xmlns:a="http://schemas.openxmlformats.org/drawingml/2006/main">
            <a:r>
              <a:t/>
            </a:r>
          </a:p>
          <a:p xmlns:a="http://schemas.openxmlformats.org/drawingml/2006/main">
            <a:r>
              <a:t>El centro de gravedad es un punto que resume cómo se distribuye el peso del conjunto en una condición determinada. Para encontrarlo en una maqueta inerte, se busca el apoyo donde no domina la tendencia a caer hacia un extremo. Si desplazas una pieza hacia la nariz, puede cambiar ese punto aunque la masa total permanezca igual. Así se introduce una idea útil: importa cuánto pesa cada componente y también dónde está.</a:t>
            </a:r>
          </a:p>
          <a:p xmlns:a="http://schemas.openxmlformats.org/drawingml/2006/main">
            <a:r>
              <a:t>Pregunta para el grupo: ¿Qué observas al equilibrar la maqueta?</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NASA Glenn: distribución de pesos y centro de gravedad. La clase parte de una maqueta inerte, sin reproducir la derivación del gráfico.</a:t>
            </a:r>
          </a:p>
          <a:p xmlns:a="http://schemas.openxmlformats.org/drawingml/2006/main">
            <a:r>
              <a:t>Localizar en la imagen las partes relacionadas con la pregunta.</a:t>
            </a:r>
          </a:p>
          <a:p xmlns:a="http://schemas.openxmlformats.org/drawingml/2006/main">
            <a:r>
              <a:t>¿Qué observas al equilibrar la maqueta?</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5 min.</a:t>
            </a:r>
          </a:p>
          <a:p xmlns:a="http://schemas.openxmlformats.org/drawingml/2006/main">
            <a:r>
              <a:t/>
            </a:r>
          </a:p>
          <a:p xmlns:a="http://schemas.openxmlformats.org/drawingml/2006/main">
            <a:r>
              <a:t>¿Qué observas al equilibrar la maqueta?</a:t>
            </a:r>
          </a:p>
          <a:p xmlns:a="http://schemas.openxmlformats.org/drawingml/2006/main">
            <a:r>
              <a:t>Relacionar la explicación con una decisión del proyecto.</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El centro de presión, CP, resume en el modelo dónde actúa la resultante aerodinámica para las condiciones consideradas. No se encuentra pesando el cohete. Las aletas influyen en esa respuesta y la posición relativa de CG y CP permite estudiar si una pequeña desviación tiende a corregirse o a aumentar.</a:t>
            </a:r>
          </a:p>
          <a:p xmlns:a="http://schemas.openxmlformats.org/drawingml/2006/main">
            <a:r>
              <a:t/>
            </a:r>
          </a:p>
          <a:p xmlns:a="http://schemas.openxmlformats.org/drawingml/2006/main">
            <a:r>
              <a:t>En un cohete convencional con aletas posteriores se busca una respuesta restauradora apropiada al conjunto y a sus condiciones. No basta mirar dos marcas y declarar que cualquier configuración es aceptable. La guía de salida, la velocidad y el viento también participan del comportamiento real.</a:t>
            </a:r>
          </a:p>
          <a:p xmlns:a="http://schemas.openxmlformats.org/drawingml/2006/main">
            <a:r>
              <a:t/>
            </a:r>
          </a:p>
          <a:p xmlns:a="http://schemas.openxmlformats.org/drawingml/2006/main">
            <a:r>
              <a:t>El centro de presión resume el efecto aerodinámico mediante un punto de referencia del modelo. Para un vehículo convencional con aletas posteriores y una pequeña desviación, la relación entre CG y CP ayuda a interpretar si la respuesta tiende a recuperar la orientación. OpenRocket representa esa relación junto a sus condiciones. El CP no se encuentra poniendo el cohete sobre la balanza, porque el equilibrio de mesa observa el peso, no la acción del aire durante el movimiento.</a:t>
            </a:r>
          </a:p>
          <a:p xmlns:a="http://schemas.openxmlformats.org/drawingml/2006/main">
            <a:r>
              <a:t>Pregunta para el grupo: ¿Cómo se diferencia el CP del equilibrio?</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NASA: esquema cualitativo de estabilidad, reproducido en Apogee 629. Ayuda a reconocer la relación entre perturbación, CG y acción aerodinámica.</a:t>
            </a:r>
          </a:p>
          <a:p xmlns:a="http://schemas.openxmlformats.org/drawingml/2006/main">
            <a:r>
              <a:t>Localizar en la imagen las partes relacionadas con la pregunta.</a:t>
            </a:r>
          </a:p>
          <a:p xmlns:a="http://schemas.openxmlformats.org/drawingml/2006/main">
            <a:r>
              <a:t>¿Cómo se diferencia el CP del equilibrio?</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5 min.</a:t>
            </a:r>
          </a:p>
          <a:p xmlns:a="http://schemas.openxmlformats.org/drawingml/2006/main">
            <a:r>
              <a:t/>
            </a:r>
          </a:p>
          <a:p xmlns:a="http://schemas.openxmlformats.org/drawingml/2006/main">
            <a:r>
              <a:t>Concepto / Cómo se trabaja aquí</a:t>
            </a:r>
          </a:p>
          <a:p xmlns:a="http://schemas.openxmlformats.org/drawingml/2006/main">
            <a:r>
              <a:t>CG / Distribución de masa y equilibrio de maqueta</a:t>
            </a:r>
          </a:p>
          <a:p xmlns:a="http://schemas.openxmlformats.org/drawingml/2006/main">
            <a:r>
              <a:t>CP / Resultado aerodinámico de un modelo</a:t>
            </a:r>
          </a:p>
          <a:p xmlns:a="http://schemas.openxmlformats.org/drawingml/2006/main">
            <a:r>
              <a:t>Estabilidad de vuelo / Revisión del conjunto y sus condiciones</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El programa puede expresar la separación longitudinal entre CP y CG dividida por un diámetro de referencia. Esa unidad recibe habitualmente el nombre de calibre. El indicador facilita comparar el mismo modelo bajo condiciones definidas. No reemplaza el análisis del docente ni impone por sí solo un valor universal de aceptación.</a:t>
            </a:r>
          </a:p>
          <a:p xmlns:a="http://schemas.openxmlformats.org/drawingml/2006/main">
            <a:r>
              <a:t/>
            </a:r>
          </a:p>
          <a:p xmlns:a="http://schemas.openxmlformats.org/drawingml/2006/main">
            <a:r>
              <a:t>Ejercicio de interpretación: el CP está 40 mm detrás del CG y el diámetro de referencia es 32 mm.</a:t>
            </a:r>
          </a:p>
          <a:p xmlns:a="http://schemas.openxmlformats.org/drawingml/2006/main">
            <a:r>
              <a:t/>
            </a:r>
          </a:p>
          <a:p xmlns:a="http://schemas.openxmlformats.org/drawingml/2006/main">
            <a:r>
              <a:t>En vez de memorizar un número aislado, cada equipo debe explicar qué pieza cambió, cómo se representó y qué ocurrió con los indicadores. Una observación coherente enseña más que intentar mover una marca sin saber qué objeto describe.</a:t>
            </a:r>
          </a:p>
          <a:p xmlns:a="http://schemas.openxmlformats.org/drawingml/2006/main">
            <a:r>
              <a:t/>
            </a:r>
          </a:p>
          <a:p xmlns:a="http://schemas.openxmlformats.org/drawingml/2006/main">
            <a:r>
              <a:t>El margen es una relación geométrica del modelo bajo una condición, mientras la respuesta durante el vuelo también depende del movimiento y del aire. Un cohete que permanece equilibrado sobre un apoyo no está demostrando estabilidad aerodinámica. La mesa permite observar distribución de masa. La simulación aporta otra representación y el responsable revisa el conjunto. Mantener estas funciones separadas evita prometer un vuelo correcto a partir de una sola demostración.</a:t>
            </a:r>
          </a:p>
          <a:p xmlns:a="http://schemas.openxmlformats.org/drawingml/2006/main">
            <a:r>
              <a:t>Pregunta para el grupo: ¿Qué condición acompaña al valor de calibre?</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Cambio / Qué revisar</a:t>
            </a:r>
          </a:p>
          <a:p xmlns:a="http://schemas.openxmlformats.org/drawingml/2006/main">
            <a:r>
              <a:t>Otra nariz / Masa, forma y posición</a:t>
            </a:r>
          </a:p>
          <a:p xmlns:a="http://schemas.openxmlformats.org/drawingml/2006/main">
            <a:r>
              <a:t>Otra aleta / Geometría, masa y ubicación</a:t>
            </a:r>
          </a:p>
          <a:p xmlns:a="http://schemas.openxmlformats.org/drawingml/2006/main">
            <a:r>
              <a:t>Añadir una carga / Masa y distribución del conjunto</a:t>
            </a:r>
          </a:p>
          <a:p xmlns:a="http://schemas.openxmlformats.org/drawingml/2006/main">
            <a:r>
              <a:t>Cambiar de motor comercial / Masa y configuración seleccionadas</a:t>
            </a:r>
          </a:p>
          <a:p xmlns:a="http://schemas.openxmlformats.org/drawingml/2006/main">
            <a:r>
              <a:t>Comparar dos filas y justificar con la misión.</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Ejercicio de interpretación: el CP está 40 mm detrás del CG y el diámetro de referencia es 32 mm.</a:t>
            </a:r>
          </a:p>
          <a:p xmlns:a="http://schemas.openxmlformats.org/drawingml/2006/main">
            <a:r>
              <a:t>Explicación</a:t>
            </a:r>
          </a:p>
          <a:p xmlns:a="http://schemas.openxmlformats.org/drawingml/2006/main">
            <a:r>
              <a:t>La separación equivale a 40/32 = 1,25 calibres en esas condiciones. La cuenta solo interpreta el indicador. Todavía hay que saber qué piezas contiene el archivo y en qué condición se evaluó; no es una autorización de vuelo.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Si todavía falta una pieza importante, la revisión sigue siendo preliminar. No ocultes el dato faltante asignando al azar una masa que haga aparecer un margen atractivo. [OR1, OR3]</a:t>
            </a:r>
          </a:p>
          <a:p xmlns:a="http://schemas.openxmlformats.org/drawingml/2006/main">
            <a:r>
              <a:t/>
            </a:r>
          </a:p>
          <a:p xmlns:a="http://schemas.openxmlformats.org/drawingml/2006/main">
            <a:r>
              <a:t>Una referencia longitudinal permite comparar el programa con la maqueta. Se puede tomar la punta como origen y registrar las posiciones a lo largo del eje, siempre explicando qué piezas están presentes. Si se mide desde otro extremo, se transforma la referencia antes de comparar números. Primero hay que tener el mismo objeto y el mismo origen. Solo entonces una diferencia de posición puede orientar una revisión útil de la distribución de masa.</a:t>
            </a:r>
          </a:p>
          <a:p xmlns:a="http://schemas.openxmlformats.org/drawingml/2006/main">
            <a:r>
              <a:t>Pregunta para el grupo: ¿Has contado dos veces una masa?</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Ajustes de masa de la documentación oficial. El dato medido debe corresponder al componente seleccionado.</a:t>
            </a:r>
          </a:p>
          <a:p xmlns:a="http://schemas.openxmlformats.org/drawingml/2006/main">
            <a:r>
              <a:t>Localizar en la imagen las partes relacionadas con la pregunta.</a:t>
            </a:r>
          </a:p>
          <a:p xmlns:a="http://schemas.openxmlformats.org/drawingml/2006/main">
            <a:r>
              <a:t>¿Has contado dos veces una masa?</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5 min.</a:t>
            </a:r>
          </a:p>
          <a:p xmlns:a="http://schemas.openxmlformats.org/drawingml/2006/main">
            <a:r>
              <a:t/>
            </a:r>
          </a:p>
          <a:p xmlns:a="http://schemas.openxmlformats.org/drawingml/2006/main">
            <a:r>
              <a:t>Abre la revisión posterior al taller 1. Comprueba que todos los componentes presentes estén representados.</a:t>
            </a:r>
          </a:p>
          <a:p xmlns:a="http://schemas.openxmlformats.org/drawingml/2006/main">
            <a:r>
              <a:t>Introduce las masas conocidas con su origen. Evita contar dos veces adhesivo, acabado o una carga añadida.</a:t>
            </a:r>
          </a:p>
          <a:p xmlns:a="http://schemas.openxmlformats.org/drawingml/2006/main">
            <a:r>
              <a:t>Localiza CG, CP y la condición que muestra el programa. Guarda una captura con esos datos visibles.</a:t>
            </a:r>
          </a:p>
          <a:p xmlns:a="http://schemas.openxmlformats.org/drawingml/2006/main">
            <a:r>
              <a:t>Crea una copia y representa una modificación real que el docente haya propuesto para comparar.</a:t>
            </a:r>
          </a:p>
          <a:p xmlns:a="http://schemas.openxmlformats.org/drawingml/2006/main">
            <a:r>
              <a:t>Escribe qué permaneció igual, qué cambió y qué se desplazó. Vuelve a la configuración de referencia al terminar.</a:t>
            </a:r>
          </a:p>
          <a:p xmlns:a="http://schemas.openxmlformats.org/drawingml/2006/main">
            <a:r>
              <a:t>Comprobar un paso en el objeto o programa antes de continuar.</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La comprobación física del equilibrio exige definir el conjunto que se observa. Pesar o equilibrar piezas sueltas responde preguntas diferentes a equilibrar una maqueta ensamblada. El docente puede utilizar un conjunto inerte equivalente para que el alumnado entienda la distribución sin realizar operaciones del motor.</a:t>
            </a:r>
          </a:p>
          <a:p xmlns:a="http://schemas.openxmlformats.org/drawingml/2006/main">
            <a:r>
              <a:t/>
            </a:r>
          </a:p>
          <a:p xmlns:a="http://schemas.openxmlformats.org/drawingml/2006/main">
            <a:r>
              <a:t>Después de añadir una pieza de acabado en la zona delantera, el equilibrio de la maqueta cambia.</a:t>
            </a:r>
          </a:p>
          <a:p xmlns:a="http://schemas.openxmlformats.org/drawingml/2006/main">
            <a:r>
              <a:t/>
            </a:r>
          </a:p>
          <a:p xmlns:a="http://schemas.openxmlformats.org/drawingml/2006/main">
            <a:r>
              <a:t>La revisión de estabilidad para el vuelo pertenece al conjunto final, con la configuración comercial y las condiciones que el responsable apruebe. La maqueta enseña el concepto y permite encontrar errores de representación.</a:t>
            </a:r>
          </a:p>
          <a:p xmlns:a="http://schemas.openxmlformats.org/drawingml/2006/main">
            <a:r>
              <a:t/>
            </a:r>
          </a:p>
          <a:p xmlns:a="http://schemas.openxmlformats.org/drawingml/2006/main">
            <a:r>
              <a:t>Una masa equivalente inerte debe conservar su significado. Si representa una pieza que falta, se identifica qué masa y posición intenta reproducir. No se coloca en un lugar cómodo para que el conjunto se vea equilibrado. Si no se puede reproducir una condición, se registra como pendiente. La demostración enseña mejor cuando muestra qué datos faltan que cuando se completa con objetos cuya función nadie puede explicar.</a:t>
            </a:r>
          </a:p>
          <a:p xmlns:a="http://schemas.openxmlformats.org/drawingml/2006/main">
            <a:r>
              <a:t>Pregunta para el grupo: ¿Qué representa cada masa inerte?</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¿Qué representa cada masa inerte?</a:t>
            </a:r>
          </a:p>
          <a:p xmlns:a="http://schemas.openxmlformats.org/drawingml/2006/main">
            <a:r>
              <a:t>Pedir una respuesta antes de consultar la explicación de la lectura.</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5 min.</a:t>
            </a:r>
          </a:p>
          <a:p xmlns:a="http://schemas.openxmlformats.org/drawingml/2006/main">
            <a:r>
              <a:t/>
            </a:r>
          </a:p>
          <a:p xmlns:a="http://schemas.openxmlformats.org/drawingml/2006/main">
            <a:r>
              <a:t>Describe qué incluye la maqueta inerte y qué representa cada elemento.</a:t>
            </a:r>
          </a:p>
          <a:p xmlns:a="http://schemas.openxmlformats.org/drawingml/2006/main">
            <a:r>
              <a:t>Busca su equilibrio con el método de banco mostrado por el docente y marca una referencia temporal.</a:t>
            </a:r>
          </a:p>
          <a:p xmlns:a="http://schemas.openxmlformats.org/drawingml/2006/main">
            <a:r>
              <a:t>Mide la posición desde el mismo origen utilizado en el plano.</a:t>
            </a:r>
          </a:p>
          <a:p xmlns:a="http://schemas.openxmlformats.org/drawingml/2006/main">
            <a:r>
              <a:t>Compara con la representación digital y busca primero piezas, masas o posiciones omitidas.</a:t>
            </a:r>
          </a:p>
          <a:p xmlns:a="http://schemas.openxmlformats.org/drawingml/2006/main">
            <a:r>
              <a:t>Conserva el resultado y una explicación de la discrepancia que hayas identificado.</a:t>
            </a:r>
          </a:p>
          <a:p xmlns:a="http://schemas.openxmlformats.org/drawingml/2006/main">
            <a:r>
              <a:t>Comprobar un paso en el objeto o programa antes de continuar.</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Un modelo más completo puede dar una conclusión distinta a la primera geometría de la clase 1. Eso es esperable: al principio faltaban soporte, recuperación y masas reales. La mejora consiste en representar el proyecto con mayor fidelidad, no en proteger el primer número que apareció en pantalla.</a:t>
            </a:r>
          </a:p>
          <a:p xmlns:a="http://schemas.openxmlformats.org/drawingml/2006/main">
            <a:r>
              <a:t/>
            </a:r>
          </a:p>
          <a:p xmlns:a="http://schemas.openxmlformats.org/drawingml/2006/main">
            <a:r>
              <a:t>El equilibrio de la maqueta y el CG del archivo coinciden aproximadamente.</a:t>
            </a:r>
          </a:p>
          <a:p xmlns:a="http://schemas.openxmlformats.org/drawingml/2006/main">
            <a:r>
              <a:t/>
            </a:r>
          </a:p>
          <a:p xmlns:a="http://schemas.openxmlformats.org/drawingml/2006/main">
            <a:r>
              <a:t>Cada equipo entrega una fotografía del equilibrio de la maqueta inerte, su referencia de medida y una captura del archivo. Debe poder señalar las piezas responsables de la distribución. No se exige una derivación de momentos ni una prueba dinámica avanzada.</a:t>
            </a:r>
          </a:p>
          <a:p xmlns:a="http://schemas.openxmlformats.org/drawingml/2006/main">
            <a:r>
              <a:t>Pregunta para el grupo: ¿Qué evidencia aporta la coincidencia del CG?</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4 min.</a:t>
            </a:r>
          </a:p>
          <a:p xmlns:a="http://schemas.openxmlformats.org/drawingml/2006/main">
            <a:r>
              <a:t/>
            </a:r>
          </a:p>
          <a:p xmlns:a="http://schemas.openxmlformats.org/drawingml/2006/main">
            <a:r>
              <a:t>Frase incompleta / Explicación más útil</a:t>
            </a:r>
          </a:p>
          <a:p xmlns:a="http://schemas.openxmlformats.org/drawingml/2006/main">
            <a:r>
              <a:t>“La marca se movió” / Cambió la masa de la nariz y se desplazó el CG</a:t>
            </a:r>
          </a:p>
          <a:p xmlns:a="http://schemas.openxmlformats.org/drawingml/2006/main">
            <a:r>
              <a:t>“El programa dice estable” / Se revisó esta configuración con estas entradas</a:t>
            </a:r>
          </a:p>
          <a:p xmlns:a="http://schemas.openxmlformats.org/drawingml/2006/main">
            <a:r>
              <a:t>“El CP se pesó” / Se observó equilibrio para CG; CP procede del modelo</a:t>
            </a:r>
          </a:p>
          <a:p xmlns:a="http://schemas.openxmlformats.org/drawingml/2006/main">
            <a:r>
              <a:t>Comparar dos filas y justificar con la misión.</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El equilibrio de la maqueta y el CG del archivo coinciden aproximadamente.</a:t>
            </a:r>
          </a:p>
          <a:p xmlns:a="http://schemas.openxmlformats.org/drawingml/2006/main">
            <a:r>
              <a:t>Explicación</a:t>
            </a:r>
          </a:p>
          <a:p xmlns:a="http://schemas.openxmlformats.org/drawingml/2006/main">
            <a:r>
              <a:t>La coincidencia aporta evidencia sobre la representación de masa en esa condición. No valida por sí sola todas las fuerzas del vuelo, el despliegue o el comportamiento con viento. Es un resultado útil con un alcance concreto.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12 min.</a:t>
            </a:r>
          </a:p>
          <a:p xmlns:a="http://schemas.openxmlformats.org/drawingml/2006/main">
            <a:r>
              <a:t/>
            </a:r>
          </a:p>
          <a:p xmlns:a="http://schemas.openxmlformats.org/drawingml/2006/main">
            <a:r>
              <a:t>Equilibrar la maqueta inerte según la demostración.</a:t>
            </a:r>
          </a:p>
          <a:p xmlns:a="http://schemas.openxmlformats.org/drawingml/2006/main">
            <a:r>
              <a:t>Actualizar las masas del archivo sin duplicaciones.</a:t>
            </a:r>
          </a:p>
          <a:p xmlns:a="http://schemas.openxmlformats.org/drawingml/2006/main">
            <a:r>
              <a:t>Interpretar CG, CP y calibre con un ejemplo sencillo.</a:t>
            </a:r>
          </a:p>
          <a:p xmlns:a="http://schemas.openxmlformats.org/drawingml/2006/main">
            <a:r>
              <a:t>Comparar una modificación identificada y justificar el resultado.</a:t>
            </a:r>
          </a:p>
          <a:p xmlns:a="http://schemas.openxmlformats.org/drawingml/2006/main">
            <a:r>
              <a:t>Rotar los roles y conservar al menos una evidencia revisable.</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Archivo con masas, referencia de equilibrio y comparación explicada.</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7: Estabilidad: centro de gravedad y centro de presión.</a:t>
            </a:r>
          </a:p>
          <a:p xmlns:a="http://schemas.openxmlformats.org/drawingml/2006/main">
            <a:r>
              <a:t>En línea, 2 h. Tramo del núcleo: 5 min.</a:t>
            </a:r>
          </a:p>
          <a:p xmlns:a="http://schemas.openxmlformats.org/drawingml/2006/main">
            <a:r>
              <a:t/>
            </a:r>
          </a:p>
          <a:p xmlns:a="http://schemas.openxmlformats.org/drawingml/2006/main">
            <a:r>
              <a:t>Archivo con masas, referencia de equilibrio y comparación explicada.</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Entender la estabilidad con una maqueta y comprobar que el modelo represente la distribución real de piezas.</a:t>
            </a:r>
          </a:p>
          <a:p xmlns:a="http://schemas.openxmlformats.org/drawingml/2006/main">
            <a:r>
              <a:t>Misión: Preparar un vehículo que el docente pueda revisar como conjunto.</a:t>
            </a:r>
          </a:p>
          <a:p xmlns:a="http://schemas.openxmlformats.org/drawingml/2006/main">
            <a:r>
              <a:t>Entrega: Archivo con masas, referencia de equilibrio y comparación explicada.</a:t>
            </a:r>
          </a:p>
          <a:p xmlns:a="http://schemas.openxmlformats.org/drawingml/2006/main">
            <a:r>
              <a:t/>
            </a:r>
          </a:p>
          <a:p xmlns:a="http://schemas.openxmlformats.org/drawingml/2006/main">
            <a:r>
              <a:t>Preguntas y respuestas</a:t>
            </a:r>
          </a:p>
          <a:p xmlns:a="http://schemas.openxmlformats.org/drawingml/2006/main">
            <a:r>
              <a:t>¿El CP se encuentra con la balanza?</a:t>
            </a:r>
          </a:p>
          <a:p xmlns:a="http://schemas.openxmlformats.org/drawingml/2006/main">
            <a:r>
              <a:t>No. La balanza ayuda a conocer masa; CP procede del modelo aerodinámico.</a:t>
            </a:r>
          </a:p>
          <a:p xmlns:a="http://schemas.openxmlformats.org/drawingml/2006/main">
            <a:r>
              <a:t/>
            </a:r>
          </a:p>
          <a:p xmlns:a="http://schemas.openxmlformats.org/drawingml/2006/main">
            <a:r>
              <a:t>¿1,25 calibres autoriza automáticamente un vuelo?</a:t>
            </a:r>
          </a:p>
          <a:p xmlns:a="http://schemas.openxmlformats.org/drawingml/2006/main">
            <a:r>
              <a:t>No. Hay que revisar configuración y condiciones.</a:t>
            </a:r>
          </a:p>
          <a:p xmlns:a="http://schemas.openxmlformats.org/drawingml/2006/main">
            <a:r>
              <a:t/>
            </a:r>
          </a:p>
          <a:p xmlns:a="http://schemas.openxmlformats.org/drawingml/2006/main">
            <a:r>
              <a:t>¿Qué revisas primero si el CG no coincide?</a:t>
            </a:r>
          </a:p>
          <a:p xmlns:a="http://schemas.openxmlformats.org/drawingml/2006/main">
            <a:r>
              <a:t>Piezas, masas, posiciones y qué incluye el conjunto físico.</a:t>
            </a:r>
          </a:p>
          <a:p xmlns:a="http://schemas.openxmlformats.org/drawingml/2006/main">
            <a:r>
              <a:t/>
            </a:r>
          </a:p>
          <a:p xmlns:a="http://schemas.openxmlformats.org/drawingml/2006/main">
            <a:r>
              <a:t>Fuentes</a:t>
            </a:r>
          </a:p>
          <a:p xmlns:a="http://schemas.openxmlformats.org/drawingml/2006/main">
            <a:r>
              <a:t>NASA Glenn. Rocket Center of Gravity. https://www1.grc.nasa.gov/beginners-guide-to-aeronautics/rocket-center-of-gravity/</a:t>
            </a:r>
          </a:p>
          <a:p xmlns:a="http://schemas.openxmlformats.org/drawingml/2006/main">
            <a:r>
              <a:t>Richard Nakka. Fins for Rocket Stability. https://www.nakka-rocketry.net/fins.html</a:t>
            </a:r>
          </a:p>
          <a:p xmlns:a="http://schemas.openxmlformats.org/drawingml/2006/main">
            <a:r>
              <a:t>OpenRocket. Basic Rocket Design. https://openrocket.readthedocs.io/en/latest/user_guide/basic_rocket_design.html</a:t>
            </a:r>
          </a:p>
          <a:p xmlns:a="http://schemas.openxmlformats.org/drawingml/2006/main">
            <a:r>
              <a:t>OpenRocket. Advanced Flight Simulation. https://openrocket.readthedocs.io/en/latest/user_guide/advanced_flight_simulation.html</a:t>
            </a:r>
          </a:p>
          <a:p xmlns:a="http://schemas.openxmlformats.org/drawingml/2006/main">
            <a:r>
              <a:t>Apogee Components. Peak of Flight 629. https://www.apogeerockets.com/education/downloads/Newsletter629.pdf</a:t>
            </a:r>
          </a:p>
          <a:p xmlns:a="http://schemas.openxmlformats.org/drawingml/2006/main">
            <a:r>
              <a:t>Lectura: MECRO_Coheteria_Clase_07.pdf.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3 min.</a:t>
            </a:r>
          </a:p>
          <a:p xmlns:a="http://schemas.openxmlformats.org/drawingml/2006/main">
            <a:r>
              <a:t/>
            </a:r>
          </a:p>
          <a:p xmlns:a="http://schemas.openxmlformats.org/drawingml/2006/main">
            <a:r>
              <a:t>Muestra una etiqueta comercial y pide separar letra, empuje medio nominal y retardo.</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Un motor comercial es un componente con identificación y documentación propias. La elección del proyecto requiere compatibilidad física, masa de conjunto y sistema de recuperación, además del comportamiento de vuelo esperado. Tener una letra pequeña en la etiqueta no resuelve por sí solo toda esa selección.</a:t>
            </a:r>
          </a:p>
          <a:p xmlns:a="http://schemas.openxmlformats.org/drawingml/2006/main">
            <a:r>
              <a:t/>
            </a:r>
          </a:p>
          <a:p xmlns:a="http://schemas.openxmlformats.org/drawingml/2006/main">
            <a:r>
              <a:t>En la nomenclatura habitual, un código como C6-3 contiene una letra de intervalo de impulso, un número de empuje medio nominal y una referencia de retardo en segundos. El retardo no es la duración de empuje. La ficha concreta y las instrucciones del fabricante prevalecen sobre una interpretación incompleta de la etiqueta.</a:t>
            </a:r>
          </a:p>
          <a:p xmlns:a="http://schemas.openxmlformats.org/drawingml/2006/main">
            <a:r>
              <a:t/>
            </a:r>
          </a:p>
          <a:p xmlns:a="http://schemas.openxmlformats.org/drawingml/2006/main">
            <a:r>
              <a:t>El docente lleva un componente comercial identificado o su documentación. La lectura del código se hace sin abrir, alterar o fabricar ninguna de sus partes. [CAT, NAR]</a:t>
            </a:r>
          </a:p>
          <a:p xmlns:a="http://schemas.openxmlformats.org/drawingml/2006/main">
            <a:r>
              <a:t/>
            </a:r>
          </a:p>
          <a:p xmlns:a="http://schemas.openxmlformats.org/drawingml/2006/main">
            <a:r>
              <a:t>La denominación de un motor comercial reúne información con funciones distintas. La letra corresponde a un intervalo de impulso total. El número siguiente expresa el empuje medio nominal según la nomenclatura utilizada. El último número identifica el retardo nominal en un producto que lo incorpore. Leer la etiqueta abre preguntas que se responden con la ficha específica del fabricante: referencia exacta, datos de funcionamiento y compatibilidad prevista. El código abreviado no reemplaza esa documentación.</a:t>
            </a:r>
          </a:p>
          <a:p xmlns:a="http://schemas.openxmlformats.org/drawingml/2006/main">
            <a:r>
              <a:t>Pregunta para el grupo: ¿Qué datos diferentes contiene C6-3?</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Selección de motor del ejemplo de OpenRocket. La captura del manual no constituye una recomendación de motor para el proyecto.</a:t>
            </a:r>
          </a:p>
          <a:p xmlns:a="http://schemas.openxmlformats.org/drawingml/2006/main">
            <a:r>
              <a:t>Localizar en la imagen las partes relacionadas con la pregunta.</a:t>
            </a:r>
          </a:p>
          <a:p xmlns:a="http://schemas.openxmlformats.org/drawingml/2006/main">
            <a:r>
              <a:t>¿Qué datos diferentes contiene C6-3?</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5 min.</a:t>
            </a:r>
          </a:p>
          <a:p xmlns:a="http://schemas.openxmlformats.org/drawingml/2006/main">
            <a:r>
              <a:t/>
            </a:r>
          </a:p>
          <a:p xmlns:a="http://schemas.openxmlformats.org/drawingml/2006/main">
            <a:r>
              <a:t>¿Qué datos diferentes contiene C6-3?</a:t>
            </a:r>
          </a:p>
          <a:p xmlns:a="http://schemas.openxmlformats.org/drawingml/2006/main">
            <a:r>
              <a:t>Relacionar la explicación con una decisión del proyecto.</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La combustión genera gases calientes dentro del motor. La tobera conduce y acelera su salida. El intercambio de cantidad de movimiento produce empuje sobre el vehículo. La garganta es la sección estrecha del esquema. La forma completa responde a un diseño especializado que aquí se reconoce de manera conceptual.</a:t>
            </a:r>
          </a:p>
          <a:p xmlns:a="http://schemas.openxmlformats.org/drawingml/2006/main">
            <a:r>
              <a:t/>
            </a:r>
          </a:p>
          <a:p xmlns:a="http://schemas.openxmlformats.org/drawingml/2006/main">
            <a:r>
              <a:t>La presión describe fuerza repartida sobre un área y se expresa en pascales o sus múltiplos. El empuje es una fuerza y se expresa en newtons. Aunque estén relacionados en el funcionamiento del motor, no son la misma magnitud. Una gráfica de presión y otra de empuje pueden tener formas relacionadas y aun así usar ejes y unidades diferentes.</a:t>
            </a:r>
          </a:p>
          <a:p xmlns:a="http://schemas.openxmlformats.org/drawingml/2006/main">
            <a:r>
              <a:t/>
            </a:r>
          </a:p>
          <a:p xmlns:a="http://schemas.openxmlformats.org/drawingml/2006/main">
            <a:r>
              <a:t>Presión y empuje describen cosas relacionadas, pero diferentes. La presión expresa fuerza por área en una zona; el empuje es una fuerza sobre el vehículo. La tobera guía la salida del gas y transforma parte de su energía en movimiento dirigido. El dibujo de NASA permite reconocer cámara, salida y chorro. En esta clase se señala qué representa cada término del esquema y su unidad, sin calcular ni fabricar una cámara o una tobera.</a:t>
            </a:r>
          </a:p>
          <a:p xmlns:a="http://schemas.openxmlformats.org/drawingml/2006/main">
            <a:r>
              <a:t>Pregunta para el grupo: ¿Presión y empuje tienen la misma unidad?</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NASA Glenn: cámara, salida de gases y tobera. Se usa para reconocer el proceso físico; no se dimensiona un motor en esta clase.</a:t>
            </a:r>
          </a:p>
          <a:p xmlns:a="http://schemas.openxmlformats.org/drawingml/2006/main">
            <a:r>
              <a:t>Localizar en la imagen las partes relacionadas con la pregunta.</a:t>
            </a:r>
          </a:p>
          <a:p xmlns:a="http://schemas.openxmlformats.org/drawingml/2006/main">
            <a:r>
              <a:t>¿Presión y empuje tienen la misma unidad?</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5 min.</a:t>
            </a:r>
          </a:p>
          <a:p xmlns:a="http://schemas.openxmlformats.org/drawingml/2006/main">
            <a:r>
              <a:t/>
            </a:r>
          </a:p>
          <a:p xmlns:a="http://schemas.openxmlformats.org/drawingml/2006/main">
            <a:r>
              <a:t>Término / Idea para reconocer</a:t>
            </a:r>
          </a:p>
          <a:p xmlns:a="http://schemas.openxmlformats.org/drawingml/2006/main">
            <a:r>
              <a:t>Cámara / Zona donde se generan los gases</a:t>
            </a:r>
          </a:p>
          <a:p xmlns:a="http://schemas.openxmlformats.org/drawingml/2006/main">
            <a:r>
              <a:t>Tobera / Paso que conduce y acelera la salida</a:t>
            </a:r>
          </a:p>
          <a:p xmlns:a="http://schemas.openxmlformats.org/drawingml/2006/main">
            <a:r>
              <a:t>Presión / Fuerza por área</a:t>
            </a:r>
          </a:p>
          <a:p xmlns:a="http://schemas.openxmlformats.org/drawingml/2006/main">
            <a:r>
              <a:t>Empuje / Fuerza que recibe el vehículo</a:t>
            </a:r>
          </a:p>
          <a:p xmlns:a="http://schemas.openxmlformats.org/drawingml/2006/main">
            <a:r>
              <a:t>Justificar una alternativa con la misión y señalar la comprobación necesaria.</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Una curva de empuje muestra cómo cambia la fuerza con el tiempo. El impulso total es el área bajo esa curva. Dos curvas pueden compartir un intervalo de impulso y repartirlo de forma diferente. Por eso un número de clase no permite imaginar toda la salida del motor ni decidir su compatibilidad con cualquier vehículo.</a:t>
            </a:r>
          </a:p>
          <a:p xmlns:a="http://schemas.openxmlformats.org/drawingml/2006/main">
            <a:r>
              <a:t/>
            </a:r>
          </a:p>
          <a:p xmlns:a="http://schemas.openxmlformats.org/drawingml/2006/main">
            <a:r>
              <a:t>En una explicación de etiqueta aparecen clase C, empuje medio nominal 6 N y retardo de 3 s.</a:t>
            </a:r>
          </a:p>
          <a:p xmlns:a="http://schemas.openxmlformats.org/drawingml/2006/main">
            <a:r>
              <a:t/>
            </a:r>
          </a:p>
          <a:p xmlns:a="http://schemas.openxmlformats.org/drawingml/2006/main">
            <a:r>
              <a:t>No hace falta integrar matemáticamente una curva para comprender su lectura básica. El equipo debe poder señalar el comienzo, el fin del empuje y una diferencia visible entre dos curvas documentadas. Los cálculos internos del motor quedan fuera de la construcción del alumnado.</a:t>
            </a:r>
          </a:p>
          <a:p xmlns:a="http://schemas.openxmlformats.org/drawingml/2006/main">
            <a:r>
              <a:t/>
            </a:r>
          </a:p>
          <a:p xmlns:a="http://schemas.openxmlformats.org/drawingml/2006/main">
            <a:r>
              <a:t>También conviene separar masa y fuerza. La balanza del taller informa una masa, normalmente en gramos. Una curva de empuje informa fuerza en newtons. No se comparan directamente los números de ambas pantallas como si fueran la misma unidad. El docente puede mostrar esta diferencia sin calcular una trayectoria: nombra el objeto que se pesa, la fuerza que cambia con el tiempo y la configuración comercial a la que pertenece la curva.</a:t>
            </a:r>
          </a:p>
          <a:p xmlns:a="http://schemas.openxmlformats.org/drawingml/2006/main">
            <a:r>
              <a:t>Pregunta para el grupo: ¿La letra determina una curva única?</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Dato / Por qué interesa en el curso</a:t>
            </a:r>
          </a:p>
          <a:p xmlns:a="http://schemas.openxmlformats.org/drawingml/2006/main">
            <a:r>
              <a:t>Identificación completa / Relacionar el objeto con su ficha</a:t>
            </a:r>
          </a:p>
          <a:p xmlns:a="http://schemas.openxmlformats.org/drawingml/2006/main">
            <a:r>
              <a:t>Dimensiones y masa / Comprobar compatibilidad del conjunto</a:t>
            </a:r>
          </a:p>
          <a:p xmlns:a="http://schemas.openxmlformats.org/drawingml/2006/main">
            <a:r>
              <a:t>Curva e impulso / Entender la entrega de empuje</a:t>
            </a:r>
          </a:p>
          <a:p xmlns:a="http://schemas.openxmlformats.org/drawingml/2006/main">
            <a:r>
              <a:t>Recuperación y retardo / Revisar el sistema previsto</a:t>
            </a:r>
          </a:p>
          <a:p xmlns:a="http://schemas.openxmlformats.org/drawingml/2006/main">
            <a:r>
              <a:t>Instrucciones de uso / Usar el componente según el fabricante</a:t>
            </a:r>
          </a:p>
          <a:p xmlns:a="http://schemas.openxmlformats.org/drawingml/2006/main">
            <a:r>
              <a:t>Comparar dos filas y justificar con la misión.</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En una explicación de etiqueta aparecen clase C, empuje medio nominal 6 N y retardo de 3 s.</a:t>
            </a:r>
          </a:p>
          <a:p xmlns:a="http://schemas.openxmlformats.org/drawingml/2006/main">
            <a:r>
              <a:t>Explicación</a:t>
            </a:r>
          </a:p>
          <a:p xmlns:a="http://schemas.openxmlformats.org/drawingml/2006/main">
            <a:r>
              <a:t>Son tres datos distintos: intervalo de impulso, fuerza media nominal y retardo. No se concluye que el motor empuje durante tres segundos ni que todos los clase C entreguen el límite superior de su intervalo.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openMotor es un simulador de balística interna: estudia el motor, mientras OpenRocket y RockSim representan el vehículo. El programa puede mostrar presión y empuje calculados. Para esta introducción el docente prepara una salida de referencia identificada y se trabaja sobre su significado, sin convertirla en instrucciones de diseño o fabricación de motor.</a:t>
            </a:r>
          </a:p>
          <a:p xmlns:a="http://schemas.openxmlformats.org/drawingml/2006/main">
            <a:r>
              <a:t/>
            </a:r>
          </a:p>
          <a:p xmlns:a="http://schemas.openxmlformats.org/drawingml/2006/main">
            <a:r>
              <a:t>La salida de referencia debe existir antes de impartir esta demostración. No se entrega un diseño de motor ni un archivo de fabricación. Si el docente usa una captura publicada, debe presentarla como tal y conservar la fuente. [OM]</a:t>
            </a:r>
          </a:p>
          <a:p xmlns:a="http://schemas.openxmlformats.org/drawingml/2006/main">
            <a:r>
              <a:t/>
            </a:r>
          </a:p>
          <a:p xmlns:a="http://schemas.openxmlformats.org/drawingml/2006/main">
            <a:r>
              <a:t>OpenRocket y RockSim representan el movimiento del vehículo. openMotor estudia un modelo interno de motor y produce variables como presión y empuje. Esa diferencia explica por qué no se usa una salida de un programa como si fuera automáticamente una entrada certificada del otro. El docente muestra resultados ya identificados y el alumno aprende a leer ejes, unidades y procedencia. La selección del conjunto de vuelo conserva la documentación del componente comercial elegido.</a:t>
            </a:r>
          </a:p>
          <a:p xmlns:a="http://schemas.openxmlformats.org/drawingml/2006/main">
            <a:r>
              <a:t>Pregunta para el grupo: ¿Qué objeto estudia openMotor?</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Programa / Objeto de estudio / Uso del equipo</a:t>
            </a:r>
          </a:p>
          <a:p xmlns:a="http://schemas.openxmlformats.org/drawingml/2006/main">
            <a:r>
              <a:t>openMotor / Motor y resultados internos / Lectura conceptual guiada</a:t>
            </a:r>
          </a:p>
          <a:p xmlns:a="http://schemas.openxmlformats.org/drawingml/2006/main">
            <a:r>
              <a:t>OpenRocket / Vehículo completo / Configuración y simulación</a:t>
            </a:r>
          </a:p>
          <a:p xmlns:a="http://schemas.openxmlformats.org/drawingml/2006/main">
            <a:r>
              <a:t>RockSim / Vehículo completo / Comparación posterior</a:t>
            </a:r>
          </a:p>
          <a:p xmlns:a="http://schemas.openxmlformats.org/drawingml/2006/main">
            <a:r>
              <a:t>Comparar dos filas y justificar con la misión.</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5 min.</a:t>
            </a:r>
          </a:p>
          <a:p xmlns:a="http://schemas.openxmlformats.org/drawingml/2006/main">
            <a:r>
              <a:t/>
            </a:r>
          </a:p>
          <a:p xmlns:a="http://schemas.openxmlformats.org/drawingml/2006/main">
            <a:r>
              <a:t>Abre la instalación y localiza las áreas de resultados y sus unidades. Distingue el modelo del motor del archivo de vehículo.</a:t>
            </a:r>
          </a:p>
          <a:p xmlns:a="http://schemas.openxmlformats.org/drawingml/2006/main">
            <a:r>
              <a:t>Con la salida de referencia del docente, identifica qué gráfica muestra presión y cuál empuje.</a:t>
            </a:r>
          </a:p>
          <a:p xmlns:a="http://schemas.openxmlformats.org/drawingml/2006/main">
            <a:r>
              <a:t>Lee un instante y una unidad. Comprueba si el eje vertical está en Pa, MPa, N u otra unidad declarada.</a:t>
            </a:r>
          </a:p>
          <a:p xmlns:a="http://schemas.openxmlformats.org/drawingml/2006/main">
            <a:r>
              <a:t>Explica qué dato de esa salida serviría para describir empuje y qué información de vehículo todavía falta.</a:t>
            </a:r>
          </a:p>
          <a:p xmlns:a="http://schemas.openxmlformats.org/drawingml/2006/main">
            <a:r>
              <a:t>Registra programa, versión y origen de la salida. Una imagen sin procedencia no es una validación del motor comercial.</a:t>
            </a:r>
          </a:p>
          <a:p xmlns:a="http://schemas.openxmlformats.org/drawingml/2006/main">
            <a:r>
              <a:t>Comprobar un paso en el objeto o programa antes de continuar.</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El empuje llega al cuerpo a través de sus interfaces. El motor debe corresponder al soporte y a la retención previstos, y el conjunto debe revisarse con la recuperación que se utilizará. En un curso inicial conviene estudiar una solución comercial definida y bien documentada en lugar de combinar piezas elegidas de forma independiente.</a:t>
            </a:r>
          </a:p>
          <a:p xmlns:a="http://schemas.openxmlformats.org/drawingml/2006/main">
            <a:r>
              <a:t/>
            </a:r>
          </a:p>
          <a:p xmlns:a="http://schemas.openxmlformats.org/drawingml/2006/main">
            <a:r>
              <a:t>El diámetro permite introducir un motor comercial, pero el soporte no corresponde a su referencia y no está resuelta la recuperación.</a:t>
            </a:r>
          </a:p>
          <a:p xmlns:a="http://schemas.openxmlformats.org/drawingml/2006/main">
            <a:r>
              <a:t/>
            </a:r>
          </a:p>
          <a:p xmlns:a="http://schemas.openxmlformats.org/drawingml/2006/main">
            <a:r>
              <a:t>La letra agrupa un intervalo, no una cantidad fija que todos los motores de esa clase deban alcanzar. Si se comparan componentes comerciales, se usan sus fichas concretas. Tampoco se traslada una salida calculada de un modelo interno a un componente comercial de nombre parecido. La procedencia de la curva y la referencia del producto permiten discutir el funcionamiento sin fabricar ni modificar un motor.</a:t>
            </a:r>
          </a:p>
          <a:p xmlns:a="http://schemas.openxmlformats.org/drawingml/2006/main">
            <a:r>
              <a:t>Pregunta para el grupo: ¿Que el componente entre resuelve toda su integración?</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Soporte e interfaces interiores del ejemplo de OpenRocket. La solución real se elige con el conjunto comercial y sus instrucciones.</a:t>
            </a:r>
          </a:p>
          <a:p xmlns:a="http://schemas.openxmlformats.org/drawingml/2006/main">
            <a:r>
              <a:t>Localizar en la imagen las partes relacionadas con la pregunta.</a:t>
            </a:r>
          </a:p>
          <a:p xmlns:a="http://schemas.openxmlformats.org/drawingml/2006/main">
            <a:r>
              <a:t>¿Que el componente entre resuelve toda su integración?</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5 min.</a:t>
            </a:r>
          </a:p>
          <a:p xmlns:a="http://schemas.openxmlformats.org/drawingml/2006/main">
            <a:r>
              <a:t/>
            </a:r>
          </a:p>
          <a:p xmlns:a="http://schemas.openxmlformats.org/drawingml/2006/main">
            <a:r>
              <a:t>Identifica la referencia comercial que el docente ha propuesto para el proyecto.</a:t>
            </a:r>
          </a:p>
          <a:p xmlns:a="http://schemas.openxmlformats.org/drawingml/2006/main">
            <a:r>
              <a:t>Comprueba su envolvente con el plano y el soporte correspondiente.</a:t>
            </a:r>
          </a:p>
          <a:p xmlns:a="http://schemas.openxmlformats.org/drawingml/2006/main">
            <a:r>
              <a:t>Anota qué masa y qué configuración se usarán en la simulación.</a:t>
            </a:r>
          </a:p>
          <a:p xmlns:a="http://schemas.openxmlformats.org/drawingml/2006/main">
            <a:r>
              <a:t>Relaciona la recuperación prevista con la documentación del conjunto.</a:t>
            </a:r>
          </a:p>
          <a:p xmlns:a="http://schemas.openxmlformats.org/drawingml/2006/main">
            <a:r>
              <a:t>Deja registrada cualquier incompatibilidad antes de continuar al montaje.</a:t>
            </a:r>
          </a:p>
          <a:p xmlns:a="http://schemas.openxmlformats.org/drawingml/2006/main">
            <a:r>
              <a:t>Comprobar un paso en el objeto o programa antes de continuar.</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El alumno debe distinguir tres niveles: qué ocurre físicamente en el motor, qué dice su documentación comercial y qué necesita el vehículo completo. Un dibujo de tobera responde a la primera pregunta. Una etiqueta y una ficha responden a parte de la segunda. La simulación y el montaje del modelo ayudan a resolver la tercera.</a:t>
            </a:r>
          </a:p>
          <a:p xmlns:a="http://schemas.openxmlformats.org/drawingml/2006/main">
            <a:r>
              <a:t/>
            </a:r>
          </a:p>
          <a:p xmlns:a="http://schemas.openxmlformats.org/drawingml/2006/main">
            <a:r>
              <a:t>¿Un valor de presión mayor significa automáticamente que nuestro cohete volará mejor?</a:t>
            </a:r>
          </a:p>
          <a:p xmlns:a="http://schemas.openxmlformats.org/drawingml/2006/main">
            <a:r>
              <a:t/>
            </a:r>
          </a:p>
          <a:p xmlns:a="http://schemas.openxmlformats.org/drawingml/2006/main">
            <a:r>
              <a:t>Entrega una ficha de identificación del motor comercial propuesto y una explicación breve de presión, empuje e impulso. Añade una imagen de referencia correctamente atribuida y señala qué dato se utilizará en OpenRocket.</a:t>
            </a:r>
          </a:p>
          <a:p xmlns:a="http://schemas.openxmlformats.org/drawingml/2006/main">
            <a:r>
              <a:t>Pregunta para el grupo: ¿Qué dato del motor se lleva al modelo del vehículo?</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4 min.</a:t>
            </a:r>
          </a:p>
          <a:p xmlns:a="http://schemas.openxmlformats.org/drawingml/2006/main">
            <a:r>
              <a:t/>
            </a:r>
          </a:p>
          <a:p xmlns:a="http://schemas.openxmlformats.org/drawingml/2006/main">
            <a:r>
              <a:t>Podemos explicar / Todavía requiere otra evidencia</a:t>
            </a:r>
          </a:p>
          <a:p xmlns:a="http://schemas.openxmlformats.org/drawingml/2006/main">
            <a:r>
              <a:t>Qué representan presión y empuje / Comportamiento real de un motor concreto</a:t>
            </a:r>
          </a:p>
          <a:p xmlns:a="http://schemas.openxmlformats.org/drawingml/2006/main">
            <a:r>
              <a:t>Cómo leer una etiqueta habitual / Compatibilidad de cualquier combinación</a:t>
            </a:r>
          </a:p>
          <a:p xmlns:a="http://schemas.openxmlformats.org/drawingml/2006/main">
            <a:r>
              <a:t>Qué gráfica corresponde a una magnitud / Validación de un cálculo interno</a:t>
            </a:r>
          </a:p>
          <a:p xmlns:a="http://schemas.openxmlformats.org/drawingml/2006/main">
            <a:r>
              <a:t>Qué dato falta en el vehículo / Aceptación del conjunto para volar</a:t>
            </a:r>
          </a:p>
          <a:p xmlns:a="http://schemas.openxmlformats.org/drawingml/2006/main">
            <a:r>
              <a:t>Comparar dos filas y justificar con la misión.</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5 min.</a:t>
            </a:r>
          </a:p>
          <a:p xmlns:a="http://schemas.openxmlformats.org/drawingml/2006/main">
            <a:r>
              <a:t/>
            </a:r>
          </a:p>
          <a:p xmlns:a="http://schemas.openxmlformats.org/drawingml/2006/main">
            <a:r>
              <a:t>Caso</a:t>
            </a:r>
          </a:p>
          <a:p xmlns:a="http://schemas.openxmlformats.org/drawingml/2006/main">
            <a:r>
              <a:t>¿Un valor de presión mayor significa automáticamente que nuestro cohete volará mejor?</a:t>
            </a:r>
          </a:p>
          <a:p xmlns:a="http://schemas.openxmlformats.org/drawingml/2006/main">
            <a:r>
              <a:t>Explicación</a:t>
            </a:r>
          </a:p>
          <a:p xmlns:a="http://schemas.openxmlformats.org/drawingml/2006/main">
            <a:r>
              <a:t>No. La presión no resume el motor ni el conjunto. Para el curso importan componente comercial apropiado, configuración representada y revisión del vehículo completo. No se aumenta ni se modifica un motor buscando un resultado.</a:t>
            </a:r>
          </a:p>
          <a:p xmlns:a="http://schemas.openxmlformats.org/drawingml/2006/main">
            <a:r>
              <a:t>Dar tiempo para responder antes de presentar la solución oralmente.</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12 min.</a:t>
            </a:r>
          </a:p>
          <a:p xmlns:a="http://schemas.openxmlformats.org/drawingml/2006/main">
            <a:r>
              <a:t/>
            </a:r>
          </a:p>
          <a:p xmlns:a="http://schemas.openxmlformats.org/drawingml/2006/main">
            <a:r>
              <a:t>Reconocer el código y la ficha del componente comercial.</a:t>
            </a:r>
          </a:p>
          <a:p xmlns:a="http://schemas.openxmlformats.org/drawingml/2006/main">
            <a:r>
              <a:t>Explicar cámara, tobera y salida con el esquema.</a:t>
            </a:r>
          </a:p>
          <a:p xmlns:a="http://schemas.openxmlformats.org/drawingml/2006/main">
            <a:r>
              <a:t>Leer unidades de una salida de referencia de openMotor preparada por el docente.</a:t>
            </a:r>
          </a:p>
          <a:p xmlns:a="http://schemas.openxmlformats.org/drawingml/2006/main">
            <a:r>
              <a:t>Completar la ficha de compatibilidad con el vehículo.</a:t>
            </a:r>
          </a:p>
          <a:p xmlns:a="http://schemas.openxmlformats.org/drawingml/2006/main">
            <a:r>
              <a:t>Rotar los roles y conservar al menos una evidencia revisable.</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10 min.</a:t>
            </a:r>
          </a:p>
          <a:p xmlns:a="http://schemas.openxmlformats.org/drawingml/2006/main">
            <a:r>
              <a:t/>
            </a:r>
          </a:p>
          <a:p xmlns:a="http://schemas.openxmlformats.org/drawingml/2006/main">
            <a:r>
              <a:t>Cada equipo prepara una decisión y una evidencia. No aceptar una preferencia sin relacionarla con la misión.</a:t>
            </a:r>
          </a:p>
          <a:p xmlns:a="http://schemas.openxmlformats.org/drawingml/2006/main">
            <a:r>
              <a:t>Ficha comercial y lectura conceptual de una salida identificada.</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7 min.</a:t>
            </a:r>
          </a:p>
          <a:p xmlns:a="http://schemas.openxmlformats.org/drawingml/2006/main">
            <a:r>
              <a:t/>
            </a:r>
          </a:p>
          <a:p xmlns:a="http://schemas.openxmlformats.org/drawingml/2006/main">
            <a:r>
              <a:t>Primero respuesta individual, después discusión por equipos.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5 min.</a:t>
            </a:r>
          </a:p>
          <a:p xmlns:a="http://schemas.openxmlformats.org/drawingml/2006/main">
            <a:r>
              <a:t/>
            </a:r>
          </a:p>
          <a:p xmlns:a="http://schemas.openxmlformats.org/drawingml/2006/main">
            <a:r>
              <a:t>Pedir un ejemplo del objeto o del archivo para una de las respuestas.</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8: Motor comercial, tobera, presión y empuje.</a:t>
            </a:r>
          </a:p>
          <a:p xmlns:a="http://schemas.openxmlformats.org/drawingml/2006/main">
            <a:r>
              <a:t>En línea, 2 h. Tramo del núcleo: 5 min.</a:t>
            </a:r>
          </a:p>
          <a:p xmlns:a="http://schemas.openxmlformats.org/drawingml/2006/main">
            <a:r>
              <a:t/>
            </a:r>
          </a:p>
          <a:p xmlns:a="http://schemas.openxmlformats.org/drawingml/2006/main">
            <a:r>
              <a:t>Ficha comercial y lectura conceptual de una salida identificada.</a:t>
            </a:r>
          </a:p>
          <a:p xmlns:a="http://schemas.openxmlformats.org/drawingml/2006/main">
            <a:r>
              <a:t>Las fuentes enlazadas de la lectura permiten ampliar la explicación sin exigir cálculo avanzado.</a:t>
            </a:r>
          </a:p>
          <a:p xmlns:a="http://schemas.openxmlformats.org/drawingml/2006/main">
            <a:r>
              <a:t/>
            </a:r>
          </a:p>
          <a:p xmlns:a="http://schemas.openxmlformats.org/drawingml/2006/main">
            <a:r>
              <a:t>Resultado: Leer un motor comercial y distinguir presión, empuje e impulso usando imágenes y salidas de referencia.</a:t>
            </a:r>
          </a:p>
          <a:p xmlns:a="http://schemas.openxmlformats.org/drawingml/2006/main">
            <a:r>
              <a:t>Misión: Comprender la propulsión del proyecto sin fabricar ni modificar el motor.</a:t>
            </a:r>
          </a:p>
          <a:p xmlns:a="http://schemas.openxmlformats.org/drawingml/2006/main">
            <a:r>
              <a:t>Entrega: Ficha comercial y lectura conceptual de una salida identificada.</a:t>
            </a:r>
          </a:p>
          <a:p xmlns:a="http://schemas.openxmlformats.org/drawingml/2006/main">
            <a:r>
              <a:t/>
            </a:r>
          </a:p>
          <a:p xmlns:a="http://schemas.openxmlformats.org/drawingml/2006/main">
            <a:r>
              <a:t>Preguntas y respuestas</a:t>
            </a:r>
          </a:p>
          <a:p xmlns:a="http://schemas.openxmlformats.org/drawingml/2006/main">
            <a:r>
              <a:t>¿El retardo del código equivale al tiempo de empuje?</a:t>
            </a:r>
          </a:p>
          <a:p xmlns:a="http://schemas.openxmlformats.org/drawingml/2006/main">
            <a:r>
              <a:t>No. Son tiempos diferentes.</a:t>
            </a:r>
          </a:p>
          <a:p xmlns:a="http://schemas.openxmlformats.org/drawingml/2006/main">
            <a:r>
              <a:t/>
            </a:r>
          </a:p>
          <a:p xmlns:a="http://schemas.openxmlformats.org/drawingml/2006/main">
            <a:r>
              <a:t>¿Impulso y energía tienen las mismas unidades?</a:t>
            </a:r>
          </a:p>
          <a:p xmlns:a="http://schemas.openxmlformats.org/drawingml/2006/main">
            <a:r>
              <a:t>No. El impulso se expresa en N·s y la energía en J.</a:t>
            </a:r>
          </a:p>
          <a:p xmlns:a="http://schemas.openxmlformats.org/drawingml/2006/main">
            <a:r>
              <a:t/>
            </a:r>
          </a:p>
          <a:p xmlns:a="http://schemas.openxmlformats.org/drawingml/2006/main">
            <a:r>
              <a:t>¿openMotor sustituye a OpenRocket?</a:t>
            </a:r>
          </a:p>
          <a:p xmlns:a="http://schemas.openxmlformats.org/drawingml/2006/main">
            <a:r>
              <a:t>No. Representan objetos de estudio diferentes.</a:t>
            </a:r>
          </a:p>
          <a:p xmlns:a="http://schemas.openxmlformats.org/drawingml/2006/main">
            <a:r>
              <a:t/>
            </a:r>
          </a:p>
          <a:p xmlns:a="http://schemas.openxmlformats.org/drawingml/2006/main">
            <a:r>
              <a:t>Fuentes</a:t>
            </a:r>
          </a:p>
          <a:p xmlns:a="http://schemas.openxmlformats.org/drawingml/2006/main">
            <a:r>
              <a:t>National Association of Rocketry. Rocket Motor Resources. https://www.nar.org/content.aspx?club_id=114127&amp;module_id=669253&amp;page_id=22</a:t>
            </a:r>
          </a:p>
          <a:p xmlns:a="http://schemas.openxmlformats.org/drawingml/2006/main">
            <a:r>
              <a:t>NASA Glenn. Rocket Thrust. https://www1.grc.nasa.gov/beginners-guide-to-aeronautics/rocket-thrust/</a:t>
            </a:r>
          </a:p>
          <a:p xmlns:a="http://schemas.openxmlformats.org/drawingml/2006/main">
            <a:r>
              <a:t>openMotor. Repositorio y descripción del programa. https://github.com/reilleya/openMotor</a:t>
            </a:r>
          </a:p>
          <a:p xmlns:a="http://schemas.openxmlformats.org/drawingml/2006/main">
            <a:r>
              <a:t>National Association of Rocketry. Model Rocket Safety Code. https://www.nar.org/ModelRocketSafetyCode</a:t>
            </a:r>
          </a:p>
          <a:p xmlns:a="http://schemas.openxmlformats.org/drawingml/2006/main">
            <a:r>
              <a:t>OpenRocket. Basic Rocket Design. https://openrocket.readthedocs.io/en/latest/user_guide/basic_rocket_design.html</a:t>
            </a:r>
          </a:p>
          <a:p xmlns:a="http://schemas.openxmlformats.org/drawingml/2006/main">
            <a:r>
              <a:t>Lectura: MECRO_Coheteria_Clase_08.pdf. Las capturas muestran ejemplos de documentación. Los casos numéricos se identifican como ejercicios y no se atribuyen a ejecuciones o mediciones no realizadas.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c1a181dfbc46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7bc5091064448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092b9ff5964df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c07065aff14a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22a65a463346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ac41cb6a2f44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D54AD-EB5F-413E-9BE0-0A66928DFE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8FBEBC-71DA-44B3-B0AD-F9FEB6837AB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C9E7402-1D05-4151-8674-89D34B999F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2AD909-3C92-4D90-81D6-2D899243ED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BC3F4E7-C7AD-46B4-8E70-4158BC92576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F81DA1-6597-4F34-B9B2-97F323D20D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D7F97D5-CFCF-4588-9168-1EF8243DEC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AB30E52-ACAA-4411-B841-B3EABD471C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E400E3-450B-4496-B23F-0EA2E1C91F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F696F4-EC00-4174-8454-2D97289CDE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4fba7209dc43e8" /><Relationship Type="http://schemas.openxmlformats.org/officeDocument/2006/relationships/slideLayout" Target="/ppt/slideLayouts/slideLayout1.xml" Id="R4d57fe1b5bf8457d" /><Relationship Type="http://schemas.openxmlformats.org/officeDocument/2006/relationships/slideLayout" Target="/ppt/slideLayouts/slideLayout2.xml" Id="R3519dc441cea4645" /><Relationship Type="http://schemas.openxmlformats.org/officeDocument/2006/relationships/slideLayout" Target="/ppt/slideLayouts/slideLayout3.xml" Id="R50fb6062348547b1" /><Relationship Type="http://schemas.openxmlformats.org/officeDocument/2006/relationships/slideLayout" Target="/ppt/slideLayouts/slideLayout4.xml" Id="Ra104ed4e93234dcb" /><Relationship Type="http://schemas.openxmlformats.org/officeDocument/2006/relationships/slideLayout" Target="/ppt/slideLayouts/slideLayout5.xml" Id="Rfa53e60a1a524ea8" /><Relationship Type="http://schemas.openxmlformats.org/officeDocument/2006/relationships/slideLayout" Target="/ppt/slideLayouts/slideLayout6.xml" Id="Rdf0101b9a35342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57fe1b5bf8457d"/>
    <p:sldLayoutId xmlns:r="http://schemas.openxmlformats.org/officeDocument/2006/relationships" id="2147483650" r:id="R3519dc441cea4645"/>
    <p:sldLayoutId xmlns:r="http://schemas.openxmlformats.org/officeDocument/2006/relationships" id="2147483651" r:id="R50fb6062348547b1"/>
    <p:sldLayoutId xmlns:r="http://schemas.openxmlformats.org/officeDocument/2006/relationships" id="2147483652" r:id="Ra104ed4e93234dcb"/>
    <p:sldLayoutId xmlns:r="http://schemas.openxmlformats.org/officeDocument/2006/relationships" id="2147483653" r:id="Rfa53e60a1a524ea8"/>
    <p:sldLayoutId xmlns:r="http://schemas.openxmlformats.org/officeDocument/2006/relationships" id="2147483654" r:id="Rdf0101b9a35342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11d874c9454af7" /><Relationship Type="http://schemas.openxmlformats.org/officeDocument/2006/relationships/image" Target="/ppt/media/image.png" Id="R5d4458714d0b4909" /><Relationship Type="http://schemas.openxmlformats.org/officeDocument/2006/relationships/notesSlide" Target="/ppt/notesSlides/notesSlide1.xml" Id="Rc5c6dfb05c9b47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743ea5e4a04353" /><Relationship Type="http://schemas.openxmlformats.org/officeDocument/2006/relationships/image" Target="/ppt/media/image2.png" Id="Rd11b159c273d41ee" /><Relationship Type="http://schemas.openxmlformats.org/officeDocument/2006/relationships/notesSlide" Target="/ppt/notesSlides/notesSlide2.xml" Id="Rf07f6c4122354c6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4c3d92706674cda" /><Relationship Type="http://schemas.openxmlformats.org/officeDocument/2006/relationships/image" Target="/ppt/media/image3.png" Id="Ra553cddea08a4938" /><Relationship Type="http://schemas.openxmlformats.org/officeDocument/2006/relationships/image" Target="/ppt/media/image4.png" Id="R47e23d99ff7d4a43" /><Relationship Type="http://schemas.openxmlformats.org/officeDocument/2006/relationships/notesSlide" Target="/ppt/notesSlides/notesSlide3.xml" Id="Radec6ec55eda4a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419501df5ba42a1" /><Relationship Type="http://schemas.openxmlformats.org/officeDocument/2006/relationships/image" Target="/ppt/media/image5.png" Id="Rdf597c2dd4284f8d" /><Relationship Type="http://schemas.openxmlformats.org/officeDocument/2006/relationships/notesSlide" Target="/ppt/notesSlides/notesSlide4.xml" Id="Rbad1d58eb5014a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56abec30b634af7" /><Relationship Type="http://schemas.openxmlformats.org/officeDocument/2006/relationships/image" Target="/ppt/media/image6.png" Id="R99584274163a4eac" /><Relationship Type="http://schemas.openxmlformats.org/officeDocument/2006/relationships/notesSlide" Target="/ppt/notesSlides/notesSlide5.xml" Id="R6da4bdfeaa9a41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23e3a6ef8974b7d" /><Relationship Type="http://schemas.openxmlformats.org/officeDocument/2006/relationships/image" Target="/ppt/media/image7.png" Id="R629dc88446f84bc7" /><Relationship Type="http://schemas.openxmlformats.org/officeDocument/2006/relationships/image" Target="/ppt/media/image8.png" Id="R64ba063983094163" /><Relationship Type="http://schemas.openxmlformats.org/officeDocument/2006/relationships/notesSlide" Target="/ppt/notesSlides/notesSlide6.xml" Id="R0240836a55e64a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c4b89c0ed464b2c" /><Relationship Type="http://schemas.openxmlformats.org/officeDocument/2006/relationships/image" Target="/ppt/media/image9.png" Id="R513a9e4d9a0c4e99" /><Relationship Type="http://schemas.openxmlformats.org/officeDocument/2006/relationships/notesSlide" Target="/ppt/notesSlides/notesSlide7.xml" Id="Rafe6e0ee694c41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835766e42e4129" /><Relationship Type="http://schemas.openxmlformats.org/officeDocument/2006/relationships/image" Target="/ppt/media/image10.png" Id="R68323902d3b94155" /><Relationship Type="http://schemas.openxmlformats.org/officeDocument/2006/relationships/notesSlide" Target="/ppt/notesSlides/notesSlide8.xml" Id="R19b016474ae64a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c62cdefcb5745a0" /><Relationship Type="http://schemas.openxmlformats.org/officeDocument/2006/relationships/image" Target="/ppt/media/image11.png" Id="Rc98498785d354f98" /><Relationship Type="http://schemas.openxmlformats.org/officeDocument/2006/relationships/notesSlide" Target="/ppt/notesSlides/notesSlide9.xml" Id="Rebaf6ac475f54d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adfb340def046c7" /><Relationship Type="http://schemas.openxmlformats.org/officeDocument/2006/relationships/image" Target="/ppt/media/image12.png" Id="Rc619ed39240742bf" /><Relationship Type="http://schemas.openxmlformats.org/officeDocument/2006/relationships/notesSlide" Target="/ppt/notesSlides/notesSlide10.xml" Id="R73370eaa1c044e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d0d9928c9c24aec" /><Relationship Type="http://schemas.openxmlformats.org/officeDocument/2006/relationships/image" Target="/ppt/media/image13.png" Id="R5be4f7e7de2c465a" /><Relationship Type="http://schemas.openxmlformats.org/officeDocument/2006/relationships/notesSlide" Target="/ppt/notesSlides/notesSlide11.xml" Id="R622934d2284449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6b639d2c7e94902" /><Relationship Type="http://schemas.openxmlformats.org/officeDocument/2006/relationships/image" Target="/ppt/media/image14.png" Id="R52009ce2e6104e9a" /><Relationship Type="http://schemas.openxmlformats.org/officeDocument/2006/relationships/image" Target="/ppt/media/image15.png" Id="R33967e06cf774fbb" /><Relationship Type="http://schemas.openxmlformats.org/officeDocument/2006/relationships/notesSlide" Target="/ppt/notesSlides/notesSlide12.xml" Id="Rb18c6b70b21248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bb2f1f757454d87" /><Relationship Type="http://schemas.openxmlformats.org/officeDocument/2006/relationships/image" Target="/ppt/media/image16.png" Id="Rfb23438655bb4082" /><Relationship Type="http://schemas.openxmlformats.org/officeDocument/2006/relationships/notesSlide" Target="/ppt/notesSlides/notesSlide13.xml" Id="R4097fa6c780443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c1cfef1aaff4d4d" /><Relationship Type="http://schemas.openxmlformats.org/officeDocument/2006/relationships/image" Target="/ppt/media/image17.png" Id="Rc7ecf8d7c48f4b7e" /><Relationship Type="http://schemas.openxmlformats.org/officeDocument/2006/relationships/notesSlide" Target="/ppt/notesSlides/notesSlide14.xml" Id="R7a48a049079741e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0f9c4ad427c4adb" /><Relationship Type="http://schemas.openxmlformats.org/officeDocument/2006/relationships/image" Target="/ppt/media/image18.png" Id="R4071950d6b0a4d17" /><Relationship Type="http://schemas.openxmlformats.org/officeDocument/2006/relationships/notesSlide" Target="/ppt/notesSlides/notesSlide15.xml" Id="R38546d1b602f469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c88f596919644dd" /><Relationship Type="http://schemas.openxmlformats.org/officeDocument/2006/relationships/image" Target="/ppt/media/image19.png" Id="Rdb6856e50a494fd3" /><Relationship Type="http://schemas.openxmlformats.org/officeDocument/2006/relationships/notesSlide" Target="/ppt/notesSlides/notesSlide16.xml" Id="Rb7f8e1a776564fe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617c9e179a546a3" /><Relationship Type="http://schemas.openxmlformats.org/officeDocument/2006/relationships/image" Target="/ppt/media/image20.png" Id="Re17642a4244844ba" /><Relationship Type="http://schemas.openxmlformats.org/officeDocument/2006/relationships/notesSlide" Target="/ppt/notesSlides/notesSlide17.xml" Id="Re69cf2e49e8648e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540ed0d5abd4130" /><Relationship Type="http://schemas.openxmlformats.org/officeDocument/2006/relationships/image" Target="/ppt/media/image21.png" Id="R91829e1a843e429a" /><Relationship Type="http://schemas.openxmlformats.org/officeDocument/2006/relationships/notesSlide" Target="/ppt/notesSlides/notesSlide18.xml" Id="R44942f475cec47f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4a2c0ef03624887" /><Relationship Type="http://schemas.openxmlformats.org/officeDocument/2006/relationships/image" Target="/ppt/media/image22.png" Id="R50946efdd0f14931" /><Relationship Type="http://schemas.openxmlformats.org/officeDocument/2006/relationships/notesSlide" Target="/ppt/notesSlides/notesSlide19.xml" Id="R5434c611025344c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ad3b60d46794272" /><Relationship Type="http://schemas.openxmlformats.org/officeDocument/2006/relationships/image" Target="/ppt/media/image23.png" Id="Rade4c93b26764d8b" /><Relationship Type="http://schemas.openxmlformats.org/officeDocument/2006/relationships/notesSlide" Target="/ppt/notesSlides/notesSlide20.xml" Id="Rca6881d31f904a3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3adc4ed60194cdd" /><Relationship Type="http://schemas.openxmlformats.org/officeDocument/2006/relationships/image" Target="/ppt/media/image24.png" Id="R9af707865d9a483c" /><Relationship Type="http://schemas.openxmlformats.org/officeDocument/2006/relationships/notesSlide" Target="/ppt/notesSlides/notesSlide21.xml" Id="R36159da58b804df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75e645da73c4ba8" /><Relationship Type="http://schemas.openxmlformats.org/officeDocument/2006/relationships/image" Target="/ppt/media/image25.png" Id="R7774d2f331b94581" /><Relationship Type="http://schemas.openxmlformats.org/officeDocument/2006/relationships/notesSlide" Target="/ppt/notesSlides/notesSlide22.xml" Id="R0a1b52dee50b41c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66f07fc63df4c54" /><Relationship Type="http://schemas.openxmlformats.org/officeDocument/2006/relationships/image" Target="/ppt/media/image26.png" Id="Rb9b18ab2dc2a4f38" /><Relationship Type="http://schemas.openxmlformats.org/officeDocument/2006/relationships/notesSlide" Target="/ppt/notesSlides/notesSlide23.xml" Id="R89d6be772173498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c832dc4133e49f7" /><Relationship Type="http://schemas.openxmlformats.org/officeDocument/2006/relationships/image" Target="/ppt/media/image27.png" Id="R6f91e2d6a8114aa7" /><Relationship Type="http://schemas.openxmlformats.org/officeDocument/2006/relationships/notesSlide" Target="/ppt/notesSlides/notesSlide24.xml" Id="R3a3fd834609b4f1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cdbb8366d774851" /><Relationship Type="http://schemas.openxmlformats.org/officeDocument/2006/relationships/image" Target="/ppt/media/image28.png" Id="R9dcef355b4a846c2" /><Relationship Type="http://schemas.openxmlformats.org/officeDocument/2006/relationships/notesSlide" Target="/ppt/notesSlides/notesSlide25.xml" Id="Ra298b24429fc460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5573a9d45f949d1" /><Relationship Type="http://schemas.openxmlformats.org/officeDocument/2006/relationships/image" Target="/ppt/media/image29.png" Id="R05211069d97b4126" /><Relationship Type="http://schemas.openxmlformats.org/officeDocument/2006/relationships/notesSlide" Target="/ppt/notesSlides/notesSlide26.xml" Id="Rd44238efed494a1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4a40a3dd2044593" /><Relationship Type="http://schemas.openxmlformats.org/officeDocument/2006/relationships/image" Target="/ppt/media/image30.png" Id="Rb7e80102f240478d" /><Relationship Type="http://schemas.openxmlformats.org/officeDocument/2006/relationships/image" Target="/ppt/media/image31.png" Id="Rc472c2ecc5ca4707" /><Relationship Type="http://schemas.openxmlformats.org/officeDocument/2006/relationships/notesSlide" Target="/ppt/notesSlides/notesSlide27.xml" Id="Rec5aaffabb89406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5387d62a2ba490f" /><Relationship Type="http://schemas.openxmlformats.org/officeDocument/2006/relationships/image" Target="/ppt/media/image32.png" Id="Rcbcdc7ac8b834621" /><Relationship Type="http://schemas.openxmlformats.org/officeDocument/2006/relationships/notesSlide" Target="/ppt/notesSlides/notesSlide28.xml" Id="R92fa8444320f494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97d49a74e524ee3" /><Relationship Type="http://schemas.openxmlformats.org/officeDocument/2006/relationships/image" Target="/ppt/media/image33.png" Id="R98b34ffd1575417f" /><Relationship Type="http://schemas.openxmlformats.org/officeDocument/2006/relationships/notesSlide" Target="/ppt/notesSlides/notesSlide29.xml" Id="Re44b60a03a0041c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80995d0fc004933" /><Relationship Type="http://schemas.openxmlformats.org/officeDocument/2006/relationships/image" Target="/ppt/media/image34.png" Id="R0e7049e61c814e22" /><Relationship Type="http://schemas.openxmlformats.org/officeDocument/2006/relationships/image" Target="/ppt/media/image35.png" Id="R7799ccd9d7884757" /><Relationship Type="http://schemas.openxmlformats.org/officeDocument/2006/relationships/notesSlide" Target="/ppt/notesSlides/notesSlide30.xml" Id="R94b9cf052b254d2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561a720e7b34b9d" /><Relationship Type="http://schemas.openxmlformats.org/officeDocument/2006/relationships/image" Target="/ppt/media/image36.png" Id="R7738b0d4488e43bc" /><Relationship Type="http://schemas.openxmlformats.org/officeDocument/2006/relationships/notesSlide" Target="/ppt/notesSlides/notesSlide31.xml" Id="R34f501dcada2489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96df03e96464bfe" /><Relationship Type="http://schemas.openxmlformats.org/officeDocument/2006/relationships/image" Target="/ppt/media/image37.png" Id="R3db4350afbd043ec" /><Relationship Type="http://schemas.openxmlformats.org/officeDocument/2006/relationships/notesSlide" Target="/ppt/notesSlides/notesSlide32.xml" Id="Ra13c37d890ad49d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962ee3dea30418f" /><Relationship Type="http://schemas.openxmlformats.org/officeDocument/2006/relationships/image" Target="/ppt/media/image38.png" Id="R59e9e6144df741ca" /><Relationship Type="http://schemas.openxmlformats.org/officeDocument/2006/relationships/notesSlide" Target="/ppt/notesSlides/notesSlide33.xml" Id="Ra391850ce1db4d1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4858cb3050e46b4" /><Relationship Type="http://schemas.openxmlformats.org/officeDocument/2006/relationships/image" Target="/ppt/media/image39.png" Id="Re3f1ec4c44b64e18" /><Relationship Type="http://schemas.openxmlformats.org/officeDocument/2006/relationships/notesSlide" Target="/ppt/notesSlides/notesSlide34.xml" Id="R8727f8c23e234da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661ccc8932d4e35" /><Relationship Type="http://schemas.openxmlformats.org/officeDocument/2006/relationships/image" Target="/ppt/media/image40.png" Id="R70c5c05382cf4c4f" /><Relationship Type="http://schemas.openxmlformats.org/officeDocument/2006/relationships/notesSlide" Target="/ppt/notesSlides/notesSlide35.xml" Id="R6ccabe063a0a42d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504688ba2954ec7" /><Relationship Type="http://schemas.openxmlformats.org/officeDocument/2006/relationships/image" Target="/ppt/media/image41.png" Id="R76c1ed7153f64c66" /><Relationship Type="http://schemas.openxmlformats.org/officeDocument/2006/relationships/notesSlide" Target="/ppt/notesSlides/notesSlide36.xml" Id="Rf2cc06964e4d46f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eb13cc30c1b4a68" /><Relationship Type="http://schemas.openxmlformats.org/officeDocument/2006/relationships/image" Target="/ppt/media/image42.png" Id="Rc651e72551aa44ad" /><Relationship Type="http://schemas.openxmlformats.org/officeDocument/2006/relationships/notesSlide" Target="/ppt/notesSlides/notesSlide37.xml" Id="R1b4a56e1946e4f0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b583e4cccbe41ca" /><Relationship Type="http://schemas.openxmlformats.org/officeDocument/2006/relationships/image" Target="/ppt/media/image43.png" Id="Rf12f97d955424408" /><Relationship Type="http://schemas.openxmlformats.org/officeDocument/2006/relationships/notesSlide" Target="/ppt/notesSlides/notesSlide38.xml" Id="R19b30a21de3c437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3772eb8547d4596" /><Relationship Type="http://schemas.openxmlformats.org/officeDocument/2006/relationships/image" Target="/ppt/media/image44.png" Id="R6afbe48271cb4ef9" /><Relationship Type="http://schemas.openxmlformats.org/officeDocument/2006/relationships/image" Target="/ppt/media/image45.png" Id="R1544e085fc6b41ab" /><Relationship Type="http://schemas.openxmlformats.org/officeDocument/2006/relationships/notesSlide" Target="/ppt/notesSlides/notesSlide39.xml" Id="R972dd826b52f457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7345ab80ef048ca" /><Relationship Type="http://schemas.openxmlformats.org/officeDocument/2006/relationships/image" Target="/ppt/media/image46.png" Id="R1dc70ae614174d19" /><Relationship Type="http://schemas.openxmlformats.org/officeDocument/2006/relationships/notesSlide" Target="/ppt/notesSlides/notesSlide40.xml" Id="R760d610da9eb4b2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598e45abcc74c5d" /><Relationship Type="http://schemas.openxmlformats.org/officeDocument/2006/relationships/image" Target="/ppt/media/image47.png" Id="R52ca87b81847467a" /><Relationship Type="http://schemas.openxmlformats.org/officeDocument/2006/relationships/notesSlide" Target="/ppt/notesSlides/notesSlide41.xml" Id="R313818fa053442d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d2bea21c9b884048" /><Relationship Type="http://schemas.openxmlformats.org/officeDocument/2006/relationships/image" Target="/ppt/media/image48.png" Id="R90463b3363144ae6" /><Relationship Type="http://schemas.openxmlformats.org/officeDocument/2006/relationships/notesSlide" Target="/ppt/notesSlides/notesSlide42.xml" Id="Rf968484bfd924d5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8476d648ad94adc" /><Relationship Type="http://schemas.openxmlformats.org/officeDocument/2006/relationships/image" Target="/ppt/media/image49.png" Id="Re231eb3491b64bbc" /><Relationship Type="http://schemas.openxmlformats.org/officeDocument/2006/relationships/notesSlide" Target="/ppt/notesSlides/notesSlide43.xml" Id="Rad7f118a3a7b4ba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9b8e9d8a17d4486" /><Relationship Type="http://schemas.openxmlformats.org/officeDocument/2006/relationships/image" Target="/ppt/media/image50.png" Id="R312a39d3dc7248a2" /><Relationship Type="http://schemas.openxmlformats.org/officeDocument/2006/relationships/notesSlide" Target="/ppt/notesSlides/notesSlide44.xml" Id="Rb8c3be95ce234c7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cd95f546a524e26" /><Relationship Type="http://schemas.openxmlformats.org/officeDocument/2006/relationships/image" Target="/ppt/media/image51.png" Id="R6f73d9350aa746a3" /><Relationship Type="http://schemas.openxmlformats.org/officeDocument/2006/relationships/notesSlide" Target="/ppt/notesSlides/notesSlide45.xml" Id="R97fc56fb5d8b4b8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665978d67a36407e" /><Relationship Type="http://schemas.openxmlformats.org/officeDocument/2006/relationships/image" Target="/ppt/media/image52.png" Id="R038ff45a1dd147a8" /><Relationship Type="http://schemas.openxmlformats.org/officeDocument/2006/relationships/notesSlide" Target="/ppt/notesSlides/notesSlide46.xml" Id="R1c3e97380b4441a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09fa5580a4094ef2" /><Relationship Type="http://schemas.openxmlformats.org/officeDocument/2006/relationships/image" Target="/ppt/media/image53.png" Id="R73f638aeaac14c6c" /><Relationship Type="http://schemas.openxmlformats.org/officeDocument/2006/relationships/notesSlide" Target="/ppt/notesSlides/notesSlide47.xml" Id="Rfa193c0bf0e44fa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1bb9202cdb64426" /><Relationship Type="http://schemas.openxmlformats.org/officeDocument/2006/relationships/image" Target="/ppt/media/image54.png" Id="R90b669da39d94719" /><Relationship Type="http://schemas.openxmlformats.org/officeDocument/2006/relationships/notesSlide" Target="/ppt/notesSlides/notesSlide48.xml" Id="R38ea13b22f764f1b" /></Relationships>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BECCB2-208C-44EA-8138-B06E94688D1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Estabilidad: centro de gravedad y centro de presión</a:t>
            </a:r>
          </a:p>
        </p:txBody>
      </p:sp>
      <p:pic>
        <p:nvPicPr>
          <p:cNvPr id="2" name="">
            <a:extLst xmlns:a="http://schemas.openxmlformats.org/drawingml/2006/main">
              <a:ext uri="{FF2B5EF4-FFF2-40B4-BE49-F238E27FC236}">
                <a16:creationId xmlns:a16="http://schemas.microsoft.com/office/drawing/2014/main" id="{F1779C16-07F4-4D17-83ED-3FAD3B576806}"/>
              </a:ext>
            </a:extLst>
          </p:cNvPr>
          <p:cNvPicPr>
            <a:picLocks xmlns:a="http://schemas.openxmlformats.org/drawingml/2006/main" noChangeAspect="1"/>
          </p:cNvPicPr>
          <p:nvPr/>
        </p:nvPicPr>
        <p:blipFill>
          <a:blip xmlns:r="http://schemas.openxmlformats.org/officeDocument/2006/relationships" xmlns:a="http://schemas.openxmlformats.org/drawingml/2006/main" r:embed="R5d4458714d0b490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EBA3B59-C442-4966-9676-6AA4816F9AF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01/24</a:t>
            </a:r>
          </a:p>
        </p:txBody>
      </p:sp>
      <p:sp>
        <p:nvSpPr>
          <p:cNvPr id="4" name="">
            <a:extLst xmlns:a="http://schemas.openxmlformats.org/drawingml/2006/main">
              <a:ext uri="{FF2B5EF4-FFF2-40B4-BE49-F238E27FC236}">
                <a16:creationId xmlns:a16="http://schemas.microsoft.com/office/drawing/2014/main" id="{543A4889-6A75-4FFC-959A-7185881F63F3}"/>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Entender la estabilidad con una maqueta y comprobar que el modelo represente la distribución real de piezas.</a:t>
            </a:r>
          </a:p>
        </p:txBody>
      </p:sp>
      <p:sp>
        <p:nvSpPr>
          <p:cNvPr id="5" name="">
            <a:extLst xmlns:a="http://schemas.openxmlformats.org/drawingml/2006/main">
              <a:ext uri="{FF2B5EF4-FFF2-40B4-BE49-F238E27FC236}">
                <a16:creationId xmlns:a16="http://schemas.microsoft.com/office/drawing/2014/main" id="{0B69BC98-8E2F-4A6D-9F32-7476D2DA6580}"/>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Preparar un vehículo que el docente pueda revisar como conjunto.</a:t>
            </a:r>
          </a:p>
        </p:txBody>
      </p:sp>
      <p:sp>
        <p:nvSpPr>
          <p:cNvPr id="6" name="">
            <a:extLst xmlns:a="http://schemas.openxmlformats.org/drawingml/2006/main">
              <a:ext uri="{FF2B5EF4-FFF2-40B4-BE49-F238E27FC236}">
                <a16:creationId xmlns:a16="http://schemas.microsoft.com/office/drawing/2014/main" id="{DE92D67D-23C0-49EC-9DB5-89E860B92BB7}"/>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1211593640"/>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657E53-DC04-429B-9AAC-A84B2FC2FC8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Equilibrar la maqueta antes de ver símbolos</a:t>
            </a:r>
          </a:p>
        </p:txBody>
      </p:sp>
      <p:pic>
        <p:nvPicPr>
          <p:cNvPr id="2" name="">
            <a:extLst xmlns:a="http://schemas.openxmlformats.org/drawingml/2006/main">
              <a:ext uri="{FF2B5EF4-FFF2-40B4-BE49-F238E27FC236}">
                <a16:creationId xmlns:a16="http://schemas.microsoft.com/office/drawing/2014/main" id="{4D0C4792-7B98-4219-B655-872A860D5800}"/>
              </a:ext>
            </a:extLst>
          </p:cNvPr>
          <p:cNvPicPr>
            <a:picLocks xmlns:a="http://schemas.openxmlformats.org/drawingml/2006/main" noChangeAspect="1"/>
          </p:cNvPicPr>
          <p:nvPr/>
        </p:nvPicPr>
        <p:blipFill>
          <a:blip xmlns:r="http://schemas.openxmlformats.org/officeDocument/2006/relationships" xmlns:a="http://schemas.openxmlformats.org/drawingml/2006/main" r:embed="Rd11b159c273d41e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98D4AAE-4BB1-47CE-8554-DEA3EC8D0C8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02/24</a:t>
            </a:r>
          </a:p>
        </p:txBody>
      </p:sp>
      <p:sp>
        <p:nvSpPr>
          <p:cNvPr id="4" name="">
            <a:extLst xmlns:a="http://schemas.openxmlformats.org/drawingml/2006/main">
              <a:ext uri="{FF2B5EF4-FFF2-40B4-BE49-F238E27FC236}">
                <a16:creationId xmlns:a16="http://schemas.microsoft.com/office/drawing/2014/main" id="{90FD8EA6-E2FA-4D6E-B569-3782446E1883}"/>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Sostén una maqueta inerte y busca el lugar donde puede quedar equilibrada. Ese punto se relaciona con la distribución de masa. Si cambias una pieza delantera por otra más pesada, el equilibrio puede desplazarse. La observación permite entender qué representa el centro de gravedad antes de escribir una fórmula.</a:t>
            </a:r>
          </a:p>
        </p:txBody>
      </p:sp>
    </p:spTree>
    <p:extLst>
      <p:ext uri="{BB962C8B-B14F-4D97-AF65-F5344CB8AC3E}">
        <p14:creationId xmlns:p14="http://schemas.microsoft.com/office/powerpoint/2010/main" val="868808577"/>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DE8CCD-3F85-4E2C-A959-8AED556C448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Equilibrar la maqueta antes de ver símbolos</a:t>
            </a:r>
          </a:p>
        </p:txBody>
      </p:sp>
      <p:pic>
        <p:nvPicPr>
          <p:cNvPr id="2" name="">
            <a:extLst xmlns:a="http://schemas.openxmlformats.org/drawingml/2006/main">
              <a:ext uri="{FF2B5EF4-FFF2-40B4-BE49-F238E27FC236}">
                <a16:creationId xmlns:a16="http://schemas.microsoft.com/office/drawing/2014/main" id="{BE23DC3B-9014-4E9B-A27B-E831AD88A5B2}"/>
              </a:ext>
            </a:extLst>
          </p:cNvPr>
          <p:cNvPicPr>
            <a:picLocks xmlns:a="http://schemas.openxmlformats.org/drawingml/2006/main" noChangeAspect="1"/>
          </p:cNvPicPr>
          <p:nvPr/>
        </p:nvPicPr>
        <p:blipFill>
          <a:blip xmlns:r="http://schemas.openxmlformats.org/officeDocument/2006/relationships" xmlns:a="http://schemas.openxmlformats.org/drawingml/2006/main" r:embed="Ra553cddea08a493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EF4011-B033-4A78-BA92-18346619699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03/24</a:t>
            </a:r>
          </a:p>
        </p:txBody>
      </p:sp>
      <p:pic>
        <p:nvPicPr>
          <p:cNvPr id="4" name="">
            <a:extLst xmlns:a="http://schemas.openxmlformats.org/drawingml/2006/main">
              <a:ext uri="{FF2B5EF4-FFF2-40B4-BE49-F238E27FC236}">
                <a16:creationId xmlns:a16="http://schemas.microsoft.com/office/drawing/2014/main" id="{EAD1BEDC-0DA8-47F2-869C-B19F7F532329}"/>
              </a:ext>
            </a:extLst>
          </p:cNvPr>
          <p:cNvPicPr>
            <a:picLocks xmlns:a="http://schemas.openxmlformats.org/drawingml/2006/main" noChangeAspect="1"/>
          </p:cNvPicPr>
          <p:nvPr/>
        </p:nvPicPr>
        <p:blipFill>
          <a:blip xmlns:r="http://schemas.openxmlformats.org/officeDocument/2006/relationships" xmlns:a="http://schemas.openxmlformats.org/drawingml/2006/main" r:embed="R47e23d99ff7d4a43"/>
          <a:stretch xmlns:a="http://schemas.openxmlformats.org/drawingml/2006/main"/>
        </p:blipFill>
        <p:spPr>
          <a:xfrm xmlns:a="http://schemas.openxmlformats.org/drawingml/2006/main">
            <a:off x="1641475" y="1657350"/>
            <a:ext cx="5308600"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CD96B8C-40FC-4DB9-A601-B82E27380E98}"/>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observas al equilibrar la maqueta?</a:t>
            </a:r>
          </a:p>
        </p:txBody>
      </p:sp>
      <p:sp>
        <p:nvSpPr>
          <p:cNvPr id="6" name="">
            <a:extLst xmlns:a="http://schemas.openxmlformats.org/drawingml/2006/main">
              <a:ext uri="{FF2B5EF4-FFF2-40B4-BE49-F238E27FC236}">
                <a16:creationId xmlns:a16="http://schemas.microsoft.com/office/drawing/2014/main" id="{41F0CD07-102E-4A1D-84AB-5FA81C5F368F}"/>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NASA Glenn: distribución de pesos y centro de gravedad. La clase parte de una maqueta inerte, sin reproducir la derivación del gráfico.</a:t>
            </a:r>
          </a:p>
        </p:txBody>
      </p:sp>
    </p:spTree>
    <p:extLst>
      <p:ext uri="{BB962C8B-B14F-4D97-AF65-F5344CB8AC3E}">
        <p14:creationId xmlns:p14="http://schemas.microsoft.com/office/powerpoint/2010/main" val="1060602505"/>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1714D0-F416-4FB4-9572-AF8262AE862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Equilibrar la maqueta antes de ver símbolos</a:t>
            </a:r>
          </a:p>
        </p:txBody>
      </p:sp>
      <p:pic>
        <p:nvPicPr>
          <p:cNvPr id="2" name="">
            <a:extLst xmlns:a="http://schemas.openxmlformats.org/drawingml/2006/main">
              <a:ext uri="{FF2B5EF4-FFF2-40B4-BE49-F238E27FC236}">
                <a16:creationId xmlns:a16="http://schemas.microsoft.com/office/drawing/2014/main" id="{EBE9FBB8-C456-4BF8-940F-7AC4E0BE2722}"/>
              </a:ext>
            </a:extLst>
          </p:cNvPr>
          <p:cNvPicPr>
            <a:picLocks xmlns:a="http://schemas.openxmlformats.org/drawingml/2006/main" noChangeAspect="1"/>
          </p:cNvPicPr>
          <p:nvPr/>
        </p:nvPicPr>
        <p:blipFill>
          <a:blip xmlns:r="http://schemas.openxmlformats.org/officeDocument/2006/relationships" xmlns:a="http://schemas.openxmlformats.org/drawingml/2006/main" r:embed="Rdf597c2dd4284f8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1C14592-4B95-4C1E-960D-ACB69351C0A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04/24</a:t>
            </a:r>
          </a:p>
        </p:txBody>
      </p:sp>
      <p:sp>
        <p:nvSpPr>
          <p:cNvPr id="4" name="">
            <a:extLst xmlns:a="http://schemas.openxmlformats.org/drawingml/2006/main">
              <a:ext uri="{FF2B5EF4-FFF2-40B4-BE49-F238E27FC236}">
                <a16:creationId xmlns:a16="http://schemas.microsoft.com/office/drawing/2014/main" id="{ACF875BA-FD31-4B85-ADFA-64B3FFC24957}"/>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centro de gravedad es un punto que resume cómo se distribuye el peso del conjunto en una condición determinada. Para encontrarlo en una maqueta inerte, se busca el apoyo donde no domina la tendencia a caer hacia un extremo. Si desplazas una pieza hacia la nariz, puede cambiar ese punto aunque la masa total permanezca igual. Así se introduce una idea útil: importa cuánto pesa cada componente y también dónde está.</a:t>
            </a:r>
          </a:p>
        </p:txBody>
      </p:sp>
    </p:spTree>
    <p:extLst>
      <p:ext uri="{BB962C8B-B14F-4D97-AF65-F5344CB8AC3E}">
        <p14:creationId xmlns:p14="http://schemas.microsoft.com/office/powerpoint/2010/main" val="1713611220"/>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C10E3BD-39D8-460C-A5D9-F647A72FF36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aire actúa de otra manera que el peso</a:t>
            </a:r>
          </a:p>
        </p:txBody>
      </p:sp>
      <p:pic>
        <p:nvPicPr>
          <p:cNvPr id="2" name="">
            <a:extLst xmlns:a="http://schemas.openxmlformats.org/drawingml/2006/main">
              <a:ext uri="{FF2B5EF4-FFF2-40B4-BE49-F238E27FC236}">
                <a16:creationId xmlns:a16="http://schemas.microsoft.com/office/drawing/2014/main" id="{5DF1AF7A-D3D5-4AC1-A7E0-F4754DF00C4C}"/>
              </a:ext>
            </a:extLst>
          </p:cNvPr>
          <p:cNvPicPr>
            <a:picLocks xmlns:a="http://schemas.openxmlformats.org/drawingml/2006/main" noChangeAspect="1"/>
          </p:cNvPicPr>
          <p:nvPr/>
        </p:nvPicPr>
        <p:blipFill>
          <a:blip xmlns:r="http://schemas.openxmlformats.org/officeDocument/2006/relationships" xmlns:a="http://schemas.openxmlformats.org/drawingml/2006/main" r:embed="R99584274163a4ea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C170B1C-00F4-474E-AC2B-7EDAB0CC018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05/24</a:t>
            </a:r>
          </a:p>
        </p:txBody>
      </p:sp>
      <p:sp>
        <p:nvSpPr>
          <p:cNvPr id="4" name="">
            <a:extLst xmlns:a="http://schemas.openxmlformats.org/drawingml/2006/main">
              <a:ext uri="{FF2B5EF4-FFF2-40B4-BE49-F238E27FC236}">
                <a16:creationId xmlns:a16="http://schemas.microsoft.com/office/drawing/2014/main" id="{8417A5DB-81EA-486B-B37B-33602C5400CC}"/>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centro de presión, CP, resume en el modelo dónde actúa la resultante aerodinámica para las condiciones consideradas. No se encuentra pesando el cohete. Las aletas influyen en esa respuesta y la posición relativa de CG y CP permite estudiar si una pequeña desviación tiende a corregirse o a aumentar.</a:t>
            </a:r>
          </a:p>
        </p:txBody>
      </p:sp>
    </p:spTree>
    <p:extLst>
      <p:ext uri="{BB962C8B-B14F-4D97-AF65-F5344CB8AC3E}">
        <p14:creationId xmlns:p14="http://schemas.microsoft.com/office/powerpoint/2010/main" val="682992098"/>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331457-A25E-4F93-B8A6-1154D1F5F13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aire actúa de otra manera que el peso</a:t>
            </a:r>
          </a:p>
        </p:txBody>
      </p:sp>
      <p:pic>
        <p:nvPicPr>
          <p:cNvPr id="2" name="">
            <a:extLst xmlns:a="http://schemas.openxmlformats.org/drawingml/2006/main">
              <a:ext uri="{FF2B5EF4-FFF2-40B4-BE49-F238E27FC236}">
                <a16:creationId xmlns:a16="http://schemas.microsoft.com/office/drawing/2014/main" id="{A5FE8DD3-B38B-43EE-8045-E9D89F097943}"/>
              </a:ext>
            </a:extLst>
          </p:cNvPr>
          <p:cNvPicPr>
            <a:picLocks xmlns:a="http://schemas.openxmlformats.org/drawingml/2006/main" noChangeAspect="1"/>
          </p:cNvPicPr>
          <p:nvPr/>
        </p:nvPicPr>
        <p:blipFill>
          <a:blip xmlns:r="http://schemas.openxmlformats.org/officeDocument/2006/relationships" xmlns:a="http://schemas.openxmlformats.org/drawingml/2006/main" r:embed="R629dc88446f84bc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6D52281-95FC-40C8-B9C7-13A1657B70E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06/24</a:t>
            </a:r>
          </a:p>
        </p:txBody>
      </p:sp>
      <p:pic>
        <p:nvPicPr>
          <p:cNvPr id="4" name="">
            <a:extLst xmlns:a="http://schemas.openxmlformats.org/drawingml/2006/main">
              <a:ext uri="{FF2B5EF4-FFF2-40B4-BE49-F238E27FC236}">
                <a16:creationId xmlns:a16="http://schemas.microsoft.com/office/drawing/2014/main" id="{0098B3CE-BEF5-4D50-AC85-B402033AA878}"/>
              </a:ext>
            </a:extLst>
          </p:cNvPr>
          <p:cNvPicPr>
            <a:picLocks xmlns:a="http://schemas.openxmlformats.org/drawingml/2006/main" noChangeAspect="1"/>
          </p:cNvPicPr>
          <p:nvPr/>
        </p:nvPicPr>
        <p:blipFill>
          <a:blip xmlns:r="http://schemas.openxmlformats.org/officeDocument/2006/relationships" xmlns:a="http://schemas.openxmlformats.org/drawingml/2006/main" r:embed="R64ba063983094163"/>
          <a:stretch xmlns:a="http://schemas.openxmlformats.org/drawingml/2006/main"/>
        </p:blipFill>
        <p:spPr>
          <a:xfrm xmlns:a="http://schemas.openxmlformats.org/drawingml/2006/main">
            <a:off x="1639035" y="1657350"/>
            <a:ext cx="5313479"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353B269-FC18-4BEA-A930-714A7078C26F}"/>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¿Cómo se diferencia el CP del equilibrio?</a:t>
            </a:r>
          </a:p>
        </p:txBody>
      </p:sp>
      <p:sp>
        <p:nvSpPr>
          <p:cNvPr id="6" name="">
            <a:extLst xmlns:a="http://schemas.openxmlformats.org/drawingml/2006/main">
              <a:ext uri="{FF2B5EF4-FFF2-40B4-BE49-F238E27FC236}">
                <a16:creationId xmlns:a16="http://schemas.microsoft.com/office/drawing/2014/main" id="{E824D542-29B5-45DC-B281-1338D75515FF}"/>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NASA: esquema cualitativo de estabilidad, reproducido en Apogee 629. Ayuda a reconocer la relación entre perturbación, CG y acción aerodinámica.</a:t>
            </a:r>
          </a:p>
        </p:txBody>
      </p:sp>
    </p:spTree>
    <p:extLst>
      <p:ext uri="{BB962C8B-B14F-4D97-AF65-F5344CB8AC3E}">
        <p14:creationId xmlns:p14="http://schemas.microsoft.com/office/powerpoint/2010/main" val="1384903223"/>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CAF493-00C3-4537-9883-125676A4219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No confundir las dos observaciones</a:t>
            </a:r>
          </a:p>
        </p:txBody>
      </p:sp>
      <p:pic>
        <p:nvPicPr>
          <p:cNvPr id="2" name="">
            <a:extLst xmlns:a="http://schemas.openxmlformats.org/drawingml/2006/main">
              <a:ext uri="{FF2B5EF4-FFF2-40B4-BE49-F238E27FC236}">
                <a16:creationId xmlns:a16="http://schemas.microsoft.com/office/drawing/2014/main" id="{932DE919-6B0E-4788-A8FD-61944A18A789}"/>
              </a:ext>
            </a:extLst>
          </p:cNvPr>
          <p:cNvPicPr>
            <a:picLocks xmlns:a="http://schemas.openxmlformats.org/drawingml/2006/main" noChangeAspect="1"/>
          </p:cNvPicPr>
          <p:nvPr/>
        </p:nvPicPr>
        <p:blipFill>
          <a:blip xmlns:r="http://schemas.openxmlformats.org/officeDocument/2006/relationships" xmlns:a="http://schemas.openxmlformats.org/drawingml/2006/main" r:embed="R513a9e4d9a0c4e9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5C8F108-4ABC-407A-8D98-C8F328B03A7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07/24</a:t>
            </a:r>
          </a:p>
        </p:txBody>
      </p:sp>
      <p:graphicFrame>
        <p:nvGraphicFramePr>
          <p:cNvPr id="4" name="">
            <a:extLst xmlns:a="http://schemas.openxmlformats.org/drawingml/2006/main">
              <a:ext uri="{FF2B5EF4-FFF2-40B4-BE49-F238E27FC236}">
                <a16:creationId xmlns:a16="http://schemas.microsoft.com/office/drawing/2014/main" id="{1D92BEDF-8642-4E2E-8DB3-E70C9BD89F90}"/>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897731">
                <a:tc>
                  <a:txBody>
                    <a:bodyPr/>
                    <a:lstStyle/>
                    <a:p>
                      <a:r>
                        <a:rPr sz="2025" b="1">
                          <a:solidFill>
                            <a:srgbClr val="FFFFFF"/>
                          </a:solidFill>
                          <a:latin typeface="Arial"/>
                          <a:ea typeface="Arial"/>
                          <a:cs typeface="Arial"/>
                        </a:rPr>
                        <a:t>Concepto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Cómo se trabaja aquí</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CG</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Distribución de masa y equilibrio de maqueta</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CP</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Resultado aerodinámico de un modelo</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Estabilidad de vuelo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Revisión del conjunto y sus condiciones</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501891023"/>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D5F327-24D2-4560-A76A-A39D6DF89D3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Leer el margen sin convertirlo en una receta</a:t>
            </a:r>
          </a:p>
        </p:txBody>
      </p:sp>
      <p:pic>
        <p:nvPicPr>
          <p:cNvPr id="2" name="">
            <a:extLst xmlns:a="http://schemas.openxmlformats.org/drawingml/2006/main">
              <a:ext uri="{FF2B5EF4-FFF2-40B4-BE49-F238E27FC236}">
                <a16:creationId xmlns:a16="http://schemas.microsoft.com/office/drawing/2014/main" id="{8138C2AA-7151-47F2-B25E-0FBBCF7EE9CB}"/>
              </a:ext>
            </a:extLst>
          </p:cNvPr>
          <p:cNvPicPr>
            <a:picLocks xmlns:a="http://schemas.openxmlformats.org/drawingml/2006/main" noChangeAspect="1"/>
          </p:cNvPicPr>
          <p:nvPr/>
        </p:nvPicPr>
        <p:blipFill>
          <a:blip xmlns:r="http://schemas.openxmlformats.org/officeDocument/2006/relationships" xmlns:a="http://schemas.openxmlformats.org/drawingml/2006/main" r:embed="R68323902d3b9415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22544EA-B9C3-47FC-9CA8-F1F7761AEAB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08/24</a:t>
            </a:r>
          </a:p>
        </p:txBody>
      </p:sp>
      <p:sp>
        <p:nvSpPr>
          <p:cNvPr id="4" name="">
            <a:extLst xmlns:a="http://schemas.openxmlformats.org/drawingml/2006/main">
              <a:ext uri="{FF2B5EF4-FFF2-40B4-BE49-F238E27FC236}">
                <a16:creationId xmlns:a16="http://schemas.microsoft.com/office/drawing/2014/main" id="{F40AAD36-6063-470B-AFEC-CBDDC113D2A7}"/>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programa puede expresar la separación longitudinal entre CP y CG dividida por un diámetro de referencia. Esa unidad recibe habitualmente el nombre de calibre. El indicador facilita comparar el mismo modelo bajo condiciones definidas. No reemplaza el análisis del docente ni impone por sí solo un valor universal de aceptación.</a:t>
            </a:r>
          </a:p>
        </p:txBody>
      </p:sp>
    </p:spTree>
    <p:extLst>
      <p:ext uri="{BB962C8B-B14F-4D97-AF65-F5344CB8AC3E}">
        <p14:creationId xmlns:p14="http://schemas.microsoft.com/office/powerpoint/2010/main" val="945617390"/>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2584E6F-B009-4720-B4E4-A72494386ABD}"/>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puede cambiar el resultado</a:t>
            </a:r>
          </a:p>
        </p:txBody>
      </p:sp>
      <p:pic>
        <p:nvPicPr>
          <p:cNvPr id="2" name="">
            <a:extLst xmlns:a="http://schemas.openxmlformats.org/drawingml/2006/main">
              <a:ext uri="{FF2B5EF4-FFF2-40B4-BE49-F238E27FC236}">
                <a16:creationId xmlns:a16="http://schemas.microsoft.com/office/drawing/2014/main" id="{428E570A-3390-4195-A646-F9F0715AA3A4}"/>
              </a:ext>
            </a:extLst>
          </p:cNvPr>
          <p:cNvPicPr>
            <a:picLocks xmlns:a="http://schemas.openxmlformats.org/drawingml/2006/main" noChangeAspect="1"/>
          </p:cNvPicPr>
          <p:nvPr/>
        </p:nvPicPr>
        <p:blipFill>
          <a:blip xmlns:r="http://schemas.openxmlformats.org/officeDocument/2006/relationships" xmlns:a="http://schemas.openxmlformats.org/drawingml/2006/main" r:embed="Rc98498785d354f9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A851078-CB02-472C-BF51-15D9B50CA71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09/24</a:t>
            </a:r>
          </a:p>
        </p:txBody>
      </p:sp>
      <p:graphicFrame>
        <p:nvGraphicFramePr>
          <p:cNvPr id="4" name="">
            <a:extLst xmlns:a="http://schemas.openxmlformats.org/drawingml/2006/main">
              <a:ext uri="{FF2B5EF4-FFF2-40B4-BE49-F238E27FC236}">
                <a16:creationId xmlns:a16="http://schemas.microsoft.com/office/drawing/2014/main" id="{62DE7A6B-76B8-4DC4-BDA2-77A11F147FB0}"/>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Cambio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Qué revisar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Otra nariz</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Masa, forma y posición</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Otra aleta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Geometría, masa y ubicación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Añadir una carga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Masa y distribución del conjunto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Cambiar de motor comercial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Masa y configuración seleccionadas</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08606291"/>
      </p:ext>
    </p:extLst>
  </p:cSld>
</p:sld>
</file>

<file path=ppt/slides/slide10.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BBB780-A518-4E0E-872E-50B87CBA58B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lectura de pantalla</a:t>
            </a:r>
          </a:p>
        </p:txBody>
      </p:sp>
      <p:pic>
        <p:nvPicPr>
          <p:cNvPr id="2" name="">
            <a:extLst xmlns:a="http://schemas.openxmlformats.org/drawingml/2006/main">
              <a:ext uri="{FF2B5EF4-FFF2-40B4-BE49-F238E27FC236}">
                <a16:creationId xmlns:a16="http://schemas.microsoft.com/office/drawing/2014/main" id="{05B474C2-8761-49A1-8A97-27BB3307E791}"/>
              </a:ext>
            </a:extLst>
          </p:cNvPr>
          <p:cNvPicPr>
            <a:picLocks xmlns:a="http://schemas.openxmlformats.org/drawingml/2006/main" noChangeAspect="1"/>
          </p:cNvPicPr>
          <p:nvPr/>
        </p:nvPicPr>
        <p:blipFill>
          <a:blip xmlns:r="http://schemas.openxmlformats.org/officeDocument/2006/relationships" xmlns:a="http://schemas.openxmlformats.org/drawingml/2006/main" r:embed="Rc619ed39240742b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A8D2C39-119F-48E4-A3C7-31A028F9D47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10/24</a:t>
            </a:r>
          </a:p>
        </p:txBody>
      </p:sp>
      <p:sp>
        <p:nvSpPr>
          <p:cNvPr id="4" name="">
            <a:extLst xmlns:a="http://schemas.openxmlformats.org/drawingml/2006/main">
              <a:ext uri="{FF2B5EF4-FFF2-40B4-BE49-F238E27FC236}">
                <a16:creationId xmlns:a16="http://schemas.microsoft.com/office/drawing/2014/main" id="{8F8C3F50-C52C-4FF3-8C24-54D2D2310769}"/>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Ejercicio de interpretación: el CP está 40 mm detrás del CG y el diámetro de referencia es 32 mm.</a:t>
            </a:r>
          </a:p>
        </p:txBody>
      </p:sp>
      <p:sp>
        <p:nvSpPr>
          <p:cNvPr id="5" name="">
            <a:extLst xmlns:a="http://schemas.openxmlformats.org/drawingml/2006/main">
              <a:ext uri="{FF2B5EF4-FFF2-40B4-BE49-F238E27FC236}">
                <a16:creationId xmlns:a16="http://schemas.microsoft.com/office/drawing/2014/main" id="{FA6C35EF-0640-440F-B287-A357E575E0E8}"/>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condición acompaña al valor de calibre?</a:t>
            </a:r>
          </a:p>
        </p:txBody>
      </p:sp>
    </p:spTree>
    <p:extLst>
      <p:ext uri="{BB962C8B-B14F-4D97-AF65-F5344CB8AC3E}">
        <p14:creationId xmlns:p14="http://schemas.microsoft.com/office/powerpoint/2010/main" val="1125609453"/>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447341E-2432-497B-99B3-6008CD934DE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OpenRocket con las masas del taller</a:t>
            </a:r>
          </a:p>
        </p:txBody>
      </p:sp>
      <p:pic>
        <p:nvPicPr>
          <p:cNvPr id="2" name="">
            <a:extLst xmlns:a="http://schemas.openxmlformats.org/drawingml/2006/main">
              <a:ext uri="{FF2B5EF4-FFF2-40B4-BE49-F238E27FC236}">
                <a16:creationId xmlns:a16="http://schemas.microsoft.com/office/drawing/2014/main" id="{0C747BE4-5542-4960-B335-C432C533D966}"/>
              </a:ext>
            </a:extLst>
          </p:cNvPr>
          <p:cNvPicPr>
            <a:picLocks xmlns:a="http://schemas.openxmlformats.org/drawingml/2006/main" noChangeAspect="1"/>
          </p:cNvPicPr>
          <p:nvPr/>
        </p:nvPicPr>
        <p:blipFill>
          <a:blip xmlns:r="http://schemas.openxmlformats.org/officeDocument/2006/relationships" xmlns:a="http://schemas.openxmlformats.org/drawingml/2006/main" r:embed="R5be4f7e7de2c465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5A0C13E-B1BC-4ABA-9E84-422B828557E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11/24</a:t>
            </a:r>
          </a:p>
        </p:txBody>
      </p:sp>
      <p:sp>
        <p:nvSpPr>
          <p:cNvPr id="4" name="">
            <a:extLst xmlns:a="http://schemas.openxmlformats.org/drawingml/2006/main">
              <a:ext uri="{FF2B5EF4-FFF2-40B4-BE49-F238E27FC236}">
                <a16:creationId xmlns:a16="http://schemas.microsoft.com/office/drawing/2014/main" id="{19010860-A30E-48A2-BCFE-A699FDE0286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Si todavía falta una pieza importante, la revisión sigue siendo preliminar. No ocultes el dato faltante asignando al azar una masa que haga aparecer un margen atractivo. [OR1, OR3]</a:t>
            </a:r>
          </a:p>
        </p:txBody>
      </p:sp>
    </p:spTree>
    <p:extLst>
      <p:ext uri="{BB962C8B-B14F-4D97-AF65-F5344CB8AC3E}">
        <p14:creationId xmlns:p14="http://schemas.microsoft.com/office/powerpoint/2010/main" val="1812352326"/>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DE8AF1-1B16-4ECA-BA47-D35094B49DB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OpenRocket con las masas del taller</a:t>
            </a:r>
          </a:p>
        </p:txBody>
      </p:sp>
      <p:pic>
        <p:nvPicPr>
          <p:cNvPr id="2" name="">
            <a:extLst xmlns:a="http://schemas.openxmlformats.org/drawingml/2006/main">
              <a:ext uri="{FF2B5EF4-FFF2-40B4-BE49-F238E27FC236}">
                <a16:creationId xmlns:a16="http://schemas.microsoft.com/office/drawing/2014/main" id="{0839ED5E-7D48-4F29-A16A-738F735A5D47}"/>
              </a:ext>
            </a:extLst>
          </p:cNvPr>
          <p:cNvPicPr>
            <a:picLocks xmlns:a="http://schemas.openxmlformats.org/drawingml/2006/main" noChangeAspect="1"/>
          </p:cNvPicPr>
          <p:nvPr/>
        </p:nvPicPr>
        <p:blipFill>
          <a:blip xmlns:r="http://schemas.openxmlformats.org/officeDocument/2006/relationships" xmlns:a="http://schemas.openxmlformats.org/drawingml/2006/main" r:embed="R52009ce2e6104e9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BC1E20D-DFE8-4A80-A916-601EFB273E8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12/24</a:t>
            </a:r>
          </a:p>
        </p:txBody>
      </p:sp>
      <p:pic>
        <p:nvPicPr>
          <p:cNvPr id="4" name="">
            <a:extLst xmlns:a="http://schemas.openxmlformats.org/drawingml/2006/main">
              <a:ext uri="{FF2B5EF4-FFF2-40B4-BE49-F238E27FC236}">
                <a16:creationId xmlns:a16="http://schemas.microsoft.com/office/drawing/2014/main" id="{D209B285-EE05-47EA-A2A5-A55D6E16DEEA}"/>
              </a:ext>
            </a:extLst>
          </p:cNvPr>
          <p:cNvPicPr>
            <a:picLocks xmlns:a="http://schemas.openxmlformats.org/drawingml/2006/main" noChangeAspect="1"/>
          </p:cNvPicPr>
          <p:nvPr/>
        </p:nvPicPr>
        <p:blipFill>
          <a:blip xmlns:r="http://schemas.openxmlformats.org/officeDocument/2006/relationships" xmlns:a="http://schemas.openxmlformats.org/drawingml/2006/main" r:embed="R33967e06cf774fbb"/>
          <a:stretch xmlns:a="http://schemas.openxmlformats.org/drawingml/2006/main"/>
        </p:blipFill>
        <p:spPr>
          <a:xfrm xmlns:a="http://schemas.openxmlformats.org/drawingml/2006/main">
            <a:off x="1408464" y="1657350"/>
            <a:ext cx="5774622"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E890908-7B42-4F49-BF53-27E3B444DF6A}"/>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¿Has contado dos veces una masa?</a:t>
            </a:r>
          </a:p>
        </p:txBody>
      </p:sp>
      <p:sp>
        <p:nvSpPr>
          <p:cNvPr id="6" name="">
            <a:extLst xmlns:a="http://schemas.openxmlformats.org/drawingml/2006/main">
              <a:ext uri="{FF2B5EF4-FFF2-40B4-BE49-F238E27FC236}">
                <a16:creationId xmlns:a16="http://schemas.microsoft.com/office/drawing/2014/main" id="{59E51F9A-9BC4-4EFF-9B2E-C24A900E4F80}"/>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Ajustes de masa de la documentación oficial. El dato medido debe corresponder al componente seleccionado.</a:t>
            </a:r>
          </a:p>
        </p:txBody>
      </p:sp>
    </p:spTree>
    <p:extLst>
      <p:ext uri="{BB962C8B-B14F-4D97-AF65-F5344CB8AC3E}">
        <p14:creationId xmlns:p14="http://schemas.microsoft.com/office/powerpoint/2010/main" val="208444230"/>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B80A58-227A-45C6-A7EF-4F420F8F30E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OpenRocket con las masas del taller</a:t>
            </a:r>
          </a:p>
        </p:txBody>
      </p:sp>
      <p:pic>
        <p:nvPicPr>
          <p:cNvPr id="2" name="">
            <a:extLst xmlns:a="http://schemas.openxmlformats.org/drawingml/2006/main">
              <a:ext uri="{FF2B5EF4-FFF2-40B4-BE49-F238E27FC236}">
                <a16:creationId xmlns:a16="http://schemas.microsoft.com/office/drawing/2014/main" id="{10B5FB82-B670-404C-9FB5-45C460ED0730}"/>
              </a:ext>
            </a:extLst>
          </p:cNvPr>
          <p:cNvPicPr>
            <a:picLocks xmlns:a="http://schemas.openxmlformats.org/drawingml/2006/main" noChangeAspect="1"/>
          </p:cNvPicPr>
          <p:nvPr/>
        </p:nvPicPr>
        <p:blipFill>
          <a:blip xmlns:r="http://schemas.openxmlformats.org/officeDocument/2006/relationships" xmlns:a="http://schemas.openxmlformats.org/drawingml/2006/main" r:embed="Rfb23438655bb408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876EC91-7DDD-4AD4-8942-4762FAED944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13/24</a:t>
            </a:r>
          </a:p>
        </p:txBody>
      </p:sp>
      <p:sp>
        <p:nvSpPr>
          <p:cNvPr id="4" name="">
            <a:extLst xmlns:a="http://schemas.openxmlformats.org/drawingml/2006/main">
              <a:ext uri="{FF2B5EF4-FFF2-40B4-BE49-F238E27FC236}">
                <a16:creationId xmlns:a16="http://schemas.microsoft.com/office/drawing/2014/main" id="{A6DF67C3-473B-4E15-A439-17E15BC59244}"/>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Abre la revisión posterior al taller 1. Comprueba que todos los componentes presentes estén representados.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Introduce las masas conocidas con su origen. Evita contar dos veces adhesivo, acabado o una carga añadida.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Localiza CG, CP y la condición que muestra el programa. Guarda una captura con esos datos visibles.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Crea una copia y representa una modificación real que el docente haya propuesto para comparar.</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Escribe qué permaneció igual, qué cambió y qué se desplazó. Vuelve a la configuración de referencia al terminar.</a:t>
            </a:r>
          </a:p>
        </p:txBody>
      </p:sp>
    </p:spTree>
    <p:extLst>
      <p:ext uri="{BB962C8B-B14F-4D97-AF65-F5344CB8AC3E}">
        <p14:creationId xmlns:p14="http://schemas.microsoft.com/office/powerpoint/2010/main" val="398886895"/>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2FE39F-43C3-4EB8-BCEB-FF01A4E158E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Comparación de la maqueta y el archivo</a:t>
            </a:r>
          </a:p>
        </p:txBody>
      </p:sp>
      <p:pic>
        <p:nvPicPr>
          <p:cNvPr id="2" name="">
            <a:extLst xmlns:a="http://schemas.openxmlformats.org/drawingml/2006/main">
              <a:ext uri="{FF2B5EF4-FFF2-40B4-BE49-F238E27FC236}">
                <a16:creationId xmlns:a16="http://schemas.microsoft.com/office/drawing/2014/main" id="{B11CA483-52F1-4584-818C-43E9EF5D1FEE}"/>
              </a:ext>
            </a:extLst>
          </p:cNvPr>
          <p:cNvPicPr>
            <a:picLocks xmlns:a="http://schemas.openxmlformats.org/drawingml/2006/main" noChangeAspect="1"/>
          </p:cNvPicPr>
          <p:nvPr/>
        </p:nvPicPr>
        <p:blipFill>
          <a:blip xmlns:r="http://schemas.openxmlformats.org/officeDocument/2006/relationships" xmlns:a="http://schemas.openxmlformats.org/drawingml/2006/main" r:embed="Rc7ecf8d7c48f4b7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8AC6119-565C-477D-B967-62D619EA497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14/24</a:t>
            </a:r>
          </a:p>
        </p:txBody>
      </p:sp>
      <p:sp>
        <p:nvSpPr>
          <p:cNvPr id="4" name="">
            <a:extLst xmlns:a="http://schemas.openxmlformats.org/drawingml/2006/main">
              <a:ext uri="{FF2B5EF4-FFF2-40B4-BE49-F238E27FC236}">
                <a16:creationId xmlns:a16="http://schemas.microsoft.com/office/drawing/2014/main" id="{81047DBD-4728-4D30-93B0-BB7958DE7E9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comprobación física del equilibrio exige definir el conjunto que se observa. Pesar o equilibrar piezas sueltas responde preguntas diferentes a equilibrar una maqueta ensamblada. El docente puede utilizar un conjunto inerte equivalente para que el alumnado entienda la distribución sin realizar operaciones del motor.</a:t>
            </a:r>
          </a:p>
        </p:txBody>
      </p:sp>
    </p:spTree>
    <p:extLst>
      <p:ext uri="{BB962C8B-B14F-4D97-AF65-F5344CB8AC3E}">
        <p14:creationId xmlns:p14="http://schemas.microsoft.com/office/powerpoint/2010/main" val="550760566"/>
      </p:ext>
    </p:extLst>
  </p:cSld>
</p:sld>
</file>

<file path=ppt/slides/slide1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223AD9-86FE-4F3E-844C-FEC139A4BEC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 del equipo</a:t>
            </a:r>
          </a:p>
        </p:txBody>
      </p:sp>
      <p:pic>
        <p:nvPicPr>
          <p:cNvPr id="2" name="">
            <a:extLst xmlns:a="http://schemas.openxmlformats.org/drawingml/2006/main">
              <a:ext uri="{FF2B5EF4-FFF2-40B4-BE49-F238E27FC236}">
                <a16:creationId xmlns:a16="http://schemas.microsoft.com/office/drawing/2014/main" id="{79EF0C29-2230-43C3-8B89-3D8DFD344DAB}"/>
              </a:ext>
            </a:extLst>
          </p:cNvPr>
          <p:cNvPicPr>
            <a:picLocks xmlns:a="http://schemas.openxmlformats.org/drawingml/2006/main" noChangeAspect="1"/>
          </p:cNvPicPr>
          <p:nvPr/>
        </p:nvPicPr>
        <p:blipFill>
          <a:blip xmlns:r="http://schemas.openxmlformats.org/officeDocument/2006/relationships" xmlns:a="http://schemas.openxmlformats.org/drawingml/2006/main" r:embed="R4071950d6b0a4d1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DEE4E18-D03B-400E-86D6-310C9386BB5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15/24</a:t>
            </a:r>
          </a:p>
        </p:txBody>
      </p:sp>
      <p:sp>
        <p:nvSpPr>
          <p:cNvPr id="4" name="">
            <a:extLst xmlns:a="http://schemas.openxmlformats.org/drawingml/2006/main">
              <a:ext uri="{FF2B5EF4-FFF2-40B4-BE49-F238E27FC236}">
                <a16:creationId xmlns:a16="http://schemas.microsoft.com/office/drawing/2014/main" id="{C5CAF7CF-A627-4F0D-BA8B-C443F9294D0C}"/>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AEF4BB"/>
                </a:solidFill>
                <a:latin typeface="Arial"/>
                <a:ea typeface="Arial"/>
                <a:cs typeface="Arial"/>
              </a:defRPr>
            </a:defPPr>
            <a:lvl1pPr>
              <a:defRPr sz="3075" b="1">
                <a:solidFill>
                  <a:srgbClr val="AEF4BB"/>
                </a:solidFill>
                <a:latin typeface="Arial"/>
                <a:ea typeface="Arial"/>
                <a:cs typeface="Arial"/>
              </a:defRPr>
            </a:lvl1pPr>
            <a:lvl2pPr>
              <a:defRPr sz="3075" b="1">
                <a:solidFill>
                  <a:srgbClr val="AEF4BB"/>
                </a:solidFill>
                <a:latin typeface="Arial"/>
                <a:ea typeface="Arial"/>
                <a:cs typeface="Arial"/>
              </a:defRPr>
            </a:lvl2pPr>
            <a:lvl3pPr>
              <a:defRPr sz="3075" b="1">
                <a:solidFill>
                  <a:srgbClr val="AEF4BB"/>
                </a:solidFill>
                <a:latin typeface="Arial"/>
                <a:ea typeface="Arial"/>
                <a:cs typeface="Arial"/>
              </a:defRPr>
            </a:lvl3pPr>
            <a:lvl4pPr>
              <a:defRPr sz="3075" b="1">
                <a:solidFill>
                  <a:srgbClr val="AEF4BB"/>
                </a:solidFill>
                <a:latin typeface="Arial"/>
                <a:ea typeface="Arial"/>
                <a:cs typeface="Arial"/>
              </a:defRPr>
            </a:lvl4pPr>
            <a:lvl5pPr>
              <a:defRPr sz="3075" b="1">
                <a:solidFill>
                  <a:srgbClr val="AEF4BB"/>
                </a:solidFill>
                <a:latin typeface="Arial"/>
                <a:ea typeface="Arial"/>
                <a:cs typeface="Arial"/>
              </a:defRPr>
            </a:lvl5pPr>
            <a:lvl6pPr>
              <a:defRPr sz="3075" b="1">
                <a:solidFill>
                  <a:srgbClr val="AEF4BB"/>
                </a:solidFill>
                <a:latin typeface="Arial"/>
                <a:ea typeface="Arial"/>
                <a:cs typeface="Arial"/>
              </a:defRPr>
            </a:lvl6pPr>
            <a:lvl7pPr>
              <a:defRPr sz="3075" b="1">
                <a:solidFill>
                  <a:srgbClr val="AEF4BB"/>
                </a:solidFill>
                <a:latin typeface="Arial"/>
                <a:ea typeface="Arial"/>
                <a:cs typeface="Arial"/>
              </a:defRPr>
            </a:lvl7pPr>
            <a:lvl8pPr>
              <a:defRPr sz="3075" b="1">
                <a:solidFill>
                  <a:srgbClr val="AEF4BB"/>
                </a:solidFill>
                <a:latin typeface="Arial"/>
                <a:ea typeface="Arial"/>
                <a:cs typeface="Arial"/>
              </a:defRPr>
            </a:lvl8pPr>
            <a:lvl9pPr>
              <a:defRPr sz="3075" b="1">
                <a:solidFill>
                  <a:srgbClr val="AEF4BB"/>
                </a:solidFill>
                <a:latin typeface="Arial"/>
                <a:ea typeface="Arial"/>
                <a:cs typeface="Arial"/>
              </a:defRPr>
            </a:lvl9pPr>
          </a:lstStyle>
          <a:p xmlns:a="http://schemas.openxmlformats.org/drawingml/2006/main">
            <a:pPr>
              <a:defRPr sz="3075" b="1">
                <a:solidFill>
                  <a:srgbClr val="AEF4BB"/>
                </a:solidFill>
                <a:latin typeface="Arial"/>
                <a:ea typeface="Arial"/>
                <a:cs typeface="Arial"/>
              </a:defRPr>
            </a:pPr>
            <a:r>
              <a:rPr sz="3075" b="1">
                <a:solidFill>
                  <a:srgbClr val="AEF4BB"/>
                </a:solidFill>
                <a:latin typeface="Arial"/>
                <a:ea typeface="Arial"/>
                <a:cs typeface="Arial"/>
              </a:rPr>
              <a:t>¿Qué representa cada masa inerte?</a:t>
            </a:r>
          </a:p>
        </p:txBody>
      </p:sp>
      <p:sp>
        <p:nvSpPr>
          <p:cNvPr id="5" name="">
            <a:extLst xmlns:a="http://schemas.openxmlformats.org/drawingml/2006/main">
              <a:ext uri="{FF2B5EF4-FFF2-40B4-BE49-F238E27FC236}">
                <a16:creationId xmlns:a16="http://schemas.microsoft.com/office/drawing/2014/main" id="{DF84B1AA-0734-480B-9613-2846B395B7A7}"/>
              </a:ext>
            </a:extLst>
          </p:cNvPr>
          <p:cNvSpPr>
            <a:spLocks xmlns:a="http://schemas.openxmlformats.org/drawingml/2006/main" noGrp="1"/>
          </p:cNvSpPr>
          <p:nvPr/>
        </p:nvSpPr>
        <p:spPr>
          <a:xfrm xmlns:a="http://schemas.openxmlformats.org/drawingml/2006/main">
            <a:off x="590550" y="3800475"/>
            <a:ext cx="10715625"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La revisión de estabilidad para el vuelo pertenece al conjunto final, con la configuración comercial y las condiciones que el responsable apruebe. La maqueta enseña el concepto y permite encontrar errores de representación.</a:t>
            </a:r>
          </a:p>
        </p:txBody>
      </p:sp>
    </p:spTree>
    <p:extLst>
      <p:ext uri="{BB962C8B-B14F-4D97-AF65-F5344CB8AC3E}">
        <p14:creationId xmlns:p14="http://schemas.microsoft.com/office/powerpoint/2010/main" val="866112520"/>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F0F73A2-18A2-44E3-B564-E259CA68488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Comparación de la maqueta y el archivo</a:t>
            </a:r>
          </a:p>
        </p:txBody>
      </p:sp>
      <p:pic>
        <p:nvPicPr>
          <p:cNvPr id="2" name="">
            <a:extLst xmlns:a="http://schemas.openxmlformats.org/drawingml/2006/main">
              <a:ext uri="{FF2B5EF4-FFF2-40B4-BE49-F238E27FC236}">
                <a16:creationId xmlns:a16="http://schemas.microsoft.com/office/drawing/2014/main" id="{1ABF8052-B378-43C3-9BAB-37A88AEFE258}"/>
              </a:ext>
            </a:extLst>
          </p:cNvPr>
          <p:cNvPicPr>
            <a:picLocks xmlns:a="http://schemas.openxmlformats.org/drawingml/2006/main" noChangeAspect="1"/>
          </p:cNvPicPr>
          <p:nvPr/>
        </p:nvPicPr>
        <p:blipFill>
          <a:blip xmlns:r="http://schemas.openxmlformats.org/officeDocument/2006/relationships" xmlns:a="http://schemas.openxmlformats.org/drawingml/2006/main" r:embed="Rdb6856e50a494fd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E9A05D8-4858-4CF8-ABE8-575F56756F5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16/24</a:t>
            </a:r>
          </a:p>
        </p:txBody>
      </p:sp>
      <p:sp>
        <p:nvSpPr>
          <p:cNvPr id="4" name="">
            <a:extLst xmlns:a="http://schemas.openxmlformats.org/drawingml/2006/main">
              <a:ext uri="{FF2B5EF4-FFF2-40B4-BE49-F238E27FC236}">
                <a16:creationId xmlns:a16="http://schemas.microsoft.com/office/drawing/2014/main" id="{DB9996E5-56F4-4C39-8053-77F38265EEE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Describe qué incluye la maqueta inerte y qué representa cada elemento.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Busca su equilibrio con el método de banco mostrado por el docente y marca una referencia temporal.</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Mide la posición desde el mismo origen utilizado en el plano.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Compara con la representación digital y busca primero piezas, masas o posiciones omitidas.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Conserva el resultado y una explicación de la discrepancia que hayas identificado.</a:t>
            </a:r>
          </a:p>
        </p:txBody>
      </p:sp>
    </p:spTree>
    <p:extLst>
      <p:ext uri="{BB962C8B-B14F-4D97-AF65-F5344CB8AC3E}">
        <p14:creationId xmlns:p14="http://schemas.microsoft.com/office/powerpoint/2010/main" val="359267084"/>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DB3F12-C4FA-4B41-9FCD-3D93170919C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conclusión con piezas y condiciones</a:t>
            </a:r>
          </a:p>
        </p:txBody>
      </p:sp>
      <p:pic>
        <p:nvPicPr>
          <p:cNvPr id="2" name="">
            <a:extLst xmlns:a="http://schemas.openxmlformats.org/drawingml/2006/main">
              <a:ext uri="{FF2B5EF4-FFF2-40B4-BE49-F238E27FC236}">
                <a16:creationId xmlns:a16="http://schemas.microsoft.com/office/drawing/2014/main" id="{D3AFECC6-9626-468E-8323-D87F0EC77FB2}"/>
              </a:ext>
            </a:extLst>
          </p:cNvPr>
          <p:cNvPicPr>
            <a:picLocks xmlns:a="http://schemas.openxmlformats.org/drawingml/2006/main" noChangeAspect="1"/>
          </p:cNvPicPr>
          <p:nvPr/>
        </p:nvPicPr>
        <p:blipFill>
          <a:blip xmlns:r="http://schemas.openxmlformats.org/officeDocument/2006/relationships" xmlns:a="http://schemas.openxmlformats.org/drawingml/2006/main" r:embed="Re17642a4244844b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626F40C-44B2-405A-B91A-E72ACA86E7E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17/24</a:t>
            </a:r>
          </a:p>
        </p:txBody>
      </p:sp>
      <p:sp>
        <p:nvSpPr>
          <p:cNvPr id="4" name="">
            <a:extLst xmlns:a="http://schemas.openxmlformats.org/drawingml/2006/main">
              <a:ext uri="{FF2B5EF4-FFF2-40B4-BE49-F238E27FC236}">
                <a16:creationId xmlns:a16="http://schemas.microsoft.com/office/drawing/2014/main" id="{79CFA416-ECD3-4CD0-A770-38F0002E57D4}"/>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modelo más completo puede dar una conclusión distinta a la primera geometría de la clase 1. Eso es esperable: al principio faltaban soporte, recuperación y masas reales. La mejora consiste en representar el proyecto con mayor fidelidad, no en proteger el primer número que apareció en pantalla.</a:t>
            </a:r>
          </a:p>
        </p:txBody>
      </p:sp>
    </p:spTree>
    <p:extLst>
      <p:ext uri="{BB962C8B-B14F-4D97-AF65-F5344CB8AC3E}">
        <p14:creationId xmlns:p14="http://schemas.microsoft.com/office/powerpoint/2010/main" val="761025302"/>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3D5275D-E023-4624-9B3D-2EC996483FE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Formas de explicar lo aprendido</a:t>
            </a:r>
          </a:p>
        </p:txBody>
      </p:sp>
      <p:pic>
        <p:nvPicPr>
          <p:cNvPr id="2" name="">
            <a:extLst xmlns:a="http://schemas.openxmlformats.org/drawingml/2006/main">
              <a:ext uri="{FF2B5EF4-FFF2-40B4-BE49-F238E27FC236}">
                <a16:creationId xmlns:a16="http://schemas.microsoft.com/office/drawing/2014/main" id="{CBB9F1FC-2DF1-4323-8CD4-1725209A9549}"/>
              </a:ext>
            </a:extLst>
          </p:cNvPr>
          <p:cNvPicPr>
            <a:picLocks xmlns:a="http://schemas.openxmlformats.org/drawingml/2006/main" noChangeAspect="1"/>
          </p:cNvPicPr>
          <p:nvPr/>
        </p:nvPicPr>
        <p:blipFill>
          <a:blip xmlns:r="http://schemas.openxmlformats.org/officeDocument/2006/relationships" xmlns:a="http://schemas.openxmlformats.org/drawingml/2006/main" r:embed="R91829e1a843e429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28DA18E-3404-47FE-9646-2985C077EBE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18/24</a:t>
            </a:r>
          </a:p>
        </p:txBody>
      </p:sp>
      <p:graphicFrame>
        <p:nvGraphicFramePr>
          <p:cNvPr id="4" name="">
            <a:extLst xmlns:a="http://schemas.openxmlformats.org/drawingml/2006/main">
              <a:ext uri="{FF2B5EF4-FFF2-40B4-BE49-F238E27FC236}">
                <a16:creationId xmlns:a16="http://schemas.microsoft.com/office/drawing/2014/main" id="{7C3310F4-864A-4681-8A96-E6888E796F31}"/>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897731">
                <a:tc>
                  <a:txBody>
                    <a:bodyPr/>
                    <a:lstStyle/>
                    <a:p>
                      <a:r>
                        <a:rPr sz="2025" b="1">
                          <a:solidFill>
                            <a:srgbClr val="FFFFFF"/>
                          </a:solidFill>
                          <a:latin typeface="Arial"/>
                          <a:ea typeface="Arial"/>
                          <a:cs typeface="Arial"/>
                        </a:rPr>
                        <a:t>Frase incompleta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Explicación más útil</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“La marca se movió”</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Cambió la masa de la nariz y se desplazó el CG</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“El programa dice estable”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Se revisó esta configuración con estas entradas</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“El CP se pesó”</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Se observó equilibrio para CG; CP procede del modelo</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80520569"/>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BDA13A-8E1E-44ED-8C53-CAC4BE3D5691}"/>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Qué hacer ante una coincidencia</a:t>
            </a:r>
          </a:p>
        </p:txBody>
      </p:sp>
      <p:pic>
        <p:nvPicPr>
          <p:cNvPr id="2" name="">
            <a:extLst xmlns:a="http://schemas.openxmlformats.org/drawingml/2006/main">
              <a:ext uri="{FF2B5EF4-FFF2-40B4-BE49-F238E27FC236}">
                <a16:creationId xmlns:a16="http://schemas.microsoft.com/office/drawing/2014/main" id="{78EADB09-5FCB-4A5F-B9E1-6BFF57376D0D}"/>
              </a:ext>
            </a:extLst>
          </p:cNvPr>
          <p:cNvPicPr>
            <a:picLocks xmlns:a="http://schemas.openxmlformats.org/drawingml/2006/main" noChangeAspect="1"/>
          </p:cNvPicPr>
          <p:nvPr/>
        </p:nvPicPr>
        <p:blipFill>
          <a:blip xmlns:r="http://schemas.openxmlformats.org/officeDocument/2006/relationships" xmlns:a="http://schemas.openxmlformats.org/drawingml/2006/main" r:embed="R50946efdd0f1493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FDA5800-BBA3-4136-89F2-0C8FCF8207F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19/24</a:t>
            </a:r>
          </a:p>
        </p:txBody>
      </p:sp>
      <p:sp>
        <p:nvSpPr>
          <p:cNvPr id="4" name="">
            <a:extLst xmlns:a="http://schemas.openxmlformats.org/drawingml/2006/main">
              <a:ext uri="{FF2B5EF4-FFF2-40B4-BE49-F238E27FC236}">
                <a16:creationId xmlns:a16="http://schemas.microsoft.com/office/drawing/2014/main" id="{55027955-BAAC-44DC-81F4-CE8134776553}"/>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equilibrio de la maqueta y el CG del archivo coinciden aproximadamente.</a:t>
            </a:r>
          </a:p>
        </p:txBody>
      </p:sp>
      <p:sp>
        <p:nvSpPr>
          <p:cNvPr id="5" name="">
            <a:extLst xmlns:a="http://schemas.openxmlformats.org/drawingml/2006/main">
              <a:ext uri="{FF2B5EF4-FFF2-40B4-BE49-F238E27FC236}">
                <a16:creationId xmlns:a16="http://schemas.microsoft.com/office/drawing/2014/main" id="{8CF2BDBD-C358-43AC-ADA3-C7F41005887E}"/>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evidencia aporta la coincidencia del CG?</a:t>
            </a:r>
          </a:p>
        </p:txBody>
      </p:sp>
    </p:spTree>
    <p:extLst>
      <p:ext uri="{BB962C8B-B14F-4D97-AF65-F5344CB8AC3E}">
        <p14:creationId xmlns:p14="http://schemas.microsoft.com/office/powerpoint/2010/main" val="1593459182"/>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84F366-D696-4BD5-8133-73DDC51E904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4DA2C9D2-C7C1-48F5-814C-AE383F0BC762}"/>
              </a:ext>
            </a:extLst>
          </p:cNvPr>
          <p:cNvPicPr>
            <a:picLocks xmlns:a="http://schemas.openxmlformats.org/drawingml/2006/main" noChangeAspect="1"/>
          </p:cNvPicPr>
          <p:nvPr/>
        </p:nvPicPr>
        <p:blipFill>
          <a:blip xmlns:r="http://schemas.openxmlformats.org/officeDocument/2006/relationships" xmlns:a="http://schemas.openxmlformats.org/drawingml/2006/main" r:embed="Rade4c93b26764d8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0BA7F52-8C87-43F0-97EF-C094F1AC644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20/24</a:t>
            </a:r>
          </a:p>
        </p:txBody>
      </p:sp>
      <p:sp>
        <p:nvSpPr>
          <p:cNvPr id="4" name="">
            <a:extLst xmlns:a="http://schemas.openxmlformats.org/drawingml/2006/main">
              <a:ext uri="{FF2B5EF4-FFF2-40B4-BE49-F238E27FC236}">
                <a16:creationId xmlns:a16="http://schemas.microsoft.com/office/drawing/2014/main" id="{BF5249EF-D98A-4DC1-9074-BFADC07938AF}"/>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Equilibrar la maqueta inerte según la demostración.</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Actualizar las masas del archivo sin duplicaciones.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Interpretar CG, CP y calibre con un ejemplo sencillo.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Comparar una modificación identificada y justificar el resultado.</a:t>
            </a:r>
          </a:p>
        </p:txBody>
      </p:sp>
    </p:spTree>
    <p:extLst>
      <p:ext uri="{BB962C8B-B14F-4D97-AF65-F5344CB8AC3E}">
        <p14:creationId xmlns:p14="http://schemas.microsoft.com/office/powerpoint/2010/main" val="1806366050"/>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EF5763-CC78-4396-9F22-B59B8777FC4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B335F79F-B4EF-4FC3-9755-BB1399275975}"/>
              </a:ext>
            </a:extLst>
          </p:cNvPr>
          <p:cNvPicPr>
            <a:picLocks xmlns:a="http://schemas.openxmlformats.org/drawingml/2006/main" noChangeAspect="1"/>
          </p:cNvPicPr>
          <p:nvPr/>
        </p:nvPicPr>
        <p:blipFill>
          <a:blip xmlns:r="http://schemas.openxmlformats.org/officeDocument/2006/relationships" xmlns:a="http://schemas.openxmlformats.org/drawingml/2006/main" r:embed="R9af707865d9a483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317D3B-304A-495C-8C93-FB6768E7201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21/24</a:t>
            </a:r>
          </a:p>
        </p:txBody>
      </p:sp>
      <p:sp>
        <p:nvSpPr>
          <p:cNvPr id="4" name="">
            <a:extLst xmlns:a="http://schemas.openxmlformats.org/drawingml/2006/main">
              <a:ext uri="{FF2B5EF4-FFF2-40B4-BE49-F238E27FC236}">
                <a16:creationId xmlns:a16="http://schemas.microsoft.com/office/drawing/2014/main" id="{0236BE19-84D0-4172-AAC7-59DDA3505060}"/>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Preparar un vehículo que el docente pueda revisar como conjunto.</a:t>
            </a:r>
          </a:p>
        </p:txBody>
      </p:sp>
      <p:sp>
        <p:nvSpPr>
          <p:cNvPr id="5" name="">
            <a:extLst xmlns:a="http://schemas.openxmlformats.org/drawingml/2006/main">
              <a:ext uri="{FF2B5EF4-FFF2-40B4-BE49-F238E27FC236}">
                <a16:creationId xmlns:a16="http://schemas.microsoft.com/office/drawing/2014/main" id="{00CAC99E-C4E0-4BF5-B704-A8D9A56B505F}"/>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¿Qué evidencia aporta la coincidencia del CG?</a:t>
            </a:r>
          </a:p>
        </p:txBody>
      </p:sp>
      <p:sp>
        <p:nvSpPr>
          <p:cNvPr id="6" name="">
            <a:extLst xmlns:a="http://schemas.openxmlformats.org/drawingml/2006/main">
              <a:ext uri="{FF2B5EF4-FFF2-40B4-BE49-F238E27FC236}">
                <a16:creationId xmlns:a16="http://schemas.microsoft.com/office/drawing/2014/main" id="{AA45E26F-26A1-43F9-B400-08FBE88E9DB6}"/>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1310884086"/>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36ADC3-09E7-4AE0-9BDD-C91BC52F2B6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D3B9898C-B404-4C1C-A5AC-4217AF2A0FC3}"/>
              </a:ext>
            </a:extLst>
          </p:cNvPr>
          <p:cNvPicPr>
            <a:picLocks xmlns:a="http://schemas.openxmlformats.org/drawingml/2006/main" noChangeAspect="1"/>
          </p:cNvPicPr>
          <p:nvPr/>
        </p:nvPicPr>
        <p:blipFill>
          <a:blip xmlns:r="http://schemas.openxmlformats.org/officeDocument/2006/relationships" xmlns:a="http://schemas.openxmlformats.org/drawingml/2006/main" r:embed="R7774d2f331b9458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239A6C1-DD19-412B-AA1D-A240FE04D04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22/24</a:t>
            </a:r>
          </a:p>
        </p:txBody>
      </p:sp>
      <p:sp>
        <p:nvSpPr>
          <p:cNvPr id="4" name="">
            <a:extLst xmlns:a="http://schemas.openxmlformats.org/drawingml/2006/main">
              <a:ext uri="{FF2B5EF4-FFF2-40B4-BE49-F238E27FC236}">
                <a16:creationId xmlns:a16="http://schemas.microsoft.com/office/drawing/2014/main" id="{96F0599E-D165-4802-AE30-7AAEC027BEB0}"/>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¿El CP se encuentra con la balanza?</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¿1,25 calibres autoriza automáticamente un vuelo?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revisas primero si el CG no coincide?</a:t>
            </a:r>
          </a:p>
        </p:txBody>
      </p:sp>
    </p:spTree>
    <p:extLst>
      <p:ext uri="{BB962C8B-B14F-4D97-AF65-F5344CB8AC3E}">
        <p14:creationId xmlns:p14="http://schemas.microsoft.com/office/powerpoint/2010/main" val="1602868723"/>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49BD35-F4FD-45AC-9984-3B9440A181F4}"/>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0522402D-DEF2-4702-96BB-EB2142CA55FC}"/>
              </a:ext>
            </a:extLst>
          </p:cNvPr>
          <p:cNvPicPr>
            <a:picLocks xmlns:a="http://schemas.openxmlformats.org/drawingml/2006/main" noChangeAspect="1"/>
          </p:cNvPicPr>
          <p:nvPr/>
        </p:nvPicPr>
        <p:blipFill>
          <a:blip xmlns:r="http://schemas.openxmlformats.org/officeDocument/2006/relationships" xmlns:a="http://schemas.openxmlformats.org/drawingml/2006/main" r:embed="Rb9b18ab2dc2a4f3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DB1B65A-F6E1-43D3-8273-2EFF062A384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07   23/24</a:t>
            </a:r>
          </a:p>
        </p:txBody>
      </p:sp>
      <p:sp>
        <p:nvSpPr>
          <p:cNvPr id="4" name="">
            <a:extLst xmlns:a="http://schemas.openxmlformats.org/drawingml/2006/main">
              <a:ext uri="{FF2B5EF4-FFF2-40B4-BE49-F238E27FC236}">
                <a16:creationId xmlns:a16="http://schemas.microsoft.com/office/drawing/2014/main" id="{F1AFE428-6A3B-4BEC-B250-D13B0846F174}"/>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La balanza ayuda a conocer masa; CP procede del modelo aerodinámico.</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No. Hay que revisar configuración y condiciones.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Piezas, masas, posiciones y qué incluye el conjunto físico.</a:t>
            </a:r>
          </a:p>
        </p:txBody>
      </p:sp>
    </p:spTree>
    <p:extLst>
      <p:ext uri="{BB962C8B-B14F-4D97-AF65-F5344CB8AC3E}">
        <p14:creationId xmlns:p14="http://schemas.microsoft.com/office/powerpoint/2010/main" val="69421867"/>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3E00FC8-1035-42C9-A496-E954F934EA2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EA97DFC8-D977-4E37-937D-BBC8180AD78F}"/>
              </a:ext>
            </a:extLst>
          </p:cNvPr>
          <p:cNvPicPr>
            <a:picLocks xmlns:a="http://schemas.openxmlformats.org/drawingml/2006/main" noChangeAspect="1"/>
          </p:cNvPicPr>
          <p:nvPr/>
        </p:nvPicPr>
        <p:blipFill>
          <a:blip xmlns:r="http://schemas.openxmlformats.org/officeDocument/2006/relationships" xmlns:a="http://schemas.openxmlformats.org/drawingml/2006/main" r:embed="R6f91e2d6a8114aa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D2C9463-8B7E-4B6F-B403-B446B6501E7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07   24/24</a:t>
            </a:r>
          </a:p>
        </p:txBody>
      </p:sp>
      <p:sp>
        <p:nvSpPr>
          <p:cNvPr id="4" name="">
            <a:extLst xmlns:a="http://schemas.openxmlformats.org/drawingml/2006/main">
              <a:ext uri="{FF2B5EF4-FFF2-40B4-BE49-F238E27FC236}">
                <a16:creationId xmlns:a16="http://schemas.microsoft.com/office/drawing/2014/main" id="{052800F8-D852-4424-B668-C474D63A026E}"/>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Archivo con masas, referencia de equilibrio y comparación explicada.</a:t>
            </a:r>
          </a:p>
        </p:txBody>
      </p:sp>
      <p:sp>
        <p:nvSpPr>
          <p:cNvPr id="5" name="">
            <a:extLst xmlns:a="http://schemas.openxmlformats.org/drawingml/2006/main">
              <a:ext uri="{FF2B5EF4-FFF2-40B4-BE49-F238E27FC236}">
                <a16:creationId xmlns:a16="http://schemas.microsoft.com/office/drawing/2014/main" id="{FB0BED76-2308-437A-B9CC-02DB2E09A6EE}"/>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706133219"/>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972DDB-763B-4109-9722-63BA4FC1A05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Motor comercial, tobera, presión y empuje</a:t>
            </a:r>
          </a:p>
        </p:txBody>
      </p:sp>
      <p:pic>
        <p:nvPicPr>
          <p:cNvPr id="2" name="">
            <a:extLst xmlns:a="http://schemas.openxmlformats.org/drawingml/2006/main">
              <a:ext uri="{FF2B5EF4-FFF2-40B4-BE49-F238E27FC236}">
                <a16:creationId xmlns:a16="http://schemas.microsoft.com/office/drawing/2014/main" id="{EE5E595C-4F69-46DB-9902-925A4E47EC2C}"/>
              </a:ext>
            </a:extLst>
          </p:cNvPr>
          <p:cNvPicPr>
            <a:picLocks xmlns:a="http://schemas.openxmlformats.org/drawingml/2006/main" noChangeAspect="1"/>
          </p:cNvPicPr>
          <p:nvPr/>
        </p:nvPicPr>
        <p:blipFill>
          <a:blip xmlns:r="http://schemas.openxmlformats.org/officeDocument/2006/relationships" xmlns:a="http://schemas.openxmlformats.org/drawingml/2006/main" r:embed="R9dcef355b4a846c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012E29E-D16D-48A4-B897-83ADFF35272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01/24</a:t>
            </a:r>
          </a:p>
        </p:txBody>
      </p:sp>
      <p:sp>
        <p:nvSpPr>
          <p:cNvPr id="4" name="">
            <a:extLst xmlns:a="http://schemas.openxmlformats.org/drawingml/2006/main">
              <a:ext uri="{FF2B5EF4-FFF2-40B4-BE49-F238E27FC236}">
                <a16:creationId xmlns:a16="http://schemas.microsoft.com/office/drawing/2014/main" id="{B1D8CF33-057D-4A54-96DD-7ED6E69BEAF0}"/>
              </a:ext>
            </a:extLst>
          </p:cNvPr>
          <p:cNvSpPr>
            <a:spLocks xmlns:a="http://schemas.openxmlformats.org/drawingml/2006/main" noGrp="1"/>
          </p:cNvSpPr>
          <p:nvPr/>
        </p:nvSpPr>
        <p:spPr>
          <a:xfrm xmlns:a="http://schemas.openxmlformats.org/drawingml/2006/main">
            <a:off x="590550" y="17621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Leer un motor comercial y distinguir presión, empuje e impulso usando imágenes y salidas de referencia.</a:t>
            </a:r>
          </a:p>
        </p:txBody>
      </p:sp>
      <p:sp>
        <p:nvSpPr>
          <p:cNvPr id="5" name="">
            <a:extLst xmlns:a="http://schemas.openxmlformats.org/drawingml/2006/main">
              <a:ext uri="{FF2B5EF4-FFF2-40B4-BE49-F238E27FC236}">
                <a16:creationId xmlns:a16="http://schemas.microsoft.com/office/drawing/2014/main" id="{FBF2036C-6276-48C5-9213-88957180735B}"/>
              </a:ext>
            </a:extLst>
          </p:cNvPr>
          <p:cNvSpPr>
            <a:spLocks xmlns:a="http://schemas.openxmlformats.org/drawingml/2006/main" noGrp="1"/>
          </p:cNvSpPr>
          <p:nvPr/>
        </p:nvSpPr>
        <p:spPr>
          <a:xfrm xmlns:a="http://schemas.openxmlformats.org/drawingml/2006/main">
            <a:off x="590550" y="3705225"/>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Comprender la propulsión del proyecto sin fabricar ni modificar el motor.</a:t>
            </a:r>
          </a:p>
        </p:txBody>
      </p:sp>
      <p:sp>
        <p:nvSpPr>
          <p:cNvPr id="6" name="">
            <a:extLst xmlns:a="http://schemas.openxmlformats.org/drawingml/2006/main">
              <a:ext uri="{FF2B5EF4-FFF2-40B4-BE49-F238E27FC236}">
                <a16:creationId xmlns:a16="http://schemas.microsoft.com/office/drawing/2014/main" id="{4E9E4827-5431-4AA3-8E22-B7B33EBC60D1}"/>
              </a:ext>
            </a:extLst>
          </p:cNvPr>
          <p:cNvSpPr>
            <a:spLocks xmlns:a="http://schemas.openxmlformats.org/drawingml/2006/main" noGrp="1"/>
          </p:cNvSpPr>
          <p:nvPr/>
        </p:nvSpPr>
        <p:spPr>
          <a:xfrm xmlns:a="http://schemas.openxmlformats.org/drawingml/2006/main">
            <a:off x="590550" y="5648325"/>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8C8C1"/>
                </a:solidFill>
                <a:latin typeface="Consolas"/>
                <a:ea typeface="Consolas"/>
                <a:cs typeface="Consolas"/>
              </a:defRPr>
            </a:defPPr>
            <a:lvl1pPr>
              <a:defRPr sz="1800" b="0">
                <a:solidFill>
                  <a:srgbClr val="B8C8C1"/>
                </a:solidFill>
                <a:latin typeface="Consolas"/>
                <a:ea typeface="Consolas"/>
                <a:cs typeface="Consolas"/>
              </a:defRPr>
            </a:lvl1pPr>
            <a:lvl2pPr>
              <a:defRPr sz="1800" b="0">
                <a:solidFill>
                  <a:srgbClr val="B8C8C1"/>
                </a:solidFill>
                <a:latin typeface="Consolas"/>
                <a:ea typeface="Consolas"/>
                <a:cs typeface="Consolas"/>
              </a:defRPr>
            </a:lvl2pPr>
            <a:lvl3pPr>
              <a:defRPr sz="1800" b="0">
                <a:solidFill>
                  <a:srgbClr val="B8C8C1"/>
                </a:solidFill>
                <a:latin typeface="Consolas"/>
                <a:ea typeface="Consolas"/>
                <a:cs typeface="Consolas"/>
              </a:defRPr>
            </a:lvl3pPr>
            <a:lvl4pPr>
              <a:defRPr sz="1800" b="0">
                <a:solidFill>
                  <a:srgbClr val="B8C8C1"/>
                </a:solidFill>
                <a:latin typeface="Consolas"/>
                <a:ea typeface="Consolas"/>
                <a:cs typeface="Consolas"/>
              </a:defRPr>
            </a:lvl4pPr>
            <a:lvl5pPr>
              <a:defRPr sz="1800" b="0">
                <a:solidFill>
                  <a:srgbClr val="B8C8C1"/>
                </a:solidFill>
                <a:latin typeface="Consolas"/>
                <a:ea typeface="Consolas"/>
                <a:cs typeface="Consolas"/>
              </a:defRPr>
            </a:lvl5pPr>
            <a:lvl6pPr>
              <a:defRPr sz="1800" b="0">
                <a:solidFill>
                  <a:srgbClr val="B8C8C1"/>
                </a:solidFill>
                <a:latin typeface="Consolas"/>
                <a:ea typeface="Consolas"/>
                <a:cs typeface="Consolas"/>
              </a:defRPr>
            </a:lvl6pPr>
            <a:lvl7pPr>
              <a:defRPr sz="1800" b="0">
                <a:solidFill>
                  <a:srgbClr val="B8C8C1"/>
                </a:solidFill>
                <a:latin typeface="Consolas"/>
                <a:ea typeface="Consolas"/>
                <a:cs typeface="Consolas"/>
              </a:defRPr>
            </a:lvl7pPr>
            <a:lvl8pPr>
              <a:defRPr sz="1800" b="0">
                <a:solidFill>
                  <a:srgbClr val="B8C8C1"/>
                </a:solidFill>
                <a:latin typeface="Consolas"/>
                <a:ea typeface="Consolas"/>
                <a:cs typeface="Consolas"/>
              </a:defRPr>
            </a:lvl8pPr>
            <a:lvl9pPr>
              <a:defRPr sz="1800" b="0">
                <a:solidFill>
                  <a:srgbClr val="B8C8C1"/>
                </a:solidFill>
                <a:latin typeface="Consolas"/>
                <a:ea typeface="Consolas"/>
                <a:cs typeface="Consolas"/>
              </a:defRPr>
            </a:lvl9pPr>
          </a:lstStyle>
          <a:p xmlns:a="http://schemas.openxmlformats.org/drawingml/2006/main">
            <a:pPr>
              <a:defRPr sz="1800" b="0">
                <a:solidFill>
                  <a:srgbClr val="B8C8C1"/>
                </a:solidFill>
                <a:latin typeface="Consolas"/>
                <a:ea typeface="Consolas"/>
                <a:cs typeface="Consolas"/>
              </a:defRPr>
            </a:pPr>
            <a:r>
              <a:rPr sz="1800" b="0">
                <a:solidFill>
                  <a:srgbClr val="B8C8C1"/>
                </a:solidFill>
                <a:latin typeface="Consolas"/>
                <a:ea typeface="Consolas"/>
                <a:cs typeface="Consolas"/>
              </a:rPr>
              <a:t>EN LÍNEA   2 HORAS</a:t>
            </a:r>
          </a:p>
        </p:txBody>
      </p:sp>
    </p:spTree>
    <p:extLst>
      <p:ext uri="{BB962C8B-B14F-4D97-AF65-F5344CB8AC3E}">
        <p14:creationId xmlns:p14="http://schemas.microsoft.com/office/powerpoint/2010/main" val="242382912"/>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CDB81A-F3C5-40F2-B695-2FFBA8520CA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motor forma parte de un conjunto elegido</a:t>
            </a:r>
          </a:p>
        </p:txBody>
      </p:sp>
      <p:pic>
        <p:nvPicPr>
          <p:cNvPr id="2" name="">
            <a:extLst xmlns:a="http://schemas.openxmlformats.org/drawingml/2006/main">
              <a:ext uri="{FF2B5EF4-FFF2-40B4-BE49-F238E27FC236}">
                <a16:creationId xmlns:a16="http://schemas.microsoft.com/office/drawing/2014/main" id="{6AB044BE-027E-450C-9237-01256DC880CE}"/>
              </a:ext>
            </a:extLst>
          </p:cNvPr>
          <p:cNvPicPr>
            <a:picLocks xmlns:a="http://schemas.openxmlformats.org/drawingml/2006/main" noChangeAspect="1"/>
          </p:cNvPicPr>
          <p:nvPr/>
        </p:nvPicPr>
        <p:blipFill>
          <a:blip xmlns:r="http://schemas.openxmlformats.org/officeDocument/2006/relationships" xmlns:a="http://schemas.openxmlformats.org/drawingml/2006/main" r:embed="R05211069d97b412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610C842-BFEE-4A6A-815E-7EB30CAE554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02/24</a:t>
            </a:r>
          </a:p>
        </p:txBody>
      </p:sp>
      <p:sp>
        <p:nvSpPr>
          <p:cNvPr id="4" name="">
            <a:extLst xmlns:a="http://schemas.openxmlformats.org/drawingml/2006/main">
              <a:ext uri="{FF2B5EF4-FFF2-40B4-BE49-F238E27FC236}">
                <a16:creationId xmlns:a16="http://schemas.microsoft.com/office/drawing/2014/main" id="{7A155C4A-424D-4C90-86A8-8192EEBFA2A8}"/>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motor comercial es un componente con identificación y documentación propias. La elección del proyecto requiere compatibilidad física, masa de conjunto y sistema de recuperación, además del comportamiento de vuelo esperado. Tener una letra pequeña en la etiqueta no resuelve por sí solo toda esa selección.</a:t>
            </a:r>
          </a:p>
        </p:txBody>
      </p:sp>
    </p:spTree>
    <p:extLst>
      <p:ext uri="{BB962C8B-B14F-4D97-AF65-F5344CB8AC3E}">
        <p14:creationId xmlns:p14="http://schemas.microsoft.com/office/powerpoint/2010/main" val="287771242"/>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2EE5B2-3D88-4AD3-98FE-BAF9B1C44D65}"/>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motor forma parte de un conjunto elegido</a:t>
            </a:r>
          </a:p>
        </p:txBody>
      </p:sp>
      <p:pic>
        <p:nvPicPr>
          <p:cNvPr id="2" name="">
            <a:extLst xmlns:a="http://schemas.openxmlformats.org/drawingml/2006/main">
              <a:ext uri="{FF2B5EF4-FFF2-40B4-BE49-F238E27FC236}">
                <a16:creationId xmlns:a16="http://schemas.microsoft.com/office/drawing/2014/main" id="{D3AF4169-91E1-4BE0-8CF3-93EFE0524DE9}"/>
              </a:ext>
            </a:extLst>
          </p:cNvPr>
          <p:cNvPicPr>
            <a:picLocks xmlns:a="http://schemas.openxmlformats.org/drawingml/2006/main" noChangeAspect="1"/>
          </p:cNvPicPr>
          <p:nvPr/>
        </p:nvPicPr>
        <p:blipFill>
          <a:blip xmlns:r="http://schemas.openxmlformats.org/officeDocument/2006/relationships" xmlns:a="http://schemas.openxmlformats.org/drawingml/2006/main" r:embed="Rb7e80102f240478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B470280-9490-4F15-A64C-CF4B923C8EC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03/24</a:t>
            </a:r>
          </a:p>
        </p:txBody>
      </p:sp>
      <p:pic>
        <p:nvPicPr>
          <p:cNvPr id="4" name="">
            <a:extLst xmlns:a="http://schemas.openxmlformats.org/drawingml/2006/main">
              <a:ext uri="{FF2B5EF4-FFF2-40B4-BE49-F238E27FC236}">
                <a16:creationId xmlns:a16="http://schemas.microsoft.com/office/drawing/2014/main" id="{6A806663-6CCD-4997-BF8A-DAC888A7B633}"/>
              </a:ext>
            </a:extLst>
          </p:cNvPr>
          <p:cNvPicPr>
            <a:picLocks xmlns:a="http://schemas.openxmlformats.org/drawingml/2006/main" noChangeAspect="1"/>
          </p:cNvPicPr>
          <p:nvPr/>
        </p:nvPicPr>
        <p:blipFill>
          <a:blip xmlns:r="http://schemas.openxmlformats.org/officeDocument/2006/relationships" xmlns:a="http://schemas.openxmlformats.org/drawingml/2006/main" r:embed="Rc472c2ecc5ca4707"/>
          <a:stretch xmlns:a="http://schemas.openxmlformats.org/drawingml/2006/main"/>
        </p:blipFill>
        <p:spPr>
          <a:xfrm xmlns:a="http://schemas.openxmlformats.org/drawingml/2006/main">
            <a:off x="1675380" y="1657350"/>
            <a:ext cx="5240789"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9D66A7F-58A0-47AE-92F2-FE28F3E3D358}"/>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¿Qué datos diferentes contiene C6-3?</a:t>
            </a:r>
          </a:p>
        </p:txBody>
      </p:sp>
      <p:sp>
        <p:nvSpPr>
          <p:cNvPr id="6" name="">
            <a:extLst xmlns:a="http://schemas.openxmlformats.org/drawingml/2006/main">
              <a:ext uri="{FF2B5EF4-FFF2-40B4-BE49-F238E27FC236}">
                <a16:creationId xmlns:a16="http://schemas.microsoft.com/office/drawing/2014/main" id="{F979A6F8-77A6-4446-BA2D-E549685441B8}"/>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Selección de motor del ejemplo de OpenRocket. La captura del manual no constituye una recomendación de motor para el proyecto.</a:t>
            </a:r>
          </a:p>
        </p:txBody>
      </p:sp>
    </p:spTree>
    <p:extLst>
      <p:ext uri="{BB962C8B-B14F-4D97-AF65-F5344CB8AC3E}">
        <p14:creationId xmlns:p14="http://schemas.microsoft.com/office/powerpoint/2010/main" val="1417222549"/>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AD6B01-1E92-464F-A649-02023F1D174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motor forma parte de un conjunto elegido</a:t>
            </a:r>
          </a:p>
        </p:txBody>
      </p:sp>
      <p:pic>
        <p:nvPicPr>
          <p:cNvPr id="2" name="">
            <a:extLst xmlns:a="http://schemas.openxmlformats.org/drawingml/2006/main">
              <a:ext uri="{FF2B5EF4-FFF2-40B4-BE49-F238E27FC236}">
                <a16:creationId xmlns:a16="http://schemas.microsoft.com/office/drawing/2014/main" id="{4C677E60-7BC3-4D92-AECA-CC6F599D2E57}"/>
              </a:ext>
            </a:extLst>
          </p:cNvPr>
          <p:cNvPicPr>
            <a:picLocks xmlns:a="http://schemas.openxmlformats.org/drawingml/2006/main" noChangeAspect="1"/>
          </p:cNvPicPr>
          <p:nvPr/>
        </p:nvPicPr>
        <p:blipFill>
          <a:blip xmlns:r="http://schemas.openxmlformats.org/officeDocument/2006/relationships" xmlns:a="http://schemas.openxmlformats.org/drawingml/2006/main" r:embed="Rcbcdc7ac8b83462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A384A1-5924-4C3C-A113-CEF958B3F7C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04/24</a:t>
            </a:r>
          </a:p>
        </p:txBody>
      </p:sp>
      <p:sp>
        <p:nvSpPr>
          <p:cNvPr id="4" name="">
            <a:extLst xmlns:a="http://schemas.openxmlformats.org/drawingml/2006/main">
              <a:ext uri="{FF2B5EF4-FFF2-40B4-BE49-F238E27FC236}">
                <a16:creationId xmlns:a16="http://schemas.microsoft.com/office/drawing/2014/main" id="{21ECD270-292C-4208-871A-BB90A1969133}"/>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denominación de un motor comercial reúne información con funciones distintas. La letra corresponde a un intervalo de impulso total. El número siguiente expresa el empuje medio nominal según la nomenclatura utilizada. El último número identifica el retardo nominal en un producto que lo incorpore. Leer la etiqueta abre preguntas que se responden con la ficha específica del fabricante: referencia exacta, datos de funcionamiento y compatibilidad prevista. El código abreviado no reemplaza esa documentación.</a:t>
            </a:r>
          </a:p>
        </p:txBody>
      </p:sp>
    </p:spTree>
    <p:extLst>
      <p:ext uri="{BB962C8B-B14F-4D97-AF65-F5344CB8AC3E}">
        <p14:creationId xmlns:p14="http://schemas.microsoft.com/office/powerpoint/2010/main" val="1366686503"/>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5A9E2CD-A8E5-4DCD-914F-F20F06035CB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hace una tobera, explicado con un dibujo</a:t>
            </a:r>
          </a:p>
        </p:txBody>
      </p:sp>
      <p:pic>
        <p:nvPicPr>
          <p:cNvPr id="2" name="">
            <a:extLst xmlns:a="http://schemas.openxmlformats.org/drawingml/2006/main">
              <a:ext uri="{FF2B5EF4-FFF2-40B4-BE49-F238E27FC236}">
                <a16:creationId xmlns:a16="http://schemas.microsoft.com/office/drawing/2014/main" id="{21118D2F-CE48-4D11-ACCE-2BE7D4DAE194}"/>
              </a:ext>
            </a:extLst>
          </p:cNvPr>
          <p:cNvPicPr>
            <a:picLocks xmlns:a="http://schemas.openxmlformats.org/drawingml/2006/main" noChangeAspect="1"/>
          </p:cNvPicPr>
          <p:nvPr/>
        </p:nvPicPr>
        <p:blipFill>
          <a:blip xmlns:r="http://schemas.openxmlformats.org/officeDocument/2006/relationships" xmlns:a="http://schemas.openxmlformats.org/drawingml/2006/main" r:embed="R98b34ffd1575417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F56500-AFE5-4B6F-AAE6-736CE8541AE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05/24</a:t>
            </a:r>
          </a:p>
        </p:txBody>
      </p:sp>
      <p:sp>
        <p:nvSpPr>
          <p:cNvPr id="4" name="">
            <a:extLst xmlns:a="http://schemas.openxmlformats.org/drawingml/2006/main">
              <a:ext uri="{FF2B5EF4-FFF2-40B4-BE49-F238E27FC236}">
                <a16:creationId xmlns:a16="http://schemas.microsoft.com/office/drawing/2014/main" id="{CC56893C-3CBD-42B8-A8B1-51E4558A6F39}"/>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combustión genera gases calientes dentro del motor. La tobera conduce y acelera su salida. El intercambio de cantidad de movimiento produce empuje sobre el vehículo. La garganta es la sección estrecha del esquema. La forma completa responde a un diseño especializado que aquí se reconoce de manera conceptual.</a:t>
            </a:r>
          </a:p>
        </p:txBody>
      </p:sp>
    </p:spTree>
    <p:extLst>
      <p:ext uri="{BB962C8B-B14F-4D97-AF65-F5344CB8AC3E}">
        <p14:creationId xmlns:p14="http://schemas.microsoft.com/office/powerpoint/2010/main" val="466270781"/>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11581C-7B3E-4BC6-9848-1E416E2CA02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hace una tobera, explicado con un dibujo</a:t>
            </a:r>
          </a:p>
        </p:txBody>
      </p:sp>
      <p:pic>
        <p:nvPicPr>
          <p:cNvPr id="2" name="">
            <a:extLst xmlns:a="http://schemas.openxmlformats.org/drawingml/2006/main">
              <a:ext uri="{FF2B5EF4-FFF2-40B4-BE49-F238E27FC236}">
                <a16:creationId xmlns:a16="http://schemas.microsoft.com/office/drawing/2014/main" id="{87CAC2BA-82BB-4C90-A32D-D2CCE9C556FF}"/>
              </a:ext>
            </a:extLst>
          </p:cNvPr>
          <p:cNvPicPr>
            <a:picLocks xmlns:a="http://schemas.openxmlformats.org/drawingml/2006/main" noChangeAspect="1"/>
          </p:cNvPicPr>
          <p:nvPr/>
        </p:nvPicPr>
        <p:blipFill>
          <a:blip xmlns:r="http://schemas.openxmlformats.org/officeDocument/2006/relationships" xmlns:a="http://schemas.openxmlformats.org/drawingml/2006/main" r:embed="R0e7049e61c814e2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853C5EA-75B5-4381-B8D2-E98FDCDC49D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06/24</a:t>
            </a:r>
          </a:p>
        </p:txBody>
      </p:sp>
      <p:pic>
        <p:nvPicPr>
          <p:cNvPr id="4" name="">
            <a:extLst xmlns:a="http://schemas.openxmlformats.org/drawingml/2006/main">
              <a:ext uri="{FF2B5EF4-FFF2-40B4-BE49-F238E27FC236}">
                <a16:creationId xmlns:a16="http://schemas.microsoft.com/office/drawing/2014/main" id="{02D93F15-7FC4-4BFD-BF7D-EF935C27699F}"/>
              </a:ext>
            </a:extLst>
          </p:cNvPr>
          <p:cNvPicPr>
            <a:picLocks xmlns:a="http://schemas.openxmlformats.org/drawingml/2006/main" noChangeAspect="1"/>
          </p:cNvPicPr>
          <p:nvPr/>
        </p:nvPicPr>
        <p:blipFill>
          <a:blip xmlns:r="http://schemas.openxmlformats.org/officeDocument/2006/relationships" xmlns:a="http://schemas.openxmlformats.org/drawingml/2006/main" r:embed="R7799ccd9d7884757"/>
          <a:stretch xmlns:a="http://schemas.openxmlformats.org/drawingml/2006/main"/>
        </p:blipFill>
        <p:spPr>
          <a:xfrm xmlns:a="http://schemas.openxmlformats.org/drawingml/2006/main">
            <a:off x="1144231" y="1657350"/>
            <a:ext cx="6303087"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C7EDBB8-5EBD-42EF-882B-EF80E95F3574}"/>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¿Presión y empuje tienen la misma unidad?</a:t>
            </a:r>
          </a:p>
        </p:txBody>
      </p:sp>
      <p:sp>
        <p:nvSpPr>
          <p:cNvPr id="6" name="">
            <a:extLst xmlns:a="http://schemas.openxmlformats.org/drawingml/2006/main">
              <a:ext uri="{FF2B5EF4-FFF2-40B4-BE49-F238E27FC236}">
                <a16:creationId xmlns:a16="http://schemas.microsoft.com/office/drawing/2014/main" id="{5AE24ACA-040A-4C4A-A030-015A6BD05C87}"/>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NASA Glenn: cámara, salida de gases y tobera. Se usa para reconocer el proceso físico; no se dimensiona un motor en esta clase.</a:t>
            </a:r>
          </a:p>
        </p:txBody>
      </p:sp>
    </p:spTree>
    <p:extLst>
      <p:ext uri="{BB962C8B-B14F-4D97-AF65-F5344CB8AC3E}">
        <p14:creationId xmlns:p14="http://schemas.microsoft.com/office/powerpoint/2010/main" val="1674522706"/>
      </p:ext>
    </p:extLst>
  </p:cSld>
</p:sld>
</file>

<file path=ppt/slides/slide3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0128B5-31B8-428D-82EA-AFA3FBAB7B5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Palabras que aparecen en la explicación</a:t>
            </a:r>
          </a:p>
        </p:txBody>
      </p:sp>
      <p:pic>
        <p:nvPicPr>
          <p:cNvPr id="2" name="">
            <a:extLst xmlns:a="http://schemas.openxmlformats.org/drawingml/2006/main">
              <a:ext uri="{FF2B5EF4-FFF2-40B4-BE49-F238E27FC236}">
                <a16:creationId xmlns:a16="http://schemas.microsoft.com/office/drawing/2014/main" id="{EEA9AF90-1CAC-4FFC-A06C-AE185DDBAF28}"/>
              </a:ext>
            </a:extLst>
          </p:cNvPr>
          <p:cNvPicPr>
            <a:picLocks xmlns:a="http://schemas.openxmlformats.org/drawingml/2006/main" noChangeAspect="1"/>
          </p:cNvPicPr>
          <p:nvPr/>
        </p:nvPicPr>
        <p:blipFill>
          <a:blip xmlns:r="http://schemas.openxmlformats.org/officeDocument/2006/relationships" xmlns:a="http://schemas.openxmlformats.org/drawingml/2006/main" r:embed="R7738b0d4488e43b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97CEBE7-F80A-4F3F-A100-1C40278BB3D5}"/>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07/24</a:t>
            </a:r>
          </a:p>
        </p:txBody>
      </p:sp>
      <p:graphicFrame>
        <p:nvGraphicFramePr>
          <p:cNvPr id="4" name="">
            <a:extLst xmlns:a="http://schemas.openxmlformats.org/drawingml/2006/main">
              <a:ext uri="{FF2B5EF4-FFF2-40B4-BE49-F238E27FC236}">
                <a16:creationId xmlns:a16="http://schemas.microsoft.com/office/drawing/2014/main" id="{97A3E544-7A2F-47A6-9E45-759C6CA4DD5F}"/>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Término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Idea para reconocer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Cámara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Zona donde se generan los gases</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Tobera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Paso que conduce y acelera la salida</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Presión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Fuerza por área</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Empuje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Fuerza que recibe el vehículo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761493793"/>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29CD73-9929-46E8-A675-B7F6AE8EA50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curva explica algo que la letra no cuenta</a:t>
            </a:r>
          </a:p>
        </p:txBody>
      </p:sp>
      <p:pic>
        <p:nvPicPr>
          <p:cNvPr id="2" name="">
            <a:extLst xmlns:a="http://schemas.openxmlformats.org/drawingml/2006/main">
              <a:ext uri="{FF2B5EF4-FFF2-40B4-BE49-F238E27FC236}">
                <a16:creationId xmlns:a16="http://schemas.microsoft.com/office/drawing/2014/main" id="{809D827D-6722-4343-AD27-CAD96F9E549D}"/>
              </a:ext>
            </a:extLst>
          </p:cNvPr>
          <p:cNvPicPr>
            <a:picLocks xmlns:a="http://schemas.openxmlformats.org/drawingml/2006/main" noChangeAspect="1"/>
          </p:cNvPicPr>
          <p:nvPr/>
        </p:nvPicPr>
        <p:blipFill>
          <a:blip xmlns:r="http://schemas.openxmlformats.org/officeDocument/2006/relationships" xmlns:a="http://schemas.openxmlformats.org/drawingml/2006/main" r:embed="R3db4350afbd043e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3881E62-6B3F-4262-9891-F0C1D05A2E8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08/24</a:t>
            </a:r>
          </a:p>
        </p:txBody>
      </p:sp>
      <p:sp>
        <p:nvSpPr>
          <p:cNvPr id="4" name="">
            <a:extLst xmlns:a="http://schemas.openxmlformats.org/drawingml/2006/main">
              <a:ext uri="{FF2B5EF4-FFF2-40B4-BE49-F238E27FC236}">
                <a16:creationId xmlns:a16="http://schemas.microsoft.com/office/drawing/2014/main" id="{7192692F-3147-48CF-9F83-1A7CD5015E52}"/>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curva de empuje muestra cómo cambia la fuerza con el tiempo. El impulso total es el área bajo esa curva. Dos curvas pueden compartir un intervalo de impulso y repartirlo de forma diferente. Por eso un número de clase no permite imaginar toda la salida del motor ni decidir su compatibilidad con cualquier vehículo.</a:t>
            </a:r>
          </a:p>
        </p:txBody>
      </p:sp>
    </p:spTree>
    <p:extLst>
      <p:ext uri="{BB962C8B-B14F-4D97-AF65-F5344CB8AC3E}">
        <p14:creationId xmlns:p14="http://schemas.microsoft.com/office/powerpoint/2010/main" val="1458996154"/>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FF5F53-7ED2-4837-A6DD-884511B17896}"/>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buscar en la documentación comercial</a:t>
            </a:r>
          </a:p>
        </p:txBody>
      </p:sp>
      <p:pic>
        <p:nvPicPr>
          <p:cNvPr id="2" name="">
            <a:extLst xmlns:a="http://schemas.openxmlformats.org/drawingml/2006/main">
              <a:ext uri="{FF2B5EF4-FFF2-40B4-BE49-F238E27FC236}">
                <a16:creationId xmlns:a16="http://schemas.microsoft.com/office/drawing/2014/main" id="{8D4F9C1A-73FC-4733-BD30-798C071ABCFE}"/>
              </a:ext>
            </a:extLst>
          </p:cNvPr>
          <p:cNvPicPr>
            <a:picLocks xmlns:a="http://schemas.openxmlformats.org/drawingml/2006/main" noChangeAspect="1"/>
          </p:cNvPicPr>
          <p:nvPr/>
        </p:nvPicPr>
        <p:blipFill>
          <a:blip xmlns:r="http://schemas.openxmlformats.org/officeDocument/2006/relationships" xmlns:a="http://schemas.openxmlformats.org/drawingml/2006/main" r:embed="R59e9e6144df741c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A96E2C2-BF07-420E-AE9A-F8C3FF99EA0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09/24</a:t>
            </a:r>
          </a:p>
        </p:txBody>
      </p:sp>
      <p:graphicFrame>
        <p:nvGraphicFramePr>
          <p:cNvPr id="4" name="">
            <a:extLst xmlns:a="http://schemas.openxmlformats.org/drawingml/2006/main">
              <a:ext uri="{FF2B5EF4-FFF2-40B4-BE49-F238E27FC236}">
                <a16:creationId xmlns:a16="http://schemas.microsoft.com/office/drawing/2014/main" id="{5B27BB63-CD07-40DF-AEDB-C8709B2CF58E}"/>
              </a:ext>
            </a:extLst>
          </p:cNvPr>
          <p:cNvGraphicFramePr/>
          <p:nvPr/>
        </p:nvGraphicFramePr>
        <p:xfrm>
          <a:off xmlns:a="http://schemas.openxmlformats.org/drawingml/2006/main" x="590550" y="1752600"/>
          <a:ext xmlns:a="http://schemas.openxmlformats.org/drawingml/2006/main" cx="11010900" cy="3952875"/>
        </p:xfrm>
        <a:graphic xmlns:a="http://schemas.openxmlformats.org/drawingml/2006/main">
          <a:graphicData uri="http://schemas.openxmlformats.org/drawingml/2006/table">
            <a:tbl>
              <a:tblPr/>
              <a:tblGrid>
                <a:gridCol w="5505450"/>
                <a:gridCol w="5505450"/>
              </a:tblGrid>
              <a:tr h="658813">
                <a:tc>
                  <a:txBody>
                    <a:bodyPr/>
                    <a:lstStyle/>
                    <a:p>
                      <a:r>
                        <a:rPr sz="2025" b="1">
                          <a:solidFill>
                            <a:srgbClr val="FFFFFF"/>
                          </a:solidFill>
                          <a:latin typeface="Arial"/>
                          <a:ea typeface="Arial"/>
                          <a:cs typeface="Arial"/>
                        </a:rPr>
                        <a:t>Dato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Por qué interesa en el curso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658813">
                <a:tc>
                  <a:txBody>
                    <a:bodyPr/>
                    <a:lstStyle/>
                    <a:p>
                      <a:r>
                        <a:rPr sz="2025" b="0">
                          <a:solidFill>
                            <a:srgbClr val="14231E"/>
                          </a:solidFill>
                          <a:latin typeface="Arial"/>
                          <a:ea typeface="Arial"/>
                          <a:cs typeface="Arial"/>
                        </a:rPr>
                        <a:t>Identificación completa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Relacionar el objeto con su ficha</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Dimensiones y masa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Comprobar compatibilidad del conjunto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Curva e impulso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Entender la entrega de empuje</a:t>
                      </a:r>
                    </a:p>
                  </a:txBody>
                  <a:tcPr marL="91440" marR="91440" marT="45720" marB="45720">
                    <a:lnR w="9525">
                      <a:solidFill>
                        <a:srgbClr val="BFCEC3"/>
                      </a:solidFill>
                      <a:prstDash val="solid"/>
                    </a:lnR>
                    <a:lnB w="9525">
                      <a:solidFill>
                        <a:srgbClr val="BFCEC3"/>
                      </a:solidFill>
                      <a:prstDash val="solid"/>
                    </a:lnB>
                    <a:solidFill>
                      <a:srgbClr val="EAF3EC"/>
                    </a:solidFill>
                  </a:tcPr>
                </a:tc>
              </a:tr>
              <a:tr h="658813">
                <a:tc>
                  <a:txBody>
                    <a:bodyPr/>
                    <a:lstStyle/>
                    <a:p>
                      <a:r>
                        <a:rPr sz="2025" b="0">
                          <a:solidFill>
                            <a:srgbClr val="14231E"/>
                          </a:solidFill>
                          <a:latin typeface="Arial"/>
                          <a:ea typeface="Arial"/>
                          <a:cs typeface="Arial"/>
                        </a:rPr>
                        <a:t>Recuperación y retardo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Revisar el sistema previsto</a:t>
                      </a:r>
                    </a:p>
                  </a:txBody>
                  <a:tcPr marL="91440" marR="91440" marT="45720" marB="45720">
                    <a:lnR w="9525">
                      <a:solidFill>
                        <a:srgbClr val="BFCEC3"/>
                      </a:solidFill>
                      <a:prstDash val="solid"/>
                    </a:lnR>
                    <a:lnB w="9525">
                      <a:solidFill>
                        <a:srgbClr val="BFCEC3"/>
                      </a:solidFill>
                      <a:prstDash val="solid"/>
                    </a:lnB>
                    <a:solidFill>
                      <a:srgbClr val="FCFCF8"/>
                    </a:solidFill>
                  </a:tcPr>
                </a:tc>
              </a:tr>
              <a:tr h="658813">
                <a:tc>
                  <a:txBody>
                    <a:bodyPr/>
                    <a:lstStyle/>
                    <a:p>
                      <a:r>
                        <a:rPr sz="2025" b="0">
                          <a:solidFill>
                            <a:srgbClr val="14231E"/>
                          </a:solidFill>
                          <a:latin typeface="Arial"/>
                          <a:ea typeface="Arial"/>
                          <a:cs typeface="Arial"/>
                        </a:rPr>
                        <a:t>Instrucciones de uso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Usar el componente según el fabricante</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981339400"/>
      </p:ext>
    </p:extLst>
  </p:cSld>
</p:sld>
</file>

<file path=ppt/slides/slide3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3B3427C-9214-4C9B-A47E-2E9D816773B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Leer tres datos diferentes</a:t>
            </a:r>
          </a:p>
        </p:txBody>
      </p:sp>
      <p:pic>
        <p:nvPicPr>
          <p:cNvPr id="2" name="">
            <a:extLst xmlns:a="http://schemas.openxmlformats.org/drawingml/2006/main">
              <a:ext uri="{FF2B5EF4-FFF2-40B4-BE49-F238E27FC236}">
                <a16:creationId xmlns:a16="http://schemas.microsoft.com/office/drawing/2014/main" id="{AA1B7C4F-9112-41F3-99D0-C4678CC55DCF}"/>
              </a:ext>
            </a:extLst>
          </p:cNvPr>
          <p:cNvPicPr>
            <a:picLocks xmlns:a="http://schemas.openxmlformats.org/drawingml/2006/main" noChangeAspect="1"/>
          </p:cNvPicPr>
          <p:nvPr/>
        </p:nvPicPr>
        <p:blipFill>
          <a:blip xmlns:r="http://schemas.openxmlformats.org/officeDocument/2006/relationships" xmlns:a="http://schemas.openxmlformats.org/drawingml/2006/main" r:embed="Re3f1ec4c44b64e1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072FA28-778F-4F57-B324-FB3B9598AAD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10/24</a:t>
            </a:r>
          </a:p>
        </p:txBody>
      </p:sp>
      <p:sp>
        <p:nvSpPr>
          <p:cNvPr id="4" name="">
            <a:extLst xmlns:a="http://schemas.openxmlformats.org/drawingml/2006/main">
              <a:ext uri="{FF2B5EF4-FFF2-40B4-BE49-F238E27FC236}">
                <a16:creationId xmlns:a16="http://schemas.microsoft.com/office/drawing/2014/main" id="{6E2B4BC6-CB9A-4FFE-A7E6-7C9516B8E021}"/>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En una explicación de etiqueta aparecen clase C, empuje medio nominal 6 N y retardo de 3 s.</a:t>
            </a:r>
          </a:p>
        </p:txBody>
      </p:sp>
      <p:sp>
        <p:nvSpPr>
          <p:cNvPr id="5" name="">
            <a:extLst xmlns:a="http://schemas.openxmlformats.org/drawingml/2006/main">
              <a:ext uri="{FF2B5EF4-FFF2-40B4-BE49-F238E27FC236}">
                <a16:creationId xmlns:a16="http://schemas.microsoft.com/office/drawing/2014/main" id="{8CDC2614-681C-4FC7-B3BF-108449CECFBA}"/>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¿La letra determina una curva única?</a:t>
            </a:r>
          </a:p>
        </p:txBody>
      </p:sp>
    </p:spTree>
    <p:extLst>
      <p:ext uri="{BB962C8B-B14F-4D97-AF65-F5344CB8AC3E}">
        <p14:creationId xmlns:p14="http://schemas.microsoft.com/office/powerpoint/2010/main" val="273506553"/>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03B71B-C3CD-45F0-B249-8F85E4BB4250}"/>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veremos en openMotor</a:t>
            </a:r>
          </a:p>
        </p:txBody>
      </p:sp>
      <p:pic>
        <p:nvPicPr>
          <p:cNvPr id="2" name="">
            <a:extLst xmlns:a="http://schemas.openxmlformats.org/drawingml/2006/main">
              <a:ext uri="{FF2B5EF4-FFF2-40B4-BE49-F238E27FC236}">
                <a16:creationId xmlns:a16="http://schemas.microsoft.com/office/drawing/2014/main" id="{C87082C5-E44C-4691-ABD7-62EBFB99D26A}"/>
              </a:ext>
            </a:extLst>
          </p:cNvPr>
          <p:cNvPicPr>
            <a:picLocks xmlns:a="http://schemas.openxmlformats.org/drawingml/2006/main" noChangeAspect="1"/>
          </p:cNvPicPr>
          <p:nvPr/>
        </p:nvPicPr>
        <p:blipFill>
          <a:blip xmlns:r="http://schemas.openxmlformats.org/officeDocument/2006/relationships" xmlns:a="http://schemas.openxmlformats.org/drawingml/2006/main" r:embed="R70c5c05382cf4c4f"/>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5192EE7-6DF1-4DDD-945F-783693D1178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11/24</a:t>
            </a:r>
          </a:p>
        </p:txBody>
      </p:sp>
      <p:sp>
        <p:nvSpPr>
          <p:cNvPr id="4" name="">
            <a:extLst xmlns:a="http://schemas.openxmlformats.org/drawingml/2006/main">
              <a:ext uri="{FF2B5EF4-FFF2-40B4-BE49-F238E27FC236}">
                <a16:creationId xmlns:a16="http://schemas.microsoft.com/office/drawing/2014/main" id="{40AF193C-35A7-499F-9142-D8C3949F856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openMotor es un simulador de balística interna: estudia el motor, mientras OpenRocket y RockSim representan el vehículo. El programa puede mostrar presión y empuje calculados. Para esta introducción el docente prepara una salida de referencia identificada y se trabaja sobre su significado, sin convertirla en instrucciones de diseño o fabricación de motor.</a:t>
            </a:r>
          </a:p>
        </p:txBody>
      </p:sp>
    </p:spTree>
    <p:extLst>
      <p:ext uri="{BB962C8B-B14F-4D97-AF65-F5344CB8AC3E}">
        <p14:creationId xmlns:p14="http://schemas.microsoft.com/office/powerpoint/2010/main" val="190760258"/>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200139-05A1-44AB-88E7-B1F68F6C42DA}"/>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Cada programa dentro del trabajo</a:t>
            </a:r>
          </a:p>
        </p:txBody>
      </p:sp>
      <p:pic>
        <p:nvPicPr>
          <p:cNvPr id="2" name="">
            <a:extLst xmlns:a="http://schemas.openxmlformats.org/drawingml/2006/main">
              <a:ext uri="{FF2B5EF4-FFF2-40B4-BE49-F238E27FC236}">
                <a16:creationId xmlns:a16="http://schemas.microsoft.com/office/drawing/2014/main" id="{0CCB03B1-455A-4F14-A2A5-AC4BDECD573B}"/>
              </a:ext>
            </a:extLst>
          </p:cNvPr>
          <p:cNvPicPr>
            <a:picLocks xmlns:a="http://schemas.openxmlformats.org/drawingml/2006/main" noChangeAspect="1"/>
          </p:cNvPicPr>
          <p:nvPr/>
        </p:nvPicPr>
        <p:blipFill>
          <a:blip xmlns:r="http://schemas.openxmlformats.org/officeDocument/2006/relationships" xmlns:a="http://schemas.openxmlformats.org/drawingml/2006/main" r:embed="R76c1ed7153f64c6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589136D-60DF-4C0E-8BC0-6E04AABCF99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12/24</a:t>
            </a:r>
          </a:p>
        </p:txBody>
      </p:sp>
      <p:graphicFrame>
        <p:nvGraphicFramePr>
          <p:cNvPr id="4" name="">
            <a:extLst xmlns:a="http://schemas.openxmlformats.org/drawingml/2006/main">
              <a:ext uri="{FF2B5EF4-FFF2-40B4-BE49-F238E27FC236}">
                <a16:creationId xmlns:a16="http://schemas.microsoft.com/office/drawing/2014/main" id="{3D2248F4-126D-41E4-86C0-FBA00040E3C4}"/>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2143125"/>
                <a:gridCol w="4524375"/>
                <a:gridCol w="4343400"/>
              </a:tblGrid>
              <a:tr h="897731">
                <a:tc>
                  <a:txBody>
                    <a:bodyPr/>
                    <a:lstStyle/>
                    <a:p>
                      <a:r>
                        <a:rPr sz="2025" b="1">
                          <a:solidFill>
                            <a:srgbClr val="FFFFFF"/>
                          </a:solidFill>
                          <a:latin typeface="Arial"/>
                          <a:ea typeface="Arial"/>
                          <a:cs typeface="Arial"/>
                        </a:rPr>
                        <a:t>Programa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Objeto de estudio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Uso del equipo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897731">
                <a:tc>
                  <a:txBody>
                    <a:bodyPr/>
                    <a:lstStyle/>
                    <a:p>
                      <a:r>
                        <a:rPr sz="2025" b="0">
                          <a:solidFill>
                            <a:srgbClr val="14231E"/>
                          </a:solidFill>
                          <a:latin typeface="Arial"/>
                          <a:ea typeface="Arial"/>
                          <a:cs typeface="Arial"/>
                        </a:rPr>
                        <a:t>openMotor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Motor y resultados internos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Lectura conceptual guiada</a:t>
                      </a:r>
                    </a:p>
                  </a:txBody>
                  <a:tcPr marL="91440" marR="91440" marT="45720" marB="45720">
                    <a:lnR w="9525">
                      <a:solidFill>
                        <a:srgbClr val="BFCEC3"/>
                      </a:solidFill>
                      <a:prstDash val="solid"/>
                    </a:lnR>
                    <a:lnB w="9525">
                      <a:solidFill>
                        <a:srgbClr val="BFCEC3"/>
                      </a:solidFill>
                      <a:prstDash val="solid"/>
                    </a:lnB>
                    <a:solidFill>
                      <a:srgbClr val="EAF3EC"/>
                    </a:solidFill>
                  </a:tcPr>
                </a:tc>
              </a:tr>
              <a:tr h="897731">
                <a:tc>
                  <a:txBody>
                    <a:bodyPr/>
                    <a:lstStyle/>
                    <a:p>
                      <a:r>
                        <a:rPr sz="2025" b="0">
                          <a:solidFill>
                            <a:srgbClr val="14231E"/>
                          </a:solidFill>
                          <a:latin typeface="Arial"/>
                          <a:ea typeface="Arial"/>
                          <a:cs typeface="Arial"/>
                        </a:rPr>
                        <a:t>OpenRocket</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Vehículo completo</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Configuración y simulación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897731">
                <a:tc>
                  <a:txBody>
                    <a:bodyPr/>
                    <a:lstStyle/>
                    <a:p>
                      <a:r>
                        <a:rPr sz="2025" b="0">
                          <a:solidFill>
                            <a:srgbClr val="14231E"/>
                          </a:solidFill>
                          <a:latin typeface="Arial"/>
                          <a:ea typeface="Arial"/>
                          <a:cs typeface="Arial"/>
                        </a:rPr>
                        <a:t>RockSim</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Vehículo completo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Comparación posterior</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74577954"/>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29E1C1-A19B-466D-9DA2-81B3ABF1D55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Qué veremos en openMotor</a:t>
            </a:r>
          </a:p>
        </p:txBody>
      </p:sp>
      <p:pic>
        <p:nvPicPr>
          <p:cNvPr id="2" name="">
            <a:extLst xmlns:a="http://schemas.openxmlformats.org/drawingml/2006/main">
              <a:ext uri="{FF2B5EF4-FFF2-40B4-BE49-F238E27FC236}">
                <a16:creationId xmlns:a16="http://schemas.microsoft.com/office/drawing/2014/main" id="{9A4FBBE7-FFC7-453B-8729-A820721E379B}"/>
              </a:ext>
            </a:extLst>
          </p:cNvPr>
          <p:cNvPicPr>
            <a:picLocks xmlns:a="http://schemas.openxmlformats.org/drawingml/2006/main" noChangeAspect="1"/>
          </p:cNvPicPr>
          <p:nvPr/>
        </p:nvPicPr>
        <p:blipFill>
          <a:blip xmlns:r="http://schemas.openxmlformats.org/officeDocument/2006/relationships" xmlns:a="http://schemas.openxmlformats.org/drawingml/2006/main" r:embed="Rc651e72551aa44a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AF575DD-2959-480B-ADB2-279336CEAD1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13/24</a:t>
            </a:r>
          </a:p>
        </p:txBody>
      </p:sp>
      <p:sp>
        <p:nvSpPr>
          <p:cNvPr id="4" name="">
            <a:extLst xmlns:a="http://schemas.openxmlformats.org/drawingml/2006/main">
              <a:ext uri="{FF2B5EF4-FFF2-40B4-BE49-F238E27FC236}">
                <a16:creationId xmlns:a16="http://schemas.microsoft.com/office/drawing/2014/main" id="{125C7C7D-4859-41C4-A4C6-0FBC5EDE9DF6}"/>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Abre la instalación y localiza las áreas de resultados y sus unidades. Distingue el modelo del motor del archivo de vehículo.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Con la salida de referencia del docente, identifica qué gráfica muestra presión y cuál empuje.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Lee un instante y una unidad. Comprueba si el eje vertical está en Pa, MPa, N u otra unidad declarada.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Explica qué dato de esa salida serviría para describir empuje y qué información de vehículo todavía falta.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Registra programa, versión y origen de la salida. Una imagen sin procedencia no es una validación del motor comercial.</a:t>
            </a:r>
          </a:p>
        </p:txBody>
      </p:sp>
    </p:spTree>
    <p:extLst>
      <p:ext uri="{BB962C8B-B14F-4D97-AF65-F5344CB8AC3E}">
        <p14:creationId xmlns:p14="http://schemas.microsoft.com/office/powerpoint/2010/main" val="1993569518"/>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A86ED5-4E87-4ED1-854D-0A658628C293}"/>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selección comercial se conecta con el vehículo</a:t>
            </a:r>
          </a:p>
        </p:txBody>
      </p:sp>
      <p:pic>
        <p:nvPicPr>
          <p:cNvPr id="2" name="">
            <a:extLst xmlns:a="http://schemas.openxmlformats.org/drawingml/2006/main">
              <a:ext uri="{FF2B5EF4-FFF2-40B4-BE49-F238E27FC236}">
                <a16:creationId xmlns:a16="http://schemas.microsoft.com/office/drawing/2014/main" id="{FBE5D6B4-FCF6-4648-8A38-8602697FCF9D}"/>
              </a:ext>
            </a:extLst>
          </p:cNvPr>
          <p:cNvPicPr>
            <a:picLocks xmlns:a="http://schemas.openxmlformats.org/drawingml/2006/main" noChangeAspect="1"/>
          </p:cNvPicPr>
          <p:nvPr/>
        </p:nvPicPr>
        <p:blipFill>
          <a:blip xmlns:r="http://schemas.openxmlformats.org/officeDocument/2006/relationships" xmlns:a="http://schemas.openxmlformats.org/drawingml/2006/main" r:embed="Rf12f97d95542440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36F3BE2-29BB-42D9-A633-F469E38F3AD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14/24</a:t>
            </a:r>
          </a:p>
        </p:txBody>
      </p:sp>
      <p:sp>
        <p:nvSpPr>
          <p:cNvPr id="4" name="">
            <a:extLst xmlns:a="http://schemas.openxmlformats.org/drawingml/2006/main">
              <a:ext uri="{FF2B5EF4-FFF2-40B4-BE49-F238E27FC236}">
                <a16:creationId xmlns:a16="http://schemas.microsoft.com/office/drawing/2014/main" id="{9D927DFD-0117-429C-92E6-8A176AE50A71}"/>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empuje llega al cuerpo a través de sus interfaces. El motor debe corresponder al soporte y a la retención previstos, y el conjunto debe revisarse con la recuperación que se utilizará. En un curso inicial conviene estudiar una solución comercial definida y bien documentada en lugar de combinar piezas elegidas de forma independiente.</a:t>
            </a:r>
          </a:p>
        </p:txBody>
      </p:sp>
    </p:spTree>
    <p:extLst>
      <p:ext uri="{BB962C8B-B14F-4D97-AF65-F5344CB8AC3E}">
        <p14:creationId xmlns:p14="http://schemas.microsoft.com/office/powerpoint/2010/main" val="782870179"/>
      </p:ext>
    </p:extLst>
  </p:cSld>
</p:sld>
</file>

<file path=ppt/slides/slide3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DBD905-EEBE-4EBD-B356-31C113A2539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 selección comercial se conecta con el vehículo</a:t>
            </a:r>
          </a:p>
        </p:txBody>
      </p:sp>
      <p:pic>
        <p:nvPicPr>
          <p:cNvPr id="2" name="">
            <a:extLst xmlns:a="http://schemas.openxmlformats.org/drawingml/2006/main">
              <a:ext uri="{FF2B5EF4-FFF2-40B4-BE49-F238E27FC236}">
                <a16:creationId xmlns:a16="http://schemas.microsoft.com/office/drawing/2014/main" id="{AD65951B-0660-4F90-83C3-D2562F11FB9F}"/>
              </a:ext>
            </a:extLst>
          </p:cNvPr>
          <p:cNvPicPr>
            <a:picLocks xmlns:a="http://schemas.openxmlformats.org/drawingml/2006/main" noChangeAspect="1"/>
          </p:cNvPicPr>
          <p:nvPr/>
        </p:nvPicPr>
        <p:blipFill>
          <a:blip xmlns:r="http://schemas.openxmlformats.org/officeDocument/2006/relationships" xmlns:a="http://schemas.openxmlformats.org/drawingml/2006/main" r:embed="R6afbe48271cb4ef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36F08DB-12CF-40DB-BCBA-60D926D7184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15/24</a:t>
            </a:r>
          </a:p>
        </p:txBody>
      </p:sp>
      <p:pic>
        <p:nvPicPr>
          <p:cNvPr id="4" name="">
            <a:extLst xmlns:a="http://schemas.openxmlformats.org/drawingml/2006/main">
              <a:ext uri="{FF2B5EF4-FFF2-40B4-BE49-F238E27FC236}">
                <a16:creationId xmlns:a16="http://schemas.microsoft.com/office/drawing/2014/main" id="{543DCCEC-BB5B-4DD6-94E6-E922CDF7FACE}"/>
              </a:ext>
            </a:extLst>
          </p:cNvPr>
          <p:cNvPicPr>
            <a:picLocks xmlns:a="http://schemas.openxmlformats.org/drawingml/2006/main" noChangeAspect="1"/>
          </p:cNvPicPr>
          <p:nvPr/>
        </p:nvPicPr>
        <p:blipFill>
          <a:blip xmlns:r="http://schemas.openxmlformats.org/officeDocument/2006/relationships" xmlns:a="http://schemas.openxmlformats.org/drawingml/2006/main" r:embed="R1544e085fc6b41ab"/>
          <a:stretch xmlns:a="http://schemas.openxmlformats.org/drawingml/2006/main"/>
        </p:blipFill>
        <p:spPr>
          <a:xfrm xmlns:a="http://schemas.openxmlformats.org/drawingml/2006/main">
            <a:off x="590550" y="2851879"/>
            <a:ext cx="7410450" cy="159239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DE4191F-7818-4CDD-94F6-E7516F45B520}"/>
              </a:ext>
            </a:extLst>
          </p:cNvPr>
          <p:cNvSpPr>
            <a:spLocks xmlns:a="http://schemas.openxmlformats.org/drawingml/2006/main" noGrp="1"/>
          </p:cNvSpPr>
          <p:nvPr/>
        </p:nvSpPr>
        <p:spPr>
          <a:xfrm xmlns:a="http://schemas.openxmlformats.org/drawingml/2006/main">
            <a:off x="8315325" y="1781175"/>
            <a:ext cx="324802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244F3D"/>
                </a:solidFill>
                <a:latin typeface="Arial"/>
                <a:ea typeface="Arial"/>
                <a:cs typeface="Arial"/>
              </a:defRPr>
            </a:defPPr>
            <a:lvl1pPr>
              <a:defRPr sz="2325" b="1">
                <a:solidFill>
                  <a:srgbClr val="244F3D"/>
                </a:solidFill>
                <a:latin typeface="Arial"/>
                <a:ea typeface="Arial"/>
                <a:cs typeface="Arial"/>
              </a:defRPr>
            </a:lvl1pPr>
            <a:lvl2pPr>
              <a:defRPr sz="2325" b="1">
                <a:solidFill>
                  <a:srgbClr val="244F3D"/>
                </a:solidFill>
                <a:latin typeface="Arial"/>
                <a:ea typeface="Arial"/>
                <a:cs typeface="Arial"/>
              </a:defRPr>
            </a:lvl2pPr>
            <a:lvl3pPr>
              <a:defRPr sz="2325" b="1">
                <a:solidFill>
                  <a:srgbClr val="244F3D"/>
                </a:solidFill>
                <a:latin typeface="Arial"/>
                <a:ea typeface="Arial"/>
                <a:cs typeface="Arial"/>
              </a:defRPr>
            </a:lvl3pPr>
            <a:lvl4pPr>
              <a:defRPr sz="2325" b="1">
                <a:solidFill>
                  <a:srgbClr val="244F3D"/>
                </a:solidFill>
                <a:latin typeface="Arial"/>
                <a:ea typeface="Arial"/>
                <a:cs typeface="Arial"/>
              </a:defRPr>
            </a:lvl4pPr>
            <a:lvl5pPr>
              <a:defRPr sz="2325" b="1">
                <a:solidFill>
                  <a:srgbClr val="244F3D"/>
                </a:solidFill>
                <a:latin typeface="Arial"/>
                <a:ea typeface="Arial"/>
                <a:cs typeface="Arial"/>
              </a:defRPr>
            </a:lvl5pPr>
            <a:lvl6pPr>
              <a:defRPr sz="2325" b="1">
                <a:solidFill>
                  <a:srgbClr val="244F3D"/>
                </a:solidFill>
                <a:latin typeface="Arial"/>
                <a:ea typeface="Arial"/>
                <a:cs typeface="Arial"/>
              </a:defRPr>
            </a:lvl6pPr>
            <a:lvl7pPr>
              <a:defRPr sz="2325" b="1">
                <a:solidFill>
                  <a:srgbClr val="244F3D"/>
                </a:solidFill>
                <a:latin typeface="Arial"/>
                <a:ea typeface="Arial"/>
                <a:cs typeface="Arial"/>
              </a:defRPr>
            </a:lvl7pPr>
            <a:lvl8pPr>
              <a:defRPr sz="2325" b="1">
                <a:solidFill>
                  <a:srgbClr val="244F3D"/>
                </a:solidFill>
                <a:latin typeface="Arial"/>
                <a:ea typeface="Arial"/>
                <a:cs typeface="Arial"/>
              </a:defRPr>
            </a:lvl8pPr>
            <a:lvl9pPr>
              <a:defRPr sz="2325" b="1">
                <a:solidFill>
                  <a:srgbClr val="244F3D"/>
                </a:solidFill>
                <a:latin typeface="Arial"/>
                <a:ea typeface="Arial"/>
                <a:cs typeface="Arial"/>
              </a:defRPr>
            </a:lvl9pPr>
          </a:lstStyle>
          <a:p xmlns:a="http://schemas.openxmlformats.org/drawingml/2006/main">
            <a:pPr>
              <a:defRPr sz="2325" b="1">
                <a:solidFill>
                  <a:srgbClr val="244F3D"/>
                </a:solidFill>
                <a:latin typeface="Arial"/>
                <a:ea typeface="Arial"/>
                <a:cs typeface="Arial"/>
              </a:defRPr>
            </a:pPr>
            <a:r>
              <a:rPr sz="2325" b="1">
                <a:solidFill>
                  <a:srgbClr val="244F3D"/>
                </a:solidFill>
                <a:latin typeface="Arial"/>
                <a:ea typeface="Arial"/>
                <a:cs typeface="Arial"/>
              </a:rPr>
              <a:t>¿Que el componente entre resuelve toda su integración?</a:t>
            </a:r>
          </a:p>
        </p:txBody>
      </p:sp>
      <p:sp>
        <p:nvSpPr>
          <p:cNvPr id="6" name="">
            <a:extLst xmlns:a="http://schemas.openxmlformats.org/drawingml/2006/main">
              <a:ext uri="{FF2B5EF4-FFF2-40B4-BE49-F238E27FC236}">
                <a16:creationId xmlns:a16="http://schemas.microsoft.com/office/drawing/2014/main" id="{266D43E5-6B0C-4B4B-9990-985518DC0008}"/>
              </a:ext>
            </a:extLst>
          </p:cNvPr>
          <p:cNvSpPr>
            <a:spLocks xmlns:a="http://schemas.openxmlformats.org/drawingml/2006/main" noGrp="1"/>
          </p:cNvSpPr>
          <p:nvPr/>
        </p:nvSpPr>
        <p:spPr>
          <a:xfrm xmlns:a="http://schemas.openxmlformats.org/drawingml/2006/main">
            <a:off x="590550" y="5848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8665F"/>
                </a:solidFill>
                <a:latin typeface="Arial"/>
                <a:ea typeface="Arial"/>
                <a:cs typeface="Arial"/>
              </a:defRPr>
            </a:defPPr>
            <a:lvl1pPr>
              <a:defRPr sz="1350" b="0">
                <a:solidFill>
                  <a:srgbClr val="58665F"/>
                </a:solidFill>
                <a:latin typeface="Arial"/>
                <a:ea typeface="Arial"/>
                <a:cs typeface="Arial"/>
              </a:defRPr>
            </a:lvl1pPr>
            <a:lvl2pPr>
              <a:defRPr sz="1350" b="0">
                <a:solidFill>
                  <a:srgbClr val="58665F"/>
                </a:solidFill>
                <a:latin typeface="Arial"/>
                <a:ea typeface="Arial"/>
                <a:cs typeface="Arial"/>
              </a:defRPr>
            </a:lvl2pPr>
            <a:lvl3pPr>
              <a:defRPr sz="1350" b="0">
                <a:solidFill>
                  <a:srgbClr val="58665F"/>
                </a:solidFill>
                <a:latin typeface="Arial"/>
                <a:ea typeface="Arial"/>
                <a:cs typeface="Arial"/>
              </a:defRPr>
            </a:lvl3pPr>
            <a:lvl4pPr>
              <a:defRPr sz="1350" b="0">
                <a:solidFill>
                  <a:srgbClr val="58665F"/>
                </a:solidFill>
                <a:latin typeface="Arial"/>
                <a:ea typeface="Arial"/>
                <a:cs typeface="Arial"/>
              </a:defRPr>
            </a:lvl4pPr>
            <a:lvl5pPr>
              <a:defRPr sz="1350" b="0">
                <a:solidFill>
                  <a:srgbClr val="58665F"/>
                </a:solidFill>
                <a:latin typeface="Arial"/>
                <a:ea typeface="Arial"/>
                <a:cs typeface="Arial"/>
              </a:defRPr>
            </a:lvl5pPr>
            <a:lvl6pPr>
              <a:defRPr sz="1350" b="0">
                <a:solidFill>
                  <a:srgbClr val="58665F"/>
                </a:solidFill>
                <a:latin typeface="Arial"/>
                <a:ea typeface="Arial"/>
                <a:cs typeface="Arial"/>
              </a:defRPr>
            </a:lvl6pPr>
            <a:lvl7pPr>
              <a:defRPr sz="1350" b="0">
                <a:solidFill>
                  <a:srgbClr val="58665F"/>
                </a:solidFill>
                <a:latin typeface="Arial"/>
                <a:ea typeface="Arial"/>
                <a:cs typeface="Arial"/>
              </a:defRPr>
            </a:lvl7pPr>
            <a:lvl8pPr>
              <a:defRPr sz="1350" b="0">
                <a:solidFill>
                  <a:srgbClr val="58665F"/>
                </a:solidFill>
                <a:latin typeface="Arial"/>
                <a:ea typeface="Arial"/>
                <a:cs typeface="Arial"/>
              </a:defRPr>
            </a:lvl8pPr>
            <a:lvl9pPr>
              <a:defRPr sz="1350" b="0">
                <a:solidFill>
                  <a:srgbClr val="58665F"/>
                </a:solidFill>
                <a:latin typeface="Arial"/>
                <a:ea typeface="Arial"/>
                <a:cs typeface="Arial"/>
              </a:defRPr>
            </a:lvl9pPr>
          </a:lstStyle>
          <a:p xmlns:a="http://schemas.openxmlformats.org/drawingml/2006/main">
            <a:pPr>
              <a:defRPr sz="1350" b="0">
                <a:solidFill>
                  <a:srgbClr val="58665F"/>
                </a:solidFill>
                <a:latin typeface="Arial"/>
                <a:ea typeface="Arial"/>
                <a:cs typeface="Arial"/>
              </a:defRPr>
            </a:pPr>
            <a:r>
              <a:rPr sz="1350" b="0">
                <a:solidFill>
                  <a:srgbClr val="58665F"/>
                </a:solidFill>
                <a:latin typeface="Arial"/>
                <a:ea typeface="Arial"/>
                <a:cs typeface="Arial"/>
              </a:rPr>
              <a:t>Soporte e interfaces interiores del ejemplo de OpenRocket. La solución real se elige con el conjunto comercial y sus instrucciones.</a:t>
            </a:r>
          </a:p>
        </p:txBody>
      </p:sp>
    </p:spTree>
    <p:extLst>
      <p:ext uri="{BB962C8B-B14F-4D97-AF65-F5344CB8AC3E}">
        <p14:creationId xmlns:p14="http://schemas.microsoft.com/office/powerpoint/2010/main" val="878495959"/>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37ED43-F14E-45BE-8554-F9567D1E49B8}"/>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La selección comercial se conecta con el vehículo</a:t>
            </a:r>
          </a:p>
        </p:txBody>
      </p:sp>
      <p:pic>
        <p:nvPicPr>
          <p:cNvPr id="2" name="">
            <a:extLst xmlns:a="http://schemas.openxmlformats.org/drawingml/2006/main">
              <a:ext uri="{FF2B5EF4-FFF2-40B4-BE49-F238E27FC236}">
                <a16:creationId xmlns:a16="http://schemas.microsoft.com/office/drawing/2014/main" id="{4338DAE0-73DC-4293-BE03-8B047CFFCE70}"/>
              </a:ext>
            </a:extLst>
          </p:cNvPr>
          <p:cNvPicPr>
            <a:picLocks xmlns:a="http://schemas.openxmlformats.org/drawingml/2006/main" noChangeAspect="1"/>
          </p:cNvPicPr>
          <p:nvPr/>
        </p:nvPicPr>
        <p:blipFill>
          <a:blip xmlns:r="http://schemas.openxmlformats.org/officeDocument/2006/relationships" xmlns:a="http://schemas.openxmlformats.org/drawingml/2006/main" r:embed="R1dc70ae614174d1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17E5A9C-AB27-43A8-A6BD-A6104568AE4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16/24</a:t>
            </a:r>
          </a:p>
        </p:txBody>
      </p:sp>
      <p:sp>
        <p:nvSpPr>
          <p:cNvPr id="4" name="">
            <a:extLst xmlns:a="http://schemas.openxmlformats.org/drawingml/2006/main">
              <a:ext uri="{FF2B5EF4-FFF2-40B4-BE49-F238E27FC236}">
                <a16:creationId xmlns:a16="http://schemas.microsoft.com/office/drawing/2014/main" id="{B329D283-D8D9-4123-A2E8-80B4CC766ED8}"/>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Identifica la referencia comercial que el docente ha propuesto para el proyecto.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Comprueba su envolvente con el plano y el soporte correspondiente.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Anota qué masa y qué configuración se usarán en la simulación.</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Relaciona la recuperación prevista con la documentación del conjunto.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Deja registrada cualquier incompatibilidad antes de continuar al montaje.</a:t>
            </a:r>
          </a:p>
        </p:txBody>
      </p:sp>
    </p:spTree>
    <p:extLst>
      <p:ext uri="{BB962C8B-B14F-4D97-AF65-F5344CB8AC3E}">
        <p14:creationId xmlns:p14="http://schemas.microsoft.com/office/powerpoint/2010/main" val="759798639"/>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C43259-A49D-4CBA-B843-9A0F46D8612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Explicar el motor con palabras de modelismo</a:t>
            </a:r>
          </a:p>
        </p:txBody>
      </p:sp>
      <p:pic>
        <p:nvPicPr>
          <p:cNvPr id="2" name="">
            <a:extLst xmlns:a="http://schemas.openxmlformats.org/drawingml/2006/main">
              <a:ext uri="{FF2B5EF4-FFF2-40B4-BE49-F238E27FC236}">
                <a16:creationId xmlns:a16="http://schemas.microsoft.com/office/drawing/2014/main" id="{B4F58317-AD8F-4859-AF7B-D9390D3BAFA6}"/>
              </a:ext>
            </a:extLst>
          </p:cNvPr>
          <p:cNvPicPr>
            <a:picLocks xmlns:a="http://schemas.openxmlformats.org/drawingml/2006/main" noChangeAspect="1"/>
          </p:cNvPicPr>
          <p:nvPr/>
        </p:nvPicPr>
        <p:blipFill>
          <a:blip xmlns:r="http://schemas.openxmlformats.org/officeDocument/2006/relationships" xmlns:a="http://schemas.openxmlformats.org/drawingml/2006/main" r:embed="R52ca87b81847467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1B62E81-82EF-43DD-A805-3103A924726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17/24</a:t>
            </a:r>
          </a:p>
        </p:txBody>
      </p:sp>
      <p:sp>
        <p:nvSpPr>
          <p:cNvPr id="4" name="">
            <a:extLst xmlns:a="http://schemas.openxmlformats.org/drawingml/2006/main">
              <a:ext uri="{FF2B5EF4-FFF2-40B4-BE49-F238E27FC236}">
                <a16:creationId xmlns:a16="http://schemas.microsoft.com/office/drawing/2014/main" id="{39A31D76-A44B-4991-ABB5-FC1A9C017239}"/>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alumno debe distinguir tres niveles: qué ocurre físicamente en el motor, qué dice su documentación comercial y qué necesita el vehículo completo. Un dibujo de tobera responde a la primera pregunta. Una etiqueta y una ficha responden a parte de la segunda. La simulación y el montaje del modelo ayudan a resolver la tercera.</a:t>
            </a:r>
          </a:p>
        </p:txBody>
      </p:sp>
    </p:spTree>
    <p:extLst>
      <p:ext uri="{BB962C8B-B14F-4D97-AF65-F5344CB8AC3E}">
        <p14:creationId xmlns:p14="http://schemas.microsoft.com/office/powerpoint/2010/main" val="224759592"/>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6F9B5E-9631-4F92-8DB2-8F1E7AA59DFC}"/>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Conclusiones y límites de esta clase</a:t>
            </a:r>
          </a:p>
        </p:txBody>
      </p:sp>
      <p:pic>
        <p:nvPicPr>
          <p:cNvPr id="2" name="">
            <a:extLst xmlns:a="http://schemas.openxmlformats.org/drawingml/2006/main">
              <a:ext uri="{FF2B5EF4-FFF2-40B4-BE49-F238E27FC236}">
                <a16:creationId xmlns:a16="http://schemas.microsoft.com/office/drawing/2014/main" id="{C6D7EADC-E35B-48B7-89BF-23DD3F16D8B0}"/>
              </a:ext>
            </a:extLst>
          </p:cNvPr>
          <p:cNvPicPr>
            <a:picLocks xmlns:a="http://schemas.openxmlformats.org/drawingml/2006/main" noChangeAspect="1"/>
          </p:cNvPicPr>
          <p:nvPr/>
        </p:nvPicPr>
        <p:blipFill>
          <a:blip xmlns:r="http://schemas.openxmlformats.org/officeDocument/2006/relationships" xmlns:a="http://schemas.openxmlformats.org/drawingml/2006/main" r:embed="R90463b3363144ae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A3426D-EE66-4D3C-9E2B-5C210BDFF3E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18/24</a:t>
            </a:r>
          </a:p>
        </p:txBody>
      </p:sp>
      <p:graphicFrame>
        <p:nvGraphicFramePr>
          <p:cNvPr id="4" name="">
            <a:extLst xmlns:a="http://schemas.openxmlformats.org/drawingml/2006/main">
              <a:ext uri="{FF2B5EF4-FFF2-40B4-BE49-F238E27FC236}">
                <a16:creationId xmlns:a16="http://schemas.microsoft.com/office/drawing/2014/main" id="{F2D5A674-0B14-451B-A181-00B1B8E78DDA}"/>
              </a:ext>
            </a:extLst>
          </p:cNvPr>
          <p:cNvGraphicFramePr/>
          <p:nvPr/>
        </p:nvGraphicFramePr>
        <p:xfrm>
          <a:off xmlns:a="http://schemas.openxmlformats.org/drawingml/2006/main" x="590550" y="1752600"/>
          <a:ext xmlns:a="http://schemas.openxmlformats.org/drawingml/2006/main" cx="11010900" cy="3590925"/>
        </p:xfrm>
        <a:graphic xmlns:a="http://schemas.openxmlformats.org/drawingml/2006/main">
          <a:graphicData uri="http://schemas.openxmlformats.org/drawingml/2006/table">
            <a:tbl>
              <a:tblPr/>
              <a:tblGrid>
                <a:gridCol w="5505450"/>
                <a:gridCol w="5505450"/>
              </a:tblGrid>
              <a:tr h="718185">
                <a:tc>
                  <a:txBody>
                    <a:bodyPr/>
                    <a:lstStyle/>
                    <a:p>
                      <a:r>
                        <a:rPr sz="2025" b="1">
                          <a:solidFill>
                            <a:srgbClr val="FFFFFF"/>
                          </a:solidFill>
                          <a:latin typeface="Arial"/>
                          <a:ea typeface="Arial"/>
                          <a:cs typeface="Arial"/>
                        </a:rPr>
                        <a:t>Podemos explicar</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2025" b="1">
                          <a:solidFill>
                            <a:srgbClr val="FFFFFF"/>
                          </a:solidFill>
                          <a:latin typeface="Arial"/>
                          <a:ea typeface="Arial"/>
                          <a:cs typeface="Arial"/>
                        </a:rPr>
                        <a:t>Todavía requiere otra evidencia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18185">
                <a:tc>
                  <a:txBody>
                    <a:bodyPr/>
                    <a:lstStyle/>
                    <a:p>
                      <a:r>
                        <a:rPr sz="2025" b="0">
                          <a:solidFill>
                            <a:srgbClr val="14231E"/>
                          </a:solidFill>
                          <a:latin typeface="Arial"/>
                          <a:ea typeface="Arial"/>
                          <a:cs typeface="Arial"/>
                        </a:rPr>
                        <a:t>Qué representan presión y empuje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Comportamiento real de un motor concreto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Cómo leer una etiqueta habitual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Compatibilidad de cualquier combinación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718185">
                <a:tc>
                  <a:txBody>
                    <a:bodyPr/>
                    <a:lstStyle/>
                    <a:p>
                      <a:r>
                        <a:rPr sz="2025" b="0">
                          <a:solidFill>
                            <a:srgbClr val="14231E"/>
                          </a:solidFill>
                          <a:latin typeface="Arial"/>
                          <a:ea typeface="Arial"/>
                          <a:cs typeface="Arial"/>
                        </a:rPr>
                        <a:t>Qué gráfica corresponde a una magnitud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2025" b="0">
                          <a:solidFill>
                            <a:srgbClr val="14231E"/>
                          </a:solidFill>
                          <a:latin typeface="Arial"/>
                          <a:ea typeface="Arial"/>
                          <a:cs typeface="Arial"/>
                        </a:rPr>
                        <a:t>Validación de un cálculo interno</a:t>
                      </a:r>
                    </a:p>
                  </a:txBody>
                  <a:tcPr marL="91440" marR="91440" marT="45720" marB="45720">
                    <a:lnR w="9525">
                      <a:solidFill>
                        <a:srgbClr val="BFCEC3"/>
                      </a:solidFill>
                      <a:prstDash val="solid"/>
                    </a:lnR>
                    <a:lnB w="9525">
                      <a:solidFill>
                        <a:srgbClr val="BFCEC3"/>
                      </a:solidFill>
                      <a:prstDash val="solid"/>
                    </a:lnB>
                    <a:solidFill>
                      <a:srgbClr val="EAF3EC"/>
                    </a:solidFill>
                  </a:tcPr>
                </a:tc>
              </a:tr>
              <a:tr h="718185">
                <a:tc>
                  <a:txBody>
                    <a:bodyPr/>
                    <a:lstStyle/>
                    <a:p>
                      <a:r>
                        <a:rPr sz="2025" b="0">
                          <a:solidFill>
                            <a:srgbClr val="14231E"/>
                          </a:solidFill>
                          <a:latin typeface="Arial"/>
                          <a:ea typeface="Arial"/>
                          <a:cs typeface="Arial"/>
                        </a:rPr>
                        <a:t>Qué dato falta en el vehículo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2025" b="0">
                          <a:solidFill>
                            <a:srgbClr val="14231E"/>
                          </a:solidFill>
                          <a:latin typeface="Arial"/>
                          <a:ea typeface="Arial"/>
                          <a:cs typeface="Arial"/>
                        </a:rPr>
                        <a:t>Aceptación del conjunto para volar</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518031741"/>
      </p:ext>
    </p:extLst>
  </p:cSld>
</p:sld>
</file>

<file path=ppt/slides/slide43.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E267DC-E339-42B5-A051-0420262AA87B}"/>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 de cierre</a:t>
            </a:r>
          </a:p>
        </p:txBody>
      </p:sp>
      <p:pic>
        <p:nvPicPr>
          <p:cNvPr id="2" name="">
            <a:extLst xmlns:a="http://schemas.openxmlformats.org/drawingml/2006/main">
              <a:ext uri="{FF2B5EF4-FFF2-40B4-BE49-F238E27FC236}">
                <a16:creationId xmlns:a16="http://schemas.microsoft.com/office/drawing/2014/main" id="{45849E9A-265C-488F-B39C-76A878AA8222}"/>
              </a:ext>
            </a:extLst>
          </p:cNvPr>
          <p:cNvPicPr>
            <a:picLocks xmlns:a="http://schemas.openxmlformats.org/drawingml/2006/main" noChangeAspect="1"/>
          </p:cNvPicPr>
          <p:nvPr/>
        </p:nvPicPr>
        <p:blipFill>
          <a:blip xmlns:r="http://schemas.openxmlformats.org/officeDocument/2006/relationships" xmlns:a="http://schemas.openxmlformats.org/drawingml/2006/main" r:embed="Re231eb3491b64bb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B68A5CF-7BEC-45A2-8F18-B13A5418954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19/24</a:t>
            </a:r>
          </a:p>
        </p:txBody>
      </p:sp>
      <p:sp>
        <p:nvSpPr>
          <p:cNvPr id="4" name="">
            <a:extLst xmlns:a="http://schemas.openxmlformats.org/drawingml/2006/main">
              <a:ext uri="{FF2B5EF4-FFF2-40B4-BE49-F238E27FC236}">
                <a16:creationId xmlns:a16="http://schemas.microsoft.com/office/drawing/2014/main" id="{DE5F9742-4822-4ACF-9E01-7024155904F1}"/>
              </a:ext>
            </a:extLst>
          </p:cNvPr>
          <p:cNvSpPr>
            <a:spLocks xmlns:a="http://schemas.openxmlformats.org/drawingml/2006/main" noGrp="1"/>
          </p:cNvSpPr>
          <p:nvPr/>
        </p:nvSpPr>
        <p:spPr>
          <a:xfrm xmlns:a="http://schemas.openxmlformats.org/drawingml/2006/main">
            <a:off x="590550" y="1809750"/>
            <a:ext cx="10715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 valor de presión mayor significa automáticamente que nuestro cohete volará mejor?</a:t>
            </a:r>
          </a:p>
        </p:txBody>
      </p:sp>
      <p:sp>
        <p:nvSpPr>
          <p:cNvPr id="5" name="">
            <a:extLst xmlns:a="http://schemas.openxmlformats.org/drawingml/2006/main">
              <a:ext uri="{FF2B5EF4-FFF2-40B4-BE49-F238E27FC236}">
                <a16:creationId xmlns:a16="http://schemas.microsoft.com/office/drawing/2014/main" id="{870E7EB2-2263-4CED-8A45-BC8F2ABBDE94}"/>
              </a:ext>
            </a:extLst>
          </p:cNvPr>
          <p:cNvSpPr>
            <a:spLocks xmlns:a="http://schemas.openxmlformats.org/drawingml/2006/main" noGrp="1"/>
          </p:cNvSpPr>
          <p:nvPr/>
        </p:nvSpPr>
        <p:spPr>
          <a:xfrm xmlns:a="http://schemas.openxmlformats.org/drawingml/2006/main">
            <a:off x="590550" y="4629150"/>
            <a:ext cx="10715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¿Qué dato del motor se lleva al modelo del vehículo?</a:t>
            </a:r>
          </a:p>
        </p:txBody>
      </p:sp>
    </p:spTree>
    <p:extLst>
      <p:ext uri="{BB962C8B-B14F-4D97-AF65-F5344CB8AC3E}">
        <p14:creationId xmlns:p14="http://schemas.microsoft.com/office/powerpoint/2010/main" val="1546438558"/>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DDADDE-0975-4A79-B5D3-9D768BD1F119}"/>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Trabajo guiado del equipo</a:t>
            </a:r>
          </a:p>
        </p:txBody>
      </p:sp>
      <p:pic>
        <p:nvPicPr>
          <p:cNvPr id="2" name="">
            <a:extLst xmlns:a="http://schemas.openxmlformats.org/drawingml/2006/main">
              <a:ext uri="{FF2B5EF4-FFF2-40B4-BE49-F238E27FC236}">
                <a16:creationId xmlns:a16="http://schemas.microsoft.com/office/drawing/2014/main" id="{BBC9F0D7-57D0-4A86-9F63-6E2CE95F8D38}"/>
              </a:ext>
            </a:extLst>
          </p:cNvPr>
          <p:cNvPicPr>
            <a:picLocks xmlns:a="http://schemas.openxmlformats.org/drawingml/2006/main" noChangeAspect="1"/>
          </p:cNvPicPr>
          <p:nvPr/>
        </p:nvPicPr>
        <p:blipFill>
          <a:blip xmlns:r="http://schemas.openxmlformats.org/officeDocument/2006/relationships" xmlns:a="http://schemas.openxmlformats.org/drawingml/2006/main" r:embed="R312a39d3dc7248a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8129998-8F4E-41CC-B211-7119E7F0E99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20/24</a:t>
            </a:r>
          </a:p>
        </p:txBody>
      </p:sp>
      <p:sp>
        <p:nvSpPr>
          <p:cNvPr id="4" name="">
            <a:extLst xmlns:a="http://schemas.openxmlformats.org/drawingml/2006/main">
              <a:ext uri="{FF2B5EF4-FFF2-40B4-BE49-F238E27FC236}">
                <a16:creationId xmlns:a16="http://schemas.microsoft.com/office/drawing/2014/main" id="{57BDE205-D749-4561-98DD-0A97B6AD904A}"/>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Reconocer el código y la ficha del componente comercial.</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Explicar cámara, tobera y salida con el esquema.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Leer unidades de una salida de referencia de openMotor preparada por el docente.</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4. Completar la ficha de compatibilidad con el vehículo.</a:t>
            </a:r>
          </a:p>
        </p:txBody>
      </p:sp>
    </p:spTree>
    <p:extLst>
      <p:ext uri="{BB962C8B-B14F-4D97-AF65-F5344CB8AC3E}">
        <p14:creationId xmlns:p14="http://schemas.microsoft.com/office/powerpoint/2010/main" val="472602301"/>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4FD18F-8DA8-4EC5-A59E-47C37EC9282E}"/>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Decisión según la misión</a:t>
            </a:r>
          </a:p>
        </p:txBody>
      </p:sp>
      <p:pic>
        <p:nvPicPr>
          <p:cNvPr id="2" name="">
            <a:extLst xmlns:a="http://schemas.openxmlformats.org/drawingml/2006/main">
              <a:ext uri="{FF2B5EF4-FFF2-40B4-BE49-F238E27FC236}">
                <a16:creationId xmlns:a16="http://schemas.microsoft.com/office/drawing/2014/main" id="{EEE49E77-3C8B-4A6B-AFB0-3D2700638ED8}"/>
              </a:ext>
            </a:extLst>
          </p:cNvPr>
          <p:cNvPicPr>
            <a:picLocks xmlns:a="http://schemas.openxmlformats.org/drawingml/2006/main" noChangeAspect="1"/>
          </p:cNvPicPr>
          <p:nvPr/>
        </p:nvPicPr>
        <p:blipFill>
          <a:blip xmlns:r="http://schemas.openxmlformats.org/officeDocument/2006/relationships" xmlns:a="http://schemas.openxmlformats.org/drawingml/2006/main" r:embed="R6f73d9350aa746a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170283A-C51F-46B1-AE4C-AAB6A0D7891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21/24</a:t>
            </a:r>
          </a:p>
        </p:txBody>
      </p:sp>
      <p:sp>
        <p:nvSpPr>
          <p:cNvPr id="4" name="">
            <a:extLst xmlns:a="http://schemas.openxmlformats.org/drawingml/2006/main">
              <a:ext uri="{FF2B5EF4-FFF2-40B4-BE49-F238E27FC236}">
                <a16:creationId xmlns:a16="http://schemas.microsoft.com/office/drawing/2014/main" id="{1EBBEAD0-314C-4E2E-992A-541937F56EFF}"/>
              </a:ext>
            </a:extLst>
          </p:cNvPr>
          <p:cNvSpPr>
            <a:spLocks xmlns:a="http://schemas.openxmlformats.org/drawingml/2006/main" noGrp="1"/>
          </p:cNvSpPr>
          <p:nvPr/>
        </p:nvSpPr>
        <p:spPr>
          <a:xfrm xmlns:a="http://schemas.openxmlformats.org/drawingml/2006/main">
            <a:off x="590550" y="17716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AEF4BB"/>
                </a:solidFill>
                <a:latin typeface="Arial"/>
                <a:ea typeface="Arial"/>
                <a:cs typeface="Arial"/>
              </a:defRPr>
            </a:defPPr>
            <a:lvl1pPr>
              <a:defRPr sz="2775" b="1">
                <a:solidFill>
                  <a:srgbClr val="AEF4BB"/>
                </a:solidFill>
                <a:latin typeface="Arial"/>
                <a:ea typeface="Arial"/>
                <a:cs typeface="Arial"/>
              </a:defRPr>
            </a:lvl1pPr>
            <a:lvl2pPr>
              <a:defRPr sz="2775" b="1">
                <a:solidFill>
                  <a:srgbClr val="AEF4BB"/>
                </a:solidFill>
                <a:latin typeface="Arial"/>
                <a:ea typeface="Arial"/>
                <a:cs typeface="Arial"/>
              </a:defRPr>
            </a:lvl2pPr>
            <a:lvl3pPr>
              <a:defRPr sz="2775" b="1">
                <a:solidFill>
                  <a:srgbClr val="AEF4BB"/>
                </a:solidFill>
                <a:latin typeface="Arial"/>
                <a:ea typeface="Arial"/>
                <a:cs typeface="Arial"/>
              </a:defRPr>
            </a:lvl3pPr>
            <a:lvl4pPr>
              <a:defRPr sz="2775" b="1">
                <a:solidFill>
                  <a:srgbClr val="AEF4BB"/>
                </a:solidFill>
                <a:latin typeface="Arial"/>
                <a:ea typeface="Arial"/>
                <a:cs typeface="Arial"/>
              </a:defRPr>
            </a:lvl4pPr>
            <a:lvl5pPr>
              <a:defRPr sz="2775" b="1">
                <a:solidFill>
                  <a:srgbClr val="AEF4BB"/>
                </a:solidFill>
                <a:latin typeface="Arial"/>
                <a:ea typeface="Arial"/>
                <a:cs typeface="Arial"/>
              </a:defRPr>
            </a:lvl5pPr>
            <a:lvl6pPr>
              <a:defRPr sz="2775" b="1">
                <a:solidFill>
                  <a:srgbClr val="AEF4BB"/>
                </a:solidFill>
                <a:latin typeface="Arial"/>
                <a:ea typeface="Arial"/>
                <a:cs typeface="Arial"/>
              </a:defRPr>
            </a:lvl6pPr>
            <a:lvl7pPr>
              <a:defRPr sz="2775" b="1">
                <a:solidFill>
                  <a:srgbClr val="AEF4BB"/>
                </a:solidFill>
                <a:latin typeface="Arial"/>
                <a:ea typeface="Arial"/>
                <a:cs typeface="Arial"/>
              </a:defRPr>
            </a:lvl7pPr>
            <a:lvl8pPr>
              <a:defRPr sz="2775" b="1">
                <a:solidFill>
                  <a:srgbClr val="AEF4BB"/>
                </a:solidFill>
                <a:latin typeface="Arial"/>
                <a:ea typeface="Arial"/>
                <a:cs typeface="Arial"/>
              </a:defRPr>
            </a:lvl8pPr>
            <a:lvl9pPr>
              <a:defRPr sz="2775" b="1">
                <a:solidFill>
                  <a:srgbClr val="AEF4BB"/>
                </a:solidFill>
                <a:latin typeface="Arial"/>
                <a:ea typeface="Arial"/>
                <a:cs typeface="Arial"/>
              </a:defRPr>
            </a:lvl9pPr>
          </a:lstStyle>
          <a:p xmlns:a="http://schemas.openxmlformats.org/drawingml/2006/main">
            <a:pPr>
              <a:defRPr sz="2775" b="1">
                <a:solidFill>
                  <a:srgbClr val="AEF4BB"/>
                </a:solidFill>
                <a:latin typeface="Arial"/>
                <a:ea typeface="Arial"/>
                <a:cs typeface="Arial"/>
              </a:defRPr>
            </a:pPr>
            <a:r>
              <a:rPr sz="2775" b="1">
                <a:solidFill>
                  <a:srgbClr val="AEF4BB"/>
                </a:solidFill>
                <a:latin typeface="Arial"/>
                <a:ea typeface="Arial"/>
                <a:cs typeface="Arial"/>
              </a:rPr>
              <a:t>Comprender la propulsión del proyecto sin fabricar ni modificar el motor.</a:t>
            </a:r>
          </a:p>
        </p:txBody>
      </p:sp>
      <p:sp>
        <p:nvSpPr>
          <p:cNvPr id="5" name="">
            <a:extLst xmlns:a="http://schemas.openxmlformats.org/drawingml/2006/main">
              <a:ext uri="{FF2B5EF4-FFF2-40B4-BE49-F238E27FC236}">
                <a16:creationId xmlns:a16="http://schemas.microsoft.com/office/drawing/2014/main" id="{5B5FFFEC-C973-463A-AA62-D3BA7286748C}"/>
              </a:ext>
            </a:extLst>
          </p:cNvPr>
          <p:cNvSpPr>
            <a:spLocks xmlns:a="http://schemas.openxmlformats.org/drawingml/2006/main" noGrp="1"/>
          </p:cNvSpPr>
          <p:nvPr/>
        </p:nvSpPr>
        <p:spPr>
          <a:xfrm xmlns:a="http://schemas.openxmlformats.org/drawingml/2006/main">
            <a:off x="590550" y="3638550"/>
            <a:ext cx="10715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CFCF8"/>
                </a:solidFill>
                <a:latin typeface="Arial"/>
                <a:ea typeface="Arial"/>
                <a:cs typeface="Arial"/>
              </a:defRPr>
            </a:defPPr>
            <a:lvl1pPr>
              <a:defRPr sz="2625" b="0">
                <a:solidFill>
                  <a:srgbClr val="FCFCF8"/>
                </a:solidFill>
                <a:latin typeface="Arial"/>
                <a:ea typeface="Arial"/>
                <a:cs typeface="Arial"/>
              </a:defRPr>
            </a:lvl1pPr>
            <a:lvl2pPr>
              <a:defRPr sz="2625" b="0">
                <a:solidFill>
                  <a:srgbClr val="FCFCF8"/>
                </a:solidFill>
                <a:latin typeface="Arial"/>
                <a:ea typeface="Arial"/>
                <a:cs typeface="Arial"/>
              </a:defRPr>
            </a:lvl2pPr>
            <a:lvl3pPr>
              <a:defRPr sz="2625" b="0">
                <a:solidFill>
                  <a:srgbClr val="FCFCF8"/>
                </a:solidFill>
                <a:latin typeface="Arial"/>
                <a:ea typeface="Arial"/>
                <a:cs typeface="Arial"/>
              </a:defRPr>
            </a:lvl3pPr>
            <a:lvl4pPr>
              <a:defRPr sz="2625" b="0">
                <a:solidFill>
                  <a:srgbClr val="FCFCF8"/>
                </a:solidFill>
                <a:latin typeface="Arial"/>
                <a:ea typeface="Arial"/>
                <a:cs typeface="Arial"/>
              </a:defRPr>
            </a:lvl4pPr>
            <a:lvl5pPr>
              <a:defRPr sz="2625" b="0">
                <a:solidFill>
                  <a:srgbClr val="FCFCF8"/>
                </a:solidFill>
                <a:latin typeface="Arial"/>
                <a:ea typeface="Arial"/>
                <a:cs typeface="Arial"/>
              </a:defRPr>
            </a:lvl5pPr>
            <a:lvl6pPr>
              <a:defRPr sz="2625" b="0">
                <a:solidFill>
                  <a:srgbClr val="FCFCF8"/>
                </a:solidFill>
                <a:latin typeface="Arial"/>
                <a:ea typeface="Arial"/>
                <a:cs typeface="Arial"/>
              </a:defRPr>
            </a:lvl6pPr>
            <a:lvl7pPr>
              <a:defRPr sz="2625" b="0">
                <a:solidFill>
                  <a:srgbClr val="FCFCF8"/>
                </a:solidFill>
                <a:latin typeface="Arial"/>
                <a:ea typeface="Arial"/>
                <a:cs typeface="Arial"/>
              </a:defRPr>
            </a:lvl7pPr>
            <a:lvl8pPr>
              <a:defRPr sz="2625" b="0">
                <a:solidFill>
                  <a:srgbClr val="FCFCF8"/>
                </a:solidFill>
                <a:latin typeface="Arial"/>
                <a:ea typeface="Arial"/>
                <a:cs typeface="Arial"/>
              </a:defRPr>
            </a:lvl8pPr>
            <a:lvl9pPr>
              <a:defRPr sz="2625" b="0">
                <a:solidFill>
                  <a:srgbClr val="FCFCF8"/>
                </a:solidFill>
                <a:latin typeface="Arial"/>
                <a:ea typeface="Arial"/>
                <a:cs typeface="Arial"/>
              </a:defRPr>
            </a:lvl9pPr>
          </a:lstStyle>
          <a:p xmlns:a="http://schemas.openxmlformats.org/drawingml/2006/main">
            <a:pPr>
              <a:defRPr sz="2625" b="0">
                <a:solidFill>
                  <a:srgbClr val="FCFCF8"/>
                </a:solidFill>
                <a:latin typeface="Arial"/>
                <a:ea typeface="Arial"/>
                <a:cs typeface="Arial"/>
              </a:defRPr>
            </a:pPr>
            <a:r>
              <a:rPr sz="2625" b="0">
                <a:solidFill>
                  <a:srgbClr val="FCFCF8"/>
                </a:solidFill>
                <a:latin typeface="Arial"/>
                <a:ea typeface="Arial"/>
                <a:cs typeface="Arial"/>
              </a:rPr>
              <a:t>¿Qué dato del motor se lleva al modelo del vehículo?</a:t>
            </a:r>
          </a:p>
        </p:txBody>
      </p:sp>
      <p:sp>
        <p:nvSpPr>
          <p:cNvPr id="6" name="">
            <a:extLst xmlns:a="http://schemas.openxmlformats.org/drawingml/2006/main">
              <a:ext uri="{FF2B5EF4-FFF2-40B4-BE49-F238E27FC236}">
                <a16:creationId xmlns:a16="http://schemas.microsoft.com/office/drawing/2014/main" id="{28454D59-C75F-4887-AB1C-438EAE24DCB2}"/>
              </a:ext>
            </a:extLst>
          </p:cNvPr>
          <p:cNvSpPr>
            <a:spLocks xmlns:a="http://schemas.openxmlformats.org/drawingml/2006/main" noGrp="1"/>
          </p:cNvSpPr>
          <p:nvPr/>
        </p:nvSpPr>
        <p:spPr>
          <a:xfrm xmlns:a="http://schemas.openxmlformats.org/drawingml/2006/main">
            <a:off x="590550" y="5486400"/>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8C8C1"/>
                </a:solidFill>
                <a:latin typeface="Arial"/>
                <a:ea typeface="Arial"/>
                <a:cs typeface="Arial"/>
              </a:defRPr>
            </a:defPPr>
            <a:lvl1pPr>
              <a:defRPr sz="2175" b="0">
                <a:solidFill>
                  <a:srgbClr val="B8C8C1"/>
                </a:solidFill>
                <a:latin typeface="Arial"/>
                <a:ea typeface="Arial"/>
                <a:cs typeface="Arial"/>
              </a:defRPr>
            </a:lvl1pPr>
            <a:lvl2pPr>
              <a:defRPr sz="2175" b="0">
                <a:solidFill>
                  <a:srgbClr val="B8C8C1"/>
                </a:solidFill>
                <a:latin typeface="Arial"/>
                <a:ea typeface="Arial"/>
                <a:cs typeface="Arial"/>
              </a:defRPr>
            </a:lvl2pPr>
            <a:lvl3pPr>
              <a:defRPr sz="2175" b="0">
                <a:solidFill>
                  <a:srgbClr val="B8C8C1"/>
                </a:solidFill>
                <a:latin typeface="Arial"/>
                <a:ea typeface="Arial"/>
                <a:cs typeface="Arial"/>
              </a:defRPr>
            </a:lvl3pPr>
            <a:lvl4pPr>
              <a:defRPr sz="2175" b="0">
                <a:solidFill>
                  <a:srgbClr val="B8C8C1"/>
                </a:solidFill>
                <a:latin typeface="Arial"/>
                <a:ea typeface="Arial"/>
                <a:cs typeface="Arial"/>
              </a:defRPr>
            </a:lvl4pPr>
            <a:lvl5pPr>
              <a:defRPr sz="2175" b="0">
                <a:solidFill>
                  <a:srgbClr val="B8C8C1"/>
                </a:solidFill>
                <a:latin typeface="Arial"/>
                <a:ea typeface="Arial"/>
                <a:cs typeface="Arial"/>
              </a:defRPr>
            </a:lvl5pPr>
            <a:lvl6pPr>
              <a:defRPr sz="2175" b="0">
                <a:solidFill>
                  <a:srgbClr val="B8C8C1"/>
                </a:solidFill>
                <a:latin typeface="Arial"/>
                <a:ea typeface="Arial"/>
                <a:cs typeface="Arial"/>
              </a:defRPr>
            </a:lvl6pPr>
            <a:lvl7pPr>
              <a:defRPr sz="2175" b="0">
                <a:solidFill>
                  <a:srgbClr val="B8C8C1"/>
                </a:solidFill>
                <a:latin typeface="Arial"/>
                <a:ea typeface="Arial"/>
                <a:cs typeface="Arial"/>
              </a:defRPr>
            </a:lvl7pPr>
            <a:lvl8pPr>
              <a:defRPr sz="2175" b="0">
                <a:solidFill>
                  <a:srgbClr val="B8C8C1"/>
                </a:solidFill>
                <a:latin typeface="Arial"/>
                <a:ea typeface="Arial"/>
                <a:cs typeface="Arial"/>
              </a:defRPr>
            </a:lvl8pPr>
            <a:lvl9pPr>
              <a:defRPr sz="2175" b="0">
                <a:solidFill>
                  <a:srgbClr val="B8C8C1"/>
                </a:solidFill>
                <a:latin typeface="Arial"/>
                <a:ea typeface="Arial"/>
                <a:cs typeface="Arial"/>
              </a:defRPr>
            </a:lvl9pPr>
          </a:lstStyle>
          <a:p xmlns:a="http://schemas.openxmlformats.org/drawingml/2006/main">
            <a:pPr>
              <a:defRPr sz="2175" b="0">
                <a:solidFill>
                  <a:srgbClr val="B8C8C1"/>
                </a:solidFill>
                <a:latin typeface="Arial"/>
                <a:ea typeface="Arial"/>
                <a:cs typeface="Arial"/>
              </a:defRPr>
            </a:pPr>
            <a:r>
              <a:rPr sz="2175" b="0">
                <a:solidFill>
                  <a:srgbClr val="B8C8C1"/>
                </a:solidFill>
                <a:latin typeface="Arial"/>
                <a:ea typeface="Arial"/>
                <a:cs typeface="Arial"/>
              </a:rPr>
              <a:t>Explica tu elección con una pieza, un archivo o un dato de la clase.</a:t>
            </a:r>
          </a:p>
        </p:txBody>
      </p:sp>
    </p:spTree>
    <p:extLst>
      <p:ext uri="{BB962C8B-B14F-4D97-AF65-F5344CB8AC3E}">
        <p14:creationId xmlns:p14="http://schemas.microsoft.com/office/powerpoint/2010/main" val="1637770050"/>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67D5E6-DE4B-4992-90E9-43497E20B282}"/>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Tres preguntas para cerrar</a:t>
            </a:r>
          </a:p>
        </p:txBody>
      </p:sp>
      <p:pic>
        <p:nvPicPr>
          <p:cNvPr id="2" name="">
            <a:extLst xmlns:a="http://schemas.openxmlformats.org/drawingml/2006/main">
              <a:ext uri="{FF2B5EF4-FFF2-40B4-BE49-F238E27FC236}">
                <a16:creationId xmlns:a16="http://schemas.microsoft.com/office/drawing/2014/main" id="{0B97181D-5BE7-447B-BCBD-889CCB1E59A2}"/>
              </a:ext>
            </a:extLst>
          </p:cNvPr>
          <p:cNvPicPr>
            <a:picLocks xmlns:a="http://schemas.openxmlformats.org/drawingml/2006/main" noChangeAspect="1"/>
          </p:cNvPicPr>
          <p:nvPr/>
        </p:nvPicPr>
        <p:blipFill>
          <a:blip xmlns:r="http://schemas.openxmlformats.org/officeDocument/2006/relationships" xmlns:a="http://schemas.openxmlformats.org/drawingml/2006/main" r:embed="R038ff45a1dd147a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76401B6-3B2F-42C0-892F-474F6676EDF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22/24</a:t>
            </a:r>
          </a:p>
        </p:txBody>
      </p:sp>
      <p:sp>
        <p:nvSpPr>
          <p:cNvPr id="4" name="">
            <a:extLst xmlns:a="http://schemas.openxmlformats.org/drawingml/2006/main">
              <a:ext uri="{FF2B5EF4-FFF2-40B4-BE49-F238E27FC236}">
                <a16:creationId xmlns:a16="http://schemas.microsoft.com/office/drawing/2014/main" id="{17DB8A52-C599-4DF1-9F1C-9D2D8D78BF45}"/>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¿El retardo del código equivale al tiempo de empuje?</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¿Impulso y energía tienen las mismas unidades?</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¿openMotor sustituye a OpenRocket?</a:t>
            </a:r>
          </a:p>
        </p:txBody>
      </p:sp>
    </p:spTree>
    <p:extLst>
      <p:ext uri="{BB962C8B-B14F-4D97-AF65-F5344CB8AC3E}">
        <p14:creationId xmlns:p14="http://schemas.microsoft.com/office/powerpoint/2010/main" val="1909572375"/>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8CE608-B09F-4D8C-A0EC-5CDAD314387F}"/>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Cómo explicar las respuestas</a:t>
            </a:r>
          </a:p>
        </p:txBody>
      </p:sp>
      <p:pic>
        <p:nvPicPr>
          <p:cNvPr id="2" name="">
            <a:extLst xmlns:a="http://schemas.openxmlformats.org/drawingml/2006/main">
              <a:ext uri="{FF2B5EF4-FFF2-40B4-BE49-F238E27FC236}">
                <a16:creationId xmlns:a16="http://schemas.microsoft.com/office/drawing/2014/main" id="{8EBCD644-A961-406D-871E-D76706F504D1}"/>
              </a:ext>
            </a:extLst>
          </p:cNvPr>
          <p:cNvPicPr>
            <a:picLocks xmlns:a="http://schemas.openxmlformats.org/drawingml/2006/main" noChangeAspect="1"/>
          </p:cNvPicPr>
          <p:nvPr/>
        </p:nvPicPr>
        <p:blipFill>
          <a:blip xmlns:r="http://schemas.openxmlformats.org/officeDocument/2006/relationships" xmlns:a="http://schemas.openxmlformats.org/drawingml/2006/main" r:embed="R73f638aeaac14c6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3A0B0F2-D2F8-4AD1-8166-2A90C997EAB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4   CLASE 08   23/24</a:t>
            </a:r>
          </a:p>
        </p:txBody>
      </p:sp>
      <p:sp>
        <p:nvSpPr>
          <p:cNvPr id="4" name="">
            <a:extLst xmlns:a="http://schemas.openxmlformats.org/drawingml/2006/main">
              <a:ext uri="{FF2B5EF4-FFF2-40B4-BE49-F238E27FC236}">
                <a16:creationId xmlns:a16="http://schemas.microsoft.com/office/drawing/2014/main" id="{1CC39969-DD23-4782-9610-E931EB22496D}"/>
              </a:ext>
            </a:extLst>
          </p:cNvPr>
          <p:cNvSpPr>
            <a:spLocks xmlns:a="http://schemas.openxmlformats.org/drawingml/2006/main" noGrp="1"/>
          </p:cNvSpPr>
          <p:nvPr/>
        </p:nvSpPr>
        <p:spPr>
          <a:xfrm xmlns:a="http://schemas.openxmlformats.org/drawingml/2006/main">
            <a:off x="590550" y="1743075"/>
            <a:ext cx="10810875"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1. No. Son tiempos diferentes.</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2. No. El impulso se expresa en N·s y la energía en J.</a:t>
            </a:r>
          </a:p>
          <a:p xmlns:a="http://schemas.openxmlformats.org/drawingml/2006/main">
            <a:r>
              <a:t/>
            </a:r>
          </a:p>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3. No. Representan objetos de estudio diferentes.</a:t>
            </a:r>
          </a:p>
        </p:txBody>
      </p:sp>
    </p:spTree>
    <p:extLst>
      <p:ext uri="{BB962C8B-B14F-4D97-AF65-F5344CB8AC3E}">
        <p14:creationId xmlns:p14="http://schemas.microsoft.com/office/powerpoint/2010/main" val="980791891"/>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8381CE-D468-4047-A875-7664874B22A7}"/>
              </a:ext>
            </a:extLst>
          </p:cNvPr>
          <p:cNvSpPr>
            <a:spLocks xmlns:a="http://schemas.openxmlformats.org/drawingml/2006/main" noGrp="1"/>
          </p:cNvSpPr>
          <p:nvPr/>
        </p:nvSpPr>
        <p:spPr>
          <a:xfrm xmlns:a="http://schemas.openxmlformats.org/drawingml/2006/main">
            <a:off x="590550" y="428625"/>
            <a:ext cx="1009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BE53FFEC-8628-41CF-B3E2-890AD1C44262}"/>
              </a:ext>
            </a:extLst>
          </p:cNvPr>
          <p:cNvPicPr>
            <a:picLocks xmlns:a="http://schemas.openxmlformats.org/drawingml/2006/main" noChangeAspect="1"/>
          </p:cNvPicPr>
          <p:nvPr/>
        </p:nvPicPr>
        <p:blipFill>
          <a:blip xmlns:r="http://schemas.openxmlformats.org/officeDocument/2006/relationships" xmlns:a="http://schemas.openxmlformats.org/drawingml/2006/main" r:embed="R90b669da39d9471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BE86BC0-6715-4D06-835B-C106C88354E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4   CLASE 08   24/24</a:t>
            </a:r>
          </a:p>
        </p:txBody>
      </p:sp>
      <p:sp>
        <p:nvSpPr>
          <p:cNvPr id="4" name="">
            <a:extLst xmlns:a="http://schemas.openxmlformats.org/drawingml/2006/main">
              <a:ext uri="{FF2B5EF4-FFF2-40B4-BE49-F238E27FC236}">
                <a16:creationId xmlns:a16="http://schemas.microsoft.com/office/drawing/2014/main" id="{89766F66-B04D-43D9-AB2A-445EF8464475}"/>
              </a:ext>
            </a:extLst>
          </p:cNvPr>
          <p:cNvSpPr>
            <a:spLocks xmlns:a="http://schemas.openxmlformats.org/drawingml/2006/main" noGrp="1"/>
          </p:cNvSpPr>
          <p:nvPr/>
        </p:nvSpPr>
        <p:spPr>
          <a:xfrm xmlns:a="http://schemas.openxmlformats.org/drawingml/2006/main">
            <a:off x="590550" y="1800225"/>
            <a:ext cx="10715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AEF4BB"/>
                </a:solidFill>
                <a:latin typeface="Arial"/>
                <a:ea typeface="Arial"/>
                <a:cs typeface="Arial"/>
              </a:defRPr>
            </a:defPPr>
            <a:lvl1pPr>
              <a:defRPr sz="2925" b="1">
                <a:solidFill>
                  <a:srgbClr val="AEF4BB"/>
                </a:solidFill>
                <a:latin typeface="Arial"/>
                <a:ea typeface="Arial"/>
                <a:cs typeface="Arial"/>
              </a:defRPr>
            </a:lvl1pPr>
            <a:lvl2pPr>
              <a:defRPr sz="2925" b="1">
                <a:solidFill>
                  <a:srgbClr val="AEF4BB"/>
                </a:solidFill>
                <a:latin typeface="Arial"/>
                <a:ea typeface="Arial"/>
                <a:cs typeface="Arial"/>
              </a:defRPr>
            </a:lvl2pPr>
            <a:lvl3pPr>
              <a:defRPr sz="2925" b="1">
                <a:solidFill>
                  <a:srgbClr val="AEF4BB"/>
                </a:solidFill>
                <a:latin typeface="Arial"/>
                <a:ea typeface="Arial"/>
                <a:cs typeface="Arial"/>
              </a:defRPr>
            </a:lvl3pPr>
            <a:lvl4pPr>
              <a:defRPr sz="2925" b="1">
                <a:solidFill>
                  <a:srgbClr val="AEF4BB"/>
                </a:solidFill>
                <a:latin typeface="Arial"/>
                <a:ea typeface="Arial"/>
                <a:cs typeface="Arial"/>
              </a:defRPr>
            </a:lvl4pPr>
            <a:lvl5pPr>
              <a:defRPr sz="2925" b="1">
                <a:solidFill>
                  <a:srgbClr val="AEF4BB"/>
                </a:solidFill>
                <a:latin typeface="Arial"/>
                <a:ea typeface="Arial"/>
                <a:cs typeface="Arial"/>
              </a:defRPr>
            </a:lvl5pPr>
            <a:lvl6pPr>
              <a:defRPr sz="2925" b="1">
                <a:solidFill>
                  <a:srgbClr val="AEF4BB"/>
                </a:solidFill>
                <a:latin typeface="Arial"/>
                <a:ea typeface="Arial"/>
                <a:cs typeface="Arial"/>
              </a:defRPr>
            </a:lvl6pPr>
            <a:lvl7pPr>
              <a:defRPr sz="2925" b="1">
                <a:solidFill>
                  <a:srgbClr val="AEF4BB"/>
                </a:solidFill>
                <a:latin typeface="Arial"/>
                <a:ea typeface="Arial"/>
                <a:cs typeface="Arial"/>
              </a:defRPr>
            </a:lvl7pPr>
            <a:lvl8pPr>
              <a:defRPr sz="2925" b="1">
                <a:solidFill>
                  <a:srgbClr val="AEF4BB"/>
                </a:solidFill>
                <a:latin typeface="Arial"/>
                <a:ea typeface="Arial"/>
                <a:cs typeface="Arial"/>
              </a:defRPr>
            </a:lvl8pPr>
            <a:lvl9pPr>
              <a:defRPr sz="2925" b="1">
                <a:solidFill>
                  <a:srgbClr val="AEF4BB"/>
                </a:solidFill>
                <a:latin typeface="Arial"/>
                <a:ea typeface="Arial"/>
                <a:cs typeface="Arial"/>
              </a:defRPr>
            </a:lvl9pPr>
          </a:lstStyle>
          <a:p xmlns:a="http://schemas.openxmlformats.org/drawingml/2006/main">
            <a:pPr>
              <a:defRPr sz="2925" b="1">
                <a:solidFill>
                  <a:srgbClr val="AEF4BB"/>
                </a:solidFill>
                <a:latin typeface="Arial"/>
                <a:ea typeface="Arial"/>
                <a:cs typeface="Arial"/>
              </a:defRPr>
            </a:pPr>
            <a:r>
              <a:rPr sz="2925" b="1">
                <a:solidFill>
                  <a:srgbClr val="AEF4BB"/>
                </a:solidFill>
                <a:latin typeface="Arial"/>
                <a:ea typeface="Arial"/>
                <a:cs typeface="Arial"/>
              </a:rPr>
              <a:t>Ficha comercial y lectura conceptual de una salida identificada.</a:t>
            </a:r>
          </a:p>
        </p:txBody>
      </p:sp>
      <p:sp>
        <p:nvSpPr>
          <p:cNvPr id="5" name="">
            <a:extLst xmlns:a="http://schemas.openxmlformats.org/drawingml/2006/main">
              <a:ext uri="{FF2B5EF4-FFF2-40B4-BE49-F238E27FC236}">
                <a16:creationId xmlns:a16="http://schemas.microsoft.com/office/drawing/2014/main" id="{DDD0C602-EE43-44AA-8972-01F0B548A6D1}"/>
              </a:ext>
            </a:extLst>
          </p:cNvPr>
          <p:cNvSpPr>
            <a:spLocks xmlns:a="http://schemas.openxmlformats.org/drawingml/2006/main" noGrp="1"/>
          </p:cNvSpPr>
          <p:nvPr/>
        </p:nvSpPr>
        <p:spPr>
          <a:xfrm xmlns:a="http://schemas.openxmlformats.org/drawingml/2006/main">
            <a:off x="590550" y="4314825"/>
            <a:ext cx="10715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Conserva la revisión del equipo y señala qué comprobación sigue pendiente.</a:t>
            </a:r>
          </a:p>
        </p:txBody>
      </p:sp>
    </p:spTree>
    <p:extLst>
      <p:ext uri="{BB962C8B-B14F-4D97-AF65-F5344CB8AC3E}">
        <p14:creationId xmlns:p14="http://schemas.microsoft.com/office/powerpoint/2010/main" val="8017891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2026-10-22T18:50:17.7730000Z</dcterms:created>
  <dcterms:modified xsi:type="dcterms:W3CDTF">2026-10-22T18:50:17.7730000Z</dcterms:modified>
</coreProperties>
</file>