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slides/charts/chart1.xml" ContentType="application/vnd.openxmlformats-officedocument.drawingml.chart+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5d908f832b64a6c" /><Relationship Type="http://schemas.openxmlformats.org/officeDocument/2006/relationships/extended-properties" Target="/docProps/app.xml" Id="R4a3c317ff7974f76" /><Relationship Type="http://schemas.openxmlformats.org/officeDocument/2006/relationships/officeDocument" Target="/ppt/presentation.xml" Id="R007041a9a9ee4f2b" /></Relationships>
</file>

<file path=ppt/presentation.xml><?xml version="1.0" encoding="utf-8"?>
<p:presentation xmlns:p="http://schemas.openxmlformats.org/presentationml/2006/main">
  <p:sldMasterIdLst>
    <p:sldMasterId xmlns:r="http://schemas.openxmlformats.org/officeDocument/2006/relationships" id="2147483648" r:id="Rf8fec14ac8f24a55"/>
  </p:sldMasterIdLst>
  <p:notesMasterIdLst>
    <p:notesMasterId xmlns:r="http://schemas.openxmlformats.org/officeDocument/2006/relationships" r:id="R8c81ef846e3e49bc"/>
  </p:notesMasterIdLst>
  <p:sldIdLst>
    <p:sldId xmlns:r="http://schemas.openxmlformats.org/officeDocument/2006/relationships" id="256" r:id="Rac7676e68d304470"/>
    <p:sldId xmlns:r="http://schemas.openxmlformats.org/officeDocument/2006/relationships" id="257" r:id="Rd2e7800ff7ef48ef"/>
    <p:sldId xmlns:r="http://schemas.openxmlformats.org/officeDocument/2006/relationships" id="258" r:id="R6e5a88a0f92a484e"/>
    <p:sldId xmlns:r="http://schemas.openxmlformats.org/officeDocument/2006/relationships" id="259" r:id="R6681a0a6b2464d28"/>
    <p:sldId xmlns:r="http://schemas.openxmlformats.org/officeDocument/2006/relationships" id="260" r:id="R26b2e9a303084113"/>
    <p:sldId xmlns:r="http://schemas.openxmlformats.org/officeDocument/2006/relationships" id="261" r:id="Ref0237001c464968"/>
    <p:sldId xmlns:r="http://schemas.openxmlformats.org/officeDocument/2006/relationships" id="262" r:id="Rd716b668bf65407f"/>
    <p:sldId xmlns:r="http://schemas.openxmlformats.org/officeDocument/2006/relationships" id="263" r:id="Rdce92afe4bc9495b"/>
    <p:sldId xmlns:r="http://schemas.openxmlformats.org/officeDocument/2006/relationships" id="264" r:id="R1f0a0dd614d5427d"/>
    <p:sldId xmlns:r="http://schemas.openxmlformats.org/officeDocument/2006/relationships" id="265" r:id="R430289fc6a2043e5"/>
    <p:sldId xmlns:r="http://schemas.openxmlformats.org/officeDocument/2006/relationships" id="266" r:id="R16e3dc57b3444ea3"/>
    <p:sldId xmlns:r="http://schemas.openxmlformats.org/officeDocument/2006/relationships" id="267" r:id="Ra60139c0e23a4cee"/>
    <p:sldId xmlns:r="http://schemas.openxmlformats.org/officeDocument/2006/relationships" id="268" r:id="Rc8776a3e224a4a8c"/>
    <p:sldId xmlns:r="http://schemas.openxmlformats.org/officeDocument/2006/relationships" id="269" r:id="Rcc74468fad064ef5"/>
    <p:sldId xmlns:r="http://schemas.openxmlformats.org/officeDocument/2006/relationships" id="270" r:id="R86e3835c24264167"/>
    <p:sldId xmlns:r="http://schemas.openxmlformats.org/officeDocument/2006/relationships" id="271" r:id="R2ee1a4906ae74128"/>
    <p:sldId xmlns:r="http://schemas.openxmlformats.org/officeDocument/2006/relationships" id="272" r:id="R4cb2347238f348c0"/>
    <p:sldId xmlns:r="http://schemas.openxmlformats.org/officeDocument/2006/relationships" id="273" r:id="Rcbe7f070fb6c4afb"/>
    <p:sldId xmlns:r="http://schemas.openxmlformats.org/officeDocument/2006/relationships" id="274" r:id="R43d9ff7e198144f7"/>
    <p:sldId xmlns:r="http://schemas.openxmlformats.org/officeDocument/2006/relationships" id="275" r:id="R995b35a7487f441a"/>
    <p:sldId xmlns:r="http://schemas.openxmlformats.org/officeDocument/2006/relationships" id="276" r:id="Rd8d6e2eefbc5464d"/>
    <p:sldId xmlns:r="http://schemas.openxmlformats.org/officeDocument/2006/relationships" id="277" r:id="R8eb912d1dcf34b59"/>
    <p:sldId xmlns:r="http://schemas.openxmlformats.org/officeDocument/2006/relationships" id="278" r:id="R2f8428d4c3d8457f"/>
    <p:sldId xmlns:r="http://schemas.openxmlformats.org/officeDocument/2006/relationships" id="279" r:id="R6c359881f54e4fc2"/>
    <p:sldId xmlns:r="http://schemas.openxmlformats.org/officeDocument/2006/relationships" id="280" r:id="R36940205fc2a4550"/>
    <p:sldId xmlns:r="http://schemas.openxmlformats.org/officeDocument/2006/relationships" id="281" r:id="R9305a54333374988"/>
    <p:sldId xmlns:r="http://schemas.openxmlformats.org/officeDocument/2006/relationships" id="282" r:id="R1311f175ce554fa0"/>
    <p:sldId xmlns:r="http://schemas.openxmlformats.org/officeDocument/2006/relationships" id="283" r:id="R577c117255844be7"/>
    <p:sldId xmlns:r="http://schemas.openxmlformats.org/officeDocument/2006/relationships" id="284" r:id="R3859245c9a7c46fa"/>
    <p:sldId xmlns:r="http://schemas.openxmlformats.org/officeDocument/2006/relationships" id="285" r:id="R72c15fbf87544e7f"/>
    <p:sldId xmlns:r="http://schemas.openxmlformats.org/officeDocument/2006/relationships" id="286" r:id="Rf4b955bc276d4a40"/>
    <p:sldId xmlns:r="http://schemas.openxmlformats.org/officeDocument/2006/relationships" id="287" r:id="R40d71a4c761d4b5e"/>
    <p:sldId xmlns:r="http://schemas.openxmlformats.org/officeDocument/2006/relationships" id="288" r:id="Rf3679b57425a452e"/>
    <p:sldId xmlns:r="http://schemas.openxmlformats.org/officeDocument/2006/relationships" id="289" r:id="Rcbfd4356af7b4f03"/>
    <p:sldId xmlns:r="http://schemas.openxmlformats.org/officeDocument/2006/relationships" id="290" r:id="R61c1efeb00864643"/>
    <p:sldId xmlns:r="http://schemas.openxmlformats.org/officeDocument/2006/relationships" id="291" r:id="R252f41776bab4bc3"/>
    <p:sldId xmlns:r="http://schemas.openxmlformats.org/officeDocument/2006/relationships" id="292" r:id="Rbf7f4c169e4a43a3"/>
    <p:sldId xmlns:r="http://schemas.openxmlformats.org/officeDocument/2006/relationships" id="293" r:id="R70812625f06f4dd9"/>
    <p:sldId xmlns:r="http://schemas.openxmlformats.org/officeDocument/2006/relationships" id="294" r:id="R62ca8f732ec84131"/>
    <p:sldId xmlns:r="http://schemas.openxmlformats.org/officeDocument/2006/relationships" id="295" r:id="Rccfffd8a40bb4e37"/>
    <p:sldId xmlns:r="http://schemas.openxmlformats.org/officeDocument/2006/relationships" id="296" r:id="R28b3d25bc6b4449e"/>
    <p:sldId xmlns:r="http://schemas.openxmlformats.org/officeDocument/2006/relationships" id="297" r:id="Re79dfd3aac7e4916"/>
    <p:sldId xmlns:r="http://schemas.openxmlformats.org/officeDocument/2006/relationships" id="298" r:id="R2faa67dece174b47"/>
    <p:sldId xmlns:r="http://schemas.openxmlformats.org/officeDocument/2006/relationships" id="299" r:id="R4f72ec61395b4475"/>
    <p:sldId xmlns:r="http://schemas.openxmlformats.org/officeDocument/2006/relationships" id="300" r:id="R456b01d215124e4c"/>
    <p:sldId xmlns:r="http://schemas.openxmlformats.org/officeDocument/2006/relationships" id="301" r:id="R0d8e63a530e1441a"/>
    <p:sldId xmlns:r="http://schemas.openxmlformats.org/officeDocument/2006/relationships" id="302" r:id="Ra91054f54d0b4bbc"/>
    <p:sldId xmlns:r="http://schemas.openxmlformats.org/officeDocument/2006/relationships" id="303" r:id="Rd4ee85195a4d48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1be74c39394433" /><Relationship Type="http://schemas.openxmlformats.org/officeDocument/2006/relationships/slideMaster" Target="/ppt/slideMasters/slideMaster1.xml" Id="Rf8fec14ac8f24a55" /><Relationship Type="http://schemas.openxmlformats.org/officeDocument/2006/relationships/notesMaster" Target="/ppt/notesMasters/notesMaster1.xml" Id="R8c81ef846e3e49bc" /><Relationship Type="http://schemas.openxmlformats.org/officeDocument/2006/relationships/presProps" Target="/ppt/presProps.xml" Id="R0d16b791dcf94d7a" /><Relationship Type="http://schemas.openxmlformats.org/officeDocument/2006/relationships/tableStyles" Target="/ppt/tableStyles.xml" Id="R575886fa8653452d" /><Relationship Type="http://schemas.openxmlformats.org/officeDocument/2006/relationships/slide" Target="/ppt/slides/slide1.xml" Id="Rac7676e68d304470" /><Relationship Type="http://schemas.openxmlformats.org/officeDocument/2006/relationships/slide" Target="/ppt/slides/slide2.xml" Id="Rd2e7800ff7ef48ef" /><Relationship Type="http://schemas.openxmlformats.org/officeDocument/2006/relationships/slide" Target="/ppt/slides/slide3.xml" Id="R6e5a88a0f92a484e" /><Relationship Type="http://schemas.openxmlformats.org/officeDocument/2006/relationships/slide" Target="/ppt/slides/slide4.xml" Id="R6681a0a6b2464d28" /><Relationship Type="http://schemas.openxmlformats.org/officeDocument/2006/relationships/slide" Target="/ppt/slides/slide5.xml" Id="R26b2e9a303084113" /><Relationship Type="http://schemas.openxmlformats.org/officeDocument/2006/relationships/slide" Target="/ppt/slides/slide6.xml" Id="Ref0237001c464968" /><Relationship Type="http://schemas.openxmlformats.org/officeDocument/2006/relationships/slide" Target="/ppt/slides/slide7.xml" Id="Rd716b668bf65407f" /><Relationship Type="http://schemas.openxmlformats.org/officeDocument/2006/relationships/slide" Target="/ppt/slides/slide8.xml" Id="Rdce92afe4bc9495b" /><Relationship Type="http://schemas.openxmlformats.org/officeDocument/2006/relationships/slide" Target="/ppt/slides/slide9.xml" Id="R1f0a0dd614d5427d" /><Relationship Type="http://schemas.openxmlformats.org/officeDocument/2006/relationships/slide" Target="/ppt/slides/slide10.xml" Id="R430289fc6a2043e5" /><Relationship Type="http://schemas.openxmlformats.org/officeDocument/2006/relationships/slide" Target="/ppt/slides/slide11.xml" Id="R16e3dc57b3444ea3" /><Relationship Type="http://schemas.openxmlformats.org/officeDocument/2006/relationships/slide" Target="/ppt/slides/slide12.xml" Id="Ra60139c0e23a4cee" /><Relationship Type="http://schemas.openxmlformats.org/officeDocument/2006/relationships/slide" Target="/ppt/slides/slide13.xml" Id="Rc8776a3e224a4a8c" /><Relationship Type="http://schemas.openxmlformats.org/officeDocument/2006/relationships/slide" Target="/ppt/slides/slide14.xml" Id="Rcc74468fad064ef5" /><Relationship Type="http://schemas.openxmlformats.org/officeDocument/2006/relationships/slide" Target="/ppt/slides/slide15.xml" Id="R86e3835c24264167" /><Relationship Type="http://schemas.openxmlformats.org/officeDocument/2006/relationships/slide" Target="/ppt/slides/slide16.xml" Id="R2ee1a4906ae74128" /><Relationship Type="http://schemas.openxmlformats.org/officeDocument/2006/relationships/slide" Target="/ppt/slides/slide17.xml" Id="R4cb2347238f348c0" /><Relationship Type="http://schemas.openxmlformats.org/officeDocument/2006/relationships/slide" Target="/ppt/slides/slide18.xml" Id="Rcbe7f070fb6c4afb" /><Relationship Type="http://schemas.openxmlformats.org/officeDocument/2006/relationships/slide" Target="/ppt/slides/slide19.xml" Id="R43d9ff7e198144f7" /><Relationship Type="http://schemas.openxmlformats.org/officeDocument/2006/relationships/slide" Target="/ppt/slides/slide20.xml" Id="R995b35a7487f441a" /><Relationship Type="http://schemas.openxmlformats.org/officeDocument/2006/relationships/slide" Target="/ppt/slides/slide21.xml" Id="Rd8d6e2eefbc5464d" /><Relationship Type="http://schemas.openxmlformats.org/officeDocument/2006/relationships/slide" Target="/ppt/slides/slide22.xml" Id="R8eb912d1dcf34b59" /><Relationship Type="http://schemas.openxmlformats.org/officeDocument/2006/relationships/slide" Target="/ppt/slides/slide23.xml" Id="R2f8428d4c3d8457f" /><Relationship Type="http://schemas.openxmlformats.org/officeDocument/2006/relationships/slide" Target="/ppt/slides/slide24.xml" Id="R6c359881f54e4fc2" /><Relationship Type="http://schemas.openxmlformats.org/officeDocument/2006/relationships/slide" Target="/ppt/slides/slide25.xml" Id="R36940205fc2a4550" /><Relationship Type="http://schemas.openxmlformats.org/officeDocument/2006/relationships/slide" Target="/ppt/slides/slide26.xml" Id="R9305a54333374988" /><Relationship Type="http://schemas.openxmlformats.org/officeDocument/2006/relationships/slide" Target="/ppt/slides/slide27.xml" Id="R1311f175ce554fa0" /><Relationship Type="http://schemas.openxmlformats.org/officeDocument/2006/relationships/slide" Target="/ppt/slides/slide28.xml" Id="R577c117255844be7" /><Relationship Type="http://schemas.openxmlformats.org/officeDocument/2006/relationships/slide" Target="/ppt/slides/slide29.xml" Id="R3859245c9a7c46fa" /><Relationship Type="http://schemas.openxmlformats.org/officeDocument/2006/relationships/slide" Target="/ppt/slides/slide30.xml" Id="R72c15fbf87544e7f" /><Relationship Type="http://schemas.openxmlformats.org/officeDocument/2006/relationships/slide" Target="/ppt/slides/slide31.xml" Id="Rf4b955bc276d4a40" /><Relationship Type="http://schemas.openxmlformats.org/officeDocument/2006/relationships/slide" Target="/ppt/slides/slide32.xml" Id="R40d71a4c761d4b5e" /><Relationship Type="http://schemas.openxmlformats.org/officeDocument/2006/relationships/slide" Target="/ppt/slides/slide33.xml" Id="Rf3679b57425a452e" /><Relationship Type="http://schemas.openxmlformats.org/officeDocument/2006/relationships/slide" Target="/ppt/slides/slide34.xml" Id="Rcbfd4356af7b4f03" /><Relationship Type="http://schemas.openxmlformats.org/officeDocument/2006/relationships/slide" Target="/ppt/slides/slide35.xml" Id="R61c1efeb00864643" /><Relationship Type="http://schemas.openxmlformats.org/officeDocument/2006/relationships/slide" Target="/ppt/slides/slide36.xml" Id="R252f41776bab4bc3" /><Relationship Type="http://schemas.openxmlformats.org/officeDocument/2006/relationships/slide" Target="/ppt/slides/slide37.xml" Id="Rbf7f4c169e4a43a3" /><Relationship Type="http://schemas.openxmlformats.org/officeDocument/2006/relationships/slide" Target="/ppt/slides/slide38.xml" Id="R70812625f06f4dd9" /><Relationship Type="http://schemas.openxmlformats.org/officeDocument/2006/relationships/slide" Target="/ppt/slides/slide39.xml" Id="R62ca8f732ec84131" /><Relationship Type="http://schemas.openxmlformats.org/officeDocument/2006/relationships/slide" Target="/ppt/slides/slide40.xml" Id="Rccfffd8a40bb4e37" /><Relationship Type="http://schemas.openxmlformats.org/officeDocument/2006/relationships/slide" Target="/ppt/slides/slide41.xml" Id="R28b3d25bc6b4449e" /><Relationship Type="http://schemas.openxmlformats.org/officeDocument/2006/relationships/slide" Target="/ppt/slides/slide42.xml" Id="Re79dfd3aac7e4916" /><Relationship Type="http://schemas.openxmlformats.org/officeDocument/2006/relationships/slide" Target="/ppt/slides/slide43.xml" Id="R2faa67dece174b47" /><Relationship Type="http://schemas.openxmlformats.org/officeDocument/2006/relationships/slide" Target="/ppt/slides/slide44.xml" Id="R4f72ec61395b4475" /><Relationship Type="http://schemas.openxmlformats.org/officeDocument/2006/relationships/slide" Target="/ppt/slides/slide45.xml" Id="R456b01d215124e4c" /><Relationship Type="http://schemas.openxmlformats.org/officeDocument/2006/relationships/slide" Target="/ppt/slides/slide46.xml" Id="R0d8e63a530e1441a" /><Relationship Type="http://schemas.openxmlformats.org/officeDocument/2006/relationships/slide" Target="/ppt/slides/slide47.xml" Id="Ra91054f54d0b4bbc" /><Relationship Type="http://schemas.openxmlformats.org/officeDocument/2006/relationships/slide" Target="/ppt/slides/slide48.xml" Id="Rd4ee85195a4d48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faa49ace294f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02cfaf1ebe49c2" /><Relationship Type="http://schemas.openxmlformats.org/officeDocument/2006/relationships/notesMaster" Target="/ppt/notesMasters/notesMaster1.xml" Id="Rc7b14a21238a47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1fc93ae45e4e60" /><Relationship Type="http://schemas.openxmlformats.org/officeDocument/2006/relationships/notesMaster" Target="/ppt/notesMasters/notesMaster1.xml" Id="R257e66bce71b4d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638eb008244df1" /><Relationship Type="http://schemas.openxmlformats.org/officeDocument/2006/relationships/notesMaster" Target="/ppt/notesMasters/notesMaster1.xml" Id="R593ede9545604e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53e0c578af4980" /><Relationship Type="http://schemas.openxmlformats.org/officeDocument/2006/relationships/notesMaster" Target="/ppt/notesMasters/notesMaster1.xml" Id="R43d6af38170b40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c88a8782bd484d" /><Relationship Type="http://schemas.openxmlformats.org/officeDocument/2006/relationships/notesMaster" Target="/ppt/notesMasters/notesMaster1.xml" Id="R47e6947190664b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2fc8a53b7b44d0" /><Relationship Type="http://schemas.openxmlformats.org/officeDocument/2006/relationships/notesMaster" Target="/ppt/notesMasters/notesMaster1.xml" Id="R378b3e85267544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54169b969a4c50" /><Relationship Type="http://schemas.openxmlformats.org/officeDocument/2006/relationships/notesMaster" Target="/ppt/notesMasters/notesMaster1.xml" Id="R22cfcffa013543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f715de0a5c4867" /><Relationship Type="http://schemas.openxmlformats.org/officeDocument/2006/relationships/notesMaster" Target="/ppt/notesMasters/notesMaster1.xml" Id="Rb63df822319547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8d9bb1fd474b44" /><Relationship Type="http://schemas.openxmlformats.org/officeDocument/2006/relationships/notesMaster" Target="/ppt/notesMasters/notesMaster1.xml" Id="Rc1780e94a33345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94478cbe7c4729" /><Relationship Type="http://schemas.openxmlformats.org/officeDocument/2006/relationships/notesMaster" Target="/ppt/notesMasters/notesMaster1.xml" Id="Ra1ad6e9e83fd439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42d6b2f03944c8" /><Relationship Type="http://schemas.openxmlformats.org/officeDocument/2006/relationships/notesMaster" Target="/ppt/notesMasters/notesMaster1.xml" Id="Rd57a79f6dd9747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1a7603cc774901" /><Relationship Type="http://schemas.openxmlformats.org/officeDocument/2006/relationships/notesMaster" Target="/ppt/notesMasters/notesMaster1.xml" Id="Rf51db211b4ef4e0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041c6f6c6744fb5" /><Relationship Type="http://schemas.openxmlformats.org/officeDocument/2006/relationships/notesMaster" Target="/ppt/notesMasters/notesMaster1.xml" Id="R9db0306ed5ca47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d5378588e864319" /><Relationship Type="http://schemas.openxmlformats.org/officeDocument/2006/relationships/notesMaster" Target="/ppt/notesMasters/notesMaster1.xml" Id="R4f8a3e9d1e464e1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0715938c72f45cc" /><Relationship Type="http://schemas.openxmlformats.org/officeDocument/2006/relationships/notesMaster" Target="/ppt/notesMasters/notesMaster1.xml" Id="R145396c7da6c496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e67da6f9ddf4e1c" /><Relationship Type="http://schemas.openxmlformats.org/officeDocument/2006/relationships/notesMaster" Target="/ppt/notesMasters/notesMaster1.xml" Id="R4a39b0bed1bf465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a8e63662d9345c9" /><Relationship Type="http://schemas.openxmlformats.org/officeDocument/2006/relationships/notesMaster" Target="/ppt/notesMasters/notesMaster1.xml" Id="Rf91577e07c2e4c4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ca5b0c62c254af3" /><Relationship Type="http://schemas.openxmlformats.org/officeDocument/2006/relationships/notesMaster" Target="/ppt/notesMasters/notesMaster1.xml" Id="Rc31ac3ef72124b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6423fbae4174dd8" /><Relationship Type="http://schemas.openxmlformats.org/officeDocument/2006/relationships/notesMaster" Target="/ppt/notesMasters/notesMaster1.xml" Id="R720df23df7c0471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598624bbce845d1" /><Relationship Type="http://schemas.openxmlformats.org/officeDocument/2006/relationships/notesMaster" Target="/ppt/notesMasters/notesMaster1.xml" Id="R41433823ac774ea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c5989bef0364a02" /><Relationship Type="http://schemas.openxmlformats.org/officeDocument/2006/relationships/notesMaster" Target="/ppt/notesMasters/notesMaster1.xml" Id="R86ecc9e9636544f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862cf6402ca4352" /><Relationship Type="http://schemas.openxmlformats.org/officeDocument/2006/relationships/notesMaster" Target="/ppt/notesMasters/notesMaster1.xml" Id="R586b65a76883460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d06e3bb18f54301" /><Relationship Type="http://schemas.openxmlformats.org/officeDocument/2006/relationships/notesMaster" Target="/ppt/notesMasters/notesMaster1.xml" Id="R53d64dcdc90e43d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9b795b88d9349fc" /><Relationship Type="http://schemas.openxmlformats.org/officeDocument/2006/relationships/notesMaster" Target="/ppt/notesMasters/notesMaster1.xml" Id="R849598f0ccda4ab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6e120ad2a4b445f" /><Relationship Type="http://schemas.openxmlformats.org/officeDocument/2006/relationships/notesMaster" Target="/ppt/notesMasters/notesMaster1.xml" Id="Rcc8aed71d685451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0634b488f3143d9" /><Relationship Type="http://schemas.openxmlformats.org/officeDocument/2006/relationships/notesMaster" Target="/ppt/notesMasters/notesMaster1.xml" Id="R52519860ab87419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98230754ce9480a" /><Relationship Type="http://schemas.openxmlformats.org/officeDocument/2006/relationships/notesMaster" Target="/ppt/notesMasters/notesMaster1.xml" Id="Reab5f4e19cdc4b0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61350c4210e4f9a" /><Relationship Type="http://schemas.openxmlformats.org/officeDocument/2006/relationships/notesMaster" Target="/ppt/notesMasters/notesMaster1.xml" Id="Ra6b5728a1a04480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78d7cf007834aab" /><Relationship Type="http://schemas.openxmlformats.org/officeDocument/2006/relationships/notesMaster" Target="/ppt/notesMasters/notesMaster1.xml" Id="R141cdbf58f93410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9e59b5188c84fd1" /><Relationship Type="http://schemas.openxmlformats.org/officeDocument/2006/relationships/notesMaster" Target="/ppt/notesMasters/notesMaster1.xml" Id="Rf8193e9310cf46b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4e38e7a74f74841" /><Relationship Type="http://schemas.openxmlformats.org/officeDocument/2006/relationships/notesMaster" Target="/ppt/notesMasters/notesMaster1.xml" Id="Rfe0c1161baf34ce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241eae78e354186" /><Relationship Type="http://schemas.openxmlformats.org/officeDocument/2006/relationships/notesMaster" Target="/ppt/notesMasters/notesMaster1.xml" Id="R20725cece1a140d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9d31c4b22af4d35" /><Relationship Type="http://schemas.openxmlformats.org/officeDocument/2006/relationships/notesMaster" Target="/ppt/notesMasters/notesMaster1.xml" Id="Rf5ff5a07774a4eb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ae63ad81a304a22" /><Relationship Type="http://schemas.openxmlformats.org/officeDocument/2006/relationships/notesMaster" Target="/ppt/notesMasters/notesMaster1.xml" Id="R5131c6b2910249a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cc81546b9704f7b" /><Relationship Type="http://schemas.openxmlformats.org/officeDocument/2006/relationships/notesMaster" Target="/ppt/notesMasters/notesMaster1.xml" Id="Rdd5e81c60b954fc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5a33cd7e1f24af7" /><Relationship Type="http://schemas.openxmlformats.org/officeDocument/2006/relationships/notesMaster" Target="/ppt/notesMasters/notesMaster1.xml" Id="R49849b47c57145c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424c996d9fe49cd" /><Relationship Type="http://schemas.openxmlformats.org/officeDocument/2006/relationships/notesMaster" Target="/ppt/notesMasters/notesMaster1.xml" Id="R6f9a7a8edda0419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efc439754534a24" /><Relationship Type="http://schemas.openxmlformats.org/officeDocument/2006/relationships/notesMaster" Target="/ppt/notesMasters/notesMaster1.xml" Id="Ra257a81a16ab476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768434531404946" /><Relationship Type="http://schemas.openxmlformats.org/officeDocument/2006/relationships/notesMaster" Target="/ppt/notesMasters/notesMaster1.xml" Id="R6a4062d53fdc47c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e154791dd954ffb" /><Relationship Type="http://schemas.openxmlformats.org/officeDocument/2006/relationships/notesMaster" Target="/ppt/notesMasters/notesMaster1.xml" Id="R8b3365e625714d0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33db111c6824521" /><Relationship Type="http://schemas.openxmlformats.org/officeDocument/2006/relationships/notesMaster" Target="/ppt/notesMasters/notesMaster1.xml" Id="Rbdef578ba20c4a5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f6927eb253742d0" /><Relationship Type="http://schemas.openxmlformats.org/officeDocument/2006/relationships/notesMaster" Target="/ppt/notesMasters/notesMaster1.xml" Id="Rc38d854346e6473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15f6705dbf448f6" /><Relationship Type="http://schemas.openxmlformats.org/officeDocument/2006/relationships/notesMaster" Target="/ppt/notesMasters/notesMaster1.xml" Id="R7a1e59ef673347e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42565253bf84c07" /><Relationship Type="http://schemas.openxmlformats.org/officeDocument/2006/relationships/notesMaster" Target="/ppt/notesMasters/notesMaster1.xml" Id="Recb656cf2325432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bce83b8362d45df" /><Relationship Type="http://schemas.openxmlformats.org/officeDocument/2006/relationships/notesMaster" Target="/ppt/notesMasters/notesMaster1.xml" Id="R08c905631038489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c75f706d2d04d0d" /><Relationship Type="http://schemas.openxmlformats.org/officeDocument/2006/relationships/notesMaster" Target="/ppt/notesMasters/notesMaster1.xml" Id="Rf348283f18da493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40d4074da9a45ed" /><Relationship Type="http://schemas.openxmlformats.org/officeDocument/2006/relationships/notesMaster" Target="/ppt/notesMasters/notesMaster1.xml" Id="R94c79c561181424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90bf646acc0404c" /><Relationship Type="http://schemas.openxmlformats.org/officeDocument/2006/relationships/notesMaster" Target="/ppt/notesMasters/notesMaster1.xml" Id="Rb42558f9e2f543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3 min.</a:t>
            </a:r>
          </a:p>
          <a:p xmlns:a="http://schemas.openxmlformats.org/drawingml/2006/main">
            <a:r>
              <a:t/>
            </a:r>
          </a:p>
          <a:p xmlns:a="http://schemas.openxmlformats.org/drawingml/2006/main">
            <a:r>
              <a:t>Presenta el sistema extendido junto al cuerpo y pregunta dónde debe entrar y qué debe permanecer conectado.</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4 min.</a:t>
            </a:r>
          </a:p>
          <a:p xmlns:a="http://schemas.openxmlformats.org/drawingml/2006/main">
            <a:r>
              <a:t/>
            </a:r>
          </a:p>
          <a:p xmlns:a="http://schemas.openxmlformats.org/drawingml/2006/main">
            <a:r>
              <a:t>El sistema de recuperación se diseña junto al resto del modelo. Necesita espacio para guardarse, una conexión que mantenga las piezas relacionadas y un movimiento compatible con el conjunto comercial. Si se deja para el final, puede aparecer un cuerpo cerrado que no permite alojarlo o desplegarlo de la forma prevista.</a:t>
            </a:r>
          </a:p>
          <a:p xmlns:a="http://schemas.openxmlformats.org/drawingml/2006/main">
            <a:r>
              <a:t/>
            </a:r>
          </a:p>
          <a:p xmlns:a="http://schemas.openxmlformats.org/drawingml/2006/main">
            <a:r>
              <a:t>Paracaídas y cinta de recuperación aumentan el efecto del aire durante el descenso de maneras diferentes. Elegir uno depende de masa, tamaño, espacio y condiciones del vehículo. La clase no establece una solución universal ni un tamaño por longitud exterior: se revisa el sistema del modelo y su documentación.</a:t>
            </a:r>
          </a:p>
          <a:p xmlns:a="http://schemas.openxmlformats.org/drawingml/2006/main">
            <a:r>
              <a:t/>
            </a:r>
          </a:p>
          <a:p xmlns:a="http://schemas.openxmlformats.org/drawingml/2006/main">
            <a:r>
              <a:t>La recuperación permite completar la misión después del ascenso. Incluye un dispositivo, uniones, espacio de guardado, recorrido de salida y compatibilidad con el conjunto. El proyecto debe poder explicar dónde se encuentra cada parte antes, durante y después de su despliegue previsto. Una fotografía de un paracaídas abierto no muestra necesariamente si el mismo sistema cabe y se mueve en el cuerpo construido. Por eso el diseño se revisa como un conjunto.</a:t>
            </a:r>
          </a:p>
          <a:p xmlns:a="http://schemas.openxmlformats.org/drawingml/2006/main">
            <a:r>
              <a:t>Pregunta para el grupo: ¿Dónde se guarda y por dónde sale la recuperación?</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4 min.</a:t>
            </a:r>
          </a:p>
          <a:p xmlns:a="http://schemas.openxmlformats.org/drawingml/2006/main">
            <a:r>
              <a:t/>
            </a:r>
          </a:p>
          <a:p xmlns:a="http://schemas.openxmlformats.org/drawingml/2006/main">
            <a:r>
              <a:t>Recuperación en el ejemplo de OpenRocket. La representación enseña componentes; el proyecto usa un sistema concreto revisado por el docente.</a:t>
            </a:r>
          </a:p>
          <a:p xmlns:a="http://schemas.openxmlformats.org/drawingml/2006/main">
            <a:r>
              <a:t>Localizar en la imagen las partes relacionadas con la pregunta.</a:t>
            </a:r>
          </a:p>
          <a:p xmlns:a="http://schemas.openxmlformats.org/drawingml/2006/main">
            <a:r>
              <a:t>¿Dónde se guarda y por dónde sale la recuperación?</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5 min.</a:t>
            </a:r>
          </a:p>
          <a:p xmlns:a="http://schemas.openxmlformats.org/drawingml/2006/main">
            <a:r>
              <a:t/>
            </a:r>
          </a:p>
          <a:p xmlns:a="http://schemas.openxmlformats.org/drawingml/2006/main">
            <a:r>
              <a:t>Necesidad / Qué observar</a:t>
            </a:r>
          </a:p>
          <a:p xmlns:a="http://schemas.openxmlformats.org/drawingml/2006/main">
            <a:r>
              <a:t>Guardar / Envolvente y espacio disponible</a:t>
            </a:r>
          </a:p>
          <a:p xmlns:a="http://schemas.openxmlformats.org/drawingml/2006/main">
            <a:r>
              <a:t>Conectar / Cordones y uniones del sistema</a:t>
            </a:r>
          </a:p>
          <a:p xmlns:a="http://schemas.openxmlformats.org/drawingml/2006/main">
            <a:r>
              <a:t>Salir / Camino sin interferencias</a:t>
            </a:r>
          </a:p>
          <a:p xmlns:a="http://schemas.openxmlformats.org/drawingml/2006/main">
            <a:r>
              <a:t>Descender / Sistema apropiado al conjunto</a:t>
            </a:r>
          </a:p>
          <a:p xmlns:a="http://schemas.openxmlformats.org/drawingml/2006/main">
            <a:r>
              <a:t>Revisar / Acceso después del vuelo</a:t>
            </a:r>
          </a:p>
          <a:p xmlns:a="http://schemas.openxmlformats.org/drawingml/2006/main">
            <a:r>
              <a:t>Justificar una alternativa con la misión y señalar la comprobación necesaria.</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4 min.</a:t>
            </a:r>
          </a:p>
          <a:p xmlns:a="http://schemas.openxmlformats.org/drawingml/2006/main">
            <a:r>
              <a:t/>
            </a:r>
          </a:p>
          <a:p xmlns:a="http://schemas.openxmlformats.org/drawingml/2006/main">
            <a:r>
              <a:t>La comparación empieza con el conjunto comercial que el docente propone. Las piezas se presentan sin activar ningún mecanismo. Se observa qué ocupa cada elemento, qué partes deben permanecer conectadas y qué superficies pueden bloquear el movimiento. No se cambia un sistema simplemente porque otro parezca ocupar menos lugar.</a:t>
            </a:r>
          </a:p>
          <a:p xmlns:a="http://schemas.openxmlformats.org/drawingml/2006/main">
            <a:r>
              <a:t/>
            </a:r>
          </a:p>
          <a:p xmlns:a="http://schemas.openxmlformats.org/drawingml/2006/main">
            <a:r>
              <a:t>Un equipo quiere sustituir el paracaídas previsto por una cinta porque es más fácil de guardar.</a:t>
            </a:r>
          </a:p>
          <a:p xmlns:a="http://schemas.openxmlformats.org/drawingml/2006/main">
            <a:r>
              <a:t/>
            </a:r>
          </a:p>
          <a:p xmlns:a="http://schemas.openxmlformats.org/drawingml/2006/main">
            <a:r>
              <a:t>La finalidad de esta clase es que el alumno vea la recuperación como una función del vehículo. Saber nombrar el dispositivo es el comienzo, no la comprobación completa.</a:t>
            </a:r>
          </a:p>
          <a:p xmlns:a="http://schemas.openxmlformats.org/drawingml/2006/main">
            <a:r>
              <a:t/>
            </a:r>
          </a:p>
          <a:p xmlns:a="http://schemas.openxmlformats.org/drawingml/2006/main">
            <a:r>
              <a:t>El paracaídas y la cinta o streamer modifican la interacción del conjunto con el aire durante el descenso. Se diferencian en forma, volumen guardado y comportamiento previsto. Su elección depende de las condiciones y del vehículo, por lo que se sigue una solución comercial o docente identificada. Una opción que ocupa menos volumen no resuelve por sí sola el descenso. La tabla sirve para reconocer funciones y comprobar compatibilidad, no para intercambiar dispositivos solo por su apariencia.</a:t>
            </a:r>
          </a:p>
          <a:p xmlns:a="http://schemas.openxmlformats.org/drawingml/2006/main">
            <a:r>
              <a:t>Pregunta para el grupo: ¿Qué falta por revisar al sustituir el dispositivo?</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4 min.</a:t>
            </a:r>
          </a:p>
          <a:p xmlns:a="http://schemas.openxmlformats.org/drawingml/2006/main">
            <a:r>
              <a:t/>
            </a:r>
          </a:p>
          <a:p xmlns:a="http://schemas.openxmlformats.org/drawingml/2006/main">
            <a:r>
              <a:t>Sistema / Qué aporta a la discusión / Qué comprobar</a:t>
            </a:r>
          </a:p>
          <a:p xmlns:a="http://schemas.openxmlformats.org/drawingml/2006/main">
            <a:r>
              <a:t>Paracaídas / Superficie desplegada y descenso / Volumen plegado, cordones y sistema elegido</a:t>
            </a:r>
          </a:p>
          <a:p xmlns:a="http://schemas.openxmlformats.org/drawingml/2006/main">
            <a:r>
              <a:t>Cinta o streamer / Despliegue de una banda y seguimiento visual / Compatibilidad con masa y vehículo</a:t>
            </a:r>
          </a:p>
          <a:p xmlns:a="http://schemas.openxmlformats.org/drawingml/2006/main">
            <a:r>
              <a:t>Sistema del fabricante / Conjunto de piezas e instrucciones relacionadas / Referencias y montaje previstos</a:t>
            </a:r>
          </a:p>
          <a:p xmlns:a="http://schemas.openxmlformats.org/drawingml/2006/main">
            <a:r>
              <a:t>Comparar dos filas y justificar con la misión.</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Un equipo quiere sustituir el paracaídas previsto por una cinta porque es más fácil de guardar.</a:t>
            </a:r>
          </a:p>
          <a:p xmlns:a="http://schemas.openxmlformats.org/drawingml/2006/main">
            <a:r>
              <a:t>Explicación</a:t>
            </a:r>
          </a:p>
          <a:p xmlns:a="http://schemas.openxmlformats.org/drawingml/2006/main">
            <a:r>
              <a:t>La reducción de volumen es una observación útil, pero no resuelve el descenso del conjunto. El docente debe revisar masa, comportamiento previsto y compatibilidad. El cambio también se representa en el archivo.</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4 min.</a:t>
            </a:r>
          </a:p>
          <a:p xmlns:a="http://schemas.openxmlformats.org/drawingml/2006/main">
            <a:r>
              <a:t/>
            </a:r>
          </a:p>
          <a:p xmlns:a="http://schemas.openxmlformats.org/drawingml/2006/main">
            <a:r>
              <a:t>Las piezas conectadas pueden moverse unas respecto a otras sin quedar sueltas. Los cordones requieren un recorrido que se pueda guardar y revisar. Un borde, una arista impresa o una pieza interior pueden provocar rozamiento o enganchar un pliegue. La revisión visual debe hacerse con los objetos que realmente se montarán.</a:t>
            </a:r>
          </a:p>
          <a:p xmlns:a="http://schemas.openxmlformats.org/drawingml/2006/main">
            <a:r>
              <a:t/>
            </a:r>
          </a:p>
          <a:p xmlns:a="http://schemas.openxmlformats.org/drawingml/2006/main">
            <a:r>
              <a:t>En el proyecto con motor comercial se usan los elementos de protección y recuperación que corresponden al diseño y a sus instrucciones. Una impresión de aula no reemplaza por su apariencia una pieza de protección definida por el fabricante.</a:t>
            </a:r>
          </a:p>
          <a:p xmlns:a="http://schemas.openxmlformats.org/drawingml/2006/main">
            <a:r>
              <a:t/>
            </a:r>
          </a:p>
          <a:p xmlns:a="http://schemas.openxmlformats.org/drawingml/2006/main">
            <a:r>
              <a:t>La comprobación del recorrido se hace con el sistema real y su condición de guardado. Un cordón o pliegue cambia de posición al manipularlo. Por eso no basta verificar una abertura vacía. El docente prepara un método repetible de presentación y define qué puede concluirse. Si una corrección cambia el hombro, el borde o una pieza interior, el recorrido debe revisarse de nuevo antes de cerrar esa condición.</a:t>
            </a:r>
          </a:p>
          <a:p xmlns:a="http://schemas.openxmlformats.org/drawingml/2006/main">
            <a:r>
              <a:t>Pregunta para el grupo: ¿Qué borde puede interferir con el recorrido?</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4 min.</a:t>
            </a:r>
          </a:p>
          <a:p xmlns:a="http://schemas.openxmlformats.org/drawingml/2006/main">
            <a:r>
              <a:t/>
            </a:r>
          </a:p>
          <a:p xmlns:a="http://schemas.openxmlformats.org/drawingml/2006/main">
            <a:r>
              <a:t>Cordón del sistema de recuperación en el ejemplo oficial de OpenRocket. La unión real sigue la solución del conjunto elegido.</a:t>
            </a:r>
          </a:p>
          <a:p xmlns:a="http://schemas.openxmlformats.org/drawingml/2006/main">
            <a:r>
              <a:t>Localizar en la imagen las partes relacionadas con la pregunta.</a:t>
            </a:r>
          </a:p>
          <a:p xmlns:a="http://schemas.openxmlformats.org/drawingml/2006/main">
            <a:r>
              <a:t>¿Qué borde puede interferir con el recorrido?</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5 min.</a:t>
            </a:r>
          </a:p>
          <a:p xmlns:a="http://schemas.openxmlformats.org/drawingml/2006/main">
            <a:r>
              <a:t/>
            </a:r>
          </a:p>
          <a:p xmlns:a="http://schemas.openxmlformats.org/drawingml/2006/main">
            <a:r>
              <a:t>Identifica dónde se fija cada parte del sistema según la solución elegida.</a:t>
            </a:r>
          </a:p>
          <a:p xmlns:a="http://schemas.openxmlformats.org/drawingml/2006/main">
            <a:r>
              <a:t>Recorre con la vista el camino desde el interior hacia la abertura.</a:t>
            </a:r>
          </a:p>
          <a:p xmlns:a="http://schemas.openxmlformats.org/drawingml/2006/main">
            <a:r>
              <a:t>Presenta los componentes y comprueba si una pieza ocupa el mismo espacio que otra.</a:t>
            </a:r>
          </a:p>
          <a:p xmlns:a="http://schemas.openxmlformats.org/drawingml/2006/main">
            <a:r>
              <a:t>Observa los bordes y solicita al docente la corrección apropiada si afectan el recorrido.</a:t>
            </a:r>
          </a:p>
          <a:p xmlns:a="http://schemas.openxmlformats.org/drawingml/2006/main">
            <a:r>
              <a:t>Conserva una fotografía del acceso antes de cerrar el montaje.</a:t>
            </a:r>
          </a:p>
          <a:p xmlns:a="http://schemas.openxmlformats.org/drawingml/2006/main">
            <a:r>
              <a:t>Comprobar un paso en el objeto o programa antes de continuar.</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4 min.</a:t>
            </a:r>
          </a:p>
          <a:p xmlns:a="http://schemas.openxmlformats.org/drawingml/2006/main">
            <a:r>
              <a:t/>
            </a:r>
          </a:p>
          <a:p xmlns:a="http://schemas.openxmlformats.org/drawingml/2006/main">
            <a:r>
              <a:t>Un evento de programa no demuestra que el objeto se moverá sin interferencias. La revisión digital y la presentación física responden preguntas complementarias. [OR1, OR3]</a:t>
            </a:r>
          </a:p>
          <a:p xmlns:a="http://schemas.openxmlformats.org/drawingml/2006/main">
            <a:r>
              <a:t/>
            </a:r>
          </a:p>
          <a:p xmlns:a="http://schemas.openxmlformats.org/drawingml/2006/main">
            <a:r>
              <a:t>En el programa se representa un dispositivo con dimensiones, masa y una condición de despliegue. Esos campos describen una hipótesis del modelo. En el objeto físico interesa comprobar piezas y recorrido según el procedimiento del responsable. Mantener ambos registros relacionados permite descubrir, por ejemplo, que el archivo usa un dispositivo diferente al preparado en taller. La revisión digital y la de banco aportan evidencias distintas a la decisión del docente.</a:t>
            </a:r>
          </a:p>
          <a:p xmlns:a="http://schemas.openxmlformats.org/drawingml/2006/main">
            <a:r>
              <a:t>Pregunta para el grupo: ¿El evento digital representa el sistema previsto?</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4 min.</a:t>
            </a:r>
          </a:p>
          <a:p xmlns:a="http://schemas.openxmlformats.org/drawingml/2006/main">
            <a:r>
              <a:t/>
            </a:r>
          </a:p>
          <a:p xmlns:a="http://schemas.openxmlformats.org/drawingml/2006/main">
            <a:r>
              <a:t>Ventana de recuperación del manual de OpenRocket. Los datos corresponden a su ejemplo; se introducen los del sistema del equipo.</a:t>
            </a:r>
          </a:p>
          <a:p xmlns:a="http://schemas.openxmlformats.org/drawingml/2006/main">
            <a:r>
              <a:t>Localizar en la imagen las partes relacionadas con la pregunta.</a:t>
            </a:r>
          </a:p>
          <a:p xmlns:a="http://schemas.openxmlformats.org/drawingml/2006/main">
            <a:r>
              <a:t>¿El evento digital representa el sistema previsto?</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5 min.</a:t>
            </a:r>
          </a:p>
          <a:p xmlns:a="http://schemas.openxmlformats.org/drawingml/2006/main">
            <a:r>
              <a:t/>
            </a:r>
          </a:p>
          <a:p xmlns:a="http://schemas.openxmlformats.org/drawingml/2006/main">
            <a:r>
              <a:t>Abre el archivo completo y confirma qué dispositivo representa la recuperación.</a:t>
            </a:r>
          </a:p>
          <a:p xmlns:a="http://schemas.openxmlformats.org/drawingml/2006/main">
            <a:r>
              <a:t>Introduce dimensiones y masa del componente seleccionado o su representación adecuada.</a:t>
            </a:r>
          </a:p>
          <a:p xmlns:a="http://schemas.openxmlformats.org/drawingml/2006/main">
            <a:r>
              <a:t>Revisa el evento de despliegue que corresponde al sistema previsto.</a:t>
            </a:r>
          </a:p>
          <a:p xmlns:a="http://schemas.openxmlformats.org/drawingml/2006/main">
            <a:r>
              <a:t>Comprueba en la configuración comercial qué retardo o evento se está utilizando y deja la revisión al docente.</a:t>
            </a:r>
          </a:p>
          <a:p xmlns:a="http://schemas.openxmlformats.org/drawingml/2006/main">
            <a:r>
              <a:t>Ejecuta nuevamente la predicción y observa el evento de recuperación respecto al apogeo.</a:t>
            </a:r>
          </a:p>
          <a:p xmlns:a="http://schemas.openxmlformats.org/drawingml/2006/main">
            <a:r>
              <a:t>Guarda la configuración y las gráficas; no cambies solo el nombre del archivo.</a:t>
            </a:r>
          </a:p>
          <a:p xmlns:a="http://schemas.openxmlformats.org/drawingml/2006/main">
            <a:r>
              <a:t>Comprobar un paso en el objeto o programa antes de continuar.</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4 min.</a:t>
            </a:r>
          </a:p>
          <a:p xmlns:a="http://schemas.openxmlformats.org/drawingml/2006/main">
            <a:r>
              <a:t/>
            </a:r>
          </a:p>
          <a:p xmlns:a="http://schemas.openxmlformats.org/drawingml/2006/main">
            <a:r>
              <a:t>La comprobación de clase se realiza sin activar un motor ni un dispositivo energético. Permite estudiar espacio, acceso y movimiento con el método de presentación definido por el docente. No reproduce por completo las condiciones de vuelo, por lo que su conclusión debe conservar ese alcance.</a:t>
            </a:r>
          </a:p>
          <a:p xmlns:a="http://schemas.openxmlformats.org/drawingml/2006/main">
            <a:r>
              <a:t/>
            </a:r>
          </a:p>
          <a:p xmlns:a="http://schemas.openxmlformats.org/drawingml/2006/main">
            <a:r>
              <a:t>En la presentación, un reborde del hombro impide el movimiento libre de una parte del sistema.</a:t>
            </a:r>
          </a:p>
          <a:p xmlns:a="http://schemas.openxmlformats.org/drawingml/2006/main">
            <a:r>
              <a:t/>
            </a:r>
          </a:p>
          <a:p xmlns:a="http://schemas.openxmlformats.org/drawingml/2006/main">
            <a:r>
              <a:t>La prueba de banco debe conservar las piezas y la revisión examinadas. Una modificación posterior puede requerir repetirla.</a:t>
            </a:r>
          </a:p>
          <a:p xmlns:a="http://schemas.openxmlformats.org/drawingml/2006/main">
            <a:r>
              <a:t/>
            </a:r>
          </a:p>
          <a:p xmlns:a="http://schemas.openxmlformats.org/drawingml/2006/main">
            <a:r>
              <a:t>El sistema elegido debe poder relacionarse con un nombre y una revisión del conjunto. Una bolsa con piezas parecidas no garantiza que todas pertenezcan a la misma solución. En el taller se comprueban identificación e instrucciones antes de montar. Esta precaución evita que un cambio aparentemente pequeño de componente vuelva confusa la comparación con el archivo de OpenRocket y con las comprobaciones de banco ya realizadas.</a:t>
            </a:r>
          </a:p>
          <a:p xmlns:a="http://schemas.openxmlformats.org/drawingml/2006/main">
            <a:r>
              <a:t>Pregunta para el grupo: ¿Qué demuestra el banco inerte?</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4 min.</a:t>
            </a:r>
          </a:p>
          <a:p xmlns:a="http://schemas.openxmlformats.org/drawingml/2006/main">
            <a:r>
              <a:t/>
            </a:r>
          </a:p>
          <a:p xmlns:a="http://schemas.openxmlformats.org/drawingml/2006/main">
            <a:r>
              <a:t>¿Qué demuestra el banco inerte?</a:t>
            </a:r>
          </a:p>
          <a:p xmlns:a="http://schemas.openxmlformats.org/drawingml/2006/main">
            <a:r>
              <a:t>Pedir una respuesta antes de consultar la explicación de la lectura.</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5 min.</a:t>
            </a:r>
          </a:p>
          <a:p xmlns:a="http://schemas.openxmlformats.org/drawingml/2006/main">
            <a:r>
              <a:t/>
            </a:r>
          </a:p>
          <a:p xmlns:a="http://schemas.openxmlformats.org/drawingml/2006/main">
            <a:r>
              <a:t>Describe la configuración inerte que se presenta y verifica que corresponda al plano.</a:t>
            </a:r>
          </a:p>
          <a:p xmlns:a="http://schemas.openxmlformats.org/drawingml/2006/main">
            <a:r>
              <a:t>Coloca los componentes de recuperación como se ha previsto para la demostración de banco.</a:t>
            </a:r>
          </a:p>
          <a:p xmlns:a="http://schemas.openxmlformats.org/drawingml/2006/main">
            <a:r>
              <a:t>Comprueba el recorrido y señala interferencias observables sin forzar el conjunto.</a:t>
            </a:r>
          </a:p>
          <a:p xmlns:a="http://schemas.openxmlformats.org/drawingml/2006/main">
            <a:r>
              <a:t>Repite después de corregir una condición identificada.</a:t>
            </a:r>
          </a:p>
          <a:p xmlns:a="http://schemas.openxmlformats.org/drawingml/2006/main">
            <a:r>
              <a:t>Registra qué se comprobó y qué sigue dependiendo de la revisión final del sistema.</a:t>
            </a:r>
          </a:p>
          <a:p xmlns:a="http://schemas.openxmlformats.org/drawingml/2006/main">
            <a:r>
              <a:t>Comprobar un paso en el objeto o programa antes de continuar.</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4 min.</a:t>
            </a:r>
          </a:p>
          <a:p xmlns:a="http://schemas.openxmlformats.org/drawingml/2006/main">
            <a:r>
              <a:t/>
            </a:r>
          </a:p>
          <a:p xmlns:a="http://schemas.openxmlformats.org/drawingml/2006/main">
            <a:r>
              <a:t>Antes del taller se revisa qué piezas deben estar terminadas y cuáles se montarán en presencia del docente. Las impresiones largas se organizan con anticipación. Así las cuatro horas presenciales se dedican a ensamblar y comprobar, no a descubrir que faltan componentes básicos.</a:t>
            </a:r>
          </a:p>
          <a:p xmlns:a="http://schemas.openxmlformats.org/drawingml/2006/main">
            <a:r>
              <a:t/>
            </a:r>
          </a:p>
          <a:p xmlns:a="http://schemas.openxmlformats.org/drawingml/2006/main">
            <a:r>
              <a:t>“El conjunto inerte puede presentarse con este recorrido y no observamos la interferencia que aparecía antes. La configuración comercial queda pendiente de revisión final”.</a:t>
            </a:r>
          </a:p>
          <a:p xmlns:a="http://schemas.openxmlformats.org/drawingml/2006/main">
            <a:r>
              <a:t/>
            </a:r>
          </a:p>
          <a:p xmlns:a="http://schemas.openxmlformats.org/drawingml/2006/main">
            <a:r>
              <a:t>Entrega la ficha de recuperación, sus referencias y el archivo actualizado. Debes poder explicar el recorrido de las piezas y qué ocurriría si una de sus uniones o accesos quedara bloqueado.</a:t>
            </a:r>
          </a:p>
          <a:p xmlns:a="http://schemas.openxmlformats.org/drawingml/2006/main">
            <a:r>
              <a:t>Pregunta para el grupo: ¿Qué tiene que llegar listo al taller 2?</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4 min.</a:t>
            </a:r>
          </a:p>
          <a:p xmlns:a="http://schemas.openxmlformats.org/drawingml/2006/main">
            <a:r>
              <a:t/>
            </a:r>
          </a:p>
          <a:p xmlns:a="http://schemas.openxmlformats.org/drawingml/2006/main">
            <a:r>
              <a:t>Documento / Qué debe permitir</a:t>
            </a:r>
          </a:p>
          <a:p xmlns:a="http://schemas.openxmlformats.org/drawingml/2006/main">
            <a:r>
              <a:t>Plano final preliminar / Identificar piezas e interfaces</a:t>
            </a:r>
          </a:p>
          <a:p xmlns:a="http://schemas.openxmlformats.org/drawingml/2006/main">
            <a:r>
              <a:t>Lista del sistema comercial / Evitar sustituciones inadvertidas</a:t>
            </a:r>
          </a:p>
          <a:p xmlns:a="http://schemas.openxmlformats.org/drawingml/2006/main">
            <a:r>
              <a:t>Presentación de recuperación / Reconocer recorrido y acceso</a:t>
            </a:r>
          </a:p>
          <a:p xmlns:a="http://schemas.openxmlformats.org/drawingml/2006/main">
            <a:r>
              <a:t>Archivo de simulación / Relacionar configuración y eventos</a:t>
            </a:r>
          </a:p>
          <a:p xmlns:a="http://schemas.openxmlformats.org/drawingml/2006/main">
            <a:r>
              <a:t>Pendientes / Preparar correcciones y repuestos</a:t>
            </a:r>
          </a:p>
          <a:p xmlns:a="http://schemas.openxmlformats.org/drawingml/2006/main">
            <a:r>
              <a:t>Comparar dos filas y justificar con la misión.</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“El conjunto inerte puede presentarse con este recorrido y no observamos la interferencia que aparecía antes. La configuración comercial queda pendiente de revisión final”.</a:t>
            </a:r>
          </a:p>
          <a:p xmlns:a="http://schemas.openxmlformats.org/drawingml/2006/main">
            <a:r>
              <a:t>Explicación</a:t>
            </a:r>
          </a:p>
          <a:p xmlns:a="http://schemas.openxmlformats.org/drawingml/2006/main">
            <a:r>
              <a:t>La conclusión conserva qué evidencia existe y qué falta. No exagera el alcance de una demostración de banco.</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12 min.</a:t>
            </a:r>
          </a:p>
          <a:p xmlns:a="http://schemas.openxmlformats.org/drawingml/2006/main">
            <a:r>
              <a:t/>
            </a:r>
          </a:p>
          <a:p xmlns:a="http://schemas.openxmlformats.org/drawingml/2006/main">
            <a:r>
              <a:t>Reconocer el sistema comercial y su documentación.</a:t>
            </a:r>
          </a:p>
          <a:p xmlns:a="http://schemas.openxmlformats.org/drawingml/2006/main">
            <a:r>
              <a:t>Comparar espacio y función de sus componentes.</a:t>
            </a:r>
          </a:p>
          <a:p xmlns:a="http://schemas.openxmlformats.org/drawingml/2006/main">
            <a:r>
              <a:t>Revisar configuración y evento en OpenRocket.</a:t>
            </a:r>
          </a:p>
          <a:p xmlns:a="http://schemas.openxmlformats.org/drawingml/2006/main">
            <a:r>
              <a:t>Preparar una presentación inerte y los materiales del taller 2.</a:t>
            </a:r>
          </a:p>
          <a:p xmlns:a="http://schemas.openxmlformats.org/drawingml/2006/main">
            <a:r>
              <a:t>Rotar los roles y conservar al menos una evidencia revisable.</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10 min.</a:t>
            </a:r>
          </a:p>
          <a:p xmlns:a="http://schemas.openxmlformats.org/drawingml/2006/main">
            <a:r>
              <a:t/>
            </a:r>
          </a:p>
          <a:p xmlns:a="http://schemas.openxmlformats.org/drawingml/2006/main">
            <a:r>
              <a:t>Cada equipo prepara una decisión y una evidencia. No aceptar una preferencia sin relacionarla con la misión.</a:t>
            </a:r>
          </a:p>
          <a:p xmlns:a="http://schemas.openxmlformats.org/drawingml/2006/main">
            <a:r>
              <a:t>Ficha de recuperación, plano preliminar y configuración actualizada.</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7 min.</a:t>
            </a:r>
          </a:p>
          <a:p xmlns:a="http://schemas.openxmlformats.org/drawingml/2006/main">
            <a:r>
              <a:t/>
            </a:r>
          </a:p>
          <a:p xmlns:a="http://schemas.openxmlformats.org/drawingml/2006/main">
            <a:r>
              <a:t>Primero respuesta individual, después discusión por equipos.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5 min.</a:t>
            </a:r>
          </a:p>
          <a:p xmlns:a="http://schemas.openxmlformats.org/drawingml/2006/main">
            <a:r>
              <a:t/>
            </a:r>
          </a:p>
          <a:p xmlns:a="http://schemas.openxmlformats.org/drawingml/2006/main">
            <a:r>
              <a:t>Pedir un ejemplo del objeto o del archivo para una de las respuestas.</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Recuperación y preparación del montaje.</a:t>
            </a:r>
          </a:p>
          <a:p xmlns:a="http://schemas.openxmlformats.org/drawingml/2006/main">
            <a:r>
              <a:t>En línea, 2 h. Tramo del núcleo: 5 min.</a:t>
            </a:r>
          </a:p>
          <a:p xmlns:a="http://schemas.openxmlformats.org/drawingml/2006/main">
            <a:r>
              <a:t/>
            </a:r>
          </a:p>
          <a:p xmlns:a="http://schemas.openxmlformats.org/drawingml/2006/main">
            <a:r>
              <a:t>Ficha de recuperación, plano preliminar y configuración actualizada.</a:t>
            </a:r>
          </a:p>
          <a:p xmlns:a="http://schemas.openxmlformats.org/drawingml/2006/main">
            <a:r>
              <a:t>Las fuentes enlazadas de la lectura permiten ampliar la explicación sin exigir cálculo avanzado.</a:t>
            </a:r>
          </a:p>
          <a:p xmlns:a="http://schemas.openxmlformats.org/drawingml/2006/main">
            <a:r>
              <a:t/>
            </a:r>
          </a:p>
          <a:p xmlns:a="http://schemas.openxmlformats.org/drawingml/2006/main">
            <a:r>
              <a:t>Resultado: Comprender cómo vuelve el cohete y comprobar espacio, uniones y compatibilidad del sistema elegido.</a:t>
            </a:r>
          </a:p>
          <a:p xmlns:a="http://schemas.openxmlformats.org/drawingml/2006/main">
            <a:r>
              <a:t>Misión: Recuperar el modelo y poder inspeccionarlo después del vuelo.</a:t>
            </a:r>
          </a:p>
          <a:p xmlns:a="http://schemas.openxmlformats.org/drawingml/2006/main">
            <a:r>
              <a:t>Entrega: Ficha de recuperación, plano preliminar y configuración actualizada.</a:t>
            </a:r>
          </a:p>
          <a:p xmlns:a="http://schemas.openxmlformats.org/drawingml/2006/main">
            <a:r>
              <a:t/>
            </a:r>
          </a:p>
          <a:p xmlns:a="http://schemas.openxmlformats.org/drawingml/2006/main">
            <a:r>
              <a:t>Preguntas y respuestas</a:t>
            </a:r>
          </a:p>
          <a:p xmlns:a="http://schemas.openxmlformats.org/drawingml/2006/main">
            <a:r>
              <a:t>¿Cabe significa que puede desplegarse?</a:t>
            </a:r>
          </a:p>
          <a:p xmlns:a="http://schemas.openxmlformats.org/drawingml/2006/main">
            <a:r>
              <a:t>No. Hay que revisar recorrido, conexión y acceso.</a:t>
            </a:r>
          </a:p>
          <a:p xmlns:a="http://schemas.openxmlformats.org/drawingml/2006/main">
            <a:r>
              <a:t/>
            </a:r>
          </a:p>
          <a:p xmlns:a="http://schemas.openxmlformats.org/drawingml/2006/main">
            <a:r>
              <a:t>¿La simulación sustituye la comprobación física?</a:t>
            </a:r>
          </a:p>
          <a:p xmlns:a="http://schemas.openxmlformats.org/drawingml/2006/main">
            <a:r>
              <a:t>No. Representa un evento del modelo.</a:t>
            </a:r>
          </a:p>
          <a:p xmlns:a="http://schemas.openxmlformats.org/drawingml/2006/main">
            <a:r>
              <a:t/>
            </a:r>
          </a:p>
          <a:p xmlns:a="http://schemas.openxmlformats.org/drawingml/2006/main">
            <a:r>
              <a:t>¿Qué se conserva del banco?</a:t>
            </a:r>
          </a:p>
          <a:p xmlns:a="http://schemas.openxmlformats.org/drawingml/2006/main">
            <a:r>
              <a:t>Configuración, método, observación y pendientes.</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MECRO_Coheteria_Clase_11.pdf.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3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Coloca el plano y el conjunto presentado lado a lado y pide identificar qué quedará oculto después de cerrar.</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El segundo taller presencial dura cuatro horas. Deben llegar las piezas principales, los componentes comerciales elegidos y el plano revisado. El montaje empieza con una presentación del conjunto y una identificación de las uniones. Pegar piezas que todavía no se han presentado elimina oportunidades sencillas de corregir el diseño.</a:t>
            </a:r>
          </a:p>
          <a:p xmlns:a="http://schemas.openxmlformats.org/drawingml/2006/main">
            <a:r>
              <a:t/>
            </a:r>
          </a:p>
          <a:p xmlns:a="http://schemas.openxmlformats.org/drawingml/2006/main">
            <a:r>
              <a:t>El docente define el proceso de unión adecuado a los materiales y las instrucciones del conjunto. La sesión no usa una receta universal de adhesivo, tiempos o preparación para todas las piezas. Se conserva la información del producto y del método empleado.</a:t>
            </a:r>
          </a:p>
          <a:p xmlns:a="http://schemas.openxmlformats.org/drawingml/2006/main">
            <a:r>
              <a:t/>
            </a:r>
          </a:p>
          <a:p xmlns:a="http://schemas.openxmlformats.org/drawingml/2006/main">
            <a:r>
              <a:t>Montar cambia la condición de las piezas. Una unión puede ocultar una referencia, impedir una medición o reducir el acceso a un interior. Antes de iniciar, el equipo ordena la secuencia en la mesa y comprueba qué información debe conservar en cada etapa. No se busca terminar deprisa y reconstruir luego lo ocurrido. El expediente puede ser sencillo: piezas identificadas, vista previa, detalle de interfaces y registro de las modificaciones realizadas.</a:t>
            </a:r>
          </a:p>
          <a:p xmlns:a="http://schemas.openxmlformats.org/drawingml/2006/main">
            <a:r>
              <a:t>Pregunta para el grupo: ¿Qué quedará oculto después de cerrar?</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NASA Glenn: relación entre piezas de un modelo de una etapa. El equipo trabaja con su propio plano y referencias.</a:t>
            </a:r>
          </a:p>
          <a:p xmlns:a="http://schemas.openxmlformats.org/drawingml/2006/main">
            <a:r>
              <a:t>Localizar en la imagen las partes relacionadas con la pregunta.</a:t>
            </a:r>
          </a:p>
          <a:p xmlns:a="http://schemas.openxmlformats.org/drawingml/2006/main">
            <a:r>
              <a:t>¿Qué quedará oculto después de cerrar?</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5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Elemento / Qué verificar</a:t>
            </a:r>
          </a:p>
          <a:p xmlns:a="http://schemas.openxmlformats.org/drawingml/2006/main">
            <a:r>
              <a:t>Piezas del equipo / Identificación y revisión</a:t>
            </a:r>
          </a:p>
          <a:p xmlns:a="http://schemas.openxmlformats.org/drawingml/2006/main">
            <a:r>
              <a:t>Útiles / Compatibilidad con el tubo</a:t>
            </a:r>
          </a:p>
          <a:p xmlns:a="http://schemas.openxmlformats.org/drawingml/2006/main">
            <a:r>
              <a:t>Componentes comerciales / Referencia y documentación</a:t>
            </a:r>
          </a:p>
          <a:p xmlns:a="http://schemas.openxmlformats.org/drawingml/2006/main">
            <a:r>
              <a:t>Plano / Posiciones y cotas legibles</a:t>
            </a:r>
          </a:p>
          <a:p xmlns:a="http://schemas.openxmlformats.org/drawingml/2006/main">
            <a:r>
              <a:t>Registro / Fotos y mediciones antes de cerrar</a:t>
            </a:r>
          </a:p>
          <a:p xmlns:a="http://schemas.openxmlformats.org/drawingml/2006/main">
            <a:r>
              <a:t>Justificar una alternativa con la misión y señalar la comprobación necesaria.</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Una referencia puede ser el extremo del cuerpo, una línea longitudinal o una cara del útil. El equipo la mantiene desde el plano hasta la pieza. Si cada aleta se coloca con una referencia diferente, pequeñas diferencias pueden acumularse. La comprobación posterior exige saber desde dónde se tomó cada medida.</a:t>
            </a:r>
          </a:p>
          <a:p xmlns:a="http://schemas.openxmlformats.org/drawingml/2006/main">
            <a:r>
              <a:t/>
            </a:r>
          </a:p>
          <a:p xmlns:a="http://schemas.openxmlformats.org/drawingml/2006/main">
            <a:r>
              <a:t>El útil conserva bien los ángulos cuando está suelto, pero se desplaza al manipular las piezas.</a:t>
            </a:r>
          </a:p>
          <a:p xmlns:a="http://schemas.openxmlformats.org/drawingml/2006/main">
            <a:r>
              <a:t/>
            </a:r>
          </a:p>
          <a:p xmlns:a="http://schemas.openxmlformats.org/drawingml/2006/main">
            <a:r>
              <a:t>Los roles rotan para que todos participen en al menos una comprobación de medida y una explicación del proceso.</a:t>
            </a:r>
          </a:p>
          <a:p xmlns:a="http://schemas.openxmlformats.org/drawingml/2006/main">
            <a:r>
              <a:t/>
            </a:r>
          </a:p>
          <a:p xmlns:a="http://schemas.openxmlformats.org/drawingml/2006/main">
            <a:r>
              <a:t>El proceso de unión tiene condiciones que pertenecen al material y al producto utilizado. La hora de la clase no determina cuándo una unión ya puede manipularse o recibir otra tarea. El docente organiza el orden para que las comprobaciones no alteren prematuramente el montaje. Si una condición requiere más tiempo, queda registrada y la siguiente revisión se hace cuando corresponda al proceso real.</a:t>
            </a:r>
          </a:p>
          <a:p xmlns:a="http://schemas.openxmlformats.org/drawingml/2006/main">
            <a:r>
              <a:t/>
            </a:r>
          </a:p>
          <a:p xmlns:a="http://schemas.openxmlformats.org/drawingml/2006/main">
            <a:r>
              <a:t>El eje del cuerpo y las marcas del plano ayudan a mantener la posición prevista. Un útil aproxima las piezas a esas referencias y permite observar el conjunto mientras se presenta. El proceso de unión lo determina el material y el producto elegido. Se respetan sus instrucciones y sus tiempos. Al terminar una etapa, el equipo comprueba la geometría que todavía puede ver y deja constancia antes de continuar con otra que pueda ocultarla.</a:t>
            </a:r>
          </a:p>
          <a:p xmlns:a="http://schemas.openxmlformats.org/drawingml/2006/main">
            <a:r>
              <a:t>Pregunta para el grupo: ¿Cómo conservas una referencia durante el montaje?</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¿Cómo conservas una referencia durante el montaje?</a:t>
            </a:r>
          </a:p>
          <a:p xmlns:a="http://schemas.openxmlformats.org/drawingml/2006/main">
            <a:r>
              <a:t>Pedir una respuesta antes de consultar la explicación de la lectura.</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5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Presenta el conjunto y confirma el orden de montaje con el docente.</a:t>
            </a:r>
          </a:p>
          <a:p xmlns:a="http://schemas.openxmlformats.org/drawingml/2006/main">
            <a:r>
              <a:t>Marca las referencias que necesitan conservarse y comprueba su correspondencia con el plano.</a:t>
            </a:r>
          </a:p>
          <a:p xmlns:a="http://schemas.openxmlformats.org/drawingml/2006/main">
            <a:r>
              <a:t>Usa el útil aprobado para presentar las aletas. Revisa vista lateral y posterior antes de fijar.</a:t>
            </a:r>
          </a:p>
          <a:p xmlns:a="http://schemas.openxmlformats.org/drawingml/2006/main">
            <a:r>
              <a:t>Realiza las uniones con el proceso indicado para los materiales y el conjunto comercial.</a:t>
            </a:r>
          </a:p>
          <a:p xmlns:a="http://schemas.openxmlformats.org/drawingml/2006/main">
            <a:r>
              <a:t>Respeta el tiempo necesario del proceso. Mantén el conjunto apoyado según la pauta del taller.</a:t>
            </a:r>
          </a:p>
          <a:p xmlns:a="http://schemas.openxmlformats.org/drawingml/2006/main">
            <a:r>
              <a:t>Comprobar un paso en el objeto o programa antes de continuar.</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Algunas conexiones dejan de verse después de cerrar el cuerpo. Antes de hacerlo se registra una fotografía y se comprueba que corresponden al sistema previsto. Un archivo digital no muestra automáticamente el estado de una unión real ni demuestra que una pieza comercial sea la referencia correcta.</a:t>
            </a:r>
          </a:p>
          <a:p xmlns:a="http://schemas.openxmlformats.org/drawingml/2006/main">
            <a:r>
              <a:t/>
            </a:r>
          </a:p>
          <a:p xmlns:a="http://schemas.openxmlformats.org/drawingml/2006/main">
            <a:r>
              <a:t>Si aparece una pieza sustituta, no se da por equivalente únicamente porque quepa. El docente revisa su función y documentación. Si no puede cerrarse una condición importante, el equipo conserva el montaje en un estado que permita corregirla.</a:t>
            </a:r>
          </a:p>
          <a:p xmlns:a="http://schemas.openxmlformats.org/drawingml/2006/main">
            <a:r>
              <a:t>Pregunta para el grupo: ¿La pieza comercial es la referencia prevista?</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Interfaces internas del ejemplo de OpenRocket. El proyecto utiliza el conjunto comercial y la distribución revisados por el docente.</a:t>
            </a:r>
          </a:p>
          <a:p xmlns:a="http://schemas.openxmlformats.org/drawingml/2006/main">
            <a:r>
              <a:t>Localizar en la imagen las partes relacionadas con la pregunta.</a:t>
            </a:r>
          </a:p>
          <a:p xmlns:a="http://schemas.openxmlformats.org/drawingml/2006/main">
            <a:r>
              <a:t>¿La pieza comercial es la referencia prevista?</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5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Zona / Evidencia de taller</a:t>
            </a:r>
          </a:p>
          <a:p xmlns:a="http://schemas.openxmlformats.org/drawingml/2006/main">
            <a:r>
              <a:t>Soporte comercial / Referencia y presentación según instrucciones</a:t>
            </a:r>
          </a:p>
          <a:p xmlns:a="http://schemas.openxmlformats.org/drawingml/2006/main">
            <a:r>
              <a:t>Conexiones de recuperación / Correspondencia con el sistema elegido</a:t>
            </a:r>
          </a:p>
          <a:p xmlns:a="http://schemas.openxmlformats.org/drawingml/2006/main">
            <a:r>
              <a:t>Acceso / Recorrido visible y sin interferencia observada</a:t>
            </a:r>
          </a:p>
          <a:p xmlns:a="http://schemas.openxmlformats.org/drawingml/2006/main">
            <a:r>
              <a:t>Elementos interiores / Posición e identificación</a:t>
            </a:r>
          </a:p>
          <a:p xmlns:a="http://schemas.openxmlformats.org/drawingml/2006/main">
            <a:r>
              <a:t>Cambios respecto al plano / Actualización o corrección registrada</a:t>
            </a:r>
          </a:p>
          <a:p xmlns:a="http://schemas.openxmlformats.org/drawingml/2006/main">
            <a:r>
              <a:t>Justificar una alternativa con la misión y señalar la comprobación necesaria.</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La masa final incluye materiales que al principio no estaban: uniones, acabado y pequeños componentes. Por eso no siempre coincide con la suma inicial del archivo. Para actualizar el modelo, se define claramente si la medición incluye o excluye el componente comercial que todavía no está instalado para la operación.</a:t>
            </a:r>
          </a:p>
          <a:p xmlns:a="http://schemas.openxmlformats.org/drawingml/2006/main">
            <a:r>
              <a:t/>
            </a:r>
          </a:p>
          <a:p xmlns:a="http://schemas.openxmlformats.org/drawingml/2006/main">
            <a:r>
              <a:t>Ejercicio: el modelo preliminar sin motor sumaba 42 g. El conjunto físico, en la misma condición de comparación, pesa 49 g.</a:t>
            </a:r>
          </a:p>
          <a:p xmlns:a="http://schemas.openxmlformats.org/drawingml/2006/main">
            <a:r>
              <a:t/>
            </a:r>
          </a:p>
          <a:p xmlns:a="http://schemas.openxmlformats.org/drawingml/2006/main">
            <a:r>
              <a:t>Si el proceso de unión o el acabado todavía requiere tiempo, se indica el estado y se programa la comprobación final. La hora de cierre de la clase no cambia las condiciones del material.</a:t>
            </a:r>
          </a:p>
          <a:p xmlns:a="http://schemas.openxmlformats.org/drawingml/2006/main">
            <a:r>
              <a:t/>
            </a:r>
          </a:p>
          <a:p xmlns:a="http://schemas.openxmlformats.org/drawingml/2006/main">
            <a:r>
              <a:t>La masa final puede diferir del presupuesto porque aparecen uniones, accesorios y acabados. Primero se verifica que ambas cifras incluyan los mismos componentes. Después se identifican las contribuciones que se pueden pesar o documentar. Si no se conoce el reparto exacto de una diferencia, se registra esa limitación. El modelo se actualiza con la mejor información disponible sin inventar una distribución interior para hacer coincidir una cifra.</a:t>
            </a:r>
          </a:p>
          <a:p xmlns:a="http://schemas.openxmlformats.org/drawingml/2006/main">
            <a:r>
              <a:t>Pregunta para el grupo: ¿Qué incluye la masa del conjunto?</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¿Qué incluye la masa del conjunto?</a:t>
            </a:r>
          </a:p>
          <a:p xmlns:a="http://schemas.openxmlformats.org/drawingml/2006/main">
            <a:r>
              <a:t>Pedir una respuesta antes de consultar la explicación de la lectura.</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5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Caso didáctico bajo la misma condición de comparación. No corresponde a un prototipo medido por MECRO.</a:t>
            </a:r>
          </a:p>
          <a:p xmlns:a="http://schemas.openxmlformats.org/drawingml/2006/main">
            <a:r>
              <a:t>Preliminar: 42</a:t>
            </a:r>
          </a:p>
          <a:p xmlns:a="http://schemas.openxmlformats.org/drawingml/2006/main">
            <a:r>
              <a:t>Medido en el caso: 49</a:t>
            </a:r>
          </a:p>
          <a:p xmlns:a="http://schemas.openxmlformats.org/drawingml/2006/main">
            <a:r>
              <a:t>Ejercicio: el modelo preliminar sin motor sumaba 42 g. El conjunto físico, en la misma condición de comparación, pesa 49 g.</a:t>
            </a:r>
          </a:p>
          <a:p xmlns:a="http://schemas.openxmlformats.org/drawingml/2006/main">
            <a:r>
              <a:t>Hay 7 g de diferencia. Revisa elementos omitidos y cantidades añadidas antes de ajustar el archivo. El dato no prueba una falla de la balanza ni se corrige aumentando a ciegas una masa en el programa.</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El equipo comprueba la recuperación en el estado inerte que corresponda y con el método del docente. Revisa las vistas de alineación y las superficies funcionales. Una revisión que descubre un pendiente aporta información útil; no debe ocultarse para anunciar que todos terminaron al mismo tiempo.</a:t>
            </a:r>
          </a:p>
          <a:p xmlns:a="http://schemas.openxmlformats.org/drawingml/2006/main">
            <a:r>
              <a:t/>
            </a:r>
          </a:p>
          <a:p xmlns:a="http://schemas.openxmlformats.org/drawingml/2006/main">
            <a:r>
              <a:t>La nariz que entraba en la muestra ahora se traba en el conjunto terminado.</a:t>
            </a:r>
          </a:p>
          <a:p xmlns:a="http://schemas.openxmlformats.org/drawingml/2006/main">
            <a:r>
              <a:t/>
            </a:r>
          </a:p>
          <a:p xmlns:a="http://schemas.openxmlformats.org/drawingml/2006/main">
            <a:r>
              <a:t>El responsable revisa cada conjunto y deja constancia de lo que todavía debe corregirse antes de la preparación de la jornada.</a:t>
            </a:r>
          </a:p>
          <a:p xmlns:a="http://schemas.openxmlformats.org/drawingml/2006/main">
            <a:r>
              <a:t/>
            </a:r>
          </a:p>
          <a:p xmlns:a="http://schemas.openxmlformats.org/drawingml/2006/main">
            <a:r>
              <a:t>Una fotografía interior antes de cerrar permite revisar algo que más tarde no se ve. Debe identificar el equipo y la zona, y mostrar la referencia que importa. Una imagen demasiado cercana sin contexto puede ser tan poco útil como una vista lejana. El equipo conserva una vista general y un detalle para las interfaces principales, de modo que el expediente describa el montaje que de verdad realizó.</a:t>
            </a:r>
          </a:p>
          <a:p xmlns:a="http://schemas.openxmlformats.org/drawingml/2006/main">
            <a:r>
              <a:t>Pregunta para el grupo: ¿Qué cambió desde la muestra de encaje?</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Minutos / Trabajo / Registro</a:t>
            </a:r>
          </a:p>
          <a:p xmlns:a="http://schemas.openxmlformats.org/drawingml/2006/main">
            <a:r>
              <a:t>0–30 / Piezas, plano y orden de montaje / Lista de entrada</a:t>
            </a:r>
          </a:p>
          <a:p xmlns:a="http://schemas.openxmlformats.org/drawingml/2006/main">
            <a:r>
              <a:t>30–120 / Presentación y ensamblaje supervisado / Fotos de referencias y uniones</a:t>
            </a:r>
          </a:p>
          <a:p xmlns:a="http://schemas.openxmlformats.org/drawingml/2006/main">
            <a:r>
              <a:t>120–180 / Comprobaciones de banco / Recuperación y acceso</a:t>
            </a:r>
          </a:p>
          <a:p xmlns:a="http://schemas.openxmlformats.org/drawingml/2006/main">
            <a:r>
              <a:t>180–240 / Medidas, archivo y pendientes / Configuración revisada</a:t>
            </a:r>
          </a:p>
          <a:p xmlns:a="http://schemas.openxmlformats.org/drawingml/2006/main">
            <a:r>
              <a:t>Comparar dos filas y justificar con la misión.</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5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Caso</a:t>
            </a:r>
          </a:p>
          <a:p xmlns:a="http://schemas.openxmlformats.org/drawingml/2006/main">
            <a:r>
              <a:t>La nariz que entraba en la muestra ahora se traba en el conjunto terminado.</a:t>
            </a:r>
          </a:p>
          <a:p xmlns:a="http://schemas.openxmlformats.org/drawingml/2006/main">
            <a:r>
              <a:t>Explicación</a:t>
            </a:r>
          </a:p>
          <a:p xmlns:a="http://schemas.openxmlformats.org/drawingml/2006/main">
            <a:r>
              <a:t>Revisa qué cambió: borde, acabado, deformación o interferencia. Conserva el resultado anterior y vuelve a comprobar la interfaz actual. El dato de la muestra no garantiza el nuevo estado.</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El prototipo puede estar ensamblado y aún no aceptado para vuelo. Entre ambos estados hay revisión de configuración, condiciones de operación y cierre de pendientes. El alumnado aprende esa diferencia sin convertirla en un trámite abstracto: cada pendiente se relaciona con una pieza o una comprobación concreta.</a:t>
            </a:r>
          </a:p>
          <a:p xmlns:a="http://schemas.openxmlformats.org/drawingml/2006/main">
            <a:r>
              <a:t/>
            </a:r>
          </a:p>
          <a:p xmlns:a="http://schemas.openxmlformats.org/drawingml/2006/main">
            <a:r>
              <a:t>“Estas aletas se alinearon con este útil. Esta es la masa medida del conjunto. Aquí se observa el recorrido de recuperación. Este pendiente necesita revisión”.</a:t>
            </a:r>
          </a:p>
          <a:p xmlns:a="http://schemas.openxmlformats.org/drawingml/2006/main">
            <a:r>
              <a:t/>
            </a:r>
          </a:p>
          <a:p xmlns:a="http://schemas.openxmlformats.org/drawingml/2006/main">
            <a:r>
              <a:t>Conserva una copia del archivo de cierre del taller. La siguiente comparación en RockSim utilizará esa misma geometría y masas, para estudiar una segunda representación del objeto construido.</a:t>
            </a:r>
          </a:p>
          <a:p xmlns:a="http://schemas.openxmlformats.org/drawingml/2006/main">
            <a:r>
              <a:t>Pregunta para el grupo: ¿Ensamblado y aceptado para vuelo son lo mismo?</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4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Entrega / Comprobación</a:t>
            </a:r>
          </a:p>
          <a:p xmlns:a="http://schemas.openxmlformats.org/drawingml/2006/main">
            <a:r>
              <a:t>Objeto ensamblado / Identificación del equipo</a:t>
            </a:r>
          </a:p>
          <a:p xmlns:a="http://schemas.openxmlformats.org/drawingml/2006/main">
            <a:r>
              <a:t>Fotos de montaje / Vistas útiles e interiores registrados</a:t>
            </a:r>
          </a:p>
          <a:p xmlns:a="http://schemas.openxmlformats.org/drawingml/2006/main">
            <a:r>
              <a:t>Masa y dimensiones / Condición de medida explícita</a:t>
            </a:r>
          </a:p>
          <a:p xmlns:a="http://schemas.openxmlformats.org/drawingml/2006/main">
            <a:r>
              <a:t>Archivo actualizado / Coincide con la revisión construida</a:t>
            </a:r>
          </a:p>
          <a:p xmlns:a="http://schemas.openxmlformats.org/drawingml/2006/main">
            <a:r>
              <a:t>Pendientes / Acción y responsable definidos</a:t>
            </a:r>
          </a:p>
          <a:p xmlns:a="http://schemas.openxmlformats.org/drawingml/2006/main">
            <a:r>
              <a:t>Comparar dos filas y justificar con la misión.</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5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Caso</a:t>
            </a:r>
          </a:p>
          <a:p xmlns:a="http://schemas.openxmlformats.org/drawingml/2006/main">
            <a:r>
              <a:t>“Estas aletas se alinearon con este útil. Esta es la masa medida del conjunto. Aquí se observa el recorrido de recuperación. Este pendiente necesita revisión”.</a:t>
            </a:r>
          </a:p>
          <a:p xmlns:a="http://schemas.openxmlformats.org/drawingml/2006/main">
            <a:r>
              <a:t>Explicación</a:t>
            </a:r>
          </a:p>
          <a:p xmlns:a="http://schemas.openxmlformats.org/drawingml/2006/main">
            <a:r>
              <a:t>La explicación relaciona decisiones y evidencias. Permite que el docente revise el proyecto sin reconstruir toda su historia a partir de una fotografía final.</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12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Identificar piezas y aprobar orden de montaje.</a:t>
            </a:r>
          </a:p>
          <a:p xmlns:a="http://schemas.openxmlformats.org/drawingml/2006/main">
            <a:r>
              <a:t>Conservar referencias durante el ensamblaje.</a:t>
            </a:r>
          </a:p>
          <a:p xmlns:a="http://schemas.openxmlformats.org/drawingml/2006/main">
            <a:r>
              <a:t>Documentar interiores y comprobar recuperación en banco.</a:t>
            </a:r>
          </a:p>
          <a:p xmlns:a="http://schemas.openxmlformats.org/drawingml/2006/main">
            <a:r>
              <a:t>Medir, actualizar el archivo y registrar pendientes.</a:t>
            </a:r>
          </a:p>
          <a:p xmlns:a="http://schemas.openxmlformats.org/drawingml/2006/main">
            <a:r>
              <a:t>Rotar los roles y conservar al menos una evidencia revisable.</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10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Cada equipo prepara una decisión y una evidencia. No aceptar una preferencia sin relacionarla con la misión.</a:t>
            </a:r>
          </a:p>
          <a:p xmlns:a="http://schemas.openxmlformats.org/drawingml/2006/main">
            <a:r>
              <a:t>Cohete ensamblado, fotos, medidas y archivo revisado.</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7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Primero respuesta individual, después discusión por equipos.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5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Pedir un ejemplo del objeto o del archivo para una de las respuestas.</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Taller 2: ensamblar y revisar el cohete.</a:t>
            </a:r>
          </a:p>
          <a:p xmlns:a="http://schemas.openxmlformats.org/drawingml/2006/main">
            <a:r>
              <a:t>Presencial, 4 h. Tramo del núcleo: 5 min.</a:t>
            </a:r>
          </a:p>
          <a:p xmlns:a="http://schemas.openxmlformats.org/drawingml/2006/main">
            <a:r>
              <a:t>En presencial, integrar estas explicaciones con la agenda de 4 horas de la lectura; las actividades de banco o campo ocupan el tiempo previsto.</a:t>
            </a:r>
          </a:p>
          <a:p xmlns:a="http://schemas.openxmlformats.org/drawingml/2006/main">
            <a:r>
              <a:t/>
            </a:r>
          </a:p>
          <a:p xmlns:a="http://schemas.openxmlformats.org/drawingml/2006/main">
            <a:r>
              <a:t>Cohete ensamblado, fotos, medidas y archivo revisado.</a:t>
            </a:r>
          </a:p>
          <a:p xmlns:a="http://schemas.openxmlformats.org/drawingml/2006/main">
            <a:r>
              <a:t>Las fuentes enlazadas de la lectura permiten ampliar la explicación sin exigir cálculo avanzado.</a:t>
            </a:r>
          </a:p>
          <a:p xmlns:a="http://schemas.openxmlformats.org/drawingml/2006/main">
            <a:r>
              <a:t/>
            </a:r>
          </a:p>
          <a:p xmlns:a="http://schemas.openxmlformats.org/drawingml/2006/main">
            <a:r>
              <a:t>Resultado: Montar el conjunto con referencias claras y actualizar sus medidas y masas finales.</a:t>
            </a:r>
          </a:p>
          <a:p xmlns:a="http://schemas.openxmlformats.org/drawingml/2006/main">
            <a:r>
              <a:t>Misión: Obtener un prototipo ensamblado que pueda revisarse antes de la jornada.</a:t>
            </a:r>
          </a:p>
          <a:p xmlns:a="http://schemas.openxmlformats.org/drawingml/2006/main">
            <a:r>
              <a:t>Entrega: Cohete ensamblado, fotos, medidas y archivo revisado.</a:t>
            </a:r>
          </a:p>
          <a:p xmlns:a="http://schemas.openxmlformats.org/drawingml/2006/main">
            <a:r>
              <a:t/>
            </a:r>
          </a:p>
          <a:p xmlns:a="http://schemas.openxmlformats.org/drawingml/2006/main">
            <a:r>
              <a:t>Preguntas y respuestas</a:t>
            </a:r>
          </a:p>
          <a:p xmlns:a="http://schemas.openxmlformats.org/drawingml/2006/main">
            <a:r>
              <a:t>¿Ensamblado equivale a aceptado para vuelo?</a:t>
            </a:r>
          </a:p>
          <a:p xmlns:a="http://schemas.openxmlformats.org/drawingml/2006/main">
            <a:r>
              <a:t>No. Falta la revisión de configuración y condiciones.</a:t>
            </a:r>
          </a:p>
          <a:p xmlns:a="http://schemas.openxmlformats.org/drawingml/2006/main">
            <a:r>
              <a:t/>
            </a:r>
          </a:p>
          <a:p xmlns:a="http://schemas.openxmlformats.org/drawingml/2006/main">
            <a:r>
              <a:t>¿Qué condición debe acompañar una masa total?</a:t>
            </a:r>
          </a:p>
          <a:p xmlns:a="http://schemas.openxmlformats.org/drawingml/2006/main">
            <a:r>
              <a:t>Qué componentes incluye y el estado del conjunto.</a:t>
            </a:r>
          </a:p>
          <a:p xmlns:a="http://schemas.openxmlformats.org/drawingml/2006/main">
            <a:r>
              <a:t/>
            </a:r>
          </a:p>
          <a:p xmlns:a="http://schemas.openxmlformats.org/drawingml/2006/main">
            <a:r>
              <a:t>¿Qué se revisa si cambió el encaje?</a:t>
            </a:r>
          </a:p>
          <a:p xmlns:a="http://schemas.openxmlformats.org/drawingml/2006/main">
            <a:r>
              <a:t>La interfaz actual y lo que se modificó después de la muestra.</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Prusa Research. Modeling with 3D printing in mind. https://help.prusa3d.com/article/modeling-with-3d-printing-in-mind_164135</a:t>
            </a:r>
          </a:p>
          <a:p xmlns:a="http://schemas.openxmlformats.org/drawingml/2006/main">
            <a:r>
              <a:t>Lectura: MECRO_Coheteria_Clase_12.pdf.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0d1f5767954cc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46bc0b58a1f420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11959acd21475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8403cbf3fc24b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0622108290d458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1977d4a9804a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12A67A-5D35-4CCF-8E22-6E81F140F8E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5EFE96B-19BF-486D-A82D-410070AB960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593A5B5-09B3-45FA-A753-58BA91608BF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544615-8D9D-4620-8453-CA57E2661E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2364998-C1E6-440F-8C16-DF5461D9FE1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2201D81-B17C-4BC4-AC82-1420088387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35E6AE-725E-40D2-BABF-B3706E1CA3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181942-D737-46E8-AD68-75F7CEB3F13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5CD958-B6F3-4F64-B415-C853C8023B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8BA919-17DB-42FE-A489-EFC30CEE51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709b3b428541d8" /><Relationship Type="http://schemas.openxmlformats.org/officeDocument/2006/relationships/slideLayout" Target="/ppt/slideLayouts/slideLayout1.xml" Id="R851f68e1656440b2" /><Relationship Type="http://schemas.openxmlformats.org/officeDocument/2006/relationships/slideLayout" Target="/ppt/slideLayouts/slideLayout2.xml" Id="Racc5ed19d89f4d8b" /><Relationship Type="http://schemas.openxmlformats.org/officeDocument/2006/relationships/slideLayout" Target="/ppt/slideLayouts/slideLayout3.xml" Id="Rb3cc4dbf89e9493c" /><Relationship Type="http://schemas.openxmlformats.org/officeDocument/2006/relationships/slideLayout" Target="/ppt/slideLayouts/slideLayout4.xml" Id="R996ba8deb8f746dc" /><Relationship Type="http://schemas.openxmlformats.org/officeDocument/2006/relationships/slideLayout" Target="/ppt/slideLayouts/slideLayout5.xml" Id="Re290ead5f5684bb5" /><Relationship Type="http://schemas.openxmlformats.org/officeDocument/2006/relationships/slideLayout" Target="/ppt/slideLayouts/slideLayout6.xml" Id="R9e5a00ebd29444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1f68e1656440b2"/>
    <p:sldLayoutId xmlns:r="http://schemas.openxmlformats.org/officeDocument/2006/relationships" id="2147483650" r:id="Racc5ed19d89f4d8b"/>
    <p:sldLayoutId xmlns:r="http://schemas.openxmlformats.org/officeDocument/2006/relationships" id="2147483651" r:id="Rb3cc4dbf89e9493c"/>
    <p:sldLayoutId xmlns:r="http://schemas.openxmlformats.org/officeDocument/2006/relationships" id="2147483652" r:id="R996ba8deb8f746dc"/>
    <p:sldLayoutId xmlns:r="http://schemas.openxmlformats.org/officeDocument/2006/relationships" id="2147483653" r:id="Re290ead5f5684bb5"/>
    <p:sldLayoutId xmlns:r="http://schemas.openxmlformats.org/officeDocument/2006/relationships" id="2147483654" r:id="R9e5a00ebd29444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f6e9a02649b4592" /><Relationship Type="http://schemas.openxmlformats.org/officeDocument/2006/relationships/image" Target="/ppt/media/image.png" Id="R95c74802ed10445c" /><Relationship Type="http://schemas.openxmlformats.org/officeDocument/2006/relationships/notesSlide" Target="/ppt/notesSlides/notesSlide1.xml" Id="Re954e7fd4cff42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0f1ba26c1940ee" /><Relationship Type="http://schemas.openxmlformats.org/officeDocument/2006/relationships/image" Target="/ppt/media/image2.png" Id="Raa8e025b2b1d4c34" /><Relationship Type="http://schemas.openxmlformats.org/officeDocument/2006/relationships/notesSlide" Target="/ppt/notesSlides/notesSlide2.xml" Id="R8cb3fa7ab9e64c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ad7f06852c647f9" /><Relationship Type="http://schemas.openxmlformats.org/officeDocument/2006/relationships/image" Target="/ppt/media/image3.png" Id="Rafd36cef700246a9" /><Relationship Type="http://schemas.openxmlformats.org/officeDocument/2006/relationships/image" Target="/ppt/media/image4.png" Id="Rfe7432cbd8f74615" /><Relationship Type="http://schemas.openxmlformats.org/officeDocument/2006/relationships/notesSlide" Target="/ppt/notesSlides/notesSlide3.xml" Id="R65d67eaf64bc46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8d61720e88049ce" /><Relationship Type="http://schemas.openxmlformats.org/officeDocument/2006/relationships/image" Target="/ppt/media/image5.png" Id="R27a1e11db4294596" /><Relationship Type="http://schemas.openxmlformats.org/officeDocument/2006/relationships/notesSlide" Target="/ppt/notesSlides/notesSlide4.xml" Id="R5517cd1a11444e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e8c738bcbdb483d" /><Relationship Type="http://schemas.openxmlformats.org/officeDocument/2006/relationships/image" Target="/ppt/media/image6.png" Id="R9f2fe8595e1e4db5" /><Relationship Type="http://schemas.openxmlformats.org/officeDocument/2006/relationships/notesSlide" Target="/ppt/notesSlides/notesSlide5.xml" Id="R7c831f0b4eeb48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56cdee9d43f4d5a" /><Relationship Type="http://schemas.openxmlformats.org/officeDocument/2006/relationships/image" Target="/ppt/media/image7.png" Id="R62ab82f213ef4f42" /><Relationship Type="http://schemas.openxmlformats.org/officeDocument/2006/relationships/notesSlide" Target="/ppt/notesSlides/notesSlide6.xml" Id="R02c2586d593d47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1f4e63e93384b5b" /><Relationship Type="http://schemas.openxmlformats.org/officeDocument/2006/relationships/image" Target="/ppt/media/image8.png" Id="R483fdbc9cb8e4cc2" /><Relationship Type="http://schemas.openxmlformats.org/officeDocument/2006/relationships/notesSlide" Target="/ppt/notesSlides/notesSlide7.xml" Id="R80226c01c20e44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3aac912bf124f28" /><Relationship Type="http://schemas.openxmlformats.org/officeDocument/2006/relationships/image" Target="/ppt/media/image9.png" Id="R651709c707c046f2" /><Relationship Type="http://schemas.openxmlformats.org/officeDocument/2006/relationships/notesSlide" Target="/ppt/notesSlides/notesSlide8.xml" Id="R3a96aaeac45540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a45909ff1bf4eaf" /><Relationship Type="http://schemas.openxmlformats.org/officeDocument/2006/relationships/image" Target="/ppt/media/image10.png" Id="R43ee9ac25f0b4fa0" /><Relationship Type="http://schemas.openxmlformats.org/officeDocument/2006/relationships/image" Target="/ppt/media/image11.png" Id="R4d8ffea912c34485" /><Relationship Type="http://schemas.openxmlformats.org/officeDocument/2006/relationships/notesSlide" Target="/ppt/notesSlides/notesSlide9.xml" Id="Re2f1b6379c0b47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8b85e1012c7458c" /><Relationship Type="http://schemas.openxmlformats.org/officeDocument/2006/relationships/image" Target="/ppt/media/image12.png" Id="R706b382861074fde" /><Relationship Type="http://schemas.openxmlformats.org/officeDocument/2006/relationships/notesSlide" Target="/ppt/notesSlides/notesSlide10.xml" Id="Rddbc6c38fe9845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3c8fe418d2b4823" /><Relationship Type="http://schemas.openxmlformats.org/officeDocument/2006/relationships/image" Target="/ppt/media/image13.png" Id="R53d7689a6b49415c" /><Relationship Type="http://schemas.openxmlformats.org/officeDocument/2006/relationships/notesSlide" Target="/ppt/notesSlides/notesSlide11.xml" Id="R86944e6064784f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d855af20f47481f" /><Relationship Type="http://schemas.openxmlformats.org/officeDocument/2006/relationships/image" Target="/ppt/media/image14.png" Id="R33a50773688c4ab3" /><Relationship Type="http://schemas.openxmlformats.org/officeDocument/2006/relationships/image" Target="/ppt/media/image15.png" Id="Ra86055dbac614f3c" /><Relationship Type="http://schemas.openxmlformats.org/officeDocument/2006/relationships/notesSlide" Target="/ppt/notesSlides/notesSlide12.xml" Id="R3d82d2bfed6f434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ed8c412703d43d2" /><Relationship Type="http://schemas.openxmlformats.org/officeDocument/2006/relationships/image" Target="/ppt/media/image16.png" Id="Rf34381c4d7dd4c29" /><Relationship Type="http://schemas.openxmlformats.org/officeDocument/2006/relationships/notesSlide" Target="/ppt/notesSlides/notesSlide13.xml" Id="Rd3195893626e4f4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f40ca36ca5847be" /><Relationship Type="http://schemas.openxmlformats.org/officeDocument/2006/relationships/image" Target="/ppt/media/image17.png" Id="R99abaa4a95d84cc0" /><Relationship Type="http://schemas.openxmlformats.org/officeDocument/2006/relationships/notesSlide" Target="/ppt/notesSlides/notesSlide14.xml" Id="R515d2adbf3df427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b80f79c4cb441ae" /><Relationship Type="http://schemas.openxmlformats.org/officeDocument/2006/relationships/image" Target="/ppt/media/image18.png" Id="R94e4fea6bede4cb1" /><Relationship Type="http://schemas.openxmlformats.org/officeDocument/2006/relationships/notesSlide" Target="/ppt/notesSlides/notesSlide15.xml" Id="R1db8163a4c3c4f3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a4c62ef398343a2" /><Relationship Type="http://schemas.openxmlformats.org/officeDocument/2006/relationships/image" Target="/ppt/media/image19.png" Id="Ra2fc597939784530" /><Relationship Type="http://schemas.openxmlformats.org/officeDocument/2006/relationships/notesSlide" Target="/ppt/notesSlides/notesSlide16.xml" Id="Ra20723578b6045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f6174d3b5344f0d" /><Relationship Type="http://schemas.openxmlformats.org/officeDocument/2006/relationships/image" Target="/ppt/media/image20.png" Id="R07eeda7cab2645e0" /><Relationship Type="http://schemas.openxmlformats.org/officeDocument/2006/relationships/notesSlide" Target="/ppt/notesSlides/notesSlide17.xml" Id="R46f268ac1c17495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e021291dcab4969" /><Relationship Type="http://schemas.openxmlformats.org/officeDocument/2006/relationships/image" Target="/ppt/media/image21.png" Id="Re2212bc02da24784" /><Relationship Type="http://schemas.openxmlformats.org/officeDocument/2006/relationships/notesSlide" Target="/ppt/notesSlides/notesSlide18.xml" Id="R95a548aa401f48c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c811edb3d5845ce" /><Relationship Type="http://schemas.openxmlformats.org/officeDocument/2006/relationships/image" Target="/ppt/media/image22.png" Id="Rc1651646b0f94c0b" /><Relationship Type="http://schemas.openxmlformats.org/officeDocument/2006/relationships/notesSlide" Target="/ppt/notesSlides/notesSlide19.xml" Id="R2afe36c8f5b2470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7133375984440d7" /><Relationship Type="http://schemas.openxmlformats.org/officeDocument/2006/relationships/image" Target="/ppt/media/image23.png" Id="R9c3d56b9cf504d0e" /><Relationship Type="http://schemas.openxmlformats.org/officeDocument/2006/relationships/notesSlide" Target="/ppt/notesSlides/notesSlide20.xml" Id="R20adcdca0a304fb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d5ee7761fc54770" /><Relationship Type="http://schemas.openxmlformats.org/officeDocument/2006/relationships/image" Target="/ppt/media/image24.png" Id="R3be823dd879a422b" /><Relationship Type="http://schemas.openxmlformats.org/officeDocument/2006/relationships/notesSlide" Target="/ppt/notesSlides/notesSlide21.xml" Id="R0c94d341b96148a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edfb61b128344e1" /><Relationship Type="http://schemas.openxmlformats.org/officeDocument/2006/relationships/image" Target="/ppt/media/image25.png" Id="R43309c8fdf5048ee" /><Relationship Type="http://schemas.openxmlformats.org/officeDocument/2006/relationships/notesSlide" Target="/ppt/notesSlides/notesSlide22.xml" Id="R68f509bba035497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10f1152412b47d1" /><Relationship Type="http://schemas.openxmlformats.org/officeDocument/2006/relationships/image" Target="/ppt/media/image26.png" Id="R2f0cdbf895a3458d" /><Relationship Type="http://schemas.openxmlformats.org/officeDocument/2006/relationships/notesSlide" Target="/ppt/notesSlides/notesSlide23.xml" Id="R6d5647042b8c40b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c100e29d7004121" /><Relationship Type="http://schemas.openxmlformats.org/officeDocument/2006/relationships/image" Target="/ppt/media/image27.png" Id="R941f1edfffb64d90" /><Relationship Type="http://schemas.openxmlformats.org/officeDocument/2006/relationships/notesSlide" Target="/ppt/notesSlides/notesSlide24.xml" Id="Rbe7029678468451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c97224eeee24431" /><Relationship Type="http://schemas.openxmlformats.org/officeDocument/2006/relationships/image" Target="/ppt/media/image28.png" Id="R48789cec70044824" /><Relationship Type="http://schemas.openxmlformats.org/officeDocument/2006/relationships/notesSlide" Target="/ppt/notesSlides/notesSlide25.xml" Id="R38fd34e314eb4f8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55771a431504edb" /><Relationship Type="http://schemas.openxmlformats.org/officeDocument/2006/relationships/image" Target="/ppt/media/image29.png" Id="R3c893789da154b51" /><Relationship Type="http://schemas.openxmlformats.org/officeDocument/2006/relationships/notesSlide" Target="/ppt/notesSlides/notesSlide26.xml" Id="R2ab64d16271849d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b82fd2f1cba40ce" /><Relationship Type="http://schemas.openxmlformats.org/officeDocument/2006/relationships/image" Target="/ppt/media/image30.png" Id="R41886ab954d24db3" /><Relationship Type="http://schemas.openxmlformats.org/officeDocument/2006/relationships/image" Target="/ppt/media/image31.png" Id="R17b3019aab354e2d" /><Relationship Type="http://schemas.openxmlformats.org/officeDocument/2006/relationships/notesSlide" Target="/ppt/notesSlides/notesSlide27.xml" Id="R1d7f04f17c9c497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3ea3911a7734fdc" /><Relationship Type="http://schemas.openxmlformats.org/officeDocument/2006/relationships/image" Target="/ppt/media/image32.png" Id="R290064460a0945dc" /><Relationship Type="http://schemas.openxmlformats.org/officeDocument/2006/relationships/notesSlide" Target="/ppt/notesSlides/notesSlide28.xml" Id="Rdc52cd7a796c4ba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285696fe35f43ca" /><Relationship Type="http://schemas.openxmlformats.org/officeDocument/2006/relationships/image" Target="/ppt/media/image33.png" Id="R0f6cb80011b5465e" /><Relationship Type="http://schemas.openxmlformats.org/officeDocument/2006/relationships/notesSlide" Target="/ppt/notesSlides/notesSlide29.xml" Id="R1d6e04d714c942d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fb5a0c7b0844f38" /><Relationship Type="http://schemas.openxmlformats.org/officeDocument/2006/relationships/image" Target="/ppt/media/image34.png" Id="Rab4fd6634dc34121" /><Relationship Type="http://schemas.openxmlformats.org/officeDocument/2006/relationships/notesSlide" Target="/ppt/notesSlides/notesSlide30.xml" Id="R8fe3c8f82a71433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1aa5be02ec94c1a" /><Relationship Type="http://schemas.openxmlformats.org/officeDocument/2006/relationships/image" Target="/ppt/media/image35.png" Id="Rba4908116bcb40f7" /><Relationship Type="http://schemas.openxmlformats.org/officeDocument/2006/relationships/notesSlide" Target="/ppt/notesSlides/notesSlide31.xml" Id="R7e3403c056f840e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2bf525dcb114a77" /><Relationship Type="http://schemas.openxmlformats.org/officeDocument/2006/relationships/image" Target="/ppt/media/image36.png" Id="Rdd8556c41e044557" /><Relationship Type="http://schemas.openxmlformats.org/officeDocument/2006/relationships/notesSlide" Target="/ppt/notesSlides/notesSlide32.xml" Id="R5e6bad0e83ff4df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2808a5d9b0245ab" /><Relationship Type="http://schemas.openxmlformats.org/officeDocument/2006/relationships/image" Target="/ppt/media/image37.png" Id="Rcfa667bcc65b4ed0" /><Relationship Type="http://schemas.openxmlformats.org/officeDocument/2006/relationships/image" Target="/ppt/media/image38.png" Id="Rc50d4f5381c747b1" /><Relationship Type="http://schemas.openxmlformats.org/officeDocument/2006/relationships/notesSlide" Target="/ppt/notesSlides/notesSlide33.xml" Id="Rc726ff317fa847a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7d02dcdd45541d2" /><Relationship Type="http://schemas.openxmlformats.org/officeDocument/2006/relationships/image" Target="/ppt/media/image39.png" Id="R0ba26776b03b472d" /><Relationship Type="http://schemas.openxmlformats.org/officeDocument/2006/relationships/notesSlide" Target="/ppt/notesSlides/notesSlide34.xml" Id="Rb640e460b9ce437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50c07d07b3e478a" /><Relationship Type="http://schemas.openxmlformats.org/officeDocument/2006/relationships/image" Target="/ppt/media/image40.png" Id="R11063908eab54feb" /><Relationship Type="http://schemas.openxmlformats.org/officeDocument/2006/relationships/notesSlide" Target="/ppt/notesSlides/notesSlide35.xml" Id="R39f4d4786e234c7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561f05658d34edb" /><Relationship Type="http://schemas.openxmlformats.org/officeDocument/2006/relationships/image" Target="/ppt/media/image41.png" Id="Ra11b7867c62c4522" /><Relationship Type="http://schemas.openxmlformats.org/officeDocument/2006/relationships/notesSlide" Target="/ppt/notesSlides/notesSlide36.xml" Id="R2ad54967762345f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f8836fa2a24a488c" /><Relationship Type="http://schemas.openxmlformats.org/officeDocument/2006/relationships/image" Target="/ppt/media/image42.png" Id="R492820ba7d9e413c" /><Relationship Type="http://schemas.openxmlformats.org/officeDocument/2006/relationships/chart" Target="/ppt/slides/charts/chart1.xml" Id="Rfeea99c7787e4e5c" /><Relationship Type="http://schemas.openxmlformats.org/officeDocument/2006/relationships/notesSlide" Target="/ppt/notesSlides/notesSlide37.xml" Id="R68b0236de4014d4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334f221231a24b7b" /><Relationship Type="http://schemas.openxmlformats.org/officeDocument/2006/relationships/image" Target="/ppt/media/image43.png" Id="R3d6744c9716648ed" /><Relationship Type="http://schemas.openxmlformats.org/officeDocument/2006/relationships/notesSlide" Target="/ppt/notesSlides/notesSlide38.xml" Id="Ra585cd88facc4a3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74f82749ea924eb1" /><Relationship Type="http://schemas.openxmlformats.org/officeDocument/2006/relationships/image" Target="/ppt/media/image44.png" Id="R5fd2740ea5484719" /><Relationship Type="http://schemas.openxmlformats.org/officeDocument/2006/relationships/notesSlide" Target="/ppt/notesSlides/notesSlide39.xml" Id="Reef31c09cf18402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676011f7670438a" /><Relationship Type="http://schemas.openxmlformats.org/officeDocument/2006/relationships/image" Target="/ppt/media/image45.png" Id="Rc645dc2a633d4cf1" /><Relationship Type="http://schemas.openxmlformats.org/officeDocument/2006/relationships/notesSlide" Target="/ppt/notesSlides/notesSlide40.xml" Id="Rd3dc8912b53e49d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a6c74f3e8f1401d" /><Relationship Type="http://schemas.openxmlformats.org/officeDocument/2006/relationships/image" Target="/ppt/media/image46.png" Id="R320fa2ea50a04919" /><Relationship Type="http://schemas.openxmlformats.org/officeDocument/2006/relationships/notesSlide" Target="/ppt/notesSlides/notesSlide41.xml" Id="Rca137da71da544c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7ee7aeefe9044e9a" /><Relationship Type="http://schemas.openxmlformats.org/officeDocument/2006/relationships/image" Target="/ppt/media/image47.png" Id="R73d4d13320474393" /><Relationship Type="http://schemas.openxmlformats.org/officeDocument/2006/relationships/notesSlide" Target="/ppt/notesSlides/notesSlide42.xml" Id="R1f213ed82c26416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5b23a47c79344920" /><Relationship Type="http://schemas.openxmlformats.org/officeDocument/2006/relationships/image" Target="/ppt/media/image48.png" Id="R1379504b41084a48" /><Relationship Type="http://schemas.openxmlformats.org/officeDocument/2006/relationships/notesSlide" Target="/ppt/notesSlides/notesSlide43.xml" Id="Rb1603cb5643a4e6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dada7e54d1f64acd" /><Relationship Type="http://schemas.openxmlformats.org/officeDocument/2006/relationships/image" Target="/ppt/media/image49.png" Id="R414a24b324304254" /><Relationship Type="http://schemas.openxmlformats.org/officeDocument/2006/relationships/notesSlide" Target="/ppt/notesSlides/notesSlide44.xml" Id="R06a98f06d9594d5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7f25c187c18342e3" /><Relationship Type="http://schemas.openxmlformats.org/officeDocument/2006/relationships/image" Target="/ppt/media/image50.png" Id="R1475763c83d94c0f" /><Relationship Type="http://schemas.openxmlformats.org/officeDocument/2006/relationships/notesSlide" Target="/ppt/notesSlides/notesSlide45.xml" Id="Ree63ebf26154431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a6d5460ca15d4afb" /><Relationship Type="http://schemas.openxmlformats.org/officeDocument/2006/relationships/image" Target="/ppt/media/image51.png" Id="R8e199e25bc6b4a31" /><Relationship Type="http://schemas.openxmlformats.org/officeDocument/2006/relationships/notesSlide" Target="/ppt/notesSlides/notesSlide46.xml" Id="Rf323b9e654014c0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53c62f0f9d6f417d" /><Relationship Type="http://schemas.openxmlformats.org/officeDocument/2006/relationships/image" Target="/ppt/media/image52.png" Id="Re8677f1b017c49f0" /><Relationship Type="http://schemas.openxmlformats.org/officeDocument/2006/relationships/notesSlide" Target="/ppt/notesSlides/notesSlide47.xml" Id="Re81b8f70540a4c2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73edf4d453624c5f" /><Relationship Type="http://schemas.openxmlformats.org/officeDocument/2006/relationships/image" Target="/ppt/media/image53.png" Id="R5fb36004ba644847" /><Relationship Type="http://schemas.openxmlformats.org/officeDocument/2006/relationships/notesSlide" Target="/ppt/notesSlides/notesSlide48.xml" Id="Re97b7729e246476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Masa sin motor / g</c:v>
          </c:tx>
          <c:spPr>
            <a:solidFill xmlns:a="http://schemas.openxmlformats.org/drawingml/2006/main">
              <a:srgbClr val="244F3D"/>
            </a:solidFill>
          </c:spPr>
          <c:invertIfNegative val="0"/>
          <c:cat>
            <c:strRef>
              <c:f>'Chart Data'!$A$2:$A$3</c:f>
              <c:strCache>
                <c:ptCount val="2"/>
                <c:pt idx="0">
                  <c:v>Preliminar</c:v>
                </c:pt>
                <c:pt idx="1">
                  <c:v>Medido en el caso</c:v>
                </c:pt>
              </c:strCache>
            </c:strRef>
          </c:cat>
          <c:val>
            <c:numRef>
              <c:f>'Chart Data'!$B$2:$B$3</c:f>
              <c:numCache>
                <c:formatCode>0</c:formatCode>
                <c:ptCount val="2"/>
                <c:pt idx="0">
                  <c:v>42</c:v>
                </c:pt>
                <c:pt idx="1">
                  <c:v>49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crossAx val="48672768"/>
      </c:catAx>
      <c:valAx>
        <c:axId val="48672768"/>
        <c:scaling>
          <c:orientation val="minMax"/>
          <c:max val="60"/>
          <c:min val="0"/>
        </c:scaling>
        <c:delete val="0"/>
        <c:axPos val="l"/>
        <c:majorGridlines>
          <c:spPr>
            <a:ln xmlns:a="http://schemas.openxmlformats.org/drawingml/2006/main" w="9525">
              <a:solidFill>
                <a:srgbClr val="D7DFD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Masa sin motor / 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8665F"/>
                </a:solidFill>
                <a:latin typeface="Arial"/>
                <a:ea typeface="Arial"/>
                <a:cs typeface="Arial"/>
              </a:defRPr>
            </a:pPr>
          </a:p>
        </c:txPr>
        <c:crossAx val="48650112"/>
        <c:crossBetween val="between"/>
        <c:majorUnit val="5"/>
      </c:valAx>
      <c:spPr>
        <a:solidFill xmlns:a="http://schemas.openxmlformats.org/drawingml/2006/main">
          <a:srgbClr val="FCFCF8"/>
        </a:solidFill>
      </c:spPr>
    </c:plotArea>
    <c:plotVisOnly val="1"/>
  </c:chart>
  <c:spPr>
    <a:solidFill xmlns:a="http://schemas.openxmlformats.org/drawingml/2006/main">
      <a:srgbClr val="FCFC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6E1F78-C406-4AE6-9CF7-6C3A4040161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Recuperación y preparación del montaje</a:t>
            </a:r>
          </a:p>
        </p:txBody>
      </p:sp>
      <p:pic>
        <p:nvPicPr>
          <p:cNvPr id="2" name="">
            <a:extLst xmlns:a="http://schemas.openxmlformats.org/drawingml/2006/main">
              <a:ext uri="{FF2B5EF4-FFF2-40B4-BE49-F238E27FC236}">
                <a16:creationId xmlns:a16="http://schemas.microsoft.com/office/drawing/2014/main" id="{01A50B6E-D3E0-4B14-9FC9-C9354EFD660F}"/>
              </a:ext>
            </a:extLst>
          </p:cNvPr>
          <p:cNvPicPr>
            <a:picLocks xmlns:a="http://schemas.openxmlformats.org/drawingml/2006/main" noChangeAspect="1"/>
          </p:cNvPicPr>
          <p:nvPr/>
        </p:nvPicPr>
        <p:blipFill>
          <a:blip xmlns:r="http://schemas.openxmlformats.org/officeDocument/2006/relationships" xmlns:a="http://schemas.openxmlformats.org/drawingml/2006/main" r:embed="R95c74802ed10445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4ADAFCD-BC18-47E9-B533-010FBDD7B0A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11   01/24</a:t>
            </a:r>
          </a:p>
        </p:txBody>
      </p:sp>
      <p:sp>
        <p:nvSpPr>
          <p:cNvPr id="4" name="">
            <a:extLst xmlns:a="http://schemas.openxmlformats.org/drawingml/2006/main">
              <a:ext uri="{FF2B5EF4-FFF2-40B4-BE49-F238E27FC236}">
                <a16:creationId xmlns:a16="http://schemas.microsoft.com/office/drawing/2014/main" id="{159FB486-0702-4CA1-877E-21C588C88573}"/>
              </a:ext>
            </a:extLst>
          </p:cNvPr>
          <p:cNvSpPr>
            <a:spLocks xmlns:a="http://schemas.openxmlformats.org/drawingml/2006/main" noGrp="1"/>
          </p:cNvSpPr>
          <p:nvPr/>
        </p:nvSpPr>
        <p:spPr>
          <a:xfrm xmlns:a="http://schemas.openxmlformats.org/drawingml/2006/main">
            <a:off x="590550" y="17621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Comprender cómo vuelve el cohete y comprobar espacio, uniones y compatibilidad del sistema elegido.</a:t>
            </a:r>
          </a:p>
        </p:txBody>
      </p:sp>
      <p:sp>
        <p:nvSpPr>
          <p:cNvPr id="5" name="">
            <a:extLst xmlns:a="http://schemas.openxmlformats.org/drawingml/2006/main">
              <a:ext uri="{FF2B5EF4-FFF2-40B4-BE49-F238E27FC236}">
                <a16:creationId xmlns:a16="http://schemas.microsoft.com/office/drawing/2014/main" id="{1D9B1C50-6C0D-4DD5-BAB4-2F82F1DD6080}"/>
              </a:ext>
            </a:extLst>
          </p:cNvPr>
          <p:cNvSpPr>
            <a:spLocks xmlns:a="http://schemas.openxmlformats.org/drawingml/2006/main" noGrp="1"/>
          </p:cNvSpPr>
          <p:nvPr/>
        </p:nvSpPr>
        <p:spPr>
          <a:xfrm xmlns:a="http://schemas.openxmlformats.org/drawingml/2006/main">
            <a:off x="590550" y="37052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Recuperar el modelo y poder inspeccionarlo después del vuelo.</a:t>
            </a:r>
          </a:p>
        </p:txBody>
      </p:sp>
      <p:sp>
        <p:nvSpPr>
          <p:cNvPr id="6" name="">
            <a:extLst xmlns:a="http://schemas.openxmlformats.org/drawingml/2006/main">
              <a:ext uri="{FF2B5EF4-FFF2-40B4-BE49-F238E27FC236}">
                <a16:creationId xmlns:a16="http://schemas.microsoft.com/office/drawing/2014/main" id="{16A15FCB-3978-4C5E-BF0C-5E515D14F268}"/>
              </a:ext>
            </a:extLst>
          </p:cNvPr>
          <p:cNvSpPr>
            <a:spLocks xmlns:a="http://schemas.openxmlformats.org/drawingml/2006/main" noGrp="1"/>
          </p:cNvSpPr>
          <p:nvPr/>
        </p:nvSpPr>
        <p:spPr>
          <a:xfrm xmlns:a="http://schemas.openxmlformats.org/drawingml/2006/main">
            <a:off x="590550" y="564832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8C8C1"/>
                </a:solidFill>
                <a:latin typeface="Consolas"/>
                <a:ea typeface="Consolas"/>
                <a:cs typeface="Consolas"/>
              </a:defRPr>
            </a:defPPr>
            <a:lvl1pPr>
              <a:defRPr sz="1800" b="0">
                <a:solidFill>
                  <a:srgbClr val="B8C8C1"/>
                </a:solidFill>
                <a:latin typeface="Consolas"/>
                <a:ea typeface="Consolas"/>
                <a:cs typeface="Consolas"/>
              </a:defRPr>
            </a:lvl1pPr>
            <a:lvl2pPr>
              <a:defRPr sz="1800" b="0">
                <a:solidFill>
                  <a:srgbClr val="B8C8C1"/>
                </a:solidFill>
                <a:latin typeface="Consolas"/>
                <a:ea typeface="Consolas"/>
                <a:cs typeface="Consolas"/>
              </a:defRPr>
            </a:lvl2pPr>
            <a:lvl3pPr>
              <a:defRPr sz="1800" b="0">
                <a:solidFill>
                  <a:srgbClr val="B8C8C1"/>
                </a:solidFill>
                <a:latin typeface="Consolas"/>
                <a:ea typeface="Consolas"/>
                <a:cs typeface="Consolas"/>
              </a:defRPr>
            </a:lvl3pPr>
            <a:lvl4pPr>
              <a:defRPr sz="1800" b="0">
                <a:solidFill>
                  <a:srgbClr val="B8C8C1"/>
                </a:solidFill>
                <a:latin typeface="Consolas"/>
                <a:ea typeface="Consolas"/>
                <a:cs typeface="Consolas"/>
              </a:defRPr>
            </a:lvl4pPr>
            <a:lvl5pPr>
              <a:defRPr sz="1800" b="0">
                <a:solidFill>
                  <a:srgbClr val="B8C8C1"/>
                </a:solidFill>
                <a:latin typeface="Consolas"/>
                <a:ea typeface="Consolas"/>
                <a:cs typeface="Consolas"/>
              </a:defRPr>
            </a:lvl5pPr>
            <a:lvl6pPr>
              <a:defRPr sz="1800" b="0">
                <a:solidFill>
                  <a:srgbClr val="B8C8C1"/>
                </a:solidFill>
                <a:latin typeface="Consolas"/>
                <a:ea typeface="Consolas"/>
                <a:cs typeface="Consolas"/>
              </a:defRPr>
            </a:lvl6pPr>
            <a:lvl7pPr>
              <a:defRPr sz="1800" b="0">
                <a:solidFill>
                  <a:srgbClr val="B8C8C1"/>
                </a:solidFill>
                <a:latin typeface="Consolas"/>
                <a:ea typeface="Consolas"/>
                <a:cs typeface="Consolas"/>
              </a:defRPr>
            </a:lvl7pPr>
            <a:lvl8pPr>
              <a:defRPr sz="1800" b="0">
                <a:solidFill>
                  <a:srgbClr val="B8C8C1"/>
                </a:solidFill>
                <a:latin typeface="Consolas"/>
                <a:ea typeface="Consolas"/>
                <a:cs typeface="Consolas"/>
              </a:defRPr>
            </a:lvl8pPr>
            <a:lvl9pPr>
              <a:defRPr sz="1800" b="0">
                <a:solidFill>
                  <a:srgbClr val="B8C8C1"/>
                </a:solidFill>
                <a:latin typeface="Consolas"/>
                <a:ea typeface="Consolas"/>
                <a:cs typeface="Consolas"/>
              </a:defRPr>
            </a:lvl9pPr>
          </a:lstStyle>
          <a:p xmlns:a="http://schemas.openxmlformats.org/drawingml/2006/main">
            <a:pPr>
              <a:defRPr sz="1800" b="0">
                <a:solidFill>
                  <a:srgbClr val="B8C8C1"/>
                </a:solidFill>
                <a:latin typeface="Consolas"/>
                <a:ea typeface="Consolas"/>
                <a:cs typeface="Consolas"/>
              </a:defRPr>
            </a:pPr>
            <a:r>
              <a:rPr sz="1800"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917725407"/>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61A2630-30F1-4CE6-80B7-AF5125B8AB9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proyecto también incluye el descenso</a:t>
            </a:r>
          </a:p>
        </p:txBody>
      </p:sp>
      <p:pic>
        <p:nvPicPr>
          <p:cNvPr id="2" name="">
            <a:extLst xmlns:a="http://schemas.openxmlformats.org/drawingml/2006/main">
              <a:ext uri="{FF2B5EF4-FFF2-40B4-BE49-F238E27FC236}">
                <a16:creationId xmlns:a16="http://schemas.microsoft.com/office/drawing/2014/main" id="{3A0B1265-AB77-49CE-BBF1-AC9E3CCCAE22}"/>
              </a:ext>
            </a:extLst>
          </p:cNvPr>
          <p:cNvPicPr>
            <a:picLocks xmlns:a="http://schemas.openxmlformats.org/drawingml/2006/main" noChangeAspect="1"/>
          </p:cNvPicPr>
          <p:nvPr/>
        </p:nvPicPr>
        <p:blipFill>
          <a:blip xmlns:r="http://schemas.openxmlformats.org/officeDocument/2006/relationships" xmlns:a="http://schemas.openxmlformats.org/drawingml/2006/main" r:embed="Raa8e025b2b1d4c3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EB47472-DC99-4182-B098-F044CC93F9B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02/24</a:t>
            </a:r>
          </a:p>
        </p:txBody>
      </p:sp>
      <p:sp>
        <p:nvSpPr>
          <p:cNvPr id="4" name="">
            <a:extLst xmlns:a="http://schemas.openxmlformats.org/drawingml/2006/main">
              <a:ext uri="{FF2B5EF4-FFF2-40B4-BE49-F238E27FC236}">
                <a16:creationId xmlns:a16="http://schemas.microsoft.com/office/drawing/2014/main" id="{776EED0F-C852-4F44-837B-59551C848F62}"/>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sistema de recuperación se diseña junto al resto del modelo. Necesita espacio para guardarse, una conexión que mantenga las piezas relacionadas y un movimiento compatible con el conjunto comercial. Si se deja para el final, puede aparecer un cuerpo cerrado que no permite alojarlo o desplegarlo de la forma prevista.</a:t>
            </a:r>
          </a:p>
        </p:txBody>
      </p:sp>
    </p:spTree>
    <p:extLst>
      <p:ext uri="{BB962C8B-B14F-4D97-AF65-F5344CB8AC3E}">
        <p14:creationId xmlns:p14="http://schemas.microsoft.com/office/powerpoint/2010/main" val="1899548923"/>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17C9B8-11BF-4FA0-9468-BB7EB459790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proyecto también incluye el descenso</a:t>
            </a:r>
          </a:p>
        </p:txBody>
      </p:sp>
      <p:pic>
        <p:nvPicPr>
          <p:cNvPr id="2" name="">
            <a:extLst xmlns:a="http://schemas.openxmlformats.org/drawingml/2006/main">
              <a:ext uri="{FF2B5EF4-FFF2-40B4-BE49-F238E27FC236}">
                <a16:creationId xmlns:a16="http://schemas.microsoft.com/office/drawing/2014/main" id="{2A9878BA-04E9-4F85-8D08-F6314AFA2563}"/>
              </a:ext>
            </a:extLst>
          </p:cNvPr>
          <p:cNvPicPr>
            <a:picLocks xmlns:a="http://schemas.openxmlformats.org/drawingml/2006/main" noChangeAspect="1"/>
          </p:cNvPicPr>
          <p:nvPr/>
        </p:nvPicPr>
        <p:blipFill>
          <a:blip xmlns:r="http://schemas.openxmlformats.org/officeDocument/2006/relationships" xmlns:a="http://schemas.openxmlformats.org/drawingml/2006/main" r:embed="Rafd36cef700246a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C851047-A7D5-4570-BF09-EE6D34E9F69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03/24</a:t>
            </a:r>
          </a:p>
        </p:txBody>
      </p:sp>
      <p:pic>
        <p:nvPicPr>
          <p:cNvPr id="4" name="">
            <a:extLst xmlns:a="http://schemas.openxmlformats.org/drawingml/2006/main">
              <a:ext uri="{FF2B5EF4-FFF2-40B4-BE49-F238E27FC236}">
                <a16:creationId xmlns:a16="http://schemas.microsoft.com/office/drawing/2014/main" id="{04A4D704-5993-4094-BF24-4E8559F4D8A7}"/>
              </a:ext>
            </a:extLst>
          </p:cNvPr>
          <p:cNvPicPr>
            <a:picLocks xmlns:a="http://schemas.openxmlformats.org/drawingml/2006/main" noChangeAspect="1"/>
          </p:cNvPicPr>
          <p:nvPr/>
        </p:nvPicPr>
        <p:blipFill>
          <a:blip xmlns:r="http://schemas.openxmlformats.org/officeDocument/2006/relationships" xmlns:a="http://schemas.openxmlformats.org/drawingml/2006/main" r:embed="Rfe7432cbd8f74615"/>
          <a:stretch xmlns:a="http://schemas.openxmlformats.org/drawingml/2006/main"/>
        </p:blipFill>
        <p:spPr>
          <a:xfrm xmlns:a="http://schemas.openxmlformats.org/drawingml/2006/main">
            <a:off x="590550" y="2852713"/>
            <a:ext cx="7410450" cy="15907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EE2C5F8-55B3-4F97-B8C7-D734B904683C}"/>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¿Dónde se guarda y por dónde sale la recuperación?</a:t>
            </a:r>
          </a:p>
        </p:txBody>
      </p:sp>
      <p:sp>
        <p:nvSpPr>
          <p:cNvPr id="6" name="">
            <a:extLst xmlns:a="http://schemas.openxmlformats.org/drawingml/2006/main">
              <a:ext uri="{FF2B5EF4-FFF2-40B4-BE49-F238E27FC236}">
                <a16:creationId xmlns:a16="http://schemas.microsoft.com/office/drawing/2014/main" id="{3CA75187-BE70-47B3-8C4F-56F237FA6ECF}"/>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Recuperación en el ejemplo de OpenRocket. La representación enseña componentes; el proyecto usa un sistema concreto revisado por el docente.</a:t>
            </a:r>
          </a:p>
        </p:txBody>
      </p:sp>
    </p:spTree>
    <p:extLst>
      <p:ext uri="{BB962C8B-B14F-4D97-AF65-F5344CB8AC3E}">
        <p14:creationId xmlns:p14="http://schemas.microsoft.com/office/powerpoint/2010/main" val="506801075"/>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7E714EB-7FC7-4D40-9CEF-6109163F26B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debe resolver el conjunto</a:t>
            </a:r>
          </a:p>
        </p:txBody>
      </p:sp>
      <p:pic>
        <p:nvPicPr>
          <p:cNvPr id="2" name="">
            <a:extLst xmlns:a="http://schemas.openxmlformats.org/drawingml/2006/main">
              <a:ext uri="{FF2B5EF4-FFF2-40B4-BE49-F238E27FC236}">
                <a16:creationId xmlns:a16="http://schemas.microsoft.com/office/drawing/2014/main" id="{72C44E61-97A2-4F1E-B4D3-C753C93618DB}"/>
              </a:ext>
            </a:extLst>
          </p:cNvPr>
          <p:cNvPicPr>
            <a:picLocks xmlns:a="http://schemas.openxmlformats.org/drawingml/2006/main" noChangeAspect="1"/>
          </p:cNvPicPr>
          <p:nvPr/>
        </p:nvPicPr>
        <p:blipFill>
          <a:blip xmlns:r="http://schemas.openxmlformats.org/officeDocument/2006/relationships" xmlns:a="http://schemas.openxmlformats.org/drawingml/2006/main" r:embed="R27a1e11db429459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9BF72E2-5532-4607-8F86-84B12E0799E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04/24</a:t>
            </a:r>
          </a:p>
        </p:txBody>
      </p:sp>
      <p:graphicFrame>
        <p:nvGraphicFramePr>
          <p:cNvPr id="4" name="">
            <a:extLst xmlns:a="http://schemas.openxmlformats.org/drawingml/2006/main">
              <a:ext uri="{FF2B5EF4-FFF2-40B4-BE49-F238E27FC236}">
                <a16:creationId xmlns:a16="http://schemas.microsoft.com/office/drawing/2014/main" id="{526FD785-28C8-4139-A291-425C5B80187C}"/>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Necesidad</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observar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Guardar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Envolvente y espacio disponible</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Conectar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Cordones y uniones del sistema</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Salir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Camino sin interferencias</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Descender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Sistema apropiado al conjunto</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Revisar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Acceso después del vuelo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603926112"/>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5360648-4428-47EB-B4A6-A8BCB86A4D6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Paracaídas y cinta: comparar funciones</a:t>
            </a:r>
          </a:p>
        </p:txBody>
      </p:sp>
      <p:pic>
        <p:nvPicPr>
          <p:cNvPr id="2" name="">
            <a:extLst xmlns:a="http://schemas.openxmlformats.org/drawingml/2006/main">
              <a:ext uri="{FF2B5EF4-FFF2-40B4-BE49-F238E27FC236}">
                <a16:creationId xmlns:a16="http://schemas.microsoft.com/office/drawing/2014/main" id="{0DCC31ED-07AA-454A-9C07-2E206141B382}"/>
              </a:ext>
            </a:extLst>
          </p:cNvPr>
          <p:cNvPicPr>
            <a:picLocks xmlns:a="http://schemas.openxmlformats.org/drawingml/2006/main" noChangeAspect="1"/>
          </p:cNvPicPr>
          <p:nvPr/>
        </p:nvPicPr>
        <p:blipFill>
          <a:blip xmlns:r="http://schemas.openxmlformats.org/officeDocument/2006/relationships" xmlns:a="http://schemas.openxmlformats.org/drawingml/2006/main" r:embed="R9f2fe8595e1e4db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473B11A-29E9-4832-9168-B34AC4CFEFF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05/24</a:t>
            </a:r>
          </a:p>
        </p:txBody>
      </p:sp>
      <p:sp>
        <p:nvSpPr>
          <p:cNvPr id="4" name="">
            <a:extLst xmlns:a="http://schemas.openxmlformats.org/drawingml/2006/main">
              <a:ext uri="{FF2B5EF4-FFF2-40B4-BE49-F238E27FC236}">
                <a16:creationId xmlns:a16="http://schemas.microsoft.com/office/drawing/2014/main" id="{1577ACC0-1F5D-42FC-A74E-5398A78EA109}"/>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comparación empieza con el conjunto comercial que el docente propone. Las piezas se presentan sin activar ningún mecanismo. Se observa qué ocupa cada elemento, qué partes deben permanecer conectadas y qué superficies pueden bloquear el movimiento. No se cambia un sistema simplemente porque otro parezca ocupar menos lugar.</a:t>
            </a:r>
          </a:p>
        </p:txBody>
      </p:sp>
    </p:spTree>
    <p:extLst>
      <p:ext uri="{BB962C8B-B14F-4D97-AF65-F5344CB8AC3E}">
        <p14:creationId xmlns:p14="http://schemas.microsoft.com/office/powerpoint/2010/main" val="1542112307"/>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0461D4-3787-4CBA-8232-26904E3E865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Dos opciones habituales de modelismo</a:t>
            </a:r>
          </a:p>
        </p:txBody>
      </p:sp>
      <p:pic>
        <p:nvPicPr>
          <p:cNvPr id="2" name="">
            <a:extLst xmlns:a="http://schemas.openxmlformats.org/drawingml/2006/main">
              <a:ext uri="{FF2B5EF4-FFF2-40B4-BE49-F238E27FC236}">
                <a16:creationId xmlns:a16="http://schemas.microsoft.com/office/drawing/2014/main" id="{BC020E71-7684-4CA3-94E1-CE1650ED6698}"/>
              </a:ext>
            </a:extLst>
          </p:cNvPr>
          <p:cNvPicPr>
            <a:picLocks xmlns:a="http://schemas.openxmlformats.org/drawingml/2006/main" noChangeAspect="1"/>
          </p:cNvPicPr>
          <p:nvPr/>
        </p:nvPicPr>
        <p:blipFill>
          <a:blip xmlns:r="http://schemas.openxmlformats.org/officeDocument/2006/relationships" xmlns:a="http://schemas.openxmlformats.org/drawingml/2006/main" r:embed="R62ab82f213ef4f4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9285980-7372-4EF1-8985-F54DEA5F0DB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06/24</a:t>
            </a:r>
          </a:p>
        </p:txBody>
      </p:sp>
      <p:graphicFrame>
        <p:nvGraphicFramePr>
          <p:cNvPr id="4" name="">
            <a:extLst xmlns:a="http://schemas.openxmlformats.org/drawingml/2006/main">
              <a:ext uri="{FF2B5EF4-FFF2-40B4-BE49-F238E27FC236}">
                <a16:creationId xmlns:a16="http://schemas.microsoft.com/office/drawing/2014/main" id="{E6FA26B3-B913-4F38-AAEC-804F0029F981}"/>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897731">
                <a:tc>
                  <a:txBody>
                    <a:bodyPr/>
                    <a:lstStyle/>
                    <a:p>
                      <a:r>
                        <a:rPr sz="2025" b="1">
                          <a:solidFill>
                            <a:srgbClr val="FFFFFF"/>
                          </a:solidFill>
                          <a:latin typeface="Arial"/>
                          <a:ea typeface="Arial"/>
                          <a:cs typeface="Arial"/>
                        </a:rPr>
                        <a:t>Sistema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aporta a la discusión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comprobar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897731">
                <a:tc>
                  <a:txBody>
                    <a:bodyPr/>
                    <a:lstStyle/>
                    <a:p>
                      <a:r>
                        <a:rPr sz="2025" b="0">
                          <a:solidFill>
                            <a:srgbClr val="14231E"/>
                          </a:solidFill>
                          <a:latin typeface="Arial"/>
                          <a:ea typeface="Arial"/>
                          <a:cs typeface="Arial"/>
                        </a:rPr>
                        <a:t>Paracaídas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Superficie desplegada y descenso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Volumen plegado, cordones y sistema elegido</a:t>
                      </a:r>
                    </a:p>
                  </a:txBody>
                  <a:tcPr marL="91440" marR="91440" marT="45720" marB="45720">
                    <a:lnR w="9525">
                      <a:solidFill>
                        <a:srgbClr val="BFCEC3"/>
                      </a:solidFill>
                      <a:prstDash val="solid"/>
                    </a:lnR>
                    <a:lnB w="9525">
                      <a:solidFill>
                        <a:srgbClr val="BFCEC3"/>
                      </a:solidFill>
                      <a:prstDash val="solid"/>
                    </a:lnB>
                    <a:solidFill>
                      <a:srgbClr val="EAF3EC"/>
                    </a:solidFill>
                  </a:tcPr>
                </a:tc>
              </a:tr>
              <a:tr h="897731">
                <a:tc>
                  <a:txBody>
                    <a:bodyPr/>
                    <a:lstStyle/>
                    <a:p>
                      <a:r>
                        <a:rPr sz="2025" b="0">
                          <a:solidFill>
                            <a:srgbClr val="14231E"/>
                          </a:solidFill>
                          <a:latin typeface="Arial"/>
                          <a:ea typeface="Arial"/>
                          <a:cs typeface="Arial"/>
                        </a:rPr>
                        <a:t>Cinta o streamer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Despliegue de una banda y seguimiento visual</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Compatibilidad con masa y vehículo</a:t>
                      </a:r>
                    </a:p>
                  </a:txBody>
                  <a:tcPr marL="91440" marR="91440" marT="45720" marB="45720">
                    <a:lnR w="9525">
                      <a:solidFill>
                        <a:srgbClr val="BFCEC3"/>
                      </a:solidFill>
                      <a:prstDash val="solid"/>
                    </a:lnR>
                    <a:lnB w="9525">
                      <a:solidFill>
                        <a:srgbClr val="BFCEC3"/>
                      </a:solidFill>
                      <a:prstDash val="solid"/>
                    </a:lnB>
                    <a:solidFill>
                      <a:srgbClr val="FCFCF8"/>
                    </a:solidFill>
                  </a:tcPr>
                </a:tc>
              </a:tr>
              <a:tr h="897731">
                <a:tc>
                  <a:txBody>
                    <a:bodyPr/>
                    <a:lstStyle/>
                    <a:p>
                      <a:r>
                        <a:rPr sz="2025" b="0">
                          <a:solidFill>
                            <a:srgbClr val="14231E"/>
                          </a:solidFill>
                          <a:latin typeface="Arial"/>
                          <a:ea typeface="Arial"/>
                          <a:cs typeface="Arial"/>
                        </a:rPr>
                        <a:t>Sistema del fabricante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Conjunto de piezas e instrucciones relacionadas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Referencias y montaje previstos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717877699"/>
      </p:ext>
    </p:extLst>
  </p:cSld>
</p:sld>
</file>

<file path=ppt/slides/slide7.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CD1487-8731-42D2-9F92-70FEF302097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Una cinta ocupa menos, pero falta una decisión</a:t>
            </a:r>
          </a:p>
        </p:txBody>
      </p:sp>
      <p:pic>
        <p:nvPicPr>
          <p:cNvPr id="2" name="">
            <a:extLst xmlns:a="http://schemas.openxmlformats.org/drawingml/2006/main">
              <a:ext uri="{FF2B5EF4-FFF2-40B4-BE49-F238E27FC236}">
                <a16:creationId xmlns:a16="http://schemas.microsoft.com/office/drawing/2014/main" id="{F2326B0C-58C9-468E-B068-C7996F9E97ED}"/>
              </a:ext>
            </a:extLst>
          </p:cNvPr>
          <p:cNvPicPr>
            <a:picLocks xmlns:a="http://schemas.openxmlformats.org/drawingml/2006/main" noChangeAspect="1"/>
          </p:cNvPicPr>
          <p:nvPr/>
        </p:nvPicPr>
        <p:blipFill>
          <a:blip xmlns:r="http://schemas.openxmlformats.org/officeDocument/2006/relationships" xmlns:a="http://schemas.openxmlformats.org/drawingml/2006/main" r:embed="R483fdbc9cb8e4cc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721CBE0-FDC0-47B6-9866-D90458EC4A7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11   07/24</a:t>
            </a:r>
          </a:p>
        </p:txBody>
      </p:sp>
      <p:sp>
        <p:nvSpPr>
          <p:cNvPr id="4" name="">
            <a:extLst xmlns:a="http://schemas.openxmlformats.org/drawingml/2006/main">
              <a:ext uri="{FF2B5EF4-FFF2-40B4-BE49-F238E27FC236}">
                <a16:creationId xmlns:a16="http://schemas.microsoft.com/office/drawing/2014/main" id="{FC6F4EC6-1C9F-460F-931A-BA146E01C5AF}"/>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 equipo quiere sustituir el paracaídas previsto por una cinta porque es más fácil de guardar.</a:t>
            </a:r>
          </a:p>
        </p:txBody>
      </p:sp>
      <p:sp>
        <p:nvSpPr>
          <p:cNvPr id="5" name="">
            <a:extLst xmlns:a="http://schemas.openxmlformats.org/drawingml/2006/main">
              <a:ext uri="{FF2B5EF4-FFF2-40B4-BE49-F238E27FC236}">
                <a16:creationId xmlns:a16="http://schemas.microsoft.com/office/drawing/2014/main" id="{ED849B3A-146D-47BA-8AF3-54004173483E}"/>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falta por revisar al sustituir el dispositivo?</a:t>
            </a:r>
          </a:p>
        </p:txBody>
      </p:sp>
    </p:spTree>
    <p:extLst>
      <p:ext uri="{BB962C8B-B14F-4D97-AF65-F5344CB8AC3E}">
        <p14:creationId xmlns:p14="http://schemas.microsoft.com/office/powerpoint/2010/main" val="457600845"/>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9D0D4B-3DDA-487D-A11E-0330F297A81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Cordones, bordes y acceso</a:t>
            </a:r>
          </a:p>
        </p:txBody>
      </p:sp>
      <p:pic>
        <p:nvPicPr>
          <p:cNvPr id="2" name="">
            <a:extLst xmlns:a="http://schemas.openxmlformats.org/drawingml/2006/main">
              <a:ext uri="{FF2B5EF4-FFF2-40B4-BE49-F238E27FC236}">
                <a16:creationId xmlns:a16="http://schemas.microsoft.com/office/drawing/2014/main" id="{FC093D67-B24E-425D-AB11-06A5BE509A70}"/>
              </a:ext>
            </a:extLst>
          </p:cNvPr>
          <p:cNvPicPr>
            <a:picLocks xmlns:a="http://schemas.openxmlformats.org/drawingml/2006/main" noChangeAspect="1"/>
          </p:cNvPicPr>
          <p:nvPr/>
        </p:nvPicPr>
        <p:blipFill>
          <a:blip xmlns:r="http://schemas.openxmlformats.org/officeDocument/2006/relationships" xmlns:a="http://schemas.openxmlformats.org/drawingml/2006/main" r:embed="R651709c707c046f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153133-4241-4D1C-8F8B-269E4A621CA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08/24</a:t>
            </a:r>
          </a:p>
        </p:txBody>
      </p:sp>
      <p:sp>
        <p:nvSpPr>
          <p:cNvPr id="4" name="">
            <a:extLst xmlns:a="http://schemas.openxmlformats.org/drawingml/2006/main">
              <a:ext uri="{FF2B5EF4-FFF2-40B4-BE49-F238E27FC236}">
                <a16:creationId xmlns:a16="http://schemas.microsoft.com/office/drawing/2014/main" id="{AA4E3BD7-0F5C-4474-ACFF-90E740B88D4D}"/>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Las piezas conectadas pueden moverse unas respecto a otras sin quedar sueltas. Los cordones requieren un recorrido que se pueda guardar y revisar. Un borde, una arista impresa o una pieza interior pueden provocar rozamiento o enganchar un pliegue. La revisión visual debe hacerse con los objetos que realmente se montarán.</a:t>
            </a:r>
          </a:p>
        </p:txBody>
      </p:sp>
    </p:spTree>
    <p:extLst>
      <p:ext uri="{BB962C8B-B14F-4D97-AF65-F5344CB8AC3E}">
        <p14:creationId xmlns:p14="http://schemas.microsoft.com/office/powerpoint/2010/main" val="725380011"/>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BFDA6D-5543-4669-A968-7DFB9A2C7C1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Cordones, bordes y acceso</a:t>
            </a:r>
          </a:p>
        </p:txBody>
      </p:sp>
      <p:pic>
        <p:nvPicPr>
          <p:cNvPr id="2" name="">
            <a:extLst xmlns:a="http://schemas.openxmlformats.org/drawingml/2006/main">
              <a:ext uri="{FF2B5EF4-FFF2-40B4-BE49-F238E27FC236}">
                <a16:creationId xmlns:a16="http://schemas.microsoft.com/office/drawing/2014/main" id="{0C8DC942-D2BC-4D37-A41D-A4B1A159A1DF}"/>
              </a:ext>
            </a:extLst>
          </p:cNvPr>
          <p:cNvPicPr>
            <a:picLocks xmlns:a="http://schemas.openxmlformats.org/drawingml/2006/main" noChangeAspect="1"/>
          </p:cNvPicPr>
          <p:nvPr/>
        </p:nvPicPr>
        <p:blipFill>
          <a:blip xmlns:r="http://schemas.openxmlformats.org/officeDocument/2006/relationships" xmlns:a="http://schemas.openxmlformats.org/drawingml/2006/main" r:embed="R43ee9ac25f0b4fa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0DAFA4F-BB93-4206-9116-7D96F7749D3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09/24</a:t>
            </a:r>
          </a:p>
        </p:txBody>
      </p:sp>
      <p:pic>
        <p:nvPicPr>
          <p:cNvPr id="4" name="">
            <a:extLst xmlns:a="http://schemas.openxmlformats.org/drawingml/2006/main">
              <a:ext uri="{FF2B5EF4-FFF2-40B4-BE49-F238E27FC236}">
                <a16:creationId xmlns:a16="http://schemas.microsoft.com/office/drawing/2014/main" id="{E4686B82-3FDA-49EF-8A83-4BA61B20B695}"/>
              </a:ext>
            </a:extLst>
          </p:cNvPr>
          <p:cNvPicPr>
            <a:picLocks xmlns:a="http://schemas.openxmlformats.org/drawingml/2006/main" noChangeAspect="1"/>
          </p:cNvPicPr>
          <p:nvPr/>
        </p:nvPicPr>
        <p:blipFill>
          <a:blip xmlns:r="http://schemas.openxmlformats.org/officeDocument/2006/relationships" xmlns:a="http://schemas.openxmlformats.org/drawingml/2006/main" r:embed="R4d8ffea912c34485"/>
          <a:stretch xmlns:a="http://schemas.openxmlformats.org/drawingml/2006/main"/>
        </p:blipFill>
        <p:spPr>
          <a:xfrm xmlns:a="http://schemas.openxmlformats.org/drawingml/2006/main">
            <a:off x="590550" y="2856592"/>
            <a:ext cx="7410450" cy="158296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DF20C84-0C9D-470D-B3AC-D4902F08EC27}"/>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¿Qué borde puede interferir con el recorrido?</a:t>
            </a:r>
          </a:p>
        </p:txBody>
      </p:sp>
      <p:sp>
        <p:nvSpPr>
          <p:cNvPr id="6" name="">
            <a:extLst xmlns:a="http://schemas.openxmlformats.org/drawingml/2006/main">
              <a:ext uri="{FF2B5EF4-FFF2-40B4-BE49-F238E27FC236}">
                <a16:creationId xmlns:a16="http://schemas.microsoft.com/office/drawing/2014/main" id="{6841FD96-3A11-4A4B-976A-56CFFD368895}"/>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Cordón del sistema de recuperación en el ejemplo oficial de OpenRocket. La unión real sigue la solución del conjunto elegido.</a:t>
            </a:r>
          </a:p>
        </p:txBody>
      </p:sp>
    </p:spTree>
    <p:extLst>
      <p:ext uri="{BB962C8B-B14F-4D97-AF65-F5344CB8AC3E}">
        <p14:creationId xmlns:p14="http://schemas.microsoft.com/office/powerpoint/2010/main" val="1155271656"/>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0D1D390-48F2-4EA3-8327-A20FDF6B939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Cordones, bordes y acceso</a:t>
            </a:r>
          </a:p>
        </p:txBody>
      </p:sp>
      <p:pic>
        <p:nvPicPr>
          <p:cNvPr id="2" name="">
            <a:extLst xmlns:a="http://schemas.openxmlformats.org/drawingml/2006/main">
              <a:ext uri="{FF2B5EF4-FFF2-40B4-BE49-F238E27FC236}">
                <a16:creationId xmlns:a16="http://schemas.microsoft.com/office/drawing/2014/main" id="{DD24DA89-C7DC-4CAC-A3DF-C56236C4A954}"/>
              </a:ext>
            </a:extLst>
          </p:cNvPr>
          <p:cNvPicPr>
            <a:picLocks xmlns:a="http://schemas.openxmlformats.org/drawingml/2006/main" noChangeAspect="1"/>
          </p:cNvPicPr>
          <p:nvPr/>
        </p:nvPicPr>
        <p:blipFill>
          <a:blip xmlns:r="http://schemas.openxmlformats.org/officeDocument/2006/relationships" xmlns:a="http://schemas.openxmlformats.org/drawingml/2006/main" r:embed="R706b382861074fd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7407EFC-F09E-4DD0-90FA-84BC8FD2625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10/24</a:t>
            </a:r>
          </a:p>
        </p:txBody>
      </p:sp>
      <p:sp>
        <p:nvSpPr>
          <p:cNvPr id="4" name="">
            <a:extLst xmlns:a="http://schemas.openxmlformats.org/drawingml/2006/main">
              <a:ext uri="{FF2B5EF4-FFF2-40B4-BE49-F238E27FC236}">
                <a16:creationId xmlns:a16="http://schemas.microsoft.com/office/drawing/2014/main" id="{48B274D7-55C3-4A0E-BA5D-E6A97C88F68B}"/>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Identifica dónde se fija cada parte del sistema según la solución elegida.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Recorre con la vista el camino desde el interior hacia la abertura.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Presenta los componentes y comprueba si una pieza ocupa el mismo espacio que otra.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Observa los bordes y solicita al docente la corrección apropiada si afectan el recorrido.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Conserva una fotografía del acceso antes de cerrar el montaje.</a:t>
            </a:r>
          </a:p>
        </p:txBody>
      </p:sp>
    </p:spTree>
    <p:extLst>
      <p:ext uri="{BB962C8B-B14F-4D97-AF65-F5344CB8AC3E}">
        <p14:creationId xmlns:p14="http://schemas.microsoft.com/office/powerpoint/2010/main" val="1216260430"/>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FF606E-0B59-4F9B-9378-44CCBDA3905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Representar el sistema en OpenRocket</a:t>
            </a:r>
          </a:p>
        </p:txBody>
      </p:sp>
      <p:pic>
        <p:nvPicPr>
          <p:cNvPr id="2" name="">
            <a:extLst xmlns:a="http://schemas.openxmlformats.org/drawingml/2006/main">
              <a:ext uri="{FF2B5EF4-FFF2-40B4-BE49-F238E27FC236}">
                <a16:creationId xmlns:a16="http://schemas.microsoft.com/office/drawing/2014/main" id="{89C2434F-194E-4A6B-94EC-CEE43C48FB7A}"/>
              </a:ext>
            </a:extLst>
          </p:cNvPr>
          <p:cNvPicPr>
            <a:picLocks xmlns:a="http://schemas.openxmlformats.org/drawingml/2006/main" noChangeAspect="1"/>
          </p:cNvPicPr>
          <p:nvPr/>
        </p:nvPicPr>
        <p:blipFill>
          <a:blip xmlns:r="http://schemas.openxmlformats.org/officeDocument/2006/relationships" xmlns:a="http://schemas.openxmlformats.org/drawingml/2006/main" r:embed="R53d7689a6b49415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B44E51F-EB7E-4AE7-8E7C-C008B419D0E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11/24</a:t>
            </a:r>
          </a:p>
        </p:txBody>
      </p:sp>
      <p:sp>
        <p:nvSpPr>
          <p:cNvPr id="4" name="">
            <a:extLst xmlns:a="http://schemas.openxmlformats.org/drawingml/2006/main">
              <a:ext uri="{FF2B5EF4-FFF2-40B4-BE49-F238E27FC236}">
                <a16:creationId xmlns:a16="http://schemas.microsoft.com/office/drawing/2014/main" id="{E4B35BCF-A4CE-4CA7-81FA-EA92D989035E}"/>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evento de programa no demuestra que el objeto se moverá sin interferencias. La revisión digital y la presentación física responden preguntas complementarias. [OR1, OR3]</a:t>
            </a:r>
          </a:p>
        </p:txBody>
      </p:sp>
    </p:spTree>
    <p:extLst>
      <p:ext uri="{BB962C8B-B14F-4D97-AF65-F5344CB8AC3E}">
        <p14:creationId xmlns:p14="http://schemas.microsoft.com/office/powerpoint/2010/main" val="662053207"/>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1F334F-BF32-4395-9A92-ECA3282E942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Representar el sistema en OpenRocket</a:t>
            </a:r>
          </a:p>
        </p:txBody>
      </p:sp>
      <p:pic>
        <p:nvPicPr>
          <p:cNvPr id="2" name="">
            <a:extLst xmlns:a="http://schemas.openxmlformats.org/drawingml/2006/main">
              <a:ext uri="{FF2B5EF4-FFF2-40B4-BE49-F238E27FC236}">
                <a16:creationId xmlns:a16="http://schemas.microsoft.com/office/drawing/2014/main" id="{DE900588-AB2B-4209-AF3D-15633C7C3D98}"/>
              </a:ext>
            </a:extLst>
          </p:cNvPr>
          <p:cNvPicPr>
            <a:picLocks xmlns:a="http://schemas.openxmlformats.org/drawingml/2006/main" noChangeAspect="1"/>
          </p:cNvPicPr>
          <p:nvPr/>
        </p:nvPicPr>
        <p:blipFill>
          <a:blip xmlns:r="http://schemas.openxmlformats.org/officeDocument/2006/relationships" xmlns:a="http://schemas.openxmlformats.org/drawingml/2006/main" r:embed="R33a50773688c4ab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D3A1B21-3C7C-4381-9B76-1B4C4107AB3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12/24</a:t>
            </a:r>
          </a:p>
        </p:txBody>
      </p:sp>
      <p:pic>
        <p:nvPicPr>
          <p:cNvPr id="4" name="">
            <a:extLst xmlns:a="http://schemas.openxmlformats.org/drawingml/2006/main">
              <a:ext uri="{FF2B5EF4-FFF2-40B4-BE49-F238E27FC236}">
                <a16:creationId xmlns:a16="http://schemas.microsoft.com/office/drawing/2014/main" id="{84E805E9-9504-4076-8C8C-3AA8F6DD97E2}"/>
              </a:ext>
            </a:extLst>
          </p:cNvPr>
          <p:cNvPicPr>
            <a:picLocks xmlns:a="http://schemas.openxmlformats.org/drawingml/2006/main" noChangeAspect="1"/>
          </p:cNvPicPr>
          <p:nvPr/>
        </p:nvPicPr>
        <p:blipFill>
          <a:blip xmlns:r="http://schemas.openxmlformats.org/officeDocument/2006/relationships" xmlns:a="http://schemas.openxmlformats.org/drawingml/2006/main" r:embed="Ra86055dbac614f3c"/>
          <a:stretch xmlns:a="http://schemas.openxmlformats.org/drawingml/2006/main"/>
        </p:blipFill>
        <p:spPr>
          <a:xfrm xmlns:a="http://schemas.openxmlformats.org/drawingml/2006/main">
            <a:off x="590550" y="1683729"/>
            <a:ext cx="7410450" cy="392869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350534F-F645-42F0-BE0A-FDF373166936}"/>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¿El evento digital representa el sistema previsto?</a:t>
            </a:r>
          </a:p>
        </p:txBody>
      </p:sp>
      <p:sp>
        <p:nvSpPr>
          <p:cNvPr id="6" name="">
            <a:extLst xmlns:a="http://schemas.openxmlformats.org/drawingml/2006/main">
              <a:ext uri="{FF2B5EF4-FFF2-40B4-BE49-F238E27FC236}">
                <a16:creationId xmlns:a16="http://schemas.microsoft.com/office/drawing/2014/main" id="{643B9670-06EB-467C-B3A3-2CE57FE06C40}"/>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Ventana de recuperación del manual de OpenRocket. Los datos corresponden a su ejemplo; se introducen los del sistema del equipo.</a:t>
            </a:r>
          </a:p>
        </p:txBody>
      </p:sp>
    </p:spTree>
    <p:extLst>
      <p:ext uri="{BB962C8B-B14F-4D97-AF65-F5344CB8AC3E}">
        <p14:creationId xmlns:p14="http://schemas.microsoft.com/office/powerpoint/2010/main" val="1053648291"/>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4EAAB2-D512-4142-97CA-9A6A4134E30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Representar el sistema en OpenRocket</a:t>
            </a:r>
          </a:p>
        </p:txBody>
      </p:sp>
      <p:pic>
        <p:nvPicPr>
          <p:cNvPr id="2" name="">
            <a:extLst xmlns:a="http://schemas.openxmlformats.org/drawingml/2006/main">
              <a:ext uri="{FF2B5EF4-FFF2-40B4-BE49-F238E27FC236}">
                <a16:creationId xmlns:a16="http://schemas.microsoft.com/office/drawing/2014/main" id="{7E2F3081-17B8-4FDD-8732-4B43F61E9714}"/>
              </a:ext>
            </a:extLst>
          </p:cNvPr>
          <p:cNvPicPr>
            <a:picLocks xmlns:a="http://schemas.openxmlformats.org/drawingml/2006/main" noChangeAspect="1"/>
          </p:cNvPicPr>
          <p:nvPr/>
        </p:nvPicPr>
        <p:blipFill>
          <a:blip xmlns:r="http://schemas.openxmlformats.org/officeDocument/2006/relationships" xmlns:a="http://schemas.openxmlformats.org/drawingml/2006/main" r:embed="Rf34381c4d7dd4c2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0CBA0C0-B7D1-4405-990F-3FB81D6DFB7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13/24</a:t>
            </a:r>
          </a:p>
        </p:txBody>
      </p:sp>
      <p:sp>
        <p:nvSpPr>
          <p:cNvPr id="4" name="">
            <a:extLst xmlns:a="http://schemas.openxmlformats.org/drawingml/2006/main">
              <a:ext uri="{FF2B5EF4-FFF2-40B4-BE49-F238E27FC236}">
                <a16:creationId xmlns:a16="http://schemas.microsoft.com/office/drawing/2014/main" id="{CDD6332E-2C19-4935-9C91-FBA98179E810}"/>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Abre el archivo completo y confirma qué dispositivo representa la recuperación.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Introduce dimensiones y masa del componente seleccionado o su representación adecuada.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Revisa el evento de despliegue que corresponde al sistema previsto.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Comprueba en la configuración comercial qué retardo o evento se está utilizando y deja la revisión al docente.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Ejecuta nuevamente la predicción y observa el evento de recuperación respecto al apogeo.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Guarda la configuración y las gráficas; no cambies solo el nombre del archivo.</a:t>
            </a:r>
          </a:p>
        </p:txBody>
      </p:sp>
    </p:spTree>
    <p:extLst>
      <p:ext uri="{BB962C8B-B14F-4D97-AF65-F5344CB8AC3E}">
        <p14:creationId xmlns:p14="http://schemas.microsoft.com/office/powerpoint/2010/main" val="1411625626"/>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32CC85-7B04-4C44-A01A-B44D08D78F9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Ensayo de banco con el sistema inerte</a:t>
            </a:r>
          </a:p>
        </p:txBody>
      </p:sp>
      <p:pic>
        <p:nvPicPr>
          <p:cNvPr id="2" name="">
            <a:extLst xmlns:a="http://schemas.openxmlformats.org/drawingml/2006/main">
              <a:ext uri="{FF2B5EF4-FFF2-40B4-BE49-F238E27FC236}">
                <a16:creationId xmlns:a16="http://schemas.microsoft.com/office/drawing/2014/main" id="{135FFAAC-31DF-4986-B5A8-3E38CDE205C9}"/>
              </a:ext>
            </a:extLst>
          </p:cNvPr>
          <p:cNvPicPr>
            <a:picLocks xmlns:a="http://schemas.openxmlformats.org/drawingml/2006/main" noChangeAspect="1"/>
          </p:cNvPicPr>
          <p:nvPr/>
        </p:nvPicPr>
        <p:blipFill>
          <a:blip xmlns:r="http://schemas.openxmlformats.org/officeDocument/2006/relationships" xmlns:a="http://schemas.openxmlformats.org/drawingml/2006/main" r:embed="R99abaa4a95d84cc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7289539-9A37-42A8-996B-53EF791C4EE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14/24</a:t>
            </a:r>
          </a:p>
        </p:txBody>
      </p:sp>
      <p:sp>
        <p:nvSpPr>
          <p:cNvPr id="4" name="">
            <a:extLst xmlns:a="http://schemas.openxmlformats.org/drawingml/2006/main">
              <a:ext uri="{FF2B5EF4-FFF2-40B4-BE49-F238E27FC236}">
                <a16:creationId xmlns:a16="http://schemas.microsoft.com/office/drawing/2014/main" id="{AFAD3F07-FB68-4D15-A37C-FB2DF3B7DDF9}"/>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comprobación de clase se realiza sin activar un motor ni un dispositivo energético. Permite estudiar espacio, acceso y movimiento con el método de presentación definido por el docente. No reproduce por completo las condiciones de vuelo, por lo que su conclusión debe conservar ese alcance.</a:t>
            </a:r>
          </a:p>
        </p:txBody>
      </p:sp>
    </p:spTree>
    <p:extLst>
      <p:ext uri="{BB962C8B-B14F-4D97-AF65-F5344CB8AC3E}">
        <p14:creationId xmlns:p14="http://schemas.microsoft.com/office/powerpoint/2010/main" val="1937809969"/>
      </p:ext>
    </p:extLst>
  </p:cSld>
</p:sld>
</file>

<file path=ppt/slides/slide1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3DF24D-09AA-4549-B091-A3905564FDA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 del equipo</a:t>
            </a:r>
          </a:p>
        </p:txBody>
      </p:sp>
      <p:pic>
        <p:nvPicPr>
          <p:cNvPr id="2" name="">
            <a:extLst xmlns:a="http://schemas.openxmlformats.org/drawingml/2006/main">
              <a:ext uri="{FF2B5EF4-FFF2-40B4-BE49-F238E27FC236}">
                <a16:creationId xmlns:a16="http://schemas.microsoft.com/office/drawing/2014/main" id="{961B9139-16D3-4AC8-BEF3-7EC19D6E4D8E}"/>
              </a:ext>
            </a:extLst>
          </p:cNvPr>
          <p:cNvPicPr>
            <a:picLocks xmlns:a="http://schemas.openxmlformats.org/drawingml/2006/main" noChangeAspect="1"/>
          </p:cNvPicPr>
          <p:nvPr/>
        </p:nvPicPr>
        <p:blipFill>
          <a:blip xmlns:r="http://schemas.openxmlformats.org/officeDocument/2006/relationships" xmlns:a="http://schemas.openxmlformats.org/drawingml/2006/main" r:embed="R94e4fea6bede4cb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13F2205-525C-40F7-8921-E32C15A6882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11   15/24</a:t>
            </a:r>
          </a:p>
        </p:txBody>
      </p:sp>
      <p:sp>
        <p:nvSpPr>
          <p:cNvPr id="4" name="">
            <a:extLst xmlns:a="http://schemas.openxmlformats.org/drawingml/2006/main">
              <a:ext uri="{FF2B5EF4-FFF2-40B4-BE49-F238E27FC236}">
                <a16:creationId xmlns:a16="http://schemas.microsoft.com/office/drawing/2014/main" id="{F633876D-E309-40B2-A15F-D901D36A6528}"/>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AEF4BB"/>
                </a:solidFill>
                <a:latin typeface="Arial"/>
                <a:ea typeface="Arial"/>
                <a:cs typeface="Arial"/>
              </a:defRPr>
            </a:defPPr>
            <a:lvl1pPr>
              <a:defRPr sz="3075" b="1">
                <a:solidFill>
                  <a:srgbClr val="AEF4BB"/>
                </a:solidFill>
                <a:latin typeface="Arial"/>
                <a:ea typeface="Arial"/>
                <a:cs typeface="Arial"/>
              </a:defRPr>
            </a:lvl1pPr>
            <a:lvl2pPr>
              <a:defRPr sz="3075" b="1">
                <a:solidFill>
                  <a:srgbClr val="AEF4BB"/>
                </a:solidFill>
                <a:latin typeface="Arial"/>
                <a:ea typeface="Arial"/>
                <a:cs typeface="Arial"/>
              </a:defRPr>
            </a:lvl2pPr>
            <a:lvl3pPr>
              <a:defRPr sz="3075" b="1">
                <a:solidFill>
                  <a:srgbClr val="AEF4BB"/>
                </a:solidFill>
                <a:latin typeface="Arial"/>
                <a:ea typeface="Arial"/>
                <a:cs typeface="Arial"/>
              </a:defRPr>
            </a:lvl3pPr>
            <a:lvl4pPr>
              <a:defRPr sz="3075" b="1">
                <a:solidFill>
                  <a:srgbClr val="AEF4BB"/>
                </a:solidFill>
                <a:latin typeface="Arial"/>
                <a:ea typeface="Arial"/>
                <a:cs typeface="Arial"/>
              </a:defRPr>
            </a:lvl4pPr>
            <a:lvl5pPr>
              <a:defRPr sz="3075" b="1">
                <a:solidFill>
                  <a:srgbClr val="AEF4BB"/>
                </a:solidFill>
                <a:latin typeface="Arial"/>
                <a:ea typeface="Arial"/>
                <a:cs typeface="Arial"/>
              </a:defRPr>
            </a:lvl5pPr>
            <a:lvl6pPr>
              <a:defRPr sz="3075" b="1">
                <a:solidFill>
                  <a:srgbClr val="AEF4BB"/>
                </a:solidFill>
                <a:latin typeface="Arial"/>
                <a:ea typeface="Arial"/>
                <a:cs typeface="Arial"/>
              </a:defRPr>
            </a:lvl6pPr>
            <a:lvl7pPr>
              <a:defRPr sz="3075" b="1">
                <a:solidFill>
                  <a:srgbClr val="AEF4BB"/>
                </a:solidFill>
                <a:latin typeface="Arial"/>
                <a:ea typeface="Arial"/>
                <a:cs typeface="Arial"/>
              </a:defRPr>
            </a:lvl7pPr>
            <a:lvl8pPr>
              <a:defRPr sz="3075" b="1">
                <a:solidFill>
                  <a:srgbClr val="AEF4BB"/>
                </a:solidFill>
                <a:latin typeface="Arial"/>
                <a:ea typeface="Arial"/>
                <a:cs typeface="Arial"/>
              </a:defRPr>
            </a:lvl8pPr>
            <a:lvl9pPr>
              <a:defRPr sz="3075" b="1">
                <a:solidFill>
                  <a:srgbClr val="AEF4BB"/>
                </a:solidFill>
                <a:latin typeface="Arial"/>
                <a:ea typeface="Arial"/>
                <a:cs typeface="Arial"/>
              </a:defRPr>
            </a:lvl9pPr>
          </a:lstStyle>
          <a:p xmlns:a="http://schemas.openxmlformats.org/drawingml/2006/main">
            <a:pPr>
              <a:defRPr sz="3075" b="1">
                <a:solidFill>
                  <a:srgbClr val="AEF4BB"/>
                </a:solidFill>
                <a:latin typeface="Arial"/>
                <a:ea typeface="Arial"/>
                <a:cs typeface="Arial"/>
              </a:defRPr>
            </a:pPr>
            <a:r>
              <a:rPr sz="3075" b="1">
                <a:solidFill>
                  <a:srgbClr val="AEF4BB"/>
                </a:solidFill>
                <a:latin typeface="Arial"/>
                <a:ea typeface="Arial"/>
                <a:cs typeface="Arial"/>
              </a:rPr>
              <a:t>¿Qué demuestra el banco inerte?</a:t>
            </a:r>
          </a:p>
        </p:txBody>
      </p:sp>
      <p:sp>
        <p:nvSpPr>
          <p:cNvPr id="5" name="">
            <a:extLst xmlns:a="http://schemas.openxmlformats.org/drawingml/2006/main">
              <a:ext uri="{FF2B5EF4-FFF2-40B4-BE49-F238E27FC236}">
                <a16:creationId xmlns:a16="http://schemas.microsoft.com/office/drawing/2014/main" id="{FDFC3E78-7D17-4374-B528-7EE98F92B71F}"/>
              </a:ext>
            </a:extLst>
          </p:cNvPr>
          <p:cNvSpPr>
            <a:spLocks xmlns:a="http://schemas.openxmlformats.org/drawingml/2006/main" noGrp="1"/>
          </p:cNvSpPr>
          <p:nvPr/>
        </p:nvSpPr>
        <p:spPr>
          <a:xfrm xmlns:a="http://schemas.openxmlformats.org/drawingml/2006/main">
            <a:off x="590550" y="3800475"/>
            <a:ext cx="10715625"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La prueba de banco debe conservar las piezas y la revisión examinadas. Una modificación posterior puede requerir repetirla.</a:t>
            </a:r>
          </a:p>
        </p:txBody>
      </p:sp>
    </p:spTree>
    <p:extLst>
      <p:ext uri="{BB962C8B-B14F-4D97-AF65-F5344CB8AC3E}">
        <p14:creationId xmlns:p14="http://schemas.microsoft.com/office/powerpoint/2010/main" val="1306055892"/>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EF87F9-3704-42E3-8C99-478BC268D50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Ensayo de banco con el sistema inerte</a:t>
            </a:r>
          </a:p>
        </p:txBody>
      </p:sp>
      <p:pic>
        <p:nvPicPr>
          <p:cNvPr id="2" name="">
            <a:extLst xmlns:a="http://schemas.openxmlformats.org/drawingml/2006/main">
              <a:ext uri="{FF2B5EF4-FFF2-40B4-BE49-F238E27FC236}">
                <a16:creationId xmlns:a16="http://schemas.microsoft.com/office/drawing/2014/main" id="{ADF6053F-08E1-45C3-BA1B-1F5BFD139125}"/>
              </a:ext>
            </a:extLst>
          </p:cNvPr>
          <p:cNvPicPr>
            <a:picLocks xmlns:a="http://schemas.openxmlformats.org/drawingml/2006/main" noChangeAspect="1"/>
          </p:cNvPicPr>
          <p:nvPr/>
        </p:nvPicPr>
        <p:blipFill>
          <a:blip xmlns:r="http://schemas.openxmlformats.org/officeDocument/2006/relationships" xmlns:a="http://schemas.openxmlformats.org/drawingml/2006/main" r:embed="Ra2fc59793978453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1F1DBF3-130F-43EF-987C-86FE1F886F6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16/24</a:t>
            </a:r>
          </a:p>
        </p:txBody>
      </p:sp>
      <p:sp>
        <p:nvSpPr>
          <p:cNvPr id="4" name="">
            <a:extLst xmlns:a="http://schemas.openxmlformats.org/drawingml/2006/main">
              <a:ext uri="{FF2B5EF4-FFF2-40B4-BE49-F238E27FC236}">
                <a16:creationId xmlns:a16="http://schemas.microsoft.com/office/drawing/2014/main" id="{C8F66F1D-2F0B-41F2-9EB9-9ADF8BE1CE5C}"/>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Describe la configuración inerte que se presenta y verifica que corresponda al plano.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Coloca los componentes de recuperación como se ha previsto para la demostración de banco.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Comprueba el recorrido y señala interferencias observables sin forzar el conjunto.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Repite después de corregir una condición identificada.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Registra qué se comprobó y qué sigue dependiendo de la revisión final del sistema.</a:t>
            </a:r>
          </a:p>
        </p:txBody>
      </p:sp>
    </p:spTree>
    <p:extLst>
      <p:ext uri="{BB962C8B-B14F-4D97-AF65-F5344CB8AC3E}">
        <p14:creationId xmlns:p14="http://schemas.microsoft.com/office/powerpoint/2010/main" val="1588531905"/>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A94AF1-CE18-44C6-B583-F2B370E3FBB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Llegar preparados al montaje presencial</a:t>
            </a:r>
          </a:p>
        </p:txBody>
      </p:sp>
      <p:pic>
        <p:nvPicPr>
          <p:cNvPr id="2" name="">
            <a:extLst xmlns:a="http://schemas.openxmlformats.org/drawingml/2006/main">
              <a:ext uri="{FF2B5EF4-FFF2-40B4-BE49-F238E27FC236}">
                <a16:creationId xmlns:a16="http://schemas.microsoft.com/office/drawing/2014/main" id="{BC399388-B264-410E-AFC5-01945C8F0864}"/>
              </a:ext>
            </a:extLst>
          </p:cNvPr>
          <p:cNvPicPr>
            <a:picLocks xmlns:a="http://schemas.openxmlformats.org/drawingml/2006/main" noChangeAspect="1"/>
          </p:cNvPicPr>
          <p:nvPr/>
        </p:nvPicPr>
        <p:blipFill>
          <a:blip xmlns:r="http://schemas.openxmlformats.org/officeDocument/2006/relationships" xmlns:a="http://schemas.openxmlformats.org/drawingml/2006/main" r:embed="R07eeda7cab2645e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6F5638-7EC8-4840-B2E4-04F94106F18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17/24</a:t>
            </a:r>
          </a:p>
        </p:txBody>
      </p:sp>
      <p:sp>
        <p:nvSpPr>
          <p:cNvPr id="4" name="">
            <a:extLst xmlns:a="http://schemas.openxmlformats.org/drawingml/2006/main">
              <a:ext uri="{FF2B5EF4-FFF2-40B4-BE49-F238E27FC236}">
                <a16:creationId xmlns:a16="http://schemas.microsoft.com/office/drawing/2014/main" id="{B68DF826-3C52-496A-B6C0-F7FD809E78DB}"/>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Antes del taller se revisa qué piezas deben estar terminadas y cuáles se montarán en presencia del docente. Las impresiones largas se organizan con anticipación. Así las cuatro horas presenciales se dedican a ensamblar y comprobar, no a descubrir que faltan componentes básicos.</a:t>
            </a:r>
          </a:p>
        </p:txBody>
      </p:sp>
    </p:spTree>
    <p:extLst>
      <p:ext uri="{BB962C8B-B14F-4D97-AF65-F5344CB8AC3E}">
        <p14:creationId xmlns:p14="http://schemas.microsoft.com/office/powerpoint/2010/main" val="487952156"/>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28C48D-8403-403B-A80B-DCC2B8C9194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Documentos para el taller 2</a:t>
            </a:r>
          </a:p>
        </p:txBody>
      </p:sp>
      <p:pic>
        <p:nvPicPr>
          <p:cNvPr id="2" name="">
            <a:extLst xmlns:a="http://schemas.openxmlformats.org/drawingml/2006/main">
              <a:ext uri="{FF2B5EF4-FFF2-40B4-BE49-F238E27FC236}">
                <a16:creationId xmlns:a16="http://schemas.microsoft.com/office/drawing/2014/main" id="{3A40B95E-F936-4123-8946-1E797EE500E4}"/>
              </a:ext>
            </a:extLst>
          </p:cNvPr>
          <p:cNvPicPr>
            <a:picLocks xmlns:a="http://schemas.openxmlformats.org/drawingml/2006/main" noChangeAspect="1"/>
          </p:cNvPicPr>
          <p:nvPr/>
        </p:nvPicPr>
        <p:blipFill>
          <a:blip xmlns:r="http://schemas.openxmlformats.org/officeDocument/2006/relationships" xmlns:a="http://schemas.openxmlformats.org/drawingml/2006/main" r:embed="Re2212bc02da2478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02D4660-680D-4F5B-A195-1E0508BF790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18/24</a:t>
            </a:r>
          </a:p>
        </p:txBody>
      </p:sp>
      <p:graphicFrame>
        <p:nvGraphicFramePr>
          <p:cNvPr id="4" name="">
            <a:extLst xmlns:a="http://schemas.openxmlformats.org/drawingml/2006/main">
              <a:ext uri="{FF2B5EF4-FFF2-40B4-BE49-F238E27FC236}">
                <a16:creationId xmlns:a16="http://schemas.microsoft.com/office/drawing/2014/main" id="{11A3B282-9C7A-40F7-81D3-78F9A6416A5C}"/>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Documento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debe permitir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Plano final preliminar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Identificar piezas e interfaces</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Lista del sistema comercial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Evitar sustituciones inadvertidas</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Presentación de recuperación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Reconocer recorrido y acceso</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Archivo de simulación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Relacionar configuración y eventos</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Pendientes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Preparar correcciones y repuestos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55711381"/>
      </p:ext>
    </p:extLst>
  </p:cSld>
</p:sld>
</file>

<file path=ppt/slides/slide1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58EC0FC-18A6-4CEC-A137-1B9A3D57CAF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Conclusión para el expediente</a:t>
            </a:r>
          </a:p>
        </p:txBody>
      </p:sp>
      <p:pic>
        <p:nvPicPr>
          <p:cNvPr id="2" name="">
            <a:extLst xmlns:a="http://schemas.openxmlformats.org/drawingml/2006/main">
              <a:ext uri="{FF2B5EF4-FFF2-40B4-BE49-F238E27FC236}">
                <a16:creationId xmlns:a16="http://schemas.microsoft.com/office/drawing/2014/main" id="{807A7217-CD94-47F9-9DA8-E64F42DF85A8}"/>
              </a:ext>
            </a:extLst>
          </p:cNvPr>
          <p:cNvPicPr>
            <a:picLocks xmlns:a="http://schemas.openxmlformats.org/drawingml/2006/main" noChangeAspect="1"/>
          </p:cNvPicPr>
          <p:nvPr/>
        </p:nvPicPr>
        <p:blipFill>
          <a:blip xmlns:r="http://schemas.openxmlformats.org/officeDocument/2006/relationships" xmlns:a="http://schemas.openxmlformats.org/drawingml/2006/main" r:embed="Rc1651646b0f94c0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F1C7DF3-0D0E-4328-A0A7-94F7ED77821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11   19/24</a:t>
            </a:r>
          </a:p>
        </p:txBody>
      </p:sp>
      <p:sp>
        <p:nvSpPr>
          <p:cNvPr id="4" name="">
            <a:extLst xmlns:a="http://schemas.openxmlformats.org/drawingml/2006/main">
              <a:ext uri="{FF2B5EF4-FFF2-40B4-BE49-F238E27FC236}">
                <a16:creationId xmlns:a16="http://schemas.microsoft.com/office/drawing/2014/main" id="{6292C41C-6E30-4A21-9D12-645226F88CBE}"/>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conjunto inerte puede presentarse con este recorrido y no observamos la interferencia que aparecía antes. La configuración comercial queda pendiente de revisión final”.</a:t>
            </a:r>
          </a:p>
        </p:txBody>
      </p:sp>
      <p:sp>
        <p:nvSpPr>
          <p:cNvPr id="5" name="">
            <a:extLst xmlns:a="http://schemas.openxmlformats.org/drawingml/2006/main">
              <a:ext uri="{FF2B5EF4-FFF2-40B4-BE49-F238E27FC236}">
                <a16:creationId xmlns:a16="http://schemas.microsoft.com/office/drawing/2014/main" id="{99340C3E-C82C-4D8C-801C-75552725351E}"/>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tiene que llegar listo al taller 2?</a:t>
            </a:r>
          </a:p>
        </p:txBody>
      </p:sp>
    </p:spTree>
    <p:extLst>
      <p:ext uri="{BB962C8B-B14F-4D97-AF65-F5344CB8AC3E}">
        <p14:creationId xmlns:p14="http://schemas.microsoft.com/office/powerpoint/2010/main" val="1834807281"/>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276E9D2-603B-45C0-8954-B0C912F8B74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Trabajo guiado del equipo</a:t>
            </a:r>
          </a:p>
        </p:txBody>
      </p:sp>
      <p:pic>
        <p:nvPicPr>
          <p:cNvPr id="2" name="">
            <a:extLst xmlns:a="http://schemas.openxmlformats.org/drawingml/2006/main">
              <a:ext uri="{FF2B5EF4-FFF2-40B4-BE49-F238E27FC236}">
                <a16:creationId xmlns:a16="http://schemas.microsoft.com/office/drawing/2014/main" id="{FC87260B-E154-432E-B861-5211DB1837DD}"/>
              </a:ext>
            </a:extLst>
          </p:cNvPr>
          <p:cNvPicPr>
            <a:picLocks xmlns:a="http://schemas.openxmlformats.org/drawingml/2006/main" noChangeAspect="1"/>
          </p:cNvPicPr>
          <p:nvPr/>
        </p:nvPicPr>
        <p:blipFill>
          <a:blip xmlns:r="http://schemas.openxmlformats.org/officeDocument/2006/relationships" xmlns:a="http://schemas.openxmlformats.org/drawingml/2006/main" r:embed="R9c3d56b9cf504d0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D1AEBCC-EBA1-47DE-BD18-73264A90DFD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20/24</a:t>
            </a:r>
          </a:p>
        </p:txBody>
      </p:sp>
      <p:sp>
        <p:nvSpPr>
          <p:cNvPr id="4" name="">
            <a:extLst xmlns:a="http://schemas.openxmlformats.org/drawingml/2006/main">
              <a:ext uri="{FF2B5EF4-FFF2-40B4-BE49-F238E27FC236}">
                <a16:creationId xmlns:a16="http://schemas.microsoft.com/office/drawing/2014/main" id="{F9B462BC-51C3-4486-9DB2-D6AA527E3EC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Reconocer el sistema comercial y su documentación.</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Comparar espacio y función de sus componentes.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Revisar configuración y evento en OpenRocket.</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4. Preparar una presentación inerte y los materiales del taller 2.</a:t>
            </a:r>
          </a:p>
        </p:txBody>
      </p:sp>
    </p:spTree>
    <p:extLst>
      <p:ext uri="{BB962C8B-B14F-4D97-AF65-F5344CB8AC3E}">
        <p14:creationId xmlns:p14="http://schemas.microsoft.com/office/powerpoint/2010/main" val="1717435651"/>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7C23FB-BDDF-4975-87B1-3758A657C18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según la misión</a:t>
            </a:r>
          </a:p>
        </p:txBody>
      </p:sp>
      <p:pic>
        <p:nvPicPr>
          <p:cNvPr id="2" name="">
            <a:extLst xmlns:a="http://schemas.openxmlformats.org/drawingml/2006/main">
              <a:ext uri="{FF2B5EF4-FFF2-40B4-BE49-F238E27FC236}">
                <a16:creationId xmlns:a16="http://schemas.microsoft.com/office/drawing/2014/main" id="{8623B6DC-CB3B-4DDB-A56C-FC9AFAAD6D19}"/>
              </a:ext>
            </a:extLst>
          </p:cNvPr>
          <p:cNvPicPr>
            <a:picLocks xmlns:a="http://schemas.openxmlformats.org/drawingml/2006/main" noChangeAspect="1"/>
          </p:cNvPicPr>
          <p:nvPr/>
        </p:nvPicPr>
        <p:blipFill>
          <a:blip xmlns:r="http://schemas.openxmlformats.org/officeDocument/2006/relationships" xmlns:a="http://schemas.openxmlformats.org/drawingml/2006/main" r:embed="R3be823dd879a422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C701A5-9D3C-4A4D-93F8-39361D6F310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11   21/24</a:t>
            </a:r>
          </a:p>
        </p:txBody>
      </p:sp>
      <p:sp>
        <p:nvSpPr>
          <p:cNvPr id="4" name="">
            <a:extLst xmlns:a="http://schemas.openxmlformats.org/drawingml/2006/main">
              <a:ext uri="{FF2B5EF4-FFF2-40B4-BE49-F238E27FC236}">
                <a16:creationId xmlns:a16="http://schemas.microsoft.com/office/drawing/2014/main" id="{18271C95-96BD-46B5-A72E-A82AF280C366}"/>
              </a:ext>
            </a:extLst>
          </p:cNvPr>
          <p:cNvSpPr>
            <a:spLocks xmlns:a="http://schemas.openxmlformats.org/drawingml/2006/main" noGrp="1"/>
          </p:cNvSpPr>
          <p:nvPr/>
        </p:nvSpPr>
        <p:spPr>
          <a:xfrm xmlns:a="http://schemas.openxmlformats.org/drawingml/2006/main">
            <a:off x="590550" y="17716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AEF4BB"/>
                </a:solidFill>
                <a:latin typeface="Arial"/>
                <a:ea typeface="Arial"/>
                <a:cs typeface="Arial"/>
              </a:defRPr>
            </a:defPPr>
            <a:lvl1pPr>
              <a:defRPr sz="2775" b="1">
                <a:solidFill>
                  <a:srgbClr val="AEF4BB"/>
                </a:solidFill>
                <a:latin typeface="Arial"/>
                <a:ea typeface="Arial"/>
                <a:cs typeface="Arial"/>
              </a:defRPr>
            </a:lvl1pPr>
            <a:lvl2pPr>
              <a:defRPr sz="2775" b="1">
                <a:solidFill>
                  <a:srgbClr val="AEF4BB"/>
                </a:solidFill>
                <a:latin typeface="Arial"/>
                <a:ea typeface="Arial"/>
                <a:cs typeface="Arial"/>
              </a:defRPr>
            </a:lvl2pPr>
            <a:lvl3pPr>
              <a:defRPr sz="2775" b="1">
                <a:solidFill>
                  <a:srgbClr val="AEF4BB"/>
                </a:solidFill>
                <a:latin typeface="Arial"/>
                <a:ea typeface="Arial"/>
                <a:cs typeface="Arial"/>
              </a:defRPr>
            </a:lvl3pPr>
            <a:lvl4pPr>
              <a:defRPr sz="2775" b="1">
                <a:solidFill>
                  <a:srgbClr val="AEF4BB"/>
                </a:solidFill>
                <a:latin typeface="Arial"/>
                <a:ea typeface="Arial"/>
                <a:cs typeface="Arial"/>
              </a:defRPr>
            </a:lvl4pPr>
            <a:lvl5pPr>
              <a:defRPr sz="2775" b="1">
                <a:solidFill>
                  <a:srgbClr val="AEF4BB"/>
                </a:solidFill>
                <a:latin typeface="Arial"/>
                <a:ea typeface="Arial"/>
                <a:cs typeface="Arial"/>
              </a:defRPr>
            </a:lvl5pPr>
            <a:lvl6pPr>
              <a:defRPr sz="2775" b="1">
                <a:solidFill>
                  <a:srgbClr val="AEF4BB"/>
                </a:solidFill>
                <a:latin typeface="Arial"/>
                <a:ea typeface="Arial"/>
                <a:cs typeface="Arial"/>
              </a:defRPr>
            </a:lvl6pPr>
            <a:lvl7pPr>
              <a:defRPr sz="2775" b="1">
                <a:solidFill>
                  <a:srgbClr val="AEF4BB"/>
                </a:solidFill>
                <a:latin typeface="Arial"/>
                <a:ea typeface="Arial"/>
                <a:cs typeface="Arial"/>
              </a:defRPr>
            </a:lvl7pPr>
            <a:lvl8pPr>
              <a:defRPr sz="2775" b="1">
                <a:solidFill>
                  <a:srgbClr val="AEF4BB"/>
                </a:solidFill>
                <a:latin typeface="Arial"/>
                <a:ea typeface="Arial"/>
                <a:cs typeface="Arial"/>
              </a:defRPr>
            </a:lvl8pPr>
            <a:lvl9pPr>
              <a:defRPr sz="2775" b="1">
                <a:solidFill>
                  <a:srgbClr val="AEF4BB"/>
                </a:solidFill>
                <a:latin typeface="Arial"/>
                <a:ea typeface="Arial"/>
                <a:cs typeface="Arial"/>
              </a:defRPr>
            </a:lvl9pPr>
          </a:lstStyle>
          <a:p xmlns:a="http://schemas.openxmlformats.org/drawingml/2006/main">
            <a:pPr>
              <a:defRPr sz="2775" b="1">
                <a:solidFill>
                  <a:srgbClr val="AEF4BB"/>
                </a:solidFill>
                <a:latin typeface="Arial"/>
                <a:ea typeface="Arial"/>
                <a:cs typeface="Arial"/>
              </a:defRPr>
            </a:pPr>
            <a:r>
              <a:rPr sz="2775" b="1">
                <a:solidFill>
                  <a:srgbClr val="AEF4BB"/>
                </a:solidFill>
                <a:latin typeface="Arial"/>
                <a:ea typeface="Arial"/>
                <a:cs typeface="Arial"/>
              </a:rPr>
              <a:t>Recuperar el modelo y poder inspeccionarlo después del vuelo.</a:t>
            </a:r>
          </a:p>
        </p:txBody>
      </p:sp>
      <p:sp>
        <p:nvSpPr>
          <p:cNvPr id="5" name="">
            <a:extLst xmlns:a="http://schemas.openxmlformats.org/drawingml/2006/main">
              <a:ext uri="{FF2B5EF4-FFF2-40B4-BE49-F238E27FC236}">
                <a16:creationId xmlns:a16="http://schemas.microsoft.com/office/drawing/2014/main" id="{B2C7B36E-63F1-41CC-B21C-E80BE681C74D}"/>
              </a:ext>
            </a:extLst>
          </p:cNvPr>
          <p:cNvSpPr>
            <a:spLocks xmlns:a="http://schemas.openxmlformats.org/drawingml/2006/main" noGrp="1"/>
          </p:cNvSpPr>
          <p:nvPr/>
        </p:nvSpPr>
        <p:spPr>
          <a:xfrm xmlns:a="http://schemas.openxmlformats.org/drawingml/2006/main">
            <a:off x="590550" y="3638550"/>
            <a:ext cx="10715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CFCF8"/>
                </a:solidFill>
                <a:latin typeface="Arial"/>
                <a:ea typeface="Arial"/>
                <a:cs typeface="Arial"/>
              </a:defRPr>
            </a:defPPr>
            <a:lvl1pPr>
              <a:defRPr sz="2625" b="0">
                <a:solidFill>
                  <a:srgbClr val="FCFCF8"/>
                </a:solidFill>
                <a:latin typeface="Arial"/>
                <a:ea typeface="Arial"/>
                <a:cs typeface="Arial"/>
              </a:defRPr>
            </a:lvl1pPr>
            <a:lvl2pPr>
              <a:defRPr sz="2625" b="0">
                <a:solidFill>
                  <a:srgbClr val="FCFCF8"/>
                </a:solidFill>
                <a:latin typeface="Arial"/>
                <a:ea typeface="Arial"/>
                <a:cs typeface="Arial"/>
              </a:defRPr>
            </a:lvl2pPr>
            <a:lvl3pPr>
              <a:defRPr sz="2625" b="0">
                <a:solidFill>
                  <a:srgbClr val="FCFCF8"/>
                </a:solidFill>
                <a:latin typeface="Arial"/>
                <a:ea typeface="Arial"/>
                <a:cs typeface="Arial"/>
              </a:defRPr>
            </a:lvl3pPr>
            <a:lvl4pPr>
              <a:defRPr sz="2625" b="0">
                <a:solidFill>
                  <a:srgbClr val="FCFCF8"/>
                </a:solidFill>
                <a:latin typeface="Arial"/>
                <a:ea typeface="Arial"/>
                <a:cs typeface="Arial"/>
              </a:defRPr>
            </a:lvl4pPr>
            <a:lvl5pPr>
              <a:defRPr sz="2625" b="0">
                <a:solidFill>
                  <a:srgbClr val="FCFCF8"/>
                </a:solidFill>
                <a:latin typeface="Arial"/>
                <a:ea typeface="Arial"/>
                <a:cs typeface="Arial"/>
              </a:defRPr>
            </a:lvl5pPr>
            <a:lvl6pPr>
              <a:defRPr sz="2625" b="0">
                <a:solidFill>
                  <a:srgbClr val="FCFCF8"/>
                </a:solidFill>
                <a:latin typeface="Arial"/>
                <a:ea typeface="Arial"/>
                <a:cs typeface="Arial"/>
              </a:defRPr>
            </a:lvl6pPr>
            <a:lvl7pPr>
              <a:defRPr sz="2625" b="0">
                <a:solidFill>
                  <a:srgbClr val="FCFCF8"/>
                </a:solidFill>
                <a:latin typeface="Arial"/>
                <a:ea typeface="Arial"/>
                <a:cs typeface="Arial"/>
              </a:defRPr>
            </a:lvl7pPr>
            <a:lvl8pPr>
              <a:defRPr sz="2625" b="0">
                <a:solidFill>
                  <a:srgbClr val="FCFCF8"/>
                </a:solidFill>
                <a:latin typeface="Arial"/>
                <a:ea typeface="Arial"/>
                <a:cs typeface="Arial"/>
              </a:defRPr>
            </a:lvl8pPr>
            <a:lvl9pPr>
              <a:defRPr sz="2625" b="0">
                <a:solidFill>
                  <a:srgbClr val="FCFCF8"/>
                </a:solidFill>
                <a:latin typeface="Arial"/>
                <a:ea typeface="Arial"/>
                <a:cs typeface="Arial"/>
              </a:defRPr>
            </a:lvl9pPr>
          </a:lstStyle>
          <a:p xmlns:a="http://schemas.openxmlformats.org/drawingml/2006/main">
            <a:pPr>
              <a:defRPr sz="2625" b="0">
                <a:solidFill>
                  <a:srgbClr val="FCFCF8"/>
                </a:solidFill>
                <a:latin typeface="Arial"/>
                <a:ea typeface="Arial"/>
                <a:cs typeface="Arial"/>
              </a:defRPr>
            </a:pPr>
            <a:r>
              <a:rPr sz="2625" b="0">
                <a:solidFill>
                  <a:srgbClr val="FCFCF8"/>
                </a:solidFill>
                <a:latin typeface="Arial"/>
                <a:ea typeface="Arial"/>
                <a:cs typeface="Arial"/>
              </a:rPr>
              <a:t>¿Qué tiene que llegar listo al taller 2?</a:t>
            </a:r>
          </a:p>
        </p:txBody>
      </p:sp>
      <p:sp>
        <p:nvSpPr>
          <p:cNvPr id="6" name="">
            <a:extLst xmlns:a="http://schemas.openxmlformats.org/drawingml/2006/main">
              <a:ext uri="{FF2B5EF4-FFF2-40B4-BE49-F238E27FC236}">
                <a16:creationId xmlns:a16="http://schemas.microsoft.com/office/drawing/2014/main" id="{6F3B03FA-F541-45AE-B59E-47FECA9B501B}"/>
              </a:ext>
            </a:extLst>
          </p:cNvPr>
          <p:cNvSpPr>
            <a:spLocks xmlns:a="http://schemas.openxmlformats.org/drawingml/2006/main" noGrp="1"/>
          </p:cNvSpPr>
          <p:nvPr/>
        </p:nvSpPr>
        <p:spPr>
          <a:xfrm xmlns:a="http://schemas.openxmlformats.org/drawingml/2006/main">
            <a:off x="590550" y="5486400"/>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8C8C1"/>
                </a:solidFill>
                <a:latin typeface="Arial"/>
                <a:ea typeface="Arial"/>
                <a:cs typeface="Arial"/>
              </a:defRPr>
            </a:defPPr>
            <a:lvl1pPr>
              <a:defRPr sz="2175" b="0">
                <a:solidFill>
                  <a:srgbClr val="B8C8C1"/>
                </a:solidFill>
                <a:latin typeface="Arial"/>
                <a:ea typeface="Arial"/>
                <a:cs typeface="Arial"/>
              </a:defRPr>
            </a:lvl1pPr>
            <a:lvl2pPr>
              <a:defRPr sz="2175" b="0">
                <a:solidFill>
                  <a:srgbClr val="B8C8C1"/>
                </a:solidFill>
                <a:latin typeface="Arial"/>
                <a:ea typeface="Arial"/>
                <a:cs typeface="Arial"/>
              </a:defRPr>
            </a:lvl2pPr>
            <a:lvl3pPr>
              <a:defRPr sz="2175" b="0">
                <a:solidFill>
                  <a:srgbClr val="B8C8C1"/>
                </a:solidFill>
                <a:latin typeface="Arial"/>
                <a:ea typeface="Arial"/>
                <a:cs typeface="Arial"/>
              </a:defRPr>
            </a:lvl3pPr>
            <a:lvl4pPr>
              <a:defRPr sz="2175" b="0">
                <a:solidFill>
                  <a:srgbClr val="B8C8C1"/>
                </a:solidFill>
                <a:latin typeface="Arial"/>
                <a:ea typeface="Arial"/>
                <a:cs typeface="Arial"/>
              </a:defRPr>
            </a:lvl4pPr>
            <a:lvl5pPr>
              <a:defRPr sz="2175" b="0">
                <a:solidFill>
                  <a:srgbClr val="B8C8C1"/>
                </a:solidFill>
                <a:latin typeface="Arial"/>
                <a:ea typeface="Arial"/>
                <a:cs typeface="Arial"/>
              </a:defRPr>
            </a:lvl5pPr>
            <a:lvl6pPr>
              <a:defRPr sz="2175" b="0">
                <a:solidFill>
                  <a:srgbClr val="B8C8C1"/>
                </a:solidFill>
                <a:latin typeface="Arial"/>
                <a:ea typeface="Arial"/>
                <a:cs typeface="Arial"/>
              </a:defRPr>
            </a:lvl6pPr>
            <a:lvl7pPr>
              <a:defRPr sz="2175" b="0">
                <a:solidFill>
                  <a:srgbClr val="B8C8C1"/>
                </a:solidFill>
                <a:latin typeface="Arial"/>
                <a:ea typeface="Arial"/>
                <a:cs typeface="Arial"/>
              </a:defRPr>
            </a:lvl7pPr>
            <a:lvl8pPr>
              <a:defRPr sz="2175" b="0">
                <a:solidFill>
                  <a:srgbClr val="B8C8C1"/>
                </a:solidFill>
                <a:latin typeface="Arial"/>
                <a:ea typeface="Arial"/>
                <a:cs typeface="Arial"/>
              </a:defRPr>
            </a:lvl8pPr>
            <a:lvl9pPr>
              <a:defRPr sz="2175" b="0">
                <a:solidFill>
                  <a:srgbClr val="B8C8C1"/>
                </a:solidFill>
                <a:latin typeface="Arial"/>
                <a:ea typeface="Arial"/>
                <a:cs typeface="Arial"/>
              </a:defRPr>
            </a:lvl9pPr>
          </a:lstStyle>
          <a:p xmlns:a="http://schemas.openxmlformats.org/drawingml/2006/main">
            <a:pPr>
              <a:defRPr sz="2175" b="0">
                <a:solidFill>
                  <a:srgbClr val="B8C8C1"/>
                </a:solidFill>
                <a:latin typeface="Arial"/>
                <a:ea typeface="Arial"/>
                <a:cs typeface="Arial"/>
              </a:defRPr>
            </a:pPr>
            <a:r>
              <a:rPr sz="2175" b="0">
                <a:solidFill>
                  <a:srgbClr val="B8C8C1"/>
                </a:solidFill>
                <a:latin typeface="Arial"/>
                <a:ea typeface="Arial"/>
                <a:cs typeface="Arial"/>
              </a:rPr>
              <a:t>Explica tu elección con una pieza, un archivo o un dato de la clase.</a:t>
            </a:r>
          </a:p>
        </p:txBody>
      </p:sp>
    </p:spTree>
    <p:extLst>
      <p:ext uri="{BB962C8B-B14F-4D97-AF65-F5344CB8AC3E}">
        <p14:creationId xmlns:p14="http://schemas.microsoft.com/office/powerpoint/2010/main" val="267761929"/>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D95B0C-540E-44E8-A74E-B9C92229AA0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Tres preguntas para cerrar</a:t>
            </a:r>
          </a:p>
        </p:txBody>
      </p:sp>
      <p:pic>
        <p:nvPicPr>
          <p:cNvPr id="2" name="">
            <a:extLst xmlns:a="http://schemas.openxmlformats.org/drawingml/2006/main">
              <a:ext uri="{FF2B5EF4-FFF2-40B4-BE49-F238E27FC236}">
                <a16:creationId xmlns:a16="http://schemas.microsoft.com/office/drawing/2014/main" id="{2C6ABA94-2047-42EC-B85E-6677695301D2}"/>
              </a:ext>
            </a:extLst>
          </p:cNvPr>
          <p:cNvPicPr>
            <a:picLocks xmlns:a="http://schemas.openxmlformats.org/drawingml/2006/main" noChangeAspect="1"/>
          </p:cNvPicPr>
          <p:nvPr/>
        </p:nvPicPr>
        <p:blipFill>
          <a:blip xmlns:r="http://schemas.openxmlformats.org/officeDocument/2006/relationships" xmlns:a="http://schemas.openxmlformats.org/drawingml/2006/main" r:embed="R43309c8fdf5048e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2168456-DD52-48A0-B34D-DF67435B966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11   22/24</a:t>
            </a:r>
          </a:p>
        </p:txBody>
      </p:sp>
      <p:sp>
        <p:nvSpPr>
          <p:cNvPr id="4" name="">
            <a:extLst xmlns:a="http://schemas.openxmlformats.org/drawingml/2006/main">
              <a:ext uri="{FF2B5EF4-FFF2-40B4-BE49-F238E27FC236}">
                <a16:creationId xmlns:a16="http://schemas.microsoft.com/office/drawing/2014/main" id="{B6C7B266-AF24-4901-8BD5-9C6EFC7340AC}"/>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¿Cabe significa que puede desplegarse?</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¿La simulación sustituye la comprobación física?</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se conserva del banco?</a:t>
            </a:r>
          </a:p>
        </p:txBody>
      </p:sp>
    </p:spTree>
    <p:extLst>
      <p:ext uri="{BB962C8B-B14F-4D97-AF65-F5344CB8AC3E}">
        <p14:creationId xmlns:p14="http://schemas.microsoft.com/office/powerpoint/2010/main" val="1237231679"/>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BBE013E-1C4B-40BB-9ECB-F59C2A287D4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explicar las respuestas</a:t>
            </a:r>
          </a:p>
        </p:txBody>
      </p:sp>
      <p:pic>
        <p:nvPicPr>
          <p:cNvPr id="2" name="">
            <a:extLst xmlns:a="http://schemas.openxmlformats.org/drawingml/2006/main">
              <a:ext uri="{FF2B5EF4-FFF2-40B4-BE49-F238E27FC236}">
                <a16:creationId xmlns:a16="http://schemas.microsoft.com/office/drawing/2014/main" id="{941C6AD7-BD30-46EC-B288-14F3ACEC7DEB}"/>
              </a:ext>
            </a:extLst>
          </p:cNvPr>
          <p:cNvPicPr>
            <a:picLocks xmlns:a="http://schemas.openxmlformats.org/drawingml/2006/main" noChangeAspect="1"/>
          </p:cNvPicPr>
          <p:nvPr/>
        </p:nvPicPr>
        <p:blipFill>
          <a:blip xmlns:r="http://schemas.openxmlformats.org/officeDocument/2006/relationships" xmlns:a="http://schemas.openxmlformats.org/drawingml/2006/main" r:embed="R2f0cdbf895a3458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4FA6712-9097-40A5-A357-0256D406B0E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23/24</a:t>
            </a:r>
          </a:p>
        </p:txBody>
      </p:sp>
      <p:sp>
        <p:nvSpPr>
          <p:cNvPr id="4" name="">
            <a:extLst xmlns:a="http://schemas.openxmlformats.org/drawingml/2006/main">
              <a:ext uri="{FF2B5EF4-FFF2-40B4-BE49-F238E27FC236}">
                <a16:creationId xmlns:a16="http://schemas.microsoft.com/office/drawing/2014/main" id="{ACC9C5D0-2901-401A-8C31-2725ED6B9146}"/>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1. No. Hay que revisar recorrido, conexión y acceso.</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2. No. Representa un evento del modelo.</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3. Configuración, método, observación y pendientes.</a:t>
            </a:r>
          </a:p>
        </p:txBody>
      </p:sp>
    </p:spTree>
    <p:extLst>
      <p:ext uri="{BB962C8B-B14F-4D97-AF65-F5344CB8AC3E}">
        <p14:creationId xmlns:p14="http://schemas.microsoft.com/office/powerpoint/2010/main" val="1164668421"/>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1AEA28-B41C-47E7-ABFD-AF30AE40351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277416C3-9D26-478A-8324-B56B5DFCA0FD}"/>
              </a:ext>
            </a:extLst>
          </p:cNvPr>
          <p:cNvPicPr>
            <a:picLocks xmlns:a="http://schemas.openxmlformats.org/drawingml/2006/main" noChangeAspect="1"/>
          </p:cNvPicPr>
          <p:nvPr/>
        </p:nvPicPr>
        <p:blipFill>
          <a:blip xmlns:r="http://schemas.openxmlformats.org/officeDocument/2006/relationships" xmlns:a="http://schemas.openxmlformats.org/drawingml/2006/main" r:embed="R941f1edfffb64d9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729AC0D-9317-448F-9198-F771184A38E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11   24/24</a:t>
            </a:r>
          </a:p>
        </p:txBody>
      </p:sp>
      <p:sp>
        <p:nvSpPr>
          <p:cNvPr id="4" name="">
            <a:extLst xmlns:a="http://schemas.openxmlformats.org/drawingml/2006/main">
              <a:ext uri="{FF2B5EF4-FFF2-40B4-BE49-F238E27FC236}">
                <a16:creationId xmlns:a16="http://schemas.microsoft.com/office/drawing/2014/main" id="{0784B391-21A2-4E4E-A5EF-1E091DC0F87E}"/>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Ficha de recuperación, plano preliminar y configuración actualizada.</a:t>
            </a:r>
          </a:p>
        </p:txBody>
      </p:sp>
      <p:sp>
        <p:nvSpPr>
          <p:cNvPr id="5" name="">
            <a:extLst xmlns:a="http://schemas.openxmlformats.org/drawingml/2006/main">
              <a:ext uri="{FF2B5EF4-FFF2-40B4-BE49-F238E27FC236}">
                <a16:creationId xmlns:a16="http://schemas.microsoft.com/office/drawing/2014/main" id="{843E9A0A-5E75-4710-B070-2B57D3A515C4}"/>
              </a:ext>
            </a:extLst>
          </p:cNvPr>
          <p:cNvSpPr>
            <a:spLocks xmlns:a="http://schemas.openxmlformats.org/drawingml/2006/main" noGrp="1"/>
          </p:cNvSpPr>
          <p:nvPr/>
        </p:nvSpPr>
        <p:spPr>
          <a:xfrm xmlns:a="http://schemas.openxmlformats.org/drawingml/2006/main">
            <a:off x="590550" y="4314825"/>
            <a:ext cx="10715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Conserva la revisión del equipo y señala qué comprobación sigue pendiente.</a:t>
            </a:r>
          </a:p>
        </p:txBody>
      </p:sp>
    </p:spTree>
    <p:extLst>
      <p:ext uri="{BB962C8B-B14F-4D97-AF65-F5344CB8AC3E}">
        <p14:creationId xmlns:p14="http://schemas.microsoft.com/office/powerpoint/2010/main" val="970778217"/>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08076F-BF67-4A6E-AC58-60CDD12950A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Taller 2: ensamblar y revisar el cohete</a:t>
            </a:r>
          </a:p>
        </p:txBody>
      </p:sp>
      <p:pic>
        <p:nvPicPr>
          <p:cNvPr id="2" name="">
            <a:extLst xmlns:a="http://schemas.openxmlformats.org/drawingml/2006/main">
              <a:ext uri="{FF2B5EF4-FFF2-40B4-BE49-F238E27FC236}">
                <a16:creationId xmlns:a16="http://schemas.microsoft.com/office/drawing/2014/main" id="{0BBF13C6-C148-4FE2-BCF0-8243693381D7}"/>
              </a:ext>
            </a:extLst>
          </p:cNvPr>
          <p:cNvPicPr>
            <a:picLocks xmlns:a="http://schemas.openxmlformats.org/drawingml/2006/main" noChangeAspect="1"/>
          </p:cNvPicPr>
          <p:nvPr/>
        </p:nvPicPr>
        <p:blipFill>
          <a:blip xmlns:r="http://schemas.openxmlformats.org/officeDocument/2006/relationships" xmlns:a="http://schemas.openxmlformats.org/drawingml/2006/main" r:embed="R48789cec7004482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4B0180D-D752-440F-BB12-FC1BA69C78C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12   01/24</a:t>
            </a:r>
          </a:p>
        </p:txBody>
      </p:sp>
      <p:sp>
        <p:nvSpPr>
          <p:cNvPr id="4" name="">
            <a:extLst xmlns:a="http://schemas.openxmlformats.org/drawingml/2006/main">
              <a:ext uri="{FF2B5EF4-FFF2-40B4-BE49-F238E27FC236}">
                <a16:creationId xmlns:a16="http://schemas.microsoft.com/office/drawing/2014/main" id="{2830D0DD-E5C3-440B-9770-57FA123CC977}"/>
              </a:ext>
            </a:extLst>
          </p:cNvPr>
          <p:cNvSpPr>
            <a:spLocks xmlns:a="http://schemas.openxmlformats.org/drawingml/2006/main" noGrp="1"/>
          </p:cNvSpPr>
          <p:nvPr/>
        </p:nvSpPr>
        <p:spPr>
          <a:xfrm xmlns:a="http://schemas.openxmlformats.org/drawingml/2006/main">
            <a:off x="590550" y="17621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Montar el conjunto con referencias claras y actualizar sus medidas y masas finales.</a:t>
            </a:r>
          </a:p>
        </p:txBody>
      </p:sp>
      <p:sp>
        <p:nvSpPr>
          <p:cNvPr id="5" name="">
            <a:extLst xmlns:a="http://schemas.openxmlformats.org/drawingml/2006/main">
              <a:ext uri="{FF2B5EF4-FFF2-40B4-BE49-F238E27FC236}">
                <a16:creationId xmlns:a16="http://schemas.microsoft.com/office/drawing/2014/main" id="{B2669D67-4A2C-42BB-BE9F-286242811A42}"/>
              </a:ext>
            </a:extLst>
          </p:cNvPr>
          <p:cNvSpPr>
            <a:spLocks xmlns:a="http://schemas.openxmlformats.org/drawingml/2006/main" noGrp="1"/>
          </p:cNvSpPr>
          <p:nvPr/>
        </p:nvSpPr>
        <p:spPr>
          <a:xfrm xmlns:a="http://schemas.openxmlformats.org/drawingml/2006/main">
            <a:off x="590550" y="37052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Obtener un prototipo ensamblado que pueda revisarse antes de la jornada.</a:t>
            </a:r>
          </a:p>
        </p:txBody>
      </p:sp>
      <p:sp>
        <p:nvSpPr>
          <p:cNvPr id="6" name="">
            <a:extLst xmlns:a="http://schemas.openxmlformats.org/drawingml/2006/main">
              <a:ext uri="{FF2B5EF4-FFF2-40B4-BE49-F238E27FC236}">
                <a16:creationId xmlns:a16="http://schemas.microsoft.com/office/drawing/2014/main" id="{F6C09325-43C4-443D-A893-8E0C0ABA8664}"/>
              </a:ext>
            </a:extLst>
          </p:cNvPr>
          <p:cNvSpPr>
            <a:spLocks xmlns:a="http://schemas.openxmlformats.org/drawingml/2006/main" noGrp="1"/>
          </p:cNvSpPr>
          <p:nvPr/>
        </p:nvSpPr>
        <p:spPr>
          <a:xfrm xmlns:a="http://schemas.openxmlformats.org/drawingml/2006/main">
            <a:off x="590550" y="564832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8C8C1"/>
                </a:solidFill>
                <a:latin typeface="Consolas"/>
                <a:ea typeface="Consolas"/>
                <a:cs typeface="Consolas"/>
              </a:defRPr>
            </a:defPPr>
            <a:lvl1pPr>
              <a:defRPr sz="1800" b="0">
                <a:solidFill>
                  <a:srgbClr val="B8C8C1"/>
                </a:solidFill>
                <a:latin typeface="Consolas"/>
                <a:ea typeface="Consolas"/>
                <a:cs typeface="Consolas"/>
              </a:defRPr>
            </a:lvl1pPr>
            <a:lvl2pPr>
              <a:defRPr sz="1800" b="0">
                <a:solidFill>
                  <a:srgbClr val="B8C8C1"/>
                </a:solidFill>
                <a:latin typeface="Consolas"/>
                <a:ea typeface="Consolas"/>
                <a:cs typeface="Consolas"/>
              </a:defRPr>
            </a:lvl2pPr>
            <a:lvl3pPr>
              <a:defRPr sz="1800" b="0">
                <a:solidFill>
                  <a:srgbClr val="B8C8C1"/>
                </a:solidFill>
                <a:latin typeface="Consolas"/>
                <a:ea typeface="Consolas"/>
                <a:cs typeface="Consolas"/>
              </a:defRPr>
            </a:lvl3pPr>
            <a:lvl4pPr>
              <a:defRPr sz="1800" b="0">
                <a:solidFill>
                  <a:srgbClr val="B8C8C1"/>
                </a:solidFill>
                <a:latin typeface="Consolas"/>
                <a:ea typeface="Consolas"/>
                <a:cs typeface="Consolas"/>
              </a:defRPr>
            </a:lvl4pPr>
            <a:lvl5pPr>
              <a:defRPr sz="1800" b="0">
                <a:solidFill>
                  <a:srgbClr val="B8C8C1"/>
                </a:solidFill>
                <a:latin typeface="Consolas"/>
                <a:ea typeface="Consolas"/>
                <a:cs typeface="Consolas"/>
              </a:defRPr>
            </a:lvl5pPr>
            <a:lvl6pPr>
              <a:defRPr sz="1800" b="0">
                <a:solidFill>
                  <a:srgbClr val="B8C8C1"/>
                </a:solidFill>
                <a:latin typeface="Consolas"/>
                <a:ea typeface="Consolas"/>
                <a:cs typeface="Consolas"/>
              </a:defRPr>
            </a:lvl6pPr>
            <a:lvl7pPr>
              <a:defRPr sz="1800" b="0">
                <a:solidFill>
                  <a:srgbClr val="B8C8C1"/>
                </a:solidFill>
                <a:latin typeface="Consolas"/>
                <a:ea typeface="Consolas"/>
                <a:cs typeface="Consolas"/>
              </a:defRPr>
            </a:lvl7pPr>
            <a:lvl8pPr>
              <a:defRPr sz="1800" b="0">
                <a:solidFill>
                  <a:srgbClr val="B8C8C1"/>
                </a:solidFill>
                <a:latin typeface="Consolas"/>
                <a:ea typeface="Consolas"/>
                <a:cs typeface="Consolas"/>
              </a:defRPr>
            </a:lvl8pPr>
            <a:lvl9pPr>
              <a:defRPr sz="1800" b="0">
                <a:solidFill>
                  <a:srgbClr val="B8C8C1"/>
                </a:solidFill>
                <a:latin typeface="Consolas"/>
                <a:ea typeface="Consolas"/>
                <a:cs typeface="Consolas"/>
              </a:defRPr>
            </a:lvl9pPr>
          </a:lstStyle>
          <a:p xmlns:a="http://schemas.openxmlformats.org/drawingml/2006/main">
            <a:pPr>
              <a:defRPr sz="1800" b="0">
                <a:solidFill>
                  <a:srgbClr val="B8C8C1"/>
                </a:solidFill>
                <a:latin typeface="Consolas"/>
                <a:ea typeface="Consolas"/>
                <a:cs typeface="Consolas"/>
              </a:defRPr>
            </a:pPr>
            <a:r>
              <a:rPr sz="1800" b="0">
                <a:solidFill>
                  <a:srgbClr val="B8C8C1"/>
                </a:solidFill>
                <a:latin typeface="Consolas"/>
                <a:ea typeface="Consolas"/>
                <a:cs typeface="Consolas"/>
              </a:rPr>
              <a:t>PRESENCIAL   4 HORAS</a:t>
            </a:r>
          </a:p>
        </p:txBody>
      </p:sp>
    </p:spTree>
    <p:extLst>
      <p:ext uri="{BB962C8B-B14F-4D97-AF65-F5344CB8AC3E}">
        <p14:creationId xmlns:p14="http://schemas.microsoft.com/office/powerpoint/2010/main" val="786988708"/>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83BD41-678C-4C77-B1DF-BA0B6C85C34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Antes de unir: piezas y revisión</a:t>
            </a:r>
          </a:p>
        </p:txBody>
      </p:sp>
      <p:pic>
        <p:nvPicPr>
          <p:cNvPr id="2" name="">
            <a:extLst xmlns:a="http://schemas.openxmlformats.org/drawingml/2006/main">
              <a:ext uri="{FF2B5EF4-FFF2-40B4-BE49-F238E27FC236}">
                <a16:creationId xmlns:a16="http://schemas.microsoft.com/office/drawing/2014/main" id="{F67651F6-26A4-4883-9EFD-745988B483F8}"/>
              </a:ext>
            </a:extLst>
          </p:cNvPr>
          <p:cNvPicPr>
            <a:picLocks xmlns:a="http://schemas.openxmlformats.org/drawingml/2006/main" noChangeAspect="1"/>
          </p:cNvPicPr>
          <p:nvPr/>
        </p:nvPicPr>
        <p:blipFill>
          <a:blip xmlns:r="http://schemas.openxmlformats.org/officeDocument/2006/relationships" xmlns:a="http://schemas.openxmlformats.org/drawingml/2006/main" r:embed="R3c893789da154b5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954FE51-FD74-44A7-B56C-F18ECD5AF7B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02/24</a:t>
            </a:r>
          </a:p>
        </p:txBody>
      </p:sp>
      <p:sp>
        <p:nvSpPr>
          <p:cNvPr id="4" name="">
            <a:extLst xmlns:a="http://schemas.openxmlformats.org/drawingml/2006/main">
              <a:ext uri="{FF2B5EF4-FFF2-40B4-BE49-F238E27FC236}">
                <a16:creationId xmlns:a16="http://schemas.microsoft.com/office/drawing/2014/main" id="{0C5780C8-F1EE-4272-A424-F9E890E9BB76}"/>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segundo taller presencial dura cuatro horas. Deben llegar las piezas principales, los componentes comerciales elegidos y el plano revisado. El montaje empieza con una presentación del conjunto y una identificación de las uniones. Pegar piezas que todavía no se han presentado elimina oportunidades sencillas de corregir el diseño.</a:t>
            </a:r>
          </a:p>
        </p:txBody>
      </p:sp>
    </p:spTree>
    <p:extLst>
      <p:ext uri="{BB962C8B-B14F-4D97-AF65-F5344CB8AC3E}">
        <p14:creationId xmlns:p14="http://schemas.microsoft.com/office/powerpoint/2010/main" val="1549763990"/>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37AAFC-B554-4073-9B78-A652ECAC642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Antes de unir: piezas y revisión</a:t>
            </a:r>
          </a:p>
        </p:txBody>
      </p:sp>
      <p:pic>
        <p:nvPicPr>
          <p:cNvPr id="2" name="">
            <a:extLst xmlns:a="http://schemas.openxmlformats.org/drawingml/2006/main">
              <a:ext uri="{FF2B5EF4-FFF2-40B4-BE49-F238E27FC236}">
                <a16:creationId xmlns:a16="http://schemas.microsoft.com/office/drawing/2014/main" id="{852476D4-4AAD-46FD-8EB4-B7FFFE5A6B87}"/>
              </a:ext>
            </a:extLst>
          </p:cNvPr>
          <p:cNvPicPr>
            <a:picLocks xmlns:a="http://schemas.openxmlformats.org/drawingml/2006/main" noChangeAspect="1"/>
          </p:cNvPicPr>
          <p:nvPr/>
        </p:nvPicPr>
        <p:blipFill>
          <a:blip xmlns:r="http://schemas.openxmlformats.org/officeDocument/2006/relationships" xmlns:a="http://schemas.openxmlformats.org/drawingml/2006/main" r:embed="R41886ab954d24db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33ED367-0A45-4652-A617-8815AD042BB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03/24</a:t>
            </a:r>
          </a:p>
        </p:txBody>
      </p:sp>
      <p:pic>
        <p:nvPicPr>
          <p:cNvPr id="4" name="">
            <a:extLst xmlns:a="http://schemas.openxmlformats.org/drawingml/2006/main">
              <a:ext uri="{FF2B5EF4-FFF2-40B4-BE49-F238E27FC236}">
                <a16:creationId xmlns:a16="http://schemas.microsoft.com/office/drawing/2014/main" id="{117C31A4-F488-48EF-ADBD-E6B4CB757E63}"/>
              </a:ext>
            </a:extLst>
          </p:cNvPr>
          <p:cNvPicPr>
            <a:picLocks xmlns:a="http://schemas.openxmlformats.org/drawingml/2006/main" noChangeAspect="1"/>
          </p:cNvPicPr>
          <p:nvPr/>
        </p:nvPicPr>
        <p:blipFill>
          <a:blip xmlns:r="http://schemas.openxmlformats.org/officeDocument/2006/relationships" xmlns:a="http://schemas.openxmlformats.org/drawingml/2006/main" r:embed="R17b3019aab354e2d"/>
          <a:stretch xmlns:a="http://schemas.openxmlformats.org/drawingml/2006/main"/>
        </p:blipFill>
        <p:spPr>
          <a:xfrm xmlns:a="http://schemas.openxmlformats.org/drawingml/2006/main">
            <a:off x="1201384" y="1657350"/>
            <a:ext cx="6188782"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04F8886-EED8-4E16-8EC6-7D939F581044}"/>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¿Qué quedará oculto después de cerrar?</a:t>
            </a:r>
          </a:p>
        </p:txBody>
      </p:sp>
      <p:sp>
        <p:nvSpPr>
          <p:cNvPr id="6" name="">
            <a:extLst xmlns:a="http://schemas.openxmlformats.org/drawingml/2006/main">
              <a:ext uri="{FF2B5EF4-FFF2-40B4-BE49-F238E27FC236}">
                <a16:creationId xmlns:a16="http://schemas.microsoft.com/office/drawing/2014/main" id="{4AD61A05-7BF7-4B81-AD5E-CD29E07FEC66}"/>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NASA Glenn: relación entre piezas de un modelo de una etapa. El equipo trabaja con su propio plano y referencias.</a:t>
            </a:r>
          </a:p>
        </p:txBody>
      </p:sp>
    </p:spTree>
    <p:extLst>
      <p:ext uri="{BB962C8B-B14F-4D97-AF65-F5344CB8AC3E}">
        <p14:creationId xmlns:p14="http://schemas.microsoft.com/office/powerpoint/2010/main" val="1830671166"/>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A002AC-30D1-4E02-B56B-5906F782C7D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Preparación de mesa</a:t>
            </a:r>
          </a:p>
        </p:txBody>
      </p:sp>
      <p:pic>
        <p:nvPicPr>
          <p:cNvPr id="2" name="">
            <a:extLst xmlns:a="http://schemas.openxmlformats.org/drawingml/2006/main">
              <a:ext uri="{FF2B5EF4-FFF2-40B4-BE49-F238E27FC236}">
                <a16:creationId xmlns:a16="http://schemas.microsoft.com/office/drawing/2014/main" id="{2DA2A3D8-8AD9-442F-A997-DF3FB7FAEEAC}"/>
              </a:ext>
            </a:extLst>
          </p:cNvPr>
          <p:cNvPicPr>
            <a:picLocks xmlns:a="http://schemas.openxmlformats.org/drawingml/2006/main" noChangeAspect="1"/>
          </p:cNvPicPr>
          <p:nvPr/>
        </p:nvPicPr>
        <p:blipFill>
          <a:blip xmlns:r="http://schemas.openxmlformats.org/officeDocument/2006/relationships" xmlns:a="http://schemas.openxmlformats.org/drawingml/2006/main" r:embed="R290064460a0945d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FC2D1AE-3F10-4E83-BDE2-9E38D939920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04/24</a:t>
            </a:r>
          </a:p>
        </p:txBody>
      </p:sp>
      <p:graphicFrame>
        <p:nvGraphicFramePr>
          <p:cNvPr id="4" name="">
            <a:extLst xmlns:a="http://schemas.openxmlformats.org/drawingml/2006/main">
              <a:ext uri="{FF2B5EF4-FFF2-40B4-BE49-F238E27FC236}">
                <a16:creationId xmlns:a16="http://schemas.microsoft.com/office/drawing/2014/main" id="{87120E86-50D2-4314-BC65-7CC0CCD313C3}"/>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Elemento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verificar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Piezas del equipo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Identificación y revisión</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Útiles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Compatibilidad con el tubo</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Componentes comerciales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Referencia y documentación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Plano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Posiciones y cotas legibles</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Registro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Fotos y mediciones antes de cerrar</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858388228"/>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C4BBB9-C654-4543-BAF3-ADEFB5C430D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Montar sin perder las referencias</a:t>
            </a:r>
          </a:p>
        </p:txBody>
      </p:sp>
      <p:pic>
        <p:nvPicPr>
          <p:cNvPr id="2" name="">
            <a:extLst xmlns:a="http://schemas.openxmlformats.org/drawingml/2006/main">
              <a:ext uri="{FF2B5EF4-FFF2-40B4-BE49-F238E27FC236}">
                <a16:creationId xmlns:a16="http://schemas.microsoft.com/office/drawing/2014/main" id="{8DD36348-12ED-4153-8EF0-2F77F96D05A2}"/>
              </a:ext>
            </a:extLst>
          </p:cNvPr>
          <p:cNvPicPr>
            <a:picLocks xmlns:a="http://schemas.openxmlformats.org/drawingml/2006/main" noChangeAspect="1"/>
          </p:cNvPicPr>
          <p:nvPr/>
        </p:nvPicPr>
        <p:blipFill>
          <a:blip xmlns:r="http://schemas.openxmlformats.org/officeDocument/2006/relationships" xmlns:a="http://schemas.openxmlformats.org/drawingml/2006/main" r:embed="R0f6cb80011b5465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FA42F3F-BA48-487B-8D64-78CE453ECDC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05/24</a:t>
            </a:r>
          </a:p>
        </p:txBody>
      </p:sp>
      <p:sp>
        <p:nvSpPr>
          <p:cNvPr id="4" name="">
            <a:extLst xmlns:a="http://schemas.openxmlformats.org/drawingml/2006/main">
              <a:ext uri="{FF2B5EF4-FFF2-40B4-BE49-F238E27FC236}">
                <a16:creationId xmlns:a16="http://schemas.microsoft.com/office/drawing/2014/main" id="{954FAE25-9A0B-4EDA-9886-3E718B1F44C6}"/>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referencia puede ser el extremo del cuerpo, una línea longitudinal o una cara del útil. El equipo la mantiene desde el plano hasta la pieza. Si cada aleta se coloca con una referencia diferente, pequeñas diferencias pueden acumularse. La comprobación posterior exige saber desde dónde se tomó cada medida.</a:t>
            </a:r>
          </a:p>
        </p:txBody>
      </p:sp>
    </p:spTree>
    <p:extLst>
      <p:ext uri="{BB962C8B-B14F-4D97-AF65-F5344CB8AC3E}">
        <p14:creationId xmlns:p14="http://schemas.microsoft.com/office/powerpoint/2010/main" val="976713415"/>
      </p:ext>
    </p:extLst>
  </p:cSld>
</p:sld>
</file>

<file path=ppt/slides/slide30.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F7C283-077E-4827-8BFB-3BA282BFD05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 del equipo</a:t>
            </a:r>
          </a:p>
        </p:txBody>
      </p:sp>
      <p:pic>
        <p:nvPicPr>
          <p:cNvPr id="2" name="">
            <a:extLst xmlns:a="http://schemas.openxmlformats.org/drawingml/2006/main">
              <a:ext uri="{FF2B5EF4-FFF2-40B4-BE49-F238E27FC236}">
                <a16:creationId xmlns:a16="http://schemas.microsoft.com/office/drawing/2014/main" id="{145EF380-31F2-429A-A17D-CBE59FE57EF1}"/>
              </a:ext>
            </a:extLst>
          </p:cNvPr>
          <p:cNvPicPr>
            <a:picLocks xmlns:a="http://schemas.openxmlformats.org/drawingml/2006/main" noChangeAspect="1"/>
          </p:cNvPicPr>
          <p:nvPr/>
        </p:nvPicPr>
        <p:blipFill>
          <a:blip xmlns:r="http://schemas.openxmlformats.org/officeDocument/2006/relationships" xmlns:a="http://schemas.openxmlformats.org/drawingml/2006/main" r:embed="Rab4fd6634dc3412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2198F2A-B2BB-46AE-B447-50783863D3A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12   06/24</a:t>
            </a:r>
          </a:p>
        </p:txBody>
      </p:sp>
      <p:sp>
        <p:nvSpPr>
          <p:cNvPr id="4" name="">
            <a:extLst xmlns:a="http://schemas.openxmlformats.org/drawingml/2006/main">
              <a:ext uri="{FF2B5EF4-FFF2-40B4-BE49-F238E27FC236}">
                <a16:creationId xmlns:a16="http://schemas.microsoft.com/office/drawing/2014/main" id="{30C81273-A150-453F-B06F-8A15C18CCDFF}"/>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AEF4BB"/>
                </a:solidFill>
                <a:latin typeface="Arial"/>
                <a:ea typeface="Arial"/>
                <a:cs typeface="Arial"/>
              </a:defRPr>
            </a:defPPr>
            <a:lvl1pPr>
              <a:defRPr sz="3075" b="1">
                <a:solidFill>
                  <a:srgbClr val="AEF4BB"/>
                </a:solidFill>
                <a:latin typeface="Arial"/>
                <a:ea typeface="Arial"/>
                <a:cs typeface="Arial"/>
              </a:defRPr>
            </a:lvl1pPr>
            <a:lvl2pPr>
              <a:defRPr sz="3075" b="1">
                <a:solidFill>
                  <a:srgbClr val="AEF4BB"/>
                </a:solidFill>
                <a:latin typeface="Arial"/>
                <a:ea typeface="Arial"/>
                <a:cs typeface="Arial"/>
              </a:defRPr>
            </a:lvl2pPr>
            <a:lvl3pPr>
              <a:defRPr sz="3075" b="1">
                <a:solidFill>
                  <a:srgbClr val="AEF4BB"/>
                </a:solidFill>
                <a:latin typeface="Arial"/>
                <a:ea typeface="Arial"/>
                <a:cs typeface="Arial"/>
              </a:defRPr>
            </a:lvl3pPr>
            <a:lvl4pPr>
              <a:defRPr sz="3075" b="1">
                <a:solidFill>
                  <a:srgbClr val="AEF4BB"/>
                </a:solidFill>
                <a:latin typeface="Arial"/>
                <a:ea typeface="Arial"/>
                <a:cs typeface="Arial"/>
              </a:defRPr>
            </a:lvl4pPr>
            <a:lvl5pPr>
              <a:defRPr sz="3075" b="1">
                <a:solidFill>
                  <a:srgbClr val="AEF4BB"/>
                </a:solidFill>
                <a:latin typeface="Arial"/>
                <a:ea typeface="Arial"/>
                <a:cs typeface="Arial"/>
              </a:defRPr>
            </a:lvl5pPr>
            <a:lvl6pPr>
              <a:defRPr sz="3075" b="1">
                <a:solidFill>
                  <a:srgbClr val="AEF4BB"/>
                </a:solidFill>
                <a:latin typeface="Arial"/>
                <a:ea typeface="Arial"/>
                <a:cs typeface="Arial"/>
              </a:defRPr>
            </a:lvl6pPr>
            <a:lvl7pPr>
              <a:defRPr sz="3075" b="1">
                <a:solidFill>
                  <a:srgbClr val="AEF4BB"/>
                </a:solidFill>
                <a:latin typeface="Arial"/>
                <a:ea typeface="Arial"/>
                <a:cs typeface="Arial"/>
              </a:defRPr>
            </a:lvl7pPr>
            <a:lvl8pPr>
              <a:defRPr sz="3075" b="1">
                <a:solidFill>
                  <a:srgbClr val="AEF4BB"/>
                </a:solidFill>
                <a:latin typeface="Arial"/>
                <a:ea typeface="Arial"/>
                <a:cs typeface="Arial"/>
              </a:defRPr>
            </a:lvl8pPr>
            <a:lvl9pPr>
              <a:defRPr sz="3075" b="1">
                <a:solidFill>
                  <a:srgbClr val="AEF4BB"/>
                </a:solidFill>
                <a:latin typeface="Arial"/>
                <a:ea typeface="Arial"/>
                <a:cs typeface="Arial"/>
              </a:defRPr>
            </a:lvl9pPr>
          </a:lstStyle>
          <a:p xmlns:a="http://schemas.openxmlformats.org/drawingml/2006/main">
            <a:pPr>
              <a:defRPr sz="3075" b="1">
                <a:solidFill>
                  <a:srgbClr val="AEF4BB"/>
                </a:solidFill>
                <a:latin typeface="Arial"/>
                <a:ea typeface="Arial"/>
                <a:cs typeface="Arial"/>
              </a:defRPr>
            </a:pPr>
            <a:r>
              <a:rPr sz="3075" b="1">
                <a:solidFill>
                  <a:srgbClr val="AEF4BB"/>
                </a:solidFill>
                <a:latin typeface="Arial"/>
                <a:ea typeface="Arial"/>
                <a:cs typeface="Arial"/>
              </a:rPr>
              <a:t>¿Cómo conservas una referencia durante el montaje?</a:t>
            </a:r>
          </a:p>
        </p:txBody>
      </p:sp>
      <p:sp>
        <p:nvSpPr>
          <p:cNvPr id="5" name="">
            <a:extLst xmlns:a="http://schemas.openxmlformats.org/drawingml/2006/main">
              <a:ext uri="{FF2B5EF4-FFF2-40B4-BE49-F238E27FC236}">
                <a16:creationId xmlns:a16="http://schemas.microsoft.com/office/drawing/2014/main" id="{3EEA2BE0-9BB4-428E-8B60-519A53FBCDA7}"/>
              </a:ext>
            </a:extLst>
          </p:cNvPr>
          <p:cNvSpPr>
            <a:spLocks xmlns:a="http://schemas.openxmlformats.org/drawingml/2006/main" noGrp="1"/>
          </p:cNvSpPr>
          <p:nvPr/>
        </p:nvSpPr>
        <p:spPr>
          <a:xfrm xmlns:a="http://schemas.openxmlformats.org/drawingml/2006/main">
            <a:off x="590550" y="3800475"/>
            <a:ext cx="10715625"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Los roles rotan para que todos participen en al menos una comprobación de medida y una explicación del proceso.</a:t>
            </a:r>
          </a:p>
        </p:txBody>
      </p:sp>
    </p:spTree>
    <p:extLst>
      <p:ext uri="{BB962C8B-B14F-4D97-AF65-F5344CB8AC3E}">
        <p14:creationId xmlns:p14="http://schemas.microsoft.com/office/powerpoint/2010/main" val="435190817"/>
      </p:ext>
    </p:extLst>
  </p:cSld>
</p:sld>
</file>

<file path=ppt/slides/slide3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9903A0-BAA2-487D-A98D-CFCE1053102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Montar sin perder las referencias</a:t>
            </a:r>
          </a:p>
        </p:txBody>
      </p:sp>
      <p:pic>
        <p:nvPicPr>
          <p:cNvPr id="2" name="">
            <a:extLst xmlns:a="http://schemas.openxmlformats.org/drawingml/2006/main">
              <a:ext uri="{FF2B5EF4-FFF2-40B4-BE49-F238E27FC236}">
                <a16:creationId xmlns:a16="http://schemas.microsoft.com/office/drawing/2014/main" id="{42679215-802F-460C-AA38-E326B27A7206}"/>
              </a:ext>
            </a:extLst>
          </p:cNvPr>
          <p:cNvPicPr>
            <a:picLocks xmlns:a="http://schemas.openxmlformats.org/drawingml/2006/main" noChangeAspect="1"/>
          </p:cNvPicPr>
          <p:nvPr/>
        </p:nvPicPr>
        <p:blipFill>
          <a:blip xmlns:r="http://schemas.openxmlformats.org/officeDocument/2006/relationships" xmlns:a="http://schemas.openxmlformats.org/drawingml/2006/main" r:embed="Rba4908116bcb40f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C8A1824-E4E9-4C0A-B043-666E4A22E47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07/24</a:t>
            </a:r>
          </a:p>
        </p:txBody>
      </p:sp>
      <p:sp>
        <p:nvSpPr>
          <p:cNvPr id="4" name="">
            <a:extLst xmlns:a="http://schemas.openxmlformats.org/drawingml/2006/main">
              <a:ext uri="{FF2B5EF4-FFF2-40B4-BE49-F238E27FC236}">
                <a16:creationId xmlns:a16="http://schemas.microsoft.com/office/drawing/2014/main" id="{1565A065-ECBE-4ED5-A4D0-5324CD830AE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Presenta el conjunto y confirma el orden de montaje con el docente.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Marca las referencias que necesitan conservarse y comprueba su correspondencia con el plano.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Usa el útil aprobado para presentar las aletas. Revisa vista lateral y posterior antes de fijar.</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Realiza las uniones con el proceso indicado para los materiales y el conjunto comercial.</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Respeta el tiempo necesario del proceso. Mantén el conjunto apoyado según la pauta del taller.</a:t>
            </a:r>
          </a:p>
        </p:txBody>
      </p:sp>
    </p:spTree>
    <p:extLst>
      <p:ext uri="{BB962C8B-B14F-4D97-AF65-F5344CB8AC3E}">
        <p14:creationId xmlns:p14="http://schemas.microsoft.com/office/powerpoint/2010/main" val="1777232719"/>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60D04F6-8471-4598-9708-8D3CAB4576D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Revisar lo que luego quedará oculto</a:t>
            </a:r>
          </a:p>
        </p:txBody>
      </p:sp>
      <p:pic>
        <p:nvPicPr>
          <p:cNvPr id="2" name="">
            <a:extLst xmlns:a="http://schemas.openxmlformats.org/drawingml/2006/main">
              <a:ext uri="{FF2B5EF4-FFF2-40B4-BE49-F238E27FC236}">
                <a16:creationId xmlns:a16="http://schemas.microsoft.com/office/drawing/2014/main" id="{4AAECB48-CE0E-4AEF-B49E-82A11DF49B36}"/>
              </a:ext>
            </a:extLst>
          </p:cNvPr>
          <p:cNvPicPr>
            <a:picLocks xmlns:a="http://schemas.openxmlformats.org/drawingml/2006/main" noChangeAspect="1"/>
          </p:cNvPicPr>
          <p:nvPr/>
        </p:nvPicPr>
        <p:blipFill>
          <a:blip xmlns:r="http://schemas.openxmlformats.org/officeDocument/2006/relationships" xmlns:a="http://schemas.openxmlformats.org/drawingml/2006/main" r:embed="Rdd8556c41e04455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7A45203-BF4A-4F61-85B5-BD6875D551F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08/24</a:t>
            </a:r>
          </a:p>
        </p:txBody>
      </p:sp>
      <p:sp>
        <p:nvSpPr>
          <p:cNvPr id="4" name="">
            <a:extLst xmlns:a="http://schemas.openxmlformats.org/drawingml/2006/main">
              <a:ext uri="{FF2B5EF4-FFF2-40B4-BE49-F238E27FC236}">
                <a16:creationId xmlns:a16="http://schemas.microsoft.com/office/drawing/2014/main" id="{D9F6C0CE-039A-4A85-96FC-3052B8B28CA3}"/>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Algunas conexiones dejan de verse después de cerrar el cuerpo. Antes de hacerlo se registra una fotografía y se comprueba que corresponden al sistema previsto. Un archivo digital no muestra automáticamente el estado de una unión real ni demuestra que una pieza comercial sea la referencia correcta.</a:t>
            </a:r>
          </a:p>
        </p:txBody>
      </p:sp>
    </p:spTree>
    <p:extLst>
      <p:ext uri="{BB962C8B-B14F-4D97-AF65-F5344CB8AC3E}">
        <p14:creationId xmlns:p14="http://schemas.microsoft.com/office/powerpoint/2010/main" val="817338445"/>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756D73-DBB0-4FDF-BE72-228E983FA44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Revisar lo que luego quedará oculto</a:t>
            </a:r>
          </a:p>
        </p:txBody>
      </p:sp>
      <p:pic>
        <p:nvPicPr>
          <p:cNvPr id="2" name="">
            <a:extLst xmlns:a="http://schemas.openxmlformats.org/drawingml/2006/main">
              <a:ext uri="{FF2B5EF4-FFF2-40B4-BE49-F238E27FC236}">
                <a16:creationId xmlns:a16="http://schemas.microsoft.com/office/drawing/2014/main" id="{566D9C63-F5DC-4C87-BB4F-D69794661CE2}"/>
              </a:ext>
            </a:extLst>
          </p:cNvPr>
          <p:cNvPicPr>
            <a:picLocks xmlns:a="http://schemas.openxmlformats.org/drawingml/2006/main" noChangeAspect="1"/>
          </p:cNvPicPr>
          <p:nvPr/>
        </p:nvPicPr>
        <p:blipFill>
          <a:blip xmlns:r="http://schemas.openxmlformats.org/officeDocument/2006/relationships" xmlns:a="http://schemas.openxmlformats.org/drawingml/2006/main" r:embed="Rcfa667bcc65b4ed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8C1C219-1C90-42B2-8712-F283D0AD3E8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09/24</a:t>
            </a:r>
          </a:p>
        </p:txBody>
      </p:sp>
      <p:pic>
        <p:nvPicPr>
          <p:cNvPr id="4" name="">
            <a:extLst xmlns:a="http://schemas.openxmlformats.org/drawingml/2006/main">
              <a:ext uri="{FF2B5EF4-FFF2-40B4-BE49-F238E27FC236}">
                <a16:creationId xmlns:a16="http://schemas.microsoft.com/office/drawing/2014/main" id="{7712B187-1D3D-417F-9FB3-3EA873895B02}"/>
              </a:ext>
            </a:extLst>
          </p:cNvPr>
          <p:cNvPicPr>
            <a:picLocks xmlns:a="http://schemas.openxmlformats.org/drawingml/2006/main" noChangeAspect="1"/>
          </p:cNvPicPr>
          <p:nvPr/>
        </p:nvPicPr>
        <p:blipFill>
          <a:blip xmlns:r="http://schemas.openxmlformats.org/officeDocument/2006/relationships" xmlns:a="http://schemas.openxmlformats.org/drawingml/2006/main" r:embed="Rc50d4f5381c747b1"/>
          <a:stretch xmlns:a="http://schemas.openxmlformats.org/drawingml/2006/main"/>
        </p:blipFill>
        <p:spPr>
          <a:xfrm xmlns:a="http://schemas.openxmlformats.org/drawingml/2006/main">
            <a:off x="590550" y="2851879"/>
            <a:ext cx="7410450" cy="159239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C6BFCD1-B128-4808-B8C2-769AD68E3DE1}"/>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¿La pieza comercial es la referencia prevista?</a:t>
            </a:r>
          </a:p>
        </p:txBody>
      </p:sp>
      <p:sp>
        <p:nvSpPr>
          <p:cNvPr id="6" name="">
            <a:extLst xmlns:a="http://schemas.openxmlformats.org/drawingml/2006/main">
              <a:ext uri="{FF2B5EF4-FFF2-40B4-BE49-F238E27FC236}">
                <a16:creationId xmlns:a16="http://schemas.microsoft.com/office/drawing/2014/main" id="{F7A9B73D-A996-4EF2-9BEE-15D2A42AE9E3}"/>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Interfaces internas del ejemplo de OpenRocket. El proyecto utiliza el conjunto comercial y la distribución revisados por el docente.</a:t>
            </a:r>
          </a:p>
        </p:txBody>
      </p:sp>
    </p:spTree>
    <p:extLst>
      <p:ext uri="{BB962C8B-B14F-4D97-AF65-F5344CB8AC3E}">
        <p14:creationId xmlns:p14="http://schemas.microsoft.com/office/powerpoint/2010/main" val="961424063"/>
      </p:ext>
    </p:extLst>
  </p:cSld>
</p:sld>
</file>

<file path=ppt/slides/slide3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3B3499-D06D-4263-AD24-D5C82E9C7D4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Comprobaciones antes de cerrar</a:t>
            </a:r>
          </a:p>
        </p:txBody>
      </p:sp>
      <p:pic>
        <p:nvPicPr>
          <p:cNvPr id="2" name="">
            <a:extLst xmlns:a="http://schemas.openxmlformats.org/drawingml/2006/main">
              <a:ext uri="{FF2B5EF4-FFF2-40B4-BE49-F238E27FC236}">
                <a16:creationId xmlns:a16="http://schemas.microsoft.com/office/drawing/2014/main" id="{33DBE484-523A-46A5-BE91-6572FBF8EC1A}"/>
              </a:ext>
            </a:extLst>
          </p:cNvPr>
          <p:cNvPicPr>
            <a:picLocks xmlns:a="http://schemas.openxmlformats.org/drawingml/2006/main" noChangeAspect="1"/>
          </p:cNvPicPr>
          <p:nvPr/>
        </p:nvPicPr>
        <p:blipFill>
          <a:blip xmlns:r="http://schemas.openxmlformats.org/officeDocument/2006/relationships" xmlns:a="http://schemas.openxmlformats.org/drawingml/2006/main" r:embed="R0ba26776b03b472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60B7A44-7E0A-4754-A4CE-4B8AB722306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10/24</a:t>
            </a:r>
          </a:p>
        </p:txBody>
      </p:sp>
      <p:graphicFrame>
        <p:nvGraphicFramePr>
          <p:cNvPr id="4" name="">
            <a:extLst xmlns:a="http://schemas.openxmlformats.org/drawingml/2006/main">
              <a:ext uri="{FF2B5EF4-FFF2-40B4-BE49-F238E27FC236}">
                <a16:creationId xmlns:a16="http://schemas.microsoft.com/office/drawing/2014/main" id="{0312B237-D925-42F2-B05B-5D719F8C3023}"/>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Zona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Evidencia de taller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Soporte comercial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Referencia y presentación según instrucciones</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Conexiones de recuperación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Correspondencia con el sistema elegido</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Acceso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Recorrido visible y sin interferencia observada</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Elementos interiores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Posición e identificación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Cambios respecto al plano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Actualización o corrección registrada</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116206998"/>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6881FB-CD8B-44C3-91E1-7823510D5D0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Medir el conjunto ensamblado</a:t>
            </a:r>
          </a:p>
        </p:txBody>
      </p:sp>
      <p:pic>
        <p:nvPicPr>
          <p:cNvPr id="2" name="">
            <a:extLst xmlns:a="http://schemas.openxmlformats.org/drawingml/2006/main">
              <a:ext uri="{FF2B5EF4-FFF2-40B4-BE49-F238E27FC236}">
                <a16:creationId xmlns:a16="http://schemas.microsoft.com/office/drawing/2014/main" id="{43749A74-994C-4B4B-864A-9EA3BFF93047}"/>
              </a:ext>
            </a:extLst>
          </p:cNvPr>
          <p:cNvPicPr>
            <a:picLocks xmlns:a="http://schemas.openxmlformats.org/drawingml/2006/main" noChangeAspect="1"/>
          </p:cNvPicPr>
          <p:nvPr/>
        </p:nvPicPr>
        <p:blipFill>
          <a:blip xmlns:r="http://schemas.openxmlformats.org/officeDocument/2006/relationships" xmlns:a="http://schemas.openxmlformats.org/drawingml/2006/main" r:embed="R11063908eab54fe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9539F6D-93A6-42DE-AB47-9E9928DA887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11/24</a:t>
            </a:r>
          </a:p>
        </p:txBody>
      </p:sp>
      <p:sp>
        <p:nvSpPr>
          <p:cNvPr id="4" name="">
            <a:extLst xmlns:a="http://schemas.openxmlformats.org/drawingml/2006/main">
              <a:ext uri="{FF2B5EF4-FFF2-40B4-BE49-F238E27FC236}">
                <a16:creationId xmlns:a16="http://schemas.microsoft.com/office/drawing/2014/main" id="{3086D7BB-243D-4B35-9E63-F6796850709D}"/>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masa final incluye materiales que al principio no estaban: uniones, acabado y pequeños componentes. Por eso no siempre coincide con la suma inicial del archivo. Para actualizar el modelo, se define claramente si la medición incluye o excluye el componente comercial que todavía no está instalado para la operación.</a:t>
            </a:r>
          </a:p>
        </p:txBody>
      </p:sp>
    </p:spTree>
    <p:extLst>
      <p:ext uri="{BB962C8B-B14F-4D97-AF65-F5344CB8AC3E}">
        <p14:creationId xmlns:p14="http://schemas.microsoft.com/office/powerpoint/2010/main" val="1238696547"/>
      </p:ext>
    </p:extLst>
  </p:cSld>
</p:sld>
</file>

<file path=ppt/slides/slide3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FB11AC4-2419-4253-BD70-60E90579DD4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 del equipo</a:t>
            </a:r>
          </a:p>
        </p:txBody>
      </p:sp>
      <p:pic>
        <p:nvPicPr>
          <p:cNvPr id="2" name="">
            <a:extLst xmlns:a="http://schemas.openxmlformats.org/drawingml/2006/main">
              <a:ext uri="{FF2B5EF4-FFF2-40B4-BE49-F238E27FC236}">
                <a16:creationId xmlns:a16="http://schemas.microsoft.com/office/drawing/2014/main" id="{E1370D8A-7687-4E50-98AC-CBA97306A8E5}"/>
              </a:ext>
            </a:extLst>
          </p:cNvPr>
          <p:cNvPicPr>
            <a:picLocks xmlns:a="http://schemas.openxmlformats.org/drawingml/2006/main" noChangeAspect="1"/>
          </p:cNvPicPr>
          <p:nvPr/>
        </p:nvPicPr>
        <p:blipFill>
          <a:blip xmlns:r="http://schemas.openxmlformats.org/officeDocument/2006/relationships" xmlns:a="http://schemas.openxmlformats.org/drawingml/2006/main" r:embed="Ra11b7867c62c452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2396E86-3929-48B6-BB79-828AE7F3B34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12   12/24</a:t>
            </a:r>
          </a:p>
        </p:txBody>
      </p:sp>
      <p:sp>
        <p:nvSpPr>
          <p:cNvPr id="4" name="">
            <a:extLst xmlns:a="http://schemas.openxmlformats.org/drawingml/2006/main">
              <a:ext uri="{FF2B5EF4-FFF2-40B4-BE49-F238E27FC236}">
                <a16:creationId xmlns:a16="http://schemas.microsoft.com/office/drawing/2014/main" id="{D455B6C5-31E5-4954-89D9-34EA1984B073}"/>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AEF4BB"/>
                </a:solidFill>
                <a:latin typeface="Arial"/>
                <a:ea typeface="Arial"/>
                <a:cs typeface="Arial"/>
              </a:defRPr>
            </a:defPPr>
            <a:lvl1pPr>
              <a:defRPr sz="3075" b="1">
                <a:solidFill>
                  <a:srgbClr val="AEF4BB"/>
                </a:solidFill>
                <a:latin typeface="Arial"/>
                <a:ea typeface="Arial"/>
                <a:cs typeface="Arial"/>
              </a:defRPr>
            </a:lvl1pPr>
            <a:lvl2pPr>
              <a:defRPr sz="3075" b="1">
                <a:solidFill>
                  <a:srgbClr val="AEF4BB"/>
                </a:solidFill>
                <a:latin typeface="Arial"/>
                <a:ea typeface="Arial"/>
                <a:cs typeface="Arial"/>
              </a:defRPr>
            </a:lvl2pPr>
            <a:lvl3pPr>
              <a:defRPr sz="3075" b="1">
                <a:solidFill>
                  <a:srgbClr val="AEF4BB"/>
                </a:solidFill>
                <a:latin typeface="Arial"/>
                <a:ea typeface="Arial"/>
                <a:cs typeface="Arial"/>
              </a:defRPr>
            </a:lvl3pPr>
            <a:lvl4pPr>
              <a:defRPr sz="3075" b="1">
                <a:solidFill>
                  <a:srgbClr val="AEF4BB"/>
                </a:solidFill>
                <a:latin typeface="Arial"/>
                <a:ea typeface="Arial"/>
                <a:cs typeface="Arial"/>
              </a:defRPr>
            </a:lvl4pPr>
            <a:lvl5pPr>
              <a:defRPr sz="3075" b="1">
                <a:solidFill>
                  <a:srgbClr val="AEF4BB"/>
                </a:solidFill>
                <a:latin typeface="Arial"/>
                <a:ea typeface="Arial"/>
                <a:cs typeface="Arial"/>
              </a:defRPr>
            </a:lvl5pPr>
            <a:lvl6pPr>
              <a:defRPr sz="3075" b="1">
                <a:solidFill>
                  <a:srgbClr val="AEF4BB"/>
                </a:solidFill>
                <a:latin typeface="Arial"/>
                <a:ea typeface="Arial"/>
                <a:cs typeface="Arial"/>
              </a:defRPr>
            </a:lvl6pPr>
            <a:lvl7pPr>
              <a:defRPr sz="3075" b="1">
                <a:solidFill>
                  <a:srgbClr val="AEF4BB"/>
                </a:solidFill>
                <a:latin typeface="Arial"/>
                <a:ea typeface="Arial"/>
                <a:cs typeface="Arial"/>
              </a:defRPr>
            </a:lvl7pPr>
            <a:lvl8pPr>
              <a:defRPr sz="3075" b="1">
                <a:solidFill>
                  <a:srgbClr val="AEF4BB"/>
                </a:solidFill>
                <a:latin typeface="Arial"/>
                <a:ea typeface="Arial"/>
                <a:cs typeface="Arial"/>
              </a:defRPr>
            </a:lvl8pPr>
            <a:lvl9pPr>
              <a:defRPr sz="3075" b="1">
                <a:solidFill>
                  <a:srgbClr val="AEF4BB"/>
                </a:solidFill>
                <a:latin typeface="Arial"/>
                <a:ea typeface="Arial"/>
                <a:cs typeface="Arial"/>
              </a:defRPr>
            </a:lvl9pPr>
          </a:lstStyle>
          <a:p xmlns:a="http://schemas.openxmlformats.org/drawingml/2006/main">
            <a:pPr>
              <a:defRPr sz="3075" b="1">
                <a:solidFill>
                  <a:srgbClr val="AEF4BB"/>
                </a:solidFill>
                <a:latin typeface="Arial"/>
                <a:ea typeface="Arial"/>
                <a:cs typeface="Arial"/>
              </a:defRPr>
            </a:pPr>
            <a:r>
              <a:rPr sz="3075" b="1">
                <a:solidFill>
                  <a:srgbClr val="AEF4BB"/>
                </a:solidFill>
                <a:latin typeface="Arial"/>
                <a:ea typeface="Arial"/>
                <a:cs typeface="Arial"/>
              </a:rPr>
              <a:t>¿Qué incluye la masa del conjunto?</a:t>
            </a:r>
          </a:p>
        </p:txBody>
      </p:sp>
      <p:sp>
        <p:nvSpPr>
          <p:cNvPr id="5" name="">
            <a:extLst xmlns:a="http://schemas.openxmlformats.org/drawingml/2006/main">
              <a:ext uri="{FF2B5EF4-FFF2-40B4-BE49-F238E27FC236}">
                <a16:creationId xmlns:a16="http://schemas.microsoft.com/office/drawing/2014/main" id="{1AC71970-22D3-4B2E-8029-BB975000E2C5}"/>
              </a:ext>
            </a:extLst>
          </p:cNvPr>
          <p:cNvSpPr>
            <a:spLocks xmlns:a="http://schemas.openxmlformats.org/drawingml/2006/main" noGrp="1"/>
          </p:cNvSpPr>
          <p:nvPr/>
        </p:nvSpPr>
        <p:spPr>
          <a:xfrm xmlns:a="http://schemas.openxmlformats.org/drawingml/2006/main">
            <a:off x="590550" y="3800475"/>
            <a:ext cx="10715625"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Si el proceso de unión o el acabado todavía requiere tiempo, se indica el estado y se programa la comprobación final. La hora de cierre de la clase no cambia las condiciones del material.</a:t>
            </a:r>
          </a:p>
        </p:txBody>
      </p:sp>
    </p:spTree>
    <p:extLst>
      <p:ext uri="{BB962C8B-B14F-4D97-AF65-F5344CB8AC3E}">
        <p14:creationId xmlns:p14="http://schemas.microsoft.com/office/powerpoint/2010/main" val="659169623"/>
      </p:ext>
    </p:extLst>
  </p:cSld>
</p:sld>
</file>

<file path=ppt/slides/slide3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612953-0873-4443-94D5-98835E75338D}"/>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Presupuesto y conjunto del ejercicio</a:t>
            </a:r>
          </a:p>
        </p:txBody>
      </p:sp>
      <p:pic>
        <p:nvPicPr>
          <p:cNvPr id="2" name="">
            <a:extLst xmlns:a="http://schemas.openxmlformats.org/drawingml/2006/main">
              <a:ext uri="{FF2B5EF4-FFF2-40B4-BE49-F238E27FC236}">
                <a16:creationId xmlns:a16="http://schemas.microsoft.com/office/drawing/2014/main" id="{3A06A63D-8A71-4C0F-BC91-2DA34EFC6C87}"/>
              </a:ext>
            </a:extLst>
          </p:cNvPr>
          <p:cNvPicPr>
            <a:picLocks xmlns:a="http://schemas.openxmlformats.org/drawingml/2006/main" noChangeAspect="1"/>
          </p:cNvPicPr>
          <p:nvPr/>
        </p:nvPicPr>
        <p:blipFill>
          <a:blip xmlns:r="http://schemas.openxmlformats.org/officeDocument/2006/relationships" xmlns:a="http://schemas.openxmlformats.org/drawingml/2006/main" r:embed="R492820ba7d9e413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06FCE43-F4D5-47D2-8482-16C428CB3BB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13/24</a:t>
            </a:r>
          </a:p>
        </p:txBody>
      </p:sp>
      <p:graphicFrame>
        <p:nvGraphicFramePr>
          <p:cNvPr id="4" name="Chart">
            <a:extLst xmlns:a="http://schemas.openxmlformats.org/drawingml/2006/main">
              <a:ext uri="{FF2B5EF4-FFF2-40B4-BE49-F238E27FC236}">
                <a16:creationId xmlns:a16="http://schemas.microsoft.com/office/drawing/2014/main" id="{68E5D6FF-8C7B-4193-A890-BB29F57CDD57}"/>
              </a:ext>
            </a:extLst>
          </p:cNvPr>
          <p:cNvGraphicFramePr/>
          <p:nvPr/>
        </p:nvGraphicFramePr>
        <p:xfrm>
          <a:off xmlns:a="http://schemas.openxmlformats.org/drawingml/2006/main" x="590550" y="1657350"/>
          <a:ext xmlns:a="http://schemas.openxmlformats.org/drawingml/2006/main" cx="11010900" cy="3952875"/>
        </p:xfrm>
        <a:graphic xmlns:a="http://schemas.openxmlformats.org/drawingml/2006/main">
          <a:graphicData uri="http://schemas.openxmlformats.org/drawingml/2006/chart">
            <c:chart xmlns:r="http://schemas.openxmlformats.org/officeDocument/2006/relationships" xmlns:c="http://schemas.openxmlformats.org/drawingml/2006/chart" r:id="Rfeea99c7787e4e5c"/>
          </a:graphicData>
        </a:graphic>
      </p:graphicFrame>
      <p:sp>
        <p:nvSpPr>
          <p:cNvPr id="5" name="">
            <a:extLst xmlns:a="http://schemas.openxmlformats.org/drawingml/2006/main">
              <a:ext uri="{FF2B5EF4-FFF2-40B4-BE49-F238E27FC236}">
                <a16:creationId xmlns:a16="http://schemas.microsoft.com/office/drawing/2014/main" id="{7748BD8A-B715-49DA-8779-C7934A1EB28F}"/>
              </a:ext>
            </a:extLst>
          </p:cNvPr>
          <p:cNvSpPr>
            <a:spLocks xmlns:a="http://schemas.openxmlformats.org/drawingml/2006/main" noGrp="1"/>
          </p:cNvSpPr>
          <p:nvPr/>
        </p:nvSpPr>
        <p:spPr>
          <a:xfrm xmlns:a="http://schemas.openxmlformats.org/drawingml/2006/main">
            <a:off x="590550" y="5848350"/>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Caso didáctico bajo la misma condición de comparación. No corresponde a un prototipo medido por MECRO.</a:t>
            </a:r>
          </a:p>
        </p:txBody>
      </p:sp>
    </p:spTree>
    <p:extLst>
      <p:ext uri="{BB962C8B-B14F-4D97-AF65-F5344CB8AC3E}">
        <p14:creationId xmlns:p14="http://schemas.microsoft.com/office/powerpoint/2010/main" val="1737456913"/>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4D012F7-7331-4AE2-A9CC-E95E71CE340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Cuatro horas para montar y comprobar</a:t>
            </a:r>
          </a:p>
        </p:txBody>
      </p:sp>
      <p:pic>
        <p:nvPicPr>
          <p:cNvPr id="2" name="">
            <a:extLst xmlns:a="http://schemas.openxmlformats.org/drawingml/2006/main">
              <a:ext uri="{FF2B5EF4-FFF2-40B4-BE49-F238E27FC236}">
                <a16:creationId xmlns:a16="http://schemas.microsoft.com/office/drawing/2014/main" id="{2F80EAC8-3221-4828-9E03-FEAC2EB6608C}"/>
              </a:ext>
            </a:extLst>
          </p:cNvPr>
          <p:cNvPicPr>
            <a:picLocks xmlns:a="http://schemas.openxmlformats.org/drawingml/2006/main" noChangeAspect="1"/>
          </p:cNvPicPr>
          <p:nvPr/>
        </p:nvPicPr>
        <p:blipFill>
          <a:blip xmlns:r="http://schemas.openxmlformats.org/officeDocument/2006/relationships" xmlns:a="http://schemas.openxmlformats.org/drawingml/2006/main" r:embed="R3d6744c9716648e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C5DA051-D09D-44A1-9286-887DA95DC5A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14/24</a:t>
            </a:r>
          </a:p>
        </p:txBody>
      </p:sp>
      <p:sp>
        <p:nvSpPr>
          <p:cNvPr id="4" name="">
            <a:extLst xmlns:a="http://schemas.openxmlformats.org/drawingml/2006/main">
              <a:ext uri="{FF2B5EF4-FFF2-40B4-BE49-F238E27FC236}">
                <a16:creationId xmlns:a16="http://schemas.microsoft.com/office/drawing/2014/main" id="{CC8270DF-6759-45CD-B7E1-26FC1842FB66}"/>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equipo comprueba la recuperación en el estado inerte que corresponda y con el método del docente. Revisa las vistas de alineación y las superficies funcionales. Una revisión que descubre un pendiente aporta información útil; no debe ocultarse para anunciar que todos terminaron al mismo tiempo.</a:t>
            </a:r>
          </a:p>
        </p:txBody>
      </p:sp>
    </p:spTree>
    <p:extLst>
      <p:ext uri="{BB962C8B-B14F-4D97-AF65-F5344CB8AC3E}">
        <p14:creationId xmlns:p14="http://schemas.microsoft.com/office/powerpoint/2010/main" val="471009209"/>
      </p:ext>
    </p:extLst>
  </p:cSld>
</p:sld>
</file>

<file path=ppt/slides/slide3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9DE9EF8-C322-42F5-AC87-4BBB2140606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Horario del taller 2</a:t>
            </a:r>
          </a:p>
        </p:txBody>
      </p:sp>
      <p:pic>
        <p:nvPicPr>
          <p:cNvPr id="2" name="">
            <a:extLst xmlns:a="http://schemas.openxmlformats.org/drawingml/2006/main">
              <a:ext uri="{FF2B5EF4-FFF2-40B4-BE49-F238E27FC236}">
                <a16:creationId xmlns:a16="http://schemas.microsoft.com/office/drawing/2014/main" id="{CE21E321-48F0-4C3C-9ABA-794D45383A7A}"/>
              </a:ext>
            </a:extLst>
          </p:cNvPr>
          <p:cNvPicPr>
            <a:picLocks xmlns:a="http://schemas.openxmlformats.org/drawingml/2006/main" noChangeAspect="1"/>
          </p:cNvPicPr>
          <p:nvPr/>
        </p:nvPicPr>
        <p:blipFill>
          <a:blip xmlns:r="http://schemas.openxmlformats.org/officeDocument/2006/relationships" xmlns:a="http://schemas.openxmlformats.org/drawingml/2006/main" r:embed="R5fd2740ea548471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2945565-1AE1-4DC8-B580-54BBB95B510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15/24</a:t>
            </a:r>
          </a:p>
        </p:txBody>
      </p:sp>
      <p:graphicFrame>
        <p:nvGraphicFramePr>
          <p:cNvPr id="4" name="">
            <a:extLst xmlns:a="http://schemas.openxmlformats.org/drawingml/2006/main">
              <a:ext uri="{FF2B5EF4-FFF2-40B4-BE49-F238E27FC236}">
                <a16:creationId xmlns:a16="http://schemas.microsoft.com/office/drawing/2014/main" id="{F70AA77C-F549-44AD-8A3E-941154C37BF9}"/>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718185">
                <a:tc>
                  <a:txBody>
                    <a:bodyPr/>
                    <a:lstStyle/>
                    <a:p>
                      <a:r>
                        <a:rPr sz="2025" b="1">
                          <a:solidFill>
                            <a:srgbClr val="FFFFFF"/>
                          </a:solidFill>
                          <a:latin typeface="Arial"/>
                          <a:ea typeface="Arial"/>
                          <a:cs typeface="Arial"/>
                        </a:rPr>
                        <a:t>Minutos</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Trabajo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Registro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0–30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Piezas, plano y orden de montaje</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Lista de entrada</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30–120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Presentación y ensamblaje supervisado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Fotos de referencias y uniones</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120–180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Comprobaciones de banco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Recuperación y acceso</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180–240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Medidas, archivo y pendientes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Configuración revisada</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342994399"/>
      </p:ext>
    </p:extLst>
  </p:cSld>
</p:sld>
</file>

<file path=ppt/slides/slide40.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D55ED3-2C12-4765-BF98-B1204D74557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Una pieza cambia después de ensamblar</a:t>
            </a:r>
          </a:p>
        </p:txBody>
      </p:sp>
      <p:pic>
        <p:nvPicPr>
          <p:cNvPr id="2" name="">
            <a:extLst xmlns:a="http://schemas.openxmlformats.org/drawingml/2006/main">
              <a:ext uri="{FF2B5EF4-FFF2-40B4-BE49-F238E27FC236}">
                <a16:creationId xmlns:a16="http://schemas.microsoft.com/office/drawing/2014/main" id="{A9051A84-7A1C-4FB2-8309-98F450D230DD}"/>
              </a:ext>
            </a:extLst>
          </p:cNvPr>
          <p:cNvPicPr>
            <a:picLocks xmlns:a="http://schemas.openxmlformats.org/drawingml/2006/main" noChangeAspect="1"/>
          </p:cNvPicPr>
          <p:nvPr/>
        </p:nvPicPr>
        <p:blipFill>
          <a:blip xmlns:r="http://schemas.openxmlformats.org/officeDocument/2006/relationships" xmlns:a="http://schemas.openxmlformats.org/drawingml/2006/main" r:embed="Rc645dc2a633d4cf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11C3A2E-FE0F-40C4-B595-2E85EC7C14B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12   16/24</a:t>
            </a:r>
          </a:p>
        </p:txBody>
      </p:sp>
      <p:sp>
        <p:nvSpPr>
          <p:cNvPr id="4" name="">
            <a:extLst xmlns:a="http://schemas.openxmlformats.org/drawingml/2006/main">
              <a:ext uri="{FF2B5EF4-FFF2-40B4-BE49-F238E27FC236}">
                <a16:creationId xmlns:a16="http://schemas.microsoft.com/office/drawing/2014/main" id="{E7725A4A-D115-4CBA-A620-BDC8A1F7EB1C}"/>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La nariz que entraba en la muestra ahora se traba en el conjunto terminado.</a:t>
            </a:r>
          </a:p>
        </p:txBody>
      </p:sp>
      <p:sp>
        <p:nvSpPr>
          <p:cNvPr id="5" name="">
            <a:extLst xmlns:a="http://schemas.openxmlformats.org/drawingml/2006/main">
              <a:ext uri="{FF2B5EF4-FFF2-40B4-BE49-F238E27FC236}">
                <a16:creationId xmlns:a16="http://schemas.microsoft.com/office/drawing/2014/main" id="{599C3706-B812-4C41-958F-A2B6D3A85CA5}"/>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cambió desde la muestra de encaje?</a:t>
            </a:r>
          </a:p>
        </p:txBody>
      </p:sp>
    </p:spTree>
    <p:extLst>
      <p:ext uri="{BB962C8B-B14F-4D97-AF65-F5344CB8AC3E}">
        <p14:creationId xmlns:p14="http://schemas.microsoft.com/office/powerpoint/2010/main" val="566582867"/>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9BF93BB-D1AD-4695-9014-8576F1B0EA0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Prototipo terminado y expediente actualizado</a:t>
            </a:r>
          </a:p>
        </p:txBody>
      </p:sp>
      <p:pic>
        <p:nvPicPr>
          <p:cNvPr id="2" name="">
            <a:extLst xmlns:a="http://schemas.openxmlformats.org/drawingml/2006/main">
              <a:ext uri="{FF2B5EF4-FFF2-40B4-BE49-F238E27FC236}">
                <a16:creationId xmlns:a16="http://schemas.microsoft.com/office/drawing/2014/main" id="{E7F2BDF9-EA63-477F-9B77-92AE204F026D}"/>
              </a:ext>
            </a:extLst>
          </p:cNvPr>
          <p:cNvPicPr>
            <a:picLocks xmlns:a="http://schemas.openxmlformats.org/drawingml/2006/main" noChangeAspect="1"/>
          </p:cNvPicPr>
          <p:nvPr/>
        </p:nvPicPr>
        <p:blipFill>
          <a:blip xmlns:r="http://schemas.openxmlformats.org/officeDocument/2006/relationships" xmlns:a="http://schemas.openxmlformats.org/drawingml/2006/main" r:embed="R320fa2ea50a0491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8CE0F21-6B78-48F5-A15B-5EA9F4E7743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17/24</a:t>
            </a:r>
          </a:p>
        </p:txBody>
      </p:sp>
      <p:sp>
        <p:nvSpPr>
          <p:cNvPr id="4" name="">
            <a:extLst xmlns:a="http://schemas.openxmlformats.org/drawingml/2006/main">
              <a:ext uri="{FF2B5EF4-FFF2-40B4-BE49-F238E27FC236}">
                <a16:creationId xmlns:a16="http://schemas.microsoft.com/office/drawing/2014/main" id="{51E4E04C-603D-4CA4-A17B-E907F0C060C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prototipo puede estar ensamblado y aún no aceptado para vuelo. Entre ambos estados hay revisión de configuración, condiciones de operación y cierre de pendientes. El alumnado aprende esa diferencia sin convertirla en un trámite abstracto: cada pendiente se relaciona con una pieza o una comprobación concreta.</a:t>
            </a:r>
          </a:p>
        </p:txBody>
      </p:sp>
    </p:spTree>
    <p:extLst>
      <p:ext uri="{BB962C8B-B14F-4D97-AF65-F5344CB8AC3E}">
        <p14:creationId xmlns:p14="http://schemas.microsoft.com/office/powerpoint/2010/main" val="1945161611"/>
      </p:ext>
    </p:extLst>
  </p:cSld>
</p:sld>
</file>

<file path=ppt/slides/slide4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6454C81-8E10-4F03-9D7C-8549B513F4A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Entregas del segundo taller</a:t>
            </a:r>
          </a:p>
        </p:txBody>
      </p:sp>
      <p:pic>
        <p:nvPicPr>
          <p:cNvPr id="2" name="">
            <a:extLst xmlns:a="http://schemas.openxmlformats.org/drawingml/2006/main">
              <a:ext uri="{FF2B5EF4-FFF2-40B4-BE49-F238E27FC236}">
                <a16:creationId xmlns:a16="http://schemas.microsoft.com/office/drawing/2014/main" id="{09D8AC3C-4192-4984-9776-DD1241357F26}"/>
              </a:ext>
            </a:extLst>
          </p:cNvPr>
          <p:cNvPicPr>
            <a:picLocks xmlns:a="http://schemas.openxmlformats.org/drawingml/2006/main" noChangeAspect="1"/>
          </p:cNvPicPr>
          <p:nvPr/>
        </p:nvPicPr>
        <p:blipFill>
          <a:blip xmlns:r="http://schemas.openxmlformats.org/officeDocument/2006/relationships" xmlns:a="http://schemas.openxmlformats.org/drawingml/2006/main" r:embed="R73d4d1332047439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54987B1-0789-4605-84A7-2A75393AF0E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18/24</a:t>
            </a:r>
          </a:p>
        </p:txBody>
      </p:sp>
      <p:graphicFrame>
        <p:nvGraphicFramePr>
          <p:cNvPr id="4" name="">
            <a:extLst xmlns:a="http://schemas.openxmlformats.org/drawingml/2006/main">
              <a:ext uri="{FF2B5EF4-FFF2-40B4-BE49-F238E27FC236}">
                <a16:creationId xmlns:a16="http://schemas.microsoft.com/office/drawing/2014/main" id="{E90B0532-12E6-4EB8-9FB1-E64C61CFD90D}"/>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Entrega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Comprobación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Objeto ensamblado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Identificación del equipo</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Fotos de montaje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Vistas útiles e interiores registrados</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Masa y dimensiones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Condición de medida explícita</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Archivo actualizado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Coincide con la revisión construida</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Pendientes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Acción y responsable definidos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323322242"/>
      </p:ext>
    </p:extLst>
  </p:cSld>
</p:sld>
</file>

<file path=ppt/slides/slide43.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D45631-466C-4D4E-8440-6EDD4C17F01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Qué explica el equipo al mostrar su cohete</a:t>
            </a:r>
          </a:p>
        </p:txBody>
      </p:sp>
      <p:pic>
        <p:nvPicPr>
          <p:cNvPr id="2" name="">
            <a:extLst xmlns:a="http://schemas.openxmlformats.org/drawingml/2006/main">
              <a:ext uri="{FF2B5EF4-FFF2-40B4-BE49-F238E27FC236}">
                <a16:creationId xmlns:a16="http://schemas.microsoft.com/office/drawing/2014/main" id="{E4A3F1E2-4C66-41FB-AD9C-E0FA4072AC8C}"/>
              </a:ext>
            </a:extLst>
          </p:cNvPr>
          <p:cNvPicPr>
            <a:picLocks xmlns:a="http://schemas.openxmlformats.org/drawingml/2006/main" noChangeAspect="1"/>
          </p:cNvPicPr>
          <p:nvPr/>
        </p:nvPicPr>
        <p:blipFill>
          <a:blip xmlns:r="http://schemas.openxmlformats.org/officeDocument/2006/relationships" xmlns:a="http://schemas.openxmlformats.org/drawingml/2006/main" r:embed="R1379504b41084a4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6124A0F-9E94-4743-A631-2EF17372C2B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12   19/24</a:t>
            </a:r>
          </a:p>
        </p:txBody>
      </p:sp>
      <p:sp>
        <p:nvSpPr>
          <p:cNvPr id="4" name="">
            <a:extLst xmlns:a="http://schemas.openxmlformats.org/drawingml/2006/main">
              <a:ext uri="{FF2B5EF4-FFF2-40B4-BE49-F238E27FC236}">
                <a16:creationId xmlns:a16="http://schemas.microsoft.com/office/drawing/2014/main" id="{A52DF541-B572-489E-8561-81BFF841EAF6}"/>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“Estas aletas se alinearon con este útil. Esta es la masa medida del conjunto. Aquí se observa el recorrido de recuperación. Este pendiente necesita revisión”.</a:t>
            </a:r>
          </a:p>
        </p:txBody>
      </p:sp>
      <p:sp>
        <p:nvSpPr>
          <p:cNvPr id="5" name="">
            <a:extLst xmlns:a="http://schemas.openxmlformats.org/drawingml/2006/main">
              <a:ext uri="{FF2B5EF4-FFF2-40B4-BE49-F238E27FC236}">
                <a16:creationId xmlns:a16="http://schemas.microsoft.com/office/drawing/2014/main" id="{0F224698-AC31-433B-9294-9E05729F9B3B}"/>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¿Ensamblado y aceptado para vuelo son lo mismo?</a:t>
            </a:r>
          </a:p>
        </p:txBody>
      </p:sp>
    </p:spTree>
    <p:extLst>
      <p:ext uri="{BB962C8B-B14F-4D97-AF65-F5344CB8AC3E}">
        <p14:creationId xmlns:p14="http://schemas.microsoft.com/office/powerpoint/2010/main" val="349808104"/>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933064-741F-4128-A1B1-D29EC9B397A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Trabajo guiado del equipo</a:t>
            </a:r>
          </a:p>
        </p:txBody>
      </p:sp>
      <p:pic>
        <p:nvPicPr>
          <p:cNvPr id="2" name="">
            <a:extLst xmlns:a="http://schemas.openxmlformats.org/drawingml/2006/main">
              <a:ext uri="{FF2B5EF4-FFF2-40B4-BE49-F238E27FC236}">
                <a16:creationId xmlns:a16="http://schemas.microsoft.com/office/drawing/2014/main" id="{72961261-B476-4DF4-859B-2487EF68A8A7}"/>
              </a:ext>
            </a:extLst>
          </p:cNvPr>
          <p:cNvPicPr>
            <a:picLocks xmlns:a="http://schemas.openxmlformats.org/drawingml/2006/main" noChangeAspect="1"/>
          </p:cNvPicPr>
          <p:nvPr/>
        </p:nvPicPr>
        <p:blipFill>
          <a:blip xmlns:r="http://schemas.openxmlformats.org/officeDocument/2006/relationships" xmlns:a="http://schemas.openxmlformats.org/drawingml/2006/main" r:embed="R414a24b32430425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69BFF68-F032-4C2B-97D8-4541FC09F0A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20/24</a:t>
            </a:r>
          </a:p>
        </p:txBody>
      </p:sp>
      <p:sp>
        <p:nvSpPr>
          <p:cNvPr id="4" name="">
            <a:extLst xmlns:a="http://schemas.openxmlformats.org/drawingml/2006/main">
              <a:ext uri="{FF2B5EF4-FFF2-40B4-BE49-F238E27FC236}">
                <a16:creationId xmlns:a16="http://schemas.microsoft.com/office/drawing/2014/main" id="{B3150549-D6DC-4F39-9555-BFD8D077DED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Identificar piezas y aprobar orden de montaje.</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Conservar referencias durante el ensamblaje.</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Documentar interiores y comprobar recuperación en banco.</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4. Medir, actualizar el archivo y registrar pendientes.</a:t>
            </a:r>
          </a:p>
        </p:txBody>
      </p:sp>
    </p:spTree>
    <p:extLst>
      <p:ext uri="{BB962C8B-B14F-4D97-AF65-F5344CB8AC3E}">
        <p14:creationId xmlns:p14="http://schemas.microsoft.com/office/powerpoint/2010/main" val="1543256504"/>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46F94F-A678-4A34-9C67-B75AAD87589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según la misión</a:t>
            </a:r>
          </a:p>
        </p:txBody>
      </p:sp>
      <p:pic>
        <p:nvPicPr>
          <p:cNvPr id="2" name="">
            <a:extLst xmlns:a="http://schemas.openxmlformats.org/drawingml/2006/main">
              <a:ext uri="{FF2B5EF4-FFF2-40B4-BE49-F238E27FC236}">
                <a16:creationId xmlns:a16="http://schemas.microsoft.com/office/drawing/2014/main" id="{60C2C96F-0496-4967-8E4C-313F7F901DFC}"/>
              </a:ext>
            </a:extLst>
          </p:cNvPr>
          <p:cNvPicPr>
            <a:picLocks xmlns:a="http://schemas.openxmlformats.org/drawingml/2006/main" noChangeAspect="1"/>
          </p:cNvPicPr>
          <p:nvPr/>
        </p:nvPicPr>
        <p:blipFill>
          <a:blip xmlns:r="http://schemas.openxmlformats.org/officeDocument/2006/relationships" xmlns:a="http://schemas.openxmlformats.org/drawingml/2006/main" r:embed="R1475763c83d94c0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D0BF6DE-0625-4983-8354-F0156D6CFBA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12   21/24</a:t>
            </a:r>
          </a:p>
        </p:txBody>
      </p:sp>
      <p:sp>
        <p:nvSpPr>
          <p:cNvPr id="4" name="">
            <a:extLst xmlns:a="http://schemas.openxmlformats.org/drawingml/2006/main">
              <a:ext uri="{FF2B5EF4-FFF2-40B4-BE49-F238E27FC236}">
                <a16:creationId xmlns:a16="http://schemas.microsoft.com/office/drawing/2014/main" id="{7676E952-56F8-419E-A030-5CC193828DE5}"/>
              </a:ext>
            </a:extLst>
          </p:cNvPr>
          <p:cNvSpPr>
            <a:spLocks xmlns:a="http://schemas.openxmlformats.org/drawingml/2006/main" noGrp="1"/>
          </p:cNvSpPr>
          <p:nvPr/>
        </p:nvSpPr>
        <p:spPr>
          <a:xfrm xmlns:a="http://schemas.openxmlformats.org/drawingml/2006/main">
            <a:off x="590550" y="17716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AEF4BB"/>
                </a:solidFill>
                <a:latin typeface="Arial"/>
                <a:ea typeface="Arial"/>
                <a:cs typeface="Arial"/>
              </a:defRPr>
            </a:defPPr>
            <a:lvl1pPr>
              <a:defRPr sz="2775" b="1">
                <a:solidFill>
                  <a:srgbClr val="AEF4BB"/>
                </a:solidFill>
                <a:latin typeface="Arial"/>
                <a:ea typeface="Arial"/>
                <a:cs typeface="Arial"/>
              </a:defRPr>
            </a:lvl1pPr>
            <a:lvl2pPr>
              <a:defRPr sz="2775" b="1">
                <a:solidFill>
                  <a:srgbClr val="AEF4BB"/>
                </a:solidFill>
                <a:latin typeface="Arial"/>
                <a:ea typeface="Arial"/>
                <a:cs typeface="Arial"/>
              </a:defRPr>
            </a:lvl2pPr>
            <a:lvl3pPr>
              <a:defRPr sz="2775" b="1">
                <a:solidFill>
                  <a:srgbClr val="AEF4BB"/>
                </a:solidFill>
                <a:latin typeface="Arial"/>
                <a:ea typeface="Arial"/>
                <a:cs typeface="Arial"/>
              </a:defRPr>
            </a:lvl3pPr>
            <a:lvl4pPr>
              <a:defRPr sz="2775" b="1">
                <a:solidFill>
                  <a:srgbClr val="AEF4BB"/>
                </a:solidFill>
                <a:latin typeface="Arial"/>
                <a:ea typeface="Arial"/>
                <a:cs typeface="Arial"/>
              </a:defRPr>
            </a:lvl4pPr>
            <a:lvl5pPr>
              <a:defRPr sz="2775" b="1">
                <a:solidFill>
                  <a:srgbClr val="AEF4BB"/>
                </a:solidFill>
                <a:latin typeface="Arial"/>
                <a:ea typeface="Arial"/>
                <a:cs typeface="Arial"/>
              </a:defRPr>
            </a:lvl5pPr>
            <a:lvl6pPr>
              <a:defRPr sz="2775" b="1">
                <a:solidFill>
                  <a:srgbClr val="AEF4BB"/>
                </a:solidFill>
                <a:latin typeface="Arial"/>
                <a:ea typeface="Arial"/>
                <a:cs typeface="Arial"/>
              </a:defRPr>
            </a:lvl6pPr>
            <a:lvl7pPr>
              <a:defRPr sz="2775" b="1">
                <a:solidFill>
                  <a:srgbClr val="AEF4BB"/>
                </a:solidFill>
                <a:latin typeface="Arial"/>
                <a:ea typeface="Arial"/>
                <a:cs typeface="Arial"/>
              </a:defRPr>
            </a:lvl7pPr>
            <a:lvl8pPr>
              <a:defRPr sz="2775" b="1">
                <a:solidFill>
                  <a:srgbClr val="AEF4BB"/>
                </a:solidFill>
                <a:latin typeface="Arial"/>
                <a:ea typeface="Arial"/>
                <a:cs typeface="Arial"/>
              </a:defRPr>
            </a:lvl8pPr>
            <a:lvl9pPr>
              <a:defRPr sz="2775" b="1">
                <a:solidFill>
                  <a:srgbClr val="AEF4BB"/>
                </a:solidFill>
                <a:latin typeface="Arial"/>
                <a:ea typeface="Arial"/>
                <a:cs typeface="Arial"/>
              </a:defRPr>
            </a:lvl9pPr>
          </a:lstStyle>
          <a:p xmlns:a="http://schemas.openxmlformats.org/drawingml/2006/main">
            <a:pPr>
              <a:defRPr sz="2775" b="1">
                <a:solidFill>
                  <a:srgbClr val="AEF4BB"/>
                </a:solidFill>
                <a:latin typeface="Arial"/>
                <a:ea typeface="Arial"/>
                <a:cs typeface="Arial"/>
              </a:defRPr>
            </a:pPr>
            <a:r>
              <a:rPr sz="2775" b="1">
                <a:solidFill>
                  <a:srgbClr val="AEF4BB"/>
                </a:solidFill>
                <a:latin typeface="Arial"/>
                <a:ea typeface="Arial"/>
                <a:cs typeface="Arial"/>
              </a:rPr>
              <a:t>Obtener un prototipo ensamblado que pueda revisarse antes de la jornada.</a:t>
            </a:r>
          </a:p>
        </p:txBody>
      </p:sp>
      <p:sp>
        <p:nvSpPr>
          <p:cNvPr id="5" name="">
            <a:extLst xmlns:a="http://schemas.openxmlformats.org/drawingml/2006/main">
              <a:ext uri="{FF2B5EF4-FFF2-40B4-BE49-F238E27FC236}">
                <a16:creationId xmlns:a16="http://schemas.microsoft.com/office/drawing/2014/main" id="{9D4E982C-8079-47A1-BB27-5FD796E3D1DB}"/>
              </a:ext>
            </a:extLst>
          </p:cNvPr>
          <p:cNvSpPr>
            <a:spLocks xmlns:a="http://schemas.openxmlformats.org/drawingml/2006/main" noGrp="1"/>
          </p:cNvSpPr>
          <p:nvPr/>
        </p:nvSpPr>
        <p:spPr>
          <a:xfrm xmlns:a="http://schemas.openxmlformats.org/drawingml/2006/main">
            <a:off x="590550" y="3638550"/>
            <a:ext cx="10715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CFCF8"/>
                </a:solidFill>
                <a:latin typeface="Arial"/>
                <a:ea typeface="Arial"/>
                <a:cs typeface="Arial"/>
              </a:defRPr>
            </a:defPPr>
            <a:lvl1pPr>
              <a:defRPr sz="2625" b="0">
                <a:solidFill>
                  <a:srgbClr val="FCFCF8"/>
                </a:solidFill>
                <a:latin typeface="Arial"/>
                <a:ea typeface="Arial"/>
                <a:cs typeface="Arial"/>
              </a:defRPr>
            </a:lvl1pPr>
            <a:lvl2pPr>
              <a:defRPr sz="2625" b="0">
                <a:solidFill>
                  <a:srgbClr val="FCFCF8"/>
                </a:solidFill>
                <a:latin typeface="Arial"/>
                <a:ea typeface="Arial"/>
                <a:cs typeface="Arial"/>
              </a:defRPr>
            </a:lvl2pPr>
            <a:lvl3pPr>
              <a:defRPr sz="2625" b="0">
                <a:solidFill>
                  <a:srgbClr val="FCFCF8"/>
                </a:solidFill>
                <a:latin typeface="Arial"/>
                <a:ea typeface="Arial"/>
                <a:cs typeface="Arial"/>
              </a:defRPr>
            </a:lvl3pPr>
            <a:lvl4pPr>
              <a:defRPr sz="2625" b="0">
                <a:solidFill>
                  <a:srgbClr val="FCFCF8"/>
                </a:solidFill>
                <a:latin typeface="Arial"/>
                <a:ea typeface="Arial"/>
                <a:cs typeface="Arial"/>
              </a:defRPr>
            </a:lvl4pPr>
            <a:lvl5pPr>
              <a:defRPr sz="2625" b="0">
                <a:solidFill>
                  <a:srgbClr val="FCFCF8"/>
                </a:solidFill>
                <a:latin typeface="Arial"/>
                <a:ea typeface="Arial"/>
                <a:cs typeface="Arial"/>
              </a:defRPr>
            </a:lvl5pPr>
            <a:lvl6pPr>
              <a:defRPr sz="2625" b="0">
                <a:solidFill>
                  <a:srgbClr val="FCFCF8"/>
                </a:solidFill>
                <a:latin typeface="Arial"/>
                <a:ea typeface="Arial"/>
                <a:cs typeface="Arial"/>
              </a:defRPr>
            </a:lvl6pPr>
            <a:lvl7pPr>
              <a:defRPr sz="2625" b="0">
                <a:solidFill>
                  <a:srgbClr val="FCFCF8"/>
                </a:solidFill>
                <a:latin typeface="Arial"/>
                <a:ea typeface="Arial"/>
                <a:cs typeface="Arial"/>
              </a:defRPr>
            </a:lvl7pPr>
            <a:lvl8pPr>
              <a:defRPr sz="2625" b="0">
                <a:solidFill>
                  <a:srgbClr val="FCFCF8"/>
                </a:solidFill>
                <a:latin typeface="Arial"/>
                <a:ea typeface="Arial"/>
                <a:cs typeface="Arial"/>
              </a:defRPr>
            </a:lvl8pPr>
            <a:lvl9pPr>
              <a:defRPr sz="2625" b="0">
                <a:solidFill>
                  <a:srgbClr val="FCFCF8"/>
                </a:solidFill>
                <a:latin typeface="Arial"/>
                <a:ea typeface="Arial"/>
                <a:cs typeface="Arial"/>
              </a:defRPr>
            </a:lvl9pPr>
          </a:lstStyle>
          <a:p xmlns:a="http://schemas.openxmlformats.org/drawingml/2006/main">
            <a:pPr>
              <a:defRPr sz="2625" b="0">
                <a:solidFill>
                  <a:srgbClr val="FCFCF8"/>
                </a:solidFill>
                <a:latin typeface="Arial"/>
                <a:ea typeface="Arial"/>
                <a:cs typeface="Arial"/>
              </a:defRPr>
            </a:pPr>
            <a:r>
              <a:rPr sz="2625" b="0">
                <a:solidFill>
                  <a:srgbClr val="FCFCF8"/>
                </a:solidFill>
                <a:latin typeface="Arial"/>
                <a:ea typeface="Arial"/>
                <a:cs typeface="Arial"/>
              </a:rPr>
              <a:t>¿Ensamblado y aceptado para vuelo son lo mismo?</a:t>
            </a:r>
          </a:p>
        </p:txBody>
      </p:sp>
      <p:sp>
        <p:nvSpPr>
          <p:cNvPr id="6" name="">
            <a:extLst xmlns:a="http://schemas.openxmlformats.org/drawingml/2006/main">
              <a:ext uri="{FF2B5EF4-FFF2-40B4-BE49-F238E27FC236}">
                <a16:creationId xmlns:a16="http://schemas.microsoft.com/office/drawing/2014/main" id="{3D9F1879-0FFE-4643-9BB5-48E2F00CEFAC}"/>
              </a:ext>
            </a:extLst>
          </p:cNvPr>
          <p:cNvSpPr>
            <a:spLocks xmlns:a="http://schemas.openxmlformats.org/drawingml/2006/main" noGrp="1"/>
          </p:cNvSpPr>
          <p:nvPr/>
        </p:nvSpPr>
        <p:spPr>
          <a:xfrm xmlns:a="http://schemas.openxmlformats.org/drawingml/2006/main">
            <a:off x="590550" y="5486400"/>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8C8C1"/>
                </a:solidFill>
                <a:latin typeface="Arial"/>
                <a:ea typeface="Arial"/>
                <a:cs typeface="Arial"/>
              </a:defRPr>
            </a:defPPr>
            <a:lvl1pPr>
              <a:defRPr sz="2175" b="0">
                <a:solidFill>
                  <a:srgbClr val="B8C8C1"/>
                </a:solidFill>
                <a:latin typeface="Arial"/>
                <a:ea typeface="Arial"/>
                <a:cs typeface="Arial"/>
              </a:defRPr>
            </a:lvl1pPr>
            <a:lvl2pPr>
              <a:defRPr sz="2175" b="0">
                <a:solidFill>
                  <a:srgbClr val="B8C8C1"/>
                </a:solidFill>
                <a:latin typeface="Arial"/>
                <a:ea typeface="Arial"/>
                <a:cs typeface="Arial"/>
              </a:defRPr>
            </a:lvl2pPr>
            <a:lvl3pPr>
              <a:defRPr sz="2175" b="0">
                <a:solidFill>
                  <a:srgbClr val="B8C8C1"/>
                </a:solidFill>
                <a:latin typeface="Arial"/>
                <a:ea typeface="Arial"/>
                <a:cs typeface="Arial"/>
              </a:defRPr>
            </a:lvl3pPr>
            <a:lvl4pPr>
              <a:defRPr sz="2175" b="0">
                <a:solidFill>
                  <a:srgbClr val="B8C8C1"/>
                </a:solidFill>
                <a:latin typeface="Arial"/>
                <a:ea typeface="Arial"/>
                <a:cs typeface="Arial"/>
              </a:defRPr>
            </a:lvl4pPr>
            <a:lvl5pPr>
              <a:defRPr sz="2175" b="0">
                <a:solidFill>
                  <a:srgbClr val="B8C8C1"/>
                </a:solidFill>
                <a:latin typeface="Arial"/>
                <a:ea typeface="Arial"/>
                <a:cs typeface="Arial"/>
              </a:defRPr>
            </a:lvl5pPr>
            <a:lvl6pPr>
              <a:defRPr sz="2175" b="0">
                <a:solidFill>
                  <a:srgbClr val="B8C8C1"/>
                </a:solidFill>
                <a:latin typeface="Arial"/>
                <a:ea typeface="Arial"/>
                <a:cs typeface="Arial"/>
              </a:defRPr>
            </a:lvl6pPr>
            <a:lvl7pPr>
              <a:defRPr sz="2175" b="0">
                <a:solidFill>
                  <a:srgbClr val="B8C8C1"/>
                </a:solidFill>
                <a:latin typeface="Arial"/>
                <a:ea typeface="Arial"/>
                <a:cs typeface="Arial"/>
              </a:defRPr>
            </a:lvl7pPr>
            <a:lvl8pPr>
              <a:defRPr sz="2175" b="0">
                <a:solidFill>
                  <a:srgbClr val="B8C8C1"/>
                </a:solidFill>
                <a:latin typeface="Arial"/>
                <a:ea typeface="Arial"/>
                <a:cs typeface="Arial"/>
              </a:defRPr>
            </a:lvl8pPr>
            <a:lvl9pPr>
              <a:defRPr sz="2175" b="0">
                <a:solidFill>
                  <a:srgbClr val="B8C8C1"/>
                </a:solidFill>
                <a:latin typeface="Arial"/>
                <a:ea typeface="Arial"/>
                <a:cs typeface="Arial"/>
              </a:defRPr>
            </a:lvl9pPr>
          </a:lstStyle>
          <a:p xmlns:a="http://schemas.openxmlformats.org/drawingml/2006/main">
            <a:pPr>
              <a:defRPr sz="2175" b="0">
                <a:solidFill>
                  <a:srgbClr val="B8C8C1"/>
                </a:solidFill>
                <a:latin typeface="Arial"/>
                <a:ea typeface="Arial"/>
                <a:cs typeface="Arial"/>
              </a:defRPr>
            </a:pPr>
            <a:r>
              <a:rPr sz="2175" b="0">
                <a:solidFill>
                  <a:srgbClr val="B8C8C1"/>
                </a:solidFill>
                <a:latin typeface="Arial"/>
                <a:ea typeface="Arial"/>
                <a:cs typeface="Arial"/>
              </a:rPr>
              <a:t>Explica tu elección con una pieza, un archivo o un dato de la clase.</a:t>
            </a:r>
          </a:p>
        </p:txBody>
      </p:sp>
    </p:spTree>
    <p:extLst>
      <p:ext uri="{BB962C8B-B14F-4D97-AF65-F5344CB8AC3E}">
        <p14:creationId xmlns:p14="http://schemas.microsoft.com/office/powerpoint/2010/main" val="1767386188"/>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AF455F-1E77-46DA-8975-E526E42B6DB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Tres preguntas para cerrar</a:t>
            </a:r>
          </a:p>
        </p:txBody>
      </p:sp>
      <p:pic>
        <p:nvPicPr>
          <p:cNvPr id="2" name="">
            <a:extLst xmlns:a="http://schemas.openxmlformats.org/drawingml/2006/main">
              <a:ext uri="{FF2B5EF4-FFF2-40B4-BE49-F238E27FC236}">
                <a16:creationId xmlns:a16="http://schemas.microsoft.com/office/drawing/2014/main" id="{0540C21F-51AA-47DB-A3D5-97E25B61219E}"/>
              </a:ext>
            </a:extLst>
          </p:cNvPr>
          <p:cNvPicPr>
            <a:picLocks xmlns:a="http://schemas.openxmlformats.org/drawingml/2006/main" noChangeAspect="1"/>
          </p:cNvPicPr>
          <p:nvPr/>
        </p:nvPicPr>
        <p:blipFill>
          <a:blip xmlns:r="http://schemas.openxmlformats.org/officeDocument/2006/relationships" xmlns:a="http://schemas.openxmlformats.org/drawingml/2006/main" r:embed="R8e199e25bc6b4a3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DCD6105-A105-4ACB-90D0-30296BCA054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12   22/24</a:t>
            </a:r>
          </a:p>
        </p:txBody>
      </p:sp>
      <p:sp>
        <p:nvSpPr>
          <p:cNvPr id="4" name="">
            <a:extLst xmlns:a="http://schemas.openxmlformats.org/drawingml/2006/main">
              <a:ext uri="{FF2B5EF4-FFF2-40B4-BE49-F238E27FC236}">
                <a16:creationId xmlns:a16="http://schemas.microsoft.com/office/drawing/2014/main" id="{5B1D833A-2512-4AA0-8C31-80C7EC8D8C2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¿Ensamblado equivale a aceptado para vuelo?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¿Qué condición debe acompañar una masa total?</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se revisa si cambió el encaje?</a:t>
            </a:r>
          </a:p>
        </p:txBody>
      </p:sp>
    </p:spTree>
    <p:extLst>
      <p:ext uri="{BB962C8B-B14F-4D97-AF65-F5344CB8AC3E}">
        <p14:creationId xmlns:p14="http://schemas.microsoft.com/office/powerpoint/2010/main" val="1706610605"/>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9404E7-656D-4924-9846-C521C1A540C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explicar las respuestas</a:t>
            </a:r>
          </a:p>
        </p:txBody>
      </p:sp>
      <p:pic>
        <p:nvPicPr>
          <p:cNvPr id="2" name="">
            <a:extLst xmlns:a="http://schemas.openxmlformats.org/drawingml/2006/main">
              <a:ext uri="{FF2B5EF4-FFF2-40B4-BE49-F238E27FC236}">
                <a16:creationId xmlns:a16="http://schemas.microsoft.com/office/drawing/2014/main" id="{2DEEB6C5-128D-4860-9FDD-2BD19E4EF247}"/>
              </a:ext>
            </a:extLst>
          </p:cNvPr>
          <p:cNvPicPr>
            <a:picLocks xmlns:a="http://schemas.openxmlformats.org/drawingml/2006/main" noChangeAspect="1"/>
          </p:cNvPicPr>
          <p:nvPr/>
        </p:nvPicPr>
        <p:blipFill>
          <a:blip xmlns:r="http://schemas.openxmlformats.org/officeDocument/2006/relationships" xmlns:a="http://schemas.openxmlformats.org/drawingml/2006/main" r:embed="Re8677f1b017c49f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41A5AF6-C796-4606-B00B-83FF4EE8083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23/24</a:t>
            </a:r>
          </a:p>
        </p:txBody>
      </p:sp>
      <p:sp>
        <p:nvSpPr>
          <p:cNvPr id="4" name="">
            <a:extLst xmlns:a="http://schemas.openxmlformats.org/drawingml/2006/main">
              <a:ext uri="{FF2B5EF4-FFF2-40B4-BE49-F238E27FC236}">
                <a16:creationId xmlns:a16="http://schemas.microsoft.com/office/drawing/2014/main" id="{7C564AEF-948B-41D0-924C-19FFB969486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1. No. Falta la revisión de configuración y condiciones.</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2. Qué componentes incluye y el estado del conjunto.</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3. La interfaz actual y lo que se modificó después de la muestra.</a:t>
            </a:r>
          </a:p>
        </p:txBody>
      </p:sp>
    </p:spTree>
    <p:extLst>
      <p:ext uri="{BB962C8B-B14F-4D97-AF65-F5344CB8AC3E}">
        <p14:creationId xmlns:p14="http://schemas.microsoft.com/office/powerpoint/2010/main" val="225372675"/>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3AB07F-903A-49D3-91B7-E8DDD6415DC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604E9B27-0EF3-4006-BDDE-321A37052624}"/>
              </a:ext>
            </a:extLst>
          </p:cNvPr>
          <p:cNvPicPr>
            <a:picLocks xmlns:a="http://schemas.openxmlformats.org/drawingml/2006/main" noChangeAspect="1"/>
          </p:cNvPicPr>
          <p:nvPr/>
        </p:nvPicPr>
        <p:blipFill>
          <a:blip xmlns:r="http://schemas.openxmlformats.org/officeDocument/2006/relationships" xmlns:a="http://schemas.openxmlformats.org/drawingml/2006/main" r:embed="R5fb36004ba64484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9C45CEE-419B-455D-8F24-A76CEE71DB9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12   24/24</a:t>
            </a:r>
          </a:p>
        </p:txBody>
      </p:sp>
      <p:sp>
        <p:nvSpPr>
          <p:cNvPr id="4" name="">
            <a:extLst xmlns:a="http://schemas.openxmlformats.org/drawingml/2006/main">
              <a:ext uri="{FF2B5EF4-FFF2-40B4-BE49-F238E27FC236}">
                <a16:creationId xmlns:a16="http://schemas.microsoft.com/office/drawing/2014/main" id="{712C3C4E-1DA7-46C6-BF33-BD2113270987}"/>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Cohete ensamblado, fotos, medidas y archivo revisado.</a:t>
            </a:r>
          </a:p>
        </p:txBody>
      </p:sp>
      <p:sp>
        <p:nvSpPr>
          <p:cNvPr id="5" name="">
            <a:extLst xmlns:a="http://schemas.openxmlformats.org/drawingml/2006/main">
              <a:ext uri="{FF2B5EF4-FFF2-40B4-BE49-F238E27FC236}">
                <a16:creationId xmlns:a16="http://schemas.microsoft.com/office/drawing/2014/main" id="{37B26C66-4609-4B2B-AF20-03A9CD350B53}"/>
              </a:ext>
            </a:extLst>
          </p:cNvPr>
          <p:cNvSpPr>
            <a:spLocks xmlns:a="http://schemas.openxmlformats.org/drawingml/2006/main" noGrp="1"/>
          </p:cNvSpPr>
          <p:nvPr/>
        </p:nvSpPr>
        <p:spPr>
          <a:xfrm xmlns:a="http://schemas.openxmlformats.org/drawingml/2006/main">
            <a:off x="590550" y="4314825"/>
            <a:ext cx="10715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Conserva la revisión del equipo y señala qué comprobación sigue pendiente.</a:t>
            </a:r>
          </a:p>
        </p:txBody>
      </p:sp>
    </p:spTree>
    <p:extLst>
      <p:ext uri="{BB962C8B-B14F-4D97-AF65-F5344CB8AC3E}">
        <p14:creationId xmlns:p14="http://schemas.microsoft.com/office/powerpoint/2010/main" val="12381596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2026-10-22T18:50:35.2880000Z</dcterms:created>
  <dcterms:modified xsi:type="dcterms:W3CDTF">2026-10-22T18:50:35.2880000Z</dcterms:modified>
</coreProperties>
</file>