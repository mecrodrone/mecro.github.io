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2.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19f1b575ff34450" /><Relationship Type="http://schemas.openxmlformats.org/officeDocument/2006/relationships/extended-properties" Target="/docProps/app.xml" Id="R5c95c920c99d4660" /><Relationship Type="http://schemas.openxmlformats.org/officeDocument/2006/relationships/officeDocument" Target="/ppt/presentation.xml" Id="R2acef3e6ed4b428f" /></Relationships>
</file>

<file path=ppt/presentation.xml><?xml version="1.0" encoding="utf-8"?>
<p:presentation xmlns:p="http://schemas.openxmlformats.org/presentationml/2006/main">
  <p:sldMasterIdLst>
    <p:sldMasterId xmlns:r="http://schemas.openxmlformats.org/officeDocument/2006/relationships" id="2147483648" r:id="R15f0f74f56a64d3e"/>
  </p:sldMasterIdLst>
  <p:notesMasterIdLst>
    <p:notesMasterId xmlns:r="http://schemas.openxmlformats.org/officeDocument/2006/relationships" r:id="R037590a7e4f2480b"/>
  </p:notesMasterIdLst>
  <p:sldIdLst>
    <p:sldId xmlns:r="http://schemas.openxmlformats.org/officeDocument/2006/relationships" id="256" r:id="R4e5b3e8c514f4d4f"/>
    <p:sldId xmlns:r="http://schemas.openxmlformats.org/officeDocument/2006/relationships" id="257" r:id="R10e8b4f567034454"/>
    <p:sldId xmlns:r="http://schemas.openxmlformats.org/officeDocument/2006/relationships" id="258" r:id="Rfc0b972f24e94806"/>
    <p:sldId xmlns:r="http://schemas.openxmlformats.org/officeDocument/2006/relationships" id="259" r:id="R713b0213959b45bc"/>
    <p:sldId xmlns:r="http://schemas.openxmlformats.org/officeDocument/2006/relationships" id="260" r:id="Rb3668880223849bb"/>
    <p:sldId xmlns:r="http://schemas.openxmlformats.org/officeDocument/2006/relationships" id="261" r:id="Rfc5f9eb9dd6445bc"/>
    <p:sldId xmlns:r="http://schemas.openxmlformats.org/officeDocument/2006/relationships" id="262" r:id="R454df80a72d04ea7"/>
    <p:sldId xmlns:r="http://schemas.openxmlformats.org/officeDocument/2006/relationships" id="263" r:id="Re99b6c762c3d4d51"/>
    <p:sldId xmlns:r="http://schemas.openxmlformats.org/officeDocument/2006/relationships" id="264" r:id="Rf7c9b178b4b44205"/>
    <p:sldId xmlns:r="http://schemas.openxmlformats.org/officeDocument/2006/relationships" id="265" r:id="Rd30d4ba8fc974f22"/>
    <p:sldId xmlns:r="http://schemas.openxmlformats.org/officeDocument/2006/relationships" id="266" r:id="Rdb66401a766b48c4"/>
    <p:sldId xmlns:r="http://schemas.openxmlformats.org/officeDocument/2006/relationships" id="267" r:id="R36b0e03dfa5c4266"/>
    <p:sldId xmlns:r="http://schemas.openxmlformats.org/officeDocument/2006/relationships" id="268" r:id="R4ca49a19d03f4cc3"/>
    <p:sldId xmlns:r="http://schemas.openxmlformats.org/officeDocument/2006/relationships" id="269" r:id="Rfe5774b73ae44f97"/>
    <p:sldId xmlns:r="http://schemas.openxmlformats.org/officeDocument/2006/relationships" id="270" r:id="Ra590745a66594870"/>
    <p:sldId xmlns:r="http://schemas.openxmlformats.org/officeDocument/2006/relationships" id="271" r:id="Ra1290879df004e3b"/>
    <p:sldId xmlns:r="http://schemas.openxmlformats.org/officeDocument/2006/relationships" id="272" r:id="R38571e516dc54149"/>
    <p:sldId xmlns:r="http://schemas.openxmlformats.org/officeDocument/2006/relationships" id="273" r:id="R038b50f98e734129"/>
    <p:sldId xmlns:r="http://schemas.openxmlformats.org/officeDocument/2006/relationships" id="274" r:id="R161294ba65534c58"/>
    <p:sldId xmlns:r="http://schemas.openxmlformats.org/officeDocument/2006/relationships" id="275" r:id="R8ad57ef175dd473d"/>
    <p:sldId xmlns:r="http://schemas.openxmlformats.org/officeDocument/2006/relationships" id="276" r:id="Rfb20940ee55c45ef"/>
    <p:sldId xmlns:r="http://schemas.openxmlformats.org/officeDocument/2006/relationships" id="277" r:id="R813f4623378244e7"/>
    <p:sldId xmlns:r="http://schemas.openxmlformats.org/officeDocument/2006/relationships" id="278" r:id="R690d8adaaa8144c4"/>
    <p:sldId xmlns:r="http://schemas.openxmlformats.org/officeDocument/2006/relationships" id="279" r:id="R9eacbc3914124b64"/>
    <p:sldId xmlns:r="http://schemas.openxmlformats.org/officeDocument/2006/relationships" id="280" r:id="R39190e0b59ae4b04"/>
    <p:sldId xmlns:r="http://schemas.openxmlformats.org/officeDocument/2006/relationships" id="281" r:id="R02ef003899c84db5"/>
    <p:sldId xmlns:r="http://schemas.openxmlformats.org/officeDocument/2006/relationships" id="282" r:id="Rd0009043785c4b91"/>
    <p:sldId xmlns:r="http://schemas.openxmlformats.org/officeDocument/2006/relationships" id="283" r:id="R71993216b1884989"/>
    <p:sldId xmlns:r="http://schemas.openxmlformats.org/officeDocument/2006/relationships" id="284" r:id="R6eb36198e2664368"/>
    <p:sldId xmlns:r="http://schemas.openxmlformats.org/officeDocument/2006/relationships" id="285" r:id="R618a9b83c7844b8d"/>
    <p:sldId xmlns:r="http://schemas.openxmlformats.org/officeDocument/2006/relationships" id="286" r:id="Rf9c967e41b8b4d52"/>
    <p:sldId xmlns:r="http://schemas.openxmlformats.org/officeDocument/2006/relationships" id="287" r:id="R740b3830848a4efa"/>
    <p:sldId xmlns:r="http://schemas.openxmlformats.org/officeDocument/2006/relationships" id="288" r:id="Rf40b9b6eec644c1d"/>
    <p:sldId xmlns:r="http://schemas.openxmlformats.org/officeDocument/2006/relationships" id="289" r:id="Rb68e7bf1857c48ef"/>
    <p:sldId xmlns:r="http://schemas.openxmlformats.org/officeDocument/2006/relationships" id="290" r:id="Raa7b3ecec7ef4b9f"/>
    <p:sldId xmlns:r="http://schemas.openxmlformats.org/officeDocument/2006/relationships" id="291" r:id="Rc49315e8c7a94bbb"/>
    <p:sldId xmlns:r="http://schemas.openxmlformats.org/officeDocument/2006/relationships" id="292" r:id="Rfa3fd7f19e8f4653"/>
    <p:sldId xmlns:r="http://schemas.openxmlformats.org/officeDocument/2006/relationships" id="293" r:id="Rab74952d637d4abc"/>
    <p:sldId xmlns:r="http://schemas.openxmlformats.org/officeDocument/2006/relationships" id="294" r:id="R2f8e9d24ed5b48d4"/>
    <p:sldId xmlns:r="http://schemas.openxmlformats.org/officeDocument/2006/relationships" id="295" r:id="R6954345a43474423"/>
    <p:sldId xmlns:r="http://schemas.openxmlformats.org/officeDocument/2006/relationships" id="296" r:id="R2a85d1955eb84034"/>
    <p:sldId xmlns:r="http://schemas.openxmlformats.org/officeDocument/2006/relationships" id="297" r:id="Rbba26de890df49fa"/>
    <p:sldId xmlns:r="http://schemas.openxmlformats.org/officeDocument/2006/relationships" id="298" r:id="Rbcd04836ee1e4372"/>
    <p:sldId xmlns:r="http://schemas.openxmlformats.org/officeDocument/2006/relationships" id="299" r:id="Rdf63eb5e0eed4697"/>
    <p:sldId xmlns:r="http://schemas.openxmlformats.org/officeDocument/2006/relationships" id="300" r:id="R55043a85342449ee"/>
    <p:sldId xmlns:r="http://schemas.openxmlformats.org/officeDocument/2006/relationships" id="301" r:id="Re642230cea3a4f82"/>
    <p:sldId xmlns:r="http://schemas.openxmlformats.org/officeDocument/2006/relationships" id="302" r:id="R1e57d2ed42d74fd3"/>
    <p:sldId xmlns:r="http://schemas.openxmlformats.org/officeDocument/2006/relationships" id="303" r:id="R43991cf1a2944865"/>
    <p:sldId xmlns:r="http://schemas.openxmlformats.org/officeDocument/2006/relationships" id="304" r:id="R9c427e8247d349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953861439049e6" /><Relationship Type="http://schemas.openxmlformats.org/officeDocument/2006/relationships/slideMaster" Target="/ppt/slideMasters/slideMaster1.xml" Id="R15f0f74f56a64d3e" /><Relationship Type="http://schemas.openxmlformats.org/officeDocument/2006/relationships/notesMaster" Target="/ppt/notesMasters/notesMaster1.xml" Id="R037590a7e4f2480b" /><Relationship Type="http://schemas.openxmlformats.org/officeDocument/2006/relationships/presProps" Target="/ppt/presProps.xml" Id="R520cb06cd4dd4560" /><Relationship Type="http://schemas.openxmlformats.org/officeDocument/2006/relationships/tableStyles" Target="/ppt/tableStyles.xml" Id="Ref2638db0c3c40a3" /><Relationship Type="http://schemas.openxmlformats.org/officeDocument/2006/relationships/slide" Target="/ppt/slides/slide1.xml" Id="R4e5b3e8c514f4d4f" /><Relationship Type="http://schemas.openxmlformats.org/officeDocument/2006/relationships/slide" Target="/ppt/slides/slide2.xml" Id="R10e8b4f567034454" /><Relationship Type="http://schemas.openxmlformats.org/officeDocument/2006/relationships/slide" Target="/ppt/slides/slide3.xml" Id="Rfc0b972f24e94806" /><Relationship Type="http://schemas.openxmlformats.org/officeDocument/2006/relationships/slide" Target="/ppt/slides/slide4.xml" Id="R713b0213959b45bc" /><Relationship Type="http://schemas.openxmlformats.org/officeDocument/2006/relationships/slide" Target="/ppt/slides/slide5.xml" Id="Rb3668880223849bb" /><Relationship Type="http://schemas.openxmlformats.org/officeDocument/2006/relationships/slide" Target="/ppt/slides/slide6.xml" Id="Rfc5f9eb9dd6445bc" /><Relationship Type="http://schemas.openxmlformats.org/officeDocument/2006/relationships/slide" Target="/ppt/slides/slide7.xml" Id="R454df80a72d04ea7" /><Relationship Type="http://schemas.openxmlformats.org/officeDocument/2006/relationships/slide" Target="/ppt/slides/slide8.xml" Id="Re99b6c762c3d4d51" /><Relationship Type="http://schemas.openxmlformats.org/officeDocument/2006/relationships/slide" Target="/ppt/slides/slide9.xml" Id="Rf7c9b178b4b44205" /><Relationship Type="http://schemas.openxmlformats.org/officeDocument/2006/relationships/slide" Target="/ppt/slides/slide10.xml" Id="Rd30d4ba8fc974f22" /><Relationship Type="http://schemas.openxmlformats.org/officeDocument/2006/relationships/slide" Target="/ppt/slides/slide11.xml" Id="Rdb66401a766b48c4" /><Relationship Type="http://schemas.openxmlformats.org/officeDocument/2006/relationships/slide" Target="/ppt/slides/slide12.xml" Id="R36b0e03dfa5c4266" /><Relationship Type="http://schemas.openxmlformats.org/officeDocument/2006/relationships/slide" Target="/ppt/slides/slide13.xml" Id="R4ca49a19d03f4cc3" /><Relationship Type="http://schemas.openxmlformats.org/officeDocument/2006/relationships/slide" Target="/ppt/slides/slide14.xml" Id="Rfe5774b73ae44f97" /><Relationship Type="http://schemas.openxmlformats.org/officeDocument/2006/relationships/slide" Target="/ppt/slides/slide15.xml" Id="Ra590745a66594870" /><Relationship Type="http://schemas.openxmlformats.org/officeDocument/2006/relationships/slide" Target="/ppt/slides/slide16.xml" Id="Ra1290879df004e3b" /><Relationship Type="http://schemas.openxmlformats.org/officeDocument/2006/relationships/slide" Target="/ppt/slides/slide17.xml" Id="R38571e516dc54149" /><Relationship Type="http://schemas.openxmlformats.org/officeDocument/2006/relationships/slide" Target="/ppt/slides/slide18.xml" Id="R038b50f98e734129" /><Relationship Type="http://schemas.openxmlformats.org/officeDocument/2006/relationships/slide" Target="/ppt/slides/slide19.xml" Id="R161294ba65534c58" /><Relationship Type="http://schemas.openxmlformats.org/officeDocument/2006/relationships/slide" Target="/ppt/slides/slide20.xml" Id="R8ad57ef175dd473d" /><Relationship Type="http://schemas.openxmlformats.org/officeDocument/2006/relationships/slide" Target="/ppt/slides/slide21.xml" Id="Rfb20940ee55c45ef" /><Relationship Type="http://schemas.openxmlformats.org/officeDocument/2006/relationships/slide" Target="/ppt/slides/slide22.xml" Id="R813f4623378244e7" /><Relationship Type="http://schemas.openxmlformats.org/officeDocument/2006/relationships/slide" Target="/ppt/slides/slide23.xml" Id="R690d8adaaa8144c4" /><Relationship Type="http://schemas.openxmlformats.org/officeDocument/2006/relationships/slide" Target="/ppt/slides/slide24.xml" Id="R9eacbc3914124b64" /><Relationship Type="http://schemas.openxmlformats.org/officeDocument/2006/relationships/slide" Target="/ppt/slides/slide25.xml" Id="R39190e0b59ae4b04" /><Relationship Type="http://schemas.openxmlformats.org/officeDocument/2006/relationships/slide" Target="/ppt/slides/slide26.xml" Id="R02ef003899c84db5" /><Relationship Type="http://schemas.openxmlformats.org/officeDocument/2006/relationships/slide" Target="/ppt/slides/slide27.xml" Id="Rd0009043785c4b91" /><Relationship Type="http://schemas.openxmlformats.org/officeDocument/2006/relationships/slide" Target="/ppt/slides/slide28.xml" Id="R71993216b1884989" /><Relationship Type="http://schemas.openxmlformats.org/officeDocument/2006/relationships/slide" Target="/ppt/slides/slide29.xml" Id="R6eb36198e2664368" /><Relationship Type="http://schemas.openxmlformats.org/officeDocument/2006/relationships/slide" Target="/ppt/slides/slide30.xml" Id="R618a9b83c7844b8d" /><Relationship Type="http://schemas.openxmlformats.org/officeDocument/2006/relationships/slide" Target="/ppt/slides/slide31.xml" Id="Rf9c967e41b8b4d52" /><Relationship Type="http://schemas.openxmlformats.org/officeDocument/2006/relationships/slide" Target="/ppt/slides/slide32.xml" Id="R740b3830848a4efa" /><Relationship Type="http://schemas.openxmlformats.org/officeDocument/2006/relationships/slide" Target="/ppt/slides/slide33.xml" Id="Rf40b9b6eec644c1d" /><Relationship Type="http://schemas.openxmlformats.org/officeDocument/2006/relationships/slide" Target="/ppt/slides/slide34.xml" Id="Rb68e7bf1857c48ef" /><Relationship Type="http://schemas.openxmlformats.org/officeDocument/2006/relationships/slide" Target="/ppt/slides/slide35.xml" Id="Raa7b3ecec7ef4b9f" /><Relationship Type="http://schemas.openxmlformats.org/officeDocument/2006/relationships/slide" Target="/ppt/slides/slide36.xml" Id="Rc49315e8c7a94bbb" /><Relationship Type="http://schemas.openxmlformats.org/officeDocument/2006/relationships/slide" Target="/ppt/slides/slide37.xml" Id="Rfa3fd7f19e8f4653" /><Relationship Type="http://schemas.openxmlformats.org/officeDocument/2006/relationships/slide" Target="/ppt/slides/slide38.xml" Id="Rab74952d637d4abc" /><Relationship Type="http://schemas.openxmlformats.org/officeDocument/2006/relationships/slide" Target="/ppt/slides/slide39.xml" Id="R2f8e9d24ed5b48d4" /><Relationship Type="http://schemas.openxmlformats.org/officeDocument/2006/relationships/slide" Target="/ppt/slides/slide40.xml" Id="R6954345a43474423" /><Relationship Type="http://schemas.openxmlformats.org/officeDocument/2006/relationships/slide" Target="/ppt/slides/slide41.xml" Id="R2a85d1955eb84034" /><Relationship Type="http://schemas.openxmlformats.org/officeDocument/2006/relationships/slide" Target="/ppt/slides/slide42.xml" Id="Rbba26de890df49fa" /><Relationship Type="http://schemas.openxmlformats.org/officeDocument/2006/relationships/slide" Target="/ppt/slides/slide43.xml" Id="Rbcd04836ee1e4372" /><Relationship Type="http://schemas.openxmlformats.org/officeDocument/2006/relationships/slide" Target="/ppt/slides/slide44.xml" Id="Rdf63eb5e0eed4697" /><Relationship Type="http://schemas.openxmlformats.org/officeDocument/2006/relationships/slide" Target="/ppt/slides/slide45.xml" Id="R55043a85342449ee" /><Relationship Type="http://schemas.openxmlformats.org/officeDocument/2006/relationships/slide" Target="/ppt/slides/slide46.xml" Id="Re642230cea3a4f82" /><Relationship Type="http://schemas.openxmlformats.org/officeDocument/2006/relationships/slide" Target="/ppt/slides/slide47.xml" Id="R1e57d2ed42d74fd3" /><Relationship Type="http://schemas.openxmlformats.org/officeDocument/2006/relationships/slide" Target="/ppt/slides/slide48.xml" Id="R43991cf1a2944865" /><Relationship Type="http://schemas.openxmlformats.org/officeDocument/2006/relationships/slide" Target="/ppt/slides/slide49.xml" Id="R9c427e8247d349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56645b619448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1a00db65254309" /><Relationship Type="http://schemas.openxmlformats.org/officeDocument/2006/relationships/notesMaster" Target="/ppt/notesMasters/notesMaster1.xml" Id="R5828de7cfb5f4b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f62480a59041fd" /><Relationship Type="http://schemas.openxmlformats.org/officeDocument/2006/relationships/notesMaster" Target="/ppt/notesMasters/notesMaster1.xml" Id="Rbbeed369a9b442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2f6894877442b2" /><Relationship Type="http://schemas.openxmlformats.org/officeDocument/2006/relationships/notesMaster" Target="/ppt/notesMasters/notesMaster1.xml" Id="R661c99a0bbed45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8ae50a9eba4c26" /><Relationship Type="http://schemas.openxmlformats.org/officeDocument/2006/relationships/notesMaster" Target="/ppt/notesMasters/notesMaster1.xml" Id="Rac33516b0e6440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4bfa76bb234ee4" /><Relationship Type="http://schemas.openxmlformats.org/officeDocument/2006/relationships/notesMaster" Target="/ppt/notesMasters/notesMaster1.xml" Id="R16a31074d1144e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ef6987d8f0412b" /><Relationship Type="http://schemas.openxmlformats.org/officeDocument/2006/relationships/notesMaster" Target="/ppt/notesMasters/notesMaster1.xml" Id="R44568de3f25143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6c499bf1034edf" /><Relationship Type="http://schemas.openxmlformats.org/officeDocument/2006/relationships/notesMaster" Target="/ppt/notesMasters/notesMaster1.xml" Id="R21afbd90a08d42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c9d8ba63b94e3d" /><Relationship Type="http://schemas.openxmlformats.org/officeDocument/2006/relationships/notesMaster" Target="/ppt/notesMasters/notesMaster1.xml" Id="R03b1787c7a984d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cfacb76648498a" /><Relationship Type="http://schemas.openxmlformats.org/officeDocument/2006/relationships/notesMaster" Target="/ppt/notesMasters/notesMaster1.xml" Id="Rb178a65120c24a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5a3f3f395642e7" /><Relationship Type="http://schemas.openxmlformats.org/officeDocument/2006/relationships/notesMaster" Target="/ppt/notesMasters/notesMaster1.xml" Id="R942b4c9f92034a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0ae09c1e634862" /><Relationship Type="http://schemas.openxmlformats.org/officeDocument/2006/relationships/notesMaster" Target="/ppt/notesMasters/notesMaster1.xml" Id="Rc823321d4dea41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75e8a101324a89" /><Relationship Type="http://schemas.openxmlformats.org/officeDocument/2006/relationships/notesMaster" Target="/ppt/notesMasters/notesMaster1.xml" Id="R1deef9e1bca64dc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9a92c1a83c4e3a" /><Relationship Type="http://schemas.openxmlformats.org/officeDocument/2006/relationships/notesMaster" Target="/ppt/notesMasters/notesMaster1.xml" Id="Re6cff52747774b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49d2f3931a544b5" /><Relationship Type="http://schemas.openxmlformats.org/officeDocument/2006/relationships/notesMaster" Target="/ppt/notesMasters/notesMaster1.xml" Id="R20c8792d37a5450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e4e023d28f415c" /><Relationship Type="http://schemas.openxmlformats.org/officeDocument/2006/relationships/notesMaster" Target="/ppt/notesMasters/notesMaster1.xml" Id="R755ccf3a29ab4b5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ce437000c1f4ff5" /><Relationship Type="http://schemas.openxmlformats.org/officeDocument/2006/relationships/notesMaster" Target="/ppt/notesMasters/notesMaster1.xml" Id="R38886b603db048b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107d7cf4e54b66" /><Relationship Type="http://schemas.openxmlformats.org/officeDocument/2006/relationships/notesMaster" Target="/ppt/notesMasters/notesMaster1.xml" Id="R0891dfdffd30451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3ead94668e249d5" /><Relationship Type="http://schemas.openxmlformats.org/officeDocument/2006/relationships/notesMaster" Target="/ppt/notesMasters/notesMaster1.xml" Id="R7296fc34e5a045e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ab901f3199a4985" /><Relationship Type="http://schemas.openxmlformats.org/officeDocument/2006/relationships/notesMaster" Target="/ppt/notesMasters/notesMaster1.xml" Id="Rc85e7153f774429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3baaedb0bdc42d8" /><Relationship Type="http://schemas.openxmlformats.org/officeDocument/2006/relationships/notesMaster" Target="/ppt/notesMasters/notesMaster1.xml" Id="R5d59804aaffc4d2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a1a4bf8cd0446c4" /><Relationship Type="http://schemas.openxmlformats.org/officeDocument/2006/relationships/notesMaster" Target="/ppt/notesMasters/notesMaster1.xml" Id="Rc896b4d11b88419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9c6c898d5ea4bba" /><Relationship Type="http://schemas.openxmlformats.org/officeDocument/2006/relationships/notesMaster" Target="/ppt/notesMasters/notesMaster1.xml" Id="Rae68fd41f71344b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58ff2462502477b" /><Relationship Type="http://schemas.openxmlformats.org/officeDocument/2006/relationships/notesMaster" Target="/ppt/notesMasters/notesMaster1.xml" Id="Rc54277fae4ab4b5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3d7dac5f94848ad" /><Relationship Type="http://schemas.openxmlformats.org/officeDocument/2006/relationships/notesMaster" Target="/ppt/notesMasters/notesMaster1.xml" Id="R0af6469ca7e444b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6071b2a27cb4d14" /><Relationship Type="http://schemas.openxmlformats.org/officeDocument/2006/relationships/notesMaster" Target="/ppt/notesMasters/notesMaster1.xml" Id="R2da04c20cc2e472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ce2bbfb0034432c" /><Relationship Type="http://schemas.openxmlformats.org/officeDocument/2006/relationships/notesMaster" Target="/ppt/notesMasters/notesMaster1.xml" Id="R74dbe9df741340e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ef3333de8894130" /><Relationship Type="http://schemas.openxmlformats.org/officeDocument/2006/relationships/notesMaster" Target="/ppt/notesMasters/notesMaster1.xml" Id="R08e7088032c0402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0302dfc23da4b59" /><Relationship Type="http://schemas.openxmlformats.org/officeDocument/2006/relationships/notesMaster" Target="/ppt/notesMasters/notesMaster1.xml" Id="R5a58cc69028d4e7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1b496c8b2c1483c" /><Relationship Type="http://schemas.openxmlformats.org/officeDocument/2006/relationships/notesMaster" Target="/ppt/notesMasters/notesMaster1.xml" Id="R462668fac220430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ca401bca27f46eb" /><Relationship Type="http://schemas.openxmlformats.org/officeDocument/2006/relationships/notesMaster" Target="/ppt/notesMasters/notesMaster1.xml" Id="R3ccf9896d72a403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ca9518d161e4673" /><Relationship Type="http://schemas.openxmlformats.org/officeDocument/2006/relationships/notesMaster" Target="/ppt/notesMasters/notesMaster1.xml" Id="R6684286f48254d9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d56f4baf0d74071" /><Relationship Type="http://schemas.openxmlformats.org/officeDocument/2006/relationships/notesMaster" Target="/ppt/notesMasters/notesMaster1.xml" Id="R665dc12cce7a44b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bc24c4803d64404" /><Relationship Type="http://schemas.openxmlformats.org/officeDocument/2006/relationships/notesMaster" Target="/ppt/notesMasters/notesMaster1.xml" Id="R08e23dcd0a144b6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621d7745b85423c" /><Relationship Type="http://schemas.openxmlformats.org/officeDocument/2006/relationships/notesMaster" Target="/ppt/notesMasters/notesMaster1.xml" Id="R06ae21414d28434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cd604f245434ec5" /><Relationship Type="http://schemas.openxmlformats.org/officeDocument/2006/relationships/notesMaster" Target="/ppt/notesMasters/notesMaster1.xml" Id="R13e6c5eba2e14b2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c932163b47a4f4a" /><Relationship Type="http://schemas.openxmlformats.org/officeDocument/2006/relationships/notesMaster" Target="/ppt/notesMasters/notesMaster1.xml" Id="Rb1275841caaa416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6489eac161a49aa" /><Relationship Type="http://schemas.openxmlformats.org/officeDocument/2006/relationships/notesMaster" Target="/ppt/notesMasters/notesMaster1.xml" Id="Rf61e100ecbc34de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f66b6be69c1442f" /><Relationship Type="http://schemas.openxmlformats.org/officeDocument/2006/relationships/notesMaster" Target="/ppt/notesMasters/notesMaster1.xml" Id="Rb1f41c000749476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3f94d373c5745a1" /><Relationship Type="http://schemas.openxmlformats.org/officeDocument/2006/relationships/notesMaster" Target="/ppt/notesMasters/notesMaster1.xml" Id="Ra02756a7b56e4cf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a1616af1d2b475d" /><Relationship Type="http://schemas.openxmlformats.org/officeDocument/2006/relationships/notesMaster" Target="/ppt/notesMasters/notesMaster1.xml" Id="R8543241832e84f4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3d8cbae5e99429f" /><Relationship Type="http://schemas.openxmlformats.org/officeDocument/2006/relationships/notesMaster" Target="/ppt/notesMasters/notesMaster1.xml" Id="Re06299760bd84bf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aceeb9fa89c4ab0" /><Relationship Type="http://schemas.openxmlformats.org/officeDocument/2006/relationships/notesMaster" Target="/ppt/notesMasters/notesMaster1.xml" Id="R0d78832999214ff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4b624d58b47463e" /><Relationship Type="http://schemas.openxmlformats.org/officeDocument/2006/relationships/notesMaster" Target="/ppt/notesMasters/notesMaster1.xml" Id="R848bdf500da9472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77e482e568c4b2b" /><Relationship Type="http://schemas.openxmlformats.org/officeDocument/2006/relationships/notesMaster" Target="/ppt/notesMasters/notesMaster1.xml" Id="Ra478ba2c89ae43f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c625716104e4964" /><Relationship Type="http://schemas.openxmlformats.org/officeDocument/2006/relationships/notesMaster" Target="/ppt/notesMasters/notesMaster1.xml" Id="Rb853f8613ae24ec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391c5d3f880441d" /><Relationship Type="http://schemas.openxmlformats.org/officeDocument/2006/relationships/notesMaster" Target="/ppt/notesMasters/notesMaster1.xml" Id="R7903af7f83c74a9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54cd07926ee413c" /><Relationship Type="http://schemas.openxmlformats.org/officeDocument/2006/relationships/notesMaster" Target="/ppt/notesMasters/notesMaster1.xml" Id="Rbcb34c74a2da4f4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df633ef9c234867" /><Relationship Type="http://schemas.openxmlformats.org/officeDocument/2006/relationships/notesMaster" Target="/ppt/notesMasters/notesMaster1.xml" Id="R0677aeb1e185491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5afd8b8b0284ca1" /><Relationship Type="http://schemas.openxmlformats.org/officeDocument/2006/relationships/notesMaster" Target="/ppt/notesMasters/notesMaster1.xml" Id="R964fdb6d4eb94f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Tu primer cohete</a:t>
            </a:r>
          </a:p>
          <a:p xmlns:a="http://schemas.openxmlformats.org/drawingml/2006/main">
            <a:r>
              <a:t>Minutos 0 a 2: 2 minutos.</a:t>
            </a:r>
          </a:p>
          <a:p xmlns:a="http://schemas.openxmlformats.org/drawingml/2006/main">
            <a:r>
              <a:t/>
            </a:r>
          </a:p>
          <a:p xmlns:a="http://schemas.openxmlformats.org/drawingml/2006/main">
            <a:r>
              <a:t>Mostrar un cohete de modelismo pequeño completo y después sus piezas separadas. Explicar que el trabajo será por equipos. Mantener el motor comercial fuera de la demostración de montaje de esta clase.</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Lo que tendrá tu equipo al terminar hoy</a:t>
            </a:r>
          </a:p>
          <a:p xmlns:a="http://schemas.openxmlformats.org/drawingml/2006/main">
            <a:r>
              <a:t>Minutos 2 a 5: 3 minutos.</a:t>
            </a:r>
          </a:p>
          <a:p xmlns:a="http://schemas.openxmlformats.org/drawingml/2006/main">
            <a:r>
              <a:t/>
            </a:r>
          </a:p>
          <a:p xmlns:a="http://schemas.openxmlformats.org/drawingml/2006/main">
            <a:r>
              <a:t>Pedir que cada equipo guarde una carpeta propia. Mostrar al inicio la entrega para que se entienda por qué se tomarán medidas. La primera geometría no es todavía un modelo de vuelo terminado.</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Un cohete desarmado sobre la mesa</a:t>
            </a:r>
          </a:p>
          <a:p xmlns:a="http://schemas.openxmlformats.org/drawingml/2006/main">
            <a:r>
              <a:t>Minutos 5 a 10: 5 minutos.</a:t>
            </a:r>
          </a:p>
          <a:p xmlns:a="http://schemas.openxmlformats.org/drawingml/2006/main">
            <a:r>
              <a:t/>
            </a:r>
          </a:p>
          <a:p xmlns:a="http://schemas.openxmlformats.org/drawingml/2006/main">
            <a:r>
              <a:t>Mostrar las piezas físicas del demostrador, si están disponibles. Si la sesión es en línea, usar cámara cercana y la ilustración como apoyo. Traducir nose cone, body tube, fins y parachute señalando cada zona. No leer todos los rótulos de corrido.</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Cada pieza resuelve una necesidad</a:t>
            </a:r>
          </a:p>
          <a:p xmlns:a="http://schemas.openxmlformats.org/drawingml/2006/main">
            <a:r>
              <a:t>Minutos 10 a 14: 4 minutos.</a:t>
            </a:r>
          </a:p>
          <a:p xmlns:a="http://schemas.openxmlformats.org/drawingml/2006/main">
            <a:r>
              <a:t/>
            </a:r>
          </a:p>
          <a:p xmlns:a="http://schemas.openxmlformats.org/drawingml/2006/main">
            <a:r>
              <a:t>Dejar que el alumnado complete verbalmente la función antes de leerla. Añadir que el soporte transmite las cargas del motor comercial al cuerpo. Distinguir las superficies estabilizadoras de un ala que sostenga un avión.</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Actividad: ¿qué ocurriría si faltara?</a:t>
            </a:r>
          </a:p>
          <a:p xmlns:a="http://schemas.openxmlformats.org/drawingml/2006/main">
            <a:r>
              <a:t>Minutos 14 a 19: 5 minutos.</a:t>
            </a:r>
          </a:p>
          <a:p xmlns:a="http://schemas.openxmlformats.org/drawingml/2006/main">
            <a:r>
              <a:t/>
            </a:r>
          </a:p>
          <a:p xmlns:a="http://schemas.openxmlformats.org/drawingml/2006/main">
            <a:r>
              <a:t>Dos minutos de conversación y tres de respuestas. Esperar ejemplos como falta de alineación, imposibilidad de cerrar o falta de recuperación. Si la respuesta es “no vuela”, pedir que se detalle por qué.</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La nariz tiene dos zonas diferentes</a:t>
            </a:r>
          </a:p>
          <a:p xmlns:a="http://schemas.openxmlformats.org/drawingml/2006/main">
            <a:r>
              <a:t>Minutos 19 a 24: 5 minutos.</a:t>
            </a:r>
          </a:p>
          <a:p xmlns:a="http://schemas.openxmlformats.org/drawingml/2006/main">
            <a:r>
              <a:t/>
            </a:r>
          </a:p>
          <a:p xmlns:a="http://schemas.openxmlformats.org/drawingml/2006/main">
            <a:r>
              <a:t>Sostener una nariz y señalar base exterior y hombro. En pantalla localizar la pestaña Shoulder. Preguntar cuál de las dos zonas debe relacionarse con el diámetro interior del tubo. No introducir todavía coeficientes aerodinámicos.</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Fuentes</a:t>
            </a:r>
          </a:p>
          <a:p xmlns:a="http://schemas.openxmlformats.org/drawingml/2006/main">
            <a:r>
              <a:t>OpenRocket. Basic Rocket Design. https://openrocket.readthedocs.io/en/latest/user_guide/basic_rocket_design.html</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Formas de nariz que vamos a comparar</a:t>
            </a:r>
          </a:p>
          <a:p xmlns:a="http://schemas.openxmlformats.org/drawingml/2006/main">
            <a:r>
              <a:t>Minutos 24 a 28: 4 minutos.</a:t>
            </a:r>
          </a:p>
          <a:p xmlns:a="http://schemas.openxmlformats.org/drawingml/2006/main">
            <a:r>
              <a:t/>
            </a:r>
          </a:p>
          <a:p xmlns:a="http://schemas.openxmlformats.org/drawingml/2006/main">
            <a:r>
              <a:t>Dibujar con la mano o mostrar piezas existentes para reconocer cada perfil. Aclarar que la tabla no ordena las formas de mejor a peor. En clase 2 se hará su comparación sobre el mismo cuerpo y con un proceso de fabricación definido.</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Fuentes</a:t>
            </a:r>
          </a:p>
          <a:p xmlns:a="http://schemas.openxmlformats.org/drawingml/2006/main">
            <a:r>
              <a:t>OpenRocket. Basic Rocket Design. https://openrocket.readthedocs.io/en/latest/user_guide/basic_rocket_design.html</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 tubo que tenemos define varias decisiones</a:t>
            </a:r>
          </a:p>
          <a:p xmlns:a="http://schemas.openxmlformats.org/drawingml/2006/main">
            <a:r>
              <a:t>Minutos 28 a 32: 4 minutos.</a:t>
            </a:r>
          </a:p>
          <a:p xmlns:a="http://schemas.openxmlformats.org/drawingml/2006/main">
            <a:r>
              <a:t/>
            </a:r>
          </a:p>
          <a:p xmlns:a="http://schemas.openxmlformats.org/drawingml/2006/main">
            <a:r>
              <a:t>Mostrar el tubo disponible o una muestra de referencia. Pedir que distingan una medida que pueden tomar ahora de un espacio que deben reservar para una pieza futura. Explicar que el CAD se adapta al material real.</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Diámetro exterior, interior y espesor</a:t>
            </a:r>
          </a:p>
          <a:p xmlns:a="http://schemas.openxmlformats.org/drawingml/2006/main">
            <a:r>
              <a:t>Minutos 32 a 37: 5 minutos.</a:t>
            </a:r>
          </a:p>
          <a:p xmlns:a="http://schemas.openxmlformats.org/drawingml/2006/main">
            <a:r>
              <a:t/>
            </a:r>
          </a:p>
          <a:p xmlns:a="http://schemas.openxmlformats.org/drawingml/2006/main">
            <a:r>
              <a:t>Primero preguntar si el espesor será 2 o 1 mm. Explicar que la diferencia de diámetros atraviesa dos paredes. Mostrar la medición sin apretar un tubo flexible. Pedir que otro alumno reconstruya el cálculo.</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Actividad: medir sin inventar datos</a:t>
            </a:r>
          </a:p>
          <a:p xmlns:a="http://schemas.openxmlformats.org/drawingml/2006/main">
            <a:r>
              <a:t>Minutos 37 a 44: 7 minutos.</a:t>
            </a:r>
          </a:p>
          <a:p xmlns:a="http://schemas.openxmlformats.org/drawingml/2006/main">
            <a:r>
              <a:t/>
            </a:r>
          </a:p>
          <a:p xmlns:a="http://schemas.openxmlformats.org/drawingml/2006/main">
            <a:r>
              <a:t>La modalidad base es en línea. Los equipos con muestras miden en casa; los demás registran la demostración como “medida del demostrador”, nunca como medida propia. Dar tiempo para observar las mordazas del calibrador y las unidades.</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 encaje se prueba antes de imprimir todo</a:t>
            </a:r>
          </a:p>
          <a:p xmlns:a="http://schemas.openxmlformats.org/drawingml/2006/main">
            <a:r>
              <a:t>Minutos 44 a 49: 5 minutos.</a:t>
            </a:r>
          </a:p>
          <a:p xmlns:a="http://schemas.openxmlformats.org/drawingml/2006/main">
            <a:r>
              <a:t/>
            </a:r>
          </a:p>
          <a:p xmlns:a="http://schemas.openxmlformats.org/drawingml/2006/main">
            <a:r>
              <a:t>Explicar la diferencia entre holgura diametral y radial. Aclarar que no se propone una tolerancia universal. Mostrar o anunciar muestras cortas de encaje para el primer taller. Registrar si entran, se traban o tienen juego excesivo.</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Las aletas deben repetirse y quedar alineadas</a:t>
            </a:r>
          </a:p>
          <a:p xmlns:a="http://schemas.openxmlformats.org/drawingml/2006/main">
            <a:r>
              <a:t>Minutos 49 a 53: 4 minutos.</a:t>
            </a:r>
          </a:p>
          <a:p xmlns:a="http://schemas.openxmlformats.org/drawingml/2006/main">
            <a:r>
              <a:t/>
            </a:r>
          </a:p>
          <a:p xmlns:a="http://schemas.openxmlformats.org/drawingml/2006/main">
            <a:r>
              <a:t>Mostrar un conjunto correcto y un ejemplo de desalineación sin pegar. Preguntar qué diferencia se ve desde atrás y cuál desde un lateral. Conectar el útil de alineación que se diseñará más adelante con una necesidad real.</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Los nombres de una aleta trapezoidal</a:t>
            </a:r>
          </a:p>
          <a:p xmlns:a="http://schemas.openxmlformats.org/drawingml/2006/main">
            <a:r>
              <a:t>Minutos 53 a 58: 5 minutos.</a:t>
            </a:r>
          </a:p>
          <a:p xmlns:a="http://schemas.openxmlformats.org/drawingml/2006/main">
            <a:r>
              <a:t/>
            </a:r>
          </a:p>
          <a:p xmlns:a="http://schemas.openxmlformats.org/drawingml/2006/main">
            <a:r>
              <a:t>Señalar estos elementos en una pieza o recorte, sin escribir fórmulas. Pedir que un participante indique qué medida aumentaría la distancia entre el cuerpo y la punta. La respuesta es semienvergadura, no longitud de raíz.</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Qué imprimir y qué comprar</a:t>
            </a:r>
          </a:p>
          <a:p xmlns:a="http://schemas.openxmlformats.org/drawingml/2006/main">
            <a:r>
              <a:t>Minutos 58 a 63: 5 minutos.</a:t>
            </a:r>
          </a:p>
          <a:p xmlns:a="http://schemas.openxmlformats.org/drawingml/2006/main">
            <a:r>
              <a:t/>
            </a:r>
          </a:p>
          <a:p xmlns:a="http://schemas.openxmlformats.org/drawingml/2006/main">
            <a:r>
              <a:t>Presentar estas opciones como punto de partida del proyecto. No asignar una condición de vuelo sin revisar el conjunto. Preguntar qué ventaja tendría imprimir un útil, aunque después las aletas sean de madera.</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 nombre del material no basta</a:t>
            </a:r>
          </a:p>
          <a:p xmlns:a="http://schemas.openxmlformats.org/drawingml/2006/main">
            <a:r>
              <a:t>Minutos 63 a 67: 4 minutos.</a:t>
            </a:r>
          </a:p>
          <a:p xmlns:a="http://schemas.openxmlformats.org/drawingml/2006/main">
            <a:r>
              <a:t/>
            </a:r>
          </a:p>
          <a:p xmlns:a="http://schemas.openxmlformats.org/drawingml/2006/main">
            <a:r>
              <a:t>Usar muestras si existen. Evitar “carbono siempre es mejor” o “PETG siempre es más fuerte”. Anunciar que el análisis de compuestos se hará sobre piezas y fichas reales en clase 10, sin convertir esta introducción en resistencia de materiales.</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Ocho gramos pueden importar mucho</a:t>
            </a:r>
          </a:p>
          <a:p xmlns:a="http://schemas.openxmlformats.org/drawingml/2006/main">
            <a:r>
              <a:t>Minutos 67 a 72: 5 minutos.</a:t>
            </a:r>
          </a:p>
          <a:p xmlns:a="http://schemas.openxmlformats.org/drawingml/2006/main">
            <a:r>
              <a:t/>
            </a:r>
          </a:p>
          <a:p xmlns:a="http://schemas.openxmlformats.org/drawingml/2006/main">
            <a:r>
              <a:t>Pedir primero el subtotal nuevo y luego el porcentaje. Aclarar que faltan componentes finales y el motor. Este cálculo no da altura ni masa de despegue. Su propósito es justificar que cada pieza se pese y se actualice el modelo.</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OpenRocket: árbol, componentes y vista</a:t>
            </a:r>
          </a:p>
          <a:p xmlns:a="http://schemas.openxmlformats.org/drawingml/2006/main">
            <a:r>
              <a:t>Minutos 72 a 76: 4 minutos.</a:t>
            </a:r>
          </a:p>
          <a:p xmlns:a="http://schemas.openxmlformats.org/drawingml/2006/main">
            <a:r>
              <a:t/>
            </a:r>
          </a:p>
          <a:p xmlns:a="http://schemas.openxmlformats.org/drawingml/2006/main">
            <a:r>
              <a:t>Abrir OpenRocket en la demostración y localizar las tres zonas. Si la instalación falla en un equipo, ese equipo documenta el modelo con su compañero. No cambiar esta clase por una instalación de dos horas. Registrar la versión utilizada.</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 modelo de aula mide 35 cm</a:t>
            </a:r>
          </a:p>
          <a:p xmlns:a="http://schemas.openxmlformats.org/drawingml/2006/main">
            <a:r>
              <a:t>Minutos 76 a 80: 4 minutos.</a:t>
            </a:r>
          </a:p>
          <a:p xmlns:a="http://schemas.openxmlformats.org/drawingml/2006/main">
            <a:r>
              <a:t/>
            </a:r>
          </a:p>
          <a:p xmlns:a="http://schemas.openxmlformats.org/drawingml/2006/main">
            <a:r>
              <a:t>Distinguir datos de ejercicio y medidas reales. Este modelo solo representa geometría exterior. Falta el conjunto completo de soporte, motor comercial y recuperación. No presentar sus medidas como un diseño listo para volar.</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Práctica 1: crear y guardar la nariz</a:t>
            </a:r>
          </a:p>
          <a:p xmlns:a="http://schemas.openxmlformats.org/drawingml/2006/main">
            <a:r>
              <a:t>Minutos 80 a 87: 7 minutos.</a:t>
            </a:r>
          </a:p>
          <a:p xmlns:a="http://schemas.openxmlformats.org/drawingml/2006/main">
            <a:r>
              <a:t/>
            </a:r>
          </a:p>
          <a:p xmlns:a="http://schemas.openxmlformats.org/drawingml/2006/main">
            <a:r>
              <a:t>Demostrar un paso y esperar a los equipos. Pedir una confirmación visual de la nariz antes de seguir. Localizar Shoulder, pero dejar la geometría interior pendiente si no se ha medido. No exigir al alumnado resolver el encaje final en esta primera práctica.</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Fuentes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Práctica 2: añadir un cuerpo hueco</a:t>
            </a:r>
          </a:p>
          <a:p xmlns:a="http://schemas.openxmlformats.org/drawingml/2006/main">
            <a:r>
              <a:t>Minutos 87 a 94: 7 minutos.</a:t>
            </a:r>
          </a:p>
          <a:p xmlns:a="http://schemas.openxmlformats.org/drawingml/2006/main">
            <a:r>
              <a:t/>
            </a:r>
          </a:p>
          <a:p xmlns:a="http://schemas.openxmlformats.org/drawingml/2006/main">
            <a:r>
              <a:t>Pedir a los equipos que expliquen por qué el interior es 30 y no 31 mm. Comprobar continuidad de nariz y tubo en el dibujo. Si el material de la nariz no está disponible, marcar la masa como estimación y documentarlo. Nunca ajustar masas para forzar una altura.</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Fuentes</a:t>
            </a:r>
          </a:p>
          <a:p xmlns:a="http://schemas.openxmlformats.org/drawingml/2006/main">
            <a:r>
              <a:t>OpenRocket. Basic Rocket Design. https://openrocket.readthedocs.io/en/latest/user_guide/basic_rocket_design.html</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Práctica 3: añadir las aletas</a:t>
            </a:r>
          </a:p>
          <a:p xmlns:a="http://schemas.openxmlformats.org/drawingml/2006/main">
            <a:r>
              <a:t>Minutos 94 a 101: 7 minutos.</a:t>
            </a:r>
          </a:p>
          <a:p xmlns:a="http://schemas.openxmlformats.org/drawingml/2006/main">
            <a:r>
              <a:t/>
            </a:r>
          </a:p>
          <a:p xmlns:a="http://schemas.openxmlformats.org/drawingml/2006/main">
            <a:r>
              <a:t>Recordar que estas son dimensiones de interfaz, no una geometría aprobada para vuelo. No fijar el signo del desplazamiento sin comprobar la referencia de la versión instalada. El borde posterior de la raíz debe coincidir con el extremo del tubo en el ejercicio.</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Fuentes</a:t>
            </a:r>
          </a:p>
          <a:p xmlns:a="http://schemas.openxmlformats.org/drawingml/2006/main">
            <a:r>
              <a:t>OpenRocket. Basic Rocket Design. https://openrocket.readthedocs.io/en/latest/user_guide/basic_rocket_design.html</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Actividad: revisar lateral y vista posterior</a:t>
            </a:r>
          </a:p>
          <a:p xmlns:a="http://schemas.openxmlformats.org/drawingml/2006/main">
            <a:r>
              <a:t>Minutos 101 a 108: 7 minutos.</a:t>
            </a:r>
          </a:p>
          <a:p xmlns:a="http://schemas.openxmlformats.org/drawingml/2006/main">
            <a:r>
              <a:t/>
            </a:r>
          </a:p>
          <a:p xmlns:a="http://schemas.openxmlformats.org/drawingml/2006/main">
            <a:r>
              <a:t>Dar dos minutos para guardar y cuatro para revisión entre equipos. Solicitar vista posterior. Tres aletas equiespaciadas se separan 120 grados. La revisión del contorno no sustituye la de masa, soporte y recuperación que llegará después.</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Fuentes</a:t>
            </a:r>
          </a:p>
          <a:p xmlns:a="http://schemas.openxmlformats.org/drawingml/2006/main">
            <a:r>
              <a:t>OpenRocket. Basic Rocket Design. https://openrocket.readthedocs.io/en/latest/user_guide/basic_rocket_design.html</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Los indicadores CG y CP aparecerán en pantalla</a:t>
            </a:r>
          </a:p>
          <a:p xmlns:a="http://schemas.openxmlformats.org/drawingml/2006/main">
            <a:r>
              <a:t>Minutos 108 a 112: 4 minutos.</a:t>
            </a:r>
          </a:p>
          <a:p xmlns:a="http://schemas.openxmlformats.org/drawingml/2006/main">
            <a:r>
              <a:t/>
            </a:r>
          </a:p>
          <a:p xmlns:a="http://schemas.openxmlformats.org/drawingml/2006/main">
            <a:r>
              <a:t>No empezar una derivación de momentos. Mostrar equilibrio de una maqueta inerte para CG. Explicar que CP no se mide con la balanza. Si faltan piezas o materiales, los indicadores no describen el conjunto final de vuelo.</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CAD, OpenRocket, openMotor y RockSim</a:t>
            </a:r>
          </a:p>
          <a:p xmlns:a="http://schemas.openxmlformats.org/drawingml/2006/main">
            <a:r>
              <a:t>Minutos 112 a 116: 4 minutos.</a:t>
            </a:r>
          </a:p>
          <a:p xmlns:a="http://schemas.openxmlformats.org/drawingml/2006/main">
            <a:r>
              <a:t/>
            </a:r>
          </a:p>
          <a:p xmlns:a="http://schemas.openxmlformats.org/drawingml/2006/main">
            <a:r>
              <a:t>Explicar por qué no se usan indistintamente. openMotor se trabaja como lectura conceptual del modelo de motor; los equipos emplean motores comerciales. Los archivos de vuelo se crean y ejecutan durante las prácticas con el conjunto real.</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openMotor. Repositorio y descripción del programa. https://github.com/reilleya/openMotor</a:t>
            </a:r>
          </a:p>
          <a:p xmlns:a="http://schemas.openxmlformats.org/drawingml/2006/main">
            <a:r>
              <a:t>Apogee Components. Creating Your First Design. https://www.apogeerockets.com/RockSim/Help_Message_3</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Entrega del equipo y siguiente clase</a:t>
            </a:r>
          </a:p>
          <a:p xmlns:a="http://schemas.openxmlformats.org/drawingml/2006/main">
            <a:r>
              <a:t>Minutos 116 a 120: 4 minutos.</a:t>
            </a:r>
          </a:p>
          <a:p xmlns:a="http://schemas.openxmlformats.org/drawingml/2006/main">
            <a:r>
              <a:t/>
            </a:r>
          </a:p>
          <a:p xmlns:a="http://schemas.openxmlformats.org/drawingml/2006/main">
            <a:r>
              <a:t>Recoger respuestas orales antes de cerrar. Respuestas: base exterior y hombro interior cumplen funciones distintas; una sección cruza dos paredes; faltan soporte, recuperación, motor y masas definitivas, entre otros. En clase 2 se revisan formas de nariz y encajes.</a:t>
            </a:r>
          </a:p>
          <a:p xmlns:a="http://schemas.openxmlformats.org/drawingml/2006/main">
            <a:r>
              <a:t/>
            </a:r>
          </a:p>
          <a:p xmlns:a="http://schemas.openxmlformats.org/drawingml/2006/main">
            <a:r>
              <a:t>Lectura: MECRO_Coheteria_Clase_01.pdf. Guía: MECRO_Guia_Docente_Coheteria.pdf.</a:t>
            </a:r>
          </a:p>
          <a:p xmlns:a="http://schemas.openxmlformats.org/drawingml/2006/main">
            <a:r>
              <a:t/>
            </a:r>
          </a:p>
          <a:p xmlns:a="http://schemas.openxmlformats.org/drawingml/2006/main">
            <a:r>
              <a:t>Las capturas proceden de la documentación y muestran sus ejemplos. El alumnado crea su archivo durante la clase. La maqueta de aula representa geometría exterior incompleta.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3 min.</a:t>
            </a:r>
          </a:p>
          <a:p xmlns:a="http://schemas.openxmlformats.org/drawingml/2006/main">
            <a:r>
              <a:t/>
            </a:r>
          </a:p>
          <a:p xmlns:a="http://schemas.openxmlformats.org/drawingml/2006/main">
            <a:r>
              <a:t>Muestra dos narices y pregunta cuál elegirían para un primer taller y por qué.</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4 min.</a:t>
            </a:r>
          </a:p>
          <a:p xmlns:a="http://schemas.openxmlformats.org/drawingml/2006/main">
            <a:r>
              <a:t/>
            </a:r>
          </a:p>
          <a:p xmlns:a="http://schemas.openxmlformats.org/drawingml/2006/main">
            <a:r>
              <a:t>Un cohete puede parecerse a otro y tener un propósito diferente. En nuestro proyecto importa aprender a construir, revisar y recuperar el conjunto. Una demostración científica añade sensores y datos. Un cohete de sondeo es un vehículo de investigación de trayectoria suborbital; no debe confundirse con un lanzador que coloca una carga en órbita. Llevar electrónica tampoco convierte automáticamente un modelo de aula en un vehículo espacial.</a:t>
            </a:r>
          </a:p>
          <a:p xmlns:a="http://schemas.openxmlformats.org/drawingml/2006/main">
            <a:r>
              <a:t/>
            </a:r>
          </a:p>
          <a:p xmlns:a="http://schemas.openxmlformats.org/drawingml/2006/main">
            <a:r>
              <a:t>En la nomenclatura de modelismo, la letra del motor identifica un intervalo de impulso total. El impulso describe empuje acumulado durante un tiempo y se expresa en N·s. No es energía, que se expresa en joules. Un motor de clase C no necesita un cohete de una longitud fija y dos motores con la misma letra pueden tener curvas de empuje distintas.</a:t>
            </a:r>
          </a:p>
          <a:p xmlns:a="http://schemas.openxmlformats.org/drawingml/2006/main">
            <a:r>
              <a:t/>
            </a:r>
          </a:p>
          <a:p xmlns:a="http://schemas.openxmlformats.org/drawingml/2006/main">
            <a:r>
              <a:t>NAR agrupa habitualmente A–D como baja potencia y E–G como potencia media. La alta potencia tiene otros criterios y certificaciones, con excepciones. Es una referencia del modelismo estadounidense; no establece permisos locales ni clasifica por centímetros. [CAT, HPR]</a:t>
            </a:r>
          </a:p>
          <a:p xmlns:a="http://schemas.openxmlformats.org/drawingml/2006/main">
            <a:r>
              <a:t/>
            </a:r>
          </a:p>
          <a:p xmlns:a="http://schemas.openxmlformats.org/drawingml/2006/main">
            <a:r>
              <a:t>Una misión se puede escribir como una tarea observable. “Aprender cohetería” es una intención amplia. “Construir en equipo, desmontar la nariz y explicar dónde se guarda la recuperación” permite decidir qué se necesita. El equipo puede dibujar esas funciones junto a una vista del cohete. Si una forma exterior deja de permitir una de ellas, hay una incompatibilidad que resolver antes de discutir cuál parece más moderna. El tamaño pequeño facilita la fabricación, pero no sustituye esta definición de la misión.</a:t>
            </a:r>
          </a:p>
          <a:p xmlns:a="http://schemas.openxmlformats.org/drawingml/2006/main">
            <a:r>
              <a:t>Pregunta para el grupo: ¿La longitud del cohete basta para clasificar su motor?</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4 min.</a:t>
            </a:r>
          </a:p>
          <a:p xmlns:a="http://schemas.openxmlformats.org/drawingml/2006/main">
            <a:r>
              <a:t/>
            </a:r>
          </a:p>
          <a:p xmlns:a="http://schemas.openxmlformats.org/drawingml/2006/main">
            <a:r>
              <a:t>Criterio / Ejemplos / En nuestro curso</a:t>
            </a:r>
          </a:p>
          <a:p xmlns:a="http://schemas.openxmlformats.org/drawingml/2006/main">
            <a:r>
              <a:t>Propósito / Aprendizaje, recreación, instrumentación / Aprendizaje; CanSat docente</a:t>
            </a:r>
          </a:p>
          <a:p xmlns:a="http://schemas.openxmlformats.org/drawingml/2006/main">
            <a:r>
              <a:t>Arquitectura / Una etapa, varias etapas, varios motores / Una etapa y un motor comercial</a:t>
            </a:r>
          </a:p>
          <a:p xmlns:a="http://schemas.openxmlformats.org/drawingml/2006/main">
            <a:r>
              <a:t>Clases de motor / Letras de impulso total / Leer la ficha del motor elegido</a:t>
            </a:r>
          </a:p>
          <a:p xmlns:a="http://schemas.openxmlformats.org/drawingml/2006/main">
            <a:r>
              <a:t>Material y tamaño / Tubos, piezas impresas y dimensiones / Modelo pequeño y ligero</a:t>
            </a:r>
          </a:p>
          <a:p xmlns:a="http://schemas.openxmlformats.org/drawingml/2006/main">
            <a:r>
              <a:t>Comparar dos filas y justificar con la misión.</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5 min.</a:t>
            </a:r>
          </a:p>
          <a:p xmlns:a="http://schemas.openxmlformats.org/drawingml/2006/main">
            <a:r>
              <a:t/>
            </a:r>
          </a:p>
          <a:p xmlns:a="http://schemas.openxmlformats.org/drawingml/2006/main">
            <a:r>
              <a:t>¿La longitud del cohete basta para clasificar su motor?</a:t>
            </a:r>
          </a:p>
          <a:p xmlns:a="http://schemas.openxmlformats.org/drawingml/2006/main">
            <a:r>
              <a:t>Relacionar la explicación con una decisión del proyecto.</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4 min.</a:t>
            </a:r>
          </a:p>
          <a:p xmlns:a="http://schemas.openxmlformats.org/drawingml/2006/main">
            <a:r>
              <a:t/>
            </a:r>
          </a:p>
          <a:p xmlns:a="http://schemas.openxmlformats.org/drawingml/2006/main">
            <a:r>
              <a:t>La cónica tiene un perfil lateral recto. La ojival usa una curva que se estrecha hacia la punta. La elipsoidal es más redondeada. Podemos reconocerlas sosteniendo piezas, viendo su silueta o cambiando Shape en OpenRocket. La fotografía reúne piezas de tamaños distintos: no sería justo atribuir una diferencia de masa solo a su forma si también cambian diámetro, longitud o espesor.</a:t>
            </a:r>
          </a:p>
          <a:p xmlns:a="http://schemas.openxmlformats.org/drawingml/2006/main">
            <a:r>
              <a:t/>
            </a:r>
          </a:p>
          <a:p xmlns:a="http://schemas.openxmlformats.org/drawingml/2006/main">
            <a:r>
              <a:t>La elección inicial debe caber en el proceso que tenemos. Una nariz que imprime bien y se reemplaza con facilidad puede ser adecuada para aprender aunque otra tenga un resultado aerodinámico ligeramente distinto. Más adelante contrastaremos el vehículo completo. Hoy no necesitamos calcular fricción ni resolver ecuaciones de flujo.</a:t>
            </a:r>
          </a:p>
          <a:p xmlns:a="http://schemas.openxmlformats.org/drawingml/2006/main">
            <a:r>
              <a:t/>
            </a:r>
          </a:p>
          <a:p xmlns:a="http://schemas.openxmlformats.org/drawingml/2006/main">
            <a:r>
              <a:t>Durante el ascenso, el frente del vehículo aparta el aire. El arrastre es la parte de la fuerza aerodinámica que se opone al movimiento respecto al aire. Depende del vehículo y de sus condiciones de movimiento. La forma de la nariz influye, pero también cuentan el cuerpo, las aletas y las transiciones entre piezas. Una punta muy alargada puede requerir más material o un montaje más delicado. En nuestro primer taller conviene observar esa compensación y comparar después el modelo completo, en condiciones equivalentes, sin declarar una forma ganadora para cualquier velocidad.</a:t>
            </a:r>
          </a:p>
          <a:p xmlns:a="http://schemas.openxmlformats.org/drawingml/2006/main">
            <a:r>
              <a:t>Pregunta para el grupo: ¿Las piezas de la fotografía son comparables por masa?</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4 min.</a:t>
            </a:r>
          </a:p>
          <a:p xmlns:a="http://schemas.openxmlformats.org/drawingml/2006/main">
            <a:r>
              <a:t/>
            </a:r>
          </a:p>
          <a:p xmlns:a="http://schemas.openxmlformats.org/drawingml/2006/main">
            <a:r>
              <a:t>Fotografía de catálogo reproducida en Apogee, Peak of Flight 629. Sirve para reconocer perfiles y tamaños, no para comparar rendimientos ni recomendar un proveedor.</a:t>
            </a:r>
          </a:p>
          <a:p xmlns:a="http://schemas.openxmlformats.org/drawingml/2006/main">
            <a:r>
              <a:t>Localizar en la imagen las partes relacionadas con la pregunta.</a:t>
            </a:r>
          </a:p>
          <a:p xmlns:a="http://schemas.openxmlformats.org/drawingml/2006/main">
            <a:r>
              <a:t>¿Las piezas de la fotografía son comparables por masa?</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5 min.</a:t>
            </a:r>
          </a:p>
          <a:p xmlns:a="http://schemas.openxmlformats.org/drawingml/2006/main">
            <a:r>
              <a:t/>
            </a:r>
          </a:p>
          <a:p xmlns:a="http://schemas.openxmlformats.org/drawingml/2006/main">
            <a:r>
              <a:t>Forma / Qué facilita observar / Qué revisar</a:t>
            </a:r>
          </a:p>
          <a:p xmlns:a="http://schemas.openxmlformats.org/drawingml/2006/main">
            <a:r>
              <a:t>Cónica / Relación clara entre punta, base y hombro / Punta real, pared y acabado</a:t>
            </a:r>
          </a:p>
          <a:p xmlns:a="http://schemas.openxmlformats.org/drawingml/2006/main">
            <a:r>
              <a:t>Ojival / Continuidad de la curva con el cuerpo / Parámetro de forma y masa fabricada</a:t>
            </a:r>
          </a:p>
          <a:p xmlns:a="http://schemas.openxmlformats.org/drawingml/2006/main">
            <a:r>
              <a:t>Elipsoidal / Volumen del frente y contorno redondeado / Longitud, acceso y espacio interior</a:t>
            </a:r>
          </a:p>
          <a:p xmlns:a="http://schemas.openxmlformats.org/drawingml/2006/main">
            <a:r>
              <a:t>Justificar una alternativa con la misión y señalar la comprobación necesaria.</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4 min.</a:t>
            </a:r>
          </a:p>
          <a:p xmlns:a="http://schemas.openxmlformats.org/drawingml/2006/main">
            <a:r>
              <a:t/>
            </a:r>
          </a:p>
          <a:p xmlns:a="http://schemas.openxmlformats.org/drawingml/2006/main">
            <a:r>
              <a:t>La primera pregunta es geométrica: ¿qué cambia al sustituir solo la forma? Conservamos base y longitud visible, además de cuerpo y aletas. La segunda es de fabricación: ¿qué pieza conviene construir? Entonces cuentan masa impresa, tiempo, soportes, encaje y acabado. Una comparación geométrica y otra de piezas reales pueden conducir a decisiones diferentes sin contradecirse.</a:t>
            </a:r>
          </a:p>
          <a:p xmlns:a="http://schemas.openxmlformats.org/drawingml/2006/main">
            <a:r>
              <a:t/>
            </a:r>
          </a:p>
          <a:p xmlns:a="http://schemas.openxmlformats.org/drawingml/2006/main">
            <a:r>
              <a:t>Datos ficticios: A pesa 8 g, tarda 45 min e imprime con el encaje correcto. B pesa 12 g, tarda 70 min y requiere corregir el hombro. Las dos cumplen la forma exterior que se propuso.</a:t>
            </a:r>
          </a:p>
          <a:p xmlns:a="http://schemas.openxmlformats.org/drawingml/2006/main">
            <a:r>
              <a:t/>
            </a:r>
          </a:p>
          <a:p xmlns:a="http://schemas.openxmlformats.org/drawingml/2006/main">
            <a:r>
              <a:t>El ejemplo no contiene una medición real de MECRO ni una simulación ejecutada. Es un caso para practicar la decisión. En el taller se sustituirán las cifras por las de cada equipo. Si cambias la longitud para mejorar el espacio interior, registra que ya no estudiaste exclusivamente la forma.</a:t>
            </a:r>
          </a:p>
          <a:p xmlns:a="http://schemas.openxmlformats.org/drawingml/2006/main">
            <a:r>
              <a:t/>
            </a:r>
          </a:p>
          <a:p xmlns:a="http://schemas.openxmlformats.org/drawingml/2006/main">
            <a:r>
              <a:t>Una conclusión útil nombra la misión: “elegimos A para el primer prototipo porque podemos fabricarla y comprobar su encaje con menos recursos”.</a:t>
            </a:r>
          </a:p>
          <a:p xmlns:a="http://schemas.openxmlformats.org/drawingml/2006/main">
            <a:r>
              <a:t/>
            </a:r>
          </a:p>
          <a:p xmlns:a="http://schemas.openxmlformats.org/drawingml/2006/main">
            <a:r>
              <a:t>Conviene separar las condiciones necesarias de las preferencias. Que el hombro pueda encajar y que la pieza permita el funcionamiento del conjunto son condiciones que deben resolverse. El color o una pequeña diferencia de tiempo pueden servir para elegir entre opciones que ya cumplen esas condiciones. Una tabla de puntuación no debe hacer que una nariz incompatible gane porque recibió muchos puntos por apariencia. Primero se descartan o corrigen incompatibilidades y después se comparan alternativas viables.</a:t>
            </a:r>
          </a:p>
          <a:p xmlns:a="http://schemas.openxmlformats.org/drawingml/2006/main">
            <a:r>
              <a:t>Pregunta para el grupo: ¿Qué condición descarta una nariz antes de puntuar preferencias?</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4 min.</a:t>
            </a:r>
          </a:p>
          <a:p xmlns:a="http://schemas.openxmlformats.org/drawingml/2006/main">
            <a:r>
              <a:t/>
            </a:r>
          </a:p>
          <a:p xmlns:a="http://schemas.openxmlformats.org/drawingml/2006/main">
            <a:r>
              <a:t>Comparación / Mantener / Registrar como resultado</a:t>
            </a:r>
          </a:p>
          <a:p xmlns:a="http://schemas.openxmlformats.org/drawingml/2006/main">
            <a:r>
              <a:t>Solo forma / Base, longitud, cuerpo y aletas / Cambio de geometría y resultados del modelo</a:t>
            </a:r>
          </a:p>
          <a:p xmlns:a="http://schemas.openxmlformats.org/drawingml/2006/main">
            <a:r>
              <a:t>Fabricación real / Impresora y criterio de aceptación / Masa, tiempo y encaje</a:t>
            </a:r>
          </a:p>
          <a:p xmlns:a="http://schemas.openxmlformats.org/drawingml/2006/main">
            <a:r>
              <a:t>Cambio completo / Misión y requisitos del conjunto / Todo lo que cambió entre versiones</a:t>
            </a:r>
          </a:p>
          <a:p xmlns:a="http://schemas.openxmlformats.org/drawingml/2006/main">
            <a:r>
              <a:t>Comparar dos filas y justificar con la misión.</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5 min.</a:t>
            </a:r>
          </a:p>
          <a:p xmlns:a="http://schemas.openxmlformats.org/drawingml/2006/main">
            <a:r>
              <a:t/>
            </a:r>
          </a:p>
          <a:p xmlns:a="http://schemas.openxmlformats.org/drawingml/2006/main">
            <a:r>
              <a:t>Datos didácticos de fabricación. No son medidas de MECRO ni resultados de vuelo.</a:t>
            </a:r>
          </a:p>
          <a:p xmlns:a="http://schemas.openxmlformats.org/drawingml/2006/main">
            <a:r>
              <a:t>A: 8</a:t>
            </a:r>
          </a:p>
          <a:p xmlns:a="http://schemas.openxmlformats.org/drawingml/2006/main">
            <a:r>
              <a:t>B: 12</a:t>
            </a:r>
          </a:p>
          <a:p xmlns:a="http://schemas.openxmlformats.org/drawingml/2006/main">
            <a:r>
              <a:t>Datos ficticios: A pesa 8 g, tarda 45 min e imprime con el encaje correcto. B pesa 12 g, tarda 70 min y requiere corregir el hombro. Las dos cumplen la forma exterior que se propuso.</a:t>
            </a:r>
          </a:p>
          <a:p xmlns:a="http://schemas.openxmlformats.org/drawingml/2006/main">
            <a:r>
              <a:t>Para aprender a fabricar y reponer piezas, A tiene ventajas de masa y tiempo y ya resolvió el encaje. Eso permite una elección provisional. No demuestra que A tenga menos resistencia al aire, porque no se han simulado ni medido esas fuerzas.</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4 min.</a:t>
            </a:r>
          </a:p>
          <a:p xmlns:a="http://schemas.openxmlformats.org/drawingml/2006/main">
            <a:r>
              <a:t/>
            </a:r>
          </a:p>
          <a:p xmlns:a="http://schemas.openxmlformats.org/drawingml/2006/main">
            <a:r>
              <a:t>Cuando el programa estima masa a partir de una envolvente uniforme, puede representar de forma imperfecta una pieza impresa. Conserva esa estimación como tal. La comparación con la pieza pesada se realizará al tener el prototipo. [OR1, BODY]</a:t>
            </a:r>
          </a:p>
          <a:p xmlns:a="http://schemas.openxmlformats.org/drawingml/2006/main">
            <a:r>
              <a:t/>
            </a:r>
          </a:p>
          <a:p xmlns:a="http://schemas.openxmlformats.org/drawingml/2006/main">
            <a:r>
              <a:t>La captura lateral ayuda a reconocer lo que cambió. Superponer mentalmente las bases permite comprobar si las tres narices conservan longitud y diámetro. El hombro pertenece a la unión interior y no debe añadirse a la longitud visible. Si una opción aumenta la longitud visible, el modelo ya no está comparando únicamente la curvatura. El registro de medidas hace explícita esa diferencia y permite al docente explicar una comparación honesta con pocos conceptos.</a:t>
            </a:r>
          </a:p>
          <a:p xmlns:a="http://schemas.openxmlformats.org/drawingml/2006/main">
            <a:r>
              <a:t>Pregunta para el grupo: ¿Qué conservarás al cambiar Conical por Ogive?</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4 min.</a:t>
            </a:r>
          </a:p>
          <a:p xmlns:a="http://schemas.openxmlformats.org/drawingml/2006/main">
            <a:r>
              <a:t/>
            </a:r>
          </a:p>
          <a:p xmlns:a="http://schemas.openxmlformats.org/drawingml/2006/main">
            <a:r>
              <a:t>¿Qué conservarás al cambiar Conical por Ogive?</a:t>
            </a:r>
          </a:p>
          <a:p xmlns:a="http://schemas.openxmlformats.org/drawingml/2006/main">
            <a:r>
              <a:t>Pedir una respuesta antes de consultar la explicación de la lectura.</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5 min.</a:t>
            </a:r>
          </a:p>
          <a:p xmlns:a="http://schemas.openxmlformats.org/drawingml/2006/main">
            <a:r>
              <a:t/>
            </a:r>
          </a:p>
          <a:p xmlns:a="http://schemas.openxmlformats.org/drawingml/2006/main">
            <a:r>
              <a:t>Abre la versión del equipo y guarda una copia con sufijo NARIZ_A. En Nose Cone conserva el diámetro de base y la longitud visible que has declarado.</a:t>
            </a:r>
          </a:p>
          <a:p xmlns:a="http://schemas.openxmlformats.org/drawingml/2006/main">
            <a:r>
              <a:t>Selecciona Conical y anota el nombre del material, espesor y masa calculada. El hombro sigue la medida real del interior del tubo.</a:t>
            </a:r>
          </a:p>
          <a:p xmlns:a="http://schemas.openxmlformats.org/drawingml/2006/main">
            <a:r>
              <a:t>Guarda NARIZ_B y cambia a Ogive. Revisa el parámetro de forma. Anota lo que cambiaste y lo que quedó igual.</a:t>
            </a:r>
          </a:p>
          <a:p xmlns:a="http://schemas.openxmlformats.org/drawingml/2006/main">
            <a:r>
              <a:t>Crea NARIZ_C con Ellipsoid. Obtén una captura lateral de cada alternativa con la misma escala.</a:t>
            </a:r>
          </a:p>
          <a:p xmlns:a="http://schemas.openxmlformats.org/drawingml/2006/main">
            <a:r>
              <a:t>Compara dimensiones y masas. Todavía no atribuyas una altura de vuelo a estas piezas si falta completar el vehículo y seleccionar su conjunto comercial.</a:t>
            </a:r>
          </a:p>
          <a:p xmlns:a="http://schemas.openxmlformats.org/drawingml/2006/main">
            <a:r>
              <a:t>Comprobar un paso en el objeto o programa antes de continuar.</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4 min.</a:t>
            </a:r>
          </a:p>
          <a:p xmlns:a="http://schemas.openxmlformats.org/drawingml/2006/main">
            <a:r>
              <a:t/>
            </a:r>
          </a:p>
          <a:p xmlns:a="http://schemas.openxmlformats.org/drawingml/2006/main">
            <a:r>
              <a:t>La nariz tiene una interfaz con el cuerpo: su hombro debe entrar en la abertura disponible. El equipo puede dibujar la forma exterior en CAD, pero la medida del tubo decide el encaje. Antes de imprimir una pieza completa, el docente agrupa muestras cortas que permiten estudiar ese ajuste sin consumir todo el tiempo de la máquina.</a:t>
            </a:r>
          </a:p>
          <a:p xmlns:a="http://schemas.openxmlformats.org/drawingml/2006/main">
            <a:r>
              <a:t/>
            </a:r>
          </a:p>
          <a:p xmlns:a="http://schemas.openxmlformats.org/drawingml/2006/main">
            <a:r>
              <a:t>Una muestra que entra correctamente resuelve una parte del problema. Todavía hay que comprobar pared, unión, sujeción y funcionamiento del conjunto de recuperación. La nariz completa se acepta como parte de ese sistema, no por una única medida aislada.</a:t>
            </a:r>
          </a:p>
          <a:p xmlns:a="http://schemas.openxmlformats.org/drawingml/2006/main">
            <a:r>
              <a:t/>
            </a:r>
          </a:p>
          <a:p xmlns:a="http://schemas.openxmlformats.org/drawingml/2006/main">
            <a:r>
              <a:t>La misma medida dibujada puede producir resultados distintos en dos impresoras o materiales. No se cambia todo el CAD para corregir el resultado de una sola muestra sin investigar su origen. Conserva la dimensión nominal y la medida obtenida. Si el taller trabaja con varios tubos, identifica cuáles comparten realmente la misma abertura. El repuesto de una nariz necesita corresponder al tubo y al proceso que se comprobó, no únicamente al nombre del archivo.</a:t>
            </a:r>
          </a:p>
          <a:p xmlns:a="http://schemas.openxmlformats.org/drawingml/2006/main">
            <a:r>
              <a:t>Pregunta para el grupo: ¿Qué muestra corta te evita repetir una nariz completa?</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4 min.</a:t>
            </a:r>
          </a:p>
          <a:p xmlns:a="http://schemas.openxmlformats.org/drawingml/2006/main">
            <a:r>
              <a:t/>
            </a:r>
          </a:p>
          <a:p xmlns:a="http://schemas.openxmlformats.org/drawingml/2006/main">
            <a:r>
              <a:t>Dato / A / B</a:t>
            </a:r>
          </a:p>
          <a:p xmlns:a="http://schemas.openxmlformats.org/drawingml/2006/main">
            <a:r>
              <a:t>Forma y longitud / Por registrar / Por registrar</a:t>
            </a:r>
          </a:p>
          <a:p xmlns:a="http://schemas.openxmlformats.org/drawingml/2006/main">
            <a:r>
              <a:t>Masa real / g / Por pesar / Por pesar</a:t>
            </a:r>
          </a:p>
          <a:p xmlns:a="http://schemas.openxmlformats.org/drawingml/2006/main">
            <a:r>
              <a:t>Tiempo / min / Del laminador y del registro / Del laminador y del registro</a:t>
            </a:r>
          </a:p>
          <a:p xmlns:a="http://schemas.openxmlformats.org/drawingml/2006/main">
            <a:r>
              <a:t>Encaje en el tubo identificado / Observación / Observación</a:t>
            </a:r>
          </a:p>
          <a:p xmlns:a="http://schemas.openxmlformats.org/drawingml/2006/main">
            <a:r>
              <a:t>Cambio pendiente / Describir / Describir</a:t>
            </a:r>
          </a:p>
          <a:p xmlns:a="http://schemas.openxmlformats.org/drawingml/2006/main">
            <a:r>
              <a:t>Comparar dos filas y justificar con la misión.</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5 min.</a:t>
            </a:r>
          </a:p>
          <a:p xmlns:a="http://schemas.openxmlformats.org/drawingml/2006/main">
            <a:r>
              <a:t/>
            </a:r>
          </a:p>
          <a:p xmlns:a="http://schemas.openxmlformats.org/drawingml/2006/main">
            <a:r>
              <a:t>Registra diámetro interior, ovalidad observable y longitud disponible de encaje del tubo real.</a:t>
            </a:r>
          </a:p>
          <a:p xmlns:a="http://schemas.openxmlformats.org/drawingml/2006/main">
            <a:r>
              <a:t>Prepara en CAD muestras identificadas que varíen solo la dimensión de encaje. El docente revisa la serie antes de imprimir.</a:t>
            </a:r>
          </a:p>
          <a:p xmlns:a="http://schemas.openxmlformats.org/drawingml/2006/main">
            <a:r>
              <a:t>Mide las piezas obtenidas y diferencia la dimensión dibujada de la dimensión impresa.</a:t>
            </a:r>
          </a:p>
          <a:p xmlns:a="http://schemas.openxmlformats.org/drawingml/2006/main">
            <a:r>
              <a:t>Prueba la unión sin forzar el tubo. Describe si entra, se traba o tiene juego apreciable.</a:t>
            </a:r>
          </a:p>
          <a:p xmlns:a="http://schemas.openxmlformats.org/drawingml/2006/main">
            <a:r>
              <a:t>Conserva la muestra elegida con el identificador del tubo y el perfil de impresión. No traslades automáticamente el resultado a otro material o impresora.</a:t>
            </a:r>
          </a:p>
          <a:p xmlns:a="http://schemas.openxmlformats.org/drawingml/2006/main">
            <a:r>
              <a:t>Comprobar un paso en el objeto o programa antes de continuar.</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4 min.</a:t>
            </a:r>
          </a:p>
          <a:p xmlns:a="http://schemas.openxmlformats.org/drawingml/2006/main">
            <a:r>
              <a:t/>
            </a:r>
          </a:p>
          <a:p xmlns:a="http://schemas.openxmlformats.org/drawingml/2006/main">
            <a:r>
              <a:t>Para el modelo del alumno se puede elegir una forma sencilla que el equipo sea capaz de fabricar y revisar. Para el vehículo docente con CanSat puede ser más importante el acceso a la carga que reducir unos minutos de impresión. Eso no autoriza trasladar la nariz del demostrador al cohete pequeño sin revisar dimensiones y masa.</a:t>
            </a:r>
          </a:p>
          <a:p xmlns:a="http://schemas.openxmlformats.org/drawingml/2006/main">
            <a:r>
              <a:t/>
            </a:r>
          </a:p>
          <a:p xmlns:a="http://schemas.openxmlformats.org/drawingml/2006/main">
            <a:r>
              <a:t>¿Podemos anunciar que la nariz más liviana “es la más aerodinámica”?</a:t>
            </a:r>
          </a:p>
          <a:p xmlns:a="http://schemas.openxmlformats.org/drawingml/2006/main">
            <a:r>
              <a:t/>
            </a:r>
          </a:p>
          <a:p xmlns:a="http://schemas.openxmlformats.org/drawingml/2006/main">
            <a:r>
              <a:t>Antes de cerrar, cada equipo muestra sus tres archivos y elige una alternativa provisional para la misión de aprendizaje. Debe señalar una razón, una evidencia y una comprobación pendiente. Las fichas quedan abiertas hasta que existan piezas reales; “pendiente” es más preciso que una cifra inventada.</a:t>
            </a:r>
          </a:p>
          <a:p xmlns:a="http://schemas.openxmlformats.org/drawingml/2006/main">
            <a:r>
              <a:t>Pregunta para el grupo: ¿Cambiaría tu elección para transportar la carga docente?</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4 min.</a:t>
            </a:r>
          </a:p>
          <a:p xmlns:a="http://schemas.openxmlformats.org/drawingml/2006/main">
            <a:r>
              <a:t/>
            </a:r>
          </a:p>
          <a:p xmlns:a="http://schemas.openxmlformats.org/drawingml/2006/main">
            <a:r>
              <a:t>Misión / Prioridad / Prueba antes de elegir</a:t>
            </a:r>
          </a:p>
          <a:p xmlns:a="http://schemas.openxmlformats.org/drawingml/2006/main">
            <a:r>
              <a:t>Primer montaje / Encaje y facilidad de fabricación / Muestras, masa y repetición</a:t>
            </a:r>
          </a:p>
          <a:p xmlns:a="http://schemas.openxmlformats.org/drawingml/2006/main">
            <a:r>
              <a:t>Reutilización / Acceso, reparación y repuestos / Montajes repetidos y revisión del borde</a:t>
            </a:r>
          </a:p>
          <a:p xmlns:a="http://schemas.openxmlformats.org/drawingml/2006/main">
            <a:r>
              <a:t>Carga docente / Espacio útil y acceso a electrónica / Maqueta de carga y comprobación de interfaces</a:t>
            </a:r>
          </a:p>
          <a:p xmlns:a="http://schemas.openxmlformats.org/drawingml/2006/main">
            <a:r>
              <a:t>Comparar dos filas y justificar con la misión.</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¿Podemos anunciar que la nariz más liviana “es la más aerodinámica”?</a:t>
            </a:r>
          </a:p>
          <a:p xmlns:a="http://schemas.openxmlformats.org/drawingml/2006/main">
            <a:r>
              <a:t>Explicación</a:t>
            </a:r>
          </a:p>
          <a:p xmlns:a="http://schemas.openxmlformats.org/drawingml/2006/main">
            <a:r>
              <a:t>No. La balanza resuelve una comparación de masa. Para estudiar el comportamiento aerodinámico hay que conservar condiciones y usar una simulación pertinente o una prueba adecuada. En este nivel basta separar ambas preguntas.</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12 min.</a:t>
            </a:r>
          </a:p>
          <a:p xmlns:a="http://schemas.openxmlformats.org/drawingml/2006/main">
            <a:r>
              <a:t/>
            </a:r>
          </a:p>
          <a:p xmlns:a="http://schemas.openxmlformats.org/drawingml/2006/main">
            <a:r>
              <a:t>Definir la misión del equipo en una frase.</a:t>
            </a:r>
          </a:p>
          <a:p xmlns:a="http://schemas.openxmlformats.org/drawingml/2006/main">
            <a:r>
              <a:t>Crear las tres copias de nariz en OpenRocket manteniendo las dimensiones declaradas.</a:t>
            </a:r>
          </a:p>
          <a:p xmlns:a="http://schemas.openxmlformats.org/drawingml/2006/main">
            <a:r>
              <a:t>Completar la ficha con datos de modelo y separar lo que falta medir.</a:t>
            </a:r>
          </a:p>
          <a:p xmlns:a="http://schemas.openxmlformats.org/drawingml/2006/main">
            <a:r>
              <a:t>Preparar la solicitud de muestras de encaje para el taller 1.</a:t>
            </a:r>
          </a:p>
          <a:p xmlns:a="http://schemas.openxmlformats.org/drawingml/2006/main">
            <a:r>
              <a:t>Rotar los roles y conservar al menos una evidencia revisable.</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10 min.</a:t>
            </a:r>
          </a:p>
          <a:p xmlns:a="http://schemas.openxmlformats.org/drawingml/2006/main">
            <a:r>
              <a:t/>
            </a:r>
          </a:p>
          <a:p xmlns:a="http://schemas.openxmlformats.org/drawingml/2006/main">
            <a:r>
              <a:t>Cada equipo prepara una decisión y una evidencia. No aceptar una preferencia sin relacionarla con la misión.</a:t>
            </a:r>
          </a:p>
          <a:p xmlns:a="http://schemas.openxmlformats.org/drawingml/2006/main">
            <a:r>
              <a:t>Tres archivos .ork, ficha comparativa y decisión provisional según misión.</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7 min.</a:t>
            </a:r>
          </a:p>
          <a:p xmlns:a="http://schemas.openxmlformats.org/drawingml/2006/main">
            <a:r>
              <a:t/>
            </a:r>
          </a:p>
          <a:p xmlns:a="http://schemas.openxmlformats.org/drawingml/2006/main">
            <a:r>
              <a:t>Primero respuesta individual, después discusión por equipos.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5 min.</a:t>
            </a:r>
          </a:p>
          <a:p xmlns:a="http://schemas.openxmlformats.org/drawingml/2006/main">
            <a:r>
              <a:t/>
            </a:r>
          </a:p>
          <a:p xmlns:a="http://schemas.openxmlformats.org/drawingml/2006/main">
            <a:r>
              <a:t>Pedir un ejemplo del objeto o del archivo para una de las respuestas.</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Qué cohete necesitamos y qué nariz elegimos.</a:t>
            </a:r>
          </a:p>
          <a:p xmlns:a="http://schemas.openxmlformats.org/drawingml/2006/main">
            <a:r>
              <a:t>En línea, 2 h. Tramo del núcleo: 5 min.</a:t>
            </a:r>
          </a:p>
          <a:p xmlns:a="http://schemas.openxmlformats.org/drawingml/2006/main">
            <a:r>
              <a:t/>
            </a:r>
          </a:p>
          <a:p xmlns:a="http://schemas.openxmlformats.org/drawingml/2006/main">
            <a:r>
              <a:t>Tres archivos .ork, ficha comparativa y decisión provisional según misión.</a:t>
            </a:r>
          </a:p>
          <a:p xmlns:a="http://schemas.openxmlformats.org/drawingml/2006/main">
            <a:r>
              <a:t>Las fuentes enlazadas de la lectura permiten ampliar la explicación sin exigir cálculo avanzado.</a:t>
            </a:r>
          </a:p>
          <a:p xmlns:a="http://schemas.openxmlformats.org/drawingml/2006/main">
            <a:r>
              <a:t/>
            </a:r>
          </a:p>
          <a:p xmlns:a="http://schemas.openxmlformats.org/drawingml/2006/main">
            <a:r>
              <a:t>Resultado: Elegir una nariz con una misión concreta, comparar alternativas y preparar una muestra de encaje.</a:t>
            </a:r>
          </a:p>
          <a:p xmlns:a="http://schemas.openxmlformats.org/drawingml/2006/main">
            <a:r>
              <a:t>Misión: Aprender a fabricar y recuperar un modelo pequeño por equipos. La carga científica corresponde al demostrador docente.</a:t>
            </a:r>
          </a:p>
          <a:p xmlns:a="http://schemas.openxmlformats.org/drawingml/2006/main">
            <a:r>
              <a:t>Entrega: Tres archivos .ork, ficha comparativa y decisión provisional según misión.</a:t>
            </a:r>
          </a:p>
          <a:p xmlns:a="http://schemas.openxmlformats.org/drawingml/2006/main">
            <a:r>
              <a:t/>
            </a:r>
          </a:p>
          <a:p xmlns:a="http://schemas.openxmlformats.org/drawingml/2006/main">
            <a:r>
              <a:t>Preguntas y respuestas</a:t>
            </a:r>
          </a:p>
          <a:p xmlns:a="http://schemas.openxmlformats.org/drawingml/2006/main">
            <a:r>
              <a:t>¿Un cohete de 35 cm es automáticamente de clase A?</a:t>
            </a:r>
          </a:p>
          <a:p xmlns:a="http://schemas.openxmlformats.org/drawingml/2006/main">
            <a:r>
              <a:t>No. La letra corresponde al intervalo de impulso del motor, no a la longitud.</a:t>
            </a:r>
          </a:p>
          <a:p xmlns:a="http://schemas.openxmlformats.org/drawingml/2006/main">
            <a:r>
              <a:t/>
            </a:r>
          </a:p>
          <a:p xmlns:a="http://schemas.openxmlformats.org/drawingml/2006/main">
            <a:r>
              <a:t>¿Qué se conserva para comparar solo la forma?</a:t>
            </a:r>
          </a:p>
          <a:p xmlns:a="http://schemas.openxmlformats.org/drawingml/2006/main">
            <a:r>
              <a:t>Base, longitud visible y el resto del modelo; además se documentan material y masa.</a:t>
            </a:r>
          </a:p>
          <a:p xmlns:a="http://schemas.openxmlformats.org/drawingml/2006/main">
            <a:r>
              <a:t/>
            </a:r>
          </a:p>
          <a:p xmlns:a="http://schemas.openxmlformats.org/drawingml/2006/main">
            <a:r>
              <a:t>¿Una nariz que pesa menos tiene menor arrastre?</a:t>
            </a:r>
          </a:p>
          <a:p xmlns:a="http://schemas.openxmlformats.org/drawingml/2006/main">
            <a:r>
              <a:t>El peso no demuestra el arrastre. Son comparaciones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National Association of Rocketry. High Power Rocketry Certification. https://www.nar.org/HPRCertification</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Apogee Components. Peak of Flight 629. https://www.apogeerockets.com/education/downloads/Newsletter629.pdf</a:t>
            </a:r>
          </a:p>
          <a:p xmlns:a="http://schemas.openxmlformats.org/drawingml/2006/main">
            <a:r>
              <a:t>Prusa Research. Modeling with 3D printing in mind. https://help.prusa3d.com/article/modeling-with-3d-printing-in-mind_164135</a:t>
            </a:r>
          </a:p>
          <a:p xmlns:a="http://schemas.openxmlformats.org/drawingml/2006/main">
            <a:r>
              <a:t>Lectura: MECRO_Coheteria_Clase_02.pdf.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7fe6b349fb4b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74d7e2569946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1de3d739b54b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9eac5c6bc84f2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fb338e2a8714b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2192ad99cfb46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5E2D40-B612-4851-9E60-75BC6097B76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1C7238-66F9-4BFD-B784-16A3835E2F2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1CE79A-E324-49DB-AD13-FC5CCCDB7BD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AEA789-3549-424D-875D-C7A93FBE46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9535FE1-A153-479D-8056-F67774DF889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B7DFF4-7110-48C1-AD25-C9B85473D8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16CC38-0D43-4E6A-8283-98EBB9B233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D730675-13E8-40FC-935E-E01861A8E31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1D9137-3902-4635-8061-BD5472BDE2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242DA4-C63E-4177-AAE7-1AD76B6BEB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9cae5e1896405c" /><Relationship Type="http://schemas.openxmlformats.org/officeDocument/2006/relationships/slideLayout" Target="/ppt/slideLayouts/slideLayout1.xml" Id="Rdaea1bca7a6442a6" /><Relationship Type="http://schemas.openxmlformats.org/officeDocument/2006/relationships/slideLayout" Target="/ppt/slideLayouts/slideLayout2.xml" Id="R3dda70c73ca842d5" /><Relationship Type="http://schemas.openxmlformats.org/officeDocument/2006/relationships/slideLayout" Target="/ppt/slideLayouts/slideLayout3.xml" Id="R8971581aa8c64724" /><Relationship Type="http://schemas.openxmlformats.org/officeDocument/2006/relationships/slideLayout" Target="/ppt/slideLayouts/slideLayout4.xml" Id="Raa6b6a602459420f" /><Relationship Type="http://schemas.openxmlformats.org/officeDocument/2006/relationships/slideLayout" Target="/ppt/slideLayouts/slideLayout5.xml" Id="R1e2f225ee2244560" /><Relationship Type="http://schemas.openxmlformats.org/officeDocument/2006/relationships/slideLayout" Target="/ppt/slideLayouts/slideLayout6.xml" Id="Rb5aa4b554c6e43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ea1bca7a6442a6"/>
    <p:sldLayoutId xmlns:r="http://schemas.openxmlformats.org/officeDocument/2006/relationships" id="2147483650" r:id="R3dda70c73ca842d5"/>
    <p:sldLayoutId xmlns:r="http://schemas.openxmlformats.org/officeDocument/2006/relationships" id="2147483651" r:id="R8971581aa8c64724"/>
    <p:sldLayoutId xmlns:r="http://schemas.openxmlformats.org/officeDocument/2006/relationships" id="2147483652" r:id="Raa6b6a602459420f"/>
    <p:sldLayoutId xmlns:r="http://schemas.openxmlformats.org/officeDocument/2006/relationships" id="2147483653" r:id="R1e2f225ee2244560"/>
    <p:sldLayoutId xmlns:r="http://schemas.openxmlformats.org/officeDocument/2006/relationships" id="2147483654" r:id="Rb5aa4b554c6e43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0ae4ac764b47de" /><Relationship Type="http://schemas.openxmlformats.org/officeDocument/2006/relationships/image" Target="/ppt/media/image.png" Id="Rdb9be6108aa744e3" /><Relationship Type="http://schemas.openxmlformats.org/officeDocument/2006/relationships/notesSlide" Target="/ppt/notesSlides/notesSlide1.xml" Id="Rc0975fcc93b042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27adad376384b23" /><Relationship Type="http://schemas.openxmlformats.org/officeDocument/2006/relationships/image" Target="/ppt/media/image2.png" Id="R3cfbca7c970a4068" /><Relationship Type="http://schemas.openxmlformats.org/officeDocument/2006/relationships/notesSlide" Target="/ppt/notesSlides/notesSlide2.xml" Id="R1311ddb14ba749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bcd9df347bc4d6e" /><Relationship Type="http://schemas.openxmlformats.org/officeDocument/2006/relationships/image" Target="/ppt/media/image3.png" Id="Rf37cbeeb8fd3482c" /><Relationship Type="http://schemas.openxmlformats.org/officeDocument/2006/relationships/image" Target="/ppt/media/image4.png" Id="Rc3760751503743a2" /><Relationship Type="http://schemas.openxmlformats.org/officeDocument/2006/relationships/notesSlide" Target="/ppt/notesSlides/notesSlide3.xml" Id="R6701da6a9c8543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f21ce31b2d44442" /><Relationship Type="http://schemas.openxmlformats.org/officeDocument/2006/relationships/image" Target="/ppt/media/image5.png" Id="R26c710f58db14ea0" /><Relationship Type="http://schemas.openxmlformats.org/officeDocument/2006/relationships/notesSlide" Target="/ppt/notesSlides/notesSlide4.xml" Id="R439931873d734f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4d1ebdfeff94c55" /><Relationship Type="http://schemas.openxmlformats.org/officeDocument/2006/relationships/image" Target="/ppt/media/image6.png" Id="Rfeb77c6fa7f043da" /><Relationship Type="http://schemas.openxmlformats.org/officeDocument/2006/relationships/notesSlide" Target="/ppt/notesSlides/notesSlide5.xml" Id="R86c1e8d5d94242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cad2fa791104ca7" /><Relationship Type="http://schemas.openxmlformats.org/officeDocument/2006/relationships/image" Target="/ppt/media/image7.png" Id="R2100b95a2ee8412e" /><Relationship Type="http://schemas.openxmlformats.org/officeDocument/2006/relationships/image" Target="/ppt/media/image8.png" Id="R7a793bcdfdf543fc" /><Relationship Type="http://schemas.openxmlformats.org/officeDocument/2006/relationships/notesSlide" Target="/ppt/notesSlides/notesSlide6.xml" Id="Ree594cae3d5f42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1248c7815f44352" /><Relationship Type="http://schemas.openxmlformats.org/officeDocument/2006/relationships/image" Target="/ppt/media/image9.png" Id="Rf310e75ab4264eeb" /><Relationship Type="http://schemas.openxmlformats.org/officeDocument/2006/relationships/notesSlide" Target="/ppt/notesSlides/notesSlide7.xml" Id="R9ab8fdaef96443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a2c29284cce4b1f" /><Relationship Type="http://schemas.openxmlformats.org/officeDocument/2006/relationships/image" Target="/ppt/media/image10.png" Id="R781e4bddb0744c9e" /><Relationship Type="http://schemas.openxmlformats.org/officeDocument/2006/relationships/image" Target="/ppt/media/image11.png" Id="R9bfb397c51164325" /><Relationship Type="http://schemas.openxmlformats.org/officeDocument/2006/relationships/notesSlide" Target="/ppt/notesSlides/notesSlide8.xml" Id="R79ed93ca976748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47455954c88467b" /><Relationship Type="http://schemas.openxmlformats.org/officeDocument/2006/relationships/image" Target="/ppt/media/image12.png" Id="Rb9100f5d5c3842ce" /><Relationship Type="http://schemas.openxmlformats.org/officeDocument/2006/relationships/image" Target="/ppt/media/image13.png" Id="Rf39166949d34459f" /><Relationship Type="http://schemas.openxmlformats.org/officeDocument/2006/relationships/notesSlide" Target="/ppt/notesSlides/notesSlide9.xml" Id="R4274ee584fb54b0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4ed174357094915" /><Relationship Type="http://schemas.openxmlformats.org/officeDocument/2006/relationships/image" Target="/ppt/media/image14.png" Id="Rf8bde9137261453d" /><Relationship Type="http://schemas.openxmlformats.org/officeDocument/2006/relationships/notesSlide" Target="/ppt/notesSlides/notesSlide10.xml" Id="R4df7bf4559f046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991df906e0c4e58" /><Relationship Type="http://schemas.openxmlformats.org/officeDocument/2006/relationships/image" Target="/ppt/media/image15.png" Id="R8fd277a34da74049" /><Relationship Type="http://schemas.openxmlformats.org/officeDocument/2006/relationships/image" Target="/ppt/media/image16.png" Id="R449c44841e0949f3" /><Relationship Type="http://schemas.openxmlformats.org/officeDocument/2006/relationships/notesSlide" Target="/ppt/notesSlides/notesSlide11.xml" Id="R5114ed4fe90e471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a2e23a743164a46" /><Relationship Type="http://schemas.openxmlformats.org/officeDocument/2006/relationships/image" Target="/ppt/media/image17.png" Id="R40a2c79a86514267" /><Relationship Type="http://schemas.openxmlformats.org/officeDocument/2006/relationships/notesSlide" Target="/ppt/notesSlides/notesSlide12.xml" Id="R0011964f497f4e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3fd942f38f74e85" /><Relationship Type="http://schemas.openxmlformats.org/officeDocument/2006/relationships/image" Target="/ppt/media/image18.png" Id="Rcfd0a728a9ca49d0" /><Relationship Type="http://schemas.openxmlformats.org/officeDocument/2006/relationships/image" Target="/ppt/media/image19.png" Id="Rc08a25ecbe3e4275" /><Relationship Type="http://schemas.openxmlformats.org/officeDocument/2006/relationships/notesSlide" Target="/ppt/notesSlides/notesSlide13.xml" Id="R7540b2e6c98a47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f967e51b0804061" /><Relationship Type="http://schemas.openxmlformats.org/officeDocument/2006/relationships/image" Target="/ppt/media/image20.png" Id="Rf445d14af7bf42a9" /><Relationship Type="http://schemas.openxmlformats.org/officeDocument/2006/relationships/notesSlide" Target="/ppt/notesSlides/notesSlide14.xml" Id="Rc6b16c0af46145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af29b295eb64a54" /><Relationship Type="http://schemas.openxmlformats.org/officeDocument/2006/relationships/image" Target="/ppt/media/image21.png" Id="R56007a00615e442c" /><Relationship Type="http://schemas.openxmlformats.org/officeDocument/2006/relationships/notesSlide" Target="/ppt/notesSlides/notesSlide15.xml" Id="R71725333cc29449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3738db65b4e4c19" /><Relationship Type="http://schemas.openxmlformats.org/officeDocument/2006/relationships/image" Target="/ppt/media/image22.png" Id="R2ed1c87032de46c2" /><Relationship Type="http://schemas.openxmlformats.org/officeDocument/2006/relationships/chart" Target="/ppt/slides/charts/chart1.xml" Id="R2831bd48cb284dcf" /><Relationship Type="http://schemas.openxmlformats.org/officeDocument/2006/relationships/image" Target="/ppt/media/image23.png" Id="Rb5e51789c62a425c" /><Relationship Type="http://schemas.openxmlformats.org/officeDocument/2006/relationships/notesSlide" Target="/ppt/notesSlides/notesSlide16.xml" Id="R1bc45fd1c21345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c1e980f48ea4cc0" /><Relationship Type="http://schemas.openxmlformats.org/officeDocument/2006/relationships/image" Target="/ppt/media/image24.png" Id="R893f77f993ff4ace" /><Relationship Type="http://schemas.openxmlformats.org/officeDocument/2006/relationships/image" Target="/ppt/media/image25.png" Id="R58903d346ce74580" /><Relationship Type="http://schemas.openxmlformats.org/officeDocument/2006/relationships/notesSlide" Target="/ppt/notesSlides/notesSlide17.xml" Id="R86f9ae965c40472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de5542368734905" /><Relationship Type="http://schemas.openxmlformats.org/officeDocument/2006/relationships/image" Target="/ppt/media/image26.png" Id="Rf91937c68e954b13" /><Relationship Type="http://schemas.openxmlformats.org/officeDocument/2006/relationships/notesSlide" Target="/ppt/notesSlides/notesSlide18.xml" Id="Rb9a087cc77c346b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bda59faffeb48a8" /><Relationship Type="http://schemas.openxmlformats.org/officeDocument/2006/relationships/image" Target="/ppt/media/image27.png" Id="R3e361e6f99014acf" /><Relationship Type="http://schemas.openxmlformats.org/officeDocument/2006/relationships/notesSlide" Target="/ppt/notesSlides/notesSlide19.xml" Id="R0335fcc154a14b5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0f8beb631d34128" /><Relationship Type="http://schemas.openxmlformats.org/officeDocument/2006/relationships/image" Target="/ppt/media/image28.png" Id="R21b16487e7764418" /><Relationship Type="http://schemas.openxmlformats.org/officeDocument/2006/relationships/image" Target="/ppt/media/image29.png" Id="R4fca139f5d9e41d6" /><Relationship Type="http://schemas.openxmlformats.org/officeDocument/2006/relationships/notesSlide" Target="/ppt/notesSlides/notesSlide20.xml" Id="R69997e74e3cc4e6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29aa17695044f98" /><Relationship Type="http://schemas.openxmlformats.org/officeDocument/2006/relationships/image" Target="/ppt/media/image30.png" Id="Rbb417d3777b844ae" /><Relationship Type="http://schemas.openxmlformats.org/officeDocument/2006/relationships/notesSlide" Target="/ppt/notesSlides/notesSlide21.xml" Id="R74181cd778574b6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cad9738aeb04edb" /><Relationship Type="http://schemas.openxmlformats.org/officeDocument/2006/relationships/image" Target="/ppt/media/image31.png" Id="R8eb5cc7da5e94505" /><Relationship Type="http://schemas.openxmlformats.org/officeDocument/2006/relationships/image" Target="/ppt/media/image32.png" Id="R2b064e7179324977" /><Relationship Type="http://schemas.openxmlformats.org/officeDocument/2006/relationships/notesSlide" Target="/ppt/notesSlides/notesSlide22.xml" Id="R33968a1f8db34b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48b828347f34927" /><Relationship Type="http://schemas.openxmlformats.org/officeDocument/2006/relationships/image" Target="/ppt/media/image33.png" Id="R4061da420f2f44d9" /><Relationship Type="http://schemas.openxmlformats.org/officeDocument/2006/relationships/notesSlide" Target="/ppt/notesSlides/notesSlide23.xml" Id="R3688b040fbfe443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c0ba4835ae74fc1" /><Relationship Type="http://schemas.openxmlformats.org/officeDocument/2006/relationships/image" Target="/ppt/media/image34.png" Id="R1fd88981529b4b06" /><Relationship Type="http://schemas.openxmlformats.org/officeDocument/2006/relationships/notesSlide" Target="/ppt/notesSlides/notesSlide24.xml" Id="Rf95bb38ac4204fa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6212feeeb9f456c" /><Relationship Type="http://schemas.openxmlformats.org/officeDocument/2006/relationships/image" Target="/ppt/media/image35.png" Id="R1d3916bd1de74af5" /><Relationship Type="http://schemas.openxmlformats.org/officeDocument/2006/relationships/notesSlide" Target="/ppt/notesSlides/notesSlide25.xml" Id="Reba3e0a08e8a4be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81a232e6d944b9d" /><Relationship Type="http://schemas.openxmlformats.org/officeDocument/2006/relationships/image" Target="/ppt/media/image36.png" Id="R0015ea98e1a44465" /><Relationship Type="http://schemas.openxmlformats.org/officeDocument/2006/relationships/notesSlide" Target="/ppt/notesSlides/notesSlide26.xml" Id="Raaf32da27d314f6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d85123e5d5b4779" /><Relationship Type="http://schemas.openxmlformats.org/officeDocument/2006/relationships/image" Target="/ppt/media/image37.png" Id="R744913d3b9d7427e" /><Relationship Type="http://schemas.openxmlformats.org/officeDocument/2006/relationships/notesSlide" Target="/ppt/notesSlides/notesSlide27.xml" Id="Rb4b29036b7fe498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bc6e6651ada4212" /><Relationship Type="http://schemas.openxmlformats.org/officeDocument/2006/relationships/image" Target="/ppt/media/image38.png" Id="Rb7efd6b4cc6a4480" /><Relationship Type="http://schemas.openxmlformats.org/officeDocument/2006/relationships/notesSlide" Target="/ppt/notesSlides/notesSlide28.xml" Id="Ra3512ec048f247c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92f3fed462c4e52" /><Relationship Type="http://schemas.openxmlformats.org/officeDocument/2006/relationships/image" Target="/ppt/media/image39.png" Id="R5478cae418ac4197" /><Relationship Type="http://schemas.openxmlformats.org/officeDocument/2006/relationships/notesSlide" Target="/ppt/notesSlides/notesSlide29.xml" Id="Rc1ff794e0e89475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66caa25e6f6478b" /><Relationship Type="http://schemas.openxmlformats.org/officeDocument/2006/relationships/image" Target="/ppt/media/image40.png" Id="R24ef745c891a488b" /><Relationship Type="http://schemas.openxmlformats.org/officeDocument/2006/relationships/notesSlide" Target="/ppt/notesSlides/notesSlide30.xml" Id="Ra425874bf32f4a9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73c2ac8b42e4b63" /><Relationship Type="http://schemas.openxmlformats.org/officeDocument/2006/relationships/image" Target="/ppt/media/image41.png" Id="R9785abfc136e446a" /><Relationship Type="http://schemas.openxmlformats.org/officeDocument/2006/relationships/image" Target="/ppt/media/image42.png" Id="Ra24c5410e07c499f" /><Relationship Type="http://schemas.openxmlformats.org/officeDocument/2006/relationships/notesSlide" Target="/ppt/notesSlides/notesSlide31.xml" Id="Raa3373ef74bc432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ec5827ad6d44d5b" /><Relationship Type="http://schemas.openxmlformats.org/officeDocument/2006/relationships/image" Target="/ppt/media/image43.png" Id="R351cadceaefc434a" /><Relationship Type="http://schemas.openxmlformats.org/officeDocument/2006/relationships/notesSlide" Target="/ppt/notesSlides/notesSlide32.xml" Id="Rf39777fd36ab452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6b01a3721424c4d" /><Relationship Type="http://schemas.openxmlformats.org/officeDocument/2006/relationships/image" Target="/ppt/media/image44.png" Id="R9c923fcd1afb445c" /><Relationship Type="http://schemas.openxmlformats.org/officeDocument/2006/relationships/notesSlide" Target="/ppt/notesSlides/notesSlide33.xml" Id="R0a30b34a949749a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abd5dff8e51440f" /><Relationship Type="http://schemas.openxmlformats.org/officeDocument/2006/relationships/image" Target="/ppt/media/image45.png" Id="Rcaca61ac3b914edf" /><Relationship Type="http://schemas.openxmlformats.org/officeDocument/2006/relationships/notesSlide" Target="/ppt/notesSlides/notesSlide34.xml" Id="R30860eeb565b4f9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a657fd7197c4ee9" /><Relationship Type="http://schemas.openxmlformats.org/officeDocument/2006/relationships/image" Target="/ppt/media/image46.png" Id="R8f35a448cfcc4bf2" /><Relationship Type="http://schemas.openxmlformats.org/officeDocument/2006/relationships/chart" Target="/ppt/slides/charts/chart2.xml" Id="Ra539de8e29c14cc4" /><Relationship Type="http://schemas.openxmlformats.org/officeDocument/2006/relationships/notesSlide" Target="/ppt/notesSlides/notesSlide35.xml" Id="R152104a35bec466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06ebe30aac14f74" /><Relationship Type="http://schemas.openxmlformats.org/officeDocument/2006/relationships/image" Target="/ppt/media/image47.png" Id="R6c5d2b6801294414" /><Relationship Type="http://schemas.openxmlformats.org/officeDocument/2006/relationships/notesSlide" Target="/ppt/notesSlides/notesSlide36.xml" Id="Rf327b61da387418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71cbc19b5a734396" /><Relationship Type="http://schemas.openxmlformats.org/officeDocument/2006/relationships/image" Target="/ppt/media/image48.png" Id="R603e223269e04f86" /><Relationship Type="http://schemas.openxmlformats.org/officeDocument/2006/relationships/notesSlide" Target="/ppt/notesSlides/notesSlide37.xml" Id="Rf6646d4cc752409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4f8f617412944f81" /><Relationship Type="http://schemas.openxmlformats.org/officeDocument/2006/relationships/image" Target="/ppt/media/image49.png" Id="R6d4c2a7745024d81" /><Relationship Type="http://schemas.openxmlformats.org/officeDocument/2006/relationships/notesSlide" Target="/ppt/notesSlides/notesSlide38.xml" Id="Rb1162f3c4067499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bda7a37fcfd40be" /><Relationship Type="http://schemas.openxmlformats.org/officeDocument/2006/relationships/image" Target="/ppt/media/image50.png" Id="R80982f0bf8894897" /><Relationship Type="http://schemas.openxmlformats.org/officeDocument/2006/relationships/notesSlide" Target="/ppt/notesSlides/notesSlide39.xml" Id="R363732f70bcb4ee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4da28071d9be40cf" /><Relationship Type="http://schemas.openxmlformats.org/officeDocument/2006/relationships/image" Target="/ppt/media/image51.png" Id="Rc3598b3b132f4ec0" /><Relationship Type="http://schemas.openxmlformats.org/officeDocument/2006/relationships/notesSlide" Target="/ppt/notesSlides/notesSlide40.xml" Id="R5c6a5ed9f3ff407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a3f28372cb574da5" /><Relationship Type="http://schemas.openxmlformats.org/officeDocument/2006/relationships/image" Target="/ppt/media/image52.png" Id="Re6839b921b314355" /><Relationship Type="http://schemas.openxmlformats.org/officeDocument/2006/relationships/notesSlide" Target="/ppt/notesSlides/notesSlide41.xml" Id="R7febd990dd10422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79de884453d84fa4" /><Relationship Type="http://schemas.openxmlformats.org/officeDocument/2006/relationships/image" Target="/ppt/media/image53.png" Id="Re43884549a184bda" /><Relationship Type="http://schemas.openxmlformats.org/officeDocument/2006/relationships/notesSlide" Target="/ppt/notesSlides/notesSlide42.xml" Id="R22233ce6424b40a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2245cd20bb2e4ca1" /><Relationship Type="http://schemas.openxmlformats.org/officeDocument/2006/relationships/image" Target="/ppt/media/image54.png" Id="R1b3e1d11a40948b8" /><Relationship Type="http://schemas.openxmlformats.org/officeDocument/2006/relationships/notesSlide" Target="/ppt/notesSlides/notesSlide43.xml" Id="Rdd9635f6546d4a0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9c59b9fbae8149b8" /><Relationship Type="http://schemas.openxmlformats.org/officeDocument/2006/relationships/image" Target="/ppt/media/image55.png" Id="R7eeba722dc9944c0" /><Relationship Type="http://schemas.openxmlformats.org/officeDocument/2006/relationships/notesSlide" Target="/ppt/notesSlides/notesSlide44.xml" Id="Re841d7841e3a46c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79aac7124e154193" /><Relationship Type="http://schemas.openxmlformats.org/officeDocument/2006/relationships/image" Target="/ppt/media/image56.png" Id="R8214050209964494" /><Relationship Type="http://schemas.openxmlformats.org/officeDocument/2006/relationships/notesSlide" Target="/ppt/notesSlides/notesSlide45.xml" Id="R2d57cce81eac462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d2b0d4079b3a4e43" /><Relationship Type="http://schemas.openxmlformats.org/officeDocument/2006/relationships/image" Target="/ppt/media/image57.png" Id="Rbd56f1b713aa405f" /><Relationship Type="http://schemas.openxmlformats.org/officeDocument/2006/relationships/notesSlide" Target="/ppt/notesSlides/notesSlide46.xml" Id="R5aabfc5b07fe4f1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839b6cbce9a49ad" /><Relationship Type="http://schemas.openxmlformats.org/officeDocument/2006/relationships/image" Target="/ppt/media/image58.png" Id="R55804ed681594bc9" /><Relationship Type="http://schemas.openxmlformats.org/officeDocument/2006/relationships/notesSlide" Target="/ppt/notesSlides/notesSlide47.xml" Id="R2d49e7a1f11c4c4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8f3155865de1435c" /><Relationship Type="http://schemas.openxmlformats.org/officeDocument/2006/relationships/image" Target="/ppt/media/image59.png" Id="R6fd0a6177b134cf0" /><Relationship Type="http://schemas.openxmlformats.org/officeDocument/2006/relationships/notesSlide" Target="/ppt/notesSlides/notesSlide48.xml" Id="R87d3c83d4735489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c522b9145ef74fd4" /><Relationship Type="http://schemas.openxmlformats.org/officeDocument/2006/relationships/image" Target="/ppt/media/image60.png" Id="R2940fb44986c46d2" /><Relationship Type="http://schemas.openxmlformats.org/officeDocument/2006/relationships/notesSlide" Target="/ppt/notesSlides/notesSlide49.xml" Id="R6a9d5d6d1ad84fa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Subtotal sin motor / g</c:v>
          </c:tx>
          <c:spPr>
            <a:solidFill xmlns:a="http://schemas.openxmlformats.org/drawingml/2006/main">
              <a:srgbClr val="244F3D"/>
            </a:solidFill>
          </c:spPr>
          <c:invertIfNegative val="0"/>
          <c:cat>
            <c:strRef>
              <c:f>'Chart Data'!$A$2:$A$3</c:f>
              <c:strCache>
                <c:ptCount val="2"/>
                <c:pt idx="0">
                  <c:v>Nariz 8 g</c:v>
                </c:pt>
                <c:pt idx="1">
                  <c:v>Nariz 16 g</c:v>
                </c:pt>
              </c:strCache>
            </c:strRef>
          </c:cat>
          <c:val>
            <c:numRef>
              <c:f>'Chart Data'!$B$2:$B$3</c:f>
              <c:numCache>
                <c:formatCode>0</c:formatCode>
                <c:ptCount val="2"/>
                <c:pt idx="0">
                  <c:v>35</c:v>
                </c:pt>
                <c:pt idx="1">
                  <c:v>43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31E"/>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Subtotal sin motor / 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8665F"/>
                </a:solidFill>
                <a:latin typeface="Arial"/>
                <a:ea typeface="Arial"/>
                <a:cs typeface="Arial"/>
              </a:defRPr>
            </a:pPr>
          </a:p>
        </c:txPr>
        <c:crossAx val="48650112"/>
        <c:crossBetween val="between"/>
      </c:valAx>
      <c:spPr>
        <a:solidFill xmlns:a="http://schemas.openxmlformats.org/drawingml/2006/main">
          <a:srgbClr val="FCFCF8"/>
        </a:solidFill>
      </c:spPr>
    </c:plotArea>
    <c:plotVisOnly val="1"/>
  </c:chart>
  <c:spPr>
    <a:solidFill xmlns:a="http://schemas.openxmlformats.org/drawingml/2006/main">
      <a:srgbClr val="FCFCF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Masa / g</c:v>
          </c:tx>
          <c:spPr>
            <a:solidFill xmlns:a="http://schemas.openxmlformats.org/drawingml/2006/main">
              <a:srgbClr val="244F3D"/>
            </a:solidFill>
          </c:spPr>
          <c:invertIfNegative val="0"/>
          <c:cat>
            <c:strRef>
              <c:f>'Chart Data'!$A$2:$A$3</c:f>
              <c:strCache>
                <c:ptCount val="2"/>
                <c:pt idx="0">
                  <c:v>A</c:v>
                </c:pt>
                <c:pt idx="1">
                  <c:v>B</c:v>
                </c:pt>
              </c:strCache>
            </c:strRef>
          </c:cat>
          <c:val>
            <c:numRef>
              <c:f>'Chart Data'!$B$2:$B$3</c:f>
              <c:numCache>
                <c:formatCode>0</c:formatCode>
                <c:ptCount val="2"/>
                <c:pt idx="0">
                  <c:v>8</c:v>
                </c:pt>
                <c:pt idx="1">
                  <c:v>12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Masa / 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8665F"/>
                </a:solidFill>
                <a:latin typeface="Arial"/>
                <a:ea typeface="Arial"/>
                <a:cs typeface="Arial"/>
              </a:defRPr>
            </a:pPr>
          </a:p>
        </c:txPr>
        <c:crossAx val="48650112"/>
        <c:crossBetween val="between"/>
        <c:majorUnit val="5"/>
      </c:valAx>
      <c:spPr>
        <a:solidFill xmlns:a="http://schemas.openxmlformats.org/drawingml/2006/main">
          <a:srgbClr val="FCFCF8"/>
        </a:solidFill>
      </c:spPr>
    </c:plotArea>
    <c:plotVisOnly val="1"/>
  </c:chart>
  <c:spPr>
    <a:solidFill xmlns:a="http://schemas.openxmlformats.org/drawingml/2006/main">
      <a:srgbClr val="FCFC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5DB22CC-8BAF-4511-B334-FBD844CBAB49}"/>
              </a:ext>
            </a:extLst>
          </p:cNvPr>
          <p:cNvPicPr>
            <a:picLocks xmlns:a="http://schemas.openxmlformats.org/drawingml/2006/main" noChangeAspect="1"/>
          </p:cNvPicPr>
          <p:nvPr/>
        </p:nvPicPr>
        <p:blipFill>
          <a:blip xmlns:r="http://schemas.openxmlformats.org/officeDocument/2006/relationships" xmlns:a="http://schemas.openxmlformats.org/drawingml/2006/main" r:embed="Rdb9be6108aa744e3"/>
          <a:stretch xmlns:a="http://schemas.openxmlformats.org/drawingml/2006/main"/>
        </p:blipFill>
        <p:spPr>
          <a:xfrm xmlns:a="http://schemas.openxmlformats.org/drawingml/2006/main">
            <a:off x="590550" y="502933"/>
            <a:ext cx="2266950" cy="82293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CCC6180-8933-4873-90FF-1BA6277EC985}"/>
              </a:ext>
            </a:extLst>
          </p:cNvPr>
          <p:cNvSpPr>
            <a:spLocks xmlns:a="http://schemas.openxmlformats.org/drawingml/2006/main" noGrp="1"/>
          </p:cNvSpPr>
          <p:nvPr/>
        </p:nvSpPr>
        <p:spPr>
          <a:xfrm xmlns:a="http://schemas.openxmlformats.org/drawingml/2006/main">
            <a:off x="590550" y="209550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850" b="1">
                <a:solidFill>
                  <a:srgbClr val="FCFCF8"/>
                </a:solidFill>
                <a:latin typeface="Arial Narrow"/>
                <a:ea typeface="Arial Narrow"/>
                <a:cs typeface="Arial Narrow"/>
              </a:defRPr>
            </a:defPPr>
            <a:lvl1pPr>
              <a:defRPr sz="5850" b="1">
                <a:solidFill>
                  <a:srgbClr val="FCFCF8"/>
                </a:solidFill>
                <a:latin typeface="Arial Narrow"/>
                <a:ea typeface="Arial Narrow"/>
                <a:cs typeface="Arial Narrow"/>
              </a:defRPr>
            </a:lvl1pPr>
            <a:lvl2pPr>
              <a:defRPr sz="5850" b="1">
                <a:solidFill>
                  <a:srgbClr val="FCFCF8"/>
                </a:solidFill>
                <a:latin typeface="Arial Narrow"/>
                <a:ea typeface="Arial Narrow"/>
                <a:cs typeface="Arial Narrow"/>
              </a:defRPr>
            </a:lvl2pPr>
            <a:lvl3pPr>
              <a:defRPr sz="5850" b="1">
                <a:solidFill>
                  <a:srgbClr val="FCFCF8"/>
                </a:solidFill>
                <a:latin typeface="Arial Narrow"/>
                <a:ea typeface="Arial Narrow"/>
                <a:cs typeface="Arial Narrow"/>
              </a:defRPr>
            </a:lvl3pPr>
            <a:lvl4pPr>
              <a:defRPr sz="5850" b="1">
                <a:solidFill>
                  <a:srgbClr val="FCFCF8"/>
                </a:solidFill>
                <a:latin typeface="Arial Narrow"/>
                <a:ea typeface="Arial Narrow"/>
                <a:cs typeface="Arial Narrow"/>
              </a:defRPr>
            </a:lvl4pPr>
            <a:lvl5pPr>
              <a:defRPr sz="5850" b="1">
                <a:solidFill>
                  <a:srgbClr val="FCFCF8"/>
                </a:solidFill>
                <a:latin typeface="Arial Narrow"/>
                <a:ea typeface="Arial Narrow"/>
                <a:cs typeface="Arial Narrow"/>
              </a:defRPr>
            </a:lvl5pPr>
            <a:lvl6pPr>
              <a:defRPr sz="5850" b="1">
                <a:solidFill>
                  <a:srgbClr val="FCFCF8"/>
                </a:solidFill>
                <a:latin typeface="Arial Narrow"/>
                <a:ea typeface="Arial Narrow"/>
                <a:cs typeface="Arial Narrow"/>
              </a:defRPr>
            </a:lvl6pPr>
            <a:lvl7pPr>
              <a:defRPr sz="5850" b="1">
                <a:solidFill>
                  <a:srgbClr val="FCFCF8"/>
                </a:solidFill>
                <a:latin typeface="Arial Narrow"/>
                <a:ea typeface="Arial Narrow"/>
                <a:cs typeface="Arial Narrow"/>
              </a:defRPr>
            </a:lvl7pPr>
            <a:lvl8pPr>
              <a:defRPr sz="5850" b="1">
                <a:solidFill>
                  <a:srgbClr val="FCFCF8"/>
                </a:solidFill>
                <a:latin typeface="Arial Narrow"/>
                <a:ea typeface="Arial Narrow"/>
                <a:cs typeface="Arial Narrow"/>
              </a:defRPr>
            </a:lvl8pPr>
            <a:lvl9pPr>
              <a:defRPr sz="5850" b="1">
                <a:solidFill>
                  <a:srgbClr val="FCFCF8"/>
                </a:solidFill>
                <a:latin typeface="Arial Narrow"/>
                <a:ea typeface="Arial Narrow"/>
                <a:cs typeface="Arial Narrow"/>
              </a:defRPr>
            </a:lvl9pPr>
          </a:lstStyle>
          <a:p xmlns:a="http://schemas.openxmlformats.org/drawingml/2006/main">
            <a:pPr>
              <a:defRPr sz="5850" b="1">
                <a:solidFill>
                  <a:srgbClr val="FCFCF8"/>
                </a:solidFill>
                <a:latin typeface="Arial Narrow"/>
                <a:ea typeface="Arial Narrow"/>
                <a:cs typeface="Arial Narrow"/>
              </a:defRPr>
            </a:pPr>
            <a:r>
              <a:rPr sz="5850" b="1">
                <a:solidFill>
                  <a:srgbClr val="FCFCF8"/>
                </a:solidFill>
                <a:latin typeface="Arial Narrow"/>
                <a:ea typeface="Arial Narrow"/>
                <a:cs typeface="Arial Narrow"/>
              </a:rPr>
              <a:t>Tu primer cohete</a:t>
            </a:r>
          </a:p>
        </p:txBody>
      </p:sp>
      <p:sp>
        <p:nvSpPr>
          <p:cNvPr id="3" name="">
            <a:extLst xmlns:a="http://schemas.openxmlformats.org/drawingml/2006/main">
              <a:ext uri="{FF2B5EF4-FFF2-40B4-BE49-F238E27FC236}">
                <a16:creationId xmlns:a16="http://schemas.microsoft.com/office/drawing/2014/main" id="{91FDCEAB-1AFF-4058-B4BA-8332984CC7C7}"/>
              </a:ext>
            </a:extLst>
          </p:cNvPr>
          <p:cNvSpPr>
            <a:spLocks xmlns:a="http://schemas.openxmlformats.org/drawingml/2006/main" noGrp="1"/>
          </p:cNvSpPr>
          <p:nvPr/>
        </p:nvSpPr>
        <p:spPr>
          <a:xfrm xmlns:a="http://schemas.openxmlformats.org/drawingml/2006/main">
            <a:off x="590550" y="3495675"/>
            <a:ext cx="10144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0">
                <a:solidFill>
                  <a:srgbClr val="AEF4BB"/>
                </a:solidFill>
                <a:latin typeface="Arial"/>
                <a:ea typeface="Arial"/>
                <a:cs typeface="Arial"/>
              </a:defRPr>
            </a:defPPr>
            <a:lvl1pPr>
              <a:defRPr sz="3075" b="0">
                <a:solidFill>
                  <a:srgbClr val="AEF4BB"/>
                </a:solidFill>
                <a:latin typeface="Arial"/>
                <a:ea typeface="Arial"/>
                <a:cs typeface="Arial"/>
              </a:defRPr>
            </a:lvl1pPr>
            <a:lvl2pPr>
              <a:defRPr sz="3075" b="0">
                <a:solidFill>
                  <a:srgbClr val="AEF4BB"/>
                </a:solidFill>
                <a:latin typeface="Arial"/>
                <a:ea typeface="Arial"/>
                <a:cs typeface="Arial"/>
              </a:defRPr>
            </a:lvl2pPr>
            <a:lvl3pPr>
              <a:defRPr sz="3075" b="0">
                <a:solidFill>
                  <a:srgbClr val="AEF4BB"/>
                </a:solidFill>
                <a:latin typeface="Arial"/>
                <a:ea typeface="Arial"/>
                <a:cs typeface="Arial"/>
              </a:defRPr>
            </a:lvl3pPr>
            <a:lvl4pPr>
              <a:defRPr sz="3075" b="0">
                <a:solidFill>
                  <a:srgbClr val="AEF4BB"/>
                </a:solidFill>
                <a:latin typeface="Arial"/>
                <a:ea typeface="Arial"/>
                <a:cs typeface="Arial"/>
              </a:defRPr>
            </a:lvl4pPr>
            <a:lvl5pPr>
              <a:defRPr sz="3075" b="0">
                <a:solidFill>
                  <a:srgbClr val="AEF4BB"/>
                </a:solidFill>
                <a:latin typeface="Arial"/>
                <a:ea typeface="Arial"/>
                <a:cs typeface="Arial"/>
              </a:defRPr>
            </a:lvl5pPr>
            <a:lvl6pPr>
              <a:defRPr sz="3075" b="0">
                <a:solidFill>
                  <a:srgbClr val="AEF4BB"/>
                </a:solidFill>
                <a:latin typeface="Arial"/>
                <a:ea typeface="Arial"/>
                <a:cs typeface="Arial"/>
              </a:defRPr>
            </a:lvl6pPr>
            <a:lvl7pPr>
              <a:defRPr sz="3075" b="0">
                <a:solidFill>
                  <a:srgbClr val="AEF4BB"/>
                </a:solidFill>
                <a:latin typeface="Arial"/>
                <a:ea typeface="Arial"/>
                <a:cs typeface="Arial"/>
              </a:defRPr>
            </a:lvl7pPr>
            <a:lvl8pPr>
              <a:defRPr sz="3075" b="0">
                <a:solidFill>
                  <a:srgbClr val="AEF4BB"/>
                </a:solidFill>
                <a:latin typeface="Arial"/>
                <a:ea typeface="Arial"/>
                <a:cs typeface="Arial"/>
              </a:defRPr>
            </a:lvl8pPr>
            <a:lvl9pPr>
              <a:defRPr sz="3075" b="0">
                <a:solidFill>
                  <a:srgbClr val="AEF4BB"/>
                </a:solidFill>
                <a:latin typeface="Arial"/>
                <a:ea typeface="Arial"/>
                <a:cs typeface="Arial"/>
              </a:defRPr>
            </a:lvl9pPr>
          </a:lstStyle>
          <a:p xmlns:a="http://schemas.openxmlformats.org/drawingml/2006/main">
            <a:pPr>
              <a:defRPr sz="3075" b="0">
                <a:solidFill>
                  <a:srgbClr val="AEF4BB"/>
                </a:solidFill>
                <a:latin typeface="Arial"/>
                <a:ea typeface="Arial"/>
                <a:cs typeface="Arial"/>
              </a:defRPr>
            </a:pPr>
            <a:r>
              <a:rPr sz="3075" b="0">
                <a:solidFill>
                  <a:srgbClr val="AEF4BB"/>
                </a:solidFill>
                <a:latin typeface="Arial"/>
                <a:ea typeface="Arial"/>
                <a:cs typeface="Arial"/>
              </a:rPr>
              <a:t>Piezas, medidas y primer modelo en OpenRocket</a:t>
            </a:r>
          </a:p>
        </p:txBody>
      </p:sp>
      <p:sp>
        <p:nvSpPr>
          <p:cNvPr id="4" name="">
            <a:extLst xmlns:a="http://schemas.openxmlformats.org/drawingml/2006/main">
              <a:ext uri="{FF2B5EF4-FFF2-40B4-BE49-F238E27FC236}">
                <a16:creationId xmlns:a16="http://schemas.microsoft.com/office/drawing/2014/main" id="{4CEB68A1-AD73-414D-8BFD-943C211CCF7A}"/>
              </a:ext>
            </a:extLst>
          </p:cNvPr>
          <p:cNvSpPr>
            <a:spLocks xmlns:a="http://schemas.openxmlformats.org/drawingml/2006/main" noGrp="1"/>
          </p:cNvSpPr>
          <p:nvPr/>
        </p:nvSpPr>
        <p:spPr>
          <a:xfrm xmlns:a="http://schemas.openxmlformats.org/drawingml/2006/main">
            <a:off x="590550" y="5324475"/>
            <a:ext cx="108108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FCFCF8"/>
                </a:solidFill>
                <a:latin typeface="Consolas"/>
                <a:ea typeface="Consolas"/>
                <a:cs typeface="Consolas"/>
              </a:defRPr>
            </a:defPPr>
            <a:lvl1pPr>
              <a:defRPr sz="1800" b="0">
                <a:solidFill>
                  <a:srgbClr val="FCFCF8"/>
                </a:solidFill>
                <a:latin typeface="Consolas"/>
                <a:ea typeface="Consolas"/>
                <a:cs typeface="Consolas"/>
              </a:defRPr>
            </a:lvl1pPr>
            <a:lvl2pPr>
              <a:defRPr sz="1800" b="0">
                <a:solidFill>
                  <a:srgbClr val="FCFCF8"/>
                </a:solidFill>
                <a:latin typeface="Consolas"/>
                <a:ea typeface="Consolas"/>
                <a:cs typeface="Consolas"/>
              </a:defRPr>
            </a:lvl2pPr>
            <a:lvl3pPr>
              <a:defRPr sz="1800" b="0">
                <a:solidFill>
                  <a:srgbClr val="FCFCF8"/>
                </a:solidFill>
                <a:latin typeface="Consolas"/>
                <a:ea typeface="Consolas"/>
                <a:cs typeface="Consolas"/>
              </a:defRPr>
            </a:lvl3pPr>
            <a:lvl4pPr>
              <a:defRPr sz="1800" b="0">
                <a:solidFill>
                  <a:srgbClr val="FCFCF8"/>
                </a:solidFill>
                <a:latin typeface="Consolas"/>
                <a:ea typeface="Consolas"/>
                <a:cs typeface="Consolas"/>
              </a:defRPr>
            </a:lvl4pPr>
            <a:lvl5pPr>
              <a:defRPr sz="1800" b="0">
                <a:solidFill>
                  <a:srgbClr val="FCFCF8"/>
                </a:solidFill>
                <a:latin typeface="Consolas"/>
                <a:ea typeface="Consolas"/>
                <a:cs typeface="Consolas"/>
              </a:defRPr>
            </a:lvl5pPr>
            <a:lvl6pPr>
              <a:defRPr sz="1800" b="0">
                <a:solidFill>
                  <a:srgbClr val="FCFCF8"/>
                </a:solidFill>
                <a:latin typeface="Consolas"/>
                <a:ea typeface="Consolas"/>
                <a:cs typeface="Consolas"/>
              </a:defRPr>
            </a:lvl6pPr>
            <a:lvl7pPr>
              <a:defRPr sz="1800" b="0">
                <a:solidFill>
                  <a:srgbClr val="FCFCF8"/>
                </a:solidFill>
                <a:latin typeface="Consolas"/>
                <a:ea typeface="Consolas"/>
                <a:cs typeface="Consolas"/>
              </a:defRPr>
            </a:lvl7pPr>
            <a:lvl8pPr>
              <a:defRPr sz="1800" b="0">
                <a:solidFill>
                  <a:srgbClr val="FCFCF8"/>
                </a:solidFill>
                <a:latin typeface="Consolas"/>
                <a:ea typeface="Consolas"/>
                <a:cs typeface="Consolas"/>
              </a:defRPr>
            </a:lvl8pPr>
            <a:lvl9pPr>
              <a:defRPr sz="1800" b="0">
                <a:solidFill>
                  <a:srgbClr val="FCFCF8"/>
                </a:solidFill>
                <a:latin typeface="Consolas"/>
                <a:ea typeface="Consolas"/>
                <a:cs typeface="Consolas"/>
              </a:defRPr>
            </a:lvl9pPr>
          </a:lstStyle>
          <a:p xmlns:a="http://schemas.openxmlformats.org/drawingml/2006/main">
            <a:pPr>
              <a:defRPr sz="1800" b="0">
                <a:solidFill>
                  <a:srgbClr val="FCFCF8"/>
                </a:solidFill>
                <a:latin typeface="Consolas"/>
                <a:ea typeface="Consolas"/>
                <a:cs typeface="Consolas"/>
              </a:defRPr>
            </a:pPr>
            <a:r>
              <a:rPr sz="1800" b="0">
                <a:solidFill>
                  <a:srgbClr val="FCFCF8"/>
                </a:solidFill>
                <a:latin typeface="Consolas"/>
                <a:ea typeface="Consolas"/>
                <a:cs typeface="Consolas"/>
              </a:rPr>
              <a:t>COHETERÍA BÁSICA E INTERMEDIA</a:t>
            </a:r>
          </a:p>
          <a:p xmlns:a="http://schemas.openxmlformats.org/drawingml/2006/main">
            <a:pPr>
              <a:defRPr sz="1800" b="0">
                <a:solidFill>
                  <a:srgbClr val="FCFCF8"/>
                </a:solidFill>
                <a:latin typeface="Consolas"/>
                <a:ea typeface="Consolas"/>
                <a:cs typeface="Consolas"/>
              </a:defRPr>
            </a:pPr>
            <a:r>
              <a:rPr sz="1800" b="0">
                <a:solidFill>
                  <a:srgbClr val="FCFCF8"/>
                </a:solidFill>
                <a:latin typeface="Consolas"/>
                <a:ea typeface="Consolas"/>
                <a:cs typeface="Consolas"/>
              </a:rPr>
              <a:t>CLASE 1</a:t>
            </a:r>
          </a:p>
        </p:txBody>
      </p:sp>
    </p:spTree>
    <p:extLst>
      <p:ext uri="{BB962C8B-B14F-4D97-AF65-F5344CB8AC3E}">
        <p14:creationId xmlns:p14="http://schemas.microsoft.com/office/powerpoint/2010/main" val="1907284139"/>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B02AB8-9BF5-407D-993A-DCA87A4E2126}"/>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Lo que tendrá tu equipo al terminar hoy</a:t>
            </a:r>
          </a:p>
        </p:txBody>
      </p:sp>
      <p:pic>
        <p:nvPicPr>
          <p:cNvPr id="2" name="">
            <a:extLst xmlns:a="http://schemas.openxmlformats.org/drawingml/2006/main">
              <a:ext uri="{FF2B5EF4-FFF2-40B4-BE49-F238E27FC236}">
                <a16:creationId xmlns:a16="http://schemas.microsoft.com/office/drawing/2014/main" id="{1498B3E2-3C37-4C81-B5A1-0C81CFD08BD1}"/>
              </a:ext>
            </a:extLst>
          </p:cNvPr>
          <p:cNvPicPr>
            <a:picLocks xmlns:a="http://schemas.openxmlformats.org/drawingml/2006/main" noChangeAspect="1"/>
          </p:cNvPicPr>
          <p:nvPr/>
        </p:nvPicPr>
        <p:blipFill>
          <a:blip xmlns:r="http://schemas.openxmlformats.org/officeDocument/2006/relationships" xmlns:a="http://schemas.openxmlformats.org/drawingml/2006/main" r:embed="R3cfbca7c970a406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CB27E4F-898B-48D4-B8D8-94A4840F5A7C}"/>
              </a:ext>
            </a:extLst>
          </p:cNvPr>
          <p:cNvSpPr>
            <a:spLocks xmlns:a="http://schemas.openxmlformats.org/drawingml/2006/main" noGrp="1"/>
          </p:cNvSpPr>
          <p:nvPr/>
        </p:nvSpPr>
        <p:spPr>
          <a:xfrm xmlns:a="http://schemas.openxmlformats.org/drawingml/2006/main">
            <a:off x="590550" y="1762125"/>
            <a:ext cx="10858500" cy="430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4231E"/>
                </a:solidFill>
                <a:latin typeface="Arial"/>
                <a:ea typeface="Arial"/>
                <a:cs typeface="Arial"/>
              </a:defRPr>
            </a:defPPr>
            <a:lvl1pPr>
              <a:defRPr sz="2400" b="0">
                <a:solidFill>
                  <a:srgbClr val="14231E"/>
                </a:solidFill>
                <a:latin typeface="Arial"/>
                <a:ea typeface="Arial"/>
                <a:cs typeface="Arial"/>
              </a:defRPr>
            </a:lvl1pPr>
            <a:lvl2pPr>
              <a:defRPr sz="2400" b="0">
                <a:solidFill>
                  <a:srgbClr val="14231E"/>
                </a:solidFill>
                <a:latin typeface="Arial"/>
                <a:ea typeface="Arial"/>
                <a:cs typeface="Arial"/>
              </a:defRPr>
            </a:lvl2pPr>
            <a:lvl3pPr>
              <a:defRPr sz="2400" b="0">
                <a:solidFill>
                  <a:srgbClr val="14231E"/>
                </a:solidFill>
                <a:latin typeface="Arial"/>
                <a:ea typeface="Arial"/>
                <a:cs typeface="Arial"/>
              </a:defRPr>
            </a:lvl3pPr>
            <a:lvl4pPr>
              <a:defRPr sz="2400" b="0">
                <a:solidFill>
                  <a:srgbClr val="14231E"/>
                </a:solidFill>
                <a:latin typeface="Arial"/>
                <a:ea typeface="Arial"/>
                <a:cs typeface="Arial"/>
              </a:defRPr>
            </a:lvl4pPr>
            <a:lvl5pPr>
              <a:defRPr sz="2400" b="0">
                <a:solidFill>
                  <a:srgbClr val="14231E"/>
                </a:solidFill>
                <a:latin typeface="Arial"/>
                <a:ea typeface="Arial"/>
                <a:cs typeface="Arial"/>
              </a:defRPr>
            </a:lvl5pPr>
            <a:lvl6pPr>
              <a:defRPr sz="2400" b="0">
                <a:solidFill>
                  <a:srgbClr val="14231E"/>
                </a:solidFill>
                <a:latin typeface="Arial"/>
                <a:ea typeface="Arial"/>
                <a:cs typeface="Arial"/>
              </a:defRPr>
            </a:lvl6pPr>
            <a:lvl7pPr>
              <a:defRPr sz="2400" b="0">
                <a:solidFill>
                  <a:srgbClr val="14231E"/>
                </a:solidFill>
                <a:latin typeface="Arial"/>
                <a:ea typeface="Arial"/>
                <a:cs typeface="Arial"/>
              </a:defRPr>
            </a:lvl7pPr>
            <a:lvl8pPr>
              <a:defRPr sz="2400" b="0">
                <a:solidFill>
                  <a:srgbClr val="14231E"/>
                </a:solidFill>
                <a:latin typeface="Arial"/>
                <a:ea typeface="Arial"/>
                <a:cs typeface="Arial"/>
              </a:defRPr>
            </a:lvl8pPr>
            <a:lvl9pPr>
              <a:defRPr sz="2400" b="0">
                <a:solidFill>
                  <a:srgbClr val="14231E"/>
                </a:solidFill>
                <a:latin typeface="Arial"/>
                <a:ea typeface="Arial"/>
                <a:cs typeface="Arial"/>
              </a:defRPr>
            </a:lvl9pPr>
          </a:lstStyle>
          <a:p xmlns:a="http://schemas.openxmlformats.org/drawingml/2006/main">
            <a:pPr>
              <a:defRPr sz="2400" b="0">
                <a:solidFill>
                  <a:srgbClr val="14231E"/>
                </a:solidFill>
                <a:latin typeface="Arial"/>
                <a:ea typeface="Arial"/>
                <a:cs typeface="Arial"/>
              </a:defRPr>
            </a:pPr>
            <a:r>
              <a:rPr sz="2400" b="0">
                <a:solidFill>
                  <a:srgbClr val="14231E"/>
                </a:solidFill>
                <a:latin typeface="Arial"/>
                <a:ea typeface="Arial"/>
                <a:cs typeface="Arial"/>
              </a:rPr>
              <a:t>1. Un mapa de las piezas y su función.</a:t>
            </a:r>
          </a:p>
          <a:p xmlns:a="http://schemas.openxmlformats.org/drawingml/2006/main">
            <a:r>
              <a:t/>
            </a:r>
          </a:p>
          <a:p xmlns:a="http://schemas.openxmlformats.org/drawingml/2006/main">
            <a:pPr>
              <a:defRPr sz="2400" b="0">
                <a:solidFill>
                  <a:srgbClr val="14231E"/>
                </a:solidFill>
                <a:latin typeface="Arial"/>
                <a:ea typeface="Arial"/>
                <a:cs typeface="Arial"/>
              </a:defRPr>
            </a:pPr>
            <a:r>
              <a:rPr sz="2400" b="0">
                <a:solidFill>
                  <a:srgbClr val="14231E"/>
                </a:solidFill>
                <a:latin typeface="Arial"/>
                <a:ea typeface="Arial"/>
                <a:cs typeface="Arial"/>
              </a:rPr>
              <a:t>2. Una ficha de medidas que distingue datos reales y datos de ejercicio.</a:t>
            </a:r>
          </a:p>
          <a:p xmlns:a="http://schemas.openxmlformats.org/drawingml/2006/main">
            <a:r>
              <a:t/>
            </a:r>
          </a:p>
          <a:p xmlns:a="http://schemas.openxmlformats.org/drawingml/2006/main">
            <a:pPr>
              <a:defRPr sz="2400" b="0">
                <a:solidFill>
                  <a:srgbClr val="14231E"/>
                </a:solidFill>
                <a:latin typeface="Arial"/>
                <a:ea typeface="Arial"/>
                <a:cs typeface="Arial"/>
              </a:defRPr>
            </a:pPr>
            <a:r>
              <a:rPr sz="2400" b="0">
                <a:solidFill>
                  <a:srgbClr val="14231E"/>
                </a:solidFill>
                <a:latin typeface="Arial"/>
                <a:ea typeface="Arial"/>
                <a:cs typeface="Arial"/>
              </a:rPr>
              <a:t>3. Un archivo de OpenRocket con nariz, cuerpo y aletas.</a:t>
            </a:r>
          </a:p>
        </p:txBody>
      </p:sp>
      <p:sp>
        <p:nvSpPr>
          <p:cNvPr id="4" name="">
            <a:extLst xmlns:a="http://schemas.openxmlformats.org/drawingml/2006/main">
              <a:ext uri="{FF2B5EF4-FFF2-40B4-BE49-F238E27FC236}">
                <a16:creationId xmlns:a16="http://schemas.microsoft.com/office/drawing/2014/main" id="{A6DDC6D9-63B2-45BA-A3EF-ECC4F74C1C1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02/25</a:t>
            </a:r>
          </a:p>
        </p:txBody>
      </p:sp>
    </p:spTree>
    <p:extLst>
      <p:ext uri="{BB962C8B-B14F-4D97-AF65-F5344CB8AC3E}">
        <p14:creationId xmlns:p14="http://schemas.microsoft.com/office/powerpoint/2010/main" val="2037128146"/>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35ECEC-6A4D-4BD4-BD2B-EA95B5B6211B}"/>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Un cohete desarmado sobre la mesa</a:t>
            </a:r>
          </a:p>
        </p:txBody>
      </p:sp>
      <p:pic>
        <p:nvPicPr>
          <p:cNvPr id="2" name="">
            <a:extLst xmlns:a="http://schemas.openxmlformats.org/drawingml/2006/main">
              <a:ext uri="{FF2B5EF4-FFF2-40B4-BE49-F238E27FC236}">
                <a16:creationId xmlns:a16="http://schemas.microsoft.com/office/drawing/2014/main" id="{F0FD60E5-205F-4109-A8CC-24903138DD36}"/>
              </a:ext>
            </a:extLst>
          </p:cNvPr>
          <p:cNvPicPr>
            <a:picLocks xmlns:a="http://schemas.openxmlformats.org/drawingml/2006/main" noChangeAspect="1"/>
          </p:cNvPicPr>
          <p:nvPr/>
        </p:nvPicPr>
        <p:blipFill>
          <a:blip xmlns:r="http://schemas.openxmlformats.org/officeDocument/2006/relationships" xmlns:a="http://schemas.openxmlformats.org/drawingml/2006/main" r:embed="Rf37cbeeb8fd3482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5A54754C-0D28-4724-A0DB-5E09BFE5F29C}"/>
              </a:ext>
            </a:extLst>
          </p:cNvPr>
          <p:cNvPicPr>
            <a:picLocks xmlns:a="http://schemas.openxmlformats.org/drawingml/2006/main" noChangeAspect="1"/>
          </p:cNvPicPr>
          <p:nvPr/>
        </p:nvPicPr>
        <p:blipFill>
          <a:blip xmlns:r="http://schemas.openxmlformats.org/officeDocument/2006/relationships" xmlns:a="http://schemas.openxmlformats.org/drawingml/2006/main" r:embed="Rc3760751503743a2"/>
          <a:stretch xmlns:a="http://schemas.openxmlformats.org/drawingml/2006/main"/>
        </p:blipFill>
        <p:spPr>
          <a:xfrm xmlns:a="http://schemas.openxmlformats.org/drawingml/2006/main">
            <a:off x="1174882" y="1666875"/>
            <a:ext cx="6070337" cy="3905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6B82C7A-C084-42CA-8CB5-0119C212BD40}"/>
              </a:ext>
            </a:extLst>
          </p:cNvPr>
          <p:cNvSpPr>
            <a:spLocks xmlns:a="http://schemas.openxmlformats.org/drawingml/2006/main" noGrp="1"/>
          </p:cNvSpPr>
          <p:nvPr/>
        </p:nvSpPr>
        <p:spPr>
          <a:xfrm xmlns:a="http://schemas.openxmlformats.org/drawingml/2006/main">
            <a:off x="8201025" y="1800225"/>
            <a:ext cx="3371850" cy="3724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Observa el interior. ¿Dónde están el cuerpo, la recuperación y el soporte del motor?</a:t>
            </a:r>
          </a:p>
        </p:txBody>
      </p:sp>
      <p:sp>
        <p:nvSpPr>
          <p:cNvPr id="5" name="">
            <a:extLst xmlns:a="http://schemas.openxmlformats.org/drawingml/2006/main">
              <a:ext uri="{FF2B5EF4-FFF2-40B4-BE49-F238E27FC236}">
                <a16:creationId xmlns:a16="http://schemas.microsoft.com/office/drawing/2014/main" id="{D96BA8B6-E47E-4D89-AF57-D08D92230A9C}"/>
              </a:ext>
            </a:extLst>
          </p:cNvPr>
          <p:cNvSpPr>
            <a:spLocks xmlns:a="http://schemas.openxmlformats.org/drawingml/2006/main" noGrp="1"/>
          </p:cNvSpPr>
          <p:nvPr/>
        </p:nvSpPr>
        <p:spPr>
          <a:xfrm xmlns:a="http://schemas.openxmlformats.org/drawingml/2006/main">
            <a:off x="590550" y="58197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Ilustración de NASA Glenn. Los componentes y el motor pertenecen a su ejemplo.</a:t>
            </a:r>
          </a:p>
        </p:txBody>
      </p:sp>
      <p:sp>
        <p:nvSpPr>
          <p:cNvPr id="6" name="">
            <a:extLst xmlns:a="http://schemas.openxmlformats.org/drawingml/2006/main">
              <a:ext uri="{FF2B5EF4-FFF2-40B4-BE49-F238E27FC236}">
                <a16:creationId xmlns:a16="http://schemas.microsoft.com/office/drawing/2014/main" id="{6CC95FD3-CA1C-451E-9E4E-543971F334D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03/25</a:t>
            </a:r>
          </a:p>
        </p:txBody>
      </p:sp>
    </p:spTree>
    <p:extLst>
      <p:ext uri="{BB962C8B-B14F-4D97-AF65-F5344CB8AC3E}">
        <p14:creationId xmlns:p14="http://schemas.microsoft.com/office/powerpoint/2010/main" val="1218481280"/>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ED9EBB-4993-4624-9951-4851576CF6AB}"/>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Cada pieza resuelve una necesidad</a:t>
            </a:r>
          </a:p>
        </p:txBody>
      </p:sp>
      <p:pic>
        <p:nvPicPr>
          <p:cNvPr id="2" name="">
            <a:extLst xmlns:a="http://schemas.openxmlformats.org/drawingml/2006/main">
              <a:ext uri="{FF2B5EF4-FFF2-40B4-BE49-F238E27FC236}">
                <a16:creationId xmlns:a16="http://schemas.microsoft.com/office/drawing/2014/main" id="{B9AEBFC4-EC83-468E-A8FD-931221F19CEF}"/>
              </a:ext>
            </a:extLst>
          </p:cNvPr>
          <p:cNvPicPr>
            <a:picLocks xmlns:a="http://schemas.openxmlformats.org/drawingml/2006/main" noChangeAspect="1"/>
          </p:cNvPicPr>
          <p:nvPr/>
        </p:nvPicPr>
        <p:blipFill>
          <a:blip xmlns:r="http://schemas.openxmlformats.org/officeDocument/2006/relationships" xmlns:a="http://schemas.openxmlformats.org/drawingml/2006/main" r:embed="R26c710f58db14ea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graphicFrame>
        <p:nvGraphicFramePr>
          <p:cNvPr id="3" name="">
            <a:extLst xmlns:a="http://schemas.openxmlformats.org/drawingml/2006/main">
              <a:ext uri="{FF2B5EF4-FFF2-40B4-BE49-F238E27FC236}">
                <a16:creationId xmlns:a16="http://schemas.microsoft.com/office/drawing/2014/main" id="{DE793D42-2014-4EEF-803D-733B398901C0}"/>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718185">
                <a:tc>
                  <a:txBody>
                    <a:bodyPr/>
                    <a:lstStyle/>
                    <a:p>
                      <a:r>
                        <a:rPr sz="2025" b="1">
                          <a:solidFill>
                            <a:srgbClr val="FFFFFF"/>
                          </a:solidFill>
                          <a:latin typeface="Arial"/>
                          <a:ea typeface="Arial"/>
                          <a:cs typeface="Arial"/>
                        </a:rPr>
                        <a:t>Pieza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Función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Dato inicial</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Nariz</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Frente y cierre</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Forma y encaje</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Cuerpo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Alineación y volumen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Longitud y diámetros</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Aletas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Orientación</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Contorno y posición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Recuperación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Descenso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Espacio y sujeción</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
        <p:nvSpPr>
          <p:cNvPr id="4" name="">
            <a:extLst xmlns:a="http://schemas.openxmlformats.org/drawingml/2006/main">
              <a:ext uri="{FF2B5EF4-FFF2-40B4-BE49-F238E27FC236}">
                <a16:creationId xmlns:a16="http://schemas.microsoft.com/office/drawing/2014/main" id="{616447D1-9EE3-4073-AD81-D22D1C19E25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04/25</a:t>
            </a:r>
          </a:p>
        </p:txBody>
      </p:sp>
    </p:spTree>
    <p:extLst>
      <p:ext uri="{BB962C8B-B14F-4D97-AF65-F5344CB8AC3E}">
        <p14:creationId xmlns:p14="http://schemas.microsoft.com/office/powerpoint/2010/main" val="1257132533"/>
      </p:ext>
    </p:extLst>
  </p:cSld>
</p:sld>
</file>

<file path=ppt/slides/slide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B1406A-B4F2-406F-A17A-8725DC4C5480}"/>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FCFCF8"/>
                </a:solidFill>
                <a:latin typeface="Arial Narrow"/>
                <a:ea typeface="Arial Narrow"/>
                <a:cs typeface="Arial Narrow"/>
              </a:defRPr>
            </a:defPPr>
            <a:lvl1pPr>
              <a:defRPr sz="3525" b="1">
                <a:solidFill>
                  <a:srgbClr val="FCFCF8"/>
                </a:solidFill>
                <a:latin typeface="Arial Narrow"/>
                <a:ea typeface="Arial Narrow"/>
                <a:cs typeface="Arial Narrow"/>
              </a:defRPr>
            </a:lvl1pPr>
            <a:lvl2pPr>
              <a:defRPr sz="3525" b="1">
                <a:solidFill>
                  <a:srgbClr val="FCFCF8"/>
                </a:solidFill>
                <a:latin typeface="Arial Narrow"/>
                <a:ea typeface="Arial Narrow"/>
                <a:cs typeface="Arial Narrow"/>
              </a:defRPr>
            </a:lvl2pPr>
            <a:lvl3pPr>
              <a:defRPr sz="3525" b="1">
                <a:solidFill>
                  <a:srgbClr val="FCFCF8"/>
                </a:solidFill>
                <a:latin typeface="Arial Narrow"/>
                <a:ea typeface="Arial Narrow"/>
                <a:cs typeface="Arial Narrow"/>
              </a:defRPr>
            </a:lvl3pPr>
            <a:lvl4pPr>
              <a:defRPr sz="3525" b="1">
                <a:solidFill>
                  <a:srgbClr val="FCFCF8"/>
                </a:solidFill>
                <a:latin typeface="Arial Narrow"/>
                <a:ea typeface="Arial Narrow"/>
                <a:cs typeface="Arial Narrow"/>
              </a:defRPr>
            </a:lvl4pPr>
            <a:lvl5pPr>
              <a:defRPr sz="3525" b="1">
                <a:solidFill>
                  <a:srgbClr val="FCFCF8"/>
                </a:solidFill>
                <a:latin typeface="Arial Narrow"/>
                <a:ea typeface="Arial Narrow"/>
                <a:cs typeface="Arial Narrow"/>
              </a:defRPr>
            </a:lvl5pPr>
            <a:lvl6pPr>
              <a:defRPr sz="3525" b="1">
                <a:solidFill>
                  <a:srgbClr val="FCFCF8"/>
                </a:solidFill>
                <a:latin typeface="Arial Narrow"/>
                <a:ea typeface="Arial Narrow"/>
                <a:cs typeface="Arial Narrow"/>
              </a:defRPr>
            </a:lvl6pPr>
            <a:lvl7pPr>
              <a:defRPr sz="3525" b="1">
                <a:solidFill>
                  <a:srgbClr val="FCFCF8"/>
                </a:solidFill>
                <a:latin typeface="Arial Narrow"/>
                <a:ea typeface="Arial Narrow"/>
                <a:cs typeface="Arial Narrow"/>
              </a:defRPr>
            </a:lvl7pPr>
            <a:lvl8pPr>
              <a:defRPr sz="3525" b="1">
                <a:solidFill>
                  <a:srgbClr val="FCFCF8"/>
                </a:solidFill>
                <a:latin typeface="Arial Narrow"/>
                <a:ea typeface="Arial Narrow"/>
                <a:cs typeface="Arial Narrow"/>
              </a:defRPr>
            </a:lvl8pPr>
            <a:lvl9pPr>
              <a:defRPr sz="3525" b="1">
                <a:solidFill>
                  <a:srgbClr val="FCFCF8"/>
                </a:solidFill>
                <a:latin typeface="Arial Narrow"/>
                <a:ea typeface="Arial Narrow"/>
                <a:cs typeface="Arial Narrow"/>
              </a:defRPr>
            </a:lvl9pPr>
          </a:lstStyle>
          <a:p xmlns:a="http://schemas.openxmlformats.org/drawingml/2006/main">
            <a:pPr>
              <a:defRPr sz="3525" b="1">
                <a:solidFill>
                  <a:srgbClr val="FCFCF8"/>
                </a:solidFill>
                <a:latin typeface="Arial Narrow"/>
                <a:ea typeface="Arial Narrow"/>
                <a:cs typeface="Arial Narrow"/>
              </a:defRPr>
            </a:pPr>
            <a:r>
              <a:rPr sz="3525" b="1">
                <a:solidFill>
                  <a:srgbClr val="FCFCF8"/>
                </a:solidFill>
                <a:latin typeface="Arial Narrow"/>
                <a:ea typeface="Arial Narrow"/>
                <a:cs typeface="Arial Narrow"/>
              </a:rPr>
              <a:t>Actividad: ¿qué ocurriría si faltara?</a:t>
            </a:r>
          </a:p>
        </p:txBody>
      </p:sp>
      <p:pic>
        <p:nvPicPr>
          <p:cNvPr id="2" name="">
            <a:extLst xmlns:a="http://schemas.openxmlformats.org/drawingml/2006/main">
              <a:ext uri="{FF2B5EF4-FFF2-40B4-BE49-F238E27FC236}">
                <a16:creationId xmlns:a16="http://schemas.microsoft.com/office/drawing/2014/main" id="{271B0CDE-38BE-472C-9729-A2CBA0914F4F}"/>
              </a:ext>
            </a:extLst>
          </p:cNvPr>
          <p:cNvPicPr>
            <a:picLocks xmlns:a="http://schemas.openxmlformats.org/drawingml/2006/main" noChangeAspect="1"/>
          </p:cNvPicPr>
          <p:nvPr/>
        </p:nvPicPr>
        <p:blipFill>
          <a:blip xmlns:r="http://schemas.openxmlformats.org/officeDocument/2006/relationships" xmlns:a="http://schemas.openxmlformats.org/drawingml/2006/main" r:embed="Rfeb77c6fa7f043d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2138DD8-C84E-4E1E-8FA8-B1634404401A}"/>
              </a:ext>
            </a:extLst>
          </p:cNvPr>
          <p:cNvSpPr>
            <a:spLocks xmlns:a="http://schemas.openxmlformats.org/drawingml/2006/main" noGrp="1"/>
          </p:cNvSpPr>
          <p:nvPr/>
        </p:nvSpPr>
        <p:spPr>
          <a:xfrm xmlns:a="http://schemas.openxmlformats.org/drawingml/2006/main">
            <a:off x="590550" y="1714500"/>
            <a:ext cx="10763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Cada equipo elige una pieza y explica qué problema aparecería sin ella.</a:t>
            </a:r>
          </a:p>
        </p:txBody>
      </p:sp>
      <p:sp>
        <p:nvSpPr>
          <p:cNvPr id="4" name="">
            <a:extLst xmlns:a="http://schemas.openxmlformats.org/drawingml/2006/main">
              <a:ext uri="{FF2B5EF4-FFF2-40B4-BE49-F238E27FC236}">
                <a16:creationId xmlns:a16="http://schemas.microsoft.com/office/drawing/2014/main" id="{A7045B37-3830-49E8-B79A-FB10E49AD704}"/>
              </a:ext>
            </a:extLst>
          </p:cNvPr>
          <p:cNvSpPr>
            <a:spLocks xmlns:a="http://schemas.openxmlformats.org/drawingml/2006/main" noGrp="1"/>
          </p:cNvSpPr>
          <p:nvPr/>
        </p:nvSpPr>
        <p:spPr>
          <a:xfrm xmlns:a="http://schemas.openxmlformats.org/drawingml/2006/main">
            <a:off x="590550" y="3390900"/>
            <a:ext cx="1076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1. Nombra la pieza.</a:t>
            </a:r>
          </a:p>
          <a:p xmlns:a="http://schemas.openxmlformats.org/drawingml/2006/main">
            <a:r>
              <a:t/>
            </a:r>
          </a:p>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2. Describe un problema físico concreto.</a:t>
            </a:r>
          </a:p>
          <a:p xmlns:a="http://schemas.openxmlformats.org/drawingml/2006/main">
            <a:r>
              <a:t/>
            </a:r>
          </a:p>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3. Indica qué comprobarías al recibirla.</a:t>
            </a:r>
          </a:p>
        </p:txBody>
      </p:sp>
      <p:sp>
        <p:nvSpPr>
          <p:cNvPr id="5" name="">
            <a:extLst xmlns:a="http://schemas.openxmlformats.org/drawingml/2006/main">
              <a:ext uri="{FF2B5EF4-FFF2-40B4-BE49-F238E27FC236}">
                <a16:creationId xmlns:a16="http://schemas.microsoft.com/office/drawing/2014/main" id="{76170288-FCBE-4479-B85F-A18DDCA8CEF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CLASE 1   05/25</a:t>
            </a:r>
          </a:p>
        </p:txBody>
      </p:sp>
    </p:spTree>
    <p:extLst>
      <p:ext uri="{BB962C8B-B14F-4D97-AF65-F5344CB8AC3E}">
        <p14:creationId xmlns:p14="http://schemas.microsoft.com/office/powerpoint/2010/main" val="1030665085"/>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F6335B-C10F-4903-A8A9-D054B0197158}"/>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La nariz tiene dos zonas diferentes</a:t>
            </a:r>
          </a:p>
        </p:txBody>
      </p:sp>
      <p:pic>
        <p:nvPicPr>
          <p:cNvPr id="2" name="">
            <a:extLst xmlns:a="http://schemas.openxmlformats.org/drawingml/2006/main">
              <a:ext uri="{FF2B5EF4-FFF2-40B4-BE49-F238E27FC236}">
                <a16:creationId xmlns:a16="http://schemas.microsoft.com/office/drawing/2014/main" id="{DF7F7927-4DCF-4B77-9DBA-D6D548FD49D2}"/>
              </a:ext>
            </a:extLst>
          </p:cNvPr>
          <p:cNvPicPr>
            <a:picLocks xmlns:a="http://schemas.openxmlformats.org/drawingml/2006/main" noChangeAspect="1"/>
          </p:cNvPicPr>
          <p:nvPr/>
        </p:nvPicPr>
        <p:blipFill>
          <a:blip xmlns:r="http://schemas.openxmlformats.org/officeDocument/2006/relationships" xmlns:a="http://schemas.openxmlformats.org/drawingml/2006/main" r:embed="R2100b95a2ee8412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7668D075-BC26-4793-AEAC-F4B56BB6FADF}"/>
              </a:ext>
            </a:extLst>
          </p:cNvPr>
          <p:cNvPicPr>
            <a:picLocks xmlns:a="http://schemas.openxmlformats.org/drawingml/2006/main" noChangeAspect="1"/>
          </p:cNvPicPr>
          <p:nvPr/>
        </p:nvPicPr>
        <p:blipFill>
          <a:blip xmlns:r="http://schemas.openxmlformats.org/officeDocument/2006/relationships" xmlns:a="http://schemas.openxmlformats.org/drawingml/2006/main" r:embed="R7a793bcdfdf543fc"/>
          <a:stretch xmlns:a="http://schemas.openxmlformats.org/drawingml/2006/main"/>
        </p:blipFill>
        <p:spPr>
          <a:xfrm xmlns:a="http://schemas.openxmlformats.org/drawingml/2006/main">
            <a:off x="590550" y="1684409"/>
            <a:ext cx="7239000" cy="387018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E3B9766-9586-4D91-B231-C7446635287F}"/>
              </a:ext>
            </a:extLst>
          </p:cNvPr>
          <p:cNvSpPr>
            <a:spLocks xmlns:a="http://schemas.openxmlformats.org/drawingml/2006/main" noGrp="1"/>
          </p:cNvSpPr>
          <p:nvPr/>
        </p:nvSpPr>
        <p:spPr>
          <a:xfrm xmlns:a="http://schemas.openxmlformats.org/drawingml/2006/main">
            <a:off x="8201025" y="1800225"/>
            <a:ext cx="3371850" cy="3724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Parte visible: forma exterior.</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Hombro: tramo que entra en el tubo.</a:t>
            </a:r>
          </a:p>
        </p:txBody>
      </p:sp>
      <p:sp>
        <p:nvSpPr>
          <p:cNvPr id="5" name="">
            <a:extLst xmlns:a="http://schemas.openxmlformats.org/drawingml/2006/main">
              <a:ext uri="{FF2B5EF4-FFF2-40B4-BE49-F238E27FC236}">
                <a16:creationId xmlns:a16="http://schemas.microsoft.com/office/drawing/2014/main" id="{48AF7365-6C4D-429E-AB6B-F591B7A781B6}"/>
              </a:ext>
            </a:extLst>
          </p:cNvPr>
          <p:cNvSpPr>
            <a:spLocks xmlns:a="http://schemas.openxmlformats.org/drawingml/2006/main" noGrp="1"/>
          </p:cNvSpPr>
          <p:nvPr/>
        </p:nvSpPr>
        <p:spPr>
          <a:xfrm xmlns:a="http://schemas.openxmlformats.org/drawingml/2006/main">
            <a:off x="590550" y="58197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Captura del manual de OpenRocket. Los valores de la imagen no son los del ejercicio.</a:t>
            </a:r>
          </a:p>
        </p:txBody>
      </p:sp>
      <p:sp>
        <p:nvSpPr>
          <p:cNvPr id="6" name="">
            <a:extLst xmlns:a="http://schemas.openxmlformats.org/drawingml/2006/main">
              <a:ext uri="{FF2B5EF4-FFF2-40B4-BE49-F238E27FC236}">
                <a16:creationId xmlns:a16="http://schemas.microsoft.com/office/drawing/2014/main" id="{5D4F0F0E-B9C1-45E5-A2F3-DA8687AA5D8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06/25</a:t>
            </a:r>
          </a:p>
        </p:txBody>
      </p:sp>
    </p:spTree>
    <p:extLst>
      <p:ext uri="{BB962C8B-B14F-4D97-AF65-F5344CB8AC3E}">
        <p14:creationId xmlns:p14="http://schemas.microsoft.com/office/powerpoint/2010/main" val="865734535"/>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4A7E1F-8875-48EC-8530-5698547240F9}"/>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Formas de nariz que vamos a comparar</a:t>
            </a:r>
          </a:p>
        </p:txBody>
      </p:sp>
      <p:pic>
        <p:nvPicPr>
          <p:cNvPr id="2" name="">
            <a:extLst xmlns:a="http://schemas.openxmlformats.org/drawingml/2006/main">
              <a:ext uri="{FF2B5EF4-FFF2-40B4-BE49-F238E27FC236}">
                <a16:creationId xmlns:a16="http://schemas.microsoft.com/office/drawing/2014/main" id="{6411518F-789D-475C-BC91-E56F3875DF25}"/>
              </a:ext>
            </a:extLst>
          </p:cNvPr>
          <p:cNvPicPr>
            <a:picLocks xmlns:a="http://schemas.openxmlformats.org/drawingml/2006/main" noChangeAspect="1"/>
          </p:cNvPicPr>
          <p:nvPr/>
        </p:nvPicPr>
        <p:blipFill>
          <a:blip xmlns:r="http://schemas.openxmlformats.org/officeDocument/2006/relationships" xmlns:a="http://schemas.openxmlformats.org/drawingml/2006/main" r:embed="Rf310e75ab4264ee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graphicFrame>
        <p:nvGraphicFramePr>
          <p:cNvPr id="3" name="">
            <a:extLst xmlns:a="http://schemas.openxmlformats.org/drawingml/2006/main">
              <a:ext uri="{FF2B5EF4-FFF2-40B4-BE49-F238E27FC236}">
                <a16:creationId xmlns:a16="http://schemas.microsoft.com/office/drawing/2014/main" id="{0D1131D1-E116-40C7-A20F-B6E623476589}"/>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897731">
                <a:tc>
                  <a:txBody>
                    <a:bodyPr/>
                    <a:lstStyle/>
                    <a:p>
                      <a:r>
                        <a:rPr sz="2025" b="1">
                          <a:solidFill>
                            <a:srgbClr val="FFFFFF"/>
                          </a:solidFill>
                          <a:latin typeface="Arial"/>
                          <a:ea typeface="Arial"/>
                          <a:cs typeface="Arial"/>
                        </a:rPr>
                        <a:t>Forma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Cómo reconocerla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tendremos que decidir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Cónica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Perfil recto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Punta, pared y encaje</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Ojival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Perfil curvo hasta la punta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Continuidad con el cuerpo</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Elipsoidal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Perfil redondeado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Masa y volumen de la pieza</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
        <p:nvSpPr>
          <p:cNvPr id="4" name="">
            <a:extLst xmlns:a="http://schemas.openxmlformats.org/drawingml/2006/main">
              <a:ext uri="{FF2B5EF4-FFF2-40B4-BE49-F238E27FC236}">
                <a16:creationId xmlns:a16="http://schemas.microsoft.com/office/drawing/2014/main" id="{FF3F54A5-9883-4410-8C85-80D17A3C7DD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07/25</a:t>
            </a:r>
          </a:p>
        </p:txBody>
      </p:sp>
    </p:spTree>
    <p:extLst>
      <p:ext uri="{BB962C8B-B14F-4D97-AF65-F5344CB8AC3E}">
        <p14:creationId xmlns:p14="http://schemas.microsoft.com/office/powerpoint/2010/main" val="1457464239"/>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60B8F1-3551-4427-B58D-4127557D30BD}"/>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El tubo que tenemos define varias decisiones</a:t>
            </a:r>
          </a:p>
        </p:txBody>
      </p:sp>
      <p:pic>
        <p:nvPicPr>
          <p:cNvPr id="2" name="">
            <a:extLst xmlns:a="http://schemas.openxmlformats.org/drawingml/2006/main">
              <a:ext uri="{FF2B5EF4-FFF2-40B4-BE49-F238E27FC236}">
                <a16:creationId xmlns:a16="http://schemas.microsoft.com/office/drawing/2014/main" id="{D3BF0469-64CF-43F5-A57D-33BB55FA5D05}"/>
              </a:ext>
            </a:extLst>
          </p:cNvPr>
          <p:cNvPicPr>
            <a:picLocks xmlns:a="http://schemas.openxmlformats.org/drawingml/2006/main" noChangeAspect="1"/>
          </p:cNvPicPr>
          <p:nvPr/>
        </p:nvPicPr>
        <p:blipFill>
          <a:blip xmlns:r="http://schemas.openxmlformats.org/officeDocument/2006/relationships" xmlns:a="http://schemas.openxmlformats.org/drawingml/2006/main" r:embed="R781e4bddb0744c9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BC87A868-72F0-4710-9FB9-A1BAB0EB3C21}"/>
              </a:ext>
            </a:extLst>
          </p:cNvPr>
          <p:cNvPicPr>
            <a:picLocks xmlns:a="http://schemas.openxmlformats.org/drawingml/2006/main" noChangeAspect="1"/>
          </p:cNvPicPr>
          <p:nvPr/>
        </p:nvPicPr>
        <p:blipFill>
          <a:blip xmlns:r="http://schemas.openxmlformats.org/officeDocument/2006/relationships" xmlns:a="http://schemas.openxmlformats.org/drawingml/2006/main" r:embed="R9bfb397c51164325"/>
          <a:stretch xmlns:a="http://schemas.openxmlformats.org/drawingml/2006/main"/>
        </p:blipFill>
        <p:spPr>
          <a:xfrm xmlns:a="http://schemas.openxmlformats.org/drawingml/2006/main">
            <a:off x="1251527" y="1666875"/>
            <a:ext cx="5917045" cy="3905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05D3A98-92D0-46AB-99B1-555EE9176072}"/>
              </a:ext>
            </a:extLst>
          </p:cNvPr>
          <p:cNvSpPr>
            <a:spLocks xmlns:a="http://schemas.openxmlformats.org/drawingml/2006/main" noGrp="1"/>
          </p:cNvSpPr>
          <p:nvPr/>
        </p:nvSpPr>
        <p:spPr>
          <a:xfrm xmlns:a="http://schemas.openxmlformats.org/drawingml/2006/main">
            <a:off x="8201025" y="1800225"/>
            <a:ext cx="3371850" cy="3724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espacio interior debe alojar el conjunto comercial y la recuperación.</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Mide primero el tubo disponible. Después adapta las piezas.</a:t>
            </a:r>
          </a:p>
        </p:txBody>
      </p:sp>
      <p:sp>
        <p:nvSpPr>
          <p:cNvPr id="5" name="">
            <a:extLst xmlns:a="http://schemas.openxmlformats.org/drawingml/2006/main">
              <a:ext uri="{FF2B5EF4-FFF2-40B4-BE49-F238E27FC236}">
                <a16:creationId xmlns:a16="http://schemas.microsoft.com/office/drawing/2014/main" id="{46CC017C-BDF6-4E08-AB95-B6364C6F0CD3}"/>
              </a:ext>
            </a:extLst>
          </p:cNvPr>
          <p:cNvSpPr>
            <a:spLocks xmlns:a="http://schemas.openxmlformats.org/drawingml/2006/main" noGrp="1"/>
          </p:cNvSpPr>
          <p:nvPr/>
        </p:nvSpPr>
        <p:spPr>
          <a:xfrm xmlns:a="http://schemas.openxmlformats.org/drawingml/2006/main">
            <a:off x="590550" y="58197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Vista 3D Unfinished del ejemplo oficial de OpenRocket. Permite ver la relación entre piezas.</a:t>
            </a:r>
          </a:p>
        </p:txBody>
      </p:sp>
      <p:sp>
        <p:nvSpPr>
          <p:cNvPr id="6" name="">
            <a:extLst xmlns:a="http://schemas.openxmlformats.org/drawingml/2006/main">
              <a:ext uri="{FF2B5EF4-FFF2-40B4-BE49-F238E27FC236}">
                <a16:creationId xmlns:a16="http://schemas.microsoft.com/office/drawing/2014/main" id="{BC3C20F3-77F8-4BB9-895A-B8E2C145BBE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08/25</a:t>
            </a:r>
          </a:p>
        </p:txBody>
      </p:sp>
    </p:spTree>
    <p:extLst>
      <p:ext uri="{BB962C8B-B14F-4D97-AF65-F5344CB8AC3E}">
        <p14:creationId xmlns:p14="http://schemas.microsoft.com/office/powerpoint/2010/main" val="224417744"/>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B96A4A-BE0A-4772-A7B0-4E6AED918697}"/>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Diámetro exterior, interior y espesor</a:t>
            </a:r>
          </a:p>
        </p:txBody>
      </p:sp>
      <p:pic>
        <p:nvPicPr>
          <p:cNvPr id="2" name="">
            <a:extLst xmlns:a="http://schemas.openxmlformats.org/drawingml/2006/main">
              <a:ext uri="{FF2B5EF4-FFF2-40B4-BE49-F238E27FC236}">
                <a16:creationId xmlns:a16="http://schemas.microsoft.com/office/drawing/2014/main" id="{D7EF3F7C-379A-4FA4-A0AA-9CE9FE9D8AFB}"/>
              </a:ext>
            </a:extLst>
          </p:cNvPr>
          <p:cNvPicPr>
            <a:picLocks xmlns:a="http://schemas.openxmlformats.org/drawingml/2006/main" noChangeAspect="1"/>
          </p:cNvPicPr>
          <p:nvPr/>
        </p:nvPicPr>
        <p:blipFill>
          <a:blip xmlns:r="http://schemas.openxmlformats.org/officeDocument/2006/relationships" xmlns:a="http://schemas.openxmlformats.org/drawingml/2006/main" r:embed="Rb9100f5d5c3842c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39F17FA-DC3A-4A67-9717-6E69B1B86920}"/>
              </a:ext>
            </a:extLst>
          </p:cNvPr>
          <p:cNvSpPr>
            <a:spLocks xmlns:a="http://schemas.openxmlformats.org/drawingml/2006/main" noGrp="1"/>
          </p:cNvSpPr>
          <p:nvPr/>
        </p:nvSpPr>
        <p:spPr>
          <a:xfrm xmlns:a="http://schemas.openxmlformats.org/drawingml/2006/main">
            <a:off x="590550" y="1685925"/>
            <a:ext cx="10763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14231E"/>
                </a:solidFill>
                <a:latin typeface="Arial"/>
                <a:ea typeface="Arial"/>
                <a:cs typeface="Arial"/>
              </a:defRPr>
            </a:defPPr>
            <a:lvl1pPr>
              <a:defRPr sz="2550" b="0">
                <a:solidFill>
                  <a:srgbClr val="14231E"/>
                </a:solidFill>
                <a:latin typeface="Arial"/>
                <a:ea typeface="Arial"/>
                <a:cs typeface="Arial"/>
              </a:defRPr>
            </a:lvl1pPr>
            <a:lvl2pPr>
              <a:defRPr sz="2550" b="0">
                <a:solidFill>
                  <a:srgbClr val="14231E"/>
                </a:solidFill>
                <a:latin typeface="Arial"/>
                <a:ea typeface="Arial"/>
                <a:cs typeface="Arial"/>
              </a:defRPr>
            </a:lvl2pPr>
            <a:lvl3pPr>
              <a:defRPr sz="2550" b="0">
                <a:solidFill>
                  <a:srgbClr val="14231E"/>
                </a:solidFill>
                <a:latin typeface="Arial"/>
                <a:ea typeface="Arial"/>
                <a:cs typeface="Arial"/>
              </a:defRPr>
            </a:lvl3pPr>
            <a:lvl4pPr>
              <a:defRPr sz="2550" b="0">
                <a:solidFill>
                  <a:srgbClr val="14231E"/>
                </a:solidFill>
                <a:latin typeface="Arial"/>
                <a:ea typeface="Arial"/>
                <a:cs typeface="Arial"/>
              </a:defRPr>
            </a:lvl4pPr>
            <a:lvl5pPr>
              <a:defRPr sz="2550" b="0">
                <a:solidFill>
                  <a:srgbClr val="14231E"/>
                </a:solidFill>
                <a:latin typeface="Arial"/>
                <a:ea typeface="Arial"/>
                <a:cs typeface="Arial"/>
              </a:defRPr>
            </a:lvl5pPr>
            <a:lvl6pPr>
              <a:defRPr sz="2550" b="0">
                <a:solidFill>
                  <a:srgbClr val="14231E"/>
                </a:solidFill>
                <a:latin typeface="Arial"/>
                <a:ea typeface="Arial"/>
                <a:cs typeface="Arial"/>
              </a:defRPr>
            </a:lvl6pPr>
            <a:lvl7pPr>
              <a:defRPr sz="2550" b="0">
                <a:solidFill>
                  <a:srgbClr val="14231E"/>
                </a:solidFill>
                <a:latin typeface="Arial"/>
                <a:ea typeface="Arial"/>
                <a:cs typeface="Arial"/>
              </a:defRPr>
            </a:lvl7pPr>
            <a:lvl8pPr>
              <a:defRPr sz="2550" b="0">
                <a:solidFill>
                  <a:srgbClr val="14231E"/>
                </a:solidFill>
                <a:latin typeface="Arial"/>
                <a:ea typeface="Arial"/>
                <a:cs typeface="Arial"/>
              </a:defRPr>
            </a:lvl8pPr>
            <a:lvl9pPr>
              <a:defRPr sz="2550" b="0">
                <a:solidFill>
                  <a:srgbClr val="14231E"/>
                </a:solidFill>
                <a:latin typeface="Arial"/>
                <a:ea typeface="Arial"/>
                <a:cs typeface="Arial"/>
              </a:defRPr>
            </a:lvl9pPr>
          </a:lstStyle>
          <a:p xmlns:a="http://schemas.openxmlformats.org/drawingml/2006/main">
            <a:pPr>
              <a:defRPr sz="2550" b="0">
                <a:solidFill>
                  <a:srgbClr val="14231E"/>
                </a:solidFill>
                <a:latin typeface="Arial"/>
                <a:ea typeface="Arial"/>
                <a:cs typeface="Arial"/>
              </a:defRPr>
            </a:pPr>
            <a:r>
              <a:rPr sz="2550" b="0">
                <a:solidFill>
                  <a:srgbClr val="14231E"/>
                </a:solidFill>
                <a:latin typeface="Arial"/>
                <a:ea typeface="Arial"/>
                <a:cs typeface="Arial"/>
              </a:rPr>
              <a:t>Un tubo del ejercicio mide 32,0 mm por fuera y 30,0 mm por dentro.</a:t>
            </a:r>
          </a:p>
        </p:txBody>
      </p:sp>
      <p:pic>
        <p:nvPicPr>
          <p:cNvPr id="4" name="">
            <a:extLst xmlns:a="http://schemas.openxmlformats.org/drawingml/2006/main">
              <a:ext uri="{FF2B5EF4-FFF2-40B4-BE49-F238E27FC236}">
                <a16:creationId xmlns:a16="http://schemas.microsoft.com/office/drawing/2014/main" id="{48277FEC-13A1-4EC2-B7D2-D17BC06EA435}"/>
              </a:ext>
            </a:extLst>
          </p:cNvPr>
          <p:cNvPicPr>
            <a:picLocks xmlns:a="http://schemas.openxmlformats.org/drawingml/2006/main" noChangeAspect="1"/>
          </p:cNvPicPr>
          <p:nvPr/>
        </p:nvPicPr>
        <p:blipFill>
          <a:blip xmlns:r="http://schemas.openxmlformats.org/officeDocument/2006/relationships" xmlns:a="http://schemas.openxmlformats.org/drawingml/2006/main" r:embed="Rf39166949d34459f"/>
          <a:stretch xmlns:a="http://schemas.openxmlformats.org/drawingml/2006/main"/>
        </p:blipFill>
        <p:spPr>
          <a:xfrm xmlns:a="http://schemas.openxmlformats.org/drawingml/2006/main">
            <a:off x="3323446" y="3295650"/>
            <a:ext cx="5421284" cy="990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C8395F2-E6B6-4908-BB42-29FBC9F47A1A}"/>
              </a:ext>
            </a:extLst>
          </p:cNvPr>
          <p:cNvSpPr>
            <a:spLocks xmlns:a="http://schemas.openxmlformats.org/drawingml/2006/main" noGrp="1"/>
          </p:cNvSpPr>
          <p:nvPr/>
        </p:nvSpPr>
        <p:spPr>
          <a:xfrm xmlns:a="http://schemas.openxmlformats.org/drawingml/2006/main">
            <a:off x="590550" y="49149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44F3D"/>
                </a:solidFill>
                <a:latin typeface="Arial"/>
                <a:ea typeface="Arial"/>
                <a:cs typeface="Arial"/>
              </a:defRPr>
            </a:defPPr>
            <a:lvl1pPr>
              <a:defRPr sz="2700" b="1">
                <a:solidFill>
                  <a:srgbClr val="244F3D"/>
                </a:solidFill>
                <a:latin typeface="Arial"/>
                <a:ea typeface="Arial"/>
                <a:cs typeface="Arial"/>
              </a:defRPr>
            </a:lvl1pPr>
            <a:lvl2pPr>
              <a:defRPr sz="2700" b="1">
                <a:solidFill>
                  <a:srgbClr val="244F3D"/>
                </a:solidFill>
                <a:latin typeface="Arial"/>
                <a:ea typeface="Arial"/>
                <a:cs typeface="Arial"/>
              </a:defRPr>
            </a:lvl2pPr>
            <a:lvl3pPr>
              <a:defRPr sz="2700" b="1">
                <a:solidFill>
                  <a:srgbClr val="244F3D"/>
                </a:solidFill>
                <a:latin typeface="Arial"/>
                <a:ea typeface="Arial"/>
                <a:cs typeface="Arial"/>
              </a:defRPr>
            </a:lvl3pPr>
            <a:lvl4pPr>
              <a:defRPr sz="2700" b="1">
                <a:solidFill>
                  <a:srgbClr val="244F3D"/>
                </a:solidFill>
                <a:latin typeface="Arial"/>
                <a:ea typeface="Arial"/>
                <a:cs typeface="Arial"/>
              </a:defRPr>
            </a:lvl4pPr>
            <a:lvl5pPr>
              <a:defRPr sz="2700" b="1">
                <a:solidFill>
                  <a:srgbClr val="244F3D"/>
                </a:solidFill>
                <a:latin typeface="Arial"/>
                <a:ea typeface="Arial"/>
                <a:cs typeface="Arial"/>
              </a:defRPr>
            </a:lvl5pPr>
            <a:lvl6pPr>
              <a:defRPr sz="2700" b="1">
                <a:solidFill>
                  <a:srgbClr val="244F3D"/>
                </a:solidFill>
                <a:latin typeface="Arial"/>
                <a:ea typeface="Arial"/>
                <a:cs typeface="Arial"/>
              </a:defRPr>
            </a:lvl6pPr>
            <a:lvl7pPr>
              <a:defRPr sz="2700" b="1">
                <a:solidFill>
                  <a:srgbClr val="244F3D"/>
                </a:solidFill>
                <a:latin typeface="Arial"/>
                <a:ea typeface="Arial"/>
                <a:cs typeface="Arial"/>
              </a:defRPr>
            </a:lvl7pPr>
            <a:lvl8pPr>
              <a:defRPr sz="2700" b="1">
                <a:solidFill>
                  <a:srgbClr val="244F3D"/>
                </a:solidFill>
                <a:latin typeface="Arial"/>
                <a:ea typeface="Arial"/>
                <a:cs typeface="Arial"/>
              </a:defRPr>
            </a:lvl8pPr>
            <a:lvl9pPr>
              <a:defRPr sz="2700" b="1">
                <a:solidFill>
                  <a:srgbClr val="244F3D"/>
                </a:solidFill>
                <a:latin typeface="Arial"/>
                <a:ea typeface="Arial"/>
                <a:cs typeface="Arial"/>
              </a:defRPr>
            </a:lvl9pPr>
          </a:lstStyle>
          <a:p xmlns:a="http://schemas.openxmlformats.org/drawingml/2006/main">
            <a:pPr>
              <a:defRPr sz="2700" b="1">
                <a:solidFill>
                  <a:srgbClr val="244F3D"/>
                </a:solidFill>
                <a:latin typeface="Arial"/>
                <a:ea typeface="Arial"/>
                <a:cs typeface="Arial"/>
              </a:defRPr>
            </a:pPr>
            <a:r>
              <a:rPr sz="2700" b="1">
                <a:solidFill>
                  <a:srgbClr val="244F3D"/>
                </a:solidFill>
                <a:latin typeface="Arial"/>
                <a:ea typeface="Arial"/>
                <a:cs typeface="Arial"/>
              </a:rPr>
              <a:t>Espesor de una pared: 1,0 mm</a:t>
            </a:r>
          </a:p>
        </p:txBody>
      </p:sp>
      <p:sp>
        <p:nvSpPr>
          <p:cNvPr id="6" name="">
            <a:extLst xmlns:a="http://schemas.openxmlformats.org/drawingml/2006/main">
              <a:ext uri="{FF2B5EF4-FFF2-40B4-BE49-F238E27FC236}">
                <a16:creationId xmlns:a16="http://schemas.microsoft.com/office/drawing/2014/main" id="{74D520D3-A451-4178-9038-860DF8F9B44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09/25</a:t>
            </a:r>
          </a:p>
        </p:txBody>
      </p:sp>
    </p:spTree>
    <p:extLst>
      <p:ext uri="{BB962C8B-B14F-4D97-AF65-F5344CB8AC3E}">
        <p14:creationId xmlns:p14="http://schemas.microsoft.com/office/powerpoint/2010/main" val="1378266386"/>
      </p:ext>
    </p:extLst>
  </p:cSld>
</p:sld>
</file>

<file path=ppt/slides/slide10.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1BA343-BEE4-4DA1-856C-A60243DDEE61}"/>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FCFCF8"/>
                </a:solidFill>
                <a:latin typeface="Arial Narrow"/>
                <a:ea typeface="Arial Narrow"/>
                <a:cs typeface="Arial Narrow"/>
              </a:defRPr>
            </a:defPPr>
            <a:lvl1pPr>
              <a:defRPr sz="3525" b="1">
                <a:solidFill>
                  <a:srgbClr val="FCFCF8"/>
                </a:solidFill>
                <a:latin typeface="Arial Narrow"/>
                <a:ea typeface="Arial Narrow"/>
                <a:cs typeface="Arial Narrow"/>
              </a:defRPr>
            </a:lvl1pPr>
            <a:lvl2pPr>
              <a:defRPr sz="3525" b="1">
                <a:solidFill>
                  <a:srgbClr val="FCFCF8"/>
                </a:solidFill>
                <a:latin typeface="Arial Narrow"/>
                <a:ea typeface="Arial Narrow"/>
                <a:cs typeface="Arial Narrow"/>
              </a:defRPr>
            </a:lvl2pPr>
            <a:lvl3pPr>
              <a:defRPr sz="3525" b="1">
                <a:solidFill>
                  <a:srgbClr val="FCFCF8"/>
                </a:solidFill>
                <a:latin typeface="Arial Narrow"/>
                <a:ea typeface="Arial Narrow"/>
                <a:cs typeface="Arial Narrow"/>
              </a:defRPr>
            </a:lvl3pPr>
            <a:lvl4pPr>
              <a:defRPr sz="3525" b="1">
                <a:solidFill>
                  <a:srgbClr val="FCFCF8"/>
                </a:solidFill>
                <a:latin typeface="Arial Narrow"/>
                <a:ea typeface="Arial Narrow"/>
                <a:cs typeface="Arial Narrow"/>
              </a:defRPr>
            </a:lvl4pPr>
            <a:lvl5pPr>
              <a:defRPr sz="3525" b="1">
                <a:solidFill>
                  <a:srgbClr val="FCFCF8"/>
                </a:solidFill>
                <a:latin typeface="Arial Narrow"/>
                <a:ea typeface="Arial Narrow"/>
                <a:cs typeface="Arial Narrow"/>
              </a:defRPr>
            </a:lvl5pPr>
            <a:lvl6pPr>
              <a:defRPr sz="3525" b="1">
                <a:solidFill>
                  <a:srgbClr val="FCFCF8"/>
                </a:solidFill>
                <a:latin typeface="Arial Narrow"/>
                <a:ea typeface="Arial Narrow"/>
                <a:cs typeface="Arial Narrow"/>
              </a:defRPr>
            </a:lvl6pPr>
            <a:lvl7pPr>
              <a:defRPr sz="3525" b="1">
                <a:solidFill>
                  <a:srgbClr val="FCFCF8"/>
                </a:solidFill>
                <a:latin typeface="Arial Narrow"/>
                <a:ea typeface="Arial Narrow"/>
                <a:cs typeface="Arial Narrow"/>
              </a:defRPr>
            </a:lvl7pPr>
            <a:lvl8pPr>
              <a:defRPr sz="3525" b="1">
                <a:solidFill>
                  <a:srgbClr val="FCFCF8"/>
                </a:solidFill>
                <a:latin typeface="Arial Narrow"/>
                <a:ea typeface="Arial Narrow"/>
                <a:cs typeface="Arial Narrow"/>
              </a:defRPr>
            </a:lvl8pPr>
            <a:lvl9pPr>
              <a:defRPr sz="3525" b="1">
                <a:solidFill>
                  <a:srgbClr val="FCFCF8"/>
                </a:solidFill>
                <a:latin typeface="Arial Narrow"/>
                <a:ea typeface="Arial Narrow"/>
                <a:cs typeface="Arial Narrow"/>
              </a:defRPr>
            </a:lvl9pPr>
          </a:lstStyle>
          <a:p xmlns:a="http://schemas.openxmlformats.org/drawingml/2006/main">
            <a:pPr>
              <a:defRPr sz="3525" b="1">
                <a:solidFill>
                  <a:srgbClr val="FCFCF8"/>
                </a:solidFill>
                <a:latin typeface="Arial Narrow"/>
                <a:ea typeface="Arial Narrow"/>
                <a:cs typeface="Arial Narrow"/>
              </a:defRPr>
            </a:pPr>
            <a:r>
              <a:rPr sz="3525" b="1">
                <a:solidFill>
                  <a:srgbClr val="FCFCF8"/>
                </a:solidFill>
                <a:latin typeface="Arial Narrow"/>
                <a:ea typeface="Arial Narrow"/>
                <a:cs typeface="Arial Narrow"/>
              </a:rPr>
              <a:t>Actividad: medir sin inventar datos</a:t>
            </a:r>
          </a:p>
        </p:txBody>
      </p:sp>
      <p:pic>
        <p:nvPicPr>
          <p:cNvPr id="2" name="">
            <a:extLst xmlns:a="http://schemas.openxmlformats.org/drawingml/2006/main">
              <a:ext uri="{FF2B5EF4-FFF2-40B4-BE49-F238E27FC236}">
                <a16:creationId xmlns:a16="http://schemas.microsoft.com/office/drawing/2014/main" id="{9B56F48D-F45C-4910-89B5-E5547936ECE4}"/>
              </a:ext>
            </a:extLst>
          </p:cNvPr>
          <p:cNvPicPr>
            <a:picLocks xmlns:a="http://schemas.openxmlformats.org/drawingml/2006/main" noChangeAspect="1"/>
          </p:cNvPicPr>
          <p:nvPr/>
        </p:nvPicPr>
        <p:blipFill>
          <a:blip xmlns:r="http://schemas.openxmlformats.org/officeDocument/2006/relationships" xmlns:a="http://schemas.openxmlformats.org/drawingml/2006/main" r:embed="Rf8bde9137261453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4EC8550-362A-43A6-9A38-C6C6A277C1B1}"/>
              </a:ext>
            </a:extLst>
          </p:cNvPr>
          <p:cNvSpPr>
            <a:spLocks xmlns:a="http://schemas.openxmlformats.org/drawingml/2006/main" noGrp="1"/>
          </p:cNvSpPr>
          <p:nvPr/>
        </p:nvSpPr>
        <p:spPr>
          <a:xfrm xmlns:a="http://schemas.openxmlformats.org/drawingml/2006/main">
            <a:off x="590550" y="1714500"/>
            <a:ext cx="10763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Completa la ficha de piezas con el tubo del equipo o con la demostración del docente.</a:t>
            </a:r>
          </a:p>
        </p:txBody>
      </p:sp>
      <p:sp>
        <p:nvSpPr>
          <p:cNvPr id="4" name="">
            <a:extLst xmlns:a="http://schemas.openxmlformats.org/drawingml/2006/main">
              <a:ext uri="{FF2B5EF4-FFF2-40B4-BE49-F238E27FC236}">
                <a16:creationId xmlns:a16="http://schemas.microsoft.com/office/drawing/2014/main" id="{3EAE97E2-FD51-4993-9FE8-C298F112C3D7}"/>
              </a:ext>
            </a:extLst>
          </p:cNvPr>
          <p:cNvSpPr>
            <a:spLocks xmlns:a="http://schemas.openxmlformats.org/drawingml/2006/main" noGrp="1"/>
          </p:cNvSpPr>
          <p:nvPr/>
        </p:nvSpPr>
        <p:spPr>
          <a:xfrm xmlns:a="http://schemas.openxmlformats.org/drawingml/2006/main">
            <a:off x="590550" y="3390900"/>
            <a:ext cx="1076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1. Longitud del cuerpo.</a:t>
            </a:r>
          </a:p>
          <a:p xmlns:a="http://schemas.openxmlformats.org/drawingml/2006/main">
            <a:r>
              <a:t/>
            </a:r>
          </a:p>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2. Diámetro exterior e interior.</a:t>
            </a:r>
          </a:p>
          <a:p xmlns:a="http://schemas.openxmlformats.org/drawingml/2006/main">
            <a:r>
              <a:t/>
            </a:r>
          </a:p>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3. Instrumento y unidad.</a:t>
            </a:r>
          </a:p>
          <a:p xmlns:a="http://schemas.openxmlformats.org/drawingml/2006/main">
            <a:r>
              <a:t/>
            </a:r>
          </a:p>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4. Dato medido o dato pendiente.</a:t>
            </a:r>
          </a:p>
        </p:txBody>
      </p:sp>
      <p:sp>
        <p:nvSpPr>
          <p:cNvPr id="5" name="">
            <a:extLst xmlns:a="http://schemas.openxmlformats.org/drawingml/2006/main">
              <a:ext uri="{FF2B5EF4-FFF2-40B4-BE49-F238E27FC236}">
                <a16:creationId xmlns:a16="http://schemas.microsoft.com/office/drawing/2014/main" id="{4F1B42CE-27E1-4511-AA7E-8F89A47863C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CLASE 1   10/25</a:t>
            </a:r>
          </a:p>
        </p:txBody>
      </p:sp>
    </p:spTree>
    <p:extLst>
      <p:ext uri="{BB962C8B-B14F-4D97-AF65-F5344CB8AC3E}">
        <p14:creationId xmlns:p14="http://schemas.microsoft.com/office/powerpoint/2010/main" val="1594916863"/>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0A263B-8836-4577-9E04-674428587EF6}"/>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El encaje se prueba antes de imprimir todo</a:t>
            </a:r>
          </a:p>
        </p:txBody>
      </p:sp>
      <p:pic>
        <p:nvPicPr>
          <p:cNvPr id="2" name="">
            <a:extLst xmlns:a="http://schemas.openxmlformats.org/drawingml/2006/main">
              <a:ext uri="{FF2B5EF4-FFF2-40B4-BE49-F238E27FC236}">
                <a16:creationId xmlns:a16="http://schemas.microsoft.com/office/drawing/2014/main" id="{6AAA41CC-339B-4F53-BF69-2AC2DA248353}"/>
              </a:ext>
            </a:extLst>
          </p:cNvPr>
          <p:cNvPicPr>
            <a:picLocks xmlns:a="http://schemas.openxmlformats.org/drawingml/2006/main" noChangeAspect="1"/>
          </p:cNvPicPr>
          <p:nvPr/>
        </p:nvPicPr>
        <p:blipFill>
          <a:blip xmlns:r="http://schemas.openxmlformats.org/officeDocument/2006/relationships" xmlns:a="http://schemas.openxmlformats.org/drawingml/2006/main" r:embed="R8fd277a34da7404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7276A8-80AE-4413-AE45-3B85CE23A074}"/>
              </a:ext>
            </a:extLst>
          </p:cNvPr>
          <p:cNvSpPr>
            <a:spLocks xmlns:a="http://schemas.openxmlformats.org/drawingml/2006/main" noGrp="1"/>
          </p:cNvSpPr>
          <p:nvPr/>
        </p:nvSpPr>
        <p:spPr>
          <a:xfrm xmlns:a="http://schemas.openxmlformats.org/drawingml/2006/main">
            <a:off x="590550" y="1685925"/>
            <a:ext cx="10763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14231E"/>
                </a:solidFill>
                <a:latin typeface="Arial"/>
                <a:ea typeface="Arial"/>
                <a:cs typeface="Arial"/>
              </a:defRPr>
            </a:defPPr>
            <a:lvl1pPr>
              <a:defRPr sz="2550" b="0">
                <a:solidFill>
                  <a:srgbClr val="14231E"/>
                </a:solidFill>
                <a:latin typeface="Arial"/>
                <a:ea typeface="Arial"/>
                <a:cs typeface="Arial"/>
              </a:defRPr>
            </a:lvl1pPr>
            <a:lvl2pPr>
              <a:defRPr sz="2550" b="0">
                <a:solidFill>
                  <a:srgbClr val="14231E"/>
                </a:solidFill>
                <a:latin typeface="Arial"/>
                <a:ea typeface="Arial"/>
                <a:cs typeface="Arial"/>
              </a:defRPr>
            </a:lvl2pPr>
            <a:lvl3pPr>
              <a:defRPr sz="2550" b="0">
                <a:solidFill>
                  <a:srgbClr val="14231E"/>
                </a:solidFill>
                <a:latin typeface="Arial"/>
                <a:ea typeface="Arial"/>
                <a:cs typeface="Arial"/>
              </a:defRPr>
            </a:lvl3pPr>
            <a:lvl4pPr>
              <a:defRPr sz="2550" b="0">
                <a:solidFill>
                  <a:srgbClr val="14231E"/>
                </a:solidFill>
                <a:latin typeface="Arial"/>
                <a:ea typeface="Arial"/>
                <a:cs typeface="Arial"/>
              </a:defRPr>
            </a:lvl4pPr>
            <a:lvl5pPr>
              <a:defRPr sz="2550" b="0">
                <a:solidFill>
                  <a:srgbClr val="14231E"/>
                </a:solidFill>
                <a:latin typeface="Arial"/>
                <a:ea typeface="Arial"/>
                <a:cs typeface="Arial"/>
              </a:defRPr>
            </a:lvl5pPr>
            <a:lvl6pPr>
              <a:defRPr sz="2550" b="0">
                <a:solidFill>
                  <a:srgbClr val="14231E"/>
                </a:solidFill>
                <a:latin typeface="Arial"/>
                <a:ea typeface="Arial"/>
                <a:cs typeface="Arial"/>
              </a:defRPr>
            </a:lvl6pPr>
            <a:lvl7pPr>
              <a:defRPr sz="2550" b="0">
                <a:solidFill>
                  <a:srgbClr val="14231E"/>
                </a:solidFill>
                <a:latin typeface="Arial"/>
                <a:ea typeface="Arial"/>
                <a:cs typeface="Arial"/>
              </a:defRPr>
            </a:lvl7pPr>
            <a:lvl8pPr>
              <a:defRPr sz="2550" b="0">
                <a:solidFill>
                  <a:srgbClr val="14231E"/>
                </a:solidFill>
                <a:latin typeface="Arial"/>
                <a:ea typeface="Arial"/>
                <a:cs typeface="Arial"/>
              </a:defRPr>
            </a:lvl8pPr>
            <a:lvl9pPr>
              <a:defRPr sz="2550" b="0">
                <a:solidFill>
                  <a:srgbClr val="14231E"/>
                </a:solidFill>
                <a:latin typeface="Arial"/>
                <a:ea typeface="Arial"/>
                <a:cs typeface="Arial"/>
              </a:defRPr>
            </a:lvl9pPr>
          </a:lstStyle>
          <a:p xmlns:a="http://schemas.openxmlformats.org/drawingml/2006/main">
            <a:pPr>
              <a:defRPr sz="2550" b="0">
                <a:solidFill>
                  <a:srgbClr val="14231E"/>
                </a:solidFill>
                <a:latin typeface="Arial"/>
                <a:ea typeface="Arial"/>
                <a:cs typeface="Arial"/>
              </a:defRPr>
            </a:pPr>
            <a:r>
              <a:rPr sz="2550" b="0">
                <a:solidFill>
                  <a:srgbClr val="14231E"/>
                </a:solidFill>
                <a:latin typeface="Arial"/>
                <a:ea typeface="Arial"/>
                <a:cs typeface="Arial"/>
              </a:rPr>
              <a:t>Abertura medida: 30,0 mm.</a:t>
            </a:r>
          </a:p>
          <a:p xmlns:a="http://schemas.openxmlformats.org/drawingml/2006/main">
            <a:pPr>
              <a:defRPr sz="2550" b="0">
                <a:solidFill>
                  <a:srgbClr val="14231E"/>
                </a:solidFill>
                <a:latin typeface="Arial"/>
                <a:ea typeface="Arial"/>
                <a:cs typeface="Arial"/>
              </a:defRPr>
            </a:pPr>
            <a:r>
              <a:rPr sz="2550" b="0">
                <a:solidFill>
                  <a:srgbClr val="14231E"/>
                </a:solidFill>
                <a:latin typeface="Arial"/>
                <a:ea typeface="Arial"/>
                <a:cs typeface="Arial"/>
              </a:rPr>
              <a:t>Muestra impresa: 29,8 mm.</a:t>
            </a:r>
          </a:p>
        </p:txBody>
      </p:sp>
      <p:pic>
        <p:nvPicPr>
          <p:cNvPr id="4" name="">
            <a:extLst xmlns:a="http://schemas.openxmlformats.org/drawingml/2006/main">
              <a:ext uri="{FF2B5EF4-FFF2-40B4-BE49-F238E27FC236}">
                <a16:creationId xmlns:a16="http://schemas.microsoft.com/office/drawing/2014/main" id="{6215ECF9-5873-48A8-BCC1-758BBBAD9E65}"/>
              </a:ext>
            </a:extLst>
          </p:cNvPr>
          <p:cNvPicPr>
            <a:picLocks xmlns:a="http://schemas.openxmlformats.org/drawingml/2006/main" noChangeAspect="1"/>
          </p:cNvPicPr>
          <p:nvPr/>
        </p:nvPicPr>
        <p:blipFill>
          <a:blip xmlns:r="http://schemas.openxmlformats.org/officeDocument/2006/relationships" xmlns:a="http://schemas.openxmlformats.org/drawingml/2006/main" r:embed="R449c44841e0949f3"/>
          <a:stretch xmlns:a="http://schemas.openxmlformats.org/drawingml/2006/main"/>
        </p:blipFill>
        <p:spPr>
          <a:xfrm xmlns:a="http://schemas.openxmlformats.org/drawingml/2006/main">
            <a:off x="723900" y="3353898"/>
            <a:ext cx="10620375" cy="87410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64C2257-5711-4379-A521-4FA956F1C181}"/>
              </a:ext>
            </a:extLst>
          </p:cNvPr>
          <p:cNvSpPr>
            <a:spLocks xmlns:a="http://schemas.openxmlformats.org/drawingml/2006/main" noGrp="1"/>
          </p:cNvSpPr>
          <p:nvPr/>
        </p:nvSpPr>
        <p:spPr>
          <a:xfrm xmlns:a="http://schemas.openxmlformats.org/drawingml/2006/main">
            <a:off x="590550" y="49149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44F3D"/>
                </a:solidFill>
                <a:latin typeface="Arial"/>
                <a:ea typeface="Arial"/>
                <a:cs typeface="Arial"/>
              </a:defRPr>
            </a:defPPr>
            <a:lvl1pPr>
              <a:defRPr sz="2700" b="1">
                <a:solidFill>
                  <a:srgbClr val="244F3D"/>
                </a:solidFill>
                <a:latin typeface="Arial"/>
                <a:ea typeface="Arial"/>
                <a:cs typeface="Arial"/>
              </a:defRPr>
            </a:lvl1pPr>
            <a:lvl2pPr>
              <a:defRPr sz="2700" b="1">
                <a:solidFill>
                  <a:srgbClr val="244F3D"/>
                </a:solidFill>
                <a:latin typeface="Arial"/>
                <a:ea typeface="Arial"/>
                <a:cs typeface="Arial"/>
              </a:defRPr>
            </a:lvl2pPr>
            <a:lvl3pPr>
              <a:defRPr sz="2700" b="1">
                <a:solidFill>
                  <a:srgbClr val="244F3D"/>
                </a:solidFill>
                <a:latin typeface="Arial"/>
                <a:ea typeface="Arial"/>
                <a:cs typeface="Arial"/>
              </a:defRPr>
            </a:lvl3pPr>
            <a:lvl4pPr>
              <a:defRPr sz="2700" b="1">
                <a:solidFill>
                  <a:srgbClr val="244F3D"/>
                </a:solidFill>
                <a:latin typeface="Arial"/>
                <a:ea typeface="Arial"/>
                <a:cs typeface="Arial"/>
              </a:defRPr>
            </a:lvl4pPr>
            <a:lvl5pPr>
              <a:defRPr sz="2700" b="1">
                <a:solidFill>
                  <a:srgbClr val="244F3D"/>
                </a:solidFill>
                <a:latin typeface="Arial"/>
                <a:ea typeface="Arial"/>
                <a:cs typeface="Arial"/>
              </a:defRPr>
            </a:lvl5pPr>
            <a:lvl6pPr>
              <a:defRPr sz="2700" b="1">
                <a:solidFill>
                  <a:srgbClr val="244F3D"/>
                </a:solidFill>
                <a:latin typeface="Arial"/>
                <a:ea typeface="Arial"/>
                <a:cs typeface="Arial"/>
              </a:defRPr>
            </a:lvl6pPr>
            <a:lvl7pPr>
              <a:defRPr sz="2700" b="1">
                <a:solidFill>
                  <a:srgbClr val="244F3D"/>
                </a:solidFill>
                <a:latin typeface="Arial"/>
                <a:ea typeface="Arial"/>
                <a:cs typeface="Arial"/>
              </a:defRPr>
            </a:lvl7pPr>
            <a:lvl8pPr>
              <a:defRPr sz="2700" b="1">
                <a:solidFill>
                  <a:srgbClr val="244F3D"/>
                </a:solidFill>
                <a:latin typeface="Arial"/>
                <a:ea typeface="Arial"/>
                <a:cs typeface="Arial"/>
              </a:defRPr>
            </a:lvl8pPr>
            <a:lvl9pPr>
              <a:defRPr sz="2700" b="1">
                <a:solidFill>
                  <a:srgbClr val="244F3D"/>
                </a:solidFill>
                <a:latin typeface="Arial"/>
                <a:ea typeface="Arial"/>
                <a:cs typeface="Arial"/>
              </a:defRPr>
            </a:lvl9pPr>
          </a:lstStyle>
          <a:p xmlns:a="http://schemas.openxmlformats.org/drawingml/2006/main">
            <a:pPr>
              <a:defRPr sz="2700" b="1">
                <a:solidFill>
                  <a:srgbClr val="244F3D"/>
                </a:solidFill>
                <a:latin typeface="Arial"/>
                <a:ea typeface="Arial"/>
                <a:cs typeface="Arial"/>
              </a:defRPr>
            </a:pPr>
            <a:r>
              <a:rPr sz="2700" b="1">
                <a:solidFill>
                  <a:srgbClr val="244F3D"/>
                </a:solidFill>
                <a:latin typeface="Arial"/>
                <a:ea typeface="Arial"/>
                <a:cs typeface="Arial"/>
              </a:rPr>
              <a:t>Diferencia diametral: 0,2 mm.</a:t>
            </a:r>
          </a:p>
          <a:p xmlns:a="http://schemas.openxmlformats.org/drawingml/2006/main">
            <a:pPr>
              <a:defRPr sz="2700" b="1">
                <a:solidFill>
                  <a:srgbClr val="244F3D"/>
                </a:solidFill>
                <a:latin typeface="Arial"/>
                <a:ea typeface="Arial"/>
                <a:cs typeface="Arial"/>
              </a:defRPr>
            </a:pPr>
            <a:r>
              <a:rPr sz="2700" b="1">
                <a:solidFill>
                  <a:srgbClr val="244F3D"/>
                </a:solidFill>
                <a:latin typeface="Arial"/>
                <a:ea typeface="Arial"/>
                <a:cs typeface="Arial"/>
              </a:rPr>
              <a:t>Con centrado ideal: 0,1 mm por lado.</a:t>
            </a:r>
          </a:p>
        </p:txBody>
      </p:sp>
      <p:sp>
        <p:nvSpPr>
          <p:cNvPr id="6" name="">
            <a:extLst xmlns:a="http://schemas.openxmlformats.org/drawingml/2006/main">
              <a:ext uri="{FF2B5EF4-FFF2-40B4-BE49-F238E27FC236}">
                <a16:creationId xmlns:a16="http://schemas.microsoft.com/office/drawing/2014/main" id="{EBCFAA5D-2BD1-4C8D-93C2-37728513CF3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11/25</a:t>
            </a:r>
          </a:p>
        </p:txBody>
      </p:sp>
    </p:spTree>
    <p:extLst>
      <p:ext uri="{BB962C8B-B14F-4D97-AF65-F5344CB8AC3E}">
        <p14:creationId xmlns:p14="http://schemas.microsoft.com/office/powerpoint/2010/main" val="1186471318"/>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73459DA-40B6-48AE-B458-009B0F3522CA}"/>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Las aletas deben repetirse y quedar alineadas</a:t>
            </a:r>
          </a:p>
        </p:txBody>
      </p:sp>
      <p:pic>
        <p:nvPicPr>
          <p:cNvPr id="2" name="">
            <a:extLst xmlns:a="http://schemas.openxmlformats.org/drawingml/2006/main">
              <a:ext uri="{FF2B5EF4-FFF2-40B4-BE49-F238E27FC236}">
                <a16:creationId xmlns:a16="http://schemas.microsoft.com/office/drawing/2014/main" id="{35755BC9-647B-4398-9A0C-20A4304D1AD4}"/>
              </a:ext>
            </a:extLst>
          </p:cNvPr>
          <p:cNvPicPr>
            <a:picLocks xmlns:a="http://schemas.openxmlformats.org/drawingml/2006/main" noChangeAspect="1"/>
          </p:cNvPicPr>
          <p:nvPr/>
        </p:nvPicPr>
        <p:blipFill>
          <a:blip xmlns:r="http://schemas.openxmlformats.org/officeDocument/2006/relationships" xmlns:a="http://schemas.openxmlformats.org/drawingml/2006/main" r:embed="R40a2c79a8651426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6370525-CA98-4D19-801F-7B9828036679}"/>
              </a:ext>
            </a:extLst>
          </p:cNvPr>
          <p:cNvSpPr>
            <a:spLocks xmlns:a="http://schemas.openxmlformats.org/drawingml/2006/main" noGrp="1"/>
          </p:cNvSpPr>
          <p:nvPr/>
        </p:nvSpPr>
        <p:spPr>
          <a:xfrm xmlns:a="http://schemas.openxmlformats.org/drawingml/2006/main">
            <a:off x="590550" y="1762125"/>
            <a:ext cx="10858500" cy="430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4231E"/>
                </a:solidFill>
                <a:latin typeface="Arial"/>
                <a:ea typeface="Arial"/>
                <a:cs typeface="Arial"/>
              </a:defRPr>
            </a:defPPr>
            <a:lvl1pPr>
              <a:defRPr sz="2400" b="0">
                <a:solidFill>
                  <a:srgbClr val="14231E"/>
                </a:solidFill>
                <a:latin typeface="Arial"/>
                <a:ea typeface="Arial"/>
                <a:cs typeface="Arial"/>
              </a:defRPr>
            </a:lvl1pPr>
            <a:lvl2pPr>
              <a:defRPr sz="2400" b="0">
                <a:solidFill>
                  <a:srgbClr val="14231E"/>
                </a:solidFill>
                <a:latin typeface="Arial"/>
                <a:ea typeface="Arial"/>
                <a:cs typeface="Arial"/>
              </a:defRPr>
            </a:lvl2pPr>
            <a:lvl3pPr>
              <a:defRPr sz="2400" b="0">
                <a:solidFill>
                  <a:srgbClr val="14231E"/>
                </a:solidFill>
                <a:latin typeface="Arial"/>
                <a:ea typeface="Arial"/>
                <a:cs typeface="Arial"/>
              </a:defRPr>
            </a:lvl3pPr>
            <a:lvl4pPr>
              <a:defRPr sz="2400" b="0">
                <a:solidFill>
                  <a:srgbClr val="14231E"/>
                </a:solidFill>
                <a:latin typeface="Arial"/>
                <a:ea typeface="Arial"/>
                <a:cs typeface="Arial"/>
              </a:defRPr>
            </a:lvl4pPr>
            <a:lvl5pPr>
              <a:defRPr sz="2400" b="0">
                <a:solidFill>
                  <a:srgbClr val="14231E"/>
                </a:solidFill>
                <a:latin typeface="Arial"/>
                <a:ea typeface="Arial"/>
                <a:cs typeface="Arial"/>
              </a:defRPr>
            </a:lvl5pPr>
            <a:lvl6pPr>
              <a:defRPr sz="2400" b="0">
                <a:solidFill>
                  <a:srgbClr val="14231E"/>
                </a:solidFill>
                <a:latin typeface="Arial"/>
                <a:ea typeface="Arial"/>
                <a:cs typeface="Arial"/>
              </a:defRPr>
            </a:lvl6pPr>
            <a:lvl7pPr>
              <a:defRPr sz="2400" b="0">
                <a:solidFill>
                  <a:srgbClr val="14231E"/>
                </a:solidFill>
                <a:latin typeface="Arial"/>
                <a:ea typeface="Arial"/>
                <a:cs typeface="Arial"/>
              </a:defRPr>
            </a:lvl7pPr>
            <a:lvl8pPr>
              <a:defRPr sz="2400" b="0">
                <a:solidFill>
                  <a:srgbClr val="14231E"/>
                </a:solidFill>
                <a:latin typeface="Arial"/>
                <a:ea typeface="Arial"/>
                <a:cs typeface="Arial"/>
              </a:defRPr>
            </a:lvl8pPr>
            <a:lvl9pPr>
              <a:defRPr sz="2400" b="0">
                <a:solidFill>
                  <a:srgbClr val="14231E"/>
                </a:solidFill>
                <a:latin typeface="Arial"/>
                <a:ea typeface="Arial"/>
                <a:cs typeface="Arial"/>
              </a:defRPr>
            </a:lvl9pPr>
          </a:lstStyle>
          <a:p xmlns:a="http://schemas.openxmlformats.org/drawingml/2006/main">
            <a:pPr>
              <a:defRPr sz="2400" b="0">
                <a:solidFill>
                  <a:srgbClr val="14231E"/>
                </a:solidFill>
                <a:latin typeface="Arial"/>
                <a:ea typeface="Arial"/>
                <a:cs typeface="Arial"/>
              </a:defRPr>
            </a:pPr>
            <a:r>
              <a:rPr sz="2400" b="0">
                <a:solidFill>
                  <a:srgbClr val="14231E"/>
                </a:solidFill>
                <a:latin typeface="Arial"/>
                <a:ea typeface="Arial"/>
                <a:cs typeface="Arial"/>
              </a:rPr>
              <a:t>1. Una forma igual en todas las piezas.</a:t>
            </a:r>
          </a:p>
          <a:p xmlns:a="http://schemas.openxmlformats.org/drawingml/2006/main">
            <a:r>
              <a:t/>
            </a:r>
          </a:p>
          <a:p xmlns:a="http://schemas.openxmlformats.org/drawingml/2006/main">
            <a:pPr>
              <a:defRPr sz="2400" b="0">
                <a:solidFill>
                  <a:srgbClr val="14231E"/>
                </a:solidFill>
                <a:latin typeface="Arial"/>
                <a:ea typeface="Arial"/>
                <a:cs typeface="Arial"/>
              </a:defRPr>
            </a:pPr>
            <a:r>
              <a:rPr sz="2400" b="0">
                <a:solidFill>
                  <a:srgbClr val="14231E"/>
                </a:solidFill>
                <a:latin typeface="Arial"/>
                <a:ea typeface="Arial"/>
                <a:cs typeface="Arial"/>
              </a:rPr>
              <a:t>2. Una posición definida en la zona posterior.</a:t>
            </a:r>
          </a:p>
          <a:p xmlns:a="http://schemas.openxmlformats.org/drawingml/2006/main">
            <a:r>
              <a:t/>
            </a:r>
          </a:p>
          <a:p xmlns:a="http://schemas.openxmlformats.org/drawingml/2006/main">
            <a:pPr>
              <a:defRPr sz="2400" b="0">
                <a:solidFill>
                  <a:srgbClr val="14231E"/>
                </a:solidFill>
                <a:latin typeface="Arial"/>
                <a:ea typeface="Arial"/>
                <a:cs typeface="Arial"/>
              </a:defRPr>
            </a:pPr>
            <a:r>
              <a:rPr sz="2400" b="0">
                <a:solidFill>
                  <a:srgbClr val="14231E"/>
                </a:solidFill>
                <a:latin typeface="Arial"/>
                <a:ea typeface="Arial"/>
                <a:cs typeface="Arial"/>
              </a:rPr>
              <a:t>3. Separación regular alrededor del tubo.</a:t>
            </a:r>
          </a:p>
          <a:p xmlns:a="http://schemas.openxmlformats.org/drawingml/2006/main">
            <a:r>
              <a:t/>
            </a:r>
          </a:p>
          <a:p xmlns:a="http://schemas.openxmlformats.org/drawingml/2006/main">
            <a:pPr>
              <a:defRPr sz="2400" b="0">
                <a:solidFill>
                  <a:srgbClr val="14231E"/>
                </a:solidFill>
                <a:latin typeface="Arial"/>
                <a:ea typeface="Arial"/>
                <a:cs typeface="Arial"/>
              </a:defRPr>
            </a:pPr>
            <a:r>
              <a:rPr sz="2400" b="0">
                <a:solidFill>
                  <a:srgbClr val="14231E"/>
                </a:solidFill>
                <a:latin typeface="Arial"/>
                <a:ea typeface="Arial"/>
                <a:cs typeface="Arial"/>
              </a:rPr>
              <a:t>4. Una unión y orientación que puedan comprobarse.</a:t>
            </a:r>
          </a:p>
        </p:txBody>
      </p:sp>
      <p:sp>
        <p:nvSpPr>
          <p:cNvPr id="4" name="">
            <a:extLst xmlns:a="http://schemas.openxmlformats.org/drawingml/2006/main">
              <a:ext uri="{FF2B5EF4-FFF2-40B4-BE49-F238E27FC236}">
                <a16:creationId xmlns:a16="http://schemas.microsoft.com/office/drawing/2014/main" id="{DE75F930-8A5C-4309-9DEE-89EDDA3F11D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12/25</a:t>
            </a:r>
          </a:p>
        </p:txBody>
      </p:sp>
    </p:spTree>
    <p:extLst>
      <p:ext uri="{BB962C8B-B14F-4D97-AF65-F5344CB8AC3E}">
        <p14:creationId xmlns:p14="http://schemas.microsoft.com/office/powerpoint/2010/main" val="487417097"/>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58487D-7920-4526-9B37-BC71430235C0}"/>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Los nombres de una aleta trapezoidal</a:t>
            </a:r>
          </a:p>
        </p:txBody>
      </p:sp>
      <p:pic>
        <p:nvPicPr>
          <p:cNvPr id="2" name="">
            <a:extLst xmlns:a="http://schemas.openxmlformats.org/drawingml/2006/main">
              <a:ext uri="{FF2B5EF4-FFF2-40B4-BE49-F238E27FC236}">
                <a16:creationId xmlns:a16="http://schemas.microsoft.com/office/drawing/2014/main" id="{6E6AEC4E-5174-4BE7-9C03-E8055B725DBF}"/>
              </a:ext>
            </a:extLst>
          </p:cNvPr>
          <p:cNvPicPr>
            <a:picLocks xmlns:a="http://schemas.openxmlformats.org/drawingml/2006/main" noChangeAspect="1"/>
          </p:cNvPicPr>
          <p:nvPr/>
        </p:nvPicPr>
        <p:blipFill>
          <a:blip xmlns:r="http://schemas.openxmlformats.org/officeDocument/2006/relationships" xmlns:a="http://schemas.openxmlformats.org/drawingml/2006/main" r:embed="Rcfd0a728a9ca49d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0D071E3A-30D3-4B00-BD51-F6AFD7400709}"/>
              </a:ext>
            </a:extLst>
          </p:cNvPr>
          <p:cNvPicPr>
            <a:picLocks xmlns:a="http://schemas.openxmlformats.org/drawingml/2006/main" noChangeAspect="1"/>
          </p:cNvPicPr>
          <p:nvPr/>
        </p:nvPicPr>
        <p:blipFill>
          <a:blip xmlns:r="http://schemas.openxmlformats.org/officeDocument/2006/relationships" xmlns:a="http://schemas.openxmlformats.org/drawingml/2006/main" r:embed="Rc08a25ecbe3e4275"/>
          <a:stretch xmlns:a="http://schemas.openxmlformats.org/drawingml/2006/main"/>
        </p:blipFill>
        <p:spPr>
          <a:xfrm xmlns:a="http://schemas.openxmlformats.org/drawingml/2006/main">
            <a:off x="590550" y="1682068"/>
            <a:ext cx="7239000" cy="387486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C13F13A-9D39-4594-9651-1F5A963159A9}"/>
              </a:ext>
            </a:extLst>
          </p:cNvPr>
          <p:cNvSpPr>
            <a:spLocks xmlns:a="http://schemas.openxmlformats.org/drawingml/2006/main" noGrp="1"/>
          </p:cNvSpPr>
          <p:nvPr/>
        </p:nvSpPr>
        <p:spPr>
          <a:xfrm xmlns:a="http://schemas.openxmlformats.org/drawingml/2006/main">
            <a:off x="8201025" y="1800225"/>
            <a:ext cx="3371850" cy="3724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Root: raíz.</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Tip: borde exterior.</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S: semienvergadura.</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Barrido: desplazamiento de la punta hacia atrás.</a:t>
            </a:r>
          </a:p>
        </p:txBody>
      </p:sp>
      <p:sp>
        <p:nvSpPr>
          <p:cNvPr id="5" name="">
            <a:extLst xmlns:a="http://schemas.openxmlformats.org/drawingml/2006/main">
              <a:ext uri="{FF2B5EF4-FFF2-40B4-BE49-F238E27FC236}">
                <a16:creationId xmlns:a16="http://schemas.microsoft.com/office/drawing/2014/main" id="{DB69F76B-91D4-48A2-B440-ECD23E46D727}"/>
              </a:ext>
            </a:extLst>
          </p:cNvPr>
          <p:cNvSpPr>
            <a:spLocks xmlns:a="http://schemas.openxmlformats.org/drawingml/2006/main" noGrp="1"/>
          </p:cNvSpPr>
          <p:nvPr/>
        </p:nvSpPr>
        <p:spPr>
          <a:xfrm xmlns:a="http://schemas.openxmlformats.org/drawingml/2006/main">
            <a:off x="590550" y="58197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Esquema de Richard Nakka. Las proporciones D de la figura no son medidas del proyecto.</a:t>
            </a:r>
          </a:p>
        </p:txBody>
      </p:sp>
      <p:sp>
        <p:nvSpPr>
          <p:cNvPr id="6" name="">
            <a:extLst xmlns:a="http://schemas.openxmlformats.org/drawingml/2006/main">
              <a:ext uri="{FF2B5EF4-FFF2-40B4-BE49-F238E27FC236}">
                <a16:creationId xmlns:a16="http://schemas.microsoft.com/office/drawing/2014/main" id="{A58BC244-9772-4EE4-A37B-796B1E8E07C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13/25</a:t>
            </a:r>
          </a:p>
        </p:txBody>
      </p:sp>
    </p:spTree>
    <p:extLst>
      <p:ext uri="{BB962C8B-B14F-4D97-AF65-F5344CB8AC3E}">
        <p14:creationId xmlns:p14="http://schemas.microsoft.com/office/powerpoint/2010/main" val="1956047709"/>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003F7A-C489-413A-96F3-C894E7BB8AA7}"/>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Qué imprimir y qué comprar</a:t>
            </a:r>
          </a:p>
        </p:txBody>
      </p:sp>
      <p:pic>
        <p:nvPicPr>
          <p:cNvPr id="2" name="">
            <a:extLst xmlns:a="http://schemas.openxmlformats.org/drawingml/2006/main">
              <a:ext uri="{FF2B5EF4-FFF2-40B4-BE49-F238E27FC236}">
                <a16:creationId xmlns:a16="http://schemas.microsoft.com/office/drawing/2014/main" id="{B78C633A-6BB2-4FC1-AF5F-CAE2381326F4}"/>
              </a:ext>
            </a:extLst>
          </p:cNvPr>
          <p:cNvPicPr>
            <a:picLocks xmlns:a="http://schemas.openxmlformats.org/drawingml/2006/main" noChangeAspect="1"/>
          </p:cNvPicPr>
          <p:nvPr/>
        </p:nvPicPr>
        <p:blipFill>
          <a:blip xmlns:r="http://schemas.openxmlformats.org/officeDocument/2006/relationships" xmlns:a="http://schemas.openxmlformats.org/drawingml/2006/main" r:embed="Rf445d14af7bf42a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graphicFrame>
        <p:nvGraphicFramePr>
          <p:cNvPr id="3" name="">
            <a:extLst xmlns:a="http://schemas.openxmlformats.org/drawingml/2006/main">
              <a:ext uri="{FF2B5EF4-FFF2-40B4-BE49-F238E27FC236}">
                <a16:creationId xmlns:a16="http://schemas.microsoft.com/office/drawing/2014/main" id="{0434A9D0-66AA-430D-A526-26033E4D0EED}"/>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718185">
                <a:tc>
                  <a:txBody>
                    <a:bodyPr/>
                    <a:lstStyle/>
                    <a:p>
                      <a:r>
                        <a:rPr sz="2025" b="1">
                          <a:solidFill>
                            <a:srgbClr val="FFFFFF"/>
                          </a:solidFill>
                          <a:latin typeface="Arial"/>
                          <a:ea typeface="Arial"/>
                          <a:cs typeface="Arial"/>
                        </a:rPr>
                        <a:t>Componente</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Opción inicial que estudiar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Comprobación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Cuerpo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Tubo ligero disponible</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Diámetros y masa</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Nariz</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Impresión 3D o pieza compatible</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Encaje y masa</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Aletas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Madera o impresión revisada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Repetición y alineación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Útil de montaje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Impresión 3D</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Posición que deja a las piezas</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
        <p:nvSpPr>
          <p:cNvPr id="4" name="">
            <a:extLst xmlns:a="http://schemas.openxmlformats.org/drawingml/2006/main">
              <a:ext uri="{FF2B5EF4-FFF2-40B4-BE49-F238E27FC236}">
                <a16:creationId xmlns:a16="http://schemas.microsoft.com/office/drawing/2014/main" id="{3344C997-AE54-4052-A436-05A3127C0EC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14/25</a:t>
            </a:r>
          </a:p>
        </p:txBody>
      </p:sp>
    </p:spTree>
    <p:extLst>
      <p:ext uri="{BB962C8B-B14F-4D97-AF65-F5344CB8AC3E}">
        <p14:creationId xmlns:p14="http://schemas.microsoft.com/office/powerpoint/2010/main" val="1115294807"/>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E1FBD5-F444-4F23-BB7A-9E68082311D9}"/>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El nombre del material no basta</a:t>
            </a:r>
          </a:p>
        </p:txBody>
      </p:sp>
      <p:pic>
        <p:nvPicPr>
          <p:cNvPr id="2" name="">
            <a:extLst xmlns:a="http://schemas.openxmlformats.org/drawingml/2006/main">
              <a:ext uri="{FF2B5EF4-FFF2-40B4-BE49-F238E27FC236}">
                <a16:creationId xmlns:a16="http://schemas.microsoft.com/office/drawing/2014/main" id="{656E3424-ECF3-47C1-AF4B-0024F9B31067}"/>
              </a:ext>
            </a:extLst>
          </p:cNvPr>
          <p:cNvPicPr>
            <a:picLocks xmlns:a="http://schemas.openxmlformats.org/drawingml/2006/main" noChangeAspect="1"/>
          </p:cNvPicPr>
          <p:nvPr/>
        </p:nvPicPr>
        <p:blipFill>
          <a:blip xmlns:r="http://schemas.openxmlformats.org/officeDocument/2006/relationships" xmlns:a="http://schemas.openxmlformats.org/drawingml/2006/main" r:embed="R56007a00615e442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D589FF2-3166-48C1-9289-EAF9B3BBB56A}"/>
              </a:ext>
            </a:extLst>
          </p:cNvPr>
          <p:cNvSpPr>
            <a:spLocks xmlns:a="http://schemas.openxmlformats.org/drawingml/2006/main" noGrp="1"/>
          </p:cNvSpPr>
          <p:nvPr/>
        </p:nvSpPr>
        <p:spPr>
          <a:xfrm xmlns:a="http://schemas.openxmlformats.org/drawingml/2006/main">
            <a:off x="590550" y="1762125"/>
            <a:ext cx="10858500" cy="430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4231E"/>
                </a:solidFill>
                <a:latin typeface="Arial"/>
                <a:ea typeface="Arial"/>
                <a:cs typeface="Arial"/>
              </a:defRPr>
            </a:defPPr>
            <a:lvl1pPr>
              <a:defRPr sz="2400" b="0">
                <a:solidFill>
                  <a:srgbClr val="14231E"/>
                </a:solidFill>
                <a:latin typeface="Arial"/>
                <a:ea typeface="Arial"/>
                <a:cs typeface="Arial"/>
              </a:defRPr>
            </a:lvl1pPr>
            <a:lvl2pPr>
              <a:defRPr sz="2400" b="0">
                <a:solidFill>
                  <a:srgbClr val="14231E"/>
                </a:solidFill>
                <a:latin typeface="Arial"/>
                <a:ea typeface="Arial"/>
                <a:cs typeface="Arial"/>
              </a:defRPr>
            </a:lvl2pPr>
            <a:lvl3pPr>
              <a:defRPr sz="2400" b="0">
                <a:solidFill>
                  <a:srgbClr val="14231E"/>
                </a:solidFill>
                <a:latin typeface="Arial"/>
                <a:ea typeface="Arial"/>
                <a:cs typeface="Arial"/>
              </a:defRPr>
            </a:lvl3pPr>
            <a:lvl4pPr>
              <a:defRPr sz="2400" b="0">
                <a:solidFill>
                  <a:srgbClr val="14231E"/>
                </a:solidFill>
                <a:latin typeface="Arial"/>
                <a:ea typeface="Arial"/>
                <a:cs typeface="Arial"/>
              </a:defRPr>
            </a:lvl4pPr>
            <a:lvl5pPr>
              <a:defRPr sz="2400" b="0">
                <a:solidFill>
                  <a:srgbClr val="14231E"/>
                </a:solidFill>
                <a:latin typeface="Arial"/>
                <a:ea typeface="Arial"/>
                <a:cs typeface="Arial"/>
              </a:defRPr>
            </a:lvl5pPr>
            <a:lvl6pPr>
              <a:defRPr sz="2400" b="0">
                <a:solidFill>
                  <a:srgbClr val="14231E"/>
                </a:solidFill>
                <a:latin typeface="Arial"/>
                <a:ea typeface="Arial"/>
                <a:cs typeface="Arial"/>
              </a:defRPr>
            </a:lvl6pPr>
            <a:lvl7pPr>
              <a:defRPr sz="2400" b="0">
                <a:solidFill>
                  <a:srgbClr val="14231E"/>
                </a:solidFill>
                <a:latin typeface="Arial"/>
                <a:ea typeface="Arial"/>
                <a:cs typeface="Arial"/>
              </a:defRPr>
            </a:lvl7pPr>
            <a:lvl8pPr>
              <a:defRPr sz="2400" b="0">
                <a:solidFill>
                  <a:srgbClr val="14231E"/>
                </a:solidFill>
                <a:latin typeface="Arial"/>
                <a:ea typeface="Arial"/>
                <a:cs typeface="Arial"/>
              </a:defRPr>
            </a:lvl8pPr>
            <a:lvl9pPr>
              <a:defRPr sz="2400" b="0">
                <a:solidFill>
                  <a:srgbClr val="14231E"/>
                </a:solidFill>
                <a:latin typeface="Arial"/>
                <a:ea typeface="Arial"/>
                <a:cs typeface="Arial"/>
              </a:defRPr>
            </a:lvl9pPr>
          </a:lstStyle>
          <a:p xmlns:a="http://schemas.openxmlformats.org/drawingml/2006/main">
            <a:pPr>
              <a:defRPr sz="2400" b="0">
                <a:solidFill>
                  <a:srgbClr val="14231E"/>
                </a:solidFill>
                <a:latin typeface="Arial"/>
                <a:ea typeface="Arial"/>
                <a:cs typeface="Arial"/>
              </a:defRPr>
            </a:pPr>
            <a:r>
              <a:rPr sz="2400" b="0">
                <a:solidFill>
                  <a:srgbClr val="14231E"/>
                </a:solidFill>
                <a:latin typeface="Arial"/>
                <a:ea typeface="Arial"/>
                <a:cs typeface="Arial"/>
              </a:rPr>
              <a:t>1. PLA: prototipos de geometría y ajuste, con límites térmicos y de fragilidad.</a:t>
            </a:r>
          </a:p>
          <a:p xmlns:a="http://schemas.openxmlformats.org/drawingml/2006/main">
            <a:r>
              <a:t/>
            </a:r>
          </a:p>
          <a:p xmlns:a="http://schemas.openxmlformats.org/drawingml/2006/main">
            <a:pPr>
              <a:defRPr sz="2400" b="0">
                <a:solidFill>
                  <a:srgbClr val="14231E"/>
                </a:solidFill>
                <a:latin typeface="Arial"/>
                <a:ea typeface="Arial"/>
                <a:cs typeface="Arial"/>
              </a:defRPr>
            </a:pPr>
            <a:r>
              <a:rPr sz="2400" b="0">
                <a:solidFill>
                  <a:srgbClr val="14231E"/>
                </a:solidFill>
                <a:latin typeface="Arial"/>
                <a:ea typeface="Arial"/>
                <a:cs typeface="Arial"/>
              </a:rPr>
              <a:t>2. PETG: estudiar pieza, deformación y condiciones de impresión.</a:t>
            </a:r>
          </a:p>
          <a:p xmlns:a="http://schemas.openxmlformats.org/drawingml/2006/main">
            <a:r>
              <a:t/>
            </a:r>
          </a:p>
          <a:p xmlns:a="http://schemas.openxmlformats.org/drawingml/2006/main">
            <a:pPr>
              <a:defRPr sz="2400" b="0">
                <a:solidFill>
                  <a:srgbClr val="14231E"/>
                </a:solidFill>
                <a:latin typeface="Arial"/>
                <a:ea typeface="Arial"/>
                <a:cs typeface="Arial"/>
              </a:defRPr>
            </a:pPr>
            <a:r>
              <a:rPr sz="2400" b="0">
                <a:solidFill>
                  <a:srgbClr val="14231E"/>
                </a:solidFill>
                <a:latin typeface="Arial"/>
                <a:ea typeface="Arial"/>
                <a:cs typeface="Arial"/>
              </a:rPr>
              <a:t>3. Vidrio y carbono: comparar el refuerzo y el proceso de la muestra real.</a:t>
            </a:r>
          </a:p>
          <a:p xmlns:a="http://schemas.openxmlformats.org/drawingml/2006/main">
            <a:r>
              <a:t/>
            </a:r>
          </a:p>
          <a:p xmlns:a="http://schemas.openxmlformats.org/drawingml/2006/main">
            <a:pPr>
              <a:defRPr sz="2400" b="0">
                <a:solidFill>
                  <a:srgbClr val="14231E"/>
                </a:solidFill>
                <a:latin typeface="Arial"/>
                <a:ea typeface="Arial"/>
                <a:cs typeface="Arial"/>
              </a:defRPr>
            </a:pPr>
            <a:r>
              <a:rPr sz="2400" b="0">
                <a:solidFill>
                  <a:srgbClr val="14231E"/>
                </a:solidFill>
                <a:latin typeface="Arial"/>
                <a:ea typeface="Arial"/>
                <a:cs typeface="Arial"/>
              </a:rPr>
              <a:t>4. Filamento con fibra corta y tejido con resina tienen estructuras diferentes.</a:t>
            </a:r>
          </a:p>
        </p:txBody>
      </p:sp>
      <p:sp>
        <p:nvSpPr>
          <p:cNvPr id="4" name="">
            <a:extLst xmlns:a="http://schemas.openxmlformats.org/drawingml/2006/main">
              <a:ext uri="{FF2B5EF4-FFF2-40B4-BE49-F238E27FC236}">
                <a16:creationId xmlns:a16="http://schemas.microsoft.com/office/drawing/2014/main" id="{FB2C8B77-A164-4361-B0AC-47A5CFE6701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15/25</a:t>
            </a:r>
          </a:p>
        </p:txBody>
      </p:sp>
    </p:spTree>
    <p:extLst>
      <p:ext uri="{BB962C8B-B14F-4D97-AF65-F5344CB8AC3E}">
        <p14:creationId xmlns:p14="http://schemas.microsoft.com/office/powerpoint/2010/main" val="1313943280"/>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8DCA90-6885-4469-81EE-87ABC77F7D0A}"/>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Ocho gramos pueden importar mucho</a:t>
            </a:r>
          </a:p>
        </p:txBody>
      </p:sp>
      <p:pic>
        <p:nvPicPr>
          <p:cNvPr id="2" name="">
            <a:extLst xmlns:a="http://schemas.openxmlformats.org/drawingml/2006/main">
              <a:ext uri="{FF2B5EF4-FFF2-40B4-BE49-F238E27FC236}">
                <a16:creationId xmlns:a16="http://schemas.microsoft.com/office/drawing/2014/main" id="{3FD75C28-C426-44A3-8A4A-0B5E96675444}"/>
              </a:ext>
            </a:extLst>
          </p:cNvPr>
          <p:cNvPicPr>
            <a:picLocks xmlns:a="http://schemas.openxmlformats.org/drawingml/2006/main" noChangeAspect="1"/>
          </p:cNvPicPr>
          <p:nvPr/>
        </p:nvPicPr>
        <p:blipFill>
          <a:blip xmlns:r="http://schemas.openxmlformats.org/officeDocument/2006/relationships" xmlns:a="http://schemas.openxmlformats.org/drawingml/2006/main" r:embed="R2ed1c87032de46c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8FB1DB6-73F1-4796-A366-A89B04226062}"/>
              </a:ext>
            </a:extLst>
          </p:cNvPr>
          <p:cNvSpPr>
            <a:spLocks xmlns:a="http://schemas.openxmlformats.org/drawingml/2006/main" noGrp="1"/>
          </p:cNvSpPr>
          <p:nvPr/>
        </p:nvSpPr>
        <p:spPr>
          <a:xfrm xmlns:a="http://schemas.openxmlformats.org/drawingml/2006/main">
            <a:off x="590550" y="1666875"/>
            <a:ext cx="52197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Subtotal sin motor: nariz 8 g + cuerpo 12 g + aletas 6 g + otros 9 g = 35 g.</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Otra nariz pesa 16 g.</a:t>
            </a:r>
          </a:p>
        </p:txBody>
      </p:sp>
      <p:graphicFrame>
        <p:nvGraphicFramePr>
          <p:cNvPr id="4" name="Chart">
            <a:extLst xmlns:a="http://schemas.openxmlformats.org/drawingml/2006/main">
              <a:ext uri="{FF2B5EF4-FFF2-40B4-BE49-F238E27FC236}">
                <a16:creationId xmlns:a16="http://schemas.microsoft.com/office/drawing/2014/main" id="{FE5694E4-5D06-4D1A-AAA6-EDE69F42546F}"/>
              </a:ext>
            </a:extLst>
          </p:cNvPr>
          <p:cNvGraphicFramePr/>
          <p:nvPr/>
        </p:nvGraphicFramePr>
        <p:xfrm>
          <a:off xmlns:a="http://schemas.openxmlformats.org/drawingml/2006/main" x="6267450" y="1647825"/>
          <a:ext xmlns:a="http://schemas.openxmlformats.org/drawingml/2006/main" cx="5295900" cy="3238500"/>
        </p:xfrm>
        <a:graphic xmlns:a="http://schemas.openxmlformats.org/drawingml/2006/main">
          <a:graphicData uri="http://schemas.openxmlformats.org/drawingml/2006/chart">
            <c:chart xmlns:r="http://schemas.openxmlformats.org/officeDocument/2006/relationships" xmlns:c="http://schemas.openxmlformats.org/drawingml/2006/chart" r:id="R2831bd48cb284dcf"/>
          </a:graphicData>
        </a:graphic>
      </p:graphicFrame>
      <p:pic>
        <p:nvPicPr>
          <p:cNvPr id="5" name="">
            <a:extLst xmlns:a="http://schemas.openxmlformats.org/drawingml/2006/main">
              <a:ext uri="{FF2B5EF4-FFF2-40B4-BE49-F238E27FC236}">
                <a16:creationId xmlns:a16="http://schemas.microsoft.com/office/drawing/2014/main" id="{B44C80F2-D696-4980-8961-DD51C7031261}"/>
              </a:ext>
            </a:extLst>
          </p:cNvPr>
          <p:cNvPicPr>
            <a:picLocks xmlns:a="http://schemas.openxmlformats.org/drawingml/2006/main" noChangeAspect="1"/>
          </p:cNvPicPr>
          <p:nvPr/>
        </p:nvPicPr>
        <p:blipFill>
          <a:blip xmlns:r="http://schemas.openxmlformats.org/officeDocument/2006/relationships" xmlns:a="http://schemas.openxmlformats.org/drawingml/2006/main" r:embed="Rb5e51789c62a425c"/>
          <a:stretch xmlns:a="http://schemas.openxmlformats.org/drawingml/2006/main"/>
        </p:blipFill>
        <p:spPr>
          <a:xfrm xmlns:a="http://schemas.openxmlformats.org/drawingml/2006/main">
            <a:off x="1862460" y="4114800"/>
            <a:ext cx="2675879" cy="742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D36DEEF-9175-4925-95AA-486C5D7AC7B7}"/>
              </a:ext>
            </a:extLst>
          </p:cNvPr>
          <p:cNvSpPr>
            <a:spLocks xmlns:a="http://schemas.openxmlformats.org/drawingml/2006/main" noGrp="1"/>
          </p:cNvSpPr>
          <p:nvPr/>
        </p:nvSpPr>
        <p:spPr>
          <a:xfrm xmlns:a="http://schemas.openxmlformats.org/drawingml/2006/main">
            <a:off x="590550" y="5248275"/>
            <a:ext cx="10744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44F3D"/>
                </a:solidFill>
                <a:latin typeface="Arial"/>
                <a:ea typeface="Arial"/>
                <a:cs typeface="Arial"/>
              </a:defRPr>
            </a:defPPr>
            <a:lvl1pPr>
              <a:defRPr sz="2400" b="1">
                <a:solidFill>
                  <a:srgbClr val="244F3D"/>
                </a:solidFill>
                <a:latin typeface="Arial"/>
                <a:ea typeface="Arial"/>
                <a:cs typeface="Arial"/>
              </a:defRPr>
            </a:lvl1pPr>
            <a:lvl2pPr>
              <a:defRPr sz="2400" b="1">
                <a:solidFill>
                  <a:srgbClr val="244F3D"/>
                </a:solidFill>
                <a:latin typeface="Arial"/>
                <a:ea typeface="Arial"/>
                <a:cs typeface="Arial"/>
              </a:defRPr>
            </a:lvl2pPr>
            <a:lvl3pPr>
              <a:defRPr sz="2400" b="1">
                <a:solidFill>
                  <a:srgbClr val="244F3D"/>
                </a:solidFill>
                <a:latin typeface="Arial"/>
                <a:ea typeface="Arial"/>
                <a:cs typeface="Arial"/>
              </a:defRPr>
            </a:lvl3pPr>
            <a:lvl4pPr>
              <a:defRPr sz="2400" b="1">
                <a:solidFill>
                  <a:srgbClr val="244F3D"/>
                </a:solidFill>
                <a:latin typeface="Arial"/>
                <a:ea typeface="Arial"/>
                <a:cs typeface="Arial"/>
              </a:defRPr>
            </a:lvl4pPr>
            <a:lvl5pPr>
              <a:defRPr sz="2400" b="1">
                <a:solidFill>
                  <a:srgbClr val="244F3D"/>
                </a:solidFill>
                <a:latin typeface="Arial"/>
                <a:ea typeface="Arial"/>
                <a:cs typeface="Arial"/>
              </a:defRPr>
            </a:lvl5pPr>
            <a:lvl6pPr>
              <a:defRPr sz="2400" b="1">
                <a:solidFill>
                  <a:srgbClr val="244F3D"/>
                </a:solidFill>
                <a:latin typeface="Arial"/>
                <a:ea typeface="Arial"/>
                <a:cs typeface="Arial"/>
              </a:defRPr>
            </a:lvl6pPr>
            <a:lvl7pPr>
              <a:defRPr sz="2400" b="1">
                <a:solidFill>
                  <a:srgbClr val="244F3D"/>
                </a:solidFill>
                <a:latin typeface="Arial"/>
                <a:ea typeface="Arial"/>
                <a:cs typeface="Arial"/>
              </a:defRPr>
            </a:lvl7pPr>
            <a:lvl8pPr>
              <a:defRPr sz="2400" b="1">
                <a:solidFill>
                  <a:srgbClr val="244F3D"/>
                </a:solidFill>
                <a:latin typeface="Arial"/>
                <a:ea typeface="Arial"/>
                <a:cs typeface="Arial"/>
              </a:defRPr>
            </a:lvl8pPr>
            <a:lvl9pPr>
              <a:defRPr sz="2400" b="1">
                <a:solidFill>
                  <a:srgbClr val="244F3D"/>
                </a:solidFill>
                <a:latin typeface="Arial"/>
                <a:ea typeface="Arial"/>
                <a:cs typeface="Arial"/>
              </a:defRPr>
            </a:lvl9pPr>
          </a:lstStyle>
          <a:p xmlns:a="http://schemas.openxmlformats.org/drawingml/2006/main">
            <a:pPr>
              <a:defRPr sz="2400" b="1">
                <a:solidFill>
                  <a:srgbClr val="244F3D"/>
                </a:solidFill>
                <a:latin typeface="Arial"/>
                <a:ea typeface="Arial"/>
                <a:cs typeface="Arial"/>
              </a:defRPr>
            </a:pPr>
            <a:r>
              <a:rPr sz="2400" b="1">
                <a:solidFill>
                  <a:srgbClr val="244F3D"/>
                </a:solidFill>
                <a:latin typeface="Arial"/>
                <a:ea typeface="Arial"/>
                <a:cs typeface="Arial"/>
              </a:rPr>
              <a:t>Nuevo subtotal: 43 g.</a:t>
            </a:r>
          </a:p>
          <a:p xmlns:a="http://schemas.openxmlformats.org/drawingml/2006/main">
            <a:pPr>
              <a:defRPr sz="2400" b="1">
                <a:solidFill>
                  <a:srgbClr val="244F3D"/>
                </a:solidFill>
                <a:latin typeface="Arial"/>
                <a:ea typeface="Arial"/>
                <a:cs typeface="Arial"/>
              </a:defRPr>
            </a:pPr>
            <a:r>
              <a:rPr sz="2400" b="1">
                <a:solidFill>
                  <a:srgbClr val="244F3D"/>
                </a:solidFill>
                <a:latin typeface="Arial"/>
                <a:ea typeface="Arial"/>
                <a:cs typeface="Arial"/>
              </a:rPr>
              <a:t>Aumento aproximado: 22,9%.</a:t>
            </a:r>
          </a:p>
        </p:txBody>
      </p:sp>
      <p:sp>
        <p:nvSpPr>
          <p:cNvPr id="7" name="">
            <a:extLst xmlns:a="http://schemas.openxmlformats.org/drawingml/2006/main">
              <a:ext uri="{FF2B5EF4-FFF2-40B4-BE49-F238E27FC236}">
                <a16:creationId xmlns:a16="http://schemas.microsoft.com/office/drawing/2014/main" id="{93484A4E-23D4-4BB2-AB69-C1E983FBF40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16/25</a:t>
            </a:r>
          </a:p>
        </p:txBody>
      </p:sp>
    </p:spTree>
    <p:extLst>
      <p:ext uri="{BB962C8B-B14F-4D97-AF65-F5344CB8AC3E}">
        <p14:creationId xmlns:p14="http://schemas.microsoft.com/office/powerpoint/2010/main" val="751339124"/>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516AE5-5D5E-4AE5-8D6F-07BCDC8D019E}"/>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OpenRocket: árbol, componentes y vista</a:t>
            </a:r>
          </a:p>
        </p:txBody>
      </p:sp>
      <p:pic>
        <p:nvPicPr>
          <p:cNvPr id="2" name="">
            <a:extLst xmlns:a="http://schemas.openxmlformats.org/drawingml/2006/main">
              <a:ext uri="{FF2B5EF4-FFF2-40B4-BE49-F238E27FC236}">
                <a16:creationId xmlns:a16="http://schemas.microsoft.com/office/drawing/2014/main" id="{3C170615-5349-4391-AC7E-5BB4BA15611B}"/>
              </a:ext>
            </a:extLst>
          </p:cNvPr>
          <p:cNvPicPr>
            <a:picLocks xmlns:a="http://schemas.openxmlformats.org/drawingml/2006/main" noChangeAspect="1"/>
          </p:cNvPicPr>
          <p:nvPr/>
        </p:nvPicPr>
        <p:blipFill>
          <a:blip xmlns:r="http://schemas.openxmlformats.org/officeDocument/2006/relationships" xmlns:a="http://schemas.openxmlformats.org/drawingml/2006/main" r:embed="R893f77f993ff4ac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240D3E39-B02C-4EFF-9ED4-F2F672AAF323}"/>
              </a:ext>
            </a:extLst>
          </p:cNvPr>
          <p:cNvPicPr>
            <a:picLocks xmlns:a="http://schemas.openxmlformats.org/drawingml/2006/main" noChangeAspect="1"/>
          </p:cNvPicPr>
          <p:nvPr/>
        </p:nvPicPr>
        <p:blipFill>
          <a:blip xmlns:r="http://schemas.openxmlformats.org/officeDocument/2006/relationships" xmlns:a="http://schemas.openxmlformats.org/drawingml/2006/main" r:embed="R58903d346ce74580"/>
          <a:stretch xmlns:a="http://schemas.openxmlformats.org/drawingml/2006/main"/>
        </p:blipFill>
        <p:spPr>
          <a:xfrm xmlns:a="http://schemas.openxmlformats.org/drawingml/2006/main">
            <a:off x="3036049" y="1600200"/>
            <a:ext cx="6110377" cy="3238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E92409C-D64D-4042-8A7D-A42303E5A4DF}"/>
              </a:ext>
            </a:extLst>
          </p:cNvPr>
          <p:cNvSpPr>
            <a:spLocks xmlns:a="http://schemas.openxmlformats.org/drawingml/2006/main" noGrp="1"/>
          </p:cNvSpPr>
          <p:nvPr/>
        </p:nvSpPr>
        <p:spPr>
          <a:xfrm xmlns:a="http://schemas.openxmlformats.org/drawingml/2006/main">
            <a:off x="685800" y="5000625"/>
            <a:ext cx="10810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4231E"/>
                </a:solidFill>
                <a:latin typeface="Arial"/>
                <a:ea typeface="Arial"/>
                <a:cs typeface="Arial"/>
              </a:defRPr>
            </a:defPPr>
            <a:lvl1pPr>
              <a:defRPr sz="1875" b="0">
                <a:solidFill>
                  <a:srgbClr val="14231E"/>
                </a:solidFill>
                <a:latin typeface="Arial"/>
                <a:ea typeface="Arial"/>
                <a:cs typeface="Arial"/>
              </a:defRPr>
            </a:lvl1pPr>
            <a:lvl2pPr>
              <a:defRPr sz="1875" b="0">
                <a:solidFill>
                  <a:srgbClr val="14231E"/>
                </a:solidFill>
                <a:latin typeface="Arial"/>
                <a:ea typeface="Arial"/>
                <a:cs typeface="Arial"/>
              </a:defRPr>
            </a:lvl2pPr>
            <a:lvl3pPr>
              <a:defRPr sz="1875" b="0">
                <a:solidFill>
                  <a:srgbClr val="14231E"/>
                </a:solidFill>
                <a:latin typeface="Arial"/>
                <a:ea typeface="Arial"/>
                <a:cs typeface="Arial"/>
              </a:defRPr>
            </a:lvl3pPr>
            <a:lvl4pPr>
              <a:defRPr sz="1875" b="0">
                <a:solidFill>
                  <a:srgbClr val="14231E"/>
                </a:solidFill>
                <a:latin typeface="Arial"/>
                <a:ea typeface="Arial"/>
                <a:cs typeface="Arial"/>
              </a:defRPr>
            </a:lvl4pPr>
            <a:lvl5pPr>
              <a:defRPr sz="1875" b="0">
                <a:solidFill>
                  <a:srgbClr val="14231E"/>
                </a:solidFill>
                <a:latin typeface="Arial"/>
                <a:ea typeface="Arial"/>
                <a:cs typeface="Arial"/>
              </a:defRPr>
            </a:lvl5pPr>
            <a:lvl6pPr>
              <a:defRPr sz="1875" b="0">
                <a:solidFill>
                  <a:srgbClr val="14231E"/>
                </a:solidFill>
                <a:latin typeface="Arial"/>
                <a:ea typeface="Arial"/>
                <a:cs typeface="Arial"/>
              </a:defRPr>
            </a:lvl6pPr>
            <a:lvl7pPr>
              <a:defRPr sz="1875" b="0">
                <a:solidFill>
                  <a:srgbClr val="14231E"/>
                </a:solidFill>
                <a:latin typeface="Arial"/>
                <a:ea typeface="Arial"/>
                <a:cs typeface="Arial"/>
              </a:defRPr>
            </a:lvl7pPr>
            <a:lvl8pPr>
              <a:defRPr sz="1875" b="0">
                <a:solidFill>
                  <a:srgbClr val="14231E"/>
                </a:solidFill>
                <a:latin typeface="Arial"/>
                <a:ea typeface="Arial"/>
                <a:cs typeface="Arial"/>
              </a:defRPr>
            </a:lvl8pPr>
            <a:lvl9pPr>
              <a:defRPr sz="1875" b="0">
                <a:solidFill>
                  <a:srgbClr val="14231E"/>
                </a:solidFill>
                <a:latin typeface="Arial"/>
                <a:ea typeface="Arial"/>
                <a:cs typeface="Arial"/>
              </a:defRPr>
            </a:lvl9pPr>
          </a:lstStyle>
          <a:p xmlns:a="http://schemas.openxmlformats.org/drawingml/2006/main">
            <a:pPr>
              <a:defRPr sz="1875" b="0">
                <a:solidFill>
                  <a:srgbClr val="14231E"/>
                </a:solidFill>
                <a:latin typeface="Arial"/>
                <a:ea typeface="Arial"/>
                <a:cs typeface="Arial"/>
              </a:defRPr>
            </a:pPr>
            <a:r>
              <a:rPr sz="1875" b="0">
                <a:solidFill>
                  <a:srgbClr val="14231E"/>
                </a:solidFill>
                <a:latin typeface="Arial"/>
                <a:ea typeface="Arial"/>
                <a:cs typeface="Arial"/>
              </a:rPr>
              <a:t>Izquierda: lo que ya existe.</a:t>
            </a:r>
          </a:p>
          <a:p xmlns:a="http://schemas.openxmlformats.org/drawingml/2006/main">
            <a:pPr>
              <a:defRPr sz="1875" b="0">
                <a:solidFill>
                  <a:srgbClr val="14231E"/>
                </a:solidFill>
                <a:latin typeface="Arial"/>
                <a:ea typeface="Arial"/>
                <a:cs typeface="Arial"/>
              </a:defRPr>
            </a:pPr>
            <a:r>
              <a:rPr sz="1875" b="0">
                <a:solidFill>
                  <a:srgbClr val="14231E"/>
                </a:solidFill>
                <a:latin typeface="Arial"/>
                <a:ea typeface="Arial"/>
                <a:cs typeface="Arial"/>
              </a:rPr>
              <a:t>Derecha: lo que puedes añadir.</a:t>
            </a:r>
          </a:p>
          <a:p xmlns:a="http://schemas.openxmlformats.org/drawingml/2006/main">
            <a:pPr>
              <a:defRPr sz="1875" b="0">
                <a:solidFill>
                  <a:srgbClr val="14231E"/>
                </a:solidFill>
                <a:latin typeface="Arial"/>
                <a:ea typeface="Arial"/>
                <a:cs typeface="Arial"/>
              </a:defRPr>
            </a:pPr>
            <a:r>
              <a:rPr sz="1875" b="0">
                <a:solidFill>
                  <a:srgbClr val="14231E"/>
                </a:solidFill>
                <a:latin typeface="Arial"/>
                <a:ea typeface="Arial"/>
                <a:cs typeface="Arial"/>
              </a:rPr>
              <a:t>Abajo: el resultado que debes revisar.</a:t>
            </a:r>
          </a:p>
        </p:txBody>
      </p:sp>
      <p:sp>
        <p:nvSpPr>
          <p:cNvPr id="5" name="">
            <a:extLst xmlns:a="http://schemas.openxmlformats.org/drawingml/2006/main">
              <a:ext uri="{FF2B5EF4-FFF2-40B4-BE49-F238E27FC236}">
                <a16:creationId xmlns:a16="http://schemas.microsoft.com/office/drawing/2014/main" id="{3618DC2A-145A-4417-ABFE-8BE9C5E5DE8A}"/>
              </a:ext>
            </a:extLst>
          </p:cNvPr>
          <p:cNvSpPr>
            <a:spLocks xmlns:a="http://schemas.openxmlformats.org/drawingml/2006/main" noGrp="1"/>
          </p:cNvSpPr>
          <p:nvPr/>
        </p:nvSpPr>
        <p:spPr>
          <a:xfrm xmlns:a="http://schemas.openxmlformats.org/drawingml/2006/main">
            <a:off x="685800" y="6067425"/>
            <a:ext cx="10810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Captura oficial. La distribución puede variar con la versión o el idioma.</a:t>
            </a:r>
          </a:p>
        </p:txBody>
      </p:sp>
      <p:sp>
        <p:nvSpPr>
          <p:cNvPr id="6" name="">
            <a:extLst xmlns:a="http://schemas.openxmlformats.org/drawingml/2006/main">
              <a:ext uri="{FF2B5EF4-FFF2-40B4-BE49-F238E27FC236}">
                <a16:creationId xmlns:a16="http://schemas.microsoft.com/office/drawing/2014/main" id="{7E6A4851-80DF-45CC-B12D-46AA75A60AB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17/25</a:t>
            </a:r>
          </a:p>
        </p:txBody>
      </p:sp>
    </p:spTree>
    <p:extLst>
      <p:ext uri="{BB962C8B-B14F-4D97-AF65-F5344CB8AC3E}">
        <p14:creationId xmlns:p14="http://schemas.microsoft.com/office/powerpoint/2010/main" val="646770178"/>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B99D0E-7BAD-4316-A4E8-22D046E50986}"/>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El modelo de aula mide 35 cm</a:t>
            </a:r>
          </a:p>
        </p:txBody>
      </p:sp>
      <p:pic>
        <p:nvPicPr>
          <p:cNvPr id="2" name="">
            <a:extLst xmlns:a="http://schemas.openxmlformats.org/drawingml/2006/main">
              <a:ext uri="{FF2B5EF4-FFF2-40B4-BE49-F238E27FC236}">
                <a16:creationId xmlns:a16="http://schemas.microsoft.com/office/drawing/2014/main" id="{0220FA3D-6593-4BA1-9AA0-727490E39746}"/>
              </a:ext>
            </a:extLst>
          </p:cNvPr>
          <p:cNvPicPr>
            <a:picLocks xmlns:a="http://schemas.openxmlformats.org/drawingml/2006/main" noChangeAspect="1"/>
          </p:cNvPicPr>
          <p:nvPr/>
        </p:nvPicPr>
        <p:blipFill>
          <a:blip xmlns:r="http://schemas.openxmlformats.org/officeDocument/2006/relationships" xmlns:a="http://schemas.openxmlformats.org/drawingml/2006/main" r:embed="Rf91937c68e954b1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graphicFrame>
        <p:nvGraphicFramePr>
          <p:cNvPr id="3" name="">
            <a:extLst xmlns:a="http://schemas.openxmlformats.org/drawingml/2006/main">
              <a:ext uri="{FF2B5EF4-FFF2-40B4-BE49-F238E27FC236}">
                <a16:creationId xmlns:a16="http://schemas.microsoft.com/office/drawing/2014/main" id="{7696E33E-ACCB-4194-B968-36986B2AFCFE}"/>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2143125"/>
                <a:gridCol w="4524375"/>
                <a:gridCol w="4343400"/>
              </a:tblGrid>
              <a:tr h="658813">
                <a:tc>
                  <a:txBody>
                    <a:bodyPr/>
                    <a:lstStyle/>
                    <a:p>
                      <a:r>
                        <a:rPr sz="2025" b="1">
                          <a:solidFill>
                            <a:srgbClr val="FFFFFF"/>
                          </a:solidFill>
                          <a:latin typeface="Arial"/>
                          <a:ea typeface="Arial"/>
                          <a:cs typeface="Arial"/>
                        </a:rPr>
                        <a:t>Dato de ejercicio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Valor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Referencia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Nariz visible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70 mm</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Punta a inicio del cuerpo</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Cuerpo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280 mm</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Longitud del tubo</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Diámetro exterior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32 mm</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Exterior del cuerpo</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Espesor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1 mm</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Una pared</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Longitud total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350 mm</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70 + 280 mm</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
        <p:nvSpPr>
          <p:cNvPr id="4" name="">
            <a:extLst xmlns:a="http://schemas.openxmlformats.org/drawingml/2006/main">
              <a:ext uri="{FF2B5EF4-FFF2-40B4-BE49-F238E27FC236}">
                <a16:creationId xmlns:a16="http://schemas.microsoft.com/office/drawing/2014/main" id="{8B78CD99-808C-484A-B5D8-C66365059EB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18/25</a:t>
            </a:r>
          </a:p>
        </p:txBody>
      </p:sp>
    </p:spTree>
    <p:extLst>
      <p:ext uri="{BB962C8B-B14F-4D97-AF65-F5344CB8AC3E}">
        <p14:creationId xmlns:p14="http://schemas.microsoft.com/office/powerpoint/2010/main" val="1241673343"/>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D04E45-D4D3-4891-A29C-8109BDABD463}"/>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Práctica 1: crear y guardar la nariz</a:t>
            </a:r>
          </a:p>
        </p:txBody>
      </p:sp>
      <p:pic>
        <p:nvPicPr>
          <p:cNvPr id="2" name="">
            <a:extLst xmlns:a="http://schemas.openxmlformats.org/drawingml/2006/main">
              <a:ext uri="{FF2B5EF4-FFF2-40B4-BE49-F238E27FC236}">
                <a16:creationId xmlns:a16="http://schemas.microsoft.com/office/drawing/2014/main" id="{AA1AF549-1435-4F34-91A3-9753BCE23B0B}"/>
              </a:ext>
            </a:extLst>
          </p:cNvPr>
          <p:cNvPicPr>
            <a:picLocks xmlns:a="http://schemas.openxmlformats.org/drawingml/2006/main" noChangeAspect="1"/>
          </p:cNvPicPr>
          <p:nvPr/>
        </p:nvPicPr>
        <p:blipFill>
          <a:blip xmlns:r="http://schemas.openxmlformats.org/officeDocument/2006/relationships" xmlns:a="http://schemas.openxmlformats.org/drawingml/2006/main" r:embed="R3e361e6f99014ac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6E5C175-3102-4C52-9EB0-8D143EAAD832}"/>
              </a:ext>
            </a:extLst>
          </p:cNvPr>
          <p:cNvSpPr>
            <a:spLocks xmlns:a="http://schemas.openxmlformats.org/drawingml/2006/main" noGrp="1"/>
          </p:cNvSpPr>
          <p:nvPr/>
        </p:nvSpPr>
        <p:spPr>
          <a:xfrm xmlns:a="http://schemas.openxmlformats.org/drawingml/2006/main">
            <a:off x="590550" y="1762125"/>
            <a:ext cx="10858500" cy="430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File &gt; New. Guarda EQUIPO_01_v00.ork.</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Selecciona Stage y añade Nose Cone.</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Nombra Nariz. Elige Conical.</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Introduce 70 mm de longitud visible y 32 mm de diámetro de base.</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5. Comprueba las unidades y guarda.</a:t>
            </a:r>
          </a:p>
        </p:txBody>
      </p:sp>
      <p:sp>
        <p:nvSpPr>
          <p:cNvPr id="4" name="">
            <a:extLst xmlns:a="http://schemas.openxmlformats.org/drawingml/2006/main">
              <a:ext uri="{FF2B5EF4-FFF2-40B4-BE49-F238E27FC236}">
                <a16:creationId xmlns:a16="http://schemas.microsoft.com/office/drawing/2014/main" id="{6DEC19DF-9ED1-490E-A65B-D8E96B513E1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19/25</a:t>
            </a:r>
          </a:p>
        </p:txBody>
      </p:sp>
    </p:spTree>
    <p:extLst>
      <p:ext uri="{BB962C8B-B14F-4D97-AF65-F5344CB8AC3E}">
        <p14:creationId xmlns:p14="http://schemas.microsoft.com/office/powerpoint/2010/main" val="1811089678"/>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A459F2-9BCD-4F6B-AA25-514EA4DFFADA}"/>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Práctica 2: añadir un cuerpo hueco</a:t>
            </a:r>
          </a:p>
        </p:txBody>
      </p:sp>
      <p:pic>
        <p:nvPicPr>
          <p:cNvPr id="2" name="">
            <a:extLst xmlns:a="http://schemas.openxmlformats.org/drawingml/2006/main">
              <a:ext uri="{FF2B5EF4-FFF2-40B4-BE49-F238E27FC236}">
                <a16:creationId xmlns:a16="http://schemas.microsoft.com/office/drawing/2014/main" id="{CAF9850B-E667-4B6C-927A-8B4FB1275DE1}"/>
              </a:ext>
            </a:extLst>
          </p:cNvPr>
          <p:cNvPicPr>
            <a:picLocks xmlns:a="http://schemas.openxmlformats.org/drawingml/2006/main" noChangeAspect="1"/>
          </p:cNvPicPr>
          <p:nvPr/>
        </p:nvPicPr>
        <p:blipFill>
          <a:blip xmlns:r="http://schemas.openxmlformats.org/officeDocument/2006/relationships" xmlns:a="http://schemas.openxmlformats.org/drawingml/2006/main" r:embed="R21b16487e776441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DFD5C97F-437D-4AD0-8677-2F4EC89CFCBE}"/>
              </a:ext>
            </a:extLst>
          </p:cNvPr>
          <p:cNvPicPr>
            <a:picLocks xmlns:a="http://schemas.openxmlformats.org/drawingml/2006/main" noChangeAspect="1"/>
          </p:cNvPicPr>
          <p:nvPr/>
        </p:nvPicPr>
        <p:blipFill>
          <a:blip xmlns:r="http://schemas.openxmlformats.org/officeDocument/2006/relationships" xmlns:a="http://schemas.openxmlformats.org/drawingml/2006/main" r:embed="R4fca139f5d9e41d6"/>
          <a:stretch xmlns:a="http://schemas.openxmlformats.org/drawingml/2006/main"/>
        </p:blipFill>
        <p:spPr>
          <a:xfrm xmlns:a="http://schemas.openxmlformats.org/drawingml/2006/main">
            <a:off x="1376317" y="1666875"/>
            <a:ext cx="5667466" cy="3905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701F9C5-C5C9-4868-ACB3-83A40901C79F}"/>
              </a:ext>
            </a:extLst>
          </p:cNvPr>
          <p:cNvSpPr>
            <a:spLocks xmlns:a="http://schemas.openxmlformats.org/drawingml/2006/main" noGrp="1"/>
          </p:cNvSpPr>
          <p:nvPr/>
        </p:nvSpPr>
        <p:spPr>
          <a:xfrm xmlns:a="http://schemas.openxmlformats.org/drawingml/2006/main">
            <a:off x="8201025" y="1800225"/>
            <a:ext cx="3371850" cy="3724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Introduce en tu archivo: 280 mm de longitud, 32 mm de diámetro exterior y 1 mm de pared.</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Comprueba que el interior resulte 30 mm y que Filled esté desactivado.</a:t>
            </a:r>
          </a:p>
        </p:txBody>
      </p:sp>
      <p:sp>
        <p:nvSpPr>
          <p:cNvPr id="5" name="">
            <a:extLst xmlns:a="http://schemas.openxmlformats.org/drawingml/2006/main">
              <a:ext uri="{FF2B5EF4-FFF2-40B4-BE49-F238E27FC236}">
                <a16:creationId xmlns:a16="http://schemas.microsoft.com/office/drawing/2014/main" id="{5ED4620F-AF3E-4226-BE13-45A0A569C42C}"/>
              </a:ext>
            </a:extLst>
          </p:cNvPr>
          <p:cNvSpPr>
            <a:spLocks xmlns:a="http://schemas.openxmlformats.org/drawingml/2006/main" noGrp="1"/>
          </p:cNvSpPr>
          <p:nvPr/>
        </p:nvSpPr>
        <p:spPr>
          <a:xfrm xmlns:a="http://schemas.openxmlformats.org/drawingml/2006/main">
            <a:off x="590550" y="58197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La captura oficial muestra pulgadas. Cambia las unidades del ejercicio a mm.</a:t>
            </a:r>
          </a:p>
        </p:txBody>
      </p:sp>
      <p:sp>
        <p:nvSpPr>
          <p:cNvPr id="6" name="">
            <a:extLst xmlns:a="http://schemas.openxmlformats.org/drawingml/2006/main">
              <a:ext uri="{FF2B5EF4-FFF2-40B4-BE49-F238E27FC236}">
                <a16:creationId xmlns:a16="http://schemas.microsoft.com/office/drawing/2014/main" id="{D5220E6A-2634-4C9D-8E18-2DAE620B3A8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20/25</a:t>
            </a:r>
          </a:p>
        </p:txBody>
      </p:sp>
    </p:spTree>
    <p:extLst>
      <p:ext uri="{BB962C8B-B14F-4D97-AF65-F5344CB8AC3E}">
        <p14:creationId xmlns:p14="http://schemas.microsoft.com/office/powerpoint/2010/main" val="54456645"/>
      </p:ext>
    </p:extLst>
  </p:cSld>
</p:sld>
</file>

<file path=ppt/slides/slide2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5EDB2C4-9D6A-4A86-AD70-4D8153E32F08}"/>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Práctica 3: añadir las aletas</a:t>
            </a:r>
          </a:p>
        </p:txBody>
      </p:sp>
      <p:pic>
        <p:nvPicPr>
          <p:cNvPr id="2" name="">
            <a:extLst xmlns:a="http://schemas.openxmlformats.org/drawingml/2006/main">
              <a:ext uri="{FF2B5EF4-FFF2-40B4-BE49-F238E27FC236}">
                <a16:creationId xmlns:a16="http://schemas.microsoft.com/office/drawing/2014/main" id="{30894FE7-34E7-4BAE-BA5B-1665C1F22E0B}"/>
              </a:ext>
            </a:extLst>
          </p:cNvPr>
          <p:cNvPicPr>
            <a:picLocks xmlns:a="http://schemas.openxmlformats.org/drawingml/2006/main" noChangeAspect="1"/>
          </p:cNvPicPr>
          <p:nvPr/>
        </p:nvPicPr>
        <p:blipFill>
          <a:blip xmlns:r="http://schemas.openxmlformats.org/officeDocument/2006/relationships" xmlns:a="http://schemas.openxmlformats.org/drawingml/2006/main" r:embed="Rbb417d3777b844a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7B67A19-A674-4E17-A130-0877F20495E7}"/>
              </a:ext>
            </a:extLst>
          </p:cNvPr>
          <p:cNvSpPr>
            <a:spLocks xmlns:a="http://schemas.openxmlformats.org/drawingml/2006/main" noGrp="1"/>
          </p:cNvSpPr>
          <p:nvPr/>
        </p:nvSpPr>
        <p:spPr>
          <a:xfrm xmlns:a="http://schemas.openxmlformats.org/drawingml/2006/main">
            <a:off x="590550" y="1762125"/>
            <a:ext cx="10858500" cy="430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Selecciona Cuerpo y añade Trapezoidal Fin Set.</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Introduce tres aletas. Raíz 50 mm y punta 25 mm.</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Semienvergadura 22 mm, barrido 20 mm y espesor 2 mm.</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Ubica la raíz en los últimos 50 mm del tubo.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5. Comprueba posición en la vista lateral y guarda v01.</a:t>
            </a:r>
          </a:p>
        </p:txBody>
      </p:sp>
      <p:sp>
        <p:nvSpPr>
          <p:cNvPr id="4" name="">
            <a:extLst xmlns:a="http://schemas.openxmlformats.org/drawingml/2006/main">
              <a:ext uri="{FF2B5EF4-FFF2-40B4-BE49-F238E27FC236}">
                <a16:creationId xmlns:a16="http://schemas.microsoft.com/office/drawing/2014/main" id="{3FCA4179-DF63-4AC0-904C-81106A4EE08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21/25</a:t>
            </a:r>
          </a:p>
        </p:txBody>
      </p:sp>
    </p:spTree>
    <p:extLst>
      <p:ext uri="{BB962C8B-B14F-4D97-AF65-F5344CB8AC3E}">
        <p14:creationId xmlns:p14="http://schemas.microsoft.com/office/powerpoint/2010/main" val="992813223"/>
      </p:ext>
    </p:extLst>
  </p:cSld>
</p:sld>
</file>

<file path=ppt/slides/slide2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86703C9-D093-4345-B1A7-39BC2C65B2B2}"/>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Actividad: revisar lateral y vista posterior</a:t>
            </a:r>
          </a:p>
        </p:txBody>
      </p:sp>
      <p:pic>
        <p:nvPicPr>
          <p:cNvPr id="2" name="">
            <a:extLst xmlns:a="http://schemas.openxmlformats.org/drawingml/2006/main">
              <a:ext uri="{FF2B5EF4-FFF2-40B4-BE49-F238E27FC236}">
                <a16:creationId xmlns:a16="http://schemas.microsoft.com/office/drawing/2014/main" id="{C5106DC9-2806-4C9E-B992-2D20928C1E7B}"/>
              </a:ext>
            </a:extLst>
          </p:cNvPr>
          <p:cNvPicPr>
            <a:picLocks xmlns:a="http://schemas.openxmlformats.org/drawingml/2006/main" noChangeAspect="1"/>
          </p:cNvPicPr>
          <p:nvPr/>
        </p:nvPicPr>
        <p:blipFill>
          <a:blip xmlns:r="http://schemas.openxmlformats.org/officeDocument/2006/relationships" xmlns:a="http://schemas.openxmlformats.org/drawingml/2006/main" r:embed="R8eb5cc7da5e9450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86DA0477-D5F8-48F3-86F0-DFD6CAD3B2F3}"/>
              </a:ext>
            </a:extLst>
          </p:cNvPr>
          <p:cNvPicPr>
            <a:picLocks xmlns:a="http://schemas.openxmlformats.org/drawingml/2006/main" noChangeAspect="1"/>
          </p:cNvPicPr>
          <p:nvPr/>
        </p:nvPicPr>
        <p:blipFill>
          <a:blip xmlns:r="http://schemas.openxmlformats.org/officeDocument/2006/relationships" xmlns:a="http://schemas.openxmlformats.org/drawingml/2006/main" r:embed="R2b064e7179324977"/>
          <a:stretch xmlns:a="http://schemas.openxmlformats.org/drawingml/2006/main"/>
        </p:blipFill>
        <p:spPr>
          <a:xfrm xmlns:a="http://schemas.openxmlformats.org/drawingml/2006/main">
            <a:off x="685800" y="1720191"/>
            <a:ext cx="10810875" cy="228414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218F247-560E-4EB2-900A-8600C7CC41B9}"/>
              </a:ext>
            </a:extLst>
          </p:cNvPr>
          <p:cNvSpPr>
            <a:spLocks xmlns:a="http://schemas.openxmlformats.org/drawingml/2006/main" noGrp="1"/>
          </p:cNvSpPr>
          <p:nvPr/>
        </p:nvSpPr>
        <p:spPr>
          <a:xfrm xmlns:a="http://schemas.openxmlformats.org/drawingml/2006/main">
            <a:off x="685800" y="4400550"/>
            <a:ext cx="10810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cuerpo está hueco?</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¿Las aletas están atrás?</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¿Son tres y están repartidas regularmente?</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nombre del equipo y la versión están guardados?</a:t>
            </a:r>
          </a:p>
        </p:txBody>
      </p:sp>
      <p:sp>
        <p:nvSpPr>
          <p:cNvPr id="5" name="">
            <a:extLst xmlns:a="http://schemas.openxmlformats.org/drawingml/2006/main">
              <a:ext uri="{FF2B5EF4-FFF2-40B4-BE49-F238E27FC236}">
                <a16:creationId xmlns:a16="http://schemas.microsoft.com/office/drawing/2014/main" id="{C5C69042-977D-40B7-9533-C9E61080E973}"/>
              </a:ext>
            </a:extLst>
          </p:cNvPr>
          <p:cNvSpPr>
            <a:spLocks xmlns:a="http://schemas.openxmlformats.org/drawingml/2006/main" noGrp="1"/>
          </p:cNvSpPr>
          <p:nvPr/>
        </p:nvSpPr>
        <p:spPr>
          <a:xfrm xmlns:a="http://schemas.openxmlformats.org/drawingml/2006/main">
            <a:off x="685800" y="6067425"/>
            <a:ext cx="10810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Ejemplo del manual. Entrega capturas de tu propio archivo.</a:t>
            </a:r>
          </a:p>
        </p:txBody>
      </p:sp>
      <p:sp>
        <p:nvSpPr>
          <p:cNvPr id="6" name="">
            <a:extLst xmlns:a="http://schemas.openxmlformats.org/drawingml/2006/main">
              <a:ext uri="{FF2B5EF4-FFF2-40B4-BE49-F238E27FC236}">
                <a16:creationId xmlns:a16="http://schemas.microsoft.com/office/drawing/2014/main" id="{359EFD5A-C319-470A-A0C6-0F5AF84180A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22/25</a:t>
            </a:r>
          </a:p>
        </p:txBody>
      </p:sp>
    </p:spTree>
    <p:extLst>
      <p:ext uri="{BB962C8B-B14F-4D97-AF65-F5344CB8AC3E}">
        <p14:creationId xmlns:p14="http://schemas.microsoft.com/office/powerpoint/2010/main" val="1059723789"/>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79C070-7E4E-4E17-A920-201DD83F2603}"/>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Los indicadores CG y CP aparecerán en pantalla</a:t>
            </a:r>
          </a:p>
        </p:txBody>
      </p:sp>
      <p:pic>
        <p:nvPicPr>
          <p:cNvPr id="2" name="">
            <a:extLst xmlns:a="http://schemas.openxmlformats.org/drawingml/2006/main">
              <a:ext uri="{FF2B5EF4-FFF2-40B4-BE49-F238E27FC236}">
                <a16:creationId xmlns:a16="http://schemas.microsoft.com/office/drawing/2014/main" id="{58AA4B95-83BD-48EE-922B-3F559BD2B376}"/>
              </a:ext>
            </a:extLst>
          </p:cNvPr>
          <p:cNvPicPr>
            <a:picLocks xmlns:a="http://schemas.openxmlformats.org/drawingml/2006/main" noChangeAspect="1"/>
          </p:cNvPicPr>
          <p:nvPr/>
        </p:nvPicPr>
        <p:blipFill>
          <a:blip xmlns:r="http://schemas.openxmlformats.org/officeDocument/2006/relationships" xmlns:a="http://schemas.openxmlformats.org/drawingml/2006/main" r:embed="R4061da420f2f44d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0B5536E-881B-4262-AB13-EACCC0D87FCB}"/>
              </a:ext>
            </a:extLst>
          </p:cNvPr>
          <p:cNvSpPr>
            <a:spLocks xmlns:a="http://schemas.openxmlformats.org/drawingml/2006/main" noGrp="1"/>
          </p:cNvSpPr>
          <p:nvPr/>
        </p:nvSpPr>
        <p:spPr>
          <a:xfrm xmlns:a="http://schemas.openxmlformats.org/drawingml/2006/main">
            <a:off x="590550" y="1762125"/>
            <a:ext cx="10858500" cy="430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4231E"/>
                </a:solidFill>
                <a:latin typeface="Arial"/>
                <a:ea typeface="Arial"/>
                <a:cs typeface="Arial"/>
              </a:defRPr>
            </a:defPPr>
            <a:lvl1pPr>
              <a:defRPr sz="2400" b="0">
                <a:solidFill>
                  <a:srgbClr val="14231E"/>
                </a:solidFill>
                <a:latin typeface="Arial"/>
                <a:ea typeface="Arial"/>
                <a:cs typeface="Arial"/>
              </a:defRPr>
            </a:lvl1pPr>
            <a:lvl2pPr>
              <a:defRPr sz="2400" b="0">
                <a:solidFill>
                  <a:srgbClr val="14231E"/>
                </a:solidFill>
                <a:latin typeface="Arial"/>
                <a:ea typeface="Arial"/>
                <a:cs typeface="Arial"/>
              </a:defRPr>
            </a:lvl2pPr>
            <a:lvl3pPr>
              <a:defRPr sz="2400" b="0">
                <a:solidFill>
                  <a:srgbClr val="14231E"/>
                </a:solidFill>
                <a:latin typeface="Arial"/>
                <a:ea typeface="Arial"/>
                <a:cs typeface="Arial"/>
              </a:defRPr>
            </a:lvl3pPr>
            <a:lvl4pPr>
              <a:defRPr sz="2400" b="0">
                <a:solidFill>
                  <a:srgbClr val="14231E"/>
                </a:solidFill>
                <a:latin typeface="Arial"/>
                <a:ea typeface="Arial"/>
                <a:cs typeface="Arial"/>
              </a:defRPr>
            </a:lvl4pPr>
            <a:lvl5pPr>
              <a:defRPr sz="2400" b="0">
                <a:solidFill>
                  <a:srgbClr val="14231E"/>
                </a:solidFill>
                <a:latin typeface="Arial"/>
                <a:ea typeface="Arial"/>
                <a:cs typeface="Arial"/>
              </a:defRPr>
            </a:lvl5pPr>
            <a:lvl6pPr>
              <a:defRPr sz="2400" b="0">
                <a:solidFill>
                  <a:srgbClr val="14231E"/>
                </a:solidFill>
                <a:latin typeface="Arial"/>
                <a:ea typeface="Arial"/>
                <a:cs typeface="Arial"/>
              </a:defRPr>
            </a:lvl6pPr>
            <a:lvl7pPr>
              <a:defRPr sz="2400" b="0">
                <a:solidFill>
                  <a:srgbClr val="14231E"/>
                </a:solidFill>
                <a:latin typeface="Arial"/>
                <a:ea typeface="Arial"/>
                <a:cs typeface="Arial"/>
              </a:defRPr>
            </a:lvl7pPr>
            <a:lvl8pPr>
              <a:defRPr sz="2400" b="0">
                <a:solidFill>
                  <a:srgbClr val="14231E"/>
                </a:solidFill>
                <a:latin typeface="Arial"/>
                <a:ea typeface="Arial"/>
                <a:cs typeface="Arial"/>
              </a:defRPr>
            </a:lvl8pPr>
            <a:lvl9pPr>
              <a:defRPr sz="2400" b="0">
                <a:solidFill>
                  <a:srgbClr val="14231E"/>
                </a:solidFill>
                <a:latin typeface="Arial"/>
                <a:ea typeface="Arial"/>
                <a:cs typeface="Arial"/>
              </a:defRPr>
            </a:lvl9pPr>
          </a:lstStyle>
          <a:p xmlns:a="http://schemas.openxmlformats.org/drawingml/2006/main">
            <a:pPr>
              <a:defRPr sz="2400" b="0">
                <a:solidFill>
                  <a:srgbClr val="14231E"/>
                </a:solidFill>
                <a:latin typeface="Arial"/>
                <a:ea typeface="Arial"/>
                <a:cs typeface="Arial"/>
              </a:defRPr>
            </a:pPr>
            <a:r>
              <a:rPr sz="2400" b="0">
                <a:solidFill>
                  <a:srgbClr val="14231E"/>
                </a:solidFill>
                <a:latin typeface="Arial"/>
                <a:ea typeface="Arial"/>
                <a:cs typeface="Arial"/>
              </a:rPr>
              <a:t>1. CG se relaciona con la distribución de masa.</a:t>
            </a:r>
          </a:p>
          <a:p xmlns:a="http://schemas.openxmlformats.org/drawingml/2006/main">
            <a:r>
              <a:t/>
            </a:r>
          </a:p>
          <a:p xmlns:a="http://schemas.openxmlformats.org/drawingml/2006/main">
            <a:pPr>
              <a:defRPr sz="2400" b="0">
                <a:solidFill>
                  <a:srgbClr val="14231E"/>
                </a:solidFill>
                <a:latin typeface="Arial"/>
                <a:ea typeface="Arial"/>
                <a:cs typeface="Arial"/>
              </a:defRPr>
            </a:pPr>
            <a:r>
              <a:rPr sz="2400" b="0">
                <a:solidFill>
                  <a:srgbClr val="14231E"/>
                </a:solidFill>
                <a:latin typeface="Arial"/>
                <a:ea typeface="Arial"/>
                <a:cs typeface="Arial"/>
              </a:rPr>
              <a:t>2. CP es un resultado del modelo aerodinámico.</a:t>
            </a:r>
          </a:p>
          <a:p xmlns:a="http://schemas.openxmlformats.org/drawingml/2006/main">
            <a:r>
              <a:t/>
            </a:r>
          </a:p>
          <a:p xmlns:a="http://schemas.openxmlformats.org/drawingml/2006/main">
            <a:pPr>
              <a:defRPr sz="2400" b="0">
                <a:solidFill>
                  <a:srgbClr val="14231E"/>
                </a:solidFill>
                <a:latin typeface="Arial"/>
                <a:ea typeface="Arial"/>
                <a:cs typeface="Arial"/>
              </a:defRPr>
            </a:pPr>
            <a:r>
              <a:rPr sz="2400" b="0">
                <a:solidFill>
                  <a:srgbClr val="14231E"/>
                </a:solidFill>
                <a:latin typeface="Arial"/>
                <a:ea typeface="Arial"/>
                <a:cs typeface="Arial"/>
              </a:rPr>
              <a:t>3. Hoy debes ubicarlos y reconocer que representan cosas diferentes.</a:t>
            </a:r>
          </a:p>
          <a:p xmlns:a="http://schemas.openxmlformats.org/drawingml/2006/main">
            <a:r>
              <a:t/>
            </a:r>
          </a:p>
          <a:p xmlns:a="http://schemas.openxmlformats.org/drawingml/2006/main">
            <a:pPr>
              <a:defRPr sz="2400" b="0">
                <a:solidFill>
                  <a:srgbClr val="14231E"/>
                </a:solidFill>
                <a:latin typeface="Arial"/>
                <a:ea typeface="Arial"/>
                <a:cs typeface="Arial"/>
              </a:defRPr>
            </a:pPr>
            <a:r>
              <a:rPr sz="2400" b="0">
                <a:solidFill>
                  <a:srgbClr val="14231E"/>
                </a:solidFill>
                <a:latin typeface="Arial"/>
                <a:ea typeface="Arial"/>
                <a:cs typeface="Arial"/>
              </a:rPr>
              <a:t>4. En clase 7 los relacionaremos con una maqueta inerte y el modelo actualizado.</a:t>
            </a:r>
          </a:p>
        </p:txBody>
      </p:sp>
      <p:sp>
        <p:nvSpPr>
          <p:cNvPr id="4" name="">
            <a:extLst xmlns:a="http://schemas.openxmlformats.org/drawingml/2006/main">
              <a:ext uri="{FF2B5EF4-FFF2-40B4-BE49-F238E27FC236}">
                <a16:creationId xmlns:a16="http://schemas.microsoft.com/office/drawing/2014/main" id="{523EDC92-D12A-43BB-B57E-D6B45A21069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23/25</a:t>
            </a:r>
          </a:p>
        </p:txBody>
      </p:sp>
    </p:spTree>
    <p:extLst>
      <p:ext uri="{BB962C8B-B14F-4D97-AF65-F5344CB8AC3E}">
        <p14:creationId xmlns:p14="http://schemas.microsoft.com/office/powerpoint/2010/main" val="2051041787"/>
      </p:ext>
    </p:extLst>
  </p:cSld>
</p:sld>
</file>

<file path=ppt/slides/slide2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561765-77D0-4249-92D0-6B2592446C82}"/>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4231E"/>
                </a:solidFill>
                <a:latin typeface="Arial Narrow"/>
                <a:ea typeface="Arial Narrow"/>
                <a:cs typeface="Arial Narrow"/>
              </a:defRPr>
            </a:defPPr>
            <a:lvl1pPr>
              <a:defRPr sz="3525" b="1">
                <a:solidFill>
                  <a:srgbClr val="14231E"/>
                </a:solidFill>
                <a:latin typeface="Arial Narrow"/>
                <a:ea typeface="Arial Narrow"/>
                <a:cs typeface="Arial Narrow"/>
              </a:defRPr>
            </a:lvl1pPr>
            <a:lvl2pPr>
              <a:defRPr sz="3525" b="1">
                <a:solidFill>
                  <a:srgbClr val="14231E"/>
                </a:solidFill>
                <a:latin typeface="Arial Narrow"/>
                <a:ea typeface="Arial Narrow"/>
                <a:cs typeface="Arial Narrow"/>
              </a:defRPr>
            </a:lvl2pPr>
            <a:lvl3pPr>
              <a:defRPr sz="3525" b="1">
                <a:solidFill>
                  <a:srgbClr val="14231E"/>
                </a:solidFill>
                <a:latin typeface="Arial Narrow"/>
                <a:ea typeface="Arial Narrow"/>
                <a:cs typeface="Arial Narrow"/>
              </a:defRPr>
            </a:lvl3pPr>
            <a:lvl4pPr>
              <a:defRPr sz="3525" b="1">
                <a:solidFill>
                  <a:srgbClr val="14231E"/>
                </a:solidFill>
                <a:latin typeface="Arial Narrow"/>
                <a:ea typeface="Arial Narrow"/>
                <a:cs typeface="Arial Narrow"/>
              </a:defRPr>
            </a:lvl4pPr>
            <a:lvl5pPr>
              <a:defRPr sz="3525" b="1">
                <a:solidFill>
                  <a:srgbClr val="14231E"/>
                </a:solidFill>
                <a:latin typeface="Arial Narrow"/>
                <a:ea typeface="Arial Narrow"/>
                <a:cs typeface="Arial Narrow"/>
              </a:defRPr>
            </a:lvl5pPr>
            <a:lvl6pPr>
              <a:defRPr sz="3525" b="1">
                <a:solidFill>
                  <a:srgbClr val="14231E"/>
                </a:solidFill>
                <a:latin typeface="Arial Narrow"/>
                <a:ea typeface="Arial Narrow"/>
                <a:cs typeface="Arial Narrow"/>
              </a:defRPr>
            </a:lvl6pPr>
            <a:lvl7pPr>
              <a:defRPr sz="3525" b="1">
                <a:solidFill>
                  <a:srgbClr val="14231E"/>
                </a:solidFill>
                <a:latin typeface="Arial Narrow"/>
                <a:ea typeface="Arial Narrow"/>
                <a:cs typeface="Arial Narrow"/>
              </a:defRPr>
            </a:lvl7pPr>
            <a:lvl8pPr>
              <a:defRPr sz="3525" b="1">
                <a:solidFill>
                  <a:srgbClr val="14231E"/>
                </a:solidFill>
                <a:latin typeface="Arial Narrow"/>
                <a:ea typeface="Arial Narrow"/>
                <a:cs typeface="Arial Narrow"/>
              </a:defRPr>
            </a:lvl8pPr>
            <a:lvl9pPr>
              <a:defRPr sz="3525" b="1">
                <a:solidFill>
                  <a:srgbClr val="14231E"/>
                </a:solidFill>
                <a:latin typeface="Arial Narrow"/>
                <a:ea typeface="Arial Narrow"/>
                <a:cs typeface="Arial Narrow"/>
              </a:defRPr>
            </a:lvl9pPr>
          </a:lstStyle>
          <a:p xmlns:a="http://schemas.openxmlformats.org/drawingml/2006/main">
            <a:pPr>
              <a:defRPr sz="3525" b="1">
                <a:solidFill>
                  <a:srgbClr val="14231E"/>
                </a:solidFill>
                <a:latin typeface="Arial Narrow"/>
                <a:ea typeface="Arial Narrow"/>
                <a:cs typeface="Arial Narrow"/>
              </a:defRPr>
            </a:pPr>
            <a:r>
              <a:rPr sz="3525" b="1">
                <a:solidFill>
                  <a:srgbClr val="14231E"/>
                </a:solidFill>
                <a:latin typeface="Arial Narrow"/>
                <a:ea typeface="Arial Narrow"/>
                <a:cs typeface="Arial Narrow"/>
              </a:rPr>
              <a:t>CAD, OpenRocket, openMotor y RockSim</a:t>
            </a:r>
          </a:p>
        </p:txBody>
      </p:sp>
      <p:pic>
        <p:nvPicPr>
          <p:cNvPr id="2" name="">
            <a:extLst xmlns:a="http://schemas.openxmlformats.org/drawingml/2006/main">
              <a:ext uri="{FF2B5EF4-FFF2-40B4-BE49-F238E27FC236}">
                <a16:creationId xmlns:a16="http://schemas.microsoft.com/office/drawing/2014/main" id="{9626AA63-0B51-494A-B2BA-A5E784B75047}"/>
              </a:ext>
            </a:extLst>
          </p:cNvPr>
          <p:cNvPicPr>
            <a:picLocks xmlns:a="http://schemas.openxmlformats.org/drawingml/2006/main" noChangeAspect="1"/>
          </p:cNvPicPr>
          <p:nvPr/>
        </p:nvPicPr>
        <p:blipFill>
          <a:blip xmlns:r="http://schemas.openxmlformats.org/officeDocument/2006/relationships" xmlns:a="http://schemas.openxmlformats.org/drawingml/2006/main" r:embed="R1fd88981529b4b0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graphicFrame>
        <p:nvGraphicFramePr>
          <p:cNvPr id="3" name="">
            <a:extLst xmlns:a="http://schemas.openxmlformats.org/drawingml/2006/main">
              <a:ext uri="{FF2B5EF4-FFF2-40B4-BE49-F238E27FC236}">
                <a16:creationId xmlns:a16="http://schemas.microsoft.com/office/drawing/2014/main" id="{BCB21A1E-9C51-4708-8383-928FC51B4168}"/>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718185">
                <a:tc>
                  <a:txBody>
                    <a:bodyPr/>
                    <a:lstStyle/>
                    <a:p>
                      <a:r>
                        <a:rPr sz="2025" b="1">
                          <a:solidFill>
                            <a:srgbClr val="FFFFFF"/>
                          </a:solidFill>
                          <a:latin typeface="Arial"/>
                          <a:ea typeface="Arial"/>
                          <a:cs typeface="Arial"/>
                        </a:rPr>
                        <a:t>Herramienta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trabajaremos</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Primera aplicación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CAD y laminador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Detalle de pieza e impresión</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Nariz y útil de montaje</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OpenRocket</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Vehículo completo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Geometría desde hoy</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openMotor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Conceptos del motor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Presión y empuje, clase 8</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RockSim</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Otra representación del vehículo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Comparación, clase 13</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
        <p:nvSpPr>
          <p:cNvPr id="4" name="">
            <a:extLst xmlns:a="http://schemas.openxmlformats.org/drawingml/2006/main">
              <a:ext uri="{FF2B5EF4-FFF2-40B4-BE49-F238E27FC236}">
                <a16:creationId xmlns:a16="http://schemas.microsoft.com/office/drawing/2014/main" id="{FAC7D6D5-1803-41B9-863D-5E977AEAE47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CLASE 1   24/25</a:t>
            </a:r>
          </a:p>
        </p:txBody>
      </p:sp>
    </p:spTree>
    <p:extLst>
      <p:ext uri="{BB962C8B-B14F-4D97-AF65-F5344CB8AC3E}">
        <p14:creationId xmlns:p14="http://schemas.microsoft.com/office/powerpoint/2010/main" val="125987973"/>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9EEB2F-35E3-4D25-8C0B-B0E66AD26C97}"/>
              </a:ext>
            </a:extLst>
          </p:cNvPr>
          <p:cNvSpPr>
            <a:spLocks xmlns:a="http://schemas.openxmlformats.org/drawingml/2006/main" noGrp="1"/>
          </p:cNvSpPr>
          <p:nvPr/>
        </p:nvSpPr>
        <p:spPr>
          <a:xfrm xmlns:a="http://schemas.openxmlformats.org/drawingml/2006/main">
            <a:off x="590550" y="42862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FCFCF8"/>
                </a:solidFill>
                <a:latin typeface="Arial Narrow"/>
                <a:ea typeface="Arial Narrow"/>
                <a:cs typeface="Arial Narrow"/>
              </a:defRPr>
            </a:defPPr>
            <a:lvl1pPr>
              <a:defRPr sz="3525" b="1">
                <a:solidFill>
                  <a:srgbClr val="FCFCF8"/>
                </a:solidFill>
                <a:latin typeface="Arial Narrow"/>
                <a:ea typeface="Arial Narrow"/>
                <a:cs typeface="Arial Narrow"/>
              </a:defRPr>
            </a:lvl1pPr>
            <a:lvl2pPr>
              <a:defRPr sz="3525" b="1">
                <a:solidFill>
                  <a:srgbClr val="FCFCF8"/>
                </a:solidFill>
                <a:latin typeface="Arial Narrow"/>
                <a:ea typeface="Arial Narrow"/>
                <a:cs typeface="Arial Narrow"/>
              </a:defRPr>
            </a:lvl2pPr>
            <a:lvl3pPr>
              <a:defRPr sz="3525" b="1">
                <a:solidFill>
                  <a:srgbClr val="FCFCF8"/>
                </a:solidFill>
                <a:latin typeface="Arial Narrow"/>
                <a:ea typeface="Arial Narrow"/>
                <a:cs typeface="Arial Narrow"/>
              </a:defRPr>
            </a:lvl3pPr>
            <a:lvl4pPr>
              <a:defRPr sz="3525" b="1">
                <a:solidFill>
                  <a:srgbClr val="FCFCF8"/>
                </a:solidFill>
                <a:latin typeface="Arial Narrow"/>
                <a:ea typeface="Arial Narrow"/>
                <a:cs typeface="Arial Narrow"/>
              </a:defRPr>
            </a:lvl4pPr>
            <a:lvl5pPr>
              <a:defRPr sz="3525" b="1">
                <a:solidFill>
                  <a:srgbClr val="FCFCF8"/>
                </a:solidFill>
                <a:latin typeface="Arial Narrow"/>
                <a:ea typeface="Arial Narrow"/>
                <a:cs typeface="Arial Narrow"/>
              </a:defRPr>
            </a:lvl5pPr>
            <a:lvl6pPr>
              <a:defRPr sz="3525" b="1">
                <a:solidFill>
                  <a:srgbClr val="FCFCF8"/>
                </a:solidFill>
                <a:latin typeface="Arial Narrow"/>
                <a:ea typeface="Arial Narrow"/>
                <a:cs typeface="Arial Narrow"/>
              </a:defRPr>
            </a:lvl6pPr>
            <a:lvl7pPr>
              <a:defRPr sz="3525" b="1">
                <a:solidFill>
                  <a:srgbClr val="FCFCF8"/>
                </a:solidFill>
                <a:latin typeface="Arial Narrow"/>
                <a:ea typeface="Arial Narrow"/>
                <a:cs typeface="Arial Narrow"/>
              </a:defRPr>
            </a:lvl7pPr>
            <a:lvl8pPr>
              <a:defRPr sz="3525" b="1">
                <a:solidFill>
                  <a:srgbClr val="FCFCF8"/>
                </a:solidFill>
                <a:latin typeface="Arial Narrow"/>
                <a:ea typeface="Arial Narrow"/>
                <a:cs typeface="Arial Narrow"/>
              </a:defRPr>
            </a:lvl8pPr>
            <a:lvl9pPr>
              <a:defRPr sz="3525" b="1">
                <a:solidFill>
                  <a:srgbClr val="FCFCF8"/>
                </a:solidFill>
                <a:latin typeface="Arial Narrow"/>
                <a:ea typeface="Arial Narrow"/>
                <a:cs typeface="Arial Narrow"/>
              </a:defRPr>
            </a:lvl9pPr>
          </a:lstStyle>
          <a:p xmlns:a="http://schemas.openxmlformats.org/drawingml/2006/main">
            <a:pPr>
              <a:defRPr sz="3525" b="1">
                <a:solidFill>
                  <a:srgbClr val="FCFCF8"/>
                </a:solidFill>
                <a:latin typeface="Arial Narrow"/>
                <a:ea typeface="Arial Narrow"/>
                <a:cs typeface="Arial Narrow"/>
              </a:defRPr>
            </a:pPr>
            <a:r>
              <a:rPr sz="3525" b="1">
                <a:solidFill>
                  <a:srgbClr val="FCFCF8"/>
                </a:solidFill>
                <a:latin typeface="Arial Narrow"/>
                <a:ea typeface="Arial Narrow"/>
                <a:cs typeface="Arial Narrow"/>
              </a:rPr>
              <a:t>Entrega del equipo y siguiente clase</a:t>
            </a:r>
          </a:p>
        </p:txBody>
      </p:sp>
      <p:pic>
        <p:nvPicPr>
          <p:cNvPr id="2" name="">
            <a:extLst xmlns:a="http://schemas.openxmlformats.org/drawingml/2006/main">
              <a:ext uri="{FF2B5EF4-FFF2-40B4-BE49-F238E27FC236}">
                <a16:creationId xmlns:a16="http://schemas.microsoft.com/office/drawing/2014/main" id="{22D3CFB3-0406-48C9-BA0D-E250F284277B}"/>
              </a:ext>
            </a:extLst>
          </p:cNvPr>
          <p:cNvPicPr>
            <a:picLocks xmlns:a="http://schemas.openxmlformats.org/drawingml/2006/main" noChangeAspect="1"/>
          </p:cNvPicPr>
          <p:nvPr/>
        </p:nvPicPr>
        <p:blipFill>
          <a:blip xmlns:r="http://schemas.openxmlformats.org/officeDocument/2006/relationships" xmlns:a="http://schemas.openxmlformats.org/drawingml/2006/main" r:embed="R1d3916bd1de74af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019723B-63C2-43AF-8296-9D563CA85E1F}"/>
              </a:ext>
            </a:extLst>
          </p:cNvPr>
          <p:cNvSpPr>
            <a:spLocks xmlns:a="http://schemas.openxmlformats.org/drawingml/2006/main" noGrp="1"/>
          </p:cNvSpPr>
          <p:nvPr/>
        </p:nvSpPr>
        <p:spPr>
          <a:xfrm xmlns:a="http://schemas.openxmlformats.org/drawingml/2006/main">
            <a:off x="590550" y="1714500"/>
            <a:ext cx="10763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Entrega v00 y v01, ficha de piezas, dos capturas y una decisión de material.</a:t>
            </a:r>
          </a:p>
        </p:txBody>
      </p:sp>
      <p:sp>
        <p:nvSpPr>
          <p:cNvPr id="4" name="">
            <a:extLst xmlns:a="http://schemas.openxmlformats.org/drawingml/2006/main">
              <a:ext uri="{FF2B5EF4-FFF2-40B4-BE49-F238E27FC236}">
                <a16:creationId xmlns:a16="http://schemas.microsoft.com/office/drawing/2014/main" id="{A05772A2-C45D-4982-91C1-97759F5DEE62}"/>
              </a:ext>
            </a:extLst>
          </p:cNvPr>
          <p:cNvSpPr>
            <a:spLocks xmlns:a="http://schemas.openxmlformats.org/drawingml/2006/main" noGrp="1"/>
          </p:cNvSpPr>
          <p:nvPr/>
        </p:nvSpPr>
        <p:spPr>
          <a:xfrm xmlns:a="http://schemas.openxmlformats.org/drawingml/2006/main">
            <a:off x="590550" y="3390900"/>
            <a:ext cx="1076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1. Explica la diferencia entre base y hombro de la nariz.</a:t>
            </a:r>
          </a:p>
          <a:p xmlns:a="http://schemas.openxmlformats.org/drawingml/2006/main">
            <a:r>
              <a:t/>
            </a:r>
          </a:p>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2. Explica por qué el espesor aparece dos veces al calcular el diámetro interior.</a:t>
            </a:r>
          </a:p>
          <a:p xmlns:a="http://schemas.openxmlformats.org/drawingml/2006/main">
            <a:r>
              <a:t/>
            </a:r>
          </a:p>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3. Identifica qué pieza o dato todavía falta en tu modelo.</a:t>
            </a:r>
          </a:p>
        </p:txBody>
      </p:sp>
      <p:sp>
        <p:nvSpPr>
          <p:cNvPr id="5" name="">
            <a:extLst xmlns:a="http://schemas.openxmlformats.org/drawingml/2006/main">
              <a:ext uri="{FF2B5EF4-FFF2-40B4-BE49-F238E27FC236}">
                <a16:creationId xmlns:a16="http://schemas.microsoft.com/office/drawing/2014/main" id="{B1805F0A-CF48-4293-B577-46A492C1803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CLASE 1   25/25</a:t>
            </a:r>
          </a:p>
        </p:txBody>
      </p:sp>
    </p:spTree>
    <p:extLst>
      <p:ext uri="{BB962C8B-B14F-4D97-AF65-F5344CB8AC3E}">
        <p14:creationId xmlns:p14="http://schemas.microsoft.com/office/powerpoint/2010/main" val="264297699"/>
      </p:ext>
    </p:extLst>
  </p:cSld>
</p:sld>
</file>

<file path=ppt/slides/slide2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CFCD3C-9190-47E9-A61F-93365B6531C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Qué cohete necesitamos y qué nariz elegimos</a:t>
            </a:r>
          </a:p>
        </p:txBody>
      </p:sp>
      <p:pic>
        <p:nvPicPr>
          <p:cNvPr id="2" name="">
            <a:extLst xmlns:a="http://schemas.openxmlformats.org/drawingml/2006/main">
              <a:ext uri="{FF2B5EF4-FFF2-40B4-BE49-F238E27FC236}">
                <a16:creationId xmlns:a16="http://schemas.microsoft.com/office/drawing/2014/main" id="{C03FEA00-978E-496B-82AC-096633A428B3}"/>
              </a:ext>
            </a:extLst>
          </p:cNvPr>
          <p:cNvPicPr>
            <a:picLocks xmlns:a="http://schemas.openxmlformats.org/drawingml/2006/main" noChangeAspect="1"/>
          </p:cNvPicPr>
          <p:nvPr/>
        </p:nvPicPr>
        <p:blipFill>
          <a:blip xmlns:r="http://schemas.openxmlformats.org/officeDocument/2006/relationships" xmlns:a="http://schemas.openxmlformats.org/drawingml/2006/main" r:embed="R0015ea98e1a4446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6AD4CF7-DCD6-4464-A5DD-1BE88BF770B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01/24</a:t>
            </a:r>
          </a:p>
        </p:txBody>
      </p:sp>
      <p:sp>
        <p:nvSpPr>
          <p:cNvPr id="4" name="">
            <a:extLst xmlns:a="http://schemas.openxmlformats.org/drawingml/2006/main">
              <a:ext uri="{FF2B5EF4-FFF2-40B4-BE49-F238E27FC236}">
                <a16:creationId xmlns:a16="http://schemas.microsoft.com/office/drawing/2014/main" id="{E477EE09-AADA-4545-B736-329F3BAEE84E}"/>
              </a:ext>
            </a:extLst>
          </p:cNvPr>
          <p:cNvSpPr>
            <a:spLocks xmlns:a="http://schemas.openxmlformats.org/drawingml/2006/main" noGrp="1"/>
          </p:cNvSpPr>
          <p:nvPr/>
        </p:nvSpPr>
        <p:spPr>
          <a:xfrm xmlns:a="http://schemas.openxmlformats.org/drawingml/2006/main">
            <a:off x="590550" y="17621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Elegir una nariz con una misión concreta, comparar alternativas y preparar una muestra de encaje.</a:t>
            </a:r>
          </a:p>
        </p:txBody>
      </p:sp>
      <p:sp>
        <p:nvSpPr>
          <p:cNvPr id="5" name="">
            <a:extLst xmlns:a="http://schemas.openxmlformats.org/drawingml/2006/main">
              <a:ext uri="{FF2B5EF4-FFF2-40B4-BE49-F238E27FC236}">
                <a16:creationId xmlns:a16="http://schemas.microsoft.com/office/drawing/2014/main" id="{B0AD93F6-FA9F-4381-B8F4-8D5BB5588BC5}"/>
              </a:ext>
            </a:extLst>
          </p:cNvPr>
          <p:cNvSpPr>
            <a:spLocks xmlns:a="http://schemas.openxmlformats.org/drawingml/2006/main" noGrp="1"/>
          </p:cNvSpPr>
          <p:nvPr/>
        </p:nvSpPr>
        <p:spPr>
          <a:xfrm xmlns:a="http://schemas.openxmlformats.org/drawingml/2006/main">
            <a:off x="590550" y="37052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Aprender a fabricar y recuperar un modelo pequeño por equipos. La carga científica corresponde al demostrador docente.</a:t>
            </a:r>
          </a:p>
        </p:txBody>
      </p:sp>
      <p:sp>
        <p:nvSpPr>
          <p:cNvPr id="6" name="">
            <a:extLst xmlns:a="http://schemas.openxmlformats.org/drawingml/2006/main">
              <a:ext uri="{FF2B5EF4-FFF2-40B4-BE49-F238E27FC236}">
                <a16:creationId xmlns:a16="http://schemas.microsoft.com/office/drawing/2014/main" id="{B2C042D0-6D2B-4D92-B27C-2580808E1F41}"/>
              </a:ext>
            </a:extLst>
          </p:cNvPr>
          <p:cNvSpPr>
            <a:spLocks xmlns:a="http://schemas.openxmlformats.org/drawingml/2006/main" noGrp="1"/>
          </p:cNvSpPr>
          <p:nvPr/>
        </p:nvSpPr>
        <p:spPr>
          <a:xfrm xmlns:a="http://schemas.openxmlformats.org/drawingml/2006/main">
            <a:off x="590550" y="564832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8C8C1"/>
                </a:solidFill>
                <a:latin typeface="Consolas"/>
                <a:ea typeface="Consolas"/>
                <a:cs typeface="Consolas"/>
              </a:defRPr>
            </a:defPPr>
            <a:lvl1pPr>
              <a:defRPr sz="1800" b="0">
                <a:solidFill>
                  <a:srgbClr val="B8C8C1"/>
                </a:solidFill>
                <a:latin typeface="Consolas"/>
                <a:ea typeface="Consolas"/>
                <a:cs typeface="Consolas"/>
              </a:defRPr>
            </a:lvl1pPr>
            <a:lvl2pPr>
              <a:defRPr sz="1800" b="0">
                <a:solidFill>
                  <a:srgbClr val="B8C8C1"/>
                </a:solidFill>
                <a:latin typeface="Consolas"/>
                <a:ea typeface="Consolas"/>
                <a:cs typeface="Consolas"/>
              </a:defRPr>
            </a:lvl2pPr>
            <a:lvl3pPr>
              <a:defRPr sz="1800" b="0">
                <a:solidFill>
                  <a:srgbClr val="B8C8C1"/>
                </a:solidFill>
                <a:latin typeface="Consolas"/>
                <a:ea typeface="Consolas"/>
                <a:cs typeface="Consolas"/>
              </a:defRPr>
            </a:lvl3pPr>
            <a:lvl4pPr>
              <a:defRPr sz="1800" b="0">
                <a:solidFill>
                  <a:srgbClr val="B8C8C1"/>
                </a:solidFill>
                <a:latin typeface="Consolas"/>
                <a:ea typeface="Consolas"/>
                <a:cs typeface="Consolas"/>
              </a:defRPr>
            </a:lvl4pPr>
            <a:lvl5pPr>
              <a:defRPr sz="1800" b="0">
                <a:solidFill>
                  <a:srgbClr val="B8C8C1"/>
                </a:solidFill>
                <a:latin typeface="Consolas"/>
                <a:ea typeface="Consolas"/>
                <a:cs typeface="Consolas"/>
              </a:defRPr>
            </a:lvl5pPr>
            <a:lvl6pPr>
              <a:defRPr sz="1800" b="0">
                <a:solidFill>
                  <a:srgbClr val="B8C8C1"/>
                </a:solidFill>
                <a:latin typeface="Consolas"/>
                <a:ea typeface="Consolas"/>
                <a:cs typeface="Consolas"/>
              </a:defRPr>
            </a:lvl6pPr>
            <a:lvl7pPr>
              <a:defRPr sz="1800" b="0">
                <a:solidFill>
                  <a:srgbClr val="B8C8C1"/>
                </a:solidFill>
                <a:latin typeface="Consolas"/>
                <a:ea typeface="Consolas"/>
                <a:cs typeface="Consolas"/>
              </a:defRPr>
            </a:lvl7pPr>
            <a:lvl8pPr>
              <a:defRPr sz="1800" b="0">
                <a:solidFill>
                  <a:srgbClr val="B8C8C1"/>
                </a:solidFill>
                <a:latin typeface="Consolas"/>
                <a:ea typeface="Consolas"/>
                <a:cs typeface="Consolas"/>
              </a:defRPr>
            </a:lvl8pPr>
            <a:lvl9pPr>
              <a:defRPr sz="1800" b="0">
                <a:solidFill>
                  <a:srgbClr val="B8C8C1"/>
                </a:solidFill>
                <a:latin typeface="Consolas"/>
                <a:ea typeface="Consolas"/>
                <a:cs typeface="Consolas"/>
              </a:defRPr>
            </a:lvl9pPr>
          </a:lstStyle>
          <a:p xmlns:a="http://schemas.openxmlformats.org/drawingml/2006/main">
            <a:pPr>
              <a:defRPr sz="1800" b="0">
                <a:solidFill>
                  <a:srgbClr val="B8C8C1"/>
                </a:solidFill>
                <a:latin typeface="Consolas"/>
                <a:ea typeface="Consolas"/>
                <a:cs typeface="Consolas"/>
              </a:defRPr>
            </a:pPr>
            <a:r>
              <a:rPr sz="1800"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1490060704"/>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B4AC57-9E53-4E13-96B8-12991F2FFF6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Antes de elegir una forma, define la misión</a:t>
            </a:r>
          </a:p>
        </p:txBody>
      </p:sp>
      <p:pic>
        <p:nvPicPr>
          <p:cNvPr id="2" name="">
            <a:extLst xmlns:a="http://schemas.openxmlformats.org/drawingml/2006/main">
              <a:ext uri="{FF2B5EF4-FFF2-40B4-BE49-F238E27FC236}">
                <a16:creationId xmlns:a16="http://schemas.microsoft.com/office/drawing/2014/main" id="{A58B4629-47EB-4ACD-A608-AE7B411713B4}"/>
              </a:ext>
            </a:extLst>
          </p:cNvPr>
          <p:cNvPicPr>
            <a:picLocks xmlns:a="http://schemas.openxmlformats.org/drawingml/2006/main" noChangeAspect="1"/>
          </p:cNvPicPr>
          <p:nvPr/>
        </p:nvPicPr>
        <p:blipFill>
          <a:blip xmlns:r="http://schemas.openxmlformats.org/officeDocument/2006/relationships" xmlns:a="http://schemas.openxmlformats.org/drawingml/2006/main" r:embed="R744913d3b9d7427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8CEA460-ED33-4651-9C2B-01313820589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02/24</a:t>
            </a:r>
          </a:p>
        </p:txBody>
      </p:sp>
      <p:sp>
        <p:nvSpPr>
          <p:cNvPr id="4" name="">
            <a:extLst xmlns:a="http://schemas.openxmlformats.org/drawingml/2006/main">
              <a:ext uri="{FF2B5EF4-FFF2-40B4-BE49-F238E27FC236}">
                <a16:creationId xmlns:a16="http://schemas.microsoft.com/office/drawing/2014/main" id="{55338B15-EB0F-49CA-BD5E-C5DA6FC5F744}"/>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cohete puede parecerse a otro y tener un propósito diferente. En nuestro proyecto importa aprender a construir, revisar y recuperar el conjunto. Una demostración científica añade sensores y datos. Un cohete de sondeo es un vehículo de investigación de trayectoria suborbital; no debe confundirse con un lanzador que coloca una carga en órbita. Llevar electrónica tampoco convierte automáticamente un modelo de aula en un vehículo espacial.</a:t>
            </a:r>
          </a:p>
        </p:txBody>
      </p:sp>
    </p:spTree>
    <p:extLst>
      <p:ext uri="{BB962C8B-B14F-4D97-AF65-F5344CB8AC3E}">
        <p14:creationId xmlns:p14="http://schemas.microsoft.com/office/powerpoint/2010/main" val="1257677371"/>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C053297-2E55-47CD-AEBA-C9861617091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formas de ordenar el rubro</a:t>
            </a:r>
          </a:p>
        </p:txBody>
      </p:sp>
      <p:pic>
        <p:nvPicPr>
          <p:cNvPr id="2" name="">
            <a:extLst xmlns:a="http://schemas.openxmlformats.org/drawingml/2006/main">
              <a:ext uri="{FF2B5EF4-FFF2-40B4-BE49-F238E27FC236}">
                <a16:creationId xmlns:a16="http://schemas.microsoft.com/office/drawing/2014/main" id="{6FE5F05A-C874-4A94-AC2A-A1DF9C4FCBCF}"/>
              </a:ext>
            </a:extLst>
          </p:cNvPr>
          <p:cNvPicPr>
            <a:picLocks xmlns:a="http://schemas.openxmlformats.org/drawingml/2006/main" noChangeAspect="1"/>
          </p:cNvPicPr>
          <p:nvPr/>
        </p:nvPicPr>
        <p:blipFill>
          <a:blip xmlns:r="http://schemas.openxmlformats.org/officeDocument/2006/relationships" xmlns:a="http://schemas.openxmlformats.org/drawingml/2006/main" r:embed="Rb7efd6b4cc6a448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C966A6-FC49-4342-B47D-F4543F80E7F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03/24</a:t>
            </a:r>
          </a:p>
        </p:txBody>
      </p:sp>
      <p:graphicFrame>
        <p:nvGraphicFramePr>
          <p:cNvPr id="4" name="">
            <a:extLst xmlns:a="http://schemas.openxmlformats.org/drawingml/2006/main">
              <a:ext uri="{FF2B5EF4-FFF2-40B4-BE49-F238E27FC236}">
                <a16:creationId xmlns:a16="http://schemas.microsoft.com/office/drawing/2014/main" id="{04695520-35DD-4D9E-86A2-C0187A20A410}"/>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718185">
                <a:tc>
                  <a:txBody>
                    <a:bodyPr/>
                    <a:lstStyle/>
                    <a:p>
                      <a:r>
                        <a:rPr sz="2025" b="1">
                          <a:solidFill>
                            <a:srgbClr val="FFFFFF"/>
                          </a:solidFill>
                          <a:latin typeface="Arial"/>
                          <a:ea typeface="Arial"/>
                          <a:cs typeface="Arial"/>
                        </a:rPr>
                        <a:t>Criterio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Ejemplos</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En nuestro curso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Propósito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Aprendizaje, recreación, instrumentación</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Aprendizaje; CanSat docente</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Arquitectura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Una etapa, varias etapas, varios motores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Una etapa y un motor comercial</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Clases de motor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Letras de impulso total</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Leer la ficha del motor elegido</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Material y tamaño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Tubos, piezas impresas y dimensiones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Modelo pequeño y ligero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352509198"/>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FF8A795-5286-4D3D-AB71-5C54B9BBEAC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Antes de elegir una forma, define la misión</a:t>
            </a:r>
          </a:p>
        </p:txBody>
      </p:sp>
      <p:pic>
        <p:nvPicPr>
          <p:cNvPr id="2" name="">
            <a:extLst xmlns:a="http://schemas.openxmlformats.org/drawingml/2006/main">
              <a:ext uri="{FF2B5EF4-FFF2-40B4-BE49-F238E27FC236}">
                <a16:creationId xmlns:a16="http://schemas.microsoft.com/office/drawing/2014/main" id="{5B8ED9C4-AAAB-4852-9430-B4CFCB2FF5BD}"/>
              </a:ext>
            </a:extLst>
          </p:cNvPr>
          <p:cNvPicPr>
            <a:picLocks xmlns:a="http://schemas.openxmlformats.org/drawingml/2006/main" noChangeAspect="1"/>
          </p:cNvPicPr>
          <p:nvPr/>
        </p:nvPicPr>
        <p:blipFill>
          <a:blip xmlns:r="http://schemas.openxmlformats.org/officeDocument/2006/relationships" xmlns:a="http://schemas.openxmlformats.org/drawingml/2006/main" r:embed="R5478cae418ac419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026D5BA-1D37-453B-BEC2-5A37050214B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04/24</a:t>
            </a:r>
          </a:p>
        </p:txBody>
      </p:sp>
      <p:sp>
        <p:nvSpPr>
          <p:cNvPr id="4" name="">
            <a:extLst xmlns:a="http://schemas.openxmlformats.org/drawingml/2006/main">
              <a:ext uri="{FF2B5EF4-FFF2-40B4-BE49-F238E27FC236}">
                <a16:creationId xmlns:a16="http://schemas.microsoft.com/office/drawing/2014/main" id="{283090F4-2303-4A75-A997-7A3BBBEF4E2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misión se puede escribir como una tarea observable. “Aprender cohetería” es una intención amplia. “Construir en equipo, desmontar la nariz y explicar dónde se guarda la recuperación” permite decidir qué se necesita. El equipo puede dibujar esas funciones junto a una vista del cohete. Si una forma exterior deja de permitir una de ellas, hay una incompatibilidad que resolver antes de discutir cuál parece más moderna. El tamaño pequeño facilita la fabricación, pero no sustituye esta definición de la misión.</a:t>
            </a:r>
          </a:p>
        </p:txBody>
      </p:sp>
    </p:spTree>
    <p:extLst>
      <p:ext uri="{BB962C8B-B14F-4D97-AF65-F5344CB8AC3E}">
        <p14:creationId xmlns:p14="http://schemas.microsoft.com/office/powerpoint/2010/main" val="218225317"/>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F502D0-CF13-4E20-9025-4F3022FA0EF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Reconocer narices sin buscar una ganadora universal</a:t>
            </a:r>
          </a:p>
        </p:txBody>
      </p:sp>
      <p:pic>
        <p:nvPicPr>
          <p:cNvPr id="2" name="">
            <a:extLst xmlns:a="http://schemas.openxmlformats.org/drawingml/2006/main">
              <a:ext uri="{FF2B5EF4-FFF2-40B4-BE49-F238E27FC236}">
                <a16:creationId xmlns:a16="http://schemas.microsoft.com/office/drawing/2014/main" id="{AD0038E1-DC50-4822-822A-C58B9DC00DD9}"/>
              </a:ext>
            </a:extLst>
          </p:cNvPr>
          <p:cNvPicPr>
            <a:picLocks xmlns:a="http://schemas.openxmlformats.org/drawingml/2006/main" noChangeAspect="1"/>
          </p:cNvPicPr>
          <p:nvPr/>
        </p:nvPicPr>
        <p:blipFill>
          <a:blip xmlns:r="http://schemas.openxmlformats.org/officeDocument/2006/relationships" xmlns:a="http://schemas.openxmlformats.org/drawingml/2006/main" r:embed="R24ef745c891a488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EF5F8A6-9FE4-4057-B717-C4494829BAB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05/24</a:t>
            </a:r>
          </a:p>
        </p:txBody>
      </p:sp>
      <p:sp>
        <p:nvSpPr>
          <p:cNvPr id="4" name="">
            <a:extLst xmlns:a="http://schemas.openxmlformats.org/drawingml/2006/main">
              <a:ext uri="{FF2B5EF4-FFF2-40B4-BE49-F238E27FC236}">
                <a16:creationId xmlns:a16="http://schemas.microsoft.com/office/drawing/2014/main" id="{A354519B-69D9-4908-BD43-170BA3FCD752}"/>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cónica tiene un perfil lateral recto. La ojival usa una curva que se estrecha hacia la punta. La elipsoidal es más redondeada. Podemos reconocerlas sosteniendo piezas, viendo su silueta o cambiando Shape en OpenRocket. La fotografía reúne piezas de tamaños distintos: no sería justo atribuir una diferencia de masa solo a su forma si también cambian diámetro, longitud o espesor.</a:t>
            </a:r>
          </a:p>
        </p:txBody>
      </p:sp>
    </p:spTree>
    <p:extLst>
      <p:ext uri="{BB962C8B-B14F-4D97-AF65-F5344CB8AC3E}">
        <p14:creationId xmlns:p14="http://schemas.microsoft.com/office/powerpoint/2010/main" val="922911581"/>
      </p:ext>
    </p:extLst>
  </p:cSld>
</p:sld>
</file>

<file path=ppt/slides/slide3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731C4B-1C54-4B22-B131-39E3D8397C8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Reconocer narices sin buscar una ganadora universal</a:t>
            </a:r>
          </a:p>
        </p:txBody>
      </p:sp>
      <p:pic>
        <p:nvPicPr>
          <p:cNvPr id="2" name="">
            <a:extLst xmlns:a="http://schemas.openxmlformats.org/drawingml/2006/main">
              <a:ext uri="{FF2B5EF4-FFF2-40B4-BE49-F238E27FC236}">
                <a16:creationId xmlns:a16="http://schemas.microsoft.com/office/drawing/2014/main" id="{F7205108-8D0C-486B-B415-C69E6BAECE71}"/>
              </a:ext>
            </a:extLst>
          </p:cNvPr>
          <p:cNvPicPr>
            <a:picLocks xmlns:a="http://schemas.openxmlformats.org/drawingml/2006/main" noChangeAspect="1"/>
          </p:cNvPicPr>
          <p:nvPr/>
        </p:nvPicPr>
        <p:blipFill>
          <a:blip xmlns:r="http://schemas.openxmlformats.org/officeDocument/2006/relationships" xmlns:a="http://schemas.openxmlformats.org/drawingml/2006/main" r:embed="R9785abfc136e446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3DC478F-BBDD-478D-AEB7-0942B6C66C3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06/24</a:t>
            </a:r>
          </a:p>
        </p:txBody>
      </p:sp>
      <p:pic>
        <p:nvPicPr>
          <p:cNvPr id="4" name="">
            <a:extLst xmlns:a="http://schemas.openxmlformats.org/drawingml/2006/main">
              <a:ext uri="{FF2B5EF4-FFF2-40B4-BE49-F238E27FC236}">
                <a16:creationId xmlns:a16="http://schemas.microsoft.com/office/drawing/2014/main" id="{915438C7-1DAE-4E71-9A16-A77412026CFF}"/>
              </a:ext>
            </a:extLst>
          </p:cNvPr>
          <p:cNvPicPr>
            <a:picLocks xmlns:a="http://schemas.openxmlformats.org/drawingml/2006/main" noChangeAspect="1"/>
          </p:cNvPicPr>
          <p:nvPr/>
        </p:nvPicPr>
        <p:blipFill>
          <a:blip xmlns:r="http://schemas.openxmlformats.org/officeDocument/2006/relationships" xmlns:a="http://schemas.openxmlformats.org/drawingml/2006/main" r:embed="Ra24c5410e07c499f"/>
          <a:stretch xmlns:a="http://schemas.openxmlformats.org/drawingml/2006/main"/>
        </p:blipFill>
        <p:spPr>
          <a:xfrm xmlns:a="http://schemas.openxmlformats.org/drawingml/2006/main">
            <a:off x="2315928" y="1657350"/>
            <a:ext cx="3959693"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8F48733-71E8-48D4-884D-0A745C682F7C}"/>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¿Las piezas de la fotografía son comparables por masa?</a:t>
            </a:r>
          </a:p>
        </p:txBody>
      </p:sp>
      <p:sp>
        <p:nvSpPr>
          <p:cNvPr id="6" name="">
            <a:extLst xmlns:a="http://schemas.openxmlformats.org/drawingml/2006/main">
              <a:ext uri="{FF2B5EF4-FFF2-40B4-BE49-F238E27FC236}">
                <a16:creationId xmlns:a16="http://schemas.microsoft.com/office/drawing/2014/main" id="{C8FD8BC2-F428-47E8-B44F-F2BB27B21E30}"/>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Fotografía de catálogo reproducida en Apogee, Peak of Flight 629. Sirve para reconocer perfiles y tamaños, no para comparar rendimientos ni recomendar un proveedor.</a:t>
            </a:r>
          </a:p>
        </p:txBody>
      </p:sp>
    </p:spTree>
    <p:extLst>
      <p:ext uri="{BB962C8B-B14F-4D97-AF65-F5344CB8AC3E}">
        <p14:creationId xmlns:p14="http://schemas.microsoft.com/office/powerpoint/2010/main" val="1229728742"/>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4763FB-7BD3-4C53-AA90-13468E3635E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Primera comparación para nuestro taller</a:t>
            </a:r>
          </a:p>
        </p:txBody>
      </p:sp>
      <p:pic>
        <p:nvPicPr>
          <p:cNvPr id="2" name="">
            <a:extLst xmlns:a="http://schemas.openxmlformats.org/drawingml/2006/main">
              <a:ext uri="{FF2B5EF4-FFF2-40B4-BE49-F238E27FC236}">
                <a16:creationId xmlns:a16="http://schemas.microsoft.com/office/drawing/2014/main" id="{4F25F3EE-F2BD-4A2A-923E-0864BCCFEE51}"/>
              </a:ext>
            </a:extLst>
          </p:cNvPr>
          <p:cNvPicPr>
            <a:picLocks xmlns:a="http://schemas.openxmlformats.org/drawingml/2006/main" noChangeAspect="1"/>
          </p:cNvPicPr>
          <p:nvPr/>
        </p:nvPicPr>
        <p:blipFill>
          <a:blip xmlns:r="http://schemas.openxmlformats.org/officeDocument/2006/relationships" xmlns:a="http://schemas.openxmlformats.org/drawingml/2006/main" r:embed="R351cadceaefc434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1111ABA-9880-4EA0-B9F1-06C5BB7308C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07/24</a:t>
            </a:r>
          </a:p>
        </p:txBody>
      </p:sp>
      <p:graphicFrame>
        <p:nvGraphicFramePr>
          <p:cNvPr id="4" name="">
            <a:extLst xmlns:a="http://schemas.openxmlformats.org/drawingml/2006/main">
              <a:ext uri="{FF2B5EF4-FFF2-40B4-BE49-F238E27FC236}">
                <a16:creationId xmlns:a16="http://schemas.microsoft.com/office/drawing/2014/main" id="{BED39AEB-AF5D-4BA1-AD3D-FD3B79D5FC14}"/>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897731">
                <a:tc>
                  <a:txBody>
                    <a:bodyPr/>
                    <a:lstStyle/>
                    <a:p>
                      <a:r>
                        <a:rPr sz="2025" b="1">
                          <a:solidFill>
                            <a:srgbClr val="FFFFFF"/>
                          </a:solidFill>
                          <a:latin typeface="Arial"/>
                          <a:ea typeface="Arial"/>
                          <a:cs typeface="Arial"/>
                        </a:rPr>
                        <a:t>Forma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facilita observar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revisar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Cónica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Relación clara entre punta, base y hombro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Punta real, pared y acabado</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Ojival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Continuidad de la curva con el cuerpo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Parámetro de forma y masa fabricada</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Elipsoidal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Volumen del frente y contorno redondeado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Longitud, acceso y espacio interior</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165866613"/>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66570EC-B126-4926-8171-6FD849BD8FA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Comparar dos preguntas diferentes</a:t>
            </a:r>
          </a:p>
        </p:txBody>
      </p:sp>
      <p:pic>
        <p:nvPicPr>
          <p:cNvPr id="2" name="">
            <a:extLst xmlns:a="http://schemas.openxmlformats.org/drawingml/2006/main">
              <a:ext uri="{FF2B5EF4-FFF2-40B4-BE49-F238E27FC236}">
                <a16:creationId xmlns:a16="http://schemas.microsoft.com/office/drawing/2014/main" id="{B834A678-9175-4F88-B9E5-896FCB35EA40}"/>
              </a:ext>
            </a:extLst>
          </p:cNvPr>
          <p:cNvPicPr>
            <a:picLocks xmlns:a="http://schemas.openxmlformats.org/drawingml/2006/main" noChangeAspect="1"/>
          </p:cNvPicPr>
          <p:nvPr/>
        </p:nvPicPr>
        <p:blipFill>
          <a:blip xmlns:r="http://schemas.openxmlformats.org/officeDocument/2006/relationships" xmlns:a="http://schemas.openxmlformats.org/drawingml/2006/main" r:embed="R9c923fcd1afb445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47A6840-1D2A-4332-ADF3-DB6EB1FEFB6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08/24</a:t>
            </a:r>
          </a:p>
        </p:txBody>
      </p:sp>
      <p:sp>
        <p:nvSpPr>
          <p:cNvPr id="4" name="">
            <a:extLst xmlns:a="http://schemas.openxmlformats.org/drawingml/2006/main">
              <a:ext uri="{FF2B5EF4-FFF2-40B4-BE49-F238E27FC236}">
                <a16:creationId xmlns:a16="http://schemas.microsoft.com/office/drawing/2014/main" id="{FDEE7D58-3A47-4743-BA8F-D7AD0B48883B}"/>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primera pregunta es geométrica: ¿qué cambia al sustituir solo la forma? Conservamos base y longitud visible, además de cuerpo y aletas. La segunda es de fabricación: ¿qué pieza conviene construir? Entonces cuentan masa impresa, tiempo, soportes, encaje y acabado. Una comparación geométrica y otra de piezas reales pueden conducir a decisiones diferentes sin contradecirse.</a:t>
            </a:r>
          </a:p>
        </p:txBody>
      </p:sp>
    </p:spTree>
    <p:extLst>
      <p:ext uri="{BB962C8B-B14F-4D97-AF65-F5344CB8AC3E}">
        <p14:creationId xmlns:p14="http://schemas.microsoft.com/office/powerpoint/2010/main" val="2145306086"/>
      </p:ext>
    </p:extLst>
  </p:cSld>
</p:sld>
</file>

<file path=ppt/slides/slide3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09CD4D-B334-4F2C-B51F-1B592764620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conservar y qué registrar</a:t>
            </a:r>
          </a:p>
        </p:txBody>
      </p:sp>
      <p:pic>
        <p:nvPicPr>
          <p:cNvPr id="2" name="">
            <a:extLst xmlns:a="http://schemas.openxmlformats.org/drawingml/2006/main">
              <a:ext uri="{FF2B5EF4-FFF2-40B4-BE49-F238E27FC236}">
                <a16:creationId xmlns:a16="http://schemas.microsoft.com/office/drawing/2014/main" id="{0F438C1D-74FF-45EA-B5C7-00A00823142A}"/>
              </a:ext>
            </a:extLst>
          </p:cNvPr>
          <p:cNvPicPr>
            <a:picLocks xmlns:a="http://schemas.openxmlformats.org/drawingml/2006/main" noChangeAspect="1"/>
          </p:cNvPicPr>
          <p:nvPr/>
        </p:nvPicPr>
        <p:blipFill>
          <a:blip xmlns:r="http://schemas.openxmlformats.org/officeDocument/2006/relationships" xmlns:a="http://schemas.openxmlformats.org/drawingml/2006/main" r:embed="Rcaca61ac3b914ed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C79F651-1448-48C2-838E-0B9B761D925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09/24</a:t>
            </a:r>
          </a:p>
        </p:txBody>
      </p:sp>
      <p:graphicFrame>
        <p:nvGraphicFramePr>
          <p:cNvPr id="4" name="">
            <a:extLst xmlns:a="http://schemas.openxmlformats.org/drawingml/2006/main">
              <a:ext uri="{FF2B5EF4-FFF2-40B4-BE49-F238E27FC236}">
                <a16:creationId xmlns:a16="http://schemas.microsoft.com/office/drawing/2014/main" id="{03848036-A89A-47E9-A3C8-9241E8F4393D}"/>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897731">
                <a:tc>
                  <a:txBody>
                    <a:bodyPr/>
                    <a:lstStyle/>
                    <a:p>
                      <a:r>
                        <a:rPr sz="2025" b="1">
                          <a:solidFill>
                            <a:srgbClr val="FFFFFF"/>
                          </a:solidFill>
                          <a:latin typeface="Arial"/>
                          <a:ea typeface="Arial"/>
                          <a:cs typeface="Arial"/>
                        </a:rPr>
                        <a:t>Comparación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Mantener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Registrar como resultado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Solo forma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Base, longitud, cuerpo y aletas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Cambio de geometría y resultados del modelo</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Fabricación real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Impresora y criterio de aceptación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Masa, tiempo y encaje</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Cambio completo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Misión y requisitos del conjunto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Todo lo que cambió entre versiones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915234327"/>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F5AFE2-3370-45FB-8AD6-C2EAC4AE921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Dos narices del ejercicio de aula</a:t>
            </a:r>
          </a:p>
        </p:txBody>
      </p:sp>
      <p:pic>
        <p:nvPicPr>
          <p:cNvPr id="2" name="">
            <a:extLst xmlns:a="http://schemas.openxmlformats.org/drawingml/2006/main">
              <a:ext uri="{FF2B5EF4-FFF2-40B4-BE49-F238E27FC236}">
                <a16:creationId xmlns:a16="http://schemas.microsoft.com/office/drawing/2014/main" id="{4DF24FE9-8146-4A8F-8488-4B298FB487E4}"/>
              </a:ext>
            </a:extLst>
          </p:cNvPr>
          <p:cNvPicPr>
            <a:picLocks xmlns:a="http://schemas.openxmlformats.org/drawingml/2006/main" noChangeAspect="1"/>
          </p:cNvPicPr>
          <p:nvPr/>
        </p:nvPicPr>
        <p:blipFill>
          <a:blip xmlns:r="http://schemas.openxmlformats.org/officeDocument/2006/relationships" xmlns:a="http://schemas.openxmlformats.org/drawingml/2006/main" r:embed="R8f35a448cfcc4bf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6AC1854-3A04-4009-A37F-015A4305313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10/24</a:t>
            </a:r>
          </a:p>
        </p:txBody>
      </p:sp>
      <p:graphicFrame>
        <p:nvGraphicFramePr>
          <p:cNvPr id="4" name="Chart">
            <a:extLst xmlns:a="http://schemas.openxmlformats.org/drawingml/2006/main">
              <a:ext uri="{FF2B5EF4-FFF2-40B4-BE49-F238E27FC236}">
                <a16:creationId xmlns:a16="http://schemas.microsoft.com/office/drawing/2014/main" id="{2225F8EB-42A5-4254-9504-643D181596EB}"/>
              </a:ext>
            </a:extLst>
          </p:cNvPr>
          <p:cNvGraphicFramePr/>
          <p:nvPr/>
        </p:nvGraphicFramePr>
        <p:xfrm>
          <a:off xmlns:a="http://schemas.openxmlformats.org/drawingml/2006/main" x="590550" y="1657350"/>
          <a:ext xmlns:a="http://schemas.openxmlformats.org/drawingml/2006/main" cx="11010900" cy="3952875"/>
        </p:xfrm>
        <a:graphic xmlns:a="http://schemas.openxmlformats.org/drawingml/2006/main">
          <a:graphicData uri="http://schemas.openxmlformats.org/drawingml/2006/chart">
            <c:chart xmlns:r="http://schemas.openxmlformats.org/officeDocument/2006/relationships" xmlns:c="http://schemas.openxmlformats.org/drawingml/2006/chart" r:id="Ra539de8e29c14cc4"/>
          </a:graphicData>
        </a:graphic>
      </p:graphicFrame>
      <p:sp>
        <p:nvSpPr>
          <p:cNvPr id="5" name="">
            <a:extLst xmlns:a="http://schemas.openxmlformats.org/drawingml/2006/main">
              <a:ext uri="{FF2B5EF4-FFF2-40B4-BE49-F238E27FC236}">
                <a16:creationId xmlns:a16="http://schemas.microsoft.com/office/drawing/2014/main" id="{B8E97982-D6D0-4630-B231-DD920E5B7A93}"/>
              </a:ext>
            </a:extLst>
          </p:cNvPr>
          <p:cNvSpPr>
            <a:spLocks xmlns:a="http://schemas.openxmlformats.org/drawingml/2006/main" noGrp="1"/>
          </p:cNvSpPr>
          <p:nvPr/>
        </p:nvSpPr>
        <p:spPr>
          <a:xfrm xmlns:a="http://schemas.openxmlformats.org/drawingml/2006/main">
            <a:off x="590550" y="5848350"/>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Datos didácticos de fabricación. No son medidas de MECRO ni resultados de vuelo.</a:t>
            </a:r>
          </a:p>
        </p:txBody>
      </p:sp>
    </p:spTree>
    <p:extLst>
      <p:ext uri="{BB962C8B-B14F-4D97-AF65-F5344CB8AC3E}">
        <p14:creationId xmlns:p14="http://schemas.microsoft.com/office/powerpoint/2010/main" val="644213982"/>
      </p:ext>
    </p:extLst>
  </p:cSld>
</p:sld>
</file>

<file path=ppt/slides/slide3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F0DCF5-0562-4973-A239-42B6C4218E7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en OpenRocket: tres versiones de nariz</a:t>
            </a:r>
          </a:p>
        </p:txBody>
      </p:sp>
      <p:pic>
        <p:nvPicPr>
          <p:cNvPr id="2" name="">
            <a:extLst xmlns:a="http://schemas.openxmlformats.org/drawingml/2006/main">
              <a:ext uri="{FF2B5EF4-FFF2-40B4-BE49-F238E27FC236}">
                <a16:creationId xmlns:a16="http://schemas.microsoft.com/office/drawing/2014/main" id="{F5811139-4794-4D0C-B460-E92E3F330151}"/>
              </a:ext>
            </a:extLst>
          </p:cNvPr>
          <p:cNvPicPr>
            <a:picLocks xmlns:a="http://schemas.openxmlformats.org/drawingml/2006/main" noChangeAspect="1"/>
          </p:cNvPicPr>
          <p:nvPr/>
        </p:nvPicPr>
        <p:blipFill>
          <a:blip xmlns:r="http://schemas.openxmlformats.org/officeDocument/2006/relationships" xmlns:a="http://schemas.openxmlformats.org/drawingml/2006/main" r:embed="R6c5d2b680129441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7CB8FC-961B-4A23-927E-220099AAFC8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11/24</a:t>
            </a:r>
          </a:p>
        </p:txBody>
      </p:sp>
      <p:sp>
        <p:nvSpPr>
          <p:cNvPr id="4" name="">
            <a:extLst xmlns:a="http://schemas.openxmlformats.org/drawingml/2006/main">
              <a:ext uri="{FF2B5EF4-FFF2-40B4-BE49-F238E27FC236}">
                <a16:creationId xmlns:a16="http://schemas.microsoft.com/office/drawing/2014/main" id="{E3803CD4-3938-4DA4-B392-91837BE6BB0B}"/>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Cuando el programa estima masa a partir de una envolvente uniforme, puede representar de forma imperfecta una pieza impresa. Conserva esa estimación como tal. La comparación con la pieza pesada se realizará al tener el prototipo. [OR1, BODY]</a:t>
            </a:r>
          </a:p>
        </p:txBody>
      </p:sp>
    </p:spTree>
    <p:extLst>
      <p:ext uri="{BB962C8B-B14F-4D97-AF65-F5344CB8AC3E}">
        <p14:creationId xmlns:p14="http://schemas.microsoft.com/office/powerpoint/2010/main" val="1601399454"/>
      </p:ext>
    </p:extLst>
  </p:cSld>
</p:sld>
</file>

<file path=ppt/slides/slide37.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47DA51-A5C1-43B7-B4B6-81A0ABDD70C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 del equipo</a:t>
            </a:r>
          </a:p>
        </p:txBody>
      </p:sp>
      <p:pic>
        <p:nvPicPr>
          <p:cNvPr id="2" name="">
            <a:extLst xmlns:a="http://schemas.openxmlformats.org/drawingml/2006/main">
              <a:ext uri="{FF2B5EF4-FFF2-40B4-BE49-F238E27FC236}">
                <a16:creationId xmlns:a16="http://schemas.microsoft.com/office/drawing/2014/main" id="{BDD29DB9-47B6-4A74-9D6A-CBECF7A6D003}"/>
              </a:ext>
            </a:extLst>
          </p:cNvPr>
          <p:cNvPicPr>
            <a:picLocks xmlns:a="http://schemas.openxmlformats.org/drawingml/2006/main" noChangeAspect="1"/>
          </p:cNvPicPr>
          <p:nvPr/>
        </p:nvPicPr>
        <p:blipFill>
          <a:blip xmlns:r="http://schemas.openxmlformats.org/officeDocument/2006/relationships" xmlns:a="http://schemas.openxmlformats.org/drawingml/2006/main" r:embed="R603e223269e04f8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F1ED747-81C8-4134-83D2-9DE07F35DBB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12/24</a:t>
            </a:r>
          </a:p>
        </p:txBody>
      </p:sp>
      <p:sp>
        <p:nvSpPr>
          <p:cNvPr id="4" name="">
            <a:extLst xmlns:a="http://schemas.openxmlformats.org/drawingml/2006/main">
              <a:ext uri="{FF2B5EF4-FFF2-40B4-BE49-F238E27FC236}">
                <a16:creationId xmlns:a16="http://schemas.microsoft.com/office/drawing/2014/main" id="{2387EF1E-7F5B-4402-AE88-2E702F95BDF1}"/>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AEF4BB"/>
                </a:solidFill>
                <a:latin typeface="Arial"/>
                <a:ea typeface="Arial"/>
                <a:cs typeface="Arial"/>
              </a:defRPr>
            </a:defPPr>
            <a:lvl1pPr>
              <a:defRPr sz="3075" b="1">
                <a:solidFill>
                  <a:srgbClr val="AEF4BB"/>
                </a:solidFill>
                <a:latin typeface="Arial"/>
                <a:ea typeface="Arial"/>
                <a:cs typeface="Arial"/>
              </a:defRPr>
            </a:lvl1pPr>
            <a:lvl2pPr>
              <a:defRPr sz="3075" b="1">
                <a:solidFill>
                  <a:srgbClr val="AEF4BB"/>
                </a:solidFill>
                <a:latin typeface="Arial"/>
                <a:ea typeface="Arial"/>
                <a:cs typeface="Arial"/>
              </a:defRPr>
            </a:lvl2pPr>
            <a:lvl3pPr>
              <a:defRPr sz="3075" b="1">
                <a:solidFill>
                  <a:srgbClr val="AEF4BB"/>
                </a:solidFill>
                <a:latin typeface="Arial"/>
                <a:ea typeface="Arial"/>
                <a:cs typeface="Arial"/>
              </a:defRPr>
            </a:lvl3pPr>
            <a:lvl4pPr>
              <a:defRPr sz="3075" b="1">
                <a:solidFill>
                  <a:srgbClr val="AEF4BB"/>
                </a:solidFill>
                <a:latin typeface="Arial"/>
                <a:ea typeface="Arial"/>
                <a:cs typeface="Arial"/>
              </a:defRPr>
            </a:lvl4pPr>
            <a:lvl5pPr>
              <a:defRPr sz="3075" b="1">
                <a:solidFill>
                  <a:srgbClr val="AEF4BB"/>
                </a:solidFill>
                <a:latin typeface="Arial"/>
                <a:ea typeface="Arial"/>
                <a:cs typeface="Arial"/>
              </a:defRPr>
            </a:lvl5pPr>
            <a:lvl6pPr>
              <a:defRPr sz="3075" b="1">
                <a:solidFill>
                  <a:srgbClr val="AEF4BB"/>
                </a:solidFill>
                <a:latin typeface="Arial"/>
                <a:ea typeface="Arial"/>
                <a:cs typeface="Arial"/>
              </a:defRPr>
            </a:lvl6pPr>
            <a:lvl7pPr>
              <a:defRPr sz="3075" b="1">
                <a:solidFill>
                  <a:srgbClr val="AEF4BB"/>
                </a:solidFill>
                <a:latin typeface="Arial"/>
                <a:ea typeface="Arial"/>
                <a:cs typeface="Arial"/>
              </a:defRPr>
            </a:lvl7pPr>
            <a:lvl8pPr>
              <a:defRPr sz="3075" b="1">
                <a:solidFill>
                  <a:srgbClr val="AEF4BB"/>
                </a:solidFill>
                <a:latin typeface="Arial"/>
                <a:ea typeface="Arial"/>
                <a:cs typeface="Arial"/>
              </a:defRPr>
            </a:lvl8pPr>
            <a:lvl9pPr>
              <a:defRPr sz="3075" b="1">
                <a:solidFill>
                  <a:srgbClr val="AEF4BB"/>
                </a:solidFill>
                <a:latin typeface="Arial"/>
                <a:ea typeface="Arial"/>
                <a:cs typeface="Arial"/>
              </a:defRPr>
            </a:lvl9pPr>
          </a:lstStyle>
          <a:p xmlns:a="http://schemas.openxmlformats.org/drawingml/2006/main">
            <a:pPr>
              <a:defRPr sz="3075" b="1">
                <a:solidFill>
                  <a:srgbClr val="AEF4BB"/>
                </a:solidFill>
                <a:latin typeface="Arial"/>
                <a:ea typeface="Arial"/>
                <a:cs typeface="Arial"/>
              </a:defRPr>
            </a:pPr>
            <a:r>
              <a:rPr sz="3075" b="1">
                <a:solidFill>
                  <a:srgbClr val="AEF4BB"/>
                </a:solidFill>
                <a:latin typeface="Arial"/>
                <a:ea typeface="Arial"/>
                <a:cs typeface="Arial"/>
              </a:rPr>
              <a:t>¿Qué conservarás al cambiar Conical por Ogive?</a:t>
            </a:r>
          </a:p>
        </p:txBody>
      </p:sp>
      <p:sp>
        <p:nvSpPr>
          <p:cNvPr id="5" name="">
            <a:extLst xmlns:a="http://schemas.openxmlformats.org/drawingml/2006/main">
              <a:ext uri="{FF2B5EF4-FFF2-40B4-BE49-F238E27FC236}">
                <a16:creationId xmlns:a16="http://schemas.microsoft.com/office/drawing/2014/main" id="{C98DCEB8-76F3-453B-87A5-8B4C2F245208}"/>
              </a:ext>
            </a:extLst>
          </p:cNvPr>
          <p:cNvSpPr>
            <a:spLocks xmlns:a="http://schemas.openxmlformats.org/drawingml/2006/main" noGrp="1"/>
          </p:cNvSpPr>
          <p:nvPr/>
        </p:nvSpPr>
        <p:spPr>
          <a:xfrm xmlns:a="http://schemas.openxmlformats.org/drawingml/2006/main">
            <a:off x="590550" y="3800475"/>
            <a:ext cx="10715625"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La captura lateral ayuda a reconocer lo que cambió. Superponer mentalmente las bases permite comprobar si las tres narices conservan longitud y diámetro. El hombro pertenece a la unión interior y no debe añadirse a la longitud visible. Si una opción aumenta la longitud visible, el modelo ya no está comparando únicamente la curvatura. El registro de medidas hace explícita esa diferencia y permite al docente explicar una comparación honesta con pocos conceptos.</a:t>
            </a:r>
          </a:p>
        </p:txBody>
      </p:sp>
    </p:spTree>
    <p:extLst>
      <p:ext uri="{BB962C8B-B14F-4D97-AF65-F5344CB8AC3E}">
        <p14:creationId xmlns:p14="http://schemas.microsoft.com/office/powerpoint/2010/main" val="1442186073"/>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48BE01-C34D-4C3A-8A1B-E2A5708B5E9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en OpenRocket: tres versiones de nariz</a:t>
            </a:r>
          </a:p>
        </p:txBody>
      </p:sp>
      <p:pic>
        <p:nvPicPr>
          <p:cNvPr id="2" name="">
            <a:extLst xmlns:a="http://schemas.openxmlformats.org/drawingml/2006/main">
              <a:ext uri="{FF2B5EF4-FFF2-40B4-BE49-F238E27FC236}">
                <a16:creationId xmlns:a16="http://schemas.microsoft.com/office/drawing/2014/main" id="{5C3AF4EB-E886-4D5E-A5C8-6913FBE45023}"/>
              </a:ext>
            </a:extLst>
          </p:cNvPr>
          <p:cNvPicPr>
            <a:picLocks xmlns:a="http://schemas.openxmlformats.org/drawingml/2006/main" noChangeAspect="1"/>
          </p:cNvPicPr>
          <p:nvPr/>
        </p:nvPicPr>
        <p:blipFill>
          <a:blip xmlns:r="http://schemas.openxmlformats.org/officeDocument/2006/relationships" xmlns:a="http://schemas.openxmlformats.org/drawingml/2006/main" r:embed="R6d4c2a7745024d8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0F3DD20-CDE5-4EE4-989D-A9CD48A3AEB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13/24</a:t>
            </a:r>
          </a:p>
        </p:txBody>
      </p:sp>
      <p:sp>
        <p:nvSpPr>
          <p:cNvPr id="4" name="">
            <a:extLst xmlns:a="http://schemas.openxmlformats.org/drawingml/2006/main">
              <a:ext uri="{FF2B5EF4-FFF2-40B4-BE49-F238E27FC236}">
                <a16:creationId xmlns:a16="http://schemas.microsoft.com/office/drawing/2014/main" id="{47D02D9E-32E5-430A-A022-B1775C8338D6}"/>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Abre la versión del equipo y guarda una copia con sufijo NARIZ_A. En Nose Cone conserva el diámetro de base y la longitud visible que has declarado.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Selecciona Conical y anota el nombre del material, espesor y masa calculada. El hombro sigue la medida real del interior del tubo.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Guarda NARIZ_B y cambia a Ogive. Revisa el parámetro de forma. Anota lo que cambiaste y lo que quedó igual.</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Crea NARIZ_C con Ellipsoid. Obtén una captura lateral de cada alternativa con la misma escala.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Compara dimensiones y masas. Todavía no atribuyas una altura de vuelo a estas piezas si falta completar el vehículo y seleccionar su conjunto comercial.</a:t>
            </a:r>
          </a:p>
        </p:txBody>
      </p:sp>
    </p:spTree>
    <p:extLst>
      <p:ext uri="{BB962C8B-B14F-4D97-AF65-F5344CB8AC3E}">
        <p14:creationId xmlns:p14="http://schemas.microsoft.com/office/powerpoint/2010/main" val="4768021"/>
      </p:ext>
    </p:extLst>
  </p:cSld>
</p:sld>
</file>

<file path=ppt/slides/slide3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DDADE7-823F-4110-B257-67E7D1858E1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de fabricación: primero el encaje</a:t>
            </a:r>
          </a:p>
        </p:txBody>
      </p:sp>
      <p:pic>
        <p:nvPicPr>
          <p:cNvPr id="2" name="">
            <a:extLst xmlns:a="http://schemas.openxmlformats.org/drawingml/2006/main">
              <a:ext uri="{FF2B5EF4-FFF2-40B4-BE49-F238E27FC236}">
                <a16:creationId xmlns:a16="http://schemas.microsoft.com/office/drawing/2014/main" id="{E374B094-6198-43B8-838C-0C19A2B0F642}"/>
              </a:ext>
            </a:extLst>
          </p:cNvPr>
          <p:cNvPicPr>
            <a:picLocks xmlns:a="http://schemas.openxmlformats.org/drawingml/2006/main" noChangeAspect="1"/>
          </p:cNvPicPr>
          <p:nvPr/>
        </p:nvPicPr>
        <p:blipFill>
          <a:blip xmlns:r="http://schemas.openxmlformats.org/officeDocument/2006/relationships" xmlns:a="http://schemas.openxmlformats.org/drawingml/2006/main" r:embed="R80982f0bf889489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BDD0125-B8DC-44A5-BFB6-5AA887D478B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14/24</a:t>
            </a:r>
          </a:p>
        </p:txBody>
      </p:sp>
      <p:sp>
        <p:nvSpPr>
          <p:cNvPr id="4" name="">
            <a:extLst xmlns:a="http://schemas.openxmlformats.org/drawingml/2006/main">
              <a:ext uri="{FF2B5EF4-FFF2-40B4-BE49-F238E27FC236}">
                <a16:creationId xmlns:a16="http://schemas.microsoft.com/office/drawing/2014/main" id="{C498E1FC-9A8F-445F-855E-06CFF00AC7AB}"/>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nariz tiene una interfaz con el cuerpo: su hombro debe entrar en la abertura disponible. El equipo puede dibujar la forma exterior en CAD, pero la medida del tubo decide el encaje. Antes de imprimir una pieza completa, el docente agrupa muestras cortas que permiten estudiar ese ajuste sin consumir todo el tiempo de la máquina.</a:t>
            </a:r>
          </a:p>
        </p:txBody>
      </p:sp>
    </p:spTree>
    <p:extLst>
      <p:ext uri="{BB962C8B-B14F-4D97-AF65-F5344CB8AC3E}">
        <p14:creationId xmlns:p14="http://schemas.microsoft.com/office/powerpoint/2010/main" val="1789755517"/>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866CCE6-621E-44C3-8B4A-5C7CE45A245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Ficha de comparación de narices</a:t>
            </a:r>
          </a:p>
        </p:txBody>
      </p:sp>
      <p:pic>
        <p:nvPicPr>
          <p:cNvPr id="2" name="">
            <a:extLst xmlns:a="http://schemas.openxmlformats.org/drawingml/2006/main">
              <a:ext uri="{FF2B5EF4-FFF2-40B4-BE49-F238E27FC236}">
                <a16:creationId xmlns:a16="http://schemas.microsoft.com/office/drawing/2014/main" id="{590F6957-2644-490E-9BA9-777B73B89DBA}"/>
              </a:ext>
            </a:extLst>
          </p:cNvPr>
          <p:cNvPicPr>
            <a:picLocks xmlns:a="http://schemas.openxmlformats.org/drawingml/2006/main" noChangeAspect="1"/>
          </p:cNvPicPr>
          <p:nvPr/>
        </p:nvPicPr>
        <p:blipFill>
          <a:blip xmlns:r="http://schemas.openxmlformats.org/officeDocument/2006/relationships" xmlns:a="http://schemas.openxmlformats.org/drawingml/2006/main" r:embed="Rc3598b3b132f4ec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328DC67-351A-4656-A4A6-AAFBCDB9096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15/24</a:t>
            </a:r>
          </a:p>
        </p:txBody>
      </p:sp>
      <p:graphicFrame>
        <p:nvGraphicFramePr>
          <p:cNvPr id="4" name="">
            <a:extLst xmlns:a="http://schemas.openxmlformats.org/drawingml/2006/main">
              <a:ext uri="{FF2B5EF4-FFF2-40B4-BE49-F238E27FC236}">
                <a16:creationId xmlns:a16="http://schemas.microsoft.com/office/drawing/2014/main" id="{471C4522-98D0-4B39-9B3A-2A175F766749}"/>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2143125"/>
                <a:gridCol w="4524375"/>
                <a:gridCol w="4343400"/>
              </a:tblGrid>
              <a:tr h="658813">
                <a:tc>
                  <a:txBody>
                    <a:bodyPr/>
                    <a:lstStyle/>
                    <a:p>
                      <a:r>
                        <a:rPr sz="2025" b="1">
                          <a:solidFill>
                            <a:srgbClr val="FFFFFF"/>
                          </a:solidFill>
                          <a:latin typeface="Arial"/>
                          <a:ea typeface="Arial"/>
                          <a:cs typeface="Arial"/>
                        </a:rPr>
                        <a:t>Dato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B</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Forma y longitud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Por registrar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Por registrar</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Masa real / g</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Por pesar</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Por pesar</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Tiempo / min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Del laminador y del registro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Del laminador y del registro</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Encaje en el tubo identificado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Observación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Observación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Cambio pendiente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Describir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Describir</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764567950"/>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DA066FA-EF96-4053-8EE6-B867FEB3CBA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de fabricación: primero el encaje</a:t>
            </a:r>
          </a:p>
        </p:txBody>
      </p:sp>
      <p:pic>
        <p:nvPicPr>
          <p:cNvPr id="2" name="">
            <a:extLst xmlns:a="http://schemas.openxmlformats.org/drawingml/2006/main">
              <a:ext uri="{FF2B5EF4-FFF2-40B4-BE49-F238E27FC236}">
                <a16:creationId xmlns:a16="http://schemas.microsoft.com/office/drawing/2014/main" id="{4E6F9119-80E1-49EB-AAF9-BE5112805367}"/>
              </a:ext>
            </a:extLst>
          </p:cNvPr>
          <p:cNvPicPr>
            <a:picLocks xmlns:a="http://schemas.openxmlformats.org/drawingml/2006/main" noChangeAspect="1"/>
          </p:cNvPicPr>
          <p:nvPr/>
        </p:nvPicPr>
        <p:blipFill>
          <a:blip xmlns:r="http://schemas.openxmlformats.org/officeDocument/2006/relationships" xmlns:a="http://schemas.openxmlformats.org/drawingml/2006/main" r:embed="Re6839b921b31435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530F7A3-E6C3-4F37-A08B-97CB3B3BAEA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16/24</a:t>
            </a:r>
          </a:p>
        </p:txBody>
      </p:sp>
      <p:sp>
        <p:nvSpPr>
          <p:cNvPr id="4" name="">
            <a:extLst xmlns:a="http://schemas.openxmlformats.org/drawingml/2006/main">
              <a:ext uri="{FF2B5EF4-FFF2-40B4-BE49-F238E27FC236}">
                <a16:creationId xmlns:a16="http://schemas.microsoft.com/office/drawing/2014/main" id="{AB390121-2301-4E44-A718-4DC5BA738D1E}"/>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Registra diámetro interior, ovalidad observable y longitud disponible de encaje del tubo real.</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Prepara en CAD muestras identificadas que varíen solo la dimensión de encaje. El docente revisa la serie antes de imprimir.</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Mide las piezas obtenidas y diferencia la dimensión dibujada de la dimensión impresa.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Prueba la unión sin forzar el tubo. Describe si entra, se traba o tiene juego apreciable.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Conserva la muestra elegida con el identificador del tubo y el perfil de impresión. No traslades automáticamente el resultado a otro material o impresora.</a:t>
            </a:r>
          </a:p>
        </p:txBody>
      </p:sp>
    </p:spTree>
    <p:extLst>
      <p:ext uri="{BB962C8B-B14F-4D97-AF65-F5344CB8AC3E}">
        <p14:creationId xmlns:p14="http://schemas.microsoft.com/office/powerpoint/2010/main" val="1416735269"/>
      </p:ext>
    </p:extLst>
  </p:cSld>
</p:sld>
</file>

<file path=ppt/slides/slide4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723E04-0C03-47CB-A4DD-EC2638D4871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elección cambia con la misión</a:t>
            </a:r>
          </a:p>
        </p:txBody>
      </p:sp>
      <p:pic>
        <p:nvPicPr>
          <p:cNvPr id="2" name="">
            <a:extLst xmlns:a="http://schemas.openxmlformats.org/drawingml/2006/main">
              <a:ext uri="{FF2B5EF4-FFF2-40B4-BE49-F238E27FC236}">
                <a16:creationId xmlns:a16="http://schemas.microsoft.com/office/drawing/2014/main" id="{41E29B18-6653-44B0-B5CF-B4399797ED65}"/>
              </a:ext>
            </a:extLst>
          </p:cNvPr>
          <p:cNvPicPr>
            <a:picLocks xmlns:a="http://schemas.openxmlformats.org/drawingml/2006/main" noChangeAspect="1"/>
          </p:cNvPicPr>
          <p:nvPr/>
        </p:nvPicPr>
        <p:blipFill>
          <a:blip xmlns:r="http://schemas.openxmlformats.org/officeDocument/2006/relationships" xmlns:a="http://schemas.openxmlformats.org/drawingml/2006/main" r:embed="Re43884549a184bd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115D098-2CF3-4247-902C-6DBBF188F3D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17/24</a:t>
            </a:r>
          </a:p>
        </p:txBody>
      </p:sp>
      <p:sp>
        <p:nvSpPr>
          <p:cNvPr id="4" name="">
            <a:extLst xmlns:a="http://schemas.openxmlformats.org/drawingml/2006/main">
              <a:ext uri="{FF2B5EF4-FFF2-40B4-BE49-F238E27FC236}">
                <a16:creationId xmlns:a16="http://schemas.microsoft.com/office/drawing/2014/main" id="{AF8EC6E0-7CE5-4ECC-B781-F67101B4EEDD}"/>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Para el modelo del alumno se puede elegir una forma sencilla que el equipo sea capaz de fabricar y revisar. Para el vehículo docente con CanSat puede ser más importante el acceso a la carga que reducir unos minutos de impresión. Eso no autoriza trasladar la nariz del demostrador al cohete pequeño sin revisar dimensiones y masa.</a:t>
            </a:r>
          </a:p>
        </p:txBody>
      </p:sp>
    </p:spTree>
    <p:extLst>
      <p:ext uri="{BB962C8B-B14F-4D97-AF65-F5344CB8AC3E}">
        <p14:creationId xmlns:p14="http://schemas.microsoft.com/office/powerpoint/2010/main" val="145747170"/>
      </p:ext>
    </p:extLst>
  </p:cSld>
</p:sld>
</file>

<file path=ppt/slides/slide4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AEE8DC-3A64-4E5F-9D1F-4AA99128C7A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justificar la misma forma en misiones distintas</a:t>
            </a:r>
          </a:p>
        </p:txBody>
      </p:sp>
      <p:pic>
        <p:nvPicPr>
          <p:cNvPr id="2" name="">
            <a:extLst xmlns:a="http://schemas.openxmlformats.org/drawingml/2006/main">
              <a:ext uri="{FF2B5EF4-FFF2-40B4-BE49-F238E27FC236}">
                <a16:creationId xmlns:a16="http://schemas.microsoft.com/office/drawing/2014/main" id="{78ECBA2C-23BD-4646-9C00-AB4B587B84FC}"/>
              </a:ext>
            </a:extLst>
          </p:cNvPr>
          <p:cNvPicPr>
            <a:picLocks xmlns:a="http://schemas.openxmlformats.org/drawingml/2006/main" noChangeAspect="1"/>
          </p:cNvPicPr>
          <p:nvPr/>
        </p:nvPicPr>
        <p:blipFill>
          <a:blip xmlns:r="http://schemas.openxmlformats.org/officeDocument/2006/relationships" xmlns:a="http://schemas.openxmlformats.org/drawingml/2006/main" r:embed="R1b3e1d11a40948b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DD49E12-4BB0-4859-9398-85DA69C08A4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18/24</a:t>
            </a:r>
          </a:p>
        </p:txBody>
      </p:sp>
      <p:graphicFrame>
        <p:nvGraphicFramePr>
          <p:cNvPr id="4" name="">
            <a:extLst xmlns:a="http://schemas.openxmlformats.org/drawingml/2006/main">
              <a:ext uri="{FF2B5EF4-FFF2-40B4-BE49-F238E27FC236}">
                <a16:creationId xmlns:a16="http://schemas.microsoft.com/office/drawing/2014/main" id="{FC151766-C815-4A0D-B474-A2939B6456AC}"/>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897731">
                <a:tc>
                  <a:txBody>
                    <a:bodyPr/>
                    <a:lstStyle/>
                    <a:p>
                      <a:r>
                        <a:rPr sz="2025" b="1">
                          <a:solidFill>
                            <a:srgbClr val="FFFFFF"/>
                          </a:solidFill>
                          <a:latin typeface="Arial"/>
                          <a:ea typeface="Arial"/>
                          <a:cs typeface="Arial"/>
                        </a:rPr>
                        <a:t>Misión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Prioridad</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Prueba antes de elegir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Primer montaje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Encaje y facilidad de fabricación</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Muestras, masa y repetición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Reutilización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Acceso, reparación y repuestos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Montajes repetidos y revisión del borde</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Carga docente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Espacio útil y acceso a electrónica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Maqueta de carga y comprobación de interfaces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326962335"/>
      </p:ext>
    </p:extLst>
  </p:cSld>
</p:sld>
</file>

<file path=ppt/slides/slide4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562736-D8CD-4947-9DD8-D238D53774D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Qué conclusión sí podemos defender</a:t>
            </a:r>
          </a:p>
        </p:txBody>
      </p:sp>
      <p:pic>
        <p:nvPicPr>
          <p:cNvPr id="2" name="">
            <a:extLst xmlns:a="http://schemas.openxmlformats.org/drawingml/2006/main">
              <a:ext uri="{FF2B5EF4-FFF2-40B4-BE49-F238E27FC236}">
                <a16:creationId xmlns:a16="http://schemas.microsoft.com/office/drawing/2014/main" id="{1DD3B84B-2686-4630-9C0D-70E5103FF852}"/>
              </a:ext>
            </a:extLst>
          </p:cNvPr>
          <p:cNvPicPr>
            <a:picLocks xmlns:a="http://schemas.openxmlformats.org/drawingml/2006/main" noChangeAspect="1"/>
          </p:cNvPicPr>
          <p:nvPr/>
        </p:nvPicPr>
        <p:blipFill>
          <a:blip xmlns:r="http://schemas.openxmlformats.org/officeDocument/2006/relationships" xmlns:a="http://schemas.openxmlformats.org/drawingml/2006/main" r:embed="R7eeba722dc9944c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00D563D-56F2-4547-9BE3-A33A4F346D4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19/24</a:t>
            </a:r>
          </a:p>
        </p:txBody>
      </p:sp>
      <p:sp>
        <p:nvSpPr>
          <p:cNvPr id="4" name="">
            <a:extLst xmlns:a="http://schemas.openxmlformats.org/drawingml/2006/main">
              <a:ext uri="{FF2B5EF4-FFF2-40B4-BE49-F238E27FC236}">
                <a16:creationId xmlns:a16="http://schemas.microsoft.com/office/drawing/2014/main" id="{82AB69D3-87B2-4CB0-A0CF-B2F6597475A3}"/>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¿Podemos anunciar que la nariz más liviana “es la más aerodinámica”?</a:t>
            </a:r>
          </a:p>
        </p:txBody>
      </p:sp>
      <p:sp>
        <p:nvSpPr>
          <p:cNvPr id="5" name="">
            <a:extLst xmlns:a="http://schemas.openxmlformats.org/drawingml/2006/main">
              <a:ext uri="{FF2B5EF4-FFF2-40B4-BE49-F238E27FC236}">
                <a16:creationId xmlns:a16="http://schemas.microsoft.com/office/drawing/2014/main" id="{B86D107F-A358-427C-ABAA-BA52B33CE7C2}"/>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¿Cambiaría tu elección para transportar la carga docente?</a:t>
            </a:r>
          </a:p>
        </p:txBody>
      </p:sp>
    </p:spTree>
    <p:extLst>
      <p:ext uri="{BB962C8B-B14F-4D97-AF65-F5344CB8AC3E}">
        <p14:creationId xmlns:p14="http://schemas.microsoft.com/office/powerpoint/2010/main" val="1490810757"/>
      </p:ext>
    </p:extLst>
  </p:cSld>
</p:sld>
</file>

<file path=ppt/slides/slide4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7CFD5B-72EA-430D-9D8C-03C8690B6ADD}"/>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Trabajo guiado del equipo</a:t>
            </a:r>
          </a:p>
        </p:txBody>
      </p:sp>
      <p:pic>
        <p:nvPicPr>
          <p:cNvPr id="2" name="">
            <a:extLst xmlns:a="http://schemas.openxmlformats.org/drawingml/2006/main">
              <a:ext uri="{FF2B5EF4-FFF2-40B4-BE49-F238E27FC236}">
                <a16:creationId xmlns:a16="http://schemas.microsoft.com/office/drawing/2014/main" id="{F2C87F29-7358-4F2D-8CA4-DF0178864E9C}"/>
              </a:ext>
            </a:extLst>
          </p:cNvPr>
          <p:cNvPicPr>
            <a:picLocks xmlns:a="http://schemas.openxmlformats.org/drawingml/2006/main" noChangeAspect="1"/>
          </p:cNvPicPr>
          <p:nvPr/>
        </p:nvPicPr>
        <p:blipFill>
          <a:blip xmlns:r="http://schemas.openxmlformats.org/officeDocument/2006/relationships" xmlns:a="http://schemas.openxmlformats.org/drawingml/2006/main" r:embed="R821405020996449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54F05E7-555E-4F0A-AF03-42593BADCD1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20/24</a:t>
            </a:r>
          </a:p>
        </p:txBody>
      </p:sp>
      <p:sp>
        <p:nvSpPr>
          <p:cNvPr id="4" name="">
            <a:extLst xmlns:a="http://schemas.openxmlformats.org/drawingml/2006/main">
              <a:ext uri="{FF2B5EF4-FFF2-40B4-BE49-F238E27FC236}">
                <a16:creationId xmlns:a16="http://schemas.microsoft.com/office/drawing/2014/main" id="{640170BD-6476-4119-BB32-163A0F1E80B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Definir la misión del equipo en una frase.</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Crear las tres copias de nariz en OpenRocket manteniendo las dimensiones declaradas.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Completar la ficha con datos de modelo y separar lo que falta medir.</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4. Preparar la solicitud de muestras de encaje para el taller 1.</a:t>
            </a:r>
          </a:p>
        </p:txBody>
      </p:sp>
    </p:spTree>
    <p:extLst>
      <p:ext uri="{BB962C8B-B14F-4D97-AF65-F5344CB8AC3E}">
        <p14:creationId xmlns:p14="http://schemas.microsoft.com/office/powerpoint/2010/main" val="1282459919"/>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C1CDFC-DBA3-492A-9309-0B7EA24E13F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según la misión</a:t>
            </a:r>
          </a:p>
        </p:txBody>
      </p:sp>
      <p:pic>
        <p:nvPicPr>
          <p:cNvPr id="2" name="">
            <a:extLst xmlns:a="http://schemas.openxmlformats.org/drawingml/2006/main">
              <a:ext uri="{FF2B5EF4-FFF2-40B4-BE49-F238E27FC236}">
                <a16:creationId xmlns:a16="http://schemas.microsoft.com/office/drawing/2014/main" id="{87B5D34C-7014-456F-8CDF-C4196CDF4BEB}"/>
              </a:ext>
            </a:extLst>
          </p:cNvPr>
          <p:cNvPicPr>
            <a:picLocks xmlns:a="http://schemas.openxmlformats.org/drawingml/2006/main" noChangeAspect="1"/>
          </p:cNvPicPr>
          <p:nvPr/>
        </p:nvPicPr>
        <p:blipFill>
          <a:blip xmlns:r="http://schemas.openxmlformats.org/officeDocument/2006/relationships" xmlns:a="http://schemas.openxmlformats.org/drawingml/2006/main" r:embed="Rbd56f1b713aa405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701937A-3B94-478A-ACF2-F55C646EF49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21/24</a:t>
            </a:r>
          </a:p>
        </p:txBody>
      </p:sp>
      <p:sp>
        <p:nvSpPr>
          <p:cNvPr id="4" name="">
            <a:extLst xmlns:a="http://schemas.openxmlformats.org/drawingml/2006/main">
              <a:ext uri="{FF2B5EF4-FFF2-40B4-BE49-F238E27FC236}">
                <a16:creationId xmlns:a16="http://schemas.microsoft.com/office/drawing/2014/main" id="{8406AB91-6B2B-4E20-8E2B-F83CB5C52B1D}"/>
              </a:ext>
            </a:extLst>
          </p:cNvPr>
          <p:cNvSpPr>
            <a:spLocks xmlns:a="http://schemas.openxmlformats.org/drawingml/2006/main" noGrp="1"/>
          </p:cNvSpPr>
          <p:nvPr/>
        </p:nvSpPr>
        <p:spPr>
          <a:xfrm xmlns:a="http://schemas.openxmlformats.org/drawingml/2006/main">
            <a:off x="590550" y="17716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EF4BB"/>
                </a:solidFill>
                <a:latin typeface="Arial"/>
                <a:ea typeface="Arial"/>
                <a:cs typeface="Arial"/>
              </a:defRPr>
            </a:defPPr>
            <a:lvl1pPr>
              <a:defRPr sz="2775" b="1">
                <a:solidFill>
                  <a:srgbClr val="AEF4BB"/>
                </a:solidFill>
                <a:latin typeface="Arial"/>
                <a:ea typeface="Arial"/>
                <a:cs typeface="Arial"/>
              </a:defRPr>
            </a:lvl1pPr>
            <a:lvl2pPr>
              <a:defRPr sz="2775" b="1">
                <a:solidFill>
                  <a:srgbClr val="AEF4BB"/>
                </a:solidFill>
                <a:latin typeface="Arial"/>
                <a:ea typeface="Arial"/>
                <a:cs typeface="Arial"/>
              </a:defRPr>
            </a:lvl2pPr>
            <a:lvl3pPr>
              <a:defRPr sz="2775" b="1">
                <a:solidFill>
                  <a:srgbClr val="AEF4BB"/>
                </a:solidFill>
                <a:latin typeface="Arial"/>
                <a:ea typeface="Arial"/>
                <a:cs typeface="Arial"/>
              </a:defRPr>
            </a:lvl3pPr>
            <a:lvl4pPr>
              <a:defRPr sz="2775" b="1">
                <a:solidFill>
                  <a:srgbClr val="AEF4BB"/>
                </a:solidFill>
                <a:latin typeface="Arial"/>
                <a:ea typeface="Arial"/>
                <a:cs typeface="Arial"/>
              </a:defRPr>
            </a:lvl4pPr>
            <a:lvl5pPr>
              <a:defRPr sz="2775" b="1">
                <a:solidFill>
                  <a:srgbClr val="AEF4BB"/>
                </a:solidFill>
                <a:latin typeface="Arial"/>
                <a:ea typeface="Arial"/>
                <a:cs typeface="Arial"/>
              </a:defRPr>
            </a:lvl5pPr>
            <a:lvl6pPr>
              <a:defRPr sz="2775" b="1">
                <a:solidFill>
                  <a:srgbClr val="AEF4BB"/>
                </a:solidFill>
                <a:latin typeface="Arial"/>
                <a:ea typeface="Arial"/>
                <a:cs typeface="Arial"/>
              </a:defRPr>
            </a:lvl6pPr>
            <a:lvl7pPr>
              <a:defRPr sz="2775" b="1">
                <a:solidFill>
                  <a:srgbClr val="AEF4BB"/>
                </a:solidFill>
                <a:latin typeface="Arial"/>
                <a:ea typeface="Arial"/>
                <a:cs typeface="Arial"/>
              </a:defRPr>
            </a:lvl7pPr>
            <a:lvl8pPr>
              <a:defRPr sz="2775" b="1">
                <a:solidFill>
                  <a:srgbClr val="AEF4BB"/>
                </a:solidFill>
                <a:latin typeface="Arial"/>
                <a:ea typeface="Arial"/>
                <a:cs typeface="Arial"/>
              </a:defRPr>
            </a:lvl8pPr>
            <a:lvl9pPr>
              <a:defRPr sz="2775" b="1">
                <a:solidFill>
                  <a:srgbClr val="AEF4BB"/>
                </a:solidFill>
                <a:latin typeface="Arial"/>
                <a:ea typeface="Arial"/>
                <a:cs typeface="Arial"/>
              </a:defRPr>
            </a:lvl9pPr>
          </a:lstStyle>
          <a:p xmlns:a="http://schemas.openxmlformats.org/drawingml/2006/main">
            <a:pPr>
              <a:defRPr sz="2775" b="1">
                <a:solidFill>
                  <a:srgbClr val="AEF4BB"/>
                </a:solidFill>
                <a:latin typeface="Arial"/>
                <a:ea typeface="Arial"/>
                <a:cs typeface="Arial"/>
              </a:defRPr>
            </a:pPr>
            <a:r>
              <a:rPr sz="2775" b="1">
                <a:solidFill>
                  <a:srgbClr val="AEF4BB"/>
                </a:solidFill>
                <a:latin typeface="Arial"/>
                <a:ea typeface="Arial"/>
                <a:cs typeface="Arial"/>
              </a:rPr>
              <a:t>Aprender a fabricar y recuperar un modelo pequeño por equipos. La carga científica corresponde al demostrador docente.</a:t>
            </a:r>
          </a:p>
        </p:txBody>
      </p:sp>
      <p:sp>
        <p:nvSpPr>
          <p:cNvPr id="5" name="">
            <a:extLst xmlns:a="http://schemas.openxmlformats.org/drawingml/2006/main">
              <a:ext uri="{FF2B5EF4-FFF2-40B4-BE49-F238E27FC236}">
                <a16:creationId xmlns:a16="http://schemas.microsoft.com/office/drawing/2014/main" id="{CF4A3FE8-A177-4323-B6F6-B2083E39E566}"/>
              </a:ext>
            </a:extLst>
          </p:cNvPr>
          <p:cNvSpPr>
            <a:spLocks xmlns:a="http://schemas.openxmlformats.org/drawingml/2006/main" noGrp="1"/>
          </p:cNvSpPr>
          <p:nvPr/>
        </p:nvSpPr>
        <p:spPr>
          <a:xfrm xmlns:a="http://schemas.openxmlformats.org/drawingml/2006/main">
            <a:off x="590550" y="3638550"/>
            <a:ext cx="10715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CFCF8"/>
                </a:solidFill>
                <a:latin typeface="Arial"/>
                <a:ea typeface="Arial"/>
                <a:cs typeface="Arial"/>
              </a:defRPr>
            </a:defPPr>
            <a:lvl1pPr>
              <a:defRPr sz="2625" b="0">
                <a:solidFill>
                  <a:srgbClr val="FCFCF8"/>
                </a:solidFill>
                <a:latin typeface="Arial"/>
                <a:ea typeface="Arial"/>
                <a:cs typeface="Arial"/>
              </a:defRPr>
            </a:lvl1pPr>
            <a:lvl2pPr>
              <a:defRPr sz="2625" b="0">
                <a:solidFill>
                  <a:srgbClr val="FCFCF8"/>
                </a:solidFill>
                <a:latin typeface="Arial"/>
                <a:ea typeface="Arial"/>
                <a:cs typeface="Arial"/>
              </a:defRPr>
            </a:lvl2pPr>
            <a:lvl3pPr>
              <a:defRPr sz="2625" b="0">
                <a:solidFill>
                  <a:srgbClr val="FCFCF8"/>
                </a:solidFill>
                <a:latin typeface="Arial"/>
                <a:ea typeface="Arial"/>
                <a:cs typeface="Arial"/>
              </a:defRPr>
            </a:lvl3pPr>
            <a:lvl4pPr>
              <a:defRPr sz="2625" b="0">
                <a:solidFill>
                  <a:srgbClr val="FCFCF8"/>
                </a:solidFill>
                <a:latin typeface="Arial"/>
                <a:ea typeface="Arial"/>
                <a:cs typeface="Arial"/>
              </a:defRPr>
            </a:lvl4pPr>
            <a:lvl5pPr>
              <a:defRPr sz="2625" b="0">
                <a:solidFill>
                  <a:srgbClr val="FCFCF8"/>
                </a:solidFill>
                <a:latin typeface="Arial"/>
                <a:ea typeface="Arial"/>
                <a:cs typeface="Arial"/>
              </a:defRPr>
            </a:lvl5pPr>
            <a:lvl6pPr>
              <a:defRPr sz="2625" b="0">
                <a:solidFill>
                  <a:srgbClr val="FCFCF8"/>
                </a:solidFill>
                <a:latin typeface="Arial"/>
                <a:ea typeface="Arial"/>
                <a:cs typeface="Arial"/>
              </a:defRPr>
            </a:lvl6pPr>
            <a:lvl7pPr>
              <a:defRPr sz="2625" b="0">
                <a:solidFill>
                  <a:srgbClr val="FCFCF8"/>
                </a:solidFill>
                <a:latin typeface="Arial"/>
                <a:ea typeface="Arial"/>
                <a:cs typeface="Arial"/>
              </a:defRPr>
            </a:lvl7pPr>
            <a:lvl8pPr>
              <a:defRPr sz="2625" b="0">
                <a:solidFill>
                  <a:srgbClr val="FCFCF8"/>
                </a:solidFill>
                <a:latin typeface="Arial"/>
                <a:ea typeface="Arial"/>
                <a:cs typeface="Arial"/>
              </a:defRPr>
            </a:lvl8pPr>
            <a:lvl9pPr>
              <a:defRPr sz="2625" b="0">
                <a:solidFill>
                  <a:srgbClr val="FCFCF8"/>
                </a:solidFill>
                <a:latin typeface="Arial"/>
                <a:ea typeface="Arial"/>
                <a:cs typeface="Arial"/>
              </a:defRPr>
            </a:lvl9pPr>
          </a:lstStyle>
          <a:p xmlns:a="http://schemas.openxmlformats.org/drawingml/2006/main">
            <a:pPr>
              <a:defRPr sz="2625" b="0">
                <a:solidFill>
                  <a:srgbClr val="FCFCF8"/>
                </a:solidFill>
                <a:latin typeface="Arial"/>
                <a:ea typeface="Arial"/>
                <a:cs typeface="Arial"/>
              </a:defRPr>
            </a:pPr>
            <a:r>
              <a:rPr sz="2625" b="0">
                <a:solidFill>
                  <a:srgbClr val="FCFCF8"/>
                </a:solidFill>
                <a:latin typeface="Arial"/>
                <a:ea typeface="Arial"/>
                <a:cs typeface="Arial"/>
              </a:rPr>
              <a:t>¿Cambiaría tu elección para transportar la carga docente?</a:t>
            </a:r>
          </a:p>
        </p:txBody>
      </p:sp>
      <p:sp>
        <p:nvSpPr>
          <p:cNvPr id="6" name="">
            <a:extLst xmlns:a="http://schemas.openxmlformats.org/drawingml/2006/main">
              <a:ext uri="{FF2B5EF4-FFF2-40B4-BE49-F238E27FC236}">
                <a16:creationId xmlns:a16="http://schemas.microsoft.com/office/drawing/2014/main" id="{C4F397FF-198D-44DE-95AB-98B4C0ED0A34}"/>
              </a:ext>
            </a:extLst>
          </p:cNvPr>
          <p:cNvSpPr>
            <a:spLocks xmlns:a="http://schemas.openxmlformats.org/drawingml/2006/main" noGrp="1"/>
          </p:cNvSpPr>
          <p:nvPr/>
        </p:nvSpPr>
        <p:spPr>
          <a:xfrm xmlns:a="http://schemas.openxmlformats.org/drawingml/2006/main">
            <a:off x="590550" y="5486400"/>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8C8C1"/>
                </a:solidFill>
                <a:latin typeface="Arial"/>
                <a:ea typeface="Arial"/>
                <a:cs typeface="Arial"/>
              </a:defRPr>
            </a:defPPr>
            <a:lvl1pPr>
              <a:defRPr sz="2175" b="0">
                <a:solidFill>
                  <a:srgbClr val="B8C8C1"/>
                </a:solidFill>
                <a:latin typeface="Arial"/>
                <a:ea typeface="Arial"/>
                <a:cs typeface="Arial"/>
              </a:defRPr>
            </a:lvl1pPr>
            <a:lvl2pPr>
              <a:defRPr sz="2175" b="0">
                <a:solidFill>
                  <a:srgbClr val="B8C8C1"/>
                </a:solidFill>
                <a:latin typeface="Arial"/>
                <a:ea typeface="Arial"/>
                <a:cs typeface="Arial"/>
              </a:defRPr>
            </a:lvl2pPr>
            <a:lvl3pPr>
              <a:defRPr sz="2175" b="0">
                <a:solidFill>
                  <a:srgbClr val="B8C8C1"/>
                </a:solidFill>
                <a:latin typeface="Arial"/>
                <a:ea typeface="Arial"/>
                <a:cs typeface="Arial"/>
              </a:defRPr>
            </a:lvl3pPr>
            <a:lvl4pPr>
              <a:defRPr sz="2175" b="0">
                <a:solidFill>
                  <a:srgbClr val="B8C8C1"/>
                </a:solidFill>
                <a:latin typeface="Arial"/>
                <a:ea typeface="Arial"/>
                <a:cs typeface="Arial"/>
              </a:defRPr>
            </a:lvl4pPr>
            <a:lvl5pPr>
              <a:defRPr sz="2175" b="0">
                <a:solidFill>
                  <a:srgbClr val="B8C8C1"/>
                </a:solidFill>
                <a:latin typeface="Arial"/>
                <a:ea typeface="Arial"/>
                <a:cs typeface="Arial"/>
              </a:defRPr>
            </a:lvl5pPr>
            <a:lvl6pPr>
              <a:defRPr sz="2175" b="0">
                <a:solidFill>
                  <a:srgbClr val="B8C8C1"/>
                </a:solidFill>
                <a:latin typeface="Arial"/>
                <a:ea typeface="Arial"/>
                <a:cs typeface="Arial"/>
              </a:defRPr>
            </a:lvl6pPr>
            <a:lvl7pPr>
              <a:defRPr sz="2175" b="0">
                <a:solidFill>
                  <a:srgbClr val="B8C8C1"/>
                </a:solidFill>
                <a:latin typeface="Arial"/>
                <a:ea typeface="Arial"/>
                <a:cs typeface="Arial"/>
              </a:defRPr>
            </a:lvl7pPr>
            <a:lvl8pPr>
              <a:defRPr sz="2175" b="0">
                <a:solidFill>
                  <a:srgbClr val="B8C8C1"/>
                </a:solidFill>
                <a:latin typeface="Arial"/>
                <a:ea typeface="Arial"/>
                <a:cs typeface="Arial"/>
              </a:defRPr>
            </a:lvl8pPr>
            <a:lvl9pPr>
              <a:defRPr sz="2175" b="0">
                <a:solidFill>
                  <a:srgbClr val="B8C8C1"/>
                </a:solidFill>
                <a:latin typeface="Arial"/>
                <a:ea typeface="Arial"/>
                <a:cs typeface="Arial"/>
              </a:defRPr>
            </a:lvl9pPr>
          </a:lstStyle>
          <a:p xmlns:a="http://schemas.openxmlformats.org/drawingml/2006/main">
            <a:pPr>
              <a:defRPr sz="2175" b="0">
                <a:solidFill>
                  <a:srgbClr val="B8C8C1"/>
                </a:solidFill>
                <a:latin typeface="Arial"/>
                <a:ea typeface="Arial"/>
                <a:cs typeface="Arial"/>
              </a:defRPr>
            </a:pPr>
            <a:r>
              <a:rPr sz="2175" b="0">
                <a:solidFill>
                  <a:srgbClr val="B8C8C1"/>
                </a:solidFill>
                <a:latin typeface="Arial"/>
                <a:ea typeface="Arial"/>
                <a:cs typeface="Arial"/>
              </a:rPr>
              <a:t>Explica tu elección con una pieza, un archivo o un dato de la clase.</a:t>
            </a:r>
          </a:p>
        </p:txBody>
      </p:sp>
    </p:spTree>
    <p:extLst>
      <p:ext uri="{BB962C8B-B14F-4D97-AF65-F5344CB8AC3E}">
        <p14:creationId xmlns:p14="http://schemas.microsoft.com/office/powerpoint/2010/main" val="1713771492"/>
      </p:ext>
    </p:extLst>
  </p:cSld>
</p:sld>
</file>

<file path=ppt/slides/slide47.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49449F-480C-41D6-9D97-BA2DB9E01F6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Tres preguntas para cerrar</a:t>
            </a:r>
          </a:p>
        </p:txBody>
      </p:sp>
      <p:pic>
        <p:nvPicPr>
          <p:cNvPr id="2" name="">
            <a:extLst xmlns:a="http://schemas.openxmlformats.org/drawingml/2006/main">
              <a:ext uri="{FF2B5EF4-FFF2-40B4-BE49-F238E27FC236}">
                <a16:creationId xmlns:a16="http://schemas.microsoft.com/office/drawing/2014/main" id="{B8DC1ED0-762B-40EE-A06F-0CDDBC7AD132}"/>
              </a:ext>
            </a:extLst>
          </p:cNvPr>
          <p:cNvPicPr>
            <a:picLocks xmlns:a="http://schemas.openxmlformats.org/drawingml/2006/main" noChangeAspect="1"/>
          </p:cNvPicPr>
          <p:nvPr/>
        </p:nvPicPr>
        <p:blipFill>
          <a:blip xmlns:r="http://schemas.openxmlformats.org/officeDocument/2006/relationships" xmlns:a="http://schemas.openxmlformats.org/drawingml/2006/main" r:embed="R55804ed681594bc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7E77B36-3B8D-4744-875D-B77B2C44BFC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22/24</a:t>
            </a:r>
          </a:p>
        </p:txBody>
      </p:sp>
      <p:sp>
        <p:nvSpPr>
          <p:cNvPr id="4" name="">
            <a:extLst xmlns:a="http://schemas.openxmlformats.org/drawingml/2006/main">
              <a:ext uri="{FF2B5EF4-FFF2-40B4-BE49-F238E27FC236}">
                <a16:creationId xmlns:a16="http://schemas.microsoft.com/office/drawing/2014/main" id="{B4BF933E-92C7-4BAB-A66E-D6595BB8DE6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¿Un cohete de 35 cm es automáticamente de clase A?</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¿Qué se conserva para comparar solo la forma?</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¿Una nariz que pesa menos tiene menor arrastre?</a:t>
            </a:r>
          </a:p>
        </p:txBody>
      </p:sp>
    </p:spTree>
    <p:extLst>
      <p:ext uri="{BB962C8B-B14F-4D97-AF65-F5344CB8AC3E}">
        <p14:creationId xmlns:p14="http://schemas.microsoft.com/office/powerpoint/2010/main" val="267119435"/>
      </p:ext>
    </p:extLst>
  </p:cSld>
</p:sld>
</file>

<file path=ppt/slides/slide4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E1A470C-865E-4BF4-8924-9D9FB8403A8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explicar las respuestas</a:t>
            </a:r>
          </a:p>
        </p:txBody>
      </p:sp>
      <p:pic>
        <p:nvPicPr>
          <p:cNvPr id="2" name="">
            <a:extLst xmlns:a="http://schemas.openxmlformats.org/drawingml/2006/main">
              <a:ext uri="{FF2B5EF4-FFF2-40B4-BE49-F238E27FC236}">
                <a16:creationId xmlns:a16="http://schemas.microsoft.com/office/drawing/2014/main" id="{CBEBBC88-3EED-490C-88F0-07754DD60A6F}"/>
              </a:ext>
            </a:extLst>
          </p:cNvPr>
          <p:cNvPicPr>
            <a:picLocks xmlns:a="http://schemas.openxmlformats.org/drawingml/2006/main" noChangeAspect="1"/>
          </p:cNvPicPr>
          <p:nvPr/>
        </p:nvPicPr>
        <p:blipFill>
          <a:blip xmlns:r="http://schemas.openxmlformats.org/officeDocument/2006/relationships" xmlns:a="http://schemas.openxmlformats.org/drawingml/2006/main" r:embed="R6fd0a6177b134cf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530A6E9-6C17-49E2-9C45-78F5341F043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23/24</a:t>
            </a:r>
          </a:p>
        </p:txBody>
      </p:sp>
      <p:sp>
        <p:nvSpPr>
          <p:cNvPr id="4" name="">
            <a:extLst xmlns:a="http://schemas.openxmlformats.org/drawingml/2006/main">
              <a:ext uri="{FF2B5EF4-FFF2-40B4-BE49-F238E27FC236}">
                <a16:creationId xmlns:a16="http://schemas.microsoft.com/office/drawing/2014/main" id="{28F7B178-AD6E-401E-A885-10583BF49A5A}"/>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1. No. La letra corresponde al intervalo de impulso del motor, no a la longitud.</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2. Base, longitud visible y el resto del modelo; además se documentan material y masa.</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3. El peso no demuestra el arrastre. Son comparaciones diferentes.</a:t>
            </a:r>
          </a:p>
        </p:txBody>
      </p:sp>
    </p:spTree>
    <p:extLst>
      <p:ext uri="{BB962C8B-B14F-4D97-AF65-F5344CB8AC3E}">
        <p14:creationId xmlns:p14="http://schemas.microsoft.com/office/powerpoint/2010/main" val="1272913987"/>
      </p:ext>
    </p:extLst>
  </p:cSld>
</p:sld>
</file>

<file path=ppt/slides/slide4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CF59D9-7F9B-491A-A03D-F87432C0EFFD}"/>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3A728F76-B2CF-472D-B9A5-7973B681A44E}"/>
              </a:ext>
            </a:extLst>
          </p:cNvPr>
          <p:cNvPicPr>
            <a:picLocks xmlns:a="http://schemas.openxmlformats.org/drawingml/2006/main" noChangeAspect="1"/>
          </p:cNvPicPr>
          <p:nvPr/>
        </p:nvPicPr>
        <p:blipFill>
          <a:blip xmlns:r="http://schemas.openxmlformats.org/officeDocument/2006/relationships" xmlns:a="http://schemas.openxmlformats.org/drawingml/2006/main" r:embed="R2940fb44986c46d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5503836-5A7E-4D48-B46B-A9887088FCB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24/24</a:t>
            </a:r>
          </a:p>
        </p:txBody>
      </p:sp>
      <p:sp>
        <p:nvSpPr>
          <p:cNvPr id="4" name="">
            <a:extLst xmlns:a="http://schemas.openxmlformats.org/drawingml/2006/main">
              <a:ext uri="{FF2B5EF4-FFF2-40B4-BE49-F238E27FC236}">
                <a16:creationId xmlns:a16="http://schemas.microsoft.com/office/drawing/2014/main" id="{7057893E-4F6E-45E6-B0F1-655E3894282C}"/>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Tres archivos .ork, ficha comparativa y decisión provisional según misión.</a:t>
            </a:r>
          </a:p>
        </p:txBody>
      </p:sp>
      <p:sp>
        <p:nvSpPr>
          <p:cNvPr id="5" name="">
            <a:extLst xmlns:a="http://schemas.openxmlformats.org/drawingml/2006/main">
              <a:ext uri="{FF2B5EF4-FFF2-40B4-BE49-F238E27FC236}">
                <a16:creationId xmlns:a16="http://schemas.microsoft.com/office/drawing/2014/main" id="{2466AA2B-2F74-456A-BB82-08AD2E028476}"/>
              </a:ext>
            </a:extLst>
          </p:cNvPr>
          <p:cNvSpPr>
            <a:spLocks xmlns:a="http://schemas.openxmlformats.org/drawingml/2006/main" noGrp="1"/>
          </p:cNvSpPr>
          <p:nvPr/>
        </p:nvSpPr>
        <p:spPr>
          <a:xfrm xmlns:a="http://schemas.openxmlformats.org/drawingml/2006/main">
            <a:off x="590550" y="4314825"/>
            <a:ext cx="1071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Conserva la revisión del equipo y señala qué comprobación sigue pendiente.</a:t>
            </a:r>
          </a:p>
        </p:txBody>
      </p:sp>
    </p:spTree>
    <p:extLst>
      <p:ext uri="{BB962C8B-B14F-4D97-AF65-F5344CB8AC3E}">
        <p14:creationId xmlns:p14="http://schemas.microsoft.com/office/powerpoint/2010/main" val="19837840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2026-10-22T18:49:44.7780000Z</dcterms:created>
  <dcterms:modified xsi:type="dcterms:W3CDTF">2026-10-22T18:49:44.7780000Z</dcterms:modified>
</coreProperties>
</file>