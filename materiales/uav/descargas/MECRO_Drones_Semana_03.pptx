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359122a54d456e" /><Relationship Type="http://schemas.openxmlformats.org/officeDocument/2006/relationships/extended-properties" Target="/docProps/app.xml" Id="R3bccafcddad5446b" /><Relationship Type="http://schemas.openxmlformats.org/officeDocument/2006/relationships/officeDocument" Target="/ppt/presentation.xml" Id="R9d4f103ed99b4e8e" /></Relationships>
</file>

<file path=ppt/presentation.xml><?xml version="1.0" encoding="utf-8"?>
<p:presentation xmlns:p="http://schemas.openxmlformats.org/presentationml/2006/main">
  <p:sldMasterIdLst>
    <p:sldMasterId xmlns:r="http://schemas.openxmlformats.org/officeDocument/2006/relationships" id="2147483648" r:id="R79fa2ab53e804860"/>
  </p:sldMasterIdLst>
  <p:notesMasterIdLst>
    <p:notesMasterId xmlns:r="http://schemas.openxmlformats.org/officeDocument/2006/relationships" r:id="Re215d11e261d4355"/>
  </p:notesMasterIdLst>
  <p:sldIdLst>
    <p:sldId xmlns:r="http://schemas.openxmlformats.org/officeDocument/2006/relationships" id="256" r:id="R48b42078e9444b28"/>
    <p:sldId xmlns:r="http://schemas.openxmlformats.org/officeDocument/2006/relationships" id="257" r:id="Rc706c53a9d914579"/>
    <p:sldId xmlns:r="http://schemas.openxmlformats.org/officeDocument/2006/relationships" id="258" r:id="Ra833037841674b01"/>
    <p:sldId xmlns:r="http://schemas.openxmlformats.org/officeDocument/2006/relationships" id="259" r:id="R8743550373e944b5"/>
    <p:sldId xmlns:r="http://schemas.openxmlformats.org/officeDocument/2006/relationships" id="260" r:id="R3e22ad4d3f8643cc"/>
    <p:sldId xmlns:r="http://schemas.openxmlformats.org/officeDocument/2006/relationships" id="261" r:id="R1a0808b006014379"/>
    <p:sldId xmlns:r="http://schemas.openxmlformats.org/officeDocument/2006/relationships" id="262" r:id="Rc7b02522fe054155"/>
    <p:sldId xmlns:r="http://schemas.openxmlformats.org/officeDocument/2006/relationships" id="263" r:id="R27dfea5535434cd2"/>
    <p:sldId xmlns:r="http://schemas.openxmlformats.org/officeDocument/2006/relationships" id="264" r:id="R5f7cb90379d546ff"/>
    <p:sldId xmlns:r="http://schemas.openxmlformats.org/officeDocument/2006/relationships" id="265" r:id="R51978ef9dea24ae8"/>
    <p:sldId xmlns:r="http://schemas.openxmlformats.org/officeDocument/2006/relationships" id="266" r:id="R1002415546d748c0"/>
    <p:sldId xmlns:r="http://schemas.openxmlformats.org/officeDocument/2006/relationships" id="267" r:id="Rc66dde57f10b4af8"/>
    <p:sldId xmlns:r="http://schemas.openxmlformats.org/officeDocument/2006/relationships" id="268" r:id="Re49a1b9fe898444c"/>
    <p:sldId xmlns:r="http://schemas.openxmlformats.org/officeDocument/2006/relationships" id="269" r:id="Rfe0d70b55f3944ef"/>
    <p:sldId xmlns:r="http://schemas.openxmlformats.org/officeDocument/2006/relationships" id="270" r:id="Red07282968124052"/>
    <p:sldId xmlns:r="http://schemas.openxmlformats.org/officeDocument/2006/relationships" id="271" r:id="R651799b30dc94f91"/>
    <p:sldId xmlns:r="http://schemas.openxmlformats.org/officeDocument/2006/relationships" id="272" r:id="R4fd4dfb88c0f402d"/>
    <p:sldId xmlns:r="http://schemas.openxmlformats.org/officeDocument/2006/relationships" id="273" r:id="R29c1b6f382734763"/>
    <p:sldId xmlns:r="http://schemas.openxmlformats.org/officeDocument/2006/relationships" id="274" r:id="R7b0dfbb3e6e64c6b"/>
    <p:sldId xmlns:r="http://schemas.openxmlformats.org/officeDocument/2006/relationships" id="275" r:id="R0a245ec750d74b82"/>
    <p:sldId xmlns:r="http://schemas.openxmlformats.org/officeDocument/2006/relationships" id="276" r:id="Re85c001197ec4061"/>
    <p:sldId xmlns:r="http://schemas.openxmlformats.org/officeDocument/2006/relationships" id="277" r:id="R8ec686ddbae04e98"/>
    <p:sldId xmlns:r="http://schemas.openxmlformats.org/officeDocument/2006/relationships" id="278" r:id="R205773cc690f43c6"/>
    <p:sldId xmlns:r="http://schemas.openxmlformats.org/officeDocument/2006/relationships" id="279" r:id="R6998ea1c974b4321"/>
    <p:sldId xmlns:r="http://schemas.openxmlformats.org/officeDocument/2006/relationships" id="280" r:id="R6c39eeef50f64c95"/>
    <p:sldId xmlns:r="http://schemas.openxmlformats.org/officeDocument/2006/relationships" id="281" r:id="Rbfba6d852c0545f2"/>
    <p:sldId xmlns:r="http://schemas.openxmlformats.org/officeDocument/2006/relationships" id="282" r:id="Ra216f2c73b284038"/>
    <p:sldId xmlns:r="http://schemas.openxmlformats.org/officeDocument/2006/relationships" id="283" r:id="R6ac6f5f5e8114063"/>
    <p:sldId xmlns:r="http://schemas.openxmlformats.org/officeDocument/2006/relationships" id="284" r:id="Rb9a41624da694ec4"/>
    <p:sldId xmlns:r="http://schemas.openxmlformats.org/officeDocument/2006/relationships" id="285" r:id="R745d9806ba954e18"/>
    <p:sldId xmlns:r="http://schemas.openxmlformats.org/officeDocument/2006/relationships" id="286" r:id="R721a658f4f4740d8"/>
    <p:sldId xmlns:r="http://schemas.openxmlformats.org/officeDocument/2006/relationships" id="287" r:id="R1eb3e14088d94305"/>
    <p:sldId xmlns:r="http://schemas.openxmlformats.org/officeDocument/2006/relationships" id="288" r:id="R9fc065fe372c4811"/>
    <p:sldId xmlns:r="http://schemas.openxmlformats.org/officeDocument/2006/relationships" id="289" r:id="Rb7fd0e69ba164879"/>
    <p:sldId xmlns:r="http://schemas.openxmlformats.org/officeDocument/2006/relationships" id="290" r:id="R33ca1a899fb84567"/>
    <p:sldId xmlns:r="http://schemas.openxmlformats.org/officeDocument/2006/relationships" id="291" r:id="R6699653cefc44b3c"/>
    <p:sldId xmlns:r="http://schemas.openxmlformats.org/officeDocument/2006/relationships" id="292" r:id="Refaed456d9a847e8"/>
    <p:sldId xmlns:r="http://schemas.openxmlformats.org/officeDocument/2006/relationships" id="293" r:id="Rc839c34cf4924ca5"/>
    <p:sldId xmlns:r="http://schemas.openxmlformats.org/officeDocument/2006/relationships" id="294" r:id="R80d34d86b4b24e33"/>
    <p:sldId xmlns:r="http://schemas.openxmlformats.org/officeDocument/2006/relationships" id="295" r:id="Ra8ee521da7d1468e"/>
    <p:sldId xmlns:r="http://schemas.openxmlformats.org/officeDocument/2006/relationships" id="296" r:id="Re2534528809b41a5"/>
    <p:sldId xmlns:r="http://schemas.openxmlformats.org/officeDocument/2006/relationships" id="297" r:id="Rf96463969cdf4a03"/>
    <p:sldId xmlns:r="http://schemas.openxmlformats.org/officeDocument/2006/relationships" id="298" r:id="R4a3a662f98bb4a6f"/>
    <p:sldId xmlns:r="http://schemas.openxmlformats.org/officeDocument/2006/relationships" id="299" r:id="R4052eeac7757421d"/>
    <p:sldId xmlns:r="http://schemas.openxmlformats.org/officeDocument/2006/relationships" id="300" r:id="Rc935644523394be8"/>
    <p:sldId xmlns:r="http://schemas.openxmlformats.org/officeDocument/2006/relationships" id="301" r:id="Rb655d70351eb4ff7"/>
    <p:sldId xmlns:r="http://schemas.openxmlformats.org/officeDocument/2006/relationships" id="302" r:id="R71bc5eba27884afa"/>
    <p:sldId xmlns:r="http://schemas.openxmlformats.org/officeDocument/2006/relationships" id="303" r:id="R20447c000c9446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f2f5899ef34b67" /><Relationship Type="http://schemas.openxmlformats.org/officeDocument/2006/relationships/slideMaster" Target="/ppt/slideMasters/slideMaster1.xml" Id="R79fa2ab53e804860" /><Relationship Type="http://schemas.openxmlformats.org/officeDocument/2006/relationships/notesMaster" Target="/ppt/notesMasters/notesMaster1.xml" Id="Re215d11e261d4355" /><Relationship Type="http://schemas.openxmlformats.org/officeDocument/2006/relationships/presProps" Target="/ppt/presProps.xml" Id="Rf5d273130d444b75" /><Relationship Type="http://schemas.openxmlformats.org/officeDocument/2006/relationships/tableStyles" Target="/ppt/tableStyles.xml" Id="R4664ec4a85c64dc4" /><Relationship Type="http://schemas.openxmlformats.org/officeDocument/2006/relationships/slide" Target="/ppt/slides/slide1.xml" Id="R48b42078e9444b28" /><Relationship Type="http://schemas.openxmlformats.org/officeDocument/2006/relationships/slide" Target="/ppt/slides/slide2.xml" Id="Rc706c53a9d914579" /><Relationship Type="http://schemas.openxmlformats.org/officeDocument/2006/relationships/slide" Target="/ppt/slides/slide3.xml" Id="Ra833037841674b01" /><Relationship Type="http://schemas.openxmlformats.org/officeDocument/2006/relationships/slide" Target="/ppt/slides/slide4.xml" Id="R8743550373e944b5" /><Relationship Type="http://schemas.openxmlformats.org/officeDocument/2006/relationships/slide" Target="/ppt/slides/slide5.xml" Id="R3e22ad4d3f8643cc" /><Relationship Type="http://schemas.openxmlformats.org/officeDocument/2006/relationships/slide" Target="/ppt/slides/slide6.xml" Id="R1a0808b006014379" /><Relationship Type="http://schemas.openxmlformats.org/officeDocument/2006/relationships/slide" Target="/ppt/slides/slide7.xml" Id="Rc7b02522fe054155" /><Relationship Type="http://schemas.openxmlformats.org/officeDocument/2006/relationships/slide" Target="/ppt/slides/slide8.xml" Id="R27dfea5535434cd2" /><Relationship Type="http://schemas.openxmlformats.org/officeDocument/2006/relationships/slide" Target="/ppt/slides/slide9.xml" Id="R5f7cb90379d546ff" /><Relationship Type="http://schemas.openxmlformats.org/officeDocument/2006/relationships/slide" Target="/ppt/slides/slide10.xml" Id="R51978ef9dea24ae8" /><Relationship Type="http://schemas.openxmlformats.org/officeDocument/2006/relationships/slide" Target="/ppt/slides/slide11.xml" Id="R1002415546d748c0" /><Relationship Type="http://schemas.openxmlformats.org/officeDocument/2006/relationships/slide" Target="/ppt/slides/slide12.xml" Id="Rc66dde57f10b4af8" /><Relationship Type="http://schemas.openxmlformats.org/officeDocument/2006/relationships/slide" Target="/ppt/slides/slide13.xml" Id="Re49a1b9fe898444c" /><Relationship Type="http://schemas.openxmlformats.org/officeDocument/2006/relationships/slide" Target="/ppt/slides/slide14.xml" Id="Rfe0d70b55f3944ef" /><Relationship Type="http://schemas.openxmlformats.org/officeDocument/2006/relationships/slide" Target="/ppt/slides/slide15.xml" Id="Red07282968124052" /><Relationship Type="http://schemas.openxmlformats.org/officeDocument/2006/relationships/slide" Target="/ppt/slides/slide16.xml" Id="R651799b30dc94f91" /><Relationship Type="http://schemas.openxmlformats.org/officeDocument/2006/relationships/slide" Target="/ppt/slides/slide17.xml" Id="R4fd4dfb88c0f402d" /><Relationship Type="http://schemas.openxmlformats.org/officeDocument/2006/relationships/slide" Target="/ppt/slides/slide18.xml" Id="R29c1b6f382734763" /><Relationship Type="http://schemas.openxmlformats.org/officeDocument/2006/relationships/slide" Target="/ppt/slides/slide19.xml" Id="R7b0dfbb3e6e64c6b" /><Relationship Type="http://schemas.openxmlformats.org/officeDocument/2006/relationships/slide" Target="/ppt/slides/slide20.xml" Id="R0a245ec750d74b82" /><Relationship Type="http://schemas.openxmlformats.org/officeDocument/2006/relationships/slide" Target="/ppt/slides/slide21.xml" Id="Re85c001197ec4061" /><Relationship Type="http://schemas.openxmlformats.org/officeDocument/2006/relationships/slide" Target="/ppt/slides/slide22.xml" Id="R8ec686ddbae04e98" /><Relationship Type="http://schemas.openxmlformats.org/officeDocument/2006/relationships/slide" Target="/ppt/slides/slide23.xml" Id="R205773cc690f43c6" /><Relationship Type="http://schemas.openxmlformats.org/officeDocument/2006/relationships/slide" Target="/ppt/slides/slide24.xml" Id="R6998ea1c974b4321" /><Relationship Type="http://schemas.openxmlformats.org/officeDocument/2006/relationships/slide" Target="/ppt/slides/slide25.xml" Id="R6c39eeef50f64c95" /><Relationship Type="http://schemas.openxmlformats.org/officeDocument/2006/relationships/slide" Target="/ppt/slides/slide26.xml" Id="Rbfba6d852c0545f2" /><Relationship Type="http://schemas.openxmlformats.org/officeDocument/2006/relationships/slide" Target="/ppt/slides/slide27.xml" Id="Ra216f2c73b284038" /><Relationship Type="http://schemas.openxmlformats.org/officeDocument/2006/relationships/slide" Target="/ppt/slides/slide28.xml" Id="R6ac6f5f5e8114063" /><Relationship Type="http://schemas.openxmlformats.org/officeDocument/2006/relationships/slide" Target="/ppt/slides/slide29.xml" Id="Rb9a41624da694ec4" /><Relationship Type="http://schemas.openxmlformats.org/officeDocument/2006/relationships/slide" Target="/ppt/slides/slide30.xml" Id="R745d9806ba954e18" /><Relationship Type="http://schemas.openxmlformats.org/officeDocument/2006/relationships/slide" Target="/ppt/slides/slide31.xml" Id="R721a658f4f4740d8" /><Relationship Type="http://schemas.openxmlformats.org/officeDocument/2006/relationships/slide" Target="/ppt/slides/slide32.xml" Id="R1eb3e14088d94305" /><Relationship Type="http://schemas.openxmlformats.org/officeDocument/2006/relationships/slide" Target="/ppt/slides/slide33.xml" Id="R9fc065fe372c4811" /><Relationship Type="http://schemas.openxmlformats.org/officeDocument/2006/relationships/slide" Target="/ppt/slides/slide34.xml" Id="Rb7fd0e69ba164879" /><Relationship Type="http://schemas.openxmlformats.org/officeDocument/2006/relationships/slide" Target="/ppt/slides/slide35.xml" Id="R33ca1a899fb84567" /><Relationship Type="http://schemas.openxmlformats.org/officeDocument/2006/relationships/slide" Target="/ppt/slides/slide36.xml" Id="R6699653cefc44b3c" /><Relationship Type="http://schemas.openxmlformats.org/officeDocument/2006/relationships/slide" Target="/ppt/slides/slide37.xml" Id="Refaed456d9a847e8" /><Relationship Type="http://schemas.openxmlformats.org/officeDocument/2006/relationships/slide" Target="/ppt/slides/slide38.xml" Id="Rc839c34cf4924ca5" /><Relationship Type="http://schemas.openxmlformats.org/officeDocument/2006/relationships/slide" Target="/ppt/slides/slide39.xml" Id="R80d34d86b4b24e33" /><Relationship Type="http://schemas.openxmlformats.org/officeDocument/2006/relationships/slide" Target="/ppt/slides/slide40.xml" Id="Ra8ee521da7d1468e" /><Relationship Type="http://schemas.openxmlformats.org/officeDocument/2006/relationships/slide" Target="/ppt/slides/slide41.xml" Id="Re2534528809b41a5" /><Relationship Type="http://schemas.openxmlformats.org/officeDocument/2006/relationships/slide" Target="/ppt/slides/slide42.xml" Id="Rf96463969cdf4a03" /><Relationship Type="http://schemas.openxmlformats.org/officeDocument/2006/relationships/slide" Target="/ppt/slides/slide43.xml" Id="R4a3a662f98bb4a6f" /><Relationship Type="http://schemas.openxmlformats.org/officeDocument/2006/relationships/slide" Target="/ppt/slides/slide44.xml" Id="R4052eeac7757421d" /><Relationship Type="http://schemas.openxmlformats.org/officeDocument/2006/relationships/slide" Target="/ppt/slides/slide45.xml" Id="Rc935644523394be8" /><Relationship Type="http://schemas.openxmlformats.org/officeDocument/2006/relationships/slide" Target="/ppt/slides/slide46.xml" Id="Rb655d70351eb4ff7" /><Relationship Type="http://schemas.openxmlformats.org/officeDocument/2006/relationships/slide" Target="/ppt/slides/slide47.xml" Id="R71bc5eba27884afa" /><Relationship Type="http://schemas.openxmlformats.org/officeDocument/2006/relationships/slide" Target="/ppt/slides/slide48.xml" Id="R20447c000c9446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57a7d562714c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23a161da7642ea" /><Relationship Type="http://schemas.openxmlformats.org/officeDocument/2006/relationships/notesMaster" Target="/ppt/notesMasters/notesMaster1.xml" Id="R6b79124148d2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9cb6997dca4754" /><Relationship Type="http://schemas.openxmlformats.org/officeDocument/2006/relationships/notesMaster" Target="/ppt/notesMasters/notesMaster1.xml" Id="Rd8e1e1fba7db45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aa4fe701654539" /><Relationship Type="http://schemas.openxmlformats.org/officeDocument/2006/relationships/notesMaster" Target="/ppt/notesMasters/notesMaster1.xml" Id="R10e6b3fd76b14f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54aee98f2d47f2" /><Relationship Type="http://schemas.openxmlformats.org/officeDocument/2006/relationships/notesMaster" Target="/ppt/notesMasters/notesMaster1.xml" Id="R22310396987c43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e18d1aef3c42ce" /><Relationship Type="http://schemas.openxmlformats.org/officeDocument/2006/relationships/notesMaster" Target="/ppt/notesMasters/notesMaster1.xml" Id="R70b0e265729a4b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f8c44b9bd64c14" /><Relationship Type="http://schemas.openxmlformats.org/officeDocument/2006/relationships/notesMaster" Target="/ppt/notesMasters/notesMaster1.xml" Id="R9b87248ae48b42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74c1ac16de4f08" /><Relationship Type="http://schemas.openxmlformats.org/officeDocument/2006/relationships/notesMaster" Target="/ppt/notesMasters/notesMaster1.xml" Id="R4ef9047ac6d345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c1671aa7fb42c4" /><Relationship Type="http://schemas.openxmlformats.org/officeDocument/2006/relationships/notesMaster" Target="/ppt/notesMasters/notesMaster1.xml" Id="R8b021666200843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c3459021ea4a03" /><Relationship Type="http://schemas.openxmlformats.org/officeDocument/2006/relationships/notesMaster" Target="/ppt/notesMasters/notesMaster1.xml" Id="Rce505dae1e014f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621211db3a474d" /><Relationship Type="http://schemas.openxmlformats.org/officeDocument/2006/relationships/notesMaster" Target="/ppt/notesMasters/notesMaster1.xml" Id="R397c004e57f143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87198216804614" /><Relationship Type="http://schemas.openxmlformats.org/officeDocument/2006/relationships/notesMaster" Target="/ppt/notesMasters/notesMaster1.xml" Id="Rf70f56d4b69e4a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a4817958f34396" /><Relationship Type="http://schemas.openxmlformats.org/officeDocument/2006/relationships/notesMaster" Target="/ppt/notesMasters/notesMaster1.xml" Id="R2066e665c24f4e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9a22760d3c4d92" /><Relationship Type="http://schemas.openxmlformats.org/officeDocument/2006/relationships/notesMaster" Target="/ppt/notesMasters/notesMaster1.xml" Id="Ra780326762ac41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1b89e1bffc4a27" /><Relationship Type="http://schemas.openxmlformats.org/officeDocument/2006/relationships/notesMaster" Target="/ppt/notesMasters/notesMaster1.xml" Id="R569a848a46c14e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a26f968b47442e" /><Relationship Type="http://schemas.openxmlformats.org/officeDocument/2006/relationships/notesMaster" Target="/ppt/notesMasters/notesMaster1.xml" Id="R1d6a276a41fb40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821618abe84f45" /><Relationship Type="http://schemas.openxmlformats.org/officeDocument/2006/relationships/notesMaster" Target="/ppt/notesMasters/notesMaster1.xml" Id="R52a48453bf1141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4fa51384c144ce" /><Relationship Type="http://schemas.openxmlformats.org/officeDocument/2006/relationships/notesMaster" Target="/ppt/notesMasters/notesMaster1.xml" Id="Rfa181310eec14f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ead870629e4ce1" /><Relationship Type="http://schemas.openxmlformats.org/officeDocument/2006/relationships/notesMaster" Target="/ppt/notesMasters/notesMaster1.xml" Id="Rf03da6b1150443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ce21739b074844" /><Relationship Type="http://schemas.openxmlformats.org/officeDocument/2006/relationships/notesMaster" Target="/ppt/notesMasters/notesMaster1.xml" Id="R7857ec91a8ef4b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57b34d297640fe" /><Relationship Type="http://schemas.openxmlformats.org/officeDocument/2006/relationships/notesMaster" Target="/ppt/notesMasters/notesMaster1.xml" Id="R937fedbd04cc49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bbf959908544b8" /><Relationship Type="http://schemas.openxmlformats.org/officeDocument/2006/relationships/notesMaster" Target="/ppt/notesMasters/notesMaster1.xml" Id="R54783a855d5342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1c71c737d64be0" /><Relationship Type="http://schemas.openxmlformats.org/officeDocument/2006/relationships/notesMaster" Target="/ppt/notesMasters/notesMaster1.xml" Id="R7305b74ebe4c4f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23e127066f4297" /><Relationship Type="http://schemas.openxmlformats.org/officeDocument/2006/relationships/notesMaster" Target="/ppt/notesMasters/notesMaster1.xml" Id="R9b8bfdd58195494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453d6bf7514708" /><Relationship Type="http://schemas.openxmlformats.org/officeDocument/2006/relationships/notesMaster" Target="/ppt/notesMasters/notesMaster1.xml" Id="Raa6262a52c3742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f2e973be1041b3" /><Relationship Type="http://schemas.openxmlformats.org/officeDocument/2006/relationships/notesMaster" Target="/ppt/notesMasters/notesMaster1.xml" Id="Ra18211a504624c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c346fb04ff4d35" /><Relationship Type="http://schemas.openxmlformats.org/officeDocument/2006/relationships/notesMaster" Target="/ppt/notesMasters/notesMaster1.xml" Id="Rb044bce3200b4b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bab57e0851436c" /><Relationship Type="http://schemas.openxmlformats.org/officeDocument/2006/relationships/notesMaster" Target="/ppt/notesMasters/notesMaster1.xml" Id="R07cbd91a0aaa4c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777aeed1ae4118" /><Relationship Type="http://schemas.openxmlformats.org/officeDocument/2006/relationships/notesMaster" Target="/ppt/notesMasters/notesMaster1.xml" Id="Rc098d5adcf1849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95e57f318eb45ec" /><Relationship Type="http://schemas.openxmlformats.org/officeDocument/2006/relationships/notesMaster" Target="/ppt/notesMasters/notesMaster1.xml" Id="Rc87ab4438ed54a2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d5cc189cb534983" /><Relationship Type="http://schemas.openxmlformats.org/officeDocument/2006/relationships/notesMaster" Target="/ppt/notesMasters/notesMaster1.xml" Id="Rdae73c45a9ba44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0cf65f3eb14a56" /><Relationship Type="http://schemas.openxmlformats.org/officeDocument/2006/relationships/notesMaster" Target="/ppt/notesMasters/notesMaster1.xml" Id="Rda9ef130a62a4f0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bac2ca573c3420d" /><Relationship Type="http://schemas.openxmlformats.org/officeDocument/2006/relationships/notesMaster" Target="/ppt/notesMasters/notesMaster1.xml" Id="R5c0f344b68eb432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4834054cf454737" /><Relationship Type="http://schemas.openxmlformats.org/officeDocument/2006/relationships/notesMaster" Target="/ppt/notesMasters/notesMaster1.xml" Id="R7072316c4d65492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1612aaa74e34cfd" /><Relationship Type="http://schemas.openxmlformats.org/officeDocument/2006/relationships/notesMaster" Target="/ppt/notesMasters/notesMaster1.xml" Id="R2448d22fdb9646a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7c7348f1c04db9" /><Relationship Type="http://schemas.openxmlformats.org/officeDocument/2006/relationships/notesMaster" Target="/ppt/notesMasters/notesMaster1.xml" Id="R061de2e7e9924c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764427edd0439c" /><Relationship Type="http://schemas.openxmlformats.org/officeDocument/2006/relationships/notesMaster" Target="/ppt/notesMasters/notesMaster1.xml" Id="Rc5befd80b35f4bd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6b95b4d054a4522" /><Relationship Type="http://schemas.openxmlformats.org/officeDocument/2006/relationships/notesMaster" Target="/ppt/notesMasters/notesMaster1.xml" Id="R55a517eed285440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c722443de0a4562" /><Relationship Type="http://schemas.openxmlformats.org/officeDocument/2006/relationships/notesMaster" Target="/ppt/notesMasters/notesMaster1.xml" Id="R6f9de5fd6d36467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cfafc2a82364ad2" /><Relationship Type="http://schemas.openxmlformats.org/officeDocument/2006/relationships/notesMaster" Target="/ppt/notesMasters/notesMaster1.xml" Id="Rad42c763964a412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24746b13a1d4461" /><Relationship Type="http://schemas.openxmlformats.org/officeDocument/2006/relationships/notesMaster" Target="/ppt/notesMasters/notesMaster1.xml" Id="R70f1d822747749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ddd124b54cc43dc" /><Relationship Type="http://schemas.openxmlformats.org/officeDocument/2006/relationships/notesMaster" Target="/ppt/notesMasters/notesMaster1.xml" Id="Rd73f41dce8044dd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d6269c1cd1d45b1" /><Relationship Type="http://schemas.openxmlformats.org/officeDocument/2006/relationships/notesMaster" Target="/ppt/notesMasters/notesMaster1.xml" Id="R44628c649fc542e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1bd193aba6b412f" /><Relationship Type="http://schemas.openxmlformats.org/officeDocument/2006/relationships/notesMaster" Target="/ppt/notesMasters/notesMaster1.xml" Id="Rad33db121db741d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85b711088a47e7" /><Relationship Type="http://schemas.openxmlformats.org/officeDocument/2006/relationships/notesMaster" Target="/ppt/notesMasters/notesMaster1.xml" Id="R149d242077af411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38872d5d89e4ab8" /><Relationship Type="http://schemas.openxmlformats.org/officeDocument/2006/relationships/notesMaster" Target="/ppt/notesMasters/notesMaster1.xml" Id="R7c54ae30aced468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16ac7df56fb4175" /><Relationship Type="http://schemas.openxmlformats.org/officeDocument/2006/relationships/notesMaster" Target="/ppt/notesMasters/notesMaster1.xml" Id="R5f32a9e6e7ff444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dd90c894ff34c39" /><Relationship Type="http://schemas.openxmlformats.org/officeDocument/2006/relationships/notesMaster" Target="/ppt/notesMasters/notesMaster1.xml" Id="R3423c093a4a64c8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eddd3abfc0548fc" /><Relationship Type="http://schemas.openxmlformats.org/officeDocument/2006/relationships/notesMaster" Target="/ppt/notesMasters/notesMaster1.xml" Id="R68fa3d23539e40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3 minutos en esta diapositiva.</a:t>
            </a:r>
          </a:p>
          <a:p xmlns:a="http://schemas.openxmlformats.org/drawingml/2006/main">
            <a:r>
              <a:t/>
            </a:r>
          </a:p>
          <a:p xmlns:a="http://schemas.openxmlformats.org/drawingml/2006/main">
            <a:r>
              <a:t>Distinguir la aplicación de lo que se ejecuta en la FC.</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Betaflight Firmware se ejecuta en la controladora; Betaflight App permite inspeccionar y configurar sus opciones. La aplicación se conocía como Configurator y la documentación actual ofrece acceso para PC desde app.betaflight.com. Una versión de aplicación debe ser compatible con la versión de firmware del equipo. El curso registra ambas, junto con placa y target, para que las capturas y la demostración se puedan entender después.</a:t>
            </a:r>
          </a:p>
          <a:p xmlns:a="http://schemas.openxmlformats.org/drawingml/2006/main">
            <a:r>
              <a:t/>
            </a:r>
          </a:p>
          <a:p xmlns:a="http://schemas.openxmlformats.org/drawingml/2006/main">
            <a:r>
              <a:t>Pantalla de la aplicación en la documentación oficial. El aspecto y las funciones pueden variar con la versión utilizada en clase. Fuente: Betaflight, documentación oficial. https://betaflight.com/docs/wiki/getting-started/setup-guide</a:t>
            </a:r>
          </a:p>
          <a:p xmlns:a="http://schemas.openxmlformats.org/drawingml/2006/main">
            <a:r>
              <a:t/>
            </a:r>
          </a:p>
          <a:p xmlns:a="http://schemas.openxmlformats.org/drawingml/2006/main">
            <a:r>
              <a:t>Conectar una placa por USB no obliga a reinstalar firmware. El primer trabajo es identificar y observar la configuración existente. Cambiar el target por el nombre genérico del procesador puede dejar funciones sin correspondencia con el hardware. Las placas de MECRO se preparan antes de la cohorte: modelo, revisión, firmware, aplicación compatible y copia de configuración. Los campos exactos se completan con el equipo real, sin adivinarlos a partir de “F405”.</a:t>
            </a:r>
          </a:p>
          <a:p xmlns:a="http://schemas.openxmlformats.org/drawingml/2006/main">
            <a:r>
              <a:t/>
            </a:r>
          </a:p>
          <a:p xmlns:a="http://schemas.openxmlformats.org/drawingml/2006/main">
            <a:r>
              <a:t>Para estudiar sin controladora, el alumno utiliza las capturas, el manual y el expediente del caso. La práctica de observar canales o sensores reales se muestra con el equipo docente. La aplicación abierta sin hardware no simula la física del multirrotor.</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Pantalla de la aplicación en la documentación oficial. El aspecto y las funciones pueden variar con la versión utilizada en clase. Fuente: Betaflight, documentación oficial. https://betaflight.com/docs/wiki/getting-started/setup-guide</a:t>
            </a:r>
          </a:p>
          <a:p xmlns:a="http://schemas.openxmlformats.org/drawingml/2006/main">
            <a:r>
              <a:t>Betaflight Firmware se ejecuta en la controladora; Betaflight App permite inspeccionar y configurar sus opciones. La aplicación se conocía como Configurator y la documentación actual ofrece acceso para PC desde app.betaflight.com. Una versión de aplicación debe ser compatible con la versión de firmware del equipo. El curso registra ambas, junto con placa y target, para que las capturas y la demostración se puedan entender después.</a:t>
            </a:r>
          </a:p>
          <a:p xmlns:a="http://schemas.openxmlformats.org/drawingml/2006/main">
            <a:r>
              <a:t/>
            </a:r>
          </a:p>
          <a:p xmlns:a="http://schemas.openxmlformats.org/drawingml/2006/main">
            <a:r>
              <a:t>Pantalla de la aplicación en la documentación oficial. El aspecto y las funciones pueden variar con la versión utilizada en clase. Fuente: Betaflight, documentación oficial. https://betaflight.com/docs/wiki/getting-started/setup-guide</a:t>
            </a:r>
          </a:p>
          <a:p xmlns:a="http://schemas.openxmlformats.org/drawingml/2006/main">
            <a:r>
              <a:t/>
            </a:r>
          </a:p>
          <a:p xmlns:a="http://schemas.openxmlformats.org/drawingml/2006/main">
            <a:r>
              <a:t>Conectar una placa por USB no obliga a reinstalar firmware. El primer trabajo es identificar y observar la configuración existente. Cambiar el target por el nombre genérico del procesador puede dejar funciones sin correspondencia con el hardware. Las placas de MECRO se preparan antes de la cohorte: modelo, revisión, firmware, aplicación compatible y copia de configuración. Los campos exactos se completan con el equipo real, sin adivinarlos a partir de “F405”.</a:t>
            </a:r>
          </a:p>
          <a:p xmlns:a="http://schemas.openxmlformats.org/drawingml/2006/main">
            <a:r>
              <a:t/>
            </a:r>
          </a:p>
          <a:p xmlns:a="http://schemas.openxmlformats.org/drawingml/2006/main">
            <a:r>
              <a:t>Para estudiar sin controladora, el alumno utiliza las capturas, el manual y el expediente del caso. La práctica de observar canales o sensores reales se muestra con el equipo docente. La aplicación abierta sin hardware no simula la física del multirrotor.</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Betaflight Firmware se ejecuta en la controladora; Betaflight App permite inspeccionar y configurar sus opciones. La aplicación se conocía como Configurator y la documentación actual ofrece acceso para PC desde app.betaflight.com. Una versión de aplicación debe ser compatible con la versión de firmware del equipo. El curso registra ambas, junto con placa y target, para que las capturas y la demostración se puedan entender después.</a:t>
            </a:r>
          </a:p>
          <a:p xmlns:a="http://schemas.openxmlformats.org/drawingml/2006/main">
            <a:r>
              <a:t/>
            </a:r>
          </a:p>
          <a:p xmlns:a="http://schemas.openxmlformats.org/drawingml/2006/main">
            <a:r>
              <a:t>Pantalla de la aplicación en la documentación oficial. El aspecto y las funciones pueden variar con la versión utilizada en clase. Fuente: Betaflight, documentación oficial. https://betaflight.com/docs/wiki/getting-started/setup-guide</a:t>
            </a:r>
          </a:p>
          <a:p xmlns:a="http://schemas.openxmlformats.org/drawingml/2006/main">
            <a:r>
              <a:t/>
            </a:r>
          </a:p>
          <a:p xmlns:a="http://schemas.openxmlformats.org/drawingml/2006/main">
            <a:r>
              <a:t>Conectar una placa por USB no obliga a reinstalar firmware. El primer trabajo es identificar y observar la configuración existente. Cambiar el target por el nombre genérico del procesador puede dejar funciones sin correspondencia con el hardware. Las placas de MECRO se preparan antes de la cohorte: modelo, revisión, firmware, aplicación compatible y copia de configuración. Los campos exactos se completan con el equipo real, sin adivinarlos a partir de “F405”.</a:t>
            </a:r>
          </a:p>
          <a:p xmlns:a="http://schemas.openxmlformats.org/drawingml/2006/main">
            <a:r>
              <a:t/>
            </a:r>
          </a:p>
          <a:p xmlns:a="http://schemas.openxmlformats.org/drawingml/2006/main">
            <a:r>
              <a:t>Para estudiar sin controladora, el alumno utiliza las capturas, el manual y el expediente del caso. La práctica de observar canales o sensores reales se muestra con el equipo docente. La aplicación abierta sin hardware no simula la física del multirrotor.</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la controladora y utiliza un cable USB que transfiera datos. Mantén retirada la batería para la inspección USB inicial cuando el manual lo permita.</a:t>
            </a:r>
          </a:p>
          <a:p xmlns:a="http://schemas.openxmlformats.org/drawingml/2006/main">
            <a:r>
              <a:t>Observa el puerto que aparece en Windows y selecciona el correspondiente en la aplicación compatible.</a:t>
            </a:r>
          </a:p>
          <a:p xmlns:a="http://schemas.openxmlformats.org/drawingml/2006/main">
            <a:r>
              <a:t>Si no aparece conexión, revisa cable, puerto, alimentación USB y posibles conflictos de acceso antes de tocar firmware.</a:t>
            </a:r>
          </a:p>
          <a:p xmlns:a="http://schemas.openxmlformats.org/drawingml/2006/main">
            <a:r>
              <a:t>Registra versión de firmware y target; conserva el estado previo de configuración.</a:t>
            </a:r>
          </a:p>
          <a:p xmlns:a="http://schemas.openxmlformats.org/drawingml/2006/main">
            <a:r>
              <a:t>Guarda una copia identificada por placa y fecha. Lee los mensajes de estado antes de plantear cambios.</a:t>
            </a:r>
          </a:p>
          <a:p xmlns:a="http://schemas.openxmlformats.org/drawingml/2006/main">
            <a:r>
              <a:t/>
            </a:r>
          </a:p>
          <a:p xmlns:a="http://schemas.openxmlformats.org/drawingml/2006/main">
            <a:r>
              <a:t>version</a:t>
            </a:r>
          </a:p>
          <a:p xmlns:a="http://schemas.openxmlformats.org/drawingml/2006/main">
            <a:r>
              <a:t>status</a:t>
            </a:r>
          </a:p>
          <a:p xmlns:a="http://schemas.openxmlformats.org/drawingml/2006/main">
            <a:r>
              <a:t>diff all</a:t>
            </a:r>
          </a:p>
          <a:p xmlns:a="http://schemas.openxmlformats.org/drawingml/2006/main">
            <a:r>
              <a:t/>
            </a:r>
          </a:p>
          <a:p xmlns:a="http://schemas.openxmlformats.org/drawingml/2006/main">
            <a:r>
              <a:t>Las tres consultas se leen como herramientas de identificación y diagnóstico; no se incluyen órdenes para borrar configuración ni scripts de otra aeronave. El respaldo contiene valores de una combinación concreta. No se restaura sin revisar sobre otra placa o versión. Si se necesitara reinstalar, el docente consulta el procedimiento oficial y confirma el target antes de la actividad; no se convierte cada conexión inicial en un ejercicio de flasheo.</a:t>
            </a:r>
          </a:p>
          <a:p xmlns:a="http://schemas.openxmlformats.org/drawingml/2006/main">
            <a:r>
              <a:t/>
            </a:r>
          </a:p>
          <a:p xmlns:a="http://schemas.openxmlformats.org/drawingml/2006/main">
            <a:r>
              <a:t>Un estudiante guarda “config_final.txt” sin placa ni versión. ¿Qué falta?</a:t>
            </a:r>
          </a:p>
          <a:p xmlns:a="http://schemas.openxmlformats.org/drawingml/2006/main">
            <a:r>
              <a:t>Un nombre y una ficha que relacionen el archivo con equipo, firmware, aplicación y fecha. Sin esa identidad no se sabe a qué hardware ni a qué estado corresponde.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version</a:t>
            </a:r>
          </a:p>
          <a:p xmlns:a="http://schemas.openxmlformats.org/drawingml/2006/main">
            <a:r>
              <a:t>status</a:t>
            </a:r>
          </a:p>
          <a:p xmlns:a="http://schemas.openxmlformats.org/drawingml/2006/main">
            <a:r>
              <a:t>diff all</a:t>
            </a:r>
          </a:p>
          <a:p xmlns:a="http://schemas.openxmlformats.org/drawingml/2006/main">
            <a:r>
              <a:t>Explicar entrada, estado, salida y momento de actualización.</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estudiante guarda “config_final.txt” sin placa ni versión. ¿Qué falta?</a:t>
            </a:r>
          </a:p>
          <a:p xmlns:a="http://schemas.openxmlformats.org/drawingml/2006/main">
            <a:r>
              <a:t>Un nombre y una ficha que relacionen el archivo con equipo, firmware, aplicación y fecha. Sin esa identidad no se sabe a qué hardware ni a qué estado corresponde.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La controladora interpreta movimientos en sus ejes. La orientación física y el ajuste de montaje deben corresponder a la aeronave. El docente muestra un movimiento lento del bastidor y la respuesta del modelo 3D. Se compara inclinación hacia delante, lateral y giro, uno por vez. La vista sirve para comprobar coherencia de la orientación estimada; no constituye una prueba de que el dron vuele ni de que los motores estén bien asignados.</a:t>
            </a:r>
          </a:p>
          <a:p xmlns:a="http://schemas.openxmlformats.org/drawingml/2006/main">
            <a:r>
              <a:t/>
            </a:r>
          </a:p>
          <a:p xmlns:a="http://schemas.openxmlformats.org/drawingml/2006/main">
            <a:r>
              <a:t>Acción del docente / Qué se observa / Qué todavía no demuestra</a:t>
            </a:r>
          </a:p>
          <a:p xmlns:a="http://schemas.openxmlformats.org/drawingml/2006/main">
            <a:r>
              <a:t>Inclinar hacia delante / Modelo responde con sentido coherente / Empuje o orden de motores</a:t>
            </a:r>
          </a:p>
          <a:p xmlns:a="http://schemas.openxmlformats.org/drawingml/2006/main">
            <a:r>
              <a:t>Inclinar lateralmente / Ejes y orientación / Sintonía de control</a:t>
            </a:r>
          </a:p>
          <a:p xmlns:a="http://schemas.openxmlformats.org/drawingml/2006/main">
            <a:r>
              <a:t>Girar sobre mesa / Representación correspondiente / Navegación GPS completa</a:t>
            </a:r>
          </a:p>
          <a:p xmlns:a="http://schemas.openxmlformats.org/drawingml/2006/main">
            <a:r>
              <a:t/>
            </a:r>
          </a:p>
          <a:p xmlns:a="http://schemas.openxmlformats.org/drawingml/2006/main">
            <a:r>
              <a:t>Si la flecha de la FC apunta a otro lado, no se compensa corrigiendo el mapa del receptor al azar. Cada transformación tiene un lugar: montaje de sensor, entrada de mando y asignación de salidas. El expediente anota dónde se definió la orientación. Cambiar varias a la vez puede ocultar el origen del problema y producir una configuración difícil de revisar.</a:t>
            </a:r>
          </a:p>
          <a:p xmlns:a="http://schemas.openxmlformats.org/drawingml/2006/main">
            <a:r>
              <a:t/>
            </a:r>
          </a:p>
          <a:p xmlns:a="http://schemas.openxmlformats.org/drawingml/2006/main">
            <a:r>
              <a:t>El acelerómetro y el giróscopo observan magnitudes diferentes. La calibración se realiza con el método requerido por firmware y equipo. El curso introduce qué referencia se está corrigiendo; no promete eliminar todas las vibraciones o errores mediante un solo botón.</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Acción del docente / Qué se observa / Qué todavía no demuestra</a:t>
            </a:r>
          </a:p>
          <a:p xmlns:a="http://schemas.openxmlformats.org/drawingml/2006/main">
            <a:r>
              <a:t>Inclinar hacia delante / Modelo responde con sentido coherente / Empuje o orden de motores</a:t>
            </a:r>
          </a:p>
          <a:p xmlns:a="http://schemas.openxmlformats.org/drawingml/2006/main">
            <a:r>
              <a:t>Inclinar lateralmente / Ejes y orientación / Sintonía de control</a:t>
            </a:r>
          </a:p>
          <a:p xmlns:a="http://schemas.openxmlformats.org/drawingml/2006/main">
            <a:r>
              <a:t>Girar sobre mesa / Representación correspondiente / Navegación GPS completa</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La controladora interpreta movimientos en sus ejes. La orientación física y el ajuste de montaje deben corresponder a la aeronave. El docente muestra un movimiento lento del bastidor y la respuesta del modelo 3D. Se compara inclinación hacia delante, lateral y giro, uno por vez. La vista sirve para comprobar coherencia de la orientación estimada; no constituye una prueba de que el dron vuele ni de que los motores estén bien asignados.</a:t>
            </a:r>
          </a:p>
          <a:p xmlns:a="http://schemas.openxmlformats.org/drawingml/2006/main">
            <a:r>
              <a:t/>
            </a:r>
          </a:p>
          <a:p xmlns:a="http://schemas.openxmlformats.org/drawingml/2006/main">
            <a:r>
              <a:t>Acción del docente / Qué se observa / Qué todavía no demuestra</a:t>
            </a:r>
          </a:p>
          <a:p xmlns:a="http://schemas.openxmlformats.org/drawingml/2006/main">
            <a:r>
              <a:t>Inclinar hacia delante / Modelo responde con sentido coherente / Empuje o orden de motores</a:t>
            </a:r>
          </a:p>
          <a:p xmlns:a="http://schemas.openxmlformats.org/drawingml/2006/main">
            <a:r>
              <a:t>Inclinar lateralmente / Ejes y orientación / Sintonía de control</a:t>
            </a:r>
          </a:p>
          <a:p xmlns:a="http://schemas.openxmlformats.org/drawingml/2006/main">
            <a:r>
              <a:t>Girar sobre mesa / Representación correspondiente / Navegación GPS completa</a:t>
            </a:r>
          </a:p>
          <a:p xmlns:a="http://schemas.openxmlformats.org/drawingml/2006/main">
            <a:r>
              <a:t/>
            </a:r>
          </a:p>
          <a:p xmlns:a="http://schemas.openxmlformats.org/drawingml/2006/main">
            <a:r>
              <a:t>Si la flecha de la FC apunta a otro lado, no se compensa corrigiendo el mapa del receptor al azar. Cada transformación tiene un lugar: montaje de sensor, entrada de mando y asignación de salidas. El expediente anota dónde se definió la orientación. Cambiar varias a la vez puede ocultar el origen del problema y producir una configuración difícil de revisar.</a:t>
            </a:r>
          </a:p>
          <a:p xmlns:a="http://schemas.openxmlformats.org/drawingml/2006/main">
            <a:r>
              <a:t/>
            </a:r>
          </a:p>
          <a:p xmlns:a="http://schemas.openxmlformats.org/drawingml/2006/main">
            <a:r>
              <a:t>El acelerómetro y el giróscopo observan magnitudes diferentes. La calibración se realiza con el método requerido por firmware y equipo. El curso introduce qué referencia se está corrigiendo; no promete eliminar todas las vibraciones o errores mediante un solo botón.</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Receiver del manual Betaflight. Los valores son los de la captura documental, no una calibración del equipo MECRO. Fuente: Betaflight, documentación oficial. https://betaflight.com/docs/wiki/app/receiver-tab</a:t>
            </a:r>
          </a:p>
          <a:p xmlns:a="http://schemas.openxmlformats.org/drawingml/2006/main">
            <a:r>
              <a:t/>
            </a:r>
          </a:p>
          <a:p xmlns:a="http://schemas.openxmlformats.org/drawingml/2006/main">
            <a:r>
              <a:t>La tabla de puertos de la clase anterior explica por dónde llega el receptor. En la pestaña correspondiente se comprueba que cada control humano mueva el canal previsto y que los interruptores tengan una función documentada. Si el mando lateral altera otro canal, se investiga la asignación. No basta observar que varias barras se mueven.</a:t>
            </a:r>
          </a:p>
          <a:p xmlns:a="http://schemas.openxmlformats.org/drawingml/2006/main">
            <a:r>
              <a:t/>
            </a:r>
          </a:p>
          <a:p xmlns:a="http://schemas.openxmlformats.org/drawingml/2006/main">
            <a:r>
              <a:t>Acción / Evidencia / Decisión</a:t>
            </a:r>
          </a:p>
          <a:p xmlns:a="http://schemas.openxmlformats.org/drawingml/2006/main">
            <a:r>
              <a:t>Mover un eje por vez / Canal y sentido / Conservar o corregir mapa</a:t>
            </a:r>
          </a:p>
          <a:p xmlns:a="http://schemas.openxmlformats.org/drawingml/2006/main">
            <a:r>
              <a:t>Volver al centro / Valor y dispersión / Revisar referencia</a:t>
            </a:r>
          </a:p>
          <a:p xmlns:a="http://schemas.openxmlformats.org/drawingml/2006/main">
            <a:r>
              <a:t>Accionar interruptor / Rango y función / Modo previsto identificado</a:t>
            </a:r>
          </a:p>
          <a:p xmlns:a="http://schemas.openxmlformats.org/drawingml/2006/main">
            <a:r>
              <a:t>Estado de enlace preparado / Indicación de recepción / Contrastar con failsafe</a:t>
            </a:r>
          </a:p>
          <a:p xmlns:a="http://schemas.openxmlformats.org/drawingml/2006/main">
            <a:r>
              <a:t/>
            </a:r>
          </a:p>
          <a:p xmlns:a="http://schemas.openxmlformats.org/drawingml/2006/main">
            <a:r>
              <a:t>Angle, Horizon y Acro describen comportamientos distintos en Betaflight y dependen del soporte y configuración. En este curso se reconocen por lo que controla el piloto y por su dependencia de sensores. La demostración de vuelo utiliza el modo que Gerard haya validado para esa aeronave; una lista de modos en pantalla no equivale a dominio de pilotaje.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Receiver del manual Betaflight. Los valores son los de la captura documental, no una calibración del equipo MECRO. Fuente: Betaflight, documentación oficial. https://betaflight.com/docs/wiki/app/receiver-tab</a:t>
            </a:r>
          </a:p>
          <a:p xmlns:a="http://schemas.openxmlformats.org/drawingml/2006/main">
            <a:r>
              <a:t>Pestaña Receiver del manual Betaflight. Los valores son los de la captura documental, no una calibración del equipo MECRO. Fuente: Betaflight, documentación oficial. https://betaflight.com/docs/wiki/app/receiver-tab</a:t>
            </a:r>
          </a:p>
          <a:p xmlns:a="http://schemas.openxmlformats.org/drawingml/2006/main">
            <a:r>
              <a:t/>
            </a:r>
          </a:p>
          <a:p xmlns:a="http://schemas.openxmlformats.org/drawingml/2006/main">
            <a:r>
              <a:t>La tabla de puertos de la clase anterior explica por dónde llega el receptor. En la pestaña correspondiente se comprueba que cada control humano mueva el canal previsto y que los interruptores tengan una función documentada. Si el mando lateral altera otro canal, se investiga la asignación. No basta observar que varias barras se mueven.</a:t>
            </a:r>
          </a:p>
          <a:p xmlns:a="http://schemas.openxmlformats.org/drawingml/2006/main">
            <a:r>
              <a:t/>
            </a:r>
          </a:p>
          <a:p xmlns:a="http://schemas.openxmlformats.org/drawingml/2006/main">
            <a:r>
              <a:t>Acción / Evidencia / Decisión</a:t>
            </a:r>
          </a:p>
          <a:p xmlns:a="http://schemas.openxmlformats.org/drawingml/2006/main">
            <a:r>
              <a:t>Mover un eje por vez / Canal y sentido / Conservar o corregir mapa</a:t>
            </a:r>
          </a:p>
          <a:p xmlns:a="http://schemas.openxmlformats.org/drawingml/2006/main">
            <a:r>
              <a:t>Volver al centro / Valor y dispersión / Revisar referencia</a:t>
            </a:r>
          </a:p>
          <a:p xmlns:a="http://schemas.openxmlformats.org/drawingml/2006/main">
            <a:r>
              <a:t>Accionar interruptor / Rango y función / Modo previsto identificado</a:t>
            </a:r>
          </a:p>
          <a:p xmlns:a="http://schemas.openxmlformats.org/drawingml/2006/main">
            <a:r>
              <a:t>Estado de enlace preparado / Indicación de recepción / Contrastar con failsafe</a:t>
            </a:r>
          </a:p>
          <a:p xmlns:a="http://schemas.openxmlformats.org/drawingml/2006/main">
            <a:r>
              <a:t/>
            </a:r>
          </a:p>
          <a:p xmlns:a="http://schemas.openxmlformats.org/drawingml/2006/main">
            <a:r>
              <a:t>Angle, Horizon y Acro describen comportamientos distintos en Betaflight y dependen del soporte y configuración. En este curso se reconocen por lo que controla el piloto y por su dependencia de sensores. La demostración de vuelo utiliza el modo que Gerard haya validado para esa aeronave; una lista de modos en pantalla no equivale a dominio de pilotaje.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Acción / Evidencia / Decisión</a:t>
            </a:r>
          </a:p>
          <a:p xmlns:a="http://schemas.openxmlformats.org/drawingml/2006/main">
            <a:r>
              <a:t>Mover un eje por vez / Canal y sentido / Conservar o corregir mapa</a:t>
            </a:r>
          </a:p>
          <a:p xmlns:a="http://schemas.openxmlformats.org/drawingml/2006/main">
            <a:r>
              <a:t>Volver al centro / Valor y dispersión / Revisar referencia</a:t>
            </a:r>
          </a:p>
          <a:p xmlns:a="http://schemas.openxmlformats.org/drawingml/2006/main">
            <a:r>
              <a:t>Accionar interruptor / Rango y función / Modo previsto identificado</a:t>
            </a:r>
          </a:p>
          <a:p xmlns:a="http://schemas.openxmlformats.org/drawingml/2006/main">
            <a:r>
              <a:t>Estado de enlace preparado / Indicación de recepción / Contrastar con failsafe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Completa la ficha de equipo con versión, target y aplicación del caso mostrado.</a:t>
            </a:r>
          </a:p>
          <a:p xmlns:a="http://schemas.openxmlformats.org/drawingml/2006/main">
            <a:r>
              <a:t>Conserva una copia previa y explica para qué serviría.</a:t>
            </a:r>
          </a:p>
          <a:p xmlns:a="http://schemas.openxmlformats.org/drawingml/2006/main">
            <a:r>
              <a:t>Relaciona una línea del esquema con una asignación de puerto.</a:t>
            </a:r>
          </a:p>
          <a:p xmlns:a="http://schemas.openxmlformats.org/drawingml/2006/main">
            <a:r>
              <a:t>Describe la respuesta esperada del modelo 3D en tres movimientos lentos.</a:t>
            </a:r>
          </a:p>
          <a:p xmlns:a="http://schemas.openxmlformats.org/drawingml/2006/main">
            <a:r>
              <a:t>Relaciona tres controles de la radio con sus canales y funciones.</a:t>
            </a:r>
          </a:p>
          <a:p xmlns:a="http://schemas.openxmlformats.org/drawingml/2006/main">
            <a:r>
              <a:t>Localiza una discrepancia preparada: puerto, mapa de canales u orientación. Formula una comprobación por vez.</a:t>
            </a:r>
          </a:p>
          <a:p xmlns:a="http://schemas.openxmlformats.org/drawingml/2006/main">
            <a:r>
              <a:t>Entrega una configuración comentada: qué describe cada evidencia y qué no fue probado.</a:t>
            </a:r>
          </a:p>
          <a:p xmlns:a="http://schemas.openxmlformats.org/drawingml/2006/main">
            <a:r>
              <a:t/>
            </a:r>
          </a:p>
          <a:p xmlns:a="http://schemas.openxmlformats.org/drawingml/2006/main">
            <a:r>
              <a:t>La clase alterna demostración y lectura individual de capturas. El estudiante no necesita una FC propia para explicar el caso, pero declara si observó el equipo del docente o ejecutó una comprobación en su propio hardware. Las evidencias se guardan con nombre de versión. Así una captura posterior puede compararse con el estado anterior sin depender de la memoria del operador.</a:t>
            </a:r>
          </a:p>
          <a:p xmlns:a="http://schemas.openxmlformats.org/drawingml/2006/main">
            <a:r>
              <a:t/>
            </a:r>
          </a:p>
          <a:p xmlns:a="http://schemas.openxmlformats.org/drawingml/2006/main">
            <a:r>
              <a:t>Los alumnos con hardware propio solo realizan cambios después de identificar placa y configuración. Durante la demostración no se distribuye un archivo universal para todos los drones. Lo que se comparte es el método de observar, justificar un cambio pequeño y verificar su resultado.</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Completa la ficha de equipo con versión, target y aplicación del caso mostrado.</a:t>
            </a:r>
          </a:p>
          <a:p xmlns:a="http://schemas.openxmlformats.org/drawingml/2006/main">
            <a:r>
              <a:t>Conserva una copia previa y explica para qué serviría.</a:t>
            </a:r>
          </a:p>
          <a:p xmlns:a="http://schemas.openxmlformats.org/drawingml/2006/main">
            <a:r>
              <a:t>Relaciona una línea del esquema con una asignación de puerto.</a:t>
            </a:r>
          </a:p>
          <a:p xmlns:a="http://schemas.openxmlformats.org/drawingml/2006/main">
            <a:r>
              <a:t>Describe la respuesta esperada del modelo 3D en tres movimientos lentos.</a:t>
            </a:r>
          </a:p>
          <a:p xmlns:a="http://schemas.openxmlformats.org/drawingml/2006/main">
            <a:r>
              <a:t>Relaciona tres controles de la radio con sus canales y funciones.</a:t>
            </a:r>
          </a:p>
          <a:p xmlns:a="http://schemas.openxmlformats.org/drawingml/2006/main">
            <a:r>
              <a:t>Localiza una discrepancia preparada: puerto, mapa de canales u orientación. Formula una comprobación por vez.</a:t>
            </a:r>
          </a:p>
          <a:p xmlns:a="http://schemas.openxmlformats.org/drawingml/2006/main">
            <a:r>
              <a:t>Entrega una configuración comentada: qué describe cada evidencia y qué no fue probado.</a:t>
            </a:r>
          </a:p>
          <a:p xmlns:a="http://schemas.openxmlformats.org/drawingml/2006/main">
            <a:r>
              <a:t/>
            </a:r>
          </a:p>
          <a:p xmlns:a="http://schemas.openxmlformats.org/drawingml/2006/main">
            <a:r>
              <a:t>La clase alterna demostración y lectura individual de capturas. El estudiante no necesita una FC propia para explicar el caso, pero declara si observó el equipo del docente o ejecutó una comprobación en su propio hardware. Las evidencias se guardan con nombre de versión. Así una captura posterior puede compararse con el estado anterior sin depender de la memoria del operador.</a:t>
            </a:r>
          </a:p>
          <a:p xmlns:a="http://schemas.openxmlformats.org/drawingml/2006/main">
            <a:r>
              <a:t/>
            </a:r>
          </a:p>
          <a:p xmlns:a="http://schemas.openxmlformats.org/drawingml/2006/main">
            <a:r>
              <a:t>Los alumnos con hardware propio solo realizan cambios después de identificar placa y configuración. Durante la demostración no se distribuye un archivo universal para todos los drones. Lo que se comparte es el método de observar, justificar un cambio pequeño y verificar su resultado.</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Completa la ficha de equipo con versión, target y aplicación del caso mostrado.</a:t>
            </a:r>
          </a:p>
          <a:p xmlns:a="http://schemas.openxmlformats.org/drawingml/2006/main">
            <a:r>
              <a:t>Conserva una copia previa y explica para qué serviría.</a:t>
            </a:r>
          </a:p>
          <a:p xmlns:a="http://schemas.openxmlformats.org/drawingml/2006/main">
            <a:r>
              <a:t>Relaciona una línea del esquema con una asignación de puerto.</a:t>
            </a:r>
          </a:p>
          <a:p xmlns:a="http://schemas.openxmlformats.org/drawingml/2006/main">
            <a:r>
              <a:t>Describe la respuesta esperada del modelo 3D en tres movimientos lentos.</a:t>
            </a:r>
          </a:p>
          <a:p xmlns:a="http://schemas.openxmlformats.org/drawingml/2006/main">
            <a:r>
              <a:t>Relaciona tres controles de la radio con sus canales y funciones.</a:t>
            </a:r>
          </a:p>
          <a:p xmlns:a="http://schemas.openxmlformats.org/drawingml/2006/main">
            <a:r>
              <a:t>Localiza una discrepancia preparada: puerto, mapa de canales u orientación. Formula una comprobación por vez.</a:t>
            </a:r>
          </a:p>
          <a:p xmlns:a="http://schemas.openxmlformats.org/drawingml/2006/main">
            <a:r>
              <a:t>Entrega una configuración comentada: qué describe cada evidencia y qué no fue probado.</a:t>
            </a:r>
          </a:p>
          <a:p xmlns:a="http://schemas.openxmlformats.org/drawingml/2006/main">
            <a:r>
              <a:t>Verificar un paso antes de seguir.</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La FC conecta por USB pero un motor no se mueve. ¿Se demuestra un fallo del firmware?</a:t>
            </a:r>
          </a:p>
          <a:p xmlns:a="http://schemas.openxmlformats.org/drawingml/2006/main">
            <a:r>
              <a:t>No. USB puede alimentar la FC sin alimentar la etapa del motor. Se revisan por separado energía del ESC, conexión de señal y configuración; la prueba de motores se realizará en el banco preparado, sin hélices.</a:t>
            </a:r>
          </a:p>
          <a:p xmlns:a="http://schemas.openxmlformats.org/drawingml/2006/main">
            <a:r>
              <a:t/>
            </a:r>
          </a:p>
          <a:p xmlns:a="http://schemas.openxmlformats.org/drawingml/2006/main">
            <a:r>
              <a:t>La sesión siguiente completa la puesta en marcha con salidas, sentidos, comprobaciones de enlace y un modelo sencillo de control. La prioridad sigue siendo ensamblar con criterio. No se dedica el tiempo principal a ajustar ganancias avanzadas antes de demostrar que la orientación, los canales y las salidas coinciden con el objeto.</a:t>
            </a:r>
          </a:p>
          <a:p xmlns:a="http://schemas.openxmlformats.org/drawingml/2006/main">
            <a:r>
              <a:t/>
            </a:r>
          </a:p>
          <a:p xmlns:a="http://schemas.openxmlformats.org/drawingml/2006/main">
            <a:r>
              <a:t>Tema / Qué debe encontrar el alumno</a:t>
            </a:r>
          </a:p>
          <a:p xmlns:a="http://schemas.openxmlformats.org/drawingml/2006/main">
            <a:r>
              <a:t>Aplicación compatible / Referencia oficial para la versión del caso</a:t>
            </a:r>
          </a:p>
          <a:p xmlns:a="http://schemas.openxmlformats.org/drawingml/2006/main">
            <a:r>
              <a:t>Target / Identificador de la placa exacta</a:t>
            </a:r>
          </a:p>
          <a:p xmlns:a="http://schemas.openxmlformats.org/drawingml/2006/main">
            <a:r>
              <a:t>Una función de un puerto / Relación con el cableado</a:t>
            </a:r>
          </a:p>
          <a:p xmlns:a="http://schemas.openxmlformats.org/drawingml/2006/main">
            <a:r>
              <a:t>Un mensaje de estado / Condición que expresa</a:t>
            </a:r>
          </a:p>
          <a:p xmlns:a="http://schemas.openxmlformats.org/drawingml/2006/main">
            <a:r>
              <a:t/>
            </a:r>
          </a:p>
          <a:p xmlns:a="http://schemas.openxmlformats.org/drawingml/2006/main">
            <a:r>
              <a:t>Las capturas del manual son referencias de lectura. Antes de impartir la clase, Gerard prepara su propia captura del banco y completa la ficha de versiones. El material permite hacerlo sin cambiar la secuencia docente ni prometer una compatibilidad aún no comprobada.</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4 minutos en esta diapositiva.</a:t>
            </a:r>
          </a:p>
          <a:p xmlns:a="http://schemas.openxmlformats.org/drawingml/2006/main">
            <a:r>
              <a:t/>
            </a:r>
          </a:p>
          <a:p xmlns:a="http://schemas.openxmlformats.org/drawingml/2006/main">
            <a:r>
              <a:t>Tema / Qué debe encontrar el alumno</a:t>
            </a:r>
          </a:p>
          <a:p xmlns:a="http://schemas.openxmlformats.org/drawingml/2006/main">
            <a:r>
              <a:t>Aplicación compatible / Referencia oficial para la versión del caso</a:t>
            </a:r>
          </a:p>
          <a:p xmlns:a="http://schemas.openxmlformats.org/drawingml/2006/main">
            <a:r>
              <a:t>Target / Identificador de la placa exacta</a:t>
            </a:r>
          </a:p>
          <a:p xmlns:a="http://schemas.openxmlformats.org/drawingml/2006/main">
            <a:r>
              <a:t>Una función de un puerto / Relación con el cableado</a:t>
            </a:r>
          </a:p>
          <a:p xmlns:a="http://schemas.openxmlformats.org/drawingml/2006/main">
            <a:r>
              <a:t>Un mensaje de estado / Condición que expresa</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La FC conecta por USB pero un motor no se mueve. ¿Se demuestra un fallo del firmware?</a:t>
            </a:r>
          </a:p>
          <a:p xmlns:a="http://schemas.openxmlformats.org/drawingml/2006/main">
            <a:r>
              <a:t>No. USB puede alimentar la FC sin alimentar la etapa del motor. Se revisan por separado energía del ESC, conexión de señal y configuración; la prueba de motores se realizará en el banco preparado, sin hélices.</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12 minutos en esta diapositiva.</a:t>
            </a:r>
          </a:p>
          <a:p xmlns:a="http://schemas.openxmlformats.org/drawingml/2006/main">
            <a:r>
              <a:t/>
            </a:r>
          </a:p>
          <a:p xmlns:a="http://schemas.openxmlformats.org/drawingml/2006/main">
            <a:r>
              <a:t>Distinguir la aplicación de lo que se ejecuta en la FC.</a:t>
            </a:r>
          </a:p>
          <a:p xmlns:a="http://schemas.openxmlformats.org/drawingml/2006/main">
            <a:r>
              <a:t>Mostrar conexión e identificación antes de cualquier modificación.</a:t>
            </a:r>
          </a:p>
          <a:p xmlns:a="http://schemas.openxmlformats.org/drawingml/2006/main">
            <a:r>
              <a:t>Relacionar ejes, canales y puertos con tres pruebas independientes.</a:t>
            </a:r>
          </a:p>
          <a:p xmlns:a="http://schemas.openxmlformats.org/drawingml/2006/main">
            <a:r>
              <a:t>Resolver una discrepancia preparada y conservar el estado anterior.</a:t>
            </a:r>
          </a:p>
          <a:p xmlns:a="http://schemas.openxmlformats.org/drawingml/2006/main">
            <a:r>
              <a:t>Contrastar componentes, esquema y comprobaciones.</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configuración se enseña como una descripción comprobable del ensamblaje y se conserva antes de modificarla.</a:t>
            </a:r>
          </a:p>
          <a:p xmlns:a="http://schemas.openxmlformats.org/drawingml/2006/main">
            <a:r>
              <a:t>Ficha de versiones, respaldo identificado y configuración comentada con tres comprobaciones.</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Betaflight: conectar, respaldar y relacionar pantalla con hardware.</a:t>
            </a:r>
          </a:p>
          <a:p xmlns:a="http://schemas.openxmlformats.org/drawingml/2006/main">
            <a:r>
              <a:t>En línea, 2 horas. Núcleo de explicación: 5 minutos en esta diapositiva.</a:t>
            </a:r>
          </a:p>
          <a:p xmlns:a="http://schemas.openxmlformats.org/drawingml/2006/main">
            <a:r>
              <a:t/>
            </a:r>
          </a:p>
          <a:p xmlns:a="http://schemas.openxmlformats.org/drawingml/2006/main">
            <a:r>
              <a:t>Ficha de versiones, respaldo identificado y configuración comentada con tres comprobaciones.</a:t>
            </a:r>
          </a:p>
          <a:p xmlns:a="http://schemas.openxmlformats.org/drawingml/2006/main">
            <a:r>
              <a:t/>
            </a:r>
          </a:p>
          <a:p xmlns:a="http://schemas.openxmlformats.org/drawingml/2006/main">
            <a:r>
              <a:t>Objetivo: Interpretar una configuración Betaflight a partir de la placa, el receptor y las conexiones del banco.</a:t>
            </a:r>
          </a:p>
          <a:p xmlns:a="http://schemas.openxmlformats.org/drawingml/2006/main">
            <a:r>
              <a:t>Aplicación: La configuración se enseña como una descripción comprobable del ensamblaje y se conserva antes de modificarla.</a:t>
            </a:r>
          </a:p>
          <a:p xmlns:a="http://schemas.openxmlformats.org/drawingml/2006/main">
            <a:r>
              <a:t>Entrega: Ficha de versiones, respaldo identificado y configuración comentada con tres comprobaciones.</a:t>
            </a:r>
          </a:p>
          <a:p xmlns:a="http://schemas.openxmlformats.org/drawingml/2006/main">
            <a:r>
              <a:t/>
            </a:r>
          </a:p>
          <a:p xmlns:a="http://schemas.openxmlformats.org/drawingml/2006/main">
            <a:r>
              <a:t>Preguntas y respuestas</a:t>
            </a:r>
          </a:p>
          <a:p xmlns:a="http://schemas.openxmlformats.org/drawingml/2006/main">
            <a:r>
              <a:t>¿Conectar obliga a reinstalar firmware?</a:t>
            </a:r>
          </a:p>
          <a:p xmlns:a="http://schemas.openxmlformats.org/drawingml/2006/main">
            <a:r>
              <a:t>No. Primero se identifica y se inspecciona la configuración existente.</a:t>
            </a:r>
          </a:p>
          <a:p xmlns:a="http://schemas.openxmlformats.org/drawingml/2006/main">
            <a:r>
              <a:t/>
            </a:r>
          </a:p>
          <a:p xmlns:a="http://schemas.openxmlformats.org/drawingml/2006/main">
            <a:r>
              <a:t>¿El modelo 3D demuestra que el dron está listo para vuelo?</a:t>
            </a:r>
          </a:p>
          <a:p xmlns:a="http://schemas.openxmlformats.org/drawingml/2006/main">
            <a:r>
              <a:t>No. Solo apoya una comprobación de orientación y sensores bajo las condiciones observadas.</a:t>
            </a:r>
          </a:p>
          <a:p xmlns:a="http://schemas.openxmlformats.org/drawingml/2006/main">
            <a:r>
              <a:t/>
            </a:r>
          </a:p>
          <a:p xmlns:a="http://schemas.openxmlformats.org/drawingml/2006/main">
            <a:r>
              <a:t>¿Un respaldo se copia a cualquier FC?</a:t>
            </a:r>
          </a:p>
          <a:p xmlns:a="http://schemas.openxmlformats.org/drawingml/2006/main">
            <a:r>
              <a:t>No. Debe corresponder a placa, target, versión y hardware revisados.</a:t>
            </a:r>
          </a:p>
          <a:p xmlns:a="http://schemas.openxmlformats.org/drawingml/2006/main">
            <a:r>
              <a:t/>
            </a:r>
          </a:p>
          <a:p xmlns:a="http://schemas.openxmlformats.org/drawingml/2006/main">
            <a:r>
              <a:t>Fuentes</a:t>
            </a:r>
          </a:p>
          <a:p xmlns:a="http://schemas.openxmlformats.org/drawingml/2006/main">
            <a:r>
              <a:t>Betaflight. Betaflight App: acceso y compatibilidad. https://betaflight.com/docs/wiki/app</a:t>
            </a:r>
          </a:p>
          <a:p xmlns:a="http://schemas.openxmlformats.org/drawingml/2006/main">
            <a:r>
              <a:t>Betaflight. Firmware Installation. https://betaflight.com/docs/wiki/getting-started/firmware-installation</a:t>
            </a:r>
          </a:p>
          <a:p xmlns:a="http://schemas.openxmlformats.org/drawingml/2006/main">
            <a:r>
              <a:t>Betaflight. Setup Tab. https://betaflight.com/docs/wiki/app/setup-tab</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Betaflight. Command Line Interface. https://betaflight.com/docs/wiki/guides/current/Cli</a:t>
            </a:r>
          </a:p>
          <a:p xmlns:a="http://schemas.openxmlformats.org/drawingml/2006/main">
            <a:r>
              <a:t>Lectura MECRO_Drones_Clase_05.pdf.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3 minutos en esta diapositiva.</a:t>
            </a:r>
          </a:p>
          <a:p xmlns:a="http://schemas.openxmlformats.org/drawingml/2006/main">
            <a:r>
              <a:t/>
            </a:r>
          </a:p>
          <a:p xmlns:a="http://schemas.openxmlformats.org/drawingml/2006/main">
            <a:r>
              <a:t>Distinguir motor activado, giro y hélice antes de la prueba.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Qué motor se activa, en qué sentido gira y qué hélice le corresponde son tres preguntas distintas. Corregir una no demuestra las otras. La geometría de un quad y su sistema de control usan una asignación de salidas; el número de motor se interpreta según firmware y configuración. Por eso se conserva el esquema que pertenece al equipo mostrado y se marca su frente antes de comparar.</a:t>
            </a:r>
          </a:p>
          <a:p xmlns:a="http://schemas.openxmlformats.org/drawingml/2006/main">
            <a:r>
              <a:t/>
            </a:r>
          </a:p>
          <a:p xmlns:a="http://schemas.openxmlformats.org/drawingml/2006/main">
            <a:r>
              <a:t>Referencia Betaflight de sentidos de giro. Se interpreta junto con el mezclador y la configuración reales; no sustituye la identificación de cada salida. Fuente: Betaflight, documentación oficial. https://betaflight.com/docs/wiki/getting-started/setup-guide</a:t>
            </a:r>
          </a:p>
          <a:p xmlns:a="http://schemas.openxmlformats.org/drawingml/2006/main">
            <a:r>
              <a:t/>
            </a:r>
          </a:p>
          <a:p xmlns:a="http://schemas.openxmlformats.org/drawingml/2006/main">
            <a:r>
              <a:t>Pregunta / Evidencia / Condición de banco</a:t>
            </a:r>
          </a:p>
          <a:p xmlns:a="http://schemas.openxmlformats.org/drawingml/2006/main">
            <a:r>
              <a:t>¿Cuál se activa? / Salida y posición observadas / Prueba del docente sin hélices</a:t>
            </a:r>
          </a:p>
          <a:p xmlns:a="http://schemas.openxmlformats.org/drawingml/2006/main">
            <a:r>
              <a:t>¿En qué sentido gira? / Sentido de ese motor / Comprobación individual</a:t>
            </a:r>
          </a:p>
          <a:p xmlns:a="http://schemas.openxmlformats.org/drawingml/2006/main">
            <a:r>
              <a:t>¿Qué hélice corresponde? / Forma, orientación y sentido / Revisión con energía desconectada</a:t>
            </a:r>
          </a:p>
          <a:p xmlns:a="http://schemas.openxmlformats.org/drawingml/2006/main">
            <a:r>
              <a:t/>
            </a:r>
          </a:p>
          <a:p xmlns:a="http://schemas.openxmlformats.org/drawingml/2006/main">
            <a:r>
              <a:t>Cambiar una opción de dirección en la pantalla no demuestra por sí solo que el ESC haya cambiado el giro físico. El resultado se observa y se registra. La hélice no se instala para investigar con la mano si una salida empuja. La sesión 7 completa el montaje; las pruebas energizadas usan el procedimiento docente y el área de banco controlada.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Betaflight de sentidos de giro. Se interpreta junto con el mezclador y la configuración reales; no sustituye la identificación de cada salida. Fuente: Betaflight, documentación oficial. https://betaflight.com/docs/wiki/getting-started/setup-guide</a:t>
            </a:r>
          </a:p>
          <a:p xmlns:a="http://schemas.openxmlformats.org/drawingml/2006/main">
            <a:r>
              <a:t>Qué motor se activa, en qué sentido gira y qué hélice le corresponde son tres preguntas distintas. Corregir una no demuestra las otras. La geometría de un quad y su sistema de control usan una asignación de salidas; el número de motor se interpreta según firmware y configuración. Por eso se conserva el esquema que pertenece al equipo mostrado y se marca su frente antes de comparar.</a:t>
            </a:r>
          </a:p>
          <a:p xmlns:a="http://schemas.openxmlformats.org/drawingml/2006/main">
            <a:r>
              <a:t/>
            </a:r>
          </a:p>
          <a:p xmlns:a="http://schemas.openxmlformats.org/drawingml/2006/main">
            <a:r>
              <a:t>Referencia Betaflight de sentidos de giro. Se interpreta junto con el mezclador y la configuración reales; no sustituye la identificación de cada salida. Fuente: Betaflight, documentación oficial. https://betaflight.com/docs/wiki/getting-started/setup-guide</a:t>
            </a:r>
          </a:p>
          <a:p xmlns:a="http://schemas.openxmlformats.org/drawingml/2006/main">
            <a:r>
              <a:t/>
            </a:r>
          </a:p>
          <a:p xmlns:a="http://schemas.openxmlformats.org/drawingml/2006/main">
            <a:r>
              <a:t>Pregunta / Evidencia / Condición de banco</a:t>
            </a:r>
          </a:p>
          <a:p xmlns:a="http://schemas.openxmlformats.org/drawingml/2006/main">
            <a:r>
              <a:t>¿Cuál se activa? / Salida y posición observadas / Prueba del docente sin hélices</a:t>
            </a:r>
          </a:p>
          <a:p xmlns:a="http://schemas.openxmlformats.org/drawingml/2006/main">
            <a:r>
              <a:t>¿En qué sentido gira? / Sentido de ese motor / Comprobación individual</a:t>
            </a:r>
          </a:p>
          <a:p xmlns:a="http://schemas.openxmlformats.org/drawingml/2006/main">
            <a:r>
              <a:t>¿Qué hélice corresponde? / Forma, orientación y sentido / Revisión con energía desconectada</a:t>
            </a:r>
          </a:p>
          <a:p xmlns:a="http://schemas.openxmlformats.org/drawingml/2006/main">
            <a:r>
              <a:t/>
            </a:r>
          </a:p>
          <a:p xmlns:a="http://schemas.openxmlformats.org/drawingml/2006/main">
            <a:r>
              <a:t>Cambiar una opción de dirección en la pantalla no demuestra por sí solo que el ESC haya cambiado el giro físico. El resultado se observa y se registra. La hélice no se instala para investigar con la mano si una salida empuja. La sesión 7 completa el montaje; las pruebas energizadas usan el procedimiento docente y el área de banco controlada.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Pregunta / Evidencia / Condición de banco</a:t>
            </a:r>
          </a:p>
          <a:p xmlns:a="http://schemas.openxmlformats.org/drawingml/2006/main">
            <a:r>
              <a:t>¿Cuál se activa? / Salida y posición observadas / Prueba del docente sin hélices</a:t>
            </a:r>
          </a:p>
          <a:p xmlns:a="http://schemas.openxmlformats.org/drawingml/2006/main">
            <a:r>
              <a:t>¿En qué sentido gira? / Sentido de ese motor / Comprobación individual</a:t>
            </a:r>
          </a:p>
          <a:p xmlns:a="http://schemas.openxmlformats.org/drawingml/2006/main">
            <a:r>
              <a:t>¿Qué hélice corresponde? / Forma, orientación y sentido / Revisión con energía desconectada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Motors de Betaflight. Captura oficial de referencia; las pruebas físicas requieren el equipo identificado y las hélices retiradas. Fuente: Betaflight, documentación oficial. https://betaflight.com/docs/wiki/app/motors-tab</a:t>
            </a:r>
          </a:p>
          <a:p xmlns:a="http://schemas.openxmlformats.org/drawingml/2006/main">
            <a:r>
              <a:t/>
            </a:r>
          </a:p>
          <a:p xmlns:a="http://schemas.openxmlformats.org/drawingml/2006/main">
            <a:r>
              <a:t>El ESC interpreta órdenes del controlador y gobierna la conmutación del motor. PWM analógico y DShot no se configuran como si fueran el mismo protocolo. Los endpoints de un sistema analógico pueden necesitar el procedimiento correspondiente; no se aplica automáticamente una calibración de gas analógica a DShot. La disponibilidad de telemetría también depende del firmware y hardware del ESC.</a:t>
            </a:r>
          </a:p>
          <a:p xmlns:a="http://schemas.openxmlformats.org/drawingml/2006/main">
            <a:r>
              <a:t/>
            </a:r>
          </a:p>
          <a:p xmlns:a="http://schemas.openxmlformats.org/drawingml/2006/main">
            <a:r>
              <a:t>Primero se confirma compatibilidad de protocolo y conexión. Después se comprueba cada salida con el método del fabricante y del firmware. El curso no prescribe un porcentaje universal de prueba ni una frecuencia única para todos los equipos. La evidencia es una tabla de posición, salida y sentido, obtenida en el banco que prepara Gerard.</a:t>
            </a:r>
          </a:p>
          <a:p xmlns:a="http://schemas.openxmlformats.org/drawingml/2006/main">
            <a:r>
              <a:t/>
            </a:r>
          </a:p>
          <a:p xmlns:a="http://schemas.openxmlformats.org/drawingml/2006/main">
            <a:r>
              <a:t>Se cambió “dirección invertida” en el mezclador. ¿Podemos afirmar que todos los motores físicos invirtieron su giro?</a:t>
            </a:r>
          </a:p>
          <a:p xmlns:a="http://schemas.openxmlformats.org/drawingml/2006/main">
            <a:r>
              <a:t>No. La opción y el giro observado pertenecen a comprobaciones relacionadas, pero distintas. Debe verificarse cada motor y conservar la correspondencia con el esquema.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Motors de Betaflight. Captura oficial de referencia; las pruebas físicas requieren el equipo identificado y las hélices retiradas. Fuente: Betaflight, documentación oficial. https://betaflight.com/docs/wiki/app/motors-tab</a:t>
            </a:r>
          </a:p>
          <a:p xmlns:a="http://schemas.openxmlformats.org/drawingml/2006/main">
            <a:r>
              <a:t>Pestaña Motors de Betaflight. Captura oficial de referencia; las pruebas físicas requieren el equipo identificado y las hélices retiradas. Fuente: Betaflight, documentación oficial. https://betaflight.com/docs/wiki/app/motors-tab</a:t>
            </a:r>
          </a:p>
          <a:p xmlns:a="http://schemas.openxmlformats.org/drawingml/2006/main">
            <a:r>
              <a:t/>
            </a:r>
          </a:p>
          <a:p xmlns:a="http://schemas.openxmlformats.org/drawingml/2006/main">
            <a:r>
              <a:t>El ESC interpreta órdenes del controlador y gobierna la conmutación del motor. PWM analógico y DShot no se configuran como si fueran el mismo protocolo. Los endpoints de un sistema analógico pueden necesitar el procedimiento correspondiente; no se aplica automáticamente una calibración de gas analógica a DShot. La disponibilidad de telemetría también depende del firmware y hardware del ESC.</a:t>
            </a:r>
          </a:p>
          <a:p xmlns:a="http://schemas.openxmlformats.org/drawingml/2006/main">
            <a:r>
              <a:t/>
            </a:r>
          </a:p>
          <a:p xmlns:a="http://schemas.openxmlformats.org/drawingml/2006/main">
            <a:r>
              <a:t>Primero se confirma compatibilidad de protocolo y conexión. Después se comprueba cada salida con el método del fabricante y del firmware. El curso no prescribe un porcentaje universal de prueba ni una frecuencia única para todos los equipos. La evidencia es una tabla de posición, salida y sentido, obtenida en el banco que prepara Gerard.</a:t>
            </a:r>
          </a:p>
          <a:p xmlns:a="http://schemas.openxmlformats.org/drawingml/2006/main">
            <a:r>
              <a:t/>
            </a:r>
          </a:p>
          <a:p xmlns:a="http://schemas.openxmlformats.org/drawingml/2006/main">
            <a:r>
              <a:t>Se cambió “dirección invertida” en el mezclador. ¿Podemos afirmar que todos los motores físicos invirtieron su giro?</a:t>
            </a:r>
          </a:p>
          <a:p xmlns:a="http://schemas.openxmlformats.org/drawingml/2006/main">
            <a:r>
              <a:t>No. La opción y el giro observado pertenecen a comprobaciones relacionadas, pero distintas. Debe verificarse cada motor y conservar la correspondencia con el esquema.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Se cambió “dirección invertida” en el mezclador. ¿Podemos afirmar que todos los motores físicos invirtieron su giro?</a:t>
            </a:r>
          </a:p>
          <a:p xmlns:a="http://schemas.openxmlformats.org/drawingml/2006/main">
            <a:r>
              <a:t>No. La opción y el giro observado pertenecen a comprobaciones relacionadas, pero distintas. Debe verificarse cada motor y conservar la correspondencia con el esquema.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Un sistema de control compara una referencia con una medición o estimación y genera una acción. En un quad, la IMU aporta información de movimiento; el firmware organiza la estabilización y distribuye las órdenes entre motores. Este curso enseña a reconocer esa cadena y a identificar errores de montaje que la contradicen. No pretende diseñar un autopiloto desde cero dentro de ocho sesiones.</a:t>
            </a:r>
          </a:p>
          <a:p xmlns:a="http://schemas.openxmlformats.org/drawingml/2006/main">
            <a:r>
              <a:t/>
            </a:r>
          </a:p>
          <a:p xmlns:a="http://schemas.openxmlformats.org/drawingml/2006/main">
            <a:r>
              <a:t>Ejemplo proporcional de aula. Las unidades y el signo deben declararse. No es la ecuación completa del controlador implementado en Betaflight o ArduPilot.</a:t>
            </a:r>
          </a:p>
          <a:p xmlns:a="http://schemas.openxmlformats.org/drawingml/2006/main">
            <a:r>
              <a:t/>
            </a:r>
          </a:p>
          <a:p xmlns:a="http://schemas.openxmlformats.org/drawingml/2006/main">
            <a:r>
              <a:t>Para referencia 5° y estimación 3°, con Kp = 2 unidades/°, ¿cuál es la acción proporcional del ejemplo?</a:t>
            </a:r>
          </a:p>
          <a:p xmlns:a="http://schemas.openxmlformats.org/drawingml/2006/main">
            <a:r>
              <a:t>El error es 2° y la acción es 4 unidades. El signo físico depende de la convención y de cómo se asignen las salidas. No se traducen esas unidades directamente a un porcentaje de motor.</a:t>
            </a:r>
          </a:p>
          <a:p xmlns:a="http://schemas.openxmlformats.org/drawingml/2006/main">
            <a:r>
              <a:t/>
            </a:r>
          </a:p>
          <a:p xmlns:a="http://schemas.openxmlformats.org/drawingml/2006/main">
            <a:r>
              <a:t>Término / Idea introductoria / Qué revisar</a:t>
            </a:r>
          </a:p>
          <a:p xmlns:a="http://schemas.openxmlformats.org/drawingml/2006/main">
            <a:r>
              <a:t>P / Respuesta al error presente / Signo y ganancia</a:t>
            </a:r>
          </a:p>
          <a:p xmlns:a="http://schemas.openxmlformats.org/drawingml/2006/main">
            <a:r>
              <a:t>I / Acumulación del error en el tiempo / Saturación y condición de uso</a:t>
            </a:r>
          </a:p>
          <a:p xmlns:a="http://schemas.openxmlformats.org/drawingml/2006/main">
            <a:r>
              <a:t>D / Respuesta al cambio de una variable / Ruido y filtrado</a:t>
            </a:r>
          </a:p>
          <a:p xmlns:a="http://schemas.openxmlformats.org/drawingml/2006/main">
            <a:r>
              <a:t/>
            </a:r>
          </a:p>
          <a:p xmlns:a="http://schemas.openxmlformats.org/drawingml/2006/main">
            <a:r>
              <a:t>Una vibración no se diagnostica cambiando ganancias al azar. Primero se revisan hélices, uniones, montaje, ejes, configuración y registro. PID y filtros requieren un bloque posterior de ajuste con el equipo identificado; aquí se conservan como conceptos que ayudan a comprender la puesta en marcha.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Término / Idea introductoria / Qué revisar</a:t>
            </a:r>
          </a:p>
          <a:p xmlns:a="http://schemas.openxmlformats.org/drawingml/2006/main">
            <a:r>
              <a:t>P / Respuesta al error presente / Signo y ganancia</a:t>
            </a:r>
          </a:p>
          <a:p xmlns:a="http://schemas.openxmlformats.org/drawingml/2006/main">
            <a:r>
              <a:t>I / Acumulación del error en el tiempo / Saturación y condición de uso</a:t>
            </a:r>
          </a:p>
          <a:p xmlns:a="http://schemas.openxmlformats.org/drawingml/2006/main">
            <a:r>
              <a:t>D / Respuesta al cambio de una variable / Ruido y filtrado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Un sistema de control compara una referencia con una medición o estimación y genera una acción. En un quad, la IMU aporta información de movimiento; el firmware organiza la estabilización y distribuye las órdenes entre motores. Este curso enseña a reconocer esa cadena y a identificar errores de montaje que la contradicen. No pretende diseñar un autopiloto desde cero dentro de ocho sesiones.</a:t>
            </a:r>
          </a:p>
          <a:p xmlns:a="http://schemas.openxmlformats.org/drawingml/2006/main">
            <a:r>
              <a:t/>
            </a:r>
          </a:p>
          <a:p xmlns:a="http://schemas.openxmlformats.org/drawingml/2006/main">
            <a:r>
              <a:t>Ejemplo proporcional de aula. Las unidades y el signo deben declararse. No es la ecuación completa del controlador implementado en Betaflight o ArduPilot.</a:t>
            </a:r>
          </a:p>
          <a:p xmlns:a="http://schemas.openxmlformats.org/drawingml/2006/main">
            <a:r>
              <a:t/>
            </a:r>
          </a:p>
          <a:p xmlns:a="http://schemas.openxmlformats.org/drawingml/2006/main">
            <a:r>
              <a:t>Para referencia 5° y estimación 3°, con Kp = 2 unidades/°, ¿cuál es la acción proporcional del ejemplo?</a:t>
            </a:r>
          </a:p>
          <a:p xmlns:a="http://schemas.openxmlformats.org/drawingml/2006/main">
            <a:r>
              <a:t>El error es 2° y la acción es 4 unidades. El signo físico depende de la convención y de cómo se asignen las salidas. No se traducen esas unidades directamente a un porcentaje de motor.</a:t>
            </a:r>
          </a:p>
          <a:p xmlns:a="http://schemas.openxmlformats.org/drawingml/2006/main">
            <a:r>
              <a:t/>
            </a:r>
          </a:p>
          <a:p xmlns:a="http://schemas.openxmlformats.org/drawingml/2006/main">
            <a:r>
              <a:t>Término / Idea introductoria / Qué revisar</a:t>
            </a:r>
          </a:p>
          <a:p xmlns:a="http://schemas.openxmlformats.org/drawingml/2006/main">
            <a:r>
              <a:t>P / Respuesta al error presente / Signo y ganancia</a:t>
            </a:r>
          </a:p>
          <a:p xmlns:a="http://schemas.openxmlformats.org/drawingml/2006/main">
            <a:r>
              <a:t>I / Acumulación del error en el tiempo / Saturación y condición de uso</a:t>
            </a:r>
          </a:p>
          <a:p xmlns:a="http://schemas.openxmlformats.org/drawingml/2006/main">
            <a:r>
              <a:t>D / Respuesta al cambio de una variable / Ruido y filtrado</a:t>
            </a:r>
          </a:p>
          <a:p xmlns:a="http://schemas.openxmlformats.org/drawingml/2006/main">
            <a:r>
              <a:t/>
            </a:r>
          </a:p>
          <a:p xmlns:a="http://schemas.openxmlformats.org/drawingml/2006/main">
            <a:r>
              <a:t>Una vibración no se diagnostica cambiando ganancias al azar. Primero se revisan hélices, uniones, montaje, ejes, configuración y registro. PID y filtros requieren un bloque posterior de ajuste con el equipo identificado; aquí se conservan como conceptos que ayudan a comprender la puesta en marcha.</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Esquema QUAD X de ArduPilot. Frente, números y letras de prueba se leen en esta referencia, sin copiar la numeración de Betaflight. Fuente: ArduPilot, documentación CC BY-SA 3.0. https://ardupilot.org/copter/docs/connect-escs-and-motors.html</a:t>
            </a:r>
          </a:p>
          <a:p xmlns:a="http://schemas.openxmlformats.org/drawingml/2006/main">
            <a:r>
              <a:t/>
            </a:r>
          </a:p>
          <a:p xmlns:a="http://schemas.openxmlformats.org/drawingml/2006/main">
            <a:r>
              <a:t>Pixhawk describe una familia de hardware; ArduCopter es el firmware para multirrotores de ArduPilot; Mission Planner es la estación de tierra utilizada para configuración y observación. El equipo grande del curso muestra cómo se añaden módulo de potencia, GPS, brújula y telemetría según sus componentes. No todas las placas o versiones tienen las mismas conexiones ni funciones.</a:t>
            </a:r>
          </a:p>
          <a:p xmlns:a="http://schemas.openxmlformats.org/drawingml/2006/main">
            <a:r>
              <a:t/>
            </a:r>
          </a:p>
          <a:p xmlns:a="http://schemas.openxmlformats.org/drawingml/2006/main">
            <a:r>
              <a:t>Se presenta el esquema de ArduPilot y se contrasta con el equipo pequeño. El principio es común: sensor orientado, mando interpretado y salidas correspondientes. La numeración y los parámetros cambian. Se consultan también selección de bastidor, calibraciones y estado previo al armado del equipo real; los mensajes de condición se investigan en lugar de ocultarlos para que la demostración continúe.</a:t>
            </a:r>
          </a:p>
          <a:p xmlns:a="http://schemas.openxmlformats.org/drawingml/2006/main">
            <a:r>
              <a:t/>
            </a:r>
          </a:p>
          <a:p xmlns:a="http://schemas.openxmlformats.org/drawingml/2006/main">
            <a:r>
              <a:t>GPS Rescue de Betaflight y los modos RTL/Auto de ArduPilot tienen alcances y requisitos diferentes. Tener un módulo GPS no convierte ambas plataformas en la misma herramienta de navegación.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Esquema QUAD X de ArduPilot. Frente, números y letras de prueba se leen en esta referencia, sin copiar la numeración de Betaflight. Fuente: ArduPilot, documentación CC BY-SA 3.0. https://ardupilot.org/copter/docs/connect-escs-and-motors.html</a:t>
            </a:r>
          </a:p>
          <a:p xmlns:a="http://schemas.openxmlformats.org/drawingml/2006/main">
            <a:r>
              <a:t>Esquema QUAD X de ArduPilot. Frente, números y letras de prueba se leen en esta referencia, sin copiar la numeración de Betaflight. Fuente: ArduPilot, documentación CC BY-SA 3.0. https://ardupilot.org/copter/docs/connect-escs-and-motors.html</a:t>
            </a:r>
          </a:p>
          <a:p xmlns:a="http://schemas.openxmlformats.org/drawingml/2006/main">
            <a:r>
              <a:t/>
            </a:r>
          </a:p>
          <a:p xmlns:a="http://schemas.openxmlformats.org/drawingml/2006/main">
            <a:r>
              <a:t>Pixhawk describe una familia de hardware; ArduCopter es el firmware para multirrotores de ArduPilot; Mission Planner es la estación de tierra utilizada para configuración y observación. El equipo grande del curso muestra cómo se añaden módulo de potencia, GPS, brújula y telemetría según sus componentes. No todas las placas o versiones tienen las mismas conexiones ni funciones.</a:t>
            </a:r>
          </a:p>
          <a:p xmlns:a="http://schemas.openxmlformats.org/drawingml/2006/main">
            <a:r>
              <a:t/>
            </a:r>
          </a:p>
          <a:p xmlns:a="http://schemas.openxmlformats.org/drawingml/2006/main">
            <a:r>
              <a:t>Se presenta el esquema de ArduPilot y se contrasta con el equipo pequeño. El principio es común: sensor orientado, mando interpretado y salidas correspondientes. La numeración y los parámetros cambian. Se consultan también selección de bastidor, calibraciones y estado previo al armado del equipo real; los mensajes de condición se investigan en lugar de ocultarlos para que la demostración continúe.</a:t>
            </a:r>
          </a:p>
          <a:p xmlns:a="http://schemas.openxmlformats.org/drawingml/2006/main">
            <a:r>
              <a:t/>
            </a:r>
          </a:p>
          <a:p xmlns:a="http://schemas.openxmlformats.org/drawingml/2006/main">
            <a:r>
              <a:t>GPS Rescue de Betaflight y los modos RTL/Auto de ArduPilot tienen alcances y requisitos diferentes. Tener un módulo GPS no convierte ambas plataformas en la misma herramienta de navegación.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Esquema QUAD X de ArduPilot. Frente, números y letras de prueba se leen en esta referencia, sin copiar la numeración de Betaflight. Fuente: ArduPilot, documentación CC BY-SA 3.0. https://ardupilot.org/copter/docs/connect-escs-and-motors.html</a:t>
            </a:r>
          </a:p>
          <a:p xmlns:a="http://schemas.openxmlformats.org/drawingml/2006/main">
            <a:r>
              <a:t/>
            </a:r>
          </a:p>
          <a:p xmlns:a="http://schemas.openxmlformats.org/drawingml/2006/main">
            <a:r>
              <a:t>Pixhawk describe una familia de hardware; ArduCopter es el firmware para multirrotores de ArduPilot; Mission Planner es la estación de tierra utilizada para configuración y observación. El equipo grande del curso muestra cómo se añaden módulo de potencia, GPS, brújula y telemetría según sus componentes. No todas las placas o versiones tienen las mismas conexiones ni funciones.</a:t>
            </a:r>
          </a:p>
          <a:p xmlns:a="http://schemas.openxmlformats.org/drawingml/2006/main">
            <a:r>
              <a:t/>
            </a:r>
          </a:p>
          <a:p xmlns:a="http://schemas.openxmlformats.org/drawingml/2006/main">
            <a:r>
              <a:t>Se presenta el esquema de ArduPilot y se contrasta con el equipo pequeño. El principio es común: sensor orientado, mando interpretado y salidas correspondientes. La numeración y los parámetros cambian. Se consultan también selección de bastidor, calibraciones y estado previo al armado del equipo real; los mensajes de condición se investigan en lugar de ocultarlos para que la demostración continúe.</a:t>
            </a:r>
          </a:p>
          <a:p xmlns:a="http://schemas.openxmlformats.org/drawingml/2006/main">
            <a:r>
              <a:t/>
            </a:r>
          </a:p>
          <a:p xmlns:a="http://schemas.openxmlformats.org/drawingml/2006/main">
            <a:r>
              <a:t>GPS Rescue de Betaflight y los modos RTL/Auto de ArduPilot tienen alcances y requisitos diferentes. Tener un módulo GPS no convierte ambas plataformas en la misma herramienta de navegación.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La respuesta a una pérdida de mando se define por el sistema y por la operación. El receptor y la controladora deben comunicar esa condición de forma coherente. Una recepción que conserva valores aparentemente normales puede ocultar el problema a la FC. Se consulta el manual de la combinación y se comprueba la condición en el banco preparado, sin hélices y sin trasladarla a un ensayo de pérdida de enlace en vuelo.</a:t>
            </a:r>
          </a:p>
          <a:p xmlns:a="http://schemas.openxmlformats.org/drawingml/2006/main">
            <a:r>
              <a:t/>
            </a:r>
          </a:p>
          <a:p xmlns:a="http://schemas.openxmlformats.org/drawingml/2006/main">
            <a:r>
              <a:t>Elemento / Qué debe quedar identificado</a:t>
            </a:r>
          </a:p>
          <a:p xmlns:a="http://schemas.openxmlformats.org/drawingml/2006/main">
            <a:r>
              <a:t>Armado / desarmado / Control y estado del sistema</a:t>
            </a:r>
          </a:p>
          <a:p xmlns:a="http://schemas.openxmlformats.org/drawingml/2006/main">
            <a:r>
              <a:t>Canales y modos / Asignación y respuesta previstas</a:t>
            </a:r>
          </a:p>
          <a:p xmlns:a="http://schemas.openxmlformats.org/drawingml/2006/main">
            <a:r>
              <a:t>Ausencia de enlace / Indicación y comportamiento documentados</a:t>
            </a:r>
          </a:p>
          <a:p xmlns:a="http://schemas.openxmlformats.org/drawingml/2006/main">
            <a:r>
              <a:t>Energía y batería / Configuración y medida coherentes</a:t>
            </a:r>
          </a:p>
          <a:p xmlns:a="http://schemas.openxmlformats.org/drawingml/2006/main">
            <a:r>
              <a:t>Salidas / Motor, posición y sentido registrados</a:t>
            </a:r>
          </a:p>
          <a:p xmlns:a="http://schemas.openxmlformats.org/drawingml/2006/main">
            <a:r>
              <a:t/>
            </a:r>
          </a:p>
          <a:p xmlns:a="http://schemas.openxmlformats.org/drawingml/2006/main">
            <a:r>
              <a:t>Completa la tabla de motores desde el esquema específico.</a:t>
            </a:r>
          </a:p>
          <a:p xmlns:a="http://schemas.openxmlformats.org/drawingml/2006/main">
            <a:r>
              <a:t>Explica una discrepancia entre salida y posición, y otra entre sentido y hélice.</a:t>
            </a:r>
          </a:p>
          <a:p xmlns:a="http://schemas.openxmlformats.org/drawingml/2006/main">
            <a:r>
              <a:t>Distingue la prueba de enlace de la prueba de motores.</a:t>
            </a:r>
          </a:p>
          <a:p xmlns:a="http://schemas.openxmlformats.org/drawingml/2006/main">
            <a:r>
              <a:t>Resuelve la acción proporcional del caso y relaciona error de ejes con respuesta equivocada.</a:t>
            </a:r>
          </a:p>
          <a:p xmlns:a="http://schemas.openxmlformats.org/drawingml/2006/main">
            <a:r>
              <a:t>Prepara las preguntas que observarás en el taller de ensamblaje.</a:t>
            </a:r>
          </a:p>
          <a:p xmlns:a="http://schemas.openxmlformats.org/drawingml/2006/main">
            <a:r>
              <a:t/>
            </a:r>
          </a:p>
          <a:p xmlns:a="http://schemas.openxmlformats.org/drawingml/2006/main">
            <a:r>
              <a:t>Al terminar la sexta sesión, el expediente debe permitir anticipar las comprobaciones, no declarar un vehículo apto sin examinarlo. Las sesiones 7 y 8 convierten esas expectativas en observaciones y diagnóstico.</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Elemento / Qué debe quedar identificado</a:t>
            </a:r>
          </a:p>
          <a:p xmlns:a="http://schemas.openxmlformats.org/drawingml/2006/main">
            <a:r>
              <a:t>Armado / desarmado / Control y estado del sistema</a:t>
            </a:r>
          </a:p>
          <a:p xmlns:a="http://schemas.openxmlformats.org/drawingml/2006/main">
            <a:r>
              <a:t>Canales y modos / Asignación y respuesta previstas</a:t>
            </a:r>
          </a:p>
          <a:p xmlns:a="http://schemas.openxmlformats.org/drawingml/2006/main">
            <a:r>
              <a:t>Ausencia de enlace / Indicación y comportamiento documentados</a:t>
            </a:r>
          </a:p>
          <a:p xmlns:a="http://schemas.openxmlformats.org/drawingml/2006/main">
            <a:r>
              <a:t>Energía y batería / Configuración y medida coherentes</a:t>
            </a:r>
          </a:p>
          <a:p xmlns:a="http://schemas.openxmlformats.org/drawingml/2006/main">
            <a:r>
              <a:t>Salidas / Motor, posición y sentido registrados</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Completa la tabla de motores desde el esquema específico.</a:t>
            </a:r>
          </a:p>
          <a:p xmlns:a="http://schemas.openxmlformats.org/drawingml/2006/main">
            <a:r>
              <a:t>Explica una discrepancia entre salida y posición, y otra entre sentido y hélice.</a:t>
            </a:r>
          </a:p>
          <a:p xmlns:a="http://schemas.openxmlformats.org/drawingml/2006/main">
            <a:r>
              <a:t>Distingue la prueba de enlace de la prueba de motores.</a:t>
            </a:r>
          </a:p>
          <a:p xmlns:a="http://schemas.openxmlformats.org/drawingml/2006/main">
            <a:r>
              <a:t>Resuelve la acción proporcional del caso y relaciona error de ejes con respuesta equivocada.</a:t>
            </a:r>
          </a:p>
          <a:p xmlns:a="http://schemas.openxmlformats.org/drawingml/2006/main">
            <a:r>
              <a:t>Prepara las preguntas que observarás en el taller de ensamblaje.</a:t>
            </a:r>
          </a:p>
          <a:p xmlns:a="http://schemas.openxmlformats.org/drawingml/2006/main">
            <a:r>
              <a:t>Verificar un paso antes de seguir.</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Mission Planner puede utilizar SITL, una simulación de software de ArduPilot. Sirve para observar estados y explorar una misión de ejemplo sin usar una aeronave física. El modelo y la versión de simulación también se registran: la documentación indica que esta ruta puede utilizar código de desarrollo. Sus resultados no prueban la calidad de una soldadura, la alimentación o la respuesta de un ESC del dron real.</a:t>
            </a:r>
          </a:p>
          <a:p xmlns:a="http://schemas.openxmlformats.org/drawingml/2006/main">
            <a:r>
              <a:t/>
            </a:r>
          </a:p>
          <a:p xmlns:a="http://schemas.openxmlformats.org/drawingml/2006/main">
            <a:r>
              <a:t>Recurso / Qué permite estudiar / Qué se comprueba aparte</a:t>
            </a:r>
          </a:p>
          <a:p xmlns:a="http://schemas.openxmlformats.org/drawingml/2006/main">
            <a:r>
              <a:t>Betaflight App / Configuración y estado de una FC / Dinámica real y montaje</a:t>
            </a:r>
          </a:p>
          <a:p xmlns:a="http://schemas.openxmlformats.org/drawingml/2006/main">
            <a:r>
              <a:t>SITL + Mission Planner / Comportamiento del modelo de software / Hardware y entorno físico</a:t>
            </a:r>
          </a:p>
          <a:p xmlns:a="http://schemas.openxmlformats.org/drawingml/2006/main">
            <a:r>
              <a:t>Banco sin hélices / Conexiones y correspondencias observadas / Vuelo del conjunto</a:t>
            </a:r>
          </a:p>
          <a:p xmlns:a="http://schemas.openxmlformats.org/drawingml/2006/main">
            <a:r>
              <a:t>Demostración de vuelo / Comportamiento observado en ese caso / Otras condiciones no ensayadas</a:t>
            </a:r>
          </a:p>
          <a:p xmlns:a="http://schemas.openxmlformats.org/drawingml/2006/main">
            <a:r>
              <a:t/>
            </a:r>
          </a:p>
          <a:p xmlns:a="http://schemas.openxmlformats.org/drawingml/2006/main">
            <a:r>
              <a:t>La simulación es una extensión guiada y se prepara antes de clase. El docente conserva un caso funcional y una alternativa de capturas si una descarga falla. La ruta principal no depende de que veinticinco alumnos instalen y solucionen simultáneamente un entorno nuevo durante la demostración. El siguiente bloque se concentra en el ensamblaje visible de los equipos de MECRO.</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4 minutos en esta diapositiva.</a:t>
            </a:r>
          </a:p>
          <a:p xmlns:a="http://schemas.openxmlformats.org/drawingml/2006/main">
            <a:r>
              <a:t/>
            </a:r>
          </a:p>
          <a:p xmlns:a="http://schemas.openxmlformats.org/drawingml/2006/main">
            <a:r>
              <a:t>Recurso / Qué permite estudiar / Qué se comprueba aparte</a:t>
            </a:r>
          </a:p>
          <a:p xmlns:a="http://schemas.openxmlformats.org/drawingml/2006/main">
            <a:r>
              <a:t>Betaflight App / Configuración y estado de una FC / Dinámica real y montaje</a:t>
            </a:r>
          </a:p>
          <a:p xmlns:a="http://schemas.openxmlformats.org/drawingml/2006/main">
            <a:r>
              <a:t>SITL + Mission Planner / Comportamiento del modelo de software / Hardware y entorno físico</a:t>
            </a:r>
          </a:p>
          <a:p xmlns:a="http://schemas.openxmlformats.org/drawingml/2006/main">
            <a:r>
              <a:t>Banco sin hélices / Conexiones y correspondencias observadas / Vuelo del conjunto</a:t>
            </a:r>
          </a:p>
          <a:p xmlns:a="http://schemas.openxmlformats.org/drawingml/2006/main">
            <a:r>
              <a:t>Demostración de vuelo / Comportamiento observado en ese caso / Otras condiciones no ensayadas</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Mission Planner puede utilizar SITL, una simulación de software de ArduPilot. Sirve para observar estados y explorar una misión de ejemplo sin usar una aeronave física. El modelo y la versión de simulación también se registran: la documentación indica que esta ruta puede utilizar código de desarrollo. Sus resultados no prueban la calidad de una soldadura, la alimentación o la respuesta de un ESC del dron real.</a:t>
            </a:r>
          </a:p>
          <a:p xmlns:a="http://schemas.openxmlformats.org/drawingml/2006/main">
            <a:r>
              <a:t/>
            </a:r>
          </a:p>
          <a:p xmlns:a="http://schemas.openxmlformats.org/drawingml/2006/main">
            <a:r>
              <a:t>Recurso / Qué permite estudiar / Qué se comprueba aparte</a:t>
            </a:r>
          </a:p>
          <a:p xmlns:a="http://schemas.openxmlformats.org/drawingml/2006/main">
            <a:r>
              <a:t>Betaflight App / Configuración y estado de una FC / Dinámica real y montaje</a:t>
            </a:r>
          </a:p>
          <a:p xmlns:a="http://schemas.openxmlformats.org/drawingml/2006/main">
            <a:r>
              <a:t>SITL + Mission Planner / Comportamiento del modelo de software / Hardware y entorno físico</a:t>
            </a:r>
          </a:p>
          <a:p xmlns:a="http://schemas.openxmlformats.org/drawingml/2006/main">
            <a:r>
              <a:t>Banco sin hélices / Conexiones y correspondencias observadas / Vuelo del conjunto</a:t>
            </a:r>
          </a:p>
          <a:p xmlns:a="http://schemas.openxmlformats.org/drawingml/2006/main">
            <a:r>
              <a:t>Demostración de vuelo / Comportamiento observado en ese caso / Otras condiciones no ensayadas</a:t>
            </a:r>
          </a:p>
          <a:p xmlns:a="http://schemas.openxmlformats.org/drawingml/2006/main">
            <a:r>
              <a:t/>
            </a:r>
          </a:p>
          <a:p xmlns:a="http://schemas.openxmlformats.org/drawingml/2006/main">
            <a:r>
              <a:t>La simulación es una extensión guiada y se prepara antes de clase. El docente conserva un caso funcional y una alternativa de capturas si una descarga falla. La ruta principal no depende de que veinticinco alumnos instalen y solucionen simultáneamente un entorno nuevo durante la demostración. El siguiente bloque se concentra en el ensamblaje visible de los equipos de MECRO.</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12 minutos en esta diapositiva.</a:t>
            </a:r>
          </a:p>
          <a:p xmlns:a="http://schemas.openxmlformats.org/drawingml/2006/main">
            <a:r>
              <a:t/>
            </a:r>
          </a:p>
          <a:p xmlns:a="http://schemas.openxmlformats.org/drawingml/2006/main">
            <a:r>
              <a:t>Distinguir motor activado, giro y hélice antes de la prueba.</a:t>
            </a:r>
          </a:p>
          <a:p xmlns:a="http://schemas.openxmlformats.org/drawingml/2006/main">
            <a:r>
              <a:t>Mostrar una pantalla Motors y explicar sus correspondencias físicas.</a:t>
            </a:r>
          </a:p>
          <a:p xmlns:a="http://schemas.openxmlformats.org/drawingml/2006/main">
            <a:r>
              <a:t>Resolver el ejemplo de error y acción proporcional.</a:t>
            </a:r>
          </a:p>
          <a:p xmlns:a="http://schemas.openxmlformats.org/drawingml/2006/main">
            <a:r>
              <a:t>Contrastar Betaflight, ArduPilot y SITL sin mezclar sus evidencias.</a:t>
            </a:r>
          </a:p>
          <a:p xmlns:a="http://schemas.openxmlformats.org/drawingml/2006/main">
            <a:r>
              <a:t>Contrastar componentes, esquema y comprobaciones.</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10 minutos en esta diapositiva.</a:t>
            </a:r>
          </a:p>
          <a:p xmlns:a="http://schemas.openxmlformats.org/drawingml/2006/main">
            <a:r>
              <a:t/>
            </a:r>
          </a:p>
          <a:p xmlns:a="http://schemas.openxmlformats.org/drawingml/2006/main">
            <a:r>
              <a:t>Una aeronave se prepara comprobando correspondencias entre el objeto, la configuración y la respuesta esperada.</a:t>
            </a:r>
          </a:p>
          <a:p xmlns:a="http://schemas.openxmlformats.org/drawingml/2006/main">
            <a:r>
              <a:t>Tabla de motores y modos, caso de control resuelto y plan de comprobaciones.</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Motores, control y comprobaciones antes del taller.</a:t>
            </a:r>
          </a:p>
          <a:p xmlns:a="http://schemas.openxmlformats.org/drawingml/2006/main">
            <a:r>
              <a:t>En línea, 2 horas. Núcleo de explicación: 5 minutos en esta diapositiva.</a:t>
            </a:r>
          </a:p>
          <a:p xmlns:a="http://schemas.openxmlformats.org/drawingml/2006/main">
            <a:r>
              <a:t/>
            </a:r>
          </a:p>
          <a:p xmlns:a="http://schemas.openxmlformats.org/drawingml/2006/main">
            <a:r>
              <a:t>Tabla de motores y modos, caso de control resuelto y plan de comprobaciones.</a:t>
            </a:r>
          </a:p>
          <a:p xmlns:a="http://schemas.openxmlformats.org/drawingml/2006/main">
            <a:r>
              <a:t/>
            </a:r>
          </a:p>
          <a:p xmlns:a="http://schemas.openxmlformats.org/drawingml/2006/main">
            <a:r>
              <a:t>Objetivo: Distinguir número, sentido y hélice de cada motor y explicar las comprobaciones de un sistema de control.</a:t>
            </a:r>
          </a:p>
          <a:p xmlns:a="http://schemas.openxmlformats.org/drawingml/2006/main">
            <a:r>
              <a:t>Aplicación: Una aeronave se prepara comprobando correspondencias entre el objeto, la configuración y la respuesta esperada.</a:t>
            </a:r>
          </a:p>
          <a:p xmlns:a="http://schemas.openxmlformats.org/drawingml/2006/main">
            <a:r>
              <a:t>Entrega: Tabla de motores y modos, caso de control resuelto y plan de comprobaciones.</a:t>
            </a:r>
          </a:p>
          <a:p xmlns:a="http://schemas.openxmlformats.org/drawingml/2006/main">
            <a:r>
              <a:t/>
            </a:r>
          </a:p>
          <a:p xmlns:a="http://schemas.openxmlformats.org/drawingml/2006/main">
            <a:r>
              <a:t>Preguntas y respuestas</a:t>
            </a:r>
          </a:p>
          <a:p xmlns:a="http://schemas.openxmlformats.org/drawingml/2006/main">
            <a:r>
              <a:t>¿Se copia el orden de motores entre firmwares?</a:t>
            </a:r>
          </a:p>
          <a:p xmlns:a="http://schemas.openxmlformats.org/drawingml/2006/main">
            <a:r>
              <a:t>No. Se comprueba el esquema, el bastidor y la configuración de cada uno.</a:t>
            </a:r>
          </a:p>
          <a:p xmlns:a="http://schemas.openxmlformats.org/drawingml/2006/main">
            <a:r>
              <a:t/>
            </a:r>
          </a:p>
          <a:p xmlns:a="http://schemas.openxmlformats.org/drawingml/2006/main">
            <a:r>
              <a:t>¿DShot exige por defecto la calibración analógica del gas?</a:t>
            </a:r>
          </a:p>
          <a:p xmlns:a="http://schemas.openxmlformats.org/drawingml/2006/main">
            <a:r>
              <a:t>No. Se sigue el procedimiento específico del protocolo y ESC compatibles.</a:t>
            </a:r>
          </a:p>
          <a:p xmlns:a="http://schemas.openxmlformats.org/drawingml/2006/main">
            <a:r>
              <a:t/>
            </a:r>
          </a:p>
          <a:p xmlns:a="http://schemas.openxmlformats.org/drawingml/2006/main">
            <a:r>
              <a:t>¿Una simulación valida una soldadura?</a:t>
            </a:r>
          </a:p>
          <a:p xmlns:a="http://schemas.openxmlformats.org/drawingml/2006/main">
            <a:r>
              <a:t>No. El hardware requiere sus propias comprobaciones.</a:t>
            </a:r>
          </a:p>
          <a:p xmlns:a="http://schemas.openxmlformats.org/drawingml/2006/main">
            <a:r>
              <a:t/>
            </a:r>
          </a:p>
          <a:p xmlns:a="http://schemas.openxmlformats.org/drawingml/2006/main">
            <a:r>
              <a:t>Fuentes</a:t>
            </a:r>
          </a:p>
          <a:p xmlns:a="http://schemas.openxmlformats.org/drawingml/2006/main">
            <a:r>
              <a:t>Betaflight. Motors Tab. https://betaflight.com/docs/wiki/app/motors-tab</a:t>
            </a:r>
          </a:p>
          <a:p xmlns:a="http://schemas.openxmlformats.org/drawingml/2006/main">
            <a:r>
              <a:t>ArduPilot. Conexión, orden y sentido de motores. https://ardupilot.org/copter/docs/connect-escs-and-motors.html</a:t>
            </a:r>
          </a:p>
          <a:p xmlns:a="http://schemas.openxmlformats.org/drawingml/2006/main">
            <a:r>
              <a:t>ArduPilot. Mandatory Hardware Configuration. https://ardupilot.org/copter/docs/configuring-hardware.html</a:t>
            </a:r>
          </a:p>
          <a:p xmlns:a="http://schemas.openxmlformats.org/drawingml/2006/main">
            <a:r>
              <a:t>Betaflight. Failsafe. https://betaflight.com/docs/wiki/guides/current/Failsafe</a:t>
            </a:r>
          </a:p>
          <a:p xmlns:a="http://schemas.openxmlformats.org/drawingml/2006/main">
            <a:r>
              <a:t>Betaflight. GPS y funciones asociadas. https://betaflight.com/docs/wiki/guides/current/Gps</a:t>
            </a:r>
          </a:p>
          <a:p xmlns:a="http://schemas.openxmlformats.org/drawingml/2006/main">
            <a:r>
              <a:t>ArduPilot. Mission Planner Simulation. https://ardupilot.org/planner/docs/mission-planner-simulation.html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d62439451544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c27da3bfbf40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bb3d289d3648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6e68d5d5444b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fc4dafd94c47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e27c14affd4e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914137-3C60-4603-986D-D00EDFD866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2EC940-024F-4724-A054-62DCAC2CBC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EBC044-AE2B-44F6-A585-8D5B69884E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9D2964-E22F-4C28-8422-4D098CD236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81B736-130E-49F8-AC0E-B35170BC9E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0B7B1A-EFE0-4839-B7AB-D9593C1E6E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EB596C-4F21-4FBB-98D4-60D29CAAC7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7FCAB7-9288-4F2F-8745-3ED22A237B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9548B3-D9E1-4499-8C1F-CB668A89A8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546600-5CA9-4A7D-80FE-8A94DA88FD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3b2825bfd34ab7" /><Relationship Type="http://schemas.openxmlformats.org/officeDocument/2006/relationships/slideLayout" Target="/ppt/slideLayouts/slideLayout1.xml" Id="Ra57dbce9888842fb" /><Relationship Type="http://schemas.openxmlformats.org/officeDocument/2006/relationships/slideLayout" Target="/ppt/slideLayouts/slideLayout2.xml" Id="Rd078591566424e54" /><Relationship Type="http://schemas.openxmlformats.org/officeDocument/2006/relationships/slideLayout" Target="/ppt/slideLayouts/slideLayout3.xml" Id="R710f76b1f5a14408" /><Relationship Type="http://schemas.openxmlformats.org/officeDocument/2006/relationships/slideLayout" Target="/ppt/slideLayouts/slideLayout4.xml" Id="R3597c251552344ab" /><Relationship Type="http://schemas.openxmlformats.org/officeDocument/2006/relationships/slideLayout" Target="/ppt/slideLayouts/slideLayout5.xml" Id="R4b5d40ad029c4b51" /><Relationship Type="http://schemas.openxmlformats.org/officeDocument/2006/relationships/slideLayout" Target="/ppt/slideLayouts/slideLayout6.xml" Id="Rb6a1d2a78b4b49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7dbce9888842fb"/>
    <p:sldLayoutId xmlns:r="http://schemas.openxmlformats.org/officeDocument/2006/relationships" id="2147483650" r:id="Rd078591566424e54"/>
    <p:sldLayoutId xmlns:r="http://schemas.openxmlformats.org/officeDocument/2006/relationships" id="2147483651" r:id="R710f76b1f5a14408"/>
    <p:sldLayoutId xmlns:r="http://schemas.openxmlformats.org/officeDocument/2006/relationships" id="2147483652" r:id="R3597c251552344ab"/>
    <p:sldLayoutId xmlns:r="http://schemas.openxmlformats.org/officeDocument/2006/relationships" id="2147483653" r:id="R4b5d40ad029c4b51"/>
    <p:sldLayoutId xmlns:r="http://schemas.openxmlformats.org/officeDocument/2006/relationships" id="2147483654" r:id="Rb6a1d2a78b4b49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343f181b4848be" /><Relationship Type="http://schemas.openxmlformats.org/officeDocument/2006/relationships/image" Target="/ppt/media/image.png" Id="R2fa3e9ed34f248a6" /><Relationship Type="http://schemas.openxmlformats.org/officeDocument/2006/relationships/notesSlide" Target="/ppt/notesSlides/notesSlide1.xml" Id="R86fc9bb708e144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d29e0302d742f8" /><Relationship Type="http://schemas.openxmlformats.org/officeDocument/2006/relationships/image" Target="/ppt/media/image2.png" Id="R3371ad3bf3b54e7b" /><Relationship Type="http://schemas.openxmlformats.org/officeDocument/2006/relationships/notesSlide" Target="/ppt/notesSlides/notesSlide2.xml" Id="R383fe4a6bb4c4d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a1defb118b4c02" /><Relationship Type="http://schemas.openxmlformats.org/officeDocument/2006/relationships/image" Target="/ppt/media/image3.png" Id="R7d04c5f436e749da" /><Relationship Type="http://schemas.openxmlformats.org/officeDocument/2006/relationships/image" Target="/ppt/media/image4.png" Id="Rfb95843e6366450f" /><Relationship Type="http://schemas.openxmlformats.org/officeDocument/2006/relationships/notesSlide" Target="/ppt/notesSlides/notesSlide3.xml" Id="Rc076be2f7fb047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153768b6e74cb4" /><Relationship Type="http://schemas.openxmlformats.org/officeDocument/2006/relationships/image" Target="/ppt/media/image5.png" Id="Rf8121a291008491b" /><Relationship Type="http://schemas.openxmlformats.org/officeDocument/2006/relationships/notesSlide" Target="/ppt/notesSlides/notesSlide4.xml" Id="R53e863fb563949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385c2a91a84082" /><Relationship Type="http://schemas.openxmlformats.org/officeDocument/2006/relationships/image" Target="/ppt/media/image6.png" Id="R8ea9061aba1c4661" /><Relationship Type="http://schemas.openxmlformats.org/officeDocument/2006/relationships/notesSlide" Target="/ppt/notesSlides/notesSlide5.xml" Id="Ref590ccab5fc4b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5a3aa6d9cd4910" /><Relationship Type="http://schemas.openxmlformats.org/officeDocument/2006/relationships/image" Target="/ppt/media/image7.png" Id="Rf5398a04612d49a6" /><Relationship Type="http://schemas.openxmlformats.org/officeDocument/2006/relationships/notesSlide" Target="/ppt/notesSlides/notesSlide6.xml" Id="R206459bff12c42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5579de962f4d73" /><Relationship Type="http://schemas.openxmlformats.org/officeDocument/2006/relationships/image" Target="/ppt/media/image8.png" Id="R8e8547cc91484ee9" /><Relationship Type="http://schemas.openxmlformats.org/officeDocument/2006/relationships/notesSlide" Target="/ppt/notesSlides/notesSlide7.xml" Id="Re7023f49d1484f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05977e1dc14001" /><Relationship Type="http://schemas.openxmlformats.org/officeDocument/2006/relationships/image" Target="/ppt/media/image9.png" Id="R1192e980b51b458a" /><Relationship Type="http://schemas.openxmlformats.org/officeDocument/2006/relationships/notesSlide" Target="/ppt/notesSlides/notesSlide8.xml" Id="Rfd4c224c62b84b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88821f0e6f44731" /><Relationship Type="http://schemas.openxmlformats.org/officeDocument/2006/relationships/image" Target="/ppt/media/image10.png" Id="R6f079d39e3c34bff" /><Relationship Type="http://schemas.openxmlformats.org/officeDocument/2006/relationships/notesSlide" Target="/ppt/notesSlides/notesSlide9.xml" Id="R2dc54f0c659749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f6a3a4da35b458a" /><Relationship Type="http://schemas.openxmlformats.org/officeDocument/2006/relationships/image" Target="/ppt/media/image11.png" Id="R6d5d02cf3e5f474a" /><Relationship Type="http://schemas.openxmlformats.org/officeDocument/2006/relationships/notesSlide" Target="/ppt/notesSlides/notesSlide10.xml" Id="Rf818d5ec801240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bde7a78ab124152" /><Relationship Type="http://schemas.openxmlformats.org/officeDocument/2006/relationships/image" Target="/ppt/media/image12.png" Id="R14e2553dd3ad45c4" /><Relationship Type="http://schemas.openxmlformats.org/officeDocument/2006/relationships/notesSlide" Target="/ppt/notesSlides/notesSlide11.xml" Id="R95a9057f649e43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783e18a09d345d7" /><Relationship Type="http://schemas.openxmlformats.org/officeDocument/2006/relationships/image" Target="/ppt/media/image13.png" Id="Ra997af0e46384ce8" /><Relationship Type="http://schemas.openxmlformats.org/officeDocument/2006/relationships/image" Target="/ppt/media/image14.png" Id="R613f74a958f246bb" /><Relationship Type="http://schemas.openxmlformats.org/officeDocument/2006/relationships/notesSlide" Target="/ppt/notesSlides/notesSlide12.xml" Id="R20d19737137142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93224d815f1498c" /><Relationship Type="http://schemas.openxmlformats.org/officeDocument/2006/relationships/image" Target="/ppt/media/image15.png" Id="R107e4ef311614f50" /><Relationship Type="http://schemas.openxmlformats.org/officeDocument/2006/relationships/notesSlide" Target="/ppt/notesSlides/notesSlide13.xml" Id="R7450cab9ae7942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521bc15ee7d4cc3" /><Relationship Type="http://schemas.openxmlformats.org/officeDocument/2006/relationships/image" Target="/ppt/media/image16.png" Id="Rbe3917a3da2b40e9" /><Relationship Type="http://schemas.openxmlformats.org/officeDocument/2006/relationships/notesSlide" Target="/ppt/notesSlides/notesSlide14.xml" Id="R0d8b9015a9344e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8ea3c2f76894cc7" /><Relationship Type="http://schemas.openxmlformats.org/officeDocument/2006/relationships/image" Target="/ppt/media/image17.png" Id="R1b860aeb1ffe4ceb" /><Relationship Type="http://schemas.openxmlformats.org/officeDocument/2006/relationships/notesSlide" Target="/ppt/notesSlides/notesSlide15.xml" Id="R961d7de4eef046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15a11eaf65456b" /><Relationship Type="http://schemas.openxmlformats.org/officeDocument/2006/relationships/image" Target="/ppt/media/image18.png" Id="R34cd7848f1e9411f" /><Relationship Type="http://schemas.openxmlformats.org/officeDocument/2006/relationships/notesSlide" Target="/ppt/notesSlides/notesSlide16.xml" Id="Rd6402c65f92b4d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a9af6a47b9148a4" /><Relationship Type="http://schemas.openxmlformats.org/officeDocument/2006/relationships/image" Target="/ppt/media/image19.png" Id="R0c425093b90a4a3f" /><Relationship Type="http://schemas.openxmlformats.org/officeDocument/2006/relationships/notesSlide" Target="/ppt/notesSlides/notesSlide17.xml" Id="Re2bb04678ced41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63fe29370e4b88" /><Relationship Type="http://schemas.openxmlformats.org/officeDocument/2006/relationships/image" Target="/ppt/media/image20.png" Id="Rfc4ccdce40014c67" /><Relationship Type="http://schemas.openxmlformats.org/officeDocument/2006/relationships/notesSlide" Target="/ppt/notesSlides/notesSlide18.xml" Id="R74512bab26cc4e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bbec8c65d24229" /><Relationship Type="http://schemas.openxmlformats.org/officeDocument/2006/relationships/image" Target="/ppt/media/image21.png" Id="R5053745135b640b3" /><Relationship Type="http://schemas.openxmlformats.org/officeDocument/2006/relationships/notesSlide" Target="/ppt/notesSlides/notesSlide19.xml" Id="R00827a8a52ed43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fcc3b80912d499f" /><Relationship Type="http://schemas.openxmlformats.org/officeDocument/2006/relationships/image" Target="/ppt/media/image22.png" Id="R73e6276f4fbc47fd" /><Relationship Type="http://schemas.openxmlformats.org/officeDocument/2006/relationships/notesSlide" Target="/ppt/notesSlides/notesSlide20.xml" Id="R1fce3833d1cc48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7fcdd1ac984c56" /><Relationship Type="http://schemas.openxmlformats.org/officeDocument/2006/relationships/image" Target="/ppt/media/image23.png" Id="R19946fac6050488a" /><Relationship Type="http://schemas.openxmlformats.org/officeDocument/2006/relationships/notesSlide" Target="/ppt/notesSlides/notesSlide21.xml" Id="R89c0e7fc63a840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5d3564bcd1547d4" /><Relationship Type="http://schemas.openxmlformats.org/officeDocument/2006/relationships/image" Target="/ppt/media/image24.png" Id="R5352a6e916e04cf3" /><Relationship Type="http://schemas.openxmlformats.org/officeDocument/2006/relationships/notesSlide" Target="/ppt/notesSlides/notesSlide22.xml" Id="R15a0a73c977244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3e1721eef0a4f93" /><Relationship Type="http://schemas.openxmlformats.org/officeDocument/2006/relationships/image" Target="/ppt/media/image25.png" Id="R07866e36236f4645" /><Relationship Type="http://schemas.openxmlformats.org/officeDocument/2006/relationships/notesSlide" Target="/ppt/notesSlides/notesSlide23.xml" Id="R9e75e3635b8048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67dbc9bc4d747a9" /><Relationship Type="http://schemas.openxmlformats.org/officeDocument/2006/relationships/image" Target="/ppt/media/image26.png" Id="Rb68aced7881b4654" /><Relationship Type="http://schemas.openxmlformats.org/officeDocument/2006/relationships/notesSlide" Target="/ppt/notesSlides/notesSlide24.xml" Id="R99f36cc569f145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2d642a048244fbb" /><Relationship Type="http://schemas.openxmlformats.org/officeDocument/2006/relationships/image" Target="/ppt/media/image27.png" Id="R901421a86d2944d0" /><Relationship Type="http://schemas.openxmlformats.org/officeDocument/2006/relationships/notesSlide" Target="/ppt/notesSlides/notesSlide25.xml" Id="Ra978c66afa9847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46f4d6253244aa9" /><Relationship Type="http://schemas.openxmlformats.org/officeDocument/2006/relationships/image" Target="/ppt/media/image28.png" Id="R17df174e8a55482d" /><Relationship Type="http://schemas.openxmlformats.org/officeDocument/2006/relationships/notesSlide" Target="/ppt/notesSlides/notesSlide26.xml" Id="Re0dcbf53f32b40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843b5badb824ae1" /><Relationship Type="http://schemas.openxmlformats.org/officeDocument/2006/relationships/image" Target="/ppt/media/image29.png" Id="R837c92d685f240cc" /><Relationship Type="http://schemas.openxmlformats.org/officeDocument/2006/relationships/image" Target="/ppt/media/image30.png" Id="R3d1d731bc49446f3" /><Relationship Type="http://schemas.openxmlformats.org/officeDocument/2006/relationships/notesSlide" Target="/ppt/notesSlides/notesSlide27.xml" Id="Rdd477c5f0c4d4d4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f12cc4042334e9c" /><Relationship Type="http://schemas.openxmlformats.org/officeDocument/2006/relationships/image" Target="/ppt/media/image31.png" Id="R01fb7192fced48ea" /><Relationship Type="http://schemas.openxmlformats.org/officeDocument/2006/relationships/notesSlide" Target="/ppt/notesSlides/notesSlide28.xml" Id="R0a729532d88e448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8e2b0fc482c4beb" /><Relationship Type="http://schemas.openxmlformats.org/officeDocument/2006/relationships/image" Target="/ppt/media/image32.png" Id="R7f503d61690f40a5" /><Relationship Type="http://schemas.openxmlformats.org/officeDocument/2006/relationships/notesSlide" Target="/ppt/notesSlides/notesSlide29.xml" Id="R631628e0739f44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96aaafcbd49455f" /><Relationship Type="http://schemas.openxmlformats.org/officeDocument/2006/relationships/image" Target="/ppt/media/image33.png" Id="R7c7949d7008d4f44" /><Relationship Type="http://schemas.openxmlformats.org/officeDocument/2006/relationships/image" Target="/ppt/media/image34.png" Id="R543f05a2f3d34348" /><Relationship Type="http://schemas.openxmlformats.org/officeDocument/2006/relationships/notesSlide" Target="/ppt/notesSlides/notesSlide30.xml" Id="R27ed0617820e472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5d8ff1b66c949b9" /><Relationship Type="http://schemas.openxmlformats.org/officeDocument/2006/relationships/image" Target="/ppt/media/image35.png" Id="Rf432dbb595db4614" /><Relationship Type="http://schemas.openxmlformats.org/officeDocument/2006/relationships/notesSlide" Target="/ppt/notesSlides/notesSlide31.xml" Id="R1308c6ec1e434e0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0d628be0ded462f" /><Relationship Type="http://schemas.openxmlformats.org/officeDocument/2006/relationships/image" Target="/ppt/media/image36.png" Id="R5cab82e0f6764d6f" /><Relationship Type="http://schemas.openxmlformats.org/officeDocument/2006/relationships/notesSlide" Target="/ppt/notesSlides/notesSlide32.xml" Id="R544270580cc8421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ebf060c1f5c42ae" /><Relationship Type="http://schemas.openxmlformats.org/officeDocument/2006/relationships/image" Target="/ppt/media/image37.png" Id="R4c6d5a6058464487" /><Relationship Type="http://schemas.openxmlformats.org/officeDocument/2006/relationships/notesSlide" Target="/ppt/notesSlides/notesSlide33.xml" Id="R41b10b1a9a3a46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1e06fce11d9441f" /><Relationship Type="http://schemas.openxmlformats.org/officeDocument/2006/relationships/image" Target="/ppt/media/image38.png" Id="R91d30a4590d34462" /><Relationship Type="http://schemas.openxmlformats.org/officeDocument/2006/relationships/image" Target="/ppt/media/image39.png" Id="Rbc7bfed316ce4af1" /><Relationship Type="http://schemas.openxmlformats.org/officeDocument/2006/relationships/notesSlide" Target="/ppt/notesSlides/notesSlide34.xml" Id="Ree4f78c98732408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a10a4aed923405a" /><Relationship Type="http://schemas.openxmlformats.org/officeDocument/2006/relationships/image" Target="/ppt/media/image40.png" Id="Rab6f21d43cb94062" /><Relationship Type="http://schemas.openxmlformats.org/officeDocument/2006/relationships/notesSlide" Target="/ppt/notesSlides/notesSlide35.xml" Id="R47acf841b61849b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fdc254f0e894e87" /><Relationship Type="http://schemas.openxmlformats.org/officeDocument/2006/relationships/image" Target="/ppt/media/image41.png" Id="R168bd61d59714969" /><Relationship Type="http://schemas.openxmlformats.org/officeDocument/2006/relationships/image" Target="/ppt/media/image42.png" Id="R712ca2c184084e3e" /><Relationship Type="http://schemas.openxmlformats.org/officeDocument/2006/relationships/notesSlide" Target="/ppt/notesSlides/notesSlide36.xml" Id="R5ec8e7f08f0b448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22fdb9145c7453b" /><Relationship Type="http://schemas.openxmlformats.org/officeDocument/2006/relationships/image" Target="/ppt/media/image43.png" Id="Rf347957b49a24616" /><Relationship Type="http://schemas.openxmlformats.org/officeDocument/2006/relationships/notesSlide" Target="/ppt/notesSlides/notesSlide37.xml" Id="R3d00ce345aa84b1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a8d56cccba04e74" /><Relationship Type="http://schemas.openxmlformats.org/officeDocument/2006/relationships/image" Target="/ppt/media/image44.png" Id="R1a5f7174edea4fbc" /><Relationship Type="http://schemas.openxmlformats.org/officeDocument/2006/relationships/notesSlide" Target="/ppt/notesSlides/notesSlide38.xml" Id="R4b0452ba4bf74eb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58681634b1c4d6f" /><Relationship Type="http://schemas.openxmlformats.org/officeDocument/2006/relationships/image" Target="/ppt/media/image45.png" Id="R4f13fd4a8d2c42a9" /><Relationship Type="http://schemas.openxmlformats.org/officeDocument/2006/relationships/notesSlide" Target="/ppt/notesSlides/notesSlide39.xml" Id="R97153d481bf1421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80bbe0629184a16" /><Relationship Type="http://schemas.openxmlformats.org/officeDocument/2006/relationships/image" Target="/ppt/media/image46.png" Id="R200d5aa9246e4f8d" /><Relationship Type="http://schemas.openxmlformats.org/officeDocument/2006/relationships/notesSlide" Target="/ppt/notesSlides/notesSlide40.xml" Id="R96bcedf068d6487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786d6dec9ef4fd7" /><Relationship Type="http://schemas.openxmlformats.org/officeDocument/2006/relationships/image" Target="/ppt/media/image47.png" Id="R6e62ac64f7c54b98" /><Relationship Type="http://schemas.openxmlformats.org/officeDocument/2006/relationships/notesSlide" Target="/ppt/notesSlides/notesSlide41.xml" Id="R9ab087600b68459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9f0b1db9362468e" /><Relationship Type="http://schemas.openxmlformats.org/officeDocument/2006/relationships/image" Target="/ppt/media/image48.png" Id="Rb440b4ea47594a93" /><Relationship Type="http://schemas.openxmlformats.org/officeDocument/2006/relationships/notesSlide" Target="/ppt/notesSlides/notesSlide42.xml" Id="Rf2033fedb3aa4b4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091553360854d4e" /><Relationship Type="http://schemas.openxmlformats.org/officeDocument/2006/relationships/image" Target="/ppt/media/image49.png" Id="R9005cbf84bbb4eb1" /><Relationship Type="http://schemas.openxmlformats.org/officeDocument/2006/relationships/notesSlide" Target="/ppt/notesSlides/notesSlide43.xml" Id="R8887474189034d5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f126b304b1a47dc" /><Relationship Type="http://schemas.openxmlformats.org/officeDocument/2006/relationships/image" Target="/ppt/media/image50.png" Id="R71a8726c9f0c421d" /><Relationship Type="http://schemas.openxmlformats.org/officeDocument/2006/relationships/notesSlide" Target="/ppt/notesSlides/notesSlide44.xml" Id="Ref931c260b024c0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d8a0c3e9b7f4941" /><Relationship Type="http://schemas.openxmlformats.org/officeDocument/2006/relationships/image" Target="/ppt/media/image51.png" Id="R541b0c790d0e446d" /><Relationship Type="http://schemas.openxmlformats.org/officeDocument/2006/relationships/notesSlide" Target="/ppt/notesSlides/notesSlide45.xml" Id="R92ab5947fc86427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7a590c0b8254db6" /><Relationship Type="http://schemas.openxmlformats.org/officeDocument/2006/relationships/image" Target="/ppt/media/image52.png" Id="R9e12b727ec514d25" /><Relationship Type="http://schemas.openxmlformats.org/officeDocument/2006/relationships/notesSlide" Target="/ppt/notesSlides/notesSlide46.xml" Id="Rb63554cf7c4e4b1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a3c414450c64b1a" /><Relationship Type="http://schemas.openxmlformats.org/officeDocument/2006/relationships/image" Target="/ppt/media/image53.png" Id="R90f1691ed1024313" /><Relationship Type="http://schemas.openxmlformats.org/officeDocument/2006/relationships/notesSlide" Target="/ppt/notesSlides/notesSlide47.xml" Id="Ra32b25c33f73464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dca3f2820a841e0" /><Relationship Type="http://schemas.openxmlformats.org/officeDocument/2006/relationships/image" Target="/ppt/media/image54.png" Id="R7192da186a5146d1" /><Relationship Type="http://schemas.openxmlformats.org/officeDocument/2006/relationships/notesSlide" Target="/ppt/notesSlides/notesSlide48.xml" Id="R52e724692aae4801"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A8E974-FE35-4FDE-85F2-EABEA1DBF10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Betaflight: conectar, respaldar y relacionar pantalla con hardware</a:t>
            </a:r>
          </a:p>
        </p:txBody>
      </p:sp>
      <p:pic>
        <p:nvPicPr>
          <p:cNvPr id="2" name="">
            <a:extLst xmlns:a="http://schemas.openxmlformats.org/drawingml/2006/main">
              <a:ext uri="{FF2B5EF4-FFF2-40B4-BE49-F238E27FC236}">
                <a16:creationId xmlns:a16="http://schemas.microsoft.com/office/drawing/2014/main" id="{ABA8068B-BB8E-4DE1-8A87-C36429908E96}"/>
              </a:ext>
            </a:extLst>
          </p:cNvPr>
          <p:cNvPicPr>
            <a:picLocks xmlns:a="http://schemas.openxmlformats.org/drawingml/2006/main" noChangeAspect="1"/>
          </p:cNvPicPr>
          <p:nvPr/>
        </p:nvPicPr>
        <p:blipFill>
          <a:blip xmlns:r="http://schemas.openxmlformats.org/officeDocument/2006/relationships" xmlns:a="http://schemas.openxmlformats.org/drawingml/2006/main" r:embed="R2fa3e9ed34f248a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34CDFF-C6F8-498F-ADB9-40A8CE0F33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01/24</a:t>
            </a:r>
          </a:p>
        </p:txBody>
      </p:sp>
      <p:sp>
        <p:nvSpPr>
          <p:cNvPr id="4" name="">
            <a:extLst xmlns:a="http://schemas.openxmlformats.org/drawingml/2006/main">
              <a:ext uri="{FF2B5EF4-FFF2-40B4-BE49-F238E27FC236}">
                <a16:creationId xmlns:a16="http://schemas.microsoft.com/office/drawing/2014/main" id="{6D588E93-14E6-43AF-8C73-1415ABCD1577}"/>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Interpretar una configuración Betaflight a partir de la placa, el receptor y las conexiones del banco.</a:t>
            </a:r>
          </a:p>
        </p:txBody>
      </p:sp>
      <p:sp>
        <p:nvSpPr>
          <p:cNvPr id="5" name="">
            <a:extLst xmlns:a="http://schemas.openxmlformats.org/drawingml/2006/main">
              <a:ext uri="{FF2B5EF4-FFF2-40B4-BE49-F238E27FC236}">
                <a16:creationId xmlns:a16="http://schemas.microsoft.com/office/drawing/2014/main" id="{6D48D0C7-4EBC-4F7F-AE56-1CAE20DFC93C}"/>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configuración se enseña como una descripción comprobable del ensamblaje y se conserva antes de modificarla.</a:t>
            </a:r>
          </a:p>
        </p:txBody>
      </p:sp>
      <p:sp>
        <p:nvSpPr>
          <p:cNvPr id="6" name="">
            <a:extLst xmlns:a="http://schemas.openxmlformats.org/drawingml/2006/main">
              <a:ext uri="{FF2B5EF4-FFF2-40B4-BE49-F238E27FC236}">
                <a16:creationId xmlns:a16="http://schemas.microsoft.com/office/drawing/2014/main" id="{E661DEB1-1B9B-4075-9520-8B5D96722DBD}"/>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35896860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84C096-3CB0-48DE-AB72-F79FDA269E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firmware y placa son tres cosas</a:t>
            </a:r>
          </a:p>
        </p:txBody>
      </p:sp>
      <p:pic>
        <p:nvPicPr>
          <p:cNvPr id="2" name="">
            <a:extLst xmlns:a="http://schemas.openxmlformats.org/drawingml/2006/main">
              <a:ext uri="{FF2B5EF4-FFF2-40B4-BE49-F238E27FC236}">
                <a16:creationId xmlns:a16="http://schemas.microsoft.com/office/drawing/2014/main" id="{3FFBFE56-46B1-44D6-B773-C27D37CB3EDF}"/>
              </a:ext>
            </a:extLst>
          </p:cNvPr>
          <p:cNvPicPr>
            <a:picLocks xmlns:a="http://schemas.openxmlformats.org/drawingml/2006/main" noChangeAspect="1"/>
          </p:cNvPicPr>
          <p:nvPr/>
        </p:nvPicPr>
        <p:blipFill>
          <a:blip xmlns:r="http://schemas.openxmlformats.org/officeDocument/2006/relationships" xmlns:a="http://schemas.openxmlformats.org/drawingml/2006/main" r:embed="R3371ad3bf3b54e7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2282269-8DD2-4AA8-8FC9-05883485346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02/24</a:t>
            </a:r>
          </a:p>
        </p:txBody>
      </p:sp>
      <p:sp>
        <p:nvSpPr>
          <p:cNvPr id="4" name="">
            <a:extLst xmlns:a="http://schemas.openxmlformats.org/drawingml/2006/main">
              <a:ext uri="{FF2B5EF4-FFF2-40B4-BE49-F238E27FC236}">
                <a16:creationId xmlns:a16="http://schemas.microsoft.com/office/drawing/2014/main" id="{8B01933A-A7CF-4BCB-8BC8-924DF0B56CE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Betaflight Firmware se ejecuta en la controladora; Betaflight App permite inspeccionar y configurar sus opciones. La aplicación se conocía como Configurator y la documentación actual ofrece acceso para PC desde app.betaflight.com. Una versión de aplicación debe ser compatible con la versión de firmware del equipo. El curso registra ambas, junto con placa y target, para que las capturas y la demostración se puedan entender después.</a:t>
            </a:r>
          </a:p>
        </p:txBody>
      </p:sp>
    </p:spTree>
    <p:extLst>
      <p:ext uri="{BB962C8B-B14F-4D97-AF65-F5344CB8AC3E}">
        <p14:creationId xmlns:p14="http://schemas.microsoft.com/office/powerpoint/2010/main" val="2044521009"/>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D97CD3-5505-498E-A863-1B88F37992C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firmware y placa son tres cosas</a:t>
            </a:r>
          </a:p>
        </p:txBody>
      </p:sp>
      <p:pic>
        <p:nvPicPr>
          <p:cNvPr id="2" name="">
            <a:extLst xmlns:a="http://schemas.openxmlformats.org/drawingml/2006/main">
              <a:ext uri="{FF2B5EF4-FFF2-40B4-BE49-F238E27FC236}">
                <a16:creationId xmlns:a16="http://schemas.microsoft.com/office/drawing/2014/main" id="{9C68B708-E708-44D8-9F48-4861308858B4}"/>
              </a:ext>
            </a:extLst>
          </p:cNvPr>
          <p:cNvPicPr>
            <a:picLocks xmlns:a="http://schemas.openxmlformats.org/drawingml/2006/main" noChangeAspect="1"/>
          </p:cNvPicPr>
          <p:nvPr/>
        </p:nvPicPr>
        <p:blipFill>
          <a:blip xmlns:r="http://schemas.openxmlformats.org/officeDocument/2006/relationships" xmlns:a="http://schemas.openxmlformats.org/drawingml/2006/main" r:embed="R7d04c5f436e749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23CA1C-42FF-4331-9316-D65E79DC17A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03/24</a:t>
            </a:r>
          </a:p>
        </p:txBody>
      </p:sp>
      <p:pic>
        <p:nvPicPr>
          <p:cNvPr id="4" name="">
            <a:extLst xmlns:a="http://schemas.openxmlformats.org/drawingml/2006/main">
              <a:ext uri="{FF2B5EF4-FFF2-40B4-BE49-F238E27FC236}">
                <a16:creationId xmlns:a16="http://schemas.microsoft.com/office/drawing/2014/main" id="{54FECE46-4F91-4D6A-BB7F-AEE888ED8029}"/>
              </a:ext>
            </a:extLst>
          </p:cNvPr>
          <p:cNvPicPr>
            <a:picLocks xmlns:a="http://schemas.openxmlformats.org/drawingml/2006/main" noChangeAspect="1"/>
          </p:cNvPicPr>
          <p:nvPr/>
        </p:nvPicPr>
        <p:blipFill>
          <a:blip xmlns:r="http://schemas.openxmlformats.org/officeDocument/2006/relationships" xmlns:a="http://schemas.openxmlformats.org/drawingml/2006/main" r:embed="Rfb95843e6366450f"/>
          <a:stretch xmlns:a="http://schemas.openxmlformats.org/drawingml/2006/main"/>
        </p:blipFill>
        <p:spPr>
          <a:xfrm xmlns:a="http://schemas.openxmlformats.org/drawingml/2006/main">
            <a:off x="590550" y="1722254"/>
            <a:ext cx="7410450" cy="38325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3E0DA6-556C-4473-9412-790A4B8368C6}"/>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Aplicación y firmware son distintos. ¿Qué versiones y target debes registrar?</a:t>
            </a:r>
          </a:p>
        </p:txBody>
      </p:sp>
      <p:sp>
        <p:nvSpPr>
          <p:cNvPr id="6" name="">
            <a:extLst xmlns:a="http://schemas.openxmlformats.org/drawingml/2006/main">
              <a:ext uri="{FF2B5EF4-FFF2-40B4-BE49-F238E27FC236}">
                <a16:creationId xmlns:a16="http://schemas.microsoft.com/office/drawing/2014/main" id="{A673B8A5-3BC2-4B05-9C5B-D3292A4FA259}"/>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Pantalla de la aplicación en la documentación oficial. El aspecto y las funciones pueden variar con la versión utilizada en clase.</a:t>
            </a:r>
          </a:p>
        </p:txBody>
      </p:sp>
    </p:spTree>
    <p:extLst>
      <p:ext uri="{BB962C8B-B14F-4D97-AF65-F5344CB8AC3E}">
        <p14:creationId xmlns:p14="http://schemas.microsoft.com/office/powerpoint/2010/main" val="1258310599"/>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1CFE6E-FD16-482D-843D-B816AA8B7AD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Aplicación, firmware y placa son tres cosas</a:t>
            </a:r>
          </a:p>
        </p:txBody>
      </p:sp>
      <p:pic>
        <p:nvPicPr>
          <p:cNvPr id="2" name="">
            <a:extLst xmlns:a="http://schemas.openxmlformats.org/drawingml/2006/main">
              <a:ext uri="{FF2B5EF4-FFF2-40B4-BE49-F238E27FC236}">
                <a16:creationId xmlns:a16="http://schemas.microsoft.com/office/drawing/2014/main" id="{D6C2F92C-DC72-4CB4-B4DB-2ECE7199F6D5}"/>
              </a:ext>
            </a:extLst>
          </p:cNvPr>
          <p:cNvPicPr>
            <a:picLocks xmlns:a="http://schemas.openxmlformats.org/drawingml/2006/main" noChangeAspect="1"/>
          </p:cNvPicPr>
          <p:nvPr/>
        </p:nvPicPr>
        <p:blipFill>
          <a:blip xmlns:r="http://schemas.openxmlformats.org/officeDocument/2006/relationships" xmlns:a="http://schemas.openxmlformats.org/drawingml/2006/main" r:embed="Rf8121a29100849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FB625B0-30C8-4DD9-9DC9-5A3EA0F1109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04/24</a:t>
            </a:r>
          </a:p>
        </p:txBody>
      </p:sp>
      <p:sp>
        <p:nvSpPr>
          <p:cNvPr id="4" name="">
            <a:extLst xmlns:a="http://schemas.openxmlformats.org/drawingml/2006/main">
              <a:ext uri="{FF2B5EF4-FFF2-40B4-BE49-F238E27FC236}">
                <a16:creationId xmlns:a16="http://schemas.microsoft.com/office/drawing/2014/main" id="{0C928486-C13B-4868-BAAD-6EA9C0AD3F7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Conectar una placa por USB no obliga a reinstalar firmware. El primer trabajo es identificar y observar la configuración existente. Cambiar el target por el nombre genérico del procesador puede dejar funciones sin correspondencia con el hardware. Las placas de MECRO se preparan antes de la cohorte: modelo, revisión, firmware, aplicación compatible y copia de configuración. Los campos exactos se completan con el equipo real, sin adivinarlos a partir de “F405”.</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Para estudiar sin controladora, el alumno utiliza las capturas, el manual y el expediente del caso. La práctica de observar canales o sensores reales se muestra con el equipo docente. La aplicación abierta sin hardware no simula la física del multirrotor.</a:t>
            </a:r>
          </a:p>
        </p:txBody>
      </p:sp>
    </p:spTree>
    <p:extLst>
      <p:ext uri="{BB962C8B-B14F-4D97-AF65-F5344CB8AC3E}">
        <p14:creationId xmlns:p14="http://schemas.microsoft.com/office/powerpoint/2010/main" val="375546441"/>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6376D4-6013-45A6-A610-B8FDFEB965E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Conexión USB y respaldo que se puede identificar</a:t>
            </a:r>
          </a:p>
        </p:txBody>
      </p:sp>
      <p:pic>
        <p:nvPicPr>
          <p:cNvPr id="2" name="">
            <a:extLst xmlns:a="http://schemas.openxmlformats.org/drawingml/2006/main">
              <a:ext uri="{FF2B5EF4-FFF2-40B4-BE49-F238E27FC236}">
                <a16:creationId xmlns:a16="http://schemas.microsoft.com/office/drawing/2014/main" id="{0843328A-AC02-45D8-8C03-A99494B670BD}"/>
              </a:ext>
            </a:extLst>
          </p:cNvPr>
          <p:cNvPicPr>
            <a:picLocks xmlns:a="http://schemas.openxmlformats.org/drawingml/2006/main" noChangeAspect="1"/>
          </p:cNvPicPr>
          <p:nvPr/>
        </p:nvPicPr>
        <p:blipFill>
          <a:blip xmlns:r="http://schemas.openxmlformats.org/officeDocument/2006/relationships" xmlns:a="http://schemas.openxmlformats.org/drawingml/2006/main" r:embed="R8ea9061aba1c46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CBB9D0-8B89-4805-9B50-5119DF6E39B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05/24</a:t>
            </a:r>
          </a:p>
        </p:txBody>
      </p:sp>
      <p:sp>
        <p:nvSpPr>
          <p:cNvPr id="4" name="">
            <a:extLst xmlns:a="http://schemas.openxmlformats.org/drawingml/2006/main">
              <a:ext uri="{FF2B5EF4-FFF2-40B4-BE49-F238E27FC236}">
                <a16:creationId xmlns:a16="http://schemas.microsoft.com/office/drawing/2014/main" id="{E3D36EB8-D617-4ABF-A542-78476E9D8B6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tres consultas se leen como herramientas de identificación y diagnóstico; no se incluyen órdenes para borrar configuración ni scripts de otra aeronave. El respaldo contiene valores de una combinación concreta. No se restaura sin revisar sobre otra placa o versión. Si se necesitara reinstalar, el docente consulta el procedimiento oficial y confirma el target antes de la actividad; no se convierte cada conexión inicial en un ejercicio de flasheo.</a:t>
            </a:r>
          </a:p>
        </p:txBody>
      </p:sp>
    </p:spTree>
    <p:extLst>
      <p:ext uri="{BB962C8B-B14F-4D97-AF65-F5344CB8AC3E}">
        <p14:creationId xmlns:p14="http://schemas.microsoft.com/office/powerpoint/2010/main" val="3784122"/>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365C6E-9CD6-4FB9-9778-5DBAA447117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Consultas de lectura en la CLI de Betaflight</a:t>
            </a:r>
          </a:p>
        </p:txBody>
      </p:sp>
      <p:pic>
        <p:nvPicPr>
          <p:cNvPr id="2" name="">
            <a:extLst xmlns:a="http://schemas.openxmlformats.org/drawingml/2006/main">
              <a:ext uri="{FF2B5EF4-FFF2-40B4-BE49-F238E27FC236}">
                <a16:creationId xmlns:a16="http://schemas.microsoft.com/office/drawing/2014/main" id="{3818762D-89F8-4F90-8B40-E5C1CE289CC9}"/>
              </a:ext>
            </a:extLst>
          </p:cNvPr>
          <p:cNvPicPr>
            <a:picLocks xmlns:a="http://schemas.openxmlformats.org/drawingml/2006/main" noChangeAspect="1"/>
          </p:cNvPicPr>
          <p:nvPr/>
        </p:nvPicPr>
        <p:blipFill>
          <a:blip xmlns:r="http://schemas.openxmlformats.org/officeDocument/2006/relationships" xmlns:a="http://schemas.openxmlformats.org/drawingml/2006/main" r:embed="Rf5398a04612d49a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AED631-8768-4CF3-90BA-2A1B35EB18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06/24</a:t>
            </a:r>
          </a:p>
        </p:txBody>
      </p:sp>
      <p:sp>
        <p:nvSpPr>
          <p:cNvPr id="4" name="">
            <a:extLst xmlns:a="http://schemas.openxmlformats.org/drawingml/2006/main">
              <a:ext uri="{FF2B5EF4-FFF2-40B4-BE49-F238E27FC236}">
                <a16:creationId xmlns:a16="http://schemas.microsoft.com/office/drawing/2014/main" id="{3CFC5B43-2FCF-4674-8E91-B9D455B38728}"/>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version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status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diff all</a:t>
            </a:r>
          </a:p>
        </p:txBody>
      </p:sp>
      <p:sp>
        <p:nvSpPr>
          <p:cNvPr id="5" name="">
            <a:extLst xmlns:a="http://schemas.openxmlformats.org/drawingml/2006/main">
              <a:ext uri="{FF2B5EF4-FFF2-40B4-BE49-F238E27FC236}">
                <a16:creationId xmlns:a16="http://schemas.microsoft.com/office/drawing/2014/main" id="{7A0124AB-C948-4C42-BF2D-8FEA20F0873D}"/>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195095202"/>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347046-F9C6-440E-99BF-6B95CE421E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 archivo que perdió su identidad</a:t>
            </a:r>
          </a:p>
        </p:txBody>
      </p:sp>
      <p:pic>
        <p:nvPicPr>
          <p:cNvPr id="2" name="">
            <a:extLst xmlns:a="http://schemas.openxmlformats.org/drawingml/2006/main">
              <a:ext uri="{FF2B5EF4-FFF2-40B4-BE49-F238E27FC236}">
                <a16:creationId xmlns:a16="http://schemas.microsoft.com/office/drawing/2014/main" id="{387A7991-F0F9-485B-9D1E-5700A86E9824}"/>
              </a:ext>
            </a:extLst>
          </p:cNvPr>
          <p:cNvPicPr>
            <a:picLocks xmlns:a="http://schemas.openxmlformats.org/drawingml/2006/main" noChangeAspect="1"/>
          </p:cNvPicPr>
          <p:nvPr/>
        </p:nvPicPr>
        <p:blipFill>
          <a:blip xmlns:r="http://schemas.openxmlformats.org/officeDocument/2006/relationships" xmlns:a="http://schemas.openxmlformats.org/drawingml/2006/main" r:embed="R8e8547cc91484e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374ECE-60BC-4FD1-BECF-5B30AD9B182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07/24</a:t>
            </a:r>
          </a:p>
        </p:txBody>
      </p:sp>
      <p:sp>
        <p:nvSpPr>
          <p:cNvPr id="4" name="">
            <a:extLst xmlns:a="http://schemas.openxmlformats.org/drawingml/2006/main">
              <a:ext uri="{FF2B5EF4-FFF2-40B4-BE49-F238E27FC236}">
                <a16:creationId xmlns:a16="http://schemas.microsoft.com/office/drawing/2014/main" id="{CFE76FB1-ACA7-47F1-8E4F-8A9A9EB12F44}"/>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estudiante guarda “config_final.txt” sin placa ni versión. ¿Qué falta?</a:t>
            </a:r>
          </a:p>
        </p:txBody>
      </p:sp>
      <p:sp>
        <p:nvSpPr>
          <p:cNvPr id="5" name="">
            <a:extLst xmlns:a="http://schemas.openxmlformats.org/drawingml/2006/main">
              <a:ext uri="{FF2B5EF4-FFF2-40B4-BE49-F238E27FC236}">
                <a16:creationId xmlns:a16="http://schemas.microsoft.com/office/drawing/2014/main" id="{275DEEB7-2B5F-44BC-9ECA-CA1587251C72}"/>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Un nombre y una ficha que relacionen el archivo con equipo, firmware, aplicación y fecha. Sin esa identidad no se sabe a qué hardware ni a qué estado corresponde.</a:t>
            </a:r>
          </a:p>
        </p:txBody>
      </p:sp>
    </p:spTree>
    <p:extLst>
      <p:ext uri="{BB962C8B-B14F-4D97-AF65-F5344CB8AC3E}">
        <p14:creationId xmlns:p14="http://schemas.microsoft.com/office/powerpoint/2010/main" val="586728651"/>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B1151E-1799-4B8D-BE00-6DF9D120AD6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Orientación de la placa y referencia de ejes</a:t>
            </a:r>
          </a:p>
        </p:txBody>
      </p:sp>
      <p:pic>
        <p:nvPicPr>
          <p:cNvPr id="2" name="">
            <a:extLst xmlns:a="http://schemas.openxmlformats.org/drawingml/2006/main">
              <a:ext uri="{FF2B5EF4-FFF2-40B4-BE49-F238E27FC236}">
                <a16:creationId xmlns:a16="http://schemas.microsoft.com/office/drawing/2014/main" id="{013590CD-AE75-49B3-93CF-0CFBDA1A9213}"/>
              </a:ext>
            </a:extLst>
          </p:cNvPr>
          <p:cNvPicPr>
            <a:picLocks xmlns:a="http://schemas.openxmlformats.org/drawingml/2006/main" noChangeAspect="1"/>
          </p:cNvPicPr>
          <p:nvPr/>
        </p:nvPicPr>
        <p:blipFill>
          <a:blip xmlns:r="http://schemas.openxmlformats.org/officeDocument/2006/relationships" xmlns:a="http://schemas.openxmlformats.org/drawingml/2006/main" r:embed="R1192e980b51b458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B30DAB-9421-4A70-9C71-0DD41B4C4BF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08/24</a:t>
            </a:r>
          </a:p>
        </p:txBody>
      </p:sp>
      <p:sp>
        <p:nvSpPr>
          <p:cNvPr id="4" name="">
            <a:extLst xmlns:a="http://schemas.openxmlformats.org/drawingml/2006/main">
              <a:ext uri="{FF2B5EF4-FFF2-40B4-BE49-F238E27FC236}">
                <a16:creationId xmlns:a16="http://schemas.microsoft.com/office/drawing/2014/main" id="{B8E4E726-8982-41ED-A417-D9954B3BC6E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controladora interpreta movimientos en sus ejes. La orientación física y el ajuste de montaje deben corresponder a la aeronave. El docente muestra un movimiento lento del bastidor y la respuesta del modelo 3D. Se compara inclinación hacia delante, lateral y giro, uno por vez. La vista sirve para comprobar coherencia de la orientación estimada; no constituye una prueba de que el dron vuele ni de que los motores estén bien asignados.</a:t>
            </a:r>
          </a:p>
        </p:txBody>
      </p:sp>
    </p:spTree>
    <p:extLst>
      <p:ext uri="{BB962C8B-B14F-4D97-AF65-F5344CB8AC3E}">
        <p14:creationId xmlns:p14="http://schemas.microsoft.com/office/powerpoint/2010/main" val="1946121259"/>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209C00-A7FA-4AF0-993F-285A038CD0A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Comprobaciones independientes</a:t>
            </a:r>
          </a:p>
        </p:txBody>
      </p:sp>
      <p:pic>
        <p:nvPicPr>
          <p:cNvPr id="2" name="">
            <a:extLst xmlns:a="http://schemas.openxmlformats.org/drawingml/2006/main">
              <a:ext uri="{FF2B5EF4-FFF2-40B4-BE49-F238E27FC236}">
                <a16:creationId xmlns:a16="http://schemas.microsoft.com/office/drawing/2014/main" id="{7FAE8524-45AC-48E1-929B-C4CB48CD14D1}"/>
              </a:ext>
            </a:extLst>
          </p:cNvPr>
          <p:cNvPicPr>
            <a:picLocks xmlns:a="http://schemas.openxmlformats.org/drawingml/2006/main" noChangeAspect="1"/>
          </p:cNvPicPr>
          <p:nvPr/>
        </p:nvPicPr>
        <p:blipFill>
          <a:blip xmlns:r="http://schemas.openxmlformats.org/officeDocument/2006/relationships" xmlns:a="http://schemas.openxmlformats.org/drawingml/2006/main" r:embed="R6f079d39e3c34bf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56D8D4-8DA0-4C09-9CD7-8B236EF0D93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09/24</a:t>
            </a:r>
          </a:p>
        </p:txBody>
      </p:sp>
      <p:graphicFrame>
        <p:nvGraphicFramePr>
          <p:cNvPr id="4" name="">
            <a:extLst xmlns:a="http://schemas.openxmlformats.org/drawingml/2006/main">
              <a:ext uri="{FF2B5EF4-FFF2-40B4-BE49-F238E27FC236}">
                <a16:creationId xmlns:a16="http://schemas.microsoft.com/office/drawing/2014/main" id="{E0676EE3-C90F-4479-A463-3FFC02F60BF1}"/>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Acción del docente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observa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todavía no demuestra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Inclinar hacia delante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Modelo responde con sentido coherente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Empuje o orden de motores</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Inclinar lateralmente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Ejes y orientación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Sintonía de control</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Girar sobre mesa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Representación correspondiente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Navegación GPS completa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39084861"/>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98E606-069A-4585-86D7-33B43332D18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Orientación de la placa y referencia de ejes</a:t>
            </a:r>
          </a:p>
        </p:txBody>
      </p:sp>
      <p:pic>
        <p:nvPicPr>
          <p:cNvPr id="2" name="">
            <a:extLst xmlns:a="http://schemas.openxmlformats.org/drawingml/2006/main">
              <a:ext uri="{FF2B5EF4-FFF2-40B4-BE49-F238E27FC236}">
                <a16:creationId xmlns:a16="http://schemas.microsoft.com/office/drawing/2014/main" id="{2E2CA018-AB1F-421C-8FFE-1DC07CA29BA8}"/>
              </a:ext>
            </a:extLst>
          </p:cNvPr>
          <p:cNvPicPr>
            <a:picLocks xmlns:a="http://schemas.openxmlformats.org/drawingml/2006/main" noChangeAspect="1"/>
          </p:cNvPicPr>
          <p:nvPr/>
        </p:nvPicPr>
        <p:blipFill>
          <a:blip xmlns:r="http://schemas.openxmlformats.org/officeDocument/2006/relationships" xmlns:a="http://schemas.openxmlformats.org/drawingml/2006/main" r:embed="R6d5d02cf3e5f474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FDC3A4-A4AC-41A5-B4A4-BB2E2D38A6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10/24</a:t>
            </a:r>
          </a:p>
        </p:txBody>
      </p:sp>
      <p:sp>
        <p:nvSpPr>
          <p:cNvPr id="4" name="">
            <a:extLst xmlns:a="http://schemas.openxmlformats.org/drawingml/2006/main">
              <a:ext uri="{FF2B5EF4-FFF2-40B4-BE49-F238E27FC236}">
                <a16:creationId xmlns:a16="http://schemas.microsoft.com/office/drawing/2014/main" id="{6637E3EB-0CE8-4754-ADF4-BEC9CF07DD1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Si la flecha de la FC apunta a otro lado, no se compensa corrigiendo el mapa del receptor al azar. Cada transformación tiene un lugar: montaje de sensor, entrada de mando y asignación de salidas. El expediente anota dónde se definió la orientación. Cambiar varias a la vez puede ocultar el origen del problema y producir una configuración difícil de revisar.</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acelerómetro y el giróscopo observan magnitudes diferentes. La calibración se realiza con el método requerido por firmware y equipo. El curso introduce qué referencia se está corrigiendo; no promete eliminar todas las vibraciones o errores mediante un solo botón.</a:t>
            </a:r>
          </a:p>
        </p:txBody>
      </p:sp>
    </p:spTree>
    <p:extLst>
      <p:ext uri="{BB962C8B-B14F-4D97-AF65-F5344CB8AC3E}">
        <p14:creationId xmlns:p14="http://schemas.microsoft.com/office/powerpoint/2010/main" val="2119416707"/>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E5FEAF-333D-473C-889F-93A638949E4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Receptor, canales y modos de operación</a:t>
            </a:r>
          </a:p>
        </p:txBody>
      </p:sp>
      <p:pic>
        <p:nvPicPr>
          <p:cNvPr id="2" name="">
            <a:extLst xmlns:a="http://schemas.openxmlformats.org/drawingml/2006/main">
              <a:ext uri="{FF2B5EF4-FFF2-40B4-BE49-F238E27FC236}">
                <a16:creationId xmlns:a16="http://schemas.microsoft.com/office/drawing/2014/main" id="{27F14EDB-C0D4-4F6B-BA35-8C0C8C1C173A}"/>
              </a:ext>
            </a:extLst>
          </p:cNvPr>
          <p:cNvPicPr>
            <a:picLocks xmlns:a="http://schemas.openxmlformats.org/drawingml/2006/main" noChangeAspect="1"/>
          </p:cNvPicPr>
          <p:nvPr/>
        </p:nvPicPr>
        <p:blipFill>
          <a:blip xmlns:r="http://schemas.openxmlformats.org/officeDocument/2006/relationships" xmlns:a="http://schemas.openxmlformats.org/drawingml/2006/main" r:embed="R14e2553dd3ad45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882A5E7-64E1-44B5-9F59-0168EB2E052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11/24</a:t>
            </a:r>
          </a:p>
        </p:txBody>
      </p:sp>
      <p:sp>
        <p:nvSpPr>
          <p:cNvPr id="4" name="">
            <a:extLst xmlns:a="http://schemas.openxmlformats.org/drawingml/2006/main">
              <a:ext uri="{FF2B5EF4-FFF2-40B4-BE49-F238E27FC236}">
                <a16:creationId xmlns:a16="http://schemas.microsoft.com/office/drawing/2014/main" id="{CD9315B2-6468-4F7C-887B-6313828AA9A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tabla de puertos de la clase anterior explica por dónde llega el receptor. En la pestaña correspondiente se comprueba que cada control humano mueva el canal previsto y que los interruptores tengan una función documentada. Si el mando lateral altera otro canal, se investiga la asignación. No basta observar que varias barras se mueven.</a:t>
            </a:r>
          </a:p>
        </p:txBody>
      </p:sp>
    </p:spTree>
    <p:extLst>
      <p:ext uri="{BB962C8B-B14F-4D97-AF65-F5344CB8AC3E}">
        <p14:creationId xmlns:p14="http://schemas.microsoft.com/office/powerpoint/2010/main" val="105718274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185F1-AC44-4040-B9D3-54DD811ED9D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Receptor, canales y modos de operación</a:t>
            </a:r>
          </a:p>
        </p:txBody>
      </p:sp>
      <p:pic>
        <p:nvPicPr>
          <p:cNvPr id="2" name="">
            <a:extLst xmlns:a="http://schemas.openxmlformats.org/drawingml/2006/main">
              <a:ext uri="{FF2B5EF4-FFF2-40B4-BE49-F238E27FC236}">
                <a16:creationId xmlns:a16="http://schemas.microsoft.com/office/drawing/2014/main" id="{9AC2A541-6698-48BF-8526-C15CC8A1AF79}"/>
              </a:ext>
            </a:extLst>
          </p:cNvPr>
          <p:cNvPicPr>
            <a:picLocks xmlns:a="http://schemas.openxmlformats.org/drawingml/2006/main" noChangeAspect="1"/>
          </p:cNvPicPr>
          <p:nvPr/>
        </p:nvPicPr>
        <p:blipFill>
          <a:blip xmlns:r="http://schemas.openxmlformats.org/officeDocument/2006/relationships" xmlns:a="http://schemas.openxmlformats.org/drawingml/2006/main" r:embed="Ra997af0e46384ce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9D6F89-18A5-44CD-A27C-4413604791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12/24</a:t>
            </a:r>
          </a:p>
        </p:txBody>
      </p:sp>
      <p:pic>
        <p:nvPicPr>
          <p:cNvPr id="4" name="">
            <a:extLst xmlns:a="http://schemas.openxmlformats.org/drawingml/2006/main">
              <a:ext uri="{FF2B5EF4-FFF2-40B4-BE49-F238E27FC236}">
                <a16:creationId xmlns:a16="http://schemas.microsoft.com/office/drawing/2014/main" id="{FFE7F4C2-3E2E-4DF6-B215-4FD902162BC3}"/>
              </a:ext>
            </a:extLst>
          </p:cNvPr>
          <p:cNvPicPr>
            <a:picLocks xmlns:a="http://schemas.openxmlformats.org/drawingml/2006/main" noChangeAspect="1"/>
          </p:cNvPicPr>
          <p:nvPr/>
        </p:nvPicPr>
        <p:blipFill>
          <a:blip xmlns:r="http://schemas.openxmlformats.org/officeDocument/2006/relationships" xmlns:a="http://schemas.openxmlformats.org/drawingml/2006/main" r:embed="R613f74a958f246bb"/>
          <a:stretch xmlns:a="http://schemas.openxmlformats.org/drawingml/2006/main"/>
        </p:blipFill>
        <p:spPr>
          <a:xfrm xmlns:a="http://schemas.openxmlformats.org/drawingml/2006/main">
            <a:off x="590550" y="1880508"/>
            <a:ext cx="7410450" cy="35160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F53349A-39C4-457C-9847-F9EB7430C8E6}"/>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Mueve un control por vez. ¿Cómo sabes que llega al canal previsto?</a:t>
            </a:r>
          </a:p>
        </p:txBody>
      </p:sp>
      <p:sp>
        <p:nvSpPr>
          <p:cNvPr id="6" name="">
            <a:extLst xmlns:a="http://schemas.openxmlformats.org/drawingml/2006/main">
              <a:ext uri="{FF2B5EF4-FFF2-40B4-BE49-F238E27FC236}">
                <a16:creationId xmlns:a16="http://schemas.microsoft.com/office/drawing/2014/main" id="{BB979ACC-66FC-462C-AB1B-46ABB4723602}"/>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Pestaña Receiver del manual Betaflight. Los valores son los de la captura documental, no una calibración del equipo MECRO.</a:t>
            </a:r>
          </a:p>
        </p:txBody>
      </p:sp>
    </p:spTree>
    <p:extLst>
      <p:ext uri="{BB962C8B-B14F-4D97-AF65-F5344CB8AC3E}">
        <p14:creationId xmlns:p14="http://schemas.microsoft.com/office/powerpoint/2010/main" val="569478336"/>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977BF2-9832-498C-8467-46E559939BC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Pruebas del mando</a:t>
            </a:r>
          </a:p>
        </p:txBody>
      </p:sp>
      <p:pic>
        <p:nvPicPr>
          <p:cNvPr id="2" name="">
            <a:extLst xmlns:a="http://schemas.openxmlformats.org/drawingml/2006/main">
              <a:ext uri="{FF2B5EF4-FFF2-40B4-BE49-F238E27FC236}">
                <a16:creationId xmlns:a16="http://schemas.microsoft.com/office/drawing/2014/main" id="{711D8AF5-C6C5-4995-BDD9-CA11897C4A1E}"/>
              </a:ext>
            </a:extLst>
          </p:cNvPr>
          <p:cNvPicPr>
            <a:picLocks xmlns:a="http://schemas.openxmlformats.org/drawingml/2006/main" noChangeAspect="1"/>
          </p:cNvPicPr>
          <p:nvPr/>
        </p:nvPicPr>
        <p:blipFill>
          <a:blip xmlns:r="http://schemas.openxmlformats.org/officeDocument/2006/relationships" xmlns:a="http://schemas.openxmlformats.org/drawingml/2006/main" r:embed="R107e4ef311614f5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D20C7D-2139-430B-8387-079768D141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13/24</a:t>
            </a:r>
          </a:p>
        </p:txBody>
      </p:sp>
      <p:graphicFrame>
        <p:nvGraphicFramePr>
          <p:cNvPr id="4" name="">
            <a:extLst xmlns:a="http://schemas.openxmlformats.org/drawingml/2006/main">
              <a:ext uri="{FF2B5EF4-FFF2-40B4-BE49-F238E27FC236}">
                <a16:creationId xmlns:a16="http://schemas.microsoft.com/office/drawing/2014/main" id="{1F763C3D-A68C-4B52-A63F-189EA13F706E}"/>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Acción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Decisión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Mover un eje por vez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Canal y sentido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Conservar o corregir mapa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Volver al centro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Valor y dispersión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Revisar referencia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Accionar interruptor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Rango y función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Modo previsto identificado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Estado de enlace preparado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Indicación de recepción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Contrastar con failsafe</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817233892"/>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E6E25A-465D-4433-B3B2-7E0E4527B2E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configuración comentada</a:t>
            </a:r>
          </a:p>
        </p:txBody>
      </p:sp>
      <p:pic>
        <p:nvPicPr>
          <p:cNvPr id="2" name="">
            <a:extLst xmlns:a="http://schemas.openxmlformats.org/drawingml/2006/main">
              <a:ext uri="{FF2B5EF4-FFF2-40B4-BE49-F238E27FC236}">
                <a16:creationId xmlns:a16="http://schemas.microsoft.com/office/drawing/2014/main" id="{3B777CFA-4F7F-494C-AA61-1A77022F79C1}"/>
              </a:ext>
            </a:extLst>
          </p:cNvPr>
          <p:cNvPicPr>
            <a:picLocks xmlns:a="http://schemas.openxmlformats.org/drawingml/2006/main" noChangeAspect="1"/>
          </p:cNvPicPr>
          <p:nvPr/>
        </p:nvPicPr>
        <p:blipFill>
          <a:blip xmlns:r="http://schemas.openxmlformats.org/officeDocument/2006/relationships" xmlns:a="http://schemas.openxmlformats.org/drawingml/2006/main" r:embed="Rbe3917a3da2b40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0D8D06-1018-4D0B-891A-9971B16A81C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14/24</a:t>
            </a:r>
          </a:p>
        </p:txBody>
      </p:sp>
      <p:sp>
        <p:nvSpPr>
          <p:cNvPr id="4" name="">
            <a:extLst xmlns:a="http://schemas.openxmlformats.org/drawingml/2006/main">
              <a:ext uri="{FF2B5EF4-FFF2-40B4-BE49-F238E27FC236}">
                <a16:creationId xmlns:a16="http://schemas.microsoft.com/office/drawing/2014/main" id="{E90F3E91-2910-4C0F-8B22-BA02FF88012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clase alterna demostración y lectura individual de capturas. El estudiante no necesita una FC propia para explicar el caso, pero declara si observó el equipo del docente o ejecutó una comprobación en su propio hardware. Las evidencias se guardan con nombre de versión. Así una captura posterior puede compararse con el estado anterior sin depender de la memoria del operador.</a:t>
            </a:r>
          </a:p>
        </p:txBody>
      </p:sp>
    </p:spTree>
    <p:extLst>
      <p:ext uri="{BB962C8B-B14F-4D97-AF65-F5344CB8AC3E}">
        <p14:creationId xmlns:p14="http://schemas.microsoft.com/office/powerpoint/2010/main" val="197999756"/>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DE775A-0C49-4FB3-882A-452BB5195AB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26E3C744-D451-4611-9ADD-18D23BF5F8CA}"/>
              </a:ext>
            </a:extLst>
          </p:cNvPr>
          <p:cNvPicPr>
            <a:picLocks xmlns:a="http://schemas.openxmlformats.org/drawingml/2006/main" noChangeAspect="1"/>
          </p:cNvPicPr>
          <p:nvPr/>
        </p:nvPicPr>
        <p:blipFill>
          <a:blip xmlns:r="http://schemas.openxmlformats.org/officeDocument/2006/relationships" xmlns:a="http://schemas.openxmlformats.org/drawingml/2006/main" r:embed="R1b860aeb1ffe4c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3587DB-230B-4A5A-8084-B02BE023B3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15/24</a:t>
            </a:r>
          </a:p>
        </p:txBody>
      </p:sp>
      <p:sp>
        <p:nvSpPr>
          <p:cNvPr id="4" name="">
            <a:extLst xmlns:a="http://schemas.openxmlformats.org/drawingml/2006/main">
              <a:ext uri="{FF2B5EF4-FFF2-40B4-BE49-F238E27FC236}">
                <a16:creationId xmlns:a16="http://schemas.microsoft.com/office/drawing/2014/main" id="{54D595DB-B94F-4280-AB5D-DB0C51F866A0}"/>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modelo 3D demuestra que el dron está listo para vuelo?</a:t>
            </a:r>
          </a:p>
        </p:txBody>
      </p:sp>
      <p:sp>
        <p:nvSpPr>
          <p:cNvPr id="5" name="">
            <a:extLst xmlns:a="http://schemas.openxmlformats.org/drawingml/2006/main">
              <a:ext uri="{FF2B5EF4-FFF2-40B4-BE49-F238E27FC236}">
                <a16:creationId xmlns:a16="http://schemas.microsoft.com/office/drawing/2014/main" id="{53F0BA8F-DA94-418A-8ED6-2F7BF192A9CE}"/>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Los alumnos con hardware propio solo realizan cambios después de identificar placa y configuración. Durante la demostración no se distribuye un archivo universal para todos los drones. Lo que se comparte es el método de observar, justificar un cambio pequeño y verificar su resultado.</a:t>
            </a:r>
          </a:p>
        </p:txBody>
      </p:sp>
    </p:spTree>
    <p:extLst>
      <p:ext uri="{BB962C8B-B14F-4D97-AF65-F5344CB8AC3E}">
        <p14:creationId xmlns:p14="http://schemas.microsoft.com/office/powerpoint/2010/main" val="1504749947"/>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14F1CE-F366-4C4F-AA01-F1947043E1B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configuración comentada</a:t>
            </a:r>
          </a:p>
        </p:txBody>
      </p:sp>
      <p:pic>
        <p:nvPicPr>
          <p:cNvPr id="2" name="">
            <a:extLst xmlns:a="http://schemas.openxmlformats.org/drawingml/2006/main">
              <a:ext uri="{FF2B5EF4-FFF2-40B4-BE49-F238E27FC236}">
                <a16:creationId xmlns:a16="http://schemas.microsoft.com/office/drawing/2014/main" id="{AA727522-300A-4D11-9F71-CB89ED95186D}"/>
              </a:ext>
            </a:extLst>
          </p:cNvPr>
          <p:cNvPicPr>
            <a:picLocks xmlns:a="http://schemas.openxmlformats.org/drawingml/2006/main" noChangeAspect="1"/>
          </p:cNvPicPr>
          <p:nvPr/>
        </p:nvPicPr>
        <p:blipFill>
          <a:blip xmlns:r="http://schemas.openxmlformats.org/officeDocument/2006/relationships" xmlns:a="http://schemas.openxmlformats.org/drawingml/2006/main" r:embed="R34cd7848f1e9411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AC5A26-BD6F-4CD6-B484-145BCA58F2B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16/24</a:t>
            </a:r>
          </a:p>
        </p:txBody>
      </p:sp>
      <p:sp>
        <p:nvSpPr>
          <p:cNvPr id="4" name="">
            <a:extLst xmlns:a="http://schemas.openxmlformats.org/drawingml/2006/main">
              <a:ext uri="{FF2B5EF4-FFF2-40B4-BE49-F238E27FC236}">
                <a16:creationId xmlns:a16="http://schemas.microsoft.com/office/drawing/2014/main" id="{9CCC5E6B-5428-4AC3-AA8C-FA8125F4AA0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Completa la ficha de equipo con versión, target y aplicación del caso mostrado.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Conserva una copia previa y explica para qué serviría.</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Relaciona una línea del esquema con una asignación de puerto.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Describe la respuesta esperada del modelo 3D en tres movimientos lentos.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Relaciona tres controles de la radio con sus canales y funciones.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Localiza una discrepancia preparada: puerto, mapa de canales u orientación. Formula una comprobación por vez.</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Entrega una configuración comentada: qué describe cada evidencia y qué no fue probado.</a:t>
            </a:r>
          </a:p>
        </p:txBody>
      </p:sp>
    </p:spTree>
    <p:extLst>
      <p:ext uri="{BB962C8B-B14F-4D97-AF65-F5344CB8AC3E}">
        <p14:creationId xmlns:p14="http://schemas.microsoft.com/office/powerpoint/2010/main" val="1673292494"/>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5A1CD6-DE8A-4F20-901F-CF89190E96F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pantalla útil para el ensamblador</a:t>
            </a:r>
          </a:p>
        </p:txBody>
      </p:sp>
      <p:pic>
        <p:nvPicPr>
          <p:cNvPr id="2" name="">
            <a:extLst xmlns:a="http://schemas.openxmlformats.org/drawingml/2006/main">
              <a:ext uri="{FF2B5EF4-FFF2-40B4-BE49-F238E27FC236}">
                <a16:creationId xmlns:a16="http://schemas.microsoft.com/office/drawing/2014/main" id="{1ACEBDD3-220C-4A9C-9384-5D33A7CE237F}"/>
              </a:ext>
            </a:extLst>
          </p:cNvPr>
          <p:cNvPicPr>
            <a:picLocks xmlns:a="http://schemas.openxmlformats.org/drawingml/2006/main" noChangeAspect="1"/>
          </p:cNvPicPr>
          <p:nvPr/>
        </p:nvPicPr>
        <p:blipFill>
          <a:blip xmlns:r="http://schemas.openxmlformats.org/officeDocument/2006/relationships" xmlns:a="http://schemas.openxmlformats.org/drawingml/2006/main" r:embed="R0c425093b90a4a3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F82BFD-24B5-4BEA-8DE2-463D36F5C2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17/24</a:t>
            </a:r>
          </a:p>
        </p:txBody>
      </p:sp>
      <p:sp>
        <p:nvSpPr>
          <p:cNvPr id="4" name="">
            <a:extLst xmlns:a="http://schemas.openxmlformats.org/drawingml/2006/main">
              <a:ext uri="{FF2B5EF4-FFF2-40B4-BE49-F238E27FC236}">
                <a16:creationId xmlns:a16="http://schemas.microsoft.com/office/drawing/2014/main" id="{1350CF9F-F859-4BDC-89F6-FEEAA4FE7B1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sesión siguiente completa la puesta en marcha con salidas, sentidos, comprobaciones de enlace y un modelo sencillo de control. La prioridad sigue siendo ensamblar con criterio. No se dedica el tiempo principal a ajustar ganancias avanzadas antes de demostrar que la orientación, los canales y las salidas coinciden con el objeto.</a:t>
            </a:r>
          </a:p>
        </p:txBody>
      </p:sp>
    </p:spTree>
    <p:extLst>
      <p:ext uri="{BB962C8B-B14F-4D97-AF65-F5344CB8AC3E}">
        <p14:creationId xmlns:p14="http://schemas.microsoft.com/office/powerpoint/2010/main" val="193193560"/>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BEC9FA-B0E1-401F-924B-B4A98B8C12C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Investigación dirigida</a:t>
            </a:r>
          </a:p>
        </p:txBody>
      </p:sp>
      <p:pic>
        <p:nvPicPr>
          <p:cNvPr id="2" name="">
            <a:extLst xmlns:a="http://schemas.openxmlformats.org/drawingml/2006/main">
              <a:ext uri="{FF2B5EF4-FFF2-40B4-BE49-F238E27FC236}">
                <a16:creationId xmlns:a16="http://schemas.microsoft.com/office/drawing/2014/main" id="{5589E58F-E77F-4076-B96E-C81F594C6294}"/>
              </a:ext>
            </a:extLst>
          </p:cNvPr>
          <p:cNvPicPr>
            <a:picLocks xmlns:a="http://schemas.openxmlformats.org/drawingml/2006/main" noChangeAspect="1"/>
          </p:cNvPicPr>
          <p:nvPr/>
        </p:nvPicPr>
        <p:blipFill>
          <a:blip xmlns:r="http://schemas.openxmlformats.org/officeDocument/2006/relationships" xmlns:a="http://schemas.openxmlformats.org/drawingml/2006/main" r:embed="Rfc4ccdce40014c6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199D5B-F8D4-4D13-A4DE-CBBCCF6A2E2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18/24</a:t>
            </a:r>
          </a:p>
        </p:txBody>
      </p:sp>
      <p:graphicFrame>
        <p:nvGraphicFramePr>
          <p:cNvPr id="4" name="">
            <a:extLst xmlns:a="http://schemas.openxmlformats.org/drawingml/2006/main">
              <a:ext uri="{FF2B5EF4-FFF2-40B4-BE49-F238E27FC236}">
                <a16:creationId xmlns:a16="http://schemas.microsoft.com/office/drawing/2014/main" id="{B698D3B0-F2E2-4CD6-AB6D-F476AD8573F8}"/>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Tema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debe encontrar el alumno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Aplicación compatible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Referencia oficial para la versión del caso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Target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Identificador de la placa exacta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Una función de un puerto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Relación con el cableado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Un mensaje de estado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Condición que expresa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334837582"/>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E0FF61-B2E5-4460-8AD2-D7526FE5197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USB funciona, un motor no</a:t>
            </a:r>
          </a:p>
        </p:txBody>
      </p:sp>
      <p:pic>
        <p:nvPicPr>
          <p:cNvPr id="2" name="">
            <a:extLst xmlns:a="http://schemas.openxmlformats.org/drawingml/2006/main">
              <a:ext uri="{FF2B5EF4-FFF2-40B4-BE49-F238E27FC236}">
                <a16:creationId xmlns:a16="http://schemas.microsoft.com/office/drawing/2014/main" id="{CF7E3281-FDF1-46C5-B7A5-F70404643B8D}"/>
              </a:ext>
            </a:extLst>
          </p:cNvPr>
          <p:cNvPicPr>
            <a:picLocks xmlns:a="http://schemas.openxmlformats.org/drawingml/2006/main" noChangeAspect="1"/>
          </p:cNvPicPr>
          <p:nvPr/>
        </p:nvPicPr>
        <p:blipFill>
          <a:blip xmlns:r="http://schemas.openxmlformats.org/officeDocument/2006/relationships" xmlns:a="http://schemas.openxmlformats.org/drawingml/2006/main" r:embed="R5053745135b640b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BA7B0C-F815-4809-9987-8B2D0887199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19/24</a:t>
            </a:r>
          </a:p>
        </p:txBody>
      </p:sp>
      <p:sp>
        <p:nvSpPr>
          <p:cNvPr id="4" name="">
            <a:extLst xmlns:a="http://schemas.openxmlformats.org/drawingml/2006/main">
              <a:ext uri="{FF2B5EF4-FFF2-40B4-BE49-F238E27FC236}">
                <a16:creationId xmlns:a16="http://schemas.microsoft.com/office/drawing/2014/main" id="{09F2E9EF-FD1A-42F9-9720-1758585FD94A}"/>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La FC conecta por USB pero un motor no se mueve. ¿Se demuestra un fallo del firmware?</a:t>
            </a:r>
          </a:p>
        </p:txBody>
      </p:sp>
      <p:sp>
        <p:nvSpPr>
          <p:cNvPr id="5" name="">
            <a:extLst xmlns:a="http://schemas.openxmlformats.org/drawingml/2006/main">
              <a:ext uri="{FF2B5EF4-FFF2-40B4-BE49-F238E27FC236}">
                <a16:creationId xmlns:a16="http://schemas.microsoft.com/office/drawing/2014/main" id="{9E81C5B7-CF9A-4A01-94C7-DA7BC6F9A5FB}"/>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USB puede alimentar la FC sin alimentar la etapa del motor. Se revisan por separado energía del ESC, conexión de señal y configuración; la prueba de motores se realizará en el banco preparado, sin hélices.</a:t>
            </a:r>
          </a:p>
        </p:txBody>
      </p:sp>
    </p:spTree>
    <p:extLst>
      <p:ext uri="{BB962C8B-B14F-4D97-AF65-F5344CB8AC3E}">
        <p14:creationId xmlns:p14="http://schemas.microsoft.com/office/powerpoint/2010/main" val="1762167385"/>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EFF8AB-20DE-479A-A08B-22F0ED2C75D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530CB27D-8B00-450E-B185-F78115563987}"/>
              </a:ext>
            </a:extLst>
          </p:cNvPr>
          <p:cNvPicPr>
            <a:picLocks xmlns:a="http://schemas.openxmlformats.org/drawingml/2006/main" noChangeAspect="1"/>
          </p:cNvPicPr>
          <p:nvPr/>
        </p:nvPicPr>
        <p:blipFill>
          <a:blip xmlns:r="http://schemas.openxmlformats.org/officeDocument/2006/relationships" xmlns:a="http://schemas.openxmlformats.org/drawingml/2006/main" r:embed="R73e6276f4fbc47f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C364D4-60F7-4BC6-9F94-AFB6EA0875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20/24</a:t>
            </a:r>
          </a:p>
        </p:txBody>
      </p:sp>
      <p:sp>
        <p:nvSpPr>
          <p:cNvPr id="4" name="">
            <a:extLst xmlns:a="http://schemas.openxmlformats.org/drawingml/2006/main">
              <a:ext uri="{FF2B5EF4-FFF2-40B4-BE49-F238E27FC236}">
                <a16:creationId xmlns:a16="http://schemas.microsoft.com/office/drawing/2014/main" id="{210C40DF-C33B-43C0-BE1D-5661A294F4D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Distinguir la aplicación de lo que se ejecuta en la FC.</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Mostrar conexión e identificación antes de cualquier modificación.</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Relacionar ejes, canales y puertos con tres pruebas independientes.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Resolver una discrepancia preparada y conservar el estado anterior.</a:t>
            </a:r>
          </a:p>
        </p:txBody>
      </p:sp>
    </p:spTree>
    <p:extLst>
      <p:ext uri="{BB962C8B-B14F-4D97-AF65-F5344CB8AC3E}">
        <p14:creationId xmlns:p14="http://schemas.microsoft.com/office/powerpoint/2010/main" val="123604803"/>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BB888C-FE34-471D-AE6F-D38B8EE23D7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F08E61ED-78CD-4D6A-96D7-8531AE62BE01}"/>
              </a:ext>
            </a:extLst>
          </p:cNvPr>
          <p:cNvPicPr>
            <a:picLocks xmlns:a="http://schemas.openxmlformats.org/drawingml/2006/main" noChangeAspect="1"/>
          </p:cNvPicPr>
          <p:nvPr/>
        </p:nvPicPr>
        <p:blipFill>
          <a:blip xmlns:r="http://schemas.openxmlformats.org/officeDocument/2006/relationships" xmlns:a="http://schemas.openxmlformats.org/drawingml/2006/main" r:embed="R19946fac6050488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96E3F9-F57B-4728-ABDB-A0F90126850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21/24</a:t>
            </a:r>
          </a:p>
        </p:txBody>
      </p:sp>
      <p:sp>
        <p:nvSpPr>
          <p:cNvPr id="4" name="">
            <a:extLst xmlns:a="http://schemas.openxmlformats.org/drawingml/2006/main">
              <a:ext uri="{FF2B5EF4-FFF2-40B4-BE49-F238E27FC236}">
                <a16:creationId xmlns:a16="http://schemas.microsoft.com/office/drawing/2014/main" id="{C90826BC-8587-4A08-B73D-CFD5094B301A}"/>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configuración se enseña como una descripción comprobable del ensamblaje y se conserva antes de modificarla.</a:t>
            </a:r>
          </a:p>
        </p:txBody>
      </p:sp>
      <p:sp>
        <p:nvSpPr>
          <p:cNvPr id="5" name="">
            <a:extLst xmlns:a="http://schemas.openxmlformats.org/drawingml/2006/main">
              <a:ext uri="{FF2B5EF4-FFF2-40B4-BE49-F238E27FC236}">
                <a16:creationId xmlns:a16="http://schemas.microsoft.com/office/drawing/2014/main" id="{DB998BD5-20C7-4D6F-A934-4433494036FA}"/>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1320093505"/>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75098-852C-45C6-9F95-6312F085CC9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420CAF64-44B4-47DD-BE0C-2E594D7683E4}"/>
              </a:ext>
            </a:extLst>
          </p:cNvPr>
          <p:cNvPicPr>
            <a:picLocks xmlns:a="http://schemas.openxmlformats.org/drawingml/2006/main" noChangeAspect="1"/>
          </p:cNvPicPr>
          <p:nvPr/>
        </p:nvPicPr>
        <p:blipFill>
          <a:blip xmlns:r="http://schemas.openxmlformats.org/officeDocument/2006/relationships" xmlns:a="http://schemas.openxmlformats.org/drawingml/2006/main" r:embed="R5352a6e916e04cf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445DE5-2C4D-4363-ADEF-C7181CF658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22/24</a:t>
            </a:r>
          </a:p>
        </p:txBody>
      </p:sp>
      <p:sp>
        <p:nvSpPr>
          <p:cNvPr id="4" name="">
            <a:extLst xmlns:a="http://schemas.openxmlformats.org/drawingml/2006/main">
              <a:ext uri="{FF2B5EF4-FFF2-40B4-BE49-F238E27FC236}">
                <a16:creationId xmlns:a16="http://schemas.microsoft.com/office/drawing/2014/main" id="{6C011F5F-A7C8-42F3-96C6-DF1D6A970D6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¿Conectar obliga a reinstalar firmware?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¿El modelo 3D demuestra que el dron está listo para vuelo?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 respaldo se copia a cualquier FC?</a:t>
            </a:r>
          </a:p>
        </p:txBody>
      </p:sp>
    </p:spTree>
    <p:extLst>
      <p:ext uri="{BB962C8B-B14F-4D97-AF65-F5344CB8AC3E}">
        <p14:creationId xmlns:p14="http://schemas.microsoft.com/office/powerpoint/2010/main" val="1478988834"/>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D7F609-A08A-4A80-9878-A69C1943A26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AC74B267-9E17-4B8B-8E01-FE071E95419C}"/>
              </a:ext>
            </a:extLst>
          </p:cNvPr>
          <p:cNvPicPr>
            <a:picLocks xmlns:a="http://schemas.openxmlformats.org/drawingml/2006/main" noChangeAspect="1"/>
          </p:cNvPicPr>
          <p:nvPr/>
        </p:nvPicPr>
        <p:blipFill>
          <a:blip xmlns:r="http://schemas.openxmlformats.org/officeDocument/2006/relationships" xmlns:a="http://schemas.openxmlformats.org/drawingml/2006/main" r:embed="R07866e36236f464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CA10D3-0154-49EF-B124-02C301C020C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23/24</a:t>
            </a:r>
          </a:p>
        </p:txBody>
      </p:sp>
      <p:sp>
        <p:nvSpPr>
          <p:cNvPr id="4" name="">
            <a:extLst xmlns:a="http://schemas.openxmlformats.org/drawingml/2006/main">
              <a:ext uri="{FF2B5EF4-FFF2-40B4-BE49-F238E27FC236}">
                <a16:creationId xmlns:a16="http://schemas.microsoft.com/office/drawing/2014/main" id="{79BFA0D2-107E-4330-87E4-3F7CC68EF48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Primero se identifica y se inspecciona la configuración existente.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Solo apoya una comprobación de orientación y sensores bajo las condiciones observadas.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Debe corresponder a placa, target, versión y hardware revisados.</a:t>
            </a:r>
          </a:p>
        </p:txBody>
      </p:sp>
    </p:spTree>
    <p:extLst>
      <p:ext uri="{BB962C8B-B14F-4D97-AF65-F5344CB8AC3E}">
        <p14:creationId xmlns:p14="http://schemas.microsoft.com/office/powerpoint/2010/main" val="332860170"/>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0D87E9-A226-4EB7-81CA-08DEB45CFD4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900CAA84-A7D1-4543-BC54-C3E9A83154E8}"/>
              </a:ext>
            </a:extLst>
          </p:cNvPr>
          <p:cNvPicPr>
            <a:picLocks xmlns:a="http://schemas.openxmlformats.org/drawingml/2006/main" noChangeAspect="1"/>
          </p:cNvPicPr>
          <p:nvPr/>
        </p:nvPicPr>
        <p:blipFill>
          <a:blip xmlns:r="http://schemas.openxmlformats.org/officeDocument/2006/relationships" xmlns:a="http://schemas.openxmlformats.org/drawingml/2006/main" r:embed="Rb68aced7881b465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27517D-7842-4B19-8D7E-FA3884D9276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24/24</a:t>
            </a:r>
          </a:p>
        </p:txBody>
      </p:sp>
      <p:sp>
        <p:nvSpPr>
          <p:cNvPr id="4" name="">
            <a:extLst xmlns:a="http://schemas.openxmlformats.org/drawingml/2006/main">
              <a:ext uri="{FF2B5EF4-FFF2-40B4-BE49-F238E27FC236}">
                <a16:creationId xmlns:a16="http://schemas.microsoft.com/office/drawing/2014/main" id="{3A970EA3-9873-4C0C-97C4-E91015BF3C0F}"/>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Ficha de versiones, respaldo identificado y configuración comentada con tres comprobaciones.</a:t>
            </a:r>
          </a:p>
        </p:txBody>
      </p:sp>
      <p:sp>
        <p:nvSpPr>
          <p:cNvPr id="5" name="">
            <a:extLst xmlns:a="http://schemas.openxmlformats.org/drawingml/2006/main">
              <a:ext uri="{FF2B5EF4-FFF2-40B4-BE49-F238E27FC236}">
                <a16:creationId xmlns:a16="http://schemas.microsoft.com/office/drawing/2014/main" id="{36F9F8BA-AF80-4711-BAA4-5E2502D68CC4}"/>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593632041"/>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4630F2-8CC0-4739-87D9-9DF6DC590E4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Motores, control y comprobaciones antes del taller</a:t>
            </a:r>
          </a:p>
        </p:txBody>
      </p:sp>
      <p:pic>
        <p:nvPicPr>
          <p:cNvPr id="2" name="">
            <a:extLst xmlns:a="http://schemas.openxmlformats.org/drawingml/2006/main">
              <a:ext uri="{FF2B5EF4-FFF2-40B4-BE49-F238E27FC236}">
                <a16:creationId xmlns:a16="http://schemas.microsoft.com/office/drawing/2014/main" id="{0B422E75-C277-4B70-951C-8852EC3F39D0}"/>
              </a:ext>
            </a:extLst>
          </p:cNvPr>
          <p:cNvPicPr>
            <a:picLocks xmlns:a="http://schemas.openxmlformats.org/drawingml/2006/main" noChangeAspect="1"/>
          </p:cNvPicPr>
          <p:nvPr/>
        </p:nvPicPr>
        <p:blipFill>
          <a:blip xmlns:r="http://schemas.openxmlformats.org/officeDocument/2006/relationships" xmlns:a="http://schemas.openxmlformats.org/drawingml/2006/main" r:embed="R901421a86d2944d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97F0DB-B04F-486A-B45E-AE5F1886290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01/24</a:t>
            </a:r>
          </a:p>
        </p:txBody>
      </p:sp>
      <p:sp>
        <p:nvSpPr>
          <p:cNvPr id="4" name="">
            <a:extLst xmlns:a="http://schemas.openxmlformats.org/drawingml/2006/main">
              <a:ext uri="{FF2B5EF4-FFF2-40B4-BE49-F238E27FC236}">
                <a16:creationId xmlns:a16="http://schemas.microsoft.com/office/drawing/2014/main" id="{DEFBC60D-5F7E-4FA3-BC68-AE4754E0AAD7}"/>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Distinguir número, sentido y hélice de cada motor y explicar las comprobaciones de un sistema de control.</a:t>
            </a:r>
          </a:p>
        </p:txBody>
      </p:sp>
      <p:sp>
        <p:nvSpPr>
          <p:cNvPr id="5" name="">
            <a:extLst xmlns:a="http://schemas.openxmlformats.org/drawingml/2006/main">
              <a:ext uri="{FF2B5EF4-FFF2-40B4-BE49-F238E27FC236}">
                <a16:creationId xmlns:a16="http://schemas.microsoft.com/office/drawing/2014/main" id="{F3E76D69-7E4B-4BEB-B061-FFE227D35B02}"/>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Una aeronave se prepara comprobando correspondencias entre el objeto, la configuración y la respuesta esperada.</a:t>
            </a:r>
          </a:p>
        </p:txBody>
      </p:sp>
      <p:sp>
        <p:nvSpPr>
          <p:cNvPr id="6" name="">
            <a:extLst xmlns:a="http://schemas.openxmlformats.org/drawingml/2006/main">
              <a:ext uri="{FF2B5EF4-FFF2-40B4-BE49-F238E27FC236}">
                <a16:creationId xmlns:a16="http://schemas.microsoft.com/office/drawing/2014/main" id="{16C2B44D-35FB-413E-8A3D-74DD1EA7E421}"/>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94467033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3479C5-055A-44D3-BDA1-7F11DEF117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preguntas por motor</a:t>
            </a:r>
          </a:p>
        </p:txBody>
      </p:sp>
      <p:pic>
        <p:nvPicPr>
          <p:cNvPr id="2" name="">
            <a:extLst xmlns:a="http://schemas.openxmlformats.org/drawingml/2006/main">
              <a:ext uri="{FF2B5EF4-FFF2-40B4-BE49-F238E27FC236}">
                <a16:creationId xmlns:a16="http://schemas.microsoft.com/office/drawing/2014/main" id="{D51508DC-7CEF-4612-AF28-E6383E640F6A}"/>
              </a:ext>
            </a:extLst>
          </p:cNvPr>
          <p:cNvPicPr>
            <a:picLocks xmlns:a="http://schemas.openxmlformats.org/drawingml/2006/main" noChangeAspect="1"/>
          </p:cNvPicPr>
          <p:nvPr/>
        </p:nvPicPr>
        <p:blipFill>
          <a:blip xmlns:r="http://schemas.openxmlformats.org/officeDocument/2006/relationships" xmlns:a="http://schemas.openxmlformats.org/drawingml/2006/main" r:embed="R17df174e8a5548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3780D8-1289-487D-860E-0AC033F582E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02/24</a:t>
            </a:r>
          </a:p>
        </p:txBody>
      </p:sp>
      <p:sp>
        <p:nvSpPr>
          <p:cNvPr id="4" name="">
            <a:extLst xmlns:a="http://schemas.openxmlformats.org/drawingml/2006/main">
              <a:ext uri="{FF2B5EF4-FFF2-40B4-BE49-F238E27FC236}">
                <a16:creationId xmlns:a16="http://schemas.microsoft.com/office/drawing/2014/main" id="{868A6FAC-A89C-4C69-B8C5-1B38B2BF5B7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Qué motor se activa, en qué sentido gira y qué hélice le corresponde son tres preguntas distintas. Corregir una no demuestra las otras. La geometría de un quad y su sistema de control usan una asignación de salidas; el número de motor se interpreta según firmware y configuración. Por eso se conserva el esquema que pertenece al equipo mostrado y se marca su frente antes de comparar.</a:t>
            </a:r>
          </a:p>
        </p:txBody>
      </p:sp>
    </p:spTree>
    <p:extLst>
      <p:ext uri="{BB962C8B-B14F-4D97-AF65-F5344CB8AC3E}">
        <p14:creationId xmlns:p14="http://schemas.microsoft.com/office/powerpoint/2010/main" val="1824292482"/>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1348CB-3C6A-46C6-8213-B1D676A0B23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preguntas por motor</a:t>
            </a:r>
          </a:p>
        </p:txBody>
      </p:sp>
      <p:pic>
        <p:nvPicPr>
          <p:cNvPr id="2" name="">
            <a:extLst xmlns:a="http://schemas.openxmlformats.org/drawingml/2006/main">
              <a:ext uri="{FF2B5EF4-FFF2-40B4-BE49-F238E27FC236}">
                <a16:creationId xmlns:a16="http://schemas.microsoft.com/office/drawing/2014/main" id="{C02C6F15-0713-4472-A8A8-0D6E262F393D}"/>
              </a:ext>
            </a:extLst>
          </p:cNvPr>
          <p:cNvPicPr>
            <a:picLocks xmlns:a="http://schemas.openxmlformats.org/drawingml/2006/main" noChangeAspect="1"/>
          </p:cNvPicPr>
          <p:nvPr/>
        </p:nvPicPr>
        <p:blipFill>
          <a:blip xmlns:r="http://schemas.openxmlformats.org/officeDocument/2006/relationships" xmlns:a="http://schemas.openxmlformats.org/drawingml/2006/main" r:embed="R837c92d685f240c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F0014A3-9F2E-4E8A-9F9C-894DD416405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03/24</a:t>
            </a:r>
          </a:p>
        </p:txBody>
      </p:sp>
      <p:pic>
        <p:nvPicPr>
          <p:cNvPr id="4" name="">
            <a:extLst xmlns:a="http://schemas.openxmlformats.org/drawingml/2006/main">
              <a:ext uri="{FF2B5EF4-FFF2-40B4-BE49-F238E27FC236}">
                <a16:creationId xmlns:a16="http://schemas.microsoft.com/office/drawing/2014/main" id="{03A00BD9-AFBD-484E-8A40-5F94CCD167C9}"/>
              </a:ext>
            </a:extLst>
          </p:cNvPr>
          <p:cNvPicPr>
            <a:picLocks xmlns:a="http://schemas.openxmlformats.org/drawingml/2006/main" noChangeAspect="1"/>
          </p:cNvPicPr>
          <p:nvPr/>
        </p:nvPicPr>
        <p:blipFill>
          <a:blip xmlns:r="http://schemas.openxmlformats.org/officeDocument/2006/relationships" xmlns:a="http://schemas.openxmlformats.org/drawingml/2006/main" r:embed="R3d1d731bc49446f3"/>
          <a:stretch xmlns:a="http://schemas.openxmlformats.org/drawingml/2006/main"/>
        </p:blipFill>
        <p:spPr>
          <a:xfrm xmlns:a="http://schemas.openxmlformats.org/drawingml/2006/main">
            <a:off x="882015" y="1638300"/>
            <a:ext cx="682752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5C1968-DC76-4EC9-82EA-771D62E79A64}"/>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Separa número, sentido y hélice. ¿Qué necesitas observar en cada prueba?</a:t>
            </a:r>
          </a:p>
        </p:txBody>
      </p:sp>
      <p:sp>
        <p:nvSpPr>
          <p:cNvPr id="6" name="">
            <a:extLst xmlns:a="http://schemas.openxmlformats.org/drawingml/2006/main">
              <a:ext uri="{FF2B5EF4-FFF2-40B4-BE49-F238E27FC236}">
                <a16:creationId xmlns:a16="http://schemas.microsoft.com/office/drawing/2014/main" id="{A6B524A3-A3DB-4BDF-9BE7-E29222437E0F}"/>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Referencia Betaflight de sentidos de giro. Se interpreta junto con el mezclador y la configuración reales; no sustituye la identificación de cada salida.</a:t>
            </a:r>
          </a:p>
        </p:txBody>
      </p:sp>
    </p:spTree>
    <p:extLst>
      <p:ext uri="{BB962C8B-B14F-4D97-AF65-F5344CB8AC3E}">
        <p14:creationId xmlns:p14="http://schemas.microsoft.com/office/powerpoint/2010/main" val="1933367511"/>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9A8EDB-A35F-4820-B26A-72FD23023E8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Pruebas que se mantienen separadas</a:t>
            </a:r>
          </a:p>
        </p:txBody>
      </p:sp>
      <p:pic>
        <p:nvPicPr>
          <p:cNvPr id="2" name="">
            <a:extLst xmlns:a="http://schemas.openxmlformats.org/drawingml/2006/main">
              <a:ext uri="{FF2B5EF4-FFF2-40B4-BE49-F238E27FC236}">
                <a16:creationId xmlns:a16="http://schemas.microsoft.com/office/drawing/2014/main" id="{7741BB7B-BF35-4FCD-90C8-FA13FB8FDCFF}"/>
              </a:ext>
            </a:extLst>
          </p:cNvPr>
          <p:cNvPicPr>
            <a:picLocks xmlns:a="http://schemas.openxmlformats.org/drawingml/2006/main" noChangeAspect="1"/>
          </p:cNvPicPr>
          <p:nvPr/>
        </p:nvPicPr>
        <p:blipFill>
          <a:blip xmlns:r="http://schemas.openxmlformats.org/officeDocument/2006/relationships" xmlns:a="http://schemas.openxmlformats.org/drawingml/2006/main" r:embed="R01fb7192fced48e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1D1B17-3B23-4A22-B516-00F9A8DFAFA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04/24</a:t>
            </a:r>
          </a:p>
        </p:txBody>
      </p:sp>
      <p:graphicFrame>
        <p:nvGraphicFramePr>
          <p:cNvPr id="4" name="">
            <a:extLst xmlns:a="http://schemas.openxmlformats.org/drawingml/2006/main">
              <a:ext uri="{FF2B5EF4-FFF2-40B4-BE49-F238E27FC236}">
                <a16:creationId xmlns:a16="http://schemas.microsoft.com/office/drawing/2014/main" id="{D427EB23-20CF-4CE9-A014-9CBB6748AB77}"/>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Condición de banco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¿Cuál se activa?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Salida y posición observadas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Prueba del docente sin hélices</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¿En qué sentido gira?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Sentido de ese motor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Comprobación individual</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¿Qué hélice corresponde?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Forma, orientación y sentido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Revisión con energía desconectada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482192783"/>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4C5C8B-C447-4C31-85DD-3B79F739BE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ESC, protocolo y prueba de salidas</a:t>
            </a:r>
          </a:p>
        </p:txBody>
      </p:sp>
      <p:pic>
        <p:nvPicPr>
          <p:cNvPr id="2" name="">
            <a:extLst xmlns:a="http://schemas.openxmlformats.org/drawingml/2006/main">
              <a:ext uri="{FF2B5EF4-FFF2-40B4-BE49-F238E27FC236}">
                <a16:creationId xmlns:a16="http://schemas.microsoft.com/office/drawing/2014/main" id="{A1F072FF-8A81-4FB8-9276-58FFDB0E4737}"/>
              </a:ext>
            </a:extLst>
          </p:cNvPr>
          <p:cNvPicPr>
            <a:picLocks xmlns:a="http://schemas.openxmlformats.org/drawingml/2006/main" noChangeAspect="1"/>
          </p:cNvPicPr>
          <p:nvPr/>
        </p:nvPicPr>
        <p:blipFill>
          <a:blip xmlns:r="http://schemas.openxmlformats.org/officeDocument/2006/relationships" xmlns:a="http://schemas.openxmlformats.org/drawingml/2006/main" r:embed="R7f503d61690f40a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F6AE50-ED6D-4D43-9AA1-433AC14401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05/24</a:t>
            </a:r>
          </a:p>
        </p:txBody>
      </p:sp>
      <p:sp>
        <p:nvSpPr>
          <p:cNvPr id="4" name="">
            <a:extLst xmlns:a="http://schemas.openxmlformats.org/drawingml/2006/main">
              <a:ext uri="{FF2B5EF4-FFF2-40B4-BE49-F238E27FC236}">
                <a16:creationId xmlns:a16="http://schemas.microsoft.com/office/drawing/2014/main" id="{53925405-28A3-4315-9C9D-33A5DC9AABC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ESC interpreta órdenes del controlador y gobierna la conmutación del motor. PWM analógico y DShot no se configuran como si fueran el mismo protocolo. Los endpoints de un sistema analógico pueden necesitar el procedimiento correspondiente; no se aplica automáticamente una calibración de gas analógica a DShot. La disponibilidad de telemetría también depende del firmware y hardware del ESC.</a:t>
            </a:r>
          </a:p>
        </p:txBody>
      </p:sp>
    </p:spTree>
    <p:extLst>
      <p:ext uri="{BB962C8B-B14F-4D97-AF65-F5344CB8AC3E}">
        <p14:creationId xmlns:p14="http://schemas.microsoft.com/office/powerpoint/2010/main" val="10891095"/>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B95CAF-10A1-4366-90D9-A01FCEC9644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ESC, protocolo y prueba de salidas</a:t>
            </a:r>
          </a:p>
        </p:txBody>
      </p:sp>
      <p:pic>
        <p:nvPicPr>
          <p:cNvPr id="2" name="">
            <a:extLst xmlns:a="http://schemas.openxmlformats.org/drawingml/2006/main">
              <a:ext uri="{FF2B5EF4-FFF2-40B4-BE49-F238E27FC236}">
                <a16:creationId xmlns:a16="http://schemas.microsoft.com/office/drawing/2014/main" id="{8C3D1A4A-CC9D-4C12-A478-EEF0C7E629B7}"/>
              </a:ext>
            </a:extLst>
          </p:cNvPr>
          <p:cNvPicPr>
            <a:picLocks xmlns:a="http://schemas.openxmlformats.org/drawingml/2006/main" noChangeAspect="1"/>
          </p:cNvPicPr>
          <p:nvPr/>
        </p:nvPicPr>
        <p:blipFill>
          <a:blip xmlns:r="http://schemas.openxmlformats.org/officeDocument/2006/relationships" xmlns:a="http://schemas.openxmlformats.org/drawingml/2006/main" r:embed="R7c7949d7008d4f4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E6F540-9016-41BC-AFF9-F186FA49A9C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06/24</a:t>
            </a:r>
          </a:p>
        </p:txBody>
      </p:sp>
      <p:pic>
        <p:nvPicPr>
          <p:cNvPr id="4" name="">
            <a:extLst xmlns:a="http://schemas.openxmlformats.org/drawingml/2006/main">
              <a:ext uri="{FF2B5EF4-FFF2-40B4-BE49-F238E27FC236}">
                <a16:creationId xmlns:a16="http://schemas.microsoft.com/office/drawing/2014/main" id="{18DBBE48-FFBD-46A7-B59E-F56A00183639}"/>
              </a:ext>
            </a:extLst>
          </p:cNvPr>
          <p:cNvPicPr>
            <a:picLocks xmlns:a="http://schemas.openxmlformats.org/drawingml/2006/main" noChangeAspect="1"/>
          </p:cNvPicPr>
          <p:nvPr/>
        </p:nvPicPr>
        <p:blipFill>
          <a:blip xmlns:r="http://schemas.openxmlformats.org/officeDocument/2006/relationships" xmlns:a="http://schemas.openxmlformats.org/drawingml/2006/main" r:embed="R543f05a2f3d34348"/>
          <a:stretch xmlns:a="http://schemas.openxmlformats.org/drawingml/2006/main"/>
        </p:blipFill>
        <p:spPr>
          <a:xfrm xmlns:a="http://schemas.openxmlformats.org/drawingml/2006/main">
            <a:off x="590550" y="1819804"/>
            <a:ext cx="7410450" cy="36374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B29477-5DA9-4589-97F0-D45DFF0764C3}"/>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La prueba del banco se hace sin hélices. ¿Qué correspondencia comprobará el docente?</a:t>
            </a:r>
          </a:p>
        </p:txBody>
      </p:sp>
      <p:sp>
        <p:nvSpPr>
          <p:cNvPr id="6" name="">
            <a:extLst xmlns:a="http://schemas.openxmlformats.org/drawingml/2006/main">
              <a:ext uri="{FF2B5EF4-FFF2-40B4-BE49-F238E27FC236}">
                <a16:creationId xmlns:a16="http://schemas.microsoft.com/office/drawing/2014/main" id="{BEF36551-308F-45B6-BD46-73CC1C1D3400}"/>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Pestaña Motors de Betaflight. Captura oficial de referencia; las pruebas físicas requieren el equipo identificado y las hélices retiradas.</a:t>
            </a:r>
          </a:p>
        </p:txBody>
      </p:sp>
    </p:spTree>
    <p:extLst>
      <p:ext uri="{BB962C8B-B14F-4D97-AF65-F5344CB8AC3E}">
        <p14:creationId xmlns:p14="http://schemas.microsoft.com/office/powerpoint/2010/main" val="1291809575"/>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35CDF3-3C77-48C5-AE5E-F5896D85860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opción y una observación</a:t>
            </a:r>
          </a:p>
        </p:txBody>
      </p:sp>
      <p:pic>
        <p:nvPicPr>
          <p:cNvPr id="2" name="">
            <a:extLst xmlns:a="http://schemas.openxmlformats.org/drawingml/2006/main">
              <a:ext uri="{FF2B5EF4-FFF2-40B4-BE49-F238E27FC236}">
                <a16:creationId xmlns:a16="http://schemas.microsoft.com/office/drawing/2014/main" id="{7931B7B9-62B7-4720-B61F-96ACF9B3F3EB}"/>
              </a:ext>
            </a:extLst>
          </p:cNvPr>
          <p:cNvPicPr>
            <a:picLocks xmlns:a="http://schemas.openxmlformats.org/drawingml/2006/main" noChangeAspect="1"/>
          </p:cNvPicPr>
          <p:nvPr/>
        </p:nvPicPr>
        <p:blipFill>
          <a:blip xmlns:r="http://schemas.openxmlformats.org/officeDocument/2006/relationships" xmlns:a="http://schemas.openxmlformats.org/drawingml/2006/main" r:embed="Rf432dbb595db461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35EC07-2DDB-4AF5-9AEE-3BD5C52219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07/24</a:t>
            </a:r>
          </a:p>
        </p:txBody>
      </p:sp>
      <p:sp>
        <p:nvSpPr>
          <p:cNvPr id="4" name="">
            <a:extLst xmlns:a="http://schemas.openxmlformats.org/drawingml/2006/main">
              <a:ext uri="{FF2B5EF4-FFF2-40B4-BE49-F238E27FC236}">
                <a16:creationId xmlns:a16="http://schemas.microsoft.com/office/drawing/2014/main" id="{CCD462DD-7E90-4480-9FE0-5A7E4A73B64A}"/>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Se cambió “dirección invertida” en el mezclador. ¿Podemos afirmar que todos los motores físicos invirtieron su giro?</a:t>
            </a:r>
          </a:p>
        </p:txBody>
      </p:sp>
      <p:sp>
        <p:nvSpPr>
          <p:cNvPr id="5" name="">
            <a:extLst xmlns:a="http://schemas.openxmlformats.org/drawingml/2006/main">
              <a:ext uri="{FF2B5EF4-FFF2-40B4-BE49-F238E27FC236}">
                <a16:creationId xmlns:a16="http://schemas.microsoft.com/office/drawing/2014/main" id="{A768D0BE-1144-42C4-8344-34C73F0FA570}"/>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La opción y el giro observado pertenecen a comprobaciones relacionadas, pero distintas. Debe verificarse cada motor y conservar la correspondencia con el esquema.</a:t>
            </a:r>
          </a:p>
        </p:txBody>
      </p:sp>
    </p:spTree>
    <p:extLst>
      <p:ext uri="{BB962C8B-B14F-4D97-AF65-F5344CB8AC3E}">
        <p14:creationId xmlns:p14="http://schemas.microsoft.com/office/powerpoint/2010/main" val="1269044751"/>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91B769-3BAB-4907-83B7-17A3CE272C2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Control: referencia, medición y corrección</a:t>
            </a:r>
          </a:p>
        </p:txBody>
      </p:sp>
      <p:pic>
        <p:nvPicPr>
          <p:cNvPr id="2" name="">
            <a:extLst xmlns:a="http://schemas.openxmlformats.org/drawingml/2006/main">
              <a:ext uri="{FF2B5EF4-FFF2-40B4-BE49-F238E27FC236}">
                <a16:creationId xmlns:a16="http://schemas.microsoft.com/office/drawing/2014/main" id="{E07B62A9-924B-4A6A-9911-035B9BA62E38}"/>
              </a:ext>
            </a:extLst>
          </p:cNvPr>
          <p:cNvPicPr>
            <a:picLocks xmlns:a="http://schemas.openxmlformats.org/drawingml/2006/main" noChangeAspect="1"/>
          </p:cNvPicPr>
          <p:nvPr/>
        </p:nvPicPr>
        <p:blipFill>
          <a:blip xmlns:r="http://schemas.openxmlformats.org/officeDocument/2006/relationships" xmlns:a="http://schemas.openxmlformats.org/drawingml/2006/main" r:embed="R5cab82e0f6764d6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8F2649-2208-4632-A3A8-2FAF1DF6FED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08/24</a:t>
            </a:r>
          </a:p>
        </p:txBody>
      </p:sp>
      <p:sp>
        <p:nvSpPr>
          <p:cNvPr id="4" name="">
            <a:extLst xmlns:a="http://schemas.openxmlformats.org/drawingml/2006/main">
              <a:ext uri="{FF2B5EF4-FFF2-40B4-BE49-F238E27FC236}">
                <a16:creationId xmlns:a16="http://schemas.microsoft.com/office/drawing/2014/main" id="{C354380A-6DF0-487E-9539-FF6363C4300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sistema de control compara una referencia con una medición o estimación y genera una acción. En un quad, la IMU aporta información de movimiento; el firmware organiza la estabilización y distribuye las órdenes entre motores. Este curso enseña a reconocer esa cadena y a identificar errores de montaje que la contradicen. No pretende diseñar un autopiloto desde cero dentro de ocho sesiones.</a:t>
            </a:r>
          </a:p>
        </p:txBody>
      </p:sp>
    </p:spTree>
    <p:extLst>
      <p:ext uri="{BB962C8B-B14F-4D97-AF65-F5344CB8AC3E}">
        <p14:creationId xmlns:p14="http://schemas.microsoft.com/office/powerpoint/2010/main" val="1607166384"/>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F170F3-A06D-434B-82BF-9D6DB7AA503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aporta cada término</a:t>
            </a:r>
          </a:p>
        </p:txBody>
      </p:sp>
      <p:pic>
        <p:nvPicPr>
          <p:cNvPr id="2" name="">
            <a:extLst xmlns:a="http://schemas.openxmlformats.org/drawingml/2006/main">
              <a:ext uri="{FF2B5EF4-FFF2-40B4-BE49-F238E27FC236}">
                <a16:creationId xmlns:a16="http://schemas.microsoft.com/office/drawing/2014/main" id="{397D5853-4389-4C12-80D9-24E2E8A5FAED}"/>
              </a:ext>
            </a:extLst>
          </p:cNvPr>
          <p:cNvPicPr>
            <a:picLocks xmlns:a="http://schemas.openxmlformats.org/drawingml/2006/main" noChangeAspect="1"/>
          </p:cNvPicPr>
          <p:nvPr/>
        </p:nvPicPr>
        <p:blipFill>
          <a:blip xmlns:r="http://schemas.openxmlformats.org/officeDocument/2006/relationships" xmlns:a="http://schemas.openxmlformats.org/drawingml/2006/main" r:embed="R4c6d5a605846448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861D6C-7C1B-4EC1-96AF-C0F7A4A7D1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09/24</a:t>
            </a:r>
          </a:p>
        </p:txBody>
      </p:sp>
      <p:graphicFrame>
        <p:nvGraphicFramePr>
          <p:cNvPr id="4" name="">
            <a:extLst xmlns:a="http://schemas.openxmlformats.org/drawingml/2006/main">
              <a:ext uri="{FF2B5EF4-FFF2-40B4-BE49-F238E27FC236}">
                <a16:creationId xmlns:a16="http://schemas.microsoft.com/office/drawing/2014/main" id="{BDC4F93E-BA80-4F1E-80DE-237FFD50AAE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Término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Idea introductoria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Respuesta al error presente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Signo y ganancia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I</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Acumulación del error en el tiempo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Saturación y condición de uso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Respuesta al cambio de una variable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Ruido y filtrado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58939242"/>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065539-791D-40EC-AFB9-043CD64467C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corrección con unidades</a:t>
            </a:r>
          </a:p>
        </p:txBody>
      </p:sp>
      <p:pic>
        <p:nvPicPr>
          <p:cNvPr id="2" name="">
            <a:extLst xmlns:a="http://schemas.openxmlformats.org/drawingml/2006/main">
              <a:ext uri="{FF2B5EF4-FFF2-40B4-BE49-F238E27FC236}">
                <a16:creationId xmlns:a16="http://schemas.microsoft.com/office/drawing/2014/main" id="{87F6A590-E6DA-41EA-9D11-C3E3BE37AA63}"/>
              </a:ext>
            </a:extLst>
          </p:cNvPr>
          <p:cNvPicPr>
            <a:picLocks xmlns:a="http://schemas.openxmlformats.org/drawingml/2006/main" noChangeAspect="1"/>
          </p:cNvPicPr>
          <p:nvPr/>
        </p:nvPicPr>
        <p:blipFill>
          <a:blip xmlns:r="http://schemas.openxmlformats.org/officeDocument/2006/relationships" xmlns:a="http://schemas.openxmlformats.org/drawingml/2006/main" r:embed="R91d30a4590d344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EF7E66-D03B-4947-8A16-020C57F58CF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10/24</a:t>
            </a:r>
          </a:p>
        </p:txBody>
      </p:sp>
      <p:pic>
        <p:nvPicPr>
          <p:cNvPr id="4" name="">
            <a:extLst xmlns:a="http://schemas.openxmlformats.org/drawingml/2006/main">
              <a:ext uri="{FF2B5EF4-FFF2-40B4-BE49-F238E27FC236}">
                <a16:creationId xmlns:a16="http://schemas.microsoft.com/office/drawing/2014/main" id="{1BE9B1DD-5851-4F39-B557-442FA07F9A3E}"/>
              </a:ext>
            </a:extLst>
          </p:cNvPr>
          <p:cNvPicPr>
            <a:picLocks xmlns:a="http://schemas.openxmlformats.org/drawingml/2006/main" noChangeAspect="1"/>
          </p:cNvPicPr>
          <p:nvPr/>
        </p:nvPicPr>
        <p:blipFill>
          <a:blip xmlns:r="http://schemas.openxmlformats.org/officeDocument/2006/relationships" xmlns:a="http://schemas.openxmlformats.org/drawingml/2006/main" r:embed="Rbc7bfed316ce4af1"/>
          <a:stretch xmlns:a="http://schemas.openxmlformats.org/drawingml/2006/main"/>
        </p:blipFill>
        <p:spPr>
          <a:xfrm xmlns:a="http://schemas.openxmlformats.org/drawingml/2006/main">
            <a:off x="2704839" y="1714500"/>
            <a:ext cx="6782322"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91E03B0-F33B-412C-A17E-E98F6BB238D8}"/>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error es 2° y la acción es 4 unidades. El signo físico depende de la convención y de cómo se asignen las salidas. No se traducen esas unidades directamente a un porcentaje de motor.</a:t>
            </a:r>
          </a:p>
        </p:txBody>
      </p:sp>
      <p:sp>
        <p:nvSpPr>
          <p:cNvPr id="6" name="">
            <a:extLst xmlns:a="http://schemas.openxmlformats.org/drawingml/2006/main">
              <a:ext uri="{FF2B5EF4-FFF2-40B4-BE49-F238E27FC236}">
                <a16:creationId xmlns:a16="http://schemas.microsoft.com/office/drawing/2014/main" id="{18176E84-FAA6-4B90-BD98-9B6837661DB1}"/>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Ejemplo proporcional de aula. Las unidades y el signo deben declararse. No es la ecuación completa del controlador implementado en Betaflight o ArduPilot.</a:t>
            </a:r>
          </a:p>
        </p:txBody>
      </p:sp>
    </p:spTree>
    <p:extLst>
      <p:ext uri="{BB962C8B-B14F-4D97-AF65-F5344CB8AC3E}">
        <p14:creationId xmlns:p14="http://schemas.microsoft.com/office/powerpoint/2010/main" val="1177107568"/>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0B9F8E-7489-4FBF-8C35-684B5E0D110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mismo principio en el dron con autopiloto</a:t>
            </a:r>
          </a:p>
        </p:txBody>
      </p:sp>
      <p:pic>
        <p:nvPicPr>
          <p:cNvPr id="2" name="">
            <a:extLst xmlns:a="http://schemas.openxmlformats.org/drawingml/2006/main">
              <a:ext uri="{FF2B5EF4-FFF2-40B4-BE49-F238E27FC236}">
                <a16:creationId xmlns:a16="http://schemas.microsoft.com/office/drawing/2014/main" id="{CDE12C5A-F89C-47D0-B819-204B0013FD55}"/>
              </a:ext>
            </a:extLst>
          </p:cNvPr>
          <p:cNvPicPr>
            <a:picLocks xmlns:a="http://schemas.openxmlformats.org/drawingml/2006/main" noChangeAspect="1"/>
          </p:cNvPicPr>
          <p:nvPr/>
        </p:nvPicPr>
        <p:blipFill>
          <a:blip xmlns:r="http://schemas.openxmlformats.org/officeDocument/2006/relationships" xmlns:a="http://schemas.openxmlformats.org/drawingml/2006/main" r:embed="Rab6f21d43cb940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A8B6A2-693F-4D0F-AA3B-CAC2B94E3CF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11/24</a:t>
            </a:r>
          </a:p>
        </p:txBody>
      </p:sp>
      <p:sp>
        <p:nvSpPr>
          <p:cNvPr id="4" name="">
            <a:extLst xmlns:a="http://schemas.openxmlformats.org/drawingml/2006/main">
              <a:ext uri="{FF2B5EF4-FFF2-40B4-BE49-F238E27FC236}">
                <a16:creationId xmlns:a16="http://schemas.microsoft.com/office/drawing/2014/main" id="{31A0DCCF-6E65-444B-BDFF-625212BB850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Pixhawk describe una familia de hardware; ArduCopter es el firmware para multirrotores de ArduPilot; Mission Planner es la estación de tierra utilizada para configuración y observación. El equipo grande del curso muestra cómo se añaden módulo de potencia, GPS, brújula y telemetría según sus componentes. No todas las placas o versiones tienen las mismas conexiones ni funciones.</a:t>
            </a:r>
          </a:p>
        </p:txBody>
      </p:sp>
    </p:spTree>
    <p:extLst>
      <p:ext uri="{BB962C8B-B14F-4D97-AF65-F5344CB8AC3E}">
        <p14:creationId xmlns:p14="http://schemas.microsoft.com/office/powerpoint/2010/main" val="1069901488"/>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FB7CE6-A96B-43E4-BFC7-610EF11A79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mismo principio en el dron con autopiloto</a:t>
            </a:r>
          </a:p>
        </p:txBody>
      </p:sp>
      <p:pic>
        <p:nvPicPr>
          <p:cNvPr id="2" name="">
            <a:extLst xmlns:a="http://schemas.openxmlformats.org/drawingml/2006/main">
              <a:ext uri="{FF2B5EF4-FFF2-40B4-BE49-F238E27FC236}">
                <a16:creationId xmlns:a16="http://schemas.microsoft.com/office/drawing/2014/main" id="{E01A7F4C-B2E9-4C2E-BB03-264BD7A75A3F}"/>
              </a:ext>
            </a:extLst>
          </p:cNvPr>
          <p:cNvPicPr>
            <a:picLocks xmlns:a="http://schemas.openxmlformats.org/drawingml/2006/main" noChangeAspect="1"/>
          </p:cNvPicPr>
          <p:nvPr/>
        </p:nvPicPr>
        <p:blipFill>
          <a:blip xmlns:r="http://schemas.openxmlformats.org/officeDocument/2006/relationships" xmlns:a="http://schemas.openxmlformats.org/drawingml/2006/main" r:embed="R168bd61d5971496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21B06E3-C97A-443D-B993-33E66BA3912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12/24</a:t>
            </a:r>
          </a:p>
        </p:txBody>
      </p:sp>
      <p:pic>
        <p:nvPicPr>
          <p:cNvPr id="4" name="">
            <a:extLst xmlns:a="http://schemas.openxmlformats.org/drawingml/2006/main">
              <a:ext uri="{FF2B5EF4-FFF2-40B4-BE49-F238E27FC236}">
                <a16:creationId xmlns:a16="http://schemas.microsoft.com/office/drawing/2014/main" id="{7DAC3BB3-4D70-4E3E-953F-FE4B3F193C4A}"/>
              </a:ext>
            </a:extLst>
          </p:cNvPr>
          <p:cNvPicPr>
            <a:picLocks xmlns:a="http://schemas.openxmlformats.org/drawingml/2006/main" noChangeAspect="1"/>
          </p:cNvPicPr>
          <p:nvPr/>
        </p:nvPicPr>
        <p:blipFill>
          <a:blip xmlns:r="http://schemas.openxmlformats.org/officeDocument/2006/relationships" xmlns:a="http://schemas.openxmlformats.org/drawingml/2006/main" r:embed="R712ca2c184084e3e"/>
          <a:stretch xmlns:a="http://schemas.openxmlformats.org/drawingml/2006/main"/>
        </p:blipFill>
        <p:spPr>
          <a:xfrm xmlns:a="http://schemas.openxmlformats.org/drawingml/2006/main">
            <a:off x="2295525" y="1638300"/>
            <a:ext cx="400050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AD0AFC-2343-45A2-89C8-8EFC5DF982FF}"/>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Marca el frente y lee esta convención. ¿Por qué no copiar el orden de otro firmware?</a:t>
            </a:r>
          </a:p>
        </p:txBody>
      </p:sp>
      <p:sp>
        <p:nvSpPr>
          <p:cNvPr id="6" name="">
            <a:extLst xmlns:a="http://schemas.openxmlformats.org/drawingml/2006/main">
              <a:ext uri="{FF2B5EF4-FFF2-40B4-BE49-F238E27FC236}">
                <a16:creationId xmlns:a16="http://schemas.microsoft.com/office/drawing/2014/main" id="{B9AF8BA9-6C28-4EA7-AEBD-161F714E9BE6}"/>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Esquema QUAD X de ArduPilot. Frente, números y letras de prueba se leen en esta referencia, sin copiar la numeración de Betaflight.</a:t>
            </a:r>
          </a:p>
        </p:txBody>
      </p:sp>
    </p:spTree>
    <p:extLst>
      <p:ext uri="{BB962C8B-B14F-4D97-AF65-F5344CB8AC3E}">
        <p14:creationId xmlns:p14="http://schemas.microsoft.com/office/powerpoint/2010/main" val="1099507568"/>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1EC516-8C08-43B6-989F-CD7A4C45201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mismo principio en el dron con autopiloto</a:t>
            </a:r>
          </a:p>
        </p:txBody>
      </p:sp>
      <p:pic>
        <p:nvPicPr>
          <p:cNvPr id="2" name="">
            <a:extLst xmlns:a="http://schemas.openxmlformats.org/drawingml/2006/main">
              <a:ext uri="{FF2B5EF4-FFF2-40B4-BE49-F238E27FC236}">
                <a16:creationId xmlns:a16="http://schemas.microsoft.com/office/drawing/2014/main" id="{9621B541-7DD4-4F5C-BDCE-A93747648ACA}"/>
              </a:ext>
            </a:extLst>
          </p:cNvPr>
          <p:cNvPicPr>
            <a:picLocks xmlns:a="http://schemas.openxmlformats.org/drawingml/2006/main" noChangeAspect="1"/>
          </p:cNvPicPr>
          <p:nvPr/>
        </p:nvPicPr>
        <p:blipFill>
          <a:blip xmlns:r="http://schemas.openxmlformats.org/officeDocument/2006/relationships" xmlns:a="http://schemas.openxmlformats.org/drawingml/2006/main" r:embed="Rf347957b49a2461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72D247-35E1-4E8A-8D3A-91FB35B097E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13/24</a:t>
            </a:r>
          </a:p>
        </p:txBody>
      </p:sp>
      <p:sp>
        <p:nvSpPr>
          <p:cNvPr id="4" name="">
            <a:extLst xmlns:a="http://schemas.openxmlformats.org/drawingml/2006/main">
              <a:ext uri="{FF2B5EF4-FFF2-40B4-BE49-F238E27FC236}">
                <a16:creationId xmlns:a16="http://schemas.microsoft.com/office/drawing/2014/main" id="{4BF4BFE8-855C-4106-82D9-E5F8B1B01F0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Se presenta el esquema de ArduPilot y se contrasta con el equipo pequeño. El principio es común: sensor orientado, mando interpretado y salidas correspondientes. La numeración y los parámetros cambian. Se consultan también selección de bastidor, calibraciones y estado previo al armado del equipo real; los mensajes de condición se investigan en lugar de ocultarlos para que la demostración continúe.</a:t>
            </a:r>
          </a:p>
        </p:txBody>
      </p:sp>
    </p:spTree>
    <p:extLst>
      <p:ext uri="{BB962C8B-B14F-4D97-AF65-F5344CB8AC3E}">
        <p14:creationId xmlns:p14="http://schemas.microsoft.com/office/powerpoint/2010/main" val="677835692"/>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3ADD3E-C413-440C-A030-AFCB386CC4F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Enlace perdido y decisiones de configuración</a:t>
            </a:r>
          </a:p>
        </p:txBody>
      </p:sp>
      <p:pic>
        <p:nvPicPr>
          <p:cNvPr id="2" name="">
            <a:extLst xmlns:a="http://schemas.openxmlformats.org/drawingml/2006/main">
              <a:ext uri="{FF2B5EF4-FFF2-40B4-BE49-F238E27FC236}">
                <a16:creationId xmlns:a16="http://schemas.microsoft.com/office/drawing/2014/main" id="{27991433-BD22-407F-A3C2-D6E4EFE0059B}"/>
              </a:ext>
            </a:extLst>
          </p:cNvPr>
          <p:cNvPicPr>
            <a:picLocks xmlns:a="http://schemas.openxmlformats.org/drawingml/2006/main" noChangeAspect="1"/>
          </p:cNvPicPr>
          <p:nvPr/>
        </p:nvPicPr>
        <p:blipFill>
          <a:blip xmlns:r="http://schemas.openxmlformats.org/officeDocument/2006/relationships" xmlns:a="http://schemas.openxmlformats.org/drawingml/2006/main" r:embed="R1a5f7174edea4fb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EC29FB-8BCF-4B02-97ED-DE1569D57FF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14/24</a:t>
            </a:r>
          </a:p>
        </p:txBody>
      </p:sp>
      <p:sp>
        <p:nvSpPr>
          <p:cNvPr id="4" name="">
            <a:extLst xmlns:a="http://schemas.openxmlformats.org/drawingml/2006/main">
              <a:ext uri="{FF2B5EF4-FFF2-40B4-BE49-F238E27FC236}">
                <a16:creationId xmlns:a16="http://schemas.microsoft.com/office/drawing/2014/main" id="{C525A4B6-5AE1-4BB4-B775-BC9B6078C66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respuesta a una pérdida de mando se define por el sistema y por la operación. El receptor y la controladora deben comunicar esa condición de forma coherente. Una recepción que conserva valores aparentemente normales puede ocultar el problema a la FC. Se consulta el manual de la combinación y se comprueba la condición en el banco preparado, sin hélices y sin trasladarla a un ensayo de pérdida de enlace en vuelo.</a:t>
            </a:r>
          </a:p>
        </p:txBody>
      </p:sp>
    </p:spTree>
    <p:extLst>
      <p:ext uri="{BB962C8B-B14F-4D97-AF65-F5344CB8AC3E}">
        <p14:creationId xmlns:p14="http://schemas.microsoft.com/office/powerpoint/2010/main" val="1677777435"/>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D2773E-AC1B-483D-8026-1267CDF046C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Revisión antes de los presenciales</a:t>
            </a:r>
          </a:p>
        </p:txBody>
      </p:sp>
      <p:pic>
        <p:nvPicPr>
          <p:cNvPr id="2" name="">
            <a:extLst xmlns:a="http://schemas.openxmlformats.org/drawingml/2006/main">
              <a:ext uri="{FF2B5EF4-FFF2-40B4-BE49-F238E27FC236}">
                <a16:creationId xmlns:a16="http://schemas.microsoft.com/office/drawing/2014/main" id="{16A8EB37-D22B-4CDB-B82E-B56E4A6DB372}"/>
              </a:ext>
            </a:extLst>
          </p:cNvPr>
          <p:cNvPicPr>
            <a:picLocks xmlns:a="http://schemas.openxmlformats.org/drawingml/2006/main" noChangeAspect="1"/>
          </p:cNvPicPr>
          <p:nvPr/>
        </p:nvPicPr>
        <p:blipFill>
          <a:blip xmlns:r="http://schemas.openxmlformats.org/officeDocument/2006/relationships" xmlns:a="http://schemas.openxmlformats.org/drawingml/2006/main" r:embed="R4f13fd4a8d2c42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16802A-1F61-4CC3-9CB4-88DFBBBCED7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15/24</a:t>
            </a:r>
          </a:p>
        </p:txBody>
      </p:sp>
      <p:graphicFrame>
        <p:nvGraphicFramePr>
          <p:cNvPr id="4" name="">
            <a:extLst xmlns:a="http://schemas.openxmlformats.org/drawingml/2006/main">
              <a:ext uri="{FF2B5EF4-FFF2-40B4-BE49-F238E27FC236}">
                <a16:creationId xmlns:a16="http://schemas.microsoft.com/office/drawing/2014/main" id="{FF97D9CB-397E-44F6-9A7F-9B715A42CB21}"/>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4381500"/>
                <a:gridCol w="6629400"/>
              </a:tblGrid>
              <a:tr h="685800">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debe quedar identificado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Armado / desarmado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Control y estado del sistema</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Canales y modos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Asignación y respuesta previstas</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Ausencia de enlace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Indicación y comportamiento documentados</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Energía y batería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Configuración y medida coherentes</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Salidas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Motor, posición y sentido registrados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70868956"/>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9BE597-75EA-49E5-B10F-13FB9CA2E3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Enlace perdido y decisiones de configuración</a:t>
            </a:r>
          </a:p>
        </p:txBody>
      </p:sp>
      <p:pic>
        <p:nvPicPr>
          <p:cNvPr id="2" name="">
            <a:extLst xmlns:a="http://schemas.openxmlformats.org/drawingml/2006/main">
              <a:ext uri="{FF2B5EF4-FFF2-40B4-BE49-F238E27FC236}">
                <a16:creationId xmlns:a16="http://schemas.microsoft.com/office/drawing/2014/main" id="{D47F2C32-B66E-4B9A-B398-6B9CB77782C8}"/>
              </a:ext>
            </a:extLst>
          </p:cNvPr>
          <p:cNvPicPr>
            <a:picLocks xmlns:a="http://schemas.openxmlformats.org/drawingml/2006/main" noChangeAspect="1"/>
          </p:cNvPicPr>
          <p:nvPr/>
        </p:nvPicPr>
        <p:blipFill>
          <a:blip xmlns:r="http://schemas.openxmlformats.org/officeDocument/2006/relationships" xmlns:a="http://schemas.openxmlformats.org/drawingml/2006/main" r:embed="R200d5aa9246e4f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EBAFDB-A7CF-40C4-B493-AD2AA90EF30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16/24</a:t>
            </a:r>
          </a:p>
        </p:txBody>
      </p:sp>
      <p:sp>
        <p:nvSpPr>
          <p:cNvPr id="4" name="">
            <a:extLst xmlns:a="http://schemas.openxmlformats.org/drawingml/2006/main">
              <a:ext uri="{FF2B5EF4-FFF2-40B4-BE49-F238E27FC236}">
                <a16:creationId xmlns:a16="http://schemas.microsoft.com/office/drawing/2014/main" id="{9208FBCB-B53B-45F2-B8AD-EAE3F47190A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Completa la tabla de motores desde el esquema específico.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Explica una discrepancia entre salida y posición, y otra entre sentido y hélice.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Distingue la prueba de enlace de la prueba de motores.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Resuelve la acción proporcional del caso y relaciona error de ejes con respuesta equivocada.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Prepara las preguntas que observarás en el taller de ensamblaje.</a:t>
            </a:r>
          </a:p>
        </p:txBody>
      </p:sp>
    </p:spTree>
    <p:extLst>
      <p:ext uri="{BB962C8B-B14F-4D97-AF65-F5344CB8AC3E}">
        <p14:creationId xmlns:p14="http://schemas.microsoft.com/office/powerpoint/2010/main" val="1080977164"/>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D797D3-C5B4-4946-888A-54E74A516FF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se simula y qué se comprueba en el objeto</a:t>
            </a:r>
          </a:p>
        </p:txBody>
      </p:sp>
      <p:pic>
        <p:nvPicPr>
          <p:cNvPr id="2" name="">
            <a:extLst xmlns:a="http://schemas.openxmlformats.org/drawingml/2006/main">
              <a:ext uri="{FF2B5EF4-FFF2-40B4-BE49-F238E27FC236}">
                <a16:creationId xmlns:a16="http://schemas.microsoft.com/office/drawing/2014/main" id="{C10A3823-1CC9-414C-B2CE-6F60DD2EAFF0}"/>
              </a:ext>
            </a:extLst>
          </p:cNvPr>
          <p:cNvPicPr>
            <a:picLocks xmlns:a="http://schemas.openxmlformats.org/drawingml/2006/main" noChangeAspect="1"/>
          </p:cNvPicPr>
          <p:nvPr/>
        </p:nvPicPr>
        <p:blipFill>
          <a:blip xmlns:r="http://schemas.openxmlformats.org/officeDocument/2006/relationships" xmlns:a="http://schemas.openxmlformats.org/drawingml/2006/main" r:embed="R6e62ac64f7c54b9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ECFB1C-13C4-4954-B3C1-2BF4950B071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17/24</a:t>
            </a:r>
          </a:p>
        </p:txBody>
      </p:sp>
      <p:sp>
        <p:nvSpPr>
          <p:cNvPr id="4" name="">
            <a:extLst xmlns:a="http://schemas.openxmlformats.org/drawingml/2006/main">
              <a:ext uri="{FF2B5EF4-FFF2-40B4-BE49-F238E27FC236}">
                <a16:creationId xmlns:a16="http://schemas.microsoft.com/office/drawing/2014/main" id="{8D7474D0-3747-4002-9063-48438E4AE09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Mission Planner puede utilizar SITL, una simulación de software de ArduPilot. Sirve para observar estados y explorar una misión de ejemplo sin usar una aeronave física. El modelo y la versión de simulación también se registran: la documentación indica que esta ruta puede utilizar código de desarrollo. Sus resultados no prueban la calidad de una soldadura, la alimentación o la respuesta de un ESC del dron real.</a:t>
            </a:r>
          </a:p>
        </p:txBody>
      </p:sp>
    </p:spTree>
    <p:extLst>
      <p:ext uri="{BB962C8B-B14F-4D97-AF65-F5344CB8AC3E}">
        <p14:creationId xmlns:p14="http://schemas.microsoft.com/office/powerpoint/2010/main" val="544404099"/>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452921-47EF-46AA-983D-29D10A1CADE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Herramienta y evidencia</a:t>
            </a:r>
          </a:p>
        </p:txBody>
      </p:sp>
      <p:pic>
        <p:nvPicPr>
          <p:cNvPr id="2" name="">
            <a:extLst xmlns:a="http://schemas.openxmlformats.org/drawingml/2006/main">
              <a:ext uri="{FF2B5EF4-FFF2-40B4-BE49-F238E27FC236}">
                <a16:creationId xmlns:a16="http://schemas.microsoft.com/office/drawing/2014/main" id="{0D9CDE9C-79E5-49FD-A077-F6CE9B496021}"/>
              </a:ext>
            </a:extLst>
          </p:cNvPr>
          <p:cNvPicPr>
            <a:picLocks xmlns:a="http://schemas.openxmlformats.org/drawingml/2006/main" noChangeAspect="1"/>
          </p:cNvPicPr>
          <p:nvPr/>
        </p:nvPicPr>
        <p:blipFill>
          <a:blip xmlns:r="http://schemas.openxmlformats.org/officeDocument/2006/relationships" xmlns:a="http://schemas.openxmlformats.org/drawingml/2006/main" r:embed="Rb440b4ea47594a9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084AF5-12E6-4B99-800D-A77AF026F3C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18/24</a:t>
            </a:r>
          </a:p>
        </p:txBody>
      </p:sp>
      <p:graphicFrame>
        <p:nvGraphicFramePr>
          <p:cNvPr id="4" name="">
            <a:extLst xmlns:a="http://schemas.openxmlformats.org/drawingml/2006/main">
              <a:ext uri="{FF2B5EF4-FFF2-40B4-BE49-F238E27FC236}">
                <a16:creationId xmlns:a16="http://schemas.microsoft.com/office/drawing/2014/main" id="{F2E0F135-7C92-4BD2-8F57-CBC53C3C530D}"/>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Recurso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permite estudiar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comprueba aparte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Betaflight App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Configuración y estado de una FC</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Dinámica real y montaje</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SITL + Mission Planner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Comportamiento del modelo de software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Hardware y entorno físico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Banco sin hélices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Conexiones y correspondencias observadas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Vuelo del conjunto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Demostración de vuelo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Comportamiento observado en ese caso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Otras condiciones no ensayadas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9363268"/>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A7001B-8EF4-41E6-8BDA-89B774B75D4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se simula y qué se comprueba en el objeto</a:t>
            </a:r>
          </a:p>
        </p:txBody>
      </p:sp>
      <p:pic>
        <p:nvPicPr>
          <p:cNvPr id="2" name="">
            <a:extLst xmlns:a="http://schemas.openxmlformats.org/drawingml/2006/main">
              <a:ext uri="{FF2B5EF4-FFF2-40B4-BE49-F238E27FC236}">
                <a16:creationId xmlns:a16="http://schemas.microsoft.com/office/drawing/2014/main" id="{26A42F15-D346-41AD-B65E-C1846841E54C}"/>
              </a:ext>
            </a:extLst>
          </p:cNvPr>
          <p:cNvPicPr>
            <a:picLocks xmlns:a="http://schemas.openxmlformats.org/drawingml/2006/main" noChangeAspect="1"/>
          </p:cNvPicPr>
          <p:nvPr/>
        </p:nvPicPr>
        <p:blipFill>
          <a:blip xmlns:r="http://schemas.openxmlformats.org/officeDocument/2006/relationships" xmlns:a="http://schemas.openxmlformats.org/drawingml/2006/main" r:embed="R9005cbf84bbb4eb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7259B8-50A6-490C-AB7E-084385EE7BC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19/24</a:t>
            </a:r>
          </a:p>
        </p:txBody>
      </p:sp>
      <p:sp>
        <p:nvSpPr>
          <p:cNvPr id="4" name="">
            <a:extLst xmlns:a="http://schemas.openxmlformats.org/drawingml/2006/main">
              <a:ext uri="{FF2B5EF4-FFF2-40B4-BE49-F238E27FC236}">
                <a16:creationId xmlns:a16="http://schemas.microsoft.com/office/drawing/2014/main" id="{2F62AD57-F360-4A86-A68C-9FBA5548F51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simulación es una extensión guiada y se prepara antes de clase. El docente conserva un caso funcional y una alternativa de capturas si una descarga falla. La ruta principal no depende de que veinticinco alumnos instalen y solucionen simultáneamente un entorno nuevo durante la demostración. El siguiente bloque se concentra en el ensamblaje visible de los equipos de MECRO.</a:t>
            </a:r>
          </a:p>
        </p:txBody>
      </p:sp>
    </p:spTree>
    <p:extLst>
      <p:ext uri="{BB962C8B-B14F-4D97-AF65-F5344CB8AC3E}">
        <p14:creationId xmlns:p14="http://schemas.microsoft.com/office/powerpoint/2010/main" val="411363189"/>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3DE66C-E350-4706-B6E4-2D1DF5D1E6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F6C248DF-C985-430A-AD37-BC654D8F9540}"/>
              </a:ext>
            </a:extLst>
          </p:cNvPr>
          <p:cNvPicPr>
            <a:picLocks xmlns:a="http://schemas.openxmlformats.org/drawingml/2006/main" noChangeAspect="1"/>
          </p:cNvPicPr>
          <p:nvPr/>
        </p:nvPicPr>
        <p:blipFill>
          <a:blip xmlns:r="http://schemas.openxmlformats.org/officeDocument/2006/relationships" xmlns:a="http://schemas.openxmlformats.org/drawingml/2006/main" r:embed="R71a8726c9f0c421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478C01-E055-457B-8898-0CC63D3F4C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20/24</a:t>
            </a:r>
          </a:p>
        </p:txBody>
      </p:sp>
      <p:sp>
        <p:nvSpPr>
          <p:cNvPr id="4" name="">
            <a:extLst xmlns:a="http://schemas.openxmlformats.org/drawingml/2006/main">
              <a:ext uri="{FF2B5EF4-FFF2-40B4-BE49-F238E27FC236}">
                <a16:creationId xmlns:a16="http://schemas.microsoft.com/office/drawing/2014/main" id="{E91C116C-31C2-49C7-B10A-E4932AFAC96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Distinguir motor activado, giro y hélice antes de la prueba.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Mostrar una pantalla Motors y explicar sus correspondencias físicas.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Resolver el ejemplo de error y acción proporcional.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Contrastar Betaflight, ArduPilot y SITL sin mezclar sus evidencias.</a:t>
            </a:r>
          </a:p>
        </p:txBody>
      </p:sp>
    </p:spTree>
    <p:extLst>
      <p:ext uri="{BB962C8B-B14F-4D97-AF65-F5344CB8AC3E}">
        <p14:creationId xmlns:p14="http://schemas.microsoft.com/office/powerpoint/2010/main" val="240771880"/>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152E5A-9C29-4C50-BDF6-97D29BDA507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AEB6A1BD-C8FF-4134-AD6D-F4D47E188858}"/>
              </a:ext>
            </a:extLst>
          </p:cNvPr>
          <p:cNvPicPr>
            <a:picLocks xmlns:a="http://schemas.openxmlformats.org/drawingml/2006/main" noChangeAspect="1"/>
          </p:cNvPicPr>
          <p:nvPr/>
        </p:nvPicPr>
        <p:blipFill>
          <a:blip xmlns:r="http://schemas.openxmlformats.org/officeDocument/2006/relationships" xmlns:a="http://schemas.openxmlformats.org/drawingml/2006/main" r:embed="R541b0c790d0e446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DFA9085-86C6-428B-9787-F5FA16E908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21/24</a:t>
            </a:r>
          </a:p>
        </p:txBody>
      </p:sp>
      <p:sp>
        <p:nvSpPr>
          <p:cNvPr id="4" name="">
            <a:extLst xmlns:a="http://schemas.openxmlformats.org/drawingml/2006/main">
              <a:ext uri="{FF2B5EF4-FFF2-40B4-BE49-F238E27FC236}">
                <a16:creationId xmlns:a16="http://schemas.microsoft.com/office/drawing/2014/main" id="{333A14E1-899C-4727-8B9A-9F5D10523603}"/>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aeronave se prepara comprobando correspondencias entre el objeto, la configuración y la respuesta esperada.</a:t>
            </a:r>
          </a:p>
        </p:txBody>
      </p:sp>
      <p:sp>
        <p:nvSpPr>
          <p:cNvPr id="5" name="">
            <a:extLst xmlns:a="http://schemas.openxmlformats.org/drawingml/2006/main">
              <a:ext uri="{FF2B5EF4-FFF2-40B4-BE49-F238E27FC236}">
                <a16:creationId xmlns:a16="http://schemas.microsoft.com/office/drawing/2014/main" id="{3147DB1B-8167-45D5-9852-F3973C70FD7E}"/>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2086081236"/>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43F74C-51CA-406C-B868-711F6C61F4E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D1478010-2320-4C12-A965-149EFB8C5894}"/>
              </a:ext>
            </a:extLst>
          </p:cNvPr>
          <p:cNvPicPr>
            <a:picLocks xmlns:a="http://schemas.openxmlformats.org/drawingml/2006/main" noChangeAspect="1"/>
          </p:cNvPicPr>
          <p:nvPr/>
        </p:nvPicPr>
        <p:blipFill>
          <a:blip xmlns:r="http://schemas.openxmlformats.org/officeDocument/2006/relationships" xmlns:a="http://schemas.openxmlformats.org/drawingml/2006/main" r:embed="R9e12b727ec514d2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B659E5-EB9E-4F80-994C-42A28D1E527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22/24</a:t>
            </a:r>
          </a:p>
        </p:txBody>
      </p:sp>
      <p:sp>
        <p:nvSpPr>
          <p:cNvPr id="4" name="">
            <a:extLst xmlns:a="http://schemas.openxmlformats.org/drawingml/2006/main">
              <a:ext uri="{FF2B5EF4-FFF2-40B4-BE49-F238E27FC236}">
                <a16:creationId xmlns:a16="http://schemas.microsoft.com/office/drawing/2014/main" id="{DB91458F-9C9F-4A01-A9FD-A830E66ADB3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¿Se copia el orden de motores entre firmwares?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¿DShot exige por defecto la calibración analógica del gas?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¿Una simulación valida una soldadura?</a:t>
            </a:r>
          </a:p>
        </p:txBody>
      </p:sp>
    </p:spTree>
    <p:extLst>
      <p:ext uri="{BB962C8B-B14F-4D97-AF65-F5344CB8AC3E}">
        <p14:creationId xmlns:p14="http://schemas.microsoft.com/office/powerpoint/2010/main" val="720889265"/>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9EECF1-4596-429F-A84D-682CC1E4730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2956247A-8710-4177-92EE-83BB7DB19E2E}"/>
              </a:ext>
            </a:extLst>
          </p:cNvPr>
          <p:cNvPicPr>
            <a:picLocks xmlns:a="http://schemas.openxmlformats.org/drawingml/2006/main" noChangeAspect="1"/>
          </p:cNvPicPr>
          <p:nvPr/>
        </p:nvPicPr>
        <p:blipFill>
          <a:blip xmlns:r="http://schemas.openxmlformats.org/officeDocument/2006/relationships" xmlns:a="http://schemas.openxmlformats.org/drawingml/2006/main" r:embed="R90f1691ed10243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99C061-7940-4C42-A2A7-53956C894A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23/24</a:t>
            </a:r>
          </a:p>
        </p:txBody>
      </p:sp>
      <p:sp>
        <p:nvSpPr>
          <p:cNvPr id="4" name="">
            <a:extLst xmlns:a="http://schemas.openxmlformats.org/drawingml/2006/main">
              <a:ext uri="{FF2B5EF4-FFF2-40B4-BE49-F238E27FC236}">
                <a16:creationId xmlns:a16="http://schemas.microsoft.com/office/drawing/2014/main" id="{58E9CDE1-6202-4EBB-A473-68C48658834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Se comprueba el esquema, el bastidor y la configuración de cada uno.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Se sigue el procedimiento específico del protocolo y ESC compatibles.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El hardware requiere sus propias comprobaciones.</a:t>
            </a:r>
          </a:p>
        </p:txBody>
      </p:sp>
    </p:spTree>
    <p:extLst>
      <p:ext uri="{BB962C8B-B14F-4D97-AF65-F5344CB8AC3E}">
        <p14:creationId xmlns:p14="http://schemas.microsoft.com/office/powerpoint/2010/main" val="217218996"/>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175A01-18CC-4F6B-8D2B-828152EEC38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96F9D7DA-D8F7-4BE4-B787-A003992384DF}"/>
              </a:ext>
            </a:extLst>
          </p:cNvPr>
          <p:cNvPicPr>
            <a:picLocks xmlns:a="http://schemas.openxmlformats.org/drawingml/2006/main" noChangeAspect="1"/>
          </p:cNvPicPr>
          <p:nvPr/>
        </p:nvPicPr>
        <p:blipFill>
          <a:blip xmlns:r="http://schemas.openxmlformats.org/officeDocument/2006/relationships" xmlns:a="http://schemas.openxmlformats.org/drawingml/2006/main" r:embed="R7192da186a5146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9EAFA2-0694-4E0B-A1BA-32F95416768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24/24</a:t>
            </a:r>
          </a:p>
        </p:txBody>
      </p:sp>
      <p:sp>
        <p:nvSpPr>
          <p:cNvPr id="4" name="">
            <a:extLst xmlns:a="http://schemas.openxmlformats.org/drawingml/2006/main">
              <a:ext uri="{FF2B5EF4-FFF2-40B4-BE49-F238E27FC236}">
                <a16:creationId xmlns:a16="http://schemas.microsoft.com/office/drawing/2014/main" id="{0D1AC990-A136-4FE1-A07C-177973E53DA0}"/>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Tabla de motores y modos, caso de control resuelto y plan de comprobaciones.</a:t>
            </a:r>
          </a:p>
        </p:txBody>
      </p:sp>
      <p:sp>
        <p:nvSpPr>
          <p:cNvPr id="5" name="">
            <a:extLst xmlns:a="http://schemas.openxmlformats.org/drawingml/2006/main">
              <a:ext uri="{FF2B5EF4-FFF2-40B4-BE49-F238E27FC236}">
                <a16:creationId xmlns:a16="http://schemas.microsoft.com/office/drawing/2014/main" id="{7FDD27A1-CDA4-41A4-96F4-43C3C13CF0A5}"/>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629041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2026-10-22T23:52:38.9220000Z</dcterms:created>
  <dcterms:modified xsi:type="dcterms:W3CDTF">2026-10-22T23:52:38.9220000Z</dcterms:modified>
</coreProperties>
</file>