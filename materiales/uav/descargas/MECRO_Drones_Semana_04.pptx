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slides/charts/chart1.xml" ContentType="application/vnd.openxmlformats-officedocument.drawingml.chart+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c8c32c2814b40dd" /><Relationship Type="http://schemas.openxmlformats.org/officeDocument/2006/relationships/extended-properties" Target="/docProps/app.xml" Id="Rd82608311e9a47ad" /><Relationship Type="http://schemas.openxmlformats.org/officeDocument/2006/relationships/officeDocument" Target="/ppt/presentation.xml" Id="R6bfc37b6b625414c" /></Relationships>
</file>

<file path=ppt/presentation.xml><?xml version="1.0" encoding="utf-8"?>
<p:presentation xmlns:p="http://schemas.openxmlformats.org/presentationml/2006/main">
  <p:sldMasterIdLst>
    <p:sldMasterId xmlns:r="http://schemas.openxmlformats.org/officeDocument/2006/relationships" id="2147483648" r:id="R13c2589894384703"/>
  </p:sldMasterIdLst>
  <p:notesMasterIdLst>
    <p:notesMasterId xmlns:r="http://schemas.openxmlformats.org/officeDocument/2006/relationships" r:id="Rebb6ccffe4fd44d1"/>
  </p:notesMasterIdLst>
  <p:sldIdLst>
    <p:sldId xmlns:r="http://schemas.openxmlformats.org/officeDocument/2006/relationships" id="256" r:id="R62a19ab940154e9d"/>
    <p:sldId xmlns:r="http://schemas.openxmlformats.org/officeDocument/2006/relationships" id="257" r:id="R9a62bc4306df4b28"/>
    <p:sldId xmlns:r="http://schemas.openxmlformats.org/officeDocument/2006/relationships" id="258" r:id="R3770373a0e5e4640"/>
    <p:sldId xmlns:r="http://schemas.openxmlformats.org/officeDocument/2006/relationships" id="259" r:id="Rf9ecaffaf3424820"/>
    <p:sldId xmlns:r="http://schemas.openxmlformats.org/officeDocument/2006/relationships" id="260" r:id="Ra34d74f9a7684e97"/>
    <p:sldId xmlns:r="http://schemas.openxmlformats.org/officeDocument/2006/relationships" id="261" r:id="R18362c7af0a84d94"/>
    <p:sldId xmlns:r="http://schemas.openxmlformats.org/officeDocument/2006/relationships" id="262" r:id="R5cdee2d458e44e7b"/>
    <p:sldId xmlns:r="http://schemas.openxmlformats.org/officeDocument/2006/relationships" id="263" r:id="R62b701006c814576"/>
    <p:sldId xmlns:r="http://schemas.openxmlformats.org/officeDocument/2006/relationships" id="264" r:id="R93256316a2ed4046"/>
    <p:sldId xmlns:r="http://schemas.openxmlformats.org/officeDocument/2006/relationships" id="265" r:id="R9b794880b07d4cf1"/>
    <p:sldId xmlns:r="http://schemas.openxmlformats.org/officeDocument/2006/relationships" id="266" r:id="R09f0383f613941cb"/>
    <p:sldId xmlns:r="http://schemas.openxmlformats.org/officeDocument/2006/relationships" id="267" r:id="R66fda1631d6f45c3"/>
    <p:sldId xmlns:r="http://schemas.openxmlformats.org/officeDocument/2006/relationships" id="268" r:id="R57c9f52b97dd41f7"/>
    <p:sldId xmlns:r="http://schemas.openxmlformats.org/officeDocument/2006/relationships" id="269" r:id="R7922ce5214bd4d1b"/>
    <p:sldId xmlns:r="http://schemas.openxmlformats.org/officeDocument/2006/relationships" id="270" r:id="R278689a83e4e49b4"/>
    <p:sldId xmlns:r="http://schemas.openxmlformats.org/officeDocument/2006/relationships" id="271" r:id="R0d5826ea4aa74387"/>
    <p:sldId xmlns:r="http://schemas.openxmlformats.org/officeDocument/2006/relationships" id="272" r:id="R5cd3082637594e8c"/>
    <p:sldId xmlns:r="http://schemas.openxmlformats.org/officeDocument/2006/relationships" id="273" r:id="Rb3885741fc3247d8"/>
    <p:sldId xmlns:r="http://schemas.openxmlformats.org/officeDocument/2006/relationships" id="274" r:id="R26cd22288dc943f4"/>
    <p:sldId xmlns:r="http://schemas.openxmlformats.org/officeDocument/2006/relationships" id="275" r:id="R9fe2358e0cc84e78"/>
    <p:sldId xmlns:r="http://schemas.openxmlformats.org/officeDocument/2006/relationships" id="276" r:id="Re8e72c820b044720"/>
    <p:sldId xmlns:r="http://schemas.openxmlformats.org/officeDocument/2006/relationships" id="277" r:id="R55ba1d7b3580468d"/>
    <p:sldId xmlns:r="http://schemas.openxmlformats.org/officeDocument/2006/relationships" id="278" r:id="R2223dbba818a47e3"/>
    <p:sldId xmlns:r="http://schemas.openxmlformats.org/officeDocument/2006/relationships" id="279" r:id="Rb39d1871aff34405"/>
    <p:sldId xmlns:r="http://schemas.openxmlformats.org/officeDocument/2006/relationships" id="280" r:id="R5636fd1c1c8645e6"/>
    <p:sldId xmlns:r="http://schemas.openxmlformats.org/officeDocument/2006/relationships" id="281" r:id="R3c866237cc164448"/>
    <p:sldId xmlns:r="http://schemas.openxmlformats.org/officeDocument/2006/relationships" id="282" r:id="R6398a66b0e214f95"/>
    <p:sldId xmlns:r="http://schemas.openxmlformats.org/officeDocument/2006/relationships" id="283" r:id="R6e1d9b39bc2a4076"/>
    <p:sldId xmlns:r="http://schemas.openxmlformats.org/officeDocument/2006/relationships" id="284" r:id="R7be06b279ab2443b"/>
    <p:sldId xmlns:r="http://schemas.openxmlformats.org/officeDocument/2006/relationships" id="285" r:id="Rfd130144014947a2"/>
    <p:sldId xmlns:r="http://schemas.openxmlformats.org/officeDocument/2006/relationships" id="286" r:id="R40338381e1984b0f"/>
    <p:sldId xmlns:r="http://schemas.openxmlformats.org/officeDocument/2006/relationships" id="287" r:id="Rba6e8aaaf7af4302"/>
    <p:sldId xmlns:r="http://schemas.openxmlformats.org/officeDocument/2006/relationships" id="288" r:id="Ra0d163faac464409"/>
    <p:sldId xmlns:r="http://schemas.openxmlformats.org/officeDocument/2006/relationships" id="289" r:id="R83e3c1da2af34b91"/>
    <p:sldId xmlns:r="http://schemas.openxmlformats.org/officeDocument/2006/relationships" id="290" r:id="R7c3b19b9598f4c6d"/>
    <p:sldId xmlns:r="http://schemas.openxmlformats.org/officeDocument/2006/relationships" id="291" r:id="R8ec0c089d3304599"/>
    <p:sldId xmlns:r="http://schemas.openxmlformats.org/officeDocument/2006/relationships" id="292" r:id="Reb33b950688b456c"/>
    <p:sldId xmlns:r="http://schemas.openxmlformats.org/officeDocument/2006/relationships" id="293" r:id="Ree10999e04da4684"/>
    <p:sldId xmlns:r="http://schemas.openxmlformats.org/officeDocument/2006/relationships" id="294" r:id="R8389e940d9274f9d"/>
    <p:sldId xmlns:r="http://schemas.openxmlformats.org/officeDocument/2006/relationships" id="295" r:id="Rb99ef85033a44f3a"/>
    <p:sldId xmlns:r="http://schemas.openxmlformats.org/officeDocument/2006/relationships" id="296" r:id="R0d6b8b0ad3ca4495"/>
    <p:sldId xmlns:r="http://schemas.openxmlformats.org/officeDocument/2006/relationships" id="297" r:id="Rc8a0e412fa504be2"/>
    <p:sldId xmlns:r="http://schemas.openxmlformats.org/officeDocument/2006/relationships" id="298" r:id="R90f4be235ebb4e0b"/>
    <p:sldId xmlns:r="http://schemas.openxmlformats.org/officeDocument/2006/relationships" id="299" r:id="R891c857a3d324fee"/>
    <p:sldId xmlns:r="http://schemas.openxmlformats.org/officeDocument/2006/relationships" id="300" r:id="Rb2cf3129b97e420f"/>
    <p:sldId xmlns:r="http://schemas.openxmlformats.org/officeDocument/2006/relationships" id="301" r:id="Rb373a3a38bd9487e"/>
    <p:sldId xmlns:r="http://schemas.openxmlformats.org/officeDocument/2006/relationships" id="302" r:id="R075a0d87c6c842cc"/>
    <p:sldId xmlns:r="http://schemas.openxmlformats.org/officeDocument/2006/relationships" id="303" r:id="R1ac9c579a0d740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11b68e27b34cc7" /><Relationship Type="http://schemas.openxmlformats.org/officeDocument/2006/relationships/slideMaster" Target="/ppt/slideMasters/slideMaster1.xml" Id="R13c2589894384703" /><Relationship Type="http://schemas.openxmlformats.org/officeDocument/2006/relationships/notesMaster" Target="/ppt/notesMasters/notesMaster1.xml" Id="Rebb6ccffe4fd44d1" /><Relationship Type="http://schemas.openxmlformats.org/officeDocument/2006/relationships/presProps" Target="/ppt/presProps.xml" Id="R7f29ea1817a54290" /><Relationship Type="http://schemas.openxmlformats.org/officeDocument/2006/relationships/tableStyles" Target="/ppt/tableStyles.xml" Id="R8279d4a3fc8e4833" /><Relationship Type="http://schemas.openxmlformats.org/officeDocument/2006/relationships/slide" Target="/ppt/slides/slide1.xml" Id="R62a19ab940154e9d" /><Relationship Type="http://schemas.openxmlformats.org/officeDocument/2006/relationships/slide" Target="/ppt/slides/slide2.xml" Id="R9a62bc4306df4b28" /><Relationship Type="http://schemas.openxmlformats.org/officeDocument/2006/relationships/slide" Target="/ppt/slides/slide3.xml" Id="R3770373a0e5e4640" /><Relationship Type="http://schemas.openxmlformats.org/officeDocument/2006/relationships/slide" Target="/ppt/slides/slide4.xml" Id="Rf9ecaffaf3424820" /><Relationship Type="http://schemas.openxmlformats.org/officeDocument/2006/relationships/slide" Target="/ppt/slides/slide5.xml" Id="Ra34d74f9a7684e97" /><Relationship Type="http://schemas.openxmlformats.org/officeDocument/2006/relationships/slide" Target="/ppt/slides/slide6.xml" Id="R18362c7af0a84d94" /><Relationship Type="http://schemas.openxmlformats.org/officeDocument/2006/relationships/slide" Target="/ppt/slides/slide7.xml" Id="R5cdee2d458e44e7b" /><Relationship Type="http://schemas.openxmlformats.org/officeDocument/2006/relationships/slide" Target="/ppt/slides/slide8.xml" Id="R62b701006c814576" /><Relationship Type="http://schemas.openxmlformats.org/officeDocument/2006/relationships/slide" Target="/ppt/slides/slide9.xml" Id="R93256316a2ed4046" /><Relationship Type="http://schemas.openxmlformats.org/officeDocument/2006/relationships/slide" Target="/ppt/slides/slide10.xml" Id="R9b794880b07d4cf1" /><Relationship Type="http://schemas.openxmlformats.org/officeDocument/2006/relationships/slide" Target="/ppt/slides/slide11.xml" Id="R09f0383f613941cb" /><Relationship Type="http://schemas.openxmlformats.org/officeDocument/2006/relationships/slide" Target="/ppt/slides/slide12.xml" Id="R66fda1631d6f45c3" /><Relationship Type="http://schemas.openxmlformats.org/officeDocument/2006/relationships/slide" Target="/ppt/slides/slide13.xml" Id="R57c9f52b97dd41f7" /><Relationship Type="http://schemas.openxmlformats.org/officeDocument/2006/relationships/slide" Target="/ppt/slides/slide14.xml" Id="R7922ce5214bd4d1b" /><Relationship Type="http://schemas.openxmlformats.org/officeDocument/2006/relationships/slide" Target="/ppt/slides/slide15.xml" Id="R278689a83e4e49b4" /><Relationship Type="http://schemas.openxmlformats.org/officeDocument/2006/relationships/slide" Target="/ppt/slides/slide16.xml" Id="R0d5826ea4aa74387" /><Relationship Type="http://schemas.openxmlformats.org/officeDocument/2006/relationships/slide" Target="/ppt/slides/slide17.xml" Id="R5cd3082637594e8c" /><Relationship Type="http://schemas.openxmlformats.org/officeDocument/2006/relationships/slide" Target="/ppt/slides/slide18.xml" Id="Rb3885741fc3247d8" /><Relationship Type="http://schemas.openxmlformats.org/officeDocument/2006/relationships/slide" Target="/ppt/slides/slide19.xml" Id="R26cd22288dc943f4" /><Relationship Type="http://schemas.openxmlformats.org/officeDocument/2006/relationships/slide" Target="/ppt/slides/slide20.xml" Id="R9fe2358e0cc84e78" /><Relationship Type="http://schemas.openxmlformats.org/officeDocument/2006/relationships/slide" Target="/ppt/slides/slide21.xml" Id="Re8e72c820b044720" /><Relationship Type="http://schemas.openxmlformats.org/officeDocument/2006/relationships/slide" Target="/ppt/slides/slide22.xml" Id="R55ba1d7b3580468d" /><Relationship Type="http://schemas.openxmlformats.org/officeDocument/2006/relationships/slide" Target="/ppt/slides/slide23.xml" Id="R2223dbba818a47e3" /><Relationship Type="http://schemas.openxmlformats.org/officeDocument/2006/relationships/slide" Target="/ppt/slides/slide24.xml" Id="Rb39d1871aff34405" /><Relationship Type="http://schemas.openxmlformats.org/officeDocument/2006/relationships/slide" Target="/ppt/slides/slide25.xml" Id="R5636fd1c1c8645e6" /><Relationship Type="http://schemas.openxmlformats.org/officeDocument/2006/relationships/slide" Target="/ppt/slides/slide26.xml" Id="R3c866237cc164448" /><Relationship Type="http://schemas.openxmlformats.org/officeDocument/2006/relationships/slide" Target="/ppt/slides/slide27.xml" Id="R6398a66b0e214f95" /><Relationship Type="http://schemas.openxmlformats.org/officeDocument/2006/relationships/slide" Target="/ppt/slides/slide28.xml" Id="R6e1d9b39bc2a4076" /><Relationship Type="http://schemas.openxmlformats.org/officeDocument/2006/relationships/slide" Target="/ppt/slides/slide29.xml" Id="R7be06b279ab2443b" /><Relationship Type="http://schemas.openxmlformats.org/officeDocument/2006/relationships/slide" Target="/ppt/slides/slide30.xml" Id="Rfd130144014947a2" /><Relationship Type="http://schemas.openxmlformats.org/officeDocument/2006/relationships/slide" Target="/ppt/slides/slide31.xml" Id="R40338381e1984b0f" /><Relationship Type="http://schemas.openxmlformats.org/officeDocument/2006/relationships/slide" Target="/ppt/slides/slide32.xml" Id="Rba6e8aaaf7af4302" /><Relationship Type="http://schemas.openxmlformats.org/officeDocument/2006/relationships/slide" Target="/ppt/slides/slide33.xml" Id="Ra0d163faac464409" /><Relationship Type="http://schemas.openxmlformats.org/officeDocument/2006/relationships/slide" Target="/ppt/slides/slide34.xml" Id="R83e3c1da2af34b91" /><Relationship Type="http://schemas.openxmlformats.org/officeDocument/2006/relationships/slide" Target="/ppt/slides/slide35.xml" Id="R7c3b19b9598f4c6d" /><Relationship Type="http://schemas.openxmlformats.org/officeDocument/2006/relationships/slide" Target="/ppt/slides/slide36.xml" Id="R8ec0c089d3304599" /><Relationship Type="http://schemas.openxmlformats.org/officeDocument/2006/relationships/slide" Target="/ppt/slides/slide37.xml" Id="Reb33b950688b456c" /><Relationship Type="http://schemas.openxmlformats.org/officeDocument/2006/relationships/slide" Target="/ppt/slides/slide38.xml" Id="Ree10999e04da4684" /><Relationship Type="http://schemas.openxmlformats.org/officeDocument/2006/relationships/slide" Target="/ppt/slides/slide39.xml" Id="R8389e940d9274f9d" /><Relationship Type="http://schemas.openxmlformats.org/officeDocument/2006/relationships/slide" Target="/ppt/slides/slide40.xml" Id="Rb99ef85033a44f3a" /><Relationship Type="http://schemas.openxmlformats.org/officeDocument/2006/relationships/slide" Target="/ppt/slides/slide41.xml" Id="R0d6b8b0ad3ca4495" /><Relationship Type="http://schemas.openxmlformats.org/officeDocument/2006/relationships/slide" Target="/ppt/slides/slide42.xml" Id="Rc8a0e412fa504be2" /><Relationship Type="http://schemas.openxmlformats.org/officeDocument/2006/relationships/slide" Target="/ppt/slides/slide43.xml" Id="R90f4be235ebb4e0b" /><Relationship Type="http://schemas.openxmlformats.org/officeDocument/2006/relationships/slide" Target="/ppt/slides/slide44.xml" Id="R891c857a3d324fee" /><Relationship Type="http://schemas.openxmlformats.org/officeDocument/2006/relationships/slide" Target="/ppt/slides/slide45.xml" Id="Rb2cf3129b97e420f" /><Relationship Type="http://schemas.openxmlformats.org/officeDocument/2006/relationships/slide" Target="/ppt/slides/slide46.xml" Id="Rb373a3a38bd9487e" /><Relationship Type="http://schemas.openxmlformats.org/officeDocument/2006/relationships/slide" Target="/ppt/slides/slide47.xml" Id="R075a0d87c6c842cc" /><Relationship Type="http://schemas.openxmlformats.org/officeDocument/2006/relationships/slide" Target="/ppt/slides/slide48.xml" Id="R1ac9c579a0d740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c8dff9aa7f46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33665e164345e1" /><Relationship Type="http://schemas.openxmlformats.org/officeDocument/2006/relationships/notesMaster" Target="/ppt/notesMasters/notesMaster1.xml" Id="R20cf03da2ba44d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7eb732d9e24cc9" /><Relationship Type="http://schemas.openxmlformats.org/officeDocument/2006/relationships/notesMaster" Target="/ppt/notesMasters/notesMaster1.xml" Id="Rb802354b92694a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d03c91b8ba40c8" /><Relationship Type="http://schemas.openxmlformats.org/officeDocument/2006/relationships/notesMaster" Target="/ppt/notesMasters/notesMaster1.xml" Id="Rd38fbb376a4b46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36b4082e1c4bab" /><Relationship Type="http://schemas.openxmlformats.org/officeDocument/2006/relationships/notesMaster" Target="/ppt/notesMasters/notesMaster1.xml" Id="Rf313557721df49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92ec9c64e143b9" /><Relationship Type="http://schemas.openxmlformats.org/officeDocument/2006/relationships/notesMaster" Target="/ppt/notesMasters/notesMaster1.xml" Id="Rab2899b3f9804b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91310ae956493e" /><Relationship Type="http://schemas.openxmlformats.org/officeDocument/2006/relationships/notesMaster" Target="/ppt/notesMasters/notesMaster1.xml" Id="Rc68d5abffe844a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07da0aeee04765" /><Relationship Type="http://schemas.openxmlformats.org/officeDocument/2006/relationships/notesMaster" Target="/ppt/notesMasters/notesMaster1.xml" Id="Rabb807edcb7540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bc9f309ec44c12" /><Relationship Type="http://schemas.openxmlformats.org/officeDocument/2006/relationships/notesMaster" Target="/ppt/notesMasters/notesMaster1.xml" Id="R0c99b04eeadd4e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9d511d11c646b8" /><Relationship Type="http://schemas.openxmlformats.org/officeDocument/2006/relationships/notesMaster" Target="/ppt/notesMasters/notesMaster1.xml" Id="R780b245be95848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2e994df09c47d7" /><Relationship Type="http://schemas.openxmlformats.org/officeDocument/2006/relationships/notesMaster" Target="/ppt/notesMasters/notesMaster1.xml" Id="R0baf7b7cd2f64f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3bcb1c30e74941" /><Relationship Type="http://schemas.openxmlformats.org/officeDocument/2006/relationships/notesMaster" Target="/ppt/notesMasters/notesMaster1.xml" Id="R7b6df1041a6b4b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eb909396e84a46" /><Relationship Type="http://schemas.openxmlformats.org/officeDocument/2006/relationships/notesMaster" Target="/ppt/notesMasters/notesMaster1.xml" Id="R2bbcb14adbe146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b3c304ba464c41" /><Relationship Type="http://schemas.openxmlformats.org/officeDocument/2006/relationships/notesMaster" Target="/ppt/notesMasters/notesMaster1.xml" Id="Rb1f22b66ed7342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8bd0614e2b94928" /><Relationship Type="http://schemas.openxmlformats.org/officeDocument/2006/relationships/notesMaster" Target="/ppt/notesMasters/notesMaster1.xml" Id="R1fe7f758cfea41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4983a88cef46db" /><Relationship Type="http://schemas.openxmlformats.org/officeDocument/2006/relationships/notesMaster" Target="/ppt/notesMasters/notesMaster1.xml" Id="R5d519c06077a4d9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c2e98a6a43485a" /><Relationship Type="http://schemas.openxmlformats.org/officeDocument/2006/relationships/notesMaster" Target="/ppt/notesMasters/notesMaster1.xml" Id="Radc70cb57af54d5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2dfee6c45104666" /><Relationship Type="http://schemas.openxmlformats.org/officeDocument/2006/relationships/notesMaster" Target="/ppt/notesMasters/notesMaster1.xml" Id="Re5c907e2de8c46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5122f2a7d4640a1" /><Relationship Type="http://schemas.openxmlformats.org/officeDocument/2006/relationships/notesMaster" Target="/ppt/notesMasters/notesMaster1.xml" Id="Re85e1fbda45d4f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538b0117cc14ded" /><Relationship Type="http://schemas.openxmlformats.org/officeDocument/2006/relationships/notesMaster" Target="/ppt/notesMasters/notesMaster1.xml" Id="Rfd874ab354da4c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db03391ed2a4167" /><Relationship Type="http://schemas.openxmlformats.org/officeDocument/2006/relationships/notesMaster" Target="/ppt/notesMasters/notesMaster1.xml" Id="R3bb02cd3a6404e4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d07b9ab472a44a7" /><Relationship Type="http://schemas.openxmlformats.org/officeDocument/2006/relationships/notesMaster" Target="/ppt/notesMasters/notesMaster1.xml" Id="R480598177adc432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819972972244a23" /><Relationship Type="http://schemas.openxmlformats.org/officeDocument/2006/relationships/notesMaster" Target="/ppt/notesMasters/notesMaster1.xml" Id="R6a822710ba78432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b580b1e8154f41" /><Relationship Type="http://schemas.openxmlformats.org/officeDocument/2006/relationships/notesMaster" Target="/ppt/notesMasters/notesMaster1.xml" Id="R29f283efa9884db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08f0f738d34d3c" /><Relationship Type="http://schemas.openxmlformats.org/officeDocument/2006/relationships/notesMaster" Target="/ppt/notesMasters/notesMaster1.xml" Id="R0bb485d677d7429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15c65b0fef145fc" /><Relationship Type="http://schemas.openxmlformats.org/officeDocument/2006/relationships/notesMaster" Target="/ppt/notesMasters/notesMaster1.xml" Id="R0d6fb64c369c422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85b8c8729624a3b" /><Relationship Type="http://schemas.openxmlformats.org/officeDocument/2006/relationships/notesMaster" Target="/ppt/notesMasters/notesMaster1.xml" Id="R94607bca51ee4e0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baf56d88c494baa" /><Relationship Type="http://schemas.openxmlformats.org/officeDocument/2006/relationships/notesMaster" Target="/ppt/notesMasters/notesMaster1.xml" Id="R31fde014e1724b3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6bc5d5724cd4efa" /><Relationship Type="http://schemas.openxmlformats.org/officeDocument/2006/relationships/notesMaster" Target="/ppt/notesMasters/notesMaster1.xml" Id="Re658299ed490440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2b10e06a8fa48d9" /><Relationship Type="http://schemas.openxmlformats.org/officeDocument/2006/relationships/notesMaster" Target="/ppt/notesMasters/notesMaster1.xml" Id="Reae1167ba7c44c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d17d189f8604593" /><Relationship Type="http://schemas.openxmlformats.org/officeDocument/2006/relationships/notesMaster" Target="/ppt/notesMasters/notesMaster1.xml" Id="R651aae6cde854ff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4061aa7327347c8" /><Relationship Type="http://schemas.openxmlformats.org/officeDocument/2006/relationships/notesMaster" Target="/ppt/notesMasters/notesMaster1.xml" Id="Rd589f52226b84ab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d996389a2bd4ace" /><Relationship Type="http://schemas.openxmlformats.org/officeDocument/2006/relationships/notesMaster" Target="/ppt/notesMasters/notesMaster1.xml" Id="R16b4bcb7f6474d6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4c98c08dc80420b" /><Relationship Type="http://schemas.openxmlformats.org/officeDocument/2006/relationships/notesMaster" Target="/ppt/notesMasters/notesMaster1.xml" Id="R31840ec06a3247a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a36df3db0f8484f" /><Relationship Type="http://schemas.openxmlformats.org/officeDocument/2006/relationships/notesMaster" Target="/ppt/notesMasters/notesMaster1.xml" Id="R39feb528309c409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9faa128a65e49a5" /><Relationship Type="http://schemas.openxmlformats.org/officeDocument/2006/relationships/notesMaster" Target="/ppt/notesMasters/notesMaster1.xml" Id="Rdbc7a8a5330a482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299e584a6c54853" /><Relationship Type="http://schemas.openxmlformats.org/officeDocument/2006/relationships/notesMaster" Target="/ppt/notesMasters/notesMaster1.xml" Id="R3b0758aa9b57410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ff4e964eceb45de" /><Relationship Type="http://schemas.openxmlformats.org/officeDocument/2006/relationships/notesMaster" Target="/ppt/notesMasters/notesMaster1.xml" Id="R62d416fe55664f4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2a3f6eb9f0445ff" /><Relationship Type="http://schemas.openxmlformats.org/officeDocument/2006/relationships/notesMaster" Target="/ppt/notesMasters/notesMaster1.xml" Id="R9df9ffaab592468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303e4daaab9421d" /><Relationship Type="http://schemas.openxmlformats.org/officeDocument/2006/relationships/notesMaster" Target="/ppt/notesMasters/notesMaster1.xml" Id="R3e11513e8e7c4c3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640410822174aab" /><Relationship Type="http://schemas.openxmlformats.org/officeDocument/2006/relationships/notesMaster" Target="/ppt/notesMasters/notesMaster1.xml" Id="Rf8772d26388440c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c2fefca25a04bef" /><Relationship Type="http://schemas.openxmlformats.org/officeDocument/2006/relationships/notesMaster" Target="/ppt/notesMasters/notesMaster1.xml" Id="Rcca4c8698fc74f5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47051831c464179" /><Relationship Type="http://schemas.openxmlformats.org/officeDocument/2006/relationships/notesMaster" Target="/ppt/notesMasters/notesMaster1.xml" Id="R4dc48af2433d468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aafe9308f8f4953" /><Relationship Type="http://schemas.openxmlformats.org/officeDocument/2006/relationships/notesMaster" Target="/ppt/notesMasters/notesMaster1.xml" Id="R3592121263d54e9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9616edd56b6430a" /><Relationship Type="http://schemas.openxmlformats.org/officeDocument/2006/relationships/notesMaster" Target="/ppt/notesMasters/notesMaster1.xml" Id="R99ce7241b0e24b2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49f86fefe7b4cf9" /><Relationship Type="http://schemas.openxmlformats.org/officeDocument/2006/relationships/notesMaster" Target="/ppt/notesMasters/notesMaster1.xml" Id="R168682c91d354ec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82dd139993d459d" /><Relationship Type="http://schemas.openxmlformats.org/officeDocument/2006/relationships/notesMaster" Target="/ppt/notesMasters/notesMaster1.xml" Id="R365f457ddb454f3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2cdeb84a3044e74" /><Relationship Type="http://schemas.openxmlformats.org/officeDocument/2006/relationships/notesMaster" Target="/ppt/notesMasters/notesMaster1.xml" Id="Rc418d42332b241c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66585924c3143f6" /><Relationship Type="http://schemas.openxmlformats.org/officeDocument/2006/relationships/notesMaster" Target="/ppt/notesMasters/notesMaster1.xml" Id="R36620794b98340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3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Mostrar un inventario que coincida con el objeto preparado.</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 montaje comienza con un objeto identificado: estructura, componentes, revisiones y documentación preparada. El docente tiene un equipo de demostración desmontado hasta el nivel que puede completar en cuatro horas y otro conjunto de referencia o de reserva cuando esté disponible. La práctica muestra decisiones y comprobaciones; no depende de construir simultáneamente un dron por cada uno de los 25–30 alumnos.</a:t>
            </a:r>
          </a:p>
          <a:p xmlns:a="http://schemas.openxmlformats.org/drawingml/2006/main">
            <a:r>
              <a:t/>
            </a:r>
          </a:p>
          <a:p xmlns:a="http://schemas.openxmlformats.org/drawingml/2006/main">
            <a:r>
              <a:t>Rol / Qué registra / Qué explica</a:t>
            </a:r>
          </a:p>
          <a:p xmlns:a="http://schemas.openxmlformats.org/drawingml/2006/main">
            <a:r>
              <a:t>Componentes / Modelo y revisión mostrados / Compatibilidad elegida</a:t>
            </a:r>
          </a:p>
          <a:p xmlns:a="http://schemas.openxmlformats.org/drawingml/2006/main">
            <a:r>
              <a:t>Montaje / Orden y acceso / Razón de la secuencia</a:t>
            </a:r>
          </a:p>
          <a:p xmlns:a="http://schemas.openxmlformats.org/drawingml/2006/main">
            <a:r>
              <a:t>Electricidad / Origen, destino y medida / Esperado frente a observado</a:t>
            </a:r>
          </a:p>
          <a:p xmlns:a="http://schemas.openxmlformats.org/drawingml/2006/main">
            <a:r>
              <a:t>Configuración / Pantalla y correspondencia / Qué está representado</a:t>
            </a:r>
          </a:p>
          <a:p xmlns:a="http://schemas.openxmlformats.org/drawingml/2006/main">
            <a:r>
              <a:t/>
            </a:r>
          </a:p>
          <a:p xmlns:a="http://schemas.openxmlformats.org/drawingml/2006/main">
            <a:r>
              <a:t>Los alumnos se organizan en aproximadamente seis equipos de cuatro o cinco. Rotan los roles de observación y registro. Gerard conserva el control del banco energizado y de las herramientas de demostración; no se planifican varias estaciones de soldadura atendidas simultáneamente por un único docente. Si se habilita una práctica breve individual, se organiza aparte sobre muestras y según la capacidad real de supervisión.</a:t>
            </a:r>
          </a:p>
          <a:p xmlns:a="http://schemas.openxmlformats.org/drawingml/2006/main">
            <a:r>
              <a:t/>
            </a:r>
          </a:p>
          <a:p xmlns:a="http://schemas.openxmlformats.org/drawingml/2006/main">
            <a:r>
              <a:t>El resultado académico de este presencial es explicar el proceso y sus pruebas con evidencia. Se distingue haber observado una técnica de haberla practicado personalmente. Esa precisión permite enseñar bien con los recursos disponibles y describir honestamente la experiencia del curso.</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Rol / Qué registra / Qué explica</a:t>
            </a:r>
          </a:p>
          <a:p xmlns:a="http://schemas.openxmlformats.org/drawingml/2006/main">
            <a:r>
              <a:t>Componentes / Modelo y revisión mostrados / Compatibilidad elegida</a:t>
            </a:r>
          </a:p>
          <a:p xmlns:a="http://schemas.openxmlformats.org/drawingml/2006/main">
            <a:r>
              <a:t>Montaje / Orden y acceso / Razón de la secuencia</a:t>
            </a:r>
          </a:p>
          <a:p xmlns:a="http://schemas.openxmlformats.org/drawingml/2006/main">
            <a:r>
              <a:t>Electricidad / Origen, destino y medida / Esperado frente a observado</a:t>
            </a:r>
          </a:p>
          <a:p xmlns:a="http://schemas.openxmlformats.org/drawingml/2006/main">
            <a:r>
              <a:t>Configuración / Pantalla y correspondencia / Qué está representado</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 montaje comienza con un objeto identificado: estructura, componentes, revisiones y documentación preparada. El docente tiene un equipo de demostración desmontado hasta el nivel que puede completar en cuatro horas y otro conjunto de referencia o de reserva cuando esté disponible. La práctica muestra decisiones y comprobaciones; no depende de construir simultáneamente un dron por cada uno de los 25–30 alumnos.</a:t>
            </a:r>
          </a:p>
          <a:p xmlns:a="http://schemas.openxmlformats.org/drawingml/2006/main">
            <a:r>
              <a:t/>
            </a:r>
          </a:p>
          <a:p xmlns:a="http://schemas.openxmlformats.org/drawingml/2006/main">
            <a:r>
              <a:t>Rol / Qué registra / Qué explica</a:t>
            </a:r>
          </a:p>
          <a:p xmlns:a="http://schemas.openxmlformats.org/drawingml/2006/main">
            <a:r>
              <a:t>Componentes / Modelo y revisión mostrados / Compatibilidad elegida</a:t>
            </a:r>
          </a:p>
          <a:p xmlns:a="http://schemas.openxmlformats.org/drawingml/2006/main">
            <a:r>
              <a:t>Montaje / Orden y acceso / Razón de la secuencia</a:t>
            </a:r>
          </a:p>
          <a:p xmlns:a="http://schemas.openxmlformats.org/drawingml/2006/main">
            <a:r>
              <a:t>Electricidad / Origen, destino y medida / Esperado frente a observado</a:t>
            </a:r>
          </a:p>
          <a:p xmlns:a="http://schemas.openxmlformats.org/drawingml/2006/main">
            <a:r>
              <a:t>Configuración / Pantalla y correspondencia / Qué está representado</a:t>
            </a:r>
          </a:p>
          <a:p xmlns:a="http://schemas.openxmlformats.org/drawingml/2006/main">
            <a:r>
              <a:t/>
            </a:r>
          </a:p>
          <a:p xmlns:a="http://schemas.openxmlformats.org/drawingml/2006/main">
            <a:r>
              <a:t>Los alumnos se organizan en aproximadamente seis equipos de cuatro o cinco. Rotan los roles de observación y registro. Gerard conserva el control del banco energizado y de las herramientas de demostración; no se planifican varias estaciones de soldadura atendidas simultáneamente por un único docente. Si se habilita una práctica breve individual, se organiza aparte sobre muestras y según la capacidad real de supervisión.</a:t>
            </a:r>
          </a:p>
          <a:p xmlns:a="http://schemas.openxmlformats.org/drawingml/2006/main">
            <a:r>
              <a:t/>
            </a:r>
          </a:p>
          <a:p xmlns:a="http://schemas.openxmlformats.org/drawingml/2006/main">
            <a:r>
              <a:t>El resultado académico de este presencial es explicar el proceso y sus pruebas con evidencia. Se distingue haber observado una técnica de haberla practicado personalmente. Esa precisión permite enseñar bien con los recursos disponibles y describir honestamente la experiencia del curso.</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Minutos / Demostración / Evidencia del alumno</a:t>
            </a:r>
          </a:p>
          <a:p xmlns:a="http://schemas.openxmlformats.org/drawingml/2006/main">
            <a:r>
              <a:t>0–25 / Inventario y revisión del expediente / Lista contrastada</a:t>
            </a:r>
          </a:p>
          <a:p xmlns:a="http://schemas.openxmlformats.org/drawingml/2006/main">
            <a:r>
              <a:t>25–70 / Presentación mecánica y fijaciones / Secuencia y fotos identificadas</a:t>
            </a:r>
          </a:p>
          <a:p xmlns:a="http://schemas.openxmlformats.org/drawingml/2006/main">
            <a:r>
              <a:t>70–115 / Preparación de conductores y soldadura / Criterios de una unión</a:t>
            </a:r>
          </a:p>
          <a:p xmlns:a="http://schemas.openxmlformats.org/drawingml/2006/main">
            <a:r>
              <a:t>115–160 / Arnés y revisión sin energía / Tabla origen–destino</a:t>
            </a:r>
          </a:p>
          <a:p xmlns:a="http://schemas.openxmlformats.org/drawingml/2006/main">
            <a:r>
              <a:t>160–215 / Primera alimentación e inspección USB / Resultado esperado y observado</a:t>
            </a:r>
          </a:p>
          <a:p xmlns:a="http://schemas.openxmlformats.org/drawingml/2006/main">
            <a:r>
              <a:t>215–240 / Correcciones y cierre / Acta y preguntas para sesión 8</a:t>
            </a:r>
          </a:p>
          <a:p xmlns:a="http://schemas.openxmlformats.org/drawingml/2006/main">
            <a:r>
              <a:t/>
            </a:r>
          </a:p>
          <a:p xmlns:a="http://schemas.openxmlformats.org/drawingml/2006/main">
            <a:r>
              <a:t>Las piezas y los conductores se preparan con anticipación, dejando visible una muestra completa de la operación que se desea enseñar. Una demostración de soldadura es más útil si se ve la superficie, el aporte y la revisión que si el grupo solo observa una placa ya terminada. La cámara de detalle o una pantalla permite que el fondo del aula siga el proceso.</a:t>
            </a:r>
          </a:p>
          <a:p xmlns:a="http://schemas.openxmlformats.org/drawingml/2006/main">
            <a:r>
              <a:t/>
            </a:r>
          </a:p>
          <a:p xmlns:a="http://schemas.openxmlformats.org/drawingml/2006/main">
            <a:r>
              <a:t>El instructor prepara también un caso sin energía que represente un error: un cable sin etiqueta, un conector de referencia invertida en la ficha o una unión defectuosa sobre muestra. La discusión termina con un criterio de corrección, sin introducir ese defecto en el vehículo que se pretende volar. El calendario deja el vuelo para la sesión 8.</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Minutos / Demostración / Evidencia del alumno</a:t>
            </a:r>
          </a:p>
          <a:p xmlns:a="http://schemas.openxmlformats.org/drawingml/2006/main">
            <a:r>
              <a:t>0–25 / Inventario y revisión del expediente / Lista contrastada</a:t>
            </a:r>
          </a:p>
          <a:p xmlns:a="http://schemas.openxmlformats.org/drawingml/2006/main">
            <a:r>
              <a:t>25–70 / Presentación mecánica y fijaciones / Secuencia y fotos identificadas</a:t>
            </a:r>
          </a:p>
          <a:p xmlns:a="http://schemas.openxmlformats.org/drawingml/2006/main">
            <a:r>
              <a:t>70–115 / Preparación de conductores y soldadura / Criterios de una unión</a:t>
            </a:r>
          </a:p>
          <a:p xmlns:a="http://schemas.openxmlformats.org/drawingml/2006/main">
            <a:r>
              <a:t>115–160 / Arnés y revisión sin energía / Tabla origen–destino</a:t>
            </a:r>
          </a:p>
          <a:p xmlns:a="http://schemas.openxmlformats.org/drawingml/2006/main">
            <a:r>
              <a:t>160–215 / Primera alimentación e inspección USB / Resultado esperado y observado</a:t>
            </a:r>
          </a:p>
          <a:p xmlns:a="http://schemas.openxmlformats.org/drawingml/2006/main">
            <a:r>
              <a:t>215–240 / Correcciones y cierre / Acta y preguntas para sesión 8</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Minutos / Demostración / Evidencia del alumno</a:t>
            </a:r>
          </a:p>
          <a:p xmlns:a="http://schemas.openxmlformats.org/drawingml/2006/main">
            <a:r>
              <a:t>0–25 / Inventario y revisión del expediente / Lista contrastada</a:t>
            </a:r>
          </a:p>
          <a:p xmlns:a="http://schemas.openxmlformats.org/drawingml/2006/main">
            <a:r>
              <a:t>25–70 / Presentación mecánica y fijaciones / Secuencia y fotos identificadas</a:t>
            </a:r>
          </a:p>
          <a:p xmlns:a="http://schemas.openxmlformats.org/drawingml/2006/main">
            <a:r>
              <a:t>70–115 / Preparación de conductores y soldadura / Criterios de una unión</a:t>
            </a:r>
          </a:p>
          <a:p xmlns:a="http://schemas.openxmlformats.org/drawingml/2006/main">
            <a:r>
              <a:t>115–160 / Arnés y revisión sin energía / Tabla origen–destino</a:t>
            </a:r>
          </a:p>
          <a:p xmlns:a="http://schemas.openxmlformats.org/drawingml/2006/main">
            <a:r>
              <a:t>160–215 / Primera alimentación e inspección USB / Resultado esperado y observado</a:t>
            </a:r>
          </a:p>
          <a:p xmlns:a="http://schemas.openxmlformats.org/drawingml/2006/main">
            <a:r>
              <a:t>215–240 / Correcciones y cierre / Acta y preguntas para sesión 8</a:t>
            </a:r>
          </a:p>
          <a:p xmlns:a="http://schemas.openxmlformats.org/drawingml/2006/main">
            <a:r>
              <a:t/>
            </a:r>
          </a:p>
          <a:p xmlns:a="http://schemas.openxmlformats.org/drawingml/2006/main">
            <a:r>
              <a:t>Las piezas y los conductores se preparan con anticipación, dejando visible una muestra completa de la operación que se desea enseñar. Una demostración de soldadura es más útil si se ve la superficie, el aporte y la revisión que si el grupo solo observa una placa ya terminada. La cámara de detalle o una pantalla permite que el fondo del aula siga el proceso.</a:t>
            </a:r>
          </a:p>
          <a:p xmlns:a="http://schemas.openxmlformats.org/drawingml/2006/main">
            <a:r>
              <a:t/>
            </a:r>
          </a:p>
          <a:p xmlns:a="http://schemas.openxmlformats.org/drawingml/2006/main">
            <a:r>
              <a:t>El instructor prepara también un caso sin energía que represente un error: un cable sin etiqueta, un conector de referencia invertida en la ficha o una unión defectuosa sobre muestra. La discusión termina con un criterio de corrección, sin introducir ese defecto en el vehículo que se pretende volar. El calendario deja el vuelo para la sesión 8.</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Presenta bastidor, motores, FC, ESC y batería con sus referencias. Separa tornillería por función.</a:t>
            </a:r>
          </a:p>
          <a:p xmlns:a="http://schemas.openxmlformats.org/drawingml/2006/main">
            <a:r>
              <a:t>Comprueba encajes, longitud de tornillos, paso de cables y acceso al USB antes de fijar definitivamente.</a:t>
            </a:r>
          </a:p>
          <a:p xmlns:a="http://schemas.openxmlformats.org/drawingml/2006/main">
            <a:r>
              <a:t>Define orientación de la FC y posición de módulos, antenas y batería. Registra el frente del vehículo.</a:t>
            </a:r>
          </a:p>
          <a:p xmlns:a="http://schemas.openxmlformats.org/drawingml/2006/main">
            <a:r>
              <a:t>Prepara conductores y uniones según la herramienta y material del banco. Muestra una unión completa en una muestra.</a:t>
            </a:r>
          </a:p>
          <a:p xmlns:a="http://schemas.openxmlformats.org/drawingml/2006/main">
            <a:r>
              <a:t>Une las rutas previstas, inspecciona puentes y hilos, y aplica aislamiento y alivio de esfuerzo donde corresponda.</a:t>
            </a:r>
          </a:p>
          <a:p xmlns:a="http://schemas.openxmlformats.org/drawingml/2006/main">
            <a:r>
              <a:t>Contrasta el conjunto con el esquema y conserva una foto legible de lo que quedará oculto.</a:t>
            </a:r>
          </a:p>
          <a:p xmlns:a="http://schemas.openxmlformats.org/drawingml/2006/main">
            <a:r>
              <a:t/>
            </a:r>
          </a:p>
          <a:p xmlns:a="http://schemas.openxmlformats.org/drawingml/2006/main">
            <a:r>
              <a:t>No se establece un par de apriete universal ni se recomienda un fijador para todos los materiales. La demostración usa las indicaciones del fabricante y la herramienta apropiada. El alumno aprende a localizar el dato o a declarar que necesita consultarlo. Una pieza aparentemente firme puede seguir teniendo un montaje incorrecto si un tornillo invade el motor o una arista actúa sobre un cable.</a:t>
            </a:r>
          </a:p>
          <a:p xmlns:a="http://schemas.openxmlformats.org/drawingml/2006/main">
            <a:r>
              <a:t/>
            </a:r>
          </a:p>
          <a:p xmlns:a="http://schemas.openxmlformats.org/drawingml/2006/main">
            <a:r>
              <a:t>Una placa tapa el arnés al cerrar el bastidor. ¿Qué conviene conservar antes?</a:t>
            </a:r>
          </a:p>
          <a:p xmlns:a="http://schemas.openxmlformats.org/drawingml/2006/main">
            <a:r>
              <a:t>La correspondencia de contactos, la inspección y una foto del recorrido con las referencias visibles. No se reemplaza el esquema por una fotografía borrosa.</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Presenta bastidor, motores, FC, ESC y batería con sus referencias. Separa tornillería por función.</a:t>
            </a:r>
          </a:p>
          <a:p xmlns:a="http://schemas.openxmlformats.org/drawingml/2006/main">
            <a:r>
              <a:t>Comprueba encajes, longitud de tornillos, paso de cables y acceso al USB antes de fijar definitivamente.</a:t>
            </a:r>
          </a:p>
          <a:p xmlns:a="http://schemas.openxmlformats.org/drawingml/2006/main">
            <a:r>
              <a:t>Define orientación de la FC y posición de módulos, antenas y batería. Registra el frente del vehículo.</a:t>
            </a:r>
          </a:p>
          <a:p xmlns:a="http://schemas.openxmlformats.org/drawingml/2006/main">
            <a:r>
              <a:t>Prepara conductores y uniones según la herramienta y material del banco. Muestra una unión completa en una muestra.</a:t>
            </a:r>
          </a:p>
          <a:p xmlns:a="http://schemas.openxmlformats.org/drawingml/2006/main">
            <a:r>
              <a:t>Une las rutas previstas, inspecciona puentes y hilos, y aplica aislamiento y alivio de esfuerzo donde corresponda.</a:t>
            </a:r>
          </a:p>
          <a:p xmlns:a="http://schemas.openxmlformats.org/drawingml/2006/main">
            <a:r>
              <a:t>Contrasta el conjunto con el esquema y conserva una foto legible de lo que quedará oculto.</a:t>
            </a:r>
          </a:p>
          <a:p xmlns:a="http://schemas.openxmlformats.org/drawingml/2006/main">
            <a:r>
              <a:t/>
            </a:r>
          </a:p>
          <a:p xmlns:a="http://schemas.openxmlformats.org/drawingml/2006/main">
            <a:r>
              <a:t>No se establece un par de apriete universal ni se recomienda un fijador para todos los materiales. La demostración usa las indicaciones del fabricante y la herramienta apropiada. El alumno aprende a localizar el dato o a declarar que necesita consultarlo. Una pieza aparentemente firme puede seguir teniendo un montaje incorrecto si un tornillo invade el motor o una arista actúa sobre un cable.</a:t>
            </a:r>
          </a:p>
          <a:p xmlns:a="http://schemas.openxmlformats.org/drawingml/2006/main">
            <a:r>
              <a:t/>
            </a:r>
          </a:p>
          <a:p xmlns:a="http://schemas.openxmlformats.org/drawingml/2006/main">
            <a:r>
              <a:t>Una placa tapa el arnés al cerrar el bastidor. ¿Qué conviene conservar antes?</a:t>
            </a:r>
          </a:p>
          <a:p xmlns:a="http://schemas.openxmlformats.org/drawingml/2006/main">
            <a:r>
              <a:t>La correspondencia de contactos, la inspección y una foto del recorrido con las referencias visibles. No se reemplaza el esquema por una fotografía borrosa.</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Primero tapar la solución o pedir respuesta individual.</a:t>
            </a:r>
          </a:p>
          <a:p xmlns:a="http://schemas.openxmlformats.org/drawingml/2006/main">
            <a:r>
              <a:t>Una placa tapa el arnés al cerrar el bastidor. ¿Qué conviene conservar antes?</a:t>
            </a:r>
          </a:p>
          <a:p xmlns:a="http://schemas.openxmlformats.org/drawingml/2006/main">
            <a:r>
              <a:t>La correspondencia de contactos, la inspección y una foto del recorrido con las referencias visibles. No se reemplaza el esquema por una fotografía borrosa.</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Salidas numeradas de un Pixhawk de referencia documental. Se usa para explicar identificación de contactos; el arnés real del taller se verifica con su propio manual. Fuente: ArduPilot, documentación CC BY-SA 3.0. https://ardupilot.org/copter/docs/connect-escs-and-motors.html</a:t>
            </a:r>
          </a:p>
          <a:p xmlns:a="http://schemas.openxmlformats.org/drawingml/2006/main">
            <a:r>
              <a:t/>
            </a:r>
          </a:p>
          <a:p xmlns:a="http://schemas.openxmlformats.org/drawingml/2006/main">
            <a:r>
              <a:t>Con el conjunto sin batería se revisan polaridad, continuidad según circuito, contactos y aislamiento. Después se observa una primera alimentación con el método de limitación o supervisión apropiado al banco. Se comprueban las tensiones de las líneas que alimentarán cargas sensibles. Un comportamiento inesperado se registra y se investiga antes de continuar. La lectura del multímetro necesita indicar los dos puntos medidos.</a:t>
            </a:r>
          </a:p>
          <a:p xmlns:a="http://schemas.openxmlformats.org/drawingml/2006/main">
            <a:r>
              <a:t/>
            </a:r>
          </a:p>
          <a:p xmlns:a="http://schemas.openxmlformats.org/drawingml/2006/main">
            <a:r>
              <a:t>Dato / Esperado / Observado</a:t>
            </a:r>
          </a:p>
          <a:p xmlns:a="http://schemas.openxmlformats.org/drawingml/2006/main">
            <a:r>
              <a:t>Entrada del sistema / Según paquete y manual / Medida del taller</a:t>
            </a:r>
          </a:p>
          <a:p xmlns:a="http://schemas.openxmlformats.org/drawingml/2006/main">
            <a:r>
              <a:t>Línea regulada / Especificación de esa salida / Medida y referencia</a:t>
            </a:r>
          </a:p>
          <a:p xmlns:a="http://schemas.openxmlformats.org/drawingml/2006/main">
            <a:r>
              <a:t>Estado de la FC / Inicio reconocido / Indicadores y conexión</a:t>
            </a:r>
          </a:p>
          <a:p xmlns:a="http://schemas.openxmlformats.org/drawingml/2006/main">
            <a:r>
              <a:t>Comportamiento anormal / Criterio de interrupción / Síntoma y acción</a:t>
            </a:r>
          </a:p>
          <a:p xmlns:a="http://schemas.openxmlformats.org/drawingml/2006/main">
            <a:r>
              <a:t/>
            </a:r>
          </a:p>
          <a:p xmlns:a="http://schemas.openxmlformats.org/drawingml/2006/main">
            <a:r>
              <a:t>Se separa esta etapa de una prueba de motores. La primera alimentación demuestra un conjunto acotado de condiciones, no la aceptación de vuelo. Para cambiar una conexión se retira la energía y se conserva la referencia de la modificación.</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Salidas numeradas de un Pixhawk de referencia documental. Se usa para explicar identificación de contactos; el arnés real del taller se verifica con su propio manual. Fuente: ArduPilot, documentación CC BY-SA 3.0. https://ardupilot.org/copter/docs/connect-escs-and-motors.html</a:t>
            </a:r>
          </a:p>
          <a:p xmlns:a="http://schemas.openxmlformats.org/drawingml/2006/main">
            <a:r>
              <a:t>Salidas numeradas de un Pixhawk de referencia documental. Se usa para explicar identificación de contactos; el arnés real del taller se verifica con su propio manual. Fuente: ArduPilot, documentación CC BY-SA 3.0. https://ardupilot.org/copter/docs/connect-escs-and-motors.html</a:t>
            </a:r>
          </a:p>
          <a:p xmlns:a="http://schemas.openxmlformats.org/drawingml/2006/main">
            <a:r>
              <a:t/>
            </a:r>
          </a:p>
          <a:p xmlns:a="http://schemas.openxmlformats.org/drawingml/2006/main">
            <a:r>
              <a:t>Con el conjunto sin batería se revisan polaridad, continuidad según circuito, contactos y aislamiento. Después se observa una primera alimentación con el método de limitación o supervisión apropiado al banco. Se comprueban las tensiones de las líneas que alimentarán cargas sensibles. Un comportamiento inesperado se registra y se investiga antes de continuar. La lectura del multímetro necesita indicar los dos puntos medidos.</a:t>
            </a:r>
          </a:p>
          <a:p xmlns:a="http://schemas.openxmlformats.org/drawingml/2006/main">
            <a:r>
              <a:t/>
            </a:r>
          </a:p>
          <a:p xmlns:a="http://schemas.openxmlformats.org/drawingml/2006/main">
            <a:r>
              <a:t>Dato / Esperado / Observado</a:t>
            </a:r>
          </a:p>
          <a:p xmlns:a="http://schemas.openxmlformats.org/drawingml/2006/main">
            <a:r>
              <a:t>Entrada del sistema / Según paquete y manual / Medida del taller</a:t>
            </a:r>
          </a:p>
          <a:p xmlns:a="http://schemas.openxmlformats.org/drawingml/2006/main">
            <a:r>
              <a:t>Línea regulada / Especificación de esa salida / Medida y referencia</a:t>
            </a:r>
          </a:p>
          <a:p xmlns:a="http://schemas.openxmlformats.org/drawingml/2006/main">
            <a:r>
              <a:t>Estado de la FC / Inicio reconocido / Indicadores y conexión</a:t>
            </a:r>
          </a:p>
          <a:p xmlns:a="http://schemas.openxmlformats.org/drawingml/2006/main">
            <a:r>
              <a:t>Comportamiento anormal / Criterio de interrupción / Síntoma y acción</a:t>
            </a:r>
          </a:p>
          <a:p xmlns:a="http://schemas.openxmlformats.org/drawingml/2006/main">
            <a:r>
              <a:t/>
            </a:r>
          </a:p>
          <a:p xmlns:a="http://schemas.openxmlformats.org/drawingml/2006/main">
            <a:r>
              <a:t>Se separa esta etapa de una prueba de motores. La primera alimentación demuestra un conjunto acotado de condiciones, no la aceptación de vuelo. Para cambiar una conexión se retira la energía y se conserva la referencia de la modificación.</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Dato / Esperado / Observado</a:t>
            </a:r>
          </a:p>
          <a:p xmlns:a="http://schemas.openxmlformats.org/drawingml/2006/main">
            <a:r>
              <a:t>Entrada del sistema / Según paquete y manual / Medida del taller</a:t>
            </a:r>
          </a:p>
          <a:p xmlns:a="http://schemas.openxmlformats.org/drawingml/2006/main">
            <a:r>
              <a:t>Línea regulada / Especificación de esa salida / Medida y referencia</a:t>
            </a:r>
          </a:p>
          <a:p xmlns:a="http://schemas.openxmlformats.org/drawingml/2006/main">
            <a:r>
              <a:t>Estado de la FC / Inicio reconocido / Indicadores y conexión</a:t>
            </a:r>
          </a:p>
          <a:p xmlns:a="http://schemas.openxmlformats.org/drawingml/2006/main">
            <a:r>
              <a:t>Comportamiento anormal / Criterio de interrupción / Síntoma y acción</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Una vez identificada la alimentación, la conexión USB permite contrastar placa, versión y estado con el expediente. Se recupera la copia de configuración adecuada al vehículo, se verifica orientación y se relaciona el puerto del receptor con el esquema. Los cambios se anotan. No se carga un archivo de otro dron solo porque ambos tienen cuatro motores.</a:t>
            </a:r>
          </a:p>
          <a:p xmlns:a="http://schemas.openxmlformats.org/drawingml/2006/main">
            <a:r>
              <a:t/>
            </a:r>
          </a:p>
          <a:p xmlns:a="http://schemas.openxmlformats.org/drawingml/2006/main">
            <a:r>
              <a:t>Elemento / Qué debe quedar listo</a:t>
            </a:r>
          </a:p>
          <a:p xmlns:a="http://schemas.openxmlformats.org/drawingml/2006/main">
            <a:r>
              <a:t>Montaje / Fijaciones y recorrido revisados</a:t>
            </a:r>
          </a:p>
          <a:p xmlns:a="http://schemas.openxmlformats.org/drawingml/2006/main">
            <a:r>
              <a:t>Electricidad / Pinout y primera alimentación documentados</a:t>
            </a:r>
          </a:p>
          <a:p xmlns:a="http://schemas.openxmlformats.org/drawingml/2006/main">
            <a:r>
              <a:t>Software / Equipo, versión y copia identificados</a:t>
            </a:r>
          </a:p>
          <a:p xmlns:a="http://schemas.openxmlformats.org/drawingml/2006/main">
            <a:r>
              <a:t>Pendientes / Causa y comprobación siguiente</a:t>
            </a:r>
          </a:p>
          <a:p xmlns:a="http://schemas.openxmlformats.org/drawingml/2006/main">
            <a:r>
              <a:t>Vuelo / Vehículo de demostración elegido por el docente</a:t>
            </a:r>
          </a:p>
          <a:p xmlns:a="http://schemas.openxmlformats.org/drawingml/2006/main">
            <a:r>
              <a:t/>
            </a:r>
          </a:p>
          <a:p xmlns:a="http://schemas.openxmlformats.org/drawingml/2006/main">
            <a:r>
              <a:t>El dron enciende y la aplicación conecta. ¿Ya pasó todas las pruebas?</a:t>
            </a:r>
          </a:p>
          <a:p xmlns:a="http://schemas.openxmlformats.org/drawingml/2006/main">
            <a:r>
              <a:t>No. Falta contrastar canales, salidas, sentidos, modos y las condiciones previstas para la demostración. La sesión 8 parte del acta de este taller.</a:t>
            </a:r>
          </a:p>
          <a:p xmlns:a="http://schemas.openxmlformats.org/drawingml/2006/main">
            <a:r>
              <a:t/>
            </a:r>
          </a:p>
          <a:p xmlns:a="http://schemas.openxmlformats.org/drawingml/2006/main">
            <a:r>
              <a:t>El vehículo utilizado para vuelo no tiene que ser el que quedó recién ensamblado delante del grupo. Gerard puede usar un equipo preparado y revisado con anticipación, mientras el conjunto didáctico conserva pendientes explicados. Así el alumno ve la diferencia entre terminar un montaje y aceptar una configuración para una operación concreta.</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Elemento / Qué debe quedar listo</a:t>
            </a:r>
          </a:p>
          <a:p xmlns:a="http://schemas.openxmlformats.org/drawingml/2006/main">
            <a:r>
              <a:t>Montaje / Fijaciones y recorrido revisados</a:t>
            </a:r>
          </a:p>
          <a:p xmlns:a="http://schemas.openxmlformats.org/drawingml/2006/main">
            <a:r>
              <a:t>Electricidad / Pinout y primera alimentación documentados</a:t>
            </a:r>
          </a:p>
          <a:p xmlns:a="http://schemas.openxmlformats.org/drawingml/2006/main">
            <a:r>
              <a:t>Software / Equipo, versión y copia identificados</a:t>
            </a:r>
          </a:p>
          <a:p xmlns:a="http://schemas.openxmlformats.org/drawingml/2006/main">
            <a:r>
              <a:t>Pendientes / Causa y comprobación siguiente</a:t>
            </a:r>
          </a:p>
          <a:p xmlns:a="http://schemas.openxmlformats.org/drawingml/2006/main">
            <a:r>
              <a:t>Vuelo / Vehículo de demostración elegido por el docente</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Primero tapar la solución o pedir respuesta individual.</a:t>
            </a:r>
          </a:p>
          <a:p xmlns:a="http://schemas.openxmlformats.org/drawingml/2006/main">
            <a:r>
              <a:t>El dron enciende y la aplicación conecta. ¿Ya pasó todas las pruebas?</a:t>
            </a:r>
          </a:p>
          <a:p xmlns:a="http://schemas.openxmlformats.org/drawingml/2006/main">
            <a:r>
              <a:t>No. Falta contrastar canales, salidas, sentidos, modos y las condiciones previstas para la demostración. La sesión 8 parte del acta de este taller.</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Cada equipo presenta una decisión de montaje y la evidencia que la respalda.</a:t>
            </a:r>
          </a:p>
          <a:p xmlns:a="http://schemas.openxmlformats.org/drawingml/2006/main">
            <a:r>
              <a:t>Señala una medida con unidad y referencia.</a:t>
            </a:r>
          </a:p>
          <a:p xmlns:a="http://schemas.openxmlformats.org/drawingml/2006/main">
            <a:r>
              <a:t>Identifica una operación observada y otra realizada personalmente, si la hubo.</a:t>
            </a:r>
          </a:p>
          <a:p xmlns:a="http://schemas.openxmlformats.org/drawingml/2006/main">
            <a:r>
              <a:t>Explica un cambio aplicado y el criterio que permitió aceptarlo.</a:t>
            </a:r>
          </a:p>
          <a:p xmlns:a="http://schemas.openxmlformats.org/drawingml/2006/main">
            <a:r>
              <a:t>Conserva la lista de pendientes para la sesión 8 y quién los resolverá.</a:t>
            </a:r>
          </a:p>
          <a:p xmlns:a="http://schemas.openxmlformats.org/drawingml/2006/main">
            <a:r>
              <a:t/>
            </a:r>
          </a:p>
          <a:p xmlns:a="http://schemas.openxmlformats.org/drawingml/2006/main">
            <a:r>
              <a:t>La evaluación valora la explicación del proceso y la calidad del registro. Una fotografía de una soldadura no demuestra por sí sola que su autor domine la técnica. Si más adelante MECRO ofrece un taller de práctica individual, tendrá otra organización de puestos, herramientas y supervisión. En este curso la descripción comercial conserva el carácter demostrativo de ambos presenciales.</a:t>
            </a:r>
          </a:p>
          <a:p xmlns:a="http://schemas.openxmlformats.org/drawingml/2006/main">
            <a:r>
              <a:t/>
            </a:r>
          </a:p>
          <a:p xmlns:a="http://schemas.openxmlformats.org/drawingml/2006/main">
            <a:r>
              <a:t>Para investigar, elige un cambio de integración pequeño: acceso al USB, sujeción de batería o identificación de arnés. Explica qué mejoraría y cómo lo comprobarías. No se propone añadir piezas por cantidad. La última sesión revisará cómo esas decisiones se relacionan con el funcionamiento y con una demostración de vuelo básico.</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Cada equipo presenta una decisión de montaje y la evidencia que la respalda.</a:t>
            </a:r>
          </a:p>
          <a:p xmlns:a="http://schemas.openxmlformats.org/drawingml/2006/main">
            <a:r>
              <a:t>Señala una medida con unidad y referencia.</a:t>
            </a:r>
          </a:p>
          <a:p xmlns:a="http://schemas.openxmlformats.org/drawingml/2006/main">
            <a:r>
              <a:t>Identifica una operación observada y otra realizada personalmente, si la hubo.</a:t>
            </a:r>
          </a:p>
          <a:p xmlns:a="http://schemas.openxmlformats.org/drawingml/2006/main">
            <a:r>
              <a:t>Explica un cambio aplicado y el criterio que permitió aceptarlo.</a:t>
            </a:r>
          </a:p>
          <a:p xmlns:a="http://schemas.openxmlformats.org/drawingml/2006/main">
            <a:r>
              <a:t>Conserva la lista de pendientes para la sesión 8 y quién los resolverá.</a:t>
            </a:r>
          </a:p>
          <a:p xmlns:a="http://schemas.openxmlformats.org/drawingml/2006/main">
            <a:r>
              <a:t/>
            </a:r>
          </a:p>
          <a:p xmlns:a="http://schemas.openxmlformats.org/drawingml/2006/main">
            <a:r>
              <a:t>La evaluación valora la explicación del proceso y la calidad del registro. Una fotografía de una soldadura no demuestra por sí sola que su autor domine la técnica. Si más adelante MECRO ofrece un taller de práctica individual, tendrá otra organización de puestos, herramientas y supervisión. En este curso la descripción comercial conserva el carácter demostrativo de ambos presenciales.</a:t>
            </a:r>
          </a:p>
          <a:p xmlns:a="http://schemas.openxmlformats.org/drawingml/2006/main">
            <a:r>
              <a:t/>
            </a:r>
          </a:p>
          <a:p xmlns:a="http://schemas.openxmlformats.org/drawingml/2006/main">
            <a:r>
              <a:t>Para investigar, elige un cambio de integración pequeño: acceso al USB, sujeción de batería o identificación de arnés. Explica qué mejoraría y cómo lo comprobarías. No se propone añadir piezas por cantidad. La última sesión revisará cómo esas decisiones se relacionan con el funcionamiento y con una demostración de vuelo básico.</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Cada equipo presenta una decisión de montaje y la evidencia que la respalda.</a:t>
            </a:r>
          </a:p>
          <a:p xmlns:a="http://schemas.openxmlformats.org/drawingml/2006/main">
            <a:r>
              <a:t>Señala una medida con unidad y referencia.</a:t>
            </a:r>
          </a:p>
          <a:p xmlns:a="http://schemas.openxmlformats.org/drawingml/2006/main">
            <a:r>
              <a:t>Identifica una operación observada y otra realizada personalmente, si la hubo.</a:t>
            </a:r>
          </a:p>
          <a:p xmlns:a="http://schemas.openxmlformats.org/drawingml/2006/main">
            <a:r>
              <a:t>Explica un cambio aplicado y el criterio que permitió aceptarlo.</a:t>
            </a:r>
          </a:p>
          <a:p xmlns:a="http://schemas.openxmlformats.org/drawingml/2006/main">
            <a:r>
              <a:t>Conserva la lista de pendientes para la sesión 8 y quién los resolverá.</a:t>
            </a:r>
          </a:p>
          <a:p xmlns:a="http://schemas.openxmlformats.org/drawingml/2006/main">
            <a:r>
              <a:t>Verificar un paso antes de seguir.</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12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Mostrar un inventario que coincida con el objeto preparado.</a:t>
            </a:r>
          </a:p>
          <a:p xmlns:a="http://schemas.openxmlformats.org/drawingml/2006/main">
            <a:r>
              <a:t>Demostrar presentación mecánica y una unión sobre muestra visible.</a:t>
            </a:r>
          </a:p>
          <a:p xmlns:a="http://schemas.openxmlformats.org/drawingml/2006/main">
            <a:r>
              <a:t>Contrastar arnés y alimentación con el esquema, antes de energizar.</a:t>
            </a:r>
          </a:p>
          <a:p xmlns:a="http://schemas.openxmlformats.org/drawingml/2006/main">
            <a:r>
              <a:t>Cerrar un acta de montaje con pendientes y vehículo de demostración.</a:t>
            </a:r>
          </a:p>
          <a:p xmlns:a="http://schemas.openxmlformats.org/drawingml/2006/main">
            <a:r>
              <a:t>Contrastar componentes, esquema y comprobaciones.</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10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 estudiante observa un montaje real y entrega su secuencia de armado y revisión vinculada a las piezas mostradas.</a:t>
            </a:r>
          </a:p>
          <a:p xmlns:a="http://schemas.openxmlformats.org/drawingml/2006/main">
            <a:r>
              <a:t>Registro del taller: secuencia, esquema contrastado, medidas y acta de pendientes.</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7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Taller presencial 1: ensamblaje visible y primera revisión.</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Registro del taller: secuencia, esquema contrastado, medidas y acta de pendientes.</a:t>
            </a:r>
          </a:p>
          <a:p xmlns:a="http://schemas.openxmlformats.org/drawingml/2006/main">
            <a:r>
              <a:t/>
            </a:r>
          </a:p>
          <a:p xmlns:a="http://schemas.openxmlformats.org/drawingml/2006/main">
            <a:r>
              <a:t>Objetivo: Reconstruir la secuencia de ensamblaje y justificar comprobaciones mecánicas, eléctricas y de configuración.</a:t>
            </a:r>
          </a:p>
          <a:p xmlns:a="http://schemas.openxmlformats.org/drawingml/2006/main">
            <a:r>
              <a:t>Aplicación: El estudiante observa un montaje real y entrega su secuencia de armado y revisión vinculada a las piezas mostradas.</a:t>
            </a:r>
          </a:p>
          <a:p xmlns:a="http://schemas.openxmlformats.org/drawingml/2006/main">
            <a:r>
              <a:t>Entrega: Registro del taller: secuencia, esquema contrastado, medidas y acta de pendientes.</a:t>
            </a:r>
          </a:p>
          <a:p xmlns:a="http://schemas.openxmlformats.org/drawingml/2006/main">
            <a:r>
              <a:t/>
            </a:r>
          </a:p>
          <a:p xmlns:a="http://schemas.openxmlformats.org/drawingml/2006/main">
            <a:r>
              <a:t>Preguntas y respuestas</a:t>
            </a:r>
          </a:p>
          <a:p xmlns:a="http://schemas.openxmlformats.org/drawingml/2006/main">
            <a:r>
              <a:t>¿Observar una soldadura equivale a haberla practicado?</a:t>
            </a:r>
          </a:p>
          <a:p xmlns:a="http://schemas.openxmlformats.org/drawingml/2006/main">
            <a:r>
              <a:t>No. Se registra por separado la experiencia observada y la ejecutada.</a:t>
            </a:r>
          </a:p>
          <a:p xmlns:a="http://schemas.openxmlformats.org/drawingml/2006/main">
            <a:r>
              <a:t/>
            </a:r>
          </a:p>
          <a:p xmlns:a="http://schemas.openxmlformats.org/drawingml/2006/main">
            <a:r>
              <a:t>¿Encender prueba aptitud de vuelo?</a:t>
            </a:r>
          </a:p>
          <a:p xmlns:a="http://schemas.openxmlformats.org/drawingml/2006/main">
            <a:r>
              <a:t>No. Es una comprobación parcial dentro de una secuencia.</a:t>
            </a:r>
          </a:p>
          <a:p xmlns:a="http://schemas.openxmlformats.org/drawingml/2006/main">
            <a:r>
              <a:t/>
            </a:r>
          </a:p>
          <a:p xmlns:a="http://schemas.openxmlformats.org/drawingml/2006/main">
            <a:r>
              <a:t>¿Debe volar el conjunto recién ensamblado?</a:t>
            </a:r>
          </a:p>
          <a:p xmlns:a="http://schemas.openxmlformats.org/drawingml/2006/main">
            <a:r>
              <a:t>Solo si ha pasado las comprobaciones; puede utilizarse otro equipo ya preparado.</a:t>
            </a:r>
          </a:p>
          <a:p xmlns:a="http://schemas.openxmlformats.org/drawingml/2006/main">
            <a:r>
              <a:t/>
            </a:r>
          </a:p>
          <a:p xmlns:a="http://schemas.openxmlformats.org/drawingml/2006/main">
            <a:r>
              <a:t>Fuentes</a:t>
            </a:r>
          </a:p>
          <a:p xmlns:a="http://schemas.openxmlformats.org/drawingml/2006/main">
            <a:r>
              <a:t>Betaflight. Setup Guide: organización de la puesta en marcha. https://betaflight.com/docs/wiki/getting-started/setup-guide</a:t>
            </a:r>
          </a:p>
          <a:p xmlns:a="http://schemas.openxmlformats.org/drawingml/2006/main">
            <a:r>
              <a:t>ArduPilot. Powering the Pixhawk: ejemplo específico de alimentación. https://ardupilot.org/copter/docs/common-powering-the-pixhawk.html</a:t>
            </a:r>
          </a:p>
          <a:p xmlns:a="http://schemas.openxmlformats.org/drawingml/2006/main">
            <a:r>
              <a:t>ArduPilot. Conexión, orden y sentido de motores. https://ardupilot.org/copter/docs/connect-escs-and-motors.html</a:t>
            </a:r>
          </a:p>
          <a:p xmlns:a="http://schemas.openxmlformats.org/drawingml/2006/main">
            <a:r>
              <a:t>Tattu / Gens Ace. Manual de baterías UAV y manejo del paquete. https://genstattu.com/content/instock/Tattu-Soft-UAV-pack-Manual.pdf</a:t>
            </a:r>
          </a:p>
          <a:p xmlns:a="http://schemas.openxmlformats.org/drawingml/2006/main">
            <a:r>
              <a:t>Bill Earl / Adafruit. Adafruit Guide To Excellent Soldering: Making a good solder joint. https://learn.adafruit.com/adafruit-guide-excellent-soldering/making-a-good-solder-joint</a:t>
            </a:r>
          </a:p>
          <a:p xmlns:a="http://schemas.openxmlformats.org/drawingml/2006/main">
            <a:r>
              <a:t>Lectura MECRO_Drones_Clase_07.pdf.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3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Contrastar el acta de montaje con una aeronave preparada.</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La última sesión parte del acta de montaje y de una configuración identificada. Gerard selecciona una aeronave preparada para la demostración y presenta qué se revisó. No se intenta volar todos los tamaños por cumplir una lista: los equipos de 5, 7 y 12 pulgadas aportan comparaciones, y el vuelo básico puede concentrarse en uno que represente los objetivos del curso.</a:t>
            </a:r>
          </a:p>
          <a:p xmlns:a="http://schemas.openxmlformats.org/drawingml/2006/main">
            <a:r>
              <a:t/>
            </a:r>
          </a:p>
          <a:p xmlns:a="http://schemas.openxmlformats.org/drawingml/2006/main">
            <a:r>
              <a:t>Revisión / Qué se contrasta / Evidencia</a:t>
            </a:r>
          </a:p>
          <a:p xmlns:a="http://schemas.openxmlformats.org/drawingml/2006/main">
            <a:r>
              <a:t>Mecánica / Montaje y configuración documentados / Inspección y versión</a:t>
            </a:r>
          </a:p>
          <a:p xmlns:a="http://schemas.openxmlformats.org/drawingml/2006/main">
            <a:r>
              <a:t>Entradas / Mandos y estados previstos / Canales y modos</a:t>
            </a:r>
          </a:p>
          <a:p xmlns:a="http://schemas.openxmlformats.org/drawingml/2006/main">
            <a:r>
              <a:t>Salidas / Posición y sentido de cada motor / Prueba sin hélices</a:t>
            </a:r>
          </a:p>
          <a:p xmlns:a="http://schemas.openxmlformats.org/drawingml/2006/main">
            <a:r>
              <a:t>Operación / Equipo y condiciones del caso / Decisión del docente</a:t>
            </a:r>
          </a:p>
          <a:p xmlns:a="http://schemas.openxmlformats.org/drawingml/2006/main">
            <a:r>
              <a:t/>
            </a:r>
          </a:p>
          <a:p xmlns:a="http://schemas.openxmlformats.org/drawingml/2006/main">
            <a:r>
              <a:t>Las pruebas de salidas y enlace se realizan en el banco preparado sin hélices. La instalación final de hélices pertenece a otra fase, con energía retirada y revisión de sentido y fijación. Se organiza una única actividad energizada a la vez con el docente a cargo. El grupo conserva separación y roles de observación; no queda un banco de motores activo sin supervisión mientras el instructor explica otro equipo.</a:t>
            </a:r>
          </a:p>
          <a:p xmlns:a="http://schemas.openxmlformats.org/drawingml/2006/main">
            <a:r>
              <a:t/>
            </a:r>
          </a:p>
          <a:p xmlns:a="http://schemas.openxmlformats.org/drawingml/2006/main">
            <a:r>
              <a:t>El vuelo es una demostración del instructor, sujeta a preparación del vehículo y condiciones del lugar. El certificado del curso no se presenta como una licencia de piloto ni como entrenamiento individual garantizado de vuelo.</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Revisión / Qué se contrasta / Evidencia</a:t>
            </a:r>
          </a:p>
          <a:p xmlns:a="http://schemas.openxmlformats.org/drawingml/2006/main">
            <a:r>
              <a:t>Mecánica / Montaje y configuración documentados / Inspección y versión</a:t>
            </a:r>
          </a:p>
          <a:p xmlns:a="http://schemas.openxmlformats.org/drawingml/2006/main">
            <a:r>
              <a:t>Entradas / Mandos y estados previstos / Canales y modos</a:t>
            </a:r>
          </a:p>
          <a:p xmlns:a="http://schemas.openxmlformats.org/drawingml/2006/main">
            <a:r>
              <a:t>Salidas / Posición y sentido de cada motor / Prueba sin hélices</a:t>
            </a:r>
          </a:p>
          <a:p xmlns:a="http://schemas.openxmlformats.org/drawingml/2006/main">
            <a:r>
              <a:t>Operación / Equipo y condiciones del caso / Decisión del docente</a:t>
            </a:r>
          </a:p>
          <a:p xmlns:a="http://schemas.openxmlformats.org/drawingml/2006/main">
            <a:r>
              <a:t>Comparar filas y explicar una condición que cambie la decisión.</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La última sesión parte del acta de montaje y de una configuración identificada. Gerard selecciona una aeronave preparada para la demostración y presenta qué se revisó. No se intenta volar todos los tamaños por cumplir una lista: los equipos de 5, 7 y 12 pulgadas aportan comparaciones, y el vuelo básico puede concentrarse en uno que represente los objetivos del curso.</a:t>
            </a:r>
          </a:p>
          <a:p xmlns:a="http://schemas.openxmlformats.org/drawingml/2006/main">
            <a:r>
              <a:t/>
            </a:r>
          </a:p>
          <a:p xmlns:a="http://schemas.openxmlformats.org/drawingml/2006/main">
            <a:r>
              <a:t>Revisión / Qué se contrasta / Evidencia</a:t>
            </a:r>
          </a:p>
          <a:p xmlns:a="http://schemas.openxmlformats.org/drawingml/2006/main">
            <a:r>
              <a:t>Mecánica / Montaje y configuración documentados / Inspección y versión</a:t>
            </a:r>
          </a:p>
          <a:p xmlns:a="http://schemas.openxmlformats.org/drawingml/2006/main">
            <a:r>
              <a:t>Entradas / Mandos y estados previstos / Canales y modos</a:t>
            </a:r>
          </a:p>
          <a:p xmlns:a="http://schemas.openxmlformats.org/drawingml/2006/main">
            <a:r>
              <a:t>Salidas / Posición y sentido de cada motor / Prueba sin hélices</a:t>
            </a:r>
          </a:p>
          <a:p xmlns:a="http://schemas.openxmlformats.org/drawingml/2006/main">
            <a:r>
              <a:t>Operación / Equipo y condiciones del caso / Decisión del docente</a:t>
            </a:r>
          </a:p>
          <a:p xmlns:a="http://schemas.openxmlformats.org/drawingml/2006/main">
            <a:r>
              <a:t/>
            </a:r>
          </a:p>
          <a:p xmlns:a="http://schemas.openxmlformats.org/drawingml/2006/main">
            <a:r>
              <a:t>Las pruebas de salidas y enlace se realizan en el banco preparado sin hélices. La instalación final de hélices pertenece a otra fase, con energía retirada y revisión de sentido y fijación. Se organiza una única actividad energizada a la vez con el docente a cargo. El grupo conserva separación y roles de observación; no queda un banco de motores activo sin supervisión mientras el instructor explica otro equipo.</a:t>
            </a:r>
          </a:p>
          <a:p xmlns:a="http://schemas.openxmlformats.org/drawingml/2006/main">
            <a:r>
              <a:t/>
            </a:r>
          </a:p>
          <a:p xmlns:a="http://schemas.openxmlformats.org/drawingml/2006/main">
            <a:r>
              <a:t>El vuelo es una demostración del instructor, sujeta a preparación del vehículo y condiciones del lugar. El certificado del curso no se presenta como una licencia de piloto ni como entrenamiento individual garantizado de vuelo.</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Minutos / Actividad / Resultado</a:t>
            </a:r>
          </a:p>
          <a:p xmlns:a="http://schemas.openxmlformats.org/drawingml/2006/main">
            <a:r>
              <a:t>0–30 / Revisión del acta y configuración / Estado del equipo identificado</a:t>
            </a:r>
          </a:p>
          <a:p xmlns:a="http://schemas.openxmlformats.org/drawingml/2006/main">
            <a:r>
              <a:t>30–75 / Entradas y salidas de banco / Correspondencias observadas</a:t>
            </a:r>
          </a:p>
          <a:p xmlns:a="http://schemas.openxmlformats.org/drawingml/2006/main">
            <a:r>
              <a:t>75–110 / Autopiloto y Mission Planner / Comparación con equipo grande</a:t>
            </a:r>
          </a:p>
          <a:p xmlns:a="http://schemas.openxmlformats.org/drawingml/2006/main">
            <a:r>
              <a:t>110–165 / Demostración de vuelo o caso alternativo / Registro de eventos</a:t>
            </a:r>
          </a:p>
          <a:p xmlns:a="http://schemas.openxmlformats.org/drawingml/2006/main">
            <a:r>
              <a:t>165–215 / Análisis y diagnóstico / Conclusión respaldada</a:t>
            </a:r>
          </a:p>
          <a:p xmlns:a="http://schemas.openxmlformats.org/drawingml/2006/main">
            <a:r>
              <a:t>215–240 / Defensa y cierre / Expediente final</a:t>
            </a:r>
          </a:p>
          <a:p xmlns:a="http://schemas.openxmlformats.org/drawingml/2006/main">
            <a:r>
              <a:t/>
            </a:r>
          </a:p>
          <a:p xmlns:a="http://schemas.openxmlformats.org/drawingml/2006/main">
            <a:r>
              <a:t>El bloque de vuelo contempla desplazamiento y organización local según el lugar. La cohorte debe saber de antemano dónde se reúne y cómo se desarrolla esa actividad. Si el clima, el lugar o el estado de un equipo impiden el vuelo, se mantiene el aprendizaje con revisión en banco y análisis de un registro o demostración previamente identificados. Una observación grabada se presenta como grabada, y una simulación se identifica como simulación.</a:t>
            </a:r>
          </a:p>
          <a:p xmlns:a="http://schemas.openxmlformats.org/drawingml/2006/main">
            <a:r>
              <a:t/>
            </a:r>
          </a:p>
          <a:p xmlns:a="http://schemas.openxmlformats.org/drawingml/2006/main">
            <a:r>
              <a:t>No se convierten las cuatro horas finales en una sesión improvisada para reparar todo el ensamblaje. La preparación previa conserva un equipo funcional de demostración y un caso alternativo. Las correcciones nuevas se acotan y documentan; un resultado pendiente no se disimula con una explicación de otra versión.</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Minutos / Actividad / Resultado</a:t>
            </a:r>
          </a:p>
          <a:p xmlns:a="http://schemas.openxmlformats.org/drawingml/2006/main">
            <a:r>
              <a:t>0–30 / Revisión del acta y configuración / Estado del equipo identificado</a:t>
            </a:r>
          </a:p>
          <a:p xmlns:a="http://schemas.openxmlformats.org/drawingml/2006/main">
            <a:r>
              <a:t>30–75 / Entradas y salidas de banco / Correspondencias observadas</a:t>
            </a:r>
          </a:p>
          <a:p xmlns:a="http://schemas.openxmlformats.org/drawingml/2006/main">
            <a:r>
              <a:t>75–110 / Autopiloto y Mission Planner / Comparación con equipo grande</a:t>
            </a:r>
          </a:p>
          <a:p xmlns:a="http://schemas.openxmlformats.org/drawingml/2006/main">
            <a:r>
              <a:t>110–165 / Demostración de vuelo o caso alternativo / Registro de eventos</a:t>
            </a:r>
          </a:p>
          <a:p xmlns:a="http://schemas.openxmlformats.org/drawingml/2006/main">
            <a:r>
              <a:t>165–215 / Análisis y diagnóstico / Conclusión respaldada</a:t>
            </a:r>
          </a:p>
          <a:p xmlns:a="http://schemas.openxmlformats.org/drawingml/2006/main">
            <a:r>
              <a:t>215–240 / Defensa y cierre / Expediente final</a:t>
            </a:r>
          </a:p>
          <a:p xmlns:a="http://schemas.openxmlformats.org/drawingml/2006/main">
            <a:r>
              <a:t>Comparar filas y explicar una condición que cambie la decisión.</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Minutos / Actividad / Resultado</a:t>
            </a:r>
          </a:p>
          <a:p xmlns:a="http://schemas.openxmlformats.org/drawingml/2006/main">
            <a:r>
              <a:t>0–30 / Revisión del acta y configuración / Estado del equipo identificado</a:t>
            </a:r>
          </a:p>
          <a:p xmlns:a="http://schemas.openxmlformats.org/drawingml/2006/main">
            <a:r>
              <a:t>30–75 / Entradas y salidas de banco / Correspondencias observadas</a:t>
            </a:r>
          </a:p>
          <a:p xmlns:a="http://schemas.openxmlformats.org/drawingml/2006/main">
            <a:r>
              <a:t>75–110 / Autopiloto y Mission Planner / Comparación con equipo grande</a:t>
            </a:r>
          </a:p>
          <a:p xmlns:a="http://schemas.openxmlformats.org/drawingml/2006/main">
            <a:r>
              <a:t>110–165 / Demostración de vuelo o caso alternativo / Registro de eventos</a:t>
            </a:r>
          </a:p>
          <a:p xmlns:a="http://schemas.openxmlformats.org/drawingml/2006/main">
            <a:r>
              <a:t>165–215 / Análisis y diagnóstico / Conclusión respaldada</a:t>
            </a:r>
          </a:p>
          <a:p xmlns:a="http://schemas.openxmlformats.org/drawingml/2006/main">
            <a:r>
              <a:t>215–240 / Defensa y cierre / Expediente final</a:t>
            </a:r>
          </a:p>
          <a:p xmlns:a="http://schemas.openxmlformats.org/drawingml/2006/main">
            <a:r>
              <a:t/>
            </a:r>
          </a:p>
          <a:p xmlns:a="http://schemas.openxmlformats.org/drawingml/2006/main">
            <a:r>
              <a:t>El bloque de vuelo contempla desplazamiento y organización local según el lugar. La cohorte debe saber de antemano dónde se reúne y cómo se desarrolla esa actividad. Si el clima, el lugar o el estado de un equipo impiden el vuelo, se mantiene el aprendizaje con revisión en banco y análisis de un registro o demostración previamente identificados. Una observación grabada se presenta como grabada, y una simulación se identifica como simulación.</a:t>
            </a:r>
          </a:p>
          <a:p xmlns:a="http://schemas.openxmlformats.org/drawingml/2006/main">
            <a:r>
              <a:t/>
            </a:r>
          </a:p>
          <a:p xmlns:a="http://schemas.openxmlformats.org/drawingml/2006/main">
            <a:r>
              <a:t>No se convierten las cuatro horas finales en una sesión improvisada para reparar todo el ensamblaje. La preparación previa conserva un equipo funcional de demostración y un caso alternativo. Las correcciones nuevas se acotan y documentan; un resultado pendiente no se disimula con una explicación de otra versión.</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ArduPilot publica también configuraciones con convención Betaflight. La existencia de esta variante refuerza que se debe leer el tipo de bastidor elegido; no adivinar el orden por el tamaño del dron. Fuente: ArduPilot, documentación CC BY-SA 3.0. https://ardupilot.org/copter/docs/connect-escs-and-motors.html</a:t>
            </a:r>
          </a:p>
          <a:p xmlns:a="http://schemas.openxmlformats.org/drawingml/2006/main">
            <a:r>
              <a:t/>
            </a:r>
          </a:p>
          <a:p xmlns:a="http://schemas.openxmlformats.org/drawingml/2006/main">
            <a:r>
              <a:t>El instructor relaciona autopiloto, módulo de potencia, GPS, brújula, receptor y telemetría con la estación de tierra. Explica dónde se observa estado y qué configuración pertenece a ese modelo. No hace falta enseñar una misión autónoma completa para demostrar la diferencia entre construir la cadena y obtener una solución de navegación válida. La lectura de una pantalla se relaciona con el montaje que está delante del grupo.</a:t>
            </a:r>
          </a:p>
          <a:p xmlns:a="http://schemas.openxmlformats.org/drawingml/2006/main">
            <a:r>
              <a:t/>
            </a:r>
          </a:p>
          <a:p xmlns:a="http://schemas.openxmlformats.org/drawingml/2006/main">
            <a:r>
              <a:t>Equipo pequeño / Equipo con autopiloto / Principio compartido</a:t>
            </a:r>
          </a:p>
          <a:p xmlns:a="http://schemas.openxmlformats.org/drawingml/2006/main">
            <a:r>
              <a:t>Placa y target Betaflight / Autopiloto y firmware ArduCopter / Identificación exacta</a:t>
            </a:r>
          </a:p>
          <a:p xmlns:a="http://schemas.openxmlformats.org/drawingml/2006/main">
            <a:r>
              <a:t>Receptor, modos y salidas / Entradas, calibraciones y modos / Correspondencia con el objeto</a:t>
            </a:r>
          </a:p>
          <a:p xmlns:a="http://schemas.openxmlformats.org/drawingml/2006/main">
            <a:r>
              <a:t>Datos disponibles del sistema / Estado y telemetría en Mission Planner / Interpretación con condiciones</a:t>
            </a:r>
          </a:p>
          <a:p xmlns:a="http://schemas.openxmlformats.org/drawingml/2006/main">
            <a:r>
              <a:t/>
            </a:r>
          </a:p>
          <a:p xmlns:a="http://schemas.openxmlformats.org/drawingml/2006/main">
            <a:r>
              <a:t>Si se utiliza SITL como complemento, se registra el modelo de software y se conserva separado del vehículo real. El tutorial oficial de simulación puede usar una rama de desarrollo; no se utiliza esa circunstancia para asumir que cualquier versión está validada para el dron del taller.</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ArduPilot publica también configuraciones con convención Betaflight. La existencia de esta variante refuerza que se debe leer el tipo de bastidor elegido; no adivinar el orden por el tamaño del dron. Fuente: ArduPilot, documentación CC BY-SA 3.0. https://ardupilot.org/copter/docs/connect-escs-and-motors.html</a:t>
            </a:r>
          </a:p>
          <a:p xmlns:a="http://schemas.openxmlformats.org/drawingml/2006/main">
            <a:r>
              <a:t>ArduPilot publica también configuraciones con convención Betaflight. La existencia de esta variante refuerza que se debe leer el tipo de bastidor elegido; no adivinar el orden por el tamaño del dron. Fuente: ArduPilot, documentación CC BY-SA 3.0. https://ardupilot.org/copter/docs/connect-escs-and-motors.html</a:t>
            </a:r>
          </a:p>
          <a:p xmlns:a="http://schemas.openxmlformats.org/drawingml/2006/main">
            <a:r>
              <a:t/>
            </a:r>
          </a:p>
          <a:p xmlns:a="http://schemas.openxmlformats.org/drawingml/2006/main">
            <a:r>
              <a:t>El instructor relaciona autopiloto, módulo de potencia, GPS, brújula, receptor y telemetría con la estación de tierra. Explica dónde se observa estado y qué configuración pertenece a ese modelo. No hace falta enseñar una misión autónoma completa para demostrar la diferencia entre construir la cadena y obtener una solución de navegación válida. La lectura de una pantalla se relaciona con el montaje que está delante del grupo.</a:t>
            </a:r>
          </a:p>
          <a:p xmlns:a="http://schemas.openxmlformats.org/drawingml/2006/main">
            <a:r>
              <a:t/>
            </a:r>
          </a:p>
          <a:p xmlns:a="http://schemas.openxmlformats.org/drawingml/2006/main">
            <a:r>
              <a:t>Equipo pequeño / Equipo con autopiloto / Principio compartido</a:t>
            </a:r>
          </a:p>
          <a:p xmlns:a="http://schemas.openxmlformats.org/drawingml/2006/main">
            <a:r>
              <a:t>Placa y target Betaflight / Autopiloto y firmware ArduCopter / Identificación exacta</a:t>
            </a:r>
          </a:p>
          <a:p xmlns:a="http://schemas.openxmlformats.org/drawingml/2006/main">
            <a:r>
              <a:t>Receptor, modos y salidas / Entradas, calibraciones y modos / Correspondencia con el objeto</a:t>
            </a:r>
          </a:p>
          <a:p xmlns:a="http://schemas.openxmlformats.org/drawingml/2006/main">
            <a:r>
              <a:t>Datos disponibles del sistema / Estado y telemetría en Mission Planner / Interpretación con condiciones</a:t>
            </a:r>
          </a:p>
          <a:p xmlns:a="http://schemas.openxmlformats.org/drawingml/2006/main">
            <a:r>
              <a:t/>
            </a:r>
          </a:p>
          <a:p xmlns:a="http://schemas.openxmlformats.org/drawingml/2006/main">
            <a:r>
              <a:t>Si se utiliza SITL como complemento, se registra el modelo de software y se conserva separado del vehículo real. El tutorial oficial de simulación puede usar una rama de desarrollo; no se utiliza esa circunstancia para asumir que cualquier versión está validada para el dron del taller.</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Equipo pequeño / Equipo con autopiloto / Principio compartido</a:t>
            </a:r>
          </a:p>
          <a:p xmlns:a="http://schemas.openxmlformats.org/drawingml/2006/main">
            <a:r>
              <a:t>Placa y target Betaflight / Autopiloto y firmware ArduCopter / Identificación exacta</a:t>
            </a:r>
          </a:p>
          <a:p xmlns:a="http://schemas.openxmlformats.org/drawingml/2006/main">
            <a:r>
              <a:t>Receptor, modos y salidas / Entradas, calibraciones y modos / Correspondencia con el objeto</a:t>
            </a:r>
          </a:p>
          <a:p xmlns:a="http://schemas.openxmlformats.org/drawingml/2006/main">
            <a:r>
              <a:t>Datos disponibles del sistema / Estado y telemetría en Mission Planner / Interpretación con condiciones</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Antes de la demostración, el alumno predice qué evento podrá observar: inicio, armado, despegue, vuelo básico, aterrizaje y cierre según el caso elegido. La misión de la clase es relacionar decisiones de ensamblaje y configuración con el comportamiento mostrado. No se exige aprender maniobras FPV ni operar varios modos nuevos a la vez. El instructor define qué observa el grupo y qué datos puede registrar realmente.</a:t>
            </a:r>
          </a:p>
          <a:p xmlns:a="http://schemas.openxmlformats.org/drawingml/2006/main">
            <a:r>
              <a:t/>
            </a:r>
          </a:p>
          <a:p xmlns:a="http://schemas.openxmlformats.org/drawingml/2006/main">
            <a:r>
              <a:t>Identifica vehículo, configuración y propósito de la demostración.</a:t>
            </a:r>
          </a:p>
          <a:p xmlns:a="http://schemas.openxmlformats.org/drawingml/2006/main">
            <a:r>
              <a:t>Distingue eventos visibles de magnitudes que requieren un sensor o registro.</a:t>
            </a:r>
          </a:p>
          <a:p xmlns:a="http://schemas.openxmlformats.org/drawingml/2006/main">
            <a:r>
              <a:t>Conserva la hora o una referencia temporal del caso.</a:t>
            </a:r>
          </a:p>
          <a:p xmlns:a="http://schemas.openxmlformats.org/drawingml/2006/main">
            <a:r>
              <a:t>Observa comportamiento y avisos sin asignar causas todavía.</a:t>
            </a:r>
          </a:p>
          <a:p xmlns:a="http://schemas.openxmlformats.org/drawingml/2006/main">
            <a:r>
              <a:t>Después del cierre, compara el registro disponible con la expectativa.</a:t>
            </a:r>
          </a:p>
          <a:p xmlns:a="http://schemas.openxmlformats.org/drawingml/2006/main">
            <a:r>
              <a:t>Separa resultado observado, hipótesis de causa y siguiente comprobación.</a:t>
            </a:r>
          </a:p>
          <a:p xmlns:a="http://schemas.openxmlformats.org/drawingml/2006/main">
            <a:r>
              <a:t/>
            </a:r>
          </a:p>
          <a:p xmlns:a="http://schemas.openxmlformats.org/drawingml/2006/main">
            <a:r>
              <a:t>La operación se prepara con las condiciones y trámites aplicables al lugar y al equipo. Para la actualización del curso se consultaron el Reglamento de la Ley 30740 aprobado por DS 012-2026-MTC y la información de trámites de la DGAC. El docente verifica sus disposiciones y condiciones vigentes al organizar la jornada; este temario académico no sustituye esa determinación.</a:t>
            </a:r>
          </a:p>
          <a:p xmlns:a="http://schemas.openxmlformats.org/drawingml/2006/main">
            <a:r>
              <a:t/>
            </a:r>
          </a:p>
          <a:p xmlns:a="http://schemas.openxmlformats.org/drawingml/2006/main">
            <a:r>
              <a:t>Se ve una oscilación. ¿Podemos afirmar inmediatamente “falta subir P”?</a:t>
            </a:r>
          </a:p>
          <a:p xmlns:a="http://schemas.openxmlformats.org/drawingml/2006/main">
            <a:r>
              <a:t>No. Se registra qué se observó y se investiga montaje, hélice, condiciones, medida y configuración. Una apariencia no identifica una causa única.</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Antes de la demostración, el alumno predice qué evento podrá observar: inicio, armado, despegue, vuelo básico, aterrizaje y cierre según el caso elegido. La misión de la clase es relacionar decisiones de ensamblaje y configuración con el comportamiento mostrado. No se exige aprender maniobras FPV ni operar varios modos nuevos a la vez. El instructor define qué observa el grupo y qué datos puede registrar realmente.</a:t>
            </a:r>
          </a:p>
          <a:p xmlns:a="http://schemas.openxmlformats.org/drawingml/2006/main">
            <a:r>
              <a:t/>
            </a:r>
          </a:p>
          <a:p xmlns:a="http://schemas.openxmlformats.org/drawingml/2006/main">
            <a:r>
              <a:t>Identifica vehículo, configuración y propósito de la demostración.</a:t>
            </a:r>
          </a:p>
          <a:p xmlns:a="http://schemas.openxmlformats.org/drawingml/2006/main">
            <a:r>
              <a:t>Distingue eventos visibles de magnitudes que requieren un sensor o registro.</a:t>
            </a:r>
          </a:p>
          <a:p xmlns:a="http://schemas.openxmlformats.org/drawingml/2006/main">
            <a:r>
              <a:t>Conserva la hora o una referencia temporal del caso.</a:t>
            </a:r>
          </a:p>
          <a:p xmlns:a="http://schemas.openxmlformats.org/drawingml/2006/main">
            <a:r>
              <a:t>Observa comportamiento y avisos sin asignar causas todavía.</a:t>
            </a:r>
          </a:p>
          <a:p xmlns:a="http://schemas.openxmlformats.org/drawingml/2006/main">
            <a:r>
              <a:t>Después del cierre, compara el registro disponible con la expectativa.</a:t>
            </a:r>
          </a:p>
          <a:p xmlns:a="http://schemas.openxmlformats.org/drawingml/2006/main">
            <a:r>
              <a:t>Separa resultado observado, hipótesis de causa y siguiente comprobación.</a:t>
            </a:r>
          </a:p>
          <a:p xmlns:a="http://schemas.openxmlformats.org/drawingml/2006/main">
            <a:r>
              <a:t/>
            </a:r>
          </a:p>
          <a:p xmlns:a="http://schemas.openxmlformats.org/drawingml/2006/main">
            <a:r>
              <a:t>La operación se prepara con las condiciones y trámites aplicables al lugar y al equipo. Para la actualización del curso se consultaron el Reglamento de la Ley 30740 aprobado por DS 012-2026-MTC y la información de trámites de la DGAC. El docente verifica sus disposiciones y condiciones vigentes al organizar la jornada; este temario académico no sustituye esa determinación.</a:t>
            </a:r>
          </a:p>
          <a:p xmlns:a="http://schemas.openxmlformats.org/drawingml/2006/main">
            <a:r>
              <a:t/>
            </a:r>
          </a:p>
          <a:p xmlns:a="http://schemas.openxmlformats.org/drawingml/2006/main">
            <a:r>
              <a:t>Se ve una oscilación. ¿Podemos afirmar inmediatamente “falta subir P”?</a:t>
            </a:r>
          </a:p>
          <a:p xmlns:a="http://schemas.openxmlformats.org/drawingml/2006/main">
            <a:r>
              <a:t>No. Se registra qué se observó y se investiga montaje, hélice, condiciones, medida y configuración. Una apariencia no identifica una causa única.</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Primero tapar la solución o pedir respuesta individual.</a:t>
            </a:r>
          </a:p>
          <a:p xmlns:a="http://schemas.openxmlformats.org/drawingml/2006/main">
            <a:r>
              <a:t>Se ve una oscilación. ¿Podemos afirmar inmediatamente “falta subir P”?</a:t>
            </a:r>
          </a:p>
          <a:p xmlns:a="http://schemas.openxmlformats.org/drawingml/2006/main">
            <a:r>
              <a:t>No. Se registra qué se observó y se investiga montaje, hélice, condiciones, medida y configuración. Una apariencia no identifica una causa única.</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Tiempo / s / Tensión / V / Corriente / A</a:t>
            </a:r>
          </a:p>
          <a:p xmlns:a="http://schemas.openxmlformats.org/drawingml/2006/main">
            <a:r>
              <a:t>0 / 22,2 / 0</a:t>
            </a:r>
          </a:p>
          <a:p xmlns:a="http://schemas.openxmlformats.org/drawingml/2006/main">
            <a:r>
              <a:t>30 / 21,8 / 10</a:t>
            </a:r>
          </a:p>
          <a:p xmlns:a="http://schemas.openxmlformats.org/drawingml/2006/main">
            <a:r>
              <a:t>60 / 21,1 / 14</a:t>
            </a:r>
          </a:p>
          <a:p xmlns:a="http://schemas.openxmlformats.org/drawingml/2006/main">
            <a:r>
              <a:t>90 / 20,9 / 9</a:t>
            </a:r>
          </a:p>
          <a:p xmlns:a="http://schemas.openxmlformats.org/drawingml/2006/main">
            <a:r>
              <a:t/>
            </a:r>
          </a:p>
          <a:p xmlns:a="http://schemas.openxmlformats.org/drawingml/2006/main">
            <a:r>
              <a:t>La potencia instantánea se obtiene de muestras correspondientes en el tiempo. No se multiplica una tensión de una fase por una corriente medida en otra.</a:t>
            </a:r>
          </a:p>
          <a:p xmlns:a="http://schemas.openxmlformats.org/drawingml/2006/main">
            <a:r>
              <a:t/>
            </a:r>
          </a:p>
          <a:p xmlns:a="http://schemas.openxmlformats.org/drawingml/2006/main">
            <a:r>
              <a:t>En la fila de 60 s, ¿qué potencia eléctrica se calcula? ¿21,1 V demuestra por sí solo la energía restante?</a:t>
            </a:r>
          </a:p>
          <a:p xmlns:a="http://schemas.openxmlformats.org/drawingml/2006/main">
            <a:r>
              <a:t>P = 21,1 × 14 = 295,4 W. La tensión bajo esa carga no determina sola la energía restante ni un umbral universal de operación. Se necesita contexto del paquete, medida y condiciones.</a:t>
            </a:r>
          </a:p>
          <a:p xmlns:a="http://schemas.openxmlformats.org/drawingml/2006/main">
            <a:r>
              <a:t/>
            </a:r>
          </a:p>
          <a:p xmlns:a="http://schemas.openxmlformats.org/drawingml/2006/main">
            <a:r>
              <a:t>Un archivo Blackbox, un registro del autopiloto y un CSV de aula tienen estructura y procedencia distintas. El conjunto sintético incluido sirve para practicar lectura y cálculo; no se anuncia como archivo nativo reproducible de esas herramientas. Si Gerard aporta datos reales, conserva firmware, configuración, origen temporal y condiciones de adquisición antes de compararlos.</a:t>
            </a:r>
          </a:p>
          <a:p xmlns:a="http://schemas.openxmlformats.org/drawingml/2006/main">
            <a:r>
              <a:t/>
            </a:r>
          </a:p>
          <a:p xmlns:a="http://schemas.openxmlformats.org/drawingml/2006/main">
            <a:r>
              <a:t>La mejora final propone una sola intervención con motivo y prueba: cambiar un acceso, corregir una asignación o investigar una caída de tensión. Se valora que la explicación se apoye en datos y en la configuración identificada.</a:t>
            </a:r>
          </a:p>
          <a:p xmlns:a="http://schemas.openxmlformats.org/drawingml/2006/main">
            <a:r>
              <a:t/>
            </a:r>
          </a:p>
          <a:p xmlns:a="http://schemas.openxmlformats.org/drawingml/2006/main">
            <a:r>
              <a:t>Conjunto sintético de aula: V e I corresponden a cada instante. No es un archivo Blackbox ni un vuelo MECRO.</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Tiempo / s / Tensión / V / Corriente / A</a:t>
            </a:r>
          </a:p>
          <a:p xmlns:a="http://schemas.openxmlformats.org/drawingml/2006/main">
            <a:r>
              <a:t>0 / 22,2 / 0</a:t>
            </a:r>
          </a:p>
          <a:p xmlns:a="http://schemas.openxmlformats.org/drawingml/2006/main">
            <a:r>
              <a:t>30 / 21,8 / 10</a:t>
            </a:r>
          </a:p>
          <a:p xmlns:a="http://schemas.openxmlformats.org/drawingml/2006/main">
            <a:r>
              <a:t>60 / 21,1 / 14</a:t>
            </a:r>
          </a:p>
          <a:p xmlns:a="http://schemas.openxmlformats.org/drawingml/2006/main">
            <a:r>
              <a:t>90 / 20,9 / 9</a:t>
            </a:r>
          </a:p>
          <a:p xmlns:a="http://schemas.openxmlformats.org/drawingml/2006/main">
            <a:r>
              <a:t>Comparar filas y explicar una condición que cambie la decisión.</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Conjunto sintético de aula: V e I corresponden a cada instante. No es un archivo Blackbox ni un vuelo MECRO.</a:t>
            </a:r>
          </a:p>
          <a:p xmlns:a="http://schemas.openxmlformats.org/drawingml/2006/main">
            <a:r>
              <a:t>Tiempo / s / Tensión / V / Corriente / A</a:t>
            </a:r>
          </a:p>
          <a:p xmlns:a="http://schemas.openxmlformats.org/drawingml/2006/main">
            <a:r>
              <a:t>0 / 22,2 / 0</a:t>
            </a:r>
          </a:p>
          <a:p xmlns:a="http://schemas.openxmlformats.org/drawingml/2006/main">
            <a:r>
              <a:t>30 / 21,8 / 10</a:t>
            </a:r>
          </a:p>
          <a:p xmlns:a="http://schemas.openxmlformats.org/drawingml/2006/main">
            <a:r>
              <a:t>60 / 21,1 / 14</a:t>
            </a:r>
          </a:p>
          <a:p xmlns:a="http://schemas.openxmlformats.org/drawingml/2006/main">
            <a:r>
              <a:t>90 / 20,9 / 9</a:t>
            </a:r>
          </a:p>
          <a:p xmlns:a="http://schemas.openxmlformats.org/drawingml/2006/main">
            <a:r>
              <a:t/>
            </a:r>
          </a:p>
          <a:p xmlns:a="http://schemas.openxmlformats.org/drawingml/2006/main">
            <a:r>
              <a:t>La potencia instantánea se obtiene de muestras correspondientes en el tiempo. No se multiplica una tensión de una fase por una corriente medida en otra.</a:t>
            </a:r>
          </a:p>
          <a:p xmlns:a="http://schemas.openxmlformats.org/drawingml/2006/main">
            <a:r>
              <a:t/>
            </a:r>
          </a:p>
          <a:p xmlns:a="http://schemas.openxmlformats.org/drawingml/2006/main">
            <a:r>
              <a:t>En la fila de 60 s, ¿qué potencia eléctrica se calcula? ¿21,1 V demuestra por sí solo la energía restante?</a:t>
            </a:r>
          </a:p>
          <a:p xmlns:a="http://schemas.openxmlformats.org/drawingml/2006/main">
            <a:r>
              <a:t>P = 21,1 × 14 = 295,4 W. La tensión bajo esa carga no determina sola la energía restante ni un umbral universal de operación. Se necesita contexto del paquete, medida y condiciones.</a:t>
            </a:r>
          </a:p>
          <a:p xmlns:a="http://schemas.openxmlformats.org/drawingml/2006/main">
            <a:r>
              <a:t/>
            </a:r>
          </a:p>
          <a:p xmlns:a="http://schemas.openxmlformats.org/drawingml/2006/main">
            <a:r>
              <a:t>Un archivo Blackbox, un registro del autopiloto y un CSV de aula tienen estructura y procedencia distintas. El conjunto sintético incluido sirve para practicar lectura y cálculo; no se anuncia como archivo nativo reproducible de esas herramientas. Si Gerard aporta datos reales, conserva firmware, configuración, origen temporal y condiciones de adquisición antes de compararlos.</a:t>
            </a:r>
          </a:p>
          <a:p xmlns:a="http://schemas.openxmlformats.org/drawingml/2006/main">
            <a:r>
              <a:t/>
            </a:r>
          </a:p>
          <a:p xmlns:a="http://schemas.openxmlformats.org/drawingml/2006/main">
            <a:r>
              <a:t>La mejora final propone una sola intervención con motivo y prueba: cambiar un acceso, corregir una asignación o investigar una caída de tensión. Se valora que la explicación se apoye en datos y en la configuración identificada.</a:t>
            </a:r>
          </a:p>
          <a:p xmlns:a="http://schemas.openxmlformats.org/drawingml/2006/main">
            <a:r>
              <a:t/>
            </a:r>
          </a:p>
          <a:p xmlns:a="http://schemas.openxmlformats.org/drawingml/2006/main">
            <a:r>
              <a:t>Conjunto sintético de aula: V e I corresponden a cada instante. No es un archivo Blackbox ni un vuelo MECRO.</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Componente / Peso / Qué se revisa</a:t>
            </a:r>
          </a:p>
          <a:p xmlns:a="http://schemas.openxmlformats.org/drawingml/2006/main">
            <a:r>
              <a:t>Selección y cálculos / 35 % / Compatibilidad y condiciones</a:t>
            </a:r>
          </a:p>
          <a:p xmlns:a="http://schemas.openxmlformats.org/drawingml/2006/main">
            <a:r>
              <a:t>Esquema y secuencia / 25 % / Ensamblaje explicable</a:t>
            </a:r>
          </a:p>
          <a:p xmlns:a="http://schemas.openxmlformats.org/drawingml/2006/main">
            <a:r>
              <a:t>Configuración y comprobaciones / 25 % / Correspondencia y evidencia</a:t>
            </a:r>
          </a:p>
          <a:p xmlns:a="http://schemas.openxmlformats.org/drawingml/2006/main">
            <a:r>
              <a:t>Defensa individual / 15 % / Decisión, límite y siguiente prueba</a:t>
            </a:r>
          </a:p>
          <a:p xmlns:a="http://schemas.openxmlformats.org/drawingml/2006/main">
            <a:r>
              <a:t/>
            </a:r>
          </a:p>
          <a:p xmlns:a="http://schemas.openxmlformats.org/drawingml/2006/main">
            <a:r>
              <a:t>Presenta propósito, referencia de tamaño y arquitectura.</a:t>
            </a:r>
          </a:p>
          <a:p xmlns:a="http://schemas.openxmlformats.org/drawingml/2006/main">
            <a:r>
              <a:t>Justifica una selección de propulsión con datos y unidades.</a:t>
            </a:r>
          </a:p>
          <a:p xmlns:a="http://schemas.openxmlformats.org/drawingml/2006/main">
            <a:r>
              <a:t>Sigue una ruta de energía y otra de información.</a:t>
            </a:r>
          </a:p>
          <a:p xmlns:a="http://schemas.openxmlformats.org/drawingml/2006/main">
            <a:r>
              <a:t>Explica una comprobación observada en los presenciales.</a:t>
            </a:r>
          </a:p>
          <a:p xmlns:a="http://schemas.openxmlformats.org/drawingml/2006/main">
            <a:r>
              <a:t>Reconoce una limitación del expediente y propone cómo resolverla.</a:t>
            </a:r>
          </a:p>
          <a:p xmlns:a="http://schemas.openxmlformats.org/drawingml/2006/main">
            <a:r>
              <a:t/>
            </a:r>
          </a:p>
          <a:p xmlns:a="http://schemas.openxmlformats.org/drawingml/2006/main">
            <a:r>
              <a:t>El egresado debe poder preparar una compra razonada y reconstruir el proceso de ensamblaje y configuración básica. La práctica individual extensa de soldadura, pilotaje FPV, ajuste avanzado de filtros/PID y misiones autónomas completas requieren bloques posteriores. Las ocho sesiones conservan una meta alcanzable y dejan una ruta clara para profundizar sin prometer que una sola demostración forme especialistas en todos los sistemas.</a:t>
            </a:r>
          </a:p>
          <a:p xmlns:a="http://schemas.openxmlformats.org/drawingml/2006/main">
            <a:r>
              <a:t/>
            </a:r>
          </a:p>
          <a:p xmlns:a="http://schemas.openxmlformats.org/drawingml/2006/main">
            <a:r>
              <a:t>Para MECRO, la siguiente oferta puede ser un taller de armado por equipo con más puestos supervisados, o un módulo de configuración y diagnóstico con hardware propio. La evidencia reunida en este curso permite detectar quién necesita reforzar electrónica, documentación o interpretación antes de dar ese paso.</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Componente / Peso / Qué se revisa</a:t>
            </a:r>
          </a:p>
          <a:p xmlns:a="http://schemas.openxmlformats.org/drawingml/2006/main">
            <a:r>
              <a:t>Selección y cálculos / 35 % / Compatibilidad y condiciones</a:t>
            </a:r>
          </a:p>
          <a:p xmlns:a="http://schemas.openxmlformats.org/drawingml/2006/main">
            <a:r>
              <a:t>Esquema y secuencia / 25 % / Ensamblaje explicable</a:t>
            </a:r>
          </a:p>
          <a:p xmlns:a="http://schemas.openxmlformats.org/drawingml/2006/main">
            <a:r>
              <a:t>Configuración y comprobaciones / 25 % / Correspondencia y evidencia</a:t>
            </a:r>
          </a:p>
          <a:p xmlns:a="http://schemas.openxmlformats.org/drawingml/2006/main">
            <a:r>
              <a:t>Defensa individual / 15 % / Decisión, límite y siguiente prueba</a:t>
            </a:r>
          </a:p>
          <a:p xmlns:a="http://schemas.openxmlformats.org/drawingml/2006/main">
            <a:r>
              <a:t>Comparar filas y explicar una condición que cambie la decisión.</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Presenta propósito, referencia de tamaño y arquitectura.</a:t>
            </a:r>
          </a:p>
          <a:p xmlns:a="http://schemas.openxmlformats.org/drawingml/2006/main">
            <a:r>
              <a:t>Justifica una selección de propulsión con datos y unidades.</a:t>
            </a:r>
          </a:p>
          <a:p xmlns:a="http://schemas.openxmlformats.org/drawingml/2006/main">
            <a:r>
              <a:t>Sigue una ruta de energía y otra de información.</a:t>
            </a:r>
          </a:p>
          <a:p xmlns:a="http://schemas.openxmlformats.org/drawingml/2006/main">
            <a:r>
              <a:t>Explica una comprobación observada en los presenciales.</a:t>
            </a:r>
          </a:p>
          <a:p xmlns:a="http://schemas.openxmlformats.org/drawingml/2006/main">
            <a:r>
              <a:t>Reconoce una limitación del expediente y propone cómo resolverla.</a:t>
            </a:r>
          </a:p>
          <a:p xmlns:a="http://schemas.openxmlformats.org/drawingml/2006/main">
            <a:r>
              <a:t>Verificar un paso antes de seguir.</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12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Contrastar el acta de montaje con una aeronave preparada.</a:t>
            </a:r>
          </a:p>
          <a:p xmlns:a="http://schemas.openxmlformats.org/drawingml/2006/main">
            <a:r>
              <a:t>Comprobar entradas y salidas antes de presentar el vuelo.</a:t>
            </a:r>
          </a:p>
          <a:p xmlns:a="http://schemas.openxmlformats.org/drawingml/2006/main">
            <a:r>
              <a:t>Relacionar la demostración o el caso alternativo con un registro identificado.</a:t>
            </a:r>
          </a:p>
          <a:p xmlns:a="http://schemas.openxmlformats.org/drawingml/2006/main">
            <a:r>
              <a:t>Evaluar el expediente y la defensa individual de una decisión.</a:t>
            </a:r>
          </a:p>
          <a:p xmlns:a="http://schemas.openxmlformats.org/drawingml/2006/main">
            <a:r>
              <a:t>Contrastar componentes, esquema y comprobaciones.</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10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 cierre muestra cómo el ensamblaje y la configuración sostienen una demostración observada y una decisión de mejora.</a:t>
            </a:r>
          </a:p>
          <a:p xmlns:a="http://schemas.openxmlformats.org/drawingml/2006/main">
            <a:r>
              <a:t>Expediente final, análisis del caso observado y defensa individual de una mejora.</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7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presencial 2: configuración, prueba y demostración de vuelo.</a:t>
            </a:r>
          </a:p>
          <a:p xmlns:a="http://schemas.openxmlformats.org/drawingml/2006/main">
            <a:r>
              <a:t>Presencial demostrativo,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Expediente final, análisis del caso observado y defensa individual de una mejora.</a:t>
            </a:r>
          </a:p>
          <a:p xmlns:a="http://schemas.openxmlformats.org/drawingml/2006/main">
            <a:r>
              <a:t/>
            </a:r>
          </a:p>
          <a:p xmlns:a="http://schemas.openxmlformats.org/drawingml/2006/main">
            <a:r>
              <a:t>Objetivo: Explicar la aceptación de una configuración y relacionar un vuelo básico o caso equivalente con sus registros.</a:t>
            </a:r>
          </a:p>
          <a:p xmlns:a="http://schemas.openxmlformats.org/drawingml/2006/main">
            <a:r>
              <a:t>Aplicación: El cierre muestra cómo el ensamblaje y la configuración sostienen una demostración observada y una decisión de mejora.</a:t>
            </a:r>
          </a:p>
          <a:p xmlns:a="http://schemas.openxmlformats.org/drawingml/2006/main">
            <a:r>
              <a:t>Entrega: Expediente final, análisis del caso observado y defensa individual de una mejora.</a:t>
            </a:r>
          </a:p>
          <a:p xmlns:a="http://schemas.openxmlformats.org/drawingml/2006/main">
            <a:r>
              <a:t/>
            </a:r>
          </a:p>
          <a:p xmlns:a="http://schemas.openxmlformats.org/drawingml/2006/main">
            <a:r>
              <a:t>Preguntas y respuestas</a:t>
            </a:r>
          </a:p>
          <a:p xmlns:a="http://schemas.openxmlformats.org/drawingml/2006/main">
            <a:r>
              <a:t>¿Ver una oscilación identifica una ganancia incorrecta?</a:t>
            </a:r>
          </a:p>
          <a:p xmlns:a="http://schemas.openxmlformats.org/drawingml/2006/main">
            <a:r>
              <a:t>No. Es un síntoma; la causa requiere contrastar otras evidencias.</a:t>
            </a:r>
          </a:p>
          <a:p xmlns:a="http://schemas.openxmlformats.org/drawingml/2006/main">
            <a:r>
              <a:t/>
            </a:r>
          </a:p>
          <a:p xmlns:a="http://schemas.openxmlformats.org/drawingml/2006/main">
            <a:r>
              <a:t>¿El CSV incluido es un Blackbox real?</a:t>
            </a:r>
          </a:p>
          <a:p xmlns:a="http://schemas.openxmlformats.org/drawingml/2006/main">
            <a:r>
              <a:t>No. Es un conjunto sintético de aula y se mantiene identificado como tal.</a:t>
            </a:r>
          </a:p>
          <a:p xmlns:a="http://schemas.openxmlformats.org/drawingml/2006/main">
            <a:r>
              <a:t/>
            </a:r>
          </a:p>
          <a:p xmlns:a="http://schemas.openxmlformats.org/drawingml/2006/main">
            <a:r>
              <a:t>¿Qué debe poder defender el alumno al finalizar?</a:t>
            </a:r>
          </a:p>
          <a:p xmlns:a="http://schemas.openxmlformats.org/drawingml/2006/main">
            <a:r>
              <a:t>Una selección compatible, un esquema, una secuencia y las comprobaciones que respaldan su conclusión.</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ArduPilot. Mandatory Hardware Configuration. https://ardupilot.org/copter/docs/configuring-hardware.html</a:t>
            </a:r>
          </a:p>
          <a:p xmlns:a="http://schemas.openxmlformats.org/drawingml/2006/main">
            <a:r>
              <a:t>ArduPilot. Initial Tuning Flight. https://ardupilot.org/copter/docs/initial-tuning-flight.html</a:t>
            </a:r>
          </a:p>
          <a:p xmlns:a="http://schemas.openxmlformats.org/drawingml/2006/main">
            <a:r>
              <a:t>ArduPilot. Conexión, orden y sentido de motores. https://ardupilot.org/copter/docs/connect-escs-and-motors.html</a:t>
            </a:r>
          </a:p>
          <a:p xmlns:a="http://schemas.openxmlformats.org/drawingml/2006/main">
            <a:r>
              <a:t>ArduPilot. Mission Planner Simulation. https://ardupilot.org/planner/docs/mission-planner-simulation.html</a:t>
            </a:r>
          </a:p>
          <a:p xmlns:a="http://schemas.openxmlformats.org/drawingml/2006/main">
            <a:r>
              <a:t>Betaflight. Motors Tab. https://betaflight.com/docs/wiki/app/motors-tab</a:t>
            </a:r>
          </a:p>
          <a:p xmlns:a="http://schemas.openxmlformats.org/drawingml/2006/main">
            <a:r>
              <a:t>El Peruano / MTC. Decreto Supremo 012-2026-MTC: Reglamento de la Ley 30740, publicado el 29/05/2026. https://busquedas.elperuano.pe/dispositivo/NL/2520332-3</a:t>
            </a:r>
          </a:p>
          <a:p xmlns:a="http://schemas.openxmlformats.org/drawingml/2006/main">
            <a:r>
              <a:t>MTC. Requisitos para las operaciones de RPAS: información de trámites. https://www.gob.pe/institucion/mtc/informes-publicaciones/344331-requisitos-para-las-operaciones-de-sistemas-de-aeronaves-pilotadas-a-distancia</a:t>
            </a:r>
          </a:p>
          <a:p xmlns:a="http://schemas.openxmlformats.org/drawingml/2006/main">
            <a:r>
              <a:t>Lectura MECRO_Drones_Clase_08.pdf.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bc52f82ddf49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156b61a20a44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d6af5f82554e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29a431d67b49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a7ed7af44a40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be4dfca78246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0B68F7-8E52-4304-9E3D-FC5D917C83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EE2CCA6-EB56-4380-B594-29BFB16E2C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99A6140-86C6-4C7D-A312-ED2152CEA7D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F8BC81-9B81-4995-AEA2-5C0E490C4C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B545CD6-DAAF-4BA9-A852-C6B0EA0AE00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D8AD0C-44A7-4B33-91C5-C7570E937B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CD9C94-94AE-40E5-AF5C-449E4229B1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0DE2F9-2A7F-4198-940A-DAB8A4FF42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3CA95A-AEAC-487D-BDA5-6EC73237FF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76861D-4609-4833-8620-1B33EC4C4D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b4e61b29ae4538" /><Relationship Type="http://schemas.openxmlformats.org/officeDocument/2006/relationships/slideLayout" Target="/ppt/slideLayouts/slideLayout1.xml" Id="R093208319c9d4d8f" /><Relationship Type="http://schemas.openxmlformats.org/officeDocument/2006/relationships/slideLayout" Target="/ppt/slideLayouts/slideLayout2.xml" Id="R2e28e28b8d8844ca" /><Relationship Type="http://schemas.openxmlformats.org/officeDocument/2006/relationships/slideLayout" Target="/ppt/slideLayouts/slideLayout3.xml" Id="Rc60b1b36c95b49ac" /><Relationship Type="http://schemas.openxmlformats.org/officeDocument/2006/relationships/slideLayout" Target="/ppt/slideLayouts/slideLayout4.xml" Id="R44afcdc198b04bd4" /><Relationship Type="http://schemas.openxmlformats.org/officeDocument/2006/relationships/slideLayout" Target="/ppt/slideLayouts/slideLayout5.xml" Id="Rb1294b5102e3450d" /><Relationship Type="http://schemas.openxmlformats.org/officeDocument/2006/relationships/slideLayout" Target="/ppt/slideLayouts/slideLayout6.xml" Id="Rbbd002df5c9a42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3208319c9d4d8f"/>
    <p:sldLayoutId xmlns:r="http://schemas.openxmlformats.org/officeDocument/2006/relationships" id="2147483650" r:id="R2e28e28b8d8844ca"/>
    <p:sldLayoutId xmlns:r="http://schemas.openxmlformats.org/officeDocument/2006/relationships" id="2147483651" r:id="Rc60b1b36c95b49ac"/>
    <p:sldLayoutId xmlns:r="http://schemas.openxmlformats.org/officeDocument/2006/relationships" id="2147483652" r:id="R44afcdc198b04bd4"/>
    <p:sldLayoutId xmlns:r="http://schemas.openxmlformats.org/officeDocument/2006/relationships" id="2147483653" r:id="Rb1294b5102e3450d"/>
    <p:sldLayoutId xmlns:r="http://schemas.openxmlformats.org/officeDocument/2006/relationships" id="2147483654" r:id="Rbbd002df5c9a42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314dd0f64864ecc" /><Relationship Type="http://schemas.openxmlformats.org/officeDocument/2006/relationships/image" Target="/ppt/media/image.png" Id="Rb46b2e449d214c94" /><Relationship Type="http://schemas.openxmlformats.org/officeDocument/2006/relationships/notesSlide" Target="/ppt/notesSlides/notesSlide1.xml" Id="R622ca4da960148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92da0b042d34aca" /><Relationship Type="http://schemas.openxmlformats.org/officeDocument/2006/relationships/image" Target="/ppt/media/image2.png" Id="R0158e21ef6bb459c" /><Relationship Type="http://schemas.openxmlformats.org/officeDocument/2006/relationships/notesSlide" Target="/ppt/notesSlides/notesSlide2.xml" Id="Rc5fba014505a4e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8106b6208594aea" /><Relationship Type="http://schemas.openxmlformats.org/officeDocument/2006/relationships/image" Target="/ppt/media/image3.png" Id="Ra837d6a50a074308" /><Relationship Type="http://schemas.openxmlformats.org/officeDocument/2006/relationships/notesSlide" Target="/ppt/notesSlides/notesSlide3.xml" Id="R8a1906421ed845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860eb94f2f4e9e" /><Relationship Type="http://schemas.openxmlformats.org/officeDocument/2006/relationships/image" Target="/ppt/media/image4.png" Id="Rb8019d10a52549d6" /><Relationship Type="http://schemas.openxmlformats.org/officeDocument/2006/relationships/notesSlide" Target="/ppt/notesSlides/notesSlide4.xml" Id="Rfc81cbcc98f74e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a03a8a953514f6d" /><Relationship Type="http://schemas.openxmlformats.org/officeDocument/2006/relationships/image" Target="/ppt/media/image5.png" Id="Re6f632ab6c58449c" /><Relationship Type="http://schemas.openxmlformats.org/officeDocument/2006/relationships/notesSlide" Target="/ppt/notesSlides/notesSlide5.xml" Id="R531014527bd24f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a7f45d01af84594" /><Relationship Type="http://schemas.openxmlformats.org/officeDocument/2006/relationships/image" Target="/ppt/media/image6.png" Id="R86d26736e4a047e9" /><Relationship Type="http://schemas.openxmlformats.org/officeDocument/2006/relationships/notesSlide" Target="/ppt/notesSlides/notesSlide6.xml" Id="Ree3ce7c3eaef48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c05ef4bde64b18" /><Relationship Type="http://schemas.openxmlformats.org/officeDocument/2006/relationships/image" Target="/ppt/media/image7.png" Id="Re02542cdf23d48dc" /><Relationship Type="http://schemas.openxmlformats.org/officeDocument/2006/relationships/notesSlide" Target="/ppt/notesSlides/notesSlide7.xml" Id="R092882faa4c44d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98cee37b1d54878" /><Relationship Type="http://schemas.openxmlformats.org/officeDocument/2006/relationships/image" Target="/ppt/media/image8.png" Id="R769c6141c2814b0d" /><Relationship Type="http://schemas.openxmlformats.org/officeDocument/2006/relationships/notesSlide" Target="/ppt/notesSlides/notesSlide8.xml" Id="R03f381024a684e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4e910495fc4b39" /><Relationship Type="http://schemas.openxmlformats.org/officeDocument/2006/relationships/image" Target="/ppt/media/image9.png" Id="Ra9fead7214ea4f90" /><Relationship Type="http://schemas.openxmlformats.org/officeDocument/2006/relationships/notesSlide" Target="/ppt/notesSlides/notesSlide9.xml" Id="R365e17dd6a4f47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180368489e4575" /><Relationship Type="http://schemas.openxmlformats.org/officeDocument/2006/relationships/image" Target="/ppt/media/image10.png" Id="Rbbcaa14d2afb4bc8" /><Relationship Type="http://schemas.openxmlformats.org/officeDocument/2006/relationships/notesSlide" Target="/ppt/notesSlides/notesSlide10.xml" Id="R2b71b2a42c4c4a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1147344cda243df" /><Relationship Type="http://schemas.openxmlformats.org/officeDocument/2006/relationships/image" Target="/ppt/media/image11.png" Id="Rcbcea4b86064463a" /><Relationship Type="http://schemas.openxmlformats.org/officeDocument/2006/relationships/notesSlide" Target="/ppt/notesSlides/notesSlide11.xml" Id="R4b80698530e04d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6e77f61a20c44a1" /><Relationship Type="http://schemas.openxmlformats.org/officeDocument/2006/relationships/image" Target="/ppt/media/image12.png" Id="Rf8238c6be196457b" /><Relationship Type="http://schemas.openxmlformats.org/officeDocument/2006/relationships/image" Target="/ppt/media/image13.png" Id="R697150f6468d43e8" /><Relationship Type="http://schemas.openxmlformats.org/officeDocument/2006/relationships/notesSlide" Target="/ppt/notesSlides/notesSlide12.xml" Id="R81ef0d3d915a40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551bae4a3414b6a" /><Relationship Type="http://schemas.openxmlformats.org/officeDocument/2006/relationships/image" Target="/ppt/media/image14.png" Id="R93cfdad51d584ca7" /><Relationship Type="http://schemas.openxmlformats.org/officeDocument/2006/relationships/notesSlide" Target="/ppt/notesSlides/notesSlide13.xml" Id="Rc3ba33e40bbb45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be813ad9e7a4032" /><Relationship Type="http://schemas.openxmlformats.org/officeDocument/2006/relationships/image" Target="/ppt/media/image15.png" Id="Rd9964f2d6b754b39" /><Relationship Type="http://schemas.openxmlformats.org/officeDocument/2006/relationships/notesSlide" Target="/ppt/notesSlides/notesSlide14.xml" Id="R84c7c9f21ef642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246253800b74b5f" /><Relationship Type="http://schemas.openxmlformats.org/officeDocument/2006/relationships/image" Target="/ppt/media/image16.png" Id="R080373de29f8483f" /><Relationship Type="http://schemas.openxmlformats.org/officeDocument/2006/relationships/notesSlide" Target="/ppt/notesSlides/notesSlide15.xml" Id="Rba403d4a8c57440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5e454a1d90d4d57" /><Relationship Type="http://schemas.openxmlformats.org/officeDocument/2006/relationships/image" Target="/ppt/media/image17.png" Id="R45089fd611844dab" /><Relationship Type="http://schemas.openxmlformats.org/officeDocument/2006/relationships/notesSlide" Target="/ppt/notesSlides/notesSlide16.xml" Id="Re7441b456081495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b6a5d0d521a4ae0" /><Relationship Type="http://schemas.openxmlformats.org/officeDocument/2006/relationships/image" Target="/ppt/media/image18.png" Id="R4dc70b9106c047ab" /><Relationship Type="http://schemas.openxmlformats.org/officeDocument/2006/relationships/notesSlide" Target="/ppt/notesSlides/notesSlide17.xml" Id="R5dad21778c0a472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c8bd92b95264068" /><Relationship Type="http://schemas.openxmlformats.org/officeDocument/2006/relationships/image" Target="/ppt/media/image19.png" Id="R6a42c26634ae4bea" /><Relationship Type="http://schemas.openxmlformats.org/officeDocument/2006/relationships/notesSlide" Target="/ppt/notesSlides/notesSlide18.xml" Id="Re9ff3ec2f6d9444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8efc0a2063349b0" /><Relationship Type="http://schemas.openxmlformats.org/officeDocument/2006/relationships/image" Target="/ppt/media/image20.png" Id="R01f21b6251144b3e" /><Relationship Type="http://schemas.openxmlformats.org/officeDocument/2006/relationships/notesSlide" Target="/ppt/notesSlides/notesSlide19.xml" Id="R76f939a84efb4ba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c4aaa32a8f14c2a" /><Relationship Type="http://schemas.openxmlformats.org/officeDocument/2006/relationships/image" Target="/ppt/media/image21.png" Id="Re983dff3c307453d" /><Relationship Type="http://schemas.openxmlformats.org/officeDocument/2006/relationships/notesSlide" Target="/ppt/notesSlides/notesSlide20.xml" Id="R32f71b68bc834b6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4b1c1b1ddd54324" /><Relationship Type="http://schemas.openxmlformats.org/officeDocument/2006/relationships/image" Target="/ppt/media/image22.png" Id="Rdbdc2a3b2f6c461d" /><Relationship Type="http://schemas.openxmlformats.org/officeDocument/2006/relationships/notesSlide" Target="/ppt/notesSlides/notesSlide21.xml" Id="Rd706237cf6614b1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7a9e21c377f4dfb" /><Relationship Type="http://schemas.openxmlformats.org/officeDocument/2006/relationships/image" Target="/ppt/media/image23.png" Id="R2fbbb37b828a436b" /><Relationship Type="http://schemas.openxmlformats.org/officeDocument/2006/relationships/notesSlide" Target="/ppt/notesSlides/notesSlide22.xml" Id="R6139bd81f3f3416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ad7115404a3448a" /><Relationship Type="http://schemas.openxmlformats.org/officeDocument/2006/relationships/image" Target="/ppt/media/image24.png" Id="Ra2e61d49b6274430" /><Relationship Type="http://schemas.openxmlformats.org/officeDocument/2006/relationships/notesSlide" Target="/ppt/notesSlides/notesSlide23.xml" Id="Rbb4435cec51542b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f7c2c85d01f4d03" /><Relationship Type="http://schemas.openxmlformats.org/officeDocument/2006/relationships/image" Target="/ppt/media/image25.png" Id="R3bbf676760924973" /><Relationship Type="http://schemas.openxmlformats.org/officeDocument/2006/relationships/notesSlide" Target="/ppt/notesSlides/notesSlide24.xml" Id="Ra09637bd899d437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1f86050b5474c11" /><Relationship Type="http://schemas.openxmlformats.org/officeDocument/2006/relationships/image" Target="/ppt/media/image26.png" Id="R735df3c178484d4f" /><Relationship Type="http://schemas.openxmlformats.org/officeDocument/2006/relationships/notesSlide" Target="/ppt/notesSlides/notesSlide25.xml" Id="R38cb0ffdfdef46c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b39b5fbc36d405f" /><Relationship Type="http://schemas.openxmlformats.org/officeDocument/2006/relationships/image" Target="/ppt/media/image27.png" Id="R427322a6f6c245c6" /><Relationship Type="http://schemas.openxmlformats.org/officeDocument/2006/relationships/notesSlide" Target="/ppt/notesSlides/notesSlide26.xml" Id="R513582b350604df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4e4967d03a24f51" /><Relationship Type="http://schemas.openxmlformats.org/officeDocument/2006/relationships/image" Target="/ppt/media/image28.png" Id="R488a06cda90243b8" /><Relationship Type="http://schemas.openxmlformats.org/officeDocument/2006/relationships/notesSlide" Target="/ppt/notesSlides/notesSlide27.xml" Id="R4ac9f0f266c9476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3f9076dfde64549" /><Relationship Type="http://schemas.openxmlformats.org/officeDocument/2006/relationships/image" Target="/ppt/media/image29.png" Id="R4306023329664078" /><Relationship Type="http://schemas.openxmlformats.org/officeDocument/2006/relationships/notesSlide" Target="/ppt/notesSlides/notesSlide28.xml" Id="Rd01eb47e693748f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a8c49ea61fa42c8" /><Relationship Type="http://schemas.openxmlformats.org/officeDocument/2006/relationships/image" Target="/ppt/media/image30.png" Id="Red6c9ea5a0854f2e" /><Relationship Type="http://schemas.openxmlformats.org/officeDocument/2006/relationships/notesSlide" Target="/ppt/notesSlides/notesSlide29.xml" Id="Rfe968803b6bb419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049aeb4fb8c4573" /><Relationship Type="http://schemas.openxmlformats.org/officeDocument/2006/relationships/image" Target="/ppt/media/image31.png" Id="R9c09669b4c5a4075" /><Relationship Type="http://schemas.openxmlformats.org/officeDocument/2006/relationships/notesSlide" Target="/ppt/notesSlides/notesSlide30.xml" Id="Re4a454909ead47b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548f8dc8aa54af6" /><Relationship Type="http://schemas.openxmlformats.org/officeDocument/2006/relationships/image" Target="/ppt/media/image32.png" Id="R02129e8d193b49f7" /><Relationship Type="http://schemas.openxmlformats.org/officeDocument/2006/relationships/notesSlide" Target="/ppt/notesSlides/notesSlide31.xml" Id="Rc1c6f8a926c0462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5902215b74240e1" /><Relationship Type="http://schemas.openxmlformats.org/officeDocument/2006/relationships/image" Target="/ppt/media/image33.png" Id="R03f709b3980343ce" /><Relationship Type="http://schemas.openxmlformats.org/officeDocument/2006/relationships/notesSlide" Target="/ppt/notesSlides/notesSlide32.xml" Id="R98f76337b96d4bd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ac5e9d1104b45db" /><Relationship Type="http://schemas.openxmlformats.org/officeDocument/2006/relationships/image" Target="/ppt/media/image34.png" Id="Ra1816402c13b41a0" /><Relationship Type="http://schemas.openxmlformats.org/officeDocument/2006/relationships/image" Target="/ppt/media/image35.png" Id="R4ceae1c34a9a4bfe" /><Relationship Type="http://schemas.openxmlformats.org/officeDocument/2006/relationships/notesSlide" Target="/ppt/notesSlides/notesSlide33.xml" Id="Ra231e014579e446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0812529c0b24868" /><Relationship Type="http://schemas.openxmlformats.org/officeDocument/2006/relationships/image" Target="/ppt/media/image36.png" Id="Rced132ca6eb14b64" /><Relationship Type="http://schemas.openxmlformats.org/officeDocument/2006/relationships/notesSlide" Target="/ppt/notesSlides/notesSlide34.xml" Id="R2e5677144184496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96612d28b884cde" /><Relationship Type="http://schemas.openxmlformats.org/officeDocument/2006/relationships/image" Target="/ppt/media/image37.png" Id="R260ffe55176046df" /><Relationship Type="http://schemas.openxmlformats.org/officeDocument/2006/relationships/notesSlide" Target="/ppt/notesSlides/notesSlide35.xml" Id="Rfdc3c1ee451948d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7e40969e6db4dd6" /><Relationship Type="http://schemas.openxmlformats.org/officeDocument/2006/relationships/image" Target="/ppt/media/image38.png" Id="Rf52c22bc04594c97" /><Relationship Type="http://schemas.openxmlformats.org/officeDocument/2006/relationships/notesSlide" Target="/ppt/notesSlides/notesSlide36.xml" Id="R8257e200e1324d8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fc2a7a83fc74023" /><Relationship Type="http://schemas.openxmlformats.org/officeDocument/2006/relationships/image" Target="/ppt/media/image39.png" Id="Rb1282c3db5fd46df" /><Relationship Type="http://schemas.openxmlformats.org/officeDocument/2006/relationships/notesSlide" Target="/ppt/notesSlides/notesSlide37.xml" Id="R3259a6bb15e640f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051c103c40d4f66" /><Relationship Type="http://schemas.openxmlformats.org/officeDocument/2006/relationships/image" Target="/ppt/media/image40.png" Id="R0ad6eb4b8a4b42b0" /><Relationship Type="http://schemas.openxmlformats.org/officeDocument/2006/relationships/notesSlide" Target="/ppt/notesSlides/notesSlide38.xml" Id="Re964791338ac4d6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6e8af9f2540463b" /><Relationship Type="http://schemas.openxmlformats.org/officeDocument/2006/relationships/image" Target="/ppt/media/image41.png" Id="Re9f38ad06b77425d" /><Relationship Type="http://schemas.openxmlformats.org/officeDocument/2006/relationships/notesSlide" Target="/ppt/notesSlides/notesSlide39.xml" Id="R6e8a83a6711545d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2fcbdee7ba445e0" /><Relationship Type="http://schemas.openxmlformats.org/officeDocument/2006/relationships/image" Target="/ppt/media/image42.png" Id="Rf864c6b3ae724ce0" /><Relationship Type="http://schemas.openxmlformats.org/officeDocument/2006/relationships/chart" Target="/ppt/slides/charts/chart1.xml" Id="R621e554b3d6449f8" /><Relationship Type="http://schemas.openxmlformats.org/officeDocument/2006/relationships/notesSlide" Target="/ppt/notesSlides/notesSlide40.xml" Id="R8f109a3f1f084be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92b7b1586de4d83" /><Relationship Type="http://schemas.openxmlformats.org/officeDocument/2006/relationships/image" Target="/ppt/media/image43.png" Id="Rcc807f2fa9b84bf0" /><Relationship Type="http://schemas.openxmlformats.org/officeDocument/2006/relationships/notesSlide" Target="/ppt/notesSlides/notesSlide41.xml" Id="R1d38ca784e894b2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5f946b686f3415a" /><Relationship Type="http://schemas.openxmlformats.org/officeDocument/2006/relationships/image" Target="/ppt/media/image44.png" Id="R90524988abfe4669" /><Relationship Type="http://schemas.openxmlformats.org/officeDocument/2006/relationships/notesSlide" Target="/ppt/notesSlides/notesSlide42.xml" Id="R522973ace43a4ef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1c2a9fde79944471" /><Relationship Type="http://schemas.openxmlformats.org/officeDocument/2006/relationships/image" Target="/ppt/media/image45.png" Id="R0005748911aa443a" /><Relationship Type="http://schemas.openxmlformats.org/officeDocument/2006/relationships/notesSlide" Target="/ppt/notesSlides/notesSlide43.xml" Id="Re7fabd0aef58420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fc467664abd4dad" /><Relationship Type="http://schemas.openxmlformats.org/officeDocument/2006/relationships/image" Target="/ppt/media/image46.png" Id="R3cc74d8928f341d9" /><Relationship Type="http://schemas.openxmlformats.org/officeDocument/2006/relationships/notesSlide" Target="/ppt/notesSlides/notesSlide44.xml" Id="R2c790e14362743d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3cc775e7a5c74680" /><Relationship Type="http://schemas.openxmlformats.org/officeDocument/2006/relationships/image" Target="/ppt/media/image47.png" Id="Rfb8f84a5329f4926" /><Relationship Type="http://schemas.openxmlformats.org/officeDocument/2006/relationships/notesSlide" Target="/ppt/notesSlides/notesSlide45.xml" Id="Rea81bb96fca1464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c7b3edae0cf14186" /><Relationship Type="http://schemas.openxmlformats.org/officeDocument/2006/relationships/image" Target="/ppt/media/image48.png" Id="R7233ec78dda344ae" /><Relationship Type="http://schemas.openxmlformats.org/officeDocument/2006/relationships/notesSlide" Target="/ppt/notesSlides/notesSlide46.xml" Id="R91028c2f12804c8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6875a95dc7b14719" /><Relationship Type="http://schemas.openxmlformats.org/officeDocument/2006/relationships/image" Target="/ppt/media/image49.png" Id="Rb903c0dc0dff4722" /><Relationship Type="http://schemas.openxmlformats.org/officeDocument/2006/relationships/notesSlide" Target="/ppt/notesSlides/notesSlide47.xml" Id="Rd55fb1cee76c4fc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f0053d94d3c349a2" /><Relationship Type="http://schemas.openxmlformats.org/officeDocument/2006/relationships/image" Target="/ppt/media/image50.png" Id="R6ad2739625f04f7f" /><Relationship Type="http://schemas.openxmlformats.org/officeDocument/2006/relationships/notesSlide" Target="/ppt/notesSlides/notesSlide48.xml" Id="R8279d4b74803402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Potencia / kW</c:v>
          </c:tx>
          <c:spPr>
            <a:solidFill xmlns:a="http://schemas.openxmlformats.org/drawingml/2006/main">
              <a:srgbClr val="244F3D"/>
            </a:solidFill>
            <a:ln xmlns:a="http://schemas.openxmlformats.org/drawingml/2006/main" w="28575">
              <a:solidFill>
                <a:srgbClr val="244F3D"/>
              </a:solidFill>
            </a:ln>
          </c:spPr>
          <c:marker>
            <c:symbol val="none"/>
          </c:marker>
          <c:cat>
            <c:strRef>
              <c:f>'Chart Data'!$A$2:$A$5</c:f>
              <c:strCache>
                <c:ptCount val="4"/>
                <c:pt idx="0">
                  <c:v>0 s</c:v>
                </c:pt>
                <c:pt idx="1">
                  <c:v>30 s</c:v>
                </c:pt>
                <c:pt idx="2">
                  <c:v>60 s</c:v>
                </c:pt>
                <c:pt idx="3">
                  <c:v>90 s</c:v>
                </c:pt>
              </c:strCache>
            </c:strRef>
          </c:cat>
          <c:val>
            <c:numRef>
              <c:f>'Chart Data'!$B$2:$B$5</c:f>
              <c:numCache>
                <c:formatCode>0.0</c:formatCode>
                <c:ptCount val="4"/>
                <c:pt idx="0">
                  <c:v>0</c:v>
                </c:pt>
                <c:pt idx="1">
                  <c:v>0.218</c:v>
                </c:pt>
                <c:pt idx="2">
                  <c:v>0.2954</c:v>
                </c:pt>
                <c:pt idx="3">
                  <c:v>0.1881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0.4"/>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Potencia / kW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5F"/>
                </a:solidFill>
                <a:latin typeface="Arial"/>
                <a:ea typeface="Arial"/>
                <a:cs typeface="Arial"/>
              </a:defRPr>
            </a:pPr>
          </a:p>
        </c:txPr>
        <c:crossAx val="48650112"/>
        <c:crossBetween val="between"/>
        <c:majorUnit val="0.1"/>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5EB3CA-2018-4854-8EC2-2945CC92FED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Taller presencial 1: ensamblaje visible y primera revisión</a:t>
            </a:r>
          </a:p>
        </p:txBody>
      </p:sp>
      <p:pic>
        <p:nvPicPr>
          <p:cNvPr id="2" name="">
            <a:extLst xmlns:a="http://schemas.openxmlformats.org/drawingml/2006/main">
              <a:ext uri="{FF2B5EF4-FFF2-40B4-BE49-F238E27FC236}">
                <a16:creationId xmlns:a16="http://schemas.microsoft.com/office/drawing/2014/main" id="{3C388CB1-DCBE-4762-B5BF-A0BAC2B827EF}"/>
              </a:ext>
            </a:extLst>
          </p:cNvPr>
          <p:cNvPicPr>
            <a:picLocks xmlns:a="http://schemas.openxmlformats.org/drawingml/2006/main" noChangeAspect="1"/>
          </p:cNvPicPr>
          <p:nvPr/>
        </p:nvPicPr>
        <p:blipFill>
          <a:blip xmlns:r="http://schemas.openxmlformats.org/officeDocument/2006/relationships" xmlns:a="http://schemas.openxmlformats.org/drawingml/2006/main" r:embed="Rb46b2e449d214c9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F23D49C-C1ED-4E30-9071-2949952D001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01/24</a:t>
            </a:r>
          </a:p>
        </p:txBody>
      </p:sp>
      <p:sp>
        <p:nvSpPr>
          <p:cNvPr id="4" name="">
            <a:extLst xmlns:a="http://schemas.openxmlformats.org/drawingml/2006/main">
              <a:ext uri="{FF2B5EF4-FFF2-40B4-BE49-F238E27FC236}">
                <a16:creationId xmlns:a16="http://schemas.microsoft.com/office/drawing/2014/main" id="{8568AC37-83B8-465C-AE17-9597465EB873}"/>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Reconstruir la secuencia de ensamblaje y justificar comprobaciones mecánicas, eléctricas y de configuración.</a:t>
            </a:r>
          </a:p>
        </p:txBody>
      </p:sp>
      <p:sp>
        <p:nvSpPr>
          <p:cNvPr id="5" name="">
            <a:extLst xmlns:a="http://schemas.openxmlformats.org/drawingml/2006/main">
              <a:ext uri="{FF2B5EF4-FFF2-40B4-BE49-F238E27FC236}">
                <a16:creationId xmlns:a16="http://schemas.microsoft.com/office/drawing/2014/main" id="{5960ADD3-6C05-462F-973D-DDECF85E2FF8}"/>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El estudiante observa un montaje real y entrega su secuencia de armado y revisión vinculada a las piezas mostradas.</a:t>
            </a:r>
          </a:p>
        </p:txBody>
      </p:sp>
      <p:sp>
        <p:nvSpPr>
          <p:cNvPr id="6" name="">
            <a:extLst xmlns:a="http://schemas.openxmlformats.org/drawingml/2006/main">
              <a:ext uri="{FF2B5EF4-FFF2-40B4-BE49-F238E27FC236}">
                <a16:creationId xmlns:a16="http://schemas.microsoft.com/office/drawing/2014/main" id="{1F52DE3A-3160-4EC0-B2EA-AF1EF1EF0A4F}"/>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PRESENCIAL DEMOSTRATIVO   4 HORAS</a:t>
            </a:r>
          </a:p>
        </p:txBody>
      </p:sp>
    </p:spTree>
    <p:extLst>
      <p:ext uri="{BB962C8B-B14F-4D97-AF65-F5344CB8AC3E}">
        <p14:creationId xmlns:p14="http://schemas.microsoft.com/office/powerpoint/2010/main" val="1652888469"/>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CA5D8D-9EAF-4CFF-893F-B7907A47F9D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expediente entra al taller</a:t>
            </a:r>
          </a:p>
        </p:txBody>
      </p:sp>
      <p:pic>
        <p:nvPicPr>
          <p:cNvPr id="2" name="">
            <a:extLst xmlns:a="http://schemas.openxmlformats.org/drawingml/2006/main">
              <a:ext uri="{FF2B5EF4-FFF2-40B4-BE49-F238E27FC236}">
                <a16:creationId xmlns:a16="http://schemas.microsoft.com/office/drawing/2014/main" id="{5EAA092D-41C8-45A6-BB1E-90BD07B79523}"/>
              </a:ext>
            </a:extLst>
          </p:cNvPr>
          <p:cNvPicPr>
            <a:picLocks xmlns:a="http://schemas.openxmlformats.org/drawingml/2006/main" noChangeAspect="1"/>
          </p:cNvPicPr>
          <p:nvPr/>
        </p:nvPicPr>
        <p:blipFill>
          <a:blip xmlns:r="http://schemas.openxmlformats.org/officeDocument/2006/relationships" xmlns:a="http://schemas.openxmlformats.org/drawingml/2006/main" r:embed="R0158e21ef6bb459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13CCD30-D7D8-4C62-B262-6699A9DE9E6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02/24</a:t>
            </a:r>
          </a:p>
        </p:txBody>
      </p:sp>
      <p:sp>
        <p:nvSpPr>
          <p:cNvPr id="4" name="">
            <a:extLst xmlns:a="http://schemas.openxmlformats.org/drawingml/2006/main">
              <a:ext uri="{FF2B5EF4-FFF2-40B4-BE49-F238E27FC236}">
                <a16:creationId xmlns:a16="http://schemas.microsoft.com/office/drawing/2014/main" id="{3425FC67-16EB-4C30-8F56-3593E48681F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montaje comienza con un objeto identificado: estructura, componentes, revisiones y documentación preparada. El docente tiene un equipo de demostración desmontado hasta el nivel que puede completar en cuatro horas y otro conjunto de referencia o de reserva cuando esté disponible. La práctica muestra decisiones y comprobaciones; no depende de construir simultáneamente un dron por cada uno de los 25–30 alumnos.</a:t>
            </a:r>
          </a:p>
        </p:txBody>
      </p:sp>
    </p:spTree>
    <p:extLst>
      <p:ext uri="{BB962C8B-B14F-4D97-AF65-F5344CB8AC3E}">
        <p14:creationId xmlns:p14="http://schemas.microsoft.com/office/powerpoint/2010/main" val="231651220"/>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7572BD-6F9C-4664-8BAE-F6F77AF6E08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Roles de observación por equipo</a:t>
            </a:r>
          </a:p>
        </p:txBody>
      </p:sp>
      <p:pic>
        <p:nvPicPr>
          <p:cNvPr id="2" name="">
            <a:extLst xmlns:a="http://schemas.openxmlformats.org/drawingml/2006/main">
              <a:ext uri="{FF2B5EF4-FFF2-40B4-BE49-F238E27FC236}">
                <a16:creationId xmlns:a16="http://schemas.microsoft.com/office/drawing/2014/main" id="{E4263BA1-379F-4C0F-A7AF-75FF538AC118}"/>
              </a:ext>
            </a:extLst>
          </p:cNvPr>
          <p:cNvPicPr>
            <a:picLocks xmlns:a="http://schemas.openxmlformats.org/drawingml/2006/main" noChangeAspect="1"/>
          </p:cNvPicPr>
          <p:nvPr/>
        </p:nvPicPr>
        <p:blipFill>
          <a:blip xmlns:r="http://schemas.openxmlformats.org/officeDocument/2006/relationships" xmlns:a="http://schemas.openxmlformats.org/drawingml/2006/main" r:embed="Ra837d6a50a07430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2586B68-3464-4829-9BEB-9B703734966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03/24</a:t>
            </a:r>
          </a:p>
        </p:txBody>
      </p:sp>
      <p:graphicFrame>
        <p:nvGraphicFramePr>
          <p:cNvPr id="4" name="">
            <a:extLst xmlns:a="http://schemas.openxmlformats.org/drawingml/2006/main">
              <a:ext uri="{FF2B5EF4-FFF2-40B4-BE49-F238E27FC236}">
                <a16:creationId xmlns:a16="http://schemas.microsoft.com/office/drawing/2014/main" id="{AC4E057A-8642-4656-9F84-0A2511614284}"/>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Rol</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registra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explica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Componentes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Modelo y revisión mostrados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Compatibilidad elegida</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Montaje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Orden y acceso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Razón de la secuencia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Electricidad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Origen, destino y medida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Esperado frente a observado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Configuración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Pantalla y correspondencia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Qué está representado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498559339"/>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C2E018-6FF6-4962-A281-E708389996D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El expediente entra al taller</a:t>
            </a:r>
          </a:p>
        </p:txBody>
      </p:sp>
      <p:pic>
        <p:nvPicPr>
          <p:cNvPr id="2" name="">
            <a:extLst xmlns:a="http://schemas.openxmlformats.org/drawingml/2006/main">
              <a:ext uri="{FF2B5EF4-FFF2-40B4-BE49-F238E27FC236}">
                <a16:creationId xmlns:a16="http://schemas.microsoft.com/office/drawing/2014/main" id="{F1ACAB2A-5E58-4697-A426-00D527459ADB}"/>
              </a:ext>
            </a:extLst>
          </p:cNvPr>
          <p:cNvPicPr>
            <a:picLocks xmlns:a="http://schemas.openxmlformats.org/drawingml/2006/main" noChangeAspect="1"/>
          </p:cNvPicPr>
          <p:nvPr/>
        </p:nvPicPr>
        <p:blipFill>
          <a:blip xmlns:r="http://schemas.openxmlformats.org/officeDocument/2006/relationships" xmlns:a="http://schemas.openxmlformats.org/drawingml/2006/main" r:embed="Rb8019d10a52549d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5C066BA-2EA2-4F5E-A292-92992E02C0E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04/24</a:t>
            </a:r>
          </a:p>
        </p:txBody>
      </p:sp>
      <p:sp>
        <p:nvSpPr>
          <p:cNvPr id="4" name="">
            <a:extLst xmlns:a="http://schemas.openxmlformats.org/drawingml/2006/main">
              <a:ext uri="{FF2B5EF4-FFF2-40B4-BE49-F238E27FC236}">
                <a16:creationId xmlns:a16="http://schemas.microsoft.com/office/drawing/2014/main" id="{EC8F9FE9-6F20-4B14-BEF7-F3FCCEAE0ED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Los alumnos se organizan en aproximadamente seis equipos de cuatro o cinco. Rotan los roles de observación y registro. Gerard conserva el control del banco energizado y de las herramientas de demostración; no se planifican varias estaciones de soldadura atendidas simultáneamente por un único docente. Si se habilita una práctica breve individual, se organiza aparte sobre muestras y según la capacidad real de supervisión.</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resultado académico de este presencial es explicar el proceso y sus pruebas con evidencia. Se distingue haber observado una técnica de haberla practicado personalmente. Esa precisión permite enseñar bien con los recursos disponibles y describir honestamente la experiencia del curso.</a:t>
            </a:r>
          </a:p>
        </p:txBody>
      </p:sp>
    </p:spTree>
    <p:extLst>
      <p:ext uri="{BB962C8B-B14F-4D97-AF65-F5344CB8AC3E}">
        <p14:creationId xmlns:p14="http://schemas.microsoft.com/office/powerpoint/2010/main" val="765701874"/>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638DEB-18F1-4C87-90C3-9B05542D1C5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Agenda de cuatro horas</a:t>
            </a:r>
          </a:p>
        </p:txBody>
      </p:sp>
      <p:pic>
        <p:nvPicPr>
          <p:cNvPr id="2" name="">
            <a:extLst xmlns:a="http://schemas.openxmlformats.org/drawingml/2006/main">
              <a:ext uri="{FF2B5EF4-FFF2-40B4-BE49-F238E27FC236}">
                <a16:creationId xmlns:a16="http://schemas.microsoft.com/office/drawing/2014/main" id="{5E312B1D-AB0A-4E3C-92AC-1AA9E3B22B48}"/>
              </a:ext>
            </a:extLst>
          </p:cNvPr>
          <p:cNvPicPr>
            <a:picLocks xmlns:a="http://schemas.openxmlformats.org/drawingml/2006/main" noChangeAspect="1"/>
          </p:cNvPicPr>
          <p:nvPr/>
        </p:nvPicPr>
        <p:blipFill>
          <a:blip xmlns:r="http://schemas.openxmlformats.org/officeDocument/2006/relationships" xmlns:a="http://schemas.openxmlformats.org/drawingml/2006/main" r:embed="Re6f632ab6c58449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9B78A82-89E3-40C4-9016-0145A629237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05/24</a:t>
            </a:r>
          </a:p>
        </p:txBody>
      </p:sp>
      <p:sp>
        <p:nvSpPr>
          <p:cNvPr id="4" name="">
            <a:extLst xmlns:a="http://schemas.openxmlformats.org/drawingml/2006/main">
              <a:ext uri="{FF2B5EF4-FFF2-40B4-BE49-F238E27FC236}">
                <a16:creationId xmlns:a16="http://schemas.microsoft.com/office/drawing/2014/main" id="{A44CA9E8-6EBB-4EB5-84BC-D59EF8E21F0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Las piezas y los conductores se preparan con anticipación, dejando visible una muestra completa de la operación que se desea enseñar. Una demostración de soldadura es más útil si se ve la superficie, el aporte y la revisión que si el grupo solo observa una placa ya terminada. La cámara de detalle o una pantalla permite que el fondo del aula siga el proceso.</a:t>
            </a:r>
          </a:p>
        </p:txBody>
      </p:sp>
    </p:spTree>
    <p:extLst>
      <p:ext uri="{BB962C8B-B14F-4D97-AF65-F5344CB8AC3E}">
        <p14:creationId xmlns:p14="http://schemas.microsoft.com/office/powerpoint/2010/main" val="512502228"/>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29AC87-1A3C-4EFC-9C1A-180D6CDA9AE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Taller presencial 1</a:t>
            </a:r>
          </a:p>
        </p:txBody>
      </p:sp>
      <p:pic>
        <p:nvPicPr>
          <p:cNvPr id="2" name="">
            <a:extLst xmlns:a="http://schemas.openxmlformats.org/drawingml/2006/main">
              <a:ext uri="{FF2B5EF4-FFF2-40B4-BE49-F238E27FC236}">
                <a16:creationId xmlns:a16="http://schemas.microsoft.com/office/drawing/2014/main" id="{BD25E214-2FE2-459A-9EEC-437C2450F827}"/>
              </a:ext>
            </a:extLst>
          </p:cNvPr>
          <p:cNvPicPr>
            <a:picLocks xmlns:a="http://schemas.openxmlformats.org/drawingml/2006/main" noChangeAspect="1"/>
          </p:cNvPicPr>
          <p:nvPr/>
        </p:nvPicPr>
        <p:blipFill>
          <a:blip xmlns:r="http://schemas.openxmlformats.org/officeDocument/2006/relationships" xmlns:a="http://schemas.openxmlformats.org/drawingml/2006/main" r:embed="R86d26736e4a047e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E6C68D9-BA1C-45CF-AD90-BDB534B2BAF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06/24</a:t>
            </a:r>
          </a:p>
        </p:txBody>
      </p:sp>
      <p:graphicFrame>
        <p:nvGraphicFramePr>
          <p:cNvPr id="4" name="">
            <a:extLst xmlns:a="http://schemas.openxmlformats.org/drawingml/2006/main">
              <a:ext uri="{FF2B5EF4-FFF2-40B4-BE49-F238E27FC236}">
                <a16:creationId xmlns:a16="http://schemas.microsoft.com/office/drawing/2014/main" id="{793C02DA-D58B-4400-93D8-8487D98F99D7}"/>
              </a:ext>
            </a:extLst>
          </p:cNvPr>
          <p:cNvGraphicFramePr/>
          <p:nvPr/>
        </p:nvGraphicFramePr>
        <p:xfrm>
          <a:off xmlns:a="http://schemas.openxmlformats.org/drawingml/2006/main" x="590550" y="1714500"/>
          <a:ext xmlns:a="http://schemas.openxmlformats.org/drawingml/2006/main" cx="11010900" cy="4114800"/>
        </p:xfrm>
        <a:graphic xmlns:a="http://schemas.openxmlformats.org/drawingml/2006/main">
          <a:graphicData uri="http://schemas.openxmlformats.org/drawingml/2006/table">
            <a:tbl>
              <a:tblPr/>
              <a:tblGrid>
                <a:gridCol w="1905000"/>
                <a:gridCol w="4552950"/>
                <a:gridCol w="4552950"/>
              </a:tblGrid>
              <a:tr h="587829">
                <a:tc>
                  <a:txBody>
                    <a:bodyPr/>
                    <a:lstStyle/>
                    <a:p>
                      <a:r>
                        <a:rPr sz="1725" b="1">
                          <a:solidFill>
                            <a:srgbClr val="FFFFFF"/>
                          </a:solidFill>
                          <a:latin typeface="Arial"/>
                          <a:ea typeface="Arial"/>
                          <a:cs typeface="Arial"/>
                        </a:rPr>
                        <a:t>Minutos</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725" b="1">
                          <a:solidFill>
                            <a:srgbClr val="FFFFFF"/>
                          </a:solidFill>
                          <a:latin typeface="Arial"/>
                          <a:ea typeface="Arial"/>
                          <a:cs typeface="Arial"/>
                        </a:rPr>
                        <a:t>Demostración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725" b="1">
                          <a:solidFill>
                            <a:srgbClr val="FFFFFF"/>
                          </a:solidFill>
                          <a:latin typeface="Arial"/>
                          <a:ea typeface="Arial"/>
                          <a:cs typeface="Arial"/>
                        </a:rPr>
                        <a:t>Evidencia del alumno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587829">
                <a:tc>
                  <a:txBody>
                    <a:bodyPr/>
                    <a:lstStyle/>
                    <a:p>
                      <a:r>
                        <a:rPr sz="1725" b="0">
                          <a:solidFill>
                            <a:srgbClr val="14231E"/>
                          </a:solidFill>
                          <a:latin typeface="Arial"/>
                          <a:ea typeface="Arial"/>
                          <a:cs typeface="Arial"/>
                        </a:rPr>
                        <a:t>0–25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Inventario y revisión del expediente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Lista contrastada</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25–70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Presentación mecánica y fijaciones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Secuencia y fotos identificadas</a:t>
                      </a:r>
                    </a:p>
                  </a:txBody>
                  <a:tcPr marL="91440" marR="91440" marT="45720" marB="45720">
                    <a:lnR w="9525">
                      <a:solidFill>
                        <a:srgbClr val="BFCEC3"/>
                      </a:solidFill>
                      <a:prstDash val="solid"/>
                    </a:lnR>
                    <a:lnB w="9525">
                      <a:solidFill>
                        <a:srgbClr val="BFCEC3"/>
                      </a:solidFill>
                      <a:prstDash val="solid"/>
                    </a:lnB>
                    <a:solidFill>
                      <a:srgbClr val="FCFCF8"/>
                    </a:solidFill>
                  </a:tcPr>
                </a:tc>
              </a:tr>
              <a:tr h="587829">
                <a:tc>
                  <a:txBody>
                    <a:bodyPr/>
                    <a:lstStyle/>
                    <a:p>
                      <a:r>
                        <a:rPr sz="1725" b="0">
                          <a:solidFill>
                            <a:srgbClr val="14231E"/>
                          </a:solidFill>
                          <a:latin typeface="Arial"/>
                          <a:ea typeface="Arial"/>
                          <a:cs typeface="Arial"/>
                        </a:rPr>
                        <a:t>70–115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Preparación de conductores y soldadura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Criterios de una unión</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115–160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Arnés y revisión sin energía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Tabla origen–destino</a:t>
                      </a:r>
                    </a:p>
                  </a:txBody>
                  <a:tcPr marL="91440" marR="91440" marT="45720" marB="45720">
                    <a:lnR w="9525">
                      <a:solidFill>
                        <a:srgbClr val="BFCEC3"/>
                      </a:solidFill>
                      <a:prstDash val="solid"/>
                    </a:lnR>
                    <a:lnB w="9525">
                      <a:solidFill>
                        <a:srgbClr val="BFCEC3"/>
                      </a:solidFill>
                      <a:prstDash val="solid"/>
                    </a:lnB>
                    <a:solidFill>
                      <a:srgbClr val="FCFCF8"/>
                    </a:solidFill>
                  </a:tcPr>
                </a:tc>
              </a:tr>
              <a:tr h="587829">
                <a:tc>
                  <a:txBody>
                    <a:bodyPr/>
                    <a:lstStyle/>
                    <a:p>
                      <a:r>
                        <a:rPr sz="1725" b="0">
                          <a:solidFill>
                            <a:srgbClr val="14231E"/>
                          </a:solidFill>
                          <a:latin typeface="Arial"/>
                          <a:ea typeface="Arial"/>
                          <a:cs typeface="Arial"/>
                        </a:rPr>
                        <a:t>160–215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Primera alimentación e inspección USB</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Resultado esperado y observado</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215–240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Correcciones y cierre</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Acta y preguntas para sesión 8</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497629276"/>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4C31E0-700E-4B6E-B4F4-A776FB93096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Agenda de cuatro horas</a:t>
            </a:r>
          </a:p>
        </p:txBody>
      </p:sp>
      <p:pic>
        <p:nvPicPr>
          <p:cNvPr id="2" name="">
            <a:extLst xmlns:a="http://schemas.openxmlformats.org/drawingml/2006/main">
              <a:ext uri="{FF2B5EF4-FFF2-40B4-BE49-F238E27FC236}">
                <a16:creationId xmlns:a16="http://schemas.microsoft.com/office/drawing/2014/main" id="{68A8B627-330B-468E-B88D-18EDE06EA0A4}"/>
              </a:ext>
            </a:extLst>
          </p:cNvPr>
          <p:cNvPicPr>
            <a:picLocks xmlns:a="http://schemas.openxmlformats.org/drawingml/2006/main" noChangeAspect="1"/>
          </p:cNvPicPr>
          <p:nvPr/>
        </p:nvPicPr>
        <p:blipFill>
          <a:blip xmlns:r="http://schemas.openxmlformats.org/officeDocument/2006/relationships" xmlns:a="http://schemas.openxmlformats.org/drawingml/2006/main" r:embed="Re02542cdf23d48d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8B06597-E895-40B8-8040-387FD56DCE7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07/24</a:t>
            </a:r>
          </a:p>
        </p:txBody>
      </p:sp>
      <p:sp>
        <p:nvSpPr>
          <p:cNvPr id="4" name="">
            <a:extLst xmlns:a="http://schemas.openxmlformats.org/drawingml/2006/main">
              <a:ext uri="{FF2B5EF4-FFF2-40B4-BE49-F238E27FC236}">
                <a16:creationId xmlns:a16="http://schemas.microsoft.com/office/drawing/2014/main" id="{2F1659DA-9038-427D-B6DC-72F374183AC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instructor prepara también un caso sin energía que represente un error: un cable sin etiqueta, un conector de referencia invertida en la ficha o una unión defectuosa sobre muestra. La discusión termina con un criterio de corrección, sin introducir ese defecto en el vehículo que se pretende volar. El calendario deja el vuelo para la sesión 8.</a:t>
            </a:r>
          </a:p>
        </p:txBody>
      </p:sp>
    </p:spTree>
    <p:extLst>
      <p:ext uri="{BB962C8B-B14F-4D97-AF65-F5344CB8AC3E}">
        <p14:creationId xmlns:p14="http://schemas.microsoft.com/office/powerpoint/2010/main" val="1661556927"/>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7C9313-D3DA-4B7A-9A9C-12CCF0C71BF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Ensamblaje: las decisiones que deben verse</a:t>
            </a:r>
          </a:p>
        </p:txBody>
      </p:sp>
      <p:pic>
        <p:nvPicPr>
          <p:cNvPr id="2" name="">
            <a:extLst xmlns:a="http://schemas.openxmlformats.org/drawingml/2006/main">
              <a:ext uri="{FF2B5EF4-FFF2-40B4-BE49-F238E27FC236}">
                <a16:creationId xmlns:a16="http://schemas.microsoft.com/office/drawing/2014/main" id="{A0333E31-5F8C-46F5-87F1-79D930906F24}"/>
              </a:ext>
            </a:extLst>
          </p:cNvPr>
          <p:cNvPicPr>
            <a:picLocks xmlns:a="http://schemas.openxmlformats.org/drawingml/2006/main" noChangeAspect="1"/>
          </p:cNvPicPr>
          <p:nvPr/>
        </p:nvPicPr>
        <p:blipFill>
          <a:blip xmlns:r="http://schemas.openxmlformats.org/officeDocument/2006/relationships" xmlns:a="http://schemas.openxmlformats.org/drawingml/2006/main" r:embed="R769c6141c2814b0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3E5461-C7E9-48E0-ABCE-0CF679510B2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08/24</a:t>
            </a:r>
          </a:p>
        </p:txBody>
      </p:sp>
      <p:sp>
        <p:nvSpPr>
          <p:cNvPr id="4" name="">
            <a:extLst xmlns:a="http://schemas.openxmlformats.org/drawingml/2006/main">
              <a:ext uri="{FF2B5EF4-FFF2-40B4-BE49-F238E27FC236}">
                <a16:creationId xmlns:a16="http://schemas.microsoft.com/office/drawing/2014/main" id="{A9FFD4FF-B9F3-432F-85FD-541B19D00D7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No se establece un par de apriete universal ni se recomienda un fijador para todos los materiales. La demostración usa las indicaciones del fabricante y la herramienta apropiada. El alumno aprende a localizar el dato o a declarar que necesita consultarlo. Una pieza aparentemente firme puede seguir teniendo un montaje incorrecto si un tornillo invade el motor o una arista actúa sobre un cable.</a:t>
            </a:r>
          </a:p>
        </p:txBody>
      </p:sp>
    </p:spTree>
    <p:extLst>
      <p:ext uri="{BB962C8B-B14F-4D97-AF65-F5344CB8AC3E}">
        <p14:creationId xmlns:p14="http://schemas.microsoft.com/office/powerpoint/2010/main" val="883011475"/>
      </p:ext>
    </p:extLst>
  </p:cSld>
</p:sld>
</file>

<file path=ppt/slides/slide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6EE41C-DC65-4450-A2F1-7034C997DDA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71D142F3-EECD-4856-ADEE-36117505F5BE}"/>
              </a:ext>
            </a:extLst>
          </p:cNvPr>
          <p:cNvPicPr>
            <a:picLocks xmlns:a="http://schemas.openxmlformats.org/drawingml/2006/main" noChangeAspect="1"/>
          </p:cNvPicPr>
          <p:nvPr/>
        </p:nvPicPr>
        <p:blipFill>
          <a:blip xmlns:r="http://schemas.openxmlformats.org/officeDocument/2006/relationships" xmlns:a="http://schemas.openxmlformats.org/drawingml/2006/main" r:embed="Ra9fead7214ea4f9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663F4CC-DA4E-49E5-AC4D-BB593468501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09/24</a:t>
            </a:r>
          </a:p>
        </p:txBody>
      </p:sp>
      <p:sp>
        <p:nvSpPr>
          <p:cNvPr id="4" name="">
            <a:extLst xmlns:a="http://schemas.openxmlformats.org/drawingml/2006/main">
              <a:ext uri="{FF2B5EF4-FFF2-40B4-BE49-F238E27FC236}">
                <a16:creationId xmlns:a16="http://schemas.microsoft.com/office/drawing/2014/main" id="{10EA4ADE-ADAC-4A69-8DE6-EDD87F3620EB}"/>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Una placa tapa el arnés al cerrar el bastidor. ¿Qué conviene conservar antes?</a:t>
            </a:r>
          </a:p>
        </p:txBody>
      </p:sp>
      <p:sp>
        <p:nvSpPr>
          <p:cNvPr id="5" name="">
            <a:extLst xmlns:a="http://schemas.openxmlformats.org/drawingml/2006/main">
              <a:ext uri="{FF2B5EF4-FFF2-40B4-BE49-F238E27FC236}">
                <a16:creationId xmlns:a16="http://schemas.microsoft.com/office/drawing/2014/main" id="{E2085CBC-2DA4-4286-8B1A-CFE124247903}"/>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Contrastar arnés y alimentación con el esquema, antes de energizar.</a:t>
            </a:r>
          </a:p>
        </p:txBody>
      </p:sp>
    </p:spTree>
    <p:extLst>
      <p:ext uri="{BB962C8B-B14F-4D97-AF65-F5344CB8AC3E}">
        <p14:creationId xmlns:p14="http://schemas.microsoft.com/office/powerpoint/2010/main" val="87446181"/>
      </p:ext>
    </p:extLst>
  </p:cSld>
</p:sld>
</file>

<file path=ppt/slides/slide1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E30D97-31A8-4ADF-BB11-5A02DB70439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La evidencia que se pierde</a:t>
            </a:r>
          </a:p>
        </p:txBody>
      </p:sp>
      <p:pic>
        <p:nvPicPr>
          <p:cNvPr id="2" name="">
            <a:extLst xmlns:a="http://schemas.openxmlformats.org/drawingml/2006/main">
              <a:ext uri="{FF2B5EF4-FFF2-40B4-BE49-F238E27FC236}">
                <a16:creationId xmlns:a16="http://schemas.microsoft.com/office/drawing/2014/main" id="{688AB14E-EAEF-4A73-BA21-8F9114E74D42}"/>
              </a:ext>
            </a:extLst>
          </p:cNvPr>
          <p:cNvPicPr>
            <a:picLocks xmlns:a="http://schemas.openxmlformats.org/drawingml/2006/main" noChangeAspect="1"/>
          </p:cNvPicPr>
          <p:nvPr/>
        </p:nvPicPr>
        <p:blipFill>
          <a:blip xmlns:r="http://schemas.openxmlformats.org/officeDocument/2006/relationships" xmlns:a="http://schemas.openxmlformats.org/drawingml/2006/main" r:embed="Rbbcaa14d2afb4bc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E38C3F-0F7E-44D2-A4D1-EB2D03B3AFF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10/24</a:t>
            </a:r>
          </a:p>
        </p:txBody>
      </p:sp>
      <p:sp>
        <p:nvSpPr>
          <p:cNvPr id="4" name="">
            <a:extLst xmlns:a="http://schemas.openxmlformats.org/drawingml/2006/main">
              <a:ext uri="{FF2B5EF4-FFF2-40B4-BE49-F238E27FC236}">
                <a16:creationId xmlns:a16="http://schemas.microsoft.com/office/drawing/2014/main" id="{4BD4423A-A933-4B53-A287-76A17729A25E}"/>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Una placa tapa el arnés al cerrar el bastidor. ¿Qué conviene conservar antes?</a:t>
            </a:r>
          </a:p>
        </p:txBody>
      </p:sp>
      <p:sp>
        <p:nvSpPr>
          <p:cNvPr id="5" name="">
            <a:extLst xmlns:a="http://schemas.openxmlformats.org/drawingml/2006/main">
              <a:ext uri="{FF2B5EF4-FFF2-40B4-BE49-F238E27FC236}">
                <a16:creationId xmlns:a16="http://schemas.microsoft.com/office/drawing/2014/main" id="{39F0246E-896C-48DD-BBE2-D388CBBB787E}"/>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La correspondencia de contactos, la inspección y una foto del recorrido con las referencias visibles. No se reemplaza el esquema por una fotografía borrosa.</a:t>
            </a:r>
          </a:p>
        </p:txBody>
      </p:sp>
    </p:spTree>
    <p:extLst>
      <p:ext uri="{BB962C8B-B14F-4D97-AF65-F5344CB8AC3E}">
        <p14:creationId xmlns:p14="http://schemas.microsoft.com/office/powerpoint/2010/main" val="586919718"/>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A98E15-9500-4F15-AFAF-63EBD1B3712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Revisión eléctrica y encendido controlado</a:t>
            </a:r>
          </a:p>
        </p:txBody>
      </p:sp>
      <p:pic>
        <p:nvPicPr>
          <p:cNvPr id="2" name="">
            <a:extLst xmlns:a="http://schemas.openxmlformats.org/drawingml/2006/main">
              <a:ext uri="{FF2B5EF4-FFF2-40B4-BE49-F238E27FC236}">
                <a16:creationId xmlns:a16="http://schemas.microsoft.com/office/drawing/2014/main" id="{1B300670-AA29-417E-846E-82A3A87D335C}"/>
              </a:ext>
            </a:extLst>
          </p:cNvPr>
          <p:cNvPicPr>
            <a:picLocks xmlns:a="http://schemas.openxmlformats.org/drawingml/2006/main" noChangeAspect="1"/>
          </p:cNvPicPr>
          <p:nvPr/>
        </p:nvPicPr>
        <p:blipFill>
          <a:blip xmlns:r="http://schemas.openxmlformats.org/officeDocument/2006/relationships" xmlns:a="http://schemas.openxmlformats.org/drawingml/2006/main" r:embed="Rcbcea4b86064463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69DBD64-1090-4E7F-8E53-C2F009804F5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11/24</a:t>
            </a:r>
          </a:p>
        </p:txBody>
      </p:sp>
      <p:sp>
        <p:nvSpPr>
          <p:cNvPr id="4" name="">
            <a:extLst xmlns:a="http://schemas.openxmlformats.org/drawingml/2006/main">
              <a:ext uri="{FF2B5EF4-FFF2-40B4-BE49-F238E27FC236}">
                <a16:creationId xmlns:a16="http://schemas.microsoft.com/office/drawing/2014/main" id="{415962CF-AC47-41DF-84E2-F38162CAA44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Con el conjunto sin batería se revisan polaridad, continuidad según circuito, contactos y aislamiento. Después se observa una primera alimentación con el método de limitación o supervisión apropiado al banco. Se comprueban las tensiones de las líneas que alimentarán cargas sensibles. Un comportamiento inesperado se registra y se investiga antes de continuar. La lectura del multímetro necesita indicar los dos puntos medidos.</a:t>
            </a:r>
          </a:p>
        </p:txBody>
      </p:sp>
    </p:spTree>
    <p:extLst>
      <p:ext uri="{BB962C8B-B14F-4D97-AF65-F5344CB8AC3E}">
        <p14:creationId xmlns:p14="http://schemas.microsoft.com/office/powerpoint/2010/main" val="742417430"/>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11320B-DCF1-4A1C-8208-A0AE19845B7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Revisión eléctrica y encendido controlado</a:t>
            </a:r>
          </a:p>
        </p:txBody>
      </p:sp>
      <p:pic>
        <p:nvPicPr>
          <p:cNvPr id="2" name="">
            <a:extLst xmlns:a="http://schemas.openxmlformats.org/drawingml/2006/main">
              <a:ext uri="{FF2B5EF4-FFF2-40B4-BE49-F238E27FC236}">
                <a16:creationId xmlns:a16="http://schemas.microsoft.com/office/drawing/2014/main" id="{F89CDCDB-4D70-46B6-81C7-850C09FD981D}"/>
              </a:ext>
            </a:extLst>
          </p:cNvPr>
          <p:cNvPicPr>
            <a:picLocks xmlns:a="http://schemas.openxmlformats.org/drawingml/2006/main" noChangeAspect="1"/>
          </p:cNvPicPr>
          <p:nvPr/>
        </p:nvPicPr>
        <p:blipFill>
          <a:blip xmlns:r="http://schemas.openxmlformats.org/officeDocument/2006/relationships" xmlns:a="http://schemas.openxmlformats.org/drawingml/2006/main" r:embed="Rf8238c6be196457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0239D1B-3BAF-48F7-BC63-B27D3BC8CB0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12/24</a:t>
            </a:r>
          </a:p>
        </p:txBody>
      </p:sp>
      <p:pic>
        <p:nvPicPr>
          <p:cNvPr id="4" name="">
            <a:extLst xmlns:a="http://schemas.openxmlformats.org/drawingml/2006/main">
              <a:ext uri="{FF2B5EF4-FFF2-40B4-BE49-F238E27FC236}">
                <a16:creationId xmlns:a16="http://schemas.microsoft.com/office/drawing/2014/main" id="{AAAA124A-843F-4898-BFE7-6003D98660F2}"/>
              </a:ext>
            </a:extLst>
          </p:cNvPr>
          <p:cNvPicPr>
            <a:picLocks xmlns:a="http://schemas.openxmlformats.org/drawingml/2006/main" noChangeAspect="1"/>
          </p:cNvPicPr>
          <p:nvPr/>
        </p:nvPicPr>
        <p:blipFill>
          <a:blip xmlns:r="http://schemas.openxmlformats.org/officeDocument/2006/relationships" xmlns:a="http://schemas.openxmlformats.org/drawingml/2006/main" r:embed="R697150f6468d43e8"/>
          <a:stretch xmlns:a="http://schemas.openxmlformats.org/drawingml/2006/main"/>
        </p:blipFill>
        <p:spPr>
          <a:xfrm xmlns:a="http://schemas.openxmlformats.org/drawingml/2006/main">
            <a:off x="590550" y="2290462"/>
            <a:ext cx="7410450" cy="269617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0652706-C99D-40A7-95C8-CFDCE43829B9}"/>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Los contactos pertenecen al equipo ilustrado. Contrasta el manual del modelo real.</a:t>
            </a:r>
          </a:p>
        </p:txBody>
      </p:sp>
      <p:sp>
        <p:nvSpPr>
          <p:cNvPr id="6" name="">
            <a:extLst xmlns:a="http://schemas.openxmlformats.org/drawingml/2006/main">
              <a:ext uri="{FF2B5EF4-FFF2-40B4-BE49-F238E27FC236}">
                <a16:creationId xmlns:a16="http://schemas.microsoft.com/office/drawing/2014/main" id="{69B08151-DF15-4F0C-89D0-8D2728E51886}"/>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Salidas numeradas de un Pixhawk de referencia documental. Se usa para explicar identificación de contactos; el arnés real del taller se verifica con su propio manual.</a:t>
            </a:r>
          </a:p>
        </p:txBody>
      </p:sp>
    </p:spTree>
    <p:extLst>
      <p:ext uri="{BB962C8B-B14F-4D97-AF65-F5344CB8AC3E}">
        <p14:creationId xmlns:p14="http://schemas.microsoft.com/office/powerpoint/2010/main" val="1225980302"/>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92E2FC-E7E9-4AB9-8199-2C6E0AA4352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Registro de primera alimentación</a:t>
            </a:r>
          </a:p>
        </p:txBody>
      </p:sp>
      <p:pic>
        <p:nvPicPr>
          <p:cNvPr id="2" name="">
            <a:extLst xmlns:a="http://schemas.openxmlformats.org/drawingml/2006/main">
              <a:ext uri="{FF2B5EF4-FFF2-40B4-BE49-F238E27FC236}">
                <a16:creationId xmlns:a16="http://schemas.microsoft.com/office/drawing/2014/main" id="{3BF48E94-0760-4864-8C10-D0C28260F139}"/>
              </a:ext>
            </a:extLst>
          </p:cNvPr>
          <p:cNvPicPr>
            <a:picLocks xmlns:a="http://schemas.openxmlformats.org/drawingml/2006/main" noChangeAspect="1"/>
          </p:cNvPicPr>
          <p:nvPr/>
        </p:nvPicPr>
        <p:blipFill>
          <a:blip xmlns:r="http://schemas.openxmlformats.org/officeDocument/2006/relationships" xmlns:a="http://schemas.openxmlformats.org/drawingml/2006/main" r:embed="R93cfdad51d584ca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13D6492-836E-4E68-8B55-83D930570DC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13/24</a:t>
            </a:r>
          </a:p>
        </p:txBody>
      </p:sp>
      <p:graphicFrame>
        <p:nvGraphicFramePr>
          <p:cNvPr id="4" name="">
            <a:extLst xmlns:a="http://schemas.openxmlformats.org/drawingml/2006/main">
              <a:ext uri="{FF2B5EF4-FFF2-40B4-BE49-F238E27FC236}">
                <a16:creationId xmlns:a16="http://schemas.microsoft.com/office/drawing/2014/main" id="{04A08122-FBBC-4F7D-BCB1-FF09C6EBB715}"/>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Dato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Esperado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Observado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Entrada del sistema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Según paquete y manual</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Medida del taller</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Línea regulada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Especificación de esa salida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Medida y referencia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Estado de la FC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Inicio reconocido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Indicadores y conexión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Comportamiento anormal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Criterio de interrupción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Síntoma y acción</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311303510"/>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7A9959-95FD-4E95-99E8-181B9B9AC07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Configuración que corresponde al montaje</a:t>
            </a:r>
          </a:p>
        </p:txBody>
      </p:sp>
      <p:pic>
        <p:nvPicPr>
          <p:cNvPr id="2" name="">
            <a:extLst xmlns:a="http://schemas.openxmlformats.org/drawingml/2006/main">
              <a:ext uri="{FF2B5EF4-FFF2-40B4-BE49-F238E27FC236}">
                <a16:creationId xmlns:a16="http://schemas.microsoft.com/office/drawing/2014/main" id="{242BDE6F-6265-4E9D-A5E6-237EBA11725C}"/>
              </a:ext>
            </a:extLst>
          </p:cNvPr>
          <p:cNvPicPr>
            <a:picLocks xmlns:a="http://schemas.openxmlformats.org/drawingml/2006/main" noChangeAspect="1"/>
          </p:cNvPicPr>
          <p:nvPr/>
        </p:nvPicPr>
        <p:blipFill>
          <a:blip xmlns:r="http://schemas.openxmlformats.org/officeDocument/2006/relationships" xmlns:a="http://schemas.openxmlformats.org/drawingml/2006/main" r:embed="Rd9964f2d6b754b3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E6A15A2-D21C-4DFD-AF11-1C002B33989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14/24</a:t>
            </a:r>
          </a:p>
        </p:txBody>
      </p:sp>
      <p:sp>
        <p:nvSpPr>
          <p:cNvPr id="4" name="">
            <a:extLst xmlns:a="http://schemas.openxmlformats.org/drawingml/2006/main">
              <a:ext uri="{FF2B5EF4-FFF2-40B4-BE49-F238E27FC236}">
                <a16:creationId xmlns:a16="http://schemas.microsoft.com/office/drawing/2014/main" id="{04EF8AAD-3E26-4074-8887-1E6AE54403B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vez identificada la alimentación, la conexión USB permite contrastar placa, versión y estado con el expediente. Se recupera la copia de configuración adecuada al vehículo, se verifica orientación y se relaciona el puerto del receptor con el esquema. Los cambios se anotan. No se carga un archivo de otro dron solo porque ambos tienen cuatro motores.</a:t>
            </a:r>
          </a:p>
        </p:txBody>
      </p:sp>
    </p:spTree>
    <p:extLst>
      <p:ext uri="{BB962C8B-B14F-4D97-AF65-F5344CB8AC3E}">
        <p14:creationId xmlns:p14="http://schemas.microsoft.com/office/powerpoint/2010/main" val="1936574951"/>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D77F43-7D0D-438F-A5EF-3F58FDC98E4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Traspaso a la última sesión</a:t>
            </a:r>
          </a:p>
        </p:txBody>
      </p:sp>
      <p:pic>
        <p:nvPicPr>
          <p:cNvPr id="2" name="">
            <a:extLst xmlns:a="http://schemas.openxmlformats.org/drawingml/2006/main">
              <a:ext uri="{FF2B5EF4-FFF2-40B4-BE49-F238E27FC236}">
                <a16:creationId xmlns:a16="http://schemas.microsoft.com/office/drawing/2014/main" id="{9F06CDB9-D9C5-4D5B-8E9F-47908C8DA740}"/>
              </a:ext>
            </a:extLst>
          </p:cNvPr>
          <p:cNvPicPr>
            <a:picLocks xmlns:a="http://schemas.openxmlformats.org/drawingml/2006/main" noChangeAspect="1"/>
          </p:cNvPicPr>
          <p:nvPr/>
        </p:nvPicPr>
        <p:blipFill>
          <a:blip xmlns:r="http://schemas.openxmlformats.org/officeDocument/2006/relationships" xmlns:a="http://schemas.openxmlformats.org/drawingml/2006/main" r:embed="R080373de29f8483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4ABA50A-CFCD-4DAA-AA4F-9667531AF2E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15/24</a:t>
            </a:r>
          </a:p>
        </p:txBody>
      </p:sp>
      <p:graphicFrame>
        <p:nvGraphicFramePr>
          <p:cNvPr id="4" name="">
            <a:extLst xmlns:a="http://schemas.openxmlformats.org/drawingml/2006/main">
              <a:ext uri="{FF2B5EF4-FFF2-40B4-BE49-F238E27FC236}">
                <a16:creationId xmlns:a16="http://schemas.microsoft.com/office/drawing/2014/main" id="{FE01A61A-AACA-4F8E-AD1F-4E9004C3D709}"/>
              </a:ext>
            </a:extLst>
          </p:cNvPr>
          <p:cNvGraphicFramePr/>
          <p:nvPr/>
        </p:nvGraphicFramePr>
        <p:xfrm>
          <a:off xmlns:a="http://schemas.openxmlformats.org/drawingml/2006/main" x="590550" y="1714500"/>
          <a:ext xmlns:a="http://schemas.openxmlformats.org/drawingml/2006/main" cx="11010900" cy="4114800"/>
        </p:xfrm>
        <a:graphic xmlns:a="http://schemas.openxmlformats.org/drawingml/2006/main">
          <a:graphicData uri="http://schemas.openxmlformats.org/drawingml/2006/table">
            <a:tbl>
              <a:tblPr/>
              <a:tblGrid>
                <a:gridCol w="4381500"/>
                <a:gridCol w="6629400"/>
              </a:tblGrid>
              <a:tr h="685800">
                <a:tc>
                  <a:txBody>
                    <a:bodyPr/>
                    <a:lstStyle/>
                    <a:p>
                      <a:r>
                        <a:rPr sz="1875" b="1">
                          <a:solidFill>
                            <a:srgbClr val="FFFFFF"/>
                          </a:solidFill>
                          <a:latin typeface="Arial"/>
                          <a:ea typeface="Arial"/>
                          <a:cs typeface="Arial"/>
                        </a:rPr>
                        <a:t>Elemento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debe quedar listo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85800">
                <a:tc>
                  <a:txBody>
                    <a:bodyPr/>
                    <a:lstStyle/>
                    <a:p>
                      <a:r>
                        <a:rPr sz="1875" b="0">
                          <a:solidFill>
                            <a:srgbClr val="14231E"/>
                          </a:solidFill>
                          <a:latin typeface="Arial"/>
                          <a:ea typeface="Arial"/>
                          <a:cs typeface="Arial"/>
                        </a:rPr>
                        <a:t>Montaje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Fijaciones y recorrido revisados</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Electricidad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Pinout y primera alimentación documentados</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Software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Equipo, versión y copia identificados</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Pendientes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Causa y comprobación siguiente</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Vuelo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Vehículo de demostración elegido por el docente</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171985904"/>
      </p:ext>
    </p:extLst>
  </p:cSld>
</p:sld>
</file>

<file path=ppt/slides/slide1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25A00B-E071-4A0F-A124-ADD2BD8D1F8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Armado y aceptado</a:t>
            </a:r>
          </a:p>
        </p:txBody>
      </p:sp>
      <p:pic>
        <p:nvPicPr>
          <p:cNvPr id="2" name="">
            <a:extLst xmlns:a="http://schemas.openxmlformats.org/drawingml/2006/main">
              <a:ext uri="{FF2B5EF4-FFF2-40B4-BE49-F238E27FC236}">
                <a16:creationId xmlns:a16="http://schemas.microsoft.com/office/drawing/2014/main" id="{8204944B-1DDB-4D16-80BF-28FE6A8AD515}"/>
              </a:ext>
            </a:extLst>
          </p:cNvPr>
          <p:cNvPicPr>
            <a:picLocks xmlns:a="http://schemas.openxmlformats.org/drawingml/2006/main" noChangeAspect="1"/>
          </p:cNvPicPr>
          <p:nvPr/>
        </p:nvPicPr>
        <p:blipFill>
          <a:blip xmlns:r="http://schemas.openxmlformats.org/officeDocument/2006/relationships" xmlns:a="http://schemas.openxmlformats.org/drawingml/2006/main" r:embed="R45089fd611844da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C4D08E3-5A91-475C-86C5-A8C0C443BBD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16/24</a:t>
            </a:r>
          </a:p>
        </p:txBody>
      </p:sp>
      <p:sp>
        <p:nvSpPr>
          <p:cNvPr id="4" name="">
            <a:extLst xmlns:a="http://schemas.openxmlformats.org/drawingml/2006/main">
              <a:ext uri="{FF2B5EF4-FFF2-40B4-BE49-F238E27FC236}">
                <a16:creationId xmlns:a16="http://schemas.microsoft.com/office/drawing/2014/main" id="{5609979E-F000-4903-9F32-BB307F4B87A0}"/>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El dron enciende y la aplicación conecta. ¿Ya pasó todas las pruebas?</a:t>
            </a:r>
          </a:p>
        </p:txBody>
      </p:sp>
      <p:sp>
        <p:nvSpPr>
          <p:cNvPr id="5" name="">
            <a:extLst xmlns:a="http://schemas.openxmlformats.org/drawingml/2006/main">
              <a:ext uri="{FF2B5EF4-FFF2-40B4-BE49-F238E27FC236}">
                <a16:creationId xmlns:a16="http://schemas.microsoft.com/office/drawing/2014/main" id="{7B098DE3-C7EF-409D-BE79-E5A16D4FFC52}"/>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Falta contrastar canales, salidas, sentidos, modos y las condiciones previstas para la demostración. La sesión 8 parte del acta de este taller.</a:t>
            </a:r>
          </a:p>
        </p:txBody>
      </p:sp>
    </p:spTree>
    <p:extLst>
      <p:ext uri="{BB962C8B-B14F-4D97-AF65-F5344CB8AC3E}">
        <p14:creationId xmlns:p14="http://schemas.microsoft.com/office/powerpoint/2010/main" val="400777282"/>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4C17B4-3621-49C3-B2D0-D0F424AC6F9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Cierre y discusión del taller</a:t>
            </a:r>
          </a:p>
        </p:txBody>
      </p:sp>
      <p:pic>
        <p:nvPicPr>
          <p:cNvPr id="2" name="">
            <a:extLst xmlns:a="http://schemas.openxmlformats.org/drawingml/2006/main">
              <a:ext uri="{FF2B5EF4-FFF2-40B4-BE49-F238E27FC236}">
                <a16:creationId xmlns:a16="http://schemas.microsoft.com/office/drawing/2014/main" id="{79CD5900-FE72-4E1C-A3E3-1C8B55A8325F}"/>
              </a:ext>
            </a:extLst>
          </p:cNvPr>
          <p:cNvPicPr>
            <a:picLocks xmlns:a="http://schemas.openxmlformats.org/drawingml/2006/main" noChangeAspect="1"/>
          </p:cNvPicPr>
          <p:nvPr/>
        </p:nvPicPr>
        <p:blipFill>
          <a:blip xmlns:r="http://schemas.openxmlformats.org/officeDocument/2006/relationships" xmlns:a="http://schemas.openxmlformats.org/drawingml/2006/main" r:embed="R4dc70b9106c047a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C5A5447-08AC-48D2-8D1F-48764069867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17/24</a:t>
            </a:r>
          </a:p>
        </p:txBody>
      </p:sp>
      <p:sp>
        <p:nvSpPr>
          <p:cNvPr id="4" name="">
            <a:extLst xmlns:a="http://schemas.openxmlformats.org/drawingml/2006/main">
              <a:ext uri="{FF2B5EF4-FFF2-40B4-BE49-F238E27FC236}">
                <a16:creationId xmlns:a16="http://schemas.microsoft.com/office/drawing/2014/main" id="{2605AD3D-C77F-42B1-B0B1-3C899FC05AF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evaluación valora la explicación del proceso y la calidad del registro. Una fotografía de una soldadura no demuestra por sí sola que su autor domine la técnica. Si más adelante MECRO ofrece un taller de práctica individual, tendrá otra organización de puestos, herramientas y supervisión. En este curso la descripción comercial conserva el carácter demostrativo de ambos presenciales.</a:t>
            </a:r>
          </a:p>
        </p:txBody>
      </p:sp>
    </p:spTree>
    <p:extLst>
      <p:ext uri="{BB962C8B-B14F-4D97-AF65-F5344CB8AC3E}">
        <p14:creationId xmlns:p14="http://schemas.microsoft.com/office/powerpoint/2010/main" val="990370002"/>
      </p:ext>
    </p:extLst>
  </p:cSld>
</p:sld>
</file>

<file path=ppt/slides/slide1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A44928-6720-4AEB-AEDC-C1AA3C68D4A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54932693-C4D0-4182-9FDF-4FDD42C2A465}"/>
              </a:ext>
            </a:extLst>
          </p:cNvPr>
          <p:cNvPicPr>
            <a:picLocks xmlns:a="http://schemas.openxmlformats.org/drawingml/2006/main" noChangeAspect="1"/>
          </p:cNvPicPr>
          <p:nvPr/>
        </p:nvPicPr>
        <p:blipFill>
          <a:blip xmlns:r="http://schemas.openxmlformats.org/officeDocument/2006/relationships" xmlns:a="http://schemas.openxmlformats.org/drawingml/2006/main" r:embed="R6a42c26634ae4be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451A39F-2338-40CF-B597-92AD7B5E468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18/24</a:t>
            </a:r>
          </a:p>
        </p:txBody>
      </p:sp>
      <p:sp>
        <p:nvSpPr>
          <p:cNvPr id="4" name="">
            <a:extLst xmlns:a="http://schemas.openxmlformats.org/drawingml/2006/main">
              <a:ext uri="{FF2B5EF4-FFF2-40B4-BE49-F238E27FC236}">
                <a16:creationId xmlns:a16="http://schemas.microsoft.com/office/drawing/2014/main" id="{9A01CCDE-6DE0-433C-88D6-5726F33DA8BD}"/>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¿Debe volar el conjunto recién ensamblado?</a:t>
            </a:r>
          </a:p>
        </p:txBody>
      </p:sp>
      <p:sp>
        <p:nvSpPr>
          <p:cNvPr id="5" name="">
            <a:extLst xmlns:a="http://schemas.openxmlformats.org/drawingml/2006/main">
              <a:ext uri="{FF2B5EF4-FFF2-40B4-BE49-F238E27FC236}">
                <a16:creationId xmlns:a16="http://schemas.microsoft.com/office/drawing/2014/main" id="{2FA9E7E5-EE95-4F27-9D08-145954F027AC}"/>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Para investigar, elige un cambio de integración pequeño: acceso al USB, sujeción de batería o identificación de arnés. Explica qué mejoraría y cómo lo comprobarías. No se propone añadir piezas por cantidad. La última sesión revisará cómo esas decisiones se relacionan con el funcionamiento y con una demostración de vuelo básico.</a:t>
            </a:r>
          </a:p>
        </p:txBody>
      </p:sp>
    </p:spTree>
    <p:extLst>
      <p:ext uri="{BB962C8B-B14F-4D97-AF65-F5344CB8AC3E}">
        <p14:creationId xmlns:p14="http://schemas.microsoft.com/office/powerpoint/2010/main" val="1798524302"/>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912522-96A1-40BB-B6B4-3E6023F9400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Cierre y discusión del taller</a:t>
            </a:r>
          </a:p>
        </p:txBody>
      </p:sp>
      <p:pic>
        <p:nvPicPr>
          <p:cNvPr id="2" name="">
            <a:extLst xmlns:a="http://schemas.openxmlformats.org/drawingml/2006/main">
              <a:ext uri="{FF2B5EF4-FFF2-40B4-BE49-F238E27FC236}">
                <a16:creationId xmlns:a16="http://schemas.microsoft.com/office/drawing/2014/main" id="{AA3FA679-4B74-415E-A6FD-677F965E9528}"/>
              </a:ext>
            </a:extLst>
          </p:cNvPr>
          <p:cNvPicPr>
            <a:picLocks xmlns:a="http://schemas.openxmlformats.org/drawingml/2006/main" noChangeAspect="1"/>
          </p:cNvPicPr>
          <p:nvPr/>
        </p:nvPicPr>
        <p:blipFill>
          <a:blip xmlns:r="http://schemas.openxmlformats.org/officeDocument/2006/relationships" xmlns:a="http://schemas.openxmlformats.org/drawingml/2006/main" r:embed="R01f21b6251144b3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526DFFA-5936-475E-BFA5-579BE67D505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19/24</a:t>
            </a:r>
          </a:p>
        </p:txBody>
      </p:sp>
      <p:sp>
        <p:nvSpPr>
          <p:cNvPr id="4" name="">
            <a:extLst xmlns:a="http://schemas.openxmlformats.org/drawingml/2006/main">
              <a:ext uri="{FF2B5EF4-FFF2-40B4-BE49-F238E27FC236}">
                <a16:creationId xmlns:a16="http://schemas.microsoft.com/office/drawing/2014/main" id="{DCCA27D5-8A6D-4D64-8F44-F98E29A86EF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Cada equipo presenta una decisión de montaje y la evidencia que la respalda.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Señala una medida con unidad y referencia.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Identifica una operación observada y otra realizada personalmente, si la hubo.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Explica un cambio aplicado y el criterio que permitió aceptarlo.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Conserva la lista de pendientes para la sesión 8 y quién los resolverá.</a:t>
            </a:r>
          </a:p>
        </p:txBody>
      </p:sp>
    </p:spTree>
    <p:extLst>
      <p:ext uri="{BB962C8B-B14F-4D97-AF65-F5344CB8AC3E}">
        <p14:creationId xmlns:p14="http://schemas.microsoft.com/office/powerpoint/2010/main" val="64005287"/>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20BBE1-F5CF-4904-A35C-9EADA042E33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3DCC4F0A-BC40-4EB5-81B1-7E282CB1CA77}"/>
              </a:ext>
            </a:extLst>
          </p:cNvPr>
          <p:cNvPicPr>
            <a:picLocks xmlns:a="http://schemas.openxmlformats.org/drawingml/2006/main" noChangeAspect="1"/>
          </p:cNvPicPr>
          <p:nvPr/>
        </p:nvPicPr>
        <p:blipFill>
          <a:blip xmlns:r="http://schemas.openxmlformats.org/officeDocument/2006/relationships" xmlns:a="http://schemas.openxmlformats.org/drawingml/2006/main" r:embed="Re983dff3c307453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676BF46-0138-4B28-A6E6-29AC2EBD0C0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20/24</a:t>
            </a:r>
          </a:p>
        </p:txBody>
      </p:sp>
      <p:sp>
        <p:nvSpPr>
          <p:cNvPr id="4" name="">
            <a:extLst xmlns:a="http://schemas.openxmlformats.org/drawingml/2006/main">
              <a:ext uri="{FF2B5EF4-FFF2-40B4-BE49-F238E27FC236}">
                <a16:creationId xmlns:a16="http://schemas.microsoft.com/office/drawing/2014/main" id="{B56B3728-14CC-4C51-B17E-4765CA6A6B7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un inventario que coincida con el objeto preparado.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Demostrar presentación mecánica y una unión sobre muestra visible.</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Contrastar arnés y alimentación con el esquema, antes de energizar.</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Cerrar un acta de montaje con pendientes y vehículo de demostración.</a:t>
            </a:r>
          </a:p>
        </p:txBody>
      </p:sp>
    </p:spTree>
    <p:extLst>
      <p:ext uri="{BB962C8B-B14F-4D97-AF65-F5344CB8AC3E}">
        <p14:creationId xmlns:p14="http://schemas.microsoft.com/office/powerpoint/2010/main" val="1832658186"/>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A24F93-05B7-41E5-A7C9-DE5F77BD2F4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de ensamblaje</a:t>
            </a:r>
          </a:p>
        </p:txBody>
      </p:sp>
      <p:pic>
        <p:nvPicPr>
          <p:cNvPr id="2" name="">
            <a:extLst xmlns:a="http://schemas.openxmlformats.org/drawingml/2006/main">
              <a:ext uri="{FF2B5EF4-FFF2-40B4-BE49-F238E27FC236}">
                <a16:creationId xmlns:a16="http://schemas.microsoft.com/office/drawing/2014/main" id="{352EA85A-047E-4317-8FA9-A25F9258D053}"/>
              </a:ext>
            </a:extLst>
          </p:cNvPr>
          <p:cNvPicPr>
            <a:picLocks xmlns:a="http://schemas.openxmlformats.org/drawingml/2006/main" noChangeAspect="1"/>
          </p:cNvPicPr>
          <p:nvPr/>
        </p:nvPicPr>
        <p:blipFill>
          <a:blip xmlns:r="http://schemas.openxmlformats.org/officeDocument/2006/relationships" xmlns:a="http://schemas.openxmlformats.org/drawingml/2006/main" r:embed="Rdbdc2a3b2f6c461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8A51315-B924-4455-98D5-884807A7F01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21/24</a:t>
            </a:r>
          </a:p>
        </p:txBody>
      </p:sp>
      <p:sp>
        <p:nvSpPr>
          <p:cNvPr id="4" name="">
            <a:extLst xmlns:a="http://schemas.openxmlformats.org/drawingml/2006/main">
              <a:ext uri="{FF2B5EF4-FFF2-40B4-BE49-F238E27FC236}">
                <a16:creationId xmlns:a16="http://schemas.microsoft.com/office/drawing/2014/main" id="{FC0AD503-2D32-49F0-B6B5-73EE23471C85}"/>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estudiante observa un montaje real y entrega su secuencia de armado y revisión vinculada a las piezas mostradas.</a:t>
            </a:r>
          </a:p>
        </p:txBody>
      </p:sp>
      <p:sp>
        <p:nvSpPr>
          <p:cNvPr id="5" name="">
            <a:extLst xmlns:a="http://schemas.openxmlformats.org/drawingml/2006/main">
              <a:ext uri="{FF2B5EF4-FFF2-40B4-BE49-F238E27FC236}">
                <a16:creationId xmlns:a16="http://schemas.microsoft.com/office/drawing/2014/main" id="{2CB78C9D-7B7F-4D3D-B615-D020BE1A3F82}"/>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una pieza, el esquema o un dato. ¿Qué falta comprobar?</a:t>
            </a:r>
          </a:p>
        </p:txBody>
      </p:sp>
    </p:spTree>
    <p:extLst>
      <p:ext uri="{BB962C8B-B14F-4D97-AF65-F5344CB8AC3E}">
        <p14:creationId xmlns:p14="http://schemas.microsoft.com/office/powerpoint/2010/main" val="649577360"/>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2CBA1F-90C3-4530-AD4B-5B436D21C03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3259505C-C7B0-483B-B098-EDE3098416B6}"/>
              </a:ext>
            </a:extLst>
          </p:cNvPr>
          <p:cNvPicPr>
            <a:picLocks xmlns:a="http://schemas.openxmlformats.org/drawingml/2006/main" noChangeAspect="1"/>
          </p:cNvPicPr>
          <p:nvPr/>
        </p:nvPicPr>
        <p:blipFill>
          <a:blip xmlns:r="http://schemas.openxmlformats.org/officeDocument/2006/relationships" xmlns:a="http://schemas.openxmlformats.org/drawingml/2006/main" r:embed="R2fbbb37b828a436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42B4650-A227-4F6E-A1CC-E0C97203613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22/24</a:t>
            </a:r>
          </a:p>
        </p:txBody>
      </p:sp>
      <p:sp>
        <p:nvSpPr>
          <p:cNvPr id="4" name="">
            <a:extLst xmlns:a="http://schemas.openxmlformats.org/drawingml/2006/main">
              <a:ext uri="{FF2B5EF4-FFF2-40B4-BE49-F238E27FC236}">
                <a16:creationId xmlns:a16="http://schemas.microsoft.com/office/drawing/2014/main" id="{663E0973-C21C-40B2-A64E-90C1363D69A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¿Observar una soldadura equivale a haberla practicado?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¿Encender prueba aptitud de vuelo?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¿Debe volar el conjunto recién ensamblado?</a:t>
            </a:r>
          </a:p>
        </p:txBody>
      </p:sp>
    </p:spTree>
    <p:extLst>
      <p:ext uri="{BB962C8B-B14F-4D97-AF65-F5344CB8AC3E}">
        <p14:creationId xmlns:p14="http://schemas.microsoft.com/office/powerpoint/2010/main" val="805422070"/>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7A716F-86F9-4557-8980-194B1490D5E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F0907D0E-D08B-40E6-A566-BB13C594C7A9}"/>
              </a:ext>
            </a:extLst>
          </p:cNvPr>
          <p:cNvPicPr>
            <a:picLocks xmlns:a="http://schemas.openxmlformats.org/drawingml/2006/main" noChangeAspect="1"/>
          </p:cNvPicPr>
          <p:nvPr/>
        </p:nvPicPr>
        <p:blipFill>
          <a:blip xmlns:r="http://schemas.openxmlformats.org/officeDocument/2006/relationships" xmlns:a="http://schemas.openxmlformats.org/drawingml/2006/main" r:embed="Ra2e61d49b627443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CD4A09C-F100-4EFF-9354-594B266A5D3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23/24</a:t>
            </a:r>
          </a:p>
        </p:txBody>
      </p:sp>
      <p:sp>
        <p:nvSpPr>
          <p:cNvPr id="4" name="">
            <a:extLst xmlns:a="http://schemas.openxmlformats.org/drawingml/2006/main">
              <a:ext uri="{FF2B5EF4-FFF2-40B4-BE49-F238E27FC236}">
                <a16:creationId xmlns:a16="http://schemas.microsoft.com/office/drawing/2014/main" id="{DBD9E691-FA3B-4DDC-BFEC-1CF3E833FFA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Se registra por separado la experiencia observada y la ejecutada.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Es una comprobación parcial dentro de una secuencia.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Solo si ha pasado las comprobaciones; puede utilizarse otro equipo ya preparado.</a:t>
            </a:r>
          </a:p>
        </p:txBody>
      </p:sp>
    </p:spTree>
    <p:extLst>
      <p:ext uri="{BB962C8B-B14F-4D97-AF65-F5344CB8AC3E}">
        <p14:creationId xmlns:p14="http://schemas.microsoft.com/office/powerpoint/2010/main" val="1572252309"/>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15F48A-B774-44BB-9DF4-78B474CFEE1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49066634-A9AC-476B-9DE3-51786EF0946A}"/>
              </a:ext>
            </a:extLst>
          </p:cNvPr>
          <p:cNvPicPr>
            <a:picLocks xmlns:a="http://schemas.openxmlformats.org/drawingml/2006/main" noChangeAspect="1"/>
          </p:cNvPicPr>
          <p:nvPr/>
        </p:nvPicPr>
        <p:blipFill>
          <a:blip xmlns:r="http://schemas.openxmlformats.org/officeDocument/2006/relationships" xmlns:a="http://schemas.openxmlformats.org/drawingml/2006/main" r:embed="R3bbf67676092497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8816753-5D0E-48C1-8144-E1D9402DD9D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24/24</a:t>
            </a:r>
          </a:p>
        </p:txBody>
      </p:sp>
      <p:sp>
        <p:nvSpPr>
          <p:cNvPr id="4" name="">
            <a:extLst xmlns:a="http://schemas.openxmlformats.org/drawingml/2006/main">
              <a:ext uri="{FF2B5EF4-FFF2-40B4-BE49-F238E27FC236}">
                <a16:creationId xmlns:a16="http://schemas.microsoft.com/office/drawing/2014/main" id="{BDE114E2-5BF8-41B8-B55F-06B6EA122601}"/>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Registro del taller: secuencia, esquema contrastado, medidas y acta de pendientes.</a:t>
            </a:r>
          </a:p>
        </p:txBody>
      </p:sp>
      <p:sp>
        <p:nvSpPr>
          <p:cNvPr id="5" name="">
            <a:extLst xmlns:a="http://schemas.openxmlformats.org/drawingml/2006/main">
              <a:ext uri="{FF2B5EF4-FFF2-40B4-BE49-F238E27FC236}">
                <a16:creationId xmlns:a16="http://schemas.microsoft.com/office/drawing/2014/main" id="{830871F1-885A-46CB-8234-D61BEC396616}"/>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731938955"/>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6794A4-B62F-4BB8-8427-F5309D21B80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Taller presencial 2: configuración, prueba y demostración de vuelo</a:t>
            </a:r>
          </a:p>
        </p:txBody>
      </p:sp>
      <p:pic>
        <p:nvPicPr>
          <p:cNvPr id="2" name="">
            <a:extLst xmlns:a="http://schemas.openxmlformats.org/drawingml/2006/main">
              <a:ext uri="{FF2B5EF4-FFF2-40B4-BE49-F238E27FC236}">
                <a16:creationId xmlns:a16="http://schemas.microsoft.com/office/drawing/2014/main" id="{635CC187-9089-4FFE-AF46-8CB8B08E6037}"/>
              </a:ext>
            </a:extLst>
          </p:cNvPr>
          <p:cNvPicPr>
            <a:picLocks xmlns:a="http://schemas.openxmlformats.org/drawingml/2006/main" noChangeAspect="1"/>
          </p:cNvPicPr>
          <p:nvPr/>
        </p:nvPicPr>
        <p:blipFill>
          <a:blip xmlns:r="http://schemas.openxmlformats.org/officeDocument/2006/relationships" xmlns:a="http://schemas.openxmlformats.org/drawingml/2006/main" r:embed="R735df3c178484d4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E3D04C-1A11-459B-A65C-AED29A6032B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01/24</a:t>
            </a:r>
          </a:p>
        </p:txBody>
      </p:sp>
      <p:sp>
        <p:nvSpPr>
          <p:cNvPr id="4" name="">
            <a:extLst xmlns:a="http://schemas.openxmlformats.org/drawingml/2006/main">
              <a:ext uri="{FF2B5EF4-FFF2-40B4-BE49-F238E27FC236}">
                <a16:creationId xmlns:a16="http://schemas.microsoft.com/office/drawing/2014/main" id="{277BEE21-F3D5-4B75-B163-D7CCECCAB891}"/>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Explicar la aceptación de una configuración y relacionar un vuelo básico o caso equivalente con sus registros.</a:t>
            </a:r>
          </a:p>
        </p:txBody>
      </p:sp>
      <p:sp>
        <p:nvSpPr>
          <p:cNvPr id="5" name="">
            <a:extLst xmlns:a="http://schemas.openxmlformats.org/drawingml/2006/main">
              <a:ext uri="{FF2B5EF4-FFF2-40B4-BE49-F238E27FC236}">
                <a16:creationId xmlns:a16="http://schemas.microsoft.com/office/drawing/2014/main" id="{B21169EC-C28E-4ED0-85E8-80FA5A6BA6F1}"/>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El cierre muestra cómo el ensamblaje y la configuración sostienen una demostración observada y una decisión de mejora.</a:t>
            </a:r>
          </a:p>
        </p:txBody>
      </p:sp>
      <p:sp>
        <p:nvSpPr>
          <p:cNvPr id="6" name="">
            <a:extLst xmlns:a="http://schemas.openxmlformats.org/drawingml/2006/main">
              <a:ext uri="{FF2B5EF4-FFF2-40B4-BE49-F238E27FC236}">
                <a16:creationId xmlns:a16="http://schemas.microsoft.com/office/drawing/2014/main" id="{9D18E095-9B21-4539-B767-293CF18DA3EF}"/>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PRESENCIAL DEMOSTRATIVO   4 HORAS</a:t>
            </a:r>
          </a:p>
        </p:txBody>
      </p:sp>
    </p:spTree>
    <p:extLst>
      <p:ext uri="{BB962C8B-B14F-4D97-AF65-F5344CB8AC3E}">
        <p14:creationId xmlns:p14="http://schemas.microsoft.com/office/powerpoint/2010/main" val="1230420349"/>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9F4EDF-B3F3-4181-B09B-C031DA53001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Comprobar antes de demostrar</a:t>
            </a:r>
          </a:p>
        </p:txBody>
      </p:sp>
      <p:pic>
        <p:nvPicPr>
          <p:cNvPr id="2" name="">
            <a:extLst xmlns:a="http://schemas.openxmlformats.org/drawingml/2006/main">
              <a:ext uri="{FF2B5EF4-FFF2-40B4-BE49-F238E27FC236}">
                <a16:creationId xmlns:a16="http://schemas.microsoft.com/office/drawing/2014/main" id="{DF6C3ECE-EAE6-41E8-A780-92745427B71B}"/>
              </a:ext>
            </a:extLst>
          </p:cNvPr>
          <p:cNvPicPr>
            <a:picLocks xmlns:a="http://schemas.openxmlformats.org/drawingml/2006/main" noChangeAspect="1"/>
          </p:cNvPicPr>
          <p:nvPr/>
        </p:nvPicPr>
        <p:blipFill>
          <a:blip xmlns:r="http://schemas.openxmlformats.org/officeDocument/2006/relationships" xmlns:a="http://schemas.openxmlformats.org/drawingml/2006/main" r:embed="R427322a6f6c245c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AA8F492-D3E3-4C10-9C5B-220523E4D88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02/24</a:t>
            </a:r>
          </a:p>
        </p:txBody>
      </p:sp>
      <p:sp>
        <p:nvSpPr>
          <p:cNvPr id="4" name="">
            <a:extLst xmlns:a="http://schemas.openxmlformats.org/drawingml/2006/main">
              <a:ext uri="{FF2B5EF4-FFF2-40B4-BE49-F238E27FC236}">
                <a16:creationId xmlns:a16="http://schemas.microsoft.com/office/drawing/2014/main" id="{1E1D974D-A7C6-43F0-8AAD-B5125E7D470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última sesión parte del acta de montaje y de una configuración identificada. Gerard selecciona una aeronave preparada para la demostración y presenta qué se revisó. No se intenta volar todos los tamaños por cumplir una lista: los equipos de 5, 7 y 12 pulgadas aportan comparaciones, y el vuelo básico puede concentrarse en uno que represente los objetivos del curso.</a:t>
            </a:r>
          </a:p>
        </p:txBody>
      </p:sp>
    </p:spTree>
    <p:extLst>
      <p:ext uri="{BB962C8B-B14F-4D97-AF65-F5344CB8AC3E}">
        <p14:creationId xmlns:p14="http://schemas.microsoft.com/office/powerpoint/2010/main" val="1700523534"/>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2DC031-371A-49B4-A9D5-8396125B39D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Cuatro correspondencias finales</a:t>
            </a:r>
          </a:p>
        </p:txBody>
      </p:sp>
      <p:pic>
        <p:nvPicPr>
          <p:cNvPr id="2" name="">
            <a:extLst xmlns:a="http://schemas.openxmlformats.org/drawingml/2006/main">
              <a:ext uri="{FF2B5EF4-FFF2-40B4-BE49-F238E27FC236}">
                <a16:creationId xmlns:a16="http://schemas.microsoft.com/office/drawing/2014/main" id="{D36AE558-CBDA-4F86-80AB-54D7DD7A3E70}"/>
              </a:ext>
            </a:extLst>
          </p:cNvPr>
          <p:cNvPicPr>
            <a:picLocks xmlns:a="http://schemas.openxmlformats.org/drawingml/2006/main" noChangeAspect="1"/>
          </p:cNvPicPr>
          <p:nvPr/>
        </p:nvPicPr>
        <p:blipFill>
          <a:blip xmlns:r="http://schemas.openxmlformats.org/officeDocument/2006/relationships" xmlns:a="http://schemas.openxmlformats.org/drawingml/2006/main" r:embed="R488a06cda90243b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C2DDDA-D495-4B80-A907-6698A787385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03/24</a:t>
            </a:r>
          </a:p>
        </p:txBody>
      </p:sp>
      <p:graphicFrame>
        <p:nvGraphicFramePr>
          <p:cNvPr id="4" name="">
            <a:extLst xmlns:a="http://schemas.openxmlformats.org/drawingml/2006/main">
              <a:ext uri="{FF2B5EF4-FFF2-40B4-BE49-F238E27FC236}">
                <a16:creationId xmlns:a16="http://schemas.microsoft.com/office/drawing/2014/main" id="{5F28D142-A9F4-4037-AA0F-A3479A9365A7}"/>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Revisión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se contrasta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Evidencia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Mecánica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Montaje y configuración documentados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Inspección y versión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Entradas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Mandos y estados previstos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Canales y modos</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Salidas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Posición y sentido de cada motor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Prueba sin hélices</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Operación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Equipo y condiciones del caso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Decisión del docente</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182878164"/>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2BF2D4-D331-4FFF-BB90-F9D1DAB7581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Comprobar antes de demostrar</a:t>
            </a:r>
          </a:p>
        </p:txBody>
      </p:sp>
      <p:pic>
        <p:nvPicPr>
          <p:cNvPr id="2" name="">
            <a:extLst xmlns:a="http://schemas.openxmlformats.org/drawingml/2006/main">
              <a:ext uri="{FF2B5EF4-FFF2-40B4-BE49-F238E27FC236}">
                <a16:creationId xmlns:a16="http://schemas.microsoft.com/office/drawing/2014/main" id="{88F3A162-C850-4599-8092-7C53BCAB6BB6}"/>
              </a:ext>
            </a:extLst>
          </p:cNvPr>
          <p:cNvPicPr>
            <a:picLocks xmlns:a="http://schemas.openxmlformats.org/drawingml/2006/main" noChangeAspect="1"/>
          </p:cNvPicPr>
          <p:nvPr/>
        </p:nvPicPr>
        <p:blipFill>
          <a:blip xmlns:r="http://schemas.openxmlformats.org/officeDocument/2006/relationships" xmlns:a="http://schemas.openxmlformats.org/drawingml/2006/main" r:embed="R430602332966407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E2D179E-0027-4378-ACAD-F14BB185634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04/24</a:t>
            </a:r>
          </a:p>
        </p:txBody>
      </p:sp>
      <p:sp>
        <p:nvSpPr>
          <p:cNvPr id="4" name="">
            <a:extLst xmlns:a="http://schemas.openxmlformats.org/drawingml/2006/main">
              <a:ext uri="{FF2B5EF4-FFF2-40B4-BE49-F238E27FC236}">
                <a16:creationId xmlns:a16="http://schemas.microsoft.com/office/drawing/2014/main" id="{528447F2-D04F-4A00-BDB8-6DA0FC5C486C}"/>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Las pruebas de salidas y enlace se realizan en el banco preparado sin hélices. La instalación final de hélices pertenece a otra fase, con energía retirada y revisión de sentido y fijación. Se organiza una única actividad energizada a la vez con el docente a cargo. El grupo conserva separación y roles de observación; no queda un banco de motores activo sin supervisión mientras el instructor explica otro equipo.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vuelo es una demostración del instructor, sujeta a preparación del vehículo y condiciones del lugar. El certificado del curso no se presenta como una licencia de piloto ni como entrenamiento individual garantizado de vuelo.</a:t>
            </a:r>
          </a:p>
        </p:txBody>
      </p:sp>
    </p:spTree>
    <p:extLst>
      <p:ext uri="{BB962C8B-B14F-4D97-AF65-F5344CB8AC3E}">
        <p14:creationId xmlns:p14="http://schemas.microsoft.com/office/powerpoint/2010/main" val="1829558428"/>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04FBF6-5774-400B-8E4D-3A70617E758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Agenda de cuatro horas y alternativa de clase</a:t>
            </a:r>
          </a:p>
        </p:txBody>
      </p:sp>
      <p:pic>
        <p:nvPicPr>
          <p:cNvPr id="2" name="">
            <a:extLst xmlns:a="http://schemas.openxmlformats.org/drawingml/2006/main">
              <a:ext uri="{FF2B5EF4-FFF2-40B4-BE49-F238E27FC236}">
                <a16:creationId xmlns:a16="http://schemas.microsoft.com/office/drawing/2014/main" id="{FB5109BF-D6D2-4251-8258-95ED44EB38C0}"/>
              </a:ext>
            </a:extLst>
          </p:cNvPr>
          <p:cNvPicPr>
            <a:picLocks xmlns:a="http://schemas.openxmlformats.org/drawingml/2006/main" noChangeAspect="1"/>
          </p:cNvPicPr>
          <p:nvPr/>
        </p:nvPicPr>
        <p:blipFill>
          <a:blip xmlns:r="http://schemas.openxmlformats.org/officeDocument/2006/relationships" xmlns:a="http://schemas.openxmlformats.org/drawingml/2006/main" r:embed="Red6c9ea5a0854f2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174D65C-0C91-4A05-960B-1D5E5C8A5F2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05/24</a:t>
            </a:r>
          </a:p>
        </p:txBody>
      </p:sp>
      <p:sp>
        <p:nvSpPr>
          <p:cNvPr id="4" name="">
            <a:extLst xmlns:a="http://schemas.openxmlformats.org/drawingml/2006/main">
              <a:ext uri="{FF2B5EF4-FFF2-40B4-BE49-F238E27FC236}">
                <a16:creationId xmlns:a16="http://schemas.microsoft.com/office/drawing/2014/main" id="{C4E36A42-333B-48FA-B3A3-BF7663F5666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bloque de vuelo contempla desplazamiento y organización local según el lugar. La cohorte debe saber de antemano dónde se reúne y cómo se desarrolla esa actividad. Si el clima, el lugar o el estado de un equipo impiden el vuelo, se mantiene el aprendizaje con revisión en banco y análisis de un registro o demostración previamente identificados. Una observación grabada se presenta como grabada, y una simulación se identifica como simulación.</a:t>
            </a:r>
          </a:p>
        </p:txBody>
      </p:sp>
    </p:spTree>
    <p:extLst>
      <p:ext uri="{BB962C8B-B14F-4D97-AF65-F5344CB8AC3E}">
        <p14:creationId xmlns:p14="http://schemas.microsoft.com/office/powerpoint/2010/main" val="1315691723"/>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F357CD-1094-443D-85CC-99CC6CBF254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Taller presencial 2</a:t>
            </a:r>
          </a:p>
        </p:txBody>
      </p:sp>
      <p:pic>
        <p:nvPicPr>
          <p:cNvPr id="2" name="">
            <a:extLst xmlns:a="http://schemas.openxmlformats.org/drawingml/2006/main">
              <a:ext uri="{FF2B5EF4-FFF2-40B4-BE49-F238E27FC236}">
                <a16:creationId xmlns:a16="http://schemas.microsoft.com/office/drawing/2014/main" id="{7BD92E2C-1F99-4C29-86BA-FF1D49A935C2}"/>
              </a:ext>
            </a:extLst>
          </p:cNvPr>
          <p:cNvPicPr>
            <a:picLocks xmlns:a="http://schemas.openxmlformats.org/drawingml/2006/main" noChangeAspect="1"/>
          </p:cNvPicPr>
          <p:nvPr/>
        </p:nvPicPr>
        <p:blipFill>
          <a:blip xmlns:r="http://schemas.openxmlformats.org/officeDocument/2006/relationships" xmlns:a="http://schemas.openxmlformats.org/drawingml/2006/main" r:embed="R9c09669b4c5a407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D181343-2D05-4F91-970F-2011CF45DBA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06/24</a:t>
            </a:r>
          </a:p>
        </p:txBody>
      </p:sp>
      <p:graphicFrame>
        <p:nvGraphicFramePr>
          <p:cNvPr id="4" name="">
            <a:extLst xmlns:a="http://schemas.openxmlformats.org/drawingml/2006/main">
              <a:ext uri="{FF2B5EF4-FFF2-40B4-BE49-F238E27FC236}">
                <a16:creationId xmlns:a16="http://schemas.microsoft.com/office/drawing/2014/main" id="{3FBF7392-A1F4-4196-8716-B30B9871431D}"/>
              </a:ext>
            </a:extLst>
          </p:cNvPr>
          <p:cNvGraphicFramePr/>
          <p:nvPr/>
        </p:nvGraphicFramePr>
        <p:xfrm>
          <a:off xmlns:a="http://schemas.openxmlformats.org/drawingml/2006/main" x="590550" y="1714500"/>
          <a:ext xmlns:a="http://schemas.openxmlformats.org/drawingml/2006/main" cx="11010900" cy="4114800"/>
        </p:xfrm>
        <a:graphic xmlns:a="http://schemas.openxmlformats.org/drawingml/2006/main">
          <a:graphicData uri="http://schemas.openxmlformats.org/drawingml/2006/table">
            <a:tbl>
              <a:tblPr/>
              <a:tblGrid>
                <a:gridCol w="1905000"/>
                <a:gridCol w="4552950"/>
                <a:gridCol w="4552950"/>
              </a:tblGrid>
              <a:tr h="587829">
                <a:tc>
                  <a:txBody>
                    <a:bodyPr/>
                    <a:lstStyle/>
                    <a:p>
                      <a:r>
                        <a:rPr sz="1725" b="1">
                          <a:solidFill>
                            <a:srgbClr val="FFFFFF"/>
                          </a:solidFill>
                          <a:latin typeface="Arial"/>
                          <a:ea typeface="Arial"/>
                          <a:cs typeface="Arial"/>
                        </a:rPr>
                        <a:t>Minutos</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725" b="1">
                          <a:solidFill>
                            <a:srgbClr val="FFFFFF"/>
                          </a:solidFill>
                          <a:latin typeface="Arial"/>
                          <a:ea typeface="Arial"/>
                          <a:cs typeface="Arial"/>
                        </a:rPr>
                        <a:t>Actividad</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725" b="1">
                          <a:solidFill>
                            <a:srgbClr val="FFFFFF"/>
                          </a:solidFill>
                          <a:latin typeface="Arial"/>
                          <a:ea typeface="Arial"/>
                          <a:cs typeface="Arial"/>
                        </a:rPr>
                        <a:t>Resultado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587829">
                <a:tc>
                  <a:txBody>
                    <a:bodyPr/>
                    <a:lstStyle/>
                    <a:p>
                      <a:r>
                        <a:rPr sz="1725" b="0">
                          <a:solidFill>
                            <a:srgbClr val="14231E"/>
                          </a:solidFill>
                          <a:latin typeface="Arial"/>
                          <a:ea typeface="Arial"/>
                          <a:cs typeface="Arial"/>
                        </a:rPr>
                        <a:t>0–30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Revisión del acta y configuración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Estado del equipo identificado</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30–75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Entradas y salidas de banco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Correspondencias observadas</a:t>
                      </a:r>
                    </a:p>
                  </a:txBody>
                  <a:tcPr marL="91440" marR="91440" marT="45720" marB="45720">
                    <a:lnR w="9525">
                      <a:solidFill>
                        <a:srgbClr val="BFCEC3"/>
                      </a:solidFill>
                      <a:prstDash val="solid"/>
                    </a:lnR>
                    <a:lnB w="9525">
                      <a:solidFill>
                        <a:srgbClr val="BFCEC3"/>
                      </a:solidFill>
                      <a:prstDash val="solid"/>
                    </a:lnB>
                    <a:solidFill>
                      <a:srgbClr val="FCFCF8"/>
                    </a:solidFill>
                  </a:tcPr>
                </a:tc>
              </a:tr>
              <a:tr h="587829">
                <a:tc>
                  <a:txBody>
                    <a:bodyPr/>
                    <a:lstStyle/>
                    <a:p>
                      <a:r>
                        <a:rPr sz="1725" b="0">
                          <a:solidFill>
                            <a:srgbClr val="14231E"/>
                          </a:solidFill>
                          <a:latin typeface="Arial"/>
                          <a:ea typeface="Arial"/>
                          <a:cs typeface="Arial"/>
                        </a:rPr>
                        <a:t>75–110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Autopiloto y Mission Planner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Comparación con equipo grande</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110–165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Demostración de vuelo o caso alternativo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Registro de eventos</a:t>
                      </a:r>
                    </a:p>
                  </a:txBody>
                  <a:tcPr marL="91440" marR="91440" marT="45720" marB="45720">
                    <a:lnR w="9525">
                      <a:solidFill>
                        <a:srgbClr val="BFCEC3"/>
                      </a:solidFill>
                      <a:prstDash val="solid"/>
                    </a:lnR>
                    <a:lnB w="9525">
                      <a:solidFill>
                        <a:srgbClr val="BFCEC3"/>
                      </a:solidFill>
                      <a:prstDash val="solid"/>
                    </a:lnB>
                    <a:solidFill>
                      <a:srgbClr val="FCFCF8"/>
                    </a:solidFill>
                  </a:tcPr>
                </a:tc>
              </a:tr>
              <a:tr h="587829">
                <a:tc>
                  <a:txBody>
                    <a:bodyPr/>
                    <a:lstStyle/>
                    <a:p>
                      <a:r>
                        <a:rPr sz="1725" b="0">
                          <a:solidFill>
                            <a:srgbClr val="14231E"/>
                          </a:solidFill>
                          <a:latin typeface="Arial"/>
                          <a:ea typeface="Arial"/>
                          <a:cs typeface="Arial"/>
                        </a:rPr>
                        <a:t>165–215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Análisis y diagnóstico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Conclusión respaldada</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215–240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Defensa y cierre</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Expediente final</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672752918"/>
      </p:ext>
    </p:extLst>
  </p:cSld>
</p:sld>
</file>

<file path=ppt/slides/slide3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DC808C-F082-480A-A3B1-7D15648FFCA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Agenda de cuatro horas y alternativa de clase</a:t>
            </a:r>
          </a:p>
        </p:txBody>
      </p:sp>
      <p:pic>
        <p:nvPicPr>
          <p:cNvPr id="2" name="">
            <a:extLst xmlns:a="http://schemas.openxmlformats.org/drawingml/2006/main">
              <a:ext uri="{FF2B5EF4-FFF2-40B4-BE49-F238E27FC236}">
                <a16:creationId xmlns:a16="http://schemas.microsoft.com/office/drawing/2014/main" id="{30F2F180-DC16-4884-88A4-6093959FCF50}"/>
              </a:ext>
            </a:extLst>
          </p:cNvPr>
          <p:cNvPicPr>
            <a:picLocks xmlns:a="http://schemas.openxmlformats.org/drawingml/2006/main" noChangeAspect="1"/>
          </p:cNvPicPr>
          <p:nvPr/>
        </p:nvPicPr>
        <p:blipFill>
          <a:blip xmlns:r="http://schemas.openxmlformats.org/officeDocument/2006/relationships" xmlns:a="http://schemas.openxmlformats.org/drawingml/2006/main" r:embed="R02129e8d193b49f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EB2934D-89AE-4BE9-9051-49CF459B90C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07/24</a:t>
            </a:r>
          </a:p>
        </p:txBody>
      </p:sp>
      <p:sp>
        <p:nvSpPr>
          <p:cNvPr id="4" name="">
            <a:extLst xmlns:a="http://schemas.openxmlformats.org/drawingml/2006/main">
              <a:ext uri="{FF2B5EF4-FFF2-40B4-BE49-F238E27FC236}">
                <a16:creationId xmlns:a16="http://schemas.microsoft.com/office/drawing/2014/main" id="{E56CF2AE-319F-4BC4-8F1D-EDE08C04E97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No se convierten las cuatro horas finales en una sesión improvisada para reparar todo el ensamblaje. La preparación previa conserva un equipo funcional de demostración y un caso alternativo. Las correcciones nuevas se acotan y documentan; un resultado pendiente no se disimula con una explicación de otra versión.</a:t>
            </a:r>
          </a:p>
        </p:txBody>
      </p:sp>
    </p:spTree>
    <p:extLst>
      <p:ext uri="{BB962C8B-B14F-4D97-AF65-F5344CB8AC3E}">
        <p14:creationId xmlns:p14="http://schemas.microsoft.com/office/powerpoint/2010/main" val="1366414701"/>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E6B756-329F-4B6D-9A36-CDA8236A835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dron grande en Mission Planner</a:t>
            </a:r>
          </a:p>
        </p:txBody>
      </p:sp>
      <p:pic>
        <p:nvPicPr>
          <p:cNvPr id="2" name="">
            <a:extLst xmlns:a="http://schemas.openxmlformats.org/drawingml/2006/main">
              <a:ext uri="{FF2B5EF4-FFF2-40B4-BE49-F238E27FC236}">
                <a16:creationId xmlns:a16="http://schemas.microsoft.com/office/drawing/2014/main" id="{F5FF9D7D-C6DA-4352-B775-39B39FA9F1D9}"/>
              </a:ext>
            </a:extLst>
          </p:cNvPr>
          <p:cNvPicPr>
            <a:picLocks xmlns:a="http://schemas.openxmlformats.org/drawingml/2006/main" noChangeAspect="1"/>
          </p:cNvPicPr>
          <p:nvPr/>
        </p:nvPicPr>
        <p:blipFill>
          <a:blip xmlns:r="http://schemas.openxmlformats.org/officeDocument/2006/relationships" xmlns:a="http://schemas.openxmlformats.org/drawingml/2006/main" r:embed="R03f709b3980343c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6C02A87-3119-4A3F-926E-F7610DB3F45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08/24</a:t>
            </a:r>
          </a:p>
        </p:txBody>
      </p:sp>
      <p:sp>
        <p:nvSpPr>
          <p:cNvPr id="4" name="">
            <a:extLst xmlns:a="http://schemas.openxmlformats.org/drawingml/2006/main">
              <a:ext uri="{FF2B5EF4-FFF2-40B4-BE49-F238E27FC236}">
                <a16:creationId xmlns:a16="http://schemas.microsoft.com/office/drawing/2014/main" id="{C0596774-A3F0-4B5D-882D-D134015703E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instructor relaciona autopiloto, módulo de potencia, GPS, brújula, receptor y telemetría con la estación de tierra. Explica dónde se observa estado y qué configuración pertenece a ese modelo. No hace falta enseñar una misión autónoma completa para demostrar la diferencia entre construir la cadena y obtener una solución de navegación válida. La lectura de una pantalla se relaciona con el montaje que está delante del grupo.</a:t>
            </a:r>
          </a:p>
        </p:txBody>
      </p:sp>
    </p:spTree>
    <p:extLst>
      <p:ext uri="{BB962C8B-B14F-4D97-AF65-F5344CB8AC3E}">
        <p14:creationId xmlns:p14="http://schemas.microsoft.com/office/powerpoint/2010/main" val="945126632"/>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AD51C9-25A7-4C26-8C04-F5F75904044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dron grande en Mission Planner</a:t>
            </a:r>
          </a:p>
        </p:txBody>
      </p:sp>
      <p:pic>
        <p:nvPicPr>
          <p:cNvPr id="2" name="">
            <a:extLst xmlns:a="http://schemas.openxmlformats.org/drawingml/2006/main">
              <a:ext uri="{FF2B5EF4-FFF2-40B4-BE49-F238E27FC236}">
                <a16:creationId xmlns:a16="http://schemas.microsoft.com/office/drawing/2014/main" id="{6B51178A-99C2-42E2-8080-C73891AE9A13}"/>
              </a:ext>
            </a:extLst>
          </p:cNvPr>
          <p:cNvPicPr>
            <a:picLocks xmlns:a="http://schemas.openxmlformats.org/drawingml/2006/main" noChangeAspect="1"/>
          </p:cNvPicPr>
          <p:nvPr/>
        </p:nvPicPr>
        <p:blipFill>
          <a:blip xmlns:r="http://schemas.openxmlformats.org/officeDocument/2006/relationships" xmlns:a="http://schemas.openxmlformats.org/drawingml/2006/main" r:embed="Ra1816402c13b41a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6D2DB7D-8718-499A-B67D-FD537B543C0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09/24</a:t>
            </a:r>
          </a:p>
        </p:txBody>
      </p:sp>
      <p:pic>
        <p:nvPicPr>
          <p:cNvPr id="4" name="">
            <a:extLst xmlns:a="http://schemas.openxmlformats.org/drawingml/2006/main">
              <a:ext uri="{FF2B5EF4-FFF2-40B4-BE49-F238E27FC236}">
                <a16:creationId xmlns:a16="http://schemas.microsoft.com/office/drawing/2014/main" id="{75045234-C8AA-4660-8A0B-8D5BA3BE89A5}"/>
              </a:ext>
            </a:extLst>
          </p:cNvPr>
          <p:cNvPicPr>
            <a:picLocks xmlns:a="http://schemas.openxmlformats.org/drawingml/2006/main" noChangeAspect="1"/>
          </p:cNvPicPr>
          <p:nvPr/>
        </p:nvPicPr>
        <p:blipFill>
          <a:blip xmlns:r="http://schemas.openxmlformats.org/officeDocument/2006/relationships" xmlns:a="http://schemas.openxmlformats.org/drawingml/2006/main" r:embed="R4ceae1c34a9a4bfe"/>
          <a:stretch xmlns:a="http://schemas.openxmlformats.org/drawingml/2006/main"/>
        </p:blipFill>
        <p:spPr>
          <a:xfrm xmlns:a="http://schemas.openxmlformats.org/drawingml/2006/main">
            <a:off x="2295525" y="1638300"/>
            <a:ext cx="4000500"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D7DA36A-9E39-4AB4-BD0D-F17ABA249392}"/>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ArduPilot ofrece distintas convenciones. ¿Qué frame está configurado en el caso?</a:t>
            </a:r>
          </a:p>
        </p:txBody>
      </p:sp>
      <p:sp>
        <p:nvSpPr>
          <p:cNvPr id="6" name="">
            <a:extLst xmlns:a="http://schemas.openxmlformats.org/drawingml/2006/main">
              <a:ext uri="{FF2B5EF4-FFF2-40B4-BE49-F238E27FC236}">
                <a16:creationId xmlns:a16="http://schemas.microsoft.com/office/drawing/2014/main" id="{28917F42-5ACB-4922-9C5C-2BD4B1826CC8}"/>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ArduPilot publica también configuraciones con convención Betaflight. La existencia de esta variante refuerza que se debe leer el tipo de bastidor elegido; no adivinar el orden por el tamaño del dron.</a:t>
            </a:r>
          </a:p>
        </p:txBody>
      </p:sp>
    </p:spTree>
    <p:extLst>
      <p:ext uri="{BB962C8B-B14F-4D97-AF65-F5344CB8AC3E}">
        <p14:creationId xmlns:p14="http://schemas.microsoft.com/office/powerpoint/2010/main" val="1887857730"/>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D2F17E-57E4-4B4E-BE4A-7E3611C8945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Comparación de alcance de aprendizaje</a:t>
            </a:r>
          </a:p>
        </p:txBody>
      </p:sp>
      <p:pic>
        <p:nvPicPr>
          <p:cNvPr id="2" name="">
            <a:extLst xmlns:a="http://schemas.openxmlformats.org/drawingml/2006/main">
              <a:ext uri="{FF2B5EF4-FFF2-40B4-BE49-F238E27FC236}">
                <a16:creationId xmlns:a16="http://schemas.microsoft.com/office/drawing/2014/main" id="{F8EFD1CB-8259-4226-9265-77E1BF522671}"/>
              </a:ext>
            </a:extLst>
          </p:cNvPr>
          <p:cNvPicPr>
            <a:picLocks xmlns:a="http://schemas.openxmlformats.org/drawingml/2006/main" noChangeAspect="1"/>
          </p:cNvPicPr>
          <p:nvPr/>
        </p:nvPicPr>
        <p:blipFill>
          <a:blip xmlns:r="http://schemas.openxmlformats.org/officeDocument/2006/relationships" xmlns:a="http://schemas.openxmlformats.org/drawingml/2006/main" r:embed="Rced132ca6eb14b6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B169EE-2E5C-491C-ADA8-BA313F7C9AD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10/24</a:t>
            </a:r>
          </a:p>
        </p:txBody>
      </p:sp>
      <p:graphicFrame>
        <p:nvGraphicFramePr>
          <p:cNvPr id="4" name="">
            <a:extLst xmlns:a="http://schemas.openxmlformats.org/drawingml/2006/main">
              <a:ext uri="{FF2B5EF4-FFF2-40B4-BE49-F238E27FC236}">
                <a16:creationId xmlns:a16="http://schemas.microsoft.com/office/drawing/2014/main" id="{B5DBE93F-0597-4146-B9FC-49DC9F1BDCC5}"/>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Equipo pequeño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Equipo con autopiloto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Principio compartido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Placa y target Betaflight</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Autopiloto y firmware ArduCopter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Identificación exacta</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Receptor, modos y salidas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Entradas, calibraciones y modos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Correspondencia con el objeto</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Datos disponibles del sistema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Estado y telemetría en Mission Planner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Interpretación con condiciones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812256584"/>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5F05E8-C71D-4000-853A-E8878222CDC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Observar el vuelo con preguntas concretas</a:t>
            </a:r>
          </a:p>
        </p:txBody>
      </p:sp>
      <p:pic>
        <p:nvPicPr>
          <p:cNvPr id="2" name="">
            <a:extLst xmlns:a="http://schemas.openxmlformats.org/drawingml/2006/main">
              <a:ext uri="{FF2B5EF4-FFF2-40B4-BE49-F238E27FC236}">
                <a16:creationId xmlns:a16="http://schemas.microsoft.com/office/drawing/2014/main" id="{0B5C4753-7998-4EC8-93D9-BB02D1397B1E}"/>
              </a:ext>
            </a:extLst>
          </p:cNvPr>
          <p:cNvPicPr>
            <a:picLocks xmlns:a="http://schemas.openxmlformats.org/drawingml/2006/main" noChangeAspect="1"/>
          </p:cNvPicPr>
          <p:nvPr/>
        </p:nvPicPr>
        <p:blipFill>
          <a:blip xmlns:r="http://schemas.openxmlformats.org/officeDocument/2006/relationships" xmlns:a="http://schemas.openxmlformats.org/drawingml/2006/main" r:embed="R260ffe55176046d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274DF10-A6CE-460A-8EFE-A733B6A992C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11/24</a:t>
            </a:r>
          </a:p>
        </p:txBody>
      </p:sp>
      <p:sp>
        <p:nvSpPr>
          <p:cNvPr id="4" name="">
            <a:extLst xmlns:a="http://schemas.openxmlformats.org/drawingml/2006/main">
              <a:ext uri="{FF2B5EF4-FFF2-40B4-BE49-F238E27FC236}">
                <a16:creationId xmlns:a16="http://schemas.microsoft.com/office/drawing/2014/main" id="{6713A717-9E51-48CF-A222-24C485966F8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Antes de la demostración, el alumno predice qué evento podrá observar: inicio, armado, despegue, vuelo básico, aterrizaje y cierre según el caso elegido. La misión de la clase es relacionar decisiones de ensamblaje y configuración con el comportamiento mostrado. No se exige aprender maniobras FPV ni operar varios modos nuevos a la vez. El instructor define qué observa el grupo y qué datos puede registrar realmente.</a:t>
            </a:r>
          </a:p>
        </p:txBody>
      </p:sp>
    </p:spTree>
    <p:extLst>
      <p:ext uri="{BB962C8B-B14F-4D97-AF65-F5344CB8AC3E}">
        <p14:creationId xmlns:p14="http://schemas.microsoft.com/office/powerpoint/2010/main" val="1628208634"/>
      </p:ext>
    </p:extLst>
  </p:cSld>
</p:sld>
</file>

<file path=ppt/slides/slide3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B0AA8D-F2FF-450F-BEC7-8C52592D0AF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0581F6D8-0BB1-4686-8749-234364325CB8}"/>
              </a:ext>
            </a:extLst>
          </p:cNvPr>
          <p:cNvPicPr>
            <a:picLocks xmlns:a="http://schemas.openxmlformats.org/drawingml/2006/main" noChangeAspect="1"/>
          </p:cNvPicPr>
          <p:nvPr/>
        </p:nvPicPr>
        <p:blipFill>
          <a:blip xmlns:r="http://schemas.openxmlformats.org/officeDocument/2006/relationships" xmlns:a="http://schemas.openxmlformats.org/drawingml/2006/main" r:embed="Rf52c22bc04594c9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BC9D8C9-D5BC-4E51-9FAF-DA93AF3B10B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12/24</a:t>
            </a:r>
          </a:p>
        </p:txBody>
      </p:sp>
      <p:sp>
        <p:nvSpPr>
          <p:cNvPr id="4" name="">
            <a:extLst xmlns:a="http://schemas.openxmlformats.org/drawingml/2006/main">
              <a:ext uri="{FF2B5EF4-FFF2-40B4-BE49-F238E27FC236}">
                <a16:creationId xmlns:a16="http://schemas.microsoft.com/office/drawing/2014/main" id="{7D5E11CE-55DE-4F1C-9B60-453A51683F5C}"/>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Se ve una oscilación. ¿Podemos afirmar inmediatamente “falta subir P”?</a:t>
            </a:r>
          </a:p>
        </p:txBody>
      </p:sp>
      <p:sp>
        <p:nvSpPr>
          <p:cNvPr id="5" name="">
            <a:extLst xmlns:a="http://schemas.openxmlformats.org/drawingml/2006/main">
              <a:ext uri="{FF2B5EF4-FFF2-40B4-BE49-F238E27FC236}">
                <a16:creationId xmlns:a16="http://schemas.microsoft.com/office/drawing/2014/main" id="{61D58B07-3733-470E-B81B-F3846FD67257}"/>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La operación se prepara con las condiciones y trámites aplicables al lugar y al equipo. Para la actualización del curso se consultaron el Reglamento de la Ley 30740 aprobado por DS 012-2026-MTC y la información de trámites de la DGAC. El docente verifica sus disposiciones y condiciones vigentes al organizar la jornada; este temario académico no sustituye esa determinación.</a:t>
            </a:r>
          </a:p>
        </p:txBody>
      </p:sp>
    </p:spTree>
    <p:extLst>
      <p:ext uri="{BB962C8B-B14F-4D97-AF65-F5344CB8AC3E}">
        <p14:creationId xmlns:p14="http://schemas.microsoft.com/office/powerpoint/2010/main" val="265454341"/>
      </p:ext>
    </p:extLst>
  </p:cSld>
</p:sld>
</file>

<file path=ppt/slides/slide3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5097E1-748B-4F3F-A3DF-C6B51CDA647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Observación y conclusión</a:t>
            </a:r>
          </a:p>
        </p:txBody>
      </p:sp>
      <p:pic>
        <p:nvPicPr>
          <p:cNvPr id="2" name="">
            <a:extLst xmlns:a="http://schemas.openxmlformats.org/drawingml/2006/main">
              <a:ext uri="{FF2B5EF4-FFF2-40B4-BE49-F238E27FC236}">
                <a16:creationId xmlns:a16="http://schemas.microsoft.com/office/drawing/2014/main" id="{E45BD421-DD65-4772-91EF-060296716D0F}"/>
              </a:ext>
            </a:extLst>
          </p:cNvPr>
          <p:cNvPicPr>
            <a:picLocks xmlns:a="http://schemas.openxmlformats.org/drawingml/2006/main" noChangeAspect="1"/>
          </p:cNvPicPr>
          <p:nvPr/>
        </p:nvPicPr>
        <p:blipFill>
          <a:blip xmlns:r="http://schemas.openxmlformats.org/officeDocument/2006/relationships" xmlns:a="http://schemas.openxmlformats.org/drawingml/2006/main" r:embed="Rb1282c3db5fd46d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B41F2D0-B71C-4E34-9655-FE5960F3010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13/24</a:t>
            </a:r>
          </a:p>
        </p:txBody>
      </p:sp>
      <p:sp>
        <p:nvSpPr>
          <p:cNvPr id="4" name="">
            <a:extLst xmlns:a="http://schemas.openxmlformats.org/drawingml/2006/main">
              <a:ext uri="{FF2B5EF4-FFF2-40B4-BE49-F238E27FC236}">
                <a16:creationId xmlns:a16="http://schemas.microsoft.com/office/drawing/2014/main" id="{686070CF-F342-4E29-87C7-EE91A6F7B1F4}"/>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Se ve una oscilación. ¿Podemos afirmar inmediatamente “falta subir P”?</a:t>
            </a:r>
          </a:p>
        </p:txBody>
      </p:sp>
      <p:sp>
        <p:nvSpPr>
          <p:cNvPr id="5" name="">
            <a:extLst xmlns:a="http://schemas.openxmlformats.org/drawingml/2006/main">
              <a:ext uri="{FF2B5EF4-FFF2-40B4-BE49-F238E27FC236}">
                <a16:creationId xmlns:a16="http://schemas.microsoft.com/office/drawing/2014/main" id="{CA4250C5-0D38-43B6-B722-D8DF03BC4C11}"/>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Se registra qué se observó y se investiga montaje, hélice, condiciones, medida y configuración. Una apariencia no identifica una causa única.</a:t>
            </a:r>
          </a:p>
        </p:txBody>
      </p:sp>
    </p:spTree>
    <p:extLst>
      <p:ext uri="{BB962C8B-B14F-4D97-AF65-F5344CB8AC3E}">
        <p14:creationId xmlns:p14="http://schemas.microsoft.com/office/powerpoint/2010/main" val="281025276"/>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F774CA-0A37-4360-ABDB-9CAAC35F6FA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 registro para aprender a analizar</a:t>
            </a:r>
          </a:p>
        </p:txBody>
      </p:sp>
      <p:pic>
        <p:nvPicPr>
          <p:cNvPr id="2" name="">
            <a:extLst xmlns:a="http://schemas.openxmlformats.org/drawingml/2006/main">
              <a:ext uri="{FF2B5EF4-FFF2-40B4-BE49-F238E27FC236}">
                <a16:creationId xmlns:a16="http://schemas.microsoft.com/office/drawing/2014/main" id="{7422912F-3FD2-442F-B677-8BA92810643A}"/>
              </a:ext>
            </a:extLst>
          </p:cNvPr>
          <p:cNvPicPr>
            <a:picLocks xmlns:a="http://schemas.openxmlformats.org/drawingml/2006/main" noChangeAspect="1"/>
          </p:cNvPicPr>
          <p:nvPr/>
        </p:nvPicPr>
        <p:blipFill>
          <a:blip xmlns:r="http://schemas.openxmlformats.org/officeDocument/2006/relationships" xmlns:a="http://schemas.openxmlformats.org/drawingml/2006/main" r:embed="R0ad6eb4b8a4b42b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3DFACF0-B544-4170-BEDB-3CF4C3A05F1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14/24</a:t>
            </a:r>
          </a:p>
        </p:txBody>
      </p:sp>
      <p:sp>
        <p:nvSpPr>
          <p:cNvPr id="4" name="">
            <a:extLst xmlns:a="http://schemas.openxmlformats.org/drawingml/2006/main">
              <a:ext uri="{FF2B5EF4-FFF2-40B4-BE49-F238E27FC236}">
                <a16:creationId xmlns:a16="http://schemas.microsoft.com/office/drawing/2014/main" id="{55DB52B8-25C0-410C-BB27-3D83DAEB4A1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archivo Blackbox, un registro del autopiloto y un CSV de aula tienen estructura y procedencia distintas. El conjunto sintético incluido sirve para practicar lectura y cálculo; no se anuncia como archivo nativo reproducible de esas herramientas. Si Gerard aporta datos reales, conserva firmware, configuración, origen temporal y condiciones de adquisición antes de compararlos.</a:t>
            </a:r>
          </a:p>
        </p:txBody>
      </p:sp>
    </p:spTree>
    <p:extLst>
      <p:ext uri="{BB962C8B-B14F-4D97-AF65-F5344CB8AC3E}">
        <p14:creationId xmlns:p14="http://schemas.microsoft.com/office/powerpoint/2010/main" val="914043986"/>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5FD6B6-C7C1-40D6-AE1A-079132C71F0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Datos sintéticos del caso, no de un vuelo MECRO</a:t>
            </a:r>
          </a:p>
        </p:txBody>
      </p:sp>
      <p:pic>
        <p:nvPicPr>
          <p:cNvPr id="2" name="">
            <a:extLst xmlns:a="http://schemas.openxmlformats.org/drawingml/2006/main">
              <a:ext uri="{FF2B5EF4-FFF2-40B4-BE49-F238E27FC236}">
                <a16:creationId xmlns:a16="http://schemas.microsoft.com/office/drawing/2014/main" id="{B8F74D6D-D67C-4E43-85D7-5B59C97C1575}"/>
              </a:ext>
            </a:extLst>
          </p:cNvPr>
          <p:cNvPicPr>
            <a:picLocks xmlns:a="http://schemas.openxmlformats.org/drawingml/2006/main" noChangeAspect="1"/>
          </p:cNvPicPr>
          <p:nvPr/>
        </p:nvPicPr>
        <p:blipFill>
          <a:blip xmlns:r="http://schemas.openxmlformats.org/officeDocument/2006/relationships" xmlns:a="http://schemas.openxmlformats.org/drawingml/2006/main" r:embed="Re9f38ad06b77425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18F4168-EBCD-4A73-9BB2-121EACF290C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15/24</a:t>
            </a:r>
          </a:p>
        </p:txBody>
      </p:sp>
      <p:graphicFrame>
        <p:nvGraphicFramePr>
          <p:cNvPr id="4" name="">
            <a:extLst xmlns:a="http://schemas.openxmlformats.org/drawingml/2006/main">
              <a:ext uri="{FF2B5EF4-FFF2-40B4-BE49-F238E27FC236}">
                <a16:creationId xmlns:a16="http://schemas.microsoft.com/office/drawing/2014/main" id="{255EB24A-654F-42BF-9A5B-039FF3917706}"/>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Tiempo / s</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Tensión / V</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Corriente / 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22,2</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0</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30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21,8</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10</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60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21,1</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14</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90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20,9</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9</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697232262"/>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90ECEA-3063-4390-836F-A961039684E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Potencia de las muestras del caso</a:t>
            </a:r>
          </a:p>
        </p:txBody>
      </p:sp>
      <p:pic>
        <p:nvPicPr>
          <p:cNvPr id="2" name="">
            <a:extLst xmlns:a="http://schemas.openxmlformats.org/drawingml/2006/main">
              <a:ext uri="{FF2B5EF4-FFF2-40B4-BE49-F238E27FC236}">
                <a16:creationId xmlns:a16="http://schemas.microsoft.com/office/drawing/2014/main" id="{3249EAFA-9BE9-4CCB-B965-1CDF672323ED}"/>
              </a:ext>
            </a:extLst>
          </p:cNvPr>
          <p:cNvPicPr>
            <a:picLocks xmlns:a="http://schemas.openxmlformats.org/drawingml/2006/main" noChangeAspect="1"/>
          </p:cNvPicPr>
          <p:nvPr/>
        </p:nvPicPr>
        <p:blipFill>
          <a:blip xmlns:r="http://schemas.openxmlformats.org/officeDocument/2006/relationships" xmlns:a="http://schemas.openxmlformats.org/drawingml/2006/main" r:embed="Rf864c6b3ae724ce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FF070C7-1707-474B-8E8E-661A21964F8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16/24</a:t>
            </a:r>
          </a:p>
        </p:txBody>
      </p:sp>
      <p:graphicFrame>
        <p:nvGraphicFramePr>
          <p:cNvPr id="4" name="Chart">
            <a:extLst xmlns:a="http://schemas.openxmlformats.org/drawingml/2006/main">
              <a:ext uri="{FF2B5EF4-FFF2-40B4-BE49-F238E27FC236}">
                <a16:creationId xmlns:a16="http://schemas.microsoft.com/office/drawing/2014/main" id="{E9F68EA7-FD96-49F6-8657-DB74909EFBF5}"/>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621e554b3d6449f8"/>
          </a:graphicData>
        </a:graphic>
      </p:graphicFrame>
      <p:sp>
        <p:nvSpPr>
          <p:cNvPr id="5" name="">
            <a:extLst xmlns:a="http://schemas.openxmlformats.org/drawingml/2006/main">
              <a:ext uri="{FF2B5EF4-FFF2-40B4-BE49-F238E27FC236}">
                <a16:creationId xmlns:a16="http://schemas.microsoft.com/office/drawing/2014/main" id="{0B63EEB0-55A7-43BC-A77A-4C34CBF93141}"/>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Conjunto sintético de aula: V e I corresponden a cada instante. No es un archivo Blackbox ni un vuelo MECRO.</a:t>
            </a:r>
          </a:p>
        </p:txBody>
      </p:sp>
    </p:spTree>
    <p:extLst>
      <p:ext uri="{BB962C8B-B14F-4D97-AF65-F5344CB8AC3E}">
        <p14:creationId xmlns:p14="http://schemas.microsoft.com/office/powerpoint/2010/main" val="723561968"/>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7C375C-FE6C-4EC5-A1E9-61058B42F4A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Defensa del expediente y siguiente ruta</a:t>
            </a:r>
          </a:p>
        </p:txBody>
      </p:sp>
      <p:pic>
        <p:nvPicPr>
          <p:cNvPr id="2" name="">
            <a:extLst xmlns:a="http://schemas.openxmlformats.org/drawingml/2006/main">
              <a:ext uri="{FF2B5EF4-FFF2-40B4-BE49-F238E27FC236}">
                <a16:creationId xmlns:a16="http://schemas.microsoft.com/office/drawing/2014/main" id="{E1965146-93DA-4200-AE6F-DB3632763983}"/>
              </a:ext>
            </a:extLst>
          </p:cNvPr>
          <p:cNvPicPr>
            <a:picLocks xmlns:a="http://schemas.openxmlformats.org/drawingml/2006/main" noChangeAspect="1"/>
          </p:cNvPicPr>
          <p:nvPr/>
        </p:nvPicPr>
        <p:blipFill>
          <a:blip xmlns:r="http://schemas.openxmlformats.org/officeDocument/2006/relationships" xmlns:a="http://schemas.openxmlformats.org/drawingml/2006/main" r:embed="Rcc807f2fa9b84bf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6CA8216-112B-4B38-823D-4C4697B90ED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17/24</a:t>
            </a:r>
          </a:p>
        </p:txBody>
      </p:sp>
      <p:sp>
        <p:nvSpPr>
          <p:cNvPr id="4" name="">
            <a:extLst xmlns:a="http://schemas.openxmlformats.org/drawingml/2006/main">
              <a:ext uri="{FF2B5EF4-FFF2-40B4-BE49-F238E27FC236}">
                <a16:creationId xmlns:a16="http://schemas.microsoft.com/office/drawing/2014/main" id="{DE83CE18-D0CB-4506-869A-A0C143F077E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egresado debe poder preparar una compra razonada y reconstruir el proceso de ensamblaje y configuración básica. La práctica individual extensa de soldadura, pilotaje FPV, ajuste avanzado de filtros/PID y misiones autónomas completas requieren bloques posteriores. Las ocho sesiones conservan una meta alcanzable y dejan una ruta clara para profundizar sin prometer que una sola demostración forme especialistas en todos los sistemas.</a:t>
            </a:r>
          </a:p>
        </p:txBody>
      </p:sp>
    </p:spTree>
    <p:extLst>
      <p:ext uri="{BB962C8B-B14F-4D97-AF65-F5344CB8AC3E}">
        <p14:creationId xmlns:p14="http://schemas.microsoft.com/office/powerpoint/2010/main" val="1769888078"/>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B84969-BD76-47C2-8842-598CB60BBE0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Evaluación del curso</a:t>
            </a:r>
          </a:p>
        </p:txBody>
      </p:sp>
      <p:pic>
        <p:nvPicPr>
          <p:cNvPr id="2" name="">
            <a:extLst xmlns:a="http://schemas.openxmlformats.org/drawingml/2006/main">
              <a:ext uri="{FF2B5EF4-FFF2-40B4-BE49-F238E27FC236}">
                <a16:creationId xmlns:a16="http://schemas.microsoft.com/office/drawing/2014/main" id="{5BEE36E3-CFDC-435B-AD25-95D73F492489}"/>
              </a:ext>
            </a:extLst>
          </p:cNvPr>
          <p:cNvPicPr>
            <a:picLocks xmlns:a="http://schemas.openxmlformats.org/drawingml/2006/main" noChangeAspect="1"/>
          </p:cNvPicPr>
          <p:nvPr/>
        </p:nvPicPr>
        <p:blipFill>
          <a:blip xmlns:r="http://schemas.openxmlformats.org/officeDocument/2006/relationships" xmlns:a="http://schemas.openxmlformats.org/drawingml/2006/main" r:embed="R90524988abfe466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F4586E9-D238-465A-984D-B14B1C7E96E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18/24</a:t>
            </a:r>
          </a:p>
        </p:txBody>
      </p:sp>
      <p:graphicFrame>
        <p:nvGraphicFramePr>
          <p:cNvPr id="4" name="">
            <a:extLst xmlns:a="http://schemas.openxmlformats.org/drawingml/2006/main">
              <a:ext uri="{FF2B5EF4-FFF2-40B4-BE49-F238E27FC236}">
                <a16:creationId xmlns:a16="http://schemas.microsoft.com/office/drawing/2014/main" id="{08724C42-1AF5-45FE-A70B-251022ECFC52}"/>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Componente</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Peso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se revisa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Selección y cálculos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35 %</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Compatibilidad y condiciones</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Esquema y secuencia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25 %</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Ensamblaje explicable</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Configuración y comprobaciones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25 %</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Correspondencia y evidencia</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Defensa individual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15 %</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Decisión, límite y siguiente prueba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635920335"/>
      </p:ext>
    </p:extLst>
  </p:cSld>
</p:sld>
</file>

<file path=ppt/slides/slide4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173DD0-9D65-4B4D-9D65-00DD7037BA8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Defensa del expediente y siguiente ruta</a:t>
            </a:r>
          </a:p>
        </p:txBody>
      </p:sp>
      <p:pic>
        <p:nvPicPr>
          <p:cNvPr id="2" name="">
            <a:extLst xmlns:a="http://schemas.openxmlformats.org/drawingml/2006/main">
              <a:ext uri="{FF2B5EF4-FFF2-40B4-BE49-F238E27FC236}">
                <a16:creationId xmlns:a16="http://schemas.microsoft.com/office/drawing/2014/main" id="{1C4F3DC1-2147-4260-9284-4E34065AAFBE}"/>
              </a:ext>
            </a:extLst>
          </p:cNvPr>
          <p:cNvPicPr>
            <a:picLocks xmlns:a="http://schemas.openxmlformats.org/drawingml/2006/main" noChangeAspect="1"/>
          </p:cNvPicPr>
          <p:nvPr/>
        </p:nvPicPr>
        <p:blipFill>
          <a:blip xmlns:r="http://schemas.openxmlformats.org/officeDocument/2006/relationships" xmlns:a="http://schemas.openxmlformats.org/drawingml/2006/main" r:embed="R0005748911aa443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EB63E5-8193-4836-9E05-82815E3A8CD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19/24</a:t>
            </a:r>
          </a:p>
        </p:txBody>
      </p:sp>
      <p:sp>
        <p:nvSpPr>
          <p:cNvPr id="4" name="">
            <a:extLst xmlns:a="http://schemas.openxmlformats.org/drawingml/2006/main">
              <a:ext uri="{FF2B5EF4-FFF2-40B4-BE49-F238E27FC236}">
                <a16:creationId xmlns:a16="http://schemas.microsoft.com/office/drawing/2014/main" id="{20334039-F189-4CB3-A9B0-9B532720A3A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Presenta propósito, referencia de tamaño y arquitectura.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Justifica una selección de propulsión con datos y unidades.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Sigue una ruta de energía y otra de información.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Explica una comprobación observada en los presenciales.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Reconoce una limitación del expediente y propone cómo resolverla.</a:t>
            </a:r>
          </a:p>
        </p:txBody>
      </p:sp>
    </p:spTree>
    <p:extLst>
      <p:ext uri="{BB962C8B-B14F-4D97-AF65-F5344CB8AC3E}">
        <p14:creationId xmlns:p14="http://schemas.microsoft.com/office/powerpoint/2010/main" val="1698952786"/>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C953EA-A889-4326-A32A-1369C70615E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056BA3C2-BBAD-4D95-95B9-770B6A2B18CA}"/>
              </a:ext>
            </a:extLst>
          </p:cNvPr>
          <p:cNvPicPr>
            <a:picLocks xmlns:a="http://schemas.openxmlformats.org/drawingml/2006/main" noChangeAspect="1"/>
          </p:cNvPicPr>
          <p:nvPr/>
        </p:nvPicPr>
        <p:blipFill>
          <a:blip xmlns:r="http://schemas.openxmlformats.org/officeDocument/2006/relationships" xmlns:a="http://schemas.openxmlformats.org/drawingml/2006/main" r:embed="R3cc74d8928f341d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1A34DFB-75A6-43A5-A4C4-B307146D09B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20/24</a:t>
            </a:r>
          </a:p>
        </p:txBody>
      </p:sp>
      <p:sp>
        <p:nvSpPr>
          <p:cNvPr id="4" name="">
            <a:extLst xmlns:a="http://schemas.openxmlformats.org/drawingml/2006/main">
              <a:ext uri="{FF2B5EF4-FFF2-40B4-BE49-F238E27FC236}">
                <a16:creationId xmlns:a16="http://schemas.microsoft.com/office/drawing/2014/main" id="{1309C126-1C86-444B-A2D7-2719FB448DB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Contrastar el acta de montaje con una aeronave preparada.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Comprobar entradas y salidas antes de presentar el vuelo.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Relacionar la demostración o el caso alternativo con un registro identificado.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Evaluar el expediente y la defensa individual de una decisión.</a:t>
            </a:r>
          </a:p>
        </p:txBody>
      </p:sp>
    </p:spTree>
    <p:extLst>
      <p:ext uri="{BB962C8B-B14F-4D97-AF65-F5344CB8AC3E}">
        <p14:creationId xmlns:p14="http://schemas.microsoft.com/office/powerpoint/2010/main" val="1575345721"/>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EE72FF-D36F-422C-8F98-F64CFA8E54B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de ensamblaje</a:t>
            </a:r>
          </a:p>
        </p:txBody>
      </p:sp>
      <p:pic>
        <p:nvPicPr>
          <p:cNvPr id="2" name="">
            <a:extLst xmlns:a="http://schemas.openxmlformats.org/drawingml/2006/main">
              <a:ext uri="{FF2B5EF4-FFF2-40B4-BE49-F238E27FC236}">
                <a16:creationId xmlns:a16="http://schemas.microsoft.com/office/drawing/2014/main" id="{AEFF9682-2394-4859-9456-21B59237E778}"/>
              </a:ext>
            </a:extLst>
          </p:cNvPr>
          <p:cNvPicPr>
            <a:picLocks xmlns:a="http://schemas.openxmlformats.org/drawingml/2006/main" noChangeAspect="1"/>
          </p:cNvPicPr>
          <p:nvPr/>
        </p:nvPicPr>
        <p:blipFill>
          <a:blip xmlns:r="http://schemas.openxmlformats.org/officeDocument/2006/relationships" xmlns:a="http://schemas.openxmlformats.org/drawingml/2006/main" r:embed="Rfb8f84a5329f492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048AEE0-60CE-45E5-BDCC-17863E85451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21/24</a:t>
            </a:r>
          </a:p>
        </p:txBody>
      </p:sp>
      <p:sp>
        <p:nvSpPr>
          <p:cNvPr id="4" name="">
            <a:extLst xmlns:a="http://schemas.openxmlformats.org/drawingml/2006/main">
              <a:ext uri="{FF2B5EF4-FFF2-40B4-BE49-F238E27FC236}">
                <a16:creationId xmlns:a16="http://schemas.microsoft.com/office/drawing/2014/main" id="{DC840C9B-0493-4926-BA86-8C538D6A09B9}"/>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cierre muestra cómo el ensamblaje y la configuración sostienen una demostración observada y una decisión de mejora.</a:t>
            </a:r>
          </a:p>
        </p:txBody>
      </p:sp>
      <p:sp>
        <p:nvSpPr>
          <p:cNvPr id="5" name="">
            <a:extLst xmlns:a="http://schemas.openxmlformats.org/drawingml/2006/main">
              <a:ext uri="{FF2B5EF4-FFF2-40B4-BE49-F238E27FC236}">
                <a16:creationId xmlns:a16="http://schemas.microsoft.com/office/drawing/2014/main" id="{91AB2ACF-2896-42BC-B023-CC7B498DB2A2}"/>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una pieza, el esquema o un dato. ¿Qué falta comprobar?</a:t>
            </a:r>
          </a:p>
        </p:txBody>
      </p:sp>
    </p:spTree>
    <p:extLst>
      <p:ext uri="{BB962C8B-B14F-4D97-AF65-F5344CB8AC3E}">
        <p14:creationId xmlns:p14="http://schemas.microsoft.com/office/powerpoint/2010/main" val="1516283332"/>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AEDBDC-EF9E-4D57-8E03-300E8CF528A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04091EA7-3B78-4E1A-B0F2-C4E555317123}"/>
              </a:ext>
            </a:extLst>
          </p:cNvPr>
          <p:cNvPicPr>
            <a:picLocks xmlns:a="http://schemas.openxmlformats.org/drawingml/2006/main" noChangeAspect="1"/>
          </p:cNvPicPr>
          <p:nvPr/>
        </p:nvPicPr>
        <p:blipFill>
          <a:blip xmlns:r="http://schemas.openxmlformats.org/officeDocument/2006/relationships" xmlns:a="http://schemas.openxmlformats.org/drawingml/2006/main" r:embed="R7233ec78dda344a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ED9BA20-2EDA-4C07-92B4-84DDEE0E5AC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22/24</a:t>
            </a:r>
          </a:p>
        </p:txBody>
      </p:sp>
      <p:sp>
        <p:nvSpPr>
          <p:cNvPr id="4" name="">
            <a:extLst xmlns:a="http://schemas.openxmlformats.org/drawingml/2006/main">
              <a:ext uri="{FF2B5EF4-FFF2-40B4-BE49-F238E27FC236}">
                <a16:creationId xmlns:a16="http://schemas.microsoft.com/office/drawing/2014/main" id="{68FBCE48-26EF-42E5-B31C-91911C622B9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¿Ver una oscilación identifica una ganancia incorrecta?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¿El CSV incluido es un Blackbox real?</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debe poder defender el alumno al finalizar?</a:t>
            </a:r>
          </a:p>
        </p:txBody>
      </p:sp>
    </p:spTree>
    <p:extLst>
      <p:ext uri="{BB962C8B-B14F-4D97-AF65-F5344CB8AC3E}">
        <p14:creationId xmlns:p14="http://schemas.microsoft.com/office/powerpoint/2010/main" val="704299100"/>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5E5248-86BC-4B43-8DE9-5837A8BC2BB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B51218E2-90B6-4FE2-84D2-9D95823BC25C}"/>
              </a:ext>
            </a:extLst>
          </p:cNvPr>
          <p:cNvPicPr>
            <a:picLocks xmlns:a="http://schemas.openxmlformats.org/drawingml/2006/main" noChangeAspect="1"/>
          </p:cNvPicPr>
          <p:nvPr/>
        </p:nvPicPr>
        <p:blipFill>
          <a:blip xmlns:r="http://schemas.openxmlformats.org/officeDocument/2006/relationships" xmlns:a="http://schemas.openxmlformats.org/drawingml/2006/main" r:embed="Rb903c0dc0dff472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3E01DEA-EBB1-42EB-AB43-2D53E769C8D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23/24</a:t>
            </a:r>
          </a:p>
        </p:txBody>
      </p:sp>
      <p:sp>
        <p:nvSpPr>
          <p:cNvPr id="4" name="">
            <a:extLst xmlns:a="http://schemas.openxmlformats.org/drawingml/2006/main">
              <a:ext uri="{FF2B5EF4-FFF2-40B4-BE49-F238E27FC236}">
                <a16:creationId xmlns:a16="http://schemas.microsoft.com/office/drawing/2014/main" id="{BC730092-1A4A-44C0-88F3-3DBC0AD67A0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Es un síntoma; la causa requiere contrastar otras evidencias.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Es un conjunto sintético de aula y se mantiene identificado como tal.</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Una selección compatible, un esquema, una secuencia y las comprobaciones que respaldan su conclusión.</a:t>
            </a:r>
          </a:p>
        </p:txBody>
      </p:sp>
    </p:spTree>
    <p:extLst>
      <p:ext uri="{BB962C8B-B14F-4D97-AF65-F5344CB8AC3E}">
        <p14:creationId xmlns:p14="http://schemas.microsoft.com/office/powerpoint/2010/main" val="1385929281"/>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7998CD-F0AC-4199-9DCD-A243387A588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A6E82974-DA5E-4F44-8FE9-595CE2F4F926}"/>
              </a:ext>
            </a:extLst>
          </p:cNvPr>
          <p:cNvPicPr>
            <a:picLocks xmlns:a="http://schemas.openxmlformats.org/drawingml/2006/main" noChangeAspect="1"/>
          </p:cNvPicPr>
          <p:nvPr/>
        </p:nvPicPr>
        <p:blipFill>
          <a:blip xmlns:r="http://schemas.openxmlformats.org/officeDocument/2006/relationships" xmlns:a="http://schemas.openxmlformats.org/drawingml/2006/main" r:embed="R6ad2739625f04f7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313B66B-7CEB-4C14-AE82-A8C2A463518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24/24</a:t>
            </a:r>
          </a:p>
        </p:txBody>
      </p:sp>
      <p:sp>
        <p:nvSpPr>
          <p:cNvPr id="4" name="">
            <a:extLst xmlns:a="http://schemas.openxmlformats.org/drawingml/2006/main">
              <a:ext uri="{FF2B5EF4-FFF2-40B4-BE49-F238E27FC236}">
                <a16:creationId xmlns:a16="http://schemas.microsoft.com/office/drawing/2014/main" id="{B687B309-0ACC-4DC9-86B2-192F7FE08F79}"/>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Expediente final, análisis del caso observado y defensa individual de una mejora.</a:t>
            </a:r>
          </a:p>
        </p:txBody>
      </p:sp>
      <p:sp>
        <p:nvSpPr>
          <p:cNvPr id="5" name="">
            <a:extLst xmlns:a="http://schemas.openxmlformats.org/drawingml/2006/main">
              <a:ext uri="{FF2B5EF4-FFF2-40B4-BE49-F238E27FC236}">
                <a16:creationId xmlns:a16="http://schemas.microsoft.com/office/drawing/2014/main" id="{71358E40-9987-4ADE-9250-B6F47F17236B}"/>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17946061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2026-10-22T23:52:48.4810000Z</dcterms:created>
  <dcterms:modified xsi:type="dcterms:W3CDTF">2026-10-22T23:52:48.4810000Z</dcterms:modified>
</coreProperties>
</file>