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slides/charts/chart2.xml" ContentType="application/vnd.openxmlformats-officedocument.drawingml.chart+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slides/charts/chart3.xml" ContentType="application/vnd.openxmlformats-officedocument.drawingml.chart+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ceaad63145d4139" /><Relationship Type="http://schemas.openxmlformats.org/officeDocument/2006/relationships/extended-properties" Target="/docProps/app.xml" Id="Rc7411e652e094eef" /><Relationship Type="http://schemas.openxmlformats.org/officeDocument/2006/relationships/officeDocument" Target="/ppt/presentation.xml" Id="R59bb51d0ff7a4f5c" /></Relationships>
</file>

<file path=ppt/presentation.xml><?xml version="1.0" encoding="utf-8"?>
<p:presentation xmlns:p="http://schemas.openxmlformats.org/presentationml/2006/main">
  <p:sldMasterIdLst>
    <p:sldMasterId xmlns:r="http://schemas.openxmlformats.org/officeDocument/2006/relationships" id="2147483648" r:id="Rcdc6beebe51e4e34"/>
  </p:sldMasterIdLst>
  <p:notesMasterIdLst>
    <p:notesMasterId xmlns:r="http://schemas.openxmlformats.org/officeDocument/2006/relationships" r:id="R28d3cd4a7ee5448a"/>
  </p:notesMasterIdLst>
  <p:sldIdLst>
    <p:sldId xmlns:r="http://schemas.openxmlformats.org/officeDocument/2006/relationships" id="256" r:id="R9c6fd776f4364620"/>
    <p:sldId xmlns:r="http://schemas.openxmlformats.org/officeDocument/2006/relationships" id="257" r:id="Rc750e9a9a49447c0"/>
    <p:sldId xmlns:r="http://schemas.openxmlformats.org/officeDocument/2006/relationships" id="258" r:id="R970c4c4f63904b89"/>
    <p:sldId xmlns:r="http://schemas.openxmlformats.org/officeDocument/2006/relationships" id="259" r:id="R5806b8c945ce40d7"/>
    <p:sldId xmlns:r="http://schemas.openxmlformats.org/officeDocument/2006/relationships" id="260" r:id="R91071b0bf7a043fb"/>
    <p:sldId xmlns:r="http://schemas.openxmlformats.org/officeDocument/2006/relationships" id="261" r:id="R2205c66f077445ab"/>
    <p:sldId xmlns:r="http://schemas.openxmlformats.org/officeDocument/2006/relationships" id="262" r:id="Rda52df6499e74306"/>
    <p:sldId xmlns:r="http://schemas.openxmlformats.org/officeDocument/2006/relationships" id="263" r:id="Rfc9df03c623146a3"/>
    <p:sldId xmlns:r="http://schemas.openxmlformats.org/officeDocument/2006/relationships" id="264" r:id="Rea5b5dc6ab1043c0"/>
    <p:sldId xmlns:r="http://schemas.openxmlformats.org/officeDocument/2006/relationships" id="265" r:id="R9c34f665c58940bd"/>
    <p:sldId xmlns:r="http://schemas.openxmlformats.org/officeDocument/2006/relationships" id="266" r:id="R4f95410ebcc54a30"/>
    <p:sldId xmlns:r="http://schemas.openxmlformats.org/officeDocument/2006/relationships" id="267" r:id="R4f9c19377373491a"/>
    <p:sldId xmlns:r="http://schemas.openxmlformats.org/officeDocument/2006/relationships" id="268" r:id="R722e843062ba4a25"/>
    <p:sldId xmlns:r="http://schemas.openxmlformats.org/officeDocument/2006/relationships" id="269" r:id="R3796d562fd484cba"/>
    <p:sldId xmlns:r="http://schemas.openxmlformats.org/officeDocument/2006/relationships" id="270" r:id="R1b4be5f95c8648b5"/>
    <p:sldId xmlns:r="http://schemas.openxmlformats.org/officeDocument/2006/relationships" id="271" r:id="R8a7ed4ca309e4080"/>
    <p:sldId xmlns:r="http://schemas.openxmlformats.org/officeDocument/2006/relationships" id="272" r:id="Rff8a4339f8314da8"/>
    <p:sldId xmlns:r="http://schemas.openxmlformats.org/officeDocument/2006/relationships" id="273" r:id="R02e9b8a4032c462c"/>
    <p:sldId xmlns:r="http://schemas.openxmlformats.org/officeDocument/2006/relationships" id="274" r:id="Rf3e615168b7447f2"/>
    <p:sldId xmlns:r="http://schemas.openxmlformats.org/officeDocument/2006/relationships" id="275" r:id="R9bda75ff5eac4d51"/>
    <p:sldId xmlns:r="http://schemas.openxmlformats.org/officeDocument/2006/relationships" id="276" r:id="R35fbb6478c50486c"/>
    <p:sldId xmlns:r="http://schemas.openxmlformats.org/officeDocument/2006/relationships" id="277" r:id="R9d31e68b80d5428a"/>
    <p:sldId xmlns:r="http://schemas.openxmlformats.org/officeDocument/2006/relationships" id="278" r:id="Rcd1aa21bf1af482a"/>
    <p:sldId xmlns:r="http://schemas.openxmlformats.org/officeDocument/2006/relationships" id="279" r:id="R21690043447b4d79"/>
    <p:sldId xmlns:r="http://schemas.openxmlformats.org/officeDocument/2006/relationships" id="280" r:id="R18172b4ee596406b"/>
    <p:sldId xmlns:r="http://schemas.openxmlformats.org/officeDocument/2006/relationships" id="281" r:id="R844a2c753fc2494e"/>
    <p:sldId xmlns:r="http://schemas.openxmlformats.org/officeDocument/2006/relationships" id="282" r:id="Rd4e62fcd3a0d4dbc"/>
    <p:sldId xmlns:r="http://schemas.openxmlformats.org/officeDocument/2006/relationships" id="283" r:id="R4b9a4e1bb3a240a1"/>
    <p:sldId xmlns:r="http://schemas.openxmlformats.org/officeDocument/2006/relationships" id="284" r:id="R2c2aab8900c541d2"/>
    <p:sldId xmlns:r="http://schemas.openxmlformats.org/officeDocument/2006/relationships" id="285" r:id="Rb19e32fbf91b4c44"/>
    <p:sldId xmlns:r="http://schemas.openxmlformats.org/officeDocument/2006/relationships" id="286" r:id="Rb7edf36c5ba9479b"/>
    <p:sldId xmlns:r="http://schemas.openxmlformats.org/officeDocument/2006/relationships" id="287" r:id="R21c35dfc2d9c4fda"/>
    <p:sldId xmlns:r="http://schemas.openxmlformats.org/officeDocument/2006/relationships" id="288" r:id="R3cd14ea74e414046"/>
    <p:sldId xmlns:r="http://schemas.openxmlformats.org/officeDocument/2006/relationships" id="289" r:id="R02fedabbdb8f4341"/>
    <p:sldId xmlns:r="http://schemas.openxmlformats.org/officeDocument/2006/relationships" id="290" r:id="Rd7c447b1e59441c1"/>
    <p:sldId xmlns:r="http://schemas.openxmlformats.org/officeDocument/2006/relationships" id="291" r:id="R1bfaf034a47844c6"/>
    <p:sldId xmlns:r="http://schemas.openxmlformats.org/officeDocument/2006/relationships" id="292" r:id="R618a36068cf64133"/>
    <p:sldId xmlns:r="http://schemas.openxmlformats.org/officeDocument/2006/relationships" id="293" r:id="Rd5678c3f8ec54e57"/>
    <p:sldId xmlns:r="http://schemas.openxmlformats.org/officeDocument/2006/relationships" id="294" r:id="R84bf4472a94f4051"/>
    <p:sldId xmlns:r="http://schemas.openxmlformats.org/officeDocument/2006/relationships" id="295" r:id="R61d3a8b92d5443e3"/>
    <p:sldId xmlns:r="http://schemas.openxmlformats.org/officeDocument/2006/relationships" id="296" r:id="R3bafaf26e7134104"/>
    <p:sldId xmlns:r="http://schemas.openxmlformats.org/officeDocument/2006/relationships" id="297" r:id="Rc3b16dad59ab4e57"/>
    <p:sldId xmlns:r="http://schemas.openxmlformats.org/officeDocument/2006/relationships" id="298" r:id="Rf18f188c55694df1"/>
    <p:sldId xmlns:r="http://schemas.openxmlformats.org/officeDocument/2006/relationships" id="299" r:id="Ra17ac8a5b98c403c"/>
    <p:sldId xmlns:r="http://schemas.openxmlformats.org/officeDocument/2006/relationships" id="300" r:id="Re1567b7920f44485"/>
    <p:sldId xmlns:r="http://schemas.openxmlformats.org/officeDocument/2006/relationships" id="301" r:id="R10af2ac16be54b36"/>
    <p:sldId xmlns:r="http://schemas.openxmlformats.org/officeDocument/2006/relationships" id="302" r:id="Ra934fa246cd74eec"/>
    <p:sldId xmlns:r="http://schemas.openxmlformats.org/officeDocument/2006/relationships" id="303" r:id="Rc8f1285db61a4cb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374d8e5e824325" /><Relationship Type="http://schemas.openxmlformats.org/officeDocument/2006/relationships/slideMaster" Target="/ppt/slideMasters/slideMaster1.xml" Id="Rcdc6beebe51e4e34" /><Relationship Type="http://schemas.openxmlformats.org/officeDocument/2006/relationships/notesMaster" Target="/ppt/notesMasters/notesMaster1.xml" Id="R28d3cd4a7ee5448a" /><Relationship Type="http://schemas.openxmlformats.org/officeDocument/2006/relationships/presProps" Target="/ppt/presProps.xml" Id="R6c7e0286d1d347f7" /><Relationship Type="http://schemas.openxmlformats.org/officeDocument/2006/relationships/tableStyles" Target="/ppt/tableStyles.xml" Id="R1a72510b35094eba" /><Relationship Type="http://schemas.openxmlformats.org/officeDocument/2006/relationships/slide" Target="/ppt/slides/slide1.xml" Id="R9c6fd776f4364620" /><Relationship Type="http://schemas.openxmlformats.org/officeDocument/2006/relationships/slide" Target="/ppt/slides/slide2.xml" Id="Rc750e9a9a49447c0" /><Relationship Type="http://schemas.openxmlformats.org/officeDocument/2006/relationships/slide" Target="/ppt/slides/slide3.xml" Id="R970c4c4f63904b89" /><Relationship Type="http://schemas.openxmlformats.org/officeDocument/2006/relationships/slide" Target="/ppt/slides/slide4.xml" Id="R5806b8c945ce40d7" /><Relationship Type="http://schemas.openxmlformats.org/officeDocument/2006/relationships/slide" Target="/ppt/slides/slide5.xml" Id="R91071b0bf7a043fb" /><Relationship Type="http://schemas.openxmlformats.org/officeDocument/2006/relationships/slide" Target="/ppt/slides/slide6.xml" Id="R2205c66f077445ab" /><Relationship Type="http://schemas.openxmlformats.org/officeDocument/2006/relationships/slide" Target="/ppt/slides/slide7.xml" Id="Rda52df6499e74306" /><Relationship Type="http://schemas.openxmlformats.org/officeDocument/2006/relationships/slide" Target="/ppt/slides/slide8.xml" Id="Rfc9df03c623146a3" /><Relationship Type="http://schemas.openxmlformats.org/officeDocument/2006/relationships/slide" Target="/ppt/slides/slide9.xml" Id="Rea5b5dc6ab1043c0" /><Relationship Type="http://schemas.openxmlformats.org/officeDocument/2006/relationships/slide" Target="/ppt/slides/slide10.xml" Id="R9c34f665c58940bd" /><Relationship Type="http://schemas.openxmlformats.org/officeDocument/2006/relationships/slide" Target="/ppt/slides/slide11.xml" Id="R4f95410ebcc54a30" /><Relationship Type="http://schemas.openxmlformats.org/officeDocument/2006/relationships/slide" Target="/ppt/slides/slide12.xml" Id="R4f9c19377373491a" /><Relationship Type="http://schemas.openxmlformats.org/officeDocument/2006/relationships/slide" Target="/ppt/slides/slide13.xml" Id="R722e843062ba4a25" /><Relationship Type="http://schemas.openxmlformats.org/officeDocument/2006/relationships/slide" Target="/ppt/slides/slide14.xml" Id="R3796d562fd484cba" /><Relationship Type="http://schemas.openxmlformats.org/officeDocument/2006/relationships/slide" Target="/ppt/slides/slide15.xml" Id="R1b4be5f95c8648b5" /><Relationship Type="http://schemas.openxmlformats.org/officeDocument/2006/relationships/slide" Target="/ppt/slides/slide16.xml" Id="R8a7ed4ca309e4080" /><Relationship Type="http://schemas.openxmlformats.org/officeDocument/2006/relationships/slide" Target="/ppt/slides/slide17.xml" Id="Rff8a4339f8314da8" /><Relationship Type="http://schemas.openxmlformats.org/officeDocument/2006/relationships/slide" Target="/ppt/slides/slide18.xml" Id="R02e9b8a4032c462c" /><Relationship Type="http://schemas.openxmlformats.org/officeDocument/2006/relationships/slide" Target="/ppt/slides/slide19.xml" Id="Rf3e615168b7447f2" /><Relationship Type="http://schemas.openxmlformats.org/officeDocument/2006/relationships/slide" Target="/ppt/slides/slide20.xml" Id="R9bda75ff5eac4d51" /><Relationship Type="http://schemas.openxmlformats.org/officeDocument/2006/relationships/slide" Target="/ppt/slides/slide21.xml" Id="R35fbb6478c50486c" /><Relationship Type="http://schemas.openxmlformats.org/officeDocument/2006/relationships/slide" Target="/ppt/slides/slide22.xml" Id="R9d31e68b80d5428a" /><Relationship Type="http://schemas.openxmlformats.org/officeDocument/2006/relationships/slide" Target="/ppt/slides/slide23.xml" Id="Rcd1aa21bf1af482a" /><Relationship Type="http://schemas.openxmlformats.org/officeDocument/2006/relationships/slide" Target="/ppt/slides/slide24.xml" Id="R21690043447b4d79" /><Relationship Type="http://schemas.openxmlformats.org/officeDocument/2006/relationships/slide" Target="/ppt/slides/slide25.xml" Id="R18172b4ee596406b" /><Relationship Type="http://schemas.openxmlformats.org/officeDocument/2006/relationships/slide" Target="/ppt/slides/slide26.xml" Id="R844a2c753fc2494e" /><Relationship Type="http://schemas.openxmlformats.org/officeDocument/2006/relationships/slide" Target="/ppt/slides/slide27.xml" Id="Rd4e62fcd3a0d4dbc" /><Relationship Type="http://schemas.openxmlformats.org/officeDocument/2006/relationships/slide" Target="/ppt/slides/slide28.xml" Id="R4b9a4e1bb3a240a1" /><Relationship Type="http://schemas.openxmlformats.org/officeDocument/2006/relationships/slide" Target="/ppt/slides/slide29.xml" Id="R2c2aab8900c541d2" /><Relationship Type="http://schemas.openxmlformats.org/officeDocument/2006/relationships/slide" Target="/ppt/slides/slide30.xml" Id="Rb19e32fbf91b4c44" /><Relationship Type="http://schemas.openxmlformats.org/officeDocument/2006/relationships/slide" Target="/ppt/slides/slide31.xml" Id="Rb7edf36c5ba9479b" /><Relationship Type="http://schemas.openxmlformats.org/officeDocument/2006/relationships/slide" Target="/ppt/slides/slide32.xml" Id="R21c35dfc2d9c4fda" /><Relationship Type="http://schemas.openxmlformats.org/officeDocument/2006/relationships/slide" Target="/ppt/slides/slide33.xml" Id="R3cd14ea74e414046" /><Relationship Type="http://schemas.openxmlformats.org/officeDocument/2006/relationships/slide" Target="/ppt/slides/slide34.xml" Id="R02fedabbdb8f4341" /><Relationship Type="http://schemas.openxmlformats.org/officeDocument/2006/relationships/slide" Target="/ppt/slides/slide35.xml" Id="Rd7c447b1e59441c1" /><Relationship Type="http://schemas.openxmlformats.org/officeDocument/2006/relationships/slide" Target="/ppt/slides/slide36.xml" Id="R1bfaf034a47844c6" /><Relationship Type="http://schemas.openxmlformats.org/officeDocument/2006/relationships/slide" Target="/ppt/slides/slide37.xml" Id="R618a36068cf64133" /><Relationship Type="http://schemas.openxmlformats.org/officeDocument/2006/relationships/slide" Target="/ppt/slides/slide38.xml" Id="Rd5678c3f8ec54e57" /><Relationship Type="http://schemas.openxmlformats.org/officeDocument/2006/relationships/slide" Target="/ppt/slides/slide39.xml" Id="R84bf4472a94f4051" /><Relationship Type="http://schemas.openxmlformats.org/officeDocument/2006/relationships/slide" Target="/ppt/slides/slide40.xml" Id="R61d3a8b92d5443e3" /><Relationship Type="http://schemas.openxmlformats.org/officeDocument/2006/relationships/slide" Target="/ppt/slides/slide41.xml" Id="R3bafaf26e7134104" /><Relationship Type="http://schemas.openxmlformats.org/officeDocument/2006/relationships/slide" Target="/ppt/slides/slide42.xml" Id="Rc3b16dad59ab4e57" /><Relationship Type="http://schemas.openxmlformats.org/officeDocument/2006/relationships/slide" Target="/ppt/slides/slide43.xml" Id="Rf18f188c55694df1" /><Relationship Type="http://schemas.openxmlformats.org/officeDocument/2006/relationships/slide" Target="/ppt/slides/slide44.xml" Id="Ra17ac8a5b98c403c" /><Relationship Type="http://schemas.openxmlformats.org/officeDocument/2006/relationships/slide" Target="/ppt/slides/slide45.xml" Id="Re1567b7920f44485" /><Relationship Type="http://schemas.openxmlformats.org/officeDocument/2006/relationships/slide" Target="/ppt/slides/slide46.xml" Id="R10af2ac16be54b36" /><Relationship Type="http://schemas.openxmlformats.org/officeDocument/2006/relationships/slide" Target="/ppt/slides/slide47.xml" Id="Ra934fa246cd74eec" /><Relationship Type="http://schemas.openxmlformats.org/officeDocument/2006/relationships/slide" Target="/ppt/slides/slide48.xml" Id="Rc8f1285db61a4c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58b6d58fe44a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95128dcc0d4628" /><Relationship Type="http://schemas.openxmlformats.org/officeDocument/2006/relationships/notesMaster" Target="/ppt/notesMasters/notesMaster1.xml" Id="R2c2cc634829649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b6ca4d08e548a8" /><Relationship Type="http://schemas.openxmlformats.org/officeDocument/2006/relationships/notesMaster" Target="/ppt/notesMasters/notesMaster1.xml" Id="R86b38a7cb60244c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b1327bab1e4599" /><Relationship Type="http://schemas.openxmlformats.org/officeDocument/2006/relationships/notesMaster" Target="/ppt/notesMasters/notesMaster1.xml" Id="Raf2bbba6798d40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19961da68c4e9c" /><Relationship Type="http://schemas.openxmlformats.org/officeDocument/2006/relationships/notesMaster" Target="/ppt/notesMasters/notesMaster1.xml" Id="Ref1d57bd576240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885df97ad841cc" /><Relationship Type="http://schemas.openxmlformats.org/officeDocument/2006/relationships/notesMaster" Target="/ppt/notesMasters/notesMaster1.xml" Id="Rcf567567a06544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a5b982e9d44869" /><Relationship Type="http://schemas.openxmlformats.org/officeDocument/2006/relationships/notesMaster" Target="/ppt/notesMasters/notesMaster1.xml" Id="R10d36cdb12334b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e4d182569e4b03" /><Relationship Type="http://schemas.openxmlformats.org/officeDocument/2006/relationships/notesMaster" Target="/ppt/notesMasters/notesMaster1.xml" Id="R427c7997418a46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76099f684e4c06" /><Relationship Type="http://schemas.openxmlformats.org/officeDocument/2006/relationships/notesMaster" Target="/ppt/notesMasters/notesMaster1.xml" Id="R2c2b89e93dc249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ded4be38dd4598" /><Relationship Type="http://schemas.openxmlformats.org/officeDocument/2006/relationships/notesMaster" Target="/ppt/notesMasters/notesMaster1.xml" Id="R0e93bccf6dc04e2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46b776f15841f8" /><Relationship Type="http://schemas.openxmlformats.org/officeDocument/2006/relationships/notesMaster" Target="/ppt/notesMasters/notesMaster1.xml" Id="R36b53b5058de47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fefcb7fc414560" /><Relationship Type="http://schemas.openxmlformats.org/officeDocument/2006/relationships/notesMaster" Target="/ppt/notesMasters/notesMaster1.xml" Id="Rb6630598063e4ee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7e120a3f5d4a91" /><Relationship Type="http://schemas.openxmlformats.org/officeDocument/2006/relationships/notesMaster" Target="/ppt/notesMasters/notesMaster1.xml" Id="R4daa0cd02a7e4f2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bcc74beb1c246ce" /><Relationship Type="http://schemas.openxmlformats.org/officeDocument/2006/relationships/notesMaster" Target="/ppt/notesMasters/notesMaster1.xml" Id="R111ed8cd46c64c8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6937f2fc4f74a2a" /><Relationship Type="http://schemas.openxmlformats.org/officeDocument/2006/relationships/notesMaster" Target="/ppt/notesMasters/notesMaster1.xml" Id="Rf052dcf6ed2240f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3f328e77ae64f00" /><Relationship Type="http://schemas.openxmlformats.org/officeDocument/2006/relationships/notesMaster" Target="/ppt/notesMasters/notesMaster1.xml" Id="R2871a99d3cc1438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7f494da32bc43f5" /><Relationship Type="http://schemas.openxmlformats.org/officeDocument/2006/relationships/notesMaster" Target="/ppt/notesMasters/notesMaster1.xml" Id="Re953f66c24294d8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da888b28b854473" /><Relationship Type="http://schemas.openxmlformats.org/officeDocument/2006/relationships/notesMaster" Target="/ppt/notesMasters/notesMaster1.xml" Id="R5fbbb595df35454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d1dcf1dee1048d8" /><Relationship Type="http://schemas.openxmlformats.org/officeDocument/2006/relationships/notesMaster" Target="/ppt/notesMasters/notesMaster1.xml" Id="R382c9f38de6144b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e2cd14f8b444b0c" /><Relationship Type="http://schemas.openxmlformats.org/officeDocument/2006/relationships/notesMaster" Target="/ppt/notesMasters/notesMaster1.xml" Id="R437af430b86941a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d7c91d0daae421a" /><Relationship Type="http://schemas.openxmlformats.org/officeDocument/2006/relationships/notesMaster" Target="/ppt/notesMasters/notesMaster1.xml" Id="R55256a3c72a7464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b118f915be942eb" /><Relationship Type="http://schemas.openxmlformats.org/officeDocument/2006/relationships/notesMaster" Target="/ppt/notesMasters/notesMaster1.xml" Id="Rc6569c6a9f9d4bd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224d24094aa4b53" /><Relationship Type="http://schemas.openxmlformats.org/officeDocument/2006/relationships/notesMaster" Target="/ppt/notesMasters/notesMaster1.xml" Id="R7c509da531744df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9521bfb09b04af1" /><Relationship Type="http://schemas.openxmlformats.org/officeDocument/2006/relationships/notesMaster" Target="/ppt/notesMasters/notesMaster1.xml" Id="R4d4c7fd683984d4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f3ced488cb24ed0" /><Relationship Type="http://schemas.openxmlformats.org/officeDocument/2006/relationships/notesMaster" Target="/ppt/notesMasters/notesMaster1.xml" Id="Rb5f1dcffea3842e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7dab12bdbe44819" /><Relationship Type="http://schemas.openxmlformats.org/officeDocument/2006/relationships/notesMaster" Target="/ppt/notesMasters/notesMaster1.xml" Id="Rec2e2111c22240f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76ca6baeeef46fd" /><Relationship Type="http://schemas.openxmlformats.org/officeDocument/2006/relationships/notesMaster" Target="/ppt/notesMasters/notesMaster1.xml" Id="R7ed24338b1c24a5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ccf4e4931354707" /><Relationship Type="http://schemas.openxmlformats.org/officeDocument/2006/relationships/notesMaster" Target="/ppt/notesMasters/notesMaster1.xml" Id="R7b6fe2aae4484ea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1f1399d38e042f3" /><Relationship Type="http://schemas.openxmlformats.org/officeDocument/2006/relationships/notesMaster" Target="/ppt/notesMasters/notesMaster1.xml" Id="R2f746cc57b51406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ceddafa69ff4227" /><Relationship Type="http://schemas.openxmlformats.org/officeDocument/2006/relationships/notesMaster" Target="/ppt/notesMasters/notesMaster1.xml" Id="R884eb03f99d54af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a08a5f161b84f71" /><Relationship Type="http://schemas.openxmlformats.org/officeDocument/2006/relationships/notesMaster" Target="/ppt/notesMasters/notesMaster1.xml" Id="R8804f238eeef45b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31fa45ac0d345fe" /><Relationship Type="http://schemas.openxmlformats.org/officeDocument/2006/relationships/notesMaster" Target="/ppt/notesMasters/notesMaster1.xml" Id="Rff59a17ac1d14b5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02309bfdd6e42f5" /><Relationship Type="http://schemas.openxmlformats.org/officeDocument/2006/relationships/notesMaster" Target="/ppt/notesMasters/notesMaster1.xml" Id="R3eba0ac5a18d477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07512819578426b" /><Relationship Type="http://schemas.openxmlformats.org/officeDocument/2006/relationships/notesMaster" Target="/ppt/notesMasters/notesMaster1.xml" Id="R9ff69f136d8b408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ec7862618694b38" /><Relationship Type="http://schemas.openxmlformats.org/officeDocument/2006/relationships/notesMaster" Target="/ppt/notesMasters/notesMaster1.xml" Id="R541f1e132265440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5b1eefd0f294386" /><Relationship Type="http://schemas.openxmlformats.org/officeDocument/2006/relationships/notesMaster" Target="/ppt/notesMasters/notesMaster1.xml" Id="Rce47d43e996648b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4d895996c664c9a" /><Relationship Type="http://schemas.openxmlformats.org/officeDocument/2006/relationships/notesMaster" Target="/ppt/notesMasters/notesMaster1.xml" Id="R91d15b82d69a40f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0a729d37f6e45cb" /><Relationship Type="http://schemas.openxmlformats.org/officeDocument/2006/relationships/notesMaster" Target="/ppt/notesMasters/notesMaster1.xml" Id="R2e34e455524f4af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85270f8785f4f73" /><Relationship Type="http://schemas.openxmlformats.org/officeDocument/2006/relationships/notesMaster" Target="/ppt/notesMasters/notesMaster1.xml" Id="R60c94fefb7ec44d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a6da9298db14711" /><Relationship Type="http://schemas.openxmlformats.org/officeDocument/2006/relationships/notesMaster" Target="/ppt/notesMasters/notesMaster1.xml" Id="Rdef313de9da84d5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ab5359126b74781" /><Relationship Type="http://schemas.openxmlformats.org/officeDocument/2006/relationships/notesMaster" Target="/ppt/notesMasters/notesMaster1.xml" Id="R073f01988d74491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fcb66be315c4c8e" /><Relationship Type="http://schemas.openxmlformats.org/officeDocument/2006/relationships/notesMaster" Target="/ppt/notesMasters/notesMaster1.xml" Id="R140cf5c607be45a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ffaf5e211ba4e82" /><Relationship Type="http://schemas.openxmlformats.org/officeDocument/2006/relationships/notesMaster" Target="/ppt/notesMasters/notesMaster1.xml" Id="R9818f23b56dd467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d6fa7368a3e4160" /><Relationship Type="http://schemas.openxmlformats.org/officeDocument/2006/relationships/notesMaster" Target="/ppt/notesMasters/notesMaster1.xml" Id="R5cf7852e416b47c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f8cf94edcb14068" /><Relationship Type="http://schemas.openxmlformats.org/officeDocument/2006/relationships/notesMaster" Target="/ppt/notesMasters/notesMaster1.xml" Id="R5ab2fce16d81453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cdfc2eb98c242ad" /><Relationship Type="http://schemas.openxmlformats.org/officeDocument/2006/relationships/notesMaster" Target="/ppt/notesMasters/notesMaster1.xml" Id="Rcb10e7a5f5d34b9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68bc0fd1d674ef3" /><Relationship Type="http://schemas.openxmlformats.org/officeDocument/2006/relationships/notesMaster" Target="/ppt/notesMasters/notesMaster1.xml" Id="R9237e6a323894486"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5baa4ccc18040a5" /><Relationship Type="http://schemas.openxmlformats.org/officeDocument/2006/relationships/notesMaster" Target="/ppt/notesMasters/notesMaster1.xml" Id="R732736325d0d4f4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33f33c9257c4853" /><Relationship Type="http://schemas.openxmlformats.org/officeDocument/2006/relationships/notesMaster" Target="/ppt/notesMasters/notesMaster1.xml" Id="R24519fa4b9a445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Reconocer el dron y definir qué vamos a construir.</a:t>
            </a:r>
          </a:p>
          <a:p xmlns:a="http://schemas.openxmlformats.org/drawingml/2006/main">
            <a:r>
              <a:t>En línea, 2 horas. Núcleo de explicación: 3 minutos en esta diapositiva.</a:t>
            </a:r>
          </a:p>
          <a:p xmlns:a="http://schemas.openxmlformats.org/drawingml/2006/main">
            <a:r>
              <a:t/>
            </a:r>
          </a:p>
          <a:p xmlns:a="http://schemas.openxmlformats.org/drawingml/2006/main">
            <a:r>
              <a:t>Presentar un dron completo y recorrer energía y señal.</a:t>
            </a:r>
          </a:p>
          <a:p xmlns:a="http://schemas.openxmlformats.org/drawingml/2006/main">
            <a:r>
              <a:t/>
            </a:r>
          </a:p>
          <a:p xmlns:a="http://schemas.openxmlformats.org/drawingml/2006/main">
            <a:r>
              <a:t>Objetivo: Reconocer subsistemas y convertir una necesidad en requisitos para un multirrotor de referencia.</a:t>
            </a:r>
          </a:p>
          <a:p xmlns:a="http://schemas.openxmlformats.org/drawingml/2006/main">
            <a:r>
              <a:t>Aplicación: El primer resultado es un plano funcional del equipo, con propósito, tamaño de hélice y componentes identificados.</a:t>
            </a:r>
          </a:p>
          <a:p xmlns:a="http://schemas.openxmlformats.org/drawingml/2006/main">
            <a:r>
              <a:t>Entrega: Arquitectura funcional, requisitos y tabla preliminar de masas de una referencia.</a:t>
            </a:r>
          </a:p>
          <a:p xmlns:a="http://schemas.openxmlformats.org/drawingml/2006/main">
            <a:r>
              <a:t/>
            </a:r>
          </a:p>
          <a:p xmlns:a="http://schemas.openxmlformats.org/drawingml/2006/main">
            <a:r>
              <a:t>Preguntas y respuestas</a:t>
            </a:r>
          </a:p>
          <a:p xmlns:a="http://schemas.openxmlformats.org/drawingml/2006/main">
            <a:r>
              <a:t>¿5 pulgadas describe necesariamente el bastidor?</a:t>
            </a:r>
          </a:p>
          <a:p xmlns:a="http://schemas.openxmlformats.org/drawingml/2006/main">
            <a:r>
              <a:t>En la referencia del curso describe la hélice. Se comprueban las cotas reales del bastidor.</a:t>
            </a:r>
          </a:p>
          <a:p xmlns:a="http://schemas.openxmlformats.org/drawingml/2006/main">
            <a:r>
              <a:t/>
            </a:r>
          </a:p>
          <a:p xmlns:a="http://schemas.openxmlformats.org/drawingml/2006/main">
            <a:r>
              <a:t>¿FPV es un firmware?</a:t>
            </a:r>
          </a:p>
          <a:p xmlns:a="http://schemas.openxmlformats.org/drawingml/2006/main">
            <a:r>
              <a:t>No. Es una forma de obtener vista desde la aeronave; puede coexistir con diferentes sistemas.</a:t>
            </a:r>
          </a:p>
          <a:p xmlns:a="http://schemas.openxmlformats.org/drawingml/2006/main">
            <a:r>
              <a:t/>
            </a:r>
          </a:p>
          <a:p xmlns:a="http://schemas.openxmlformats.org/drawingml/2006/main">
            <a:r>
              <a:t>¿F405 basta para elegir firmware?</a:t>
            </a:r>
          </a:p>
          <a:p xmlns:a="http://schemas.openxmlformats.org/drawingml/2006/main">
            <a:r>
              <a:t>No. Hace falta identificar la placa, revisión y target exactos.</a:t>
            </a:r>
          </a:p>
          <a:p xmlns:a="http://schemas.openxmlformats.org/drawingml/2006/main">
            <a:r>
              <a:t/>
            </a:r>
          </a:p>
          <a:p xmlns:a="http://schemas.openxmlformats.org/drawingml/2006/main">
            <a:r>
              <a:t>Fuentes</a:t>
            </a:r>
          </a:p>
          <a:p xmlns:a="http://schemas.openxmlformats.org/drawingml/2006/main">
            <a:r>
              <a:t>MECRO. Catálogo y fotografía del curso de drones. https://mecrodrone.github.io/mecro.github.io/cursos.html</a:t>
            </a:r>
          </a:p>
          <a:p xmlns:a="http://schemas.openxmlformats.org/drawingml/2006/main">
            <a:r>
              <a:t>Betaflight. Setup Guide: organización de la puesta en marcha. https://betaflight.com/docs/wiki/getting-started/setup-guide</a:t>
            </a:r>
          </a:p>
          <a:p xmlns:a="http://schemas.openxmlformats.org/drawingml/2006/main">
            <a:r>
              <a:t>ArduPilot. Copter: First Time Setup. https://ardupilot.org/copter/docs/initial-setup.html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Reconocer el dron y definir qué vamos a construir.</a:t>
            </a:r>
          </a:p>
          <a:p xmlns:a="http://schemas.openxmlformats.org/drawingml/2006/main">
            <a:r>
              <a:t>En línea, 2 horas. Núcleo de explicación: 4 minutos en esta diapositiva.</a:t>
            </a:r>
          </a:p>
          <a:p xmlns:a="http://schemas.openxmlformats.org/drawingml/2006/main">
            <a:r>
              <a:t/>
            </a:r>
          </a:p>
          <a:p xmlns:a="http://schemas.openxmlformats.org/drawingml/2006/main">
            <a:r>
              <a:t>Antes de comprar o soldar, necesitamos saber qué función cumple cada pieza. El bastidor sostiene y posiciona los componentes; el conjunto motor–hélice produce empuje; el ESC conmuta la energía que recibe de la batería; la controladora estima el estado del vehículo y genera órdenes. El receptor aporta el mando del piloto. Una cámara y un transmisor de vídeo, si existen, forman otra cadena. Esta separación ayuda a investigar un fallo: que haya vídeo no demuestra que el receptor esté entregando mando.</a:t>
            </a:r>
          </a:p>
          <a:p xmlns:a="http://schemas.openxmlformats.org/drawingml/2006/main">
            <a:r>
              <a:t/>
            </a:r>
          </a:p>
          <a:p xmlns:a="http://schemas.openxmlformats.org/drawingml/2006/main">
            <a:r>
              <a:t>Imagen pública de MECRO para reconocer estructura, motores y distribución. No identifica por sí sola los modelos exactos del banco del curso. Fuente: MECRO. https://mecrodrone.github.io/mecro.github.io/cursos.html</a:t>
            </a:r>
          </a:p>
          <a:p xmlns:a="http://schemas.openxmlformats.org/drawingml/2006/main">
            <a:r>
              <a:t/>
            </a:r>
          </a:p>
          <a:p xmlns:a="http://schemas.openxmlformats.org/drawingml/2006/main">
            <a:r>
              <a:t>MECRO comparará sus equipos de 5, 7 y 12 pulgadas. Aquí la cifra describe el diámetro de hélice usado como referencia de clase; no es la longitud total de la aeronave ni la diagonal del bastidor. El equipo grande mostrará una arquitectura con autopiloto tipo Pixhawk. Los pequeños permitirán trabajar principalmente Betaflight. Ninguna de esas asociaciones constituye una regla universal: el fabricante y el modelo concreto deciden qué puede instalarse.</a:t>
            </a:r>
          </a:p>
          <a:p xmlns:a="http://schemas.openxmlformats.org/drawingml/2006/main">
            <a:r>
              <a:t/>
            </a:r>
          </a:p>
          <a:p xmlns:a="http://schemas.openxmlformats.org/drawingml/2006/main">
            <a:r>
              <a:t>Dibuja dos recorridos sobre una fotografía: energía desde batería a ESC y motor, e información desde mando a receptor y controladora. El mismo conector puede llevar energía y señal, pero esas funciones siguen siendo diferentes. Una etiqueta legible y una referencia de modelo valen más que reconocer una pieza por su color.</a:t>
            </a:r>
          </a:p>
          <a:p xmlns:a="http://schemas.openxmlformats.org/drawingml/2006/main">
            <a:r>
              <a:t/>
            </a:r>
          </a:p>
          <a:p xmlns:a="http://schemas.openxmlformats.org/drawingml/2006/main">
            <a:r>
              <a:t>Objetivo: Reconocer subsistemas y convertir una necesidad en requisitos para un multirrotor de referencia.</a:t>
            </a:r>
          </a:p>
          <a:p xmlns:a="http://schemas.openxmlformats.org/drawingml/2006/main">
            <a:r>
              <a:t>Aplicación: El primer resultado es un plano funcional del equipo, con propósito, tamaño de hélice y componentes identificados.</a:t>
            </a:r>
          </a:p>
          <a:p xmlns:a="http://schemas.openxmlformats.org/drawingml/2006/main">
            <a:r>
              <a:t>Entrega: Arquitectura funcional, requisitos y tabla preliminar de masas de una referencia.</a:t>
            </a:r>
          </a:p>
          <a:p xmlns:a="http://schemas.openxmlformats.org/drawingml/2006/main">
            <a:r>
              <a:t/>
            </a:r>
          </a:p>
          <a:p xmlns:a="http://schemas.openxmlformats.org/drawingml/2006/main">
            <a:r>
              <a:t>Preguntas y respuestas</a:t>
            </a:r>
          </a:p>
          <a:p xmlns:a="http://schemas.openxmlformats.org/drawingml/2006/main">
            <a:r>
              <a:t>¿5 pulgadas describe necesariamente el bastidor?</a:t>
            </a:r>
          </a:p>
          <a:p xmlns:a="http://schemas.openxmlformats.org/drawingml/2006/main">
            <a:r>
              <a:t>En la referencia del curso describe la hélice. Se comprueban las cotas reales del bastidor.</a:t>
            </a:r>
          </a:p>
          <a:p xmlns:a="http://schemas.openxmlformats.org/drawingml/2006/main">
            <a:r>
              <a:t/>
            </a:r>
          </a:p>
          <a:p xmlns:a="http://schemas.openxmlformats.org/drawingml/2006/main">
            <a:r>
              <a:t>¿FPV es un firmware?</a:t>
            </a:r>
          </a:p>
          <a:p xmlns:a="http://schemas.openxmlformats.org/drawingml/2006/main">
            <a:r>
              <a:t>No. Es una forma de obtener vista desde la aeronave; puede coexistir con diferentes sistemas.</a:t>
            </a:r>
          </a:p>
          <a:p xmlns:a="http://schemas.openxmlformats.org/drawingml/2006/main">
            <a:r>
              <a:t/>
            </a:r>
          </a:p>
          <a:p xmlns:a="http://schemas.openxmlformats.org/drawingml/2006/main">
            <a:r>
              <a:t>¿F405 basta para elegir firmware?</a:t>
            </a:r>
          </a:p>
          <a:p xmlns:a="http://schemas.openxmlformats.org/drawingml/2006/main">
            <a:r>
              <a:t>No. Hace falta identificar la placa, revisión y target exactos.</a:t>
            </a:r>
          </a:p>
          <a:p xmlns:a="http://schemas.openxmlformats.org/drawingml/2006/main">
            <a:r>
              <a:t/>
            </a:r>
          </a:p>
          <a:p xmlns:a="http://schemas.openxmlformats.org/drawingml/2006/main">
            <a:r>
              <a:t>Fuentes</a:t>
            </a:r>
          </a:p>
          <a:p xmlns:a="http://schemas.openxmlformats.org/drawingml/2006/main">
            <a:r>
              <a:t>MECRO. Catálogo y fotografía del curso de drones. https://mecrodrone.github.io/mecro.github.io/cursos.html</a:t>
            </a:r>
          </a:p>
          <a:p xmlns:a="http://schemas.openxmlformats.org/drawingml/2006/main">
            <a:r>
              <a:t>Betaflight. Setup Guide: organización de la puesta en marcha. https://betaflight.com/docs/wiki/getting-started/setup-guide</a:t>
            </a:r>
          </a:p>
          <a:p xmlns:a="http://schemas.openxmlformats.org/drawingml/2006/main">
            <a:r>
              <a:t>ArduPilot. Copter: First Time Setup. https://ardupilot.org/copter/docs/initial-setup.html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Reconocer el dron y definir qué vamos a construir.</a:t>
            </a:r>
          </a:p>
          <a:p xmlns:a="http://schemas.openxmlformats.org/drawingml/2006/main">
            <a:r>
              <a:t>En línea, 2 horas. Núcleo de explicación: 4 minutos en esta diapositiva.</a:t>
            </a:r>
          </a:p>
          <a:p xmlns:a="http://schemas.openxmlformats.org/drawingml/2006/main">
            <a:r>
              <a:t/>
            </a:r>
          </a:p>
          <a:p xmlns:a="http://schemas.openxmlformats.org/drawingml/2006/main">
            <a:r>
              <a:t>Imagen pública de MECRO para reconocer estructura, motores y distribución. No identifica por sí sola los modelos exactos del banco del curso. Fuente: MECRO. https://mecrodrone.github.io/mecro.github.io/cursos.html</a:t>
            </a:r>
          </a:p>
          <a:p xmlns:a="http://schemas.openxmlformats.org/drawingml/2006/main">
            <a:r>
              <a:t>Antes de comprar o soldar, necesitamos saber qué función cumple cada pieza. El bastidor sostiene y posiciona los componentes; el conjunto motor–hélice produce empuje; el ESC conmuta la energía que recibe de la batería; la controladora estima el estado del vehículo y genera órdenes. El receptor aporta el mando del piloto. Una cámara y un transmisor de vídeo, si existen, forman otra cadena. Esta separación ayuda a investigar un fallo: que haya vídeo no demuestra que el receptor esté entregando mando.</a:t>
            </a:r>
          </a:p>
          <a:p xmlns:a="http://schemas.openxmlformats.org/drawingml/2006/main">
            <a:r>
              <a:t/>
            </a:r>
          </a:p>
          <a:p xmlns:a="http://schemas.openxmlformats.org/drawingml/2006/main">
            <a:r>
              <a:t>Imagen pública de MECRO para reconocer estructura, motores y distribución. No identifica por sí sola los modelos exactos del banco del curso. Fuente: MECRO. https://mecrodrone.github.io/mecro.github.io/cursos.html</a:t>
            </a:r>
          </a:p>
          <a:p xmlns:a="http://schemas.openxmlformats.org/drawingml/2006/main">
            <a:r>
              <a:t/>
            </a:r>
          </a:p>
          <a:p xmlns:a="http://schemas.openxmlformats.org/drawingml/2006/main">
            <a:r>
              <a:t>MECRO comparará sus equipos de 5, 7 y 12 pulgadas. Aquí la cifra describe el diámetro de hélice usado como referencia de clase; no es la longitud total de la aeronave ni la diagonal del bastidor. El equipo grande mostrará una arquitectura con autopiloto tipo Pixhawk. Los pequeños permitirán trabajar principalmente Betaflight. Ninguna de esas asociaciones constituye una regla universal: el fabricante y el modelo concreto deciden qué puede instalarse.</a:t>
            </a:r>
          </a:p>
          <a:p xmlns:a="http://schemas.openxmlformats.org/drawingml/2006/main">
            <a:r>
              <a:t/>
            </a:r>
          </a:p>
          <a:p xmlns:a="http://schemas.openxmlformats.org/drawingml/2006/main">
            <a:r>
              <a:t>Dibuja dos recorridos sobre una fotografía: energía desde batería a ESC y motor, e información desde mando a receptor y controladora. El mismo conector puede llevar energía y señal, pero esas funciones siguen siendo diferentes. Una etiqueta legible y una referencia de modelo valen más que reconocer una pieza por su color.</a:t>
            </a:r>
          </a:p>
          <a:p xmlns:a="http://schemas.openxmlformats.org/drawingml/2006/main">
            <a:r>
              <a:t/>
            </a:r>
          </a:p>
          <a:p xmlns:a="http://schemas.openxmlformats.org/drawingml/2006/main">
            <a:r>
              <a:t>Objetivo: Reconocer subsistemas y convertir una necesidad en requisitos para un multirrotor de referencia.</a:t>
            </a:r>
          </a:p>
          <a:p xmlns:a="http://schemas.openxmlformats.org/drawingml/2006/main">
            <a:r>
              <a:t>Aplicación: El primer resultado es un plano funcional del equipo, con propósito, tamaño de hélice y componentes identificados.</a:t>
            </a:r>
          </a:p>
          <a:p xmlns:a="http://schemas.openxmlformats.org/drawingml/2006/main">
            <a:r>
              <a:t>Entrega: Arquitectura funcional, requisitos y tabla preliminar de masas de una referencia.</a:t>
            </a:r>
          </a:p>
          <a:p xmlns:a="http://schemas.openxmlformats.org/drawingml/2006/main">
            <a:r>
              <a:t/>
            </a:r>
          </a:p>
          <a:p xmlns:a="http://schemas.openxmlformats.org/drawingml/2006/main">
            <a:r>
              <a:t>Preguntas y respuestas</a:t>
            </a:r>
          </a:p>
          <a:p xmlns:a="http://schemas.openxmlformats.org/drawingml/2006/main">
            <a:r>
              <a:t>¿5 pulgadas describe necesariamente el bastidor?</a:t>
            </a:r>
          </a:p>
          <a:p xmlns:a="http://schemas.openxmlformats.org/drawingml/2006/main">
            <a:r>
              <a:t>En la referencia del curso describe la hélice. Se comprueban las cotas reales del bastidor.</a:t>
            </a:r>
          </a:p>
          <a:p xmlns:a="http://schemas.openxmlformats.org/drawingml/2006/main">
            <a:r>
              <a:t/>
            </a:r>
          </a:p>
          <a:p xmlns:a="http://schemas.openxmlformats.org/drawingml/2006/main">
            <a:r>
              <a:t>¿FPV es un firmware?</a:t>
            </a:r>
          </a:p>
          <a:p xmlns:a="http://schemas.openxmlformats.org/drawingml/2006/main">
            <a:r>
              <a:t>No. Es una forma de obtener vista desde la aeronave; puede coexistir con diferentes sistemas.</a:t>
            </a:r>
          </a:p>
          <a:p xmlns:a="http://schemas.openxmlformats.org/drawingml/2006/main">
            <a:r>
              <a:t/>
            </a:r>
          </a:p>
          <a:p xmlns:a="http://schemas.openxmlformats.org/drawingml/2006/main">
            <a:r>
              <a:t>¿F405 basta para elegir firmware?</a:t>
            </a:r>
          </a:p>
          <a:p xmlns:a="http://schemas.openxmlformats.org/drawingml/2006/main">
            <a:r>
              <a:t>No. Hace falta identificar la placa, revisión y target exactos.</a:t>
            </a:r>
          </a:p>
          <a:p xmlns:a="http://schemas.openxmlformats.org/drawingml/2006/main">
            <a:r>
              <a:t/>
            </a:r>
          </a:p>
          <a:p xmlns:a="http://schemas.openxmlformats.org/drawingml/2006/main">
            <a:r>
              <a:t>Fuentes</a:t>
            </a:r>
          </a:p>
          <a:p xmlns:a="http://schemas.openxmlformats.org/drawingml/2006/main">
            <a:r>
              <a:t>MECRO. Catálogo y fotografía del curso de drones. https://mecrodrone.github.io/mecro.github.io/cursos.html</a:t>
            </a:r>
          </a:p>
          <a:p xmlns:a="http://schemas.openxmlformats.org/drawingml/2006/main">
            <a:r>
              <a:t>Betaflight. Setup Guide: organización de la puesta en marcha. https://betaflight.com/docs/wiki/getting-started/setup-guide</a:t>
            </a:r>
          </a:p>
          <a:p xmlns:a="http://schemas.openxmlformats.org/drawingml/2006/main">
            <a:r>
              <a:t>ArduPilot. Copter: First Time Setup. https://ardupilot.org/copter/docs/initial-setup.html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Reconocer el dron y definir qué vamos a construir.</a:t>
            </a:r>
          </a:p>
          <a:p xmlns:a="http://schemas.openxmlformats.org/drawingml/2006/main">
            <a:r>
              <a:t>En línea, 2 horas. Núcleo de explicación: 5 minutos en esta diapositiva.</a:t>
            </a:r>
          </a:p>
          <a:p xmlns:a="http://schemas.openxmlformats.org/drawingml/2006/main">
            <a:r>
              <a:t/>
            </a:r>
          </a:p>
          <a:p xmlns:a="http://schemas.openxmlformats.org/drawingml/2006/main">
            <a:r>
              <a:t>Antes de comprar o soldar, necesitamos saber qué función cumple cada pieza. El bastidor sostiene y posiciona los componentes; el conjunto motor–hélice produce empuje; el ESC conmuta la energía que recibe de la batería; la controladora estima el estado del vehículo y genera órdenes. El receptor aporta el mando del piloto. Una cámara y un transmisor de vídeo, si existen, forman otra cadena. Esta separación ayuda a investigar un fallo: que haya vídeo no demuestra que el receptor esté entregando mando.</a:t>
            </a:r>
          </a:p>
          <a:p xmlns:a="http://schemas.openxmlformats.org/drawingml/2006/main">
            <a:r>
              <a:t/>
            </a:r>
          </a:p>
          <a:p xmlns:a="http://schemas.openxmlformats.org/drawingml/2006/main">
            <a:r>
              <a:t>Imagen pública de MECRO para reconocer estructura, motores y distribución. No identifica por sí sola los modelos exactos del banco del curso. Fuente: MECRO. https://mecrodrone.github.io/mecro.github.io/cursos.html</a:t>
            </a:r>
          </a:p>
          <a:p xmlns:a="http://schemas.openxmlformats.org/drawingml/2006/main">
            <a:r>
              <a:t/>
            </a:r>
          </a:p>
          <a:p xmlns:a="http://schemas.openxmlformats.org/drawingml/2006/main">
            <a:r>
              <a:t>MECRO comparará sus equipos de 5, 7 y 12 pulgadas. Aquí la cifra describe el diámetro de hélice usado como referencia de clase; no es la longitud total de la aeronave ni la diagonal del bastidor. El equipo grande mostrará una arquitectura con autopiloto tipo Pixhawk. Los pequeños permitirán trabajar principalmente Betaflight. Ninguna de esas asociaciones constituye una regla universal: el fabricante y el modelo concreto deciden qué puede instalarse.</a:t>
            </a:r>
          </a:p>
          <a:p xmlns:a="http://schemas.openxmlformats.org/drawingml/2006/main">
            <a:r>
              <a:t/>
            </a:r>
          </a:p>
          <a:p xmlns:a="http://schemas.openxmlformats.org/drawingml/2006/main">
            <a:r>
              <a:t>Dibuja dos recorridos sobre una fotografía: energía desde batería a ESC y motor, e información desde mando a receptor y controladora. El mismo conector puede llevar energía y señal, pero esas funciones siguen siendo diferentes. Una etiqueta legible y una referencia de modelo valen más que reconocer una pieza por su color.</a:t>
            </a:r>
          </a:p>
          <a:p xmlns:a="http://schemas.openxmlformats.org/drawingml/2006/main">
            <a:r>
              <a:t/>
            </a:r>
          </a:p>
          <a:p xmlns:a="http://schemas.openxmlformats.org/drawingml/2006/main">
            <a:r>
              <a:t>Objetivo: Reconocer subsistemas y convertir una necesidad en requisitos para un multirrotor de referencia.</a:t>
            </a:r>
          </a:p>
          <a:p xmlns:a="http://schemas.openxmlformats.org/drawingml/2006/main">
            <a:r>
              <a:t>Aplicación: El primer resultado es un plano funcional del equipo, con propósito, tamaño de hélice y componentes identificados.</a:t>
            </a:r>
          </a:p>
          <a:p xmlns:a="http://schemas.openxmlformats.org/drawingml/2006/main">
            <a:r>
              <a:t>Entrega: Arquitectura funcional, requisitos y tabla preliminar de masas de una referencia.</a:t>
            </a:r>
          </a:p>
          <a:p xmlns:a="http://schemas.openxmlformats.org/drawingml/2006/main">
            <a:r>
              <a:t/>
            </a:r>
          </a:p>
          <a:p xmlns:a="http://schemas.openxmlformats.org/drawingml/2006/main">
            <a:r>
              <a:t>Preguntas y respuestas</a:t>
            </a:r>
          </a:p>
          <a:p xmlns:a="http://schemas.openxmlformats.org/drawingml/2006/main">
            <a:r>
              <a:t>¿5 pulgadas describe necesariamente el bastidor?</a:t>
            </a:r>
          </a:p>
          <a:p xmlns:a="http://schemas.openxmlformats.org/drawingml/2006/main">
            <a:r>
              <a:t>En la referencia del curso describe la hélice. Se comprueban las cotas reales del bastidor.</a:t>
            </a:r>
          </a:p>
          <a:p xmlns:a="http://schemas.openxmlformats.org/drawingml/2006/main">
            <a:r>
              <a:t/>
            </a:r>
          </a:p>
          <a:p xmlns:a="http://schemas.openxmlformats.org/drawingml/2006/main">
            <a:r>
              <a:t>¿FPV es un firmware?</a:t>
            </a:r>
          </a:p>
          <a:p xmlns:a="http://schemas.openxmlformats.org/drawingml/2006/main">
            <a:r>
              <a:t>No. Es una forma de obtener vista desde la aeronave; puede coexistir con diferentes sistemas.</a:t>
            </a:r>
          </a:p>
          <a:p xmlns:a="http://schemas.openxmlformats.org/drawingml/2006/main">
            <a:r>
              <a:t/>
            </a:r>
          </a:p>
          <a:p xmlns:a="http://schemas.openxmlformats.org/drawingml/2006/main">
            <a:r>
              <a:t>¿F405 basta para elegir firmware?</a:t>
            </a:r>
          </a:p>
          <a:p xmlns:a="http://schemas.openxmlformats.org/drawingml/2006/main">
            <a:r>
              <a:t>No. Hace falta identificar la placa, revisión y target exactos.</a:t>
            </a:r>
          </a:p>
          <a:p xmlns:a="http://schemas.openxmlformats.org/drawingml/2006/main">
            <a:r>
              <a:t/>
            </a:r>
          </a:p>
          <a:p xmlns:a="http://schemas.openxmlformats.org/drawingml/2006/main">
            <a:r>
              <a:t>Fuentes</a:t>
            </a:r>
          </a:p>
          <a:p xmlns:a="http://schemas.openxmlformats.org/drawingml/2006/main">
            <a:r>
              <a:t>MECRO. Catálogo y fotografía del curso de drones. https://mecrodrone.github.io/mecro.github.io/cursos.html</a:t>
            </a:r>
          </a:p>
          <a:p xmlns:a="http://schemas.openxmlformats.org/drawingml/2006/main">
            <a:r>
              <a:t>Betaflight. Setup Guide: organización de la puesta en marcha. https://betaflight.com/docs/wiki/getting-started/setup-guide</a:t>
            </a:r>
          </a:p>
          <a:p xmlns:a="http://schemas.openxmlformats.org/drawingml/2006/main">
            <a:r>
              <a:t>ArduPilot. Copter: First Time Setup. https://ardupilot.org/copter/docs/initial-setup.html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Reconocer el dron y definir qué vamos a construir.</a:t>
            </a:r>
          </a:p>
          <a:p xmlns:a="http://schemas.openxmlformats.org/drawingml/2006/main">
            <a:r>
              <a:t>En línea, 2 horas. Núcleo de explicación: 4 minutos en esta diapositiva.</a:t>
            </a:r>
          </a:p>
          <a:p xmlns:a="http://schemas.openxmlformats.org/drawingml/2006/main">
            <a:r>
              <a:t/>
            </a:r>
          </a:p>
          <a:p xmlns:a="http://schemas.openxmlformats.org/drawingml/2006/main">
            <a:r>
              <a:t>Una misión de aprendizaje debe ser concreta. “Quiero el mejor dron” no permite elegir componentes. “Quiero aprender a ensamblar un quad y demostrar vuelo básico con el docente” permite priorizar documentación, compatibilidad y facilidad de revisión. Una cámara, una carga o una autonomía deseada cambian el presupuesto de masa y energía. El expediente empieza por requisitos y se actualiza cuando la selección de piezas revela una limitación.</a:t>
            </a:r>
          </a:p>
          <a:p xmlns:a="http://schemas.openxmlformats.org/drawingml/2006/main">
            <a:r>
              <a:t/>
            </a:r>
          </a:p>
          <a:p xmlns:a="http://schemas.openxmlformats.org/drawingml/2006/main">
            <a:r>
              <a:t>Referencia / Qué permite estudiar / Qué falta conocer</a:t>
            </a:r>
          </a:p>
          <a:p xmlns:a="http://schemas.openxmlformats.org/drawingml/2006/main">
            <a:r>
              <a:t>5 pulgadas / Distribución compacta y configuración Betaflight / Bastidor, motor, FC y batería exactos</a:t>
            </a:r>
          </a:p>
          <a:p xmlns:a="http://schemas.openxmlformats.org/drawingml/2006/main">
            <a:r>
              <a:t>7 pulgadas / Cambio de hélice, masa y energía / Tabla motor–hélice y espacio disponible</a:t>
            </a:r>
          </a:p>
          <a:p xmlns:a="http://schemas.openxmlformats.org/drawingml/2006/main">
            <a:r>
              <a:t>12 pulgadas / Autopiloto, alimentación y GPS / Modelo del autopiloto y conexiones reales</a:t>
            </a:r>
          </a:p>
          <a:p xmlns:a="http://schemas.openxmlformats.org/drawingml/2006/main">
            <a:r>
              <a:t/>
            </a:r>
          </a:p>
          <a:p xmlns:a="http://schemas.openxmlformats.org/drawingml/2006/main">
            <a:r>
              <a:t>FPV significa que el piloto recibe una vista desde la aeronave. No es el nombre de un firmware ni una dimensión. Betaflight no se convierte en un simulador porque muestre un modelo 3D; la vista representa orientación de sensores y configuración. ArduPilot es una familia de firmware y Mission Planner es una estación de tierra. Reconocer estas categorías evita comprar un componente esperando una función que pertenece a otro subsistema.</a:t>
            </a:r>
          </a:p>
          <a:p xmlns:a="http://schemas.openxmlformats.org/drawingml/2006/main">
            <a:r>
              <a:t/>
            </a:r>
          </a:p>
          <a:p xmlns:a="http://schemas.openxmlformats.org/drawingml/2006/main">
            <a:r>
              <a:t>Dos drones llevan hélices de 7 pulgadas. Uno tiene vídeo y el otro no. ¿Son la misma arquitectura?</a:t>
            </a:r>
          </a:p>
          <a:p xmlns:a="http://schemas.openxmlformats.org/drawingml/2006/main">
            <a:r>
              <a:t>Comparten una dimensión de referencia, pero pueden tener distintas controladoras, interfaces, alimentación y modos. La comparación necesita la lista real de componentes.</a:t>
            </a:r>
          </a:p>
          <a:p xmlns:a="http://schemas.openxmlformats.org/drawingml/2006/main">
            <a:r>
              <a:t/>
            </a:r>
          </a:p>
          <a:p xmlns:a="http://schemas.openxmlformats.org/drawingml/2006/main">
            <a:r>
              <a:t>Objetivo: Reconocer subsistemas y convertir una necesidad en requisitos para un multirrotor de referencia.</a:t>
            </a:r>
          </a:p>
          <a:p xmlns:a="http://schemas.openxmlformats.org/drawingml/2006/main">
            <a:r>
              <a:t>Aplicación: El primer resultado es un plano funcional del equipo, con propósito, tamaño de hélice y componentes identificados.</a:t>
            </a:r>
          </a:p>
          <a:p xmlns:a="http://schemas.openxmlformats.org/drawingml/2006/main">
            <a:r>
              <a:t>Entrega: Arquitectura funcional, requisitos y tabla preliminar de masas de una referencia.</a:t>
            </a:r>
          </a:p>
          <a:p xmlns:a="http://schemas.openxmlformats.org/drawingml/2006/main">
            <a:r>
              <a:t/>
            </a:r>
          </a:p>
          <a:p xmlns:a="http://schemas.openxmlformats.org/drawingml/2006/main">
            <a:r>
              <a:t>Preguntas y respuestas</a:t>
            </a:r>
          </a:p>
          <a:p xmlns:a="http://schemas.openxmlformats.org/drawingml/2006/main">
            <a:r>
              <a:t>¿5 pulgadas describe necesariamente el bastidor?</a:t>
            </a:r>
          </a:p>
          <a:p xmlns:a="http://schemas.openxmlformats.org/drawingml/2006/main">
            <a:r>
              <a:t>En la referencia del curso describe la hélice. Se comprueban las cotas reales del bastidor.</a:t>
            </a:r>
          </a:p>
          <a:p xmlns:a="http://schemas.openxmlformats.org/drawingml/2006/main">
            <a:r>
              <a:t/>
            </a:r>
          </a:p>
          <a:p xmlns:a="http://schemas.openxmlformats.org/drawingml/2006/main">
            <a:r>
              <a:t>¿FPV es un firmware?</a:t>
            </a:r>
          </a:p>
          <a:p xmlns:a="http://schemas.openxmlformats.org/drawingml/2006/main">
            <a:r>
              <a:t>No. Es una forma de obtener vista desde la aeronave; puede coexistir con diferentes sistemas.</a:t>
            </a:r>
          </a:p>
          <a:p xmlns:a="http://schemas.openxmlformats.org/drawingml/2006/main">
            <a:r>
              <a:t/>
            </a:r>
          </a:p>
          <a:p xmlns:a="http://schemas.openxmlformats.org/drawingml/2006/main">
            <a:r>
              <a:t>¿F405 basta para elegir firmware?</a:t>
            </a:r>
          </a:p>
          <a:p xmlns:a="http://schemas.openxmlformats.org/drawingml/2006/main">
            <a:r>
              <a:t>No. Hace falta identificar la placa, revisión y target exactos.</a:t>
            </a:r>
          </a:p>
          <a:p xmlns:a="http://schemas.openxmlformats.org/drawingml/2006/main">
            <a:r>
              <a:t/>
            </a:r>
          </a:p>
          <a:p xmlns:a="http://schemas.openxmlformats.org/drawingml/2006/main">
            <a:r>
              <a:t>Fuentes</a:t>
            </a:r>
          </a:p>
          <a:p xmlns:a="http://schemas.openxmlformats.org/drawingml/2006/main">
            <a:r>
              <a:t>MECRO. Catálogo y fotografía del curso de drones. https://mecrodrone.github.io/mecro.github.io/cursos.html</a:t>
            </a:r>
          </a:p>
          <a:p xmlns:a="http://schemas.openxmlformats.org/drawingml/2006/main">
            <a:r>
              <a:t>Betaflight. Setup Guide: organización de la puesta en marcha. https://betaflight.com/docs/wiki/getting-started/setup-guide</a:t>
            </a:r>
          </a:p>
          <a:p xmlns:a="http://schemas.openxmlformats.org/drawingml/2006/main">
            <a:r>
              <a:t>ArduPilot. Copter: First Time Setup. https://ardupilot.org/copter/docs/initial-setup.html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Reconocer el dron y definir qué vamos a construir.</a:t>
            </a:r>
          </a:p>
          <a:p xmlns:a="http://schemas.openxmlformats.org/drawingml/2006/main">
            <a:r>
              <a:t>En línea, 2 horas. Núcleo de explicación: 4 minutos en esta diapositiva.</a:t>
            </a:r>
          </a:p>
          <a:p xmlns:a="http://schemas.openxmlformats.org/drawingml/2006/main">
            <a:r>
              <a:t/>
            </a:r>
          </a:p>
          <a:p xmlns:a="http://schemas.openxmlformats.org/drawingml/2006/main">
            <a:r>
              <a:t>Referencia / Qué permite estudiar / Qué falta conocer</a:t>
            </a:r>
          </a:p>
          <a:p xmlns:a="http://schemas.openxmlformats.org/drawingml/2006/main">
            <a:r>
              <a:t>5 pulgadas / Distribución compacta y configuración Betaflight / Bastidor, motor, FC y batería exactos</a:t>
            </a:r>
          </a:p>
          <a:p xmlns:a="http://schemas.openxmlformats.org/drawingml/2006/main">
            <a:r>
              <a:t>7 pulgadas / Cambio de hélice, masa y energía / Tabla motor–hélice y espacio disponible</a:t>
            </a:r>
          </a:p>
          <a:p xmlns:a="http://schemas.openxmlformats.org/drawingml/2006/main">
            <a:r>
              <a:t>12 pulgadas / Autopiloto, alimentación y GPS / Modelo del autopiloto y conexiones reales</a:t>
            </a:r>
          </a:p>
          <a:p xmlns:a="http://schemas.openxmlformats.org/drawingml/2006/main">
            <a:r>
              <a:t>Comparar filas y explicar una condición que cambie la decisión.</a:t>
            </a:r>
          </a:p>
          <a:p xmlns:a="http://schemas.openxmlformats.org/drawingml/2006/main">
            <a:r>
              <a:t/>
            </a:r>
          </a:p>
          <a:p xmlns:a="http://schemas.openxmlformats.org/drawingml/2006/main">
            <a:r>
              <a:t>Objetivo: Reconocer subsistemas y convertir una necesidad en requisitos para un multirrotor de referencia.</a:t>
            </a:r>
          </a:p>
          <a:p xmlns:a="http://schemas.openxmlformats.org/drawingml/2006/main">
            <a:r>
              <a:t>Aplicación: El primer resultado es un plano funcional del equipo, con propósito, tamaño de hélice y componentes identificados.</a:t>
            </a:r>
          </a:p>
          <a:p xmlns:a="http://schemas.openxmlformats.org/drawingml/2006/main">
            <a:r>
              <a:t>Entrega: Arquitectura funcional, requisitos y tabla preliminar de masas de una referencia.</a:t>
            </a:r>
          </a:p>
          <a:p xmlns:a="http://schemas.openxmlformats.org/drawingml/2006/main">
            <a:r>
              <a:t/>
            </a:r>
          </a:p>
          <a:p xmlns:a="http://schemas.openxmlformats.org/drawingml/2006/main">
            <a:r>
              <a:t>Preguntas y respuestas</a:t>
            </a:r>
          </a:p>
          <a:p xmlns:a="http://schemas.openxmlformats.org/drawingml/2006/main">
            <a:r>
              <a:t>¿5 pulgadas describe necesariamente el bastidor?</a:t>
            </a:r>
          </a:p>
          <a:p xmlns:a="http://schemas.openxmlformats.org/drawingml/2006/main">
            <a:r>
              <a:t>En la referencia del curso describe la hélice. Se comprueban las cotas reales del bastidor.</a:t>
            </a:r>
          </a:p>
          <a:p xmlns:a="http://schemas.openxmlformats.org/drawingml/2006/main">
            <a:r>
              <a:t/>
            </a:r>
          </a:p>
          <a:p xmlns:a="http://schemas.openxmlformats.org/drawingml/2006/main">
            <a:r>
              <a:t>¿FPV es un firmware?</a:t>
            </a:r>
          </a:p>
          <a:p xmlns:a="http://schemas.openxmlformats.org/drawingml/2006/main">
            <a:r>
              <a:t>No. Es una forma de obtener vista desde la aeronave; puede coexistir con diferentes sistemas.</a:t>
            </a:r>
          </a:p>
          <a:p xmlns:a="http://schemas.openxmlformats.org/drawingml/2006/main">
            <a:r>
              <a:t/>
            </a:r>
          </a:p>
          <a:p xmlns:a="http://schemas.openxmlformats.org/drawingml/2006/main">
            <a:r>
              <a:t>¿F405 basta para elegir firmware?</a:t>
            </a:r>
          </a:p>
          <a:p xmlns:a="http://schemas.openxmlformats.org/drawingml/2006/main">
            <a:r>
              <a:t>No. Hace falta identificar la placa, revisión y target exactos.</a:t>
            </a:r>
          </a:p>
          <a:p xmlns:a="http://schemas.openxmlformats.org/drawingml/2006/main">
            <a:r>
              <a:t/>
            </a:r>
          </a:p>
          <a:p xmlns:a="http://schemas.openxmlformats.org/drawingml/2006/main">
            <a:r>
              <a:t>Fuentes</a:t>
            </a:r>
          </a:p>
          <a:p xmlns:a="http://schemas.openxmlformats.org/drawingml/2006/main">
            <a:r>
              <a:t>MECRO. Catálogo y fotografía del curso de drones. https://mecrodrone.github.io/mecro.github.io/cursos.html</a:t>
            </a:r>
          </a:p>
          <a:p xmlns:a="http://schemas.openxmlformats.org/drawingml/2006/main">
            <a:r>
              <a:t>Betaflight. Setup Guide: organización de la puesta en marcha. https://betaflight.com/docs/wiki/getting-started/setup-guide</a:t>
            </a:r>
          </a:p>
          <a:p xmlns:a="http://schemas.openxmlformats.org/drawingml/2006/main">
            <a:r>
              <a:t>ArduPilot. Copter: First Time Setup. https://ardupilot.org/copter/docs/initial-setup.html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Reconocer el dron y definir qué vamos a construir.</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tapar la solución o pedir respuesta individual.</a:t>
            </a:r>
          </a:p>
          <a:p xmlns:a="http://schemas.openxmlformats.org/drawingml/2006/main">
            <a:r>
              <a:t>Dos drones llevan hélices de 7 pulgadas. Uno tiene vídeo y el otro no. ¿Son la misma arquitectura?</a:t>
            </a:r>
          </a:p>
          <a:p xmlns:a="http://schemas.openxmlformats.org/drawingml/2006/main">
            <a:r>
              <a:t>Comparten una dimensión de referencia, pero pueden tener distintas controladoras, interfaces, alimentación y modos. La comparación necesita la lista real de componentes.</a:t>
            </a:r>
          </a:p>
          <a:p xmlns:a="http://schemas.openxmlformats.org/drawingml/2006/main">
            <a:r>
              <a:t/>
            </a:r>
          </a:p>
          <a:p xmlns:a="http://schemas.openxmlformats.org/drawingml/2006/main">
            <a:r>
              <a:t>Objetivo: Reconocer subsistemas y convertir una necesidad en requisitos para un multirrotor de referencia.</a:t>
            </a:r>
          </a:p>
          <a:p xmlns:a="http://schemas.openxmlformats.org/drawingml/2006/main">
            <a:r>
              <a:t>Aplicación: El primer resultado es un plano funcional del equipo, con propósito, tamaño de hélice y componentes identificados.</a:t>
            </a:r>
          </a:p>
          <a:p xmlns:a="http://schemas.openxmlformats.org/drawingml/2006/main">
            <a:r>
              <a:t>Entrega: Arquitectura funcional, requisitos y tabla preliminar de masas de una referencia.</a:t>
            </a:r>
          </a:p>
          <a:p xmlns:a="http://schemas.openxmlformats.org/drawingml/2006/main">
            <a:r>
              <a:t/>
            </a:r>
          </a:p>
          <a:p xmlns:a="http://schemas.openxmlformats.org/drawingml/2006/main">
            <a:r>
              <a:t>Preguntas y respuestas</a:t>
            </a:r>
          </a:p>
          <a:p xmlns:a="http://schemas.openxmlformats.org/drawingml/2006/main">
            <a:r>
              <a:t>¿5 pulgadas describe necesariamente el bastidor?</a:t>
            </a:r>
          </a:p>
          <a:p xmlns:a="http://schemas.openxmlformats.org/drawingml/2006/main">
            <a:r>
              <a:t>En la referencia del curso describe la hélice. Se comprueban las cotas reales del bastidor.</a:t>
            </a:r>
          </a:p>
          <a:p xmlns:a="http://schemas.openxmlformats.org/drawingml/2006/main">
            <a:r>
              <a:t/>
            </a:r>
          </a:p>
          <a:p xmlns:a="http://schemas.openxmlformats.org/drawingml/2006/main">
            <a:r>
              <a:t>¿FPV es un firmware?</a:t>
            </a:r>
          </a:p>
          <a:p xmlns:a="http://schemas.openxmlformats.org/drawingml/2006/main">
            <a:r>
              <a:t>No. Es una forma de obtener vista desde la aeronave; puede coexistir con diferentes sistemas.</a:t>
            </a:r>
          </a:p>
          <a:p xmlns:a="http://schemas.openxmlformats.org/drawingml/2006/main">
            <a:r>
              <a:t/>
            </a:r>
          </a:p>
          <a:p xmlns:a="http://schemas.openxmlformats.org/drawingml/2006/main">
            <a:r>
              <a:t>¿F405 basta para elegir firmware?</a:t>
            </a:r>
          </a:p>
          <a:p xmlns:a="http://schemas.openxmlformats.org/drawingml/2006/main">
            <a:r>
              <a:t>No. Hace falta identificar la placa, revisión y target exactos.</a:t>
            </a:r>
          </a:p>
          <a:p xmlns:a="http://schemas.openxmlformats.org/drawingml/2006/main">
            <a:r>
              <a:t/>
            </a:r>
          </a:p>
          <a:p xmlns:a="http://schemas.openxmlformats.org/drawingml/2006/main">
            <a:r>
              <a:t>Fuentes</a:t>
            </a:r>
          </a:p>
          <a:p xmlns:a="http://schemas.openxmlformats.org/drawingml/2006/main">
            <a:r>
              <a:t>MECRO. Catálogo y fotografía del curso de drones. https://mecrodrone.github.io/mecro.github.io/cursos.html</a:t>
            </a:r>
          </a:p>
          <a:p xmlns:a="http://schemas.openxmlformats.org/drawingml/2006/main">
            <a:r>
              <a:t>Betaflight. Setup Guide: organización de la puesta en marcha. https://betaflight.com/docs/wiki/getting-started/setup-guide</a:t>
            </a:r>
          </a:p>
          <a:p xmlns:a="http://schemas.openxmlformats.org/drawingml/2006/main">
            <a:r>
              <a:t>ArduPilot. Copter: First Time Setup. https://ardupilot.org/copter/docs/initial-setup.html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Reconocer el dron y definir qué vamos a construir.</a:t>
            </a:r>
          </a:p>
          <a:p xmlns:a="http://schemas.openxmlformats.org/drawingml/2006/main">
            <a:r>
              <a:t>En línea, 2 horas. Núcleo de explicación: 4 minutos en esta diapositiva.</a:t>
            </a:r>
          </a:p>
          <a:p xmlns:a="http://schemas.openxmlformats.org/drawingml/2006/main">
            <a:r>
              <a:t/>
            </a:r>
          </a:p>
          <a:p xmlns:a="http://schemas.openxmlformats.org/drawingml/2006/main">
            <a:r>
              <a:t>La masa incluye batería, cableado, tornillería y carga, además de las piezas grandes. En vuelo estacionario, el empuje vertical total compensa aproximadamente el peso. Es una condición de equilibrio útil para seleccionar, no una descripción completa de maniobras o viento. El peso se expresa en newtons; las tablas comerciales suelen usar gramos fuerza. La lectura siempre identifica qué unidad está utilizando.</a:t>
            </a:r>
          </a:p>
          <a:p xmlns:a="http://schemas.openxmlformats.org/drawingml/2006/main">
            <a:r>
              <a:t/>
            </a:r>
          </a:p>
          <a:p xmlns:a="http://schemas.openxmlformats.org/drawingml/2006/main">
            <a:r>
              <a:t>Modelo de quad con cuatro discos sin solapamiento. El área geométrica no predice por sí sola eficiencia, autonomía ni empuje real.</a:t>
            </a:r>
          </a:p>
          <a:p xmlns:a="http://schemas.openxmlformats.org/drawingml/2006/main">
            <a:r>
              <a:t/>
            </a:r>
          </a:p>
          <a:p xmlns:a="http://schemas.openxmlformats.org/drawingml/2006/main">
            <a:r>
              <a:t>¿Aumentar el diámetro de 5 a 7 pulgadas aumenta el área en 40 %?</a:t>
            </a:r>
          </a:p>
          <a:p xmlns:a="http://schemas.openxmlformats.org/drawingml/2006/main">
            <a:r>
              <a:t>El diámetro aumenta 40 %, pero el área cambia con el cuadrado: (7/5)² = 1,96. El área de disco es 96 % mayor. Ese resultado geométrico no significa 96 % más autonomía.</a:t>
            </a:r>
          </a:p>
          <a:p xmlns:a="http://schemas.openxmlformats.org/drawingml/2006/main">
            <a:r>
              <a:t/>
            </a:r>
          </a:p>
          <a:p xmlns:a="http://schemas.openxmlformats.org/drawingml/2006/main">
            <a:r>
              <a:t>El diámetro por sí solo no selecciona un motor. El paso, número de palas, régimen de giro, alimentación y geometría modifican la carga. Un bastidor debe admitir la hélice y dejar espacio al cableado. El proyecto no consiste en poner piezas más grandes sobre el mismo dibujo: cada cambio obliga a comprobar el sistema que las conecta.</a:t>
            </a:r>
          </a:p>
          <a:p xmlns:a="http://schemas.openxmlformats.org/drawingml/2006/main">
            <a:r>
              <a:t/>
            </a:r>
          </a:p>
          <a:p xmlns:a="http://schemas.openxmlformats.org/drawingml/2006/main">
            <a:r>
              <a:t>Cálculo geométrico ideal de aula. No compara empuje ni autonomía de los drones MECRO.</a:t>
            </a:r>
          </a:p>
          <a:p xmlns:a="http://schemas.openxmlformats.org/drawingml/2006/main">
            <a:r>
              <a:t/>
            </a:r>
          </a:p>
          <a:p xmlns:a="http://schemas.openxmlformats.org/drawingml/2006/main">
            <a:r>
              <a:t>Objetivo: Reconocer subsistemas y convertir una necesidad en requisitos para un multirrotor de referencia.</a:t>
            </a:r>
          </a:p>
          <a:p xmlns:a="http://schemas.openxmlformats.org/drawingml/2006/main">
            <a:r>
              <a:t>Aplicación: El primer resultado es un plano funcional del equipo, con propósito, tamaño de hélice y componentes identificados.</a:t>
            </a:r>
          </a:p>
          <a:p xmlns:a="http://schemas.openxmlformats.org/drawingml/2006/main">
            <a:r>
              <a:t>Entrega: Arquitectura funcional, requisitos y tabla preliminar de masas de una referencia.</a:t>
            </a:r>
          </a:p>
          <a:p xmlns:a="http://schemas.openxmlformats.org/drawingml/2006/main">
            <a:r>
              <a:t/>
            </a:r>
          </a:p>
          <a:p xmlns:a="http://schemas.openxmlformats.org/drawingml/2006/main">
            <a:r>
              <a:t>Preguntas y respuestas</a:t>
            </a:r>
          </a:p>
          <a:p xmlns:a="http://schemas.openxmlformats.org/drawingml/2006/main">
            <a:r>
              <a:t>¿5 pulgadas describe necesariamente el bastidor?</a:t>
            </a:r>
          </a:p>
          <a:p xmlns:a="http://schemas.openxmlformats.org/drawingml/2006/main">
            <a:r>
              <a:t>En la referencia del curso describe la hélice. Se comprueban las cotas reales del bastidor.</a:t>
            </a:r>
          </a:p>
          <a:p xmlns:a="http://schemas.openxmlformats.org/drawingml/2006/main">
            <a:r>
              <a:t/>
            </a:r>
          </a:p>
          <a:p xmlns:a="http://schemas.openxmlformats.org/drawingml/2006/main">
            <a:r>
              <a:t>¿FPV es un firmware?</a:t>
            </a:r>
          </a:p>
          <a:p xmlns:a="http://schemas.openxmlformats.org/drawingml/2006/main">
            <a:r>
              <a:t>No. Es una forma de obtener vista desde la aeronave; puede coexistir con diferentes sistemas.</a:t>
            </a:r>
          </a:p>
          <a:p xmlns:a="http://schemas.openxmlformats.org/drawingml/2006/main">
            <a:r>
              <a:t/>
            </a:r>
          </a:p>
          <a:p xmlns:a="http://schemas.openxmlformats.org/drawingml/2006/main">
            <a:r>
              <a:t>¿F405 basta para elegir firmware?</a:t>
            </a:r>
          </a:p>
          <a:p xmlns:a="http://schemas.openxmlformats.org/drawingml/2006/main">
            <a:r>
              <a:t>No. Hace falta identificar la placa, revisión y target exactos.</a:t>
            </a:r>
          </a:p>
          <a:p xmlns:a="http://schemas.openxmlformats.org/drawingml/2006/main">
            <a:r>
              <a:t/>
            </a:r>
          </a:p>
          <a:p xmlns:a="http://schemas.openxmlformats.org/drawingml/2006/main">
            <a:r>
              <a:t>Fuentes</a:t>
            </a:r>
          </a:p>
          <a:p xmlns:a="http://schemas.openxmlformats.org/drawingml/2006/main">
            <a:r>
              <a:t>MECRO. Catálogo y fotografía del curso de drones. https://mecrodrone.github.io/mecro.github.io/cursos.html</a:t>
            </a:r>
          </a:p>
          <a:p xmlns:a="http://schemas.openxmlformats.org/drawingml/2006/main">
            <a:r>
              <a:t>Betaflight. Setup Guide: organización de la puesta en marcha. https://betaflight.com/docs/wiki/getting-started/setup-guide</a:t>
            </a:r>
          </a:p>
          <a:p xmlns:a="http://schemas.openxmlformats.org/drawingml/2006/main">
            <a:r>
              <a:t>ArduPilot. Copter: First Time Setup. https://ardupilot.org/copter/docs/initial-setup.html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Reconocer el dron y definir qué vamos a construir.</a:t>
            </a:r>
          </a:p>
          <a:p xmlns:a="http://schemas.openxmlformats.org/drawingml/2006/main">
            <a:r>
              <a:t>En línea, 2 horas. Núcleo de explicación: 4 minutos en esta diapositiva.</a:t>
            </a:r>
          </a:p>
          <a:p xmlns:a="http://schemas.openxmlformats.org/drawingml/2006/main">
            <a:r>
              <a:t/>
            </a:r>
          </a:p>
          <a:p xmlns:a="http://schemas.openxmlformats.org/drawingml/2006/main">
            <a:r>
              <a:t>La masa incluye batería, cableado, tornillería y carga, además de las piezas grandes. En vuelo estacionario, el empuje vertical total compensa aproximadamente el peso. Es una condición de equilibrio útil para seleccionar, no una descripción completa de maniobras o viento. El peso se expresa en newtons; las tablas comerciales suelen usar gramos fuerza. La lectura siempre identifica qué unidad está utilizando.</a:t>
            </a:r>
          </a:p>
          <a:p xmlns:a="http://schemas.openxmlformats.org/drawingml/2006/main">
            <a:r>
              <a:t/>
            </a:r>
          </a:p>
          <a:p xmlns:a="http://schemas.openxmlformats.org/drawingml/2006/main">
            <a:r>
              <a:t>Modelo de quad con cuatro discos sin solapamiento. El área geométrica no predice por sí sola eficiencia, autonomía ni empuje real.</a:t>
            </a:r>
          </a:p>
          <a:p xmlns:a="http://schemas.openxmlformats.org/drawingml/2006/main">
            <a:r>
              <a:t/>
            </a:r>
          </a:p>
          <a:p xmlns:a="http://schemas.openxmlformats.org/drawingml/2006/main">
            <a:r>
              <a:t>¿Aumentar el diámetro de 5 a 7 pulgadas aumenta el área en 40 %?</a:t>
            </a:r>
          </a:p>
          <a:p xmlns:a="http://schemas.openxmlformats.org/drawingml/2006/main">
            <a:r>
              <a:t>El diámetro aumenta 40 %, pero el área cambia con el cuadrado: (7/5)² = 1,96. El área de disco es 96 % mayor. Ese resultado geométrico no significa 96 % más autonomía.</a:t>
            </a:r>
          </a:p>
          <a:p xmlns:a="http://schemas.openxmlformats.org/drawingml/2006/main">
            <a:r>
              <a:t/>
            </a:r>
          </a:p>
          <a:p xmlns:a="http://schemas.openxmlformats.org/drawingml/2006/main">
            <a:r>
              <a:t>El diámetro por sí solo no selecciona un motor. El paso, número de palas, régimen de giro, alimentación y geometría modifican la carga. Un bastidor debe admitir la hélice y dejar espacio al cableado. El proyecto no consiste en poner piezas más grandes sobre el mismo dibujo: cada cambio obliga a comprobar el sistema que las conecta.</a:t>
            </a:r>
          </a:p>
          <a:p xmlns:a="http://schemas.openxmlformats.org/drawingml/2006/main">
            <a:r>
              <a:t/>
            </a:r>
          </a:p>
          <a:p xmlns:a="http://schemas.openxmlformats.org/drawingml/2006/main">
            <a:r>
              <a:t>Cálculo geométrico ideal de aula. No compara empuje ni autonomía de los drones MECRO.</a:t>
            </a:r>
          </a:p>
          <a:p xmlns:a="http://schemas.openxmlformats.org/drawingml/2006/main">
            <a:r>
              <a:t/>
            </a:r>
          </a:p>
          <a:p xmlns:a="http://schemas.openxmlformats.org/drawingml/2006/main">
            <a:r>
              <a:t>Objetivo: Reconocer subsistemas y convertir una necesidad en requisitos para un multirrotor de referencia.</a:t>
            </a:r>
          </a:p>
          <a:p xmlns:a="http://schemas.openxmlformats.org/drawingml/2006/main">
            <a:r>
              <a:t>Aplicación: El primer resultado es un plano funcional del equipo, con propósito, tamaño de hélice y componentes identificados.</a:t>
            </a:r>
          </a:p>
          <a:p xmlns:a="http://schemas.openxmlformats.org/drawingml/2006/main">
            <a:r>
              <a:t>Entrega: Arquitectura funcional, requisitos y tabla preliminar de masas de una referencia.</a:t>
            </a:r>
          </a:p>
          <a:p xmlns:a="http://schemas.openxmlformats.org/drawingml/2006/main">
            <a:r>
              <a:t/>
            </a:r>
          </a:p>
          <a:p xmlns:a="http://schemas.openxmlformats.org/drawingml/2006/main">
            <a:r>
              <a:t>Preguntas y respuestas</a:t>
            </a:r>
          </a:p>
          <a:p xmlns:a="http://schemas.openxmlformats.org/drawingml/2006/main">
            <a:r>
              <a:t>¿5 pulgadas describe necesariamente el bastidor?</a:t>
            </a:r>
          </a:p>
          <a:p xmlns:a="http://schemas.openxmlformats.org/drawingml/2006/main">
            <a:r>
              <a:t>En la referencia del curso describe la hélice. Se comprueban las cotas reales del bastidor.</a:t>
            </a:r>
          </a:p>
          <a:p xmlns:a="http://schemas.openxmlformats.org/drawingml/2006/main">
            <a:r>
              <a:t/>
            </a:r>
          </a:p>
          <a:p xmlns:a="http://schemas.openxmlformats.org/drawingml/2006/main">
            <a:r>
              <a:t>¿FPV es un firmware?</a:t>
            </a:r>
          </a:p>
          <a:p xmlns:a="http://schemas.openxmlformats.org/drawingml/2006/main">
            <a:r>
              <a:t>No. Es una forma de obtener vista desde la aeronave; puede coexistir con diferentes sistemas.</a:t>
            </a:r>
          </a:p>
          <a:p xmlns:a="http://schemas.openxmlformats.org/drawingml/2006/main">
            <a:r>
              <a:t/>
            </a:r>
          </a:p>
          <a:p xmlns:a="http://schemas.openxmlformats.org/drawingml/2006/main">
            <a:r>
              <a:t>¿F405 basta para elegir firmware?</a:t>
            </a:r>
          </a:p>
          <a:p xmlns:a="http://schemas.openxmlformats.org/drawingml/2006/main">
            <a:r>
              <a:t>No. Hace falta identificar la placa, revisión y target exactos.</a:t>
            </a:r>
          </a:p>
          <a:p xmlns:a="http://schemas.openxmlformats.org/drawingml/2006/main">
            <a:r>
              <a:t/>
            </a:r>
          </a:p>
          <a:p xmlns:a="http://schemas.openxmlformats.org/drawingml/2006/main">
            <a:r>
              <a:t>Fuentes</a:t>
            </a:r>
          </a:p>
          <a:p xmlns:a="http://schemas.openxmlformats.org/drawingml/2006/main">
            <a:r>
              <a:t>MECRO. Catálogo y fotografía del curso de drones. https://mecrodrone.github.io/mecro.github.io/cursos.html</a:t>
            </a:r>
          </a:p>
          <a:p xmlns:a="http://schemas.openxmlformats.org/drawingml/2006/main">
            <a:r>
              <a:t>Betaflight. Setup Guide: organización de la puesta en marcha. https://betaflight.com/docs/wiki/getting-started/setup-guide</a:t>
            </a:r>
          </a:p>
          <a:p xmlns:a="http://schemas.openxmlformats.org/drawingml/2006/main">
            <a:r>
              <a:t>ArduPilot. Copter: First Time Setup. https://ardupilot.org/copter/docs/initial-setup.html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Reconocer el dron y definir qué vamos a construir.</a:t>
            </a:r>
          </a:p>
          <a:p xmlns:a="http://schemas.openxmlformats.org/drawingml/2006/main">
            <a:r>
              <a:t>En línea, 2 horas. Núcleo de explicación: 5 minutos en esta diapositiva.</a:t>
            </a:r>
          </a:p>
          <a:p xmlns:a="http://schemas.openxmlformats.org/drawingml/2006/main">
            <a:r>
              <a:t/>
            </a:r>
          </a:p>
          <a:p xmlns:a="http://schemas.openxmlformats.org/drawingml/2006/main">
            <a:r>
              <a:t>Cálculo geométrico ideal de aula. No compara empuje ni autonomía de los drones MECRO.</a:t>
            </a:r>
          </a:p>
          <a:p xmlns:a="http://schemas.openxmlformats.org/drawingml/2006/main">
            <a:r>
              <a:t>La masa incluye batería, cableado, tornillería y carga, además de las piezas grandes. En vuelo estacionario, el empuje vertical total compensa aproximadamente el peso. Es una condición de equilibrio útil para seleccionar, no una descripción completa de maniobras o viento. El peso se expresa en newtons; las tablas comerciales suelen usar gramos fuerza. La lectura siempre identifica qué unidad está utilizando.</a:t>
            </a:r>
          </a:p>
          <a:p xmlns:a="http://schemas.openxmlformats.org/drawingml/2006/main">
            <a:r>
              <a:t/>
            </a:r>
          </a:p>
          <a:p xmlns:a="http://schemas.openxmlformats.org/drawingml/2006/main">
            <a:r>
              <a:t>Modelo de quad con cuatro discos sin solapamiento. El área geométrica no predice por sí sola eficiencia, autonomía ni empuje real.</a:t>
            </a:r>
          </a:p>
          <a:p xmlns:a="http://schemas.openxmlformats.org/drawingml/2006/main">
            <a:r>
              <a:t/>
            </a:r>
          </a:p>
          <a:p xmlns:a="http://schemas.openxmlformats.org/drawingml/2006/main">
            <a:r>
              <a:t>¿Aumentar el diámetro de 5 a 7 pulgadas aumenta el área en 40 %?</a:t>
            </a:r>
          </a:p>
          <a:p xmlns:a="http://schemas.openxmlformats.org/drawingml/2006/main">
            <a:r>
              <a:t>El diámetro aumenta 40 %, pero el área cambia con el cuadrado: (7/5)² = 1,96. El área de disco es 96 % mayor. Ese resultado geométrico no significa 96 % más autonomía.</a:t>
            </a:r>
          </a:p>
          <a:p xmlns:a="http://schemas.openxmlformats.org/drawingml/2006/main">
            <a:r>
              <a:t/>
            </a:r>
          </a:p>
          <a:p xmlns:a="http://schemas.openxmlformats.org/drawingml/2006/main">
            <a:r>
              <a:t>El diámetro por sí solo no selecciona un motor. El paso, número de palas, régimen de giro, alimentación y geometría modifican la carga. Un bastidor debe admitir la hélice y dejar espacio al cableado. El proyecto no consiste en poner piezas más grandes sobre el mismo dibujo: cada cambio obliga a comprobar el sistema que las conecta.</a:t>
            </a:r>
          </a:p>
          <a:p xmlns:a="http://schemas.openxmlformats.org/drawingml/2006/main">
            <a:r>
              <a:t/>
            </a:r>
          </a:p>
          <a:p xmlns:a="http://schemas.openxmlformats.org/drawingml/2006/main">
            <a:r>
              <a:t>Cálculo geométrico ideal de aula. No compara empuje ni autonomía de los drones MECRO.</a:t>
            </a:r>
          </a:p>
          <a:p xmlns:a="http://schemas.openxmlformats.org/drawingml/2006/main">
            <a:r>
              <a:t/>
            </a:r>
          </a:p>
          <a:p xmlns:a="http://schemas.openxmlformats.org/drawingml/2006/main">
            <a:r>
              <a:t>Objetivo: Reconocer subsistemas y convertir una necesidad en requisitos para un multirrotor de referencia.</a:t>
            </a:r>
          </a:p>
          <a:p xmlns:a="http://schemas.openxmlformats.org/drawingml/2006/main">
            <a:r>
              <a:t>Aplicación: El primer resultado es un plano funcional del equipo, con propósito, tamaño de hélice y componentes identificados.</a:t>
            </a:r>
          </a:p>
          <a:p xmlns:a="http://schemas.openxmlformats.org/drawingml/2006/main">
            <a:r>
              <a:t>Entrega: Arquitectura funcional, requisitos y tabla preliminar de masas de una referencia.</a:t>
            </a:r>
          </a:p>
          <a:p xmlns:a="http://schemas.openxmlformats.org/drawingml/2006/main">
            <a:r>
              <a:t/>
            </a:r>
          </a:p>
          <a:p xmlns:a="http://schemas.openxmlformats.org/drawingml/2006/main">
            <a:r>
              <a:t>Preguntas y respuestas</a:t>
            </a:r>
          </a:p>
          <a:p xmlns:a="http://schemas.openxmlformats.org/drawingml/2006/main">
            <a:r>
              <a:t>¿5 pulgadas describe necesariamente el bastidor?</a:t>
            </a:r>
          </a:p>
          <a:p xmlns:a="http://schemas.openxmlformats.org/drawingml/2006/main">
            <a:r>
              <a:t>En la referencia del curso describe la hélice. Se comprueban las cotas reales del bastidor.</a:t>
            </a:r>
          </a:p>
          <a:p xmlns:a="http://schemas.openxmlformats.org/drawingml/2006/main">
            <a:r>
              <a:t/>
            </a:r>
          </a:p>
          <a:p xmlns:a="http://schemas.openxmlformats.org/drawingml/2006/main">
            <a:r>
              <a:t>¿FPV es un firmware?</a:t>
            </a:r>
          </a:p>
          <a:p xmlns:a="http://schemas.openxmlformats.org/drawingml/2006/main">
            <a:r>
              <a:t>No. Es una forma de obtener vista desde la aeronave; puede coexistir con diferentes sistemas.</a:t>
            </a:r>
          </a:p>
          <a:p xmlns:a="http://schemas.openxmlformats.org/drawingml/2006/main">
            <a:r>
              <a:t/>
            </a:r>
          </a:p>
          <a:p xmlns:a="http://schemas.openxmlformats.org/drawingml/2006/main">
            <a:r>
              <a:t>¿F405 basta para elegir firmware?</a:t>
            </a:r>
          </a:p>
          <a:p xmlns:a="http://schemas.openxmlformats.org/drawingml/2006/main">
            <a:r>
              <a:t>No. Hace falta identificar la placa, revisión y target exactos.</a:t>
            </a:r>
          </a:p>
          <a:p xmlns:a="http://schemas.openxmlformats.org/drawingml/2006/main">
            <a:r>
              <a:t/>
            </a:r>
          </a:p>
          <a:p xmlns:a="http://schemas.openxmlformats.org/drawingml/2006/main">
            <a:r>
              <a:t>Fuentes</a:t>
            </a:r>
          </a:p>
          <a:p xmlns:a="http://schemas.openxmlformats.org/drawingml/2006/main">
            <a:r>
              <a:t>MECRO. Catálogo y fotografía del curso de drones. https://mecrodrone.github.io/mecro.github.io/cursos.html</a:t>
            </a:r>
          </a:p>
          <a:p xmlns:a="http://schemas.openxmlformats.org/drawingml/2006/main">
            <a:r>
              <a:t>Betaflight. Setup Guide: organización de la puesta en marcha. https://betaflight.com/docs/wiki/getting-started/setup-guide</a:t>
            </a:r>
          </a:p>
          <a:p xmlns:a="http://schemas.openxmlformats.org/drawingml/2006/main">
            <a:r>
              <a:t>ArduPilot. Copter: First Time Setup. https://ardupilot.org/copter/docs/initial-setup.html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Reconocer el dron y definir qué vamos a construir.</a:t>
            </a:r>
          </a:p>
          <a:p xmlns:a="http://schemas.openxmlformats.org/drawingml/2006/main">
            <a:r>
              <a:t>En línea, 2 horas. Núcleo de explicación: 4 minutos en esta diapositiva.</a:t>
            </a:r>
          </a:p>
          <a:p xmlns:a="http://schemas.openxmlformats.org/drawingml/2006/main">
            <a:r>
              <a:t/>
            </a:r>
          </a:p>
          <a:p xmlns:a="http://schemas.openxmlformats.org/drawingml/2006/main">
            <a:r>
              <a:t>Compatibilidad / Ejemplo / Evidencia</a:t>
            </a:r>
          </a:p>
          <a:p xmlns:a="http://schemas.openxmlformats.org/drawingml/2006/main">
            <a:r>
              <a:t>Mecánica / Hélice, eje, tornillo y patrón de montaje / Cotas y prueba en seco</a:t>
            </a:r>
          </a:p>
          <a:p xmlns:a="http://schemas.openxmlformats.org/drawingml/2006/main">
            <a:r>
              <a:t>Eléctrica / Batería, ESC, regulador y periférico / Tensiones y límites documentados</a:t>
            </a:r>
          </a:p>
          <a:p xmlns:a="http://schemas.openxmlformats.org/drawingml/2006/main">
            <a:r>
              <a:t>De señal / FC y ESC; receptor y UART / Protocolo, nivel y puerto</a:t>
            </a:r>
          </a:p>
          <a:p xmlns:a="http://schemas.openxmlformats.org/drawingml/2006/main">
            <a:r>
              <a:t>De software / Placa y firmware / Target exacto y versión compatible</a:t>
            </a:r>
          </a:p>
          <a:p xmlns:a="http://schemas.openxmlformats.org/drawingml/2006/main">
            <a:r>
              <a:t/>
            </a:r>
          </a:p>
          <a:p xmlns:a="http://schemas.openxmlformats.org/drawingml/2006/main">
            <a:r>
              <a:t>Una controladora anunciada como F405 utiliza un tipo de microcontrolador, pero esa descripción no identifica todos sus sensores, pines ni archivos de firmware. Dos placas con el mismo procesador pueden necesitar targets diferentes. Un cable entre un ESC 4 en 1 y una FC también puede tener la misma forma física y otro orden de contactos. El conector no es una prueba de compatibilidad eléctrica.</a:t>
            </a:r>
          </a:p>
          <a:p xmlns:a="http://schemas.openxmlformats.org/drawingml/2006/main">
            <a:r>
              <a:t/>
            </a:r>
          </a:p>
          <a:p xmlns:a="http://schemas.openxmlformats.org/drawingml/2006/main">
            <a:r>
              <a:t>El alumno reunirá una ficha por componente con nombre, revisión y enlace del fabricante. Si un dato está ausente, se marca como pendiente y se propone dónde obtenerlo. La lista de compra se cierra después de esas comprobaciones. En este curso no inventamos una lista exacta para los equipos de MECRO porque sus modelos aún no están identificados en detalle.</a:t>
            </a:r>
          </a:p>
          <a:p xmlns:a="http://schemas.openxmlformats.org/drawingml/2006/main">
            <a:r>
              <a:t/>
            </a:r>
          </a:p>
          <a:p xmlns:a="http://schemas.openxmlformats.org/drawingml/2006/main">
            <a:r>
              <a:t>Un arnés entra entre FC y ESC. ¿Se conecta para probar?</a:t>
            </a:r>
          </a:p>
          <a:p xmlns:a="http://schemas.openxmlformats.org/drawingml/2006/main">
            <a:r>
              <a:t>Primero se comparan los contactos y tensiones de ambos extremos. Encajar es una comprobación mecánica; falta demostrar compatibilidad eléctrica.</a:t>
            </a:r>
          </a:p>
          <a:p xmlns:a="http://schemas.openxmlformats.org/drawingml/2006/main">
            <a:r>
              <a:t/>
            </a:r>
          </a:p>
          <a:p xmlns:a="http://schemas.openxmlformats.org/drawingml/2006/main">
            <a:r>
              <a:t>Objetivo: Reconocer subsistemas y convertir una necesidad en requisitos para un multirrotor de referencia.</a:t>
            </a:r>
          </a:p>
          <a:p xmlns:a="http://schemas.openxmlformats.org/drawingml/2006/main">
            <a:r>
              <a:t>Aplicación: El primer resultado es un plano funcional del equipo, con propósito, tamaño de hélice y componentes identificados.</a:t>
            </a:r>
          </a:p>
          <a:p xmlns:a="http://schemas.openxmlformats.org/drawingml/2006/main">
            <a:r>
              <a:t>Entrega: Arquitectura funcional, requisitos y tabla preliminar de masas de una referencia.</a:t>
            </a:r>
          </a:p>
          <a:p xmlns:a="http://schemas.openxmlformats.org/drawingml/2006/main">
            <a:r>
              <a:t/>
            </a:r>
          </a:p>
          <a:p xmlns:a="http://schemas.openxmlformats.org/drawingml/2006/main">
            <a:r>
              <a:t>Preguntas y respuestas</a:t>
            </a:r>
          </a:p>
          <a:p xmlns:a="http://schemas.openxmlformats.org/drawingml/2006/main">
            <a:r>
              <a:t>¿5 pulgadas describe necesariamente el bastidor?</a:t>
            </a:r>
          </a:p>
          <a:p xmlns:a="http://schemas.openxmlformats.org/drawingml/2006/main">
            <a:r>
              <a:t>En la referencia del curso describe la hélice. Se comprueban las cotas reales del bastidor.</a:t>
            </a:r>
          </a:p>
          <a:p xmlns:a="http://schemas.openxmlformats.org/drawingml/2006/main">
            <a:r>
              <a:t/>
            </a:r>
          </a:p>
          <a:p xmlns:a="http://schemas.openxmlformats.org/drawingml/2006/main">
            <a:r>
              <a:t>¿FPV es un firmware?</a:t>
            </a:r>
          </a:p>
          <a:p xmlns:a="http://schemas.openxmlformats.org/drawingml/2006/main">
            <a:r>
              <a:t>No. Es una forma de obtener vista desde la aeronave; puede coexistir con diferentes sistemas.</a:t>
            </a:r>
          </a:p>
          <a:p xmlns:a="http://schemas.openxmlformats.org/drawingml/2006/main">
            <a:r>
              <a:t/>
            </a:r>
          </a:p>
          <a:p xmlns:a="http://schemas.openxmlformats.org/drawingml/2006/main">
            <a:r>
              <a:t>¿F405 basta para elegir firmware?</a:t>
            </a:r>
          </a:p>
          <a:p xmlns:a="http://schemas.openxmlformats.org/drawingml/2006/main">
            <a:r>
              <a:t>No. Hace falta identificar la placa, revisión y target exactos.</a:t>
            </a:r>
          </a:p>
          <a:p xmlns:a="http://schemas.openxmlformats.org/drawingml/2006/main">
            <a:r>
              <a:t/>
            </a:r>
          </a:p>
          <a:p xmlns:a="http://schemas.openxmlformats.org/drawingml/2006/main">
            <a:r>
              <a:t>Fuentes</a:t>
            </a:r>
          </a:p>
          <a:p xmlns:a="http://schemas.openxmlformats.org/drawingml/2006/main">
            <a:r>
              <a:t>MECRO. Catálogo y fotografía del curso de drones. https://mecrodrone.github.io/mecro.github.io/cursos.html</a:t>
            </a:r>
          </a:p>
          <a:p xmlns:a="http://schemas.openxmlformats.org/drawingml/2006/main">
            <a:r>
              <a:t>Betaflight. Setup Guide: organización de la puesta en marcha. https://betaflight.com/docs/wiki/getting-started/setup-guide</a:t>
            </a:r>
          </a:p>
          <a:p xmlns:a="http://schemas.openxmlformats.org/drawingml/2006/main">
            <a:r>
              <a:t>ArduPilot. Copter: First Time Setup. https://ardupilot.org/copter/docs/initial-setup.html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Reconocer el dron y definir qué vamos a construir.</a:t>
            </a:r>
          </a:p>
          <a:p xmlns:a="http://schemas.openxmlformats.org/drawingml/2006/main">
            <a:r>
              <a:t>En línea, 2 horas. Núcleo de explicación: 4 minutos en esta diapositiva.</a:t>
            </a:r>
          </a:p>
          <a:p xmlns:a="http://schemas.openxmlformats.org/drawingml/2006/main">
            <a:r>
              <a:t/>
            </a:r>
          </a:p>
          <a:p xmlns:a="http://schemas.openxmlformats.org/drawingml/2006/main">
            <a:r>
              <a:t>Compatibilidad / Ejemplo / Evidencia</a:t>
            </a:r>
          </a:p>
          <a:p xmlns:a="http://schemas.openxmlformats.org/drawingml/2006/main">
            <a:r>
              <a:t>Mecánica / Hélice, eje, tornillo y patrón de montaje / Cotas y prueba en seco</a:t>
            </a:r>
          </a:p>
          <a:p xmlns:a="http://schemas.openxmlformats.org/drawingml/2006/main">
            <a:r>
              <a:t>Eléctrica / Batería, ESC, regulador y periférico / Tensiones y límites documentados</a:t>
            </a:r>
          </a:p>
          <a:p xmlns:a="http://schemas.openxmlformats.org/drawingml/2006/main">
            <a:r>
              <a:t>De señal / FC y ESC; receptor y UART / Protocolo, nivel y puerto</a:t>
            </a:r>
          </a:p>
          <a:p xmlns:a="http://schemas.openxmlformats.org/drawingml/2006/main">
            <a:r>
              <a:t>De software / Placa y firmware / Target exacto y versión compatible</a:t>
            </a:r>
          </a:p>
          <a:p xmlns:a="http://schemas.openxmlformats.org/drawingml/2006/main">
            <a:r>
              <a:t>Comparar filas y explicar una condición que cambie la decisión.</a:t>
            </a:r>
          </a:p>
          <a:p xmlns:a="http://schemas.openxmlformats.org/drawingml/2006/main">
            <a:r>
              <a:t/>
            </a:r>
          </a:p>
          <a:p xmlns:a="http://schemas.openxmlformats.org/drawingml/2006/main">
            <a:r>
              <a:t>Objetivo: Reconocer subsistemas y convertir una necesidad en requisitos para un multirrotor de referencia.</a:t>
            </a:r>
          </a:p>
          <a:p xmlns:a="http://schemas.openxmlformats.org/drawingml/2006/main">
            <a:r>
              <a:t>Aplicación: El primer resultado es un plano funcional del equipo, con propósito, tamaño de hélice y componentes identificados.</a:t>
            </a:r>
          </a:p>
          <a:p xmlns:a="http://schemas.openxmlformats.org/drawingml/2006/main">
            <a:r>
              <a:t>Entrega: Arquitectura funcional, requisitos y tabla preliminar de masas de una referencia.</a:t>
            </a:r>
          </a:p>
          <a:p xmlns:a="http://schemas.openxmlformats.org/drawingml/2006/main">
            <a:r>
              <a:t/>
            </a:r>
          </a:p>
          <a:p xmlns:a="http://schemas.openxmlformats.org/drawingml/2006/main">
            <a:r>
              <a:t>Preguntas y respuestas</a:t>
            </a:r>
          </a:p>
          <a:p xmlns:a="http://schemas.openxmlformats.org/drawingml/2006/main">
            <a:r>
              <a:t>¿5 pulgadas describe necesariamente el bastidor?</a:t>
            </a:r>
          </a:p>
          <a:p xmlns:a="http://schemas.openxmlformats.org/drawingml/2006/main">
            <a:r>
              <a:t>En la referencia del curso describe la hélice. Se comprueban las cotas reales del bastidor.</a:t>
            </a:r>
          </a:p>
          <a:p xmlns:a="http://schemas.openxmlformats.org/drawingml/2006/main">
            <a:r>
              <a:t/>
            </a:r>
          </a:p>
          <a:p xmlns:a="http://schemas.openxmlformats.org/drawingml/2006/main">
            <a:r>
              <a:t>¿FPV es un firmware?</a:t>
            </a:r>
          </a:p>
          <a:p xmlns:a="http://schemas.openxmlformats.org/drawingml/2006/main">
            <a:r>
              <a:t>No. Es una forma de obtener vista desde la aeronave; puede coexistir con diferentes sistemas.</a:t>
            </a:r>
          </a:p>
          <a:p xmlns:a="http://schemas.openxmlformats.org/drawingml/2006/main">
            <a:r>
              <a:t/>
            </a:r>
          </a:p>
          <a:p xmlns:a="http://schemas.openxmlformats.org/drawingml/2006/main">
            <a:r>
              <a:t>¿F405 basta para elegir firmware?</a:t>
            </a:r>
          </a:p>
          <a:p xmlns:a="http://schemas.openxmlformats.org/drawingml/2006/main">
            <a:r>
              <a:t>No. Hace falta identificar la placa, revisión y target exactos.</a:t>
            </a:r>
          </a:p>
          <a:p xmlns:a="http://schemas.openxmlformats.org/drawingml/2006/main">
            <a:r>
              <a:t/>
            </a:r>
          </a:p>
          <a:p xmlns:a="http://schemas.openxmlformats.org/drawingml/2006/main">
            <a:r>
              <a:t>Fuentes</a:t>
            </a:r>
          </a:p>
          <a:p xmlns:a="http://schemas.openxmlformats.org/drawingml/2006/main">
            <a:r>
              <a:t>MECRO. Catálogo y fotografía del curso de drones. https://mecrodrone.github.io/mecro.github.io/cursos.html</a:t>
            </a:r>
          </a:p>
          <a:p xmlns:a="http://schemas.openxmlformats.org/drawingml/2006/main">
            <a:r>
              <a:t>Betaflight. Setup Guide: organización de la puesta en marcha. https://betaflight.com/docs/wiki/getting-started/setup-guide</a:t>
            </a:r>
          </a:p>
          <a:p xmlns:a="http://schemas.openxmlformats.org/drawingml/2006/main">
            <a:r>
              <a:t>ArduPilot. Copter: First Time Setup. https://ardupilot.org/copter/docs/initial-setup.html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Reconocer el dron y definir qué vamos a construir.</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tapar la solución o pedir respuesta individual.</a:t>
            </a:r>
          </a:p>
          <a:p xmlns:a="http://schemas.openxmlformats.org/drawingml/2006/main">
            <a:r>
              <a:t>Un arnés entra entre FC y ESC. ¿Se conecta para probar?</a:t>
            </a:r>
          </a:p>
          <a:p xmlns:a="http://schemas.openxmlformats.org/drawingml/2006/main">
            <a:r>
              <a:t>Primero se comparan los contactos y tensiones de ambos extremos. Encajar es una comprobación mecánica; falta demostrar compatibilidad eléctrica.</a:t>
            </a:r>
          </a:p>
          <a:p xmlns:a="http://schemas.openxmlformats.org/drawingml/2006/main">
            <a:r>
              <a:t/>
            </a:r>
          </a:p>
          <a:p xmlns:a="http://schemas.openxmlformats.org/drawingml/2006/main">
            <a:r>
              <a:t>Objetivo: Reconocer subsistemas y convertir una necesidad en requisitos para un multirrotor de referencia.</a:t>
            </a:r>
          </a:p>
          <a:p xmlns:a="http://schemas.openxmlformats.org/drawingml/2006/main">
            <a:r>
              <a:t>Aplicación: El primer resultado es un plano funcional del equipo, con propósito, tamaño de hélice y componentes identificados.</a:t>
            </a:r>
          </a:p>
          <a:p xmlns:a="http://schemas.openxmlformats.org/drawingml/2006/main">
            <a:r>
              <a:t>Entrega: Arquitectura funcional, requisitos y tabla preliminar de masas de una referencia.</a:t>
            </a:r>
          </a:p>
          <a:p xmlns:a="http://schemas.openxmlformats.org/drawingml/2006/main">
            <a:r>
              <a:t/>
            </a:r>
          </a:p>
          <a:p xmlns:a="http://schemas.openxmlformats.org/drawingml/2006/main">
            <a:r>
              <a:t>Preguntas y respuestas</a:t>
            </a:r>
          </a:p>
          <a:p xmlns:a="http://schemas.openxmlformats.org/drawingml/2006/main">
            <a:r>
              <a:t>¿5 pulgadas describe necesariamente el bastidor?</a:t>
            </a:r>
          </a:p>
          <a:p xmlns:a="http://schemas.openxmlformats.org/drawingml/2006/main">
            <a:r>
              <a:t>En la referencia del curso describe la hélice. Se comprueban las cotas reales del bastidor.</a:t>
            </a:r>
          </a:p>
          <a:p xmlns:a="http://schemas.openxmlformats.org/drawingml/2006/main">
            <a:r>
              <a:t/>
            </a:r>
          </a:p>
          <a:p xmlns:a="http://schemas.openxmlformats.org/drawingml/2006/main">
            <a:r>
              <a:t>¿FPV es un firmware?</a:t>
            </a:r>
          </a:p>
          <a:p xmlns:a="http://schemas.openxmlformats.org/drawingml/2006/main">
            <a:r>
              <a:t>No. Es una forma de obtener vista desde la aeronave; puede coexistir con diferentes sistemas.</a:t>
            </a:r>
          </a:p>
          <a:p xmlns:a="http://schemas.openxmlformats.org/drawingml/2006/main">
            <a:r>
              <a:t/>
            </a:r>
          </a:p>
          <a:p xmlns:a="http://schemas.openxmlformats.org/drawingml/2006/main">
            <a:r>
              <a:t>¿F405 basta para elegir firmware?</a:t>
            </a:r>
          </a:p>
          <a:p xmlns:a="http://schemas.openxmlformats.org/drawingml/2006/main">
            <a:r>
              <a:t>No. Hace falta identificar la placa, revisión y target exactos.</a:t>
            </a:r>
          </a:p>
          <a:p xmlns:a="http://schemas.openxmlformats.org/drawingml/2006/main">
            <a:r>
              <a:t/>
            </a:r>
          </a:p>
          <a:p xmlns:a="http://schemas.openxmlformats.org/drawingml/2006/main">
            <a:r>
              <a:t>Fuentes</a:t>
            </a:r>
          </a:p>
          <a:p xmlns:a="http://schemas.openxmlformats.org/drawingml/2006/main">
            <a:r>
              <a:t>MECRO. Catálogo y fotografía del curso de drones. https://mecrodrone.github.io/mecro.github.io/cursos.html</a:t>
            </a:r>
          </a:p>
          <a:p xmlns:a="http://schemas.openxmlformats.org/drawingml/2006/main">
            <a:r>
              <a:t>Betaflight. Setup Guide: organización de la puesta en marcha. https://betaflight.com/docs/wiki/getting-started/setup-guide</a:t>
            </a:r>
          </a:p>
          <a:p xmlns:a="http://schemas.openxmlformats.org/drawingml/2006/main">
            <a:r>
              <a:t>ArduPilot. Copter: First Time Setup. https://ardupilot.org/copter/docs/initial-setup.html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Reconocer el dron y definir qué vamos a construir.</a:t>
            </a:r>
          </a:p>
          <a:p xmlns:a="http://schemas.openxmlformats.org/drawingml/2006/main">
            <a:r>
              <a:t>En línea, 2 horas. Núcleo de explicación: 4 minutos en esta diapositiva.</a:t>
            </a:r>
          </a:p>
          <a:p xmlns:a="http://schemas.openxmlformats.org/drawingml/2006/main">
            <a:r>
              <a:t/>
            </a:r>
          </a:p>
          <a:p xmlns:a="http://schemas.openxmlformats.org/drawingml/2006/main">
            <a:r>
              <a:t>Observa las fotografías o el dron del docente. Identifica bastidor, propulsión, energía, control y enlace.</a:t>
            </a:r>
          </a:p>
          <a:p xmlns:a="http://schemas.openxmlformats.org/drawingml/2006/main">
            <a:r>
              <a:t>Elige 5, 7 o 12 pulgadas para el expediente de aula y explica el propósito. No implica comprar ese equipo.</a:t>
            </a:r>
          </a:p>
          <a:p xmlns:a="http://schemas.openxmlformats.org/drawingml/2006/main">
            <a:r>
              <a:t>Crea una tabla de masas preliminares y separa dato medido, dato de fabricante y estimación.</a:t>
            </a:r>
          </a:p>
          <a:p xmlns:a="http://schemas.openxmlformats.org/drawingml/2006/main">
            <a:r>
              <a:t>Dibuja energía y señal con referencias de origen y destino. Marca los componentes opcionales.</a:t>
            </a:r>
          </a:p>
          <a:p xmlns:a="http://schemas.openxmlformats.org/drawingml/2006/main">
            <a:r>
              <a:t>Registra tres condiciones necesarias y dos preferencias. Una condición debe poder comprobarse.</a:t>
            </a:r>
          </a:p>
          <a:p xmlns:a="http://schemas.openxmlformats.org/drawingml/2006/main">
            <a:r>
              <a:t>Selecciona una incompatibilidad posible y explica qué documento la resolvería.</a:t>
            </a:r>
          </a:p>
          <a:p xmlns:a="http://schemas.openxmlformats.org/drawingml/2006/main">
            <a:r>
              <a:t/>
            </a:r>
          </a:p>
          <a:p xmlns:a="http://schemas.openxmlformats.org/drawingml/2006/main">
            <a:r>
              <a:t>Para trabajar en línea basta la fotografía y la documentación. Si el docente muestra un equipo armado, se conserva su configuración como referencia y se anotan los elementos que no pueden verse. Una carcasa, una etiqueta tapada o una revisión de placa diferente puede cambiar una conclusión. La primera práctica se entrega como una hoja clara, no como una colección de capturas sin relación.</a:t>
            </a:r>
          </a:p>
          <a:p xmlns:a="http://schemas.openxmlformats.org/drawingml/2006/main">
            <a:r>
              <a:t/>
            </a:r>
          </a:p>
          <a:p xmlns:a="http://schemas.openxmlformats.org/drawingml/2006/main">
            <a:r>
              <a:t>La revisión entre compañeros consiste en seguir un recorrido completo: una orden humana debe llegar a una salida prevista y la energía debe alimentar las etapas correspondientes. Si faltó un retorno, una interfaz o el componente que genera la orden, el dibujo ayuda a descubrirlo antes del taller.</a:t>
            </a:r>
          </a:p>
          <a:p xmlns:a="http://schemas.openxmlformats.org/drawingml/2006/main">
            <a:r>
              <a:t/>
            </a:r>
          </a:p>
          <a:p xmlns:a="http://schemas.openxmlformats.org/drawingml/2006/main">
            <a:r>
              <a:t>Objetivo: Reconocer subsistemas y convertir una necesidad en requisitos para un multirrotor de referencia.</a:t>
            </a:r>
          </a:p>
          <a:p xmlns:a="http://schemas.openxmlformats.org/drawingml/2006/main">
            <a:r>
              <a:t>Aplicación: El primer resultado es un plano funcional del equipo, con propósito, tamaño de hélice y componentes identificados.</a:t>
            </a:r>
          </a:p>
          <a:p xmlns:a="http://schemas.openxmlformats.org/drawingml/2006/main">
            <a:r>
              <a:t>Entrega: Arquitectura funcional, requisitos y tabla preliminar de masas de una referencia.</a:t>
            </a:r>
          </a:p>
          <a:p xmlns:a="http://schemas.openxmlformats.org/drawingml/2006/main">
            <a:r>
              <a:t/>
            </a:r>
          </a:p>
          <a:p xmlns:a="http://schemas.openxmlformats.org/drawingml/2006/main">
            <a:r>
              <a:t>Preguntas y respuestas</a:t>
            </a:r>
          </a:p>
          <a:p xmlns:a="http://schemas.openxmlformats.org/drawingml/2006/main">
            <a:r>
              <a:t>¿5 pulgadas describe necesariamente el bastidor?</a:t>
            </a:r>
          </a:p>
          <a:p xmlns:a="http://schemas.openxmlformats.org/drawingml/2006/main">
            <a:r>
              <a:t>En la referencia del curso describe la hélice. Se comprueban las cotas reales del bastidor.</a:t>
            </a:r>
          </a:p>
          <a:p xmlns:a="http://schemas.openxmlformats.org/drawingml/2006/main">
            <a:r>
              <a:t/>
            </a:r>
          </a:p>
          <a:p xmlns:a="http://schemas.openxmlformats.org/drawingml/2006/main">
            <a:r>
              <a:t>¿FPV es un firmware?</a:t>
            </a:r>
          </a:p>
          <a:p xmlns:a="http://schemas.openxmlformats.org/drawingml/2006/main">
            <a:r>
              <a:t>No. Es una forma de obtener vista desde la aeronave; puede coexistir con diferentes sistemas.</a:t>
            </a:r>
          </a:p>
          <a:p xmlns:a="http://schemas.openxmlformats.org/drawingml/2006/main">
            <a:r>
              <a:t/>
            </a:r>
          </a:p>
          <a:p xmlns:a="http://schemas.openxmlformats.org/drawingml/2006/main">
            <a:r>
              <a:t>¿F405 basta para elegir firmware?</a:t>
            </a:r>
          </a:p>
          <a:p xmlns:a="http://schemas.openxmlformats.org/drawingml/2006/main">
            <a:r>
              <a:t>No. Hace falta identificar la placa, revisión y target exactos.</a:t>
            </a:r>
          </a:p>
          <a:p xmlns:a="http://schemas.openxmlformats.org/drawingml/2006/main">
            <a:r>
              <a:t/>
            </a:r>
          </a:p>
          <a:p xmlns:a="http://schemas.openxmlformats.org/drawingml/2006/main">
            <a:r>
              <a:t>Fuentes</a:t>
            </a:r>
          </a:p>
          <a:p xmlns:a="http://schemas.openxmlformats.org/drawingml/2006/main">
            <a:r>
              <a:t>MECRO. Catálogo y fotografía del curso de drones. https://mecrodrone.github.io/mecro.github.io/cursos.html</a:t>
            </a:r>
          </a:p>
          <a:p xmlns:a="http://schemas.openxmlformats.org/drawingml/2006/main">
            <a:r>
              <a:t>Betaflight. Setup Guide: organización de la puesta en marcha. https://betaflight.com/docs/wiki/getting-started/setup-guide</a:t>
            </a:r>
          </a:p>
          <a:p xmlns:a="http://schemas.openxmlformats.org/drawingml/2006/main">
            <a:r>
              <a:t>ArduPilot. Copter: First Time Setup. https://ardupilot.org/copter/docs/initial-setup.html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Reconocer el dron y definir qué vamos a construir.</a:t>
            </a:r>
          </a:p>
          <a:p xmlns:a="http://schemas.openxmlformats.org/drawingml/2006/main">
            <a:r>
              <a:t>En línea, 2 horas. Núcleo de explicación: 4 minutos en esta diapositiva.</a:t>
            </a:r>
          </a:p>
          <a:p xmlns:a="http://schemas.openxmlformats.org/drawingml/2006/main">
            <a:r>
              <a:t/>
            </a:r>
          </a:p>
          <a:p xmlns:a="http://schemas.openxmlformats.org/drawingml/2006/main">
            <a:r>
              <a:t>Observa las fotografías o el dron del docente. Identifica bastidor, propulsión, energía, control y enlace.</a:t>
            </a:r>
          </a:p>
          <a:p xmlns:a="http://schemas.openxmlformats.org/drawingml/2006/main">
            <a:r>
              <a:t>Elige 5, 7 o 12 pulgadas para el expediente de aula y explica el propósito. No implica comprar ese equipo.</a:t>
            </a:r>
          </a:p>
          <a:p xmlns:a="http://schemas.openxmlformats.org/drawingml/2006/main">
            <a:r>
              <a:t>Crea una tabla de masas preliminares y separa dato medido, dato de fabricante y estimación.</a:t>
            </a:r>
          </a:p>
          <a:p xmlns:a="http://schemas.openxmlformats.org/drawingml/2006/main">
            <a:r>
              <a:t>Dibuja energía y señal con referencias de origen y destino. Marca los componentes opcionales.</a:t>
            </a:r>
          </a:p>
          <a:p xmlns:a="http://schemas.openxmlformats.org/drawingml/2006/main">
            <a:r>
              <a:t>Registra tres condiciones necesarias y dos preferencias. Una condición debe poder comprobarse.</a:t>
            </a:r>
          </a:p>
          <a:p xmlns:a="http://schemas.openxmlformats.org/drawingml/2006/main">
            <a:r>
              <a:t>Selecciona una incompatibilidad posible y explica qué documento la resolvería.</a:t>
            </a:r>
          </a:p>
          <a:p xmlns:a="http://schemas.openxmlformats.org/drawingml/2006/main">
            <a:r>
              <a:t/>
            </a:r>
          </a:p>
          <a:p xmlns:a="http://schemas.openxmlformats.org/drawingml/2006/main">
            <a:r>
              <a:t>Para trabajar en línea basta la fotografía y la documentación. Si el docente muestra un equipo armado, se conserva su configuración como referencia y se anotan los elementos que no pueden verse. Una carcasa, una etiqueta tapada o una revisión de placa diferente puede cambiar una conclusión. La primera práctica se entrega como una hoja clara, no como una colección de capturas sin relación.</a:t>
            </a:r>
          </a:p>
          <a:p xmlns:a="http://schemas.openxmlformats.org/drawingml/2006/main">
            <a:r>
              <a:t/>
            </a:r>
          </a:p>
          <a:p xmlns:a="http://schemas.openxmlformats.org/drawingml/2006/main">
            <a:r>
              <a:t>La revisión entre compañeros consiste en seguir un recorrido completo: una orden humana debe llegar a una salida prevista y la energía debe alimentar las etapas correspondientes. Si faltó un retorno, una interfaz o el componente que genera la orden, el dibujo ayuda a descubrirlo antes del taller.</a:t>
            </a:r>
          </a:p>
          <a:p xmlns:a="http://schemas.openxmlformats.org/drawingml/2006/main">
            <a:r>
              <a:t/>
            </a:r>
          </a:p>
          <a:p xmlns:a="http://schemas.openxmlformats.org/drawingml/2006/main">
            <a:r>
              <a:t>Objetivo: Reconocer subsistemas y convertir una necesidad en requisitos para un multirrotor de referencia.</a:t>
            </a:r>
          </a:p>
          <a:p xmlns:a="http://schemas.openxmlformats.org/drawingml/2006/main">
            <a:r>
              <a:t>Aplicación: El primer resultado es un plano funcional del equipo, con propósito, tamaño de hélice y componentes identificados.</a:t>
            </a:r>
          </a:p>
          <a:p xmlns:a="http://schemas.openxmlformats.org/drawingml/2006/main">
            <a:r>
              <a:t>Entrega: Arquitectura funcional, requisitos y tabla preliminar de masas de una referencia.</a:t>
            </a:r>
          </a:p>
          <a:p xmlns:a="http://schemas.openxmlformats.org/drawingml/2006/main">
            <a:r>
              <a:t/>
            </a:r>
          </a:p>
          <a:p xmlns:a="http://schemas.openxmlformats.org/drawingml/2006/main">
            <a:r>
              <a:t>Preguntas y respuestas</a:t>
            </a:r>
          </a:p>
          <a:p xmlns:a="http://schemas.openxmlformats.org/drawingml/2006/main">
            <a:r>
              <a:t>¿5 pulgadas describe necesariamente el bastidor?</a:t>
            </a:r>
          </a:p>
          <a:p xmlns:a="http://schemas.openxmlformats.org/drawingml/2006/main">
            <a:r>
              <a:t>En la referencia del curso describe la hélice. Se comprueban las cotas reales del bastidor.</a:t>
            </a:r>
          </a:p>
          <a:p xmlns:a="http://schemas.openxmlformats.org/drawingml/2006/main">
            <a:r>
              <a:t/>
            </a:r>
          </a:p>
          <a:p xmlns:a="http://schemas.openxmlformats.org/drawingml/2006/main">
            <a:r>
              <a:t>¿FPV es un firmware?</a:t>
            </a:r>
          </a:p>
          <a:p xmlns:a="http://schemas.openxmlformats.org/drawingml/2006/main">
            <a:r>
              <a:t>No. Es una forma de obtener vista desde la aeronave; puede coexistir con diferentes sistemas.</a:t>
            </a:r>
          </a:p>
          <a:p xmlns:a="http://schemas.openxmlformats.org/drawingml/2006/main">
            <a:r>
              <a:t/>
            </a:r>
          </a:p>
          <a:p xmlns:a="http://schemas.openxmlformats.org/drawingml/2006/main">
            <a:r>
              <a:t>¿F405 basta para elegir firmware?</a:t>
            </a:r>
          </a:p>
          <a:p xmlns:a="http://schemas.openxmlformats.org/drawingml/2006/main">
            <a:r>
              <a:t>No. Hace falta identificar la placa, revisión y target exactos.</a:t>
            </a:r>
          </a:p>
          <a:p xmlns:a="http://schemas.openxmlformats.org/drawingml/2006/main">
            <a:r>
              <a:t/>
            </a:r>
          </a:p>
          <a:p xmlns:a="http://schemas.openxmlformats.org/drawingml/2006/main">
            <a:r>
              <a:t>Fuentes</a:t>
            </a:r>
          </a:p>
          <a:p xmlns:a="http://schemas.openxmlformats.org/drawingml/2006/main">
            <a:r>
              <a:t>MECRO. Catálogo y fotografía del curso de drones. https://mecrodrone.github.io/mecro.github.io/cursos.html</a:t>
            </a:r>
          </a:p>
          <a:p xmlns:a="http://schemas.openxmlformats.org/drawingml/2006/main">
            <a:r>
              <a:t>Betaflight. Setup Guide: organización de la puesta en marcha. https://betaflight.com/docs/wiki/getting-started/setup-guide</a:t>
            </a:r>
          </a:p>
          <a:p xmlns:a="http://schemas.openxmlformats.org/drawingml/2006/main">
            <a:r>
              <a:t>ArduPilot. Copter: First Time Setup. https://ardupilot.org/copter/docs/initial-setup.html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Reconocer el dron y definir qué vamos a construir.</a:t>
            </a:r>
          </a:p>
          <a:p xmlns:a="http://schemas.openxmlformats.org/drawingml/2006/main">
            <a:r>
              <a:t>En línea, 2 horas. Núcleo de explicación: 5 minutos en esta diapositiva.</a:t>
            </a:r>
          </a:p>
          <a:p xmlns:a="http://schemas.openxmlformats.org/drawingml/2006/main">
            <a:r>
              <a:t/>
            </a:r>
          </a:p>
          <a:p xmlns:a="http://schemas.openxmlformats.org/drawingml/2006/main">
            <a:r>
              <a:t>Observa las fotografías o el dron del docente. Identifica bastidor, propulsión, energía, control y enlace.</a:t>
            </a:r>
          </a:p>
          <a:p xmlns:a="http://schemas.openxmlformats.org/drawingml/2006/main">
            <a:r>
              <a:t>Elige 5, 7 o 12 pulgadas para el expediente de aula y explica el propósito. No implica comprar ese equipo.</a:t>
            </a:r>
          </a:p>
          <a:p xmlns:a="http://schemas.openxmlformats.org/drawingml/2006/main">
            <a:r>
              <a:t>Crea una tabla de masas preliminares y separa dato medido, dato de fabricante y estimación.</a:t>
            </a:r>
          </a:p>
          <a:p xmlns:a="http://schemas.openxmlformats.org/drawingml/2006/main">
            <a:r>
              <a:t>Dibuja energía y señal con referencias de origen y destino. Marca los componentes opcionales.</a:t>
            </a:r>
          </a:p>
          <a:p xmlns:a="http://schemas.openxmlformats.org/drawingml/2006/main">
            <a:r>
              <a:t>Registra tres condiciones necesarias y dos preferencias. Una condición debe poder comprobarse.</a:t>
            </a:r>
          </a:p>
          <a:p xmlns:a="http://schemas.openxmlformats.org/drawingml/2006/main">
            <a:r>
              <a:t>Selecciona una incompatibilidad posible y explica qué documento la resolvería.</a:t>
            </a:r>
          </a:p>
          <a:p xmlns:a="http://schemas.openxmlformats.org/drawingml/2006/main">
            <a:r>
              <a:t>Verificar un paso antes de seguir.</a:t>
            </a:r>
          </a:p>
          <a:p xmlns:a="http://schemas.openxmlformats.org/drawingml/2006/main">
            <a:r>
              <a:t/>
            </a:r>
          </a:p>
          <a:p xmlns:a="http://schemas.openxmlformats.org/drawingml/2006/main">
            <a:r>
              <a:t>Objetivo: Reconocer subsistemas y convertir una necesidad en requisitos para un multirrotor de referencia.</a:t>
            </a:r>
          </a:p>
          <a:p xmlns:a="http://schemas.openxmlformats.org/drawingml/2006/main">
            <a:r>
              <a:t>Aplicación: El primer resultado es un plano funcional del equipo, con propósito, tamaño de hélice y componentes identificados.</a:t>
            </a:r>
          </a:p>
          <a:p xmlns:a="http://schemas.openxmlformats.org/drawingml/2006/main">
            <a:r>
              <a:t>Entrega: Arquitectura funcional, requisitos y tabla preliminar de masas de una referencia.</a:t>
            </a:r>
          </a:p>
          <a:p xmlns:a="http://schemas.openxmlformats.org/drawingml/2006/main">
            <a:r>
              <a:t/>
            </a:r>
          </a:p>
          <a:p xmlns:a="http://schemas.openxmlformats.org/drawingml/2006/main">
            <a:r>
              <a:t>Preguntas y respuestas</a:t>
            </a:r>
          </a:p>
          <a:p xmlns:a="http://schemas.openxmlformats.org/drawingml/2006/main">
            <a:r>
              <a:t>¿5 pulgadas describe necesariamente el bastidor?</a:t>
            </a:r>
          </a:p>
          <a:p xmlns:a="http://schemas.openxmlformats.org/drawingml/2006/main">
            <a:r>
              <a:t>En la referencia del curso describe la hélice. Se comprueban las cotas reales del bastidor.</a:t>
            </a:r>
          </a:p>
          <a:p xmlns:a="http://schemas.openxmlformats.org/drawingml/2006/main">
            <a:r>
              <a:t/>
            </a:r>
          </a:p>
          <a:p xmlns:a="http://schemas.openxmlformats.org/drawingml/2006/main">
            <a:r>
              <a:t>¿FPV es un firmware?</a:t>
            </a:r>
          </a:p>
          <a:p xmlns:a="http://schemas.openxmlformats.org/drawingml/2006/main">
            <a:r>
              <a:t>No. Es una forma de obtener vista desde la aeronave; puede coexistir con diferentes sistemas.</a:t>
            </a:r>
          </a:p>
          <a:p xmlns:a="http://schemas.openxmlformats.org/drawingml/2006/main">
            <a:r>
              <a:t/>
            </a:r>
          </a:p>
          <a:p xmlns:a="http://schemas.openxmlformats.org/drawingml/2006/main">
            <a:r>
              <a:t>¿F405 basta para elegir firmware?</a:t>
            </a:r>
          </a:p>
          <a:p xmlns:a="http://schemas.openxmlformats.org/drawingml/2006/main">
            <a:r>
              <a:t>No. Hace falta identificar la placa, revisión y target exactos.</a:t>
            </a:r>
          </a:p>
          <a:p xmlns:a="http://schemas.openxmlformats.org/drawingml/2006/main">
            <a:r>
              <a:t/>
            </a:r>
          </a:p>
          <a:p xmlns:a="http://schemas.openxmlformats.org/drawingml/2006/main">
            <a:r>
              <a:t>Fuentes</a:t>
            </a:r>
          </a:p>
          <a:p xmlns:a="http://schemas.openxmlformats.org/drawingml/2006/main">
            <a:r>
              <a:t>MECRO. Catálogo y fotografía del curso de drones. https://mecrodrone.github.io/mecro.github.io/cursos.html</a:t>
            </a:r>
          </a:p>
          <a:p xmlns:a="http://schemas.openxmlformats.org/drawingml/2006/main">
            <a:r>
              <a:t>Betaflight. Setup Guide: organización de la puesta en marcha. https://betaflight.com/docs/wiki/getting-started/setup-guide</a:t>
            </a:r>
          </a:p>
          <a:p xmlns:a="http://schemas.openxmlformats.org/drawingml/2006/main">
            <a:r>
              <a:t>ArduPilot. Copter: First Time Setup. https://ardupilot.org/copter/docs/initial-setup.html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Reconocer el dron y definir qué vamos a construir.</a:t>
            </a:r>
          </a:p>
          <a:p xmlns:a="http://schemas.openxmlformats.org/drawingml/2006/main">
            <a:r>
              <a:t>En línea, 2 horas. Núcleo de explicación: 4 minutos en esta diapositiva.</a:t>
            </a:r>
          </a:p>
          <a:p xmlns:a="http://schemas.openxmlformats.org/drawingml/2006/main">
            <a:r>
              <a:t/>
            </a:r>
          </a:p>
          <a:p xmlns:a="http://schemas.openxmlformats.org/drawingml/2006/main">
            <a:r>
              <a:t>Un constructor necesita vocabulario para plantear decisiones. Bastidor no equivale a aeronave completa; controladora no equivale a ESC; tamaño no equivale a carga útil. La siguiente clase utilizará esta separación para seleccionar motor, hélice y batería con un caso numérico. El objetivo es explicar una combinación y sus límites, en lugar de memorizar una receta de compras.</a:t>
            </a:r>
          </a:p>
          <a:p xmlns:a="http://schemas.openxmlformats.org/drawingml/2006/main">
            <a:r>
              <a:t/>
            </a:r>
          </a:p>
          <a:p xmlns:a="http://schemas.openxmlformats.org/drawingml/2006/main">
            <a:r>
              <a:t>Pregunta / Dónde buscar / Resultado esperado</a:t>
            </a:r>
          </a:p>
          <a:p xmlns:a="http://schemas.openxmlformats.org/drawingml/2006/main">
            <a:r>
              <a:t>¿Qué hélice admite el bastidor? / Plano o ficha del bastidor / Dimensión y condición</a:t>
            </a:r>
          </a:p>
          <a:p xmlns:a="http://schemas.openxmlformats.org/drawingml/2006/main">
            <a:r>
              <a:t>¿Qué firmware admite la FC? / Manual y target del proyecto / Placa exacta</a:t>
            </a:r>
          </a:p>
          <a:p xmlns:a="http://schemas.openxmlformats.org/drawingml/2006/main">
            <a:r>
              <a:t>¿Qué entra en masa total? / Lista y balanza / Inventario coherente</a:t>
            </a:r>
          </a:p>
          <a:p xmlns:a="http://schemas.openxmlformats.org/drawingml/2006/main">
            <a:r>
              <a:t/>
            </a:r>
          </a:p>
          <a:p xmlns:a="http://schemas.openxmlformats.org/drawingml/2006/main">
            <a:r>
              <a:t>Como lectura de profundización se propone Beard y McLain para reconocer cómo se organizan dinámica, sensores y control. Es una referencia avanzada de UAV, con énfasis en ala fija; no se convierte en prerrequisito de cálculo para este curso de ensamblaje multirrotor. Los manuales del fabricante del equipo real son la referencia inmediata para límites y conectores.</a:t>
            </a:r>
          </a:p>
          <a:p xmlns:a="http://schemas.openxmlformats.org/drawingml/2006/main">
            <a:r>
              <a:t/>
            </a:r>
          </a:p>
          <a:p xmlns:a="http://schemas.openxmlformats.org/drawingml/2006/main">
            <a:r>
              <a:t>La enseñanza presencial es demostrativa y la imparte Gerard. Cada estudiante produce su expediente y explica decisiones; la matrícula no promete construir o llevarse un dron individual.</a:t>
            </a:r>
          </a:p>
          <a:p xmlns:a="http://schemas.openxmlformats.org/drawingml/2006/main">
            <a:r>
              <a:t/>
            </a:r>
          </a:p>
          <a:p xmlns:a="http://schemas.openxmlformats.org/drawingml/2006/main">
            <a:r>
              <a:t>Objetivo: Reconocer subsistemas y convertir una necesidad en requisitos para un multirrotor de referencia.</a:t>
            </a:r>
          </a:p>
          <a:p xmlns:a="http://schemas.openxmlformats.org/drawingml/2006/main">
            <a:r>
              <a:t>Aplicación: El primer resultado es un plano funcional del equipo, con propósito, tamaño de hélice y componentes identificados.</a:t>
            </a:r>
          </a:p>
          <a:p xmlns:a="http://schemas.openxmlformats.org/drawingml/2006/main">
            <a:r>
              <a:t>Entrega: Arquitectura funcional, requisitos y tabla preliminar de masas de una referencia.</a:t>
            </a:r>
          </a:p>
          <a:p xmlns:a="http://schemas.openxmlformats.org/drawingml/2006/main">
            <a:r>
              <a:t/>
            </a:r>
          </a:p>
          <a:p xmlns:a="http://schemas.openxmlformats.org/drawingml/2006/main">
            <a:r>
              <a:t>Preguntas y respuestas</a:t>
            </a:r>
          </a:p>
          <a:p xmlns:a="http://schemas.openxmlformats.org/drawingml/2006/main">
            <a:r>
              <a:t>¿5 pulgadas describe necesariamente el bastidor?</a:t>
            </a:r>
          </a:p>
          <a:p xmlns:a="http://schemas.openxmlformats.org/drawingml/2006/main">
            <a:r>
              <a:t>En la referencia del curso describe la hélice. Se comprueban las cotas reales del bastidor.</a:t>
            </a:r>
          </a:p>
          <a:p xmlns:a="http://schemas.openxmlformats.org/drawingml/2006/main">
            <a:r>
              <a:t/>
            </a:r>
          </a:p>
          <a:p xmlns:a="http://schemas.openxmlformats.org/drawingml/2006/main">
            <a:r>
              <a:t>¿FPV es un firmware?</a:t>
            </a:r>
          </a:p>
          <a:p xmlns:a="http://schemas.openxmlformats.org/drawingml/2006/main">
            <a:r>
              <a:t>No. Es una forma de obtener vista desde la aeronave; puede coexistir con diferentes sistemas.</a:t>
            </a:r>
          </a:p>
          <a:p xmlns:a="http://schemas.openxmlformats.org/drawingml/2006/main">
            <a:r>
              <a:t/>
            </a:r>
          </a:p>
          <a:p xmlns:a="http://schemas.openxmlformats.org/drawingml/2006/main">
            <a:r>
              <a:t>¿F405 basta para elegir firmware?</a:t>
            </a:r>
          </a:p>
          <a:p xmlns:a="http://schemas.openxmlformats.org/drawingml/2006/main">
            <a:r>
              <a:t>No. Hace falta identificar la placa, revisión y target exactos.</a:t>
            </a:r>
          </a:p>
          <a:p xmlns:a="http://schemas.openxmlformats.org/drawingml/2006/main">
            <a:r>
              <a:t/>
            </a:r>
          </a:p>
          <a:p xmlns:a="http://schemas.openxmlformats.org/drawingml/2006/main">
            <a:r>
              <a:t>Fuentes</a:t>
            </a:r>
          </a:p>
          <a:p xmlns:a="http://schemas.openxmlformats.org/drawingml/2006/main">
            <a:r>
              <a:t>MECRO. Catálogo y fotografía del curso de drones. https://mecrodrone.github.io/mecro.github.io/cursos.html</a:t>
            </a:r>
          </a:p>
          <a:p xmlns:a="http://schemas.openxmlformats.org/drawingml/2006/main">
            <a:r>
              <a:t>Betaflight. Setup Guide: organización de la puesta en marcha. https://betaflight.com/docs/wiki/getting-started/setup-guide</a:t>
            </a:r>
          </a:p>
          <a:p xmlns:a="http://schemas.openxmlformats.org/drawingml/2006/main">
            <a:r>
              <a:t>ArduPilot. Copter: First Time Setup. https://ardupilot.org/copter/docs/initial-setup.html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Reconocer el dron y definir qué vamos a construir.</a:t>
            </a:r>
          </a:p>
          <a:p xmlns:a="http://schemas.openxmlformats.org/drawingml/2006/main">
            <a:r>
              <a:t>En línea, 2 horas. Núcleo de explicación: 4 minutos en esta diapositiva.</a:t>
            </a:r>
          </a:p>
          <a:p xmlns:a="http://schemas.openxmlformats.org/drawingml/2006/main">
            <a:r>
              <a:t/>
            </a:r>
          </a:p>
          <a:p xmlns:a="http://schemas.openxmlformats.org/drawingml/2006/main">
            <a:r>
              <a:t>Pregunta / Dónde buscar / Resultado esperado</a:t>
            </a:r>
          </a:p>
          <a:p xmlns:a="http://schemas.openxmlformats.org/drawingml/2006/main">
            <a:r>
              <a:t>¿Qué hélice admite el bastidor? / Plano o ficha del bastidor / Dimensión y condición</a:t>
            </a:r>
          </a:p>
          <a:p xmlns:a="http://schemas.openxmlformats.org/drawingml/2006/main">
            <a:r>
              <a:t>¿Qué firmware admite la FC? / Manual y target del proyecto / Placa exacta</a:t>
            </a:r>
          </a:p>
          <a:p xmlns:a="http://schemas.openxmlformats.org/drawingml/2006/main">
            <a:r>
              <a:t>¿Qué entra en masa total? / Lista y balanza / Inventario coherente</a:t>
            </a:r>
          </a:p>
          <a:p xmlns:a="http://schemas.openxmlformats.org/drawingml/2006/main">
            <a:r>
              <a:t>Comparar filas y explicar una condición que cambie la decisión.</a:t>
            </a:r>
          </a:p>
          <a:p xmlns:a="http://schemas.openxmlformats.org/drawingml/2006/main">
            <a:r>
              <a:t/>
            </a:r>
          </a:p>
          <a:p xmlns:a="http://schemas.openxmlformats.org/drawingml/2006/main">
            <a:r>
              <a:t>Objetivo: Reconocer subsistemas y convertir una necesidad en requisitos para un multirrotor de referencia.</a:t>
            </a:r>
          </a:p>
          <a:p xmlns:a="http://schemas.openxmlformats.org/drawingml/2006/main">
            <a:r>
              <a:t>Aplicación: El primer resultado es un plano funcional del equipo, con propósito, tamaño de hélice y componentes identificados.</a:t>
            </a:r>
          </a:p>
          <a:p xmlns:a="http://schemas.openxmlformats.org/drawingml/2006/main">
            <a:r>
              <a:t>Entrega: Arquitectura funcional, requisitos y tabla preliminar de masas de una referencia.</a:t>
            </a:r>
          </a:p>
          <a:p xmlns:a="http://schemas.openxmlformats.org/drawingml/2006/main">
            <a:r>
              <a:t/>
            </a:r>
          </a:p>
          <a:p xmlns:a="http://schemas.openxmlformats.org/drawingml/2006/main">
            <a:r>
              <a:t>Preguntas y respuestas</a:t>
            </a:r>
          </a:p>
          <a:p xmlns:a="http://schemas.openxmlformats.org/drawingml/2006/main">
            <a:r>
              <a:t>¿5 pulgadas describe necesariamente el bastidor?</a:t>
            </a:r>
          </a:p>
          <a:p xmlns:a="http://schemas.openxmlformats.org/drawingml/2006/main">
            <a:r>
              <a:t>En la referencia del curso describe la hélice. Se comprueban las cotas reales del bastidor.</a:t>
            </a:r>
          </a:p>
          <a:p xmlns:a="http://schemas.openxmlformats.org/drawingml/2006/main">
            <a:r>
              <a:t/>
            </a:r>
          </a:p>
          <a:p xmlns:a="http://schemas.openxmlformats.org/drawingml/2006/main">
            <a:r>
              <a:t>¿FPV es un firmware?</a:t>
            </a:r>
          </a:p>
          <a:p xmlns:a="http://schemas.openxmlformats.org/drawingml/2006/main">
            <a:r>
              <a:t>No. Es una forma de obtener vista desde la aeronave; puede coexistir con diferentes sistemas.</a:t>
            </a:r>
          </a:p>
          <a:p xmlns:a="http://schemas.openxmlformats.org/drawingml/2006/main">
            <a:r>
              <a:t/>
            </a:r>
          </a:p>
          <a:p xmlns:a="http://schemas.openxmlformats.org/drawingml/2006/main">
            <a:r>
              <a:t>¿F405 basta para elegir firmware?</a:t>
            </a:r>
          </a:p>
          <a:p xmlns:a="http://schemas.openxmlformats.org/drawingml/2006/main">
            <a:r>
              <a:t>No. Hace falta identificar la placa, revisión y target exactos.</a:t>
            </a:r>
          </a:p>
          <a:p xmlns:a="http://schemas.openxmlformats.org/drawingml/2006/main">
            <a:r>
              <a:t/>
            </a:r>
          </a:p>
          <a:p xmlns:a="http://schemas.openxmlformats.org/drawingml/2006/main">
            <a:r>
              <a:t>Fuentes</a:t>
            </a:r>
          </a:p>
          <a:p xmlns:a="http://schemas.openxmlformats.org/drawingml/2006/main">
            <a:r>
              <a:t>MECRO. Catálogo y fotografía del curso de drones. https://mecrodrone.github.io/mecro.github.io/cursos.html</a:t>
            </a:r>
          </a:p>
          <a:p xmlns:a="http://schemas.openxmlformats.org/drawingml/2006/main">
            <a:r>
              <a:t>Betaflight. Setup Guide: organización de la puesta en marcha. https://betaflight.com/docs/wiki/getting-started/setup-guide</a:t>
            </a:r>
          </a:p>
          <a:p xmlns:a="http://schemas.openxmlformats.org/drawingml/2006/main">
            <a:r>
              <a:t>ArduPilot. Copter: First Time Setup. https://ardupilot.org/copter/docs/initial-setup.html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Reconocer el dron y definir qué vamos a construir.</a:t>
            </a:r>
          </a:p>
          <a:p xmlns:a="http://schemas.openxmlformats.org/drawingml/2006/main">
            <a:r>
              <a:t>En línea, 2 horas. Núcleo de explicación: 5 minutos en esta diapositiva.</a:t>
            </a:r>
          </a:p>
          <a:p xmlns:a="http://schemas.openxmlformats.org/drawingml/2006/main">
            <a:r>
              <a:t/>
            </a:r>
          </a:p>
          <a:p xmlns:a="http://schemas.openxmlformats.org/drawingml/2006/main">
            <a:r>
              <a:t>Un constructor necesita vocabulario para plantear decisiones. Bastidor no equivale a aeronave completa; controladora no equivale a ESC; tamaño no equivale a carga útil. La siguiente clase utilizará esta separación para seleccionar motor, hélice y batería con un caso numérico. El objetivo es explicar una combinación y sus límites, en lugar de memorizar una receta de compras.</a:t>
            </a:r>
          </a:p>
          <a:p xmlns:a="http://schemas.openxmlformats.org/drawingml/2006/main">
            <a:r>
              <a:t/>
            </a:r>
          </a:p>
          <a:p xmlns:a="http://schemas.openxmlformats.org/drawingml/2006/main">
            <a:r>
              <a:t>Pregunta / Dónde buscar / Resultado esperado</a:t>
            </a:r>
          </a:p>
          <a:p xmlns:a="http://schemas.openxmlformats.org/drawingml/2006/main">
            <a:r>
              <a:t>¿Qué hélice admite el bastidor? / Plano o ficha del bastidor / Dimensión y condición</a:t>
            </a:r>
          </a:p>
          <a:p xmlns:a="http://schemas.openxmlformats.org/drawingml/2006/main">
            <a:r>
              <a:t>¿Qué firmware admite la FC? / Manual y target del proyecto / Placa exacta</a:t>
            </a:r>
          </a:p>
          <a:p xmlns:a="http://schemas.openxmlformats.org/drawingml/2006/main">
            <a:r>
              <a:t>¿Qué entra en masa total? / Lista y balanza / Inventario coherente</a:t>
            </a:r>
          </a:p>
          <a:p xmlns:a="http://schemas.openxmlformats.org/drawingml/2006/main">
            <a:r>
              <a:t/>
            </a:r>
          </a:p>
          <a:p xmlns:a="http://schemas.openxmlformats.org/drawingml/2006/main">
            <a:r>
              <a:t>Como lectura de profundización se propone Beard y McLain para reconocer cómo se organizan dinámica, sensores y control. Es una referencia avanzada de UAV, con énfasis en ala fija; no se convierte en prerrequisito de cálculo para este curso de ensamblaje multirrotor. Los manuales del fabricante del equipo real son la referencia inmediata para límites y conectores.</a:t>
            </a:r>
          </a:p>
          <a:p xmlns:a="http://schemas.openxmlformats.org/drawingml/2006/main">
            <a:r>
              <a:t/>
            </a:r>
          </a:p>
          <a:p xmlns:a="http://schemas.openxmlformats.org/drawingml/2006/main">
            <a:r>
              <a:t>La enseñanza presencial es demostrativa y la imparte Gerard. Cada estudiante produce su expediente y explica decisiones; la matrícula no promete construir o llevarse un dron individual.</a:t>
            </a:r>
          </a:p>
          <a:p xmlns:a="http://schemas.openxmlformats.org/drawingml/2006/main">
            <a:r>
              <a:t/>
            </a:r>
          </a:p>
          <a:p xmlns:a="http://schemas.openxmlformats.org/drawingml/2006/main">
            <a:r>
              <a:t>Objetivo: Reconocer subsistemas y convertir una necesidad en requisitos para un multirrotor de referencia.</a:t>
            </a:r>
          </a:p>
          <a:p xmlns:a="http://schemas.openxmlformats.org/drawingml/2006/main">
            <a:r>
              <a:t>Aplicación: El primer resultado es un plano funcional del equipo, con propósito, tamaño de hélice y componentes identificados.</a:t>
            </a:r>
          </a:p>
          <a:p xmlns:a="http://schemas.openxmlformats.org/drawingml/2006/main">
            <a:r>
              <a:t>Entrega: Arquitectura funcional, requisitos y tabla preliminar de masas de una referencia.</a:t>
            </a:r>
          </a:p>
          <a:p xmlns:a="http://schemas.openxmlformats.org/drawingml/2006/main">
            <a:r>
              <a:t/>
            </a:r>
          </a:p>
          <a:p xmlns:a="http://schemas.openxmlformats.org/drawingml/2006/main">
            <a:r>
              <a:t>Preguntas y respuestas</a:t>
            </a:r>
          </a:p>
          <a:p xmlns:a="http://schemas.openxmlformats.org/drawingml/2006/main">
            <a:r>
              <a:t>¿5 pulgadas describe necesariamente el bastidor?</a:t>
            </a:r>
          </a:p>
          <a:p xmlns:a="http://schemas.openxmlformats.org/drawingml/2006/main">
            <a:r>
              <a:t>En la referencia del curso describe la hélice. Se comprueban las cotas reales del bastidor.</a:t>
            </a:r>
          </a:p>
          <a:p xmlns:a="http://schemas.openxmlformats.org/drawingml/2006/main">
            <a:r>
              <a:t/>
            </a:r>
          </a:p>
          <a:p xmlns:a="http://schemas.openxmlformats.org/drawingml/2006/main">
            <a:r>
              <a:t>¿FPV es un firmware?</a:t>
            </a:r>
          </a:p>
          <a:p xmlns:a="http://schemas.openxmlformats.org/drawingml/2006/main">
            <a:r>
              <a:t>No. Es una forma de obtener vista desde la aeronave; puede coexistir con diferentes sistemas.</a:t>
            </a:r>
          </a:p>
          <a:p xmlns:a="http://schemas.openxmlformats.org/drawingml/2006/main">
            <a:r>
              <a:t/>
            </a:r>
          </a:p>
          <a:p xmlns:a="http://schemas.openxmlformats.org/drawingml/2006/main">
            <a:r>
              <a:t>¿F405 basta para elegir firmware?</a:t>
            </a:r>
          </a:p>
          <a:p xmlns:a="http://schemas.openxmlformats.org/drawingml/2006/main">
            <a:r>
              <a:t>No. Hace falta identificar la placa, revisión y target exactos.</a:t>
            </a:r>
          </a:p>
          <a:p xmlns:a="http://schemas.openxmlformats.org/drawingml/2006/main">
            <a:r>
              <a:t/>
            </a:r>
          </a:p>
          <a:p xmlns:a="http://schemas.openxmlformats.org/drawingml/2006/main">
            <a:r>
              <a:t>Fuentes</a:t>
            </a:r>
          </a:p>
          <a:p xmlns:a="http://schemas.openxmlformats.org/drawingml/2006/main">
            <a:r>
              <a:t>MECRO. Catálogo y fotografía del curso de drones. https://mecrodrone.github.io/mecro.github.io/cursos.html</a:t>
            </a:r>
          </a:p>
          <a:p xmlns:a="http://schemas.openxmlformats.org/drawingml/2006/main">
            <a:r>
              <a:t>Betaflight. Setup Guide: organización de la puesta en marcha. https://betaflight.com/docs/wiki/getting-started/setup-guide</a:t>
            </a:r>
          </a:p>
          <a:p xmlns:a="http://schemas.openxmlformats.org/drawingml/2006/main">
            <a:r>
              <a:t>ArduPilot. Copter: First Time Setup. https://ardupilot.org/copter/docs/initial-setup.html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Reconocer el dron y definir qué vamos a construir.</a:t>
            </a:r>
          </a:p>
          <a:p xmlns:a="http://schemas.openxmlformats.org/drawingml/2006/main">
            <a:r>
              <a:t>En línea, 2 horas. Núcleo de explicación: 12 minutos en esta diapositiva.</a:t>
            </a:r>
          </a:p>
          <a:p xmlns:a="http://schemas.openxmlformats.org/drawingml/2006/main">
            <a:r>
              <a:t/>
            </a:r>
          </a:p>
          <a:p xmlns:a="http://schemas.openxmlformats.org/drawingml/2006/main">
            <a:r>
              <a:t>Presentar un dron completo y recorrer energía y señal.</a:t>
            </a:r>
          </a:p>
          <a:p xmlns:a="http://schemas.openxmlformats.org/drawingml/2006/main">
            <a:r>
              <a:t>Comparar las tres dimensiones de referencia sin asignarles capacidades universales.</a:t>
            </a:r>
          </a:p>
          <a:p xmlns:a="http://schemas.openxmlformats.org/drawingml/2006/main">
            <a:r>
              <a:t>Resolver el cambio de área de 5 a 7 pulgadas.</a:t>
            </a:r>
          </a:p>
          <a:p xmlns:a="http://schemas.openxmlformats.org/drawingml/2006/main">
            <a:r>
              <a:t>Revisar requisitos y una incompatibilidad por estudiante.</a:t>
            </a:r>
          </a:p>
          <a:p xmlns:a="http://schemas.openxmlformats.org/drawingml/2006/main">
            <a:r>
              <a:t>Contrastar componentes, esquema y comprobaciones.</a:t>
            </a:r>
          </a:p>
          <a:p xmlns:a="http://schemas.openxmlformats.org/drawingml/2006/main">
            <a:r>
              <a:t/>
            </a:r>
          </a:p>
          <a:p xmlns:a="http://schemas.openxmlformats.org/drawingml/2006/main">
            <a:r>
              <a:t>Objetivo: Reconocer subsistemas y convertir una necesidad en requisitos para un multirrotor de referencia.</a:t>
            </a:r>
          </a:p>
          <a:p xmlns:a="http://schemas.openxmlformats.org/drawingml/2006/main">
            <a:r>
              <a:t>Aplicación: El primer resultado es un plano funcional del equipo, con propósito, tamaño de hélice y componentes identificados.</a:t>
            </a:r>
          </a:p>
          <a:p xmlns:a="http://schemas.openxmlformats.org/drawingml/2006/main">
            <a:r>
              <a:t>Entrega: Arquitectura funcional, requisitos y tabla preliminar de masas de una referencia.</a:t>
            </a:r>
          </a:p>
          <a:p xmlns:a="http://schemas.openxmlformats.org/drawingml/2006/main">
            <a:r>
              <a:t/>
            </a:r>
          </a:p>
          <a:p xmlns:a="http://schemas.openxmlformats.org/drawingml/2006/main">
            <a:r>
              <a:t>Preguntas y respuestas</a:t>
            </a:r>
          </a:p>
          <a:p xmlns:a="http://schemas.openxmlformats.org/drawingml/2006/main">
            <a:r>
              <a:t>¿5 pulgadas describe necesariamente el bastidor?</a:t>
            </a:r>
          </a:p>
          <a:p xmlns:a="http://schemas.openxmlformats.org/drawingml/2006/main">
            <a:r>
              <a:t>En la referencia del curso describe la hélice. Se comprueban las cotas reales del bastidor.</a:t>
            </a:r>
          </a:p>
          <a:p xmlns:a="http://schemas.openxmlformats.org/drawingml/2006/main">
            <a:r>
              <a:t/>
            </a:r>
          </a:p>
          <a:p xmlns:a="http://schemas.openxmlformats.org/drawingml/2006/main">
            <a:r>
              <a:t>¿FPV es un firmware?</a:t>
            </a:r>
          </a:p>
          <a:p xmlns:a="http://schemas.openxmlformats.org/drawingml/2006/main">
            <a:r>
              <a:t>No. Es una forma de obtener vista desde la aeronave; puede coexistir con diferentes sistemas.</a:t>
            </a:r>
          </a:p>
          <a:p xmlns:a="http://schemas.openxmlformats.org/drawingml/2006/main">
            <a:r>
              <a:t/>
            </a:r>
          </a:p>
          <a:p xmlns:a="http://schemas.openxmlformats.org/drawingml/2006/main">
            <a:r>
              <a:t>¿F405 basta para elegir firmware?</a:t>
            </a:r>
          </a:p>
          <a:p xmlns:a="http://schemas.openxmlformats.org/drawingml/2006/main">
            <a:r>
              <a:t>No. Hace falta identificar la placa, revisión y target exactos.</a:t>
            </a:r>
          </a:p>
          <a:p xmlns:a="http://schemas.openxmlformats.org/drawingml/2006/main">
            <a:r>
              <a:t/>
            </a:r>
          </a:p>
          <a:p xmlns:a="http://schemas.openxmlformats.org/drawingml/2006/main">
            <a:r>
              <a:t>Fuentes</a:t>
            </a:r>
          </a:p>
          <a:p xmlns:a="http://schemas.openxmlformats.org/drawingml/2006/main">
            <a:r>
              <a:t>MECRO. Catálogo y fotografía del curso de drones. https://mecrodrone.github.io/mecro.github.io/cursos.html</a:t>
            </a:r>
          </a:p>
          <a:p xmlns:a="http://schemas.openxmlformats.org/drawingml/2006/main">
            <a:r>
              <a:t>Betaflight. Setup Guide: organización de la puesta en marcha. https://betaflight.com/docs/wiki/getting-started/setup-guide</a:t>
            </a:r>
          </a:p>
          <a:p xmlns:a="http://schemas.openxmlformats.org/drawingml/2006/main">
            <a:r>
              <a:t>ArduPilot. Copter: First Time Setup. https://ardupilot.org/copter/docs/initial-setup.html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Reconocer el dron y definir qué vamos a construir.</a:t>
            </a:r>
          </a:p>
          <a:p xmlns:a="http://schemas.openxmlformats.org/drawingml/2006/main">
            <a:r>
              <a:t>En línea, 2 horas. Núcleo de explicación: 10 minutos en esta diapositiva.</a:t>
            </a:r>
          </a:p>
          <a:p xmlns:a="http://schemas.openxmlformats.org/drawingml/2006/main">
            <a:r>
              <a:t/>
            </a:r>
          </a:p>
          <a:p xmlns:a="http://schemas.openxmlformats.org/drawingml/2006/main">
            <a:r>
              <a:t>El primer resultado es un plano funcional del equipo, con propósito, tamaño de hélice y componentes identificados.</a:t>
            </a:r>
          </a:p>
          <a:p xmlns:a="http://schemas.openxmlformats.org/drawingml/2006/main">
            <a:r>
              <a:t>Arquitectura funcional, requisitos y tabla preliminar de masas de una referencia.</a:t>
            </a:r>
          </a:p>
          <a:p xmlns:a="http://schemas.openxmlformats.org/drawingml/2006/main">
            <a:r>
              <a:t/>
            </a:r>
          </a:p>
          <a:p xmlns:a="http://schemas.openxmlformats.org/drawingml/2006/main">
            <a:r>
              <a:t>Objetivo: Reconocer subsistemas y convertir una necesidad en requisitos para un multirrotor de referencia.</a:t>
            </a:r>
          </a:p>
          <a:p xmlns:a="http://schemas.openxmlformats.org/drawingml/2006/main">
            <a:r>
              <a:t>Aplicación: El primer resultado es un plano funcional del equipo, con propósito, tamaño de hélice y componentes identificados.</a:t>
            </a:r>
          </a:p>
          <a:p xmlns:a="http://schemas.openxmlformats.org/drawingml/2006/main">
            <a:r>
              <a:t>Entrega: Arquitectura funcional, requisitos y tabla preliminar de masas de una referencia.</a:t>
            </a:r>
          </a:p>
          <a:p xmlns:a="http://schemas.openxmlformats.org/drawingml/2006/main">
            <a:r>
              <a:t/>
            </a:r>
          </a:p>
          <a:p xmlns:a="http://schemas.openxmlformats.org/drawingml/2006/main">
            <a:r>
              <a:t>Preguntas y respuestas</a:t>
            </a:r>
          </a:p>
          <a:p xmlns:a="http://schemas.openxmlformats.org/drawingml/2006/main">
            <a:r>
              <a:t>¿5 pulgadas describe necesariamente el bastidor?</a:t>
            </a:r>
          </a:p>
          <a:p xmlns:a="http://schemas.openxmlformats.org/drawingml/2006/main">
            <a:r>
              <a:t>En la referencia del curso describe la hélice. Se comprueban las cotas reales del bastidor.</a:t>
            </a:r>
          </a:p>
          <a:p xmlns:a="http://schemas.openxmlformats.org/drawingml/2006/main">
            <a:r>
              <a:t/>
            </a:r>
          </a:p>
          <a:p xmlns:a="http://schemas.openxmlformats.org/drawingml/2006/main">
            <a:r>
              <a:t>¿FPV es un firmware?</a:t>
            </a:r>
          </a:p>
          <a:p xmlns:a="http://schemas.openxmlformats.org/drawingml/2006/main">
            <a:r>
              <a:t>No. Es una forma de obtener vista desde la aeronave; puede coexistir con diferentes sistemas.</a:t>
            </a:r>
          </a:p>
          <a:p xmlns:a="http://schemas.openxmlformats.org/drawingml/2006/main">
            <a:r>
              <a:t/>
            </a:r>
          </a:p>
          <a:p xmlns:a="http://schemas.openxmlformats.org/drawingml/2006/main">
            <a:r>
              <a:t>¿F405 basta para elegir firmware?</a:t>
            </a:r>
          </a:p>
          <a:p xmlns:a="http://schemas.openxmlformats.org/drawingml/2006/main">
            <a:r>
              <a:t>No. Hace falta identificar la placa, revisión y target exactos.</a:t>
            </a:r>
          </a:p>
          <a:p xmlns:a="http://schemas.openxmlformats.org/drawingml/2006/main">
            <a:r>
              <a:t/>
            </a:r>
          </a:p>
          <a:p xmlns:a="http://schemas.openxmlformats.org/drawingml/2006/main">
            <a:r>
              <a:t>Fuentes</a:t>
            </a:r>
          </a:p>
          <a:p xmlns:a="http://schemas.openxmlformats.org/drawingml/2006/main">
            <a:r>
              <a:t>MECRO. Catálogo y fotografía del curso de drones. https://mecrodrone.github.io/mecro.github.io/cursos.html</a:t>
            </a:r>
          </a:p>
          <a:p xmlns:a="http://schemas.openxmlformats.org/drawingml/2006/main">
            <a:r>
              <a:t>Betaflight. Setup Guide: organización de la puesta en marcha. https://betaflight.com/docs/wiki/getting-started/setup-guide</a:t>
            </a:r>
          </a:p>
          <a:p xmlns:a="http://schemas.openxmlformats.org/drawingml/2006/main">
            <a:r>
              <a:t>ArduPilot. Copter: First Time Setup. https://ardupilot.org/copter/docs/initial-setup.html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Reconocer el dron y definir qué vamos a construir.</a:t>
            </a:r>
          </a:p>
          <a:p xmlns:a="http://schemas.openxmlformats.org/drawingml/2006/main">
            <a:r>
              <a:t>En línea, 2 horas. Núcleo de explicación: 7 minutos en esta diapositiva.</a:t>
            </a:r>
          </a:p>
          <a:p xmlns:a="http://schemas.openxmlformats.org/drawingml/2006/main">
            <a:r>
              <a:t/>
            </a:r>
          </a:p>
          <a:p xmlns:a="http://schemas.openxmlformats.org/drawingml/2006/main">
            <a:r>
              <a:t>Respuesta individual y contraste con el equipo.</a:t>
            </a:r>
          </a:p>
          <a:p xmlns:a="http://schemas.openxmlformats.org/drawingml/2006/main">
            <a:r>
              <a:t/>
            </a:r>
          </a:p>
          <a:p xmlns:a="http://schemas.openxmlformats.org/drawingml/2006/main">
            <a:r>
              <a:t>Objetivo: Reconocer subsistemas y convertir una necesidad en requisitos para un multirrotor de referencia.</a:t>
            </a:r>
          </a:p>
          <a:p xmlns:a="http://schemas.openxmlformats.org/drawingml/2006/main">
            <a:r>
              <a:t>Aplicación: El primer resultado es un plano funcional del equipo, con propósito, tamaño de hélice y componentes identificados.</a:t>
            </a:r>
          </a:p>
          <a:p xmlns:a="http://schemas.openxmlformats.org/drawingml/2006/main">
            <a:r>
              <a:t>Entrega: Arquitectura funcional, requisitos y tabla preliminar de masas de una referencia.</a:t>
            </a:r>
          </a:p>
          <a:p xmlns:a="http://schemas.openxmlformats.org/drawingml/2006/main">
            <a:r>
              <a:t/>
            </a:r>
          </a:p>
          <a:p xmlns:a="http://schemas.openxmlformats.org/drawingml/2006/main">
            <a:r>
              <a:t>Preguntas y respuestas</a:t>
            </a:r>
          </a:p>
          <a:p xmlns:a="http://schemas.openxmlformats.org/drawingml/2006/main">
            <a:r>
              <a:t>¿5 pulgadas describe necesariamente el bastidor?</a:t>
            </a:r>
          </a:p>
          <a:p xmlns:a="http://schemas.openxmlformats.org/drawingml/2006/main">
            <a:r>
              <a:t>En la referencia del curso describe la hélice. Se comprueban las cotas reales del bastidor.</a:t>
            </a:r>
          </a:p>
          <a:p xmlns:a="http://schemas.openxmlformats.org/drawingml/2006/main">
            <a:r>
              <a:t/>
            </a:r>
          </a:p>
          <a:p xmlns:a="http://schemas.openxmlformats.org/drawingml/2006/main">
            <a:r>
              <a:t>¿FPV es un firmware?</a:t>
            </a:r>
          </a:p>
          <a:p xmlns:a="http://schemas.openxmlformats.org/drawingml/2006/main">
            <a:r>
              <a:t>No. Es una forma de obtener vista desde la aeronave; puede coexistir con diferentes sistemas.</a:t>
            </a:r>
          </a:p>
          <a:p xmlns:a="http://schemas.openxmlformats.org/drawingml/2006/main">
            <a:r>
              <a:t/>
            </a:r>
          </a:p>
          <a:p xmlns:a="http://schemas.openxmlformats.org/drawingml/2006/main">
            <a:r>
              <a:t>¿F405 basta para elegir firmware?</a:t>
            </a:r>
          </a:p>
          <a:p xmlns:a="http://schemas.openxmlformats.org/drawingml/2006/main">
            <a:r>
              <a:t>No. Hace falta identificar la placa, revisión y target exactos.</a:t>
            </a:r>
          </a:p>
          <a:p xmlns:a="http://schemas.openxmlformats.org/drawingml/2006/main">
            <a:r>
              <a:t/>
            </a:r>
          </a:p>
          <a:p xmlns:a="http://schemas.openxmlformats.org/drawingml/2006/main">
            <a:r>
              <a:t>Fuentes</a:t>
            </a:r>
          </a:p>
          <a:p xmlns:a="http://schemas.openxmlformats.org/drawingml/2006/main">
            <a:r>
              <a:t>MECRO. Catálogo y fotografía del curso de drones. https://mecrodrone.github.io/mecro.github.io/cursos.html</a:t>
            </a:r>
          </a:p>
          <a:p xmlns:a="http://schemas.openxmlformats.org/drawingml/2006/main">
            <a:r>
              <a:t>Betaflight. Setup Guide: organización de la puesta en marcha. https://betaflight.com/docs/wiki/getting-started/setup-guide</a:t>
            </a:r>
          </a:p>
          <a:p xmlns:a="http://schemas.openxmlformats.org/drawingml/2006/main">
            <a:r>
              <a:t>ArduPilot. Copter: First Time Setup. https://ardupilot.org/copter/docs/initial-setup.html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Reconocer el dron y definir qué vamos a construir.</a:t>
            </a:r>
          </a:p>
          <a:p xmlns:a="http://schemas.openxmlformats.org/drawingml/2006/main">
            <a:r>
              <a:t>En línea, 2 horas. Núcleo de explicación: 5 minutos en esta diapositiva.</a:t>
            </a:r>
          </a:p>
          <a:p xmlns:a="http://schemas.openxmlformats.org/drawingml/2006/main">
            <a:r>
              <a:t/>
            </a:r>
          </a:p>
          <a:p xmlns:a="http://schemas.openxmlformats.org/drawingml/2006/main">
            <a:r>
              <a:t>Pedir que una respuesta se apoye en el circuito o los datos del estudiante.</a:t>
            </a:r>
          </a:p>
          <a:p xmlns:a="http://schemas.openxmlformats.org/drawingml/2006/main">
            <a:r>
              <a:t/>
            </a:r>
          </a:p>
          <a:p xmlns:a="http://schemas.openxmlformats.org/drawingml/2006/main">
            <a:r>
              <a:t>Objetivo: Reconocer subsistemas y convertir una necesidad en requisitos para un multirrotor de referencia.</a:t>
            </a:r>
          </a:p>
          <a:p xmlns:a="http://schemas.openxmlformats.org/drawingml/2006/main">
            <a:r>
              <a:t>Aplicación: El primer resultado es un plano funcional del equipo, con propósito, tamaño de hélice y componentes identificados.</a:t>
            </a:r>
          </a:p>
          <a:p xmlns:a="http://schemas.openxmlformats.org/drawingml/2006/main">
            <a:r>
              <a:t>Entrega: Arquitectura funcional, requisitos y tabla preliminar de masas de una referencia.</a:t>
            </a:r>
          </a:p>
          <a:p xmlns:a="http://schemas.openxmlformats.org/drawingml/2006/main">
            <a:r>
              <a:t/>
            </a:r>
          </a:p>
          <a:p xmlns:a="http://schemas.openxmlformats.org/drawingml/2006/main">
            <a:r>
              <a:t>Preguntas y respuestas</a:t>
            </a:r>
          </a:p>
          <a:p xmlns:a="http://schemas.openxmlformats.org/drawingml/2006/main">
            <a:r>
              <a:t>¿5 pulgadas describe necesariamente el bastidor?</a:t>
            </a:r>
          </a:p>
          <a:p xmlns:a="http://schemas.openxmlformats.org/drawingml/2006/main">
            <a:r>
              <a:t>En la referencia del curso describe la hélice. Se comprueban las cotas reales del bastidor.</a:t>
            </a:r>
          </a:p>
          <a:p xmlns:a="http://schemas.openxmlformats.org/drawingml/2006/main">
            <a:r>
              <a:t/>
            </a:r>
          </a:p>
          <a:p xmlns:a="http://schemas.openxmlformats.org/drawingml/2006/main">
            <a:r>
              <a:t>¿FPV es un firmware?</a:t>
            </a:r>
          </a:p>
          <a:p xmlns:a="http://schemas.openxmlformats.org/drawingml/2006/main">
            <a:r>
              <a:t>No. Es una forma de obtener vista desde la aeronave; puede coexistir con diferentes sistemas.</a:t>
            </a:r>
          </a:p>
          <a:p xmlns:a="http://schemas.openxmlformats.org/drawingml/2006/main">
            <a:r>
              <a:t/>
            </a:r>
          </a:p>
          <a:p xmlns:a="http://schemas.openxmlformats.org/drawingml/2006/main">
            <a:r>
              <a:t>¿F405 basta para elegir firmware?</a:t>
            </a:r>
          </a:p>
          <a:p xmlns:a="http://schemas.openxmlformats.org/drawingml/2006/main">
            <a:r>
              <a:t>No. Hace falta identificar la placa, revisión y target exactos.</a:t>
            </a:r>
          </a:p>
          <a:p xmlns:a="http://schemas.openxmlformats.org/drawingml/2006/main">
            <a:r>
              <a:t/>
            </a:r>
          </a:p>
          <a:p xmlns:a="http://schemas.openxmlformats.org/drawingml/2006/main">
            <a:r>
              <a:t>Fuentes</a:t>
            </a:r>
          </a:p>
          <a:p xmlns:a="http://schemas.openxmlformats.org/drawingml/2006/main">
            <a:r>
              <a:t>MECRO. Catálogo y fotografía del curso de drones. https://mecrodrone.github.io/mecro.github.io/cursos.html</a:t>
            </a:r>
          </a:p>
          <a:p xmlns:a="http://schemas.openxmlformats.org/drawingml/2006/main">
            <a:r>
              <a:t>Betaflight. Setup Guide: organización de la puesta en marcha. https://betaflight.com/docs/wiki/getting-started/setup-guide</a:t>
            </a:r>
          </a:p>
          <a:p xmlns:a="http://schemas.openxmlformats.org/drawingml/2006/main">
            <a:r>
              <a:t>ArduPilot. Copter: First Time Setup. https://ardupilot.org/copter/docs/initial-setup.html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Reconocer el dron y definir qué vamos a construir.</a:t>
            </a:r>
          </a:p>
          <a:p xmlns:a="http://schemas.openxmlformats.org/drawingml/2006/main">
            <a:r>
              <a:t>En línea, 2 horas. Núcleo de explicación: 5 minutos en esta diapositiva.</a:t>
            </a:r>
          </a:p>
          <a:p xmlns:a="http://schemas.openxmlformats.org/drawingml/2006/main">
            <a:r>
              <a:t/>
            </a:r>
          </a:p>
          <a:p xmlns:a="http://schemas.openxmlformats.org/drawingml/2006/main">
            <a:r>
              <a:t>Arquitectura funcional, requisitos y tabla preliminar de masas de una referencia.</a:t>
            </a:r>
          </a:p>
          <a:p xmlns:a="http://schemas.openxmlformats.org/drawingml/2006/main">
            <a:r>
              <a:t/>
            </a:r>
          </a:p>
          <a:p xmlns:a="http://schemas.openxmlformats.org/drawingml/2006/main">
            <a:r>
              <a:t>Objetivo: Reconocer subsistemas y convertir una necesidad en requisitos para un multirrotor de referencia.</a:t>
            </a:r>
          </a:p>
          <a:p xmlns:a="http://schemas.openxmlformats.org/drawingml/2006/main">
            <a:r>
              <a:t>Aplicación: El primer resultado es un plano funcional del equipo, con propósito, tamaño de hélice y componentes identificados.</a:t>
            </a:r>
          </a:p>
          <a:p xmlns:a="http://schemas.openxmlformats.org/drawingml/2006/main">
            <a:r>
              <a:t>Entrega: Arquitectura funcional, requisitos y tabla preliminar de masas de una referencia.</a:t>
            </a:r>
          </a:p>
          <a:p xmlns:a="http://schemas.openxmlformats.org/drawingml/2006/main">
            <a:r>
              <a:t/>
            </a:r>
          </a:p>
          <a:p xmlns:a="http://schemas.openxmlformats.org/drawingml/2006/main">
            <a:r>
              <a:t>Preguntas y respuestas</a:t>
            </a:r>
          </a:p>
          <a:p xmlns:a="http://schemas.openxmlformats.org/drawingml/2006/main">
            <a:r>
              <a:t>¿5 pulgadas describe necesariamente el bastidor?</a:t>
            </a:r>
          </a:p>
          <a:p xmlns:a="http://schemas.openxmlformats.org/drawingml/2006/main">
            <a:r>
              <a:t>En la referencia del curso describe la hélice. Se comprueban las cotas reales del bastidor.</a:t>
            </a:r>
          </a:p>
          <a:p xmlns:a="http://schemas.openxmlformats.org/drawingml/2006/main">
            <a:r>
              <a:t/>
            </a:r>
          </a:p>
          <a:p xmlns:a="http://schemas.openxmlformats.org/drawingml/2006/main">
            <a:r>
              <a:t>¿FPV es un firmware?</a:t>
            </a:r>
          </a:p>
          <a:p xmlns:a="http://schemas.openxmlformats.org/drawingml/2006/main">
            <a:r>
              <a:t>No. Es una forma de obtener vista desde la aeronave; puede coexistir con diferentes sistemas.</a:t>
            </a:r>
          </a:p>
          <a:p xmlns:a="http://schemas.openxmlformats.org/drawingml/2006/main">
            <a:r>
              <a:t/>
            </a:r>
          </a:p>
          <a:p xmlns:a="http://schemas.openxmlformats.org/drawingml/2006/main">
            <a:r>
              <a:t>¿F405 basta para elegir firmware?</a:t>
            </a:r>
          </a:p>
          <a:p xmlns:a="http://schemas.openxmlformats.org/drawingml/2006/main">
            <a:r>
              <a:t>No. Hace falta identificar la placa, revisión y target exactos.</a:t>
            </a:r>
          </a:p>
          <a:p xmlns:a="http://schemas.openxmlformats.org/drawingml/2006/main">
            <a:r>
              <a:t/>
            </a:r>
          </a:p>
          <a:p xmlns:a="http://schemas.openxmlformats.org/drawingml/2006/main">
            <a:r>
              <a:t>Fuentes</a:t>
            </a:r>
          </a:p>
          <a:p xmlns:a="http://schemas.openxmlformats.org/drawingml/2006/main">
            <a:r>
              <a:t>MECRO. Catálogo y fotografía del curso de drones. https://mecrodrone.github.io/mecro.github.io/cursos.html</a:t>
            </a:r>
          </a:p>
          <a:p xmlns:a="http://schemas.openxmlformats.org/drawingml/2006/main">
            <a:r>
              <a:t>Betaflight. Setup Guide: organización de la puesta en marcha. https://betaflight.com/docs/wiki/getting-started/setup-guide</a:t>
            </a:r>
          </a:p>
          <a:p xmlns:a="http://schemas.openxmlformats.org/drawingml/2006/main">
            <a:r>
              <a:t>ArduPilot. Copter: First Time Setup. https://ardupilot.org/copter/docs/initial-setup.html</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Seleccionar motor, hélice, ESC y batería con criterio.</a:t>
            </a:r>
          </a:p>
          <a:p xmlns:a="http://schemas.openxmlformats.org/drawingml/2006/main">
            <a:r>
              <a:t>En línea, 2 horas. Núcleo de explicación: 3 minutos en esta diapositiva.</a:t>
            </a:r>
          </a:p>
          <a:p xmlns:a="http://schemas.openxmlformats.org/drawingml/2006/main">
            <a:r>
              <a:t/>
            </a:r>
          </a:p>
          <a:p xmlns:a="http://schemas.openxmlformats.org/drawingml/2006/main">
            <a:r>
              <a:t>Resolver el presupuesto de 800 g antes de abrir una tienda.</a:t>
            </a:r>
          </a:p>
          <a:p xmlns:a="http://schemas.openxmlformats.org/drawingml/2006/main">
            <a:r>
              <a:t/>
            </a:r>
          </a:p>
          <a:p xmlns:a="http://schemas.openxmlformats.org/drawingml/2006/main">
            <a:r>
              <a:t>Objetivo: Justificar una cadena de propulsión compatible mediante masa, empuje, corriente y energía.</a:t>
            </a:r>
          </a:p>
          <a:p xmlns:a="http://schemas.openxmlformats.org/drawingml/2006/main">
            <a:r>
              <a:t>Aplicación: La lista de compra debe explicar por qué las piezas funcionan juntas y qué ensayo del fabricante respalda la selección.</a:t>
            </a:r>
          </a:p>
          <a:p xmlns:a="http://schemas.openxmlformats.org/drawingml/2006/main">
            <a:r>
              <a:t>Entrega: Lista de componentes justificada, presupuesto de masa/empuje y escenario de energía.</a:t>
            </a:r>
          </a:p>
          <a:p xmlns:a="http://schemas.openxmlformats.org/drawingml/2006/main">
            <a:r>
              <a:t/>
            </a:r>
          </a:p>
          <a:p xmlns:a="http://schemas.openxmlformats.org/drawingml/2006/main">
            <a:r>
              <a:t>Preguntas y respuestas</a:t>
            </a:r>
          </a:p>
          <a:p xmlns:a="http://schemas.openxmlformats.org/drawingml/2006/main">
            <a:r>
              <a:t>¿KV indica potencia del motor?</a:t>
            </a:r>
          </a:p>
          <a:p xmlns:a="http://schemas.openxmlformats.org/drawingml/2006/main">
            <a:r>
              <a:t>No. Relaciona régimen sin carga y tensión bajo su convención; falta el conjunto y su ensayo.</a:t>
            </a:r>
          </a:p>
          <a:p xmlns:a="http://schemas.openxmlformats.org/drawingml/2006/main">
            <a:r>
              <a:t/>
            </a:r>
          </a:p>
          <a:p xmlns:a="http://schemas.openxmlformats.org/drawingml/2006/main">
            <a:r>
              <a:t>¿C comercial sustituye comprobar corriente y conexiones?</a:t>
            </a:r>
          </a:p>
          <a:p xmlns:a="http://schemas.openxmlformats.org/drawingml/2006/main">
            <a:r>
              <a:t>No. El conjunto necesita límites y evidencia bajo condiciones reales.</a:t>
            </a:r>
          </a:p>
          <a:p xmlns:a="http://schemas.openxmlformats.org/drawingml/2006/main">
            <a:r>
              <a:t/>
            </a:r>
          </a:p>
          <a:p xmlns:a="http://schemas.openxmlformats.org/drawingml/2006/main">
            <a:r>
              <a:t>¿Duplicar mAh duplica siempre el tiempo?</a:t>
            </a:r>
          </a:p>
          <a:p xmlns:a="http://schemas.openxmlformats.org/drawingml/2006/main">
            <a:r>
              <a:t>No. Cambian masa, demanda y condiciones; hay que revisar el modelo y medir.</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Betaflight. Motors Tab. https://betaflight.com/docs/wiki/app/motors-tab</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Seleccionar motor, hélice, ESC y batería con criterio.</a:t>
            </a:r>
          </a:p>
          <a:p xmlns:a="http://schemas.openxmlformats.org/drawingml/2006/main">
            <a:r>
              <a:t>En línea, 2 horas. Núcleo de explicación: 4 minutos en esta diapositiva.</a:t>
            </a:r>
          </a:p>
          <a:p xmlns:a="http://schemas.openxmlformats.org/drawingml/2006/main">
            <a:r>
              <a:t/>
            </a:r>
          </a:p>
          <a:p xmlns:a="http://schemas.openxmlformats.org/drawingml/2006/main">
            <a:r>
              <a:t>El motor no produce una cifra única de empuje. La tabla de ensayo debe identificar hélice, tensión, corriente y condiciones. Cambiar una de esas condiciones modifica la carga. El ESC debe admitir la alimentación y el esfuerzo eléctrico y térmico del conjunto; la batería y sus conexiones deben sostener la demanda prevista. La selección funciona de fuera hacia dentro: misión y masa, hélice que cabe, combinación ensayada, alimentación y control compatibles.</a:t>
            </a:r>
          </a:p>
          <a:p xmlns:a="http://schemas.openxmlformats.org/drawingml/2006/main">
            <a:r>
              <a:t/>
            </a:r>
          </a:p>
          <a:p xmlns:a="http://schemas.openxmlformats.org/drawingml/2006/main">
            <a:r>
              <a:t>Elemento / Dato necesario / Error frecuente</a:t>
            </a:r>
          </a:p>
          <a:p xmlns:a="http://schemas.openxmlformats.org/drawingml/2006/main">
            <a:r>
              <a:t>Motor / Tamaño, KV, tabla y límites / Elegir solo por KV</a:t>
            </a:r>
          </a:p>
          <a:p xmlns:a="http://schemas.openxmlformats.org/drawingml/2006/main">
            <a:r>
              <a:t>Hélice / Diámetro, paso, palas y sentido / Usar solo diámetro</a:t>
            </a:r>
          </a:p>
          <a:p xmlns:a="http://schemas.openxmlformats.org/drawingml/2006/main">
            <a:r>
              <a:t>ESC / Tensión, corriente y protocolo / Tomar ráfaga como continua</a:t>
            </a:r>
          </a:p>
          <a:p xmlns:a="http://schemas.openxmlformats.org/drawingml/2006/main">
            <a:r>
              <a:t>Batería / Química, S, capacidad y masa / Suponer que más mAh siempre ayuda</a:t>
            </a:r>
          </a:p>
          <a:p xmlns:a="http://schemas.openxmlformats.org/drawingml/2006/main">
            <a:r>
              <a:t/>
            </a:r>
          </a:p>
          <a:p xmlns:a="http://schemas.openxmlformats.org/drawingml/2006/main">
            <a:r>
              <a:t>KV aproxima la velocidad sin carga por voltio bajo una convención del motor. No es una unidad de potencia ni una promesa del régimen con hélice. El tamaño del estator y la construcción también importan. El paso de hélice describe una geometría; tampoco garantiza una velocidad de avance del dron. Estas cifras permiten comparar fichas, pero la selección debe volver a una prueba de la combinación real.</a:t>
            </a:r>
          </a:p>
          <a:p xmlns:a="http://schemas.openxmlformats.org/drawingml/2006/main">
            <a:r>
              <a:t/>
            </a:r>
          </a:p>
          <a:p xmlns:a="http://schemas.openxmlformats.org/drawingml/2006/main">
            <a:r>
              <a:t>Para los tres equipos de MECRO se utilizará la misma plantilla. Una ficha de 5 pulgadas no se escala multiplicando todas sus cifras por 12/5. La alimentación, el soporte, el empuje y el espacio cambian de forma distinta.</a:t>
            </a:r>
          </a:p>
          <a:p xmlns:a="http://schemas.openxmlformats.org/drawingml/2006/main">
            <a:r>
              <a:t/>
            </a:r>
          </a:p>
          <a:p xmlns:a="http://schemas.openxmlformats.org/drawingml/2006/main">
            <a:r>
              <a:t>Objetivo: Justificar una cadena de propulsión compatible mediante masa, empuje, corriente y energía.</a:t>
            </a:r>
          </a:p>
          <a:p xmlns:a="http://schemas.openxmlformats.org/drawingml/2006/main">
            <a:r>
              <a:t>Aplicación: La lista de compra debe explicar por qué las piezas funcionan juntas y qué ensayo del fabricante respalda la selección.</a:t>
            </a:r>
          </a:p>
          <a:p xmlns:a="http://schemas.openxmlformats.org/drawingml/2006/main">
            <a:r>
              <a:t>Entrega: Lista de componentes justificada, presupuesto de masa/empuje y escenario de energía.</a:t>
            </a:r>
          </a:p>
          <a:p xmlns:a="http://schemas.openxmlformats.org/drawingml/2006/main">
            <a:r>
              <a:t/>
            </a:r>
          </a:p>
          <a:p xmlns:a="http://schemas.openxmlformats.org/drawingml/2006/main">
            <a:r>
              <a:t>Preguntas y respuestas</a:t>
            </a:r>
          </a:p>
          <a:p xmlns:a="http://schemas.openxmlformats.org/drawingml/2006/main">
            <a:r>
              <a:t>¿KV indica potencia del motor?</a:t>
            </a:r>
          </a:p>
          <a:p xmlns:a="http://schemas.openxmlformats.org/drawingml/2006/main">
            <a:r>
              <a:t>No. Relaciona régimen sin carga y tensión bajo su convención; falta el conjunto y su ensayo.</a:t>
            </a:r>
          </a:p>
          <a:p xmlns:a="http://schemas.openxmlformats.org/drawingml/2006/main">
            <a:r>
              <a:t/>
            </a:r>
          </a:p>
          <a:p xmlns:a="http://schemas.openxmlformats.org/drawingml/2006/main">
            <a:r>
              <a:t>¿C comercial sustituye comprobar corriente y conexiones?</a:t>
            </a:r>
          </a:p>
          <a:p xmlns:a="http://schemas.openxmlformats.org/drawingml/2006/main">
            <a:r>
              <a:t>No. El conjunto necesita límites y evidencia bajo condiciones reales.</a:t>
            </a:r>
          </a:p>
          <a:p xmlns:a="http://schemas.openxmlformats.org/drawingml/2006/main">
            <a:r>
              <a:t/>
            </a:r>
          </a:p>
          <a:p xmlns:a="http://schemas.openxmlformats.org/drawingml/2006/main">
            <a:r>
              <a:t>¿Duplicar mAh duplica siempre el tiempo?</a:t>
            </a:r>
          </a:p>
          <a:p xmlns:a="http://schemas.openxmlformats.org/drawingml/2006/main">
            <a:r>
              <a:t>No. Cambian masa, demanda y condiciones; hay que revisar el modelo y medir.</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Betaflight. Motors Tab. https://betaflight.com/docs/wiki/app/motors-tab</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Seleccionar motor, hélice, ESC y batería con criterio.</a:t>
            </a:r>
          </a:p>
          <a:p xmlns:a="http://schemas.openxmlformats.org/drawingml/2006/main">
            <a:r>
              <a:t>En línea, 2 horas. Núcleo de explicación: 4 minutos en esta diapositiva.</a:t>
            </a:r>
          </a:p>
          <a:p xmlns:a="http://schemas.openxmlformats.org/drawingml/2006/main">
            <a:r>
              <a:t/>
            </a:r>
          </a:p>
          <a:p xmlns:a="http://schemas.openxmlformats.org/drawingml/2006/main">
            <a:r>
              <a:t>Elemento / Dato necesario / Error frecuente</a:t>
            </a:r>
          </a:p>
          <a:p xmlns:a="http://schemas.openxmlformats.org/drawingml/2006/main">
            <a:r>
              <a:t>Motor / Tamaño, KV, tabla y límites / Elegir solo por KV</a:t>
            </a:r>
          </a:p>
          <a:p xmlns:a="http://schemas.openxmlformats.org/drawingml/2006/main">
            <a:r>
              <a:t>Hélice / Diámetro, paso, palas y sentido / Usar solo diámetro</a:t>
            </a:r>
          </a:p>
          <a:p xmlns:a="http://schemas.openxmlformats.org/drawingml/2006/main">
            <a:r>
              <a:t>ESC / Tensión, corriente y protocolo / Tomar ráfaga como continua</a:t>
            </a:r>
          </a:p>
          <a:p xmlns:a="http://schemas.openxmlformats.org/drawingml/2006/main">
            <a:r>
              <a:t>Batería / Química, S, capacidad y masa / Suponer que más mAh siempre ayuda</a:t>
            </a:r>
          </a:p>
          <a:p xmlns:a="http://schemas.openxmlformats.org/drawingml/2006/main">
            <a:r>
              <a:t>Comparar filas y explicar una condición que cambie la decisión.</a:t>
            </a:r>
          </a:p>
          <a:p xmlns:a="http://schemas.openxmlformats.org/drawingml/2006/main">
            <a:r>
              <a:t/>
            </a:r>
          </a:p>
          <a:p xmlns:a="http://schemas.openxmlformats.org/drawingml/2006/main">
            <a:r>
              <a:t>Objetivo: Justificar una cadena de propulsión compatible mediante masa, empuje, corriente y energía.</a:t>
            </a:r>
          </a:p>
          <a:p xmlns:a="http://schemas.openxmlformats.org/drawingml/2006/main">
            <a:r>
              <a:t>Aplicación: La lista de compra debe explicar por qué las piezas funcionan juntas y qué ensayo del fabricante respalda la selección.</a:t>
            </a:r>
          </a:p>
          <a:p xmlns:a="http://schemas.openxmlformats.org/drawingml/2006/main">
            <a:r>
              <a:t>Entrega: Lista de componentes justificada, presupuesto de masa/empuje y escenario de energía.</a:t>
            </a:r>
          </a:p>
          <a:p xmlns:a="http://schemas.openxmlformats.org/drawingml/2006/main">
            <a:r>
              <a:t/>
            </a:r>
          </a:p>
          <a:p xmlns:a="http://schemas.openxmlformats.org/drawingml/2006/main">
            <a:r>
              <a:t>Preguntas y respuestas</a:t>
            </a:r>
          </a:p>
          <a:p xmlns:a="http://schemas.openxmlformats.org/drawingml/2006/main">
            <a:r>
              <a:t>¿KV indica potencia del motor?</a:t>
            </a:r>
          </a:p>
          <a:p xmlns:a="http://schemas.openxmlformats.org/drawingml/2006/main">
            <a:r>
              <a:t>No. Relaciona régimen sin carga y tensión bajo su convención; falta el conjunto y su ensayo.</a:t>
            </a:r>
          </a:p>
          <a:p xmlns:a="http://schemas.openxmlformats.org/drawingml/2006/main">
            <a:r>
              <a:t/>
            </a:r>
          </a:p>
          <a:p xmlns:a="http://schemas.openxmlformats.org/drawingml/2006/main">
            <a:r>
              <a:t>¿C comercial sustituye comprobar corriente y conexiones?</a:t>
            </a:r>
          </a:p>
          <a:p xmlns:a="http://schemas.openxmlformats.org/drawingml/2006/main">
            <a:r>
              <a:t>No. El conjunto necesita límites y evidencia bajo condiciones reales.</a:t>
            </a:r>
          </a:p>
          <a:p xmlns:a="http://schemas.openxmlformats.org/drawingml/2006/main">
            <a:r>
              <a:t/>
            </a:r>
          </a:p>
          <a:p xmlns:a="http://schemas.openxmlformats.org/drawingml/2006/main">
            <a:r>
              <a:t>¿Duplicar mAh duplica siempre el tiempo?</a:t>
            </a:r>
          </a:p>
          <a:p xmlns:a="http://schemas.openxmlformats.org/drawingml/2006/main">
            <a:r>
              <a:t>No. Cambian masa, demanda y condiciones; hay que revisar el modelo y medir.</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Betaflight. Motors Tab. https://betaflight.com/docs/wiki/app/motors-tab</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Seleccionar motor, hélice, ESC y batería con criterio.</a:t>
            </a:r>
          </a:p>
          <a:p xmlns:a="http://schemas.openxmlformats.org/drawingml/2006/main">
            <a:r>
              <a:t>En línea, 2 horas. Núcleo de explicación: 5 minutos en esta diapositiva.</a:t>
            </a:r>
          </a:p>
          <a:p xmlns:a="http://schemas.openxmlformats.org/drawingml/2006/main">
            <a:r>
              <a:t/>
            </a:r>
          </a:p>
          <a:p xmlns:a="http://schemas.openxmlformats.org/drawingml/2006/main">
            <a:r>
              <a:t>El motor no produce una cifra única de empuje. La tabla de ensayo debe identificar hélice, tensión, corriente y condiciones. Cambiar una de esas condiciones modifica la carga. El ESC debe admitir la alimentación y el esfuerzo eléctrico y térmico del conjunto; la batería y sus conexiones deben sostener la demanda prevista. La selección funciona de fuera hacia dentro: misión y masa, hélice que cabe, combinación ensayada, alimentación y control compatibles.</a:t>
            </a:r>
          </a:p>
          <a:p xmlns:a="http://schemas.openxmlformats.org/drawingml/2006/main">
            <a:r>
              <a:t/>
            </a:r>
          </a:p>
          <a:p xmlns:a="http://schemas.openxmlformats.org/drawingml/2006/main">
            <a:r>
              <a:t>Elemento / Dato necesario / Error frecuente</a:t>
            </a:r>
          </a:p>
          <a:p xmlns:a="http://schemas.openxmlformats.org/drawingml/2006/main">
            <a:r>
              <a:t>Motor / Tamaño, KV, tabla y límites / Elegir solo por KV</a:t>
            </a:r>
          </a:p>
          <a:p xmlns:a="http://schemas.openxmlformats.org/drawingml/2006/main">
            <a:r>
              <a:t>Hélice / Diámetro, paso, palas y sentido / Usar solo diámetro</a:t>
            </a:r>
          </a:p>
          <a:p xmlns:a="http://schemas.openxmlformats.org/drawingml/2006/main">
            <a:r>
              <a:t>ESC / Tensión, corriente y protocolo / Tomar ráfaga como continua</a:t>
            </a:r>
          </a:p>
          <a:p xmlns:a="http://schemas.openxmlformats.org/drawingml/2006/main">
            <a:r>
              <a:t>Batería / Química, S, capacidad y masa / Suponer que más mAh siempre ayuda</a:t>
            </a:r>
          </a:p>
          <a:p xmlns:a="http://schemas.openxmlformats.org/drawingml/2006/main">
            <a:r>
              <a:t/>
            </a:r>
          </a:p>
          <a:p xmlns:a="http://schemas.openxmlformats.org/drawingml/2006/main">
            <a:r>
              <a:t>KV aproxima la velocidad sin carga por voltio bajo una convención del motor. No es una unidad de potencia ni una promesa del régimen con hélice. El tamaño del estator y la construcción también importan. El paso de hélice describe una geometría; tampoco garantiza una velocidad de avance del dron. Estas cifras permiten comparar fichas, pero la selección debe volver a una prueba de la combinación real.</a:t>
            </a:r>
          </a:p>
          <a:p xmlns:a="http://schemas.openxmlformats.org/drawingml/2006/main">
            <a:r>
              <a:t/>
            </a:r>
          </a:p>
          <a:p xmlns:a="http://schemas.openxmlformats.org/drawingml/2006/main">
            <a:r>
              <a:t>Para los tres equipos de MECRO se utilizará la misma plantilla. Una ficha de 5 pulgadas no se escala multiplicando todas sus cifras por 12/5. La alimentación, el soporte, el empuje y el espacio cambian de forma distinta.</a:t>
            </a:r>
          </a:p>
          <a:p xmlns:a="http://schemas.openxmlformats.org/drawingml/2006/main">
            <a:r>
              <a:t/>
            </a:r>
          </a:p>
          <a:p xmlns:a="http://schemas.openxmlformats.org/drawingml/2006/main">
            <a:r>
              <a:t>Objetivo: Justificar una cadena de propulsión compatible mediante masa, empuje, corriente y energía.</a:t>
            </a:r>
          </a:p>
          <a:p xmlns:a="http://schemas.openxmlformats.org/drawingml/2006/main">
            <a:r>
              <a:t>Aplicación: La lista de compra debe explicar por qué las piezas funcionan juntas y qué ensayo del fabricante respalda la selección.</a:t>
            </a:r>
          </a:p>
          <a:p xmlns:a="http://schemas.openxmlformats.org/drawingml/2006/main">
            <a:r>
              <a:t>Entrega: Lista de componentes justificada, presupuesto de masa/empuje y escenario de energía.</a:t>
            </a:r>
          </a:p>
          <a:p xmlns:a="http://schemas.openxmlformats.org/drawingml/2006/main">
            <a:r>
              <a:t/>
            </a:r>
          </a:p>
          <a:p xmlns:a="http://schemas.openxmlformats.org/drawingml/2006/main">
            <a:r>
              <a:t>Preguntas y respuestas</a:t>
            </a:r>
          </a:p>
          <a:p xmlns:a="http://schemas.openxmlformats.org/drawingml/2006/main">
            <a:r>
              <a:t>¿KV indica potencia del motor?</a:t>
            </a:r>
          </a:p>
          <a:p xmlns:a="http://schemas.openxmlformats.org/drawingml/2006/main">
            <a:r>
              <a:t>No. Relaciona régimen sin carga y tensión bajo su convención; falta el conjunto y su ensayo.</a:t>
            </a:r>
          </a:p>
          <a:p xmlns:a="http://schemas.openxmlformats.org/drawingml/2006/main">
            <a:r>
              <a:t/>
            </a:r>
          </a:p>
          <a:p xmlns:a="http://schemas.openxmlformats.org/drawingml/2006/main">
            <a:r>
              <a:t>¿C comercial sustituye comprobar corriente y conexiones?</a:t>
            </a:r>
          </a:p>
          <a:p xmlns:a="http://schemas.openxmlformats.org/drawingml/2006/main">
            <a:r>
              <a:t>No. El conjunto necesita límites y evidencia bajo condiciones reales.</a:t>
            </a:r>
          </a:p>
          <a:p xmlns:a="http://schemas.openxmlformats.org/drawingml/2006/main">
            <a:r>
              <a:t/>
            </a:r>
          </a:p>
          <a:p xmlns:a="http://schemas.openxmlformats.org/drawingml/2006/main">
            <a:r>
              <a:t>¿Duplicar mAh duplica siempre el tiempo?</a:t>
            </a:r>
          </a:p>
          <a:p xmlns:a="http://schemas.openxmlformats.org/drawingml/2006/main">
            <a:r>
              <a:t>No. Cambian masa, demanda y condiciones; hay que revisar el modelo y medir.</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Betaflight. Motors Tab. https://betaflight.com/docs/wiki/app/motors-tab</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Seleccionar motor, hélice, ESC y batería con criterio.</a:t>
            </a:r>
          </a:p>
          <a:p xmlns:a="http://schemas.openxmlformats.org/drawingml/2006/main">
            <a:r>
              <a:t>En línea, 2 horas. Núcleo de explicación: 4 minutos en esta diapositiva.</a:t>
            </a:r>
          </a:p>
          <a:p xmlns:a="http://schemas.openxmlformats.org/drawingml/2006/main">
            <a:r>
              <a:t/>
            </a:r>
          </a:p>
          <a:p xmlns:a="http://schemas.openxmlformats.org/drawingml/2006/main">
            <a:r>
              <a:t>Primero se estima la masa de despegue con todos los componentes. Después se define una relación de empuje máximo a peso como hipótesis de diseño. En aula usaremos 2 para aprender el método. Esa cifra no es una ley universal ni una garantía de vuelo: la misión, las condiciones y la respuesta del vehículo requieren su propia justificación.</a:t>
            </a:r>
          </a:p>
          <a:p xmlns:a="http://schemas.openxmlformats.org/drawingml/2006/main">
            <a:r>
              <a:t/>
            </a:r>
          </a:p>
          <a:p xmlns:a="http://schemas.openxmlformats.org/drawingml/2006/main">
            <a:r>
              <a:t>k es una hipótesis declarada. Si se expresa la tabla en gramos fuerza, se mantiene esa unidad durante la comparación y se diferencia de gramos de masa.</a:t>
            </a:r>
          </a:p>
          <a:p xmlns:a="http://schemas.openxmlformats.org/drawingml/2006/main">
            <a:r>
              <a:t/>
            </a:r>
          </a:p>
          <a:p xmlns:a="http://schemas.openxmlformats.org/drawingml/2006/main">
            <a:r>
              <a:t>Con cuatro motores y k = 2, ¿qué empuje máximo por motor buscamos en la tabla?</a:t>
            </a:r>
          </a:p>
          <a:p xmlns:a="http://schemas.openxmlformats.org/drawingml/2006/main">
            <a:r>
              <a:t>El objetivo total es 1600 gf y por motor 400 gf. En estacionario ideal corresponde aproximadamente a 200 gf por motor. 400 gf equivalen aproximadamente a 3,92 N. Son objetivos de selección del caso, no medidas de un equipo MECRO.</a:t>
            </a:r>
          </a:p>
          <a:p xmlns:a="http://schemas.openxmlformats.org/drawingml/2006/main">
            <a:r>
              <a:t/>
            </a:r>
          </a:p>
          <a:p xmlns:a="http://schemas.openxmlformats.org/drawingml/2006/main">
            <a:r>
              <a:t>La reserva permite distinguir la condición de sostenerse de la capacidad de cambiar el movimiento. No basta con que la tabla alcance 400 gf una sola vez: importa cómo se obtuvo, durante cuánto tiempo y con qué consumo y temperatura. Además, el peso final puede ser mayor que la estimación. Una revisión del presupuesto evita que la batería y los soportes aparezcan al final como masa sorpresa.</a:t>
            </a:r>
          </a:p>
          <a:p xmlns:a="http://schemas.openxmlformats.org/drawingml/2006/main">
            <a:r>
              <a:t/>
            </a:r>
          </a:p>
          <a:p xmlns:a="http://schemas.openxmlformats.org/drawingml/2006/main">
            <a:r>
              <a:t>Objetivo: Justificar una cadena de propulsión compatible mediante masa, empuje, corriente y energía.</a:t>
            </a:r>
          </a:p>
          <a:p xmlns:a="http://schemas.openxmlformats.org/drawingml/2006/main">
            <a:r>
              <a:t>Aplicación: La lista de compra debe explicar por qué las piezas funcionan juntas y qué ensayo del fabricante respalda la selección.</a:t>
            </a:r>
          </a:p>
          <a:p xmlns:a="http://schemas.openxmlformats.org/drawingml/2006/main">
            <a:r>
              <a:t>Entrega: Lista de componentes justificada, presupuesto de masa/empuje y escenario de energía.</a:t>
            </a:r>
          </a:p>
          <a:p xmlns:a="http://schemas.openxmlformats.org/drawingml/2006/main">
            <a:r>
              <a:t/>
            </a:r>
          </a:p>
          <a:p xmlns:a="http://schemas.openxmlformats.org/drawingml/2006/main">
            <a:r>
              <a:t>Preguntas y respuestas</a:t>
            </a:r>
          </a:p>
          <a:p xmlns:a="http://schemas.openxmlformats.org/drawingml/2006/main">
            <a:r>
              <a:t>¿KV indica potencia del motor?</a:t>
            </a:r>
          </a:p>
          <a:p xmlns:a="http://schemas.openxmlformats.org/drawingml/2006/main">
            <a:r>
              <a:t>No. Relaciona régimen sin carga y tensión bajo su convención; falta el conjunto y su ensayo.</a:t>
            </a:r>
          </a:p>
          <a:p xmlns:a="http://schemas.openxmlformats.org/drawingml/2006/main">
            <a:r>
              <a:t/>
            </a:r>
          </a:p>
          <a:p xmlns:a="http://schemas.openxmlformats.org/drawingml/2006/main">
            <a:r>
              <a:t>¿C comercial sustituye comprobar corriente y conexiones?</a:t>
            </a:r>
          </a:p>
          <a:p xmlns:a="http://schemas.openxmlformats.org/drawingml/2006/main">
            <a:r>
              <a:t>No. El conjunto necesita límites y evidencia bajo condiciones reales.</a:t>
            </a:r>
          </a:p>
          <a:p xmlns:a="http://schemas.openxmlformats.org/drawingml/2006/main">
            <a:r>
              <a:t/>
            </a:r>
          </a:p>
          <a:p xmlns:a="http://schemas.openxmlformats.org/drawingml/2006/main">
            <a:r>
              <a:t>¿Duplicar mAh duplica siempre el tiempo?</a:t>
            </a:r>
          </a:p>
          <a:p xmlns:a="http://schemas.openxmlformats.org/drawingml/2006/main">
            <a:r>
              <a:t>No. Cambian masa, demanda y condiciones; hay que revisar el modelo y medir.</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Betaflight. Motors Tab. https://betaflight.com/docs/wiki/app/motors-tab</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Seleccionar motor, hélice, ESC y batería con criterio.</a:t>
            </a:r>
          </a:p>
          <a:p xmlns:a="http://schemas.openxmlformats.org/drawingml/2006/main">
            <a:r>
              <a:t>En línea, 2 horas. Núcleo de explicación: 4 minutos en esta diapositiva.</a:t>
            </a:r>
          </a:p>
          <a:p xmlns:a="http://schemas.openxmlformats.org/drawingml/2006/main">
            <a:r>
              <a:t/>
            </a:r>
          </a:p>
          <a:p xmlns:a="http://schemas.openxmlformats.org/drawingml/2006/main">
            <a:r>
              <a:t>Primero se estima la masa de despegue con todos los componentes. Después se define una relación de empuje máximo a peso como hipótesis de diseño. En aula usaremos 2 para aprender el método. Esa cifra no es una ley universal ni una garantía de vuelo: la misión, las condiciones y la respuesta del vehículo requieren su propia justificación.</a:t>
            </a:r>
          </a:p>
          <a:p xmlns:a="http://schemas.openxmlformats.org/drawingml/2006/main">
            <a:r>
              <a:t/>
            </a:r>
          </a:p>
          <a:p xmlns:a="http://schemas.openxmlformats.org/drawingml/2006/main">
            <a:r>
              <a:t>k es una hipótesis declarada. Si se expresa la tabla en gramos fuerza, se mantiene esa unidad durante la comparación y se diferencia de gramos de masa.</a:t>
            </a:r>
          </a:p>
          <a:p xmlns:a="http://schemas.openxmlformats.org/drawingml/2006/main">
            <a:r>
              <a:t/>
            </a:r>
          </a:p>
          <a:p xmlns:a="http://schemas.openxmlformats.org/drawingml/2006/main">
            <a:r>
              <a:t>Con cuatro motores y k = 2, ¿qué empuje máximo por motor buscamos en la tabla?</a:t>
            </a:r>
          </a:p>
          <a:p xmlns:a="http://schemas.openxmlformats.org/drawingml/2006/main">
            <a:r>
              <a:t>El objetivo total es 1600 gf y por motor 400 gf. En estacionario ideal corresponde aproximadamente a 200 gf por motor. 400 gf equivalen aproximadamente a 3,92 N. Son objetivos de selección del caso, no medidas de un equipo MECRO.</a:t>
            </a:r>
          </a:p>
          <a:p xmlns:a="http://schemas.openxmlformats.org/drawingml/2006/main">
            <a:r>
              <a:t/>
            </a:r>
          </a:p>
          <a:p xmlns:a="http://schemas.openxmlformats.org/drawingml/2006/main">
            <a:r>
              <a:t>La reserva permite distinguir la condición de sostenerse de la capacidad de cambiar el movimiento. No basta con que la tabla alcance 400 gf una sola vez: importa cómo se obtuvo, durante cuánto tiempo y con qué consumo y temperatura. Además, el peso final puede ser mayor que la estimación. Una revisión del presupuesto evita que la batería y los soportes aparezcan al final como masa sorpresa.</a:t>
            </a:r>
          </a:p>
          <a:p xmlns:a="http://schemas.openxmlformats.org/drawingml/2006/main">
            <a:r>
              <a:t/>
            </a:r>
          </a:p>
          <a:p xmlns:a="http://schemas.openxmlformats.org/drawingml/2006/main">
            <a:r>
              <a:t>Objetivo: Justificar una cadena de propulsión compatible mediante masa, empuje, corriente y energía.</a:t>
            </a:r>
          </a:p>
          <a:p xmlns:a="http://schemas.openxmlformats.org/drawingml/2006/main">
            <a:r>
              <a:t>Aplicación: La lista de compra debe explicar por qué las piezas funcionan juntas y qué ensayo del fabricante respalda la selección.</a:t>
            </a:r>
          </a:p>
          <a:p xmlns:a="http://schemas.openxmlformats.org/drawingml/2006/main">
            <a:r>
              <a:t>Entrega: Lista de componentes justificada, presupuesto de masa/empuje y escenario de energía.</a:t>
            </a:r>
          </a:p>
          <a:p xmlns:a="http://schemas.openxmlformats.org/drawingml/2006/main">
            <a:r>
              <a:t/>
            </a:r>
          </a:p>
          <a:p xmlns:a="http://schemas.openxmlformats.org/drawingml/2006/main">
            <a:r>
              <a:t>Preguntas y respuestas</a:t>
            </a:r>
          </a:p>
          <a:p xmlns:a="http://schemas.openxmlformats.org/drawingml/2006/main">
            <a:r>
              <a:t>¿KV indica potencia del motor?</a:t>
            </a:r>
          </a:p>
          <a:p xmlns:a="http://schemas.openxmlformats.org/drawingml/2006/main">
            <a:r>
              <a:t>No. Relaciona régimen sin carga y tensión bajo su convención; falta el conjunto y su ensayo.</a:t>
            </a:r>
          </a:p>
          <a:p xmlns:a="http://schemas.openxmlformats.org/drawingml/2006/main">
            <a:r>
              <a:t/>
            </a:r>
          </a:p>
          <a:p xmlns:a="http://schemas.openxmlformats.org/drawingml/2006/main">
            <a:r>
              <a:t>¿C comercial sustituye comprobar corriente y conexiones?</a:t>
            </a:r>
          </a:p>
          <a:p xmlns:a="http://schemas.openxmlformats.org/drawingml/2006/main">
            <a:r>
              <a:t>No. El conjunto necesita límites y evidencia bajo condiciones reales.</a:t>
            </a:r>
          </a:p>
          <a:p xmlns:a="http://schemas.openxmlformats.org/drawingml/2006/main">
            <a:r>
              <a:t/>
            </a:r>
          </a:p>
          <a:p xmlns:a="http://schemas.openxmlformats.org/drawingml/2006/main">
            <a:r>
              <a:t>¿Duplicar mAh duplica siempre el tiempo?</a:t>
            </a:r>
          </a:p>
          <a:p xmlns:a="http://schemas.openxmlformats.org/drawingml/2006/main">
            <a:r>
              <a:t>No. Cambian masa, demanda y condiciones; hay que revisar el modelo y medir.</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Betaflight. Motors Tab. https://betaflight.com/docs/wiki/app/motors-tab</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Seleccionar motor, hélice, ESC y batería con criterio.</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se estima la masa de despegue con todos los componentes. Después se define una relación de empuje máximo a peso como hipótesis de diseño. En aula usaremos 2 para aprender el método. Esa cifra no es una ley universal ni una garantía de vuelo: la misión, las condiciones y la respuesta del vehículo requieren su propia justificación.</a:t>
            </a:r>
          </a:p>
          <a:p xmlns:a="http://schemas.openxmlformats.org/drawingml/2006/main">
            <a:r>
              <a:t/>
            </a:r>
          </a:p>
          <a:p xmlns:a="http://schemas.openxmlformats.org/drawingml/2006/main">
            <a:r>
              <a:t>k es una hipótesis declarada. Si se expresa la tabla en gramos fuerza, se mantiene esa unidad durante la comparación y se diferencia de gramos de masa.</a:t>
            </a:r>
          </a:p>
          <a:p xmlns:a="http://schemas.openxmlformats.org/drawingml/2006/main">
            <a:r>
              <a:t/>
            </a:r>
          </a:p>
          <a:p xmlns:a="http://schemas.openxmlformats.org/drawingml/2006/main">
            <a:r>
              <a:t>Con cuatro motores y k = 2, ¿qué empuje máximo por motor buscamos en la tabla?</a:t>
            </a:r>
          </a:p>
          <a:p xmlns:a="http://schemas.openxmlformats.org/drawingml/2006/main">
            <a:r>
              <a:t>El objetivo total es 1600 gf y por motor 400 gf. En estacionario ideal corresponde aproximadamente a 200 gf por motor. 400 gf equivalen aproximadamente a 3,92 N. Son objetivos de selección del caso, no medidas de un equipo MECRO.</a:t>
            </a:r>
          </a:p>
          <a:p xmlns:a="http://schemas.openxmlformats.org/drawingml/2006/main">
            <a:r>
              <a:t/>
            </a:r>
          </a:p>
          <a:p xmlns:a="http://schemas.openxmlformats.org/drawingml/2006/main">
            <a:r>
              <a:t>La reserva permite distinguir la condición de sostenerse de la capacidad de cambiar el movimiento. No basta con que la tabla alcance 400 gf una sola vez: importa cómo se obtuvo, durante cuánto tiempo y con qué consumo y temperatura. Además, el peso final puede ser mayor que la estimación. Una revisión del presupuesto evita que la batería y los soportes aparezcan al final como masa sorpresa.</a:t>
            </a:r>
          </a:p>
          <a:p xmlns:a="http://schemas.openxmlformats.org/drawingml/2006/main">
            <a:r>
              <a:t/>
            </a:r>
          </a:p>
          <a:p xmlns:a="http://schemas.openxmlformats.org/drawingml/2006/main">
            <a:r>
              <a:t>Objetivo: Justificar una cadena de propulsión compatible mediante masa, empuje, corriente y energía.</a:t>
            </a:r>
          </a:p>
          <a:p xmlns:a="http://schemas.openxmlformats.org/drawingml/2006/main">
            <a:r>
              <a:t>Aplicación: La lista de compra debe explicar por qué las piezas funcionan juntas y qué ensayo del fabricante respalda la selección.</a:t>
            </a:r>
          </a:p>
          <a:p xmlns:a="http://schemas.openxmlformats.org/drawingml/2006/main">
            <a:r>
              <a:t>Entrega: Lista de componentes justificada, presupuesto de masa/empuje y escenario de energía.</a:t>
            </a:r>
          </a:p>
          <a:p xmlns:a="http://schemas.openxmlformats.org/drawingml/2006/main">
            <a:r>
              <a:t/>
            </a:r>
          </a:p>
          <a:p xmlns:a="http://schemas.openxmlformats.org/drawingml/2006/main">
            <a:r>
              <a:t>Preguntas y respuestas</a:t>
            </a:r>
          </a:p>
          <a:p xmlns:a="http://schemas.openxmlformats.org/drawingml/2006/main">
            <a:r>
              <a:t>¿KV indica potencia del motor?</a:t>
            </a:r>
          </a:p>
          <a:p xmlns:a="http://schemas.openxmlformats.org/drawingml/2006/main">
            <a:r>
              <a:t>No. Relaciona régimen sin carga y tensión bajo su convención; falta el conjunto y su ensayo.</a:t>
            </a:r>
          </a:p>
          <a:p xmlns:a="http://schemas.openxmlformats.org/drawingml/2006/main">
            <a:r>
              <a:t/>
            </a:r>
          </a:p>
          <a:p xmlns:a="http://schemas.openxmlformats.org/drawingml/2006/main">
            <a:r>
              <a:t>¿C comercial sustituye comprobar corriente y conexiones?</a:t>
            </a:r>
          </a:p>
          <a:p xmlns:a="http://schemas.openxmlformats.org/drawingml/2006/main">
            <a:r>
              <a:t>No. El conjunto necesita límites y evidencia bajo condiciones reales.</a:t>
            </a:r>
          </a:p>
          <a:p xmlns:a="http://schemas.openxmlformats.org/drawingml/2006/main">
            <a:r>
              <a:t/>
            </a:r>
          </a:p>
          <a:p xmlns:a="http://schemas.openxmlformats.org/drawingml/2006/main">
            <a:r>
              <a:t>¿Duplicar mAh duplica siempre el tiempo?</a:t>
            </a:r>
          </a:p>
          <a:p xmlns:a="http://schemas.openxmlformats.org/drawingml/2006/main">
            <a:r>
              <a:t>No. Cambian masa, demanda y condiciones; hay que revisar el modelo y medir.</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Betaflight. Motors Tab. https://betaflight.com/docs/wiki/app/motors-tab</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Seleccionar motor, hélice, ESC y batería con criterio.</a:t>
            </a:r>
          </a:p>
          <a:p xmlns:a="http://schemas.openxmlformats.org/drawingml/2006/main">
            <a:r>
              <a:t>En línea, 2 horas. Núcleo de explicación: 4 minutos en esta diapositiva.</a:t>
            </a:r>
          </a:p>
          <a:p xmlns:a="http://schemas.openxmlformats.org/drawingml/2006/main">
            <a:r>
              <a:t/>
            </a:r>
          </a:p>
          <a:p xmlns:a="http://schemas.openxmlformats.org/drawingml/2006/main">
            <a:r>
              <a:t>Caso a 22,2 V / Empuje / gf / Corriente / A</a:t>
            </a:r>
          </a:p>
          <a:p xmlns:a="http://schemas.openxmlformats.org/drawingml/2006/main">
            <a:r>
              <a:t>A · combinación de aula / 450 / 6</a:t>
            </a:r>
          </a:p>
          <a:p xmlns:a="http://schemas.openxmlformats.org/drawingml/2006/main">
            <a:r>
              <a:t>B · combinación de aula / 600 / 10</a:t>
            </a:r>
          </a:p>
          <a:p xmlns:a="http://schemas.openxmlformats.org/drawingml/2006/main">
            <a:r>
              <a:t>C · combinación de aula / 750 / 16</a:t>
            </a:r>
          </a:p>
          <a:p xmlns:a="http://schemas.openxmlformats.org/drawingml/2006/main">
            <a:r>
              <a:t/>
            </a:r>
          </a:p>
          <a:p xmlns:a="http://schemas.openxmlformats.org/drawingml/2006/main">
            <a:r>
              <a:t>Estas filas son datos didácticos y no recomiendan un producto. Cada una representa una combinación diferente bajo una tensión declarada. Si el requisito cambia a 500 gf, A no alcanza el objetivo mostrado; B y C sí lo alcanzan. Esa primera selección todavía no compara masa, régimen térmico, dimensiones y disponibilidad. El componente con más empuje máximo no es automáticamente la mejor elección.</a:t>
            </a:r>
          </a:p>
          <a:p xmlns:a="http://schemas.openxmlformats.org/drawingml/2006/main">
            <a:r>
              <a:t/>
            </a:r>
          </a:p>
          <a:p xmlns:a="http://schemas.openxmlformats.org/drawingml/2006/main">
            <a:r>
              <a:t>gf/W es un indicador comparativo de empuje por potencia en una condición de ensayo; no es eficiencia energética adimensional.</a:t>
            </a:r>
          </a:p>
          <a:p xmlns:a="http://schemas.openxmlformats.org/drawingml/2006/main">
            <a:r>
              <a:t/>
            </a:r>
          </a:p>
          <a:p xmlns:a="http://schemas.openxmlformats.org/drawingml/2006/main">
            <a:r>
              <a:t>¿Qué potencia eléctrica y qué gf/W resultan de las filas B y C?</a:t>
            </a:r>
          </a:p>
          <a:p xmlns:a="http://schemas.openxmlformats.org/drawingml/2006/main">
            <a:r>
              <a:t>B: 22,2 × 10 = 222 W y 600/222 ≈ 2,70 gf/W. C: 22,2 × 16 = 355,2 W y 750/355,2 ≈ 2,11 gf/W. La comparación exige conservar condiciones; no describe por sí sola todo el rango de operación.</a:t>
            </a:r>
          </a:p>
          <a:p xmlns:a="http://schemas.openxmlformats.org/drawingml/2006/main">
            <a:r>
              <a:t/>
            </a:r>
          </a:p>
          <a:p xmlns:a="http://schemas.openxmlformats.org/drawingml/2006/main">
            <a:r>
              <a:t>Investiga dónde publicó el fabricante el ensayo y anota su referencia. Si una tienda solo muestra una cifra de empuje sin hélice o tensión, el expediente conserva esa ausencia y busca el dato primario.</a:t>
            </a:r>
          </a:p>
          <a:p xmlns:a="http://schemas.openxmlformats.org/drawingml/2006/main">
            <a:r>
              <a:t/>
            </a:r>
          </a:p>
          <a:p xmlns:a="http://schemas.openxmlformats.org/drawingml/2006/main">
            <a:r>
              <a:t>Tabla sintética a 22,2 V: tres combinaciones de aula. La comparación necesita condiciones de ensayo identificadas.</a:t>
            </a:r>
          </a:p>
          <a:p xmlns:a="http://schemas.openxmlformats.org/drawingml/2006/main">
            <a:r>
              <a:t/>
            </a:r>
          </a:p>
          <a:p xmlns:a="http://schemas.openxmlformats.org/drawingml/2006/main">
            <a:r>
              <a:t>Objetivo: Justificar una cadena de propulsión compatible mediante masa, empuje, corriente y energía.</a:t>
            </a:r>
          </a:p>
          <a:p xmlns:a="http://schemas.openxmlformats.org/drawingml/2006/main">
            <a:r>
              <a:t>Aplicación: La lista de compra debe explicar por qué las piezas funcionan juntas y qué ensayo del fabricante respalda la selección.</a:t>
            </a:r>
          </a:p>
          <a:p xmlns:a="http://schemas.openxmlformats.org/drawingml/2006/main">
            <a:r>
              <a:t>Entrega: Lista de componentes justificada, presupuesto de masa/empuje y escenario de energía.</a:t>
            </a:r>
          </a:p>
          <a:p xmlns:a="http://schemas.openxmlformats.org/drawingml/2006/main">
            <a:r>
              <a:t/>
            </a:r>
          </a:p>
          <a:p xmlns:a="http://schemas.openxmlformats.org/drawingml/2006/main">
            <a:r>
              <a:t>Preguntas y respuestas</a:t>
            </a:r>
          </a:p>
          <a:p xmlns:a="http://schemas.openxmlformats.org/drawingml/2006/main">
            <a:r>
              <a:t>¿KV indica potencia del motor?</a:t>
            </a:r>
          </a:p>
          <a:p xmlns:a="http://schemas.openxmlformats.org/drawingml/2006/main">
            <a:r>
              <a:t>No. Relaciona régimen sin carga y tensión bajo su convención; falta el conjunto y su ensayo.</a:t>
            </a:r>
          </a:p>
          <a:p xmlns:a="http://schemas.openxmlformats.org/drawingml/2006/main">
            <a:r>
              <a:t/>
            </a:r>
          </a:p>
          <a:p xmlns:a="http://schemas.openxmlformats.org/drawingml/2006/main">
            <a:r>
              <a:t>¿C comercial sustituye comprobar corriente y conexiones?</a:t>
            </a:r>
          </a:p>
          <a:p xmlns:a="http://schemas.openxmlformats.org/drawingml/2006/main">
            <a:r>
              <a:t>No. El conjunto necesita límites y evidencia bajo condiciones reales.</a:t>
            </a:r>
          </a:p>
          <a:p xmlns:a="http://schemas.openxmlformats.org/drawingml/2006/main">
            <a:r>
              <a:t/>
            </a:r>
          </a:p>
          <a:p xmlns:a="http://schemas.openxmlformats.org/drawingml/2006/main">
            <a:r>
              <a:t>¿Duplicar mAh duplica siempre el tiempo?</a:t>
            </a:r>
          </a:p>
          <a:p xmlns:a="http://schemas.openxmlformats.org/drawingml/2006/main">
            <a:r>
              <a:t>No. Cambian masa, demanda y condiciones; hay que revisar el modelo y medir.</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Betaflight. Motors Tab. https://betaflight.com/docs/wiki/app/motors-tab</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Seleccionar motor, hélice, ESC y batería con criterio.</a:t>
            </a:r>
          </a:p>
          <a:p xmlns:a="http://schemas.openxmlformats.org/drawingml/2006/main">
            <a:r>
              <a:t>En línea, 2 horas. Núcleo de explicación: 4 minutos en esta diapositiva.</a:t>
            </a:r>
          </a:p>
          <a:p xmlns:a="http://schemas.openxmlformats.org/drawingml/2006/main">
            <a:r>
              <a:t/>
            </a:r>
          </a:p>
          <a:p xmlns:a="http://schemas.openxmlformats.org/drawingml/2006/main">
            <a:r>
              <a:t>Caso a 22,2 V / Empuje / gf / Corriente / A</a:t>
            </a:r>
          </a:p>
          <a:p xmlns:a="http://schemas.openxmlformats.org/drawingml/2006/main">
            <a:r>
              <a:t>A · combinación de aula / 450 / 6</a:t>
            </a:r>
          </a:p>
          <a:p xmlns:a="http://schemas.openxmlformats.org/drawingml/2006/main">
            <a:r>
              <a:t>B · combinación de aula / 600 / 10</a:t>
            </a:r>
          </a:p>
          <a:p xmlns:a="http://schemas.openxmlformats.org/drawingml/2006/main">
            <a:r>
              <a:t>C · combinación de aula / 750 / 16</a:t>
            </a:r>
          </a:p>
          <a:p xmlns:a="http://schemas.openxmlformats.org/drawingml/2006/main">
            <a:r>
              <a:t>Comparar filas y explicar una condición que cambie la decisión.</a:t>
            </a:r>
          </a:p>
          <a:p xmlns:a="http://schemas.openxmlformats.org/drawingml/2006/main">
            <a:r>
              <a:t/>
            </a:r>
          </a:p>
          <a:p xmlns:a="http://schemas.openxmlformats.org/drawingml/2006/main">
            <a:r>
              <a:t>Objetivo: Justificar una cadena de propulsión compatible mediante masa, empuje, corriente y energía.</a:t>
            </a:r>
          </a:p>
          <a:p xmlns:a="http://schemas.openxmlformats.org/drawingml/2006/main">
            <a:r>
              <a:t>Aplicación: La lista de compra debe explicar por qué las piezas funcionan juntas y qué ensayo del fabricante respalda la selección.</a:t>
            </a:r>
          </a:p>
          <a:p xmlns:a="http://schemas.openxmlformats.org/drawingml/2006/main">
            <a:r>
              <a:t>Entrega: Lista de componentes justificada, presupuesto de masa/empuje y escenario de energía.</a:t>
            </a:r>
          </a:p>
          <a:p xmlns:a="http://schemas.openxmlformats.org/drawingml/2006/main">
            <a:r>
              <a:t/>
            </a:r>
          </a:p>
          <a:p xmlns:a="http://schemas.openxmlformats.org/drawingml/2006/main">
            <a:r>
              <a:t>Preguntas y respuestas</a:t>
            </a:r>
          </a:p>
          <a:p xmlns:a="http://schemas.openxmlformats.org/drawingml/2006/main">
            <a:r>
              <a:t>¿KV indica potencia del motor?</a:t>
            </a:r>
          </a:p>
          <a:p xmlns:a="http://schemas.openxmlformats.org/drawingml/2006/main">
            <a:r>
              <a:t>No. Relaciona régimen sin carga y tensión bajo su convención; falta el conjunto y su ensayo.</a:t>
            </a:r>
          </a:p>
          <a:p xmlns:a="http://schemas.openxmlformats.org/drawingml/2006/main">
            <a:r>
              <a:t/>
            </a:r>
          </a:p>
          <a:p xmlns:a="http://schemas.openxmlformats.org/drawingml/2006/main">
            <a:r>
              <a:t>¿C comercial sustituye comprobar corriente y conexiones?</a:t>
            </a:r>
          </a:p>
          <a:p xmlns:a="http://schemas.openxmlformats.org/drawingml/2006/main">
            <a:r>
              <a:t>No. El conjunto necesita límites y evidencia bajo condiciones reales.</a:t>
            </a:r>
          </a:p>
          <a:p xmlns:a="http://schemas.openxmlformats.org/drawingml/2006/main">
            <a:r>
              <a:t/>
            </a:r>
          </a:p>
          <a:p xmlns:a="http://schemas.openxmlformats.org/drawingml/2006/main">
            <a:r>
              <a:t>¿Duplicar mAh duplica siempre el tiempo?</a:t>
            </a:r>
          </a:p>
          <a:p xmlns:a="http://schemas.openxmlformats.org/drawingml/2006/main">
            <a:r>
              <a:t>No. Cambian masa, demanda y condiciones; hay que revisar el modelo y medir.</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Betaflight. Motors Tab. https://betaflight.com/docs/wiki/app/motors-tab</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Seleccionar motor, hélice, ESC y batería con criterio.</a:t>
            </a:r>
          </a:p>
          <a:p xmlns:a="http://schemas.openxmlformats.org/drawingml/2006/main">
            <a:r>
              <a:t>En línea, 2 horas. Núcleo de explicación: 5 minutos en esta diapositiva.</a:t>
            </a:r>
          </a:p>
          <a:p xmlns:a="http://schemas.openxmlformats.org/drawingml/2006/main">
            <a:r>
              <a:t/>
            </a:r>
          </a:p>
          <a:p xmlns:a="http://schemas.openxmlformats.org/drawingml/2006/main">
            <a:r>
              <a:t>Tabla sintética a 22,2 V: tres combinaciones de aula. La comparación necesita condiciones de ensayo identificadas.</a:t>
            </a:r>
          </a:p>
          <a:p xmlns:a="http://schemas.openxmlformats.org/drawingml/2006/main">
            <a:r>
              <a:t>Caso a 22,2 V / Empuje / gf / Corriente / A</a:t>
            </a:r>
          </a:p>
          <a:p xmlns:a="http://schemas.openxmlformats.org/drawingml/2006/main">
            <a:r>
              <a:t>A · combinación de aula / 450 / 6</a:t>
            </a:r>
          </a:p>
          <a:p xmlns:a="http://schemas.openxmlformats.org/drawingml/2006/main">
            <a:r>
              <a:t>B · combinación de aula / 600 / 10</a:t>
            </a:r>
          </a:p>
          <a:p xmlns:a="http://schemas.openxmlformats.org/drawingml/2006/main">
            <a:r>
              <a:t>C · combinación de aula / 750 / 16</a:t>
            </a:r>
          </a:p>
          <a:p xmlns:a="http://schemas.openxmlformats.org/drawingml/2006/main">
            <a:r>
              <a:t/>
            </a:r>
          </a:p>
          <a:p xmlns:a="http://schemas.openxmlformats.org/drawingml/2006/main">
            <a:r>
              <a:t>Estas filas son datos didácticos y no recomiendan un producto. Cada una representa una combinación diferente bajo una tensión declarada. Si el requisito cambia a 500 gf, A no alcanza el objetivo mostrado; B y C sí lo alcanzan. Esa primera selección todavía no compara masa, régimen térmico, dimensiones y disponibilidad. El componente con más empuje máximo no es automáticamente la mejor elección.</a:t>
            </a:r>
          </a:p>
          <a:p xmlns:a="http://schemas.openxmlformats.org/drawingml/2006/main">
            <a:r>
              <a:t/>
            </a:r>
          </a:p>
          <a:p xmlns:a="http://schemas.openxmlformats.org/drawingml/2006/main">
            <a:r>
              <a:t>gf/W es un indicador comparativo de empuje por potencia en una condición de ensayo; no es eficiencia energética adimensional.</a:t>
            </a:r>
          </a:p>
          <a:p xmlns:a="http://schemas.openxmlformats.org/drawingml/2006/main">
            <a:r>
              <a:t/>
            </a:r>
          </a:p>
          <a:p xmlns:a="http://schemas.openxmlformats.org/drawingml/2006/main">
            <a:r>
              <a:t>¿Qué potencia eléctrica y qué gf/W resultan de las filas B y C?</a:t>
            </a:r>
          </a:p>
          <a:p xmlns:a="http://schemas.openxmlformats.org/drawingml/2006/main">
            <a:r>
              <a:t>B: 22,2 × 10 = 222 W y 600/222 ≈ 2,70 gf/W. C: 22,2 × 16 = 355,2 W y 750/355,2 ≈ 2,11 gf/W. La comparación exige conservar condiciones; no describe por sí sola todo el rango de operación.</a:t>
            </a:r>
          </a:p>
          <a:p xmlns:a="http://schemas.openxmlformats.org/drawingml/2006/main">
            <a:r>
              <a:t/>
            </a:r>
          </a:p>
          <a:p xmlns:a="http://schemas.openxmlformats.org/drawingml/2006/main">
            <a:r>
              <a:t>Investiga dónde publicó el fabricante el ensayo y anota su referencia. Si una tienda solo muestra una cifra de empuje sin hélice o tensión, el expediente conserva esa ausencia y busca el dato primario.</a:t>
            </a:r>
          </a:p>
          <a:p xmlns:a="http://schemas.openxmlformats.org/drawingml/2006/main">
            <a:r>
              <a:t/>
            </a:r>
          </a:p>
          <a:p xmlns:a="http://schemas.openxmlformats.org/drawingml/2006/main">
            <a:r>
              <a:t>Tabla sintética a 22,2 V: tres combinaciones de aula. La comparación necesita condiciones de ensayo identificadas.</a:t>
            </a:r>
          </a:p>
          <a:p xmlns:a="http://schemas.openxmlformats.org/drawingml/2006/main">
            <a:r>
              <a:t/>
            </a:r>
          </a:p>
          <a:p xmlns:a="http://schemas.openxmlformats.org/drawingml/2006/main">
            <a:r>
              <a:t>Objetivo: Justificar una cadena de propulsión compatible mediante masa, empuje, corriente y energía.</a:t>
            </a:r>
          </a:p>
          <a:p xmlns:a="http://schemas.openxmlformats.org/drawingml/2006/main">
            <a:r>
              <a:t>Aplicación: La lista de compra debe explicar por qué las piezas funcionan juntas y qué ensayo del fabricante respalda la selección.</a:t>
            </a:r>
          </a:p>
          <a:p xmlns:a="http://schemas.openxmlformats.org/drawingml/2006/main">
            <a:r>
              <a:t>Entrega: Lista de componentes justificada, presupuesto de masa/empuje y escenario de energía.</a:t>
            </a:r>
          </a:p>
          <a:p xmlns:a="http://schemas.openxmlformats.org/drawingml/2006/main">
            <a:r>
              <a:t/>
            </a:r>
          </a:p>
          <a:p xmlns:a="http://schemas.openxmlformats.org/drawingml/2006/main">
            <a:r>
              <a:t>Preguntas y respuestas</a:t>
            </a:r>
          </a:p>
          <a:p xmlns:a="http://schemas.openxmlformats.org/drawingml/2006/main">
            <a:r>
              <a:t>¿KV indica potencia del motor?</a:t>
            </a:r>
          </a:p>
          <a:p xmlns:a="http://schemas.openxmlformats.org/drawingml/2006/main">
            <a:r>
              <a:t>No. Relaciona régimen sin carga y tensión bajo su convención; falta el conjunto y su ensayo.</a:t>
            </a:r>
          </a:p>
          <a:p xmlns:a="http://schemas.openxmlformats.org/drawingml/2006/main">
            <a:r>
              <a:t/>
            </a:r>
          </a:p>
          <a:p xmlns:a="http://schemas.openxmlformats.org/drawingml/2006/main">
            <a:r>
              <a:t>¿C comercial sustituye comprobar corriente y conexiones?</a:t>
            </a:r>
          </a:p>
          <a:p xmlns:a="http://schemas.openxmlformats.org/drawingml/2006/main">
            <a:r>
              <a:t>No. El conjunto necesita límites y evidencia bajo condiciones reales.</a:t>
            </a:r>
          </a:p>
          <a:p xmlns:a="http://schemas.openxmlformats.org/drawingml/2006/main">
            <a:r>
              <a:t/>
            </a:r>
          </a:p>
          <a:p xmlns:a="http://schemas.openxmlformats.org/drawingml/2006/main">
            <a:r>
              <a:t>¿Duplicar mAh duplica siempre el tiempo?</a:t>
            </a:r>
          </a:p>
          <a:p xmlns:a="http://schemas.openxmlformats.org/drawingml/2006/main">
            <a:r>
              <a:t>No. Cambian masa, demanda y condiciones; hay que revisar el modelo y medir.</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Betaflight. Motors Tab. https://betaflight.com/docs/wiki/app/motors-tab</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Seleccionar motor, hélice, ESC y batería con criterio.</a:t>
            </a:r>
          </a:p>
          <a:p xmlns:a="http://schemas.openxmlformats.org/drawingml/2006/main">
            <a:r>
              <a:t>En línea, 2 horas. Núcleo de explicación: 4 minutos en esta diapositiva.</a:t>
            </a:r>
          </a:p>
          <a:p xmlns:a="http://schemas.openxmlformats.org/drawingml/2006/main">
            <a:r>
              <a:t/>
            </a:r>
          </a:p>
          <a:p xmlns:a="http://schemas.openxmlformats.org/drawingml/2006/main">
            <a:r>
              <a:t>La capacidad en Ah expresa carga eléctrica; al multiplicarla por una tensión nominal obtenemos una aproximación de energía en Wh. La energía aprovechable depende de condiciones de uso. Para el ejercicio reservamos 20 % y suponemos potencia media constante. Es un modelo transparente para comparar, no una predicción validada de tiempo de vuelo. La tensión cambia bajo carga y la masa de otra batería también cambia la demanda.</a:t>
            </a:r>
          </a:p>
          <a:p xmlns:a="http://schemas.openxmlformats.org/drawingml/2006/main">
            <a:r>
              <a:t/>
            </a:r>
          </a:p>
          <a:p xmlns:a="http://schemas.openxmlformats.org/drawingml/2006/main">
            <a:r>
              <a:t>f es la fracción aprovechable asumida. Este modelo no sustituye un registro real de consumo y las reservas de la operación.</a:t>
            </a:r>
          </a:p>
          <a:p xmlns:a="http://schemas.openxmlformats.org/drawingml/2006/main">
            <a:r>
              <a:t/>
            </a:r>
          </a:p>
          <a:p xmlns:a="http://schemas.openxmlformats.org/drawingml/2006/main">
            <a:r>
              <a:t>Una batería convencional 6S de 1,3 Ah tiene tensión nominal aproximada de 22,2 V. Con f = 0,8 y 250 W medios, ¿qué tiempo arroja el modelo?</a:t>
            </a:r>
          </a:p>
          <a:p xmlns:a="http://schemas.openxmlformats.org/drawingml/2006/main">
            <a:r>
              <a:t>La energía nominal es 28,86 Wh; la fracción del ejercicio es 23,088 Wh. El tiempo resulta 60 × 23,088 / 250 ≈ 5,54 min. A 150 W serían 9,24 min; a 350 W, 3,96 min. Son escenarios calculados.</a:t>
            </a:r>
          </a:p>
          <a:p xmlns:a="http://schemas.openxmlformats.org/drawingml/2006/main">
            <a:r>
              <a:t/>
            </a:r>
          </a:p>
          <a:p xmlns:a="http://schemas.openxmlformats.org/drawingml/2006/main">
            <a:r>
              <a:t>S indica celdas en serie; no todas las químicas tienen la misma tensión por celda. Para una LiPo convencional se distingue nominal de plena carga, y se consulta el paquete real. La cifra C comercial tampoco elimina la necesidad de comprobar corriente, temperatura, conectores y caída de tensión del conjunto.</a:t>
            </a:r>
          </a:p>
          <a:p xmlns:a="http://schemas.openxmlformats.org/drawingml/2006/main">
            <a:r>
              <a:t/>
            </a:r>
          </a:p>
          <a:p xmlns:a="http://schemas.openxmlformats.org/drawingml/2006/main">
            <a:r>
              <a:t>6S convencional, 1,3 Ah, 22,2 V nominales y fracción aprovechable asumida de 0,8. No son tiempos de vuelo medidos.</a:t>
            </a:r>
          </a:p>
          <a:p xmlns:a="http://schemas.openxmlformats.org/drawingml/2006/main">
            <a:r>
              <a:t/>
            </a:r>
          </a:p>
          <a:p xmlns:a="http://schemas.openxmlformats.org/drawingml/2006/main">
            <a:r>
              <a:t>Objetivo: Justificar una cadena de propulsión compatible mediante masa, empuje, corriente y energía.</a:t>
            </a:r>
          </a:p>
          <a:p xmlns:a="http://schemas.openxmlformats.org/drawingml/2006/main">
            <a:r>
              <a:t>Aplicación: La lista de compra debe explicar por qué las piezas funcionan juntas y qué ensayo del fabricante respalda la selección.</a:t>
            </a:r>
          </a:p>
          <a:p xmlns:a="http://schemas.openxmlformats.org/drawingml/2006/main">
            <a:r>
              <a:t>Entrega: Lista de componentes justificada, presupuesto de masa/empuje y escenario de energía.</a:t>
            </a:r>
          </a:p>
          <a:p xmlns:a="http://schemas.openxmlformats.org/drawingml/2006/main">
            <a:r>
              <a:t/>
            </a:r>
          </a:p>
          <a:p xmlns:a="http://schemas.openxmlformats.org/drawingml/2006/main">
            <a:r>
              <a:t>Preguntas y respuestas</a:t>
            </a:r>
          </a:p>
          <a:p xmlns:a="http://schemas.openxmlformats.org/drawingml/2006/main">
            <a:r>
              <a:t>¿KV indica potencia del motor?</a:t>
            </a:r>
          </a:p>
          <a:p xmlns:a="http://schemas.openxmlformats.org/drawingml/2006/main">
            <a:r>
              <a:t>No. Relaciona régimen sin carga y tensión bajo su convención; falta el conjunto y su ensayo.</a:t>
            </a:r>
          </a:p>
          <a:p xmlns:a="http://schemas.openxmlformats.org/drawingml/2006/main">
            <a:r>
              <a:t/>
            </a:r>
          </a:p>
          <a:p xmlns:a="http://schemas.openxmlformats.org/drawingml/2006/main">
            <a:r>
              <a:t>¿C comercial sustituye comprobar corriente y conexiones?</a:t>
            </a:r>
          </a:p>
          <a:p xmlns:a="http://schemas.openxmlformats.org/drawingml/2006/main">
            <a:r>
              <a:t>No. El conjunto necesita límites y evidencia bajo condiciones reales.</a:t>
            </a:r>
          </a:p>
          <a:p xmlns:a="http://schemas.openxmlformats.org/drawingml/2006/main">
            <a:r>
              <a:t/>
            </a:r>
          </a:p>
          <a:p xmlns:a="http://schemas.openxmlformats.org/drawingml/2006/main">
            <a:r>
              <a:t>¿Duplicar mAh duplica siempre el tiempo?</a:t>
            </a:r>
          </a:p>
          <a:p xmlns:a="http://schemas.openxmlformats.org/drawingml/2006/main">
            <a:r>
              <a:t>No. Cambian masa, demanda y condiciones; hay que revisar el modelo y medir.</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Betaflight. Motors Tab. https://betaflight.com/docs/wiki/app/motors-tab</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Seleccionar motor, hélice, ESC y batería con criterio.</a:t>
            </a:r>
          </a:p>
          <a:p xmlns:a="http://schemas.openxmlformats.org/drawingml/2006/main">
            <a:r>
              <a:t>En línea, 2 horas. Núcleo de explicación: 4 minutos en esta diapositiva.</a:t>
            </a:r>
          </a:p>
          <a:p xmlns:a="http://schemas.openxmlformats.org/drawingml/2006/main">
            <a:r>
              <a:t/>
            </a:r>
          </a:p>
          <a:p xmlns:a="http://schemas.openxmlformats.org/drawingml/2006/main">
            <a:r>
              <a:t>La capacidad en Ah expresa carga eléctrica; al multiplicarla por una tensión nominal obtenemos una aproximación de energía en Wh. La energía aprovechable depende de condiciones de uso. Para el ejercicio reservamos 20 % y suponemos potencia media constante. Es un modelo transparente para comparar, no una predicción validada de tiempo de vuelo. La tensión cambia bajo carga y la masa de otra batería también cambia la demanda.</a:t>
            </a:r>
          </a:p>
          <a:p xmlns:a="http://schemas.openxmlformats.org/drawingml/2006/main">
            <a:r>
              <a:t/>
            </a:r>
          </a:p>
          <a:p xmlns:a="http://schemas.openxmlformats.org/drawingml/2006/main">
            <a:r>
              <a:t>f es la fracción aprovechable asumida. Este modelo no sustituye un registro real de consumo y las reservas de la operación.</a:t>
            </a:r>
          </a:p>
          <a:p xmlns:a="http://schemas.openxmlformats.org/drawingml/2006/main">
            <a:r>
              <a:t/>
            </a:r>
          </a:p>
          <a:p xmlns:a="http://schemas.openxmlformats.org/drawingml/2006/main">
            <a:r>
              <a:t>Una batería convencional 6S de 1,3 Ah tiene tensión nominal aproximada de 22,2 V. Con f = 0,8 y 250 W medios, ¿qué tiempo arroja el modelo?</a:t>
            </a:r>
          </a:p>
          <a:p xmlns:a="http://schemas.openxmlformats.org/drawingml/2006/main">
            <a:r>
              <a:t>La energía nominal es 28,86 Wh; la fracción del ejercicio es 23,088 Wh. El tiempo resulta 60 × 23,088 / 250 ≈ 5,54 min. A 150 W serían 9,24 min; a 350 W, 3,96 min. Son escenarios calculados.</a:t>
            </a:r>
          </a:p>
          <a:p xmlns:a="http://schemas.openxmlformats.org/drawingml/2006/main">
            <a:r>
              <a:t/>
            </a:r>
          </a:p>
          <a:p xmlns:a="http://schemas.openxmlformats.org/drawingml/2006/main">
            <a:r>
              <a:t>S indica celdas en serie; no todas las químicas tienen la misma tensión por celda. Para una LiPo convencional se distingue nominal de plena carga, y se consulta el paquete real. La cifra C comercial tampoco elimina la necesidad de comprobar corriente, temperatura, conectores y caída de tensión del conjunto.</a:t>
            </a:r>
          </a:p>
          <a:p xmlns:a="http://schemas.openxmlformats.org/drawingml/2006/main">
            <a:r>
              <a:t/>
            </a:r>
          </a:p>
          <a:p xmlns:a="http://schemas.openxmlformats.org/drawingml/2006/main">
            <a:r>
              <a:t>6S convencional, 1,3 Ah, 22,2 V nominales y fracción aprovechable asumida de 0,8. No son tiempos de vuelo medidos.</a:t>
            </a:r>
          </a:p>
          <a:p xmlns:a="http://schemas.openxmlformats.org/drawingml/2006/main">
            <a:r>
              <a:t/>
            </a:r>
          </a:p>
          <a:p xmlns:a="http://schemas.openxmlformats.org/drawingml/2006/main">
            <a:r>
              <a:t>Objetivo: Justificar una cadena de propulsión compatible mediante masa, empuje, corriente y energía.</a:t>
            </a:r>
          </a:p>
          <a:p xmlns:a="http://schemas.openxmlformats.org/drawingml/2006/main">
            <a:r>
              <a:t>Aplicación: La lista de compra debe explicar por qué las piezas funcionan juntas y qué ensayo del fabricante respalda la selección.</a:t>
            </a:r>
          </a:p>
          <a:p xmlns:a="http://schemas.openxmlformats.org/drawingml/2006/main">
            <a:r>
              <a:t>Entrega: Lista de componentes justificada, presupuesto de masa/empuje y escenario de energía.</a:t>
            </a:r>
          </a:p>
          <a:p xmlns:a="http://schemas.openxmlformats.org/drawingml/2006/main">
            <a:r>
              <a:t/>
            </a:r>
          </a:p>
          <a:p xmlns:a="http://schemas.openxmlformats.org/drawingml/2006/main">
            <a:r>
              <a:t>Preguntas y respuestas</a:t>
            </a:r>
          </a:p>
          <a:p xmlns:a="http://schemas.openxmlformats.org/drawingml/2006/main">
            <a:r>
              <a:t>¿KV indica potencia del motor?</a:t>
            </a:r>
          </a:p>
          <a:p xmlns:a="http://schemas.openxmlformats.org/drawingml/2006/main">
            <a:r>
              <a:t>No. Relaciona régimen sin carga y tensión bajo su convención; falta el conjunto y su ensayo.</a:t>
            </a:r>
          </a:p>
          <a:p xmlns:a="http://schemas.openxmlformats.org/drawingml/2006/main">
            <a:r>
              <a:t/>
            </a:r>
          </a:p>
          <a:p xmlns:a="http://schemas.openxmlformats.org/drawingml/2006/main">
            <a:r>
              <a:t>¿C comercial sustituye comprobar corriente y conexiones?</a:t>
            </a:r>
          </a:p>
          <a:p xmlns:a="http://schemas.openxmlformats.org/drawingml/2006/main">
            <a:r>
              <a:t>No. El conjunto necesita límites y evidencia bajo condiciones reales.</a:t>
            </a:r>
          </a:p>
          <a:p xmlns:a="http://schemas.openxmlformats.org/drawingml/2006/main">
            <a:r>
              <a:t/>
            </a:r>
          </a:p>
          <a:p xmlns:a="http://schemas.openxmlformats.org/drawingml/2006/main">
            <a:r>
              <a:t>¿Duplicar mAh duplica siempre el tiempo?</a:t>
            </a:r>
          </a:p>
          <a:p xmlns:a="http://schemas.openxmlformats.org/drawingml/2006/main">
            <a:r>
              <a:t>No. Cambian masa, demanda y condiciones; hay que revisar el modelo y medir.</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Betaflight. Motors Tab. https://betaflight.com/docs/wiki/app/motors-tab</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Seleccionar motor, hélice, ESC y batería con criterio.</a:t>
            </a:r>
          </a:p>
          <a:p xmlns:a="http://schemas.openxmlformats.org/drawingml/2006/main">
            <a:r>
              <a:t>En línea, 2 horas. Núcleo de explicación: 5 minutos en esta diapositiva.</a:t>
            </a:r>
          </a:p>
          <a:p xmlns:a="http://schemas.openxmlformats.org/drawingml/2006/main">
            <a:r>
              <a:t/>
            </a:r>
          </a:p>
          <a:p xmlns:a="http://schemas.openxmlformats.org/drawingml/2006/main">
            <a:r>
              <a:t>6S convencional, 1,3 Ah, 22,2 V nominales y fracción aprovechable asumida de 0,8. No son tiempos de vuelo medidos.</a:t>
            </a:r>
          </a:p>
          <a:p xmlns:a="http://schemas.openxmlformats.org/drawingml/2006/main">
            <a:r>
              <a:t>La capacidad en Ah expresa carga eléctrica; al multiplicarla por una tensión nominal obtenemos una aproximación de energía en Wh. La energía aprovechable depende de condiciones de uso. Para el ejercicio reservamos 20 % y suponemos potencia media constante. Es un modelo transparente para comparar, no una predicción validada de tiempo de vuelo. La tensión cambia bajo carga y la masa de otra batería también cambia la demanda.</a:t>
            </a:r>
          </a:p>
          <a:p xmlns:a="http://schemas.openxmlformats.org/drawingml/2006/main">
            <a:r>
              <a:t/>
            </a:r>
          </a:p>
          <a:p xmlns:a="http://schemas.openxmlformats.org/drawingml/2006/main">
            <a:r>
              <a:t>f es la fracción aprovechable asumida. Este modelo no sustituye un registro real de consumo y las reservas de la operación.</a:t>
            </a:r>
          </a:p>
          <a:p xmlns:a="http://schemas.openxmlformats.org/drawingml/2006/main">
            <a:r>
              <a:t/>
            </a:r>
          </a:p>
          <a:p xmlns:a="http://schemas.openxmlformats.org/drawingml/2006/main">
            <a:r>
              <a:t>Una batería convencional 6S de 1,3 Ah tiene tensión nominal aproximada de 22,2 V. Con f = 0,8 y 250 W medios, ¿qué tiempo arroja el modelo?</a:t>
            </a:r>
          </a:p>
          <a:p xmlns:a="http://schemas.openxmlformats.org/drawingml/2006/main">
            <a:r>
              <a:t>La energía nominal es 28,86 Wh; la fracción del ejercicio es 23,088 Wh. El tiempo resulta 60 × 23,088 / 250 ≈ 5,54 min. A 150 W serían 9,24 min; a 350 W, 3,96 min. Son escenarios calculados.</a:t>
            </a:r>
          </a:p>
          <a:p xmlns:a="http://schemas.openxmlformats.org/drawingml/2006/main">
            <a:r>
              <a:t/>
            </a:r>
          </a:p>
          <a:p xmlns:a="http://schemas.openxmlformats.org/drawingml/2006/main">
            <a:r>
              <a:t>S indica celdas en serie; no todas las químicas tienen la misma tensión por celda. Para una LiPo convencional se distingue nominal de plena carga, y se consulta el paquete real. La cifra C comercial tampoco elimina la necesidad de comprobar corriente, temperatura, conectores y caída de tensión del conjunto.</a:t>
            </a:r>
          </a:p>
          <a:p xmlns:a="http://schemas.openxmlformats.org/drawingml/2006/main">
            <a:r>
              <a:t/>
            </a:r>
          </a:p>
          <a:p xmlns:a="http://schemas.openxmlformats.org/drawingml/2006/main">
            <a:r>
              <a:t>6S convencional, 1,3 Ah, 22,2 V nominales y fracción aprovechable asumida de 0,8. No son tiempos de vuelo medidos.</a:t>
            </a:r>
          </a:p>
          <a:p xmlns:a="http://schemas.openxmlformats.org/drawingml/2006/main">
            <a:r>
              <a:t/>
            </a:r>
          </a:p>
          <a:p xmlns:a="http://schemas.openxmlformats.org/drawingml/2006/main">
            <a:r>
              <a:t>Objetivo: Justificar una cadena de propulsión compatible mediante masa, empuje, corriente y energía.</a:t>
            </a:r>
          </a:p>
          <a:p xmlns:a="http://schemas.openxmlformats.org/drawingml/2006/main">
            <a:r>
              <a:t>Aplicación: La lista de compra debe explicar por qué las piezas funcionan juntas y qué ensayo del fabricante respalda la selección.</a:t>
            </a:r>
          </a:p>
          <a:p xmlns:a="http://schemas.openxmlformats.org/drawingml/2006/main">
            <a:r>
              <a:t>Entrega: Lista de componentes justificada, presupuesto de masa/empuje y escenario de energía.</a:t>
            </a:r>
          </a:p>
          <a:p xmlns:a="http://schemas.openxmlformats.org/drawingml/2006/main">
            <a:r>
              <a:t/>
            </a:r>
          </a:p>
          <a:p xmlns:a="http://schemas.openxmlformats.org/drawingml/2006/main">
            <a:r>
              <a:t>Preguntas y respuestas</a:t>
            </a:r>
          </a:p>
          <a:p xmlns:a="http://schemas.openxmlformats.org/drawingml/2006/main">
            <a:r>
              <a:t>¿KV indica potencia del motor?</a:t>
            </a:r>
          </a:p>
          <a:p xmlns:a="http://schemas.openxmlformats.org/drawingml/2006/main">
            <a:r>
              <a:t>No. Relaciona régimen sin carga y tensión bajo su convención; falta el conjunto y su ensayo.</a:t>
            </a:r>
          </a:p>
          <a:p xmlns:a="http://schemas.openxmlformats.org/drawingml/2006/main">
            <a:r>
              <a:t/>
            </a:r>
          </a:p>
          <a:p xmlns:a="http://schemas.openxmlformats.org/drawingml/2006/main">
            <a:r>
              <a:t>¿C comercial sustituye comprobar corriente y conexiones?</a:t>
            </a:r>
          </a:p>
          <a:p xmlns:a="http://schemas.openxmlformats.org/drawingml/2006/main">
            <a:r>
              <a:t>No. El conjunto necesita límites y evidencia bajo condiciones reales.</a:t>
            </a:r>
          </a:p>
          <a:p xmlns:a="http://schemas.openxmlformats.org/drawingml/2006/main">
            <a:r>
              <a:t/>
            </a:r>
          </a:p>
          <a:p xmlns:a="http://schemas.openxmlformats.org/drawingml/2006/main">
            <a:r>
              <a:t>¿Duplicar mAh duplica siempre el tiempo?</a:t>
            </a:r>
          </a:p>
          <a:p xmlns:a="http://schemas.openxmlformats.org/drawingml/2006/main">
            <a:r>
              <a:t>No. Cambian masa, demanda y condiciones; hay que revisar el modelo y medir.</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Betaflight. Motors Tab. https://betaflight.com/docs/wiki/app/motors-tab</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Seleccionar motor, hélice, ESC y batería con criterio.</a:t>
            </a:r>
          </a:p>
          <a:p xmlns:a="http://schemas.openxmlformats.org/drawingml/2006/main">
            <a:r>
              <a:t>En línea, 2 horas. Núcleo de explicación: 4 minutos en esta diapositiva.</a:t>
            </a:r>
          </a:p>
          <a:p xmlns:a="http://schemas.openxmlformats.org/drawingml/2006/main">
            <a:r>
              <a:t/>
            </a:r>
          </a:p>
          <a:p xmlns:a="http://schemas.openxmlformats.org/drawingml/2006/main">
            <a:r>
              <a:t>Completa la masa prevista del caso y nombra las estimaciones.</a:t>
            </a:r>
          </a:p>
          <a:p xmlns:a="http://schemas.openxmlformats.org/drawingml/2006/main">
            <a:r>
              <a:t>Declara una relación empuje/peso y calcula objetivo por motor con unidades.</a:t>
            </a:r>
          </a:p>
          <a:p xmlns:a="http://schemas.openxmlformats.org/drawingml/2006/main">
            <a:r>
              <a:t>Busca una ficha primaria de motor con la hélice y tensión identificadas. No extrapoles una fila incompleta.</a:t>
            </a:r>
          </a:p>
          <a:p xmlns:a="http://schemas.openxmlformats.org/drawingml/2006/main">
            <a:r>
              <a:t>Comprueba ESC, batería, conector y regulador contra la alimentación y corriente previstas.</a:t>
            </a:r>
          </a:p>
          <a:p xmlns:a="http://schemas.openxmlformats.org/drawingml/2006/main">
            <a:r>
              <a:t>Compara dos alternativas: cuál cumple, cuál se descarta y qué dato falta.</a:t>
            </a:r>
          </a:p>
          <a:p xmlns:a="http://schemas.openxmlformats.org/drawingml/2006/main">
            <a:r>
              <a:t>Calcula una autonomía de escenario con potencia media declarada y explica sus límites.</a:t>
            </a:r>
          </a:p>
          <a:p xmlns:a="http://schemas.openxmlformats.org/drawingml/2006/main">
            <a:r>
              <a:t>Entrega la lista con modelo, revisión, cantidad y fuente; deja el precio separado de la compatibilidad.</a:t>
            </a:r>
          </a:p>
          <a:p xmlns:a="http://schemas.openxmlformats.org/drawingml/2006/main">
            <a:r>
              <a:t/>
            </a:r>
          </a:p>
          <a:p xmlns:a="http://schemas.openxmlformats.org/drawingml/2006/main">
            <a:r>
              <a:t>El docente resuelve primero el caso sintético. Después muestra cómo se identifica la condición en una tabla de fabricante del motor que realmente posee. Los estudiantes sin hardware pueden completar la decisión documental. El resultado no es una compra automática: es un argumento revisable que diferencia la evidencia disponible de lo que falta confirmar en banco.</a:t>
            </a:r>
          </a:p>
          <a:p xmlns:a="http://schemas.openxmlformats.org/drawingml/2006/main">
            <a:r>
              <a:t/>
            </a:r>
          </a:p>
          <a:p xmlns:a="http://schemas.openxmlformats.org/drawingml/2006/main">
            <a:r>
              <a:t>Si se consulta un precio, se registra fecha, moneda y contenido del conjunto. Un motor suelto y una combinación con ESC no son ofertas equivalentes. El precio no debe ocultar la revisión de tensión o montaje. Este paquete no fija precios actuales de componentes.</a:t>
            </a:r>
          </a:p>
          <a:p xmlns:a="http://schemas.openxmlformats.org/drawingml/2006/main">
            <a:r>
              <a:t/>
            </a:r>
          </a:p>
          <a:p xmlns:a="http://schemas.openxmlformats.org/drawingml/2006/main">
            <a:r>
              <a:t>Objetivo: Justificar una cadena de propulsión compatible mediante masa, empuje, corriente y energía.</a:t>
            </a:r>
          </a:p>
          <a:p xmlns:a="http://schemas.openxmlformats.org/drawingml/2006/main">
            <a:r>
              <a:t>Aplicación: La lista de compra debe explicar por qué las piezas funcionan juntas y qué ensayo del fabricante respalda la selección.</a:t>
            </a:r>
          </a:p>
          <a:p xmlns:a="http://schemas.openxmlformats.org/drawingml/2006/main">
            <a:r>
              <a:t>Entrega: Lista de componentes justificada, presupuesto de masa/empuje y escenario de energía.</a:t>
            </a:r>
          </a:p>
          <a:p xmlns:a="http://schemas.openxmlformats.org/drawingml/2006/main">
            <a:r>
              <a:t/>
            </a:r>
          </a:p>
          <a:p xmlns:a="http://schemas.openxmlformats.org/drawingml/2006/main">
            <a:r>
              <a:t>Preguntas y respuestas</a:t>
            </a:r>
          </a:p>
          <a:p xmlns:a="http://schemas.openxmlformats.org/drawingml/2006/main">
            <a:r>
              <a:t>¿KV indica potencia del motor?</a:t>
            </a:r>
          </a:p>
          <a:p xmlns:a="http://schemas.openxmlformats.org/drawingml/2006/main">
            <a:r>
              <a:t>No. Relaciona régimen sin carga y tensión bajo su convención; falta el conjunto y su ensayo.</a:t>
            </a:r>
          </a:p>
          <a:p xmlns:a="http://schemas.openxmlformats.org/drawingml/2006/main">
            <a:r>
              <a:t/>
            </a:r>
          </a:p>
          <a:p xmlns:a="http://schemas.openxmlformats.org/drawingml/2006/main">
            <a:r>
              <a:t>¿C comercial sustituye comprobar corriente y conexiones?</a:t>
            </a:r>
          </a:p>
          <a:p xmlns:a="http://schemas.openxmlformats.org/drawingml/2006/main">
            <a:r>
              <a:t>No. El conjunto necesita límites y evidencia bajo condiciones reales.</a:t>
            </a:r>
          </a:p>
          <a:p xmlns:a="http://schemas.openxmlformats.org/drawingml/2006/main">
            <a:r>
              <a:t/>
            </a:r>
          </a:p>
          <a:p xmlns:a="http://schemas.openxmlformats.org/drawingml/2006/main">
            <a:r>
              <a:t>¿Duplicar mAh duplica siempre el tiempo?</a:t>
            </a:r>
          </a:p>
          <a:p xmlns:a="http://schemas.openxmlformats.org/drawingml/2006/main">
            <a:r>
              <a:t>No. Cambian masa, demanda y condiciones; hay que revisar el modelo y medir.</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Betaflight. Motors Tab. https://betaflight.com/docs/wiki/app/motors-tab</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Seleccionar motor, hélice, ESC y batería con criterio.</a:t>
            </a:r>
          </a:p>
          <a:p xmlns:a="http://schemas.openxmlformats.org/drawingml/2006/main">
            <a:r>
              <a:t>En línea, 2 horas. Núcleo de explicación: 4 minutos en esta diapositiva.</a:t>
            </a:r>
          </a:p>
          <a:p xmlns:a="http://schemas.openxmlformats.org/drawingml/2006/main">
            <a:r>
              <a:t/>
            </a:r>
          </a:p>
          <a:p xmlns:a="http://schemas.openxmlformats.org/drawingml/2006/main">
            <a:r>
              <a:t>Completa la masa prevista del caso y nombra las estimaciones.</a:t>
            </a:r>
          </a:p>
          <a:p xmlns:a="http://schemas.openxmlformats.org/drawingml/2006/main">
            <a:r>
              <a:t>Declara una relación empuje/peso y calcula objetivo por motor con unidades.</a:t>
            </a:r>
          </a:p>
          <a:p xmlns:a="http://schemas.openxmlformats.org/drawingml/2006/main">
            <a:r>
              <a:t>Busca una ficha primaria de motor con la hélice y tensión identificadas. No extrapoles una fila incompleta.</a:t>
            </a:r>
          </a:p>
          <a:p xmlns:a="http://schemas.openxmlformats.org/drawingml/2006/main">
            <a:r>
              <a:t>Comprueba ESC, batería, conector y regulador contra la alimentación y corriente previstas.</a:t>
            </a:r>
          </a:p>
          <a:p xmlns:a="http://schemas.openxmlformats.org/drawingml/2006/main">
            <a:r>
              <a:t>Compara dos alternativas: cuál cumple, cuál se descarta y qué dato falta.</a:t>
            </a:r>
          </a:p>
          <a:p xmlns:a="http://schemas.openxmlformats.org/drawingml/2006/main">
            <a:r>
              <a:t>Calcula una autonomía de escenario con potencia media declarada y explica sus límites.</a:t>
            </a:r>
          </a:p>
          <a:p xmlns:a="http://schemas.openxmlformats.org/drawingml/2006/main">
            <a:r>
              <a:t>Entrega la lista con modelo, revisión, cantidad y fuente; deja el precio separado de la compatibilidad.</a:t>
            </a:r>
          </a:p>
          <a:p xmlns:a="http://schemas.openxmlformats.org/drawingml/2006/main">
            <a:r>
              <a:t/>
            </a:r>
          </a:p>
          <a:p xmlns:a="http://schemas.openxmlformats.org/drawingml/2006/main">
            <a:r>
              <a:t>El docente resuelve primero el caso sintético. Después muestra cómo se identifica la condición en una tabla de fabricante del motor que realmente posee. Los estudiantes sin hardware pueden completar la decisión documental. El resultado no es una compra automática: es un argumento revisable que diferencia la evidencia disponible de lo que falta confirmar en banco.</a:t>
            </a:r>
          </a:p>
          <a:p xmlns:a="http://schemas.openxmlformats.org/drawingml/2006/main">
            <a:r>
              <a:t/>
            </a:r>
          </a:p>
          <a:p xmlns:a="http://schemas.openxmlformats.org/drawingml/2006/main">
            <a:r>
              <a:t>Si se consulta un precio, se registra fecha, moneda y contenido del conjunto. Un motor suelto y una combinación con ESC no son ofertas equivalentes. El precio no debe ocultar la revisión de tensión o montaje. Este paquete no fija precios actuales de componentes.</a:t>
            </a:r>
          </a:p>
          <a:p xmlns:a="http://schemas.openxmlformats.org/drawingml/2006/main">
            <a:r>
              <a:t/>
            </a:r>
          </a:p>
          <a:p xmlns:a="http://schemas.openxmlformats.org/drawingml/2006/main">
            <a:r>
              <a:t>Objetivo: Justificar una cadena de propulsión compatible mediante masa, empuje, corriente y energía.</a:t>
            </a:r>
          </a:p>
          <a:p xmlns:a="http://schemas.openxmlformats.org/drawingml/2006/main">
            <a:r>
              <a:t>Aplicación: La lista de compra debe explicar por qué las piezas funcionan juntas y qué ensayo del fabricante respalda la selección.</a:t>
            </a:r>
          </a:p>
          <a:p xmlns:a="http://schemas.openxmlformats.org/drawingml/2006/main">
            <a:r>
              <a:t>Entrega: Lista de componentes justificada, presupuesto de masa/empuje y escenario de energía.</a:t>
            </a:r>
          </a:p>
          <a:p xmlns:a="http://schemas.openxmlformats.org/drawingml/2006/main">
            <a:r>
              <a:t/>
            </a:r>
          </a:p>
          <a:p xmlns:a="http://schemas.openxmlformats.org/drawingml/2006/main">
            <a:r>
              <a:t>Preguntas y respuestas</a:t>
            </a:r>
          </a:p>
          <a:p xmlns:a="http://schemas.openxmlformats.org/drawingml/2006/main">
            <a:r>
              <a:t>¿KV indica potencia del motor?</a:t>
            </a:r>
          </a:p>
          <a:p xmlns:a="http://schemas.openxmlformats.org/drawingml/2006/main">
            <a:r>
              <a:t>No. Relaciona régimen sin carga y tensión bajo su convención; falta el conjunto y su ensayo.</a:t>
            </a:r>
          </a:p>
          <a:p xmlns:a="http://schemas.openxmlformats.org/drawingml/2006/main">
            <a:r>
              <a:t/>
            </a:r>
          </a:p>
          <a:p xmlns:a="http://schemas.openxmlformats.org/drawingml/2006/main">
            <a:r>
              <a:t>¿C comercial sustituye comprobar corriente y conexiones?</a:t>
            </a:r>
          </a:p>
          <a:p xmlns:a="http://schemas.openxmlformats.org/drawingml/2006/main">
            <a:r>
              <a:t>No. El conjunto necesita límites y evidencia bajo condiciones reales.</a:t>
            </a:r>
          </a:p>
          <a:p xmlns:a="http://schemas.openxmlformats.org/drawingml/2006/main">
            <a:r>
              <a:t/>
            </a:r>
          </a:p>
          <a:p xmlns:a="http://schemas.openxmlformats.org/drawingml/2006/main">
            <a:r>
              <a:t>¿Duplicar mAh duplica siempre el tiempo?</a:t>
            </a:r>
          </a:p>
          <a:p xmlns:a="http://schemas.openxmlformats.org/drawingml/2006/main">
            <a:r>
              <a:t>No. Cambian masa, demanda y condiciones; hay que revisar el modelo y medir.</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Betaflight. Motors Tab. https://betaflight.com/docs/wiki/app/motors-tab</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Seleccionar motor, hélice, ESC y batería con criterio.</a:t>
            </a:r>
          </a:p>
          <a:p xmlns:a="http://schemas.openxmlformats.org/drawingml/2006/main">
            <a:r>
              <a:t>En línea, 2 horas. Núcleo de explicación: 5 minutos en esta diapositiva.</a:t>
            </a:r>
          </a:p>
          <a:p xmlns:a="http://schemas.openxmlformats.org/drawingml/2006/main">
            <a:r>
              <a:t/>
            </a:r>
          </a:p>
          <a:p xmlns:a="http://schemas.openxmlformats.org/drawingml/2006/main">
            <a:r>
              <a:t>Completa la masa prevista del caso y nombra las estimaciones.</a:t>
            </a:r>
          </a:p>
          <a:p xmlns:a="http://schemas.openxmlformats.org/drawingml/2006/main">
            <a:r>
              <a:t>Declara una relación empuje/peso y calcula objetivo por motor con unidades.</a:t>
            </a:r>
          </a:p>
          <a:p xmlns:a="http://schemas.openxmlformats.org/drawingml/2006/main">
            <a:r>
              <a:t>Busca una ficha primaria de motor con la hélice y tensión identificadas. No extrapoles una fila incompleta.</a:t>
            </a:r>
          </a:p>
          <a:p xmlns:a="http://schemas.openxmlformats.org/drawingml/2006/main">
            <a:r>
              <a:t>Comprueba ESC, batería, conector y regulador contra la alimentación y corriente previstas.</a:t>
            </a:r>
          </a:p>
          <a:p xmlns:a="http://schemas.openxmlformats.org/drawingml/2006/main">
            <a:r>
              <a:t>Compara dos alternativas: cuál cumple, cuál se descarta y qué dato falta.</a:t>
            </a:r>
          </a:p>
          <a:p xmlns:a="http://schemas.openxmlformats.org/drawingml/2006/main">
            <a:r>
              <a:t>Calcula una autonomía de escenario con potencia media declarada y explica sus límites.</a:t>
            </a:r>
          </a:p>
          <a:p xmlns:a="http://schemas.openxmlformats.org/drawingml/2006/main">
            <a:r>
              <a:t>Entrega la lista con modelo, revisión, cantidad y fuente; deja el precio separado de la compatibilidad.</a:t>
            </a:r>
          </a:p>
          <a:p xmlns:a="http://schemas.openxmlformats.org/drawingml/2006/main">
            <a:r>
              <a:t>Verificar un paso antes de seguir.</a:t>
            </a:r>
          </a:p>
          <a:p xmlns:a="http://schemas.openxmlformats.org/drawingml/2006/main">
            <a:r>
              <a:t/>
            </a:r>
          </a:p>
          <a:p xmlns:a="http://schemas.openxmlformats.org/drawingml/2006/main">
            <a:r>
              <a:t>Objetivo: Justificar una cadena de propulsión compatible mediante masa, empuje, corriente y energía.</a:t>
            </a:r>
          </a:p>
          <a:p xmlns:a="http://schemas.openxmlformats.org/drawingml/2006/main">
            <a:r>
              <a:t>Aplicación: La lista de compra debe explicar por qué las piezas funcionan juntas y qué ensayo del fabricante respalda la selección.</a:t>
            </a:r>
          </a:p>
          <a:p xmlns:a="http://schemas.openxmlformats.org/drawingml/2006/main">
            <a:r>
              <a:t>Entrega: Lista de componentes justificada, presupuesto de masa/empuje y escenario de energía.</a:t>
            </a:r>
          </a:p>
          <a:p xmlns:a="http://schemas.openxmlformats.org/drawingml/2006/main">
            <a:r>
              <a:t/>
            </a:r>
          </a:p>
          <a:p xmlns:a="http://schemas.openxmlformats.org/drawingml/2006/main">
            <a:r>
              <a:t>Preguntas y respuestas</a:t>
            </a:r>
          </a:p>
          <a:p xmlns:a="http://schemas.openxmlformats.org/drawingml/2006/main">
            <a:r>
              <a:t>¿KV indica potencia del motor?</a:t>
            </a:r>
          </a:p>
          <a:p xmlns:a="http://schemas.openxmlformats.org/drawingml/2006/main">
            <a:r>
              <a:t>No. Relaciona régimen sin carga y tensión bajo su convención; falta el conjunto y su ensayo.</a:t>
            </a:r>
          </a:p>
          <a:p xmlns:a="http://schemas.openxmlformats.org/drawingml/2006/main">
            <a:r>
              <a:t/>
            </a:r>
          </a:p>
          <a:p xmlns:a="http://schemas.openxmlformats.org/drawingml/2006/main">
            <a:r>
              <a:t>¿C comercial sustituye comprobar corriente y conexiones?</a:t>
            </a:r>
          </a:p>
          <a:p xmlns:a="http://schemas.openxmlformats.org/drawingml/2006/main">
            <a:r>
              <a:t>No. El conjunto necesita límites y evidencia bajo condiciones reales.</a:t>
            </a:r>
          </a:p>
          <a:p xmlns:a="http://schemas.openxmlformats.org/drawingml/2006/main">
            <a:r>
              <a:t/>
            </a:r>
          </a:p>
          <a:p xmlns:a="http://schemas.openxmlformats.org/drawingml/2006/main">
            <a:r>
              <a:t>¿Duplicar mAh duplica siempre el tiempo?</a:t>
            </a:r>
          </a:p>
          <a:p xmlns:a="http://schemas.openxmlformats.org/drawingml/2006/main">
            <a:r>
              <a:t>No. Cambian masa, demanda y condiciones; hay que revisar el modelo y medir.</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Betaflight. Motors Tab. https://betaflight.com/docs/wiki/app/motors-tab</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Seleccionar motor, hélice, ESC y batería con criterio.</a:t>
            </a:r>
          </a:p>
          <a:p xmlns:a="http://schemas.openxmlformats.org/drawingml/2006/main">
            <a:r>
              <a:t>En línea, 2 horas. Núcleo de explicación: 4 minutos en esta diapositiva.</a:t>
            </a:r>
          </a:p>
          <a:p xmlns:a="http://schemas.openxmlformats.org/drawingml/2006/main">
            <a:r>
              <a:t/>
            </a:r>
          </a:p>
          <a:p xmlns:a="http://schemas.openxmlformats.org/drawingml/2006/main">
            <a:r>
              <a:t>Pregunta / Qué conserva el expediente</a:t>
            </a:r>
          </a:p>
          <a:p xmlns:a="http://schemas.openxmlformats.org/drawingml/2006/main">
            <a:r>
              <a:t>¿Cabe y se monta? / Plano, eje y tornillería</a:t>
            </a:r>
          </a:p>
          <a:p xmlns:a="http://schemas.openxmlformats.org/drawingml/2006/main">
            <a:r>
              <a:t>¿Alcanza el objetivo? / Fila de ensayo y cálculo</a:t>
            </a:r>
          </a:p>
          <a:p xmlns:a="http://schemas.openxmlformats.org/drawingml/2006/main">
            <a:r>
              <a:t>¿Admite la energía? / Tensión máxima y demanda</a:t>
            </a:r>
          </a:p>
          <a:p xmlns:a="http://schemas.openxmlformats.org/drawingml/2006/main">
            <a:r>
              <a:t>¿Se puede configurar? / Protocolo y target</a:t>
            </a:r>
          </a:p>
          <a:p xmlns:a="http://schemas.openxmlformats.org/drawingml/2006/main">
            <a:r>
              <a:t>¿Qué queda pendiente? / Prueba concreta o dato primario</a:t>
            </a:r>
          </a:p>
          <a:p xmlns:a="http://schemas.openxmlformats.org/drawingml/2006/main">
            <a:r>
              <a:t/>
            </a:r>
          </a:p>
          <a:p xmlns:a="http://schemas.openxmlformats.org/drawingml/2006/main">
            <a:r>
              <a:t>Un error útil de clase consiste en proponer un motor aparentemente correcto con una tensión de ensayo distinta de la batería elegida. El alumno debe detectar que comparar números sin sus condiciones no resuelve la selección. Otro consiste en aumentar capacidad sin actualizar masa. Ambas situaciones enseñan a mantener coherente la lista completa.</a:t>
            </a:r>
          </a:p>
          <a:p xmlns:a="http://schemas.openxmlformats.org/drawingml/2006/main">
            <a:r>
              <a:t/>
            </a:r>
          </a:p>
          <a:p xmlns:a="http://schemas.openxmlformats.org/drawingml/2006/main">
            <a:r>
              <a:t>Para ampliar, compara cómo cambian diámetro y paso dentro de una misma familia de hélices y busca la tabla correspondiente del fabricante. No se pide ensayar hélices en una mesa abierta. El trabajo inicial consiste en interpretar documentación y preparar el banco docente adecuado. En la siguiente sesión construiremos el mapa de alimentación que une las piezas seleccionadas.</a:t>
            </a:r>
          </a:p>
          <a:p xmlns:a="http://schemas.openxmlformats.org/drawingml/2006/main">
            <a:r>
              <a:t/>
            </a:r>
          </a:p>
          <a:p xmlns:a="http://schemas.openxmlformats.org/drawingml/2006/main">
            <a:r>
              <a:t>Objetivo: Justificar una cadena de propulsión compatible mediante masa, empuje, corriente y energía.</a:t>
            </a:r>
          </a:p>
          <a:p xmlns:a="http://schemas.openxmlformats.org/drawingml/2006/main">
            <a:r>
              <a:t>Aplicación: La lista de compra debe explicar por qué las piezas funcionan juntas y qué ensayo del fabricante respalda la selección.</a:t>
            </a:r>
          </a:p>
          <a:p xmlns:a="http://schemas.openxmlformats.org/drawingml/2006/main">
            <a:r>
              <a:t>Entrega: Lista de componentes justificada, presupuesto de masa/empuje y escenario de energía.</a:t>
            </a:r>
          </a:p>
          <a:p xmlns:a="http://schemas.openxmlformats.org/drawingml/2006/main">
            <a:r>
              <a:t/>
            </a:r>
          </a:p>
          <a:p xmlns:a="http://schemas.openxmlformats.org/drawingml/2006/main">
            <a:r>
              <a:t>Preguntas y respuestas</a:t>
            </a:r>
          </a:p>
          <a:p xmlns:a="http://schemas.openxmlformats.org/drawingml/2006/main">
            <a:r>
              <a:t>¿KV indica potencia del motor?</a:t>
            </a:r>
          </a:p>
          <a:p xmlns:a="http://schemas.openxmlformats.org/drawingml/2006/main">
            <a:r>
              <a:t>No. Relaciona régimen sin carga y tensión bajo su convención; falta el conjunto y su ensayo.</a:t>
            </a:r>
          </a:p>
          <a:p xmlns:a="http://schemas.openxmlformats.org/drawingml/2006/main">
            <a:r>
              <a:t/>
            </a:r>
          </a:p>
          <a:p xmlns:a="http://schemas.openxmlformats.org/drawingml/2006/main">
            <a:r>
              <a:t>¿C comercial sustituye comprobar corriente y conexiones?</a:t>
            </a:r>
          </a:p>
          <a:p xmlns:a="http://schemas.openxmlformats.org/drawingml/2006/main">
            <a:r>
              <a:t>No. El conjunto necesita límites y evidencia bajo condiciones reales.</a:t>
            </a:r>
          </a:p>
          <a:p xmlns:a="http://schemas.openxmlformats.org/drawingml/2006/main">
            <a:r>
              <a:t/>
            </a:r>
          </a:p>
          <a:p xmlns:a="http://schemas.openxmlformats.org/drawingml/2006/main">
            <a:r>
              <a:t>¿Duplicar mAh duplica siempre el tiempo?</a:t>
            </a:r>
          </a:p>
          <a:p xmlns:a="http://schemas.openxmlformats.org/drawingml/2006/main">
            <a:r>
              <a:t>No. Cambian masa, demanda y condiciones; hay que revisar el modelo y medir.</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Betaflight. Motors Tab. https://betaflight.com/docs/wiki/app/motors-tab</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Seleccionar motor, hélice, ESC y batería con criterio.</a:t>
            </a:r>
          </a:p>
          <a:p xmlns:a="http://schemas.openxmlformats.org/drawingml/2006/main">
            <a:r>
              <a:t>En línea, 2 horas. Núcleo de explicación: 4 minutos en esta diapositiva.</a:t>
            </a:r>
          </a:p>
          <a:p xmlns:a="http://schemas.openxmlformats.org/drawingml/2006/main">
            <a:r>
              <a:t/>
            </a:r>
          </a:p>
          <a:p xmlns:a="http://schemas.openxmlformats.org/drawingml/2006/main">
            <a:r>
              <a:t>Pregunta / Qué conserva el expediente</a:t>
            </a:r>
          </a:p>
          <a:p xmlns:a="http://schemas.openxmlformats.org/drawingml/2006/main">
            <a:r>
              <a:t>¿Cabe y se monta? / Plano, eje y tornillería</a:t>
            </a:r>
          </a:p>
          <a:p xmlns:a="http://schemas.openxmlformats.org/drawingml/2006/main">
            <a:r>
              <a:t>¿Alcanza el objetivo? / Fila de ensayo y cálculo</a:t>
            </a:r>
          </a:p>
          <a:p xmlns:a="http://schemas.openxmlformats.org/drawingml/2006/main">
            <a:r>
              <a:t>¿Admite la energía? / Tensión máxima y demanda</a:t>
            </a:r>
          </a:p>
          <a:p xmlns:a="http://schemas.openxmlformats.org/drawingml/2006/main">
            <a:r>
              <a:t>¿Se puede configurar? / Protocolo y target</a:t>
            </a:r>
          </a:p>
          <a:p xmlns:a="http://schemas.openxmlformats.org/drawingml/2006/main">
            <a:r>
              <a:t>¿Qué queda pendiente? / Prueba concreta o dato primario</a:t>
            </a:r>
          </a:p>
          <a:p xmlns:a="http://schemas.openxmlformats.org/drawingml/2006/main">
            <a:r>
              <a:t>Comparar filas y explicar una condición que cambie la decisión.</a:t>
            </a:r>
          </a:p>
          <a:p xmlns:a="http://schemas.openxmlformats.org/drawingml/2006/main">
            <a:r>
              <a:t/>
            </a:r>
          </a:p>
          <a:p xmlns:a="http://schemas.openxmlformats.org/drawingml/2006/main">
            <a:r>
              <a:t>Objetivo: Justificar una cadena de propulsión compatible mediante masa, empuje, corriente y energía.</a:t>
            </a:r>
          </a:p>
          <a:p xmlns:a="http://schemas.openxmlformats.org/drawingml/2006/main">
            <a:r>
              <a:t>Aplicación: La lista de compra debe explicar por qué las piezas funcionan juntas y qué ensayo del fabricante respalda la selección.</a:t>
            </a:r>
          </a:p>
          <a:p xmlns:a="http://schemas.openxmlformats.org/drawingml/2006/main">
            <a:r>
              <a:t>Entrega: Lista de componentes justificada, presupuesto de masa/empuje y escenario de energía.</a:t>
            </a:r>
          </a:p>
          <a:p xmlns:a="http://schemas.openxmlformats.org/drawingml/2006/main">
            <a:r>
              <a:t/>
            </a:r>
          </a:p>
          <a:p xmlns:a="http://schemas.openxmlformats.org/drawingml/2006/main">
            <a:r>
              <a:t>Preguntas y respuestas</a:t>
            </a:r>
          </a:p>
          <a:p xmlns:a="http://schemas.openxmlformats.org/drawingml/2006/main">
            <a:r>
              <a:t>¿KV indica potencia del motor?</a:t>
            </a:r>
          </a:p>
          <a:p xmlns:a="http://schemas.openxmlformats.org/drawingml/2006/main">
            <a:r>
              <a:t>No. Relaciona régimen sin carga y tensión bajo su convención; falta el conjunto y su ensayo.</a:t>
            </a:r>
          </a:p>
          <a:p xmlns:a="http://schemas.openxmlformats.org/drawingml/2006/main">
            <a:r>
              <a:t/>
            </a:r>
          </a:p>
          <a:p xmlns:a="http://schemas.openxmlformats.org/drawingml/2006/main">
            <a:r>
              <a:t>¿C comercial sustituye comprobar corriente y conexiones?</a:t>
            </a:r>
          </a:p>
          <a:p xmlns:a="http://schemas.openxmlformats.org/drawingml/2006/main">
            <a:r>
              <a:t>No. El conjunto necesita límites y evidencia bajo condiciones reales.</a:t>
            </a:r>
          </a:p>
          <a:p xmlns:a="http://schemas.openxmlformats.org/drawingml/2006/main">
            <a:r>
              <a:t/>
            </a:r>
          </a:p>
          <a:p xmlns:a="http://schemas.openxmlformats.org/drawingml/2006/main">
            <a:r>
              <a:t>¿Duplicar mAh duplica siempre el tiempo?</a:t>
            </a:r>
          </a:p>
          <a:p xmlns:a="http://schemas.openxmlformats.org/drawingml/2006/main">
            <a:r>
              <a:t>No. Cambian masa, demanda y condiciones; hay que revisar el modelo y medir.</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Betaflight. Motors Tab. https://betaflight.com/docs/wiki/app/motors-tab</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Seleccionar motor, hélice, ESC y batería con criterio.</a:t>
            </a:r>
          </a:p>
          <a:p xmlns:a="http://schemas.openxmlformats.org/drawingml/2006/main">
            <a:r>
              <a:t>En línea, 2 horas. Núcleo de explicación: 5 minutos en esta diapositiva.</a:t>
            </a:r>
          </a:p>
          <a:p xmlns:a="http://schemas.openxmlformats.org/drawingml/2006/main">
            <a:r>
              <a:t/>
            </a:r>
          </a:p>
          <a:p xmlns:a="http://schemas.openxmlformats.org/drawingml/2006/main">
            <a:r>
              <a:t>Pregunta / Qué conserva el expediente</a:t>
            </a:r>
          </a:p>
          <a:p xmlns:a="http://schemas.openxmlformats.org/drawingml/2006/main">
            <a:r>
              <a:t>¿Cabe y se monta? / Plano, eje y tornillería</a:t>
            </a:r>
          </a:p>
          <a:p xmlns:a="http://schemas.openxmlformats.org/drawingml/2006/main">
            <a:r>
              <a:t>¿Alcanza el objetivo? / Fila de ensayo y cálculo</a:t>
            </a:r>
          </a:p>
          <a:p xmlns:a="http://schemas.openxmlformats.org/drawingml/2006/main">
            <a:r>
              <a:t>¿Admite la energía? / Tensión máxima y demanda</a:t>
            </a:r>
          </a:p>
          <a:p xmlns:a="http://schemas.openxmlformats.org/drawingml/2006/main">
            <a:r>
              <a:t>¿Se puede configurar? / Protocolo y target</a:t>
            </a:r>
          </a:p>
          <a:p xmlns:a="http://schemas.openxmlformats.org/drawingml/2006/main">
            <a:r>
              <a:t>¿Qué queda pendiente? / Prueba concreta o dato primario</a:t>
            </a:r>
          </a:p>
          <a:p xmlns:a="http://schemas.openxmlformats.org/drawingml/2006/main">
            <a:r>
              <a:t/>
            </a:r>
          </a:p>
          <a:p xmlns:a="http://schemas.openxmlformats.org/drawingml/2006/main">
            <a:r>
              <a:t>Un error útil de clase consiste en proponer un motor aparentemente correcto con una tensión de ensayo distinta de la batería elegida. El alumno debe detectar que comparar números sin sus condiciones no resuelve la selección. Otro consiste en aumentar capacidad sin actualizar masa. Ambas situaciones enseñan a mantener coherente la lista completa.</a:t>
            </a:r>
          </a:p>
          <a:p xmlns:a="http://schemas.openxmlformats.org/drawingml/2006/main">
            <a:r>
              <a:t/>
            </a:r>
          </a:p>
          <a:p xmlns:a="http://schemas.openxmlformats.org/drawingml/2006/main">
            <a:r>
              <a:t>Para ampliar, compara cómo cambian diámetro y paso dentro de una misma familia de hélices y busca la tabla correspondiente del fabricante. No se pide ensayar hélices en una mesa abierta. El trabajo inicial consiste en interpretar documentación y preparar el banco docente adecuado. En la siguiente sesión construiremos el mapa de alimentación que une las piezas seleccionadas.</a:t>
            </a:r>
          </a:p>
          <a:p xmlns:a="http://schemas.openxmlformats.org/drawingml/2006/main">
            <a:r>
              <a:t/>
            </a:r>
          </a:p>
          <a:p xmlns:a="http://schemas.openxmlformats.org/drawingml/2006/main">
            <a:r>
              <a:t>Objetivo: Justificar una cadena de propulsión compatible mediante masa, empuje, corriente y energía.</a:t>
            </a:r>
          </a:p>
          <a:p xmlns:a="http://schemas.openxmlformats.org/drawingml/2006/main">
            <a:r>
              <a:t>Aplicación: La lista de compra debe explicar por qué las piezas funcionan juntas y qué ensayo del fabricante respalda la selección.</a:t>
            </a:r>
          </a:p>
          <a:p xmlns:a="http://schemas.openxmlformats.org/drawingml/2006/main">
            <a:r>
              <a:t>Entrega: Lista de componentes justificada, presupuesto de masa/empuje y escenario de energía.</a:t>
            </a:r>
          </a:p>
          <a:p xmlns:a="http://schemas.openxmlformats.org/drawingml/2006/main">
            <a:r>
              <a:t/>
            </a:r>
          </a:p>
          <a:p xmlns:a="http://schemas.openxmlformats.org/drawingml/2006/main">
            <a:r>
              <a:t>Preguntas y respuestas</a:t>
            </a:r>
          </a:p>
          <a:p xmlns:a="http://schemas.openxmlformats.org/drawingml/2006/main">
            <a:r>
              <a:t>¿KV indica potencia del motor?</a:t>
            </a:r>
          </a:p>
          <a:p xmlns:a="http://schemas.openxmlformats.org/drawingml/2006/main">
            <a:r>
              <a:t>No. Relaciona régimen sin carga y tensión bajo su convención; falta el conjunto y su ensayo.</a:t>
            </a:r>
          </a:p>
          <a:p xmlns:a="http://schemas.openxmlformats.org/drawingml/2006/main">
            <a:r>
              <a:t/>
            </a:r>
          </a:p>
          <a:p xmlns:a="http://schemas.openxmlformats.org/drawingml/2006/main">
            <a:r>
              <a:t>¿C comercial sustituye comprobar corriente y conexiones?</a:t>
            </a:r>
          </a:p>
          <a:p xmlns:a="http://schemas.openxmlformats.org/drawingml/2006/main">
            <a:r>
              <a:t>No. El conjunto necesita límites y evidencia bajo condiciones reales.</a:t>
            </a:r>
          </a:p>
          <a:p xmlns:a="http://schemas.openxmlformats.org/drawingml/2006/main">
            <a:r>
              <a:t/>
            </a:r>
          </a:p>
          <a:p xmlns:a="http://schemas.openxmlformats.org/drawingml/2006/main">
            <a:r>
              <a:t>¿Duplicar mAh duplica siempre el tiempo?</a:t>
            </a:r>
          </a:p>
          <a:p xmlns:a="http://schemas.openxmlformats.org/drawingml/2006/main">
            <a:r>
              <a:t>No. Cambian masa, demanda y condiciones; hay que revisar el modelo y medir.</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Betaflight. Motors Tab. https://betaflight.com/docs/wiki/app/motors-tab</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Seleccionar motor, hélice, ESC y batería con criterio.</a:t>
            </a:r>
          </a:p>
          <a:p xmlns:a="http://schemas.openxmlformats.org/drawingml/2006/main">
            <a:r>
              <a:t>En línea, 2 horas. Núcleo de explicación: 12 minutos en esta diapositiva.</a:t>
            </a:r>
          </a:p>
          <a:p xmlns:a="http://schemas.openxmlformats.org/drawingml/2006/main">
            <a:r>
              <a:t/>
            </a:r>
          </a:p>
          <a:p xmlns:a="http://schemas.openxmlformats.org/drawingml/2006/main">
            <a:r>
              <a:t>Resolver el presupuesto de 800 g antes de abrir una tienda.</a:t>
            </a:r>
          </a:p>
          <a:p xmlns:a="http://schemas.openxmlformats.org/drawingml/2006/main">
            <a:r>
              <a:t>Comparar las tres filas sintéticas con unidades y condiciones.</a:t>
            </a:r>
          </a:p>
          <a:p xmlns:a="http://schemas.openxmlformats.org/drawingml/2006/main">
            <a:r>
              <a:t>Calcular energía y tres escenarios de potencia media.</a:t>
            </a:r>
          </a:p>
          <a:p xmlns:a="http://schemas.openxmlformats.org/drawingml/2006/main">
            <a:r>
              <a:t>Revisar una combinación propuesta y un descarte argumentado.</a:t>
            </a:r>
          </a:p>
          <a:p xmlns:a="http://schemas.openxmlformats.org/drawingml/2006/main">
            <a:r>
              <a:t>Contrastar componentes, esquema y comprobaciones.</a:t>
            </a:r>
          </a:p>
          <a:p xmlns:a="http://schemas.openxmlformats.org/drawingml/2006/main">
            <a:r>
              <a:t/>
            </a:r>
          </a:p>
          <a:p xmlns:a="http://schemas.openxmlformats.org/drawingml/2006/main">
            <a:r>
              <a:t>Objetivo: Justificar una cadena de propulsión compatible mediante masa, empuje, corriente y energía.</a:t>
            </a:r>
          </a:p>
          <a:p xmlns:a="http://schemas.openxmlformats.org/drawingml/2006/main">
            <a:r>
              <a:t>Aplicación: La lista de compra debe explicar por qué las piezas funcionan juntas y qué ensayo del fabricante respalda la selección.</a:t>
            </a:r>
          </a:p>
          <a:p xmlns:a="http://schemas.openxmlformats.org/drawingml/2006/main">
            <a:r>
              <a:t>Entrega: Lista de componentes justificada, presupuesto de masa/empuje y escenario de energía.</a:t>
            </a:r>
          </a:p>
          <a:p xmlns:a="http://schemas.openxmlformats.org/drawingml/2006/main">
            <a:r>
              <a:t/>
            </a:r>
          </a:p>
          <a:p xmlns:a="http://schemas.openxmlformats.org/drawingml/2006/main">
            <a:r>
              <a:t>Preguntas y respuestas</a:t>
            </a:r>
          </a:p>
          <a:p xmlns:a="http://schemas.openxmlformats.org/drawingml/2006/main">
            <a:r>
              <a:t>¿KV indica potencia del motor?</a:t>
            </a:r>
          </a:p>
          <a:p xmlns:a="http://schemas.openxmlformats.org/drawingml/2006/main">
            <a:r>
              <a:t>No. Relaciona régimen sin carga y tensión bajo su convención; falta el conjunto y su ensayo.</a:t>
            </a:r>
          </a:p>
          <a:p xmlns:a="http://schemas.openxmlformats.org/drawingml/2006/main">
            <a:r>
              <a:t/>
            </a:r>
          </a:p>
          <a:p xmlns:a="http://schemas.openxmlformats.org/drawingml/2006/main">
            <a:r>
              <a:t>¿C comercial sustituye comprobar corriente y conexiones?</a:t>
            </a:r>
          </a:p>
          <a:p xmlns:a="http://schemas.openxmlformats.org/drawingml/2006/main">
            <a:r>
              <a:t>No. El conjunto necesita límites y evidencia bajo condiciones reales.</a:t>
            </a:r>
          </a:p>
          <a:p xmlns:a="http://schemas.openxmlformats.org/drawingml/2006/main">
            <a:r>
              <a:t/>
            </a:r>
          </a:p>
          <a:p xmlns:a="http://schemas.openxmlformats.org/drawingml/2006/main">
            <a:r>
              <a:t>¿Duplicar mAh duplica siempre el tiempo?</a:t>
            </a:r>
          </a:p>
          <a:p xmlns:a="http://schemas.openxmlformats.org/drawingml/2006/main">
            <a:r>
              <a:t>No. Cambian masa, demanda y condiciones; hay que revisar el modelo y medir.</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Betaflight. Motors Tab. https://betaflight.com/docs/wiki/app/motors-tab</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Seleccionar motor, hélice, ESC y batería con criterio.</a:t>
            </a:r>
          </a:p>
          <a:p xmlns:a="http://schemas.openxmlformats.org/drawingml/2006/main">
            <a:r>
              <a:t>En línea, 2 horas. Núcleo de explicación: 10 minutos en esta diapositiva.</a:t>
            </a:r>
          </a:p>
          <a:p xmlns:a="http://schemas.openxmlformats.org/drawingml/2006/main">
            <a:r>
              <a:t/>
            </a:r>
          </a:p>
          <a:p xmlns:a="http://schemas.openxmlformats.org/drawingml/2006/main">
            <a:r>
              <a:t>La lista de compra debe explicar por qué las piezas funcionan juntas y qué ensayo del fabricante respalda la selección.</a:t>
            </a:r>
          </a:p>
          <a:p xmlns:a="http://schemas.openxmlformats.org/drawingml/2006/main">
            <a:r>
              <a:t>Lista de componentes justificada, presupuesto de masa/empuje y escenario de energía.</a:t>
            </a:r>
          </a:p>
          <a:p xmlns:a="http://schemas.openxmlformats.org/drawingml/2006/main">
            <a:r>
              <a:t/>
            </a:r>
          </a:p>
          <a:p xmlns:a="http://schemas.openxmlformats.org/drawingml/2006/main">
            <a:r>
              <a:t>Objetivo: Justificar una cadena de propulsión compatible mediante masa, empuje, corriente y energía.</a:t>
            </a:r>
          </a:p>
          <a:p xmlns:a="http://schemas.openxmlformats.org/drawingml/2006/main">
            <a:r>
              <a:t>Aplicación: La lista de compra debe explicar por qué las piezas funcionan juntas y qué ensayo del fabricante respalda la selección.</a:t>
            </a:r>
          </a:p>
          <a:p xmlns:a="http://schemas.openxmlformats.org/drawingml/2006/main">
            <a:r>
              <a:t>Entrega: Lista de componentes justificada, presupuesto de masa/empuje y escenario de energía.</a:t>
            </a:r>
          </a:p>
          <a:p xmlns:a="http://schemas.openxmlformats.org/drawingml/2006/main">
            <a:r>
              <a:t/>
            </a:r>
          </a:p>
          <a:p xmlns:a="http://schemas.openxmlformats.org/drawingml/2006/main">
            <a:r>
              <a:t>Preguntas y respuestas</a:t>
            </a:r>
          </a:p>
          <a:p xmlns:a="http://schemas.openxmlformats.org/drawingml/2006/main">
            <a:r>
              <a:t>¿KV indica potencia del motor?</a:t>
            </a:r>
          </a:p>
          <a:p xmlns:a="http://schemas.openxmlformats.org/drawingml/2006/main">
            <a:r>
              <a:t>No. Relaciona régimen sin carga y tensión bajo su convención; falta el conjunto y su ensayo.</a:t>
            </a:r>
          </a:p>
          <a:p xmlns:a="http://schemas.openxmlformats.org/drawingml/2006/main">
            <a:r>
              <a:t/>
            </a:r>
          </a:p>
          <a:p xmlns:a="http://schemas.openxmlformats.org/drawingml/2006/main">
            <a:r>
              <a:t>¿C comercial sustituye comprobar corriente y conexiones?</a:t>
            </a:r>
          </a:p>
          <a:p xmlns:a="http://schemas.openxmlformats.org/drawingml/2006/main">
            <a:r>
              <a:t>No. El conjunto necesita límites y evidencia bajo condiciones reales.</a:t>
            </a:r>
          </a:p>
          <a:p xmlns:a="http://schemas.openxmlformats.org/drawingml/2006/main">
            <a:r>
              <a:t/>
            </a:r>
          </a:p>
          <a:p xmlns:a="http://schemas.openxmlformats.org/drawingml/2006/main">
            <a:r>
              <a:t>¿Duplicar mAh duplica siempre el tiempo?</a:t>
            </a:r>
          </a:p>
          <a:p xmlns:a="http://schemas.openxmlformats.org/drawingml/2006/main">
            <a:r>
              <a:t>No. Cambian masa, demanda y condiciones; hay que revisar el modelo y medir.</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Betaflight. Motors Tab. https://betaflight.com/docs/wiki/app/motors-tab</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Seleccionar motor, hélice, ESC y batería con criterio.</a:t>
            </a:r>
          </a:p>
          <a:p xmlns:a="http://schemas.openxmlformats.org/drawingml/2006/main">
            <a:r>
              <a:t>En línea, 2 horas. Núcleo de explicación: 7 minutos en esta diapositiva.</a:t>
            </a:r>
          </a:p>
          <a:p xmlns:a="http://schemas.openxmlformats.org/drawingml/2006/main">
            <a:r>
              <a:t/>
            </a:r>
          </a:p>
          <a:p xmlns:a="http://schemas.openxmlformats.org/drawingml/2006/main">
            <a:r>
              <a:t>Respuesta individual y contraste con el equipo.</a:t>
            </a:r>
          </a:p>
          <a:p xmlns:a="http://schemas.openxmlformats.org/drawingml/2006/main">
            <a:r>
              <a:t/>
            </a:r>
          </a:p>
          <a:p xmlns:a="http://schemas.openxmlformats.org/drawingml/2006/main">
            <a:r>
              <a:t>Objetivo: Justificar una cadena de propulsión compatible mediante masa, empuje, corriente y energía.</a:t>
            </a:r>
          </a:p>
          <a:p xmlns:a="http://schemas.openxmlformats.org/drawingml/2006/main">
            <a:r>
              <a:t>Aplicación: La lista de compra debe explicar por qué las piezas funcionan juntas y qué ensayo del fabricante respalda la selección.</a:t>
            </a:r>
          </a:p>
          <a:p xmlns:a="http://schemas.openxmlformats.org/drawingml/2006/main">
            <a:r>
              <a:t>Entrega: Lista de componentes justificada, presupuesto de masa/empuje y escenario de energía.</a:t>
            </a:r>
          </a:p>
          <a:p xmlns:a="http://schemas.openxmlformats.org/drawingml/2006/main">
            <a:r>
              <a:t/>
            </a:r>
          </a:p>
          <a:p xmlns:a="http://schemas.openxmlformats.org/drawingml/2006/main">
            <a:r>
              <a:t>Preguntas y respuestas</a:t>
            </a:r>
          </a:p>
          <a:p xmlns:a="http://schemas.openxmlformats.org/drawingml/2006/main">
            <a:r>
              <a:t>¿KV indica potencia del motor?</a:t>
            </a:r>
          </a:p>
          <a:p xmlns:a="http://schemas.openxmlformats.org/drawingml/2006/main">
            <a:r>
              <a:t>No. Relaciona régimen sin carga y tensión bajo su convención; falta el conjunto y su ensayo.</a:t>
            </a:r>
          </a:p>
          <a:p xmlns:a="http://schemas.openxmlformats.org/drawingml/2006/main">
            <a:r>
              <a:t/>
            </a:r>
          </a:p>
          <a:p xmlns:a="http://schemas.openxmlformats.org/drawingml/2006/main">
            <a:r>
              <a:t>¿C comercial sustituye comprobar corriente y conexiones?</a:t>
            </a:r>
          </a:p>
          <a:p xmlns:a="http://schemas.openxmlformats.org/drawingml/2006/main">
            <a:r>
              <a:t>No. El conjunto necesita límites y evidencia bajo condiciones reales.</a:t>
            </a:r>
          </a:p>
          <a:p xmlns:a="http://schemas.openxmlformats.org/drawingml/2006/main">
            <a:r>
              <a:t/>
            </a:r>
          </a:p>
          <a:p xmlns:a="http://schemas.openxmlformats.org/drawingml/2006/main">
            <a:r>
              <a:t>¿Duplicar mAh duplica siempre el tiempo?</a:t>
            </a:r>
          </a:p>
          <a:p xmlns:a="http://schemas.openxmlformats.org/drawingml/2006/main">
            <a:r>
              <a:t>No. Cambian masa, demanda y condiciones; hay que revisar el modelo y medir.</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Betaflight. Motors Tab. https://betaflight.com/docs/wiki/app/motors-tab</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Seleccionar motor, hélice, ESC y batería con criterio.</a:t>
            </a:r>
          </a:p>
          <a:p xmlns:a="http://schemas.openxmlformats.org/drawingml/2006/main">
            <a:r>
              <a:t>En línea, 2 horas. Núcleo de explicación: 5 minutos en esta diapositiva.</a:t>
            </a:r>
          </a:p>
          <a:p xmlns:a="http://schemas.openxmlformats.org/drawingml/2006/main">
            <a:r>
              <a:t/>
            </a:r>
          </a:p>
          <a:p xmlns:a="http://schemas.openxmlformats.org/drawingml/2006/main">
            <a:r>
              <a:t>Pedir que una respuesta se apoye en el circuito o los datos del estudiante.</a:t>
            </a:r>
          </a:p>
          <a:p xmlns:a="http://schemas.openxmlformats.org/drawingml/2006/main">
            <a:r>
              <a:t/>
            </a:r>
          </a:p>
          <a:p xmlns:a="http://schemas.openxmlformats.org/drawingml/2006/main">
            <a:r>
              <a:t>Objetivo: Justificar una cadena de propulsión compatible mediante masa, empuje, corriente y energía.</a:t>
            </a:r>
          </a:p>
          <a:p xmlns:a="http://schemas.openxmlformats.org/drawingml/2006/main">
            <a:r>
              <a:t>Aplicación: La lista de compra debe explicar por qué las piezas funcionan juntas y qué ensayo del fabricante respalda la selección.</a:t>
            </a:r>
          </a:p>
          <a:p xmlns:a="http://schemas.openxmlformats.org/drawingml/2006/main">
            <a:r>
              <a:t>Entrega: Lista de componentes justificada, presupuesto de masa/empuje y escenario de energía.</a:t>
            </a:r>
          </a:p>
          <a:p xmlns:a="http://schemas.openxmlformats.org/drawingml/2006/main">
            <a:r>
              <a:t/>
            </a:r>
          </a:p>
          <a:p xmlns:a="http://schemas.openxmlformats.org/drawingml/2006/main">
            <a:r>
              <a:t>Preguntas y respuestas</a:t>
            </a:r>
          </a:p>
          <a:p xmlns:a="http://schemas.openxmlformats.org/drawingml/2006/main">
            <a:r>
              <a:t>¿KV indica potencia del motor?</a:t>
            </a:r>
          </a:p>
          <a:p xmlns:a="http://schemas.openxmlformats.org/drawingml/2006/main">
            <a:r>
              <a:t>No. Relaciona régimen sin carga y tensión bajo su convención; falta el conjunto y su ensayo.</a:t>
            </a:r>
          </a:p>
          <a:p xmlns:a="http://schemas.openxmlformats.org/drawingml/2006/main">
            <a:r>
              <a:t/>
            </a:r>
          </a:p>
          <a:p xmlns:a="http://schemas.openxmlformats.org/drawingml/2006/main">
            <a:r>
              <a:t>¿C comercial sustituye comprobar corriente y conexiones?</a:t>
            </a:r>
          </a:p>
          <a:p xmlns:a="http://schemas.openxmlformats.org/drawingml/2006/main">
            <a:r>
              <a:t>No. El conjunto necesita límites y evidencia bajo condiciones reales.</a:t>
            </a:r>
          </a:p>
          <a:p xmlns:a="http://schemas.openxmlformats.org/drawingml/2006/main">
            <a:r>
              <a:t/>
            </a:r>
          </a:p>
          <a:p xmlns:a="http://schemas.openxmlformats.org/drawingml/2006/main">
            <a:r>
              <a:t>¿Duplicar mAh duplica siempre el tiempo?</a:t>
            </a:r>
          </a:p>
          <a:p xmlns:a="http://schemas.openxmlformats.org/drawingml/2006/main">
            <a:r>
              <a:t>No. Cambian masa, demanda y condiciones; hay que revisar el modelo y medir.</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Betaflight. Motors Tab. https://betaflight.com/docs/wiki/app/motors-tab</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Seleccionar motor, hélice, ESC y batería con criterio.</a:t>
            </a:r>
          </a:p>
          <a:p xmlns:a="http://schemas.openxmlformats.org/drawingml/2006/main">
            <a:r>
              <a:t>En línea, 2 horas. Núcleo de explicación: 5 minutos en esta diapositiva.</a:t>
            </a:r>
          </a:p>
          <a:p xmlns:a="http://schemas.openxmlformats.org/drawingml/2006/main">
            <a:r>
              <a:t/>
            </a:r>
          </a:p>
          <a:p xmlns:a="http://schemas.openxmlformats.org/drawingml/2006/main">
            <a:r>
              <a:t>Lista de componentes justificada, presupuesto de masa/empuje y escenario de energía.</a:t>
            </a:r>
          </a:p>
          <a:p xmlns:a="http://schemas.openxmlformats.org/drawingml/2006/main">
            <a:r>
              <a:t/>
            </a:r>
          </a:p>
          <a:p xmlns:a="http://schemas.openxmlformats.org/drawingml/2006/main">
            <a:r>
              <a:t>Objetivo: Justificar una cadena de propulsión compatible mediante masa, empuje, corriente y energía.</a:t>
            </a:r>
          </a:p>
          <a:p xmlns:a="http://schemas.openxmlformats.org/drawingml/2006/main">
            <a:r>
              <a:t>Aplicación: La lista de compra debe explicar por qué las piezas funcionan juntas y qué ensayo del fabricante respalda la selección.</a:t>
            </a:r>
          </a:p>
          <a:p xmlns:a="http://schemas.openxmlformats.org/drawingml/2006/main">
            <a:r>
              <a:t>Entrega: Lista de componentes justificada, presupuesto de masa/empuje y escenario de energía.</a:t>
            </a:r>
          </a:p>
          <a:p xmlns:a="http://schemas.openxmlformats.org/drawingml/2006/main">
            <a:r>
              <a:t/>
            </a:r>
          </a:p>
          <a:p xmlns:a="http://schemas.openxmlformats.org/drawingml/2006/main">
            <a:r>
              <a:t>Preguntas y respuestas</a:t>
            </a:r>
          </a:p>
          <a:p xmlns:a="http://schemas.openxmlformats.org/drawingml/2006/main">
            <a:r>
              <a:t>¿KV indica potencia del motor?</a:t>
            </a:r>
          </a:p>
          <a:p xmlns:a="http://schemas.openxmlformats.org/drawingml/2006/main">
            <a:r>
              <a:t>No. Relaciona régimen sin carga y tensión bajo su convención; falta el conjunto y su ensayo.</a:t>
            </a:r>
          </a:p>
          <a:p xmlns:a="http://schemas.openxmlformats.org/drawingml/2006/main">
            <a:r>
              <a:t/>
            </a:r>
          </a:p>
          <a:p xmlns:a="http://schemas.openxmlformats.org/drawingml/2006/main">
            <a:r>
              <a:t>¿C comercial sustituye comprobar corriente y conexiones?</a:t>
            </a:r>
          </a:p>
          <a:p xmlns:a="http://schemas.openxmlformats.org/drawingml/2006/main">
            <a:r>
              <a:t>No. El conjunto necesita límites y evidencia bajo condiciones reales.</a:t>
            </a:r>
          </a:p>
          <a:p xmlns:a="http://schemas.openxmlformats.org/drawingml/2006/main">
            <a:r>
              <a:t/>
            </a:r>
          </a:p>
          <a:p xmlns:a="http://schemas.openxmlformats.org/drawingml/2006/main">
            <a:r>
              <a:t>¿Duplicar mAh duplica siempre el tiempo?</a:t>
            </a:r>
          </a:p>
          <a:p xmlns:a="http://schemas.openxmlformats.org/drawingml/2006/main">
            <a:r>
              <a:t>No. Cambian masa, demanda y condiciones; hay que revisar el modelo y medir.</a:t>
            </a:r>
          </a:p>
          <a:p xmlns:a="http://schemas.openxmlformats.org/drawingml/2006/main">
            <a:r>
              <a:t/>
            </a:r>
          </a:p>
          <a:p xmlns:a="http://schemas.openxmlformats.org/drawingml/2006/main">
            <a:r>
              <a:t>Fuentes</a:t>
            </a:r>
          </a:p>
          <a:p xmlns:a="http://schemas.openxmlformats.org/drawingml/2006/main">
            <a:r>
              <a:t>ArduPilot. Copter: First Time Setup. https://ardupilot.org/copter/docs/initial-setup.html</a:t>
            </a:r>
          </a:p>
          <a:p xmlns:a="http://schemas.openxmlformats.org/drawingml/2006/main">
            <a:r>
              <a:t>Betaflight. Motors Tab. https://betaflight.com/docs/wiki/app/motors-tab</a:t>
            </a:r>
          </a:p>
          <a:p xmlns:a="http://schemas.openxmlformats.org/drawingml/2006/main">
            <a:r>
              <a:t>Tattu / Gens Ace. Manual de baterías UAV y manejo del paquete. https://genstattu.com/content/instock/Tattu-Soft-UAV-pack-Manual.pdf</a:t>
            </a:r>
          </a:p>
          <a:p xmlns:a="http://schemas.openxmlformats.org/drawingml/2006/main">
            <a:r>
              <a:t>Adafruit. Li-Ion &amp; LiPoly Batteries: Voltages. https://learn.adafruit.com/li-ion-and-lipoly-batteries/voltages</a:t>
            </a:r>
          </a:p>
          <a:p xmlns:a="http://schemas.openxmlformats.org/drawingml/2006/main">
            <a:r>
              <a:t>Beard y McLain. Small Unmanned Aircraft: Theory and Practice, Princeton University Press, 2012; referencia de profundización en dinámica y control. https://press.princeton.edu/books/hardcover/9780691149219/small-unmanned-aircraft</a:t>
            </a:r>
          </a:p>
          <a:p xmlns:a="http://schemas.openxmlformats.org/drawingml/2006/main">
            <a:r>
              <a:t>Lectura MECRO_Drones_Clase_02.pdf.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f73f9b3f8b4e2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5424b9312bd4d1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cf025bd1348479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741eb2bcf834f7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0a2094a7e6c4c9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2c38cb4c08342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4B2A5-6EF2-4DB9-BC25-0D2EFC45497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4E41F9A-B6EE-4E6E-8A64-F6022879FFF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BE1CB13-F1E2-41B1-B26E-51564415D04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F629E4-5ED6-44BE-BE13-34EEE9B70B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51BDA1D-6733-4F53-AEAB-08F71328902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211062B-004D-49EC-8B72-BFFF2E24C9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87B881-6A12-4954-A8E8-0E6854D3AFC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BDC33D4-4AE7-4A45-AC04-00750538C0A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9758DC-E953-4A6B-87CB-70AC00E61A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4DC2FB-9204-4034-B643-7DB6656D06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5abea9e3324ce4" /><Relationship Type="http://schemas.openxmlformats.org/officeDocument/2006/relationships/slideLayout" Target="/ppt/slideLayouts/slideLayout1.xml" Id="Ra743ba91f5be4117" /><Relationship Type="http://schemas.openxmlformats.org/officeDocument/2006/relationships/slideLayout" Target="/ppt/slideLayouts/slideLayout2.xml" Id="R1b511372a8984c47" /><Relationship Type="http://schemas.openxmlformats.org/officeDocument/2006/relationships/slideLayout" Target="/ppt/slideLayouts/slideLayout3.xml" Id="R0b68ea6a622c41b6" /><Relationship Type="http://schemas.openxmlformats.org/officeDocument/2006/relationships/slideLayout" Target="/ppt/slideLayouts/slideLayout4.xml" Id="R14b0a085a3a541ef" /><Relationship Type="http://schemas.openxmlformats.org/officeDocument/2006/relationships/slideLayout" Target="/ppt/slideLayouts/slideLayout5.xml" Id="R8b68e51f1ea84e59" /><Relationship Type="http://schemas.openxmlformats.org/officeDocument/2006/relationships/slideLayout" Target="/ppt/slideLayouts/slideLayout6.xml" Id="Reb38ad0bd3ff483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43ba91f5be4117"/>
    <p:sldLayoutId xmlns:r="http://schemas.openxmlformats.org/officeDocument/2006/relationships" id="2147483650" r:id="R1b511372a8984c47"/>
    <p:sldLayoutId xmlns:r="http://schemas.openxmlformats.org/officeDocument/2006/relationships" id="2147483651" r:id="R0b68ea6a622c41b6"/>
    <p:sldLayoutId xmlns:r="http://schemas.openxmlformats.org/officeDocument/2006/relationships" id="2147483652" r:id="R14b0a085a3a541ef"/>
    <p:sldLayoutId xmlns:r="http://schemas.openxmlformats.org/officeDocument/2006/relationships" id="2147483653" r:id="R8b68e51f1ea84e59"/>
    <p:sldLayoutId xmlns:r="http://schemas.openxmlformats.org/officeDocument/2006/relationships" id="2147483654" r:id="Reb38ad0bd3ff483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812f551b7664050" /><Relationship Type="http://schemas.openxmlformats.org/officeDocument/2006/relationships/image" Target="/ppt/media/image.png" Id="R41239a0948184752" /><Relationship Type="http://schemas.openxmlformats.org/officeDocument/2006/relationships/notesSlide" Target="/ppt/notesSlides/notesSlide1.xml" Id="R8a050592c9e04f7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e100e46e9b44e4d" /><Relationship Type="http://schemas.openxmlformats.org/officeDocument/2006/relationships/image" Target="/ppt/media/image2.png" Id="R3f4f15dc5f1c4591" /><Relationship Type="http://schemas.openxmlformats.org/officeDocument/2006/relationships/notesSlide" Target="/ppt/notesSlides/notesSlide2.xml" Id="R00e8c081db3746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0d92288638e4ecb" /><Relationship Type="http://schemas.openxmlformats.org/officeDocument/2006/relationships/image" Target="/ppt/media/image3.png" Id="R5dae08a82acc48d4" /><Relationship Type="http://schemas.openxmlformats.org/officeDocument/2006/relationships/image" Target="/ppt/media/image4.png" Id="Rf1f7498f80cd40c2" /><Relationship Type="http://schemas.openxmlformats.org/officeDocument/2006/relationships/notesSlide" Target="/ppt/notesSlides/notesSlide3.xml" Id="Re0717d087b7049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5d110f879024ce3" /><Relationship Type="http://schemas.openxmlformats.org/officeDocument/2006/relationships/image" Target="/ppt/media/image5.png" Id="R75fea124521f4568" /><Relationship Type="http://schemas.openxmlformats.org/officeDocument/2006/relationships/notesSlide" Target="/ppt/notesSlides/notesSlide4.xml" Id="R42e9cce1b0ac48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bfd7b8c78404d59" /><Relationship Type="http://schemas.openxmlformats.org/officeDocument/2006/relationships/image" Target="/ppt/media/image6.png" Id="Ree97714f3ced4099" /><Relationship Type="http://schemas.openxmlformats.org/officeDocument/2006/relationships/notesSlide" Target="/ppt/notesSlides/notesSlide5.xml" Id="R062568c2087f47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e59e42da721433f" /><Relationship Type="http://schemas.openxmlformats.org/officeDocument/2006/relationships/image" Target="/ppt/media/image7.png" Id="Rf0e3fcc519f84d5d" /><Relationship Type="http://schemas.openxmlformats.org/officeDocument/2006/relationships/notesSlide" Target="/ppt/notesSlides/notesSlide6.xml" Id="Rfaf29e7731c944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d4932e6cefb4a18" /><Relationship Type="http://schemas.openxmlformats.org/officeDocument/2006/relationships/image" Target="/ppt/media/image8.png" Id="R6569cfc85285468d" /><Relationship Type="http://schemas.openxmlformats.org/officeDocument/2006/relationships/notesSlide" Target="/ppt/notesSlides/notesSlide7.xml" Id="Rd45cc7189a1e42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e172cc46fb7439d" /><Relationship Type="http://schemas.openxmlformats.org/officeDocument/2006/relationships/image" Target="/ppt/media/image9.png" Id="R9e0140a2503b4c95" /><Relationship Type="http://schemas.openxmlformats.org/officeDocument/2006/relationships/notesSlide" Target="/ppt/notesSlides/notesSlide8.xml" Id="Ree50da15aa2f497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9af58bf5d884840" /><Relationship Type="http://schemas.openxmlformats.org/officeDocument/2006/relationships/image" Target="/ppt/media/image10.png" Id="R09d3219e029e40a1" /><Relationship Type="http://schemas.openxmlformats.org/officeDocument/2006/relationships/notesSlide" Target="/ppt/notesSlides/notesSlide9.xml" Id="Rcef02d61cc794f4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f5060d3386b44b9" /><Relationship Type="http://schemas.openxmlformats.org/officeDocument/2006/relationships/image" Target="/ppt/media/image11.png" Id="R4250397168fb485d" /><Relationship Type="http://schemas.openxmlformats.org/officeDocument/2006/relationships/chart" Target="/ppt/slides/charts/chart1.xml" Id="R568091a7e5074293" /><Relationship Type="http://schemas.openxmlformats.org/officeDocument/2006/relationships/notesSlide" Target="/ppt/notesSlides/notesSlide10.xml" Id="R0ceff62474d043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0ffb6696b3540db" /><Relationship Type="http://schemas.openxmlformats.org/officeDocument/2006/relationships/image" Target="/ppt/media/image12.png" Id="R48343cd4c9af4653" /><Relationship Type="http://schemas.openxmlformats.org/officeDocument/2006/relationships/notesSlide" Target="/ppt/notesSlides/notesSlide11.xml" Id="R92dce233021649a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c8ea726199549db" /><Relationship Type="http://schemas.openxmlformats.org/officeDocument/2006/relationships/image" Target="/ppt/media/image13.png" Id="Rd77c6bf983284e86" /><Relationship Type="http://schemas.openxmlformats.org/officeDocument/2006/relationships/notesSlide" Target="/ppt/notesSlides/notesSlide12.xml" Id="Ra89938b544504d2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f28a25517844a6e" /><Relationship Type="http://schemas.openxmlformats.org/officeDocument/2006/relationships/image" Target="/ppt/media/image14.png" Id="R8e29ab4c18884fc3" /><Relationship Type="http://schemas.openxmlformats.org/officeDocument/2006/relationships/notesSlide" Target="/ppt/notesSlides/notesSlide13.xml" Id="Rcdd489f36dd24c9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81b4ab51515441f" /><Relationship Type="http://schemas.openxmlformats.org/officeDocument/2006/relationships/image" Target="/ppt/media/image15.png" Id="Rf1d987b7d7d0494a" /><Relationship Type="http://schemas.openxmlformats.org/officeDocument/2006/relationships/notesSlide" Target="/ppt/notesSlides/notesSlide14.xml" Id="R12b032f5f53b4e3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7e27e0d1a6447cf" /><Relationship Type="http://schemas.openxmlformats.org/officeDocument/2006/relationships/image" Target="/ppt/media/image16.png" Id="Rdb0942693d394f81" /><Relationship Type="http://schemas.openxmlformats.org/officeDocument/2006/relationships/notesSlide" Target="/ppt/notesSlides/notesSlide15.xml" Id="R03d2f329dc4146a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4c5658f7feb450d" /><Relationship Type="http://schemas.openxmlformats.org/officeDocument/2006/relationships/image" Target="/ppt/media/image17.png" Id="R151a3f7fd16941f1" /><Relationship Type="http://schemas.openxmlformats.org/officeDocument/2006/relationships/notesSlide" Target="/ppt/notesSlides/notesSlide16.xml" Id="R46bd0a9218d64dc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721e239494e4d20" /><Relationship Type="http://schemas.openxmlformats.org/officeDocument/2006/relationships/image" Target="/ppt/media/image18.png" Id="R92335a1e1be74867" /><Relationship Type="http://schemas.openxmlformats.org/officeDocument/2006/relationships/notesSlide" Target="/ppt/notesSlides/notesSlide17.xml" Id="R8c19b109a4b742e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f8dad0cdf0c493b" /><Relationship Type="http://schemas.openxmlformats.org/officeDocument/2006/relationships/image" Target="/ppt/media/image19.png" Id="R4730951f99f643ac" /><Relationship Type="http://schemas.openxmlformats.org/officeDocument/2006/relationships/notesSlide" Target="/ppt/notesSlides/notesSlide18.xml" Id="R76b24af8c1df43b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c9ba43843b9489f" /><Relationship Type="http://schemas.openxmlformats.org/officeDocument/2006/relationships/image" Target="/ppt/media/image20.png" Id="Rb2485742823348c0" /><Relationship Type="http://schemas.openxmlformats.org/officeDocument/2006/relationships/notesSlide" Target="/ppt/notesSlides/notesSlide19.xml" Id="R429583d5bfd74ba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f489c48fa8d414b" /><Relationship Type="http://schemas.openxmlformats.org/officeDocument/2006/relationships/image" Target="/ppt/media/image21.png" Id="Re40e55aa0b6f4b1b" /><Relationship Type="http://schemas.openxmlformats.org/officeDocument/2006/relationships/notesSlide" Target="/ppt/notesSlides/notesSlide20.xml" Id="R9bf618e3098a429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fea0037cd2d42d0" /><Relationship Type="http://schemas.openxmlformats.org/officeDocument/2006/relationships/image" Target="/ppt/media/image22.png" Id="Rc52af55eec944a61" /><Relationship Type="http://schemas.openxmlformats.org/officeDocument/2006/relationships/notesSlide" Target="/ppt/notesSlides/notesSlide21.xml" Id="R74d376573985451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52b0b7aca8e4e09" /><Relationship Type="http://schemas.openxmlformats.org/officeDocument/2006/relationships/image" Target="/ppt/media/image23.png" Id="R1199122d87c343f4" /><Relationship Type="http://schemas.openxmlformats.org/officeDocument/2006/relationships/notesSlide" Target="/ppt/notesSlides/notesSlide22.xml" Id="Rcc72187f8d034b0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7739daed3394edc" /><Relationship Type="http://schemas.openxmlformats.org/officeDocument/2006/relationships/image" Target="/ppt/media/image24.png" Id="Rb2200e5d177d450e" /><Relationship Type="http://schemas.openxmlformats.org/officeDocument/2006/relationships/notesSlide" Target="/ppt/notesSlides/notesSlide23.xml" Id="R7c75d6681e734fd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cb3f2cb78c54013" /><Relationship Type="http://schemas.openxmlformats.org/officeDocument/2006/relationships/image" Target="/ppt/media/image25.png" Id="R43bcdab32364428c" /><Relationship Type="http://schemas.openxmlformats.org/officeDocument/2006/relationships/notesSlide" Target="/ppt/notesSlides/notesSlide24.xml" Id="R950f739b3c66486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e326c5c03174828" /><Relationship Type="http://schemas.openxmlformats.org/officeDocument/2006/relationships/image" Target="/ppt/media/image26.png" Id="Rf52f64f2d595455e" /><Relationship Type="http://schemas.openxmlformats.org/officeDocument/2006/relationships/notesSlide" Target="/ppt/notesSlides/notesSlide25.xml" Id="R6afb623d9c1c47a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c9220bfcd4b4997" /><Relationship Type="http://schemas.openxmlformats.org/officeDocument/2006/relationships/image" Target="/ppt/media/image27.png" Id="Reb34e877c48843a6" /><Relationship Type="http://schemas.openxmlformats.org/officeDocument/2006/relationships/notesSlide" Target="/ppt/notesSlides/notesSlide26.xml" Id="R258aa0869e1c451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e4d4192ccd04259" /><Relationship Type="http://schemas.openxmlformats.org/officeDocument/2006/relationships/image" Target="/ppt/media/image28.png" Id="R5bd4ff6c375e4aa3" /><Relationship Type="http://schemas.openxmlformats.org/officeDocument/2006/relationships/notesSlide" Target="/ppt/notesSlides/notesSlide27.xml" Id="R654fa009a3724d9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a1e223de4a084edb" /><Relationship Type="http://schemas.openxmlformats.org/officeDocument/2006/relationships/image" Target="/ppt/media/image29.png" Id="R5df0630c9eef46d5" /><Relationship Type="http://schemas.openxmlformats.org/officeDocument/2006/relationships/notesSlide" Target="/ppt/notesSlides/notesSlide28.xml" Id="Ra934d0045f2749b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326470994d694e78" /><Relationship Type="http://schemas.openxmlformats.org/officeDocument/2006/relationships/image" Target="/ppt/media/image30.png" Id="Rdf2837564a9142af" /><Relationship Type="http://schemas.openxmlformats.org/officeDocument/2006/relationships/notesSlide" Target="/ppt/notesSlides/notesSlide29.xml" Id="R63e149a9d3534b4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ebe7e0e1cc74eee" /><Relationship Type="http://schemas.openxmlformats.org/officeDocument/2006/relationships/image" Target="/ppt/media/image31.png" Id="Rbd997dbd1840457d" /><Relationship Type="http://schemas.openxmlformats.org/officeDocument/2006/relationships/notesSlide" Target="/ppt/notesSlides/notesSlide30.xml" Id="R5e99f6cf771b4a6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a8f34c152d94586" /><Relationship Type="http://schemas.openxmlformats.org/officeDocument/2006/relationships/image" Target="/ppt/media/image32.png" Id="Rd57c40d25c154c2f" /><Relationship Type="http://schemas.openxmlformats.org/officeDocument/2006/relationships/image" Target="/ppt/media/image33.png" Id="R2e39d4c105d440f9" /><Relationship Type="http://schemas.openxmlformats.org/officeDocument/2006/relationships/notesSlide" Target="/ppt/notesSlides/notesSlide31.xml" Id="R4349aa4e9f1542d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754219a5a50147d8" /><Relationship Type="http://schemas.openxmlformats.org/officeDocument/2006/relationships/image" Target="/ppt/media/image34.png" Id="Rb5a168b42b844ade" /><Relationship Type="http://schemas.openxmlformats.org/officeDocument/2006/relationships/notesSlide" Target="/ppt/notesSlides/notesSlide32.xml" Id="Rb8d944b79ad243f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b5f0032e1ca49b6" /><Relationship Type="http://schemas.openxmlformats.org/officeDocument/2006/relationships/image" Target="/ppt/media/image35.png" Id="Reede9852776f4b09" /><Relationship Type="http://schemas.openxmlformats.org/officeDocument/2006/relationships/notesSlide" Target="/ppt/notesSlides/notesSlide33.xml" Id="R333680f90abb430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7b914e66ed6f405b" /><Relationship Type="http://schemas.openxmlformats.org/officeDocument/2006/relationships/image" Target="/ppt/media/image36.png" Id="R4589a852ea414d9f" /><Relationship Type="http://schemas.openxmlformats.org/officeDocument/2006/relationships/chart" Target="/ppt/slides/charts/chart2.xml" Id="R53169771f2f2486c" /><Relationship Type="http://schemas.openxmlformats.org/officeDocument/2006/relationships/notesSlide" Target="/ppt/notesSlides/notesSlide34.xml" Id="Rb1577ed39c3341c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b5e1940cfa3f4326" /><Relationship Type="http://schemas.openxmlformats.org/officeDocument/2006/relationships/image" Target="/ppt/media/image37.png" Id="R6d7096e84adf4720" /><Relationship Type="http://schemas.openxmlformats.org/officeDocument/2006/relationships/notesSlide" Target="/ppt/notesSlides/notesSlide35.xml" Id="R50f45167e676481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0fa904bd8604495b" /><Relationship Type="http://schemas.openxmlformats.org/officeDocument/2006/relationships/image" Target="/ppt/media/image38.png" Id="R79e06d1ddf0d4fa9" /><Relationship Type="http://schemas.openxmlformats.org/officeDocument/2006/relationships/notesSlide" Target="/ppt/notesSlides/notesSlide36.xml" Id="Rf7aeb1006aa64f6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9bbdc97aa10448d4" /><Relationship Type="http://schemas.openxmlformats.org/officeDocument/2006/relationships/image" Target="/ppt/media/image39.png" Id="R6f3ec06781f44087" /><Relationship Type="http://schemas.openxmlformats.org/officeDocument/2006/relationships/chart" Target="/ppt/slides/charts/chart3.xml" Id="R637254ce0fe0450f" /><Relationship Type="http://schemas.openxmlformats.org/officeDocument/2006/relationships/notesSlide" Target="/ppt/notesSlides/notesSlide37.xml" Id="R536165e58e0641a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8362f9ca96dc4def" /><Relationship Type="http://schemas.openxmlformats.org/officeDocument/2006/relationships/image" Target="/ppt/media/image40.png" Id="Rcb526b87b4c144ca" /><Relationship Type="http://schemas.openxmlformats.org/officeDocument/2006/relationships/notesSlide" Target="/ppt/notesSlides/notesSlide38.xml" Id="R593fa2c4cd3f479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702c1987a9ce44da" /><Relationship Type="http://schemas.openxmlformats.org/officeDocument/2006/relationships/image" Target="/ppt/media/image41.png" Id="Rd24bd9d5e35445c4" /><Relationship Type="http://schemas.openxmlformats.org/officeDocument/2006/relationships/notesSlide" Target="/ppt/notesSlides/notesSlide39.xml" Id="R99f85032b98f468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52db6fe67e654694" /><Relationship Type="http://schemas.openxmlformats.org/officeDocument/2006/relationships/image" Target="/ppt/media/image42.png" Id="R62bee57c960b4f9a" /><Relationship Type="http://schemas.openxmlformats.org/officeDocument/2006/relationships/notesSlide" Target="/ppt/notesSlides/notesSlide40.xml" Id="Rf5671f4033794d4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e11bba59682c408d" /><Relationship Type="http://schemas.openxmlformats.org/officeDocument/2006/relationships/image" Target="/ppt/media/image43.png" Id="R3b5c832800ff4c4e" /><Relationship Type="http://schemas.openxmlformats.org/officeDocument/2006/relationships/notesSlide" Target="/ppt/notesSlides/notesSlide41.xml" Id="Rd85d063032ef4f3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54caf05942e747ea" /><Relationship Type="http://schemas.openxmlformats.org/officeDocument/2006/relationships/image" Target="/ppt/media/image44.png" Id="R1ee0d21a22d54dcd" /><Relationship Type="http://schemas.openxmlformats.org/officeDocument/2006/relationships/notesSlide" Target="/ppt/notesSlides/notesSlide42.xml" Id="R0bd39bf0b42f4c8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6b710623b2334374" /><Relationship Type="http://schemas.openxmlformats.org/officeDocument/2006/relationships/image" Target="/ppt/media/image45.png" Id="R961c77dd0f404aa3" /><Relationship Type="http://schemas.openxmlformats.org/officeDocument/2006/relationships/notesSlide" Target="/ppt/notesSlides/notesSlide43.xml" Id="Rf771c7ad1de84a8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9970beaeb4de4ccb" /><Relationship Type="http://schemas.openxmlformats.org/officeDocument/2006/relationships/image" Target="/ppt/media/image46.png" Id="R3a7e044fcefa4c76" /><Relationship Type="http://schemas.openxmlformats.org/officeDocument/2006/relationships/notesSlide" Target="/ppt/notesSlides/notesSlide44.xml" Id="R3150fc1c2d0c435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9f996acea8ea4f80" /><Relationship Type="http://schemas.openxmlformats.org/officeDocument/2006/relationships/image" Target="/ppt/media/image47.png" Id="Rcfdd3b40c7204cb6" /><Relationship Type="http://schemas.openxmlformats.org/officeDocument/2006/relationships/notesSlide" Target="/ppt/notesSlides/notesSlide45.xml" Id="R8c500468f5c643e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f11f92d3d243475e" /><Relationship Type="http://schemas.openxmlformats.org/officeDocument/2006/relationships/image" Target="/ppt/media/image48.png" Id="R5582258a53244537" /><Relationship Type="http://schemas.openxmlformats.org/officeDocument/2006/relationships/notesSlide" Target="/ppt/notesSlides/notesSlide46.xml" Id="R80022de78faf4fe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5b7d80da38204d1d" /><Relationship Type="http://schemas.openxmlformats.org/officeDocument/2006/relationships/image" Target="/ppt/media/image49.png" Id="Rb861324eac274cec" /><Relationship Type="http://schemas.openxmlformats.org/officeDocument/2006/relationships/notesSlide" Target="/ppt/notesSlides/notesSlide47.xml" Id="R523fe20fb92b477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953b6b256535456c" /><Relationship Type="http://schemas.openxmlformats.org/officeDocument/2006/relationships/image" Target="/ppt/media/image50.png" Id="Rdde8ca0fccc04414" /><Relationship Type="http://schemas.openxmlformats.org/officeDocument/2006/relationships/notesSlide" Target="/ppt/notesSlides/notesSlide48.xml" Id="Rf2090e035800495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Área total / dm²</c:v>
          </c:tx>
          <c:spPr>
            <a:solidFill xmlns:a="http://schemas.openxmlformats.org/drawingml/2006/main">
              <a:srgbClr val="244F3D"/>
            </a:solidFill>
            <a:ln xmlns:a="http://schemas.openxmlformats.org/drawingml/2006/main" w="28575">
              <a:solidFill>
                <a:srgbClr val="244F3D"/>
              </a:solidFill>
            </a:ln>
          </c:spPr>
          <c:invertIfNegative val="0"/>
          <c:cat>
            <c:strRef>
              <c:f>'Chart Data'!$A$2:$A$4</c:f>
              <c:strCache>
                <c:ptCount val="3"/>
                <c:pt idx="0">
                  <c:v>5 pulgadas</c:v>
                </c:pt>
                <c:pt idx="1">
                  <c:v>7 pulgadas</c:v>
                </c:pt>
                <c:pt idx="2">
                  <c:v>12 pulgadas</c:v>
                </c:pt>
              </c:strCache>
            </c:strRef>
          </c:cat>
          <c:val>
            <c:numRef>
              <c:f>'Chart Data'!$B$2:$B$4</c:f>
              <c:numCache>
                <c:formatCode>0</c:formatCode>
                <c:ptCount val="3"/>
                <c:pt idx="0">
                  <c:v>5.07</c:v>
                </c:pt>
                <c:pt idx="1">
                  <c:v>9.93</c:v>
                </c:pt>
                <c:pt idx="2">
                  <c:v>29.19</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4231E"/>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4231E"/>
                </a:solidFill>
                <a:latin typeface="Arial"/>
                <a:ea typeface="Arial"/>
                <a:cs typeface="Arial"/>
              </a:defRPr>
            </a:pPr>
          </a:p>
        </c:txPr>
        <c:crossAx val="48672768"/>
      </c:catAx>
      <c:valAx>
        <c:axId val="48672768"/>
        <c:scaling>
          <c:orientation val="minMax"/>
          <c:max val="35"/>
          <c:min val="0"/>
        </c:scaling>
        <c:delete val="0"/>
        <c:axPos val="l"/>
        <c:majorGridlines>
          <c:spPr>
            <a:ln xmlns:a="http://schemas.openxmlformats.org/drawingml/2006/main" w="9525">
              <a:solidFill>
                <a:srgbClr val="D7DFD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Área de cuatro discos / dm²</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65F"/>
                </a:solidFill>
                <a:latin typeface="Arial"/>
                <a:ea typeface="Arial"/>
                <a:cs typeface="Arial"/>
              </a:defRPr>
            </a:pPr>
          </a:p>
        </c:txPr>
        <c:crossAx val="48650112"/>
        <c:crossBetween val="between"/>
        <c:majorUnit val="5"/>
      </c:valAx>
      <c:spPr>
        <a:solidFill xmlns:a="http://schemas.openxmlformats.org/drawingml/2006/main">
          <a:srgbClr val="FCFCF8"/>
        </a:solidFill>
      </c:spPr>
    </c:plotArea>
    <c:plotVisOnly val="1"/>
  </c:chart>
  <c:spPr>
    <a:solidFill xmlns:a="http://schemas.openxmlformats.org/drawingml/2006/main">
      <a:srgbClr val="FCFCF8"/>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gf/W del caso</c:v>
          </c:tx>
          <c:spPr>
            <a:solidFill xmlns:a="http://schemas.openxmlformats.org/drawingml/2006/main">
              <a:srgbClr val="244F3D"/>
            </a:solidFill>
            <a:ln xmlns:a="http://schemas.openxmlformats.org/drawingml/2006/main" w="28575">
              <a:solidFill>
                <a:srgbClr val="244F3D"/>
              </a:solidFill>
            </a:ln>
          </c:spPr>
          <c:invertIfNegative val="0"/>
          <c:cat>
            <c:strRef>
              <c:f>'Chart Data'!$A$2:$A$4</c:f>
              <c:strCache>
                <c:ptCount val="3"/>
                <c:pt idx="0">
                  <c:v>A</c:v>
                </c:pt>
                <c:pt idx="1">
                  <c:v>B</c:v>
                </c:pt>
                <c:pt idx="2">
                  <c:v>C</c:v>
                </c:pt>
              </c:strCache>
            </c:strRef>
          </c:cat>
          <c:val>
            <c:numRef>
              <c:f>'Chart Data'!$B$2:$B$4</c:f>
              <c:numCache>
                <c:formatCode>0</c:formatCode>
                <c:ptCount val="3"/>
                <c:pt idx="0">
                  <c:v>3.38</c:v>
                </c:pt>
                <c:pt idx="1">
                  <c:v>2.7</c:v>
                </c:pt>
                <c:pt idx="2">
                  <c:v>2.11</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4231E"/>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4231E"/>
                </a:solidFill>
                <a:latin typeface="Arial"/>
                <a:ea typeface="Arial"/>
                <a:cs typeface="Arial"/>
              </a:defRPr>
            </a:pPr>
          </a:p>
        </c:txPr>
        <c:crossAx val="48672768"/>
      </c:catAx>
      <c:valAx>
        <c:axId val="48672768"/>
        <c:scaling>
          <c:orientation val="minMax"/>
          <c:max val="4"/>
          <c:min val="0"/>
        </c:scaling>
        <c:delete val="0"/>
        <c:axPos val="l"/>
        <c:majorGridlines>
          <c:spPr>
            <a:ln xmlns:a="http://schemas.openxmlformats.org/drawingml/2006/main" w="9525">
              <a:solidFill>
                <a:srgbClr val="D7DFD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Empuje por potencia / gf/W</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65F"/>
                </a:solidFill>
                <a:latin typeface="Arial"/>
                <a:ea typeface="Arial"/>
                <a:cs typeface="Arial"/>
              </a:defRPr>
            </a:pPr>
          </a:p>
        </c:txPr>
        <c:crossAx val="48650112"/>
        <c:crossBetween val="between"/>
        <c:majorUnit val="1"/>
      </c:valAx>
      <c:spPr>
        <a:solidFill xmlns:a="http://schemas.openxmlformats.org/drawingml/2006/main">
          <a:srgbClr val="FCFCF8"/>
        </a:solidFill>
      </c:spPr>
    </c:plotArea>
    <c:plotVisOnly val="1"/>
  </c:chart>
  <c:spPr>
    <a:solidFill xmlns:a="http://schemas.openxmlformats.org/drawingml/2006/main">
      <a:srgbClr val="FCFCF8"/>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Tiempo del modelo / min</c:v>
          </c:tx>
          <c:spPr>
            <a:solidFill xmlns:a="http://schemas.openxmlformats.org/drawingml/2006/main">
              <a:srgbClr val="244F3D"/>
            </a:solidFill>
            <a:ln xmlns:a="http://schemas.openxmlformats.org/drawingml/2006/main" w="28575">
              <a:solidFill>
                <a:srgbClr val="244F3D"/>
              </a:solidFill>
            </a:ln>
          </c:spPr>
          <c:invertIfNegative val="0"/>
          <c:cat>
            <c:strRef>
              <c:f>'Chart Data'!$A$2:$A$4</c:f>
              <c:strCache>
                <c:ptCount val="3"/>
                <c:pt idx="0">
                  <c:v>150 W</c:v>
                </c:pt>
                <c:pt idx="1">
                  <c:v>250 W</c:v>
                </c:pt>
                <c:pt idx="2">
                  <c:v>350 W</c:v>
                </c:pt>
              </c:strCache>
            </c:strRef>
          </c:cat>
          <c:val>
            <c:numRef>
              <c:f>'Chart Data'!$B$2:$B$4</c:f>
              <c:numCache>
                <c:formatCode>0</c:formatCode>
                <c:ptCount val="3"/>
                <c:pt idx="0">
                  <c:v>9.24</c:v>
                </c:pt>
                <c:pt idx="1">
                  <c:v>5.54</c:v>
                </c:pt>
                <c:pt idx="2">
                  <c:v>3.96</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4231E"/>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4231E"/>
                </a:solidFill>
                <a:latin typeface="Arial"/>
                <a:ea typeface="Arial"/>
                <a:cs typeface="Arial"/>
              </a:defRPr>
            </a:pPr>
          </a:p>
        </c:txPr>
        <c:crossAx val="48672768"/>
      </c:catAx>
      <c:valAx>
        <c:axId val="48672768"/>
        <c:scaling>
          <c:orientation val="minMax"/>
          <c:max val="12"/>
          <c:min val="0"/>
        </c:scaling>
        <c:delete val="0"/>
        <c:axPos val="l"/>
        <c:majorGridlines>
          <c:spPr>
            <a:ln xmlns:a="http://schemas.openxmlformats.org/drawingml/2006/main" w="9525">
              <a:solidFill>
                <a:srgbClr val="D7DFD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Tiempo calculado / min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65F"/>
                </a:solidFill>
                <a:latin typeface="Arial"/>
                <a:ea typeface="Arial"/>
                <a:cs typeface="Arial"/>
              </a:defRPr>
            </a:pPr>
          </a:p>
        </c:txPr>
        <c:crossAx val="48650112"/>
        <c:crossBetween val="between"/>
        <c:majorUnit val="2"/>
      </c:valAx>
      <c:spPr>
        <a:solidFill xmlns:a="http://schemas.openxmlformats.org/drawingml/2006/main">
          <a:srgbClr val="FCFCF8"/>
        </a:solidFill>
      </c:spPr>
    </c:plotArea>
    <c:plotVisOnly val="1"/>
  </c:chart>
  <c:spPr>
    <a:solidFill xmlns:a="http://schemas.openxmlformats.org/drawingml/2006/main">
      <a:srgbClr val="FCFCF8"/>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99CAE4-58EA-4105-ADFB-1E635C12C21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Reconocer el dron y definir qué vamos a construir</a:t>
            </a:r>
          </a:p>
        </p:txBody>
      </p:sp>
      <p:pic>
        <p:nvPicPr>
          <p:cNvPr id="2" name="">
            <a:extLst xmlns:a="http://schemas.openxmlformats.org/drawingml/2006/main">
              <a:ext uri="{FF2B5EF4-FFF2-40B4-BE49-F238E27FC236}">
                <a16:creationId xmlns:a16="http://schemas.microsoft.com/office/drawing/2014/main" id="{12751C39-ECEC-4951-A5C4-C19992B6DD30}"/>
              </a:ext>
            </a:extLst>
          </p:cNvPr>
          <p:cNvPicPr>
            <a:picLocks xmlns:a="http://schemas.openxmlformats.org/drawingml/2006/main" noChangeAspect="1"/>
          </p:cNvPicPr>
          <p:nvPr/>
        </p:nvPicPr>
        <p:blipFill>
          <a:blip xmlns:r="http://schemas.openxmlformats.org/officeDocument/2006/relationships" xmlns:a="http://schemas.openxmlformats.org/drawingml/2006/main" r:embed="R41239a094818475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2BC4EDD-7F15-4B50-93AE-A62C49445CB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01   01/24</a:t>
            </a:r>
          </a:p>
        </p:txBody>
      </p:sp>
      <p:sp>
        <p:nvSpPr>
          <p:cNvPr id="4" name="">
            <a:extLst xmlns:a="http://schemas.openxmlformats.org/drawingml/2006/main">
              <a:ext uri="{FF2B5EF4-FFF2-40B4-BE49-F238E27FC236}">
                <a16:creationId xmlns:a16="http://schemas.microsoft.com/office/drawing/2014/main" id="{25576F20-DF69-419C-B3BE-E862407F477F}"/>
              </a:ext>
            </a:extLst>
          </p:cNvPr>
          <p:cNvSpPr>
            <a:spLocks xmlns:a="http://schemas.openxmlformats.org/drawingml/2006/main" noGrp="1"/>
          </p:cNvSpPr>
          <p:nvPr/>
        </p:nvSpPr>
        <p:spPr>
          <a:xfrm xmlns:a="http://schemas.openxmlformats.org/drawingml/2006/main">
            <a:off x="590550" y="1762125"/>
            <a:ext cx="1071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Reconocer subsistemas y convertir una necesidad en requisitos para un multirrotor de referencia.</a:t>
            </a:r>
          </a:p>
        </p:txBody>
      </p:sp>
      <p:sp>
        <p:nvSpPr>
          <p:cNvPr id="5" name="">
            <a:extLst xmlns:a="http://schemas.openxmlformats.org/drawingml/2006/main">
              <a:ext uri="{FF2B5EF4-FFF2-40B4-BE49-F238E27FC236}">
                <a16:creationId xmlns:a16="http://schemas.microsoft.com/office/drawing/2014/main" id="{D69335EC-245B-4373-86AC-8686E43412F4}"/>
              </a:ext>
            </a:extLst>
          </p:cNvPr>
          <p:cNvSpPr>
            <a:spLocks xmlns:a="http://schemas.openxmlformats.org/drawingml/2006/main" noGrp="1"/>
          </p:cNvSpPr>
          <p:nvPr/>
        </p:nvSpPr>
        <p:spPr>
          <a:xfrm xmlns:a="http://schemas.openxmlformats.org/drawingml/2006/main">
            <a:off x="590550" y="3714750"/>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El primer resultado es un plano funcional del equipo, con propósito, tamaño de hélice y componentes identificados.</a:t>
            </a:r>
          </a:p>
        </p:txBody>
      </p:sp>
      <p:sp>
        <p:nvSpPr>
          <p:cNvPr id="6" name="">
            <a:extLst xmlns:a="http://schemas.openxmlformats.org/drawingml/2006/main">
              <a:ext uri="{FF2B5EF4-FFF2-40B4-BE49-F238E27FC236}">
                <a16:creationId xmlns:a16="http://schemas.microsoft.com/office/drawing/2014/main" id="{006145DF-C2B1-48EC-9A86-2391D68DAF99}"/>
              </a:ext>
            </a:extLst>
          </p:cNvPr>
          <p:cNvSpPr>
            <a:spLocks xmlns:a="http://schemas.openxmlformats.org/drawingml/2006/main" noGrp="1"/>
          </p:cNvSpPr>
          <p:nvPr/>
        </p:nvSpPr>
        <p:spPr>
          <a:xfrm xmlns:a="http://schemas.openxmlformats.org/drawingml/2006/main">
            <a:off x="590550" y="56959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8C8C1"/>
                </a:solidFill>
                <a:latin typeface="Consolas"/>
                <a:ea typeface="Consolas"/>
                <a:cs typeface="Consolas"/>
              </a:defRPr>
            </a:defPPr>
            <a:lvl1pPr>
              <a:defRPr sz="1725" b="0">
                <a:solidFill>
                  <a:srgbClr val="B8C8C1"/>
                </a:solidFill>
                <a:latin typeface="Consolas"/>
                <a:ea typeface="Consolas"/>
                <a:cs typeface="Consolas"/>
              </a:defRPr>
            </a:lvl1pPr>
            <a:lvl2pPr>
              <a:defRPr sz="1725" b="0">
                <a:solidFill>
                  <a:srgbClr val="B8C8C1"/>
                </a:solidFill>
                <a:latin typeface="Consolas"/>
                <a:ea typeface="Consolas"/>
                <a:cs typeface="Consolas"/>
              </a:defRPr>
            </a:lvl2pPr>
            <a:lvl3pPr>
              <a:defRPr sz="1725" b="0">
                <a:solidFill>
                  <a:srgbClr val="B8C8C1"/>
                </a:solidFill>
                <a:latin typeface="Consolas"/>
                <a:ea typeface="Consolas"/>
                <a:cs typeface="Consolas"/>
              </a:defRPr>
            </a:lvl3pPr>
            <a:lvl4pPr>
              <a:defRPr sz="1725" b="0">
                <a:solidFill>
                  <a:srgbClr val="B8C8C1"/>
                </a:solidFill>
                <a:latin typeface="Consolas"/>
                <a:ea typeface="Consolas"/>
                <a:cs typeface="Consolas"/>
              </a:defRPr>
            </a:lvl4pPr>
            <a:lvl5pPr>
              <a:defRPr sz="1725" b="0">
                <a:solidFill>
                  <a:srgbClr val="B8C8C1"/>
                </a:solidFill>
                <a:latin typeface="Consolas"/>
                <a:ea typeface="Consolas"/>
                <a:cs typeface="Consolas"/>
              </a:defRPr>
            </a:lvl5pPr>
            <a:lvl6pPr>
              <a:defRPr sz="1725" b="0">
                <a:solidFill>
                  <a:srgbClr val="B8C8C1"/>
                </a:solidFill>
                <a:latin typeface="Consolas"/>
                <a:ea typeface="Consolas"/>
                <a:cs typeface="Consolas"/>
              </a:defRPr>
            </a:lvl6pPr>
            <a:lvl7pPr>
              <a:defRPr sz="1725" b="0">
                <a:solidFill>
                  <a:srgbClr val="B8C8C1"/>
                </a:solidFill>
                <a:latin typeface="Consolas"/>
                <a:ea typeface="Consolas"/>
                <a:cs typeface="Consolas"/>
              </a:defRPr>
            </a:lvl7pPr>
            <a:lvl8pPr>
              <a:defRPr sz="1725" b="0">
                <a:solidFill>
                  <a:srgbClr val="B8C8C1"/>
                </a:solidFill>
                <a:latin typeface="Consolas"/>
                <a:ea typeface="Consolas"/>
                <a:cs typeface="Consolas"/>
              </a:defRPr>
            </a:lvl8pPr>
            <a:lvl9pPr>
              <a:defRPr sz="1725" b="0">
                <a:solidFill>
                  <a:srgbClr val="B8C8C1"/>
                </a:solidFill>
                <a:latin typeface="Consolas"/>
                <a:ea typeface="Consolas"/>
                <a:cs typeface="Consolas"/>
              </a:defRPr>
            </a:lvl9pPr>
          </a:lstStyle>
          <a:p xmlns:a="http://schemas.openxmlformats.org/drawingml/2006/main">
            <a:pPr>
              <a:defRPr sz="1725" b="0">
                <a:solidFill>
                  <a:srgbClr val="B8C8C1"/>
                </a:solidFill>
                <a:latin typeface="Consolas"/>
                <a:ea typeface="Consolas"/>
                <a:cs typeface="Consolas"/>
              </a:defRPr>
            </a:pPr>
            <a:r>
              <a:rPr sz="1725" b="0">
                <a:solidFill>
                  <a:srgbClr val="B8C8C1"/>
                </a:solidFill>
                <a:latin typeface="Consolas"/>
                <a:ea typeface="Consolas"/>
                <a:cs typeface="Consolas"/>
              </a:rPr>
              <a:t>EN LÍNEA   2 HORAS</a:t>
            </a:r>
          </a:p>
        </p:txBody>
      </p:sp>
    </p:spTree>
    <p:extLst>
      <p:ext uri="{BB962C8B-B14F-4D97-AF65-F5344CB8AC3E}">
        <p14:creationId xmlns:p14="http://schemas.microsoft.com/office/powerpoint/2010/main" val="1511909181"/>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F74F9B2-3DD2-4BF8-909C-19DD69919E3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dron sobre la mesa</a:t>
            </a:r>
          </a:p>
        </p:txBody>
      </p:sp>
      <p:pic>
        <p:nvPicPr>
          <p:cNvPr id="2" name="">
            <a:extLst xmlns:a="http://schemas.openxmlformats.org/drawingml/2006/main">
              <a:ext uri="{FF2B5EF4-FFF2-40B4-BE49-F238E27FC236}">
                <a16:creationId xmlns:a16="http://schemas.microsoft.com/office/drawing/2014/main" id="{34951C90-E28D-4332-8DBC-66BE0FC95699}"/>
              </a:ext>
            </a:extLst>
          </p:cNvPr>
          <p:cNvPicPr>
            <a:picLocks xmlns:a="http://schemas.openxmlformats.org/drawingml/2006/main" noChangeAspect="1"/>
          </p:cNvPicPr>
          <p:nvPr/>
        </p:nvPicPr>
        <p:blipFill>
          <a:blip xmlns:r="http://schemas.openxmlformats.org/officeDocument/2006/relationships" xmlns:a="http://schemas.openxmlformats.org/drawingml/2006/main" r:embed="R3f4f15dc5f1c459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C55893A-C848-4020-8CB4-C9DAB89E76F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02/24</a:t>
            </a:r>
          </a:p>
        </p:txBody>
      </p:sp>
      <p:sp>
        <p:nvSpPr>
          <p:cNvPr id="4" name="">
            <a:extLst xmlns:a="http://schemas.openxmlformats.org/drawingml/2006/main">
              <a:ext uri="{FF2B5EF4-FFF2-40B4-BE49-F238E27FC236}">
                <a16:creationId xmlns:a16="http://schemas.microsoft.com/office/drawing/2014/main" id="{F2D848FB-D772-47F1-86C3-45AB53767D4C}"/>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Antes de comprar o soldar, necesitamos saber qué función cumple cada pieza. El bastidor sostiene y posiciona los componentes; el conjunto motor–hélice produce empuje; el ESC conmuta la energía que recibe de la batería; la controladora estima el estado del vehículo y genera órdenes. El receptor aporta el mando del piloto. Una cámara y un transmisor de vídeo, si existen, forman otra cadena. Esta separación ayuda a investigar un fallo: que haya vídeo no demuestra que el receptor esté entregando mando.</a:t>
            </a:r>
          </a:p>
        </p:txBody>
      </p:sp>
    </p:spTree>
    <p:extLst>
      <p:ext uri="{BB962C8B-B14F-4D97-AF65-F5344CB8AC3E}">
        <p14:creationId xmlns:p14="http://schemas.microsoft.com/office/powerpoint/2010/main" val="1764317673"/>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817C650-AE46-4ADF-BDA3-A4F28C1F22B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dron sobre la mesa</a:t>
            </a:r>
          </a:p>
        </p:txBody>
      </p:sp>
      <p:pic>
        <p:nvPicPr>
          <p:cNvPr id="2" name="">
            <a:extLst xmlns:a="http://schemas.openxmlformats.org/drawingml/2006/main">
              <a:ext uri="{FF2B5EF4-FFF2-40B4-BE49-F238E27FC236}">
                <a16:creationId xmlns:a16="http://schemas.microsoft.com/office/drawing/2014/main" id="{BCD1C72F-8D74-4506-B021-DFC132F26A6A}"/>
              </a:ext>
            </a:extLst>
          </p:cNvPr>
          <p:cNvPicPr>
            <a:picLocks xmlns:a="http://schemas.openxmlformats.org/drawingml/2006/main" noChangeAspect="1"/>
          </p:cNvPicPr>
          <p:nvPr/>
        </p:nvPicPr>
        <p:blipFill>
          <a:blip xmlns:r="http://schemas.openxmlformats.org/officeDocument/2006/relationships" xmlns:a="http://schemas.openxmlformats.org/drawingml/2006/main" r:embed="R5dae08a82acc48d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A98B205-31D6-45E4-BE94-9E01BAA4232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03/24</a:t>
            </a:r>
          </a:p>
        </p:txBody>
      </p:sp>
      <p:pic>
        <p:nvPicPr>
          <p:cNvPr id="4" name="">
            <a:extLst xmlns:a="http://schemas.openxmlformats.org/drawingml/2006/main">
              <a:ext uri="{FF2B5EF4-FFF2-40B4-BE49-F238E27FC236}">
                <a16:creationId xmlns:a16="http://schemas.microsoft.com/office/drawing/2014/main" id="{C328AC4F-0B6F-48C7-9651-26D27ABE3C81}"/>
              </a:ext>
            </a:extLst>
          </p:cNvPr>
          <p:cNvPicPr>
            <a:picLocks xmlns:a="http://schemas.openxmlformats.org/drawingml/2006/main" noChangeAspect="1"/>
          </p:cNvPicPr>
          <p:nvPr/>
        </p:nvPicPr>
        <p:blipFill>
          <a:blip xmlns:r="http://schemas.openxmlformats.org/officeDocument/2006/relationships" xmlns:a="http://schemas.openxmlformats.org/drawingml/2006/main" r:embed="Rf1f7498f80cd40c2"/>
          <a:stretch xmlns:a="http://schemas.openxmlformats.org/drawingml/2006/main"/>
        </p:blipFill>
        <p:spPr>
          <a:xfrm xmlns:a="http://schemas.openxmlformats.org/drawingml/2006/main">
            <a:off x="1001356" y="1638300"/>
            <a:ext cx="6588838"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BE75F67-99B7-452B-B9E4-91DF2EA6E865}"/>
              </a:ext>
            </a:extLst>
          </p:cNvPr>
          <p:cNvSpPr>
            <a:spLocks xmlns:a="http://schemas.openxmlformats.org/drawingml/2006/main" noGrp="1"/>
          </p:cNvSpPr>
          <p:nvPr/>
        </p:nvSpPr>
        <p:spPr>
          <a:xfrm xmlns:a="http://schemas.openxmlformats.org/drawingml/2006/main">
            <a:off x="8286750" y="1790700"/>
            <a:ext cx="32861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4F3D"/>
                </a:solidFill>
                <a:latin typeface="Arial"/>
                <a:ea typeface="Arial"/>
                <a:cs typeface="Arial"/>
              </a:defRPr>
            </a:defPPr>
            <a:lvl1pPr>
              <a:defRPr sz="2250" b="1">
                <a:solidFill>
                  <a:srgbClr val="244F3D"/>
                </a:solidFill>
                <a:latin typeface="Arial"/>
                <a:ea typeface="Arial"/>
                <a:cs typeface="Arial"/>
              </a:defRPr>
            </a:lvl1pPr>
            <a:lvl2pPr>
              <a:defRPr sz="2250" b="1">
                <a:solidFill>
                  <a:srgbClr val="244F3D"/>
                </a:solidFill>
                <a:latin typeface="Arial"/>
                <a:ea typeface="Arial"/>
                <a:cs typeface="Arial"/>
              </a:defRPr>
            </a:lvl2pPr>
            <a:lvl3pPr>
              <a:defRPr sz="2250" b="1">
                <a:solidFill>
                  <a:srgbClr val="244F3D"/>
                </a:solidFill>
                <a:latin typeface="Arial"/>
                <a:ea typeface="Arial"/>
                <a:cs typeface="Arial"/>
              </a:defRPr>
            </a:lvl3pPr>
            <a:lvl4pPr>
              <a:defRPr sz="2250" b="1">
                <a:solidFill>
                  <a:srgbClr val="244F3D"/>
                </a:solidFill>
                <a:latin typeface="Arial"/>
                <a:ea typeface="Arial"/>
                <a:cs typeface="Arial"/>
              </a:defRPr>
            </a:lvl4pPr>
            <a:lvl5pPr>
              <a:defRPr sz="2250" b="1">
                <a:solidFill>
                  <a:srgbClr val="244F3D"/>
                </a:solidFill>
                <a:latin typeface="Arial"/>
                <a:ea typeface="Arial"/>
                <a:cs typeface="Arial"/>
              </a:defRPr>
            </a:lvl5pPr>
            <a:lvl6pPr>
              <a:defRPr sz="2250" b="1">
                <a:solidFill>
                  <a:srgbClr val="244F3D"/>
                </a:solidFill>
                <a:latin typeface="Arial"/>
                <a:ea typeface="Arial"/>
                <a:cs typeface="Arial"/>
              </a:defRPr>
            </a:lvl6pPr>
            <a:lvl7pPr>
              <a:defRPr sz="2250" b="1">
                <a:solidFill>
                  <a:srgbClr val="244F3D"/>
                </a:solidFill>
                <a:latin typeface="Arial"/>
                <a:ea typeface="Arial"/>
                <a:cs typeface="Arial"/>
              </a:defRPr>
            </a:lvl7pPr>
            <a:lvl8pPr>
              <a:defRPr sz="2250" b="1">
                <a:solidFill>
                  <a:srgbClr val="244F3D"/>
                </a:solidFill>
                <a:latin typeface="Arial"/>
                <a:ea typeface="Arial"/>
                <a:cs typeface="Arial"/>
              </a:defRPr>
            </a:lvl8pPr>
            <a:lvl9pPr>
              <a:defRPr sz="2250" b="1">
                <a:solidFill>
                  <a:srgbClr val="244F3D"/>
                </a:solidFill>
                <a:latin typeface="Arial"/>
                <a:ea typeface="Arial"/>
                <a:cs typeface="Arial"/>
              </a:defRPr>
            </a:lvl9pPr>
          </a:lstStyle>
          <a:p xmlns:a="http://schemas.openxmlformats.org/drawingml/2006/main">
            <a:pPr>
              <a:defRPr sz="2250" b="1">
                <a:solidFill>
                  <a:srgbClr val="244F3D"/>
                </a:solidFill>
                <a:latin typeface="Arial"/>
                <a:ea typeface="Arial"/>
                <a:cs typeface="Arial"/>
              </a:defRPr>
            </a:pPr>
            <a:r>
              <a:rPr sz="2250" b="1">
                <a:solidFill>
                  <a:srgbClr val="244F3D"/>
                </a:solidFill>
                <a:latin typeface="Arial"/>
                <a:ea typeface="Arial"/>
                <a:cs typeface="Arial"/>
              </a:rPr>
              <a:t>Sigue la energía y el mando. ¿Qué función cumple cada pieza visible?</a:t>
            </a:r>
          </a:p>
        </p:txBody>
      </p:sp>
      <p:sp>
        <p:nvSpPr>
          <p:cNvPr id="6" name="">
            <a:extLst xmlns:a="http://schemas.openxmlformats.org/drawingml/2006/main">
              <a:ext uri="{FF2B5EF4-FFF2-40B4-BE49-F238E27FC236}">
                <a16:creationId xmlns:a16="http://schemas.microsoft.com/office/drawing/2014/main" id="{8CF8A3E4-BCC7-428C-B681-F0AAC14A17E6}"/>
              </a:ext>
            </a:extLst>
          </p:cNvPr>
          <p:cNvSpPr>
            <a:spLocks xmlns:a="http://schemas.openxmlformats.org/drawingml/2006/main" noGrp="1"/>
          </p:cNvSpPr>
          <p:nvPr/>
        </p:nvSpPr>
        <p:spPr>
          <a:xfrm xmlns:a="http://schemas.openxmlformats.org/drawingml/2006/main">
            <a:off x="590550" y="58578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65F"/>
                </a:solidFill>
                <a:latin typeface="Arial"/>
                <a:ea typeface="Arial"/>
                <a:cs typeface="Arial"/>
              </a:defRPr>
            </a:defPPr>
            <a:lvl1pPr>
              <a:defRPr sz="1275" b="0">
                <a:solidFill>
                  <a:srgbClr val="58665F"/>
                </a:solidFill>
                <a:latin typeface="Arial"/>
                <a:ea typeface="Arial"/>
                <a:cs typeface="Arial"/>
              </a:defRPr>
            </a:lvl1pPr>
            <a:lvl2pPr>
              <a:defRPr sz="1275" b="0">
                <a:solidFill>
                  <a:srgbClr val="58665F"/>
                </a:solidFill>
                <a:latin typeface="Arial"/>
                <a:ea typeface="Arial"/>
                <a:cs typeface="Arial"/>
              </a:defRPr>
            </a:lvl2pPr>
            <a:lvl3pPr>
              <a:defRPr sz="1275" b="0">
                <a:solidFill>
                  <a:srgbClr val="58665F"/>
                </a:solidFill>
                <a:latin typeface="Arial"/>
                <a:ea typeface="Arial"/>
                <a:cs typeface="Arial"/>
              </a:defRPr>
            </a:lvl3pPr>
            <a:lvl4pPr>
              <a:defRPr sz="1275" b="0">
                <a:solidFill>
                  <a:srgbClr val="58665F"/>
                </a:solidFill>
                <a:latin typeface="Arial"/>
                <a:ea typeface="Arial"/>
                <a:cs typeface="Arial"/>
              </a:defRPr>
            </a:lvl4pPr>
            <a:lvl5pPr>
              <a:defRPr sz="1275" b="0">
                <a:solidFill>
                  <a:srgbClr val="58665F"/>
                </a:solidFill>
                <a:latin typeface="Arial"/>
                <a:ea typeface="Arial"/>
                <a:cs typeface="Arial"/>
              </a:defRPr>
            </a:lvl5pPr>
            <a:lvl6pPr>
              <a:defRPr sz="1275" b="0">
                <a:solidFill>
                  <a:srgbClr val="58665F"/>
                </a:solidFill>
                <a:latin typeface="Arial"/>
                <a:ea typeface="Arial"/>
                <a:cs typeface="Arial"/>
              </a:defRPr>
            </a:lvl6pPr>
            <a:lvl7pPr>
              <a:defRPr sz="1275" b="0">
                <a:solidFill>
                  <a:srgbClr val="58665F"/>
                </a:solidFill>
                <a:latin typeface="Arial"/>
                <a:ea typeface="Arial"/>
                <a:cs typeface="Arial"/>
              </a:defRPr>
            </a:lvl7pPr>
            <a:lvl8pPr>
              <a:defRPr sz="1275" b="0">
                <a:solidFill>
                  <a:srgbClr val="58665F"/>
                </a:solidFill>
                <a:latin typeface="Arial"/>
                <a:ea typeface="Arial"/>
                <a:cs typeface="Arial"/>
              </a:defRPr>
            </a:lvl8pPr>
            <a:lvl9pPr>
              <a:defRPr sz="1275" b="0">
                <a:solidFill>
                  <a:srgbClr val="58665F"/>
                </a:solidFill>
                <a:latin typeface="Arial"/>
                <a:ea typeface="Arial"/>
                <a:cs typeface="Arial"/>
              </a:defRPr>
            </a:lvl9pPr>
          </a:lstStyle>
          <a:p xmlns:a="http://schemas.openxmlformats.org/drawingml/2006/main">
            <a:pPr>
              <a:defRPr sz="1275" b="0">
                <a:solidFill>
                  <a:srgbClr val="58665F"/>
                </a:solidFill>
                <a:latin typeface="Arial"/>
                <a:ea typeface="Arial"/>
                <a:cs typeface="Arial"/>
              </a:defRPr>
            </a:pPr>
            <a:r>
              <a:rPr sz="1275" b="0">
                <a:solidFill>
                  <a:srgbClr val="58665F"/>
                </a:solidFill>
                <a:latin typeface="Arial"/>
                <a:ea typeface="Arial"/>
                <a:cs typeface="Arial"/>
              </a:rPr>
              <a:t>Imagen pública de MECRO para reconocer estructura, motores y distribución. No identifica por sí sola los modelos exactos del banco del curso.</a:t>
            </a:r>
          </a:p>
        </p:txBody>
      </p:sp>
    </p:spTree>
    <p:extLst>
      <p:ext uri="{BB962C8B-B14F-4D97-AF65-F5344CB8AC3E}">
        <p14:creationId xmlns:p14="http://schemas.microsoft.com/office/powerpoint/2010/main" val="1069034264"/>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DFFC755-2E80-479A-9439-8813242467C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El dron sobre la mesa</a:t>
            </a:r>
          </a:p>
        </p:txBody>
      </p:sp>
      <p:pic>
        <p:nvPicPr>
          <p:cNvPr id="2" name="">
            <a:extLst xmlns:a="http://schemas.openxmlformats.org/drawingml/2006/main">
              <a:ext uri="{FF2B5EF4-FFF2-40B4-BE49-F238E27FC236}">
                <a16:creationId xmlns:a16="http://schemas.microsoft.com/office/drawing/2014/main" id="{0DECE54A-55B5-4781-A6E4-CF9E26AC9657}"/>
              </a:ext>
            </a:extLst>
          </p:cNvPr>
          <p:cNvPicPr>
            <a:picLocks xmlns:a="http://schemas.openxmlformats.org/drawingml/2006/main" noChangeAspect="1"/>
          </p:cNvPicPr>
          <p:nvPr/>
        </p:nvPicPr>
        <p:blipFill>
          <a:blip xmlns:r="http://schemas.openxmlformats.org/officeDocument/2006/relationships" xmlns:a="http://schemas.openxmlformats.org/drawingml/2006/main" r:embed="R75fea124521f456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870B8DB-963C-4963-B2DE-A7AE26FD67B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04/24</a:t>
            </a:r>
          </a:p>
        </p:txBody>
      </p:sp>
      <p:sp>
        <p:nvSpPr>
          <p:cNvPr id="4" name="">
            <a:extLst xmlns:a="http://schemas.openxmlformats.org/drawingml/2006/main">
              <a:ext uri="{FF2B5EF4-FFF2-40B4-BE49-F238E27FC236}">
                <a16:creationId xmlns:a16="http://schemas.microsoft.com/office/drawing/2014/main" id="{B059E14C-7E2C-4AC6-B6A6-88FE72AB468E}"/>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MECRO comparará sus equipos de 5, 7 y 12 pulgadas. Aquí la cifra describe el diámetro de hélice usado como referencia de clase; no es la longitud total de la aeronave ni la diagonal del bastidor. El equipo grande mostrará una arquitectura con autopiloto tipo Pixhawk. Los pequeños permitirán trabajar principalmente Betaflight. Ninguna de esas asociaciones constituye una regla universal: el fabricante y el modelo concreto deciden qué puede instalarse.</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Dibuja dos recorridos sobre una fotografía: energía desde batería a ESC y motor, e información desde mando a receptor y controladora. El mismo conector puede llevar energía y señal, pero esas funciones siguen siendo diferentes. Una etiqueta legible y una referencia de modelo valen más que reconocer una pieza por su color.</a:t>
            </a:r>
          </a:p>
        </p:txBody>
      </p:sp>
    </p:spTree>
    <p:extLst>
      <p:ext uri="{BB962C8B-B14F-4D97-AF65-F5344CB8AC3E}">
        <p14:creationId xmlns:p14="http://schemas.microsoft.com/office/powerpoint/2010/main" val="2116692304"/>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2E356F1-70D3-477F-A4AB-813B3610D5A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Misión, tamaño y forma de operación</a:t>
            </a:r>
          </a:p>
        </p:txBody>
      </p:sp>
      <p:pic>
        <p:nvPicPr>
          <p:cNvPr id="2" name="">
            <a:extLst xmlns:a="http://schemas.openxmlformats.org/drawingml/2006/main">
              <a:ext uri="{FF2B5EF4-FFF2-40B4-BE49-F238E27FC236}">
                <a16:creationId xmlns:a16="http://schemas.microsoft.com/office/drawing/2014/main" id="{2141577C-987D-4025-9466-9B862AA3E683}"/>
              </a:ext>
            </a:extLst>
          </p:cNvPr>
          <p:cNvPicPr>
            <a:picLocks xmlns:a="http://schemas.openxmlformats.org/drawingml/2006/main" noChangeAspect="1"/>
          </p:cNvPicPr>
          <p:nvPr/>
        </p:nvPicPr>
        <p:blipFill>
          <a:blip xmlns:r="http://schemas.openxmlformats.org/officeDocument/2006/relationships" xmlns:a="http://schemas.openxmlformats.org/drawingml/2006/main" r:embed="Ree97714f3ced409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F60DE8D-D104-456F-8EEB-F6D6569D528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05/24</a:t>
            </a:r>
          </a:p>
        </p:txBody>
      </p:sp>
      <p:sp>
        <p:nvSpPr>
          <p:cNvPr id="4" name="">
            <a:extLst xmlns:a="http://schemas.openxmlformats.org/drawingml/2006/main">
              <a:ext uri="{FF2B5EF4-FFF2-40B4-BE49-F238E27FC236}">
                <a16:creationId xmlns:a16="http://schemas.microsoft.com/office/drawing/2014/main" id="{57264B9B-697B-4B63-80A8-12D459CAB66B}"/>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Una misión de aprendizaje debe ser concreta. “Quiero el mejor dron” no permite elegir componentes. “Quiero aprender a ensamblar un quad y demostrar vuelo básico con el docente” permite priorizar documentación, compatibilidad y facilidad de revisión. Una cámara, una carga o una autonomía deseada cambian el presupuesto de masa y energía. El expediente empieza por requisitos y se actualiza cuando la selección de piezas revela una limitación.</a:t>
            </a:r>
          </a:p>
        </p:txBody>
      </p:sp>
    </p:spTree>
    <p:extLst>
      <p:ext uri="{BB962C8B-B14F-4D97-AF65-F5344CB8AC3E}">
        <p14:creationId xmlns:p14="http://schemas.microsoft.com/office/powerpoint/2010/main" val="287538337"/>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A8770A8-BE9E-4652-AA67-22362D8AD63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Tres referencias del curso</a:t>
            </a:r>
          </a:p>
        </p:txBody>
      </p:sp>
      <p:pic>
        <p:nvPicPr>
          <p:cNvPr id="2" name="">
            <a:extLst xmlns:a="http://schemas.openxmlformats.org/drawingml/2006/main">
              <a:ext uri="{FF2B5EF4-FFF2-40B4-BE49-F238E27FC236}">
                <a16:creationId xmlns:a16="http://schemas.microsoft.com/office/drawing/2014/main" id="{814AD0FC-B3F1-4C9B-94B4-15D2C168A574}"/>
              </a:ext>
            </a:extLst>
          </p:cNvPr>
          <p:cNvPicPr>
            <a:picLocks xmlns:a="http://schemas.openxmlformats.org/drawingml/2006/main" noChangeAspect="1"/>
          </p:cNvPicPr>
          <p:nvPr/>
        </p:nvPicPr>
        <p:blipFill>
          <a:blip xmlns:r="http://schemas.openxmlformats.org/officeDocument/2006/relationships" xmlns:a="http://schemas.openxmlformats.org/drawingml/2006/main" r:embed="Rf0e3fcc519f84d5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E4CB865-0FF4-420B-A405-C5677C47394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06/24</a:t>
            </a:r>
          </a:p>
        </p:txBody>
      </p:sp>
      <p:graphicFrame>
        <p:nvGraphicFramePr>
          <p:cNvPr id="4" name="">
            <a:extLst xmlns:a="http://schemas.openxmlformats.org/drawingml/2006/main">
              <a:ext uri="{FF2B5EF4-FFF2-40B4-BE49-F238E27FC236}">
                <a16:creationId xmlns:a16="http://schemas.microsoft.com/office/drawing/2014/main" id="{9ABB992D-7EF5-4583-8E3F-0C1B9D6E4748}"/>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Referencia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permite estudiar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falta conocer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5 pulgadas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Distribución compacta y configuración Betaflight</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Bastidor, motor, FC y batería exactos</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7 pulgadas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Cambio de hélice, masa y energía</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Tabla motor–hélice y espacio disponible</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12 pulgadas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Autopiloto, alimentación y GPS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Modelo del autopiloto y conexiones reales</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819983622"/>
      </p:ext>
    </p:extLst>
  </p:cSld>
</p:sld>
</file>

<file path=ppt/slides/slide7.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9D727DB-05B0-4F32-8D29-9BED86E10A5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Tamaño y función</a:t>
            </a:r>
          </a:p>
        </p:txBody>
      </p:sp>
      <p:pic>
        <p:nvPicPr>
          <p:cNvPr id="2" name="">
            <a:extLst xmlns:a="http://schemas.openxmlformats.org/drawingml/2006/main">
              <a:ext uri="{FF2B5EF4-FFF2-40B4-BE49-F238E27FC236}">
                <a16:creationId xmlns:a16="http://schemas.microsoft.com/office/drawing/2014/main" id="{E0591915-D078-409C-A3AA-64B2A4853E74}"/>
              </a:ext>
            </a:extLst>
          </p:cNvPr>
          <p:cNvPicPr>
            <a:picLocks xmlns:a="http://schemas.openxmlformats.org/drawingml/2006/main" noChangeAspect="1"/>
          </p:cNvPicPr>
          <p:nvPr/>
        </p:nvPicPr>
        <p:blipFill>
          <a:blip xmlns:r="http://schemas.openxmlformats.org/officeDocument/2006/relationships" xmlns:a="http://schemas.openxmlformats.org/drawingml/2006/main" r:embed="R6569cfc85285468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7F12767-2E65-4C5C-9B3F-3345AEB5388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01   07/24</a:t>
            </a:r>
          </a:p>
        </p:txBody>
      </p:sp>
      <p:sp>
        <p:nvSpPr>
          <p:cNvPr id="4" name="">
            <a:extLst xmlns:a="http://schemas.openxmlformats.org/drawingml/2006/main">
              <a:ext uri="{FF2B5EF4-FFF2-40B4-BE49-F238E27FC236}">
                <a16:creationId xmlns:a16="http://schemas.microsoft.com/office/drawing/2014/main" id="{80A3B125-742B-46AA-A850-C84123DE694F}"/>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Dos drones llevan hélices de 7 pulgadas. Uno tiene vídeo y el otro no. ¿Son la misma arquitectura?</a:t>
            </a:r>
          </a:p>
        </p:txBody>
      </p:sp>
      <p:sp>
        <p:nvSpPr>
          <p:cNvPr id="5" name="">
            <a:extLst xmlns:a="http://schemas.openxmlformats.org/drawingml/2006/main">
              <a:ext uri="{FF2B5EF4-FFF2-40B4-BE49-F238E27FC236}">
                <a16:creationId xmlns:a16="http://schemas.microsoft.com/office/drawing/2014/main" id="{A2C92B2C-3CA8-4817-9D14-11D03EE2BF7D}"/>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Comparten una dimensión de referencia, pero pueden tener distintas controladoras, interfaces, alimentación y modos. La comparación necesita la lista real de componentes.</a:t>
            </a:r>
          </a:p>
        </p:txBody>
      </p:sp>
    </p:spTree>
    <p:extLst>
      <p:ext uri="{BB962C8B-B14F-4D97-AF65-F5344CB8AC3E}">
        <p14:creationId xmlns:p14="http://schemas.microsoft.com/office/powerpoint/2010/main" val="762277280"/>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200AD80-938E-455A-96A1-7A7BB0DE26D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Masa, empuje y área que barre la hélice</a:t>
            </a:r>
          </a:p>
        </p:txBody>
      </p:sp>
      <p:pic>
        <p:nvPicPr>
          <p:cNvPr id="2" name="">
            <a:extLst xmlns:a="http://schemas.openxmlformats.org/drawingml/2006/main">
              <a:ext uri="{FF2B5EF4-FFF2-40B4-BE49-F238E27FC236}">
                <a16:creationId xmlns:a16="http://schemas.microsoft.com/office/drawing/2014/main" id="{F07AC04D-959C-4BBC-B75B-9BDEC464CC96}"/>
              </a:ext>
            </a:extLst>
          </p:cNvPr>
          <p:cNvPicPr>
            <a:picLocks xmlns:a="http://schemas.openxmlformats.org/drawingml/2006/main" noChangeAspect="1"/>
          </p:cNvPicPr>
          <p:nvPr/>
        </p:nvPicPr>
        <p:blipFill>
          <a:blip xmlns:r="http://schemas.openxmlformats.org/officeDocument/2006/relationships" xmlns:a="http://schemas.openxmlformats.org/drawingml/2006/main" r:embed="R9e0140a2503b4c9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26946A7-A46A-4B8B-B758-B471D0A7839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08/24</a:t>
            </a:r>
          </a:p>
        </p:txBody>
      </p:sp>
      <p:sp>
        <p:nvSpPr>
          <p:cNvPr id="4" name="">
            <a:extLst xmlns:a="http://schemas.openxmlformats.org/drawingml/2006/main">
              <a:ext uri="{FF2B5EF4-FFF2-40B4-BE49-F238E27FC236}">
                <a16:creationId xmlns:a16="http://schemas.microsoft.com/office/drawing/2014/main" id="{2A3A72F5-81C8-43C9-AE32-7B4158782EF3}"/>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masa incluye batería, cableado, tornillería y carga, además de las piezas grandes. En vuelo estacionario, el empuje vertical total compensa aproximadamente el peso. Es una condición de equilibrio útil para seleccionar, no una descripción completa de maniobras o viento. El peso se expresa en newtons; las tablas comerciales suelen usar gramos fuerza. La lectura siempre identifica qué unidad está utilizando.</a:t>
            </a:r>
          </a:p>
        </p:txBody>
      </p:sp>
    </p:spTree>
    <p:extLst>
      <p:ext uri="{BB962C8B-B14F-4D97-AF65-F5344CB8AC3E}">
        <p14:creationId xmlns:p14="http://schemas.microsoft.com/office/powerpoint/2010/main" val="244087711"/>
      </p:ext>
    </p:extLst>
  </p:cSld>
</p:sld>
</file>

<file path=ppt/slides/slide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227563-932A-4DF8-88BA-004140A26C2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270215ED-2C5A-41B7-8B83-D8FC5B899CA3}"/>
              </a:ext>
            </a:extLst>
          </p:cNvPr>
          <p:cNvPicPr>
            <a:picLocks xmlns:a="http://schemas.openxmlformats.org/drawingml/2006/main" noChangeAspect="1"/>
          </p:cNvPicPr>
          <p:nvPr/>
        </p:nvPicPr>
        <p:blipFill>
          <a:blip xmlns:r="http://schemas.openxmlformats.org/officeDocument/2006/relationships" xmlns:a="http://schemas.openxmlformats.org/drawingml/2006/main" r:embed="R09d3219e029e40a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1528647-5C56-4DCC-BD8B-FB66D0B7F85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01   09/24</a:t>
            </a:r>
          </a:p>
        </p:txBody>
      </p:sp>
      <p:sp>
        <p:nvSpPr>
          <p:cNvPr id="4" name="">
            <a:extLst xmlns:a="http://schemas.openxmlformats.org/drawingml/2006/main">
              <a:ext uri="{FF2B5EF4-FFF2-40B4-BE49-F238E27FC236}">
                <a16:creationId xmlns:a16="http://schemas.microsoft.com/office/drawing/2014/main" id="{82FA58B8-84C4-403D-A528-A8A0EDA80D08}"/>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¿Aumentar el diámetro de 5 a 7 pulgadas aumenta el área en 40 %?</a:t>
            </a:r>
          </a:p>
        </p:txBody>
      </p:sp>
      <p:sp>
        <p:nvSpPr>
          <p:cNvPr id="5" name="">
            <a:extLst xmlns:a="http://schemas.openxmlformats.org/drawingml/2006/main">
              <a:ext uri="{FF2B5EF4-FFF2-40B4-BE49-F238E27FC236}">
                <a16:creationId xmlns:a16="http://schemas.microsoft.com/office/drawing/2014/main" id="{5BFE6024-8042-40FE-809F-98AD3D6B88A0}"/>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El diámetro por sí solo no selecciona un motor. El paso, número de palas, régimen de giro, alimentación y geometría modifican la carga. Un bastidor debe admitir la hélice y dejar espacio al cableado. El proyecto no consiste en poner piezas más grandes sobre el mismo dibujo: cada cambio obliga a comprobar el sistema que las conecta.</a:t>
            </a:r>
          </a:p>
        </p:txBody>
      </p:sp>
    </p:spTree>
    <p:extLst>
      <p:ext uri="{BB962C8B-B14F-4D97-AF65-F5344CB8AC3E}">
        <p14:creationId xmlns:p14="http://schemas.microsoft.com/office/powerpoint/2010/main" val="1467982568"/>
      </p:ext>
    </p:extLst>
  </p:cSld>
</p:sld>
</file>

<file path=ppt/slides/slide1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54AA74A-9F2E-4D5C-923E-265395242DF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área cambia con el cuadrado del diámetro</a:t>
            </a:r>
          </a:p>
        </p:txBody>
      </p:sp>
      <p:pic>
        <p:nvPicPr>
          <p:cNvPr id="2" name="">
            <a:extLst xmlns:a="http://schemas.openxmlformats.org/drawingml/2006/main">
              <a:ext uri="{FF2B5EF4-FFF2-40B4-BE49-F238E27FC236}">
                <a16:creationId xmlns:a16="http://schemas.microsoft.com/office/drawing/2014/main" id="{A780555A-8264-4021-9E9B-E65BA33781EB}"/>
              </a:ext>
            </a:extLst>
          </p:cNvPr>
          <p:cNvPicPr>
            <a:picLocks xmlns:a="http://schemas.openxmlformats.org/drawingml/2006/main" noChangeAspect="1"/>
          </p:cNvPicPr>
          <p:nvPr/>
        </p:nvPicPr>
        <p:blipFill>
          <a:blip xmlns:r="http://schemas.openxmlformats.org/officeDocument/2006/relationships" xmlns:a="http://schemas.openxmlformats.org/drawingml/2006/main" r:embed="R4250397168fb485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E76FE78-7AAD-45EC-A724-11431A114F9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10/24</a:t>
            </a:r>
          </a:p>
        </p:txBody>
      </p:sp>
      <p:graphicFrame>
        <p:nvGraphicFramePr>
          <p:cNvPr id="4" name="Chart">
            <a:extLst xmlns:a="http://schemas.openxmlformats.org/drawingml/2006/main">
              <a:ext uri="{FF2B5EF4-FFF2-40B4-BE49-F238E27FC236}">
                <a16:creationId xmlns:a16="http://schemas.microsoft.com/office/drawing/2014/main" id="{BBC34D92-9D8A-4A6A-835B-92E7C2A34FC0}"/>
              </a:ext>
            </a:extLst>
          </p:cNvPr>
          <p:cNvGraphicFramePr/>
          <p:nvPr/>
        </p:nvGraphicFramePr>
        <p:xfrm>
          <a:off xmlns:a="http://schemas.openxmlformats.org/drawingml/2006/main" x="590550" y="1657350"/>
          <a:ext xmlns:a="http://schemas.openxmlformats.org/drawingml/2006/main" cx="11010900" cy="3952875"/>
        </p:xfrm>
        <a:graphic xmlns:a="http://schemas.openxmlformats.org/drawingml/2006/main">
          <a:graphicData uri="http://schemas.openxmlformats.org/drawingml/2006/chart">
            <c:chart xmlns:r="http://schemas.openxmlformats.org/officeDocument/2006/relationships" xmlns:c="http://schemas.openxmlformats.org/drawingml/2006/chart" r:id="R568091a7e5074293"/>
          </a:graphicData>
        </a:graphic>
      </p:graphicFrame>
      <p:sp>
        <p:nvSpPr>
          <p:cNvPr id="5" name="">
            <a:extLst xmlns:a="http://schemas.openxmlformats.org/drawingml/2006/main">
              <a:ext uri="{FF2B5EF4-FFF2-40B4-BE49-F238E27FC236}">
                <a16:creationId xmlns:a16="http://schemas.microsoft.com/office/drawing/2014/main" id="{678FB38B-47B0-4CFF-9FA7-B5D72DB953D0}"/>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Cálculo geométrico ideal de aula. No compara empuje ni autonomía de los drones MECRO.</a:t>
            </a:r>
          </a:p>
        </p:txBody>
      </p:sp>
    </p:spTree>
    <p:extLst>
      <p:ext uri="{BB962C8B-B14F-4D97-AF65-F5344CB8AC3E}">
        <p14:creationId xmlns:p14="http://schemas.microsoft.com/office/powerpoint/2010/main" val="834022352"/>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11EA1D3-8DAE-4D1C-BB43-F02D0D19DB0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Las compatibilidades que gobiernan la compra</a:t>
            </a:r>
          </a:p>
        </p:txBody>
      </p:sp>
      <p:pic>
        <p:nvPicPr>
          <p:cNvPr id="2" name="">
            <a:extLst xmlns:a="http://schemas.openxmlformats.org/drawingml/2006/main">
              <a:ext uri="{FF2B5EF4-FFF2-40B4-BE49-F238E27FC236}">
                <a16:creationId xmlns:a16="http://schemas.microsoft.com/office/drawing/2014/main" id="{23C5E385-0189-4CFE-91F2-8E514E03E08B}"/>
              </a:ext>
            </a:extLst>
          </p:cNvPr>
          <p:cNvPicPr>
            <a:picLocks xmlns:a="http://schemas.openxmlformats.org/drawingml/2006/main" noChangeAspect="1"/>
          </p:cNvPicPr>
          <p:nvPr/>
        </p:nvPicPr>
        <p:blipFill>
          <a:blip xmlns:r="http://schemas.openxmlformats.org/officeDocument/2006/relationships" xmlns:a="http://schemas.openxmlformats.org/drawingml/2006/main" r:embed="R48343cd4c9af465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F309C23-1BE1-4D57-8AB7-D2866198E51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11/24</a:t>
            </a:r>
          </a:p>
        </p:txBody>
      </p:sp>
      <p:sp>
        <p:nvSpPr>
          <p:cNvPr id="4" name="">
            <a:extLst xmlns:a="http://schemas.openxmlformats.org/drawingml/2006/main">
              <a:ext uri="{FF2B5EF4-FFF2-40B4-BE49-F238E27FC236}">
                <a16:creationId xmlns:a16="http://schemas.microsoft.com/office/drawing/2014/main" id="{21E67278-66DB-4FFF-80D6-AF8A55CFD836}"/>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Una controladora anunciada como F405 utiliza un tipo de microcontrolador, pero esa descripción no identifica todos sus sensores, pines ni archivos de firmware. Dos placas con el mismo procesador pueden necesitar targets diferentes. Un cable entre un ESC 4 en 1 y una FC también puede tener la misma forma física y otro orden de contactos. El conector no es una prueba de compatibilidad eléctrica.</a:t>
            </a:r>
          </a:p>
        </p:txBody>
      </p:sp>
    </p:spTree>
    <p:extLst>
      <p:ext uri="{BB962C8B-B14F-4D97-AF65-F5344CB8AC3E}">
        <p14:creationId xmlns:p14="http://schemas.microsoft.com/office/powerpoint/2010/main" val="1685786628"/>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ACCC896-9F61-4CCA-BA56-710E5AF0FB4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Cuatro comprobaciones distintas</a:t>
            </a:r>
          </a:p>
        </p:txBody>
      </p:sp>
      <p:pic>
        <p:nvPicPr>
          <p:cNvPr id="2" name="">
            <a:extLst xmlns:a="http://schemas.openxmlformats.org/drawingml/2006/main">
              <a:ext uri="{FF2B5EF4-FFF2-40B4-BE49-F238E27FC236}">
                <a16:creationId xmlns:a16="http://schemas.microsoft.com/office/drawing/2014/main" id="{566A506A-BA49-47BD-B458-32F31545894F}"/>
              </a:ext>
            </a:extLst>
          </p:cNvPr>
          <p:cNvPicPr>
            <a:picLocks xmlns:a="http://schemas.openxmlformats.org/drawingml/2006/main" noChangeAspect="1"/>
          </p:cNvPicPr>
          <p:nvPr/>
        </p:nvPicPr>
        <p:blipFill>
          <a:blip xmlns:r="http://schemas.openxmlformats.org/officeDocument/2006/relationships" xmlns:a="http://schemas.openxmlformats.org/drawingml/2006/main" r:embed="Rd77c6bf983284e8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B19A30A-4D77-4E72-9A18-EE8D842C4CF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12/24</a:t>
            </a:r>
          </a:p>
        </p:txBody>
      </p:sp>
      <p:graphicFrame>
        <p:nvGraphicFramePr>
          <p:cNvPr id="4" name="">
            <a:extLst xmlns:a="http://schemas.openxmlformats.org/drawingml/2006/main">
              <a:ext uri="{FF2B5EF4-FFF2-40B4-BE49-F238E27FC236}">
                <a16:creationId xmlns:a16="http://schemas.microsoft.com/office/drawing/2014/main" id="{78914E48-01CD-484D-AADE-E748E2AD9D70}"/>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Compatibilidad</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Ejemplo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Evidencia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Mecánica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Hélice, eje, tornillo y patrón de montaje</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Cotas y prueba en seco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Eléctrica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Batería, ESC, regulador y periférico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Tensiones y límites documentados</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De señal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FC y ESC; receptor y UART</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Protocolo, nivel y puerto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De software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Placa y firmware</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Target exacto y versión compatible</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3749674"/>
      </p:ext>
    </p:extLst>
  </p:cSld>
</p:sld>
</file>

<file path=ppt/slides/slide13.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B2C734C-9FF6-42F2-B2BF-D4CDB1E0FBD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Misma forma, distinto cable</a:t>
            </a:r>
          </a:p>
        </p:txBody>
      </p:sp>
      <p:pic>
        <p:nvPicPr>
          <p:cNvPr id="2" name="">
            <a:extLst xmlns:a="http://schemas.openxmlformats.org/drawingml/2006/main">
              <a:ext uri="{FF2B5EF4-FFF2-40B4-BE49-F238E27FC236}">
                <a16:creationId xmlns:a16="http://schemas.microsoft.com/office/drawing/2014/main" id="{AF1B5021-1CD5-4D9D-B3FC-E47D35254224}"/>
              </a:ext>
            </a:extLst>
          </p:cNvPr>
          <p:cNvPicPr>
            <a:picLocks xmlns:a="http://schemas.openxmlformats.org/drawingml/2006/main" noChangeAspect="1"/>
          </p:cNvPicPr>
          <p:nvPr/>
        </p:nvPicPr>
        <p:blipFill>
          <a:blip xmlns:r="http://schemas.openxmlformats.org/officeDocument/2006/relationships" xmlns:a="http://schemas.openxmlformats.org/drawingml/2006/main" r:embed="R8e29ab4c18884fc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311A9DD-284F-40E9-95B0-B89BC4C416E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01   13/24</a:t>
            </a:r>
          </a:p>
        </p:txBody>
      </p:sp>
      <p:sp>
        <p:nvSpPr>
          <p:cNvPr id="4" name="">
            <a:extLst xmlns:a="http://schemas.openxmlformats.org/drawingml/2006/main">
              <a:ext uri="{FF2B5EF4-FFF2-40B4-BE49-F238E27FC236}">
                <a16:creationId xmlns:a16="http://schemas.microsoft.com/office/drawing/2014/main" id="{F5A550D0-9B21-4DBB-97BF-521C291366D2}"/>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Un arnés entra entre FC y ESC. ¿Se conecta para probar?</a:t>
            </a:r>
          </a:p>
        </p:txBody>
      </p:sp>
      <p:sp>
        <p:nvSpPr>
          <p:cNvPr id="5" name="">
            <a:extLst xmlns:a="http://schemas.openxmlformats.org/drawingml/2006/main">
              <a:ext uri="{FF2B5EF4-FFF2-40B4-BE49-F238E27FC236}">
                <a16:creationId xmlns:a16="http://schemas.microsoft.com/office/drawing/2014/main" id="{293788C5-091C-4283-8913-E5887C2031C3}"/>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Primero se comparan los contactos y tensiones de ambos extremos. Encajar es una comprobación mecánica; falta demostrar compatibilidad eléctrica.</a:t>
            </a:r>
          </a:p>
        </p:txBody>
      </p:sp>
    </p:spTree>
    <p:extLst>
      <p:ext uri="{BB962C8B-B14F-4D97-AF65-F5344CB8AC3E}">
        <p14:creationId xmlns:p14="http://schemas.microsoft.com/office/powerpoint/2010/main" val="1794752027"/>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8BBF67E-790F-4927-853A-94C63328953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Laboratorio de arquitectura y requisitos</a:t>
            </a:r>
          </a:p>
        </p:txBody>
      </p:sp>
      <p:pic>
        <p:nvPicPr>
          <p:cNvPr id="2" name="">
            <a:extLst xmlns:a="http://schemas.openxmlformats.org/drawingml/2006/main">
              <a:ext uri="{FF2B5EF4-FFF2-40B4-BE49-F238E27FC236}">
                <a16:creationId xmlns:a16="http://schemas.microsoft.com/office/drawing/2014/main" id="{A5DE8A5E-D8F4-4825-AD86-6185ADCC436B}"/>
              </a:ext>
            </a:extLst>
          </p:cNvPr>
          <p:cNvPicPr>
            <a:picLocks xmlns:a="http://schemas.openxmlformats.org/drawingml/2006/main" noChangeAspect="1"/>
          </p:cNvPicPr>
          <p:nvPr/>
        </p:nvPicPr>
        <p:blipFill>
          <a:blip xmlns:r="http://schemas.openxmlformats.org/officeDocument/2006/relationships" xmlns:a="http://schemas.openxmlformats.org/drawingml/2006/main" r:embed="Rf1d987b7d7d0494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45C958E-78A9-48E6-9E94-E48C35CA352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14/24</a:t>
            </a:r>
          </a:p>
        </p:txBody>
      </p:sp>
      <p:sp>
        <p:nvSpPr>
          <p:cNvPr id="4" name="">
            <a:extLst xmlns:a="http://schemas.openxmlformats.org/drawingml/2006/main">
              <a:ext uri="{FF2B5EF4-FFF2-40B4-BE49-F238E27FC236}">
                <a16:creationId xmlns:a16="http://schemas.microsoft.com/office/drawing/2014/main" id="{B521CCB5-0B8B-40E0-867B-853F9BD329AC}"/>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Para trabajar en línea basta la fotografía y la documentación. Si el docente muestra un equipo armado, se conserva su configuración como referencia y se anotan los elementos que no pueden verse. Una carcasa, una etiqueta tapada o una revisión de placa diferente puede cambiar una conclusión. La primera práctica se entrega como una hoja clara, no como una colección de capturas sin relación.</a:t>
            </a:r>
          </a:p>
        </p:txBody>
      </p:sp>
    </p:spTree>
    <p:extLst>
      <p:ext uri="{BB962C8B-B14F-4D97-AF65-F5344CB8AC3E}">
        <p14:creationId xmlns:p14="http://schemas.microsoft.com/office/powerpoint/2010/main" val="1692037661"/>
      </p:ext>
    </p:extLst>
  </p:cSld>
</p:sld>
</file>

<file path=ppt/slides/slide1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C42174-BC9E-4A1F-9954-F511A448E30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96ABCA6A-B8EF-48B6-87D2-6CB4BBD7F2A2}"/>
              </a:ext>
            </a:extLst>
          </p:cNvPr>
          <p:cNvPicPr>
            <a:picLocks xmlns:a="http://schemas.openxmlformats.org/drawingml/2006/main" noChangeAspect="1"/>
          </p:cNvPicPr>
          <p:nvPr/>
        </p:nvPicPr>
        <p:blipFill>
          <a:blip xmlns:r="http://schemas.openxmlformats.org/officeDocument/2006/relationships" xmlns:a="http://schemas.openxmlformats.org/drawingml/2006/main" r:embed="Rdb0942693d394f8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AD230B0-4AFE-4B1B-8CC9-C26565DFF7B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01   15/24</a:t>
            </a:r>
          </a:p>
        </p:txBody>
      </p:sp>
      <p:sp>
        <p:nvSpPr>
          <p:cNvPr id="4" name="">
            <a:extLst xmlns:a="http://schemas.openxmlformats.org/drawingml/2006/main">
              <a:ext uri="{FF2B5EF4-FFF2-40B4-BE49-F238E27FC236}">
                <a16:creationId xmlns:a16="http://schemas.microsoft.com/office/drawing/2014/main" id="{FE6C373C-7D4A-4FCA-AF61-84DD41A6D3F4}"/>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¿FPV es un firmware?</a:t>
            </a:r>
          </a:p>
        </p:txBody>
      </p:sp>
      <p:sp>
        <p:nvSpPr>
          <p:cNvPr id="5" name="">
            <a:extLst xmlns:a="http://schemas.openxmlformats.org/drawingml/2006/main">
              <a:ext uri="{FF2B5EF4-FFF2-40B4-BE49-F238E27FC236}">
                <a16:creationId xmlns:a16="http://schemas.microsoft.com/office/drawing/2014/main" id="{6BBB76AD-743F-476D-8CDC-4FBA263B8743}"/>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La revisión entre compañeros consiste en seguir un recorrido completo: una orden humana debe llegar a una salida prevista y la energía debe alimentar las etapas correspondientes. Si faltó un retorno, una interfaz o el componente que genera la orden, el dibujo ayuda a descubrirlo antes del taller.</a:t>
            </a:r>
          </a:p>
        </p:txBody>
      </p:sp>
    </p:spTree>
    <p:extLst>
      <p:ext uri="{BB962C8B-B14F-4D97-AF65-F5344CB8AC3E}">
        <p14:creationId xmlns:p14="http://schemas.microsoft.com/office/powerpoint/2010/main" val="950067820"/>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DBE129C-E116-482D-A41A-83D07D3FF93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 Laboratorio de arquitectura y requisitos</a:t>
            </a:r>
          </a:p>
        </p:txBody>
      </p:sp>
      <p:pic>
        <p:nvPicPr>
          <p:cNvPr id="2" name="">
            <a:extLst xmlns:a="http://schemas.openxmlformats.org/drawingml/2006/main">
              <a:ext uri="{FF2B5EF4-FFF2-40B4-BE49-F238E27FC236}">
                <a16:creationId xmlns:a16="http://schemas.microsoft.com/office/drawing/2014/main" id="{7057395A-5E17-4B47-B704-A10084AA8D54}"/>
              </a:ext>
            </a:extLst>
          </p:cNvPr>
          <p:cNvPicPr>
            <a:picLocks xmlns:a="http://schemas.openxmlformats.org/drawingml/2006/main" noChangeAspect="1"/>
          </p:cNvPicPr>
          <p:nvPr/>
        </p:nvPicPr>
        <p:blipFill>
          <a:blip xmlns:r="http://schemas.openxmlformats.org/officeDocument/2006/relationships" xmlns:a="http://schemas.openxmlformats.org/drawingml/2006/main" r:embed="R151a3f7fd16941f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118B9AF-43E3-4AE1-B9E8-E0580B4D8A2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16/24</a:t>
            </a:r>
          </a:p>
        </p:txBody>
      </p:sp>
      <p:sp>
        <p:nvSpPr>
          <p:cNvPr id="4" name="">
            <a:extLst xmlns:a="http://schemas.openxmlformats.org/drawingml/2006/main">
              <a:ext uri="{FF2B5EF4-FFF2-40B4-BE49-F238E27FC236}">
                <a16:creationId xmlns:a16="http://schemas.microsoft.com/office/drawing/2014/main" id="{D7B6FF17-5564-471B-ACA2-A55170F18627}"/>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Observa las fotografías o el dron del docente. Identifica bastidor, propulsión, energía, control y enlace.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Elige 5, 7 o 12 pulgadas para el expediente de aula y explica el propósito. No implica comprar ese equipo.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Crea una tabla de masas preliminares y separa dato medido, dato de fabricante y estimación.</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Dibuja energía y señal con referencias de origen y destino. Marca los componentes opcionales.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Registra tres condiciones necesarias y dos preferencias. Una condición debe poder comprobarse.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Selecciona una incompatibilidad posible y explica qué documento la resolvería.</a:t>
            </a:r>
          </a:p>
        </p:txBody>
      </p:sp>
    </p:spTree>
    <p:extLst>
      <p:ext uri="{BB962C8B-B14F-4D97-AF65-F5344CB8AC3E}">
        <p14:creationId xmlns:p14="http://schemas.microsoft.com/office/powerpoint/2010/main" val="762641637"/>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BFF9973-709C-495C-AE31-9B233963C4C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debemos saber antes de la siguiente clase</a:t>
            </a:r>
          </a:p>
        </p:txBody>
      </p:sp>
      <p:pic>
        <p:nvPicPr>
          <p:cNvPr id="2" name="">
            <a:extLst xmlns:a="http://schemas.openxmlformats.org/drawingml/2006/main">
              <a:ext uri="{FF2B5EF4-FFF2-40B4-BE49-F238E27FC236}">
                <a16:creationId xmlns:a16="http://schemas.microsoft.com/office/drawing/2014/main" id="{A73069C6-3279-400F-B7CA-002920756EF6}"/>
              </a:ext>
            </a:extLst>
          </p:cNvPr>
          <p:cNvPicPr>
            <a:picLocks xmlns:a="http://schemas.openxmlformats.org/drawingml/2006/main" noChangeAspect="1"/>
          </p:cNvPicPr>
          <p:nvPr/>
        </p:nvPicPr>
        <p:blipFill>
          <a:blip xmlns:r="http://schemas.openxmlformats.org/officeDocument/2006/relationships" xmlns:a="http://schemas.openxmlformats.org/drawingml/2006/main" r:embed="R92335a1e1be7486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4E84361-3FD8-4C99-AC2B-DE78C93F4D8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17/24</a:t>
            </a:r>
          </a:p>
        </p:txBody>
      </p:sp>
      <p:sp>
        <p:nvSpPr>
          <p:cNvPr id="4" name="">
            <a:extLst xmlns:a="http://schemas.openxmlformats.org/drawingml/2006/main">
              <a:ext uri="{FF2B5EF4-FFF2-40B4-BE49-F238E27FC236}">
                <a16:creationId xmlns:a16="http://schemas.microsoft.com/office/drawing/2014/main" id="{4BBC9CD0-FC18-4CD4-94DD-26C56E1EB1EF}"/>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 constructor necesita vocabulario para plantear decisiones. Bastidor no equivale a aeronave completa; controladora no equivale a ESC; tamaño no equivale a carga útil. La siguiente clase utilizará esta separación para seleccionar motor, hélice y batería con un caso numérico. El objetivo es explicar una combinación y sus límites, en lugar de memorizar una receta de compras.</a:t>
            </a:r>
          </a:p>
        </p:txBody>
      </p:sp>
    </p:spTree>
    <p:extLst>
      <p:ext uri="{BB962C8B-B14F-4D97-AF65-F5344CB8AC3E}">
        <p14:creationId xmlns:p14="http://schemas.microsoft.com/office/powerpoint/2010/main" val="279723383"/>
      </p:ext>
    </p:extLst>
  </p:cSld>
</p:sld>
</file>

<file path=ppt/slides/slide1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191FA48-F8AC-403B-AB0F-88F432D8B47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Investigación breve</a:t>
            </a:r>
          </a:p>
        </p:txBody>
      </p:sp>
      <p:pic>
        <p:nvPicPr>
          <p:cNvPr id="2" name="">
            <a:extLst xmlns:a="http://schemas.openxmlformats.org/drawingml/2006/main">
              <a:ext uri="{FF2B5EF4-FFF2-40B4-BE49-F238E27FC236}">
                <a16:creationId xmlns:a16="http://schemas.microsoft.com/office/drawing/2014/main" id="{851C515E-C5B9-4502-892A-AEB16D3031CB}"/>
              </a:ext>
            </a:extLst>
          </p:cNvPr>
          <p:cNvPicPr>
            <a:picLocks xmlns:a="http://schemas.openxmlformats.org/drawingml/2006/main" noChangeAspect="1"/>
          </p:cNvPicPr>
          <p:nvPr/>
        </p:nvPicPr>
        <p:blipFill>
          <a:blip xmlns:r="http://schemas.openxmlformats.org/officeDocument/2006/relationships" xmlns:a="http://schemas.openxmlformats.org/drawingml/2006/main" r:embed="R4730951f99f643a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0B443DC-4074-4C4F-B22A-B4E3D32396F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18/24</a:t>
            </a:r>
          </a:p>
        </p:txBody>
      </p:sp>
      <p:graphicFrame>
        <p:nvGraphicFramePr>
          <p:cNvPr id="4" name="">
            <a:extLst xmlns:a="http://schemas.openxmlformats.org/drawingml/2006/main">
              <a:ext uri="{FF2B5EF4-FFF2-40B4-BE49-F238E27FC236}">
                <a16:creationId xmlns:a16="http://schemas.microsoft.com/office/drawing/2014/main" id="{6BA5E59F-40CF-46F6-8F4A-1EAD1D8163DE}"/>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Pregunta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Dónde buscar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Resultado esperado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¿Qué hélice admite el bastidor?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Plano o ficha del bastidor</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Dimensión y condición</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¿Qué firmware admite la FC?</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Manual y target del proyecto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Placa exacta</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¿Qué entra en masa total?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Lista y balanza</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Inventario coherente</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681819315"/>
      </p:ext>
    </p:extLst>
  </p:cSld>
</p:sld>
</file>

<file path=ppt/slides/slide1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5EBA058-AE36-440A-9177-F23D8ECFFCD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Qué debemos saber antes de la siguiente clase</a:t>
            </a:r>
          </a:p>
        </p:txBody>
      </p:sp>
      <p:pic>
        <p:nvPicPr>
          <p:cNvPr id="2" name="">
            <a:extLst xmlns:a="http://schemas.openxmlformats.org/drawingml/2006/main">
              <a:ext uri="{FF2B5EF4-FFF2-40B4-BE49-F238E27FC236}">
                <a16:creationId xmlns:a16="http://schemas.microsoft.com/office/drawing/2014/main" id="{DDCCA27B-F276-4BA4-A34E-C2C90DA45FD8}"/>
              </a:ext>
            </a:extLst>
          </p:cNvPr>
          <p:cNvPicPr>
            <a:picLocks xmlns:a="http://schemas.openxmlformats.org/drawingml/2006/main" noChangeAspect="1"/>
          </p:cNvPicPr>
          <p:nvPr/>
        </p:nvPicPr>
        <p:blipFill>
          <a:blip xmlns:r="http://schemas.openxmlformats.org/officeDocument/2006/relationships" xmlns:a="http://schemas.openxmlformats.org/drawingml/2006/main" r:embed="Rb2485742823348c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A2F030D-F1DC-499D-B2DE-D5B1CAD6658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19/24</a:t>
            </a:r>
          </a:p>
        </p:txBody>
      </p:sp>
      <p:sp>
        <p:nvSpPr>
          <p:cNvPr id="4" name="">
            <a:extLst xmlns:a="http://schemas.openxmlformats.org/drawingml/2006/main">
              <a:ext uri="{FF2B5EF4-FFF2-40B4-BE49-F238E27FC236}">
                <a16:creationId xmlns:a16="http://schemas.microsoft.com/office/drawing/2014/main" id="{0677D468-D514-4A0E-B3A6-6A21303923D1}"/>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Como lectura de profundización se propone Beard y McLain para reconocer cómo se organizan dinámica, sensores y control. Es una referencia avanzada de UAV, con énfasis en ala fija; no se convierte en prerrequisito de cálculo para este curso de ensamblaje multirrotor. Los manuales del fabricante del equipo real son la referencia inmediata para límites y conectores.</a:t>
            </a:r>
          </a:p>
        </p:txBody>
      </p:sp>
    </p:spTree>
    <p:extLst>
      <p:ext uri="{BB962C8B-B14F-4D97-AF65-F5344CB8AC3E}">
        <p14:creationId xmlns:p14="http://schemas.microsoft.com/office/powerpoint/2010/main" val="2049372700"/>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41264E-594E-4623-B50C-3048C7E4059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guiada</a:t>
            </a:r>
          </a:p>
        </p:txBody>
      </p:sp>
      <p:pic>
        <p:nvPicPr>
          <p:cNvPr id="2" name="">
            <a:extLst xmlns:a="http://schemas.openxmlformats.org/drawingml/2006/main">
              <a:ext uri="{FF2B5EF4-FFF2-40B4-BE49-F238E27FC236}">
                <a16:creationId xmlns:a16="http://schemas.microsoft.com/office/drawing/2014/main" id="{D0FA31D5-A8DA-4D14-B6D9-050F26201BE9}"/>
              </a:ext>
            </a:extLst>
          </p:cNvPr>
          <p:cNvPicPr>
            <a:picLocks xmlns:a="http://schemas.openxmlformats.org/drawingml/2006/main" noChangeAspect="1"/>
          </p:cNvPicPr>
          <p:nvPr/>
        </p:nvPicPr>
        <p:blipFill>
          <a:blip xmlns:r="http://schemas.openxmlformats.org/officeDocument/2006/relationships" xmlns:a="http://schemas.openxmlformats.org/drawingml/2006/main" r:embed="Re40e55aa0b6f4b1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564A9F3-7F8A-4708-B521-1A997BAEE5A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20/24</a:t>
            </a:r>
          </a:p>
        </p:txBody>
      </p:sp>
      <p:sp>
        <p:nvSpPr>
          <p:cNvPr id="4" name="">
            <a:extLst xmlns:a="http://schemas.openxmlformats.org/drawingml/2006/main">
              <a:ext uri="{FF2B5EF4-FFF2-40B4-BE49-F238E27FC236}">
                <a16:creationId xmlns:a16="http://schemas.microsoft.com/office/drawing/2014/main" id="{7178A8CD-4A8C-4C38-877D-0F1B8F131550}"/>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Presentar un dron completo y recorrer energía y señal.</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Comparar las tres dimensiones de referencia sin asignarles capacidades universales.</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Resolver el cambio de área de 5 a 7 pulgadas.</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Revisar requisitos y una incompatibilidad por estudiante.</a:t>
            </a:r>
          </a:p>
        </p:txBody>
      </p:sp>
    </p:spTree>
    <p:extLst>
      <p:ext uri="{BB962C8B-B14F-4D97-AF65-F5344CB8AC3E}">
        <p14:creationId xmlns:p14="http://schemas.microsoft.com/office/powerpoint/2010/main" val="1133232314"/>
      </p:ext>
    </p:extLst>
  </p:cSld>
</p:sld>
</file>

<file path=ppt/slides/slide2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4E1D51-30EA-48AC-BDCE-5EA4D5B84B9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Decisión de ensamblaje</a:t>
            </a:r>
          </a:p>
        </p:txBody>
      </p:sp>
      <p:pic>
        <p:nvPicPr>
          <p:cNvPr id="2" name="">
            <a:extLst xmlns:a="http://schemas.openxmlformats.org/drawingml/2006/main">
              <a:ext uri="{FF2B5EF4-FFF2-40B4-BE49-F238E27FC236}">
                <a16:creationId xmlns:a16="http://schemas.microsoft.com/office/drawing/2014/main" id="{2E53D1D0-6DD9-4E9C-B300-E0597B972981}"/>
              </a:ext>
            </a:extLst>
          </p:cNvPr>
          <p:cNvPicPr>
            <a:picLocks xmlns:a="http://schemas.openxmlformats.org/drawingml/2006/main" noChangeAspect="1"/>
          </p:cNvPicPr>
          <p:nvPr/>
        </p:nvPicPr>
        <p:blipFill>
          <a:blip xmlns:r="http://schemas.openxmlformats.org/officeDocument/2006/relationships" xmlns:a="http://schemas.openxmlformats.org/drawingml/2006/main" r:embed="Rc52af55eec944a6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31CDA86-186F-488C-9311-0434393326A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01   21/24</a:t>
            </a:r>
          </a:p>
        </p:txBody>
      </p:sp>
      <p:sp>
        <p:nvSpPr>
          <p:cNvPr id="4" name="">
            <a:extLst xmlns:a="http://schemas.openxmlformats.org/drawingml/2006/main">
              <a:ext uri="{FF2B5EF4-FFF2-40B4-BE49-F238E27FC236}">
                <a16:creationId xmlns:a16="http://schemas.microsoft.com/office/drawing/2014/main" id="{8C320C3F-490D-405B-A42F-2EEF0378CD6E}"/>
              </a:ext>
            </a:extLst>
          </p:cNvPr>
          <p:cNvSpPr>
            <a:spLocks xmlns:a="http://schemas.openxmlformats.org/drawingml/2006/main" noGrp="1"/>
          </p:cNvSpPr>
          <p:nvPr/>
        </p:nvSpPr>
        <p:spPr>
          <a:xfrm xmlns:a="http://schemas.openxmlformats.org/drawingml/2006/main">
            <a:off x="590550" y="1762125"/>
            <a:ext cx="107156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El primer resultado es un plano funcional del equipo, con propósito, tamaño de hélice y componentes identificados.</a:t>
            </a:r>
          </a:p>
        </p:txBody>
      </p:sp>
      <p:sp>
        <p:nvSpPr>
          <p:cNvPr id="5" name="">
            <a:extLst xmlns:a="http://schemas.openxmlformats.org/drawingml/2006/main">
              <a:ext uri="{FF2B5EF4-FFF2-40B4-BE49-F238E27FC236}">
                <a16:creationId xmlns:a16="http://schemas.microsoft.com/office/drawing/2014/main" id="{9FF9BEEF-0903-4310-A4CD-32E5EA000DD6}"/>
              </a:ext>
            </a:extLst>
          </p:cNvPr>
          <p:cNvSpPr>
            <a:spLocks xmlns:a="http://schemas.openxmlformats.org/drawingml/2006/main" noGrp="1"/>
          </p:cNvSpPr>
          <p:nvPr/>
        </p:nvSpPr>
        <p:spPr>
          <a:xfrm xmlns:a="http://schemas.openxmlformats.org/drawingml/2006/main">
            <a:off x="590550" y="3914775"/>
            <a:ext cx="10715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Explica una decisión con una pieza, el esquema o un dato. ¿Qué falta comprobar?</a:t>
            </a:r>
          </a:p>
        </p:txBody>
      </p:sp>
    </p:spTree>
    <p:extLst>
      <p:ext uri="{BB962C8B-B14F-4D97-AF65-F5344CB8AC3E}">
        <p14:creationId xmlns:p14="http://schemas.microsoft.com/office/powerpoint/2010/main" val="1110820598"/>
      </p:ext>
    </p:extLst>
  </p:cSld>
</p:sld>
</file>

<file path=ppt/slides/slide22.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AE74964-3863-452B-9636-D0F68938842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Preguntas de cierre</a:t>
            </a:r>
          </a:p>
        </p:txBody>
      </p:sp>
      <p:pic>
        <p:nvPicPr>
          <p:cNvPr id="2" name="">
            <a:extLst xmlns:a="http://schemas.openxmlformats.org/drawingml/2006/main">
              <a:ext uri="{FF2B5EF4-FFF2-40B4-BE49-F238E27FC236}">
                <a16:creationId xmlns:a16="http://schemas.microsoft.com/office/drawing/2014/main" id="{64BF9C8C-9B3D-46DE-82B0-598F8A6DCEC8}"/>
              </a:ext>
            </a:extLst>
          </p:cNvPr>
          <p:cNvPicPr>
            <a:picLocks xmlns:a="http://schemas.openxmlformats.org/drawingml/2006/main" noChangeAspect="1"/>
          </p:cNvPicPr>
          <p:nvPr/>
        </p:nvPicPr>
        <p:blipFill>
          <a:blip xmlns:r="http://schemas.openxmlformats.org/officeDocument/2006/relationships" xmlns:a="http://schemas.openxmlformats.org/drawingml/2006/main" r:embed="R1199122d87c343f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AE0F446-79D9-45E0-9978-489F4AE34D6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01   22/24</a:t>
            </a:r>
          </a:p>
        </p:txBody>
      </p:sp>
      <p:sp>
        <p:nvSpPr>
          <p:cNvPr id="4" name="">
            <a:extLst xmlns:a="http://schemas.openxmlformats.org/drawingml/2006/main">
              <a:ext uri="{FF2B5EF4-FFF2-40B4-BE49-F238E27FC236}">
                <a16:creationId xmlns:a16="http://schemas.microsoft.com/office/drawing/2014/main" id="{162DA8CE-2685-4B6B-A8B9-E9AA9A089EF3}"/>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¿5 pulgadas describe necesariamente el bastidor?</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¿FPV es un firmware?</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¿F405 basta para elegir firmware?</a:t>
            </a:r>
          </a:p>
        </p:txBody>
      </p:sp>
    </p:spTree>
    <p:extLst>
      <p:ext uri="{BB962C8B-B14F-4D97-AF65-F5344CB8AC3E}">
        <p14:creationId xmlns:p14="http://schemas.microsoft.com/office/powerpoint/2010/main" val="336448811"/>
      </p:ext>
    </p:extLst>
  </p:cSld>
</p:sld>
</file>

<file path=ppt/slides/slide2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5F06C6F-2CB9-4F0A-B254-B7B52E02475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Respuestas y razonamiento</a:t>
            </a:r>
          </a:p>
        </p:txBody>
      </p:sp>
      <p:pic>
        <p:nvPicPr>
          <p:cNvPr id="2" name="">
            <a:extLst xmlns:a="http://schemas.openxmlformats.org/drawingml/2006/main">
              <a:ext uri="{FF2B5EF4-FFF2-40B4-BE49-F238E27FC236}">
                <a16:creationId xmlns:a16="http://schemas.microsoft.com/office/drawing/2014/main" id="{2A287267-22A5-4FF0-AA7F-6D84BBEE6302}"/>
              </a:ext>
            </a:extLst>
          </p:cNvPr>
          <p:cNvPicPr>
            <a:picLocks xmlns:a="http://schemas.openxmlformats.org/drawingml/2006/main" noChangeAspect="1"/>
          </p:cNvPicPr>
          <p:nvPr/>
        </p:nvPicPr>
        <p:blipFill>
          <a:blip xmlns:r="http://schemas.openxmlformats.org/officeDocument/2006/relationships" xmlns:a="http://schemas.openxmlformats.org/drawingml/2006/main" r:embed="Rb2200e5d177d450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F7AC331-1815-44D6-86D3-1BC1781F5C2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23/24</a:t>
            </a:r>
          </a:p>
        </p:txBody>
      </p:sp>
      <p:sp>
        <p:nvSpPr>
          <p:cNvPr id="4" name="">
            <a:extLst xmlns:a="http://schemas.openxmlformats.org/drawingml/2006/main">
              <a:ext uri="{FF2B5EF4-FFF2-40B4-BE49-F238E27FC236}">
                <a16:creationId xmlns:a16="http://schemas.microsoft.com/office/drawing/2014/main" id="{134B579B-B406-4F52-B861-11323390D6C8}"/>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En la referencia del curso describe la hélice. Se comprueban las cotas reales del bastidor.</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No. Es una forma de obtener vista desde la aeronave; puede coexistir con diferentes sistemas.</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No. Hace falta identificar la placa, revisión y target exactos.</a:t>
            </a:r>
          </a:p>
        </p:txBody>
      </p:sp>
    </p:spTree>
    <p:extLst>
      <p:ext uri="{BB962C8B-B14F-4D97-AF65-F5344CB8AC3E}">
        <p14:creationId xmlns:p14="http://schemas.microsoft.com/office/powerpoint/2010/main" val="1367100173"/>
      </p:ext>
    </p:extLst>
  </p:cSld>
</p:sld>
</file>

<file path=ppt/slides/slide2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32675C-A122-4202-97BA-485460A6487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450FE249-16DF-454B-83A5-3BC88CAA68E8}"/>
              </a:ext>
            </a:extLst>
          </p:cNvPr>
          <p:cNvPicPr>
            <a:picLocks xmlns:a="http://schemas.openxmlformats.org/drawingml/2006/main" noChangeAspect="1"/>
          </p:cNvPicPr>
          <p:nvPr/>
        </p:nvPicPr>
        <p:blipFill>
          <a:blip xmlns:r="http://schemas.openxmlformats.org/officeDocument/2006/relationships" xmlns:a="http://schemas.openxmlformats.org/drawingml/2006/main" r:embed="R43bcdab32364428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8A629D2-1059-4D1A-9AD6-D8B631DB682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01   24/24</a:t>
            </a:r>
          </a:p>
        </p:txBody>
      </p:sp>
      <p:sp>
        <p:nvSpPr>
          <p:cNvPr id="4" name="">
            <a:extLst xmlns:a="http://schemas.openxmlformats.org/drawingml/2006/main">
              <a:ext uri="{FF2B5EF4-FFF2-40B4-BE49-F238E27FC236}">
                <a16:creationId xmlns:a16="http://schemas.microsoft.com/office/drawing/2014/main" id="{68DAEB28-0A64-45A7-9152-CD05D4C8E2AE}"/>
              </a:ext>
            </a:extLst>
          </p:cNvPr>
          <p:cNvSpPr>
            <a:spLocks xmlns:a="http://schemas.openxmlformats.org/drawingml/2006/main" noGrp="1"/>
          </p:cNvSpPr>
          <p:nvPr/>
        </p:nvSpPr>
        <p:spPr>
          <a:xfrm xmlns:a="http://schemas.openxmlformats.org/drawingml/2006/main">
            <a:off x="590550" y="1771650"/>
            <a:ext cx="10715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Arquitectura funcional, requisitos y tabla preliminar de masas de una referencia.</a:t>
            </a:r>
          </a:p>
        </p:txBody>
      </p:sp>
      <p:sp>
        <p:nvSpPr>
          <p:cNvPr id="5" name="">
            <a:extLst xmlns:a="http://schemas.openxmlformats.org/drawingml/2006/main">
              <a:ext uri="{FF2B5EF4-FFF2-40B4-BE49-F238E27FC236}">
                <a16:creationId xmlns:a16="http://schemas.microsoft.com/office/drawing/2014/main" id="{5C7965A8-9150-4F8D-9616-2C7DD654CA07}"/>
              </a:ext>
            </a:extLst>
          </p:cNvPr>
          <p:cNvSpPr>
            <a:spLocks xmlns:a="http://schemas.openxmlformats.org/drawingml/2006/main" noGrp="1"/>
          </p:cNvSpPr>
          <p:nvPr/>
        </p:nvSpPr>
        <p:spPr>
          <a:xfrm xmlns:a="http://schemas.openxmlformats.org/drawingml/2006/main">
            <a:off x="590550" y="44767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Identifica versión, unidad y procedencia. Conserva la evidencia y explica qué probarías después.</a:t>
            </a:r>
          </a:p>
        </p:txBody>
      </p:sp>
    </p:spTree>
    <p:extLst>
      <p:ext uri="{BB962C8B-B14F-4D97-AF65-F5344CB8AC3E}">
        <p14:creationId xmlns:p14="http://schemas.microsoft.com/office/powerpoint/2010/main" val="754167762"/>
      </p:ext>
    </p:extLst>
  </p:cSld>
</p:sld>
</file>

<file path=ppt/slides/slide2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CEC5557-492C-4B7A-A275-F08812342AE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Seleccionar motor, hélice, ESC y batería con criterio</a:t>
            </a:r>
          </a:p>
        </p:txBody>
      </p:sp>
      <p:pic>
        <p:nvPicPr>
          <p:cNvPr id="2" name="">
            <a:extLst xmlns:a="http://schemas.openxmlformats.org/drawingml/2006/main">
              <a:ext uri="{FF2B5EF4-FFF2-40B4-BE49-F238E27FC236}">
                <a16:creationId xmlns:a16="http://schemas.microsoft.com/office/drawing/2014/main" id="{819BE3BC-39DB-4F29-B905-DD4270153902}"/>
              </a:ext>
            </a:extLst>
          </p:cNvPr>
          <p:cNvPicPr>
            <a:picLocks xmlns:a="http://schemas.openxmlformats.org/drawingml/2006/main" noChangeAspect="1"/>
          </p:cNvPicPr>
          <p:nvPr/>
        </p:nvPicPr>
        <p:blipFill>
          <a:blip xmlns:r="http://schemas.openxmlformats.org/officeDocument/2006/relationships" xmlns:a="http://schemas.openxmlformats.org/drawingml/2006/main" r:embed="Rf52f64f2d595455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0469E0E-1AB1-4EDC-8113-12A9471C7AD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02   01/24</a:t>
            </a:r>
          </a:p>
        </p:txBody>
      </p:sp>
      <p:sp>
        <p:nvSpPr>
          <p:cNvPr id="4" name="">
            <a:extLst xmlns:a="http://schemas.openxmlformats.org/drawingml/2006/main">
              <a:ext uri="{FF2B5EF4-FFF2-40B4-BE49-F238E27FC236}">
                <a16:creationId xmlns:a16="http://schemas.microsoft.com/office/drawing/2014/main" id="{880FC1C3-EBFC-4637-AA40-936C75A731CF}"/>
              </a:ext>
            </a:extLst>
          </p:cNvPr>
          <p:cNvSpPr>
            <a:spLocks xmlns:a="http://schemas.openxmlformats.org/drawingml/2006/main" noGrp="1"/>
          </p:cNvSpPr>
          <p:nvPr/>
        </p:nvSpPr>
        <p:spPr>
          <a:xfrm xmlns:a="http://schemas.openxmlformats.org/drawingml/2006/main">
            <a:off x="590550" y="1762125"/>
            <a:ext cx="1071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Justificar una cadena de propulsión compatible mediante masa, empuje, corriente y energía.</a:t>
            </a:r>
          </a:p>
        </p:txBody>
      </p:sp>
      <p:sp>
        <p:nvSpPr>
          <p:cNvPr id="5" name="">
            <a:extLst xmlns:a="http://schemas.openxmlformats.org/drawingml/2006/main">
              <a:ext uri="{FF2B5EF4-FFF2-40B4-BE49-F238E27FC236}">
                <a16:creationId xmlns:a16="http://schemas.microsoft.com/office/drawing/2014/main" id="{E8EF118E-2289-4AFB-85B2-C521FC40F27C}"/>
              </a:ext>
            </a:extLst>
          </p:cNvPr>
          <p:cNvSpPr>
            <a:spLocks xmlns:a="http://schemas.openxmlformats.org/drawingml/2006/main" noGrp="1"/>
          </p:cNvSpPr>
          <p:nvPr/>
        </p:nvSpPr>
        <p:spPr>
          <a:xfrm xmlns:a="http://schemas.openxmlformats.org/drawingml/2006/main">
            <a:off x="590550" y="3714750"/>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La lista de compra debe explicar por qué las piezas funcionan juntas y qué ensayo del fabricante respalda la selección.</a:t>
            </a:r>
          </a:p>
        </p:txBody>
      </p:sp>
      <p:sp>
        <p:nvSpPr>
          <p:cNvPr id="6" name="">
            <a:extLst xmlns:a="http://schemas.openxmlformats.org/drawingml/2006/main">
              <a:ext uri="{FF2B5EF4-FFF2-40B4-BE49-F238E27FC236}">
                <a16:creationId xmlns:a16="http://schemas.microsoft.com/office/drawing/2014/main" id="{17A29B36-230D-4682-A443-F1D834484CE9}"/>
              </a:ext>
            </a:extLst>
          </p:cNvPr>
          <p:cNvSpPr>
            <a:spLocks xmlns:a="http://schemas.openxmlformats.org/drawingml/2006/main" noGrp="1"/>
          </p:cNvSpPr>
          <p:nvPr/>
        </p:nvSpPr>
        <p:spPr>
          <a:xfrm xmlns:a="http://schemas.openxmlformats.org/drawingml/2006/main">
            <a:off x="590550" y="56959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8C8C1"/>
                </a:solidFill>
                <a:latin typeface="Consolas"/>
                <a:ea typeface="Consolas"/>
                <a:cs typeface="Consolas"/>
              </a:defRPr>
            </a:defPPr>
            <a:lvl1pPr>
              <a:defRPr sz="1725" b="0">
                <a:solidFill>
                  <a:srgbClr val="B8C8C1"/>
                </a:solidFill>
                <a:latin typeface="Consolas"/>
                <a:ea typeface="Consolas"/>
                <a:cs typeface="Consolas"/>
              </a:defRPr>
            </a:lvl1pPr>
            <a:lvl2pPr>
              <a:defRPr sz="1725" b="0">
                <a:solidFill>
                  <a:srgbClr val="B8C8C1"/>
                </a:solidFill>
                <a:latin typeface="Consolas"/>
                <a:ea typeface="Consolas"/>
                <a:cs typeface="Consolas"/>
              </a:defRPr>
            </a:lvl2pPr>
            <a:lvl3pPr>
              <a:defRPr sz="1725" b="0">
                <a:solidFill>
                  <a:srgbClr val="B8C8C1"/>
                </a:solidFill>
                <a:latin typeface="Consolas"/>
                <a:ea typeface="Consolas"/>
                <a:cs typeface="Consolas"/>
              </a:defRPr>
            </a:lvl3pPr>
            <a:lvl4pPr>
              <a:defRPr sz="1725" b="0">
                <a:solidFill>
                  <a:srgbClr val="B8C8C1"/>
                </a:solidFill>
                <a:latin typeface="Consolas"/>
                <a:ea typeface="Consolas"/>
                <a:cs typeface="Consolas"/>
              </a:defRPr>
            </a:lvl4pPr>
            <a:lvl5pPr>
              <a:defRPr sz="1725" b="0">
                <a:solidFill>
                  <a:srgbClr val="B8C8C1"/>
                </a:solidFill>
                <a:latin typeface="Consolas"/>
                <a:ea typeface="Consolas"/>
                <a:cs typeface="Consolas"/>
              </a:defRPr>
            </a:lvl5pPr>
            <a:lvl6pPr>
              <a:defRPr sz="1725" b="0">
                <a:solidFill>
                  <a:srgbClr val="B8C8C1"/>
                </a:solidFill>
                <a:latin typeface="Consolas"/>
                <a:ea typeface="Consolas"/>
                <a:cs typeface="Consolas"/>
              </a:defRPr>
            </a:lvl6pPr>
            <a:lvl7pPr>
              <a:defRPr sz="1725" b="0">
                <a:solidFill>
                  <a:srgbClr val="B8C8C1"/>
                </a:solidFill>
                <a:latin typeface="Consolas"/>
                <a:ea typeface="Consolas"/>
                <a:cs typeface="Consolas"/>
              </a:defRPr>
            </a:lvl7pPr>
            <a:lvl8pPr>
              <a:defRPr sz="1725" b="0">
                <a:solidFill>
                  <a:srgbClr val="B8C8C1"/>
                </a:solidFill>
                <a:latin typeface="Consolas"/>
                <a:ea typeface="Consolas"/>
                <a:cs typeface="Consolas"/>
              </a:defRPr>
            </a:lvl8pPr>
            <a:lvl9pPr>
              <a:defRPr sz="1725" b="0">
                <a:solidFill>
                  <a:srgbClr val="B8C8C1"/>
                </a:solidFill>
                <a:latin typeface="Consolas"/>
                <a:ea typeface="Consolas"/>
                <a:cs typeface="Consolas"/>
              </a:defRPr>
            </a:lvl9pPr>
          </a:lstStyle>
          <a:p xmlns:a="http://schemas.openxmlformats.org/drawingml/2006/main">
            <a:pPr>
              <a:defRPr sz="1725" b="0">
                <a:solidFill>
                  <a:srgbClr val="B8C8C1"/>
                </a:solidFill>
                <a:latin typeface="Consolas"/>
                <a:ea typeface="Consolas"/>
                <a:cs typeface="Consolas"/>
              </a:defRPr>
            </a:pPr>
            <a:r>
              <a:rPr sz="1725" b="0">
                <a:solidFill>
                  <a:srgbClr val="B8C8C1"/>
                </a:solidFill>
                <a:latin typeface="Consolas"/>
                <a:ea typeface="Consolas"/>
                <a:cs typeface="Consolas"/>
              </a:rPr>
              <a:t>EN LÍNEA   2 HORAS</a:t>
            </a:r>
          </a:p>
        </p:txBody>
      </p:sp>
    </p:spTree>
    <p:extLst>
      <p:ext uri="{BB962C8B-B14F-4D97-AF65-F5344CB8AC3E}">
        <p14:creationId xmlns:p14="http://schemas.microsoft.com/office/powerpoint/2010/main" val="1801489197"/>
      </p:ext>
    </p:extLst>
  </p:cSld>
</p:sld>
</file>

<file path=ppt/slides/slide2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005FD8B-1C52-4FA0-B0A5-FD0CC49C9E7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conjunto se selecciona como una cadena</a:t>
            </a:r>
          </a:p>
        </p:txBody>
      </p:sp>
      <p:pic>
        <p:nvPicPr>
          <p:cNvPr id="2" name="">
            <a:extLst xmlns:a="http://schemas.openxmlformats.org/drawingml/2006/main">
              <a:ext uri="{FF2B5EF4-FFF2-40B4-BE49-F238E27FC236}">
                <a16:creationId xmlns:a16="http://schemas.microsoft.com/office/drawing/2014/main" id="{7E718F9E-8F39-48E6-8D54-29B63F8040BC}"/>
              </a:ext>
            </a:extLst>
          </p:cNvPr>
          <p:cNvPicPr>
            <a:picLocks xmlns:a="http://schemas.openxmlformats.org/drawingml/2006/main" noChangeAspect="1"/>
          </p:cNvPicPr>
          <p:nvPr/>
        </p:nvPicPr>
        <p:blipFill>
          <a:blip xmlns:r="http://schemas.openxmlformats.org/officeDocument/2006/relationships" xmlns:a="http://schemas.openxmlformats.org/drawingml/2006/main" r:embed="Reb34e877c48843a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C7B5A0E-DC70-4B0A-9346-5BEFFD47721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02/24</a:t>
            </a:r>
          </a:p>
        </p:txBody>
      </p:sp>
      <p:sp>
        <p:nvSpPr>
          <p:cNvPr id="4" name="">
            <a:extLst xmlns:a="http://schemas.openxmlformats.org/drawingml/2006/main">
              <a:ext uri="{FF2B5EF4-FFF2-40B4-BE49-F238E27FC236}">
                <a16:creationId xmlns:a16="http://schemas.microsoft.com/office/drawing/2014/main" id="{D420CF4B-5C7B-43A0-AB8E-CD279D09B38E}"/>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motor no produce una cifra única de empuje. La tabla de ensayo debe identificar hélice, tensión, corriente y condiciones. Cambiar una de esas condiciones modifica la carga. El ESC debe admitir la alimentación y el esfuerzo eléctrico y térmico del conjunto; la batería y sus conexiones deben sostener la demanda prevista. La selección funciona de fuera hacia dentro: misión y masa, hélice que cabe, combinación ensayada, alimentación y control compatibles.</a:t>
            </a:r>
          </a:p>
        </p:txBody>
      </p:sp>
    </p:spTree>
    <p:extLst>
      <p:ext uri="{BB962C8B-B14F-4D97-AF65-F5344CB8AC3E}">
        <p14:creationId xmlns:p14="http://schemas.microsoft.com/office/powerpoint/2010/main" val="1625073485"/>
      </p:ext>
    </p:extLst>
  </p:cSld>
</p:sld>
</file>

<file path=ppt/slides/slide2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D314F79-2212-40C2-8D52-20468179DDC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Datos que deben viajar juntos</a:t>
            </a:r>
          </a:p>
        </p:txBody>
      </p:sp>
      <p:pic>
        <p:nvPicPr>
          <p:cNvPr id="2" name="">
            <a:extLst xmlns:a="http://schemas.openxmlformats.org/drawingml/2006/main">
              <a:ext uri="{FF2B5EF4-FFF2-40B4-BE49-F238E27FC236}">
                <a16:creationId xmlns:a16="http://schemas.microsoft.com/office/drawing/2014/main" id="{77547E72-74DC-4F62-A791-0CC3F744B307}"/>
              </a:ext>
            </a:extLst>
          </p:cNvPr>
          <p:cNvPicPr>
            <a:picLocks xmlns:a="http://schemas.openxmlformats.org/drawingml/2006/main" noChangeAspect="1"/>
          </p:cNvPicPr>
          <p:nvPr/>
        </p:nvPicPr>
        <p:blipFill>
          <a:blip xmlns:r="http://schemas.openxmlformats.org/officeDocument/2006/relationships" xmlns:a="http://schemas.openxmlformats.org/drawingml/2006/main" r:embed="R5bd4ff6c375e4aa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66B0F15-70F5-4FCD-B42D-B49214C857F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03/24</a:t>
            </a:r>
          </a:p>
        </p:txBody>
      </p:sp>
      <p:graphicFrame>
        <p:nvGraphicFramePr>
          <p:cNvPr id="4" name="">
            <a:extLst xmlns:a="http://schemas.openxmlformats.org/drawingml/2006/main">
              <a:ext uri="{FF2B5EF4-FFF2-40B4-BE49-F238E27FC236}">
                <a16:creationId xmlns:a16="http://schemas.microsoft.com/office/drawing/2014/main" id="{643EC535-A6DF-49D5-B972-3FD7E0AC6383}"/>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Elemento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Dato necesario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Error frecuente</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Motor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Tamaño, KV, tabla y límites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Elegir solo por KV</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Hélice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Diámetro, paso, palas y sentido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Usar solo diámetro</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ESC</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Tensión, corriente y protocolo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Tomar ráfaga como continua</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Batería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Química, S, capacidad y masa</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Suponer que más mAh siempre ayuda</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778634571"/>
      </p:ext>
    </p:extLst>
  </p:cSld>
</p:sld>
</file>

<file path=ppt/slides/slide2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D641D02-9807-4CB5-AFB1-FC55CDE7D75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El conjunto se selecciona como una cadena</a:t>
            </a:r>
          </a:p>
        </p:txBody>
      </p:sp>
      <p:pic>
        <p:nvPicPr>
          <p:cNvPr id="2" name="">
            <a:extLst xmlns:a="http://schemas.openxmlformats.org/drawingml/2006/main">
              <a:ext uri="{FF2B5EF4-FFF2-40B4-BE49-F238E27FC236}">
                <a16:creationId xmlns:a16="http://schemas.microsoft.com/office/drawing/2014/main" id="{6EC38251-2DF2-4B99-BAA2-5BCE22DD5A86}"/>
              </a:ext>
            </a:extLst>
          </p:cNvPr>
          <p:cNvPicPr>
            <a:picLocks xmlns:a="http://schemas.openxmlformats.org/drawingml/2006/main" noChangeAspect="1"/>
          </p:cNvPicPr>
          <p:nvPr/>
        </p:nvPicPr>
        <p:blipFill>
          <a:blip xmlns:r="http://schemas.openxmlformats.org/officeDocument/2006/relationships" xmlns:a="http://schemas.openxmlformats.org/drawingml/2006/main" r:embed="R5df0630c9eef46d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87E179B-3CC6-423A-9DFC-63F6C214081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04/24</a:t>
            </a:r>
          </a:p>
        </p:txBody>
      </p:sp>
      <p:sp>
        <p:nvSpPr>
          <p:cNvPr id="4" name="">
            <a:extLst xmlns:a="http://schemas.openxmlformats.org/drawingml/2006/main">
              <a:ext uri="{FF2B5EF4-FFF2-40B4-BE49-F238E27FC236}">
                <a16:creationId xmlns:a16="http://schemas.microsoft.com/office/drawing/2014/main" id="{A4ED860E-73F9-40F4-9D64-4BBA3898A1F9}"/>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KV aproxima la velocidad sin carga por voltio bajo una convención del motor. No es una unidad de potencia ni una promesa del régimen con hélice. El tamaño del estator y la construcción también importan. El paso de hélice describe una geometría; tampoco garantiza una velocidad de avance del dron. Estas cifras permiten comparar fichas, pero la selección debe volver a una prueba de la combinación real.</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Para los tres equipos de MECRO se utilizará la misma plantilla. Una ficha de 5 pulgadas no se escala multiplicando todas sus cifras por 12/5. La alimentación, el soporte, el empuje y el espacio cambian de forma distinta.</a:t>
            </a:r>
          </a:p>
        </p:txBody>
      </p:sp>
    </p:spTree>
    <p:extLst>
      <p:ext uri="{BB962C8B-B14F-4D97-AF65-F5344CB8AC3E}">
        <p14:creationId xmlns:p14="http://schemas.microsoft.com/office/powerpoint/2010/main" val="2070715498"/>
      </p:ext>
    </p:extLst>
  </p:cSld>
</p:sld>
</file>

<file path=ppt/slides/slide2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FAAE566-3816-4FD1-BE4A-04ABFD0647E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 presupuesto de empuje que se puede explicar</a:t>
            </a:r>
          </a:p>
        </p:txBody>
      </p:sp>
      <p:pic>
        <p:nvPicPr>
          <p:cNvPr id="2" name="">
            <a:extLst xmlns:a="http://schemas.openxmlformats.org/drawingml/2006/main">
              <a:ext uri="{FF2B5EF4-FFF2-40B4-BE49-F238E27FC236}">
                <a16:creationId xmlns:a16="http://schemas.microsoft.com/office/drawing/2014/main" id="{A61D6523-8BAD-4CF7-A986-AE8D57DCC9ED}"/>
              </a:ext>
            </a:extLst>
          </p:cNvPr>
          <p:cNvPicPr>
            <a:picLocks xmlns:a="http://schemas.openxmlformats.org/drawingml/2006/main" noChangeAspect="1"/>
          </p:cNvPicPr>
          <p:nvPr/>
        </p:nvPicPr>
        <p:blipFill>
          <a:blip xmlns:r="http://schemas.openxmlformats.org/officeDocument/2006/relationships" xmlns:a="http://schemas.openxmlformats.org/drawingml/2006/main" r:embed="Rdf2837564a9142a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60E7E42-4AB5-472C-87AE-276D2268EC8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05/24</a:t>
            </a:r>
          </a:p>
        </p:txBody>
      </p:sp>
      <p:sp>
        <p:nvSpPr>
          <p:cNvPr id="4" name="">
            <a:extLst xmlns:a="http://schemas.openxmlformats.org/drawingml/2006/main">
              <a:ext uri="{FF2B5EF4-FFF2-40B4-BE49-F238E27FC236}">
                <a16:creationId xmlns:a16="http://schemas.microsoft.com/office/drawing/2014/main" id="{B223EF92-D6CE-4827-9756-E8A05A93BB45}"/>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Primero se estima la masa de despegue con todos los componentes. Después se define una relación de empuje máximo a peso como hipótesis de diseño. En aula usaremos 2 para aprender el método. Esa cifra no es una ley universal ni una garantía de vuelo: la misión, las condiciones y la respuesta del vehículo requieren su propia justificación.</a:t>
            </a:r>
          </a:p>
        </p:txBody>
      </p:sp>
    </p:spTree>
    <p:extLst>
      <p:ext uri="{BB962C8B-B14F-4D97-AF65-F5344CB8AC3E}">
        <p14:creationId xmlns:p14="http://schemas.microsoft.com/office/powerpoint/2010/main" val="644504294"/>
      </p:ext>
    </p:extLst>
  </p:cSld>
</p:sld>
</file>

<file path=ppt/slides/slide30.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B66E68-DBA1-4B6A-9B1D-243AFAAA97E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4EE80B3A-ABDA-47B5-B4C5-C4EE1D78BA81}"/>
              </a:ext>
            </a:extLst>
          </p:cNvPr>
          <p:cNvPicPr>
            <a:picLocks xmlns:a="http://schemas.openxmlformats.org/drawingml/2006/main" noChangeAspect="1"/>
          </p:cNvPicPr>
          <p:nvPr/>
        </p:nvPicPr>
        <p:blipFill>
          <a:blip xmlns:r="http://schemas.openxmlformats.org/officeDocument/2006/relationships" xmlns:a="http://schemas.openxmlformats.org/drawingml/2006/main" r:embed="Rbd997dbd1840457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0C7AC49-6651-4DC8-9216-CE0CBF8C400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02   06/24</a:t>
            </a:r>
          </a:p>
        </p:txBody>
      </p:sp>
      <p:sp>
        <p:nvSpPr>
          <p:cNvPr id="4" name="">
            <a:extLst xmlns:a="http://schemas.openxmlformats.org/drawingml/2006/main">
              <a:ext uri="{FF2B5EF4-FFF2-40B4-BE49-F238E27FC236}">
                <a16:creationId xmlns:a16="http://schemas.microsoft.com/office/drawing/2014/main" id="{811F0263-1BFB-422E-8C9A-800C7F937136}"/>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Con cuatro motores y k = 2, ¿qué empuje máximo por motor buscamos en la tabla?</a:t>
            </a:r>
          </a:p>
        </p:txBody>
      </p:sp>
      <p:sp>
        <p:nvSpPr>
          <p:cNvPr id="5" name="">
            <a:extLst xmlns:a="http://schemas.openxmlformats.org/drawingml/2006/main">
              <a:ext uri="{FF2B5EF4-FFF2-40B4-BE49-F238E27FC236}">
                <a16:creationId xmlns:a16="http://schemas.microsoft.com/office/drawing/2014/main" id="{387BAE26-3C3A-42E8-A378-33B211EA8E23}"/>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La reserva permite distinguir la condición de sostenerse de la capacidad de cambiar el movimiento. No basta con que la tabla alcance 400 gf una sola vez: importa cómo se obtuvo, durante cuánto tiempo y con qué consumo y temperatura. Además, el peso final puede ser mayor que la estimación. Una revisión del presupuesto evita que la batería y los soportes aparezcan al final como masa sorpresa.</a:t>
            </a:r>
          </a:p>
        </p:txBody>
      </p:sp>
    </p:spTree>
    <p:extLst>
      <p:ext uri="{BB962C8B-B14F-4D97-AF65-F5344CB8AC3E}">
        <p14:creationId xmlns:p14="http://schemas.microsoft.com/office/powerpoint/2010/main" val="843666142"/>
      </p:ext>
    </p:extLst>
  </p:cSld>
</p:sld>
</file>

<file path=ppt/slides/slide3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A2A853-C07A-4E01-840D-DE2E13657BD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Quad de 800 g del ejercicio</a:t>
            </a:r>
          </a:p>
        </p:txBody>
      </p:sp>
      <p:pic>
        <p:nvPicPr>
          <p:cNvPr id="2" name="">
            <a:extLst xmlns:a="http://schemas.openxmlformats.org/drawingml/2006/main">
              <a:ext uri="{FF2B5EF4-FFF2-40B4-BE49-F238E27FC236}">
                <a16:creationId xmlns:a16="http://schemas.microsoft.com/office/drawing/2014/main" id="{5A86BE77-BAE0-48A1-A0A4-BB154989497D}"/>
              </a:ext>
            </a:extLst>
          </p:cNvPr>
          <p:cNvPicPr>
            <a:picLocks xmlns:a="http://schemas.openxmlformats.org/drawingml/2006/main" noChangeAspect="1"/>
          </p:cNvPicPr>
          <p:nvPr/>
        </p:nvPicPr>
        <p:blipFill>
          <a:blip xmlns:r="http://schemas.openxmlformats.org/officeDocument/2006/relationships" xmlns:a="http://schemas.openxmlformats.org/drawingml/2006/main" r:embed="Rd57c40d25c154c2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6617CC6-6630-48E4-A50D-0EB27784BE3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07/24</a:t>
            </a:r>
          </a:p>
        </p:txBody>
      </p:sp>
      <p:pic>
        <p:nvPicPr>
          <p:cNvPr id="4" name="">
            <a:extLst xmlns:a="http://schemas.openxmlformats.org/drawingml/2006/main">
              <a:ext uri="{FF2B5EF4-FFF2-40B4-BE49-F238E27FC236}">
                <a16:creationId xmlns:a16="http://schemas.microsoft.com/office/drawing/2014/main" id="{2B9A8955-D906-40EC-83E6-147EAC60FE03}"/>
              </a:ext>
            </a:extLst>
          </p:cNvPr>
          <p:cNvPicPr>
            <a:picLocks xmlns:a="http://schemas.openxmlformats.org/drawingml/2006/main" noChangeAspect="1"/>
          </p:cNvPicPr>
          <p:nvPr/>
        </p:nvPicPr>
        <p:blipFill>
          <a:blip xmlns:r="http://schemas.openxmlformats.org/officeDocument/2006/relationships" xmlns:a="http://schemas.openxmlformats.org/drawingml/2006/main" r:embed="R2e39d4c105d440f9"/>
          <a:stretch xmlns:a="http://schemas.openxmlformats.org/drawingml/2006/main"/>
        </p:blipFill>
        <p:spPr>
          <a:xfrm xmlns:a="http://schemas.openxmlformats.org/drawingml/2006/main">
            <a:off x="2751947" y="1714500"/>
            <a:ext cx="6688107" cy="1095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76790CC-ED4E-47D9-8A12-0EEDB3C1FAE9}"/>
              </a:ext>
            </a:extLst>
          </p:cNvPr>
          <p:cNvSpPr>
            <a:spLocks xmlns:a="http://schemas.openxmlformats.org/drawingml/2006/main" noGrp="1"/>
          </p:cNvSpPr>
          <p:nvPr/>
        </p:nvSpPr>
        <p:spPr>
          <a:xfrm xmlns:a="http://schemas.openxmlformats.org/drawingml/2006/main">
            <a:off x="590550" y="3295650"/>
            <a:ext cx="10810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El objetivo total es 1600 gf y por motor 400 gf. En estacionario ideal corresponde aproximadamente a 200 gf por motor. 400 gf equivalen aproximadamente a 3,92 N. Son objetivos de selección del caso, no medidas de un equipo MECRO.</a:t>
            </a:r>
          </a:p>
        </p:txBody>
      </p:sp>
      <p:sp>
        <p:nvSpPr>
          <p:cNvPr id="6" name="">
            <a:extLst xmlns:a="http://schemas.openxmlformats.org/drawingml/2006/main">
              <a:ext uri="{FF2B5EF4-FFF2-40B4-BE49-F238E27FC236}">
                <a16:creationId xmlns:a16="http://schemas.microsoft.com/office/drawing/2014/main" id="{64307063-B466-48A3-9F1D-C4B00232984F}"/>
              </a:ext>
            </a:extLst>
          </p:cNvPr>
          <p:cNvSpPr>
            <a:spLocks xmlns:a="http://schemas.openxmlformats.org/drawingml/2006/main" noGrp="1"/>
          </p:cNvSpPr>
          <p:nvPr/>
        </p:nvSpPr>
        <p:spPr>
          <a:xfrm xmlns:a="http://schemas.openxmlformats.org/drawingml/2006/main">
            <a:off x="590550" y="585787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65F"/>
                </a:solidFill>
                <a:latin typeface="Arial"/>
                <a:ea typeface="Arial"/>
                <a:cs typeface="Arial"/>
              </a:defRPr>
            </a:defPPr>
            <a:lvl1pPr>
              <a:defRPr sz="1425" b="0">
                <a:solidFill>
                  <a:srgbClr val="58665F"/>
                </a:solidFill>
                <a:latin typeface="Arial"/>
                <a:ea typeface="Arial"/>
                <a:cs typeface="Arial"/>
              </a:defRPr>
            </a:lvl1pPr>
            <a:lvl2pPr>
              <a:defRPr sz="1425" b="0">
                <a:solidFill>
                  <a:srgbClr val="58665F"/>
                </a:solidFill>
                <a:latin typeface="Arial"/>
                <a:ea typeface="Arial"/>
                <a:cs typeface="Arial"/>
              </a:defRPr>
            </a:lvl2pPr>
            <a:lvl3pPr>
              <a:defRPr sz="1425" b="0">
                <a:solidFill>
                  <a:srgbClr val="58665F"/>
                </a:solidFill>
                <a:latin typeface="Arial"/>
                <a:ea typeface="Arial"/>
                <a:cs typeface="Arial"/>
              </a:defRPr>
            </a:lvl3pPr>
            <a:lvl4pPr>
              <a:defRPr sz="1425" b="0">
                <a:solidFill>
                  <a:srgbClr val="58665F"/>
                </a:solidFill>
                <a:latin typeface="Arial"/>
                <a:ea typeface="Arial"/>
                <a:cs typeface="Arial"/>
              </a:defRPr>
            </a:lvl4pPr>
            <a:lvl5pPr>
              <a:defRPr sz="1425" b="0">
                <a:solidFill>
                  <a:srgbClr val="58665F"/>
                </a:solidFill>
                <a:latin typeface="Arial"/>
                <a:ea typeface="Arial"/>
                <a:cs typeface="Arial"/>
              </a:defRPr>
            </a:lvl5pPr>
            <a:lvl6pPr>
              <a:defRPr sz="1425" b="0">
                <a:solidFill>
                  <a:srgbClr val="58665F"/>
                </a:solidFill>
                <a:latin typeface="Arial"/>
                <a:ea typeface="Arial"/>
                <a:cs typeface="Arial"/>
              </a:defRPr>
            </a:lvl6pPr>
            <a:lvl7pPr>
              <a:defRPr sz="1425" b="0">
                <a:solidFill>
                  <a:srgbClr val="58665F"/>
                </a:solidFill>
                <a:latin typeface="Arial"/>
                <a:ea typeface="Arial"/>
                <a:cs typeface="Arial"/>
              </a:defRPr>
            </a:lvl7pPr>
            <a:lvl8pPr>
              <a:defRPr sz="1425" b="0">
                <a:solidFill>
                  <a:srgbClr val="58665F"/>
                </a:solidFill>
                <a:latin typeface="Arial"/>
                <a:ea typeface="Arial"/>
                <a:cs typeface="Arial"/>
              </a:defRPr>
            </a:lvl8pPr>
            <a:lvl9pPr>
              <a:defRPr sz="1425" b="0">
                <a:solidFill>
                  <a:srgbClr val="58665F"/>
                </a:solidFill>
                <a:latin typeface="Arial"/>
                <a:ea typeface="Arial"/>
                <a:cs typeface="Arial"/>
              </a:defRPr>
            </a:lvl9pPr>
          </a:lstStyle>
          <a:p xmlns:a="http://schemas.openxmlformats.org/drawingml/2006/main">
            <a:pPr>
              <a:defRPr sz="1425" b="0">
                <a:solidFill>
                  <a:srgbClr val="58665F"/>
                </a:solidFill>
                <a:latin typeface="Arial"/>
                <a:ea typeface="Arial"/>
                <a:cs typeface="Arial"/>
              </a:defRPr>
            </a:pPr>
            <a:r>
              <a:rPr sz="1425" b="0">
                <a:solidFill>
                  <a:srgbClr val="58665F"/>
                </a:solidFill>
                <a:latin typeface="Arial"/>
                <a:ea typeface="Arial"/>
                <a:cs typeface="Arial"/>
              </a:rPr>
              <a:t>k es una hipótesis declarada. Si se expresa la tabla en gramos fuerza, se mantiene esa unidad durante la comparación y se diferencia de gramos de masa.</a:t>
            </a:r>
          </a:p>
        </p:txBody>
      </p:sp>
    </p:spTree>
    <p:extLst>
      <p:ext uri="{BB962C8B-B14F-4D97-AF65-F5344CB8AC3E}">
        <p14:creationId xmlns:p14="http://schemas.microsoft.com/office/powerpoint/2010/main" val="1089704617"/>
      </p:ext>
    </p:extLst>
  </p:cSld>
</p:sld>
</file>

<file path=ppt/slides/slide3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B330040-806D-47CE-B22A-A0E0ADDDC34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Cómo leer una tabla de ensayo</a:t>
            </a:r>
          </a:p>
        </p:txBody>
      </p:sp>
      <p:pic>
        <p:nvPicPr>
          <p:cNvPr id="2" name="">
            <a:extLst xmlns:a="http://schemas.openxmlformats.org/drawingml/2006/main">
              <a:ext uri="{FF2B5EF4-FFF2-40B4-BE49-F238E27FC236}">
                <a16:creationId xmlns:a16="http://schemas.microsoft.com/office/drawing/2014/main" id="{702F20E2-D0F3-4E68-B70C-C17CBE781C2C}"/>
              </a:ext>
            </a:extLst>
          </p:cNvPr>
          <p:cNvPicPr>
            <a:picLocks xmlns:a="http://schemas.openxmlformats.org/drawingml/2006/main" noChangeAspect="1"/>
          </p:cNvPicPr>
          <p:nvPr/>
        </p:nvPicPr>
        <p:blipFill>
          <a:blip xmlns:r="http://schemas.openxmlformats.org/officeDocument/2006/relationships" xmlns:a="http://schemas.openxmlformats.org/drawingml/2006/main" r:embed="Rb5a168b42b844ad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8C33E80-4814-4881-84D0-E083EE8D5BB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08/24</a:t>
            </a:r>
          </a:p>
        </p:txBody>
      </p:sp>
      <p:sp>
        <p:nvSpPr>
          <p:cNvPr id="4" name="">
            <a:extLst xmlns:a="http://schemas.openxmlformats.org/drawingml/2006/main">
              <a:ext uri="{FF2B5EF4-FFF2-40B4-BE49-F238E27FC236}">
                <a16:creationId xmlns:a16="http://schemas.microsoft.com/office/drawing/2014/main" id="{DDDA575D-2B17-4695-87F1-4F1CE86736D7}"/>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Estas filas son datos didácticos y no recomiendan un producto. Cada una representa una combinación diferente bajo una tensión declarada. Si el requisito cambia a 500 gf, A no alcanza el objetivo mostrado; B y C sí lo alcanzan. Esa primera selección todavía no compara masa, régimen térmico, dimensiones y disponibilidad. El componente con más empuje máximo no es automáticamente la mejor elección.</a:t>
            </a:r>
          </a:p>
        </p:txBody>
      </p:sp>
    </p:spTree>
    <p:extLst>
      <p:ext uri="{BB962C8B-B14F-4D97-AF65-F5344CB8AC3E}">
        <p14:creationId xmlns:p14="http://schemas.microsoft.com/office/powerpoint/2010/main" val="539832228"/>
      </p:ext>
    </p:extLst>
  </p:cSld>
</p:sld>
</file>

<file path=ppt/slides/slide3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30D7641-5894-478D-8F75-72BD244A7AD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Tabla sintética para aprender la comparación</a:t>
            </a:r>
          </a:p>
        </p:txBody>
      </p:sp>
      <p:pic>
        <p:nvPicPr>
          <p:cNvPr id="2" name="">
            <a:extLst xmlns:a="http://schemas.openxmlformats.org/drawingml/2006/main">
              <a:ext uri="{FF2B5EF4-FFF2-40B4-BE49-F238E27FC236}">
                <a16:creationId xmlns:a16="http://schemas.microsoft.com/office/drawing/2014/main" id="{78C2CC3C-F7A5-43DF-B25F-839674560ABA}"/>
              </a:ext>
            </a:extLst>
          </p:cNvPr>
          <p:cNvPicPr>
            <a:picLocks xmlns:a="http://schemas.openxmlformats.org/drawingml/2006/main" noChangeAspect="1"/>
          </p:cNvPicPr>
          <p:nvPr/>
        </p:nvPicPr>
        <p:blipFill>
          <a:blip xmlns:r="http://schemas.openxmlformats.org/officeDocument/2006/relationships" xmlns:a="http://schemas.openxmlformats.org/drawingml/2006/main" r:embed="Reede9852776f4b0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49154C9-2559-4EEB-BFD9-29776144860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09/24</a:t>
            </a:r>
          </a:p>
        </p:txBody>
      </p:sp>
      <p:graphicFrame>
        <p:nvGraphicFramePr>
          <p:cNvPr id="4" name="">
            <a:extLst xmlns:a="http://schemas.openxmlformats.org/drawingml/2006/main">
              <a:ext uri="{FF2B5EF4-FFF2-40B4-BE49-F238E27FC236}">
                <a16:creationId xmlns:a16="http://schemas.microsoft.com/office/drawing/2014/main" id="{E3C9128F-65AD-4FE9-9A28-DA4B83106C7C}"/>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Caso a 22,2 V</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Empuje / gf</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Corriente / 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A · combinación de aula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450</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6</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B · combinación de aula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600</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10</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C · combinación de aula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750</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16</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590834299"/>
      </p:ext>
    </p:extLst>
  </p:cSld>
</p:sld>
</file>

<file path=ppt/slides/slide3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D64331C-7A5D-481E-9EC2-8E1FC58E306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Más empuje máximo no decide toda la selección</a:t>
            </a:r>
          </a:p>
        </p:txBody>
      </p:sp>
      <p:pic>
        <p:nvPicPr>
          <p:cNvPr id="2" name="">
            <a:extLst xmlns:a="http://schemas.openxmlformats.org/drawingml/2006/main">
              <a:ext uri="{FF2B5EF4-FFF2-40B4-BE49-F238E27FC236}">
                <a16:creationId xmlns:a16="http://schemas.microsoft.com/office/drawing/2014/main" id="{53E4094A-BE2F-4F2F-A632-B5E3CCE2BDAC}"/>
              </a:ext>
            </a:extLst>
          </p:cNvPr>
          <p:cNvPicPr>
            <a:picLocks xmlns:a="http://schemas.openxmlformats.org/drawingml/2006/main" noChangeAspect="1"/>
          </p:cNvPicPr>
          <p:nvPr/>
        </p:nvPicPr>
        <p:blipFill>
          <a:blip xmlns:r="http://schemas.openxmlformats.org/officeDocument/2006/relationships" xmlns:a="http://schemas.openxmlformats.org/drawingml/2006/main" r:embed="R4589a852ea414d9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C46549B-2B71-4A95-9447-ACA4BEA7E51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10/24</a:t>
            </a:r>
          </a:p>
        </p:txBody>
      </p:sp>
      <p:graphicFrame>
        <p:nvGraphicFramePr>
          <p:cNvPr id="4" name="Chart">
            <a:extLst xmlns:a="http://schemas.openxmlformats.org/drawingml/2006/main">
              <a:ext uri="{FF2B5EF4-FFF2-40B4-BE49-F238E27FC236}">
                <a16:creationId xmlns:a16="http://schemas.microsoft.com/office/drawing/2014/main" id="{EDC37068-9C10-4976-8318-096FC6B213DB}"/>
              </a:ext>
            </a:extLst>
          </p:cNvPr>
          <p:cNvGraphicFramePr/>
          <p:nvPr/>
        </p:nvGraphicFramePr>
        <p:xfrm>
          <a:off xmlns:a="http://schemas.openxmlformats.org/drawingml/2006/main" x="590550" y="1657350"/>
          <a:ext xmlns:a="http://schemas.openxmlformats.org/drawingml/2006/main" cx="11010900" cy="3952875"/>
        </p:xfrm>
        <a:graphic xmlns:a="http://schemas.openxmlformats.org/drawingml/2006/main">
          <a:graphicData uri="http://schemas.openxmlformats.org/drawingml/2006/chart">
            <c:chart xmlns:r="http://schemas.openxmlformats.org/officeDocument/2006/relationships" xmlns:c="http://schemas.openxmlformats.org/drawingml/2006/chart" r:id="R53169771f2f2486c"/>
          </a:graphicData>
        </a:graphic>
      </p:graphicFrame>
      <p:sp>
        <p:nvSpPr>
          <p:cNvPr id="5" name="">
            <a:extLst xmlns:a="http://schemas.openxmlformats.org/drawingml/2006/main">
              <a:ext uri="{FF2B5EF4-FFF2-40B4-BE49-F238E27FC236}">
                <a16:creationId xmlns:a16="http://schemas.microsoft.com/office/drawing/2014/main" id="{D96370A9-C224-4AA2-9D47-E08626F75786}"/>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Tabla sintética a 22,2 V: tres combinaciones de aula. La comparación necesita condiciones de ensayo identificadas.</a:t>
            </a:r>
          </a:p>
        </p:txBody>
      </p:sp>
    </p:spTree>
    <p:extLst>
      <p:ext uri="{BB962C8B-B14F-4D97-AF65-F5344CB8AC3E}">
        <p14:creationId xmlns:p14="http://schemas.microsoft.com/office/powerpoint/2010/main" val="133308914"/>
      </p:ext>
    </p:extLst>
  </p:cSld>
</p:sld>
</file>

<file path=ppt/slides/slide3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30F9BA1-D4BE-47D8-BB37-7687688C3E1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Energía y autonomía estimada</a:t>
            </a:r>
          </a:p>
        </p:txBody>
      </p:sp>
      <p:pic>
        <p:nvPicPr>
          <p:cNvPr id="2" name="">
            <a:extLst xmlns:a="http://schemas.openxmlformats.org/drawingml/2006/main">
              <a:ext uri="{FF2B5EF4-FFF2-40B4-BE49-F238E27FC236}">
                <a16:creationId xmlns:a16="http://schemas.microsoft.com/office/drawing/2014/main" id="{AF017F4D-A13E-4E52-A786-122537427ACF}"/>
              </a:ext>
            </a:extLst>
          </p:cNvPr>
          <p:cNvPicPr>
            <a:picLocks xmlns:a="http://schemas.openxmlformats.org/drawingml/2006/main" noChangeAspect="1"/>
          </p:cNvPicPr>
          <p:nvPr/>
        </p:nvPicPr>
        <p:blipFill>
          <a:blip xmlns:r="http://schemas.openxmlformats.org/officeDocument/2006/relationships" xmlns:a="http://schemas.openxmlformats.org/drawingml/2006/main" r:embed="R6d7096e84adf472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6F50969-9258-4E12-8D9C-134CFF09436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11/24</a:t>
            </a:r>
          </a:p>
        </p:txBody>
      </p:sp>
      <p:sp>
        <p:nvSpPr>
          <p:cNvPr id="4" name="">
            <a:extLst xmlns:a="http://schemas.openxmlformats.org/drawingml/2006/main">
              <a:ext uri="{FF2B5EF4-FFF2-40B4-BE49-F238E27FC236}">
                <a16:creationId xmlns:a16="http://schemas.microsoft.com/office/drawing/2014/main" id="{E215280B-7C02-4397-ACDB-1FC9ACDE0A5D}"/>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capacidad en Ah expresa carga eléctrica; al multiplicarla por una tensión nominal obtenemos una aproximación de energía en Wh. La energía aprovechable depende de condiciones de uso. Para el ejercicio reservamos 20 % y suponemos potencia media constante. Es un modelo transparente para comparar, no una predicción validada de tiempo de vuelo. La tensión cambia bajo carga y la masa de otra batería también cambia la demanda.</a:t>
            </a:r>
          </a:p>
        </p:txBody>
      </p:sp>
    </p:spTree>
    <p:extLst>
      <p:ext uri="{BB962C8B-B14F-4D97-AF65-F5344CB8AC3E}">
        <p14:creationId xmlns:p14="http://schemas.microsoft.com/office/powerpoint/2010/main" val="536331917"/>
      </p:ext>
    </p:extLst>
  </p:cSld>
</p:sld>
</file>

<file path=ppt/slides/slide3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967B023-FD80-4171-9ED2-048756CA73B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3DED7166-18C4-44AE-B104-8320B0DC75BD}"/>
              </a:ext>
            </a:extLst>
          </p:cNvPr>
          <p:cNvPicPr>
            <a:picLocks xmlns:a="http://schemas.openxmlformats.org/drawingml/2006/main" noChangeAspect="1"/>
          </p:cNvPicPr>
          <p:nvPr/>
        </p:nvPicPr>
        <p:blipFill>
          <a:blip xmlns:r="http://schemas.openxmlformats.org/officeDocument/2006/relationships" xmlns:a="http://schemas.openxmlformats.org/drawingml/2006/main" r:embed="R79e06d1ddf0d4fa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7104735-35B5-4332-8767-0D818F14C74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02   12/24</a:t>
            </a:r>
          </a:p>
        </p:txBody>
      </p:sp>
      <p:sp>
        <p:nvSpPr>
          <p:cNvPr id="4" name="">
            <a:extLst xmlns:a="http://schemas.openxmlformats.org/drawingml/2006/main">
              <a:ext uri="{FF2B5EF4-FFF2-40B4-BE49-F238E27FC236}">
                <a16:creationId xmlns:a16="http://schemas.microsoft.com/office/drawing/2014/main" id="{0FA36516-A64F-4A8A-836C-2F8122157B51}"/>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Una batería convencional 6S de 1,3 Ah tiene tensión nominal aproximada de 22,2 V. Con f = 0,8 y 250 W medios, ¿qué tiempo arroja el modelo?</a:t>
            </a:r>
          </a:p>
        </p:txBody>
      </p:sp>
      <p:sp>
        <p:nvSpPr>
          <p:cNvPr id="5" name="">
            <a:extLst xmlns:a="http://schemas.openxmlformats.org/drawingml/2006/main">
              <a:ext uri="{FF2B5EF4-FFF2-40B4-BE49-F238E27FC236}">
                <a16:creationId xmlns:a16="http://schemas.microsoft.com/office/drawing/2014/main" id="{51782700-D08C-4EA7-9D45-C7D209FE7C0D}"/>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S indica celdas en serie; no todas las químicas tienen la misma tensión por celda. Para una LiPo convencional se distingue nominal de plena carga, y se consulta el paquete real. La cifra C comercial tampoco elimina la necesidad de comprobar corriente, temperatura, conectores y caída de tensión del conjunto.</a:t>
            </a:r>
          </a:p>
        </p:txBody>
      </p:sp>
    </p:spTree>
    <p:extLst>
      <p:ext uri="{BB962C8B-B14F-4D97-AF65-F5344CB8AC3E}">
        <p14:creationId xmlns:p14="http://schemas.microsoft.com/office/powerpoint/2010/main" val="1922414548"/>
      </p:ext>
    </p:extLst>
  </p:cSld>
</p:sld>
</file>

<file path=ppt/slides/slide3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38BB47F-42D6-4EA4-97B2-ED8B898E02F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Autonomía del modelo según potencia media</a:t>
            </a:r>
          </a:p>
        </p:txBody>
      </p:sp>
      <p:pic>
        <p:nvPicPr>
          <p:cNvPr id="2" name="">
            <a:extLst xmlns:a="http://schemas.openxmlformats.org/drawingml/2006/main">
              <a:ext uri="{FF2B5EF4-FFF2-40B4-BE49-F238E27FC236}">
                <a16:creationId xmlns:a16="http://schemas.microsoft.com/office/drawing/2014/main" id="{DDB66287-8387-4F44-9B47-B739DE3F1DC8}"/>
              </a:ext>
            </a:extLst>
          </p:cNvPr>
          <p:cNvPicPr>
            <a:picLocks xmlns:a="http://schemas.openxmlformats.org/drawingml/2006/main" noChangeAspect="1"/>
          </p:cNvPicPr>
          <p:nvPr/>
        </p:nvPicPr>
        <p:blipFill>
          <a:blip xmlns:r="http://schemas.openxmlformats.org/officeDocument/2006/relationships" xmlns:a="http://schemas.openxmlformats.org/drawingml/2006/main" r:embed="R6f3ec06781f4408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5E8DB3A-DD30-40AE-A3CD-89C1B16ADF6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13/24</a:t>
            </a:r>
          </a:p>
        </p:txBody>
      </p:sp>
      <p:graphicFrame>
        <p:nvGraphicFramePr>
          <p:cNvPr id="4" name="Chart">
            <a:extLst xmlns:a="http://schemas.openxmlformats.org/drawingml/2006/main">
              <a:ext uri="{FF2B5EF4-FFF2-40B4-BE49-F238E27FC236}">
                <a16:creationId xmlns:a16="http://schemas.microsoft.com/office/drawing/2014/main" id="{FD596C4E-2C9E-493F-BDBE-648BEA2BD803}"/>
              </a:ext>
            </a:extLst>
          </p:cNvPr>
          <p:cNvGraphicFramePr/>
          <p:nvPr/>
        </p:nvGraphicFramePr>
        <p:xfrm>
          <a:off xmlns:a="http://schemas.openxmlformats.org/drawingml/2006/main" x="590550" y="1657350"/>
          <a:ext xmlns:a="http://schemas.openxmlformats.org/drawingml/2006/main" cx="11010900" cy="3952875"/>
        </p:xfrm>
        <a:graphic xmlns:a="http://schemas.openxmlformats.org/drawingml/2006/main">
          <a:graphicData uri="http://schemas.openxmlformats.org/drawingml/2006/chart">
            <c:chart xmlns:r="http://schemas.openxmlformats.org/officeDocument/2006/relationships" xmlns:c="http://schemas.openxmlformats.org/drawingml/2006/chart" r:id="R637254ce0fe0450f"/>
          </a:graphicData>
        </a:graphic>
      </p:graphicFrame>
      <p:sp>
        <p:nvSpPr>
          <p:cNvPr id="5" name="">
            <a:extLst xmlns:a="http://schemas.openxmlformats.org/drawingml/2006/main">
              <a:ext uri="{FF2B5EF4-FFF2-40B4-BE49-F238E27FC236}">
                <a16:creationId xmlns:a16="http://schemas.microsoft.com/office/drawing/2014/main" id="{691CB25D-BDD4-460A-8C42-34E87AF27387}"/>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6S convencional, 1,3 Ah, 22,2 V nominales y fracción aprovechable asumida de 0,8. No son tiempos de vuelo medidos.</a:t>
            </a:r>
          </a:p>
        </p:txBody>
      </p:sp>
    </p:spTree>
    <p:extLst>
      <p:ext uri="{BB962C8B-B14F-4D97-AF65-F5344CB8AC3E}">
        <p14:creationId xmlns:p14="http://schemas.microsoft.com/office/powerpoint/2010/main" val="1432768367"/>
      </p:ext>
    </p:extLst>
  </p:cSld>
</p:sld>
</file>

<file path=ppt/slides/slide3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B92AF6E-DB15-4ABE-9C6F-D8371ADB643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Laboratorio de selección y descarte</a:t>
            </a:r>
          </a:p>
        </p:txBody>
      </p:sp>
      <p:pic>
        <p:nvPicPr>
          <p:cNvPr id="2" name="">
            <a:extLst xmlns:a="http://schemas.openxmlformats.org/drawingml/2006/main">
              <a:ext uri="{FF2B5EF4-FFF2-40B4-BE49-F238E27FC236}">
                <a16:creationId xmlns:a16="http://schemas.microsoft.com/office/drawing/2014/main" id="{B433CB98-DC58-4770-A723-2D7B9EC8AE75}"/>
              </a:ext>
            </a:extLst>
          </p:cNvPr>
          <p:cNvPicPr>
            <a:picLocks xmlns:a="http://schemas.openxmlformats.org/drawingml/2006/main" noChangeAspect="1"/>
          </p:cNvPicPr>
          <p:nvPr/>
        </p:nvPicPr>
        <p:blipFill>
          <a:blip xmlns:r="http://schemas.openxmlformats.org/officeDocument/2006/relationships" xmlns:a="http://schemas.openxmlformats.org/drawingml/2006/main" r:embed="Rcb526b87b4c144c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101B1A3-49AD-4C4E-8235-84668258A56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14/24</a:t>
            </a:r>
          </a:p>
        </p:txBody>
      </p:sp>
      <p:sp>
        <p:nvSpPr>
          <p:cNvPr id="4" name="">
            <a:extLst xmlns:a="http://schemas.openxmlformats.org/drawingml/2006/main">
              <a:ext uri="{FF2B5EF4-FFF2-40B4-BE49-F238E27FC236}">
                <a16:creationId xmlns:a16="http://schemas.microsoft.com/office/drawing/2014/main" id="{2EC1A158-9CCD-4187-A926-FF4E6044E063}"/>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docente resuelve primero el caso sintético. Después muestra cómo se identifica la condición en una tabla de fabricante del motor que realmente posee. Los estudiantes sin hardware pueden completar la decisión documental. El resultado no es una compra automática: es un argumento revisable que diferencia la evidencia disponible de lo que falta confirmar en banco.</a:t>
            </a:r>
          </a:p>
        </p:txBody>
      </p:sp>
    </p:spTree>
    <p:extLst>
      <p:ext uri="{BB962C8B-B14F-4D97-AF65-F5344CB8AC3E}">
        <p14:creationId xmlns:p14="http://schemas.microsoft.com/office/powerpoint/2010/main" val="1374463211"/>
      </p:ext>
    </p:extLst>
  </p:cSld>
</p:sld>
</file>

<file path=ppt/slides/slide3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00C5AA8-CDB8-4C29-9100-87EFFA88D87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37251A68-C077-4814-ABB9-A9D69F3BB8C5}"/>
              </a:ext>
            </a:extLst>
          </p:cNvPr>
          <p:cNvPicPr>
            <a:picLocks xmlns:a="http://schemas.openxmlformats.org/drawingml/2006/main" noChangeAspect="1"/>
          </p:cNvPicPr>
          <p:nvPr/>
        </p:nvPicPr>
        <p:blipFill>
          <a:blip xmlns:r="http://schemas.openxmlformats.org/officeDocument/2006/relationships" xmlns:a="http://schemas.openxmlformats.org/drawingml/2006/main" r:embed="Rd24bd9d5e35445c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8340218-C0F1-4978-9536-DFD9896FF63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02   15/24</a:t>
            </a:r>
          </a:p>
        </p:txBody>
      </p:sp>
      <p:sp>
        <p:nvSpPr>
          <p:cNvPr id="4" name="">
            <a:extLst xmlns:a="http://schemas.openxmlformats.org/drawingml/2006/main">
              <a:ext uri="{FF2B5EF4-FFF2-40B4-BE49-F238E27FC236}">
                <a16:creationId xmlns:a16="http://schemas.microsoft.com/office/drawing/2014/main" id="{3C428A45-2881-4B8F-950A-846A078FB4FC}"/>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¿C comercial sustituye comprobar corriente y conexiones?</a:t>
            </a:r>
          </a:p>
        </p:txBody>
      </p:sp>
      <p:sp>
        <p:nvSpPr>
          <p:cNvPr id="5" name="">
            <a:extLst xmlns:a="http://schemas.openxmlformats.org/drawingml/2006/main">
              <a:ext uri="{FF2B5EF4-FFF2-40B4-BE49-F238E27FC236}">
                <a16:creationId xmlns:a16="http://schemas.microsoft.com/office/drawing/2014/main" id="{C9AFF4D6-7A92-4D70-AC34-CDF7D71A3684}"/>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Si se consulta un precio, se registra fecha, moneda y contenido del conjunto. Un motor suelto y una combinación con ESC no son ofertas equivalentes. El precio no debe ocultar la revisión de tensión o montaje. Este paquete no fija precios actuales de componentes.</a:t>
            </a:r>
          </a:p>
        </p:txBody>
      </p:sp>
    </p:spTree>
    <p:extLst>
      <p:ext uri="{BB962C8B-B14F-4D97-AF65-F5344CB8AC3E}">
        <p14:creationId xmlns:p14="http://schemas.microsoft.com/office/powerpoint/2010/main" val="463497534"/>
      </p:ext>
    </p:extLst>
  </p:cSld>
</p:sld>
</file>

<file path=ppt/slides/slide4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8F377A-4D36-4A66-A6D0-C0354583ED8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 Laboratorio de selección y descarte</a:t>
            </a:r>
          </a:p>
        </p:txBody>
      </p:sp>
      <p:pic>
        <p:nvPicPr>
          <p:cNvPr id="2" name="">
            <a:extLst xmlns:a="http://schemas.openxmlformats.org/drawingml/2006/main">
              <a:ext uri="{FF2B5EF4-FFF2-40B4-BE49-F238E27FC236}">
                <a16:creationId xmlns:a16="http://schemas.microsoft.com/office/drawing/2014/main" id="{9CF2EA12-96DD-4B61-BC88-F86575AE5A15}"/>
              </a:ext>
            </a:extLst>
          </p:cNvPr>
          <p:cNvPicPr>
            <a:picLocks xmlns:a="http://schemas.openxmlformats.org/drawingml/2006/main" noChangeAspect="1"/>
          </p:cNvPicPr>
          <p:nvPr/>
        </p:nvPicPr>
        <p:blipFill>
          <a:blip xmlns:r="http://schemas.openxmlformats.org/officeDocument/2006/relationships" xmlns:a="http://schemas.openxmlformats.org/drawingml/2006/main" r:embed="R62bee57c960b4f9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4AADD44-E066-4BBC-98CE-2678C1971D9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16/24</a:t>
            </a:r>
          </a:p>
        </p:txBody>
      </p:sp>
      <p:sp>
        <p:nvSpPr>
          <p:cNvPr id="4" name="">
            <a:extLst xmlns:a="http://schemas.openxmlformats.org/drawingml/2006/main">
              <a:ext uri="{FF2B5EF4-FFF2-40B4-BE49-F238E27FC236}">
                <a16:creationId xmlns:a16="http://schemas.microsoft.com/office/drawing/2014/main" id="{7860571A-95DE-4D8A-8710-2CC218212730}"/>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Completa la masa prevista del caso y nombra las estimaciones.</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Declara una relación empuje/peso y calcula objetivo por motor con unidades.</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Busca una ficha primaria de motor con la hélice y tensión identificadas. No extrapoles una fila incompleta.</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Comprueba ESC, batería, conector y regulador contra la alimentación y corriente previstas.</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Compara dos alternativas: cuál cumple, cuál se descarta y qué dato falta.</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Calcula una autonomía de escenario con potencia media declarada y explica sus límites.</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7. Entrega la lista con modelo, revisión, cantidad y fuente; deja el precio separado de la compatibilidad.</a:t>
            </a:r>
          </a:p>
        </p:txBody>
      </p:sp>
    </p:spTree>
    <p:extLst>
      <p:ext uri="{BB962C8B-B14F-4D97-AF65-F5344CB8AC3E}">
        <p14:creationId xmlns:p14="http://schemas.microsoft.com/office/powerpoint/2010/main" val="1430705725"/>
      </p:ext>
    </p:extLst>
  </p:cSld>
</p:sld>
</file>

<file path=ppt/slides/slide4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073E1C-2408-4D6F-889B-3966C532875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 compra que queda justificada</a:t>
            </a:r>
          </a:p>
        </p:txBody>
      </p:sp>
      <p:pic>
        <p:nvPicPr>
          <p:cNvPr id="2" name="">
            <a:extLst xmlns:a="http://schemas.openxmlformats.org/drawingml/2006/main">
              <a:ext uri="{FF2B5EF4-FFF2-40B4-BE49-F238E27FC236}">
                <a16:creationId xmlns:a16="http://schemas.microsoft.com/office/drawing/2014/main" id="{AC6A4143-C735-4DE6-9DB7-52364FD66401}"/>
              </a:ext>
            </a:extLst>
          </p:cNvPr>
          <p:cNvPicPr>
            <a:picLocks xmlns:a="http://schemas.openxmlformats.org/drawingml/2006/main" noChangeAspect="1"/>
          </p:cNvPicPr>
          <p:nvPr/>
        </p:nvPicPr>
        <p:blipFill>
          <a:blip xmlns:r="http://schemas.openxmlformats.org/officeDocument/2006/relationships" xmlns:a="http://schemas.openxmlformats.org/drawingml/2006/main" r:embed="R3b5c832800ff4c4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2DFBC87-F6EE-4E16-A5DB-FF7F803395F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17/24</a:t>
            </a:r>
          </a:p>
        </p:txBody>
      </p:sp>
      <p:sp>
        <p:nvSpPr>
          <p:cNvPr id="4" name="">
            <a:extLst xmlns:a="http://schemas.openxmlformats.org/drawingml/2006/main">
              <a:ext uri="{FF2B5EF4-FFF2-40B4-BE49-F238E27FC236}">
                <a16:creationId xmlns:a16="http://schemas.microsoft.com/office/drawing/2014/main" id="{4ED6EABB-4CBD-46B1-B621-E6A8F9A7D4F6}"/>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 error útil de clase consiste en proponer un motor aparentemente correcto con una tensión de ensayo distinta de la batería elegida. El alumno debe detectar que comparar números sin sus condiciones no resuelve la selección. Otro consiste en aumentar capacidad sin actualizar masa. Ambas situaciones enseñan a mantener coherente la lista completa.</a:t>
            </a:r>
          </a:p>
        </p:txBody>
      </p:sp>
    </p:spTree>
    <p:extLst>
      <p:ext uri="{BB962C8B-B14F-4D97-AF65-F5344CB8AC3E}">
        <p14:creationId xmlns:p14="http://schemas.microsoft.com/office/powerpoint/2010/main" val="1248920840"/>
      </p:ext>
    </p:extLst>
  </p:cSld>
</p:sld>
</file>

<file path=ppt/slides/slide4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D6E584D-910F-4040-A575-1947A65608A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Antes de cerrar una combinación</a:t>
            </a:r>
          </a:p>
        </p:txBody>
      </p:sp>
      <p:pic>
        <p:nvPicPr>
          <p:cNvPr id="2" name="">
            <a:extLst xmlns:a="http://schemas.openxmlformats.org/drawingml/2006/main">
              <a:ext uri="{FF2B5EF4-FFF2-40B4-BE49-F238E27FC236}">
                <a16:creationId xmlns:a16="http://schemas.microsoft.com/office/drawing/2014/main" id="{0794F605-09FF-4276-93BA-6AC836599129}"/>
              </a:ext>
            </a:extLst>
          </p:cNvPr>
          <p:cNvPicPr>
            <a:picLocks xmlns:a="http://schemas.openxmlformats.org/drawingml/2006/main" noChangeAspect="1"/>
          </p:cNvPicPr>
          <p:nvPr/>
        </p:nvPicPr>
        <p:blipFill>
          <a:blip xmlns:r="http://schemas.openxmlformats.org/officeDocument/2006/relationships" xmlns:a="http://schemas.openxmlformats.org/drawingml/2006/main" r:embed="R1ee0d21a22d54dc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6294774-F23D-4A28-B101-5201392DBB3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18/24</a:t>
            </a:r>
          </a:p>
        </p:txBody>
      </p:sp>
      <p:graphicFrame>
        <p:nvGraphicFramePr>
          <p:cNvPr id="4" name="">
            <a:extLst xmlns:a="http://schemas.openxmlformats.org/drawingml/2006/main">
              <a:ext uri="{FF2B5EF4-FFF2-40B4-BE49-F238E27FC236}">
                <a16:creationId xmlns:a16="http://schemas.microsoft.com/office/drawing/2014/main" id="{6B9285EB-E645-4FFA-95DD-43FDD6D5D87F}"/>
              </a:ext>
            </a:extLst>
          </p:cNvPr>
          <p:cNvGraphicFramePr/>
          <p:nvPr/>
        </p:nvGraphicFramePr>
        <p:xfrm>
          <a:off xmlns:a="http://schemas.openxmlformats.org/drawingml/2006/main" x="590550" y="1714500"/>
          <a:ext xmlns:a="http://schemas.openxmlformats.org/drawingml/2006/main" cx="11010900" cy="4114800"/>
        </p:xfrm>
        <a:graphic xmlns:a="http://schemas.openxmlformats.org/drawingml/2006/main">
          <a:graphicData uri="http://schemas.openxmlformats.org/drawingml/2006/table">
            <a:tbl>
              <a:tblPr/>
              <a:tblGrid>
                <a:gridCol w="4381500"/>
                <a:gridCol w="6629400"/>
              </a:tblGrid>
              <a:tr h="685800">
                <a:tc>
                  <a:txBody>
                    <a:bodyPr/>
                    <a:lstStyle/>
                    <a:p>
                      <a:r>
                        <a:rPr sz="1875" b="1">
                          <a:solidFill>
                            <a:srgbClr val="FFFFFF"/>
                          </a:solidFill>
                          <a:latin typeface="Arial"/>
                          <a:ea typeface="Arial"/>
                          <a:cs typeface="Arial"/>
                        </a:rPr>
                        <a:t>Pregunta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conserva el expediente</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85800">
                <a:tc>
                  <a:txBody>
                    <a:bodyPr/>
                    <a:lstStyle/>
                    <a:p>
                      <a:r>
                        <a:rPr sz="1875" b="0">
                          <a:solidFill>
                            <a:srgbClr val="14231E"/>
                          </a:solidFill>
                          <a:latin typeface="Arial"/>
                          <a:ea typeface="Arial"/>
                          <a:cs typeface="Arial"/>
                        </a:rPr>
                        <a:t>¿Cabe y se monta?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Plano, eje y tornillería</a:t>
                      </a:r>
                    </a:p>
                  </a:txBody>
                  <a:tcPr marL="91440" marR="91440" marT="45720" marB="45720">
                    <a:lnR w="9525">
                      <a:solidFill>
                        <a:srgbClr val="BFCEC3"/>
                      </a:solidFill>
                      <a:prstDash val="solid"/>
                    </a:lnR>
                    <a:lnB w="9525">
                      <a:solidFill>
                        <a:srgbClr val="BFCEC3"/>
                      </a:solidFill>
                      <a:prstDash val="solid"/>
                    </a:lnB>
                    <a:solidFill>
                      <a:srgbClr val="EAF3EC"/>
                    </a:solidFill>
                  </a:tcPr>
                </a:tc>
              </a:tr>
              <a:tr h="685800">
                <a:tc>
                  <a:txBody>
                    <a:bodyPr/>
                    <a:lstStyle/>
                    <a:p>
                      <a:r>
                        <a:rPr sz="1875" b="0">
                          <a:solidFill>
                            <a:srgbClr val="14231E"/>
                          </a:solidFill>
                          <a:latin typeface="Arial"/>
                          <a:ea typeface="Arial"/>
                          <a:cs typeface="Arial"/>
                        </a:rPr>
                        <a:t>¿Alcanza el objetivo?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Fila de ensayo y cálculo</a:t>
                      </a:r>
                    </a:p>
                  </a:txBody>
                  <a:tcPr marL="91440" marR="91440" marT="45720" marB="45720">
                    <a:lnR w="9525">
                      <a:solidFill>
                        <a:srgbClr val="BFCEC3"/>
                      </a:solidFill>
                      <a:prstDash val="solid"/>
                    </a:lnR>
                    <a:lnB w="9525">
                      <a:solidFill>
                        <a:srgbClr val="BFCEC3"/>
                      </a:solidFill>
                      <a:prstDash val="solid"/>
                    </a:lnB>
                    <a:solidFill>
                      <a:srgbClr val="FCFCF8"/>
                    </a:solidFill>
                  </a:tcPr>
                </a:tc>
              </a:tr>
              <a:tr h="685800">
                <a:tc>
                  <a:txBody>
                    <a:bodyPr/>
                    <a:lstStyle/>
                    <a:p>
                      <a:r>
                        <a:rPr sz="1875" b="0">
                          <a:solidFill>
                            <a:srgbClr val="14231E"/>
                          </a:solidFill>
                          <a:latin typeface="Arial"/>
                          <a:ea typeface="Arial"/>
                          <a:cs typeface="Arial"/>
                        </a:rPr>
                        <a:t>¿Admite la energía?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Tensión máxima y demanda</a:t>
                      </a:r>
                    </a:p>
                  </a:txBody>
                  <a:tcPr marL="91440" marR="91440" marT="45720" marB="45720">
                    <a:lnR w="9525">
                      <a:solidFill>
                        <a:srgbClr val="BFCEC3"/>
                      </a:solidFill>
                      <a:prstDash val="solid"/>
                    </a:lnR>
                    <a:lnB w="9525">
                      <a:solidFill>
                        <a:srgbClr val="BFCEC3"/>
                      </a:solidFill>
                      <a:prstDash val="solid"/>
                    </a:lnB>
                    <a:solidFill>
                      <a:srgbClr val="EAF3EC"/>
                    </a:solidFill>
                  </a:tcPr>
                </a:tc>
              </a:tr>
              <a:tr h="685800">
                <a:tc>
                  <a:txBody>
                    <a:bodyPr/>
                    <a:lstStyle/>
                    <a:p>
                      <a:r>
                        <a:rPr sz="1875" b="0">
                          <a:solidFill>
                            <a:srgbClr val="14231E"/>
                          </a:solidFill>
                          <a:latin typeface="Arial"/>
                          <a:ea typeface="Arial"/>
                          <a:cs typeface="Arial"/>
                        </a:rPr>
                        <a:t>¿Se puede configurar?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Protocolo y target</a:t>
                      </a:r>
                    </a:p>
                  </a:txBody>
                  <a:tcPr marL="91440" marR="91440" marT="45720" marB="45720">
                    <a:lnR w="9525">
                      <a:solidFill>
                        <a:srgbClr val="BFCEC3"/>
                      </a:solidFill>
                      <a:prstDash val="solid"/>
                    </a:lnR>
                    <a:lnB w="9525">
                      <a:solidFill>
                        <a:srgbClr val="BFCEC3"/>
                      </a:solidFill>
                      <a:prstDash val="solid"/>
                    </a:lnB>
                    <a:solidFill>
                      <a:srgbClr val="FCFCF8"/>
                    </a:solidFill>
                  </a:tcPr>
                </a:tc>
              </a:tr>
              <a:tr h="685800">
                <a:tc>
                  <a:txBody>
                    <a:bodyPr/>
                    <a:lstStyle/>
                    <a:p>
                      <a:r>
                        <a:rPr sz="1875" b="0">
                          <a:solidFill>
                            <a:srgbClr val="14231E"/>
                          </a:solidFill>
                          <a:latin typeface="Arial"/>
                          <a:ea typeface="Arial"/>
                          <a:cs typeface="Arial"/>
                        </a:rPr>
                        <a:t>¿Qué queda pendiente?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Prueba concreta o dato primario</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40677166"/>
      </p:ext>
    </p:extLst>
  </p:cSld>
</p:sld>
</file>

<file path=ppt/slides/slide4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1ACAC79-FB78-4C89-A170-AE135CB078A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La compra que queda justificada</a:t>
            </a:r>
          </a:p>
        </p:txBody>
      </p:sp>
      <p:pic>
        <p:nvPicPr>
          <p:cNvPr id="2" name="">
            <a:extLst xmlns:a="http://schemas.openxmlformats.org/drawingml/2006/main">
              <a:ext uri="{FF2B5EF4-FFF2-40B4-BE49-F238E27FC236}">
                <a16:creationId xmlns:a16="http://schemas.microsoft.com/office/drawing/2014/main" id="{0C11FFD1-D9BC-45EB-ADC1-5C123527DE68}"/>
              </a:ext>
            </a:extLst>
          </p:cNvPr>
          <p:cNvPicPr>
            <a:picLocks xmlns:a="http://schemas.openxmlformats.org/drawingml/2006/main" noChangeAspect="1"/>
          </p:cNvPicPr>
          <p:nvPr/>
        </p:nvPicPr>
        <p:blipFill>
          <a:blip xmlns:r="http://schemas.openxmlformats.org/officeDocument/2006/relationships" xmlns:a="http://schemas.openxmlformats.org/drawingml/2006/main" r:embed="R961c77dd0f404aa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A633AAF-FC8C-49B3-B542-7DF9510DF5C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19/24</a:t>
            </a:r>
          </a:p>
        </p:txBody>
      </p:sp>
      <p:sp>
        <p:nvSpPr>
          <p:cNvPr id="4" name="">
            <a:extLst xmlns:a="http://schemas.openxmlformats.org/drawingml/2006/main">
              <a:ext uri="{FF2B5EF4-FFF2-40B4-BE49-F238E27FC236}">
                <a16:creationId xmlns:a16="http://schemas.microsoft.com/office/drawing/2014/main" id="{BCEBFEF0-D7DB-4DCB-AE2C-179359701AA0}"/>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Para ampliar, compara cómo cambian diámetro y paso dentro de una misma familia de hélices y busca la tabla correspondiente del fabricante. No se pide ensayar hélices en una mesa abierta. El trabajo inicial consiste en interpretar documentación y preparar el banco docente adecuado. En la siguiente sesión construiremos el mapa de alimentación que une las piezas seleccionadas.</a:t>
            </a:r>
          </a:p>
        </p:txBody>
      </p:sp>
    </p:spTree>
    <p:extLst>
      <p:ext uri="{BB962C8B-B14F-4D97-AF65-F5344CB8AC3E}">
        <p14:creationId xmlns:p14="http://schemas.microsoft.com/office/powerpoint/2010/main" val="569425095"/>
      </p:ext>
    </p:extLst>
  </p:cSld>
</p:sld>
</file>

<file path=ppt/slides/slide4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A3D593B-C85D-4AEA-8DAD-F3E4F74762F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guiada</a:t>
            </a:r>
          </a:p>
        </p:txBody>
      </p:sp>
      <p:pic>
        <p:nvPicPr>
          <p:cNvPr id="2" name="">
            <a:extLst xmlns:a="http://schemas.openxmlformats.org/drawingml/2006/main">
              <a:ext uri="{FF2B5EF4-FFF2-40B4-BE49-F238E27FC236}">
                <a16:creationId xmlns:a16="http://schemas.microsoft.com/office/drawing/2014/main" id="{CD34EF70-A032-4F95-8ECE-EC4DCAA83F1E}"/>
              </a:ext>
            </a:extLst>
          </p:cNvPr>
          <p:cNvPicPr>
            <a:picLocks xmlns:a="http://schemas.openxmlformats.org/drawingml/2006/main" noChangeAspect="1"/>
          </p:cNvPicPr>
          <p:nvPr/>
        </p:nvPicPr>
        <p:blipFill>
          <a:blip xmlns:r="http://schemas.openxmlformats.org/officeDocument/2006/relationships" xmlns:a="http://schemas.openxmlformats.org/drawingml/2006/main" r:embed="R3a7e044fcefa4c7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6417A00-49A1-42EC-AA72-1A080AD6A3F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20/24</a:t>
            </a:r>
          </a:p>
        </p:txBody>
      </p:sp>
      <p:sp>
        <p:nvSpPr>
          <p:cNvPr id="4" name="">
            <a:extLst xmlns:a="http://schemas.openxmlformats.org/drawingml/2006/main">
              <a:ext uri="{FF2B5EF4-FFF2-40B4-BE49-F238E27FC236}">
                <a16:creationId xmlns:a16="http://schemas.microsoft.com/office/drawing/2014/main" id="{0A91B5B3-D04C-4F53-BC7F-F39AEE4705C7}"/>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Resolver el presupuesto de 800 g antes de abrir una tienda.</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Comparar las tres filas sintéticas con unidades y condiciones.</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Calcular energía y tres escenarios de potencia media.</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Revisar una combinación propuesta y un descarte argumentado.</a:t>
            </a:r>
          </a:p>
        </p:txBody>
      </p:sp>
    </p:spTree>
    <p:extLst>
      <p:ext uri="{BB962C8B-B14F-4D97-AF65-F5344CB8AC3E}">
        <p14:creationId xmlns:p14="http://schemas.microsoft.com/office/powerpoint/2010/main" val="1305412040"/>
      </p:ext>
    </p:extLst>
  </p:cSld>
</p:sld>
</file>

<file path=ppt/slides/slide4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8B4EDBE-8294-4F7F-AA29-C2464606E81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Decisión de ensamblaje</a:t>
            </a:r>
          </a:p>
        </p:txBody>
      </p:sp>
      <p:pic>
        <p:nvPicPr>
          <p:cNvPr id="2" name="">
            <a:extLst xmlns:a="http://schemas.openxmlformats.org/drawingml/2006/main">
              <a:ext uri="{FF2B5EF4-FFF2-40B4-BE49-F238E27FC236}">
                <a16:creationId xmlns:a16="http://schemas.microsoft.com/office/drawing/2014/main" id="{2B2F7B00-3C8A-46D0-A7A0-85CD1A73A253}"/>
              </a:ext>
            </a:extLst>
          </p:cNvPr>
          <p:cNvPicPr>
            <a:picLocks xmlns:a="http://schemas.openxmlformats.org/drawingml/2006/main" noChangeAspect="1"/>
          </p:cNvPicPr>
          <p:nvPr/>
        </p:nvPicPr>
        <p:blipFill>
          <a:blip xmlns:r="http://schemas.openxmlformats.org/officeDocument/2006/relationships" xmlns:a="http://schemas.openxmlformats.org/drawingml/2006/main" r:embed="Rcfdd3b40c7204cb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C1DA69E-AC9E-4D11-9A97-9088028AB1A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02   21/24</a:t>
            </a:r>
          </a:p>
        </p:txBody>
      </p:sp>
      <p:sp>
        <p:nvSpPr>
          <p:cNvPr id="4" name="">
            <a:extLst xmlns:a="http://schemas.openxmlformats.org/drawingml/2006/main">
              <a:ext uri="{FF2B5EF4-FFF2-40B4-BE49-F238E27FC236}">
                <a16:creationId xmlns:a16="http://schemas.microsoft.com/office/drawing/2014/main" id="{281A2FFF-C8D0-46E1-A6E9-C6A6BD2A3F2C}"/>
              </a:ext>
            </a:extLst>
          </p:cNvPr>
          <p:cNvSpPr>
            <a:spLocks xmlns:a="http://schemas.openxmlformats.org/drawingml/2006/main" noGrp="1"/>
          </p:cNvSpPr>
          <p:nvPr/>
        </p:nvSpPr>
        <p:spPr>
          <a:xfrm xmlns:a="http://schemas.openxmlformats.org/drawingml/2006/main">
            <a:off x="590550" y="1762125"/>
            <a:ext cx="107156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La lista de compra debe explicar por qué las piezas funcionan juntas y qué ensayo del fabricante respalda la selección.</a:t>
            </a:r>
          </a:p>
        </p:txBody>
      </p:sp>
      <p:sp>
        <p:nvSpPr>
          <p:cNvPr id="5" name="">
            <a:extLst xmlns:a="http://schemas.openxmlformats.org/drawingml/2006/main">
              <a:ext uri="{FF2B5EF4-FFF2-40B4-BE49-F238E27FC236}">
                <a16:creationId xmlns:a16="http://schemas.microsoft.com/office/drawing/2014/main" id="{C0D98A1F-7CAC-43C0-AB90-6173590F9FAA}"/>
              </a:ext>
            </a:extLst>
          </p:cNvPr>
          <p:cNvSpPr>
            <a:spLocks xmlns:a="http://schemas.openxmlformats.org/drawingml/2006/main" noGrp="1"/>
          </p:cNvSpPr>
          <p:nvPr/>
        </p:nvSpPr>
        <p:spPr>
          <a:xfrm xmlns:a="http://schemas.openxmlformats.org/drawingml/2006/main">
            <a:off x="590550" y="3914775"/>
            <a:ext cx="10715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Explica una decisión con una pieza, el esquema o un dato. ¿Qué falta comprobar?</a:t>
            </a:r>
          </a:p>
        </p:txBody>
      </p:sp>
    </p:spTree>
    <p:extLst>
      <p:ext uri="{BB962C8B-B14F-4D97-AF65-F5344CB8AC3E}">
        <p14:creationId xmlns:p14="http://schemas.microsoft.com/office/powerpoint/2010/main" val="227457731"/>
      </p:ext>
    </p:extLst>
  </p:cSld>
</p:sld>
</file>

<file path=ppt/slides/slide4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04D0C90-78E2-4EFC-880C-F65D8109121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Preguntas de cierre</a:t>
            </a:r>
          </a:p>
        </p:txBody>
      </p:sp>
      <p:pic>
        <p:nvPicPr>
          <p:cNvPr id="2" name="">
            <a:extLst xmlns:a="http://schemas.openxmlformats.org/drawingml/2006/main">
              <a:ext uri="{FF2B5EF4-FFF2-40B4-BE49-F238E27FC236}">
                <a16:creationId xmlns:a16="http://schemas.microsoft.com/office/drawing/2014/main" id="{DDEE487C-676D-4BAB-A16E-B314A8DE760C}"/>
              </a:ext>
            </a:extLst>
          </p:cNvPr>
          <p:cNvPicPr>
            <a:picLocks xmlns:a="http://schemas.openxmlformats.org/drawingml/2006/main" noChangeAspect="1"/>
          </p:cNvPicPr>
          <p:nvPr/>
        </p:nvPicPr>
        <p:blipFill>
          <a:blip xmlns:r="http://schemas.openxmlformats.org/officeDocument/2006/relationships" xmlns:a="http://schemas.openxmlformats.org/drawingml/2006/main" r:embed="R5582258a5324453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8A6DD26-9EA3-4678-B259-5024CA4CBC3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02   22/24</a:t>
            </a:r>
          </a:p>
        </p:txBody>
      </p:sp>
      <p:sp>
        <p:nvSpPr>
          <p:cNvPr id="4" name="">
            <a:extLst xmlns:a="http://schemas.openxmlformats.org/drawingml/2006/main">
              <a:ext uri="{FF2B5EF4-FFF2-40B4-BE49-F238E27FC236}">
                <a16:creationId xmlns:a16="http://schemas.microsoft.com/office/drawing/2014/main" id="{97A86938-1EDB-4FFD-8788-79BC6C61B2D4}"/>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¿KV indica potencia del motor?</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¿C comercial sustituye comprobar corriente y conexiones?</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¿Duplicar mAh duplica siempre el tiempo?</a:t>
            </a:r>
          </a:p>
        </p:txBody>
      </p:sp>
    </p:spTree>
    <p:extLst>
      <p:ext uri="{BB962C8B-B14F-4D97-AF65-F5344CB8AC3E}">
        <p14:creationId xmlns:p14="http://schemas.microsoft.com/office/powerpoint/2010/main" val="1720102476"/>
      </p:ext>
    </p:extLst>
  </p:cSld>
</p:sld>
</file>

<file path=ppt/slides/slide4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20BDF89-8292-4448-BCDE-B2736CCD3FD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Respuestas y razonamiento</a:t>
            </a:r>
          </a:p>
        </p:txBody>
      </p:sp>
      <p:pic>
        <p:nvPicPr>
          <p:cNvPr id="2" name="">
            <a:extLst xmlns:a="http://schemas.openxmlformats.org/drawingml/2006/main">
              <a:ext uri="{FF2B5EF4-FFF2-40B4-BE49-F238E27FC236}">
                <a16:creationId xmlns:a16="http://schemas.microsoft.com/office/drawing/2014/main" id="{AA4530BE-ACE2-4447-828B-D8DAC89D018D}"/>
              </a:ext>
            </a:extLst>
          </p:cNvPr>
          <p:cNvPicPr>
            <a:picLocks xmlns:a="http://schemas.openxmlformats.org/drawingml/2006/main" noChangeAspect="1"/>
          </p:cNvPicPr>
          <p:nvPr/>
        </p:nvPicPr>
        <p:blipFill>
          <a:blip xmlns:r="http://schemas.openxmlformats.org/officeDocument/2006/relationships" xmlns:a="http://schemas.openxmlformats.org/drawingml/2006/main" r:embed="Rb861324eac274ce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FAB828E-C096-47BD-B264-4D2EDF909A7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23/24</a:t>
            </a:r>
          </a:p>
        </p:txBody>
      </p:sp>
      <p:sp>
        <p:nvSpPr>
          <p:cNvPr id="4" name="">
            <a:extLst xmlns:a="http://schemas.openxmlformats.org/drawingml/2006/main">
              <a:ext uri="{FF2B5EF4-FFF2-40B4-BE49-F238E27FC236}">
                <a16:creationId xmlns:a16="http://schemas.microsoft.com/office/drawing/2014/main" id="{5F77BC8D-150A-4668-A8DB-D6D2F88A8CB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No. Relaciona régimen sin carga y tensión bajo su convención; falta el conjunto y su ensayo.</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No. El conjunto necesita límites y evidencia bajo condiciones reales.</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No. Cambian masa, demanda y condiciones; hay que revisar el modelo y medir.</a:t>
            </a:r>
          </a:p>
        </p:txBody>
      </p:sp>
    </p:spTree>
    <p:extLst>
      <p:ext uri="{BB962C8B-B14F-4D97-AF65-F5344CB8AC3E}">
        <p14:creationId xmlns:p14="http://schemas.microsoft.com/office/powerpoint/2010/main" val="1064514728"/>
      </p:ext>
    </p:extLst>
  </p:cSld>
</p:sld>
</file>

<file path=ppt/slides/slide48.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C57E7E5-E0E5-4E84-A30C-1DD218736EC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40B88983-4E4E-43AC-A6EE-801114CA2A0D}"/>
              </a:ext>
            </a:extLst>
          </p:cNvPr>
          <p:cNvPicPr>
            <a:picLocks xmlns:a="http://schemas.openxmlformats.org/drawingml/2006/main" noChangeAspect="1"/>
          </p:cNvPicPr>
          <p:nvPr/>
        </p:nvPicPr>
        <p:blipFill>
          <a:blip xmlns:r="http://schemas.openxmlformats.org/officeDocument/2006/relationships" xmlns:a="http://schemas.openxmlformats.org/drawingml/2006/main" r:embed="Rdde8ca0fccc0441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7FA698F-7240-4255-9708-1D21B3C3AD8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02   24/24</a:t>
            </a:r>
          </a:p>
        </p:txBody>
      </p:sp>
      <p:sp>
        <p:nvSpPr>
          <p:cNvPr id="4" name="">
            <a:extLst xmlns:a="http://schemas.openxmlformats.org/drawingml/2006/main">
              <a:ext uri="{FF2B5EF4-FFF2-40B4-BE49-F238E27FC236}">
                <a16:creationId xmlns:a16="http://schemas.microsoft.com/office/drawing/2014/main" id="{6D9A01A8-3996-41D5-89D2-BD746AE65AEC}"/>
              </a:ext>
            </a:extLst>
          </p:cNvPr>
          <p:cNvSpPr>
            <a:spLocks xmlns:a="http://schemas.openxmlformats.org/drawingml/2006/main" noGrp="1"/>
          </p:cNvSpPr>
          <p:nvPr/>
        </p:nvSpPr>
        <p:spPr>
          <a:xfrm xmlns:a="http://schemas.openxmlformats.org/drawingml/2006/main">
            <a:off x="590550" y="1771650"/>
            <a:ext cx="10715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Lista de componentes justificada, presupuesto de masa/empuje y escenario de energía.</a:t>
            </a:r>
          </a:p>
        </p:txBody>
      </p:sp>
      <p:sp>
        <p:nvSpPr>
          <p:cNvPr id="5" name="">
            <a:extLst xmlns:a="http://schemas.openxmlformats.org/drawingml/2006/main">
              <a:ext uri="{FF2B5EF4-FFF2-40B4-BE49-F238E27FC236}">
                <a16:creationId xmlns:a16="http://schemas.microsoft.com/office/drawing/2014/main" id="{CE829D1E-B0A5-4D98-A7FE-8F1DDFCDB143}"/>
              </a:ext>
            </a:extLst>
          </p:cNvPr>
          <p:cNvSpPr>
            <a:spLocks xmlns:a="http://schemas.openxmlformats.org/drawingml/2006/main" noGrp="1"/>
          </p:cNvSpPr>
          <p:nvPr/>
        </p:nvSpPr>
        <p:spPr>
          <a:xfrm xmlns:a="http://schemas.openxmlformats.org/drawingml/2006/main">
            <a:off x="590550" y="44767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Identifica versión, unidad y procedencia. Conserva la evidencia y explica qué probarías después.</a:t>
            </a:r>
          </a:p>
        </p:txBody>
      </p:sp>
    </p:spTree>
    <p:extLst>
      <p:ext uri="{BB962C8B-B14F-4D97-AF65-F5344CB8AC3E}">
        <p14:creationId xmlns:p14="http://schemas.microsoft.com/office/powerpoint/2010/main" val="20738345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2026-10-22T23:36:23.0860000Z</dcterms:created>
  <dcterms:modified xsi:type="dcterms:W3CDTF">2026-10-22T23:36:23.0860000Z</dcterms:modified>
</coreProperties>
</file>