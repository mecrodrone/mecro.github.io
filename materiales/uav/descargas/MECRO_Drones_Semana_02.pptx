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2.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adfc0f038fe498f" /><Relationship Type="http://schemas.openxmlformats.org/officeDocument/2006/relationships/extended-properties" Target="/docProps/app.xml" Id="R44f8f0df1d804681" /><Relationship Type="http://schemas.openxmlformats.org/officeDocument/2006/relationships/officeDocument" Target="/ppt/presentation.xml" Id="R2edf3414e820477c" /></Relationships>
</file>

<file path=ppt/presentation.xml><?xml version="1.0" encoding="utf-8"?>
<p:presentation xmlns:p="http://schemas.openxmlformats.org/presentationml/2006/main">
  <p:sldMasterIdLst>
    <p:sldMasterId xmlns:r="http://schemas.openxmlformats.org/officeDocument/2006/relationships" id="2147483648" r:id="R851b155adccd4357"/>
  </p:sldMasterIdLst>
  <p:notesMasterIdLst>
    <p:notesMasterId xmlns:r="http://schemas.openxmlformats.org/officeDocument/2006/relationships" r:id="R4347fce16af644ca"/>
  </p:notesMasterIdLst>
  <p:sldIdLst>
    <p:sldId xmlns:r="http://schemas.openxmlformats.org/officeDocument/2006/relationships" id="256" r:id="R82a7793a51144b1e"/>
    <p:sldId xmlns:r="http://schemas.openxmlformats.org/officeDocument/2006/relationships" id="257" r:id="Rae4dfea81203431d"/>
    <p:sldId xmlns:r="http://schemas.openxmlformats.org/officeDocument/2006/relationships" id="258" r:id="Rb6e5b8cac2ab4fa0"/>
    <p:sldId xmlns:r="http://schemas.openxmlformats.org/officeDocument/2006/relationships" id="259" r:id="R431077e07bb34fb4"/>
    <p:sldId xmlns:r="http://schemas.openxmlformats.org/officeDocument/2006/relationships" id="260" r:id="R32d3999fc4664dc5"/>
    <p:sldId xmlns:r="http://schemas.openxmlformats.org/officeDocument/2006/relationships" id="261" r:id="R5e032c99c9604cf9"/>
    <p:sldId xmlns:r="http://schemas.openxmlformats.org/officeDocument/2006/relationships" id="262" r:id="Re95d2c7ca2e64e4d"/>
    <p:sldId xmlns:r="http://schemas.openxmlformats.org/officeDocument/2006/relationships" id="263" r:id="R72ac6736c30c408e"/>
    <p:sldId xmlns:r="http://schemas.openxmlformats.org/officeDocument/2006/relationships" id="264" r:id="Rd4cf58e2434f4629"/>
    <p:sldId xmlns:r="http://schemas.openxmlformats.org/officeDocument/2006/relationships" id="265" r:id="Rcd6742d7d7b5469c"/>
    <p:sldId xmlns:r="http://schemas.openxmlformats.org/officeDocument/2006/relationships" id="266" r:id="R31dc022eaf924ba5"/>
    <p:sldId xmlns:r="http://schemas.openxmlformats.org/officeDocument/2006/relationships" id="267" r:id="R905d8198774f40c6"/>
    <p:sldId xmlns:r="http://schemas.openxmlformats.org/officeDocument/2006/relationships" id="268" r:id="R4f1c6e39b7684487"/>
    <p:sldId xmlns:r="http://schemas.openxmlformats.org/officeDocument/2006/relationships" id="269" r:id="R7cd5a491b276469a"/>
    <p:sldId xmlns:r="http://schemas.openxmlformats.org/officeDocument/2006/relationships" id="270" r:id="Ra7d0626f17cc4b15"/>
    <p:sldId xmlns:r="http://schemas.openxmlformats.org/officeDocument/2006/relationships" id="271" r:id="Rd42c1765ee974685"/>
    <p:sldId xmlns:r="http://schemas.openxmlformats.org/officeDocument/2006/relationships" id="272" r:id="R457f8c5159d146eb"/>
    <p:sldId xmlns:r="http://schemas.openxmlformats.org/officeDocument/2006/relationships" id="273" r:id="Rb37e1e4d05384a13"/>
    <p:sldId xmlns:r="http://schemas.openxmlformats.org/officeDocument/2006/relationships" id="274" r:id="R75dc893c6d8b4b5d"/>
    <p:sldId xmlns:r="http://schemas.openxmlformats.org/officeDocument/2006/relationships" id="275" r:id="R2f62149b699d4e57"/>
    <p:sldId xmlns:r="http://schemas.openxmlformats.org/officeDocument/2006/relationships" id="276" r:id="Rc1ffebfdddbb422b"/>
    <p:sldId xmlns:r="http://schemas.openxmlformats.org/officeDocument/2006/relationships" id="277" r:id="R720d450664194d01"/>
    <p:sldId xmlns:r="http://schemas.openxmlformats.org/officeDocument/2006/relationships" id="278" r:id="R26bf26515cfc48a9"/>
    <p:sldId xmlns:r="http://schemas.openxmlformats.org/officeDocument/2006/relationships" id="279" r:id="R92ca8aed04ed430c"/>
    <p:sldId xmlns:r="http://schemas.openxmlformats.org/officeDocument/2006/relationships" id="280" r:id="R87bdffeb82a94237"/>
    <p:sldId xmlns:r="http://schemas.openxmlformats.org/officeDocument/2006/relationships" id="281" r:id="R2774c1ed370546ad"/>
    <p:sldId xmlns:r="http://schemas.openxmlformats.org/officeDocument/2006/relationships" id="282" r:id="R49ae4ef5b0eb4a80"/>
    <p:sldId xmlns:r="http://schemas.openxmlformats.org/officeDocument/2006/relationships" id="283" r:id="R18788442801f49ec"/>
    <p:sldId xmlns:r="http://schemas.openxmlformats.org/officeDocument/2006/relationships" id="284" r:id="R8649cb3232a84a66"/>
    <p:sldId xmlns:r="http://schemas.openxmlformats.org/officeDocument/2006/relationships" id="285" r:id="R49b57f18257443fe"/>
    <p:sldId xmlns:r="http://schemas.openxmlformats.org/officeDocument/2006/relationships" id="286" r:id="Ra2ad6a577ba6422c"/>
    <p:sldId xmlns:r="http://schemas.openxmlformats.org/officeDocument/2006/relationships" id="287" r:id="Rc996da0fb0984838"/>
    <p:sldId xmlns:r="http://schemas.openxmlformats.org/officeDocument/2006/relationships" id="288" r:id="Rd802ee149a6a4d4a"/>
    <p:sldId xmlns:r="http://schemas.openxmlformats.org/officeDocument/2006/relationships" id="289" r:id="R15d69eaae02d4ec8"/>
    <p:sldId xmlns:r="http://schemas.openxmlformats.org/officeDocument/2006/relationships" id="290" r:id="R411c3c891471467a"/>
    <p:sldId xmlns:r="http://schemas.openxmlformats.org/officeDocument/2006/relationships" id="291" r:id="R70e59cc7fa0140b1"/>
    <p:sldId xmlns:r="http://schemas.openxmlformats.org/officeDocument/2006/relationships" id="292" r:id="R023ac616555047a3"/>
    <p:sldId xmlns:r="http://schemas.openxmlformats.org/officeDocument/2006/relationships" id="293" r:id="R2058a64574784ff8"/>
    <p:sldId xmlns:r="http://schemas.openxmlformats.org/officeDocument/2006/relationships" id="294" r:id="Re8837626adcd4092"/>
    <p:sldId xmlns:r="http://schemas.openxmlformats.org/officeDocument/2006/relationships" id="295" r:id="Re9b01c6a8ab34591"/>
    <p:sldId xmlns:r="http://schemas.openxmlformats.org/officeDocument/2006/relationships" id="296" r:id="R61a83b9195b2401d"/>
    <p:sldId xmlns:r="http://schemas.openxmlformats.org/officeDocument/2006/relationships" id="297" r:id="Rcdf0e16e8a3d4498"/>
    <p:sldId xmlns:r="http://schemas.openxmlformats.org/officeDocument/2006/relationships" id="298" r:id="R0e8ac4d677174a3f"/>
    <p:sldId xmlns:r="http://schemas.openxmlformats.org/officeDocument/2006/relationships" id="299" r:id="R62243e041fbe43b8"/>
    <p:sldId xmlns:r="http://schemas.openxmlformats.org/officeDocument/2006/relationships" id="300" r:id="R80876f39c2614071"/>
    <p:sldId xmlns:r="http://schemas.openxmlformats.org/officeDocument/2006/relationships" id="301" r:id="R287348e17f4d41fa"/>
    <p:sldId xmlns:r="http://schemas.openxmlformats.org/officeDocument/2006/relationships" id="302" r:id="Rf1b52cd131624dfc"/>
    <p:sldId xmlns:r="http://schemas.openxmlformats.org/officeDocument/2006/relationships" id="303" r:id="R838ab50b8d7646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580a21812c4d9b" /><Relationship Type="http://schemas.openxmlformats.org/officeDocument/2006/relationships/slideMaster" Target="/ppt/slideMasters/slideMaster1.xml" Id="R851b155adccd4357" /><Relationship Type="http://schemas.openxmlformats.org/officeDocument/2006/relationships/notesMaster" Target="/ppt/notesMasters/notesMaster1.xml" Id="R4347fce16af644ca" /><Relationship Type="http://schemas.openxmlformats.org/officeDocument/2006/relationships/presProps" Target="/ppt/presProps.xml" Id="R49adfbb9b3c3447d" /><Relationship Type="http://schemas.openxmlformats.org/officeDocument/2006/relationships/tableStyles" Target="/ppt/tableStyles.xml" Id="Ra524cf950ce0444b" /><Relationship Type="http://schemas.openxmlformats.org/officeDocument/2006/relationships/slide" Target="/ppt/slides/slide1.xml" Id="R82a7793a51144b1e" /><Relationship Type="http://schemas.openxmlformats.org/officeDocument/2006/relationships/slide" Target="/ppt/slides/slide2.xml" Id="Rae4dfea81203431d" /><Relationship Type="http://schemas.openxmlformats.org/officeDocument/2006/relationships/slide" Target="/ppt/slides/slide3.xml" Id="Rb6e5b8cac2ab4fa0" /><Relationship Type="http://schemas.openxmlformats.org/officeDocument/2006/relationships/slide" Target="/ppt/slides/slide4.xml" Id="R431077e07bb34fb4" /><Relationship Type="http://schemas.openxmlformats.org/officeDocument/2006/relationships/slide" Target="/ppt/slides/slide5.xml" Id="R32d3999fc4664dc5" /><Relationship Type="http://schemas.openxmlformats.org/officeDocument/2006/relationships/slide" Target="/ppt/slides/slide6.xml" Id="R5e032c99c9604cf9" /><Relationship Type="http://schemas.openxmlformats.org/officeDocument/2006/relationships/slide" Target="/ppt/slides/slide7.xml" Id="Re95d2c7ca2e64e4d" /><Relationship Type="http://schemas.openxmlformats.org/officeDocument/2006/relationships/slide" Target="/ppt/slides/slide8.xml" Id="R72ac6736c30c408e" /><Relationship Type="http://schemas.openxmlformats.org/officeDocument/2006/relationships/slide" Target="/ppt/slides/slide9.xml" Id="Rd4cf58e2434f4629" /><Relationship Type="http://schemas.openxmlformats.org/officeDocument/2006/relationships/slide" Target="/ppt/slides/slide10.xml" Id="Rcd6742d7d7b5469c" /><Relationship Type="http://schemas.openxmlformats.org/officeDocument/2006/relationships/slide" Target="/ppt/slides/slide11.xml" Id="R31dc022eaf924ba5" /><Relationship Type="http://schemas.openxmlformats.org/officeDocument/2006/relationships/slide" Target="/ppt/slides/slide12.xml" Id="R905d8198774f40c6" /><Relationship Type="http://schemas.openxmlformats.org/officeDocument/2006/relationships/slide" Target="/ppt/slides/slide13.xml" Id="R4f1c6e39b7684487" /><Relationship Type="http://schemas.openxmlformats.org/officeDocument/2006/relationships/slide" Target="/ppt/slides/slide14.xml" Id="R7cd5a491b276469a" /><Relationship Type="http://schemas.openxmlformats.org/officeDocument/2006/relationships/slide" Target="/ppt/slides/slide15.xml" Id="Ra7d0626f17cc4b15" /><Relationship Type="http://schemas.openxmlformats.org/officeDocument/2006/relationships/slide" Target="/ppt/slides/slide16.xml" Id="Rd42c1765ee974685" /><Relationship Type="http://schemas.openxmlformats.org/officeDocument/2006/relationships/slide" Target="/ppt/slides/slide17.xml" Id="R457f8c5159d146eb" /><Relationship Type="http://schemas.openxmlformats.org/officeDocument/2006/relationships/slide" Target="/ppt/slides/slide18.xml" Id="Rb37e1e4d05384a13" /><Relationship Type="http://schemas.openxmlformats.org/officeDocument/2006/relationships/slide" Target="/ppt/slides/slide19.xml" Id="R75dc893c6d8b4b5d" /><Relationship Type="http://schemas.openxmlformats.org/officeDocument/2006/relationships/slide" Target="/ppt/slides/slide20.xml" Id="R2f62149b699d4e57" /><Relationship Type="http://schemas.openxmlformats.org/officeDocument/2006/relationships/slide" Target="/ppt/slides/slide21.xml" Id="Rc1ffebfdddbb422b" /><Relationship Type="http://schemas.openxmlformats.org/officeDocument/2006/relationships/slide" Target="/ppt/slides/slide22.xml" Id="R720d450664194d01" /><Relationship Type="http://schemas.openxmlformats.org/officeDocument/2006/relationships/slide" Target="/ppt/slides/slide23.xml" Id="R26bf26515cfc48a9" /><Relationship Type="http://schemas.openxmlformats.org/officeDocument/2006/relationships/slide" Target="/ppt/slides/slide24.xml" Id="R92ca8aed04ed430c" /><Relationship Type="http://schemas.openxmlformats.org/officeDocument/2006/relationships/slide" Target="/ppt/slides/slide25.xml" Id="R87bdffeb82a94237" /><Relationship Type="http://schemas.openxmlformats.org/officeDocument/2006/relationships/slide" Target="/ppt/slides/slide26.xml" Id="R2774c1ed370546ad" /><Relationship Type="http://schemas.openxmlformats.org/officeDocument/2006/relationships/slide" Target="/ppt/slides/slide27.xml" Id="R49ae4ef5b0eb4a80" /><Relationship Type="http://schemas.openxmlformats.org/officeDocument/2006/relationships/slide" Target="/ppt/slides/slide28.xml" Id="R18788442801f49ec" /><Relationship Type="http://schemas.openxmlformats.org/officeDocument/2006/relationships/slide" Target="/ppt/slides/slide29.xml" Id="R8649cb3232a84a66" /><Relationship Type="http://schemas.openxmlformats.org/officeDocument/2006/relationships/slide" Target="/ppt/slides/slide30.xml" Id="R49b57f18257443fe" /><Relationship Type="http://schemas.openxmlformats.org/officeDocument/2006/relationships/slide" Target="/ppt/slides/slide31.xml" Id="Ra2ad6a577ba6422c" /><Relationship Type="http://schemas.openxmlformats.org/officeDocument/2006/relationships/slide" Target="/ppt/slides/slide32.xml" Id="Rc996da0fb0984838" /><Relationship Type="http://schemas.openxmlformats.org/officeDocument/2006/relationships/slide" Target="/ppt/slides/slide33.xml" Id="Rd802ee149a6a4d4a" /><Relationship Type="http://schemas.openxmlformats.org/officeDocument/2006/relationships/slide" Target="/ppt/slides/slide34.xml" Id="R15d69eaae02d4ec8" /><Relationship Type="http://schemas.openxmlformats.org/officeDocument/2006/relationships/slide" Target="/ppt/slides/slide35.xml" Id="R411c3c891471467a" /><Relationship Type="http://schemas.openxmlformats.org/officeDocument/2006/relationships/slide" Target="/ppt/slides/slide36.xml" Id="R70e59cc7fa0140b1" /><Relationship Type="http://schemas.openxmlformats.org/officeDocument/2006/relationships/slide" Target="/ppt/slides/slide37.xml" Id="R023ac616555047a3" /><Relationship Type="http://schemas.openxmlformats.org/officeDocument/2006/relationships/slide" Target="/ppt/slides/slide38.xml" Id="R2058a64574784ff8" /><Relationship Type="http://schemas.openxmlformats.org/officeDocument/2006/relationships/slide" Target="/ppt/slides/slide39.xml" Id="Re8837626adcd4092" /><Relationship Type="http://schemas.openxmlformats.org/officeDocument/2006/relationships/slide" Target="/ppt/slides/slide40.xml" Id="Re9b01c6a8ab34591" /><Relationship Type="http://schemas.openxmlformats.org/officeDocument/2006/relationships/slide" Target="/ppt/slides/slide41.xml" Id="R61a83b9195b2401d" /><Relationship Type="http://schemas.openxmlformats.org/officeDocument/2006/relationships/slide" Target="/ppt/slides/slide42.xml" Id="Rcdf0e16e8a3d4498" /><Relationship Type="http://schemas.openxmlformats.org/officeDocument/2006/relationships/slide" Target="/ppt/slides/slide43.xml" Id="R0e8ac4d677174a3f" /><Relationship Type="http://schemas.openxmlformats.org/officeDocument/2006/relationships/slide" Target="/ppt/slides/slide44.xml" Id="R62243e041fbe43b8" /><Relationship Type="http://schemas.openxmlformats.org/officeDocument/2006/relationships/slide" Target="/ppt/slides/slide45.xml" Id="R80876f39c2614071" /><Relationship Type="http://schemas.openxmlformats.org/officeDocument/2006/relationships/slide" Target="/ppt/slides/slide46.xml" Id="R287348e17f4d41fa" /><Relationship Type="http://schemas.openxmlformats.org/officeDocument/2006/relationships/slide" Target="/ppt/slides/slide47.xml" Id="Rf1b52cd131624dfc" /><Relationship Type="http://schemas.openxmlformats.org/officeDocument/2006/relationships/slide" Target="/ppt/slides/slide48.xml" Id="R838ab50b8d7646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6aed6501e344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fbdb3b179b41fd" /><Relationship Type="http://schemas.openxmlformats.org/officeDocument/2006/relationships/notesMaster" Target="/ppt/notesMasters/notesMaster1.xml" Id="R87306968c46f4d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4f2edaeaa34b07" /><Relationship Type="http://schemas.openxmlformats.org/officeDocument/2006/relationships/notesMaster" Target="/ppt/notesMasters/notesMaster1.xml" Id="Ra57e3137249b42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16fac441ca4d8a" /><Relationship Type="http://schemas.openxmlformats.org/officeDocument/2006/relationships/notesMaster" Target="/ppt/notesMasters/notesMaster1.xml" Id="Rc0efa28c2ae944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5add79e0084fc4" /><Relationship Type="http://schemas.openxmlformats.org/officeDocument/2006/relationships/notesMaster" Target="/ppt/notesMasters/notesMaster1.xml" Id="R8c55d727fdc447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3818f9143b42d3" /><Relationship Type="http://schemas.openxmlformats.org/officeDocument/2006/relationships/notesMaster" Target="/ppt/notesMasters/notesMaster1.xml" Id="R5d4c42676f7f42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4abd91e8724388" /><Relationship Type="http://schemas.openxmlformats.org/officeDocument/2006/relationships/notesMaster" Target="/ppt/notesMasters/notesMaster1.xml" Id="R6300a7a7f7f642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3aa9a4765b4237" /><Relationship Type="http://schemas.openxmlformats.org/officeDocument/2006/relationships/notesMaster" Target="/ppt/notesMasters/notesMaster1.xml" Id="R673c88bd47a242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7ec9d617404982" /><Relationship Type="http://schemas.openxmlformats.org/officeDocument/2006/relationships/notesMaster" Target="/ppt/notesMasters/notesMaster1.xml" Id="R56bd8218a93d4f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eb7613fdc94535" /><Relationship Type="http://schemas.openxmlformats.org/officeDocument/2006/relationships/notesMaster" Target="/ppt/notesMasters/notesMaster1.xml" Id="Rbf557f79043444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60cde428b44130" /><Relationship Type="http://schemas.openxmlformats.org/officeDocument/2006/relationships/notesMaster" Target="/ppt/notesMasters/notesMaster1.xml" Id="Rcf8c70f5a4f74e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f228f220e0408c" /><Relationship Type="http://schemas.openxmlformats.org/officeDocument/2006/relationships/notesMaster" Target="/ppt/notesMasters/notesMaster1.xml" Id="R77b93597265142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49dbb3eade435b" /><Relationship Type="http://schemas.openxmlformats.org/officeDocument/2006/relationships/notesMaster" Target="/ppt/notesMasters/notesMaster1.xml" Id="Rdf286c4c41dd4e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0fdf19be394afe" /><Relationship Type="http://schemas.openxmlformats.org/officeDocument/2006/relationships/notesMaster" Target="/ppt/notesMasters/notesMaster1.xml" Id="R38cd082ce20d41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f81f6960cc455b" /><Relationship Type="http://schemas.openxmlformats.org/officeDocument/2006/relationships/notesMaster" Target="/ppt/notesMasters/notesMaster1.xml" Id="R7a0bf901f8d446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de36c8d83e44ca" /><Relationship Type="http://schemas.openxmlformats.org/officeDocument/2006/relationships/notesMaster" Target="/ppt/notesMasters/notesMaster1.xml" Id="R79fc2722572f41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a39f418a414c91" /><Relationship Type="http://schemas.openxmlformats.org/officeDocument/2006/relationships/notesMaster" Target="/ppt/notesMasters/notesMaster1.xml" Id="R77c73f8516df40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da659879c24b65" /><Relationship Type="http://schemas.openxmlformats.org/officeDocument/2006/relationships/notesMaster" Target="/ppt/notesMasters/notesMaster1.xml" Id="R5501ae2c33aa45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44cb3af1aa424e" /><Relationship Type="http://schemas.openxmlformats.org/officeDocument/2006/relationships/notesMaster" Target="/ppt/notesMasters/notesMaster1.xml" Id="Ra5f8e84f2cbd4c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6117c9a08a417d" /><Relationship Type="http://schemas.openxmlformats.org/officeDocument/2006/relationships/notesMaster" Target="/ppt/notesMasters/notesMaster1.xml" Id="R9e0e2d9762744e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5921ece4c741c6" /><Relationship Type="http://schemas.openxmlformats.org/officeDocument/2006/relationships/notesMaster" Target="/ppt/notesMasters/notesMaster1.xml" Id="Rc2d8b4b8c0a949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592d72d3aa4301" /><Relationship Type="http://schemas.openxmlformats.org/officeDocument/2006/relationships/notesMaster" Target="/ppt/notesMasters/notesMaster1.xml" Id="R8302fcbae53141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351f16d2d7478d" /><Relationship Type="http://schemas.openxmlformats.org/officeDocument/2006/relationships/notesMaster" Target="/ppt/notesMasters/notesMaster1.xml" Id="Rde6c6320512a49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653792421e4ad9" /><Relationship Type="http://schemas.openxmlformats.org/officeDocument/2006/relationships/notesMaster" Target="/ppt/notesMasters/notesMaster1.xml" Id="Rd745758deea04b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d3e7511e9464298" /><Relationship Type="http://schemas.openxmlformats.org/officeDocument/2006/relationships/notesMaster" Target="/ppt/notesMasters/notesMaster1.xml" Id="R595458ed2c44426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836a20331874f24" /><Relationship Type="http://schemas.openxmlformats.org/officeDocument/2006/relationships/notesMaster" Target="/ppt/notesMasters/notesMaster1.xml" Id="R40ebe5f2dfa74f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d5f23a6b0ed4872" /><Relationship Type="http://schemas.openxmlformats.org/officeDocument/2006/relationships/notesMaster" Target="/ppt/notesMasters/notesMaster1.xml" Id="Ra4f49d38578a45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4ea5848c954652" /><Relationship Type="http://schemas.openxmlformats.org/officeDocument/2006/relationships/notesMaster" Target="/ppt/notesMasters/notesMaster1.xml" Id="Rd7db96a735674ae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bd9d933ba6f4817" /><Relationship Type="http://schemas.openxmlformats.org/officeDocument/2006/relationships/notesMaster" Target="/ppt/notesMasters/notesMaster1.xml" Id="R122a0360afdb4de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03c3d6444048be" /><Relationship Type="http://schemas.openxmlformats.org/officeDocument/2006/relationships/notesMaster" Target="/ppt/notesMasters/notesMaster1.xml" Id="R94334bc449aa42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0e4e996fd6b43ba" /><Relationship Type="http://schemas.openxmlformats.org/officeDocument/2006/relationships/notesMaster" Target="/ppt/notesMasters/notesMaster1.xml" Id="R4fd98390c770471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f0eaffa0f24ee8" /><Relationship Type="http://schemas.openxmlformats.org/officeDocument/2006/relationships/notesMaster" Target="/ppt/notesMasters/notesMaster1.xml" Id="R4b55c21610224ff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cbfa5597fc3466e" /><Relationship Type="http://schemas.openxmlformats.org/officeDocument/2006/relationships/notesMaster" Target="/ppt/notesMasters/notesMaster1.xml" Id="R32f88a6ff79f4be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812e82eb3194148" /><Relationship Type="http://schemas.openxmlformats.org/officeDocument/2006/relationships/notesMaster" Target="/ppt/notesMasters/notesMaster1.xml" Id="Re7c6f6794a1048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a01ea39393941e2" /><Relationship Type="http://schemas.openxmlformats.org/officeDocument/2006/relationships/notesMaster" Target="/ppt/notesMasters/notesMaster1.xml" Id="R9c2756d09f824b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96e0dbb23d04337" /><Relationship Type="http://schemas.openxmlformats.org/officeDocument/2006/relationships/notesMaster" Target="/ppt/notesMasters/notesMaster1.xml" Id="Ra88744fb488a48c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7fed71fe7c4731" /><Relationship Type="http://schemas.openxmlformats.org/officeDocument/2006/relationships/notesMaster" Target="/ppt/notesMasters/notesMaster1.xml" Id="R6e360cf6a71a48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42ae4367d4f4519" /><Relationship Type="http://schemas.openxmlformats.org/officeDocument/2006/relationships/notesMaster" Target="/ppt/notesMasters/notesMaster1.xml" Id="R60251884b59e496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36856854d84755" /><Relationship Type="http://schemas.openxmlformats.org/officeDocument/2006/relationships/notesMaster" Target="/ppt/notesMasters/notesMaster1.xml" Id="R697e7e5b08c3454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700b6b53a094e13" /><Relationship Type="http://schemas.openxmlformats.org/officeDocument/2006/relationships/notesMaster" Target="/ppt/notesMasters/notesMaster1.xml" Id="R16a9d9a6599d427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893b93812954562" /><Relationship Type="http://schemas.openxmlformats.org/officeDocument/2006/relationships/notesMaster" Target="/ppt/notesMasters/notesMaster1.xml" Id="R4d7f39a45b764c4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8f6e76c7e4845a7" /><Relationship Type="http://schemas.openxmlformats.org/officeDocument/2006/relationships/notesMaster" Target="/ppt/notesMasters/notesMaster1.xml" Id="R597d7a6de4ad43e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22e136c5a5e4cfc" /><Relationship Type="http://schemas.openxmlformats.org/officeDocument/2006/relationships/notesMaster" Target="/ppt/notesMasters/notesMaster1.xml" Id="Rb438551e2ba648e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e58462302904480" /><Relationship Type="http://schemas.openxmlformats.org/officeDocument/2006/relationships/notesMaster" Target="/ppt/notesMasters/notesMaster1.xml" Id="R66f3224027e446c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a0901f9a32b48a6" /><Relationship Type="http://schemas.openxmlformats.org/officeDocument/2006/relationships/notesMaster" Target="/ppt/notesMasters/notesMaster1.xml" Id="R80133785701343b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592c756c1cc4a64" /><Relationship Type="http://schemas.openxmlformats.org/officeDocument/2006/relationships/notesMaster" Target="/ppt/notesMasters/notesMaster1.xml" Id="Rf383c105e7bf42a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38dba19453a4740" /><Relationship Type="http://schemas.openxmlformats.org/officeDocument/2006/relationships/notesMaster" Target="/ppt/notesMasters/notesMaster1.xml" Id="R2c9b42894c1e435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754adf3e0134c93" /><Relationship Type="http://schemas.openxmlformats.org/officeDocument/2006/relationships/notesMaster" Target="/ppt/notesMasters/notesMaster1.xml" Id="R13cfe5de12914d0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4a9495990bc487c" /><Relationship Type="http://schemas.openxmlformats.org/officeDocument/2006/relationships/notesMaster" Target="/ppt/notesMasters/notesMaster1.xml" Id="R431ddcf51259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alimentación y señal en los dos tipos de controladora.</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La batería entrega energía a la distribución de potencia. El ESC gobierna las corrientes del motor y recibe una señal de mando. La FC y los periféricos necesitan sus propias condiciones de alimentación: algunos módulos admiten tensión de batería y otros requieren una línea regulada. Un pin marcado 5V y otro marcado VBAT no se intercambian porque estén juntos. El esquema se lee desde cada carga hacia su fuente y desde cada fuente hacia sus cargas.</a:t>
            </a:r>
          </a:p>
          <a:p xmlns:a="http://schemas.openxmlformats.org/drawingml/2006/main">
            <a:r>
              <a:t/>
            </a:r>
          </a:p>
          <a:p xmlns:a="http://schemas.openxmlformats.org/drawingml/2006/main">
            <a:r>
              <a:t>Ejemplo documental de un puerto POWER de Pixhawk. Sus contactos pertenecen a ese equipo de referencia; no son un pinout universal de FC o autopiloto. Fuente: ArduPilot, documentación CC BY-SA 3.0. https://ardupilot.org/copter/docs/common-powering-the-pixhawk.html</a:t>
            </a:r>
          </a:p>
          <a:p xmlns:a="http://schemas.openxmlformats.org/drawingml/2006/main">
            <a:r>
              <a:t/>
            </a:r>
          </a:p>
          <a:p xmlns:a="http://schemas.openxmlformats.org/drawingml/2006/main">
            <a:r>
              <a:t>En un autopiloto, el módulo de potencia puede aportar alimentación regulada y medida de tensión/corriente. Esas funciones no son idénticas a alimentar la línea de servos. Una FC compacta puede integrar reguladores y conectarse a un ESC 4 en 1 mediante arnés. La construcción cambia, pero se mantienen las preguntas: qué tensión entra, qué sale, qué corriente puede entregar y cuál es la referencia de cada señal.</a:t>
            </a:r>
          </a:p>
          <a:p xmlns:a="http://schemas.openxmlformats.org/drawingml/2006/main">
            <a:r>
              <a:t/>
            </a:r>
          </a:p>
          <a:p xmlns:a="http://schemas.openxmlformats.org/drawingml/2006/main">
            <a:r>
              <a:t>Se documenta cada extremo del cable. Si una revisión del fabricante cambia el orden del arnés, conservar el nombre del conjunto no basta: hay que contrastar el dibujo de esa revisión. La primera inspección se hace sin batería conectada.</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Ejemplo documental de un puerto POWER de Pixhawk. Sus contactos pertenecen a ese equipo de referencia; no son un pinout universal de FC o autopiloto. Fuente: ArduPilot, documentación CC BY-SA 3.0. https://ardupilot.org/copter/docs/common-powering-the-pixhawk.html</a:t>
            </a:r>
          </a:p>
          <a:p xmlns:a="http://schemas.openxmlformats.org/drawingml/2006/main">
            <a:r>
              <a:t>La batería entrega energía a la distribución de potencia. El ESC gobierna las corrientes del motor y recibe una señal de mando. La FC y los periféricos necesitan sus propias condiciones de alimentación: algunos módulos admiten tensión de batería y otros requieren una línea regulada. Un pin marcado 5V y otro marcado VBAT no se intercambian porque estén juntos. El esquema se lee desde cada carga hacia su fuente y desde cada fuente hacia sus cargas.</a:t>
            </a:r>
          </a:p>
          <a:p xmlns:a="http://schemas.openxmlformats.org/drawingml/2006/main">
            <a:r>
              <a:t/>
            </a:r>
          </a:p>
          <a:p xmlns:a="http://schemas.openxmlformats.org/drawingml/2006/main">
            <a:r>
              <a:t>Ejemplo documental de un puerto POWER de Pixhawk. Sus contactos pertenecen a ese equipo de referencia; no son un pinout universal de FC o autopiloto. Fuente: ArduPilot, documentación CC BY-SA 3.0. https://ardupilot.org/copter/docs/common-powering-the-pixhawk.html</a:t>
            </a:r>
          </a:p>
          <a:p xmlns:a="http://schemas.openxmlformats.org/drawingml/2006/main">
            <a:r>
              <a:t/>
            </a:r>
          </a:p>
          <a:p xmlns:a="http://schemas.openxmlformats.org/drawingml/2006/main">
            <a:r>
              <a:t>En un autopiloto, el módulo de potencia puede aportar alimentación regulada y medida de tensión/corriente. Esas funciones no son idénticas a alimentar la línea de servos. Una FC compacta puede integrar reguladores y conectarse a un ESC 4 en 1 mediante arnés. La construcción cambia, pero se mantienen las preguntas: qué tensión entra, qué sale, qué corriente puede entregar y cuál es la referencia de cada señal.</a:t>
            </a:r>
          </a:p>
          <a:p xmlns:a="http://schemas.openxmlformats.org/drawingml/2006/main">
            <a:r>
              <a:t/>
            </a:r>
          </a:p>
          <a:p xmlns:a="http://schemas.openxmlformats.org/drawingml/2006/main">
            <a:r>
              <a:t>Se documenta cada extremo del cable. Si una revisión del fabricante cambia el orden del arnés, conservar el nombre del conjunto no basta: hay que contrastar el dibujo de esa revisión. La primera inspección se hace sin batería conectada.</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La batería entrega energía a la distribución de potencia. El ESC gobierna las corrientes del motor y recibe una señal de mando. La FC y los periféricos necesitan sus propias condiciones de alimentación: algunos módulos admiten tensión de batería y otros requieren una línea regulada. Un pin marcado 5V y otro marcado VBAT no se intercambian porque estén juntos. El esquema se lee desde cada carga hacia su fuente y desde cada fuente hacia sus cargas.</a:t>
            </a:r>
          </a:p>
          <a:p xmlns:a="http://schemas.openxmlformats.org/drawingml/2006/main">
            <a:r>
              <a:t/>
            </a:r>
          </a:p>
          <a:p xmlns:a="http://schemas.openxmlformats.org/drawingml/2006/main">
            <a:r>
              <a:t>Ejemplo documental de un puerto POWER de Pixhawk. Sus contactos pertenecen a ese equipo de referencia; no son un pinout universal de FC o autopiloto. Fuente: ArduPilot, documentación CC BY-SA 3.0. https://ardupilot.org/copter/docs/common-powering-the-pixhawk.html</a:t>
            </a:r>
          </a:p>
          <a:p xmlns:a="http://schemas.openxmlformats.org/drawingml/2006/main">
            <a:r>
              <a:t/>
            </a:r>
          </a:p>
          <a:p xmlns:a="http://schemas.openxmlformats.org/drawingml/2006/main">
            <a:r>
              <a:t>En un autopiloto, el módulo de potencia puede aportar alimentación regulada y medida de tensión/corriente. Esas funciones no son idénticas a alimentar la línea de servos. Una FC compacta puede integrar reguladores y conectarse a un ESC 4 en 1 mediante arnés. La construcción cambia, pero se mantienen las preguntas: qué tensión entra, qué sale, qué corriente puede entregar y cuál es la referencia de cada señal.</a:t>
            </a:r>
          </a:p>
          <a:p xmlns:a="http://schemas.openxmlformats.org/drawingml/2006/main">
            <a:r>
              <a:t/>
            </a:r>
          </a:p>
          <a:p xmlns:a="http://schemas.openxmlformats.org/drawingml/2006/main">
            <a:r>
              <a:t>Se documenta cada extremo del cable. Si una revisión del fabricante cambia el orden del arnés, conservar el nombre del conjunto no basta: hay que contrastar el dibujo de esa revisión. La primera inspección se hace sin batería conectada.</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En una LiPo convencional de 4,2 V por celda a plena carga, 4S alcanza 16,8 V y 6S alcanza 25,2 V. Las tensiones nominales aproximadas son menores. La compatibilidad de entrada se revisa contra el máximo del paquete y la química reales, no solo contra una cifra nominal. No se trasladan esos valores automáticamente a LiHV, Li-ion o un paquete con otra especificación.</a:t>
            </a:r>
          </a:p>
          <a:p xmlns:a="http://schemas.openxmlformats.org/drawingml/2006/main">
            <a:r>
              <a:t/>
            </a:r>
          </a:p>
          <a:p xmlns:a="http://schemas.openxmlformats.org/drawingml/2006/main">
            <a:r>
              <a:t>Nombre / Papel / Comprobación</a:t>
            </a:r>
          </a:p>
          <a:p xmlns:a="http://schemas.openxmlformats.org/drawingml/2006/main">
            <a:r>
              <a:t>VBAT / Tensión del paquete / Máximo y polaridad</a:t>
            </a:r>
          </a:p>
          <a:p xmlns:a="http://schemas.openxmlformats.org/drawingml/2006/main">
            <a:r>
              <a:t>5V regulado / Alimentación de una carga compatible / Tensión y corriente disponible</a:t>
            </a:r>
          </a:p>
          <a:p xmlns:a="http://schemas.openxmlformats.org/drawingml/2006/main">
            <a:r>
              <a:t>3V3 / lógica / Alimentación o nivel según diseño / Manual de placa y periférico</a:t>
            </a:r>
          </a:p>
          <a:p xmlns:a="http://schemas.openxmlformats.org/drawingml/2006/main">
            <a:r>
              <a:t>GND / Referencia y retorno según circuito / Continuidad y topología</a:t>
            </a:r>
          </a:p>
          <a:p xmlns:a="http://schemas.openxmlformats.org/drawingml/2006/main">
            <a:r>
              <a:t/>
            </a:r>
          </a:p>
          <a:p xmlns:a="http://schemas.openxmlformats.org/drawingml/2006/main">
            <a:r>
              <a:t>Una salida de 5 V y 1 A alimentaría FC 0,9 A, receptor 0,4 A y otro periférico 0,2 A. ¿Basta que todos pidan 5 V?</a:t>
            </a:r>
          </a:p>
          <a:p xmlns:a="http://schemas.openxmlformats.org/drawingml/2006/main">
            <a:r>
              <a:t>No. La suma del caso es 1,5 A, superior al límite indicado de 1 A. Se revisa distribución y capacidad con condiciones reales. Son consumos hipotéticos de aula, no valores asignados a equipos MECRO.</a:t>
            </a:r>
          </a:p>
          <a:p xmlns:a="http://schemas.openxmlformats.org/drawingml/2006/main">
            <a:r>
              <a:t/>
            </a:r>
          </a:p>
          <a:p xmlns:a="http://schemas.openxmlformats.org/drawingml/2006/main">
            <a:r>
              <a:t>El margen de un regulador debe considerar picos y temperatura. Una línea que sostiene una carga en reposo puede caer cuando otra empieza a consumir. Por eso un reinicio al actuar un periférico se investiga primero con alimentación y referencia, además del software.</a:t>
            </a:r>
          </a:p>
          <a:p xmlns:a="http://schemas.openxmlformats.org/drawingml/2006/main">
            <a:r>
              <a:t/>
            </a:r>
          </a:p>
          <a:p xmlns:a="http://schemas.openxmlformats.org/drawingml/2006/main">
            <a:r>
              <a:t>La preparación del paquete también pertenece al ensamblaje: identificar química, número de celdas, estado y conector de balanceo, y usar un cargador compatible con el procedimiento del fabricante. No se deduce una corriente de carga del límite de descarga comercial. El docente muestra inspección y almacenamiento del paquete sin convertir la clase en una improvisación de carga. Un paquete dañado, una conexión equivocada o un ajuste de química incorrecto no se corrigen con parámetros de vuelo.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Nombre / Papel / Comprobación</a:t>
            </a:r>
          </a:p>
          <a:p xmlns:a="http://schemas.openxmlformats.org/drawingml/2006/main">
            <a:r>
              <a:t>VBAT / Tensión del paquete / Máximo y polaridad</a:t>
            </a:r>
          </a:p>
          <a:p xmlns:a="http://schemas.openxmlformats.org/drawingml/2006/main">
            <a:r>
              <a:t>5V regulado / Alimentación de una carga compatible / Tensión y corriente disponible</a:t>
            </a:r>
          </a:p>
          <a:p xmlns:a="http://schemas.openxmlformats.org/drawingml/2006/main">
            <a:r>
              <a:t>3V3 / lógica / Alimentación o nivel según diseño / Manual de placa y periférico</a:t>
            </a:r>
          </a:p>
          <a:p xmlns:a="http://schemas.openxmlformats.org/drawingml/2006/main">
            <a:r>
              <a:t>GND / Referencia y retorno según circuito / Continuidad y topología</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Una salida de 5 V y 1 A alimentaría FC 0,9 A, receptor 0,4 A y otro periférico 0,2 A. ¿Basta que todos pidan 5 V?</a:t>
            </a:r>
          </a:p>
          <a:p xmlns:a="http://schemas.openxmlformats.org/drawingml/2006/main">
            <a:r>
              <a:t>No. La suma del caso es 1,5 A, superior al límite indicado de 1 A. Se revisa distribución y capacidad con condiciones reales. Son consumos hipotéticos de aula, no valores asignados a equipos MECRO.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R representa la resistencia total del tramo considerado: conductores y uniones. Un cálculo del caso no sustituye la especificación del cable o conector real.</a:t>
            </a:r>
          </a:p>
          <a:p xmlns:a="http://schemas.openxmlformats.org/drawingml/2006/main">
            <a:r>
              <a:t/>
            </a:r>
          </a:p>
          <a:p xmlns:a="http://schemas.openxmlformats.org/drawingml/2006/main">
            <a:r>
              <a:t>Con R = 0,015 ohm, ¿qué ocurre al pasar de 20 A a 40 A?</a:t>
            </a:r>
          </a:p>
          <a:p xmlns:a="http://schemas.openxmlformats.org/drawingml/2006/main">
            <a:r>
              <a:t>A 20 A: caída de 0,30 V y pérdida de 6 W. A 40 A: caída de 0,60 V y pérdida de 24 W. La corriente se duplicó y la disipación se cuadruplicó. Es un modelo de aula para comprender por qué una unión importa.</a:t>
            </a:r>
          </a:p>
          <a:p xmlns:a="http://schemas.openxmlformats.org/drawingml/2006/main">
            <a:r>
              <a:t/>
            </a:r>
          </a:p>
          <a:p xmlns:a="http://schemas.openxmlformats.org/drawingml/2006/main">
            <a:r>
              <a:t>Una soldadura necesita mojado adecuado de las superficies y continuidad eléctrica, con sujeción mecánica del conductor. El brillo por sí solo no decide la calidad para todas las aleaciones. El docente muestra limpieza, aporte de flux apropiado, estañado, unión y revisión sobre una muestra de práctica antes de trabajar sobre la FC. La temperatura se elige según herramienta, aleación, tamaño de unión y recomendación del fabricante; no se presenta una cifra universal.</a:t>
            </a:r>
          </a:p>
          <a:p xmlns:a="http://schemas.openxmlformats.org/drawingml/2006/main">
            <a:r>
              <a:t/>
            </a:r>
          </a:p>
          <a:p xmlns:a="http://schemas.openxmlformats.org/drawingml/2006/main">
            <a:r>
              <a:t>Después de soldar, se inspeccionan puentes, hilos sueltos, aislamiento y alivio de esfuerzo. El multímetro ayuda a investigar continuidad y polaridad. Una lectura que cambia mientras se cargan capacitores exige interpretación: no todo pitido inicial significa el mismo defecto. Se contrasta con el esquema y con el procedimiento del docente.</a:t>
            </a:r>
          </a:p>
          <a:p xmlns:a="http://schemas.openxmlformats.org/drawingml/2006/main">
            <a:r>
              <a:t/>
            </a:r>
          </a:p>
          <a:p xmlns:a="http://schemas.openxmlformats.org/drawingml/2006/main">
            <a:r>
              <a:t>Caso calculado con resistencia constante de 0,015 ohm. No asigna un límite térmico a un conector real.</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R representa la resistencia total del tramo considerado: conductores y uniones. Un cálculo del caso no sustituye la especificación del cable o conector real.</a:t>
            </a:r>
          </a:p>
          <a:p xmlns:a="http://schemas.openxmlformats.org/drawingml/2006/main">
            <a:r>
              <a:t/>
            </a:r>
          </a:p>
          <a:p xmlns:a="http://schemas.openxmlformats.org/drawingml/2006/main">
            <a:r>
              <a:t>Con R = 0,015 ohm, ¿qué ocurre al pasar de 20 A a 40 A?</a:t>
            </a:r>
          </a:p>
          <a:p xmlns:a="http://schemas.openxmlformats.org/drawingml/2006/main">
            <a:r>
              <a:t>A 20 A: caída de 0,30 V y pérdida de 6 W. A 40 A: caída de 0,60 V y pérdida de 24 W. La corriente se duplicó y la disipación se cuadruplicó. Es un modelo de aula para comprender por qué una unión importa.</a:t>
            </a:r>
          </a:p>
          <a:p xmlns:a="http://schemas.openxmlformats.org/drawingml/2006/main">
            <a:r>
              <a:t/>
            </a:r>
          </a:p>
          <a:p xmlns:a="http://schemas.openxmlformats.org/drawingml/2006/main">
            <a:r>
              <a:t>Una soldadura necesita mojado adecuado de las superficies y continuidad eléctrica, con sujeción mecánica del conductor. El brillo por sí solo no decide la calidad para todas las aleaciones. El docente muestra limpieza, aporte de flux apropiado, estañado, unión y revisión sobre una muestra de práctica antes de trabajar sobre la FC. La temperatura se elige según herramienta, aleación, tamaño de unión y recomendación del fabricante; no se presenta una cifra universal.</a:t>
            </a:r>
          </a:p>
          <a:p xmlns:a="http://schemas.openxmlformats.org/drawingml/2006/main">
            <a:r>
              <a:t/>
            </a:r>
          </a:p>
          <a:p xmlns:a="http://schemas.openxmlformats.org/drawingml/2006/main">
            <a:r>
              <a:t>Después de soldar, se inspeccionan puentes, hilos sueltos, aislamiento y alivio de esfuerzo. El multímetro ayuda a investigar continuidad y polaridad. Una lectura que cambia mientras se cargan capacitores exige interpretación: no todo pitido inicial significa el mismo defecto. Se contrasta con el esquema y con el procedimiento del docente.</a:t>
            </a:r>
          </a:p>
          <a:p xmlns:a="http://schemas.openxmlformats.org/drawingml/2006/main">
            <a:r>
              <a:t/>
            </a:r>
          </a:p>
          <a:p xmlns:a="http://schemas.openxmlformats.org/drawingml/2006/main">
            <a:r>
              <a:t>Caso calculado con resistencia constante de 0,015 ohm. No asigna un límite térmico a un conector real.</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Caso calculado con resistencia constante de 0,015 ohm. No asigna un límite térmico a un conector real.</a:t>
            </a:r>
          </a:p>
          <a:p xmlns:a="http://schemas.openxmlformats.org/drawingml/2006/main">
            <a:r>
              <a:t>R representa la resistencia total del tramo considerado: conductores y uniones. Un cálculo del caso no sustituye la especificación del cable o conector real.</a:t>
            </a:r>
          </a:p>
          <a:p xmlns:a="http://schemas.openxmlformats.org/drawingml/2006/main">
            <a:r>
              <a:t/>
            </a:r>
          </a:p>
          <a:p xmlns:a="http://schemas.openxmlformats.org/drawingml/2006/main">
            <a:r>
              <a:t>Con R = 0,015 ohm, ¿qué ocurre al pasar de 20 A a 40 A?</a:t>
            </a:r>
          </a:p>
          <a:p xmlns:a="http://schemas.openxmlformats.org/drawingml/2006/main">
            <a:r>
              <a:t>A 20 A: caída de 0,30 V y pérdida de 6 W. A 40 A: caída de 0,60 V y pérdida de 24 W. La corriente se duplicó y la disipación se cuadruplicó. Es un modelo de aula para comprender por qué una unión importa.</a:t>
            </a:r>
          </a:p>
          <a:p xmlns:a="http://schemas.openxmlformats.org/drawingml/2006/main">
            <a:r>
              <a:t/>
            </a:r>
          </a:p>
          <a:p xmlns:a="http://schemas.openxmlformats.org/drawingml/2006/main">
            <a:r>
              <a:t>Una soldadura necesita mojado adecuado de las superficies y continuidad eléctrica, con sujeción mecánica del conductor. El brillo por sí solo no decide la calidad para todas las aleaciones. El docente muestra limpieza, aporte de flux apropiado, estañado, unión y revisión sobre una muestra de práctica antes de trabajar sobre la FC. La temperatura se elige según herramienta, aleación, tamaño de unión y recomendación del fabricante; no se presenta una cifra universal.</a:t>
            </a:r>
          </a:p>
          <a:p xmlns:a="http://schemas.openxmlformats.org/drawingml/2006/main">
            <a:r>
              <a:t/>
            </a:r>
          </a:p>
          <a:p xmlns:a="http://schemas.openxmlformats.org/drawingml/2006/main">
            <a:r>
              <a:t>Después de soldar, se inspeccionan puentes, hilos sueltos, aislamiento y alivio de esfuerzo. El multímetro ayuda a investigar continuidad y polaridad. Una lectura que cambia mientras se cargan capacitores exige interpretación: no todo pitido inicial significa el mismo defecto. Se contrasta con el esquema y con el procedimiento del docente.</a:t>
            </a:r>
          </a:p>
          <a:p xmlns:a="http://schemas.openxmlformats.org/drawingml/2006/main">
            <a:r>
              <a:t/>
            </a:r>
          </a:p>
          <a:p xmlns:a="http://schemas.openxmlformats.org/drawingml/2006/main">
            <a:r>
              <a:t>Caso calculado con resistencia constante de 0,015 ohm. No asigna un límite térmico a un conector real.</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Revisión / Motivo / Evidencia</a:t>
            </a:r>
          </a:p>
          <a:p xmlns:a="http://schemas.openxmlformats.org/drawingml/2006/main">
            <a:r>
              <a:t>Longitud de tornillo de motor / Evitar interferir con el interior / Cota y presentación en seco</a:t>
            </a:r>
          </a:p>
          <a:p xmlns:a="http://schemas.openxmlformats.org/drawingml/2006/main">
            <a:r>
              <a:t>Flecha y posición de FC / Interpretar ejes del sensor / Foto y configuración</a:t>
            </a:r>
          </a:p>
          <a:p xmlns:a="http://schemas.openxmlformats.org/drawingml/2006/main">
            <a:r>
              <a:t>Sujeción y aislamiento / Evitar contactos y esfuerzos / Inspección visible</a:t>
            </a:r>
          </a:p>
          <a:p xmlns:a="http://schemas.openxmlformats.org/drawingml/2006/main">
            <a:r>
              <a:t>Cableado y partes móviles / Conservar separación y servicio / Recorrido identificado</a:t>
            </a:r>
          </a:p>
          <a:p xmlns:a="http://schemas.openxmlformats.org/drawingml/2006/main">
            <a:r>
              <a:t/>
            </a:r>
          </a:p>
          <a:p xmlns:a="http://schemas.openxmlformats.org/drawingml/2006/main">
            <a:r>
              <a:t>Se presenta el conjunto antes de cerrar el bastidor. El acceso al USB, a una fijación o a un conector puede desaparecer después de montar una placa encima. La distribución de masas y el soporte de batería también deben quedar definidos. No se recomienda aplicar fijador de roscas a cualquier plástico o material: se consulta compatibilidad y método del fabricante.</a:t>
            </a:r>
          </a:p>
          <a:p xmlns:a="http://schemas.openxmlformats.org/drawingml/2006/main">
            <a:r>
              <a:t/>
            </a:r>
          </a:p>
          <a:p xmlns:a="http://schemas.openxmlformats.org/drawingml/2006/main">
            <a:r>
              <a:t>La secuencia propuesta es: inventario, presentación mecánica, plan de cableado, preparación de conductores, uniones, inspección sin energía y primera alimentación controlada. Una herramienta limitadora de corriente ayuda en esa última etapa, pero no convierte cualquier montaje en correcto ni se usa sin comprobar su compatibilidad. Se retira o modifica el método según el ensayo específico antes de pruebas que requieren mayor corriente.</a:t>
            </a:r>
          </a:p>
          <a:p xmlns:a="http://schemas.openxmlformats.org/drawingml/2006/main">
            <a:r>
              <a:t/>
            </a:r>
          </a:p>
          <a:p xmlns:a="http://schemas.openxmlformats.org/drawingml/2006/main">
            <a:r>
              <a:t>El USB queda cubierto al cerrar la tapa. ¿Es un problema de configuración?</a:t>
            </a:r>
          </a:p>
          <a:p xmlns:a="http://schemas.openxmlformats.org/drawingml/2006/main">
            <a:r>
              <a:t>Es una decisión de integración y acceso. Se descubre en la presentación mecánica y se corrige antes del cableado definitivo.</a:t>
            </a:r>
          </a:p>
          <a:p xmlns:a="http://schemas.openxmlformats.org/drawingml/2006/main">
            <a:r>
              <a:t/>
            </a:r>
          </a:p>
          <a:p xmlns:a="http://schemas.openxmlformats.org/drawingml/2006/main">
            <a:r>
              <a:t>En la selección del bastidor se comparan geometría, espacio, rigidez del conjunto, masa y facilidad de reparación. Una placa de compuesto con fibra de carbono puede conducir corriente y requiere revisar aislamiento frente a soldaduras o contactos. Una pieza impresa para soporte de antena no tiene automáticamente la función de un brazo estructural: material, orientación de fabricación, uniones y carga cambian la decisión. En una geometría que desplaza brazos para despejar la cámara también se revisan hélices, centro de masa y configuración de mezcla. El nombre comercial de la forma no reemplaza esa comprobación.</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Revisión / Motivo / Evidencia</a:t>
            </a:r>
          </a:p>
          <a:p xmlns:a="http://schemas.openxmlformats.org/drawingml/2006/main">
            <a:r>
              <a:t>Longitud de tornillo de motor / Evitar interferir con el interior / Cota y presentación en seco</a:t>
            </a:r>
          </a:p>
          <a:p xmlns:a="http://schemas.openxmlformats.org/drawingml/2006/main">
            <a:r>
              <a:t>Flecha y posición de FC / Interpretar ejes del sensor / Foto y configuración</a:t>
            </a:r>
          </a:p>
          <a:p xmlns:a="http://schemas.openxmlformats.org/drawingml/2006/main">
            <a:r>
              <a:t>Sujeción y aislamiento / Evitar contactos y esfuerzos / Inspección visible</a:t>
            </a:r>
          </a:p>
          <a:p xmlns:a="http://schemas.openxmlformats.org/drawingml/2006/main">
            <a:r>
              <a:t>Cableado y partes móviles / Conservar separación y servicio / Recorrido identificado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El USB queda cubierto al cerrar la tapa. ¿Es un problema de configuración?</a:t>
            </a:r>
          </a:p>
          <a:p xmlns:a="http://schemas.openxmlformats.org/drawingml/2006/main">
            <a:r>
              <a:t>Es una decisión de integración y acceso. Se descubre en la presentación mecánica y se corrige antes del cableado definitivo.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positivo, retorno, líneas reguladas y entradas de señal en los manuales del banco.</a:t>
            </a:r>
          </a:p>
          <a:p xmlns:a="http://schemas.openxmlformats.org/drawingml/2006/main">
            <a:r>
              <a:t>Dibuja una tabla origen–destino por contacto. Marca el modelo y revisión del arnés.</a:t>
            </a:r>
          </a:p>
          <a:p xmlns:a="http://schemas.openxmlformats.org/drawingml/2006/main">
            <a:r>
              <a:t>Calcula el máximo del paquete del ejercicio y contrasta cada entrada.</a:t>
            </a:r>
          </a:p>
          <a:p xmlns:a="http://schemas.openxmlformats.org/drawingml/2006/main">
            <a:r>
              <a:t>Explica el caso de regulador y la pérdida de la unión con unidades.</a:t>
            </a:r>
          </a:p>
          <a:p xmlns:a="http://schemas.openxmlformats.org/drawingml/2006/main">
            <a:r>
              <a:t>Prepara una secuencia de ensamblaje que deje accesibles las comprobaciones.</a:t>
            </a:r>
          </a:p>
          <a:p xmlns:a="http://schemas.openxmlformats.org/drawingml/2006/main">
            <a:r>
              <a:t>Con el docente, observa inspección sin energía y medida de tensión antes de conectar una carga sensible.</a:t>
            </a:r>
          </a:p>
          <a:p xmlns:a="http://schemas.openxmlformats.org/drawingml/2006/main">
            <a:r>
              <a:t>Registra el resultado esperado de la primera alimentación y qué síntoma obligaría a detener esa prueba.</a:t>
            </a:r>
          </a:p>
          <a:p xmlns:a="http://schemas.openxmlformats.org/drawingml/2006/main">
            <a:r>
              <a:t/>
            </a:r>
          </a:p>
          <a:p xmlns:a="http://schemas.openxmlformats.org/drawingml/2006/main">
            <a:r>
              <a:t>En la sesión virtual se resuelve el mapa y se observa la demostración. El montaje físico se concentra en la sesión 7. Se reserva una muestra con una unión correcta y otra defectuosa, ambas sin alimentación, para que el grupo explique diferencias observables. No se pide fabricar una avería en un dron del curso.</a:t>
            </a:r>
          </a:p>
          <a:p xmlns:a="http://schemas.openxmlformats.org/drawingml/2006/main">
            <a:r>
              <a:t/>
            </a:r>
          </a:p>
          <a:p xmlns:a="http://schemas.openxmlformats.org/drawingml/2006/main">
            <a:r>
              <a:t>La evidencia es un esquema legible con tensiones y señales, y una lista de comprobaciones en el orden previsto. Un plano puede ser sencillo y seguir siendo riguroso si identifica cada extremo. Las referencias exactas de la placa se completan con el equipo que muestre Gerard.</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positivo, retorno, líneas reguladas y entradas de señal en los manuales del banco.</a:t>
            </a:r>
          </a:p>
          <a:p xmlns:a="http://schemas.openxmlformats.org/drawingml/2006/main">
            <a:r>
              <a:t>Dibuja una tabla origen–destino por contacto. Marca el modelo y revisión del arnés.</a:t>
            </a:r>
          </a:p>
          <a:p xmlns:a="http://schemas.openxmlformats.org/drawingml/2006/main">
            <a:r>
              <a:t>Calcula el máximo del paquete del ejercicio y contrasta cada entrada.</a:t>
            </a:r>
          </a:p>
          <a:p xmlns:a="http://schemas.openxmlformats.org/drawingml/2006/main">
            <a:r>
              <a:t>Explica el caso de regulador y la pérdida de la unión con unidades.</a:t>
            </a:r>
          </a:p>
          <a:p xmlns:a="http://schemas.openxmlformats.org/drawingml/2006/main">
            <a:r>
              <a:t>Prepara una secuencia de ensamblaje que deje accesibles las comprobaciones.</a:t>
            </a:r>
          </a:p>
          <a:p xmlns:a="http://schemas.openxmlformats.org/drawingml/2006/main">
            <a:r>
              <a:t>Con el docente, observa inspección sin energía y medida de tensión antes de conectar una carga sensible.</a:t>
            </a:r>
          </a:p>
          <a:p xmlns:a="http://schemas.openxmlformats.org/drawingml/2006/main">
            <a:r>
              <a:t>Registra el resultado esperado de la primera alimentación y qué síntoma obligaría a detener esa prueba.</a:t>
            </a:r>
          </a:p>
          <a:p xmlns:a="http://schemas.openxmlformats.org/drawingml/2006/main">
            <a:r>
              <a:t/>
            </a:r>
          </a:p>
          <a:p xmlns:a="http://schemas.openxmlformats.org/drawingml/2006/main">
            <a:r>
              <a:t>En la sesión virtual se resuelve el mapa y se observa la demostración. El montaje físico se concentra en la sesión 7. Se reserva una muestra con una unión correcta y otra defectuosa, ambas sin alimentación, para que el grupo explique diferencias observables. No se pide fabricar una avería en un dron del curso.</a:t>
            </a:r>
          </a:p>
          <a:p xmlns:a="http://schemas.openxmlformats.org/drawingml/2006/main">
            <a:r>
              <a:t/>
            </a:r>
          </a:p>
          <a:p xmlns:a="http://schemas.openxmlformats.org/drawingml/2006/main">
            <a:r>
              <a:t>La evidencia es un esquema legible con tensiones y señales, y una lista de comprobaciones en el orden previsto. Un plano puede ser sencillo y seguir siendo riguroso si identifica cada extremo. Las referencias exactas de la placa se completan con el equipo que muestre Gerard.</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Identifica positivo, retorno, líneas reguladas y entradas de señal en los manuales del banco.</a:t>
            </a:r>
          </a:p>
          <a:p xmlns:a="http://schemas.openxmlformats.org/drawingml/2006/main">
            <a:r>
              <a:t>Dibuja una tabla origen–destino por contacto. Marca el modelo y revisión del arnés.</a:t>
            </a:r>
          </a:p>
          <a:p xmlns:a="http://schemas.openxmlformats.org/drawingml/2006/main">
            <a:r>
              <a:t>Calcula el máximo del paquete del ejercicio y contrasta cada entrada.</a:t>
            </a:r>
          </a:p>
          <a:p xmlns:a="http://schemas.openxmlformats.org/drawingml/2006/main">
            <a:r>
              <a:t>Explica el caso de regulador y la pérdida de la unión con unidades.</a:t>
            </a:r>
          </a:p>
          <a:p xmlns:a="http://schemas.openxmlformats.org/drawingml/2006/main">
            <a:r>
              <a:t>Prepara una secuencia de ensamblaje que deje accesibles las comprobaciones.</a:t>
            </a:r>
          </a:p>
          <a:p xmlns:a="http://schemas.openxmlformats.org/drawingml/2006/main">
            <a:r>
              <a:t>Con el docente, observa inspección sin energía y medida de tensión antes de conectar una carga sensible.</a:t>
            </a:r>
          </a:p>
          <a:p xmlns:a="http://schemas.openxmlformats.org/drawingml/2006/main">
            <a:r>
              <a:t>Registra el resultado esperado de la primera alimentación y qué síntoma obligaría a detener esa prueba.</a:t>
            </a:r>
          </a:p>
          <a:p xmlns:a="http://schemas.openxmlformats.org/drawingml/2006/main">
            <a:r>
              <a:t>Verificar un paso antes de seguir.</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Un esquema funcional se convierte en una herramienta de diagnóstico cuando permite formular una expectativa. “Aquí debe aparecer la tensión regulada especificada respecto a este GND” es comprobable. “La FC no prende” es un síntoma que puede tener varias causas. El alumno aprende a recorrer alimentación, conexión USB, indicadores y documentación sin cambiar simultáneamente varias piezas.</a:t>
            </a:r>
          </a:p>
          <a:p xmlns:a="http://schemas.openxmlformats.org/drawingml/2006/main">
            <a:r>
              <a:t/>
            </a:r>
          </a:p>
          <a:p xmlns:a="http://schemas.openxmlformats.org/drawingml/2006/main">
            <a:r>
              <a:t>Síntoma / Primera comprobación razonada</a:t>
            </a:r>
          </a:p>
          <a:p xmlns:a="http://schemas.openxmlformats.org/drawingml/2006/main">
            <a:r>
              <a:t>USB conecta, batería no / Ruta de alimentación y regulación</a:t>
            </a:r>
          </a:p>
          <a:p xmlns:a="http://schemas.openxmlformats.org/drawingml/2006/main">
            <a:r>
              <a:t>Reinicio al actuar periférico / Caída de tensión y carga compartida</a:t>
            </a:r>
          </a:p>
          <a:p xmlns:a="http://schemas.openxmlformats.org/drawingml/2006/main">
            <a:r>
              <a:t>Motor no responde / Energía del ESC, señal y configuración</a:t>
            </a:r>
          </a:p>
          <a:p xmlns:a="http://schemas.openxmlformats.org/drawingml/2006/main">
            <a:r>
              <a:t>Conector encaja pero no hay dato / Pinout, nivel y protocolo</a:t>
            </a:r>
          </a:p>
          <a:p xmlns:a="http://schemas.openxmlformats.org/drawingml/2006/main">
            <a:r>
              <a:t/>
            </a:r>
          </a:p>
          <a:p xmlns:a="http://schemas.openxmlformats.org/drawingml/2006/main">
            <a:r>
              <a:t>Como investigación, compara un ESC 4 en 1 con cuatro ESC individuales. Señala qué cambia en distribución, servicio y cableado; qué permanece igual en la función de mando y potencia. La siguiente clase estudia los protocolos que viajan por esas conexiones. El propósito es construir un conjunto revisable, no ocultar todos los cables para que parezca terminado.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4 minutos en esta diapositiva.</a:t>
            </a:r>
          </a:p>
          <a:p xmlns:a="http://schemas.openxmlformats.org/drawingml/2006/main">
            <a:r>
              <a:t/>
            </a:r>
          </a:p>
          <a:p xmlns:a="http://schemas.openxmlformats.org/drawingml/2006/main">
            <a:r>
              <a:t>Síntoma / Primera comprobación razonada</a:t>
            </a:r>
          </a:p>
          <a:p xmlns:a="http://schemas.openxmlformats.org/drawingml/2006/main">
            <a:r>
              <a:t>USB conecta, batería no / Ruta de alimentación y regulación</a:t>
            </a:r>
          </a:p>
          <a:p xmlns:a="http://schemas.openxmlformats.org/drawingml/2006/main">
            <a:r>
              <a:t>Reinicio al actuar periférico / Caída de tensión y carga compartida</a:t>
            </a:r>
          </a:p>
          <a:p xmlns:a="http://schemas.openxmlformats.org/drawingml/2006/main">
            <a:r>
              <a:t>Motor no responde / Energía del ESC, señal y configuración</a:t>
            </a:r>
          </a:p>
          <a:p xmlns:a="http://schemas.openxmlformats.org/drawingml/2006/main">
            <a:r>
              <a:t>Conector encaja pero no hay dato / Pinout, nivel y protocolo</a:t>
            </a:r>
          </a:p>
          <a:p xmlns:a="http://schemas.openxmlformats.org/drawingml/2006/main">
            <a:r>
              <a:t>Comparar filas y explicar una condición que cambie la decisión.</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Un esquema funcional se convierte en una herramienta de diagnóstico cuando permite formular una expectativa. “Aquí debe aparecer la tensión regulada especificada respecto a este GND” es comprobable. “La FC no prende” es un síntoma que puede tener varias causas. El alumno aprende a recorrer alimentación, conexión USB, indicadores y documentación sin cambiar simultáneamente varias piezas.</a:t>
            </a:r>
          </a:p>
          <a:p xmlns:a="http://schemas.openxmlformats.org/drawingml/2006/main">
            <a:r>
              <a:t/>
            </a:r>
          </a:p>
          <a:p xmlns:a="http://schemas.openxmlformats.org/drawingml/2006/main">
            <a:r>
              <a:t>Síntoma / Primera comprobación razonada</a:t>
            </a:r>
          </a:p>
          <a:p xmlns:a="http://schemas.openxmlformats.org/drawingml/2006/main">
            <a:r>
              <a:t>USB conecta, batería no / Ruta de alimentación y regulación</a:t>
            </a:r>
          </a:p>
          <a:p xmlns:a="http://schemas.openxmlformats.org/drawingml/2006/main">
            <a:r>
              <a:t>Reinicio al actuar periférico / Caída de tensión y carga compartida</a:t>
            </a:r>
          </a:p>
          <a:p xmlns:a="http://schemas.openxmlformats.org/drawingml/2006/main">
            <a:r>
              <a:t>Motor no responde / Energía del ESC, señal y configuración</a:t>
            </a:r>
          </a:p>
          <a:p xmlns:a="http://schemas.openxmlformats.org/drawingml/2006/main">
            <a:r>
              <a:t>Conector encaja pero no hay dato / Pinout, nivel y protocolo</a:t>
            </a:r>
          </a:p>
          <a:p xmlns:a="http://schemas.openxmlformats.org/drawingml/2006/main">
            <a:r>
              <a:t/>
            </a:r>
          </a:p>
          <a:p xmlns:a="http://schemas.openxmlformats.org/drawingml/2006/main">
            <a:r>
              <a:t>Como investigación, compara un ESC 4 en 1 con cuatro ESC individuales. Señala qué cambia en distribución, servicio y cableado; qué permanece igual en la función de mando y potencia. La siguiente clase estudia los protocolos que viajan por esas conexiones. El propósito es construir un conjunto revisable, no ocultar todos los cables para que parezca terminado.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alimentación y señal en los dos tipos de controladora.</a:t>
            </a:r>
          </a:p>
          <a:p xmlns:a="http://schemas.openxmlformats.org/drawingml/2006/main">
            <a:r>
              <a:t>Resolver las tensiones máximas y la sobrecarga de regulador del caso.</a:t>
            </a:r>
          </a:p>
          <a:p xmlns:a="http://schemas.openxmlformats.org/drawingml/2006/main">
            <a:r>
              <a:t>Presentar muestras de unión y una secuencia de montaje.</a:t>
            </a:r>
          </a:p>
          <a:p xmlns:a="http://schemas.openxmlformats.org/drawingml/2006/main">
            <a:r>
              <a:t>Revisar un esquema origen–destino antes de la práctica presencial.</a:t>
            </a:r>
          </a:p>
          <a:p xmlns:a="http://schemas.openxmlformats.org/drawingml/2006/main">
            <a:r>
              <a:t>Contrastar componentes, esquema y comprobaciones.</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10 minutos en esta diapositiva.</a:t>
            </a:r>
          </a:p>
          <a:p xmlns:a="http://schemas.openxmlformats.org/drawingml/2006/main">
            <a:r>
              <a:t/>
            </a:r>
          </a:p>
          <a:p xmlns:a="http://schemas.openxmlformats.org/drawingml/2006/main">
            <a:r>
              <a:t>El ensamblaje necesita distinguir potencia, regulación, señal y referencia, tanto en una FC compacta como en un autopiloto grande.</a:t>
            </a:r>
          </a:p>
          <a:p xmlns:a="http://schemas.openxmlformats.org/drawingml/2006/main">
            <a:r>
              <a:t>Mapa de alimentación, tabla de contactos y secuencia de montaje con comprobaciones.</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Alimentación, cableado y montaje que se puede revisar.</a:t>
            </a:r>
          </a:p>
          <a:p xmlns:a="http://schemas.openxmlformats.org/drawingml/2006/main">
            <a:r>
              <a:t>En línea, 2 horas. Núcleo de explicación: 5 minutos en esta diapositiva.</a:t>
            </a:r>
          </a:p>
          <a:p xmlns:a="http://schemas.openxmlformats.org/drawingml/2006/main">
            <a:r>
              <a:t/>
            </a:r>
          </a:p>
          <a:p xmlns:a="http://schemas.openxmlformats.org/drawingml/2006/main">
            <a:r>
              <a:t>Mapa de alimentación, tabla de contactos y secuencia de montaje con comprobaciones.</a:t>
            </a:r>
          </a:p>
          <a:p xmlns:a="http://schemas.openxmlformats.org/drawingml/2006/main">
            <a:r>
              <a:t/>
            </a:r>
          </a:p>
          <a:p xmlns:a="http://schemas.openxmlformats.org/drawingml/2006/main">
            <a:r>
              <a:t>Objetivo: Interpretar un esquema de energía y preparar una secuencia de montaje y comprobación antes de alimentar.</a:t>
            </a:r>
          </a:p>
          <a:p xmlns:a="http://schemas.openxmlformats.org/drawingml/2006/main">
            <a:r>
              <a:t>Aplicación: El ensamblaje necesita distinguir potencia, regulación, señal y referencia, tanto en una FC compacta como en un autopiloto grande.</a:t>
            </a:r>
          </a:p>
          <a:p xmlns:a="http://schemas.openxmlformats.org/drawingml/2006/main">
            <a:r>
              <a:t>Entrega: Mapa de alimentación, tabla de contactos y secuencia de montaje con comprobaciones.</a:t>
            </a:r>
          </a:p>
          <a:p xmlns:a="http://schemas.openxmlformats.org/drawingml/2006/main">
            <a:r>
              <a:t/>
            </a:r>
          </a:p>
          <a:p xmlns:a="http://schemas.openxmlformats.org/drawingml/2006/main">
            <a:r>
              <a:t>Preguntas y respuestas</a:t>
            </a:r>
          </a:p>
          <a:p xmlns:a="http://schemas.openxmlformats.org/drawingml/2006/main">
            <a:r>
              <a:t>¿Un conector que encaja demuestra compatibilidad?</a:t>
            </a:r>
          </a:p>
          <a:p xmlns:a="http://schemas.openxmlformats.org/drawingml/2006/main">
            <a:r>
              <a:t>Solo demuestra un encaje físico; faltan pinout, tensión y función.</a:t>
            </a:r>
          </a:p>
          <a:p xmlns:a="http://schemas.openxmlformats.org/drawingml/2006/main">
            <a:r>
              <a:t/>
            </a:r>
          </a:p>
          <a:p xmlns:a="http://schemas.openxmlformats.org/drawingml/2006/main">
            <a:r>
              <a:t>¿6S LiPo convencional se comprueba solo a 22,2 V?</a:t>
            </a:r>
          </a:p>
          <a:p xmlns:a="http://schemas.openxmlformats.org/drawingml/2006/main">
            <a:r>
              <a:t>No. El máximo convencional de plena carga del caso es 25,2 V; se verifica la química real.</a:t>
            </a:r>
          </a:p>
          <a:p xmlns:a="http://schemas.openxmlformats.org/drawingml/2006/main">
            <a:r>
              <a:t/>
            </a:r>
          </a:p>
          <a:p xmlns:a="http://schemas.openxmlformats.org/drawingml/2006/main">
            <a:r>
              <a:t>¿La pérdida resistiva crece linealmente con corriente?</a:t>
            </a:r>
          </a:p>
          <a:p xmlns:a="http://schemas.openxmlformats.org/drawingml/2006/main">
            <a:r>
              <a:t>Con R constante, crece con I². Duplicar corriente cuadruplica la pérdida.</a:t>
            </a:r>
          </a:p>
          <a:p xmlns:a="http://schemas.openxmlformats.org/drawingml/2006/main">
            <a:r>
              <a:t/>
            </a:r>
          </a:p>
          <a:p xmlns:a="http://schemas.openxmlformats.org/drawingml/2006/main">
            <a:r>
              <a:t>Fuentes</a:t>
            </a:r>
          </a:p>
          <a:p xmlns:a="http://schemas.openxmlformats.org/drawingml/2006/main">
            <a:r>
              <a:t>ArduPilot. Powering the Pixhawk: ejemplo específico de alimentación. https://ardupilot.org/copter/docs/common-powering-the-pixhawk.html</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ArduPilot. Conexión, orden y sentido de motores. https://ardupilot.org/copter/docs/connect-escs-and-motors.html</a:t>
            </a:r>
          </a:p>
          <a:p xmlns:a="http://schemas.openxmlformats.org/drawingml/2006/main">
            <a:r>
              <a:t>Betaflight. Setup Guide: organización de la puesta en marcha. https://betaflight.com/docs/wiki/getting-started/setup-guide</a:t>
            </a:r>
          </a:p>
          <a:p xmlns:a="http://schemas.openxmlformats.org/drawingml/2006/main">
            <a:r>
              <a:t>Lectura MECRO_Drones_Clase_03.pdf.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las tres cadenas con funciones diferentes.</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El enlace de mando permite al piloto enviar órdenes. La telemetría devuelve estados o medidas. El vídeo transporta imágenes. Pueden compartir parte del equipo o funcionar por rutas distintas. Un receptor RC puede llevar telemetría hacia la radio del piloto, y un módem puede comunicar el autopiloto con Mission Planner. Antes de conectar, se define qué información necesita circular y quién la consume.</a:t>
            </a:r>
          </a:p>
          <a:p xmlns:a="http://schemas.openxmlformats.org/drawingml/2006/main">
            <a:r>
              <a:t/>
            </a:r>
          </a:p>
          <a:p xmlns:a="http://schemas.openxmlformats.org/drawingml/2006/main">
            <a:r>
              <a:t>Ejemplo documental de equipos de telemetría. La foto sirve para reconocer una cadena de datos; no identifica frecuencia ni modelo del banco MECRO. Fuente: ArduPilot, documentación CC BY-SA 3.0. https://ardupilot.org/copter/docs/common-telemetry-landingpage.html</a:t>
            </a:r>
          </a:p>
          <a:p xmlns:a="http://schemas.openxmlformats.org/drawingml/2006/main">
            <a:r>
              <a:t/>
            </a:r>
          </a:p>
          <a:p xmlns:a="http://schemas.openxmlformats.org/drawingml/2006/main">
            <a:r>
              <a:t>Cadena / Información / Prueba de aula</a:t>
            </a:r>
          </a:p>
          <a:p xmlns:a="http://schemas.openxmlformats.org/drawingml/2006/main">
            <a:r>
              <a:t>Mando / Canales y estado del enlace / Mover un control y observar su canal</a:t>
            </a:r>
          </a:p>
          <a:p xmlns:a="http://schemas.openxmlformats.org/drawingml/2006/main">
            <a:r>
              <a:t>Telemetría / Batería, estado o posición / Reconocer una medida recibida</a:t>
            </a:r>
          </a:p>
          <a:p xmlns:a="http://schemas.openxmlformats.org/drawingml/2006/main">
            <a:r>
              <a:t>Vídeo / Imagen y, si existe, OSD / Distinguir imagen de datos superpuestos</a:t>
            </a:r>
          </a:p>
          <a:p xmlns:a="http://schemas.openxmlformats.org/drawingml/2006/main">
            <a:r>
              <a:t/>
            </a:r>
          </a:p>
          <a:p xmlns:a="http://schemas.openxmlformats.org/drawingml/2006/main">
            <a:r>
              <a:t>Que la imagen se vea bien no prueba que el mando esté disponible. Que Mission Planner reciba datos no prueba que todos los modos estén configurados. El curso propone una evidencia distinta para cada cadena, con los motores inmóviles y según el banco preparado por el docente.</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Ejemplo documental de equipos de telemetría. La foto sirve para reconocer una cadena de datos; no identifica frecuencia ni modelo del banco MECRO. Fuente: ArduPilot, documentación CC BY-SA 3.0. https://ardupilot.org/copter/docs/common-telemetry-landingpage.html</a:t>
            </a:r>
          </a:p>
          <a:p xmlns:a="http://schemas.openxmlformats.org/drawingml/2006/main">
            <a:r>
              <a:t>El enlace de mando permite al piloto enviar órdenes. La telemetría devuelve estados o medidas. El vídeo transporta imágenes. Pueden compartir parte del equipo o funcionar por rutas distintas. Un receptor RC puede llevar telemetría hacia la radio del piloto, y un módem puede comunicar el autopiloto con Mission Planner. Antes de conectar, se define qué información necesita circular y quién la consume.</a:t>
            </a:r>
          </a:p>
          <a:p xmlns:a="http://schemas.openxmlformats.org/drawingml/2006/main">
            <a:r>
              <a:t/>
            </a:r>
          </a:p>
          <a:p xmlns:a="http://schemas.openxmlformats.org/drawingml/2006/main">
            <a:r>
              <a:t>Ejemplo documental de equipos de telemetría. La foto sirve para reconocer una cadena de datos; no identifica frecuencia ni modelo del banco MECRO. Fuente: ArduPilot, documentación CC BY-SA 3.0. https://ardupilot.org/copter/docs/common-telemetry-landingpage.html</a:t>
            </a:r>
          </a:p>
          <a:p xmlns:a="http://schemas.openxmlformats.org/drawingml/2006/main">
            <a:r>
              <a:t/>
            </a:r>
          </a:p>
          <a:p xmlns:a="http://schemas.openxmlformats.org/drawingml/2006/main">
            <a:r>
              <a:t>Cadena / Información / Prueba de aula</a:t>
            </a:r>
          </a:p>
          <a:p xmlns:a="http://schemas.openxmlformats.org/drawingml/2006/main">
            <a:r>
              <a:t>Mando / Canales y estado del enlace / Mover un control y observar su canal</a:t>
            </a:r>
          </a:p>
          <a:p xmlns:a="http://schemas.openxmlformats.org/drawingml/2006/main">
            <a:r>
              <a:t>Telemetría / Batería, estado o posición / Reconocer una medida recibida</a:t>
            </a:r>
          </a:p>
          <a:p xmlns:a="http://schemas.openxmlformats.org/drawingml/2006/main">
            <a:r>
              <a:t>Vídeo / Imagen y, si existe, OSD / Distinguir imagen de datos superpuestos</a:t>
            </a:r>
          </a:p>
          <a:p xmlns:a="http://schemas.openxmlformats.org/drawingml/2006/main">
            <a:r>
              <a:t/>
            </a:r>
          </a:p>
          <a:p xmlns:a="http://schemas.openxmlformats.org/drawingml/2006/main">
            <a:r>
              <a:t>Que la imagen se vea bien no prueba que el mando esté disponible. Que Mission Planner reciba datos no prueba que todos los modos estén configurados. El curso propone una evidencia distinta para cada cadena, con los motores inmóviles y según el banco preparado por el docente.</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Cadena / Información / Prueba de aula</a:t>
            </a:r>
          </a:p>
          <a:p xmlns:a="http://schemas.openxmlformats.org/drawingml/2006/main">
            <a:r>
              <a:t>Mando / Canales y estado del enlace / Mover un control y observar su canal</a:t>
            </a:r>
          </a:p>
          <a:p xmlns:a="http://schemas.openxmlformats.org/drawingml/2006/main">
            <a:r>
              <a:t>Telemetría / Batería, estado o posición / Reconocer una medida recibida</a:t>
            </a:r>
          </a:p>
          <a:p xmlns:a="http://schemas.openxmlformats.org/drawingml/2006/main">
            <a:r>
              <a:t>Vídeo / Imagen y, si existe, OSD / Distinguir imagen de datos superpuestos</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UART describe una interfaz serial usada por muchos periféricos. El protocolo y el nivel eléctrico determinan qué significa la información. En una conexión UART convencional, el transmisor de un equipo llega al receptor del otro y se revisa la referencia común; los puertos reales pueden tener particularidades. CRSF utiliza una interfaz serial para mando y telemetría en receptores compatibles. SBUS tiene requisitos de señal que no se resuelven seleccionando cualquier pad RX.</a:t>
            </a:r>
          </a:p>
          <a:p xmlns:a="http://schemas.openxmlformats.org/drawingml/2006/main">
            <a:r>
              <a:t/>
            </a:r>
          </a:p>
          <a:p xmlns:a="http://schemas.openxmlformats.org/drawingml/2006/main">
            <a:r>
              <a:t>Término / Qué representa / Qué no resuelve solo</a:t>
            </a:r>
          </a:p>
          <a:p xmlns:a="http://schemas.openxmlformats.org/drawingml/2006/main">
            <a:r>
              <a:t>UART / Interfaz serial de la placa / Protocolo y niveles</a:t>
            </a:r>
          </a:p>
          <a:p xmlns:a="http://schemas.openxmlformats.org/drawingml/2006/main">
            <a:r>
              <a:t>CRSF / SBUS / Formato de mando según sistema / Banda de radio utilizada</a:t>
            </a:r>
          </a:p>
          <a:p xmlns:a="http://schemas.openxmlformats.org/drawingml/2006/main">
            <a:r>
              <a:t>MAVLink / Mensajes entre sistemas compatibles / Enlace RF o alimentación</a:t>
            </a:r>
          </a:p>
          <a:p xmlns:a="http://schemas.openxmlformats.org/drawingml/2006/main">
            <a:r>
              <a:t>GPS / GNSS / Obtención de posición y tiempo / Canal de mando del piloto</a:t>
            </a:r>
          </a:p>
          <a:p xmlns:a="http://schemas.openxmlformats.org/drawingml/2006/main">
            <a:r>
              <a:t/>
            </a:r>
          </a:p>
          <a:p xmlns:a="http://schemas.openxmlformats.org/drawingml/2006/main">
            <a:r>
              <a:t>Una FC puede dedicar distintos UART a receptor, GPS y otros periféricos. Se conserva una tabla con función, puerto y configuración. No se activa MSP como interruptor genérico de todos los puertos. La documentación actual de Betaflight diferencia Serial RX de otras funciones y detecta conflictos de asignación. Los parámetros se contrastan con la combinación real del banco.</a:t>
            </a:r>
          </a:p>
          <a:p xmlns:a="http://schemas.openxmlformats.org/drawingml/2006/main">
            <a:r>
              <a:t/>
            </a:r>
          </a:p>
          <a:p xmlns:a="http://schemas.openxmlformats.org/drawingml/2006/main">
            <a:r>
              <a:t>Un receptor trabaja en una banda determinada y entrega CRSF por cable. ¿CRSF es el nombre de esa frecuencia?</a:t>
            </a:r>
          </a:p>
          <a:p xmlns:a="http://schemas.openxmlformats.org/drawingml/2006/main">
            <a:r>
              <a:t>No. La banda corresponde al enlace de radio; CRSF identifica el protocolo utilizado en la interfaz de ese sistema.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Término / Qué representa / Qué no resuelve solo</a:t>
            </a:r>
          </a:p>
          <a:p xmlns:a="http://schemas.openxmlformats.org/drawingml/2006/main">
            <a:r>
              <a:t>UART / Interfaz serial de la placa / Protocolo y niveles</a:t>
            </a:r>
          </a:p>
          <a:p xmlns:a="http://schemas.openxmlformats.org/drawingml/2006/main">
            <a:r>
              <a:t>CRSF / SBUS / Formato de mando según sistema / Banda de radio utilizada</a:t>
            </a:r>
          </a:p>
          <a:p xmlns:a="http://schemas.openxmlformats.org/drawingml/2006/main">
            <a:r>
              <a:t>MAVLink / Mensajes entre sistemas compatibles / Enlace RF o alimentación</a:t>
            </a:r>
          </a:p>
          <a:p xmlns:a="http://schemas.openxmlformats.org/drawingml/2006/main">
            <a:r>
              <a:t>GPS / GNSS / Obtención de posición y tiempo / Canal de mando del piloto</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receptor trabaja en una banda determinada y entrega CRSF por cable. ¿CRSF es el nombre de esa frecuencia?</a:t>
            </a:r>
          </a:p>
          <a:p xmlns:a="http://schemas.openxmlformats.org/drawingml/2006/main">
            <a:r>
              <a:t>No. La banda corresponde al enlace de radio; CRSF identifica el protocolo utilizado en la interfaz de ese sistema.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Ports de la documentación Betaflight. Las filas y opciones dependen de versión y placa; la captura no constituye una configuración para copiar. Fuente: Betaflight, documentación oficial. https://betaflight.com/docs/wiki/app/ports-tab</a:t>
            </a:r>
          </a:p>
          <a:p xmlns:a="http://schemas.openxmlformats.org/drawingml/2006/main">
            <a:r>
              <a:t/>
            </a:r>
          </a:p>
          <a:p xmlns:a="http://schemas.openxmlformats.org/drawingml/2006/main">
            <a:r>
              <a:t>El punto de partida es el esquema: receptor conectado al puerto identificado, señal compatible y alimentación correcta. Después se asigna la función correspondiente en el programa. Si el receptor está en UART2 y Serial RX se habilita en UART1, el nombre comercial correcto no arregla la ruta. De la misma manera, dos periféricos no comparten una función por conectarlos a pads físicamente cercanos.</a:t>
            </a:r>
          </a:p>
          <a:p xmlns:a="http://schemas.openxmlformats.org/drawingml/2006/main">
            <a:r>
              <a:t/>
            </a:r>
          </a:p>
          <a:p xmlns:a="http://schemas.openxmlformats.org/drawingml/2006/main">
            <a:r>
              <a:t>Periférico / Puerto físico / Función a comprobar</a:t>
            </a:r>
          </a:p>
          <a:p xmlns:a="http://schemas.openxmlformats.org/drawingml/2006/main">
            <a:r>
              <a:t>Receptor del ejemplo / Por identificar en el manual / Serial RX y proveedor compatible</a:t>
            </a:r>
          </a:p>
          <a:p xmlns:a="http://schemas.openxmlformats.org/drawingml/2006/main">
            <a:r>
              <a:t>GPS del ejemplo / Por identificar en el manual / Entrada de posición y configuración</a:t>
            </a:r>
          </a:p>
          <a:p xmlns:a="http://schemas.openxmlformats.org/drawingml/2006/main">
            <a:r>
              <a:t>Telemetría del autopiloto / Puerto del modelo exacto / Mensajes y estación de tierra</a:t>
            </a:r>
          </a:p>
          <a:p xmlns:a="http://schemas.openxmlformats.org/drawingml/2006/main">
            <a:r>
              <a:t/>
            </a:r>
          </a:p>
          <a:p xmlns:a="http://schemas.openxmlformats.org/drawingml/2006/main">
            <a:r>
              <a:t>El alumno puede resolver el caso con documentación si no dispone de una FC. Debe mostrar de dónde sale la asignación. Es más útil un campo pendiente explicado que escribir UART1 por costumbre.</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Pestaña Ports de la documentación Betaflight. Las filas y opciones dependen de versión y placa; la captura no constituye una configuración para copiar. Fuente: Betaflight, documentación oficial. https://betaflight.com/docs/wiki/app/ports-tab</a:t>
            </a:r>
          </a:p>
          <a:p xmlns:a="http://schemas.openxmlformats.org/drawingml/2006/main">
            <a:r>
              <a:t>Pestaña Ports de la documentación Betaflight. Las filas y opciones dependen de versión y placa; la captura no constituye una configuración para copiar. Fuente: Betaflight, documentación oficial. https://betaflight.com/docs/wiki/app/ports-tab</a:t>
            </a:r>
          </a:p>
          <a:p xmlns:a="http://schemas.openxmlformats.org/drawingml/2006/main">
            <a:r>
              <a:t/>
            </a:r>
          </a:p>
          <a:p xmlns:a="http://schemas.openxmlformats.org/drawingml/2006/main">
            <a:r>
              <a:t>El punto de partida es el esquema: receptor conectado al puerto identificado, señal compatible y alimentación correcta. Después se asigna la función correspondiente en el programa. Si el receptor está en UART2 y Serial RX se habilita en UART1, el nombre comercial correcto no arregla la ruta. De la misma manera, dos periféricos no comparten una función por conectarlos a pads físicamente cercanos.</a:t>
            </a:r>
          </a:p>
          <a:p xmlns:a="http://schemas.openxmlformats.org/drawingml/2006/main">
            <a:r>
              <a:t/>
            </a:r>
          </a:p>
          <a:p xmlns:a="http://schemas.openxmlformats.org/drawingml/2006/main">
            <a:r>
              <a:t>Periférico / Puerto físico / Función a comprobar</a:t>
            </a:r>
          </a:p>
          <a:p xmlns:a="http://schemas.openxmlformats.org/drawingml/2006/main">
            <a:r>
              <a:t>Receptor del ejemplo / Por identificar en el manual / Serial RX y proveedor compatible</a:t>
            </a:r>
          </a:p>
          <a:p xmlns:a="http://schemas.openxmlformats.org/drawingml/2006/main">
            <a:r>
              <a:t>GPS del ejemplo / Por identificar en el manual / Entrada de posición y configuración</a:t>
            </a:r>
          </a:p>
          <a:p xmlns:a="http://schemas.openxmlformats.org/drawingml/2006/main">
            <a:r>
              <a:t>Telemetría del autopiloto / Puerto del modelo exacto / Mensajes y estación de tierra</a:t>
            </a:r>
          </a:p>
          <a:p xmlns:a="http://schemas.openxmlformats.org/drawingml/2006/main">
            <a:r>
              <a:t/>
            </a:r>
          </a:p>
          <a:p xmlns:a="http://schemas.openxmlformats.org/drawingml/2006/main">
            <a:r>
              <a:t>El alumno puede resolver el caso con documentación si no dispone de una FC. Debe mostrar de dónde sale la asignación. Es más útil un campo pendiente explicado que escribir UART1 por costumbre.</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Periférico / Puerto físico / Función a comprobar</a:t>
            </a:r>
          </a:p>
          <a:p xmlns:a="http://schemas.openxmlformats.org/drawingml/2006/main">
            <a:r>
              <a:t>Receptor del ejemplo / Por identificar en el manual / Serial RX y proveedor compatible</a:t>
            </a:r>
          </a:p>
          <a:p xmlns:a="http://schemas.openxmlformats.org/drawingml/2006/main">
            <a:r>
              <a:t>GPS del ejemplo / Por identificar en el manual / Entrada de posición y configuración</a:t>
            </a:r>
          </a:p>
          <a:p xmlns:a="http://schemas.openxmlformats.org/drawingml/2006/main">
            <a:r>
              <a:t>Telemetría del autopiloto / Puerto del modelo exacto / Mensajes y estación de tierra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antena, su orientación y el entorno afectan el enlace. Estructuras conductoras, obstáculos, posición de las antenas y alimentación pueden modificar la recepción. La pérdida de espacio libre es una referencia ideal para comprender tendencias; no predice el alcance seguro de un sistema real ni sustituye sus pruebas y condiciones de operación.</a:t>
            </a:r>
          </a:p>
          <a:p xmlns:a="http://schemas.openxmlformats.org/drawingml/2006/main">
            <a:r>
              <a:t/>
            </a:r>
          </a:p>
          <a:p xmlns:a="http://schemas.openxmlformats.org/drawingml/2006/main">
            <a:r>
              <a:t>Comparación ideal a la misma frecuencia. El curso no transforma este cálculo en una distancia de operación autorizada ni en una garantía de enlace.</a:t>
            </a:r>
          </a:p>
          <a:p xmlns:a="http://schemas.openxmlformats.org/drawingml/2006/main">
            <a:r>
              <a:t/>
            </a:r>
          </a:p>
          <a:p xmlns:a="http://schemas.openxmlformats.org/drawingml/2006/main">
            <a:r>
              <a:t>En el modelo ideal, ¿cuánto cambia la pérdida al duplicar la separación?</a:t>
            </a:r>
          </a:p>
          <a:p xmlns:a="http://schemas.openxmlformats.org/drawingml/2006/main">
            <a:r>
              <a:t>20 log10(2) ≈ 6,02 dB. Cuadruplicarla produce aproximadamente 12,04 dB adicionales. Obstáculos, orientación y sistema real pueden cambiar mucho el resultado.</a:t>
            </a:r>
          </a:p>
          <a:p xmlns:a="http://schemas.openxmlformats.org/drawingml/2006/main">
            <a:r>
              <a:t/>
            </a:r>
          </a:p>
          <a:p xmlns:a="http://schemas.openxmlformats.org/drawingml/2006/main">
            <a:r>
              <a:t>RSSI, LQ y SNR no son etiquetas intercambiables. Se consulta qué mide el sistema y cómo lo presenta. Un porcentaje no se convierte automáticamente en metros. En clase se reconoce la tendencia del indicador y su relación con la prueba realizada, sin fabricar un umbral universal para radios distintas.</a:t>
            </a:r>
          </a:p>
          <a:p xmlns:a="http://schemas.openxmlformats.org/drawingml/2006/main">
            <a:r>
              <a:t/>
            </a:r>
          </a:p>
          <a:p xmlns:a="http://schemas.openxmlformats.org/drawingml/2006/main">
            <a:r>
              <a:t>Se documenta la ubicación de antenas y los conectores de acuerdo con el fabricante. La selección de banda, potencia y uso del espectro se contrasta con las condiciones aplicables al lugar y al equipo, sin copiar valores de otro país o de una captura antigua.</a:t>
            </a:r>
          </a:p>
          <a:p xmlns:a="http://schemas.openxmlformats.org/drawingml/2006/main">
            <a:r>
              <a:t/>
            </a:r>
          </a:p>
          <a:p xmlns:a="http://schemas.openxmlformats.org/drawingml/2006/main">
            <a:r>
              <a:t>Espacio libre, misma frecuencia. No es una predicción de alcance de radio ni un plan de operación.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antena, su orientación y el entorno afectan el enlace. Estructuras conductoras, obstáculos, posición de las antenas y alimentación pueden modificar la recepción. La pérdida de espacio libre es una referencia ideal para comprender tendencias; no predice el alcance seguro de un sistema real ni sustituye sus pruebas y condiciones de operación.</a:t>
            </a:r>
          </a:p>
          <a:p xmlns:a="http://schemas.openxmlformats.org/drawingml/2006/main">
            <a:r>
              <a:t/>
            </a:r>
          </a:p>
          <a:p xmlns:a="http://schemas.openxmlformats.org/drawingml/2006/main">
            <a:r>
              <a:t>Comparación ideal a la misma frecuencia. El curso no transforma este cálculo en una distancia de operación autorizada ni en una garantía de enlace.</a:t>
            </a:r>
          </a:p>
          <a:p xmlns:a="http://schemas.openxmlformats.org/drawingml/2006/main">
            <a:r>
              <a:t/>
            </a:r>
          </a:p>
          <a:p xmlns:a="http://schemas.openxmlformats.org/drawingml/2006/main">
            <a:r>
              <a:t>En el modelo ideal, ¿cuánto cambia la pérdida al duplicar la separación?</a:t>
            </a:r>
          </a:p>
          <a:p xmlns:a="http://schemas.openxmlformats.org/drawingml/2006/main">
            <a:r>
              <a:t>20 log10(2) ≈ 6,02 dB. Cuadruplicarla produce aproximadamente 12,04 dB adicionales. Obstáculos, orientación y sistema real pueden cambiar mucho el resultado.</a:t>
            </a:r>
          </a:p>
          <a:p xmlns:a="http://schemas.openxmlformats.org/drawingml/2006/main">
            <a:r>
              <a:t/>
            </a:r>
          </a:p>
          <a:p xmlns:a="http://schemas.openxmlformats.org/drawingml/2006/main">
            <a:r>
              <a:t>RSSI, LQ y SNR no son etiquetas intercambiables. Se consulta qué mide el sistema y cómo lo presenta. Un porcentaje no se convierte automáticamente en metros. En clase se reconoce la tendencia del indicador y su relación con la prueba realizada, sin fabricar un umbral universal para radios distintas.</a:t>
            </a:r>
          </a:p>
          <a:p xmlns:a="http://schemas.openxmlformats.org/drawingml/2006/main">
            <a:r>
              <a:t/>
            </a:r>
          </a:p>
          <a:p xmlns:a="http://schemas.openxmlformats.org/drawingml/2006/main">
            <a:r>
              <a:t>Se documenta la ubicación de antenas y los conectores de acuerdo con el fabricante. La selección de banda, potencia y uso del espectro se contrasta con las condiciones aplicables al lugar y al equipo, sin copiar valores de otro país o de una captura antigua.</a:t>
            </a:r>
          </a:p>
          <a:p xmlns:a="http://schemas.openxmlformats.org/drawingml/2006/main">
            <a:r>
              <a:t/>
            </a:r>
          </a:p>
          <a:p xmlns:a="http://schemas.openxmlformats.org/drawingml/2006/main">
            <a:r>
              <a:t>Espacio libre, misma frecuencia. No es una predicción de alcance de radio ni un plan de operación.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Espacio libre, misma frecuencia. No es una predicción de alcance de radio ni un plan de operación.</a:t>
            </a:r>
          </a:p>
          <a:p xmlns:a="http://schemas.openxmlformats.org/drawingml/2006/main">
            <a:r>
              <a:t>Una antena, su orientación y el entorno afectan el enlace. Estructuras conductoras, obstáculos, posición de las antenas y alimentación pueden modificar la recepción. La pérdida de espacio libre es una referencia ideal para comprender tendencias; no predice el alcance seguro de un sistema real ni sustituye sus pruebas y condiciones de operación.</a:t>
            </a:r>
          </a:p>
          <a:p xmlns:a="http://schemas.openxmlformats.org/drawingml/2006/main">
            <a:r>
              <a:t/>
            </a:r>
          </a:p>
          <a:p xmlns:a="http://schemas.openxmlformats.org/drawingml/2006/main">
            <a:r>
              <a:t>Comparación ideal a la misma frecuencia. El curso no transforma este cálculo en una distancia de operación autorizada ni en una garantía de enlace.</a:t>
            </a:r>
          </a:p>
          <a:p xmlns:a="http://schemas.openxmlformats.org/drawingml/2006/main">
            <a:r>
              <a:t/>
            </a:r>
          </a:p>
          <a:p xmlns:a="http://schemas.openxmlformats.org/drawingml/2006/main">
            <a:r>
              <a:t>En el modelo ideal, ¿cuánto cambia la pérdida al duplicar la separación?</a:t>
            </a:r>
          </a:p>
          <a:p xmlns:a="http://schemas.openxmlformats.org/drawingml/2006/main">
            <a:r>
              <a:t>20 log10(2) ≈ 6,02 dB. Cuadruplicarla produce aproximadamente 12,04 dB adicionales. Obstáculos, orientación y sistema real pueden cambiar mucho el resultado.</a:t>
            </a:r>
          </a:p>
          <a:p xmlns:a="http://schemas.openxmlformats.org/drawingml/2006/main">
            <a:r>
              <a:t/>
            </a:r>
          </a:p>
          <a:p xmlns:a="http://schemas.openxmlformats.org/drawingml/2006/main">
            <a:r>
              <a:t>RSSI, LQ y SNR no son etiquetas intercambiables. Se consulta qué mide el sistema y cómo lo presenta. Un porcentaje no se convierte automáticamente en metros. En clase se reconoce la tendencia del indicador y su relación con la prueba realizada, sin fabricar un umbral universal para radios distintas.</a:t>
            </a:r>
          </a:p>
          <a:p xmlns:a="http://schemas.openxmlformats.org/drawingml/2006/main">
            <a:r>
              <a:t/>
            </a:r>
          </a:p>
          <a:p xmlns:a="http://schemas.openxmlformats.org/drawingml/2006/main">
            <a:r>
              <a:t>Se documenta la ubicación de antenas y los conectores de acuerdo con el fabricante. La selección de banda, potencia y uso del espectro se contrasta con las condiciones aplicables al lugar y al equipo, sin copiar valores de otro país o de una captura antigua.</a:t>
            </a:r>
          </a:p>
          <a:p xmlns:a="http://schemas.openxmlformats.org/drawingml/2006/main">
            <a:r>
              <a:t/>
            </a:r>
          </a:p>
          <a:p xmlns:a="http://schemas.openxmlformats.org/drawingml/2006/main">
            <a:r>
              <a:t>Espacio libre, misma frecuencia. No es una predicción de alcance de radio ni un plan de operación.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Separa en un dibujo mando, telemetría y vídeo del equipo mostrado.</a:t>
            </a:r>
          </a:p>
          <a:p xmlns:a="http://schemas.openxmlformats.org/drawingml/2006/main">
            <a:r>
              <a:t>Completa una tabla de receptor y periféricos con puerto, tensión, señal y protocolo.</a:t>
            </a:r>
          </a:p>
          <a:p xmlns:a="http://schemas.openxmlformats.org/drawingml/2006/main">
            <a:r>
              <a:t>En una captura Ports, localiza qué función se asignó a cada UART.</a:t>
            </a:r>
          </a:p>
          <a:p xmlns:a="http://schemas.openxmlformats.org/drawingml/2006/main">
            <a:r>
              <a:t>Resuelve un caso con receptor conectado al puerto distinto del configurado.</a:t>
            </a:r>
          </a:p>
          <a:p xmlns:a="http://schemas.openxmlformats.org/drawingml/2006/main">
            <a:r>
              <a:t>Calcula el cambio ideal de pérdida al duplicar distancia y explica por qué no da alcance real.</a:t>
            </a:r>
          </a:p>
          <a:p xmlns:a="http://schemas.openxmlformats.org/drawingml/2006/main">
            <a:r>
              <a:t>Observa con el docente el cambio de un canal y una medida de telemetría.</a:t>
            </a:r>
          </a:p>
          <a:p xmlns:a="http://schemas.openxmlformats.org/drawingml/2006/main">
            <a:r>
              <a:t>Propón una prueba independiente para cada cadena y conserva sus resultados por separado.</a:t>
            </a:r>
          </a:p>
          <a:p xmlns:a="http://schemas.openxmlformats.org/drawingml/2006/main">
            <a:r>
              <a:t/>
            </a:r>
          </a:p>
          <a:p xmlns:a="http://schemas.openxmlformats.org/drawingml/2006/main">
            <a:r>
              <a:t>El diagnóstico avanza por capas: alimentación del periférico, conexión eléctrica, asignación del puerto, formato y dato observado. Una falta de movimiento de canales puede deberse a diferentes capas. La práctica no consiste en cambiar proveedores al azar hasta que aparezca algo. Se plantea una hipótesis y se busca la evidencia que la confirma o la descarta.</a:t>
            </a:r>
          </a:p>
          <a:p xmlns:a="http://schemas.openxmlformats.org/drawingml/2006/main">
            <a:r>
              <a:t/>
            </a:r>
          </a:p>
          <a:p xmlns:a="http://schemas.openxmlformats.org/drawingml/2006/main">
            <a:r>
              <a:t>Si un equipo usa vídeo, se reconoce cámara, transmisor y receptor de imagen. El curso no exige que todos compren gafas. La promesa principal sigue siendo selección y ensamblaje; el vídeo se integra como un subsistema cuyo consumo, interfaz y sujeción también deben constar en la lista.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Separa en un dibujo mando, telemetría y vídeo del equipo mostrado.</a:t>
            </a:r>
          </a:p>
          <a:p xmlns:a="http://schemas.openxmlformats.org/drawingml/2006/main">
            <a:r>
              <a:t>Completa una tabla de receptor y periféricos con puerto, tensión, señal y protocolo.</a:t>
            </a:r>
          </a:p>
          <a:p xmlns:a="http://schemas.openxmlformats.org/drawingml/2006/main">
            <a:r>
              <a:t>En una captura Ports, localiza qué función se asignó a cada UART.</a:t>
            </a:r>
          </a:p>
          <a:p xmlns:a="http://schemas.openxmlformats.org/drawingml/2006/main">
            <a:r>
              <a:t>Resuelve un caso con receptor conectado al puerto distinto del configurado.</a:t>
            </a:r>
          </a:p>
          <a:p xmlns:a="http://schemas.openxmlformats.org/drawingml/2006/main">
            <a:r>
              <a:t>Calcula el cambio ideal de pérdida al duplicar distancia y explica por qué no da alcance real.</a:t>
            </a:r>
          </a:p>
          <a:p xmlns:a="http://schemas.openxmlformats.org/drawingml/2006/main">
            <a:r>
              <a:t>Observa con el docente el cambio de un canal y una medida de telemetría.</a:t>
            </a:r>
          </a:p>
          <a:p xmlns:a="http://schemas.openxmlformats.org/drawingml/2006/main">
            <a:r>
              <a:t>Propón una prueba independiente para cada cadena y conserva sus resultados por separado.</a:t>
            </a:r>
          </a:p>
          <a:p xmlns:a="http://schemas.openxmlformats.org/drawingml/2006/main">
            <a:r>
              <a:t/>
            </a:r>
          </a:p>
          <a:p xmlns:a="http://schemas.openxmlformats.org/drawingml/2006/main">
            <a:r>
              <a:t>El diagnóstico avanza por capas: alimentación del periférico, conexión eléctrica, asignación del puerto, formato y dato observado. Una falta de movimiento de canales puede deberse a diferentes capas. La práctica no consiste en cambiar proveedores al azar hasta que aparezca algo. Se plantea una hipótesis y se busca la evidencia que la confirma o la descarta.</a:t>
            </a:r>
          </a:p>
          <a:p xmlns:a="http://schemas.openxmlformats.org/drawingml/2006/main">
            <a:r>
              <a:t/>
            </a:r>
          </a:p>
          <a:p xmlns:a="http://schemas.openxmlformats.org/drawingml/2006/main">
            <a:r>
              <a:t>Si un equipo usa vídeo, se reconoce cámara, transmisor y receptor de imagen. El curso no exige que todos compren gafas. La promesa principal sigue siendo selección y ensamblaje; el vídeo se integra como un subsistema cuyo consumo, interfaz y sujeción también deben constar en la lista.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Separa en un dibujo mando, telemetría y vídeo del equipo mostrado.</a:t>
            </a:r>
          </a:p>
          <a:p xmlns:a="http://schemas.openxmlformats.org/drawingml/2006/main">
            <a:r>
              <a:t>Completa una tabla de receptor y periféricos con puerto, tensión, señal y protocolo.</a:t>
            </a:r>
          </a:p>
          <a:p xmlns:a="http://schemas.openxmlformats.org/drawingml/2006/main">
            <a:r>
              <a:t>En una captura Ports, localiza qué función se asignó a cada UART.</a:t>
            </a:r>
          </a:p>
          <a:p xmlns:a="http://schemas.openxmlformats.org/drawingml/2006/main">
            <a:r>
              <a:t>Resuelve un caso con receptor conectado al puerto distinto del configurado.</a:t>
            </a:r>
          </a:p>
          <a:p xmlns:a="http://schemas.openxmlformats.org/drawingml/2006/main">
            <a:r>
              <a:t>Calcula el cambio ideal de pérdida al duplicar distancia y explica por qué no da alcance real.</a:t>
            </a:r>
          </a:p>
          <a:p xmlns:a="http://schemas.openxmlformats.org/drawingml/2006/main">
            <a:r>
              <a:t>Observa con el docente el cambio de un canal y una medida de telemetría.</a:t>
            </a:r>
          </a:p>
          <a:p xmlns:a="http://schemas.openxmlformats.org/drawingml/2006/main">
            <a:r>
              <a:t>Propón una prueba independiente para cada cadena y conserva sus resultados por separado.</a:t>
            </a:r>
          </a:p>
          <a:p xmlns:a="http://schemas.openxmlformats.org/drawingml/2006/main">
            <a:r>
              <a:t>Verificar un paso antes de seguir.</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Respuesta que se debe demostrar</a:t>
            </a:r>
          </a:p>
          <a:p xmlns:a="http://schemas.openxmlformats.org/drawingml/2006/main">
            <a:r>
              <a:t>¿De dónde viene la orden? / Control, receptor y canal</a:t>
            </a:r>
          </a:p>
          <a:p xmlns:a="http://schemas.openxmlformats.org/drawingml/2006/main">
            <a:r>
              <a:t>¿Qué cable lleva el dato? / Puerto y referencia de contactos</a:t>
            </a:r>
          </a:p>
          <a:p xmlns:a="http://schemas.openxmlformats.org/drawingml/2006/main">
            <a:r>
              <a:t>¿Qué entiende la FC? / Protocolo y configuración</a:t>
            </a:r>
          </a:p>
          <a:p xmlns:a="http://schemas.openxmlformats.org/drawingml/2006/main">
            <a:r>
              <a:t>¿Qué vuelve al operador? / Medida y receptor de telemetría</a:t>
            </a:r>
          </a:p>
          <a:p xmlns:a="http://schemas.openxmlformats.org/drawingml/2006/main">
            <a:r>
              <a:t/>
            </a:r>
          </a:p>
          <a:p xmlns:a="http://schemas.openxmlformats.org/drawingml/2006/main">
            <a:r>
              <a:t>Como investigación, elige un periférico del equipo de MECRO y busca su manual. Identifica si necesita una o dos líneas de datos, si tiene una alimentación separada y qué protocolo entrega. Una denominación “GPS” no decide automáticamente el conector ni la tensión de todos los módulos. La solución se presenta con una referencia que otro compañero pueda verificar.</a:t>
            </a:r>
          </a:p>
          <a:p xmlns:a="http://schemas.openxmlformats.org/drawingml/2006/main">
            <a:r>
              <a:t/>
            </a:r>
          </a:p>
          <a:p xmlns:a="http://schemas.openxmlformats.org/drawingml/2006/main">
            <a:r>
              <a:t>La siguiente sesión utilizará estas tablas para navegar Betaflight con propósito. El alumno ya debe poder explicar por qué una pestaña de puertos existe y qué debe coincidir con el montaje. Esa relación entre pantalla y objeto será el centro de la práctica de configuración.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Respuesta que se debe demostrar</a:t>
            </a:r>
          </a:p>
          <a:p xmlns:a="http://schemas.openxmlformats.org/drawingml/2006/main">
            <a:r>
              <a:t>¿De dónde viene la orden? / Control, receptor y canal</a:t>
            </a:r>
          </a:p>
          <a:p xmlns:a="http://schemas.openxmlformats.org/drawingml/2006/main">
            <a:r>
              <a:t>¿Qué cable lleva el dato? / Puerto y referencia de contactos</a:t>
            </a:r>
          </a:p>
          <a:p xmlns:a="http://schemas.openxmlformats.org/drawingml/2006/main">
            <a:r>
              <a:t>¿Qué entiende la FC? / Protocolo y configuración</a:t>
            </a:r>
          </a:p>
          <a:p xmlns:a="http://schemas.openxmlformats.org/drawingml/2006/main">
            <a:r>
              <a:t>¿Qué vuelve al operador? / Medida y receptor de telemetría</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Pregunta / Respuesta que se debe demostrar</a:t>
            </a:r>
          </a:p>
          <a:p xmlns:a="http://schemas.openxmlformats.org/drawingml/2006/main">
            <a:r>
              <a:t>¿De dónde viene la orden? / Control, receptor y canal</a:t>
            </a:r>
          </a:p>
          <a:p xmlns:a="http://schemas.openxmlformats.org/drawingml/2006/main">
            <a:r>
              <a:t>¿Qué cable lleva el dato? / Puerto y referencia de contactos</a:t>
            </a:r>
          </a:p>
          <a:p xmlns:a="http://schemas.openxmlformats.org/drawingml/2006/main">
            <a:r>
              <a:t>¿Qué entiende la FC? / Protocolo y configuración</a:t>
            </a:r>
          </a:p>
          <a:p xmlns:a="http://schemas.openxmlformats.org/drawingml/2006/main">
            <a:r>
              <a:t>¿Qué vuelve al operador? / Medida y receptor de telemetría</a:t>
            </a:r>
          </a:p>
          <a:p xmlns:a="http://schemas.openxmlformats.org/drawingml/2006/main">
            <a:r>
              <a:t/>
            </a:r>
          </a:p>
          <a:p xmlns:a="http://schemas.openxmlformats.org/drawingml/2006/main">
            <a:r>
              <a:t>Como investigación, elige un periférico del equipo de MECRO y busca su manual. Identifica si necesita una o dos líneas de datos, si tiene una alimentación separada y qué protocolo entrega. Una denominación “GPS” no decide automáticamente el conector ni la tensión de todos los módulos. La solución se presenta con una referencia que otro compañero pueda verificar.</a:t>
            </a:r>
          </a:p>
          <a:p xmlns:a="http://schemas.openxmlformats.org/drawingml/2006/main">
            <a:r>
              <a:t/>
            </a:r>
          </a:p>
          <a:p xmlns:a="http://schemas.openxmlformats.org/drawingml/2006/main">
            <a:r>
              <a:t>La siguiente sesión utilizará estas tablas para navegar Betaflight con propósito. El alumno ya debe poder explicar por qué una pestaña de puertos existe y qué debe coincidir con el montaje. Esa relación entre pantalla y objeto será el centro de la práctica de configuración.</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las tres cadenas con funciones diferentes.</a:t>
            </a:r>
          </a:p>
          <a:p xmlns:a="http://schemas.openxmlformats.org/drawingml/2006/main">
            <a:r>
              <a:t>Trazar un receptor desde el manual hasta su UART y proveedor.</a:t>
            </a:r>
          </a:p>
          <a:p xmlns:a="http://schemas.openxmlformats.org/drawingml/2006/main">
            <a:r>
              <a:t>Resolver el caso de puerto equivocado y el cálculo de distancia relativa.</a:t>
            </a:r>
          </a:p>
          <a:p xmlns:a="http://schemas.openxmlformats.org/drawingml/2006/main">
            <a:r>
              <a:t>Comprobar un canal y una medida de telemetría en la demostración.</a:t>
            </a:r>
          </a:p>
          <a:p xmlns:a="http://schemas.openxmlformats.org/drawingml/2006/main">
            <a:r>
              <a:t>Contrastar componentes, esquema y comprobaciones.</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10 minutos en esta diapositiva.</a:t>
            </a:r>
          </a:p>
          <a:p xmlns:a="http://schemas.openxmlformats.org/drawingml/2006/main">
            <a:r>
              <a:t/>
            </a:r>
          </a:p>
          <a:p xmlns:a="http://schemas.openxmlformats.org/drawingml/2006/main">
            <a:r>
              <a:t>El constructor debe explicar por dónde llegan las órdenes y por dónde vuelven los datos del dron.</a:t>
            </a:r>
          </a:p>
          <a:p xmlns:a="http://schemas.openxmlformats.org/drawingml/2006/main">
            <a:r>
              <a:t>Mapa de comunicaciones, tabla de puertos y diagnóstico argumentado de una ruta.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Radio, telemetría, vídeo y protocolos de conexión.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Mapa de comunicaciones, tabla de puertos y diagnóstico argumentado de una ruta.</a:t>
            </a:r>
          </a:p>
          <a:p xmlns:a="http://schemas.openxmlformats.org/drawingml/2006/main">
            <a:r>
              <a:t/>
            </a:r>
          </a:p>
          <a:p xmlns:a="http://schemas.openxmlformats.org/drawingml/2006/main">
            <a:r>
              <a:t>Objetivo: Relacionar cada enlace con su función y asignar conexiones y puertos sin confundir radio con protocolo.</a:t>
            </a:r>
          </a:p>
          <a:p xmlns:a="http://schemas.openxmlformats.org/drawingml/2006/main">
            <a:r>
              <a:t>Aplicación: El constructor debe explicar por dónde llegan las órdenes y por dónde vuelven los datos del dron.</a:t>
            </a:r>
          </a:p>
          <a:p xmlns:a="http://schemas.openxmlformats.org/drawingml/2006/main">
            <a:r>
              <a:t>Entrega: Mapa de comunicaciones, tabla de puertos y diagnóstico argumentado de una ruta.</a:t>
            </a:r>
          </a:p>
          <a:p xmlns:a="http://schemas.openxmlformats.org/drawingml/2006/main">
            <a:r>
              <a:t/>
            </a:r>
          </a:p>
          <a:p xmlns:a="http://schemas.openxmlformats.org/drawingml/2006/main">
            <a:r>
              <a:t>Preguntas y respuestas</a:t>
            </a:r>
          </a:p>
          <a:p xmlns:a="http://schemas.openxmlformats.org/drawingml/2006/main">
            <a:r>
              <a:t>¿MAVLink es una frecuencia de radio?</a:t>
            </a:r>
          </a:p>
          <a:p xmlns:a="http://schemas.openxmlformats.org/drawingml/2006/main">
            <a:r>
              <a:t>No. Es un protocolo de mensajes que necesita un transporte compatible.</a:t>
            </a:r>
          </a:p>
          <a:p xmlns:a="http://schemas.openxmlformats.org/drawingml/2006/main">
            <a:r>
              <a:t/>
            </a:r>
          </a:p>
          <a:p xmlns:a="http://schemas.openxmlformats.org/drawingml/2006/main">
            <a:r>
              <a:t>¿Ver vídeo prueba que llega mando?</a:t>
            </a:r>
          </a:p>
          <a:p xmlns:a="http://schemas.openxmlformats.org/drawingml/2006/main">
            <a:r>
              <a:t>No. Son cadenas que requieren comprobaciones independientes.</a:t>
            </a:r>
          </a:p>
          <a:p xmlns:a="http://schemas.openxmlformats.org/drawingml/2006/main">
            <a:r>
              <a:t/>
            </a:r>
          </a:p>
          <a:p xmlns:a="http://schemas.openxmlformats.org/drawingml/2006/main">
            <a:r>
              <a:t>¿6 dB de pérdida adicional dan un alcance garantizado?</a:t>
            </a:r>
          </a:p>
          <a:p xmlns:a="http://schemas.openxmlformats.org/drawingml/2006/main">
            <a:r>
              <a:t>No. Es una comparación ideal; faltan entorno, antenas y sistema real.</a:t>
            </a:r>
          </a:p>
          <a:p xmlns:a="http://schemas.openxmlformats.org/drawingml/2006/main">
            <a:r>
              <a:t/>
            </a:r>
          </a:p>
          <a:p xmlns:a="http://schemas.openxmlformats.org/drawingml/2006/main">
            <a:r>
              <a:t>Fuentes</a:t>
            </a:r>
          </a:p>
          <a:p xmlns:a="http://schemas.openxmlformats.org/drawingml/2006/main">
            <a:r>
              <a:t>Betaflight. Ports Tab. https://betaflight.com/docs/wiki/app/ports-tab</a:t>
            </a:r>
          </a:p>
          <a:p xmlns:a="http://schemas.openxmlformats.org/drawingml/2006/main">
            <a:r>
              <a:t>Betaflight. Receiver Tab. https://betaflight.com/docs/wiki/app/receiver-tab</a:t>
            </a:r>
          </a:p>
          <a:p xmlns:a="http://schemas.openxmlformats.org/drawingml/2006/main">
            <a:r>
              <a:t>ArduPilot. Opciones de telemetría. https://ardupilot.org/copter/docs/common-telemetry-landingpage.html</a:t>
            </a:r>
          </a:p>
          <a:p xmlns:a="http://schemas.openxmlformats.org/drawingml/2006/main">
            <a:r>
              <a:t>Betaflight. Setup Guide: organización de la puesta en marcha. https://betaflight.com/docs/wiki/getting-started/setup-guide</a:t>
            </a:r>
          </a:p>
          <a:p xmlns:a="http://schemas.openxmlformats.org/drawingml/2006/main">
            <a:r>
              <a:t>ArduPilot. Mandatory Hardware Configuration. https://ardupilot.org/copter/docs/configuring-hardware.html</a:t>
            </a:r>
          </a:p>
          <a:p xmlns:a="http://schemas.openxmlformats.org/drawingml/2006/main">
            <a:r>
              <a:t>Lectura MECRO_Drones_Clase_04.pdf.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407eb9899c49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70e32110f840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df2b92e1b043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a3143086104a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cc25201f8f4e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181b062e8144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0CAE42-93F7-4922-AD21-BBAC111A48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84ADE1-0FF8-467A-86E8-F2EDF30252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402DC6-BDA9-4743-9B60-E85F669362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3D9B4A-CFF6-432B-AF98-8336A8A253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C53248-88D1-4C03-A4F8-EE3DC10A40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1F4487-2BE2-4B87-97DF-1A0B3AA8D7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B7D17C-B25A-42AD-BC48-8DCF13B391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FDC68F-02BD-4A5F-B621-6E2EE7D70F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8A0C63-F467-463F-BF35-58A71D93FE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9AE824-DE76-4803-A665-D96889EFDE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6bb1306694423d" /><Relationship Type="http://schemas.openxmlformats.org/officeDocument/2006/relationships/slideLayout" Target="/ppt/slideLayouts/slideLayout1.xml" Id="R992a32e377284416" /><Relationship Type="http://schemas.openxmlformats.org/officeDocument/2006/relationships/slideLayout" Target="/ppt/slideLayouts/slideLayout2.xml" Id="Ra5230b504a844612" /><Relationship Type="http://schemas.openxmlformats.org/officeDocument/2006/relationships/slideLayout" Target="/ppt/slideLayouts/slideLayout3.xml" Id="Rf35c1cc9b8c14994" /><Relationship Type="http://schemas.openxmlformats.org/officeDocument/2006/relationships/slideLayout" Target="/ppt/slideLayouts/slideLayout4.xml" Id="Rb22fadfb90544079" /><Relationship Type="http://schemas.openxmlformats.org/officeDocument/2006/relationships/slideLayout" Target="/ppt/slideLayouts/slideLayout5.xml" Id="R686fd84bbc3c4cbd" /><Relationship Type="http://schemas.openxmlformats.org/officeDocument/2006/relationships/slideLayout" Target="/ppt/slideLayouts/slideLayout6.xml" Id="Rf7184844912149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2a32e377284416"/>
    <p:sldLayoutId xmlns:r="http://schemas.openxmlformats.org/officeDocument/2006/relationships" id="2147483650" r:id="Ra5230b504a844612"/>
    <p:sldLayoutId xmlns:r="http://schemas.openxmlformats.org/officeDocument/2006/relationships" id="2147483651" r:id="Rf35c1cc9b8c14994"/>
    <p:sldLayoutId xmlns:r="http://schemas.openxmlformats.org/officeDocument/2006/relationships" id="2147483652" r:id="Rb22fadfb90544079"/>
    <p:sldLayoutId xmlns:r="http://schemas.openxmlformats.org/officeDocument/2006/relationships" id="2147483653" r:id="R686fd84bbc3c4cbd"/>
    <p:sldLayoutId xmlns:r="http://schemas.openxmlformats.org/officeDocument/2006/relationships" id="2147483654" r:id="Rf7184844912149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e4212ccf7d4a64" /><Relationship Type="http://schemas.openxmlformats.org/officeDocument/2006/relationships/image" Target="/ppt/media/image.png" Id="R7c70d7ae2e9b417e" /><Relationship Type="http://schemas.openxmlformats.org/officeDocument/2006/relationships/notesSlide" Target="/ppt/notesSlides/notesSlide1.xml" Id="Rd5a1f8efd8c143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ca23bec264401c" /><Relationship Type="http://schemas.openxmlformats.org/officeDocument/2006/relationships/image" Target="/ppt/media/image2.png" Id="R3dbe1b40915e433a" /><Relationship Type="http://schemas.openxmlformats.org/officeDocument/2006/relationships/notesSlide" Target="/ppt/notesSlides/notesSlide2.xml" Id="Rc1f8a9634c5b48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f87c7f148c499d" /><Relationship Type="http://schemas.openxmlformats.org/officeDocument/2006/relationships/image" Target="/ppt/media/image3.png" Id="Ra57470cc3a7d4fdd" /><Relationship Type="http://schemas.openxmlformats.org/officeDocument/2006/relationships/image" Target="/ppt/media/image4.png" Id="Rfc1ec0a2210540b9" /><Relationship Type="http://schemas.openxmlformats.org/officeDocument/2006/relationships/notesSlide" Target="/ppt/notesSlides/notesSlide3.xml" Id="R981f1090927744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a6a82d460c400b" /><Relationship Type="http://schemas.openxmlformats.org/officeDocument/2006/relationships/image" Target="/ppt/media/image5.png" Id="Rcb3db0ea88ea47d8" /><Relationship Type="http://schemas.openxmlformats.org/officeDocument/2006/relationships/notesSlide" Target="/ppt/notesSlides/notesSlide4.xml" Id="R5ca19e88598644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e11285213141f2" /><Relationship Type="http://schemas.openxmlformats.org/officeDocument/2006/relationships/image" Target="/ppt/media/image6.png" Id="R04fbb8d81a2b47b1" /><Relationship Type="http://schemas.openxmlformats.org/officeDocument/2006/relationships/notesSlide" Target="/ppt/notesSlides/notesSlide5.xml" Id="R74a1e9923f114b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6d3975f4774fdd" /><Relationship Type="http://schemas.openxmlformats.org/officeDocument/2006/relationships/image" Target="/ppt/media/image7.png" Id="R1fdb28254a9e4567" /><Relationship Type="http://schemas.openxmlformats.org/officeDocument/2006/relationships/notesSlide" Target="/ppt/notesSlides/notesSlide6.xml" Id="R342f655089a148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d964bdbf484f79" /><Relationship Type="http://schemas.openxmlformats.org/officeDocument/2006/relationships/image" Target="/ppt/media/image8.png" Id="R522fb9a0b3d64b0b" /><Relationship Type="http://schemas.openxmlformats.org/officeDocument/2006/relationships/notesSlide" Target="/ppt/notesSlides/notesSlide7.xml" Id="Rd15c0083e6a44c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8ef97308be4af7" /><Relationship Type="http://schemas.openxmlformats.org/officeDocument/2006/relationships/image" Target="/ppt/media/image9.png" Id="R98831b27b430472f" /><Relationship Type="http://schemas.openxmlformats.org/officeDocument/2006/relationships/notesSlide" Target="/ppt/notesSlides/notesSlide8.xml" Id="R505107bef6814f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b09ca62a2a44ce" /><Relationship Type="http://schemas.openxmlformats.org/officeDocument/2006/relationships/image" Target="/ppt/media/image10.png" Id="R99b531facb7a4583" /><Relationship Type="http://schemas.openxmlformats.org/officeDocument/2006/relationships/notesSlide" Target="/ppt/notesSlides/notesSlide9.xml" Id="Ree3bf1aad65b4c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79609794e6a48a0" /><Relationship Type="http://schemas.openxmlformats.org/officeDocument/2006/relationships/image" Target="/ppt/media/image11.png" Id="R36a9478a55dc42bd" /><Relationship Type="http://schemas.openxmlformats.org/officeDocument/2006/relationships/chart" Target="/ppt/slides/charts/chart1.xml" Id="Rb38ac238943c417f" /><Relationship Type="http://schemas.openxmlformats.org/officeDocument/2006/relationships/notesSlide" Target="/ppt/notesSlides/notesSlide10.xml" Id="Rc676ac54933b4b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710e704542e4f34" /><Relationship Type="http://schemas.openxmlformats.org/officeDocument/2006/relationships/image" Target="/ppt/media/image12.png" Id="Rd2bfc6e699e64565" /><Relationship Type="http://schemas.openxmlformats.org/officeDocument/2006/relationships/notesSlide" Target="/ppt/notesSlides/notesSlide11.xml" Id="Rd5fafcad01814c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626baed08424e33" /><Relationship Type="http://schemas.openxmlformats.org/officeDocument/2006/relationships/image" Target="/ppt/media/image13.png" Id="R6404aa8fdb24493a" /><Relationship Type="http://schemas.openxmlformats.org/officeDocument/2006/relationships/notesSlide" Target="/ppt/notesSlides/notesSlide12.xml" Id="R553b69f916f240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bd12bac1c44846" /><Relationship Type="http://schemas.openxmlformats.org/officeDocument/2006/relationships/image" Target="/ppt/media/image14.png" Id="Rd3cbc0e1905649c5" /><Relationship Type="http://schemas.openxmlformats.org/officeDocument/2006/relationships/notesSlide" Target="/ppt/notesSlides/notesSlide13.xml" Id="Rc1906eac490340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b5c5514305c476b" /><Relationship Type="http://schemas.openxmlformats.org/officeDocument/2006/relationships/image" Target="/ppt/media/image15.png" Id="Rf3a1297def5a480b" /><Relationship Type="http://schemas.openxmlformats.org/officeDocument/2006/relationships/notesSlide" Target="/ppt/notesSlides/notesSlide14.xml" Id="R167b6f7279d14d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268f633d679490e" /><Relationship Type="http://schemas.openxmlformats.org/officeDocument/2006/relationships/image" Target="/ppt/media/image16.png" Id="R53aabe16e7db49b8" /><Relationship Type="http://schemas.openxmlformats.org/officeDocument/2006/relationships/notesSlide" Target="/ppt/notesSlides/notesSlide15.xml" Id="Rffe9440012e942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4d448e7e2e24253" /><Relationship Type="http://schemas.openxmlformats.org/officeDocument/2006/relationships/image" Target="/ppt/media/image17.png" Id="R98a00c0a49834d69" /><Relationship Type="http://schemas.openxmlformats.org/officeDocument/2006/relationships/notesSlide" Target="/ppt/notesSlides/notesSlide16.xml" Id="Rd049b1c401a248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8ae4b3d0524399" /><Relationship Type="http://schemas.openxmlformats.org/officeDocument/2006/relationships/image" Target="/ppt/media/image18.png" Id="R9f9c5d3f102a412f" /><Relationship Type="http://schemas.openxmlformats.org/officeDocument/2006/relationships/notesSlide" Target="/ppt/notesSlides/notesSlide17.xml" Id="Rb53fc849b6e74e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5953110324f4540" /><Relationship Type="http://schemas.openxmlformats.org/officeDocument/2006/relationships/image" Target="/ppt/media/image19.png" Id="R56957741054748ef" /><Relationship Type="http://schemas.openxmlformats.org/officeDocument/2006/relationships/notesSlide" Target="/ppt/notesSlides/notesSlide18.xml" Id="Raf2c84f6972b4f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6b9f898ce04b47" /><Relationship Type="http://schemas.openxmlformats.org/officeDocument/2006/relationships/image" Target="/ppt/media/image20.png" Id="R81bb95e275914b3a" /><Relationship Type="http://schemas.openxmlformats.org/officeDocument/2006/relationships/notesSlide" Target="/ppt/notesSlides/notesSlide19.xml" Id="R9a517a98214745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14fc47c8ba644f3" /><Relationship Type="http://schemas.openxmlformats.org/officeDocument/2006/relationships/image" Target="/ppt/media/image21.png" Id="R2b9cd03bc5e5496c" /><Relationship Type="http://schemas.openxmlformats.org/officeDocument/2006/relationships/notesSlide" Target="/ppt/notesSlides/notesSlide20.xml" Id="R0e846b2851b443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9b3215061ea4d03" /><Relationship Type="http://schemas.openxmlformats.org/officeDocument/2006/relationships/image" Target="/ppt/media/image22.png" Id="R0f5e8e482896441a" /><Relationship Type="http://schemas.openxmlformats.org/officeDocument/2006/relationships/notesSlide" Target="/ppt/notesSlides/notesSlide21.xml" Id="Raf487042b19d44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bb55ca9a5544807" /><Relationship Type="http://schemas.openxmlformats.org/officeDocument/2006/relationships/image" Target="/ppt/media/image23.png" Id="R438a222511784cdc" /><Relationship Type="http://schemas.openxmlformats.org/officeDocument/2006/relationships/notesSlide" Target="/ppt/notesSlides/notesSlide22.xml" Id="Rb1754f0ca29d4a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61a94c289184573" /><Relationship Type="http://schemas.openxmlformats.org/officeDocument/2006/relationships/image" Target="/ppt/media/image24.png" Id="R0cd4e96bd5714111" /><Relationship Type="http://schemas.openxmlformats.org/officeDocument/2006/relationships/notesSlide" Target="/ppt/notesSlides/notesSlide23.xml" Id="R945ea127fe7943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c59e9960cb40e5" /><Relationship Type="http://schemas.openxmlformats.org/officeDocument/2006/relationships/image" Target="/ppt/media/image25.png" Id="R73cf52a4aba24863" /><Relationship Type="http://schemas.openxmlformats.org/officeDocument/2006/relationships/notesSlide" Target="/ppt/notesSlides/notesSlide24.xml" Id="R19f84dba9ff7407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1b168b95afa4490" /><Relationship Type="http://schemas.openxmlformats.org/officeDocument/2006/relationships/image" Target="/ppt/media/image26.png" Id="R51109ae71a454e92" /><Relationship Type="http://schemas.openxmlformats.org/officeDocument/2006/relationships/notesSlide" Target="/ppt/notesSlides/notesSlide25.xml" Id="Rece858b7f7c141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99342721aec4b2e" /><Relationship Type="http://schemas.openxmlformats.org/officeDocument/2006/relationships/image" Target="/ppt/media/image27.png" Id="R01bdf86f14e64434" /><Relationship Type="http://schemas.openxmlformats.org/officeDocument/2006/relationships/notesSlide" Target="/ppt/notesSlides/notesSlide26.xml" Id="Rdddb93cb142e4c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e1fa25e11524180" /><Relationship Type="http://schemas.openxmlformats.org/officeDocument/2006/relationships/image" Target="/ppt/media/image28.png" Id="Rb2b9b6802e804ffa" /><Relationship Type="http://schemas.openxmlformats.org/officeDocument/2006/relationships/image" Target="/ppt/media/image29.png" Id="Rf32e825afab640c6" /><Relationship Type="http://schemas.openxmlformats.org/officeDocument/2006/relationships/notesSlide" Target="/ppt/notesSlides/notesSlide27.xml" Id="R9b5bfb751f5a42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7ab974e205d41c9" /><Relationship Type="http://schemas.openxmlformats.org/officeDocument/2006/relationships/image" Target="/ppt/media/image30.png" Id="R72fad347aec14086" /><Relationship Type="http://schemas.openxmlformats.org/officeDocument/2006/relationships/notesSlide" Target="/ppt/notesSlides/notesSlide28.xml" Id="R8b9cbe118ca64b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1561409def946c5" /><Relationship Type="http://schemas.openxmlformats.org/officeDocument/2006/relationships/image" Target="/ppt/media/image31.png" Id="R2f7b8c6afae84233" /><Relationship Type="http://schemas.openxmlformats.org/officeDocument/2006/relationships/notesSlide" Target="/ppt/notesSlides/notesSlide29.xml" Id="R0d2dbe758ce449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2e198b862354ba9" /><Relationship Type="http://schemas.openxmlformats.org/officeDocument/2006/relationships/image" Target="/ppt/media/image32.png" Id="Raa772cc732994f53" /><Relationship Type="http://schemas.openxmlformats.org/officeDocument/2006/relationships/notesSlide" Target="/ppt/notesSlides/notesSlide30.xml" Id="Rdbe5eaf922e648e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a8abdad0f784b64" /><Relationship Type="http://schemas.openxmlformats.org/officeDocument/2006/relationships/image" Target="/ppt/media/image33.png" Id="R01e204ddce0b4cfc" /><Relationship Type="http://schemas.openxmlformats.org/officeDocument/2006/relationships/notesSlide" Target="/ppt/notesSlides/notesSlide31.xml" Id="R0b64d4b73cda462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aa5880cf0cd42bc" /><Relationship Type="http://schemas.openxmlformats.org/officeDocument/2006/relationships/image" Target="/ppt/media/image34.png" Id="Rb2b7555e40b7467b" /><Relationship Type="http://schemas.openxmlformats.org/officeDocument/2006/relationships/notesSlide" Target="/ppt/notesSlides/notesSlide32.xml" Id="Rbdc8f0173bb744c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a5082bdb3704062" /><Relationship Type="http://schemas.openxmlformats.org/officeDocument/2006/relationships/image" Target="/ppt/media/image35.png" Id="R068300c58e1c4eda" /><Relationship Type="http://schemas.openxmlformats.org/officeDocument/2006/relationships/image" Target="/ppt/media/image36.png" Id="R9c39af1c0be94299" /><Relationship Type="http://schemas.openxmlformats.org/officeDocument/2006/relationships/notesSlide" Target="/ppt/notesSlides/notesSlide33.xml" Id="Rb0fe646c0711495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47a4f4fc65f4789" /><Relationship Type="http://schemas.openxmlformats.org/officeDocument/2006/relationships/image" Target="/ppt/media/image37.png" Id="Re666d893684f4853" /><Relationship Type="http://schemas.openxmlformats.org/officeDocument/2006/relationships/notesSlide" Target="/ppt/notesSlides/notesSlide34.xml" Id="Reaa9349f7bd2408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c09d630f60943c7" /><Relationship Type="http://schemas.openxmlformats.org/officeDocument/2006/relationships/image" Target="/ppt/media/image38.png" Id="Rbf2156e64f9744fb" /><Relationship Type="http://schemas.openxmlformats.org/officeDocument/2006/relationships/notesSlide" Target="/ppt/notesSlides/notesSlide35.xml" Id="R666e2af151a9454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e7b4920101b4594" /><Relationship Type="http://schemas.openxmlformats.org/officeDocument/2006/relationships/image" Target="/ppt/media/image39.png" Id="Rca1b94fddc9b4d02" /><Relationship Type="http://schemas.openxmlformats.org/officeDocument/2006/relationships/notesSlide" Target="/ppt/notesSlides/notesSlide36.xml" Id="R02967a9424da43d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9721ba219f14c39" /><Relationship Type="http://schemas.openxmlformats.org/officeDocument/2006/relationships/image" Target="/ppt/media/image40.png" Id="R25eefc62e7254f48" /><Relationship Type="http://schemas.openxmlformats.org/officeDocument/2006/relationships/chart" Target="/ppt/slides/charts/chart2.xml" Id="R2e728f82e6a84fde" /><Relationship Type="http://schemas.openxmlformats.org/officeDocument/2006/relationships/notesSlide" Target="/ppt/notesSlides/notesSlide37.xml" Id="R74daf5c51d6b464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35ac9e3ee3c440f" /><Relationship Type="http://schemas.openxmlformats.org/officeDocument/2006/relationships/image" Target="/ppt/media/image41.png" Id="Rdb355e0579104a82" /><Relationship Type="http://schemas.openxmlformats.org/officeDocument/2006/relationships/notesSlide" Target="/ppt/notesSlides/notesSlide38.xml" Id="Ref5c8e90d3a240b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f78926884b44a68" /><Relationship Type="http://schemas.openxmlformats.org/officeDocument/2006/relationships/image" Target="/ppt/media/image42.png" Id="Rfa9f64102cec4727" /><Relationship Type="http://schemas.openxmlformats.org/officeDocument/2006/relationships/notesSlide" Target="/ppt/notesSlides/notesSlide39.xml" Id="R157aa04f686d450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c7880f40ecd40b0" /><Relationship Type="http://schemas.openxmlformats.org/officeDocument/2006/relationships/image" Target="/ppt/media/image43.png" Id="Rb2e9448521824d9a" /><Relationship Type="http://schemas.openxmlformats.org/officeDocument/2006/relationships/notesSlide" Target="/ppt/notesSlides/notesSlide40.xml" Id="R891acb19dd98488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3b51262c1d44931" /><Relationship Type="http://schemas.openxmlformats.org/officeDocument/2006/relationships/image" Target="/ppt/media/image44.png" Id="R58ce6e1b2fb04eb9" /><Relationship Type="http://schemas.openxmlformats.org/officeDocument/2006/relationships/notesSlide" Target="/ppt/notesSlides/notesSlide41.xml" Id="R56e6275cf5bb40e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dcd2186cac34f0a" /><Relationship Type="http://schemas.openxmlformats.org/officeDocument/2006/relationships/image" Target="/ppt/media/image45.png" Id="Rebebed1690fb46db" /><Relationship Type="http://schemas.openxmlformats.org/officeDocument/2006/relationships/notesSlide" Target="/ppt/notesSlides/notesSlide42.xml" Id="R8399fd3dfc204cf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bfd6d0431a74251" /><Relationship Type="http://schemas.openxmlformats.org/officeDocument/2006/relationships/image" Target="/ppt/media/image46.png" Id="Rd4478fdb15fe4700" /><Relationship Type="http://schemas.openxmlformats.org/officeDocument/2006/relationships/notesSlide" Target="/ppt/notesSlides/notesSlide43.xml" Id="Ra9e8e362711d427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11dbdcf4910464b" /><Relationship Type="http://schemas.openxmlformats.org/officeDocument/2006/relationships/image" Target="/ppt/media/image47.png" Id="R2ec65db4a483403b" /><Relationship Type="http://schemas.openxmlformats.org/officeDocument/2006/relationships/notesSlide" Target="/ppt/notesSlides/notesSlide44.xml" Id="R3e4b6936d2d24ee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8ccf1070e2341a1" /><Relationship Type="http://schemas.openxmlformats.org/officeDocument/2006/relationships/image" Target="/ppt/media/image48.png" Id="R8cbd5fbb98494300" /><Relationship Type="http://schemas.openxmlformats.org/officeDocument/2006/relationships/notesSlide" Target="/ppt/notesSlides/notesSlide45.xml" Id="Rcfdf8450e2dc44f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080d31d354d407e" /><Relationship Type="http://schemas.openxmlformats.org/officeDocument/2006/relationships/image" Target="/ppt/media/image49.png" Id="Re522e91e33bc4d0c" /><Relationship Type="http://schemas.openxmlformats.org/officeDocument/2006/relationships/notesSlide" Target="/ppt/notesSlides/notesSlide46.xml" Id="R0609238f88a648d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330624be6444a8a" /><Relationship Type="http://schemas.openxmlformats.org/officeDocument/2006/relationships/image" Target="/ppt/media/image50.png" Id="R7bfc3e77145a422d" /><Relationship Type="http://schemas.openxmlformats.org/officeDocument/2006/relationships/notesSlide" Target="/ppt/notesSlides/notesSlide47.xml" Id="Rcbccc5dbc1a346e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2542960c4b54678" /><Relationship Type="http://schemas.openxmlformats.org/officeDocument/2006/relationships/image" Target="/ppt/media/image51.png" Id="R43caa3b02fed4565" /><Relationship Type="http://schemas.openxmlformats.org/officeDocument/2006/relationships/notesSlide" Target="/ppt/notesSlides/notesSlide48.xml" Id="Rb5e3be263e8148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Pérdida / W</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20 A</c:v>
                </c:pt>
                <c:pt idx="1">
                  <c:v>30 A</c:v>
                </c:pt>
                <c:pt idx="2">
                  <c:v>40 A</c:v>
                </c:pt>
              </c:strCache>
            </c:strRef>
          </c:cat>
          <c:val>
            <c:numRef>
              <c:f>'Chart Data'!$B$2:$B$4</c:f>
              <c:numCache>
                <c:formatCode>0</c:formatCode>
                <c:ptCount val="3"/>
                <c:pt idx="0">
                  <c:v>6</c:v>
                </c:pt>
                <c:pt idx="1">
                  <c:v>13.5</c:v>
                </c:pt>
                <c:pt idx="2">
                  <c:v>24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Disipación del tramo / 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Pérdida adicional / dB</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1 × distancia</c:v>
                </c:pt>
                <c:pt idx="1">
                  <c:v>2 × distancia</c:v>
                </c:pt>
                <c:pt idx="2">
                  <c:v>4 × distancia</c:v>
                </c:pt>
              </c:strCache>
            </c:strRef>
          </c:cat>
          <c:val>
            <c:numRef>
              <c:f>'Chart Data'!$B$2:$B$4</c:f>
              <c:numCache>
                <c:formatCode>0</c:formatCode>
                <c:ptCount val="3"/>
                <c:pt idx="0">
                  <c:v>0</c:v>
                </c:pt>
                <c:pt idx="1">
                  <c:v>6.02</c:v>
                </c:pt>
                <c:pt idx="2">
                  <c:v>12.04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Pérdida relativa /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4"/>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C784D5-7F0E-44A0-B6ED-C99ED56A3BF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Alimentación, cableado y montaje que se puede revisar</a:t>
            </a:r>
          </a:p>
        </p:txBody>
      </p:sp>
      <p:pic>
        <p:nvPicPr>
          <p:cNvPr id="2" name="">
            <a:extLst xmlns:a="http://schemas.openxmlformats.org/drawingml/2006/main">
              <a:ext uri="{FF2B5EF4-FFF2-40B4-BE49-F238E27FC236}">
                <a16:creationId xmlns:a16="http://schemas.microsoft.com/office/drawing/2014/main" id="{2586C9EA-9118-4B0D-8196-F02CA0F7816E}"/>
              </a:ext>
            </a:extLst>
          </p:cNvPr>
          <p:cNvPicPr>
            <a:picLocks xmlns:a="http://schemas.openxmlformats.org/drawingml/2006/main" noChangeAspect="1"/>
          </p:cNvPicPr>
          <p:nvPr/>
        </p:nvPicPr>
        <p:blipFill>
          <a:blip xmlns:r="http://schemas.openxmlformats.org/officeDocument/2006/relationships" xmlns:a="http://schemas.openxmlformats.org/drawingml/2006/main" r:embed="R7c70d7ae2e9b417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D37AEB-7BFE-4EAC-BCE1-B1C018723B2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01/24</a:t>
            </a:r>
          </a:p>
        </p:txBody>
      </p:sp>
      <p:sp>
        <p:nvSpPr>
          <p:cNvPr id="4" name="">
            <a:extLst xmlns:a="http://schemas.openxmlformats.org/drawingml/2006/main">
              <a:ext uri="{FF2B5EF4-FFF2-40B4-BE49-F238E27FC236}">
                <a16:creationId xmlns:a16="http://schemas.microsoft.com/office/drawing/2014/main" id="{A9BA52E9-A31E-4253-8B89-C02A2673B8E9}"/>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Interpretar un esquema de energía y preparar una secuencia de montaje y comprobación antes de alimentar.</a:t>
            </a:r>
          </a:p>
        </p:txBody>
      </p:sp>
      <p:sp>
        <p:nvSpPr>
          <p:cNvPr id="5" name="">
            <a:extLst xmlns:a="http://schemas.openxmlformats.org/drawingml/2006/main">
              <a:ext uri="{FF2B5EF4-FFF2-40B4-BE49-F238E27FC236}">
                <a16:creationId xmlns:a16="http://schemas.microsoft.com/office/drawing/2014/main" id="{3D3DFDFC-1B40-4198-B24F-2301F03A2765}"/>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ensamblaje necesita distinguir potencia, regulación, señal y referencia, tanto en una FC compacta como en un autopiloto grande.</a:t>
            </a:r>
          </a:p>
        </p:txBody>
      </p:sp>
      <p:sp>
        <p:nvSpPr>
          <p:cNvPr id="6" name="">
            <a:extLst xmlns:a="http://schemas.openxmlformats.org/drawingml/2006/main">
              <a:ext uri="{FF2B5EF4-FFF2-40B4-BE49-F238E27FC236}">
                <a16:creationId xmlns:a16="http://schemas.microsoft.com/office/drawing/2014/main" id="{23D4176E-C535-4D3B-ACE7-1B55E3C7C0E3}"/>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99128908"/>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90C358-8EFD-47B0-831D-3E7D75269C4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Batería, ESC, regulador y controladora</a:t>
            </a:r>
          </a:p>
        </p:txBody>
      </p:sp>
      <p:pic>
        <p:nvPicPr>
          <p:cNvPr id="2" name="">
            <a:extLst xmlns:a="http://schemas.openxmlformats.org/drawingml/2006/main">
              <a:ext uri="{FF2B5EF4-FFF2-40B4-BE49-F238E27FC236}">
                <a16:creationId xmlns:a16="http://schemas.microsoft.com/office/drawing/2014/main" id="{362E50A0-7167-4F2D-AC66-3FA147BD636D}"/>
              </a:ext>
            </a:extLst>
          </p:cNvPr>
          <p:cNvPicPr>
            <a:picLocks xmlns:a="http://schemas.openxmlformats.org/drawingml/2006/main" noChangeAspect="1"/>
          </p:cNvPicPr>
          <p:nvPr/>
        </p:nvPicPr>
        <p:blipFill>
          <a:blip xmlns:r="http://schemas.openxmlformats.org/officeDocument/2006/relationships" xmlns:a="http://schemas.openxmlformats.org/drawingml/2006/main" r:embed="R3dbe1b40915e43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A97ED4-2F27-4D31-A666-6B089BC32BA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02/24</a:t>
            </a:r>
          </a:p>
        </p:txBody>
      </p:sp>
      <p:sp>
        <p:nvSpPr>
          <p:cNvPr id="4" name="">
            <a:extLst xmlns:a="http://schemas.openxmlformats.org/drawingml/2006/main">
              <a:ext uri="{FF2B5EF4-FFF2-40B4-BE49-F238E27FC236}">
                <a16:creationId xmlns:a16="http://schemas.microsoft.com/office/drawing/2014/main" id="{F39387D4-7727-4195-8CFC-6453A25B8E8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batería entrega energía a la distribución de potencia. El ESC gobierna las corrientes del motor y recibe una señal de mando. La FC y los periféricos necesitan sus propias condiciones de alimentación: algunos módulos admiten tensión de batería y otros requieren una línea regulada. Un pin marcado 5V y otro marcado VBAT no se intercambian porque estén juntos. El esquema se lee desde cada carga hacia su fuente y desde cada fuente hacia sus cargas.</a:t>
            </a:r>
          </a:p>
        </p:txBody>
      </p:sp>
    </p:spTree>
    <p:extLst>
      <p:ext uri="{BB962C8B-B14F-4D97-AF65-F5344CB8AC3E}">
        <p14:creationId xmlns:p14="http://schemas.microsoft.com/office/powerpoint/2010/main" val="2086522852"/>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B40F2E-229C-4C9F-B1CC-FDEE9038D6E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Batería, ESC, regulador y controladora</a:t>
            </a:r>
          </a:p>
        </p:txBody>
      </p:sp>
      <p:pic>
        <p:nvPicPr>
          <p:cNvPr id="2" name="">
            <a:extLst xmlns:a="http://schemas.openxmlformats.org/drawingml/2006/main">
              <a:ext uri="{FF2B5EF4-FFF2-40B4-BE49-F238E27FC236}">
                <a16:creationId xmlns:a16="http://schemas.microsoft.com/office/drawing/2014/main" id="{469C7B23-F54F-4AAB-A943-127871CB3275}"/>
              </a:ext>
            </a:extLst>
          </p:cNvPr>
          <p:cNvPicPr>
            <a:picLocks xmlns:a="http://schemas.openxmlformats.org/drawingml/2006/main" noChangeAspect="1"/>
          </p:cNvPicPr>
          <p:nvPr/>
        </p:nvPicPr>
        <p:blipFill>
          <a:blip xmlns:r="http://schemas.openxmlformats.org/officeDocument/2006/relationships" xmlns:a="http://schemas.openxmlformats.org/drawingml/2006/main" r:embed="Ra57470cc3a7d4fd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97BFA2-0D9C-41E3-8765-F5212B2A006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03/24</a:t>
            </a:r>
          </a:p>
        </p:txBody>
      </p:sp>
      <p:pic>
        <p:nvPicPr>
          <p:cNvPr id="4" name="">
            <a:extLst xmlns:a="http://schemas.openxmlformats.org/drawingml/2006/main">
              <a:ext uri="{FF2B5EF4-FFF2-40B4-BE49-F238E27FC236}">
                <a16:creationId xmlns:a16="http://schemas.microsoft.com/office/drawing/2014/main" id="{2A5943C2-AA57-430A-916A-D47D5CC00D41}"/>
              </a:ext>
            </a:extLst>
          </p:cNvPr>
          <p:cNvPicPr>
            <a:picLocks xmlns:a="http://schemas.openxmlformats.org/drawingml/2006/main" noChangeAspect="1"/>
          </p:cNvPicPr>
          <p:nvPr/>
        </p:nvPicPr>
        <p:blipFill>
          <a:blip xmlns:r="http://schemas.openxmlformats.org/officeDocument/2006/relationships" xmlns:a="http://schemas.openxmlformats.org/drawingml/2006/main" r:embed="Rfc1ec0a2210540b9"/>
          <a:stretch xmlns:a="http://schemas.openxmlformats.org/drawingml/2006/main"/>
        </p:blipFill>
        <p:spPr>
          <a:xfrm xmlns:a="http://schemas.openxmlformats.org/drawingml/2006/main">
            <a:off x="2986653" y="1638300"/>
            <a:ext cx="2618243"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95447A-C598-4429-9D28-7FA5BE936684}"/>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Este puerto pertenece al Pixhawk del ejemplo. ¿Qué documento necesitas para tu equipo?</a:t>
            </a:r>
          </a:p>
        </p:txBody>
      </p:sp>
      <p:sp>
        <p:nvSpPr>
          <p:cNvPr id="6" name="">
            <a:extLst xmlns:a="http://schemas.openxmlformats.org/drawingml/2006/main">
              <a:ext uri="{FF2B5EF4-FFF2-40B4-BE49-F238E27FC236}">
                <a16:creationId xmlns:a16="http://schemas.microsoft.com/office/drawing/2014/main" id="{48B9105C-9F38-4A1D-B042-FBB923404725}"/>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Ejemplo documental de un puerto POWER de Pixhawk. Sus contactos pertenecen a ese equipo de referencia; no son un pinout universal de FC o autopiloto.</a:t>
            </a:r>
          </a:p>
        </p:txBody>
      </p:sp>
    </p:spTree>
    <p:extLst>
      <p:ext uri="{BB962C8B-B14F-4D97-AF65-F5344CB8AC3E}">
        <p14:creationId xmlns:p14="http://schemas.microsoft.com/office/powerpoint/2010/main" val="2025603101"/>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B3EB48-77B6-4413-8697-2CB57DF4DD1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Batería, ESC, regulador y controladora</a:t>
            </a:r>
          </a:p>
        </p:txBody>
      </p:sp>
      <p:pic>
        <p:nvPicPr>
          <p:cNvPr id="2" name="">
            <a:extLst xmlns:a="http://schemas.openxmlformats.org/drawingml/2006/main">
              <a:ext uri="{FF2B5EF4-FFF2-40B4-BE49-F238E27FC236}">
                <a16:creationId xmlns:a16="http://schemas.microsoft.com/office/drawing/2014/main" id="{C8222419-8499-43B4-A6B1-C513535C38BF}"/>
              </a:ext>
            </a:extLst>
          </p:cNvPr>
          <p:cNvPicPr>
            <a:picLocks xmlns:a="http://schemas.openxmlformats.org/drawingml/2006/main" noChangeAspect="1"/>
          </p:cNvPicPr>
          <p:nvPr/>
        </p:nvPicPr>
        <p:blipFill>
          <a:blip xmlns:r="http://schemas.openxmlformats.org/officeDocument/2006/relationships" xmlns:a="http://schemas.openxmlformats.org/drawingml/2006/main" r:embed="Rcb3db0ea88ea47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F8ABFB-418E-4C76-A64E-15E17AE6DA9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04/24</a:t>
            </a:r>
          </a:p>
        </p:txBody>
      </p:sp>
      <p:sp>
        <p:nvSpPr>
          <p:cNvPr id="4" name="">
            <a:extLst xmlns:a="http://schemas.openxmlformats.org/drawingml/2006/main">
              <a:ext uri="{FF2B5EF4-FFF2-40B4-BE49-F238E27FC236}">
                <a16:creationId xmlns:a16="http://schemas.microsoft.com/office/drawing/2014/main" id="{500D8158-12C8-4034-81EE-8977A452780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En un autopiloto, el módulo de potencia puede aportar alimentación regulada y medida de tensión/corriente. Esas funciones no son idénticas a alimentar la línea de servos. Una FC compacta puede integrar reguladores y conectarse a un ESC 4 en 1 mediante arnés. La construcción cambia, pero se mantienen las preguntas: qué tensión entra, qué sale, qué corriente puede entregar y cuál es la referencia de cada señal.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Se documenta cada extremo del cable. Si una revisión del fabricante cambia el orden del arnés, conservar el nombre del conjunto no basta: hay que contrastar el dibujo de esa revisión. La primera inspección se hace sin batería conectada.</a:t>
            </a:r>
          </a:p>
        </p:txBody>
      </p:sp>
    </p:spTree>
    <p:extLst>
      <p:ext uri="{BB962C8B-B14F-4D97-AF65-F5344CB8AC3E}">
        <p14:creationId xmlns:p14="http://schemas.microsoft.com/office/powerpoint/2010/main" val="380860196"/>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16D126-8A8B-43C2-8FD5-654FC5A74BA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tensión máxima y el presupuesto del regulador</a:t>
            </a:r>
          </a:p>
        </p:txBody>
      </p:sp>
      <p:pic>
        <p:nvPicPr>
          <p:cNvPr id="2" name="">
            <a:extLst xmlns:a="http://schemas.openxmlformats.org/drawingml/2006/main">
              <a:ext uri="{FF2B5EF4-FFF2-40B4-BE49-F238E27FC236}">
                <a16:creationId xmlns:a16="http://schemas.microsoft.com/office/drawing/2014/main" id="{A6453C3B-270C-4126-A2C9-366163DCD844}"/>
              </a:ext>
            </a:extLst>
          </p:cNvPr>
          <p:cNvPicPr>
            <a:picLocks xmlns:a="http://schemas.openxmlformats.org/drawingml/2006/main" noChangeAspect="1"/>
          </p:cNvPicPr>
          <p:nvPr/>
        </p:nvPicPr>
        <p:blipFill>
          <a:blip xmlns:r="http://schemas.openxmlformats.org/officeDocument/2006/relationships" xmlns:a="http://schemas.openxmlformats.org/drawingml/2006/main" r:embed="R04fbb8d81a2b47b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6A8940-FA92-4F54-8640-152141DEF4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05/24</a:t>
            </a:r>
          </a:p>
        </p:txBody>
      </p:sp>
      <p:sp>
        <p:nvSpPr>
          <p:cNvPr id="4" name="">
            <a:extLst xmlns:a="http://schemas.openxmlformats.org/drawingml/2006/main">
              <a:ext uri="{FF2B5EF4-FFF2-40B4-BE49-F238E27FC236}">
                <a16:creationId xmlns:a16="http://schemas.microsoft.com/office/drawing/2014/main" id="{AC10BCBE-F00E-4323-8579-7BE9EC94060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una LiPo convencional de 4,2 V por celda a plena carga, 4S alcanza 16,8 V y 6S alcanza 25,2 V. Las tensiones nominales aproximadas son menores. La compatibilidad de entrada se revisa contra el máximo del paquete y la química reales, no solo contra una cifra nominal. No se trasladan esos valores automáticamente a LiHV, Li-ion o un paquete con otra especificación.</a:t>
            </a:r>
          </a:p>
        </p:txBody>
      </p:sp>
    </p:spTree>
    <p:extLst>
      <p:ext uri="{BB962C8B-B14F-4D97-AF65-F5344CB8AC3E}">
        <p14:creationId xmlns:p14="http://schemas.microsoft.com/office/powerpoint/2010/main" val="1922611512"/>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928F1E-F801-449A-A301-439AFB718C3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referencias eléctricas</a:t>
            </a:r>
          </a:p>
        </p:txBody>
      </p:sp>
      <p:pic>
        <p:nvPicPr>
          <p:cNvPr id="2" name="">
            <a:extLst xmlns:a="http://schemas.openxmlformats.org/drawingml/2006/main">
              <a:ext uri="{FF2B5EF4-FFF2-40B4-BE49-F238E27FC236}">
                <a16:creationId xmlns:a16="http://schemas.microsoft.com/office/drawing/2014/main" id="{38E20397-2047-4AD7-85B9-31DCB7BDF981}"/>
              </a:ext>
            </a:extLst>
          </p:cNvPr>
          <p:cNvPicPr>
            <a:picLocks xmlns:a="http://schemas.openxmlformats.org/drawingml/2006/main" noChangeAspect="1"/>
          </p:cNvPicPr>
          <p:nvPr/>
        </p:nvPicPr>
        <p:blipFill>
          <a:blip xmlns:r="http://schemas.openxmlformats.org/officeDocument/2006/relationships" xmlns:a="http://schemas.openxmlformats.org/drawingml/2006/main" r:embed="R1fdb28254a9e456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B0BBF9-B8BA-4F17-99A9-3E1202A949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06/24</a:t>
            </a:r>
          </a:p>
        </p:txBody>
      </p:sp>
      <p:graphicFrame>
        <p:nvGraphicFramePr>
          <p:cNvPr id="4" name="">
            <a:extLst xmlns:a="http://schemas.openxmlformats.org/drawingml/2006/main">
              <a:ext uri="{FF2B5EF4-FFF2-40B4-BE49-F238E27FC236}">
                <a16:creationId xmlns:a16="http://schemas.microsoft.com/office/drawing/2014/main" id="{3EF70D2D-271B-4168-83AD-49F42CAB7CDA}"/>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Nombre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Papel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VBAT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Tensión del paquete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Máximo y polaridad</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5V regulado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Alimentación de una carga compatible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Tensión y corriente disponible</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3V3 / lógica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Alimentación o nivel según diseño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Manual de placa y periférico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GND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Referencia y retorno según circuito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Continuidad y topología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065553334"/>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2BE532-A26F-406E-833D-9CD7F7F65F8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 regulador del caso</a:t>
            </a:r>
          </a:p>
        </p:txBody>
      </p:sp>
      <p:pic>
        <p:nvPicPr>
          <p:cNvPr id="2" name="">
            <a:extLst xmlns:a="http://schemas.openxmlformats.org/drawingml/2006/main">
              <a:ext uri="{FF2B5EF4-FFF2-40B4-BE49-F238E27FC236}">
                <a16:creationId xmlns:a16="http://schemas.microsoft.com/office/drawing/2014/main" id="{564358D2-B3D4-4264-8C92-01C46BA5645B}"/>
              </a:ext>
            </a:extLst>
          </p:cNvPr>
          <p:cNvPicPr>
            <a:picLocks xmlns:a="http://schemas.openxmlformats.org/drawingml/2006/main" noChangeAspect="1"/>
          </p:cNvPicPr>
          <p:nvPr/>
        </p:nvPicPr>
        <p:blipFill>
          <a:blip xmlns:r="http://schemas.openxmlformats.org/officeDocument/2006/relationships" xmlns:a="http://schemas.openxmlformats.org/drawingml/2006/main" r:embed="R522fb9a0b3d64b0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C85509-2806-45C8-8D26-2BC0BDEFB74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07/24</a:t>
            </a:r>
          </a:p>
        </p:txBody>
      </p:sp>
      <p:sp>
        <p:nvSpPr>
          <p:cNvPr id="4" name="">
            <a:extLst xmlns:a="http://schemas.openxmlformats.org/drawingml/2006/main">
              <a:ext uri="{FF2B5EF4-FFF2-40B4-BE49-F238E27FC236}">
                <a16:creationId xmlns:a16="http://schemas.microsoft.com/office/drawing/2014/main" id="{F7CBDABE-1CB4-4D94-89CB-0790016D33EA}"/>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Una salida de 5 V y 1 A alimentaría FC 0,9 A, receptor 0,4 A y otro periférico 0,2 A. ¿Basta que todos pidan 5 V?</a:t>
            </a:r>
          </a:p>
        </p:txBody>
      </p:sp>
      <p:sp>
        <p:nvSpPr>
          <p:cNvPr id="5" name="">
            <a:extLst xmlns:a="http://schemas.openxmlformats.org/drawingml/2006/main">
              <a:ext uri="{FF2B5EF4-FFF2-40B4-BE49-F238E27FC236}">
                <a16:creationId xmlns:a16="http://schemas.microsoft.com/office/drawing/2014/main" id="{CCFB7677-67FB-405B-A346-FE4769CB6241}"/>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La suma del caso es 1,5 A, superior al límite indicado de 1 A. Se revisa distribución y capacidad con condiciones reales. Son consumos hipotéticos de aula, no valores asignados a equipos MECRO.</a:t>
            </a:r>
          </a:p>
        </p:txBody>
      </p:sp>
    </p:spTree>
    <p:extLst>
      <p:ext uri="{BB962C8B-B14F-4D97-AF65-F5344CB8AC3E}">
        <p14:creationId xmlns:p14="http://schemas.microsoft.com/office/powerpoint/2010/main" val="1266874380"/>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C087C6-4411-465F-A5C5-7BD6B2CC5F0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Corriente, pérdidas y calidad de la unión</a:t>
            </a:r>
          </a:p>
        </p:txBody>
      </p:sp>
      <p:pic>
        <p:nvPicPr>
          <p:cNvPr id="2" name="">
            <a:extLst xmlns:a="http://schemas.openxmlformats.org/drawingml/2006/main">
              <a:ext uri="{FF2B5EF4-FFF2-40B4-BE49-F238E27FC236}">
                <a16:creationId xmlns:a16="http://schemas.microsoft.com/office/drawing/2014/main" id="{31D7F58F-BFFE-457F-8BF9-893EB1907DEE}"/>
              </a:ext>
            </a:extLst>
          </p:cNvPr>
          <p:cNvPicPr>
            <a:picLocks xmlns:a="http://schemas.openxmlformats.org/drawingml/2006/main" noChangeAspect="1"/>
          </p:cNvPicPr>
          <p:nvPr/>
        </p:nvPicPr>
        <p:blipFill>
          <a:blip xmlns:r="http://schemas.openxmlformats.org/officeDocument/2006/relationships" xmlns:a="http://schemas.openxmlformats.org/drawingml/2006/main" r:embed="R98831b27b43047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05653D-6A58-49E6-9228-6951BA4FE4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08/24</a:t>
            </a:r>
          </a:p>
        </p:txBody>
      </p:sp>
      <p:sp>
        <p:nvSpPr>
          <p:cNvPr id="4" name="">
            <a:extLst xmlns:a="http://schemas.openxmlformats.org/drawingml/2006/main">
              <a:ext uri="{FF2B5EF4-FFF2-40B4-BE49-F238E27FC236}">
                <a16:creationId xmlns:a16="http://schemas.microsoft.com/office/drawing/2014/main" id="{8C8E4A73-6213-4A06-B13E-C1B8CB5A3EB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soldadura necesita mojado adecuado de las superficies y continuidad eléctrica, con sujeción mecánica del conductor. El brillo por sí solo no decide la calidad para todas las aleaciones. El docente muestra limpieza, aporte de flux apropiado, estañado, unión y revisión sobre una muestra de práctica antes de trabajar sobre la FC. La temperatura se elige según herramienta, aleación, tamaño de unión y recomendación del fabricante; no se presenta una cifra universal.</a:t>
            </a:r>
          </a:p>
        </p:txBody>
      </p:sp>
    </p:spTree>
    <p:extLst>
      <p:ext uri="{BB962C8B-B14F-4D97-AF65-F5344CB8AC3E}">
        <p14:creationId xmlns:p14="http://schemas.microsoft.com/office/powerpoint/2010/main" val="2098725137"/>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E6FC1B-5D33-45CF-884F-C68E26AF960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6AD84875-2C06-4D3E-AECB-9E69C87FC22E}"/>
              </a:ext>
            </a:extLst>
          </p:cNvPr>
          <p:cNvPicPr>
            <a:picLocks xmlns:a="http://schemas.openxmlformats.org/drawingml/2006/main" noChangeAspect="1"/>
          </p:cNvPicPr>
          <p:nvPr/>
        </p:nvPicPr>
        <p:blipFill>
          <a:blip xmlns:r="http://schemas.openxmlformats.org/officeDocument/2006/relationships" xmlns:a="http://schemas.openxmlformats.org/drawingml/2006/main" r:embed="R99b531facb7a45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AFAA43E-45F5-4094-B65A-F00C30A6BF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09/24</a:t>
            </a:r>
          </a:p>
        </p:txBody>
      </p:sp>
      <p:sp>
        <p:nvSpPr>
          <p:cNvPr id="4" name="">
            <a:extLst xmlns:a="http://schemas.openxmlformats.org/drawingml/2006/main">
              <a:ext uri="{FF2B5EF4-FFF2-40B4-BE49-F238E27FC236}">
                <a16:creationId xmlns:a16="http://schemas.microsoft.com/office/drawing/2014/main" id="{1F9224A3-78B3-4A3A-96C1-D247D7004FD3}"/>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Con R = 0,015 ohm, ¿qué ocurre al pasar de 20 A a 40 A?</a:t>
            </a:r>
          </a:p>
        </p:txBody>
      </p:sp>
      <p:sp>
        <p:nvSpPr>
          <p:cNvPr id="5" name="">
            <a:extLst xmlns:a="http://schemas.openxmlformats.org/drawingml/2006/main">
              <a:ext uri="{FF2B5EF4-FFF2-40B4-BE49-F238E27FC236}">
                <a16:creationId xmlns:a16="http://schemas.microsoft.com/office/drawing/2014/main" id="{7FDDBF5B-04AD-44B6-AE20-59F140A64D9C}"/>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Después de soldar, se inspeccionan puentes, hilos sueltos, aislamiento y alivio de esfuerzo. El multímetro ayuda a investigar continuidad y polaridad. Una lectura que cambia mientras se cargan capacitores exige interpretación: no todo pitido inicial significa el mismo defecto. Se contrasta con el esquema y con el procedimiento del docente.</a:t>
            </a:r>
          </a:p>
        </p:txBody>
      </p:sp>
    </p:spTree>
    <p:extLst>
      <p:ext uri="{BB962C8B-B14F-4D97-AF65-F5344CB8AC3E}">
        <p14:creationId xmlns:p14="http://schemas.microsoft.com/office/powerpoint/2010/main" val="2054567320"/>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B68293-BB2D-4462-B044-35B3AE18FF9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misma unión disipa más al aumentar corriente</a:t>
            </a:r>
          </a:p>
        </p:txBody>
      </p:sp>
      <p:pic>
        <p:nvPicPr>
          <p:cNvPr id="2" name="">
            <a:extLst xmlns:a="http://schemas.openxmlformats.org/drawingml/2006/main">
              <a:ext uri="{FF2B5EF4-FFF2-40B4-BE49-F238E27FC236}">
                <a16:creationId xmlns:a16="http://schemas.microsoft.com/office/drawing/2014/main" id="{F00B99FB-D9BA-4C4D-A4BC-B2CEBD0618B2}"/>
              </a:ext>
            </a:extLst>
          </p:cNvPr>
          <p:cNvPicPr>
            <a:picLocks xmlns:a="http://schemas.openxmlformats.org/drawingml/2006/main" noChangeAspect="1"/>
          </p:cNvPicPr>
          <p:nvPr/>
        </p:nvPicPr>
        <p:blipFill>
          <a:blip xmlns:r="http://schemas.openxmlformats.org/officeDocument/2006/relationships" xmlns:a="http://schemas.openxmlformats.org/drawingml/2006/main" r:embed="R36a9478a55dc42b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AB54F5-2DAA-4315-905B-760AB779AE5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10/24</a:t>
            </a:r>
          </a:p>
        </p:txBody>
      </p:sp>
      <p:graphicFrame>
        <p:nvGraphicFramePr>
          <p:cNvPr id="4" name="Chart">
            <a:extLst xmlns:a="http://schemas.openxmlformats.org/drawingml/2006/main">
              <a:ext uri="{FF2B5EF4-FFF2-40B4-BE49-F238E27FC236}">
                <a16:creationId xmlns:a16="http://schemas.microsoft.com/office/drawing/2014/main" id="{857F6821-D187-4B00-A73A-9539685F380D}"/>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b38ac238943c417f"/>
          </a:graphicData>
        </a:graphic>
      </p:graphicFrame>
      <p:sp>
        <p:nvSpPr>
          <p:cNvPr id="5" name="">
            <a:extLst xmlns:a="http://schemas.openxmlformats.org/drawingml/2006/main">
              <a:ext uri="{FF2B5EF4-FFF2-40B4-BE49-F238E27FC236}">
                <a16:creationId xmlns:a16="http://schemas.microsoft.com/office/drawing/2014/main" id="{4D2D9CF0-1878-4B9B-8032-1B8FB5304821}"/>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Caso calculado con resistencia constante de 0,015 ohm. No asigna un límite térmico a un conector real.</a:t>
            </a:r>
          </a:p>
        </p:txBody>
      </p:sp>
    </p:spTree>
    <p:extLst>
      <p:ext uri="{BB962C8B-B14F-4D97-AF65-F5344CB8AC3E}">
        <p14:creationId xmlns:p14="http://schemas.microsoft.com/office/powerpoint/2010/main" val="891052132"/>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946B5E-D4B6-4575-8F22-A1F64B17C74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Montaje mecánico y orden de trabajo</a:t>
            </a:r>
          </a:p>
        </p:txBody>
      </p:sp>
      <p:pic>
        <p:nvPicPr>
          <p:cNvPr id="2" name="">
            <a:extLst xmlns:a="http://schemas.openxmlformats.org/drawingml/2006/main">
              <a:ext uri="{FF2B5EF4-FFF2-40B4-BE49-F238E27FC236}">
                <a16:creationId xmlns:a16="http://schemas.microsoft.com/office/drawing/2014/main" id="{0CFE71E8-63CA-43B6-A4C9-B9266A31C444}"/>
              </a:ext>
            </a:extLst>
          </p:cNvPr>
          <p:cNvPicPr>
            <a:picLocks xmlns:a="http://schemas.openxmlformats.org/drawingml/2006/main" noChangeAspect="1"/>
          </p:cNvPicPr>
          <p:nvPr/>
        </p:nvPicPr>
        <p:blipFill>
          <a:blip xmlns:r="http://schemas.openxmlformats.org/officeDocument/2006/relationships" xmlns:a="http://schemas.openxmlformats.org/drawingml/2006/main" r:embed="Rd2bfc6e699e6456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AD4E24E-630E-447E-AE40-CFBEC505C02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11/24</a:t>
            </a:r>
          </a:p>
        </p:txBody>
      </p:sp>
      <p:sp>
        <p:nvSpPr>
          <p:cNvPr id="4" name="">
            <a:extLst xmlns:a="http://schemas.openxmlformats.org/drawingml/2006/main">
              <a:ext uri="{FF2B5EF4-FFF2-40B4-BE49-F238E27FC236}">
                <a16:creationId xmlns:a16="http://schemas.microsoft.com/office/drawing/2014/main" id="{B4B23583-F055-477F-A66B-C0CB76F4453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Se presenta el conjunto antes de cerrar el bastidor. El acceso al USB, a una fijación o a un conector puede desaparecer después de montar una placa encima. La distribución de masas y el soporte de batería también deben quedar definidos. No se recomienda aplicar fijador de roscas a cualquier plástico o material: se consulta compatibilidad y método del fabricante.</a:t>
            </a:r>
          </a:p>
        </p:txBody>
      </p:sp>
    </p:spTree>
    <p:extLst>
      <p:ext uri="{BB962C8B-B14F-4D97-AF65-F5344CB8AC3E}">
        <p14:creationId xmlns:p14="http://schemas.microsoft.com/office/powerpoint/2010/main" val="181497739"/>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8BA09D-1058-4598-A89F-53DB731B767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Montaje que afecta a la electrónica</a:t>
            </a:r>
          </a:p>
        </p:txBody>
      </p:sp>
      <p:pic>
        <p:nvPicPr>
          <p:cNvPr id="2" name="">
            <a:extLst xmlns:a="http://schemas.openxmlformats.org/drawingml/2006/main">
              <a:ext uri="{FF2B5EF4-FFF2-40B4-BE49-F238E27FC236}">
                <a16:creationId xmlns:a16="http://schemas.microsoft.com/office/drawing/2014/main" id="{752A17EE-DEEF-460E-AC75-417A612F34B7}"/>
              </a:ext>
            </a:extLst>
          </p:cNvPr>
          <p:cNvPicPr>
            <a:picLocks xmlns:a="http://schemas.openxmlformats.org/drawingml/2006/main" noChangeAspect="1"/>
          </p:cNvPicPr>
          <p:nvPr/>
        </p:nvPicPr>
        <p:blipFill>
          <a:blip xmlns:r="http://schemas.openxmlformats.org/officeDocument/2006/relationships" xmlns:a="http://schemas.openxmlformats.org/drawingml/2006/main" r:embed="R6404aa8fdb2449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451F41D-170D-4EC8-95CA-15B55DA110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12/24</a:t>
            </a:r>
          </a:p>
        </p:txBody>
      </p:sp>
      <p:graphicFrame>
        <p:nvGraphicFramePr>
          <p:cNvPr id="4" name="">
            <a:extLst xmlns:a="http://schemas.openxmlformats.org/drawingml/2006/main">
              <a:ext uri="{FF2B5EF4-FFF2-40B4-BE49-F238E27FC236}">
                <a16:creationId xmlns:a16="http://schemas.microsoft.com/office/drawing/2014/main" id="{B28B6F57-87CC-4C6F-9E93-2E2B1AD02BEB}"/>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Revisión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Motivo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Longitud de tornillo de 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Evitar interferir con el interior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Cota y presentación en seco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Flecha y posición de FC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Interpretar ejes del sensor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Foto y configuración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Sujeción y aislamiento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Evitar contactos y esfuerzos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Inspección visible</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Cableado y partes móviles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Conservar separación y servicio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Recorrido identificado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932178840"/>
      </p:ext>
    </p:extLst>
  </p:cSld>
</p:sld>
</file>

<file path=ppt/slides/slide1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64F4F8-BAF3-440E-84E5-B266D2B48D5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placa no cabe después</a:t>
            </a:r>
          </a:p>
        </p:txBody>
      </p:sp>
      <p:pic>
        <p:nvPicPr>
          <p:cNvPr id="2" name="">
            <a:extLst xmlns:a="http://schemas.openxmlformats.org/drawingml/2006/main">
              <a:ext uri="{FF2B5EF4-FFF2-40B4-BE49-F238E27FC236}">
                <a16:creationId xmlns:a16="http://schemas.microsoft.com/office/drawing/2014/main" id="{EB99F8AD-D3BD-4DCA-AE4C-2D58334E707E}"/>
              </a:ext>
            </a:extLst>
          </p:cNvPr>
          <p:cNvPicPr>
            <a:picLocks xmlns:a="http://schemas.openxmlformats.org/drawingml/2006/main" noChangeAspect="1"/>
          </p:cNvPicPr>
          <p:nvPr/>
        </p:nvPicPr>
        <p:blipFill>
          <a:blip xmlns:r="http://schemas.openxmlformats.org/officeDocument/2006/relationships" xmlns:a="http://schemas.openxmlformats.org/drawingml/2006/main" r:embed="Rd3cbc0e1905649c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15B52D-A882-4502-B385-B1DC2BFB865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13/24</a:t>
            </a:r>
          </a:p>
        </p:txBody>
      </p:sp>
      <p:sp>
        <p:nvSpPr>
          <p:cNvPr id="4" name="">
            <a:extLst xmlns:a="http://schemas.openxmlformats.org/drawingml/2006/main">
              <a:ext uri="{FF2B5EF4-FFF2-40B4-BE49-F238E27FC236}">
                <a16:creationId xmlns:a16="http://schemas.microsoft.com/office/drawing/2014/main" id="{9B5DCCD1-55F3-48C1-8E05-4DD81CB54966}"/>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USB queda cubierto al cerrar la tapa. ¿Es un problema de configuración?</a:t>
            </a:r>
          </a:p>
        </p:txBody>
      </p:sp>
      <p:sp>
        <p:nvSpPr>
          <p:cNvPr id="5" name="">
            <a:extLst xmlns:a="http://schemas.openxmlformats.org/drawingml/2006/main">
              <a:ext uri="{FF2B5EF4-FFF2-40B4-BE49-F238E27FC236}">
                <a16:creationId xmlns:a16="http://schemas.microsoft.com/office/drawing/2014/main" id="{1FCAED14-F7CB-4167-B18D-F8683A31C5B2}"/>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Es una decisión de integración y acceso. Se descubre en la presentación mecánica y se corrige antes del cableado definitivo.</a:t>
            </a:r>
          </a:p>
        </p:txBody>
      </p:sp>
    </p:spTree>
    <p:extLst>
      <p:ext uri="{BB962C8B-B14F-4D97-AF65-F5344CB8AC3E}">
        <p14:creationId xmlns:p14="http://schemas.microsoft.com/office/powerpoint/2010/main" val="127505660"/>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728CDE-5DAA-428D-8BD6-50591209755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esquema y primera alimentación</a:t>
            </a:r>
          </a:p>
        </p:txBody>
      </p:sp>
      <p:pic>
        <p:nvPicPr>
          <p:cNvPr id="2" name="">
            <a:extLst xmlns:a="http://schemas.openxmlformats.org/drawingml/2006/main">
              <a:ext uri="{FF2B5EF4-FFF2-40B4-BE49-F238E27FC236}">
                <a16:creationId xmlns:a16="http://schemas.microsoft.com/office/drawing/2014/main" id="{6873A5C8-4653-4B87-A4A2-CB37C6CA372A}"/>
              </a:ext>
            </a:extLst>
          </p:cNvPr>
          <p:cNvPicPr>
            <a:picLocks xmlns:a="http://schemas.openxmlformats.org/drawingml/2006/main" noChangeAspect="1"/>
          </p:cNvPicPr>
          <p:nvPr/>
        </p:nvPicPr>
        <p:blipFill>
          <a:blip xmlns:r="http://schemas.openxmlformats.org/officeDocument/2006/relationships" xmlns:a="http://schemas.openxmlformats.org/drawingml/2006/main" r:embed="Rf3a1297def5a480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FC0793D-7015-44DD-A1A8-84FDD067ACA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14/24</a:t>
            </a:r>
          </a:p>
        </p:txBody>
      </p:sp>
      <p:sp>
        <p:nvSpPr>
          <p:cNvPr id="4" name="">
            <a:extLst xmlns:a="http://schemas.openxmlformats.org/drawingml/2006/main">
              <a:ext uri="{FF2B5EF4-FFF2-40B4-BE49-F238E27FC236}">
                <a16:creationId xmlns:a16="http://schemas.microsoft.com/office/drawing/2014/main" id="{B5B9061E-0463-4422-9073-1345A7E3C9E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la sesión virtual se resuelve el mapa y se observa la demostración. El montaje físico se concentra en la sesión 7. Se reserva una muestra con una unión correcta y otra defectuosa, ambas sin alimentación, para que el grupo explique diferencias observables. No se pide fabricar una avería en un dron del curso.</a:t>
            </a:r>
          </a:p>
        </p:txBody>
      </p:sp>
    </p:spTree>
    <p:extLst>
      <p:ext uri="{BB962C8B-B14F-4D97-AF65-F5344CB8AC3E}">
        <p14:creationId xmlns:p14="http://schemas.microsoft.com/office/powerpoint/2010/main" val="1196888423"/>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51A3E1-B8BF-4FA5-9F26-CF52ED30CD4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BB37D235-F288-4367-9DA8-0E197C5A1044}"/>
              </a:ext>
            </a:extLst>
          </p:cNvPr>
          <p:cNvPicPr>
            <a:picLocks xmlns:a="http://schemas.openxmlformats.org/drawingml/2006/main" noChangeAspect="1"/>
          </p:cNvPicPr>
          <p:nvPr/>
        </p:nvPicPr>
        <p:blipFill>
          <a:blip xmlns:r="http://schemas.openxmlformats.org/officeDocument/2006/relationships" xmlns:a="http://schemas.openxmlformats.org/drawingml/2006/main" r:embed="R53aabe16e7db49b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157F16-4A46-4BDD-B780-73118783EB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15/24</a:t>
            </a:r>
          </a:p>
        </p:txBody>
      </p:sp>
      <p:sp>
        <p:nvSpPr>
          <p:cNvPr id="4" name="">
            <a:extLst xmlns:a="http://schemas.openxmlformats.org/drawingml/2006/main">
              <a:ext uri="{FF2B5EF4-FFF2-40B4-BE49-F238E27FC236}">
                <a16:creationId xmlns:a16="http://schemas.microsoft.com/office/drawing/2014/main" id="{91E18722-0A3E-481A-8874-F91CDF10DEB6}"/>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¿6S LiPo convencional se comprueba solo a 22,2 V?</a:t>
            </a:r>
          </a:p>
        </p:txBody>
      </p:sp>
      <p:sp>
        <p:nvSpPr>
          <p:cNvPr id="5" name="">
            <a:extLst xmlns:a="http://schemas.openxmlformats.org/drawingml/2006/main">
              <a:ext uri="{FF2B5EF4-FFF2-40B4-BE49-F238E27FC236}">
                <a16:creationId xmlns:a16="http://schemas.microsoft.com/office/drawing/2014/main" id="{94BA89A3-BB89-4E4C-A5D0-B72A49C0F7A2}"/>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evidencia es un esquema legible con tensiones y señales, y una lista de comprobaciones en el orden previsto. Un plano puede ser sencillo y seguir siendo riguroso si identifica cada extremo. Las referencias exactas de la placa se completan con el equipo que muestre Gerard.</a:t>
            </a:r>
          </a:p>
        </p:txBody>
      </p:sp>
    </p:spTree>
    <p:extLst>
      <p:ext uri="{BB962C8B-B14F-4D97-AF65-F5344CB8AC3E}">
        <p14:creationId xmlns:p14="http://schemas.microsoft.com/office/powerpoint/2010/main" val="1006208245"/>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C098BC-2F11-4D97-9B66-E926696FA48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esquema y primera alimentación</a:t>
            </a:r>
          </a:p>
        </p:txBody>
      </p:sp>
      <p:pic>
        <p:nvPicPr>
          <p:cNvPr id="2" name="">
            <a:extLst xmlns:a="http://schemas.openxmlformats.org/drawingml/2006/main">
              <a:ext uri="{FF2B5EF4-FFF2-40B4-BE49-F238E27FC236}">
                <a16:creationId xmlns:a16="http://schemas.microsoft.com/office/drawing/2014/main" id="{E5F7201E-F711-49EC-89B2-AFC1F8D74774}"/>
              </a:ext>
            </a:extLst>
          </p:cNvPr>
          <p:cNvPicPr>
            <a:picLocks xmlns:a="http://schemas.openxmlformats.org/drawingml/2006/main" noChangeAspect="1"/>
          </p:cNvPicPr>
          <p:nvPr/>
        </p:nvPicPr>
        <p:blipFill>
          <a:blip xmlns:r="http://schemas.openxmlformats.org/officeDocument/2006/relationships" xmlns:a="http://schemas.openxmlformats.org/drawingml/2006/main" r:embed="R98a00c0a49834d6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218941-176B-418F-94B7-C588E4DBCC0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16/24</a:t>
            </a:r>
          </a:p>
        </p:txBody>
      </p:sp>
      <p:sp>
        <p:nvSpPr>
          <p:cNvPr id="4" name="">
            <a:extLst xmlns:a="http://schemas.openxmlformats.org/drawingml/2006/main">
              <a:ext uri="{FF2B5EF4-FFF2-40B4-BE49-F238E27FC236}">
                <a16:creationId xmlns:a16="http://schemas.microsoft.com/office/drawing/2014/main" id="{A8CDD3A8-61A6-49B3-9716-46A1BECF99C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positivo, retorno, líneas reguladas y entradas de señal en los manuales del banco.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Dibuja una tabla origen–destino por contacto. Marca el modelo y revisión del arnés.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Calcula el máximo del paquete del ejercicio y contrasta cada entrada.</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Explica el caso de regulador y la pérdida de la unión con unidades.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Prepara una secuencia de ensamblaje que deje accesibles las comprobaciones.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Con el docente, observa inspección sin energía y medida de tensión antes de conectar una carga sensible.</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Registra el resultado esperado de la primera alimentación y qué síntoma obligaría a detener esa prueba.</a:t>
            </a:r>
          </a:p>
        </p:txBody>
      </p:sp>
    </p:spTree>
    <p:extLst>
      <p:ext uri="{BB962C8B-B14F-4D97-AF65-F5344CB8AC3E}">
        <p14:creationId xmlns:p14="http://schemas.microsoft.com/office/powerpoint/2010/main" val="610149330"/>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BD163EA-EB0E-4BB2-92FD-611E5EC8DF5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Del esquema a una revisión útil</a:t>
            </a:r>
          </a:p>
        </p:txBody>
      </p:sp>
      <p:pic>
        <p:nvPicPr>
          <p:cNvPr id="2" name="">
            <a:extLst xmlns:a="http://schemas.openxmlformats.org/drawingml/2006/main">
              <a:ext uri="{FF2B5EF4-FFF2-40B4-BE49-F238E27FC236}">
                <a16:creationId xmlns:a16="http://schemas.microsoft.com/office/drawing/2014/main" id="{D557AEE5-B4AE-44CD-8839-D9E31C7C3333}"/>
              </a:ext>
            </a:extLst>
          </p:cNvPr>
          <p:cNvPicPr>
            <a:picLocks xmlns:a="http://schemas.openxmlformats.org/drawingml/2006/main" noChangeAspect="1"/>
          </p:cNvPicPr>
          <p:nvPr/>
        </p:nvPicPr>
        <p:blipFill>
          <a:blip xmlns:r="http://schemas.openxmlformats.org/officeDocument/2006/relationships" xmlns:a="http://schemas.openxmlformats.org/drawingml/2006/main" r:embed="R9f9c5d3f102a41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0E4613-3CC9-4DC3-ACA3-CC1476FFFBF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17/24</a:t>
            </a:r>
          </a:p>
        </p:txBody>
      </p:sp>
      <p:sp>
        <p:nvSpPr>
          <p:cNvPr id="4" name="">
            <a:extLst xmlns:a="http://schemas.openxmlformats.org/drawingml/2006/main">
              <a:ext uri="{FF2B5EF4-FFF2-40B4-BE49-F238E27FC236}">
                <a16:creationId xmlns:a16="http://schemas.microsoft.com/office/drawing/2014/main" id="{B8395770-CD04-466C-94A3-684D02799C2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esquema funcional se convierte en una herramienta de diagnóstico cuando permite formular una expectativa. “Aquí debe aparecer la tensión regulada especificada respecto a este GND” es comprobable. “La FC no prende” es un síntoma que puede tener varias causas. El alumno aprende a recorrer alimentación, conexión USB, indicadores y documentación sin cambiar simultáneamente varias piezas.</a:t>
            </a:r>
          </a:p>
        </p:txBody>
      </p:sp>
    </p:spTree>
    <p:extLst>
      <p:ext uri="{BB962C8B-B14F-4D97-AF65-F5344CB8AC3E}">
        <p14:creationId xmlns:p14="http://schemas.microsoft.com/office/powerpoint/2010/main" val="1720038020"/>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C46853-5300-4521-A6EA-9727974497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Síntoma y primera investigación</a:t>
            </a:r>
          </a:p>
        </p:txBody>
      </p:sp>
      <p:pic>
        <p:nvPicPr>
          <p:cNvPr id="2" name="">
            <a:extLst xmlns:a="http://schemas.openxmlformats.org/drawingml/2006/main">
              <a:ext uri="{FF2B5EF4-FFF2-40B4-BE49-F238E27FC236}">
                <a16:creationId xmlns:a16="http://schemas.microsoft.com/office/drawing/2014/main" id="{D74CA665-5C46-4A8B-B6E9-9F6B8B7DA8FE}"/>
              </a:ext>
            </a:extLst>
          </p:cNvPr>
          <p:cNvPicPr>
            <a:picLocks xmlns:a="http://schemas.openxmlformats.org/drawingml/2006/main" noChangeAspect="1"/>
          </p:cNvPicPr>
          <p:nvPr/>
        </p:nvPicPr>
        <p:blipFill>
          <a:blip xmlns:r="http://schemas.openxmlformats.org/officeDocument/2006/relationships" xmlns:a="http://schemas.openxmlformats.org/drawingml/2006/main" r:embed="R56957741054748e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E9A1F4-78BD-4981-93A0-3975A66B277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18/24</a:t>
            </a:r>
          </a:p>
        </p:txBody>
      </p:sp>
      <p:graphicFrame>
        <p:nvGraphicFramePr>
          <p:cNvPr id="4" name="">
            <a:extLst xmlns:a="http://schemas.openxmlformats.org/drawingml/2006/main">
              <a:ext uri="{FF2B5EF4-FFF2-40B4-BE49-F238E27FC236}">
                <a16:creationId xmlns:a16="http://schemas.microsoft.com/office/drawing/2014/main" id="{1295DA20-D9B9-4410-A4B1-4BBD06616D3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Síntoma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Primera comprobación razonada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USB conecta, batería no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Ruta de alimentación y regulación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Reinicio al actuar periférico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Caída de tensión y carga compartida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Motor no responde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Energía del ESC, señal y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Conector encaja pero no hay dato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Pinout, nivel y protocolo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116010104"/>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65C5ED-B67C-4835-9D44-EEBF9252EC4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Del esquema a una revisión útil</a:t>
            </a:r>
          </a:p>
        </p:txBody>
      </p:sp>
      <p:pic>
        <p:nvPicPr>
          <p:cNvPr id="2" name="">
            <a:extLst xmlns:a="http://schemas.openxmlformats.org/drawingml/2006/main">
              <a:ext uri="{FF2B5EF4-FFF2-40B4-BE49-F238E27FC236}">
                <a16:creationId xmlns:a16="http://schemas.microsoft.com/office/drawing/2014/main" id="{C9A1B1B8-9473-4053-B94B-09A313DCB9A5}"/>
              </a:ext>
            </a:extLst>
          </p:cNvPr>
          <p:cNvPicPr>
            <a:picLocks xmlns:a="http://schemas.openxmlformats.org/drawingml/2006/main" noChangeAspect="1"/>
          </p:cNvPicPr>
          <p:nvPr/>
        </p:nvPicPr>
        <p:blipFill>
          <a:blip xmlns:r="http://schemas.openxmlformats.org/officeDocument/2006/relationships" xmlns:a="http://schemas.openxmlformats.org/drawingml/2006/main" r:embed="R81bb95e275914b3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8BAB36-343A-4232-BA43-7A7FCA9B0C3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19/24</a:t>
            </a:r>
          </a:p>
        </p:txBody>
      </p:sp>
      <p:sp>
        <p:nvSpPr>
          <p:cNvPr id="4" name="">
            <a:extLst xmlns:a="http://schemas.openxmlformats.org/drawingml/2006/main">
              <a:ext uri="{FF2B5EF4-FFF2-40B4-BE49-F238E27FC236}">
                <a16:creationId xmlns:a16="http://schemas.microsoft.com/office/drawing/2014/main" id="{43B93C03-335F-47F6-BBA8-0AC0DFB64DC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Como investigación, compara un ESC 4 en 1 con cuatro ESC individuales. Señala qué cambia en distribución, servicio y cableado; qué permanece igual en la función de mando y potencia. La siguiente clase estudia los protocolos que viajan por esas conexiones. El propósito es construir un conjunto revisable, no ocultar todos los cables para que parezca terminado.</a:t>
            </a:r>
          </a:p>
        </p:txBody>
      </p:sp>
    </p:spTree>
    <p:extLst>
      <p:ext uri="{BB962C8B-B14F-4D97-AF65-F5344CB8AC3E}">
        <p14:creationId xmlns:p14="http://schemas.microsoft.com/office/powerpoint/2010/main" val="289595411"/>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0CF49F-7CDF-4D6D-8DEC-3EBB18A76C2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36AE96E6-56A1-4D12-98B4-F9C45D5A3BE1}"/>
              </a:ext>
            </a:extLst>
          </p:cNvPr>
          <p:cNvPicPr>
            <a:picLocks xmlns:a="http://schemas.openxmlformats.org/drawingml/2006/main" noChangeAspect="1"/>
          </p:cNvPicPr>
          <p:nvPr/>
        </p:nvPicPr>
        <p:blipFill>
          <a:blip xmlns:r="http://schemas.openxmlformats.org/officeDocument/2006/relationships" xmlns:a="http://schemas.openxmlformats.org/drawingml/2006/main" r:embed="R2b9cd03bc5e5496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A6DFAF-C315-42FA-85C8-7F7D3EFC2A4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20/24</a:t>
            </a:r>
          </a:p>
        </p:txBody>
      </p:sp>
      <p:sp>
        <p:nvSpPr>
          <p:cNvPr id="4" name="">
            <a:extLst xmlns:a="http://schemas.openxmlformats.org/drawingml/2006/main">
              <a:ext uri="{FF2B5EF4-FFF2-40B4-BE49-F238E27FC236}">
                <a16:creationId xmlns:a16="http://schemas.microsoft.com/office/drawing/2014/main" id="{161AD04B-7B25-424B-A99E-FC510AE55DE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alimentación y señal en los dos tipos de controladora.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las tensiones máximas y la sobrecarga de regulador del caso.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Presentar muestras de unión y una secuencia de montaje.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Revisar un esquema origen–destino antes de la práctica presencial.</a:t>
            </a:r>
          </a:p>
        </p:txBody>
      </p:sp>
    </p:spTree>
    <p:extLst>
      <p:ext uri="{BB962C8B-B14F-4D97-AF65-F5344CB8AC3E}">
        <p14:creationId xmlns:p14="http://schemas.microsoft.com/office/powerpoint/2010/main" val="1634465051"/>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F1ACB9-54F2-406C-B2B5-5E18B614C07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AD99E15F-86DD-4A4D-A34E-F6F0AE9B144C}"/>
              </a:ext>
            </a:extLst>
          </p:cNvPr>
          <p:cNvPicPr>
            <a:picLocks xmlns:a="http://schemas.openxmlformats.org/drawingml/2006/main" noChangeAspect="1"/>
          </p:cNvPicPr>
          <p:nvPr/>
        </p:nvPicPr>
        <p:blipFill>
          <a:blip xmlns:r="http://schemas.openxmlformats.org/officeDocument/2006/relationships" xmlns:a="http://schemas.openxmlformats.org/drawingml/2006/main" r:embed="R0f5e8e482896441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AD4A80-A385-4A2E-B832-0E72F7BC987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21/24</a:t>
            </a:r>
          </a:p>
        </p:txBody>
      </p:sp>
      <p:sp>
        <p:nvSpPr>
          <p:cNvPr id="4" name="">
            <a:extLst xmlns:a="http://schemas.openxmlformats.org/drawingml/2006/main">
              <a:ext uri="{FF2B5EF4-FFF2-40B4-BE49-F238E27FC236}">
                <a16:creationId xmlns:a16="http://schemas.microsoft.com/office/drawing/2014/main" id="{D356DAE1-DD85-4043-B325-7BB7F0A0B866}"/>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ensamblaje necesita distinguir potencia, regulación, señal y referencia, tanto en una FC compacta como en un autopiloto grande.</a:t>
            </a:r>
          </a:p>
        </p:txBody>
      </p:sp>
      <p:sp>
        <p:nvSpPr>
          <p:cNvPr id="5" name="">
            <a:extLst xmlns:a="http://schemas.openxmlformats.org/drawingml/2006/main">
              <a:ext uri="{FF2B5EF4-FFF2-40B4-BE49-F238E27FC236}">
                <a16:creationId xmlns:a16="http://schemas.microsoft.com/office/drawing/2014/main" id="{7127DE67-694A-4506-816B-286ED4D0800F}"/>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1923976964"/>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86297C-FA69-4329-B7ED-B7AE3475410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9969FBA1-FB53-4FF0-A885-F860BBB266BA}"/>
              </a:ext>
            </a:extLst>
          </p:cNvPr>
          <p:cNvPicPr>
            <a:picLocks xmlns:a="http://schemas.openxmlformats.org/drawingml/2006/main" noChangeAspect="1"/>
          </p:cNvPicPr>
          <p:nvPr/>
        </p:nvPicPr>
        <p:blipFill>
          <a:blip xmlns:r="http://schemas.openxmlformats.org/officeDocument/2006/relationships" xmlns:a="http://schemas.openxmlformats.org/drawingml/2006/main" r:embed="R438a222511784c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1A24FE5-88CE-467D-B237-CD6DDC7D1E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22/24</a:t>
            </a:r>
          </a:p>
        </p:txBody>
      </p:sp>
      <p:sp>
        <p:nvSpPr>
          <p:cNvPr id="4" name="">
            <a:extLst xmlns:a="http://schemas.openxmlformats.org/drawingml/2006/main">
              <a:ext uri="{FF2B5EF4-FFF2-40B4-BE49-F238E27FC236}">
                <a16:creationId xmlns:a16="http://schemas.microsoft.com/office/drawing/2014/main" id="{EAF4078E-C7B4-47B4-9AE8-9078ED7B5CE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 conector que encaja demuestra compatibilidad?</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¿6S LiPo convencional se comprueba solo a 22,2 V?</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¿La pérdida resistiva crece linealmente con corriente?</a:t>
            </a:r>
          </a:p>
        </p:txBody>
      </p:sp>
    </p:spTree>
    <p:extLst>
      <p:ext uri="{BB962C8B-B14F-4D97-AF65-F5344CB8AC3E}">
        <p14:creationId xmlns:p14="http://schemas.microsoft.com/office/powerpoint/2010/main" val="593795936"/>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D4DECC-DE2A-4F63-A78A-3AD17AF532E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2EB2ED8F-9F8A-43E4-97C9-F558A8E919AC}"/>
              </a:ext>
            </a:extLst>
          </p:cNvPr>
          <p:cNvPicPr>
            <a:picLocks xmlns:a="http://schemas.openxmlformats.org/drawingml/2006/main" noChangeAspect="1"/>
          </p:cNvPicPr>
          <p:nvPr/>
        </p:nvPicPr>
        <p:blipFill>
          <a:blip xmlns:r="http://schemas.openxmlformats.org/officeDocument/2006/relationships" xmlns:a="http://schemas.openxmlformats.org/drawingml/2006/main" r:embed="R0cd4e96bd571411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780B17-7846-4BCB-91A2-0C0C7624D69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23/24</a:t>
            </a:r>
          </a:p>
        </p:txBody>
      </p:sp>
      <p:sp>
        <p:nvSpPr>
          <p:cNvPr id="4" name="">
            <a:extLst xmlns:a="http://schemas.openxmlformats.org/drawingml/2006/main">
              <a:ext uri="{FF2B5EF4-FFF2-40B4-BE49-F238E27FC236}">
                <a16:creationId xmlns:a16="http://schemas.microsoft.com/office/drawing/2014/main" id="{115CA2C3-CC4E-4799-81E4-C8D50ECB659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Solo demuestra un encaje físico; faltan pinout, tensión y función.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El máximo convencional de plena carga del caso es 25,2 V; se verifica la química real.</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Con R constante, crece con I². Duplicar corriente cuadruplica la pérdida.</a:t>
            </a:r>
          </a:p>
        </p:txBody>
      </p:sp>
    </p:spTree>
    <p:extLst>
      <p:ext uri="{BB962C8B-B14F-4D97-AF65-F5344CB8AC3E}">
        <p14:creationId xmlns:p14="http://schemas.microsoft.com/office/powerpoint/2010/main" val="1651730278"/>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6AD9CC-F947-490B-BAE1-8F4013AC38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6D64C797-EFCE-485B-9DB8-1B5807B6CFB1}"/>
              </a:ext>
            </a:extLst>
          </p:cNvPr>
          <p:cNvPicPr>
            <a:picLocks xmlns:a="http://schemas.openxmlformats.org/drawingml/2006/main" noChangeAspect="1"/>
          </p:cNvPicPr>
          <p:nvPr/>
        </p:nvPicPr>
        <p:blipFill>
          <a:blip xmlns:r="http://schemas.openxmlformats.org/officeDocument/2006/relationships" xmlns:a="http://schemas.openxmlformats.org/drawingml/2006/main" r:embed="R73cf52a4aba2486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CA9989-32BA-4DB7-81AE-5AA52A6433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24/24</a:t>
            </a:r>
          </a:p>
        </p:txBody>
      </p:sp>
      <p:sp>
        <p:nvSpPr>
          <p:cNvPr id="4" name="">
            <a:extLst xmlns:a="http://schemas.openxmlformats.org/drawingml/2006/main">
              <a:ext uri="{FF2B5EF4-FFF2-40B4-BE49-F238E27FC236}">
                <a16:creationId xmlns:a16="http://schemas.microsoft.com/office/drawing/2014/main" id="{FE68F668-EF3C-4C5B-915A-11E42F41A9C2}"/>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Mapa de alimentación, tabla de contactos y secuencia de montaje con comprobaciones.</a:t>
            </a:r>
          </a:p>
        </p:txBody>
      </p:sp>
      <p:sp>
        <p:nvSpPr>
          <p:cNvPr id="5" name="">
            <a:extLst xmlns:a="http://schemas.openxmlformats.org/drawingml/2006/main">
              <a:ext uri="{FF2B5EF4-FFF2-40B4-BE49-F238E27FC236}">
                <a16:creationId xmlns:a16="http://schemas.microsoft.com/office/drawing/2014/main" id="{3611F65F-A468-4DAC-8557-408D33DD5459}"/>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641645632"/>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A46123-7EE4-469A-8F68-E204B5D060B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Radio, telemetría, vídeo y protocolos de conexión</a:t>
            </a:r>
          </a:p>
        </p:txBody>
      </p:sp>
      <p:pic>
        <p:nvPicPr>
          <p:cNvPr id="2" name="">
            <a:extLst xmlns:a="http://schemas.openxmlformats.org/drawingml/2006/main">
              <a:ext uri="{FF2B5EF4-FFF2-40B4-BE49-F238E27FC236}">
                <a16:creationId xmlns:a16="http://schemas.microsoft.com/office/drawing/2014/main" id="{ABFE8A06-90B3-471C-9A41-0C48C8DC3A31}"/>
              </a:ext>
            </a:extLst>
          </p:cNvPr>
          <p:cNvPicPr>
            <a:picLocks xmlns:a="http://schemas.openxmlformats.org/drawingml/2006/main" noChangeAspect="1"/>
          </p:cNvPicPr>
          <p:nvPr/>
        </p:nvPicPr>
        <p:blipFill>
          <a:blip xmlns:r="http://schemas.openxmlformats.org/officeDocument/2006/relationships" xmlns:a="http://schemas.openxmlformats.org/drawingml/2006/main" r:embed="R51109ae71a454e9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046991-8AF1-40CE-9A28-BCDA4EFE067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01/24</a:t>
            </a:r>
          </a:p>
        </p:txBody>
      </p:sp>
      <p:sp>
        <p:nvSpPr>
          <p:cNvPr id="4" name="">
            <a:extLst xmlns:a="http://schemas.openxmlformats.org/drawingml/2006/main">
              <a:ext uri="{FF2B5EF4-FFF2-40B4-BE49-F238E27FC236}">
                <a16:creationId xmlns:a16="http://schemas.microsoft.com/office/drawing/2014/main" id="{DDEF629D-5D89-4327-A76A-38C397DCE4B8}"/>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Relacionar cada enlace con su función y asignar conexiones y puertos sin confundir radio con protocolo.</a:t>
            </a:r>
          </a:p>
        </p:txBody>
      </p:sp>
      <p:sp>
        <p:nvSpPr>
          <p:cNvPr id="5" name="">
            <a:extLst xmlns:a="http://schemas.openxmlformats.org/drawingml/2006/main">
              <a:ext uri="{FF2B5EF4-FFF2-40B4-BE49-F238E27FC236}">
                <a16:creationId xmlns:a16="http://schemas.microsoft.com/office/drawing/2014/main" id="{3F92DF1A-223E-4E49-8BB5-AD4C4B0F847F}"/>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constructor debe explicar por dónde llegan las órdenes y por dónde vuelven los datos del dron.</a:t>
            </a:r>
          </a:p>
        </p:txBody>
      </p:sp>
      <p:sp>
        <p:nvSpPr>
          <p:cNvPr id="6" name="">
            <a:extLst xmlns:a="http://schemas.openxmlformats.org/drawingml/2006/main">
              <a:ext uri="{FF2B5EF4-FFF2-40B4-BE49-F238E27FC236}">
                <a16:creationId xmlns:a16="http://schemas.microsoft.com/office/drawing/2014/main" id="{082303E3-AACE-47F7-95E0-1D6ECB49700A}"/>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918299107"/>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8F61A5-65AE-44AE-8500-2975FB7CC6C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cadenas que no significan lo mismo</a:t>
            </a:r>
          </a:p>
        </p:txBody>
      </p:sp>
      <p:pic>
        <p:nvPicPr>
          <p:cNvPr id="2" name="">
            <a:extLst xmlns:a="http://schemas.openxmlformats.org/drawingml/2006/main">
              <a:ext uri="{FF2B5EF4-FFF2-40B4-BE49-F238E27FC236}">
                <a16:creationId xmlns:a16="http://schemas.microsoft.com/office/drawing/2014/main" id="{F105561F-76B3-4864-8E05-0DECFE7C29D6}"/>
              </a:ext>
            </a:extLst>
          </p:cNvPr>
          <p:cNvPicPr>
            <a:picLocks xmlns:a="http://schemas.openxmlformats.org/drawingml/2006/main" noChangeAspect="1"/>
          </p:cNvPicPr>
          <p:nvPr/>
        </p:nvPicPr>
        <p:blipFill>
          <a:blip xmlns:r="http://schemas.openxmlformats.org/officeDocument/2006/relationships" xmlns:a="http://schemas.openxmlformats.org/drawingml/2006/main" r:embed="R01bdf86f14e6443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FD0647-9C5D-4AFD-9DD5-5EF582BD73A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02/24</a:t>
            </a:r>
          </a:p>
        </p:txBody>
      </p:sp>
      <p:sp>
        <p:nvSpPr>
          <p:cNvPr id="4" name="">
            <a:extLst xmlns:a="http://schemas.openxmlformats.org/drawingml/2006/main">
              <a:ext uri="{FF2B5EF4-FFF2-40B4-BE49-F238E27FC236}">
                <a16:creationId xmlns:a16="http://schemas.microsoft.com/office/drawing/2014/main" id="{82EC88B1-3828-4A81-91AB-42806D5D5AA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enlace de mando permite al piloto enviar órdenes. La telemetría devuelve estados o medidas. El vídeo transporta imágenes. Pueden compartir parte del equipo o funcionar por rutas distintas. Un receptor RC puede llevar telemetría hacia la radio del piloto, y un módem puede comunicar el autopiloto con Mission Planner. Antes de conectar, se define qué información necesita circular y quién la consume.</a:t>
            </a:r>
          </a:p>
        </p:txBody>
      </p:sp>
    </p:spTree>
    <p:extLst>
      <p:ext uri="{BB962C8B-B14F-4D97-AF65-F5344CB8AC3E}">
        <p14:creationId xmlns:p14="http://schemas.microsoft.com/office/powerpoint/2010/main" val="1460762248"/>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60ABCA-AAEC-43F1-9673-0384BBFF591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cadenas que no significan lo mismo</a:t>
            </a:r>
          </a:p>
        </p:txBody>
      </p:sp>
      <p:pic>
        <p:nvPicPr>
          <p:cNvPr id="2" name="">
            <a:extLst xmlns:a="http://schemas.openxmlformats.org/drawingml/2006/main">
              <a:ext uri="{FF2B5EF4-FFF2-40B4-BE49-F238E27FC236}">
                <a16:creationId xmlns:a16="http://schemas.microsoft.com/office/drawing/2014/main" id="{D5167435-FC43-4522-ABD2-A8DB337D28C7}"/>
              </a:ext>
            </a:extLst>
          </p:cNvPr>
          <p:cNvPicPr>
            <a:picLocks xmlns:a="http://schemas.openxmlformats.org/drawingml/2006/main" noChangeAspect="1"/>
          </p:cNvPicPr>
          <p:nvPr/>
        </p:nvPicPr>
        <p:blipFill>
          <a:blip xmlns:r="http://schemas.openxmlformats.org/officeDocument/2006/relationships" xmlns:a="http://schemas.openxmlformats.org/drawingml/2006/main" r:embed="Rb2b9b6802e804ff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9D9861-005A-426E-B26B-606A66A568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03/24</a:t>
            </a:r>
          </a:p>
        </p:txBody>
      </p:sp>
      <p:pic>
        <p:nvPicPr>
          <p:cNvPr id="4" name="">
            <a:extLst xmlns:a="http://schemas.openxmlformats.org/drawingml/2006/main">
              <a:ext uri="{FF2B5EF4-FFF2-40B4-BE49-F238E27FC236}">
                <a16:creationId xmlns:a16="http://schemas.microsoft.com/office/drawing/2014/main" id="{98C148FE-FB54-4589-934D-535E4C45EEE3}"/>
              </a:ext>
            </a:extLst>
          </p:cNvPr>
          <p:cNvPicPr>
            <a:picLocks xmlns:a="http://schemas.openxmlformats.org/drawingml/2006/main" noChangeAspect="1"/>
          </p:cNvPicPr>
          <p:nvPr/>
        </p:nvPicPr>
        <p:blipFill>
          <a:blip xmlns:r="http://schemas.openxmlformats.org/officeDocument/2006/relationships" xmlns:a="http://schemas.openxmlformats.org/drawingml/2006/main" r:embed="Rf32e825afab640c6"/>
          <a:stretch xmlns:a="http://schemas.openxmlformats.org/drawingml/2006/main"/>
        </p:blipFill>
        <p:spPr>
          <a:xfrm xmlns:a="http://schemas.openxmlformats.org/drawingml/2006/main">
            <a:off x="590550" y="2143632"/>
            <a:ext cx="7410450" cy="2989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586DAF-735B-46AA-BA3D-019574CF9D90}"/>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Distingue enlace de mando, telemetría y vídeo. ¿Qué dato transporta esta cadena?</a:t>
            </a:r>
          </a:p>
        </p:txBody>
      </p:sp>
      <p:sp>
        <p:nvSpPr>
          <p:cNvPr id="6" name="">
            <a:extLst xmlns:a="http://schemas.openxmlformats.org/drawingml/2006/main">
              <a:ext uri="{FF2B5EF4-FFF2-40B4-BE49-F238E27FC236}">
                <a16:creationId xmlns:a16="http://schemas.microsoft.com/office/drawing/2014/main" id="{2A8ED669-05BF-413F-96F8-794DC50ACD0F}"/>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Ejemplo documental de equipos de telemetría. La foto sirve para reconocer una cadena de datos; no identifica frecuencia ni modelo del banco MECRO.</a:t>
            </a:r>
          </a:p>
        </p:txBody>
      </p:sp>
    </p:spTree>
    <p:extLst>
      <p:ext uri="{BB962C8B-B14F-4D97-AF65-F5344CB8AC3E}">
        <p14:creationId xmlns:p14="http://schemas.microsoft.com/office/powerpoint/2010/main" val="1198723011"/>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24027E-6253-4469-9091-F25C92F4A18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Función antes que nombre comercial</a:t>
            </a:r>
          </a:p>
        </p:txBody>
      </p:sp>
      <p:pic>
        <p:nvPicPr>
          <p:cNvPr id="2" name="">
            <a:extLst xmlns:a="http://schemas.openxmlformats.org/drawingml/2006/main">
              <a:ext uri="{FF2B5EF4-FFF2-40B4-BE49-F238E27FC236}">
                <a16:creationId xmlns:a16="http://schemas.microsoft.com/office/drawing/2014/main" id="{98792287-5C7A-4DC2-A289-A1609ECA0972}"/>
              </a:ext>
            </a:extLst>
          </p:cNvPr>
          <p:cNvPicPr>
            <a:picLocks xmlns:a="http://schemas.openxmlformats.org/drawingml/2006/main" noChangeAspect="1"/>
          </p:cNvPicPr>
          <p:nvPr/>
        </p:nvPicPr>
        <p:blipFill>
          <a:blip xmlns:r="http://schemas.openxmlformats.org/officeDocument/2006/relationships" xmlns:a="http://schemas.openxmlformats.org/drawingml/2006/main" r:embed="R72fad347aec1408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725FB0-D1DF-4E84-AD8C-747334398BA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04/24</a:t>
            </a:r>
          </a:p>
        </p:txBody>
      </p:sp>
      <p:graphicFrame>
        <p:nvGraphicFramePr>
          <p:cNvPr id="4" name="">
            <a:extLst xmlns:a="http://schemas.openxmlformats.org/drawingml/2006/main">
              <a:ext uri="{FF2B5EF4-FFF2-40B4-BE49-F238E27FC236}">
                <a16:creationId xmlns:a16="http://schemas.microsoft.com/office/drawing/2014/main" id="{44063373-DF5F-419F-AF5C-BAE073A79A3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Cadena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Información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Prueba de aula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Mando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Canales y estado del enlace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Mover un control y observar su canal</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Telemetría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Batería, estado o posición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Reconocer una medida recibida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Vídeo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Imagen y, si existe, OSD</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Distinguir imagen de datos superpuestos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415144209"/>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2FD7E7-A3FD-4526-8C45-7F975106FF1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UART, CRSF, SBUS y MAVLink en su lugar</a:t>
            </a:r>
          </a:p>
        </p:txBody>
      </p:sp>
      <p:pic>
        <p:nvPicPr>
          <p:cNvPr id="2" name="">
            <a:extLst xmlns:a="http://schemas.openxmlformats.org/drawingml/2006/main">
              <a:ext uri="{FF2B5EF4-FFF2-40B4-BE49-F238E27FC236}">
                <a16:creationId xmlns:a16="http://schemas.microsoft.com/office/drawing/2014/main" id="{F7E57E99-09D7-4463-B7F9-7CE2DF783D68}"/>
              </a:ext>
            </a:extLst>
          </p:cNvPr>
          <p:cNvPicPr>
            <a:picLocks xmlns:a="http://schemas.openxmlformats.org/drawingml/2006/main" noChangeAspect="1"/>
          </p:cNvPicPr>
          <p:nvPr/>
        </p:nvPicPr>
        <p:blipFill>
          <a:blip xmlns:r="http://schemas.openxmlformats.org/officeDocument/2006/relationships" xmlns:a="http://schemas.openxmlformats.org/drawingml/2006/main" r:embed="R2f7b8c6afae8423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07A53C-9C6B-494D-A732-E1BA0C5BBA0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05/24</a:t>
            </a:r>
          </a:p>
        </p:txBody>
      </p:sp>
      <p:sp>
        <p:nvSpPr>
          <p:cNvPr id="4" name="">
            <a:extLst xmlns:a="http://schemas.openxmlformats.org/drawingml/2006/main">
              <a:ext uri="{FF2B5EF4-FFF2-40B4-BE49-F238E27FC236}">
                <a16:creationId xmlns:a16="http://schemas.microsoft.com/office/drawing/2014/main" id="{59BF31AE-E026-47C5-AE72-275752F525E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UART describe una interfaz serial usada por muchos periféricos. El protocolo y el nivel eléctrico determinan qué significa la información. En una conexión UART convencional, el transmisor de un equipo llega al receptor del otro y se revisa la referencia común; los puertos reales pueden tener particularidades. CRSF utiliza una interfaz serial para mando y telemetría en receptores compatibles. SBUS tiene requisitos de señal que no se resuelven seleccionando cualquier pad RX.</a:t>
            </a:r>
          </a:p>
        </p:txBody>
      </p:sp>
    </p:spTree>
    <p:extLst>
      <p:ext uri="{BB962C8B-B14F-4D97-AF65-F5344CB8AC3E}">
        <p14:creationId xmlns:p14="http://schemas.microsoft.com/office/powerpoint/2010/main" val="1114197818"/>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10AB25-8899-4548-8EFF-6B41FA32333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Capas que conviene separar</a:t>
            </a:r>
          </a:p>
        </p:txBody>
      </p:sp>
      <p:pic>
        <p:nvPicPr>
          <p:cNvPr id="2" name="">
            <a:extLst xmlns:a="http://schemas.openxmlformats.org/drawingml/2006/main">
              <a:ext uri="{FF2B5EF4-FFF2-40B4-BE49-F238E27FC236}">
                <a16:creationId xmlns:a16="http://schemas.microsoft.com/office/drawing/2014/main" id="{338F58B0-5957-46A9-9A4E-8ECCBFBE2307}"/>
              </a:ext>
            </a:extLst>
          </p:cNvPr>
          <p:cNvPicPr>
            <a:picLocks xmlns:a="http://schemas.openxmlformats.org/drawingml/2006/main" noChangeAspect="1"/>
          </p:cNvPicPr>
          <p:nvPr/>
        </p:nvPicPr>
        <p:blipFill>
          <a:blip xmlns:r="http://schemas.openxmlformats.org/officeDocument/2006/relationships" xmlns:a="http://schemas.openxmlformats.org/drawingml/2006/main" r:embed="Raa772cc732994f5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001268-8D53-450C-9BD4-28446AB964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06/24</a:t>
            </a:r>
          </a:p>
        </p:txBody>
      </p:sp>
      <p:graphicFrame>
        <p:nvGraphicFramePr>
          <p:cNvPr id="4" name="">
            <a:extLst xmlns:a="http://schemas.openxmlformats.org/drawingml/2006/main">
              <a:ext uri="{FF2B5EF4-FFF2-40B4-BE49-F238E27FC236}">
                <a16:creationId xmlns:a16="http://schemas.microsoft.com/office/drawing/2014/main" id="{064F7B4D-BBB1-4742-B351-01A1EC44B6B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Término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representa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no resuelve solo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UART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Interfaz serial de la placa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Protocolo y niveles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CRSF / SBUS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Formato de mando según sistema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Banda de radio utilizada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MAVLink</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Mensajes entre sistemas compatibles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Enlace RF o alimentación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GPS / GNSS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Obtención de posición y tiempo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Canal de mando del piloto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74143649"/>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38D0D1-BA33-47B3-A2EB-2B2EE5238F9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Banda y formato</a:t>
            </a:r>
          </a:p>
        </p:txBody>
      </p:sp>
      <p:pic>
        <p:nvPicPr>
          <p:cNvPr id="2" name="">
            <a:extLst xmlns:a="http://schemas.openxmlformats.org/drawingml/2006/main">
              <a:ext uri="{FF2B5EF4-FFF2-40B4-BE49-F238E27FC236}">
                <a16:creationId xmlns:a16="http://schemas.microsoft.com/office/drawing/2014/main" id="{907A62D9-5369-4FF9-9BD9-97D6A2F9869C}"/>
              </a:ext>
            </a:extLst>
          </p:cNvPr>
          <p:cNvPicPr>
            <a:picLocks xmlns:a="http://schemas.openxmlformats.org/drawingml/2006/main" noChangeAspect="1"/>
          </p:cNvPicPr>
          <p:nvPr/>
        </p:nvPicPr>
        <p:blipFill>
          <a:blip xmlns:r="http://schemas.openxmlformats.org/officeDocument/2006/relationships" xmlns:a="http://schemas.openxmlformats.org/drawingml/2006/main" r:embed="R01e204ddce0b4c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A92D299-ABEF-4E1A-90CD-A768099FDC8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07/24</a:t>
            </a:r>
          </a:p>
        </p:txBody>
      </p:sp>
      <p:sp>
        <p:nvSpPr>
          <p:cNvPr id="4" name="">
            <a:extLst xmlns:a="http://schemas.openxmlformats.org/drawingml/2006/main">
              <a:ext uri="{FF2B5EF4-FFF2-40B4-BE49-F238E27FC236}">
                <a16:creationId xmlns:a16="http://schemas.microsoft.com/office/drawing/2014/main" id="{FEB0D10A-424F-46DF-B6C1-1B919240BBC4}"/>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receptor trabaja en una banda determinada y entrega CRSF por cable. ¿CRSF es el nombre de esa frecuencia?</a:t>
            </a:r>
          </a:p>
        </p:txBody>
      </p:sp>
      <p:sp>
        <p:nvSpPr>
          <p:cNvPr id="5" name="">
            <a:extLst xmlns:a="http://schemas.openxmlformats.org/drawingml/2006/main">
              <a:ext uri="{FF2B5EF4-FFF2-40B4-BE49-F238E27FC236}">
                <a16:creationId xmlns:a16="http://schemas.microsoft.com/office/drawing/2014/main" id="{FC35042E-CB85-4ED4-B5BD-9F5643A0ACD4}"/>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La banda corresponde al enlace de radio; CRSF identifica el protocolo utilizado en la interfaz de ese sistema.</a:t>
            </a:r>
          </a:p>
        </p:txBody>
      </p:sp>
    </p:spTree>
    <p:extLst>
      <p:ext uri="{BB962C8B-B14F-4D97-AF65-F5344CB8AC3E}">
        <p14:creationId xmlns:p14="http://schemas.microsoft.com/office/powerpoint/2010/main" val="1637951058"/>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C8E68C-24A2-4683-BD56-B92CF9CC0E3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puerto físico y la función seleccionada</a:t>
            </a:r>
          </a:p>
        </p:txBody>
      </p:sp>
      <p:pic>
        <p:nvPicPr>
          <p:cNvPr id="2" name="">
            <a:extLst xmlns:a="http://schemas.openxmlformats.org/drawingml/2006/main">
              <a:ext uri="{FF2B5EF4-FFF2-40B4-BE49-F238E27FC236}">
                <a16:creationId xmlns:a16="http://schemas.microsoft.com/office/drawing/2014/main" id="{B59B3736-2145-427E-A925-829688B017BC}"/>
              </a:ext>
            </a:extLst>
          </p:cNvPr>
          <p:cNvPicPr>
            <a:picLocks xmlns:a="http://schemas.openxmlformats.org/drawingml/2006/main" noChangeAspect="1"/>
          </p:cNvPicPr>
          <p:nvPr/>
        </p:nvPicPr>
        <p:blipFill>
          <a:blip xmlns:r="http://schemas.openxmlformats.org/officeDocument/2006/relationships" xmlns:a="http://schemas.openxmlformats.org/drawingml/2006/main" r:embed="Rb2b7555e40b7467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DE00CD3-43FD-4E5E-9891-8CBB248374B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08/24</a:t>
            </a:r>
          </a:p>
        </p:txBody>
      </p:sp>
      <p:sp>
        <p:nvSpPr>
          <p:cNvPr id="4" name="">
            <a:extLst xmlns:a="http://schemas.openxmlformats.org/drawingml/2006/main">
              <a:ext uri="{FF2B5EF4-FFF2-40B4-BE49-F238E27FC236}">
                <a16:creationId xmlns:a16="http://schemas.microsoft.com/office/drawing/2014/main" id="{03A05907-6E52-421D-A0D3-272EC784689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punto de partida es el esquema: receptor conectado al puerto identificado, señal compatible y alimentación correcta. Después se asigna la función correspondiente en el programa. Si el receptor está en UART2 y Serial RX se habilita en UART1, el nombre comercial correcto no arregla la ruta. De la misma manera, dos periféricos no comparten una función por conectarlos a pads físicamente cercanos.</a:t>
            </a:r>
          </a:p>
        </p:txBody>
      </p:sp>
    </p:spTree>
    <p:extLst>
      <p:ext uri="{BB962C8B-B14F-4D97-AF65-F5344CB8AC3E}">
        <p14:creationId xmlns:p14="http://schemas.microsoft.com/office/powerpoint/2010/main" val="1545534319"/>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0865D7-CCD2-4A3C-8BDB-129047C14F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puerto físico y la función seleccionada</a:t>
            </a:r>
          </a:p>
        </p:txBody>
      </p:sp>
      <p:pic>
        <p:nvPicPr>
          <p:cNvPr id="2" name="">
            <a:extLst xmlns:a="http://schemas.openxmlformats.org/drawingml/2006/main">
              <a:ext uri="{FF2B5EF4-FFF2-40B4-BE49-F238E27FC236}">
                <a16:creationId xmlns:a16="http://schemas.microsoft.com/office/drawing/2014/main" id="{5688049E-3DFF-4592-AC22-CF8938A04B3D}"/>
              </a:ext>
            </a:extLst>
          </p:cNvPr>
          <p:cNvPicPr>
            <a:picLocks xmlns:a="http://schemas.openxmlformats.org/drawingml/2006/main" noChangeAspect="1"/>
          </p:cNvPicPr>
          <p:nvPr/>
        </p:nvPicPr>
        <p:blipFill>
          <a:blip xmlns:r="http://schemas.openxmlformats.org/officeDocument/2006/relationships" xmlns:a="http://schemas.openxmlformats.org/drawingml/2006/main" r:embed="R068300c58e1c4e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0D4F52-EC14-4F8C-A57D-276C220DF14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09/24</a:t>
            </a:r>
          </a:p>
        </p:txBody>
      </p:sp>
      <p:pic>
        <p:nvPicPr>
          <p:cNvPr id="4" name="">
            <a:extLst xmlns:a="http://schemas.openxmlformats.org/drawingml/2006/main">
              <a:ext uri="{FF2B5EF4-FFF2-40B4-BE49-F238E27FC236}">
                <a16:creationId xmlns:a16="http://schemas.microsoft.com/office/drawing/2014/main" id="{AC6052C5-31B8-47AF-AD07-E0BA11B585A2}"/>
              </a:ext>
            </a:extLst>
          </p:cNvPr>
          <p:cNvPicPr>
            <a:picLocks xmlns:a="http://schemas.openxmlformats.org/drawingml/2006/main" noChangeAspect="1"/>
          </p:cNvPicPr>
          <p:nvPr/>
        </p:nvPicPr>
        <p:blipFill>
          <a:blip xmlns:r="http://schemas.openxmlformats.org/officeDocument/2006/relationships" xmlns:a="http://schemas.openxmlformats.org/drawingml/2006/main" r:embed="R9c39af1c0be94299"/>
          <a:stretch xmlns:a="http://schemas.openxmlformats.org/drawingml/2006/main"/>
        </p:blipFill>
        <p:spPr>
          <a:xfrm xmlns:a="http://schemas.openxmlformats.org/drawingml/2006/main">
            <a:off x="590550" y="2562995"/>
            <a:ext cx="7410450" cy="215110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8D52D1-D49C-4C6E-8E4F-485145A34C81}"/>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Relaciona UART físico y función. ¿Qué comprobarías si el receptor no entrega canales?</a:t>
            </a:r>
          </a:p>
        </p:txBody>
      </p:sp>
      <p:sp>
        <p:nvSpPr>
          <p:cNvPr id="6" name="">
            <a:extLst xmlns:a="http://schemas.openxmlformats.org/drawingml/2006/main">
              <a:ext uri="{FF2B5EF4-FFF2-40B4-BE49-F238E27FC236}">
                <a16:creationId xmlns:a16="http://schemas.microsoft.com/office/drawing/2014/main" id="{C4645CD8-B5A8-4B0E-8F83-7C033A4D5333}"/>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Pestaña Ports de la documentación Betaflight. Las filas y opciones dependen de versión y placa; la captura no constituye una configuración para copiar.</a:t>
            </a:r>
          </a:p>
        </p:txBody>
      </p:sp>
    </p:spTree>
    <p:extLst>
      <p:ext uri="{BB962C8B-B14F-4D97-AF65-F5344CB8AC3E}">
        <p14:creationId xmlns:p14="http://schemas.microsoft.com/office/powerpoint/2010/main" val="628974641"/>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983F91-09F1-4D63-95A3-309A823A486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 asignación del caso</a:t>
            </a:r>
          </a:p>
        </p:txBody>
      </p:sp>
      <p:pic>
        <p:nvPicPr>
          <p:cNvPr id="2" name="">
            <a:extLst xmlns:a="http://schemas.openxmlformats.org/drawingml/2006/main">
              <a:ext uri="{FF2B5EF4-FFF2-40B4-BE49-F238E27FC236}">
                <a16:creationId xmlns:a16="http://schemas.microsoft.com/office/drawing/2014/main" id="{D48FA9CB-A970-4822-B586-73C2B3821F37}"/>
              </a:ext>
            </a:extLst>
          </p:cNvPr>
          <p:cNvPicPr>
            <a:picLocks xmlns:a="http://schemas.openxmlformats.org/drawingml/2006/main" noChangeAspect="1"/>
          </p:cNvPicPr>
          <p:nvPr/>
        </p:nvPicPr>
        <p:blipFill>
          <a:blip xmlns:r="http://schemas.openxmlformats.org/officeDocument/2006/relationships" xmlns:a="http://schemas.openxmlformats.org/drawingml/2006/main" r:embed="Re666d893684f485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0D907A-7C33-44DE-BEE7-42997B4572A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10/24</a:t>
            </a:r>
          </a:p>
        </p:txBody>
      </p:sp>
      <p:graphicFrame>
        <p:nvGraphicFramePr>
          <p:cNvPr id="4" name="">
            <a:extLst xmlns:a="http://schemas.openxmlformats.org/drawingml/2006/main">
              <a:ext uri="{FF2B5EF4-FFF2-40B4-BE49-F238E27FC236}">
                <a16:creationId xmlns:a16="http://schemas.microsoft.com/office/drawing/2014/main" id="{FCB7CF53-A670-4C56-9B6D-090F07EEE60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Periférico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Puerto físico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Función a comprobar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Receptor del ejemplo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Por identificar en el manual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Serial RX y proveedor compatible</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GPS del ejemplo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Por identificar en el manual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Entrada de posición y configuración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Telemetría del autopiloto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Puerto del modelo exacto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Mensajes y estación de tierra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39146604"/>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595FC4-245F-4F93-A29F-24B13F897E1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Propagación y antenas: una cuenta introductoria</a:t>
            </a:r>
          </a:p>
        </p:txBody>
      </p:sp>
      <p:pic>
        <p:nvPicPr>
          <p:cNvPr id="2" name="">
            <a:extLst xmlns:a="http://schemas.openxmlformats.org/drawingml/2006/main">
              <a:ext uri="{FF2B5EF4-FFF2-40B4-BE49-F238E27FC236}">
                <a16:creationId xmlns:a16="http://schemas.microsoft.com/office/drawing/2014/main" id="{642A62FA-A025-473F-A082-6C6E733DECEB}"/>
              </a:ext>
            </a:extLst>
          </p:cNvPr>
          <p:cNvPicPr>
            <a:picLocks xmlns:a="http://schemas.openxmlformats.org/drawingml/2006/main" noChangeAspect="1"/>
          </p:cNvPicPr>
          <p:nvPr/>
        </p:nvPicPr>
        <p:blipFill>
          <a:blip xmlns:r="http://schemas.openxmlformats.org/officeDocument/2006/relationships" xmlns:a="http://schemas.openxmlformats.org/drawingml/2006/main" r:embed="Rbf2156e64f9744f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36C015-DB10-48D9-8ECC-E28828687A9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11/24</a:t>
            </a:r>
          </a:p>
        </p:txBody>
      </p:sp>
      <p:sp>
        <p:nvSpPr>
          <p:cNvPr id="4" name="">
            <a:extLst xmlns:a="http://schemas.openxmlformats.org/drawingml/2006/main">
              <a:ext uri="{FF2B5EF4-FFF2-40B4-BE49-F238E27FC236}">
                <a16:creationId xmlns:a16="http://schemas.microsoft.com/office/drawing/2014/main" id="{E6B89B63-6204-4681-81A3-84AC9E90DDC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antena, su orientación y el entorno afectan el enlace. Estructuras conductoras, obstáculos, posición de las antenas y alimentación pueden modificar la recepción. La pérdida de espacio libre es una referencia ideal para comprender tendencias; no predice el alcance seguro de un sistema real ni sustituye sus pruebas y condiciones de operación.</a:t>
            </a:r>
          </a:p>
        </p:txBody>
      </p:sp>
    </p:spTree>
    <p:extLst>
      <p:ext uri="{BB962C8B-B14F-4D97-AF65-F5344CB8AC3E}">
        <p14:creationId xmlns:p14="http://schemas.microsoft.com/office/powerpoint/2010/main" val="2084932396"/>
      </p:ext>
    </p:extLst>
  </p:cSld>
</p:sld>
</file>

<file path=ppt/slides/slide3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83B919-328D-4E5A-851B-6C6716DFE40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C9C5FF4C-8ED5-4807-A0AA-5A51EDBD98A1}"/>
              </a:ext>
            </a:extLst>
          </p:cNvPr>
          <p:cNvPicPr>
            <a:picLocks xmlns:a="http://schemas.openxmlformats.org/drawingml/2006/main" noChangeAspect="1"/>
          </p:cNvPicPr>
          <p:nvPr/>
        </p:nvPicPr>
        <p:blipFill>
          <a:blip xmlns:r="http://schemas.openxmlformats.org/officeDocument/2006/relationships" xmlns:a="http://schemas.openxmlformats.org/drawingml/2006/main" r:embed="Rca1b94fddc9b4d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D65E2B-FE33-4878-9EFE-10739007732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12/24</a:t>
            </a:r>
          </a:p>
        </p:txBody>
      </p:sp>
      <p:sp>
        <p:nvSpPr>
          <p:cNvPr id="4" name="">
            <a:extLst xmlns:a="http://schemas.openxmlformats.org/drawingml/2006/main">
              <a:ext uri="{FF2B5EF4-FFF2-40B4-BE49-F238E27FC236}">
                <a16:creationId xmlns:a16="http://schemas.microsoft.com/office/drawing/2014/main" id="{ABC7B0B6-3C6F-40F8-849A-F2718939B4C6}"/>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En el modelo ideal, ¿cuánto cambia la pérdida al duplicar la separación?</a:t>
            </a:r>
          </a:p>
        </p:txBody>
      </p:sp>
      <p:sp>
        <p:nvSpPr>
          <p:cNvPr id="5" name="">
            <a:extLst xmlns:a="http://schemas.openxmlformats.org/drawingml/2006/main">
              <a:ext uri="{FF2B5EF4-FFF2-40B4-BE49-F238E27FC236}">
                <a16:creationId xmlns:a16="http://schemas.microsoft.com/office/drawing/2014/main" id="{18499607-CF97-4A91-99D3-A8703E11C877}"/>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RSSI, LQ y SNR no son etiquetas intercambiables. Se consulta qué mide el sistema y cómo lo presenta. Un porcentaje no se convierte automáticamente en metros. En clase se reconoce la tendencia del indicador y su relación con la prueba realizada, sin fabricar un umbral universal para radios distintas.</a:t>
            </a:r>
          </a:p>
        </p:txBody>
      </p:sp>
    </p:spTree>
    <p:extLst>
      <p:ext uri="{BB962C8B-B14F-4D97-AF65-F5344CB8AC3E}">
        <p14:creationId xmlns:p14="http://schemas.microsoft.com/office/powerpoint/2010/main" val="636198444"/>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FC22A5-4504-4405-8B63-B202650BEC4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Pérdida adicional en el modelo ideal</a:t>
            </a:r>
          </a:p>
        </p:txBody>
      </p:sp>
      <p:pic>
        <p:nvPicPr>
          <p:cNvPr id="2" name="">
            <a:extLst xmlns:a="http://schemas.openxmlformats.org/drawingml/2006/main">
              <a:ext uri="{FF2B5EF4-FFF2-40B4-BE49-F238E27FC236}">
                <a16:creationId xmlns:a16="http://schemas.microsoft.com/office/drawing/2014/main" id="{70D0EC3F-B0C2-49D6-8CE7-D984EA94651E}"/>
              </a:ext>
            </a:extLst>
          </p:cNvPr>
          <p:cNvPicPr>
            <a:picLocks xmlns:a="http://schemas.openxmlformats.org/drawingml/2006/main" noChangeAspect="1"/>
          </p:cNvPicPr>
          <p:nvPr/>
        </p:nvPicPr>
        <p:blipFill>
          <a:blip xmlns:r="http://schemas.openxmlformats.org/officeDocument/2006/relationships" xmlns:a="http://schemas.openxmlformats.org/drawingml/2006/main" r:embed="R25eefc62e7254f4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A9C693-4536-48F9-B812-7C2CD9F0023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13/24</a:t>
            </a:r>
          </a:p>
        </p:txBody>
      </p:sp>
      <p:graphicFrame>
        <p:nvGraphicFramePr>
          <p:cNvPr id="4" name="Chart">
            <a:extLst xmlns:a="http://schemas.openxmlformats.org/drawingml/2006/main">
              <a:ext uri="{FF2B5EF4-FFF2-40B4-BE49-F238E27FC236}">
                <a16:creationId xmlns:a16="http://schemas.microsoft.com/office/drawing/2014/main" id="{B50993FB-E269-41A1-97CF-77B1A752DEF4}"/>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2e728f82e6a84fde"/>
          </a:graphicData>
        </a:graphic>
      </p:graphicFrame>
      <p:sp>
        <p:nvSpPr>
          <p:cNvPr id="5" name="">
            <a:extLst xmlns:a="http://schemas.openxmlformats.org/drawingml/2006/main">
              <a:ext uri="{FF2B5EF4-FFF2-40B4-BE49-F238E27FC236}">
                <a16:creationId xmlns:a16="http://schemas.microsoft.com/office/drawing/2014/main" id="{2F2E7292-7EB9-47DF-92A9-BD39C995ED38}"/>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Espacio libre, misma frecuencia. No es una predicción de alcance de radio ni un plan de operación.</a:t>
            </a:r>
          </a:p>
        </p:txBody>
      </p:sp>
    </p:spTree>
    <p:extLst>
      <p:ext uri="{BB962C8B-B14F-4D97-AF65-F5344CB8AC3E}">
        <p14:creationId xmlns:p14="http://schemas.microsoft.com/office/powerpoint/2010/main" val="2068818756"/>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473A05-940A-41AE-A0B3-26C8704B3F2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trazado y diagnóstico</a:t>
            </a:r>
          </a:p>
        </p:txBody>
      </p:sp>
      <p:pic>
        <p:nvPicPr>
          <p:cNvPr id="2" name="">
            <a:extLst xmlns:a="http://schemas.openxmlformats.org/drawingml/2006/main">
              <a:ext uri="{FF2B5EF4-FFF2-40B4-BE49-F238E27FC236}">
                <a16:creationId xmlns:a16="http://schemas.microsoft.com/office/drawing/2014/main" id="{1F9C7596-B9AD-4FFB-B480-5560CE6B8587}"/>
              </a:ext>
            </a:extLst>
          </p:cNvPr>
          <p:cNvPicPr>
            <a:picLocks xmlns:a="http://schemas.openxmlformats.org/drawingml/2006/main" noChangeAspect="1"/>
          </p:cNvPicPr>
          <p:nvPr/>
        </p:nvPicPr>
        <p:blipFill>
          <a:blip xmlns:r="http://schemas.openxmlformats.org/officeDocument/2006/relationships" xmlns:a="http://schemas.openxmlformats.org/drawingml/2006/main" r:embed="Rdb355e0579104a8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FF72CC6-1454-4491-9B63-42AB6BFC237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14/24</a:t>
            </a:r>
          </a:p>
        </p:txBody>
      </p:sp>
      <p:sp>
        <p:nvSpPr>
          <p:cNvPr id="4" name="">
            <a:extLst xmlns:a="http://schemas.openxmlformats.org/drawingml/2006/main">
              <a:ext uri="{FF2B5EF4-FFF2-40B4-BE49-F238E27FC236}">
                <a16:creationId xmlns:a16="http://schemas.microsoft.com/office/drawing/2014/main" id="{1A43C588-963B-4B98-BE2A-1DA321B880A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diagnóstico avanza por capas: alimentación del periférico, conexión eléctrica, asignación del puerto, formato y dato observado. Una falta de movimiento de canales puede deberse a diferentes capas. La práctica no consiste en cambiar proveedores al azar hasta que aparezca algo. Se plantea una hipótesis y se busca la evidencia que la confirma o la descarta.</a:t>
            </a:r>
          </a:p>
        </p:txBody>
      </p:sp>
    </p:spTree>
    <p:extLst>
      <p:ext uri="{BB962C8B-B14F-4D97-AF65-F5344CB8AC3E}">
        <p14:creationId xmlns:p14="http://schemas.microsoft.com/office/powerpoint/2010/main" val="1438480661"/>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19E641-7BA8-40F2-BE55-853A50384C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2E3CA69B-5973-49B4-B65E-29A8B430F13F}"/>
              </a:ext>
            </a:extLst>
          </p:cNvPr>
          <p:cNvPicPr>
            <a:picLocks xmlns:a="http://schemas.openxmlformats.org/drawingml/2006/main" noChangeAspect="1"/>
          </p:cNvPicPr>
          <p:nvPr/>
        </p:nvPicPr>
        <p:blipFill>
          <a:blip xmlns:r="http://schemas.openxmlformats.org/officeDocument/2006/relationships" xmlns:a="http://schemas.openxmlformats.org/drawingml/2006/main" r:embed="Rfa9f64102cec472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245AED-C70A-4BEA-BA41-EF43F0D03F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15/24</a:t>
            </a:r>
          </a:p>
        </p:txBody>
      </p:sp>
      <p:sp>
        <p:nvSpPr>
          <p:cNvPr id="4" name="">
            <a:extLst xmlns:a="http://schemas.openxmlformats.org/drawingml/2006/main">
              <a:ext uri="{FF2B5EF4-FFF2-40B4-BE49-F238E27FC236}">
                <a16:creationId xmlns:a16="http://schemas.microsoft.com/office/drawing/2014/main" id="{2A31F141-DDB2-4B1B-916E-A9BB78D74E3D}"/>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¿Ver vídeo prueba que llega mando?</a:t>
            </a:r>
          </a:p>
        </p:txBody>
      </p:sp>
      <p:sp>
        <p:nvSpPr>
          <p:cNvPr id="5" name="">
            <a:extLst xmlns:a="http://schemas.openxmlformats.org/drawingml/2006/main">
              <a:ext uri="{FF2B5EF4-FFF2-40B4-BE49-F238E27FC236}">
                <a16:creationId xmlns:a16="http://schemas.microsoft.com/office/drawing/2014/main" id="{003A2D13-7F7B-435A-8716-F4C6B8FF821C}"/>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Si un equipo usa vídeo, se reconoce cámara, transmisor y receptor de imagen. El curso no exige que todos compren gafas. La promesa principal sigue siendo selección y ensamblaje; el vídeo se integra como un subsistema cuyo consumo, interfaz y sujeción también deben constar en la lista.</a:t>
            </a:r>
          </a:p>
        </p:txBody>
      </p:sp>
    </p:spTree>
    <p:extLst>
      <p:ext uri="{BB962C8B-B14F-4D97-AF65-F5344CB8AC3E}">
        <p14:creationId xmlns:p14="http://schemas.microsoft.com/office/powerpoint/2010/main" val="189248587"/>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96C314-DB88-4DF3-9C2F-3B88F5BA1BD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trazado y diagnóstico</a:t>
            </a:r>
          </a:p>
        </p:txBody>
      </p:sp>
      <p:pic>
        <p:nvPicPr>
          <p:cNvPr id="2" name="">
            <a:extLst xmlns:a="http://schemas.openxmlformats.org/drawingml/2006/main">
              <a:ext uri="{FF2B5EF4-FFF2-40B4-BE49-F238E27FC236}">
                <a16:creationId xmlns:a16="http://schemas.microsoft.com/office/drawing/2014/main" id="{EB613865-A23C-4153-A673-8F541A42D678}"/>
              </a:ext>
            </a:extLst>
          </p:cNvPr>
          <p:cNvPicPr>
            <a:picLocks xmlns:a="http://schemas.openxmlformats.org/drawingml/2006/main" noChangeAspect="1"/>
          </p:cNvPicPr>
          <p:nvPr/>
        </p:nvPicPr>
        <p:blipFill>
          <a:blip xmlns:r="http://schemas.openxmlformats.org/officeDocument/2006/relationships" xmlns:a="http://schemas.openxmlformats.org/drawingml/2006/main" r:embed="Rb2e9448521824d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CAF3F3-1377-47F8-AD34-FFC66FC70E0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16/24</a:t>
            </a:r>
          </a:p>
        </p:txBody>
      </p:sp>
      <p:sp>
        <p:nvSpPr>
          <p:cNvPr id="4" name="">
            <a:extLst xmlns:a="http://schemas.openxmlformats.org/drawingml/2006/main">
              <a:ext uri="{FF2B5EF4-FFF2-40B4-BE49-F238E27FC236}">
                <a16:creationId xmlns:a16="http://schemas.microsoft.com/office/drawing/2014/main" id="{6A230E46-49F0-4DB2-BB56-A4581C9892D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Separa en un dibujo mando, telemetría y vídeo del equipo mostrado.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Completa una tabla de receptor y periféricos con puerto, tensión, señal y protocolo.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En una captura Ports, localiza qué función se asignó a cada UART.</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Resuelve un caso con receptor conectado al puerto distinto del configurado.</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Calcula el cambio ideal de pérdida al duplicar distancia y explica por qué no da alcance real.</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Observa con el docente el cambio de un canal y una medida de telemetría.</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Propón una prueba independiente para cada cadena y conserva sus resultados por separado.</a:t>
            </a:r>
          </a:p>
        </p:txBody>
      </p:sp>
    </p:spTree>
    <p:extLst>
      <p:ext uri="{BB962C8B-B14F-4D97-AF65-F5344CB8AC3E}">
        <p14:creationId xmlns:p14="http://schemas.microsoft.com/office/powerpoint/2010/main" val="2005405265"/>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121CF6-47F3-4F5A-A390-8F52B53C9C5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comunicación que queda documentada</a:t>
            </a:r>
          </a:p>
        </p:txBody>
      </p:sp>
      <p:pic>
        <p:nvPicPr>
          <p:cNvPr id="2" name="">
            <a:extLst xmlns:a="http://schemas.openxmlformats.org/drawingml/2006/main">
              <a:ext uri="{FF2B5EF4-FFF2-40B4-BE49-F238E27FC236}">
                <a16:creationId xmlns:a16="http://schemas.microsoft.com/office/drawing/2014/main" id="{C208767B-83F2-4A22-AABC-1D81561DD5C1}"/>
              </a:ext>
            </a:extLst>
          </p:cNvPr>
          <p:cNvPicPr>
            <a:picLocks xmlns:a="http://schemas.openxmlformats.org/drawingml/2006/main" noChangeAspect="1"/>
          </p:cNvPicPr>
          <p:nvPr/>
        </p:nvPicPr>
        <p:blipFill>
          <a:blip xmlns:r="http://schemas.openxmlformats.org/officeDocument/2006/relationships" xmlns:a="http://schemas.openxmlformats.org/drawingml/2006/main" r:embed="R58ce6e1b2fb04eb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E8788E-5617-4D49-887E-D6D6F163759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17/24</a:t>
            </a:r>
          </a:p>
        </p:txBody>
      </p:sp>
      <p:sp>
        <p:nvSpPr>
          <p:cNvPr id="4" name="">
            <a:extLst xmlns:a="http://schemas.openxmlformats.org/drawingml/2006/main">
              <a:ext uri="{FF2B5EF4-FFF2-40B4-BE49-F238E27FC236}">
                <a16:creationId xmlns:a16="http://schemas.microsoft.com/office/drawing/2014/main" id="{10D82FAE-A0CD-42F1-B789-74F6AFE7D7E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Como investigación, elige un periférico del equipo de MECRO y busca su manual. Identifica si necesita una o dos líneas de datos, si tiene una alimentación separada y qué protocolo entrega. Una denominación “GPS” no decide automáticamente el conector ni la tensión de todos los módulos. La solución se presenta con una referencia que otro compañero pueda verificar.</a:t>
            </a:r>
          </a:p>
        </p:txBody>
      </p:sp>
    </p:spTree>
    <p:extLst>
      <p:ext uri="{BB962C8B-B14F-4D97-AF65-F5344CB8AC3E}">
        <p14:creationId xmlns:p14="http://schemas.microsoft.com/office/powerpoint/2010/main" val="1603444805"/>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A82732-D166-464D-BEDA-4B2E4CB6E2D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Preguntas de revisión</a:t>
            </a:r>
          </a:p>
        </p:txBody>
      </p:sp>
      <p:pic>
        <p:nvPicPr>
          <p:cNvPr id="2" name="">
            <a:extLst xmlns:a="http://schemas.openxmlformats.org/drawingml/2006/main">
              <a:ext uri="{FF2B5EF4-FFF2-40B4-BE49-F238E27FC236}">
                <a16:creationId xmlns:a16="http://schemas.microsoft.com/office/drawing/2014/main" id="{DD6B36C2-1F8A-4BD1-991B-87FE604D4AE9}"/>
              </a:ext>
            </a:extLst>
          </p:cNvPr>
          <p:cNvPicPr>
            <a:picLocks xmlns:a="http://schemas.openxmlformats.org/drawingml/2006/main" noChangeAspect="1"/>
          </p:cNvPicPr>
          <p:nvPr/>
        </p:nvPicPr>
        <p:blipFill>
          <a:blip xmlns:r="http://schemas.openxmlformats.org/officeDocument/2006/relationships" xmlns:a="http://schemas.openxmlformats.org/drawingml/2006/main" r:embed="Rebebed1690fb46d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D462C8-431E-44D5-A618-BAF5C5CC62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18/24</a:t>
            </a:r>
          </a:p>
        </p:txBody>
      </p:sp>
      <p:graphicFrame>
        <p:nvGraphicFramePr>
          <p:cNvPr id="4" name="">
            <a:extLst xmlns:a="http://schemas.openxmlformats.org/drawingml/2006/main">
              <a:ext uri="{FF2B5EF4-FFF2-40B4-BE49-F238E27FC236}">
                <a16:creationId xmlns:a16="http://schemas.microsoft.com/office/drawing/2014/main" id="{3533152B-A879-431C-8F21-EEE25B91E303}"/>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Respuesta que se debe demostrar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¿De dónde viene la orden?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Control, receptor y canal</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¿Qué cable lleva el dato?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Puerto y referencia de contactos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¿Qué entiende la FC?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Protocolo y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¿Qué vuelve al operador?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Medida y receptor de telemetría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564591593"/>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0FA04D-F7B2-470E-9D70-BC5D6606C7E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La comunicación que queda documentada</a:t>
            </a:r>
          </a:p>
        </p:txBody>
      </p:sp>
      <p:pic>
        <p:nvPicPr>
          <p:cNvPr id="2" name="">
            <a:extLst xmlns:a="http://schemas.openxmlformats.org/drawingml/2006/main">
              <a:ext uri="{FF2B5EF4-FFF2-40B4-BE49-F238E27FC236}">
                <a16:creationId xmlns:a16="http://schemas.microsoft.com/office/drawing/2014/main" id="{C51A4C95-03F6-4951-A707-297062E59398}"/>
              </a:ext>
            </a:extLst>
          </p:cNvPr>
          <p:cNvPicPr>
            <a:picLocks xmlns:a="http://schemas.openxmlformats.org/drawingml/2006/main" noChangeAspect="1"/>
          </p:cNvPicPr>
          <p:nvPr/>
        </p:nvPicPr>
        <p:blipFill>
          <a:blip xmlns:r="http://schemas.openxmlformats.org/officeDocument/2006/relationships" xmlns:a="http://schemas.openxmlformats.org/drawingml/2006/main" r:embed="Rd4478fdb15fe470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0CB81B-A8E8-442E-BE33-4AD3D796D7C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19/24</a:t>
            </a:r>
          </a:p>
        </p:txBody>
      </p:sp>
      <p:sp>
        <p:nvSpPr>
          <p:cNvPr id="4" name="">
            <a:extLst xmlns:a="http://schemas.openxmlformats.org/drawingml/2006/main">
              <a:ext uri="{FF2B5EF4-FFF2-40B4-BE49-F238E27FC236}">
                <a16:creationId xmlns:a16="http://schemas.microsoft.com/office/drawing/2014/main" id="{03F21DE9-281D-442E-AEA9-E5A745644E3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siguiente sesión utilizará estas tablas para navegar Betaflight con propósito. El alumno ya debe poder explicar por qué una pestaña de puertos existe y qué debe coincidir con el montaje. Esa relación entre pantalla y objeto será el centro de la práctica de configuración.</a:t>
            </a:r>
          </a:p>
        </p:txBody>
      </p:sp>
    </p:spTree>
    <p:extLst>
      <p:ext uri="{BB962C8B-B14F-4D97-AF65-F5344CB8AC3E}">
        <p14:creationId xmlns:p14="http://schemas.microsoft.com/office/powerpoint/2010/main" val="142111509"/>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AE476A-C407-4DB3-94F1-2FB11635B0C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60BFC9FC-6991-4AA8-9636-DEC95A59EB1D}"/>
              </a:ext>
            </a:extLst>
          </p:cNvPr>
          <p:cNvPicPr>
            <a:picLocks xmlns:a="http://schemas.openxmlformats.org/drawingml/2006/main" noChangeAspect="1"/>
          </p:cNvPicPr>
          <p:nvPr/>
        </p:nvPicPr>
        <p:blipFill>
          <a:blip xmlns:r="http://schemas.openxmlformats.org/officeDocument/2006/relationships" xmlns:a="http://schemas.openxmlformats.org/drawingml/2006/main" r:embed="R2ec65db4a483403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4D48C0-C311-4F6E-8A31-24991849508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20/24</a:t>
            </a:r>
          </a:p>
        </p:txBody>
      </p:sp>
      <p:sp>
        <p:nvSpPr>
          <p:cNvPr id="4" name="">
            <a:extLst xmlns:a="http://schemas.openxmlformats.org/drawingml/2006/main">
              <a:ext uri="{FF2B5EF4-FFF2-40B4-BE49-F238E27FC236}">
                <a16:creationId xmlns:a16="http://schemas.microsoft.com/office/drawing/2014/main" id="{0EE444D5-6DA3-4E3E-86CD-886FE1B38DB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las tres cadenas con funciones diferentes.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Trazar un receptor desde el manual hasta su UART y proveedor.</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Resolver el caso de puerto equivocado y el cálculo de distancia relativa.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Comprobar un canal y una medida de telemetría en la demostración.</a:t>
            </a:r>
          </a:p>
        </p:txBody>
      </p:sp>
    </p:spTree>
    <p:extLst>
      <p:ext uri="{BB962C8B-B14F-4D97-AF65-F5344CB8AC3E}">
        <p14:creationId xmlns:p14="http://schemas.microsoft.com/office/powerpoint/2010/main" val="1662984811"/>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D5DAFF-C01C-423D-AB37-4D939677222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2D03ACC7-68FD-4430-9153-A534BA57443E}"/>
              </a:ext>
            </a:extLst>
          </p:cNvPr>
          <p:cNvPicPr>
            <a:picLocks xmlns:a="http://schemas.openxmlformats.org/drawingml/2006/main" noChangeAspect="1"/>
          </p:cNvPicPr>
          <p:nvPr/>
        </p:nvPicPr>
        <p:blipFill>
          <a:blip xmlns:r="http://schemas.openxmlformats.org/officeDocument/2006/relationships" xmlns:a="http://schemas.openxmlformats.org/drawingml/2006/main" r:embed="R8cbd5fbb9849430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580870-3176-4E3E-8C45-51DDC82A9D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21/24</a:t>
            </a:r>
          </a:p>
        </p:txBody>
      </p:sp>
      <p:sp>
        <p:nvSpPr>
          <p:cNvPr id="4" name="">
            <a:extLst xmlns:a="http://schemas.openxmlformats.org/drawingml/2006/main">
              <a:ext uri="{FF2B5EF4-FFF2-40B4-BE49-F238E27FC236}">
                <a16:creationId xmlns:a16="http://schemas.microsoft.com/office/drawing/2014/main" id="{E1E059DF-0154-4723-B3BA-2B8F91580828}"/>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constructor debe explicar por dónde llegan las órdenes y por dónde vuelven los datos del dron.</a:t>
            </a:r>
          </a:p>
        </p:txBody>
      </p:sp>
      <p:sp>
        <p:nvSpPr>
          <p:cNvPr id="5" name="">
            <a:extLst xmlns:a="http://schemas.openxmlformats.org/drawingml/2006/main">
              <a:ext uri="{FF2B5EF4-FFF2-40B4-BE49-F238E27FC236}">
                <a16:creationId xmlns:a16="http://schemas.microsoft.com/office/drawing/2014/main" id="{8A8CBA38-62F3-44D1-A089-75853D7B161C}"/>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203955662"/>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77A177-3323-42D3-ADC1-25BF25C16E2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3C3FCBA2-3E3E-459D-B9B2-7387539D7F29}"/>
              </a:ext>
            </a:extLst>
          </p:cNvPr>
          <p:cNvPicPr>
            <a:picLocks xmlns:a="http://schemas.openxmlformats.org/drawingml/2006/main" noChangeAspect="1"/>
          </p:cNvPicPr>
          <p:nvPr/>
        </p:nvPicPr>
        <p:blipFill>
          <a:blip xmlns:r="http://schemas.openxmlformats.org/officeDocument/2006/relationships" xmlns:a="http://schemas.openxmlformats.org/drawingml/2006/main" r:embed="Re522e91e33bc4d0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AE4C17-16A0-465F-9501-4FC0710B11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22/24</a:t>
            </a:r>
          </a:p>
        </p:txBody>
      </p:sp>
      <p:sp>
        <p:nvSpPr>
          <p:cNvPr id="4" name="">
            <a:extLst xmlns:a="http://schemas.openxmlformats.org/drawingml/2006/main">
              <a:ext uri="{FF2B5EF4-FFF2-40B4-BE49-F238E27FC236}">
                <a16:creationId xmlns:a16="http://schemas.microsoft.com/office/drawing/2014/main" id="{8CDD4932-2C6E-49CD-BCED-75D0D6D3060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¿MAVLink es una frecuencia de radio?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¿Ver vídeo prueba que llega mando?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¿6 dB de pérdida adicional dan un alcance garantizado?</a:t>
            </a:r>
          </a:p>
        </p:txBody>
      </p:sp>
    </p:spTree>
    <p:extLst>
      <p:ext uri="{BB962C8B-B14F-4D97-AF65-F5344CB8AC3E}">
        <p14:creationId xmlns:p14="http://schemas.microsoft.com/office/powerpoint/2010/main" val="1837392388"/>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7AE8B5-1CA3-4E48-8B7D-AA1B34D86A4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2573B929-587F-4EFF-835C-AC21A6042C2D}"/>
              </a:ext>
            </a:extLst>
          </p:cNvPr>
          <p:cNvPicPr>
            <a:picLocks xmlns:a="http://schemas.openxmlformats.org/drawingml/2006/main" noChangeAspect="1"/>
          </p:cNvPicPr>
          <p:nvPr/>
        </p:nvPicPr>
        <p:blipFill>
          <a:blip xmlns:r="http://schemas.openxmlformats.org/officeDocument/2006/relationships" xmlns:a="http://schemas.openxmlformats.org/drawingml/2006/main" r:embed="R7bfc3e77145a42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8FBE9B-7ACE-4237-8A3E-B4FBA0EF3D6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23/24</a:t>
            </a:r>
          </a:p>
        </p:txBody>
      </p:sp>
      <p:sp>
        <p:nvSpPr>
          <p:cNvPr id="4" name="">
            <a:extLst xmlns:a="http://schemas.openxmlformats.org/drawingml/2006/main">
              <a:ext uri="{FF2B5EF4-FFF2-40B4-BE49-F238E27FC236}">
                <a16:creationId xmlns:a16="http://schemas.microsoft.com/office/drawing/2014/main" id="{1A1B0784-6CC3-4742-BB47-CD4408CC595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Es un protocolo de mensajes que necesita un transporte compatible.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Son cadenas que requieren comprobaciones independientes.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Es una comparación ideal; faltan entorno, antenas y sistema real.</a:t>
            </a:r>
          </a:p>
        </p:txBody>
      </p:sp>
    </p:spTree>
    <p:extLst>
      <p:ext uri="{BB962C8B-B14F-4D97-AF65-F5344CB8AC3E}">
        <p14:creationId xmlns:p14="http://schemas.microsoft.com/office/powerpoint/2010/main" val="77033930"/>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CE0FD5-57D6-49E7-9F62-1B201B7BB2D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C390C85F-A696-4407-9B85-2FA62D9297CB}"/>
              </a:ext>
            </a:extLst>
          </p:cNvPr>
          <p:cNvPicPr>
            <a:picLocks xmlns:a="http://schemas.openxmlformats.org/drawingml/2006/main" noChangeAspect="1"/>
          </p:cNvPicPr>
          <p:nvPr/>
        </p:nvPicPr>
        <p:blipFill>
          <a:blip xmlns:r="http://schemas.openxmlformats.org/officeDocument/2006/relationships" xmlns:a="http://schemas.openxmlformats.org/drawingml/2006/main" r:embed="R43caa3b02fed456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E5F28E-D6B1-4EDC-A6DD-0DB9B92C462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24/24</a:t>
            </a:r>
          </a:p>
        </p:txBody>
      </p:sp>
      <p:sp>
        <p:nvSpPr>
          <p:cNvPr id="4" name="">
            <a:extLst xmlns:a="http://schemas.openxmlformats.org/drawingml/2006/main">
              <a:ext uri="{FF2B5EF4-FFF2-40B4-BE49-F238E27FC236}">
                <a16:creationId xmlns:a16="http://schemas.microsoft.com/office/drawing/2014/main" id="{6C35AFE9-3A93-4E47-BA6C-A93430A54130}"/>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Mapa de comunicaciones, tabla de puertos y diagnóstico argumentado de una ruta.</a:t>
            </a:r>
          </a:p>
        </p:txBody>
      </p:sp>
      <p:sp>
        <p:nvSpPr>
          <p:cNvPr id="5" name="">
            <a:extLst xmlns:a="http://schemas.openxmlformats.org/drawingml/2006/main">
              <a:ext uri="{FF2B5EF4-FFF2-40B4-BE49-F238E27FC236}">
                <a16:creationId xmlns:a16="http://schemas.microsoft.com/office/drawing/2014/main" id="{B654E1F8-F624-414E-96F6-575E8A7F9DC3}"/>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531194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2026-10-22T23:39:23.1320000Z</dcterms:created>
  <dcterms:modified xsi:type="dcterms:W3CDTF">2026-10-22T23:39:23.1320000Z</dcterms:modified>
</coreProperties>
</file>