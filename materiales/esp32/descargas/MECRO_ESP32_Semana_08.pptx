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15a5f15ac104651" /><Relationship Type="http://schemas.openxmlformats.org/officeDocument/2006/relationships/extended-properties" Target="/docProps/app.xml" Id="R52b3ae0adcb84d6e" /><Relationship Type="http://schemas.openxmlformats.org/officeDocument/2006/relationships/officeDocument" Target="/ppt/presentation.xml" Id="Rf444bc0d2a17493d" /></Relationships>
</file>

<file path=ppt/presentation.xml><?xml version="1.0" encoding="utf-8"?>
<p:presentation xmlns:p="http://schemas.openxmlformats.org/presentationml/2006/main">
  <p:sldMasterIdLst>
    <p:sldMasterId xmlns:r="http://schemas.openxmlformats.org/officeDocument/2006/relationships" id="2147483648" r:id="R7953d897bf184214"/>
  </p:sldMasterIdLst>
  <p:notesMasterIdLst>
    <p:notesMasterId xmlns:r="http://schemas.openxmlformats.org/officeDocument/2006/relationships" r:id="R4f5a160ce4594fff"/>
  </p:notesMasterIdLst>
  <p:sldIdLst>
    <p:sldId xmlns:r="http://schemas.openxmlformats.org/officeDocument/2006/relationships" id="256" r:id="R4505d491628d4668"/>
    <p:sldId xmlns:r="http://schemas.openxmlformats.org/officeDocument/2006/relationships" id="257" r:id="Ra936279dbf744c5e"/>
    <p:sldId xmlns:r="http://schemas.openxmlformats.org/officeDocument/2006/relationships" id="258" r:id="R2b07e4b6c9884b2b"/>
    <p:sldId xmlns:r="http://schemas.openxmlformats.org/officeDocument/2006/relationships" id="259" r:id="R25b5cd05fbdf4930"/>
    <p:sldId xmlns:r="http://schemas.openxmlformats.org/officeDocument/2006/relationships" id="260" r:id="R547eb1e2601848ad"/>
    <p:sldId xmlns:r="http://schemas.openxmlformats.org/officeDocument/2006/relationships" id="261" r:id="R090efb1e208d4c93"/>
    <p:sldId xmlns:r="http://schemas.openxmlformats.org/officeDocument/2006/relationships" id="262" r:id="Rc355c738bf0a4503"/>
    <p:sldId xmlns:r="http://schemas.openxmlformats.org/officeDocument/2006/relationships" id="263" r:id="R7b45fe80321c4719"/>
    <p:sldId xmlns:r="http://schemas.openxmlformats.org/officeDocument/2006/relationships" id="264" r:id="R6af8da012aef43db"/>
    <p:sldId xmlns:r="http://schemas.openxmlformats.org/officeDocument/2006/relationships" id="265" r:id="Rd55401c2ceb64269"/>
    <p:sldId xmlns:r="http://schemas.openxmlformats.org/officeDocument/2006/relationships" id="266" r:id="R0fbb658b949b4be7"/>
    <p:sldId xmlns:r="http://schemas.openxmlformats.org/officeDocument/2006/relationships" id="267" r:id="Rcfc10ef608e14ccc"/>
    <p:sldId xmlns:r="http://schemas.openxmlformats.org/officeDocument/2006/relationships" id="268" r:id="R3cb798b268894452"/>
    <p:sldId xmlns:r="http://schemas.openxmlformats.org/officeDocument/2006/relationships" id="269" r:id="R61dc9f21e9094f0e"/>
    <p:sldId xmlns:r="http://schemas.openxmlformats.org/officeDocument/2006/relationships" id="270" r:id="R887b668f404d4a02"/>
    <p:sldId xmlns:r="http://schemas.openxmlformats.org/officeDocument/2006/relationships" id="271" r:id="R551aa1d5e0e44b0f"/>
    <p:sldId xmlns:r="http://schemas.openxmlformats.org/officeDocument/2006/relationships" id="272" r:id="Rdb2833e28df24666"/>
    <p:sldId xmlns:r="http://schemas.openxmlformats.org/officeDocument/2006/relationships" id="273" r:id="R1679a625c64c4693"/>
    <p:sldId xmlns:r="http://schemas.openxmlformats.org/officeDocument/2006/relationships" id="274" r:id="Re9df0aae6c3e44d6"/>
    <p:sldId xmlns:r="http://schemas.openxmlformats.org/officeDocument/2006/relationships" id="275" r:id="R0f813939517a4930"/>
    <p:sldId xmlns:r="http://schemas.openxmlformats.org/officeDocument/2006/relationships" id="276" r:id="R64bff8af83fe4a91"/>
    <p:sldId xmlns:r="http://schemas.openxmlformats.org/officeDocument/2006/relationships" id="277" r:id="R90b913939d364fca"/>
    <p:sldId xmlns:r="http://schemas.openxmlformats.org/officeDocument/2006/relationships" id="278" r:id="Re97510ddca034846"/>
    <p:sldId xmlns:r="http://schemas.openxmlformats.org/officeDocument/2006/relationships" id="279" r:id="R3d14131470b44670"/>
    <p:sldId xmlns:r="http://schemas.openxmlformats.org/officeDocument/2006/relationships" id="280" r:id="Rfbb6865040ab44ec"/>
    <p:sldId xmlns:r="http://schemas.openxmlformats.org/officeDocument/2006/relationships" id="281" r:id="R96d4f0962b5a4691"/>
    <p:sldId xmlns:r="http://schemas.openxmlformats.org/officeDocument/2006/relationships" id="282" r:id="R55b44350412e42f0"/>
    <p:sldId xmlns:r="http://schemas.openxmlformats.org/officeDocument/2006/relationships" id="283" r:id="R12deae816c7548ad"/>
    <p:sldId xmlns:r="http://schemas.openxmlformats.org/officeDocument/2006/relationships" id="284" r:id="Rd265d39b06254b16"/>
    <p:sldId xmlns:r="http://schemas.openxmlformats.org/officeDocument/2006/relationships" id="285" r:id="R0b818d62966e4fd7"/>
    <p:sldId xmlns:r="http://schemas.openxmlformats.org/officeDocument/2006/relationships" id="286" r:id="R0870543f07704c19"/>
    <p:sldId xmlns:r="http://schemas.openxmlformats.org/officeDocument/2006/relationships" id="287" r:id="R71cc979d3ac949ff"/>
    <p:sldId xmlns:r="http://schemas.openxmlformats.org/officeDocument/2006/relationships" id="288" r:id="Re715205ac8d24195"/>
    <p:sldId xmlns:r="http://schemas.openxmlformats.org/officeDocument/2006/relationships" id="289" r:id="R444656731fd9465b"/>
    <p:sldId xmlns:r="http://schemas.openxmlformats.org/officeDocument/2006/relationships" id="290" r:id="Red914f88e9c04c80"/>
    <p:sldId xmlns:r="http://schemas.openxmlformats.org/officeDocument/2006/relationships" id="291" r:id="Rf6d7b3eee1d2487e"/>
    <p:sldId xmlns:r="http://schemas.openxmlformats.org/officeDocument/2006/relationships" id="292" r:id="Reb815f5de0c44fb5"/>
    <p:sldId xmlns:r="http://schemas.openxmlformats.org/officeDocument/2006/relationships" id="293" r:id="Rf23076cf52c84600"/>
    <p:sldId xmlns:r="http://schemas.openxmlformats.org/officeDocument/2006/relationships" id="294" r:id="R9c28b9bd9ba8403e"/>
    <p:sldId xmlns:r="http://schemas.openxmlformats.org/officeDocument/2006/relationships" id="295" r:id="Ref27b53c87aa4dd2"/>
    <p:sldId xmlns:r="http://schemas.openxmlformats.org/officeDocument/2006/relationships" id="296" r:id="Rf61ca1bc8c084d01"/>
    <p:sldId xmlns:r="http://schemas.openxmlformats.org/officeDocument/2006/relationships" id="297" r:id="R6d89732d351e4c32"/>
    <p:sldId xmlns:r="http://schemas.openxmlformats.org/officeDocument/2006/relationships" id="298" r:id="R2ca6f7f358bc467f"/>
    <p:sldId xmlns:r="http://schemas.openxmlformats.org/officeDocument/2006/relationships" id="299" r:id="R7c6b40a3fc464712"/>
    <p:sldId xmlns:r="http://schemas.openxmlformats.org/officeDocument/2006/relationships" id="300" r:id="Ra0ee10928fa6412c"/>
    <p:sldId xmlns:r="http://schemas.openxmlformats.org/officeDocument/2006/relationships" id="301" r:id="R9a9610c0ca8d45d8"/>
    <p:sldId xmlns:r="http://schemas.openxmlformats.org/officeDocument/2006/relationships" id="302" r:id="R4d95a543e88e4a2e"/>
    <p:sldId xmlns:r="http://schemas.openxmlformats.org/officeDocument/2006/relationships" id="303" r:id="Re2c4f17c8f5944f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b1e4a8d2dd4413e" /><Relationship Type="http://schemas.openxmlformats.org/officeDocument/2006/relationships/slideMaster" Target="/ppt/slideMasters/slideMaster1.xml" Id="R7953d897bf184214" /><Relationship Type="http://schemas.openxmlformats.org/officeDocument/2006/relationships/notesMaster" Target="/ppt/notesMasters/notesMaster1.xml" Id="R4f5a160ce4594fff" /><Relationship Type="http://schemas.openxmlformats.org/officeDocument/2006/relationships/presProps" Target="/ppt/presProps.xml" Id="Rc7e4a703d9524974" /><Relationship Type="http://schemas.openxmlformats.org/officeDocument/2006/relationships/tableStyles" Target="/ppt/tableStyles.xml" Id="Rba27adc79b194b79" /><Relationship Type="http://schemas.openxmlformats.org/officeDocument/2006/relationships/slide" Target="/ppt/slides/slide1.xml" Id="R4505d491628d4668" /><Relationship Type="http://schemas.openxmlformats.org/officeDocument/2006/relationships/slide" Target="/ppt/slides/slide2.xml" Id="Ra936279dbf744c5e" /><Relationship Type="http://schemas.openxmlformats.org/officeDocument/2006/relationships/slide" Target="/ppt/slides/slide3.xml" Id="R2b07e4b6c9884b2b" /><Relationship Type="http://schemas.openxmlformats.org/officeDocument/2006/relationships/slide" Target="/ppt/slides/slide4.xml" Id="R25b5cd05fbdf4930" /><Relationship Type="http://schemas.openxmlformats.org/officeDocument/2006/relationships/slide" Target="/ppt/slides/slide5.xml" Id="R547eb1e2601848ad" /><Relationship Type="http://schemas.openxmlformats.org/officeDocument/2006/relationships/slide" Target="/ppt/slides/slide6.xml" Id="R090efb1e208d4c93" /><Relationship Type="http://schemas.openxmlformats.org/officeDocument/2006/relationships/slide" Target="/ppt/slides/slide7.xml" Id="Rc355c738bf0a4503" /><Relationship Type="http://schemas.openxmlformats.org/officeDocument/2006/relationships/slide" Target="/ppt/slides/slide8.xml" Id="R7b45fe80321c4719" /><Relationship Type="http://schemas.openxmlformats.org/officeDocument/2006/relationships/slide" Target="/ppt/slides/slide9.xml" Id="R6af8da012aef43db" /><Relationship Type="http://schemas.openxmlformats.org/officeDocument/2006/relationships/slide" Target="/ppt/slides/slide10.xml" Id="Rd55401c2ceb64269" /><Relationship Type="http://schemas.openxmlformats.org/officeDocument/2006/relationships/slide" Target="/ppt/slides/slide11.xml" Id="R0fbb658b949b4be7" /><Relationship Type="http://schemas.openxmlformats.org/officeDocument/2006/relationships/slide" Target="/ppt/slides/slide12.xml" Id="Rcfc10ef608e14ccc" /><Relationship Type="http://schemas.openxmlformats.org/officeDocument/2006/relationships/slide" Target="/ppt/slides/slide13.xml" Id="R3cb798b268894452" /><Relationship Type="http://schemas.openxmlformats.org/officeDocument/2006/relationships/slide" Target="/ppt/slides/slide14.xml" Id="R61dc9f21e9094f0e" /><Relationship Type="http://schemas.openxmlformats.org/officeDocument/2006/relationships/slide" Target="/ppt/slides/slide15.xml" Id="R887b668f404d4a02" /><Relationship Type="http://schemas.openxmlformats.org/officeDocument/2006/relationships/slide" Target="/ppt/slides/slide16.xml" Id="R551aa1d5e0e44b0f" /><Relationship Type="http://schemas.openxmlformats.org/officeDocument/2006/relationships/slide" Target="/ppt/slides/slide17.xml" Id="Rdb2833e28df24666" /><Relationship Type="http://schemas.openxmlformats.org/officeDocument/2006/relationships/slide" Target="/ppt/slides/slide18.xml" Id="R1679a625c64c4693" /><Relationship Type="http://schemas.openxmlformats.org/officeDocument/2006/relationships/slide" Target="/ppt/slides/slide19.xml" Id="Re9df0aae6c3e44d6" /><Relationship Type="http://schemas.openxmlformats.org/officeDocument/2006/relationships/slide" Target="/ppt/slides/slide20.xml" Id="R0f813939517a4930" /><Relationship Type="http://schemas.openxmlformats.org/officeDocument/2006/relationships/slide" Target="/ppt/slides/slide21.xml" Id="R64bff8af83fe4a91" /><Relationship Type="http://schemas.openxmlformats.org/officeDocument/2006/relationships/slide" Target="/ppt/slides/slide22.xml" Id="R90b913939d364fca" /><Relationship Type="http://schemas.openxmlformats.org/officeDocument/2006/relationships/slide" Target="/ppt/slides/slide23.xml" Id="Re97510ddca034846" /><Relationship Type="http://schemas.openxmlformats.org/officeDocument/2006/relationships/slide" Target="/ppt/slides/slide24.xml" Id="R3d14131470b44670" /><Relationship Type="http://schemas.openxmlformats.org/officeDocument/2006/relationships/slide" Target="/ppt/slides/slide25.xml" Id="Rfbb6865040ab44ec" /><Relationship Type="http://schemas.openxmlformats.org/officeDocument/2006/relationships/slide" Target="/ppt/slides/slide26.xml" Id="R96d4f0962b5a4691" /><Relationship Type="http://schemas.openxmlformats.org/officeDocument/2006/relationships/slide" Target="/ppt/slides/slide27.xml" Id="R55b44350412e42f0" /><Relationship Type="http://schemas.openxmlformats.org/officeDocument/2006/relationships/slide" Target="/ppt/slides/slide28.xml" Id="R12deae816c7548ad" /><Relationship Type="http://schemas.openxmlformats.org/officeDocument/2006/relationships/slide" Target="/ppt/slides/slide29.xml" Id="Rd265d39b06254b16" /><Relationship Type="http://schemas.openxmlformats.org/officeDocument/2006/relationships/slide" Target="/ppt/slides/slide30.xml" Id="R0b818d62966e4fd7" /><Relationship Type="http://schemas.openxmlformats.org/officeDocument/2006/relationships/slide" Target="/ppt/slides/slide31.xml" Id="R0870543f07704c19" /><Relationship Type="http://schemas.openxmlformats.org/officeDocument/2006/relationships/slide" Target="/ppt/slides/slide32.xml" Id="R71cc979d3ac949ff" /><Relationship Type="http://schemas.openxmlformats.org/officeDocument/2006/relationships/slide" Target="/ppt/slides/slide33.xml" Id="Re715205ac8d24195" /><Relationship Type="http://schemas.openxmlformats.org/officeDocument/2006/relationships/slide" Target="/ppt/slides/slide34.xml" Id="R444656731fd9465b" /><Relationship Type="http://schemas.openxmlformats.org/officeDocument/2006/relationships/slide" Target="/ppt/slides/slide35.xml" Id="Red914f88e9c04c80" /><Relationship Type="http://schemas.openxmlformats.org/officeDocument/2006/relationships/slide" Target="/ppt/slides/slide36.xml" Id="Rf6d7b3eee1d2487e" /><Relationship Type="http://schemas.openxmlformats.org/officeDocument/2006/relationships/slide" Target="/ppt/slides/slide37.xml" Id="Reb815f5de0c44fb5" /><Relationship Type="http://schemas.openxmlformats.org/officeDocument/2006/relationships/slide" Target="/ppt/slides/slide38.xml" Id="Rf23076cf52c84600" /><Relationship Type="http://schemas.openxmlformats.org/officeDocument/2006/relationships/slide" Target="/ppt/slides/slide39.xml" Id="R9c28b9bd9ba8403e" /><Relationship Type="http://schemas.openxmlformats.org/officeDocument/2006/relationships/slide" Target="/ppt/slides/slide40.xml" Id="Ref27b53c87aa4dd2" /><Relationship Type="http://schemas.openxmlformats.org/officeDocument/2006/relationships/slide" Target="/ppt/slides/slide41.xml" Id="Rf61ca1bc8c084d01" /><Relationship Type="http://schemas.openxmlformats.org/officeDocument/2006/relationships/slide" Target="/ppt/slides/slide42.xml" Id="R6d89732d351e4c32" /><Relationship Type="http://schemas.openxmlformats.org/officeDocument/2006/relationships/slide" Target="/ppt/slides/slide43.xml" Id="R2ca6f7f358bc467f" /><Relationship Type="http://schemas.openxmlformats.org/officeDocument/2006/relationships/slide" Target="/ppt/slides/slide44.xml" Id="R7c6b40a3fc464712" /><Relationship Type="http://schemas.openxmlformats.org/officeDocument/2006/relationships/slide" Target="/ppt/slides/slide45.xml" Id="Ra0ee10928fa6412c" /><Relationship Type="http://schemas.openxmlformats.org/officeDocument/2006/relationships/slide" Target="/ppt/slides/slide46.xml" Id="R9a9610c0ca8d45d8" /><Relationship Type="http://schemas.openxmlformats.org/officeDocument/2006/relationships/slide" Target="/ppt/slides/slide47.xml" Id="R4d95a543e88e4a2e" /><Relationship Type="http://schemas.openxmlformats.org/officeDocument/2006/relationships/slide" Target="/ppt/slides/slide48.xml" Id="Re2c4f17c8f5944f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d44c5e4370e48d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25cda3320864abf" /><Relationship Type="http://schemas.openxmlformats.org/officeDocument/2006/relationships/notesMaster" Target="/ppt/notesMasters/notesMaster1.xml" Id="R24c7287424a446a5" /></Relationships>
</file>

<file path=ppt/notesSlides/_rels/notesSlide2.xml.rels>&#65279;<?xml version="1.0" encoding="utf-8"?><Relationships xmlns="http://schemas.openxmlformats.org/package/2006/relationships"><Relationship Type="http://schemas.openxmlformats.org/officeDocument/2006/relationships/slide" Target="/ppt/slides/slide2.xml" Id="Rfc1fa2093cda4915" /><Relationship Type="http://schemas.openxmlformats.org/officeDocument/2006/relationships/notesMaster" Target="/ppt/notesMasters/notesMaster1.xml" Id="R1b0d67e195de4ffc" /></Relationships>
</file>

<file path=ppt/notesSlides/_rels/notesSlide3.xml.rels>&#65279;<?xml version="1.0" encoding="utf-8"?><Relationships xmlns="http://schemas.openxmlformats.org/package/2006/relationships"><Relationship Type="http://schemas.openxmlformats.org/officeDocument/2006/relationships/slide" Target="/ppt/slides/slide3.xml" Id="Rcfbfc2b8c9b744f3" /><Relationship Type="http://schemas.openxmlformats.org/officeDocument/2006/relationships/notesMaster" Target="/ppt/notesMasters/notesMaster1.xml" Id="R180cc411a17c48a6" /></Relationships>
</file>

<file path=ppt/notesSlides/_rels/notesSlide4.xml.rels>&#65279;<?xml version="1.0" encoding="utf-8"?><Relationships xmlns="http://schemas.openxmlformats.org/package/2006/relationships"><Relationship Type="http://schemas.openxmlformats.org/officeDocument/2006/relationships/slide" Target="/ppt/slides/slide4.xml" Id="R51ca800333b44ac3" /><Relationship Type="http://schemas.openxmlformats.org/officeDocument/2006/relationships/notesMaster" Target="/ppt/notesMasters/notesMaster1.xml" Id="R2bac5daa988a4dc4" /></Relationships>
</file>

<file path=ppt/notesSlides/_rels/notesSlide5.xml.rels>&#65279;<?xml version="1.0" encoding="utf-8"?><Relationships xmlns="http://schemas.openxmlformats.org/package/2006/relationships"><Relationship Type="http://schemas.openxmlformats.org/officeDocument/2006/relationships/slide" Target="/ppt/slides/slide5.xml" Id="Rad9b127c56224d8d" /><Relationship Type="http://schemas.openxmlformats.org/officeDocument/2006/relationships/notesMaster" Target="/ppt/notesMasters/notesMaster1.xml" Id="R657aa6722bbc4e1c" /></Relationships>
</file>

<file path=ppt/notesSlides/_rels/notesSlide6.xml.rels>&#65279;<?xml version="1.0" encoding="utf-8"?><Relationships xmlns="http://schemas.openxmlformats.org/package/2006/relationships"><Relationship Type="http://schemas.openxmlformats.org/officeDocument/2006/relationships/slide" Target="/ppt/slides/slide6.xml" Id="Rb486601ffc8444a9" /><Relationship Type="http://schemas.openxmlformats.org/officeDocument/2006/relationships/notesMaster" Target="/ppt/notesMasters/notesMaster1.xml" Id="R8d3b92280b234b1a" /></Relationships>
</file>

<file path=ppt/notesSlides/_rels/notesSlide7.xml.rels>&#65279;<?xml version="1.0" encoding="utf-8"?><Relationships xmlns="http://schemas.openxmlformats.org/package/2006/relationships"><Relationship Type="http://schemas.openxmlformats.org/officeDocument/2006/relationships/slide" Target="/ppt/slides/slide7.xml" Id="Rbcfb6ec43e8a4356" /><Relationship Type="http://schemas.openxmlformats.org/officeDocument/2006/relationships/notesMaster" Target="/ppt/notesMasters/notesMaster1.xml" Id="R09b403946210499a" /></Relationships>
</file>

<file path=ppt/notesSlides/_rels/notesSlide8.xml.rels>&#65279;<?xml version="1.0" encoding="utf-8"?><Relationships xmlns="http://schemas.openxmlformats.org/package/2006/relationships"><Relationship Type="http://schemas.openxmlformats.org/officeDocument/2006/relationships/slide" Target="/ppt/slides/slide8.xml" Id="Re74cc62604b14b80" /><Relationship Type="http://schemas.openxmlformats.org/officeDocument/2006/relationships/notesMaster" Target="/ppt/notesMasters/notesMaster1.xml" Id="Rbd775ddb7ba94e50" /></Relationships>
</file>

<file path=ppt/notesSlides/_rels/notesSlide9.xml.rels>&#65279;<?xml version="1.0" encoding="utf-8"?><Relationships xmlns="http://schemas.openxmlformats.org/package/2006/relationships"><Relationship Type="http://schemas.openxmlformats.org/officeDocument/2006/relationships/slide" Target="/ppt/slides/slide9.xml" Id="R4184a7fdab2d4a5a" /><Relationship Type="http://schemas.openxmlformats.org/officeDocument/2006/relationships/notesMaster" Target="/ppt/notesMasters/notesMaster1.xml" Id="Ra66f402d1a8a463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fbdbbdeaff64d74" /><Relationship Type="http://schemas.openxmlformats.org/officeDocument/2006/relationships/notesMaster" Target="/ppt/notesMasters/notesMaster1.xml" Id="R911c90cbe7bd41e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334895a08d049b6" /><Relationship Type="http://schemas.openxmlformats.org/officeDocument/2006/relationships/notesMaster" Target="/ppt/notesMasters/notesMaster1.xml" Id="R1e789813d6c7496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57f106294e54d1a" /><Relationship Type="http://schemas.openxmlformats.org/officeDocument/2006/relationships/notesMaster" Target="/ppt/notesMasters/notesMaster1.xml" Id="Rca05998dcc0f4f4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44a6e2ade664f5a" /><Relationship Type="http://schemas.openxmlformats.org/officeDocument/2006/relationships/notesMaster" Target="/ppt/notesMasters/notesMaster1.xml" Id="Rb16afc93c4f74f8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e55c3c5641e4c80" /><Relationship Type="http://schemas.openxmlformats.org/officeDocument/2006/relationships/notesMaster" Target="/ppt/notesMasters/notesMaster1.xml" Id="Ra28f2f4e9423404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4391bfb4e624bda" /><Relationship Type="http://schemas.openxmlformats.org/officeDocument/2006/relationships/notesMaster" Target="/ppt/notesMasters/notesMaster1.xml" Id="Reae67c8047c0485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b93f580b7e64d3c" /><Relationship Type="http://schemas.openxmlformats.org/officeDocument/2006/relationships/notesMaster" Target="/ppt/notesMasters/notesMaster1.xml" Id="R2699516771b148c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b582d7b88a84c9d" /><Relationship Type="http://schemas.openxmlformats.org/officeDocument/2006/relationships/notesMaster" Target="/ppt/notesMasters/notesMaster1.xml" Id="R93bf7cfdace9455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cd245d86fbe4f58" /><Relationship Type="http://schemas.openxmlformats.org/officeDocument/2006/relationships/notesMaster" Target="/ppt/notesMasters/notesMaster1.xml" Id="Rcf21490333fc466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dc500cb47dd44e9" /><Relationship Type="http://schemas.openxmlformats.org/officeDocument/2006/relationships/notesMaster" Target="/ppt/notesMasters/notesMaster1.xml" Id="R5184bd2630e840c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493be6beab74f76" /><Relationship Type="http://schemas.openxmlformats.org/officeDocument/2006/relationships/notesMaster" Target="/ppt/notesMasters/notesMaster1.xml" Id="R35c44cd3f50e487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4e51ead795e4084" /><Relationship Type="http://schemas.openxmlformats.org/officeDocument/2006/relationships/notesMaster" Target="/ppt/notesMasters/notesMaster1.xml" Id="R66b925a499ca4fd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8d196cf37604fc4" /><Relationship Type="http://schemas.openxmlformats.org/officeDocument/2006/relationships/notesMaster" Target="/ppt/notesMasters/notesMaster1.xml" Id="R5219087e7ee6448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6914db4762f40d8" /><Relationship Type="http://schemas.openxmlformats.org/officeDocument/2006/relationships/notesMaster" Target="/ppt/notesMasters/notesMaster1.xml" Id="Ra435dd440a6c414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8bf8294656f42b9" /><Relationship Type="http://schemas.openxmlformats.org/officeDocument/2006/relationships/notesMaster" Target="/ppt/notesMasters/notesMaster1.xml" Id="Rc921e3a85c82488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850d821f7024434" /><Relationship Type="http://schemas.openxmlformats.org/officeDocument/2006/relationships/notesMaster" Target="/ppt/notesMasters/notesMaster1.xml" Id="R10d95c6ce40f474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b7fa6f0793042ab" /><Relationship Type="http://schemas.openxmlformats.org/officeDocument/2006/relationships/notesMaster" Target="/ppt/notesMasters/notesMaster1.xml" Id="R97e7019434064657"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0822a3bf0e1c444c" /><Relationship Type="http://schemas.openxmlformats.org/officeDocument/2006/relationships/notesMaster" Target="/ppt/notesMasters/notesMaster1.xml" Id="R1156d01e11b44c4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76aa76961d534593" /><Relationship Type="http://schemas.openxmlformats.org/officeDocument/2006/relationships/notesMaster" Target="/ppt/notesMasters/notesMaster1.xml" Id="R0d6b93a2377b40b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948f6c667954513" /><Relationship Type="http://schemas.openxmlformats.org/officeDocument/2006/relationships/notesMaster" Target="/ppt/notesMasters/notesMaster1.xml" Id="Rd5086227058448ef"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5e626c24e379442b" /><Relationship Type="http://schemas.openxmlformats.org/officeDocument/2006/relationships/notesMaster" Target="/ppt/notesMasters/notesMaster1.xml" Id="R253f1a4c1d5d43c5"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5d80268a35704cbe" /><Relationship Type="http://schemas.openxmlformats.org/officeDocument/2006/relationships/notesMaster" Target="/ppt/notesMasters/notesMaster1.xml" Id="R6a17285ac3c445fd"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2a7de047a290488c" /><Relationship Type="http://schemas.openxmlformats.org/officeDocument/2006/relationships/notesMaster" Target="/ppt/notesMasters/notesMaster1.xml" Id="R2af675a269774409"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74471f520267426a" /><Relationship Type="http://schemas.openxmlformats.org/officeDocument/2006/relationships/notesMaster" Target="/ppt/notesMasters/notesMaster1.xml" Id="Rba12afd3cb6c45e9"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50e36e7affec4094" /><Relationship Type="http://schemas.openxmlformats.org/officeDocument/2006/relationships/notesMaster" Target="/ppt/notesMasters/notesMaster1.xml" Id="R059fb9948f9b457c"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e4980743d86e42e8" /><Relationship Type="http://schemas.openxmlformats.org/officeDocument/2006/relationships/notesMaster" Target="/ppt/notesMasters/notesMaster1.xml" Id="R1ef6f745a92a41ab"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671722207a444355" /><Relationship Type="http://schemas.openxmlformats.org/officeDocument/2006/relationships/notesMaster" Target="/ppt/notesMasters/notesMaster1.xml" Id="Ra232665d53764feb"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ef4b50dd59c34c30" /><Relationship Type="http://schemas.openxmlformats.org/officeDocument/2006/relationships/notesMaster" Target="/ppt/notesMasters/notesMaster1.xml" Id="R5b00c572205444a5"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55b43be056744b5e" /><Relationship Type="http://schemas.openxmlformats.org/officeDocument/2006/relationships/notesMaster" Target="/ppt/notesMasters/notesMaster1.xml" Id="Rb43363aaa3e240f9"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1130522833c140c6" /><Relationship Type="http://schemas.openxmlformats.org/officeDocument/2006/relationships/notesMaster" Target="/ppt/notesMasters/notesMaster1.xml" Id="Re25436fa887448b9"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f543876d36114bce" /><Relationship Type="http://schemas.openxmlformats.org/officeDocument/2006/relationships/notesMaster" Target="/ppt/notesMasters/notesMaster1.xml" Id="R119f4e6e55c44dd1"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cb77ef7c7e4f48d5" /><Relationship Type="http://schemas.openxmlformats.org/officeDocument/2006/relationships/notesMaster" Target="/ppt/notesMasters/notesMaster1.xml" Id="R04250789fee143cb"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afc341ef79d14022" /><Relationship Type="http://schemas.openxmlformats.org/officeDocument/2006/relationships/notesMaster" Target="/ppt/notesMasters/notesMaster1.xml" Id="R40db5a60d6514e1d"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6db3b3d5b3134ef2" /><Relationship Type="http://schemas.openxmlformats.org/officeDocument/2006/relationships/notesMaster" Target="/ppt/notesMasters/notesMaster1.xml" Id="Rb1afef11333d4034"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1e07b51d189944e1" /><Relationship Type="http://schemas.openxmlformats.org/officeDocument/2006/relationships/notesMaster" Target="/ppt/notesMasters/notesMaster1.xml" Id="R5b32dd9a3a2d4d35"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7c133dad7e0046d5" /><Relationship Type="http://schemas.openxmlformats.org/officeDocument/2006/relationships/notesMaster" Target="/ppt/notesMasters/notesMaster1.xml" Id="Rac398672df51476b"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69eda2a651b74b99" /><Relationship Type="http://schemas.openxmlformats.org/officeDocument/2006/relationships/notesMaster" Target="/ppt/notesMasters/notesMaster1.xml" Id="R2930b376c9584989"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06cbf024f7ac46e5" /><Relationship Type="http://schemas.openxmlformats.org/officeDocument/2006/relationships/notesMaster" Target="/ppt/notesMasters/notesMaster1.xml" Id="R1531b9682f7c4eb8"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dd92f59b47654163" /><Relationship Type="http://schemas.openxmlformats.org/officeDocument/2006/relationships/notesMaster" Target="/ppt/notesMasters/notesMaster1.xml" Id="Raa6873736696435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15: Proyecto integrador: una estación de pruebas para UAV.</a:t>
            </a:r>
          </a:p>
          <a:p xmlns:a="http://schemas.openxmlformats.org/drawingml/2006/main">
            <a:r>
              <a:t>En línea, 2 horas. Núcleo de explicación: 3 minutos en esta diapositiva.</a:t>
            </a:r>
          </a:p>
          <a:p xmlns:a="http://schemas.openxmlformats.org/drawingml/2006/main">
            <a:r>
              <a:t/>
            </a:r>
          </a:p>
          <a:p xmlns:a="http://schemas.openxmlformats.org/drawingml/2006/main">
            <a:r>
              <a:t>Mostrar el portafolio acumulado y elegir un propósito concreto.</a:t>
            </a:r>
          </a:p>
          <a:p xmlns:a="http://schemas.openxmlformats.org/drawingml/2006/main">
            <a:r>
              <a:t/>
            </a:r>
          </a:p>
          <a:p xmlns:a="http://schemas.openxmlformats.org/drawingml/2006/main">
            <a:r>
              <a:t>Objetivo: Integrar módulos ya estudiados en un sistema de banco con requisitos y pruebas trazables.</a:t>
            </a:r>
          </a:p>
          <a:p xmlns:a="http://schemas.openxmlformats.org/drawingml/2006/main">
            <a:r>
              <a:t>Aplicación: MECRO necesita que un participante pueda construir, diagnosticar y explicar una cadena de sensores o de control aplicada a equipos UAV.</a:t>
            </a:r>
          </a:p>
          <a:p xmlns:a="http://schemas.openxmlformats.org/drawingml/2006/main">
            <a:r>
              <a:t>Entrega: Primera versión integrada, mapa de pines, cuatro hitos y plan de demostración.</a:t>
            </a:r>
          </a:p>
          <a:p xmlns:a="http://schemas.openxmlformats.org/drawingml/2006/main">
            <a:r>
              <a:t/>
            </a:r>
          </a:p>
          <a:p xmlns:a="http://schemas.openxmlformats.org/drawingml/2006/main">
            <a:r>
              <a:t>Preguntas y respuestas</a:t>
            </a:r>
          </a:p>
          <a:p xmlns:a="http://schemas.openxmlformats.org/drawingml/2006/main">
            <a:r>
              <a:t>¿Se actualiza lastValid al imprimir?</a:t>
            </a:r>
          </a:p>
          <a:p xmlns:a="http://schemas.openxmlformats.org/drawingml/2006/main">
            <a:r>
              <a:t>Se actualiza al aceptar una adquisición nueva bajo el criterio definido.</a:t>
            </a:r>
          </a:p>
          <a:p xmlns:a="http://schemas.openxmlformats.org/drawingml/2006/main">
            <a:r>
              <a:t/>
            </a:r>
          </a:p>
          <a:p xmlns:a="http://schemas.openxmlformats.org/drawingml/2006/main">
            <a:r>
              <a:t>¿Puede integrarse sin revisar pines de las clases previas?</a:t>
            </a:r>
          </a:p>
          <a:p xmlns:a="http://schemas.openxmlformats.org/drawingml/2006/main">
            <a:r>
              <a:t>No. La configuración final necesita su propio mapa y revisión de conflictos.</a:t>
            </a:r>
          </a:p>
          <a:p xmlns:a="http://schemas.openxmlformats.org/drawingml/2006/main">
            <a:r>
              <a:t/>
            </a:r>
          </a:p>
          <a:p xmlns:a="http://schemas.openxmlformats.org/drawingml/2006/main">
            <a:r>
              <a:t>¿Qué identifica una modificación útil?</a:t>
            </a:r>
          </a:p>
          <a:p xmlns:a="http://schemas.openxmlformats.org/drawingml/2006/main">
            <a:r>
              <a:t>Un propósito, un requisito observable y una prueba que lo comprueba.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Espressif Systems. Arduino-ESP32: I2C. https://docs.espressif.com/projects/arduino-esp32/en/latest/api/i2c.html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Wokwi. ESP32 Simulation: periféricos y límites. https://docs.wokwi.com/guides/esp32</a:t>
            </a:r>
          </a:p>
          <a:p xmlns:a="http://schemas.openxmlformats.org/drawingml/2006/main">
            <a:r>
              <a:t>Lectura MECRO_ESP32_Clase_15.pdf.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15: Proyecto integrador: una estación de pruebas para UAV.</a:t>
            </a:r>
          </a:p>
          <a:p xmlns:a="http://schemas.openxmlformats.org/drawingml/2006/main">
            <a:r>
              <a:t>En línea, 2 horas. Núcleo de explicación: 4 minutos en esta diapositiva.</a:t>
            </a:r>
          </a:p>
          <a:p xmlns:a="http://schemas.openxmlformats.org/drawingml/2006/main">
            <a:r>
              <a:t/>
            </a:r>
          </a:p>
          <a:p xmlns:a="http://schemas.openxmlformats.org/drawingml/2006/main">
            <a:r>
              <a:t>La integración recoge un portafolio que ya creció durante el curso: circuito y medida, entrada digital, agenda, conversión, señal de mando, sensor e interpretación. No se empieza comprando todas las piezas en la clase 15. Cada equipo elige un propósito y conserva el perfil de hardware disponible. El resultado debe poder explicarse con un esquema y comprobarse con un conjunto pequeño de pruebas.</a:t>
            </a:r>
          </a:p>
          <a:p xmlns:a="http://schemas.openxmlformats.org/drawingml/2006/main">
            <a:r>
              <a:t/>
            </a:r>
          </a:p>
          <a:p xmlns:a="http://schemas.openxmlformats.org/drawingml/2006/main">
            <a:r>
              <a:t>MECRO, proyecto 16. Esquema original del laboratorio para reconocer la arquitectura en Wokwi. Para montaje físico se aplica la tabla y las correcciones de esta lectura.</a:t>
            </a:r>
          </a:p>
          <a:p xmlns:a="http://schemas.openxmlformats.org/drawingml/2006/main">
            <a:r>
              <a:t/>
            </a:r>
          </a:p>
          <a:p xmlns:a="http://schemas.openxmlformats.org/drawingml/2006/main">
            <a:r>
              <a:t>La opción principal es una estación de IMU y estado: adquiere datos, conserva tiempo y validez, presenta una salida y genera un registro de serie. La ampliación añade un mando analógico o una interfaz de consulta. Como alternativa, un equipo con motor, driver y encoder puede integrar el banco de velocidad con los módulos ya comprobados. La selección depende de componentes y objetivos; no cambia el nivel de exigencia sobre explicación y evidencia.</a:t>
            </a:r>
          </a:p>
          <a:p xmlns:a="http://schemas.openxmlformats.org/drawingml/2006/main">
            <a:r>
              <a:t/>
            </a:r>
          </a:p>
          <a:p xmlns:a="http://schemas.openxmlformats.org/drawingml/2006/main">
            <a:r>
              <a:t>El curso se puede seguir con simulación y bancos compartidos. El kit facilita el trabajo personal y se entrega a quienes lo soliciten con inventario confirmado. Esa condición comercial no obliga a afirmar que todos los asistentes construyeron físicamente todas las variantes. El expediente identifica el modo real de cada prueba.</a:t>
            </a:r>
          </a:p>
          <a:p xmlns:a="http://schemas.openxmlformats.org/drawingml/2006/main">
            <a:r>
              <a:t/>
            </a:r>
          </a:p>
          <a:p xmlns:a="http://schemas.openxmlformats.org/drawingml/2006/main">
            <a:r>
              <a:t>Objetivo: Integrar módulos ya estudiados en un sistema de banco con requisitos y pruebas trazables.</a:t>
            </a:r>
          </a:p>
          <a:p xmlns:a="http://schemas.openxmlformats.org/drawingml/2006/main">
            <a:r>
              <a:t>Aplicación: MECRO necesita que un participante pueda construir, diagnosticar y explicar una cadena de sensores o de control aplicada a equipos UAV.</a:t>
            </a:r>
          </a:p>
          <a:p xmlns:a="http://schemas.openxmlformats.org/drawingml/2006/main">
            <a:r>
              <a:t>Entrega: Primera versión integrada, mapa de pines, cuatro hitos y plan de demostración.</a:t>
            </a:r>
          </a:p>
          <a:p xmlns:a="http://schemas.openxmlformats.org/drawingml/2006/main">
            <a:r>
              <a:t/>
            </a:r>
          </a:p>
          <a:p xmlns:a="http://schemas.openxmlformats.org/drawingml/2006/main">
            <a:r>
              <a:t>Preguntas y respuestas</a:t>
            </a:r>
          </a:p>
          <a:p xmlns:a="http://schemas.openxmlformats.org/drawingml/2006/main">
            <a:r>
              <a:t>¿Se actualiza lastValid al imprimir?</a:t>
            </a:r>
          </a:p>
          <a:p xmlns:a="http://schemas.openxmlformats.org/drawingml/2006/main">
            <a:r>
              <a:t>Se actualiza al aceptar una adquisición nueva bajo el criterio definido.</a:t>
            </a:r>
          </a:p>
          <a:p xmlns:a="http://schemas.openxmlformats.org/drawingml/2006/main">
            <a:r>
              <a:t/>
            </a:r>
          </a:p>
          <a:p xmlns:a="http://schemas.openxmlformats.org/drawingml/2006/main">
            <a:r>
              <a:t>¿Puede integrarse sin revisar pines de las clases previas?</a:t>
            </a:r>
          </a:p>
          <a:p xmlns:a="http://schemas.openxmlformats.org/drawingml/2006/main">
            <a:r>
              <a:t>No. La configuración final necesita su propio mapa y revisión de conflictos.</a:t>
            </a:r>
          </a:p>
          <a:p xmlns:a="http://schemas.openxmlformats.org/drawingml/2006/main">
            <a:r>
              <a:t/>
            </a:r>
          </a:p>
          <a:p xmlns:a="http://schemas.openxmlformats.org/drawingml/2006/main">
            <a:r>
              <a:t>¿Qué identifica una modificación útil?</a:t>
            </a:r>
          </a:p>
          <a:p xmlns:a="http://schemas.openxmlformats.org/drawingml/2006/main">
            <a:r>
              <a:t>Un propósito, un requisito observable y una prueba que lo comprueba.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Espressif Systems. Arduino-ESP32: I2C. https://docs.espressif.com/projects/arduino-esp32/en/latest/api/i2c.html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Wokwi. ESP32 Simulation: periféricos y límites. https://docs.wokwi.com/guides/esp32</a:t>
            </a:r>
          </a:p>
          <a:p xmlns:a="http://schemas.openxmlformats.org/drawingml/2006/main">
            <a:r>
              <a:t>Lectura MECRO_ESP32_Clase_15.pdf.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15: Proyecto integrador: una estación de pruebas para UAV.</a:t>
            </a:r>
          </a:p>
          <a:p xmlns:a="http://schemas.openxmlformats.org/drawingml/2006/main">
            <a:r>
              <a:t>En línea, 2 horas. Núcleo de explicación: 4 minutos en esta diapositiva.</a:t>
            </a:r>
          </a:p>
          <a:p xmlns:a="http://schemas.openxmlformats.org/drawingml/2006/main">
            <a:r>
              <a:t/>
            </a:r>
          </a:p>
          <a:p xmlns:a="http://schemas.openxmlformats.org/drawingml/2006/main">
            <a:r>
              <a:t>MECRO, proyecto 16. Esquema original del laboratorio para reconocer la arquitectura en Wokwi. Para montaje físico se aplica la tabla y las correcciones de esta lectura.</a:t>
            </a:r>
          </a:p>
          <a:p xmlns:a="http://schemas.openxmlformats.org/drawingml/2006/main">
            <a:r>
              <a:t>La integración recoge un portafolio que ya creció durante el curso: circuito y medida, entrada digital, agenda, conversión, señal de mando, sensor e interpretación. No se empieza comprando todas las piezas en la clase 15. Cada equipo elige un propósito y conserva el perfil de hardware disponible. El resultado debe poder explicarse con un esquema y comprobarse con un conjunto pequeño de pruebas.</a:t>
            </a:r>
          </a:p>
          <a:p xmlns:a="http://schemas.openxmlformats.org/drawingml/2006/main">
            <a:r>
              <a:t/>
            </a:r>
          </a:p>
          <a:p xmlns:a="http://schemas.openxmlformats.org/drawingml/2006/main">
            <a:r>
              <a:t>MECRO, proyecto 16. Esquema original del laboratorio para reconocer la arquitectura en Wokwi. Para montaje físico se aplica la tabla y las correcciones de esta lectura.</a:t>
            </a:r>
          </a:p>
          <a:p xmlns:a="http://schemas.openxmlformats.org/drawingml/2006/main">
            <a:r>
              <a:t/>
            </a:r>
          </a:p>
          <a:p xmlns:a="http://schemas.openxmlformats.org/drawingml/2006/main">
            <a:r>
              <a:t>La opción principal es una estación de IMU y estado: adquiere datos, conserva tiempo y validez, presenta una salida y genera un registro de serie. La ampliación añade un mando analógico o una interfaz de consulta. Como alternativa, un equipo con motor, driver y encoder puede integrar el banco de velocidad con los módulos ya comprobados. La selección depende de componentes y objetivos; no cambia el nivel de exigencia sobre explicación y evidencia.</a:t>
            </a:r>
          </a:p>
          <a:p xmlns:a="http://schemas.openxmlformats.org/drawingml/2006/main">
            <a:r>
              <a:t/>
            </a:r>
          </a:p>
          <a:p xmlns:a="http://schemas.openxmlformats.org/drawingml/2006/main">
            <a:r>
              <a:t>El curso se puede seguir con simulación y bancos compartidos. El kit facilita el trabajo personal y se entrega a quienes lo soliciten con inventario confirmado. Esa condición comercial no obliga a afirmar que todos los asistentes construyeron físicamente todas las variantes. El expediente identifica el modo real de cada prueba.</a:t>
            </a:r>
          </a:p>
          <a:p xmlns:a="http://schemas.openxmlformats.org/drawingml/2006/main">
            <a:r>
              <a:t/>
            </a:r>
          </a:p>
          <a:p xmlns:a="http://schemas.openxmlformats.org/drawingml/2006/main">
            <a:r>
              <a:t>Objetivo: Integrar módulos ya estudiados en un sistema de banco con requisitos y pruebas trazables.</a:t>
            </a:r>
          </a:p>
          <a:p xmlns:a="http://schemas.openxmlformats.org/drawingml/2006/main">
            <a:r>
              <a:t>Aplicación: MECRO necesita que un participante pueda construir, diagnosticar y explicar una cadena de sensores o de control aplicada a equipos UAV.</a:t>
            </a:r>
          </a:p>
          <a:p xmlns:a="http://schemas.openxmlformats.org/drawingml/2006/main">
            <a:r>
              <a:t>Entrega: Primera versión integrada, mapa de pines, cuatro hitos y plan de demostración.</a:t>
            </a:r>
          </a:p>
          <a:p xmlns:a="http://schemas.openxmlformats.org/drawingml/2006/main">
            <a:r>
              <a:t/>
            </a:r>
          </a:p>
          <a:p xmlns:a="http://schemas.openxmlformats.org/drawingml/2006/main">
            <a:r>
              <a:t>Preguntas y respuestas</a:t>
            </a:r>
          </a:p>
          <a:p xmlns:a="http://schemas.openxmlformats.org/drawingml/2006/main">
            <a:r>
              <a:t>¿Se actualiza lastValid al imprimir?</a:t>
            </a:r>
          </a:p>
          <a:p xmlns:a="http://schemas.openxmlformats.org/drawingml/2006/main">
            <a:r>
              <a:t>Se actualiza al aceptar una adquisición nueva bajo el criterio definido.</a:t>
            </a:r>
          </a:p>
          <a:p xmlns:a="http://schemas.openxmlformats.org/drawingml/2006/main">
            <a:r>
              <a:t/>
            </a:r>
          </a:p>
          <a:p xmlns:a="http://schemas.openxmlformats.org/drawingml/2006/main">
            <a:r>
              <a:t>¿Puede integrarse sin revisar pines de las clases previas?</a:t>
            </a:r>
          </a:p>
          <a:p xmlns:a="http://schemas.openxmlformats.org/drawingml/2006/main">
            <a:r>
              <a:t>No. La configuración final necesita su propio mapa y revisión de conflictos.</a:t>
            </a:r>
          </a:p>
          <a:p xmlns:a="http://schemas.openxmlformats.org/drawingml/2006/main">
            <a:r>
              <a:t/>
            </a:r>
          </a:p>
          <a:p xmlns:a="http://schemas.openxmlformats.org/drawingml/2006/main">
            <a:r>
              <a:t>¿Qué identifica una modificación útil?</a:t>
            </a:r>
          </a:p>
          <a:p xmlns:a="http://schemas.openxmlformats.org/drawingml/2006/main">
            <a:r>
              <a:t>Un propósito, un requisito observable y una prueba que lo comprueba.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Espressif Systems. Arduino-ESP32: I2C. https://docs.espressif.com/projects/arduino-esp32/en/latest/api/i2c.html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Wokwi. ESP32 Simulation: periféricos y límites. https://docs.wokwi.com/guides/esp32</a:t>
            </a:r>
          </a:p>
          <a:p xmlns:a="http://schemas.openxmlformats.org/drawingml/2006/main">
            <a:r>
              <a:t>Lectura MECRO_ESP32_Clase_15.pdf.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15: Proyecto integrador: una estación de pruebas para UAV.</a:t>
            </a:r>
          </a:p>
          <a:p xmlns:a="http://schemas.openxmlformats.org/drawingml/2006/main">
            <a:r>
              <a:t>En línea, 2 horas. Núcleo de explicación: 5 minutos en esta diapositiva.</a:t>
            </a:r>
          </a:p>
          <a:p xmlns:a="http://schemas.openxmlformats.org/drawingml/2006/main">
            <a:r>
              <a:t/>
            </a:r>
          </a:p>
          <a:p xmlns:a="http://schemas.openxmlformats.org/drawingml/2006/main">
            <a:r>
              <a:t>La integración recoge un portafolio que ya creció durante el curso: circuito y medida, entrada digital, agenda, conversión, señal de mando, sensor e interpretación. No se empieza comprando todas las piezas en la clase 15. Cada equipo elige un propósito y conserva el perfil de hardware disponible. El resultado debe poder explicarse con un esquema y comprobarse con un conjunto pequeño de pruebas.</a:t>
            </a:r>
          </a:p>
          <a:p xmlns:a="http://schemas.openxmlformats.org/drawingml/2006/main">
            <a:r>
              <a:t/>
            </a:r>
          </a:p>
          <a:p xmlns:a="http://schemas.openxmlformats.org/drawingml/2006/main">
            <a:r>
              <a:t>MECRO, proyecto 16. Esquema original del laboratorio para reconocer la arquitectura en Wokwi. Para montaje físico se aplica la tabla y las correcciones de esta lectura.</a:t>
            </a:r>
          </a:p>
          <a:p xmlns:a="http://schemas.openxmlformats.org/drawingml/2006/main">
            <a:r>
              <a:t/>
            </a:r>
          </a:p>
          <a:p xmlns:a="http://schemas.openxmlformats.org/drawingml/2006/main">
            <a:r>
              <a:t>La opción principal es una estación de IMU y estado: adquiere datos, conserva tiempo y validez, presenta una salida y genera un registro de serie. La ampliación añade un mando analógico o una interfaz de consulta. Como alternativa, un equipo con motor, driver y encoder puede integrar el banco de velocidad con los módulos ya comprobados. La selección depende de componentes y objetivos; no cambia el nivel de exigencia sobre explicación y evidencia.</a:t>
            </a:r>
          </a:p>
          <a:p xmlns:a="http://schemas.openxmlformats.org/drawingml/2006/main">
            <a:r>
              <a:t/>
            </a:r>
          </a:p>
          <a:p xmlns:a="http://schemas.openxmlformats.org/drawingml/2006/main">
            <a:r>
              <a:t>El curso se puede seguir con simulación y bancos compartidos. El kit facilita el trabajo personal y se entrega a quienes lo soliciten con inventario confirmado. Esa condición comercial no obliga a afirmar que todos los asistentes construyeron físicamente todas las variantes. El expediente identifica el modo real de cada prueba.</a:t>
            </a:r>
          </a:p>
          <a:p xmlns:a="http://schemas.openxmlformats.org/drawingml/2006/main">
            <a:r>
              <a:t/>
            </a:r>
          </a:p>
          <a:p xmlns:a="http://schemas.openxmlformats.org/drawingml/2006/main">
            <a:r>
              <a:t>Objetivo: Integrar módulos ya estudiados en un sistema de banco con requisitos y pruebas trazables.</a:t>
            </a:r>
          </a:p>
          <a:p xmlns:a="http://schemas.openxmlformats.org/drawingml/2006/main">
            <a:r>
              <a:t>Aplicación: MECRO necesita que un participante pueda construir, diagnosticar y explicar una cadena de sensores o de control aplicada a equipos UAV.</a:t>
            </a:r>
          </a:p>
          <a:p xmlns:a="http://schemas.openxmlformats.org/drawingml/2006/main">
            <a:r>
              <a:t>Entrega: Primera versión integrada, mapa de pines, cuatro hitos y plan de demostración.</a:t>
            </a:r>
          </a:p>
          <a:p xmlns:a="http://schemas.openxmlformats.org/drawingml/2006/main">
            <a:r>
              <a:t/>
            </a:r>
          </a:p>
          <a:p xmlns:a="http://schemas.openxmlformats.org/drawingml/2006/main">
            <a:r>
              <a:t>Preguntas y respuestas</a:t>
            </a:r>
          </a:p>
          <a:p xmlns:a="http://schemas.openxmlformats.org/drawingml/2006/main">
            <a:r>
              <a:t>¿Se actualiza lastValid al imprimir?</a:t>
            </a:r>
          </a:p>
          <a:p xmlns:a="http://schemas.openxmlformats.org/drawingml/2006/main">
            <a:r>
              <a:t>Se actualiza al aceptar una adquisición nueva bajo el criterio definido.</a:t>
            </a:r>
          </a:p>
          <a:p xmlns:a="http://schemas.openxmlformats.org/drawingml/2006/main">
            <a:r>
              <a:t/>
            </a:r>
          </a:p>
          <a:p xmlns:a="http://schemas.openxmlformats.org/drawingml/2006/main">
            <a:r>
              <a:t>¿Puede integrarse sin revisar pines de las clases previas?</a:t>
            </a:r>
          </a:p>
          <a:p xmlns:a="http://schemas.openxmlformats.org/drawingml/2006/main">
            <a:r>
              <a:t>No. La configuración final necesita su propio mapa y revisión de conflictos.</a:t>
            </a:r>
          </a:p>
          <a:p xmlns:a="http://schemas.openxmlformats.org/drawingml/2006/main">
            <a:r>
              <a:t/>
            </a:r>
          </a:p>
          <a:p xmlns:a="http://schemas.openxmlformats.org/drawingml/2006/main">
            <a:r>
              <a:t>¿Qué identifica una modificación útil?</a:t>
            </a:r>
          </a:p>
          <a:p xmlns:a="http://schemas.openxmlformats.org/drawingml/2006/main">
            <a:r>
              <a:t>Un propósito, un requisito observable y una prueba que lo comprueba.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Espressif Systems. Arduino-ESP32: I2C. https://docs.espressif.com/projects/arduino-esp32/en/latest/api/i2c.html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Wokwi. ESP32 Simulation: periféricos y límites. https://docs.wokwi.com/guides/esp32</a:t>
            </a:r>
          </a:p>
          <a:p xmlns:a="http://schemas.openxmlformats.org/drawingml/2006/main">
            <a:r>
              <a:t>Lectura MECRO_ESP32_Clase_15.pdf.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15: Proyecto integrador: una estación de pruebas para UAV.</a:t>
            </a:r>
          </a:p>
          <a:p xmlns:a="http://schemas.openxmlformats.org/drawingml/2006/main">
            <a:r>
              <a:t>En línea, 2 horas. Núcleo de explicación: 4 minutos en esta diapositiva.</a:t>
            </a:r>
          </a:p>
          <a:p xmlns:a="http://schemas.openxmlformats.org/drawingml/2006/main">
            <a:r>
              <a:t/>
            </a:r>
          </a:p>
          <a:p xmlns:a="http://schemas.openxmlformats.org/drawingml/2006/main">
            <a:r>
              <a:t>Requisito / Prueba / Evidencia</a:t>
            </a:r>
          </a:p>
          <a:p xmlns:a="http://schemas.openxmlformats.org/drawingml/2006/main">
            <a:r>
              <a:t>Identificar sensor / Inicio con y sin módulo / Estado registrado</a:t>
            </a:r>
          </a:p>
          <a:p xmlns:a="http://schemas.openxmlformats.org/drawingml/2006/main">
            <a:r>
              <a:t>Adquirir periódicamente / Observar marcas de tiempo / CSV</a:t>
            </a:r>
          </a:p>
          <a:p xmlns:a="http://schemas.openxmlformats.org/drawingml/2006/main">
            <a:r>
              <a:t>Separar dato y validez / Vencer una lectura / Estado de fallo</a:t>
            </a:r>
          </a:p>
          <a:p xmlns:a="http://schemas.openxmlformats.org/drawingml/2006/main">
            <a:r>
              <a:t>Presentar estado / Ver salida y registro / Coincidencia explicada</a:t>
            </a:r>
          </a:p>
          <a:p xmlns:a="http://schemas.openxmlformats.org/drawingml/2006/main">
            <a:r>
              <a:t>Cambio propio / Comparar dos versiones / Código y conclusión</a:t>
            </a:r>
          </a:p>
          <a:p xmlns:a="http://schemas.openxmlformats.org/drawingml/2006/main">
            <a:r>
              <a:t/>
            </a:r>
          </a:p>
          <a:p xmlns:a="http://schemas.openxmlformats.org/drawingml/2006/main">
            <a:r>
              <a:t>Un requisito como “que funcione bien” no define una comprobación. Una condición observable podría ser “si no existe una muestra reciente, el registro indica dato no válido”. Para probarla se define qué antigüedad acepta el caso, cómo se inyecta la ausencia y dónde se observa el cambio. El valor de 250 ms del ejemplo es una condición didáctica del banco, no un tiempo universal de sistemas UAV.</a:t>
            </a:r>
          </a:p>
          <a:p xmlns:a="http://schemas.openxmlformats.org/drawingml/2006/main">
            <a:r>
              <a:t/>
            </a:r>
          </a:p>
          <a:p xmlns:a="http://schemas.openxmlformats.org/drawingml/2006/main">
            <a:r>
              <a:t>El equipo escribe “detectar cualquier fallo”. ¿Cómo lo convierte en una prueba de esta etapa?</a:t>
            </a:r>
          </a:p>
          <a:p xmlns:a="http://schemas.openxmlformats.org/drawingml/2006/main">
            <a:r>
              <a:t>Elige una condición concreta: ausencia al inicializar, dirección sin respuesta, lectura vencida o rango no plausible. Describe el método y la evidencia sin prometer diagnóstico de toda causa posible.</a:t>
            </a:r>
          </a:p>
          <a:p xmlns:a="http://schemas.openxmlformats.org/drawingml/2006/main">
            <a:r>
              <a:t/>
            </a:r>
          </a:p>
          <a:p xmlns:a="http://schemas.openxmlformats.org/drawingml/2006/main">
            <a:r>
              <a:t>Objetivo: Integrar módulos ya estudiados en un sistema de banco con requisitos y pruebas trazables.</a:t>
            </a:r>
          </a:p>
          <a:p xmlns:a="http://schemas.openxmlformats.org/drawingml/2006/main">
            <a:r>
              <a:t>Aplicación: MECRO necesita que un participante pueda construir, diagnosticar y explicar una cadena de sensores o de control aplicada a equipos UAV.</a:t>
            </a:r>
          </a:p>
          <a:p xmlns:a="http://schemas.openxmlformats.org/drawingml/2006/main">
            <a:r>
              <a:t>Entrega: Primera versión integrada, mapa de pines, cuatro hitos y plan de demostración.</a:t>
            </a:r>
          </a:p>
          <a:p xmlns:a="http://schemas.openxmlformats.org/drawingml/2006/main">
            <a:r>
              <a:t/>
            </a:r>
          </a:p>
          <a:p xmlns:a="http://schemas.openxmlformats.org/drawingml/2006/main">
            <a:r>
              <a:t>Preguntas y respuestas</a:t>
            </a:r>
          </a:p>
          <a:p xmlns:a="http://schemas.openxmlformats.org/drawingml/2006/main">
            <a:r>
              <a:t>¿Se actualiza lastValid al imprimir?</a:t>
            </a:r>
          </a:p>
          <a:p xmlns:a="http://schemas.openxmlformats.org/drawingml/2006/main">
            <a:r>
              <a:t>Se actualiza al aceptar una adquisición nueva bajo el criterio definido.</a:t>
            </a:r>
          </a:p>
          <a:p xmlns:a="http://schemas.openxmlformats.org/drawingml/2006/main">
            <a:r>
              <a:t/>
            </a:r>
          </a:p>
          <a:p xmlns:a="http://schemas.openxmlformats.org/drawingml/2006/main">
            <a:r>
              <a:t>¿Puede integrarse sin revisar pines de las clases previas?</a:t>
            </a:r>
          </a:p>
          <a:p xmlns:a="http://schemas.openxmlformats.org/drawingml/2006/main">
            <a:r>
              <a:t>No. La configuración final necesita su propio mapa y revisión de conflictos.</a:t>
            </a:r>
          </a:p>
          <a:p xmlns:a="http://schemas.openxmlformats.org/drawingml/2006/main">
            <a:r>
              <a:t/>
            </a:r>
          </a:p>
          <a:p xmlns:a="http://schemas.openxmlformats.org/drawingml/2006/main">
            <a:r>
              <a:t>¿Qué identifica una modificación útil?</a:t>
            </a:r>
          </a:p>
          <a:p xmlns:a="http://schemas.openxmlformats.org/drawingml/2006/main">
            <a:r>
              <a:t>Un propósito, un requisito observable y una prueba que lo comprueba.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Espressif Systems. Arduino-ESP32: I2C. https://docs.espressif.com/projects/arduino-esp32/en/latest/api/i2c.html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Wokwi. ESP32 Simulation: periféricos y límites. https://docs.wokwi.com/guides/esp32</a:t>
            </a:r>
          </a:p>
          <a:p xmlns:a="http://schemas.openxmlformats.org/drawingml/2006/main">
            <a:r>
              <a:t>Lectura MECRO_ESP32_Clase_15.pdf.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15: Proyecto integrador: una estación de pruebas para UAV.</a:t>
            </a:r>
          </a:p>
          <a:p xmlns:a="http://schemas.openxmlformats.org/drawingml/2006/main">
            <a:r>
              <a:t>En línea, 2 horas. Núcleo de explicación: 4 minutos en esta diapositiva.</a:t>
            </a:r>
          </a:p>
          <a:p xmlns:a="http://schemas.openxmlformats.org/drawingml/2006/main">
            <a:r>
              <a:t/>
            </a:r>
          </a:p>
          <a:p xmlns:a="http://schemas.openxmlformats.org/drawingml/2006/main">
            <a:r>
              <a:t>Requisito / Prueba / Evidencia</a:t>
            </a:r>
          </a:p>
          <a:p xmlns:a="http://schemas.openxmlformats.org/drawingml/2006/main">
            <a:r>
              <a:t>Identificar sensor / Inicio con y sin módulo / Estado registrado</a:t>
            </a:r>
          </a:p>
          <a:p xmlns:a="http://schemas.openxmlformats.org/drawingml/2006/main">
            <a:r>
              <a:t>Adquirir periódicamente / Observar marcas de tiempo / CSV</a:t>
            </a:r>
          </a:p>
          <a:p xmlns:a="http://schemas.openxmlformats.org/drawingml/2006/main">
            <a:r>
              <a:t>Separar dato y validez / Vencer una lectura / Estado de fallo</a:t>
            </a:r>
          </a:p>
          <a:p xmlns:a="http://schemas.openxmlformats.org/drawingml/2006/main">
            <a:r>
              <a:t>Presentar estado / Ver salida y registro / Coincidencia explicada</a:t>
            </a:r>
          </a:p>
          <a:p xmlns:a="http://schemas.openxmlformats.org/drawingml/2006/main">
            <a:r>
              <a:t>Cambio propio / Comparar dos versiones / Código y conclusión</a:t>
            </a:r>
          </a:p>
          <a:p xmlns:a="http://schemas.openxmlformats.org/drawingml/2006/main">
            <a:r>
              <a:t>Comparar filas y explicar una condición que cambie la decisión.</a:t>
            </a:r>
          </a:p>
          <a:p xmlns:a="http://schemas.openxmlformats.org/drawingml/2006/main">
            <a:r>
              <a:t/>
            </a:r>
          </a:p>
          <a:p xmlns:a="http://schemas.openxmlformats.org/drawingml/2006/main">
            <a:r>
              <a:t>Objetivo: Integrar módulos ya estudiados en un sistema de banco con requisitos y pruebas trazables.</a:t>
            </a:r>
          </a:p>
          <a:p xmlns:a="http://schemas.openxmlformats.org/drawingml/2006/main">
            <a:r>
              <a:t>Aplicación: MECRO necesita que un participante pueda construir, diagnosticar y explicar una cadena de sensores o de control aplicada a equipos UAV.</a:t>
            </a:r>
          </a:p>
          <a:p xmlns:a="http://schemas.openxmlformats.org/drawingml/2006/main">
            <a:r>
              <a:t>Entrega: Primera versión integrada, mapa de pines, cuatro hitos y plan de demostración.</a:t>
            </a:r>
          </a:p>
          <a:p xmlns:a="http://schemas.openxmlformats.org/drawingml/2006/main">
            <a:r>
              <a:t/>
            </a:r>
          </a:p>
          <a:p xmlns:a="http://schemas.openxmlformats.org/drawingml/2006/main">
            <a:r>
              <a:t>Preguntas y respuestas</a:t>
            </a:r>
          </a:p>
          <a:p xmlns:a="http://schemas.openxmlformats.org/drawingml/2006/main">
            <a:r>
              <a:t>¿Se actualiza lastValid al imprimir?</a:t>
            </a:r>
          </a:p>
          <a:p xmlns:a="http://schemas.openxmlformats.org/drawingml/2006/main">
            <a:r>
              <a:t>Se actualiza al aceptar una adquisición nueva bajo el criterio definido.</a:t>
            </a:r>
          </a:p>
          <a:p xmlns:a="http://schemas.openxmlformats.org/drawingml/2006/main">
            <a:r>
              <a:t/>
            </a:r>
          </a:p>
          <a:p xmlns:a="http://schemas.openxmlformats.org/drawingml/2006/main">
            <a:r>
              <a:t>¿Puede integrarse sin revisar pines de las clases previas?</a:t>
            </a:r>
          </a:p>
          <a:p xmlns:a="http://schemas.openxmlformats.org/drawingml/2006/main">
            <a:r>
              <a:t>No. La configuración final necesita su propio mapa y revisión de conflictos.</a:t>
            </a:r>
          </a:p>
          <a:p xmlns:a="http://schemas.openxmlformats.org/drawingml/2006/main">
            <a:r>
              <a:t/>
            </a:r>
          </a:p>
          <a:p xmlns:a="http://schemas.openxmlformats.org/drawingml/2006/main">
            <a:r>
              <a:t>¿Qué identifica una modificación útil?</a:t>
            </a:r>
          </a:p>
          <a:p xmlns:a="http://schemas.openxmlformats.org/drawingml/2006/main">
            <a:r>
              <a:t>Un propósito, un requisito observable y una prueba que lo comprueba.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Espressif Systems. Arduino-ESP32: I2C. https://docs.espressif.com/projects/arduino-esp32/en/latest/api/i2c.html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Wokwi. ESP32 Simulation: periféricos y límites. https://docs.wokwi.com/guides/esp32</a:t>
            </a:r>
          </a:p>
          <a:p xmlns:a="http://schemas.openxmlformats.org/drawingml/2006/main">
            <a:r>
              <a:t>Lectura MECRO_ESP32_Clase_15.pdf.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15: Proyecto integrador: una estación de pruebas para UAV.</a:t>
            </a:r>
          </a:p>
          <a:p xmlns:a="http://schemas.openxmlformats.org/drawingml/2006/main">
            <a:r>
              <a:t>En línea, 2 horas. Núcleo de explicación: 5 minutos en esta diapositiva.</a:t>
            </a:r>
          </a:p>
          <a:p xmlns:a="http://schemas.openxmlformats.org/drawingml/2006/main">
            <a:r>
              <a:t/>
            </a:r>
          </a:p>
          <a:p xmlns:a="http://schemas.openxmlformats.org/drawingml/2006/main">
            <a:r>
              <a:t>Primero tapar la solución o pedir respuesta individual.</a:t>
            </a:r>
          </a:p>
          <a:p xmlns:a="http://schemas.openxmlformats.org/drawingml/2006/main">
            <a:r>
              <a:t>El equipo escribe “detectar cualquier fallo”. ¿Cómo lo convierte en una prueba de esta etapa?</a:t>
            </a:r>
          </a:p>
          <a:p xmlns:a="http://schemas.openxmlformats.org/drawingml/2006/main">
            <a:r>
              <a:t>Elige una condición concreta: ausencia al inicializar, dirección sin respuesta, lectura vencida o rango no plausible. Describe el método y la evidencia sin prometer diagnóstico de toda causa posible.</a:t>
            </a:r>
          </a:p>
          <a:p xmlns:a="http://schemas.openxmlformats.org/drawingml/2006/main">
            <a:r>
              <a:t/>
            </a:r>
          </a:p>
          <a:p xmlns:a="http://schemas.openxmlformats.org/drawingml/2006/main">
            <a:r>
              <a:t>Objetivo: Integrar módulos ya estudiados en un sistema de banco con requisitos y pruebas trazables.</a:t>
            </a:r>
          </a:p>
          <a:p xmlns:a="http://schemas.openxmlformats.org/drawingml/2006/main">
            <a:r>
              <a:t>Aplicación: MECRO necesita que un participante pueda construir, diagnosticar y explicar una cadena de sensores o de control aplicada a equipos UAV.</a:t>
            </a:r>
          </a:p>
          <a:p xmlns:a="http://schemas.openxmlformats.org/drawingml/2006/main">
            <a:r>
              <a:t>Entrega: Primera versión integrada, mapa de pines, cuatro hitos y plan de demostración.</a:t>
            </a:r>
          </a:p>
          <a:p xmlns:a="http://schemas.openxmlformats.org/drawingml/2006/main">
            <a:r>
              <a:t/>
            </a:r>
          </a:p>
          <a:p xmlns:a="http://schemas.openxmlformats.org/drawingml/2006/main">
            <a:r>
              <a:t>Preguntas y respuestas</a:t>
            </a:r>
          </a:p>
          <a:p xmlns:a="http://schemas.openxmlformats.org/drawingml/2006/main">
            <a:r>
              <a:t>¿Se actualiza lastValid al imprimir?</a:t>
            </a:r>
          </a:p>
          <a:p xmlns:a="http://schemas.openxmlformats.org/drawingml/2006/main">
            <a:r>
              <a:t>Se actualiza al aceptar una adquisición nueva bajo el criterio definido.</a:t>
            </a:r>
          </a:p>
          <a:p xmlns:a="http://schemas.openxmlformats.org/drawingml/2006/main">
            <a:r>
              <a:t/>
            </a:r>
          </a:p>
          <a:p xmlns:a="http://schemas.openxmlformats.org/drawingml/2006/main">
            <a:r>
              <a:t>¿Puede integrarse sin revisar pines de las clases previas?</a:t>
            </a:r>
          </a:p>
          <a:p xmlns:a="http://schemas.openxmlformats.org/drawingml/2006/main">
            <a:r>
              <a:t>No. La configuración final necesita su propio mapa y revisión de conflictos.</a:t>
            </a:r>
          </a:p>
          <a:p xmlns:a="http://schemas.openxmlformats.org/drawingml/2006/main">
            <a:r>
              <a:t/>
            </a:r>
          </a:p>
          <a:p xmlns:a="http://schemas.openxmlformats.org/drawingml/2006/main">
            <a:r>
              <a:t>¿Qué identifica una modificación útil?</a:t>
            </a:r>
          </a:p>
          <a:p xmlns:a="http://schemas.openxmlformats.org/drawingml/2006/main">
            <a:r>
              <a:t>Un propósito, un requisito observable y una prueba que lo comprueba.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Espressif Systems. Arduino-ESP32: I2C. https://docs.espressif.com/projects/arduino-esp32/en/latest/api/i2c.html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Wokwi. ESP32 Simulation: periféricos y límites. https://docs.wokwi.com/guides/esp32</a:t>
            </a:r>
          </a:p>
          <a:p xmlns:a="http://schemas.openxmlformats.org/drawingml/2006/main">
            <a:r>
              <a:t>Lectura MECRO_ESP32_Clase_15.pdf.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15: Proyecto integrador: una estación de pruebas para UAV.</a:t>
            </a:r>
          </a:p>
          <a:p xmlns:a="http://schemas.openxmlformats.org/drawingml/2006/main">
            <a:r>
              <a:t>En línea, 2 horas. Núcleo de explicación: 4 minutos en esta diapositiva.</a:t>
            </a:r>
          </a:p>
          <a:p xmlns:a="http://schemas.openxmlformats.org/drawingml/2006/main">
            <a:r>
              <a:t/>
            </a:r>
          </a:p>
          <a:p xmlns:a="http://schemas.openxmlformats.org/drawingml/2006/main">
            <a:r>
              <a:t>El código se organiza en adquisición, procesamiento, estado y presentación. Un dato aceptado lleva su instante; la tarea de pantalla no cambia ese origen. La tabla de pines corresponde a la versión final y reemplaza las conexiones de ejercicios anteriores. El semáforo, la OLED y la IMU no se acumulan sobre los mismos GPIO sin revisar su función y sus conflictos.</a:t>
            </a:r>
          </a:p>
          <a:p xmlns:a="http://schemas.openxmlformats.org/drawingml/2006/main">
            <a:r>
              <a:t/>
            </a:r>
          </a:p>
          <a:p xmlns:a="http://schemas.openxmlformats.org/drawingml/2006/main">
            <a:r>
              <a:t>Elemento / Conexión de referencia / Función</a:t>
            </a:r>
          </a:p>
          <a:p xmlns:a="http://schemas.openxmlformats.org/drawingml/2006/main">
            <a:r>
              <a:t>IMU I2C / SDA21 / SCL22 / Adquisición</a:t>
            </a:r>
          </a:p>
          <a:p xmlns:a="http://schemas.openxmlformats.org/drawingml/2006/main">
            <a:r>
              <a:t>Entrada analógica / GPIO34 / ADC1 / Lectura de mando</a:t>
            </a:r>
          </a:p>
          <a:p xmlns:a="http://schemas.openxmlformats.org/drawingml/2006/main">
            <a:r>
              <a:t>LED con resistor / GPIO23 / Estado del dato</a:t>
            </a:r>
          </a:p>
          <a:p xmlns:a="http://schemas.openxmlformats.org/drawingml/2006/main">
            <a:r>
              <a:t>Puerto serie / USB–UART de la placa / Registro</a:t>
            </a:r>
          </a:p>
          <a:p xmlns:a="http://schemas.openxmlformats.org/drawingml/2006/main">
            <a:r>
              <a:t/>
            </a:r>
          </a:p>
          <a:p xmlns:a="http://schemas.openxmlformats.org/drawingml/2006/main">
            <a:r>
              <a:t>La variante de motor conserva, además, el eje y las cuentas por vuelta del encoder, las alimentaciones del driver y los límites de mando. El controlador solo se evalúa después de comprobar medida y sentido de acción. Las curvas del modelo de la clase 11 ayudan a formular la prueba, pero sus ganancias no se trasladan como una promesa de respuesta del hardware.</a:t>
            </a:r>
          </a:p>
          <a:p xmlns:a="http://schemas.openxmlformats.org/drawingml/2006/main">
            <a:r>
              <a:t/>
            </a:r>
          </a:p>
          <a:p xmlns:a="http://schemas.openxmlformats.org/drawingml/2006/main">
            <a:r>
              <a:t>La base de cámara y el ascensor quedan como ampliaciones de estados y posicionamiento. Sus esquemas publicados requieren unificar motor y driver con el código antes de construir. No se mezclan A4988 de STEP/DIR y una secuencia de cuatro salidas para otro tipo de motor como si fueran la misma interfaz.</a:t>
            </a:r>
          </a:p>
          <a:p xmlns:a="http://schemas.openxmlformats.org/drawingml/2006/main">
            <a:r>
              <a:t/>
            </a:r>
          </a:p>
          <a:p xmlns:a="http://schemas.openxmlformats.org/drawingml/2006/main">
            <a:r>
              <a:t>Objetivo: Integrar módulos ya estudiados en un sistema de banco con requisitos y pruebas trazables.</a:t>
            </a:r>
          </a:p>
          <a:p xmlns:a="http://schemas.openxmlformats.org/drawingml/2006/main">
            <a:r>
              <a:t>Aplicación: MECRO necesita que un participante pueda construir, diagnosticar y explicar una cadena de sensores o de control aplicada a equipos UAV.</a:t>
            </a:r>
          </a:p>
          <a:p xmlns:a="http://schemas.openxmlformats.org/drawingml/2006/main">
            <a:r>
              <a:t>Entrega: Primera versión integrada, mapa de pines, cuatro hitos y plan de demostración.</a:t>
            </a:r>
          </a:p>
          <a:p xmlns:a="http://schemas.openxmlformats.org/drawingml/2006/main">
            <a:r>
              <a:t/>
            </a:r>
          </a:p>
          <a:p xmlns:a="http://schemas.openxmlformats.org/drawingml/2006/main">
            <a:r>
              <a:t>Preguntas y respuestas</a:t>
            </a:r>
          </a:p>
          <a:p xmlns:a="http://schemas.openxmlformats.org/drawingml/2006/main">
            <a:r>
              <a:t>¿Se actualiza lastValid al imprimir?</a:t>
            </a:r>
          </a:p>
          <a:p xmlns:a="http://schemas.openxmlformats.org/drawingml/2006/main">
            <a:r>
              <a:t>Se actualiza al aceptar una adquisición nueva bajo el criterio definido.</a:t>
            </a:r>
          </a:p>
          <a:p xmlns:a="http://schemas.openxmlformats.org/drawingml/2006/main">
            <a:r>
              <a:t/>
            </a:r>
          </a:p>
          <a:p xmlns:a="http://schemas.openxmlformats.org/drawingml/2006/main">
            <a:r>
              <a:t>¿Puede integrarse sin revisar pines de las clases previas?</a:t>
            </a:r>
          </a:p>
          <a:p xmlns:a="http://schemas.openxmlformats.org/drawingml/2006/main">
            <a:r>
              <a:t>No. La configuración final necesita su propio mapa y revisión de conflictos.</a:t>
            </a:r>
          </a:p>
          <a:p xmlns:a="http://schemas.openxmlformats.org/drawingml/2006/main">
            <a:r>
              <a:t/>
            </a:r>
          </a:p>
          <a:p xmlns:a="http://schemas.openxmlformats.org/drawingml/2006/main">
            <a:r>
              <a:t>¿Qué identifica una modificación útil?</a:t>
            </a:r>
          </a:p>
          <a:p xmlns:a="http://schemas.openxmlformats.org/drawingml/2006/main">
            <a:r>
              <a:t>Un propósito, un requisito observable y una prueba que lo comprueba.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Espressif Systems. Arduino-ESP32: I2C. https://docs.espressif.com/projects/arduino-esp32/en/latest/api/i2c.html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Wokwi. ESP32 Simulation: periféricos y límites. https://docs.wokwi.com/guides/esp32</a:t>
            </a:r>
          </a:p>
          <a:p xmlns:a="http://schemas.openxmlformats.org/drawingml/2006/main">
            <a:r>
              <a:t>Lectura MECRO_ESP32_Clase_15.pdf.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15: Proyecto integrador: una estación de pruebas para UAV.</a:t>
            </a:r>
          </a:p>
          <a:p xmlns:a="http://schemas.openxmlformats.org/drawingml/2006/main">
            <a:r>
              <a:t>En línea, 2 horas. Núcleo de explicación: 4 minutos en esta diapositiva.</a:t>
            </a:r>
          </a:p>
          <a:p xmlns:a="http://schemas.openxmlformats.org/drawingml/2006/main">
            <a:r>
              <a:t/>
            </a:r>
          </a:p>
          <a:p xmlns:a="http://schemas.openxmlformats.org/drawingml/2006/main">
            <a:r>
              <a:t>Elemento / Conexión de referencia / Función</a:t>
            </a:r>
          </a:p>
          <a:p xmlns:a="http://schemas.openxmlformats.org/drawingml/2006/main">
            <a:r>
              <a:t>IMU I2C / SDA21 / SCL22 / Adquisición</a:t>
            </a:r>
          </a:p>
          <a:p xmlns:a="http://schemas.openxmlformats.org/drawingml/2006/main">
            <a:r>
              <a:t>Entrada analógica / GPIO34 / ADC1 / Lectura de mando</a:t>
            </a:r>
          </a:p>
          <a:p xmlns:a="http://schemas.openxmlformats.org/drawingml/2006/main">
            <a:r>
              <a:t>LED con resistor / GPIO23 / Estado del dato</a:t>
            </a:r>
          </a:p>
          <a:p xmlns:a="http://schemas.openxmlformats.org/drawingml/2006/main">
            <a:r>
              <a:t>Puerto serie / USB–UART de la placa / Registro</a:t>
            </a:r>
          </a:p>
          <a:p xmlns:a="http://schemas.openxmlformats.org/drawingml/2006/main">
            <a:r>
              <a:t>Comparar filas y explicar una condición que cambie la decisión.</a:t>
            </a:r>
          </a:p>
          <a:p xmlns:a="http://schemas.openxmlformats.org/drawingml/2006/main">
            <a:r>
              <a:t/>
            </a:r>
          </a:p>
          <a:p xmlns:a="http://schemas.openxmlformats.org/drawingml/2006/main">
            <a:r>
              <a:t>Objetivo: Integrar módulos ya estudiados en un sistema de banco con requisitos y pruebas trazables.</a:t>
            </a:r>
          </a:p>
          <a:p xmlns:a="http://schemas.openxmlformats.org/drawingml/2006/main">
            <a:r>
              <a:t>Aplicación: MECRO necesita que un participante pueda construir, diagnosticar y explicar una cadena de sensores o de control aplicada a equipos UAV.</a:t>
            </a:r>
          </a:p>
          <a:p xmlns:a="http://schemas.openxmlformats.org/drawingml/2006/main">
            <a:r>
              <a:t>Entrega: Primera versión integrada, mapa de pines, cuatro hitos y plan de demostración.</a:t>
            </a:r>
          </a:p>
          <a:p xmlns:a="http://schemas.openxmlformats.org/drawingml/2006/main">
            <a:r>
              <a:t/>
            </a:r>
          </a:p>
          <a:p xmlns:a="http://schemas.openxmlformats.org/drawingml/2006/main">
            <a:r>
              <a:t>Preguntas y respuestas</a:t>
            </a:r>
          </a:p>
          <a:p xmlns:a="http://schemas.openxmlformats.org/drawingml/2006/main">
            <a:r>
              <a:t>¿Se actualiza lastValid al imprimir?</a:t>
            </a:r>
          </a:p>
          <a:p xmlns:a="http://schemas.openxmlformats.org/drawingml/2006/main">
            <a:r>
              <a:t>Se actualiza al aceptar una adquisición nueva bajo el criterio definido.</a:t>
            </a:r>
          </a:p>
          <a:p xmlns:a="http://schemas.openxmlformats.org/drawingml/2006/main">
            <a:r>
              <a:t/>
            </a:r>
          </a:p>
          <a:p xmlns:a="http://schemas.openxmlformats.org/drawingml/2006/main">
            <a:r>
              <a:t>¿Puede integrarse sin revisar pines de las clases previas?</a:t>
            </a:r>
          </a:p>
          <a:p xmlns:a="http://schemas.openxmlformats.org/drawingml/2006/main">
            <a:r>
              <a:t>No. La configuración final necesita su propio mapa y revisión de conflictos.</a:t>
            </a:r>
          </a:p>
          <a:p xmlns:a="http://schemas.openxmlformats.org/drawingml/2006/main">
            <a:r>
              <a:t/>
            </a:r>
          </a:p>
          <a:p xmlns:a="http://schemas.openxmlformats.org/drawingml/2006/main">
            <a:r>
              <a:t>¿Qué identifica una modificación útil?</a:t>
            </a:r>
          </a:p>
          <a:p xmlns:a="http://schemas.openxmlformats.org/drawingml/2006/main">
            <a:r>
              <a:t>Un propósito, un requisito observable y una prueba que lo comprueba.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Espressif Systems. Arduino-ESP32: I2C. https://docs.espressif.com/projects/arduino-esp32/en/latest/api/i2c.html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Wokwi. ESP32 Simulation: periféricos y límites. https://docs.wokwi.com/guides/esp32</a:t>
            </a:r>
          </a:p>
          <a:p xmlns:a="http://schemas.openxmlformats.org/drawingml/2006/main">
            <a:r>
              <a:t>Lectura MECRO_ESP32_Clase_15.pdf.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15: Proyecto integrador: una estación de pruebas para UAV.</a:t>
            </a:r>
          </a:p>
          <a:p xmlns:a="http://schemas.openxmlformats.org/drawingml/2006/main">
            <a:r>
              <a:t>En línea, 2 horas. Núcleo de explicación: 5 minutos en esta diapositiva.</a:t>
            </a:r>
          </a:p>
          <a:p xmlns:a="http://schemas.openxmlformats.org/drawingml/2006/main">
            <a:r>
              <a:t/>
            </a:r>
          </a:p>
          <a:p xmlns:a="http://schemas.openxmlformats.org/drawingml/2006/main">
            <a:r>
              <a:t>El código se organiza en adquisición, procesamiento, estado y presentación. Un dato aceptado lleva su instante; la tarea de pantalla no cambia ese origen. La tabla de pines corresponde a la versión final y reemplaza las conexiones de ejercicios anteriores. El semáforo, la OLED y la IMU no se acumulan sobre los mismos GPIO sin revisar su función y sus conflictos.</a:t>
            </a:r>
          </a:p>
          <a:p xmlns:a="http://schemas.openxmlformats.org/drawingml/2006/main">
            <a:r>
              <a:t/>
            </a:r>
          </a:p>
          <a:p xmlns:a="http://schemas.openxmlformats.org/drawingml/2006/main">
            <a:r>
              <a:t>Elemento / Conexión de referencia / Función</a:t>
            </a:r>
          </a:p>
          <a:p xmlns:a="http://schemas.openxmlformats.org/drawingml/2006/main">
            <a:r>
              <a:t>IMU I2C / SDA21 / SCL22 / Adquisición</a:t>
            </a:r>
          </a:p>
          <a:p xmlns:a="http://schemas.openxmlformats.org/drawingml/2006/main">
            <a:r>
              <a:t>Entrada analógica / GPIO34 / ADC1 / Lectura de mando</a:t>
            </a:r>
          </a:p>
          <a:p xmlns:a="http://schemas.openxmlformats.org/drawingml/2006/main">
            <a:r>
              <a:t>LED con resistor / GPIO23 / Estado del dato</a:t>
            </a:r>
          </a:p>
          <a:p xmlns:a="http://schemas.openxmlformats.org/drawingml/2006/main">
            <a:r>
              <a:t>Puerto serie / USB–UART de la placa / Registro</a:t>
            </a:r>
          </a:p>
          <a:p xmlns:a="http://schemas.openxmlformats.org/drawingml/2006/main">
            <a:r>
              <a:t/>
            </a:r>
          </a:p>
          <a:p xmlns:a="http://schemas.openxmlformats.org/drawingml/2006/main">
            <a:r>
              <a:t>La variante de motor conserva, además, el eje y las cuentas por vuelta del encoder, las alimentaciones del driver y los límites de mando. El controlador solo se evalúa después de comprobar medida y sentido de acción. Las curvas del modelo de la clase 11 ayudan a formular la prueba, pero sus ganancias no se trasladan como una promesa de respuesta del hardware.</a:t>
            </a:r>
          </a:p>
          <a:p xmlns:a="http://schemas.openxmlformats.org/drawingml/2006/main">
            <a:r>
              <a:t/>
            </a:r>
          </a:p>
          <a:p xmlns:a="http://schemas.openxmlformats.org/drawingml/2006/main">
            <a:r>
              <a:t>La base de cámara y el ascensor quedan como ampliaciones de estados y posicionamiento. Sus esquemas publicados requieren unificar motor y driver con el código antes de construir. No se mezclan A4988 de STEP/DIR y una secuencia de cuatro salidas para otro tipo de motor como si fueran la misma interfaz.</a:t>
            </a:r>
          </a:p>
          <a:p xmlns:a="http://schemas.openxmlformats.org/drawingml/2006/main">
            <a:r>
              <a:t/>
            </a:r>
          </a:p>
          <a:p xmlns:a="http://schemas.openxmlformats.org/drawingml/2006/main">
            <a:r>
              <a:t>Objetivo: Integrar módulos ya estudiados en un sistema de banco con requisitos y pruebas trazables.</a:t>
            </a:r>
          </a:p>
          <a:p xmlns:a="http://schemas.openxmlformats.org/drawingml/2006/main">
            <a:r>
              <a:t>Aplicación: MECRO necesita que un participante pueda construir, diagnosticar y explicar una cadena de sensores o de control aplicada a equipos UAV.</a:t>
            </a:r>
          </a:p>
          <a:p xmlns:a="http://schemas.openxmlformats.org/drawingml/2006/main">
            <a:r>
              <a:t>Entrega: Primera versión integrada, mapa de pines, cuatro hitos y plan de demostración.</a:t>
            </a:r>
          </a:p>
          <a:p xmlns:a="http://schemas.openxmlformats.org/drawingml/2006/main">
            <a:r>
              <a:t/>
            </a:r>
          </a:p>
          <a:p xmlns:a="http://schemas.openxmlformats.org/drawingml/2006/main">
            <a:r>
              <a:t>Preguntas y respuestas</a:t>
            </a:r>
          </a:p>
          <a:p xmlns:a="http://schemas.openxmlformats.org/drawingml/2006/main">
            <a:r>
              <a:t>¿Se actualiza lastValid al imprimir?</a:t>
            </a:r>
          </a:p>
          <a:p xmlns:a="http://schemas.openxmlformats.org/drawingml/2006/main">
            <a:r>
              <a:t>Se actualiza al aceptar una adquisición nueva bajo el criterio definido.</a:t>
            </a:r>
          </a:p>
          <a:p xmlns:a="http://schemas.openxmlformats.org/drawingml/2006/main">
            <a:r>
              <a:t/>
            </a:r>
          </a:p>
          <a:p xmlns:a="http://schemas.openxmlformats.org/drawingml/2006/main">
            <a:r>
              <a:t>¿Puede integrarse sin revisar pines de las clases previas?</a:t>
            </a:r>
          </a:p>
          <a:p xmlns:a="http://schemas.openxmlformats.org/drawingml/2006/main">
            <a:r>
              <a:t>No. La configuración final necesita su propio mapa y revisión de conflictos.</a:t>
            </a:r>
          </a:p>
          <a:p xmlns:a="http://schemas.openxmlformats.org/drawingml/2006/main">
            <a:r>
              <a:t/>
            </a:r>
          </a:p>
          <a:p xmlns:a="http://schemas.openxmlformats.org/drawingml/2006/main">
            <a:r>
              <a:t>¿Qué identifica una modificación útil?</a:t>
            </a:r>
          </a:p>
          <a:p xmlns:a="http://schemas.openxmlformats.org/drawingml/2006/main">
            <a:r>
              <a:t>Un propósito, un requisito observable y una prueba que lo comprueba.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Espressif Systems. Arduino-ESP32: I2C. https://docs.espressif.com/projects/arduino-esp32/en/latest/api/i2c.html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Wokwi. ESP32 Simulation: periféricos y límites. https://docs.wokwi.com/guides/esp32</a:t>
            </a:r>
          </a:p>
          <a:p xmlns:a="http://schemas.openxmlformats.org/drawingml/2006/main">
            <a:r>
              <a:t>Lectura MECRO_ESP32_Clase_15.pdf.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15: Proyecto integrador: una estación de pruebas para UAV.</a:t>
            </a:r>
          </a:p>
          <a:p xmlns:a="http://schemas.openxmlformats.org/drawingml/2006/main">
            <a:r>
              <a:t>En línea, 2 horas. Núcleo de explicación: 4 minutos en esta diapositiva.</a:t>
            </a:r>
          </a:p>
          <a:p xmlns:a="http://schemas.openxmlformats.org/drawingml/2006/main">
            <a:r>
              <a:t/>
            </a:r>
          </a:p>
          <a:p xmlns:a="http://schemas.openxmlformats.org/drawingml/2006/main">
            <a:r>
              <a:t>bool valid = ready &amp;&amp; haveSample</a:t>
            </a:r>
          </a:p>
          <a:p xmlns:a="http://schemas.openxmlformats.org/drawingml/2006/main">
            <a:r>
              <a:t>  &amp;&amp; uint32_t(now-lastValid) &lt;= 250;</a:t>
            </a:r>
          </a:p>
          <a:p xmlns:a="http://schemas.openxmlformats.org/drawingml/2006/main">
            <a:r>
              <a:t>state = valid ? State::READY : State::FAULT;</a:t>
            </a:r>
          </a:p>
          <a:p xmlns:a="http://schemas.openxmlformats.org/drawingml/2006/main">
            <a:r>
              <a:t>digitalWrite(LED, valid);</a:t>
            </a:r>
          </a:p>
          <a:p xmlns:a="http://schemas.openxmlformats.org/drawingml/2006/main">
            <a:r>
              <a:t>// El archivo completo conserva INICIO antes de la primera muestra.</a:t>
            </a:r>
          </a:p>
          <a:p xmlns:a="http://schemas.openxmlformats.org/drawingml/2006/main">
            <a:r>
              <a:t>// El registro incluye secuencia, tiempo, estado y unidades.</a:t>
            </a:r>
          </a:p>
          <a:p xmlns:a="http://schemas.openxmlformats.org/drawingml/2006/main">
            <a:r>
              <a:t/>
            </a:r>
          </a:p>
          <a:p xmlns:a="http://schemas.openxmlformats.org/drawingml/2006/main">
            <a:r>
              <a:t>El ejemplo comprueba respuesta de bus antes de actualizar el registro. Esta prueba aporta presencia de comunicación en esa operación; no demuestra integridad absoluta de todas las medidas. La plausibilidad numérica y la antigüedad son criterios separados. La estimación angular conserva las hipótesis de la práctica cuasiestática. El alumno debe poder explicar exactamente qué significa data_valid en su propia versión.</a:t>
            </a:r>
          </a:p>
          <a:p xmlns:a="http://schemas.openxmlformats.org/drawingml/2006/main">
            <a:r>
              <a:t/>
            </a:r>
          </a:p>
          <a:p xmlns:a="http://schemas.openxmlformats.org/drawingml/2006/main">
            <a:r>
              <a:t>El botón queda reservado para una ampliación individual: reconocer un aviso, registrar un marcador o cambiar una presentación. No se da crédito por añadir una línea cuyo comportamiento nadie puede explicar. La modificación se describe como requisito y se prueba con el mismo cuidado que la versión de referencia.</a:t>
            </a:r>
          </a:p>
          <a:p xmlns:a="http://schemas.openxmlformats.org/drawingml/2006/main">
            <a:r>
              <a:t/>
            </a:r>
          </a:p>
          <a:p xmlns:a="http://schemas.openxmlformats.org/drawingml/2006/main">
            <a:r>
              <a:t>El equipo actualiza lastValid cada vez que imprime, aunque la lectura haya fallado. ¿Qué ocurre con el criterio de antigüedad?</a:t>
            </a:r>
          </a:p>
          <a:p xmlns:a="http://schemas.openxmlformats.org/drawingml/2006/main">
            <a:r>
              <a:t>Deja de medir edad de la muestra y pasa a medir edad de la impresión. La aplicación puede seguir declarando reciente un dato que ya no lo es.</a:t>
            </a:r>
          </a:p>
          <a:p xmlns:a="http://schemas.openxmlformats.org/drawingml/2006/main">
            <a:r>
              <a:t/>
            </a:r>
          </a:p>
          <a:p xmlns:a="http://schemas.openxmlformats.org/drawingml/2006/main">
            <a:r>
              <a:t>Objetivo: Integrar módulos ya estudiados en un sistema de banco con requisitos y pruebas trazables.</a:t>
            </a:r>
          </a:p>
          <a:p xmlns:a="http://schemas.openxmlformats.org/drawingml/2006/main">
            <a:r>
              <a:t>Aplicación: MECRO necesita que un participante pueda construir, diagnosticar y explicar una cadena de sensores o de control aplicada a equipos UAV.</a:t>
            </a:r>
          </a:p>
          <a:p xmlns:a="http://schemas.openxmlformats.org/drawingml/2006/main">
            <a:r>
              <a:t>Entrega: Primera versión integrada, mapa de pines, cuatro hitos y plan de demostración.</a:t>
            </a:r>
          </a:p>
          <a:p xmlns:a="http://schemas.openxmlformats.org/drawingml/2006/main">
            <a:r>
              <a:t/>
            </a:r>
          </a:p>
          <a:p xmlns:a="http://schemas.openxmlformats.org/drawingml/2006/main">
            <a:r>
              <a:t>Preguntas y respuestas</a:t>
            </a:r>
          </a:p>
          <a:p xmlns:a="http://schemas.openxmlformats.org/drawingml/2006/main">
            <a:r>
              <a:t>¿Se actualiza lastValid al imprimir?</a:t>
            </a:r>
          </a:p>
          <a:p xmlns:a="http://schemas.openxmlformats.org/drawingml/2006/main">
            <a:r>
              <a:t>Se actualiza al aceptar una adquisición nueva bajo el criterio definido.</a:t>
            </a:r>
          </a:p>
          <a:p xmlns:a="http://schemas.openxmlformats.org/drawingml/2006/main">
            <a:r>
              <a:t/>
            </a:r>
          </a:p>
          <a:p xmlns:a="http://schemas.openxmlformats.org/drawingml/2006/main">
            <a:r>
              <a:t>¿Puede integrarse sin revisar pines de las clases previas?</a:t>
            </a:r>
          </a:p>
          <a:p xmlns:a="http://schemas.openxmlformats.org/drawingml/2006/main">
            <a:r>
              <a:t>No. La configuración final necesita su propio mapa y revisión de conflictos.</a:t>
            </a:r>
          </a:p>
          <a:p xmlns:a="http://schemas.openxmlformats.org/drawingml/2006/main">
            <a:r>
              <a:t/>
            </a:r>
          </a:p>
          <a:p xmlns:a="http://schemas.openxmlformats.org/drawingml/2006/main">
            <a:r>
              <a:t>¿Qué identifica una modificación útil?</a:t>
            </a:r>
          </a:p>
          <a:p xmlns:a="http://schemas.openxmlformats.org/drawingml/2006/main">
            <a:r>
              <a:t>Un propósito, un requisito observable y una prueba que lo comprueba.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Espressif Systems. Arduino-ESP32: I2C. https://docs.espressif.com/projects/arduino-esp32/en/latest/api/i2c.html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Wokwi. ESP32 Simulation: periféricos y límites. https://docs.wokwi.com/guides/esp32</a:t>
            </a:r>
          </a:p>
          <a:p xmlns:a="http://schemas.openxmlformats.org/drawingml/2006/main">
            <a:r>
              <a:t>Lectura MECRO_ESP32_Clase_15.pdf.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15: Proyecto integrador: una estación de pruebas para UAV.</a:t>
            </a:r>
          </a:p>
          <a:p xmlns:a="http://schemas.openxmlformats.org/drawingml/2006/main">
            <a:r>
              <a:t>En línea, 2 horas. Núcleo de explicación: 4 minutos en esta diapositiva.</a:t>
            </a:r>
          </a:p>
          <a:p xmlns:a="http://schemas.openxmlformats.org/drawingml/2006/main">
            <a:r>
              <a:t/>
            </a:r>
          </a:p>
          <a:p xmlns:a="http://schemas.openxmlformats.org/drawingml/2006/main">
            <a:r>
              <a:t>bool valid = ready &amp;&amp; haveSample</a:t>
            </a:r>
          </a:p>
          <a:p xmlns:a="http://schemas.openxmlformats.org/drawingml/2006/main">
            <a:r>
              <a:t>  &amp;&amp; uint32_t(now-lastValid) &lt;= 250;</a:t>
            </a:r>
          </a:p>
          <a:p xmlns:a="http://schemas.openxmlformats.org/drawingml/2006/main">
            <a:r>
              <a:t>state = valid ? State::READY : State::FAULT;</a:t>
            </a:r>
          </a:p>
          <a:p xmlns:a="http://schemas.openxmlformats.org/drawingml/2006/main">
            <a:r>
              <a:t>digitalWrite(LED, valid);</a:t>
            </a:r>
          </a:p>
          <a:p xmlns:a="http://schemas.openxmlformats.org/drawingml/2006/main">
            <a:r>
              <a:t>// El archivo completo conserva INICIO antes de la primera muestra.</a:t>
            </a:r>
          </a:p>
          <a:p xmlns:a="http://schemas.openxmlformats.org/drawingml/2006/main">
            <a:r>
              <a:t>// El registro incluye secuencia, tiempo, estado y unidades.</a:t>
            </a:r>
          </a:p>
          <a:p xmlns:a="http://schemas.openxmlformats.org/drawingml/2006/main">
            <a:r>
              <a:t>Explicar entrada, estado, salida y momento de actualización.</a:t>
            </a:r>
          </a:p>
          <a:p xmlns:a="http://schemas.openxmlformats.org/drawingml/2006/main">
            <a:r>
              <a:t/>
            </a:r>
          </a:p>
          <a:p xmlns:a="http://schemas.openxmlformats.org/drawingml/2006/main">
            <a:r>
              <a:t>Objetivo: Integrar módulos ya estudiados en un sistema de banco con requisitos y pruebas trazables.</a:t>
            </a:r>
          </a:p>
          <a:p xmlns:a="http://schemas.openxmlformats.org/drawingml/2006/main">
            <a:r>
              <a:t>Aplicación: MECRO necesita que un participante pueda construir, diagnosticar y explicar una cadena de sensores o de control aplicada a equipos UAV.</a:t>
            </a:r>
          </a:p>
          <a:p xmlns:a="http://schemas.openxmlformats.org/drawingml/2006/main">
            <a:r>
              <a:t>Entrega: Primera versión integrada, mapa de pines, cuatro hitos y plan de demostración.</a:t>
            </a:r>
          </a:p>
          <a:p xmlns:a="http://schemas.openxmlformats.org/drawingml/2006/main">
            <a:r>
              <a:t/>
            </a:r>
          </a:p>
          <a:p xmlns:a="http://schemas.openxmlformats.org/drawingml/2006/main">
            <a:r>
              <a:t>Preguntas y respuestas</a:t>
            </a:r>
          </a:p>
          <a:p xmlns:a="http://schemas.openxmlformats.org/drawingml/2006/main">
            <a:r>
              <a:t>¿Se actualiza lastValid al imprimir?</a:t>
            </a:r>
          </a:p>
          <a:p xmlns:a="http://schemas.openxmlformats.org/drawingml/2006/main">
            <a:r>
              <a:t>Se actualiza al aceptar una adquisición nueva bajo el criterio definido.</a:t>
            </a:r>
          </a:p>
          <a:p xmlns:a="http://schemas.openxmlformats.org/drawingml/2006/main">
            <a:r>
              <a:t/>
            </a:r>
          </a:p>
          <a:p xmlns:a="http://schemas.openxmlformats.org/drawingml/2006/main">
            <a:r>
              <a:t>¿Puede integrarse sin revisar pines de las clases previas?</a:t>
            </a:r>
          </a:p>
          <a:p xmlns:a="http://schemas.openxmlformats.org/drawingml/2006/main">
            <a:r>
              <a:t>No. La configuración final necesita su propio mapa y revisión de conflictos.</a:t>
            </a:r>
          </a:p>
          <a:p xmlns:a="http://schemas.openxmlformats.org/drawingml/2006/main">
            <a:r>
              <a:t/>
            </a:r>
          </a:p>
          <a:p xmlns:a="http://schemas.openxmlformats.org/drawingml/2006/main">
            <a:r>
              <a:t>¿Qué identifica una modificación útil?</a:t>
            </a:r>
          </a:p>
          <a:p xmlns:a="http://schemas.openxmlformats.org/drawingml/2006/main">
            <a:r>
              <a:t>Un propósito, un requisito observable y una prueba que lo comprueba.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Espressif Systems. Arduino-ESP32: I2C. https://docs.espressif.com/projects/arduino-esp32/en/latest/api/i2c.html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Wokwi. ESP32 Simulation: periféricos y límites. https://docs.wokwi.com/guides/esp32</a:t>
            </a:r>
          </a:p>
          <a:p xmlns:a="http://schemas.openxmlformats.org/drawingml/2006/main">
            <a:r>
              <a:t>Lectura MECRO_ESP32_Clase_15.pdf.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15: Proyecto integrador: una estación de pruebas para UAV.</a:t>
            </a:r>
          </a:p>
          <a:p xmlns:a="http://schemas.openxmlformats.org/drawingml/2006/main">
            <a:r>
              <a:t>En línea, 2 horas. Núcleo de explicación: 5 minutos en esta diapositiva.</a:t>
            </a:r>
          </a:p>
          <a:p xmlns:a="http://schemas.openxmlformats.org/drawingml/2006/main">
            <a:r>
              <a:t/>
            </a:r>
          </a:p>
          <a:p xmlns:a="http://schemas.openxmlformats.org/drawingml/2006/main">
            <a:r>
              <a:t>Primero tapar la solución o pedir respuesta individual.</a:t>
            </a:r>
          </a:p>
          <a:p xmlns:a="http://schemas.openxmlformats.org/drawingml/2006/main">
            <a:r>
              <a:t>El equipo actualiza lastValid cada vez que imprime, aunque la lectura haya fallado. ¿Qué ocurre con el criterio de antigüedad?</a:t>
            </a:r>
          </a:p>
          <a:p xmlns:a="http://schemas.openxmlformats.org/drawingml/2006/main">
            <a:r>
              <a:t>Deja de medir edad de la muestra y pasa a medir edad de la impresión. La aplicación puede seguir declarando reciente un dato que ya no lo es.</a:t>
            </a:r>
          </a:p>
          <a:p xmlns:a="http://schemas.openxmlformats.org/drawingml/2006/main">
            <a:r>
              <a:t/>
            </a:r>
          </a:p>
          <a:p xmlns:a="http://schemas.openxmlformats.org/drawingml/2006/main">
            <a:r>
              <a:t>Objetivo: Integrar módulos ya estudiados en un sistema de banco con requisitos y pruebas trazables.</a:t>
            </a:r>
          </a:p>
          <a:p xmlns:a="http://schemas.openxmlformats.org/drawingml/2006/main">
            <a:r>
              <a:t>Aplicación: MECRO necesita que un participante pueda construir, diagnosticar y explicar una cadena de sensores o de control aplicada a equipos UAV.</a:t>
            </a:r>
          </a:p>
          <a:p xmlns:a="http://schemas.openxmlformats.org/drawingml/2006/main">
            <a:r>
              <a:t>Entrega: Primera versión integrada, mapa de pines, cuatro hitos y plan de demostración.</a:t>
            </a:r>
          </a:p>
          <a:p xmlns:a="http://schemas.openxmlformats.org/drawingml/2006/main">
            <a:r>
              <a:t/>
            </a:r>
          </a:p>
          <a:p xmlns:a="http://schemas.openxmlformats.org/drawingml/2006/main">
            <a:r>
              <a:t>Preguntas y respuestas</a:t>
            </a:r>
          </a:p>
          <a:p xmlns:a="http://schemas.openxmlformats.org/drawingml/2006/main">
            <a:r>
              <a:t>¿Se actualiza lastValid al imprimir?</a:t>
            </a:r>
          </a:p>
          <a:p xmlns:a="http://schemas.openxmlformats.org/drawingml/2006/main">
            <a:r>
              <a:t>Se actualiza al aceptar una adquisición nueva bajo el criterio definido.</a:t>
            </a:r>
          </a:p>
          <a:p xmlns:a="http://schemas.openxmlformats.org/drawingml/2006/main">
            <a:r>
              <a:t/>
            </a:r>
          </a:p>
          <a:p xmlns:a="http://schemas.openxmlformats.org/drawingml/2006/main">
            <a:r>
              <a:t>¿Puede integrarse sin revisar pines de las clases previas?</a:t>
            </a:r>
          </a:p>
          <a:p xmlns:a="http://schemas.openxmlformats.org/drawingml/2006/main">
            <a:r>
              <a:t>No. La configuración final necesita su propio mapa y revisión de conflictos.</a:t>
            </a:r>
          </a:p>
          <a:p xmlns:a="http://schemas.openxmlformats.org/drawingml/2006/main">
            <a:r>
              <a:t/>
            </a:r>
          </a:p>
          <a:p xmlns:a="http://schemas.openxmlformats.org/drawingml/2006/main">
            <a:r>
              <a:t>¿Qué identifica una modificación útil?</a:t>
            </a:r>
          </a:p>
          <a:p xmlns:a="http://schemas.openxmlformats.org/drawingml/2006/main">
            <a:r>
              <a:t>Un propósito, un requisito observable y una prueba que lo comprueba.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Espressif Systems. Arduino-ESP32: I2C. https://docs.espressif.com/projects/arduino-esp32/en/latest/api/i2c.html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Wokwi. ESP32 Simulation: periféricos y límites. https://docs.wokwi.com/guides/esp32</a:t>
            </a:r>
          </a:p>
          <a:p xmlns:a="http://schemas.openxmlformats.org/drawingml/2006/main">
            <a:r>
              <a:t>Lectura MECRO_ESP32_Clase_15.pdf.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15: Proyecto integrador: una estación de pruebas para UAV.</a:t>
            </a:r>
          </a:p>
          <a:p xmlns:a="http://schemas.openxmlformats.org/drawingml/2006/main">
            <a:r>
              <a:t>En línea, 2 horas. Núcleo de explicación: 4 minutos en esta diapositiva.</a:t>
            </a:r>
          </a:p>
          <a:p xmlns:a="http://schemas.openxmlformats.org/drawingml/2006/main">
            <a:r>
              <a:t/>
            </a:r>
          </a:p>
          <a:p xmlns:a="http://schemas.openxmlformats.org/drawingml/2006/main">
            <a:r>
              <a:t>Elige estación de sensores o banco de velocidad según recursos confirmados.</a:t>
            </a:r>
          </a:p>
          <a:p xmlns:a="http://schemas.openxmlformats.org/drawingml/2006/main">
            <a:r>
              <a:t>Congela una tabla de pines y dibuja energía, señal y referencia.</a:t>
            </a:r>
          </a:p>
          <a:p xmlns:a="http://schemas.openxmlformats.org/drawingml/2006/main">
            <a:r>
              <a:t>Ejecuta cada módulo por separado y conserva su resultado.</a:t>
            </a:r>
          </a:p>
          <a:p xmlns:a="http://schemas.openxmlformats.org/drawingml/2006/main">
            <a:r>
              <a:t>Integra dos módulos y comprueba primero una condición normal.</a:t>
            </a:r>
          </a:p>
          <a:p xmlns:a="http://schemas.openxmlformats.org/drawingml/2006/main">
            <a:r>
              <a:t>Añade el estado de dato y una prueba de ausencia o vencimiento.</a:t>
            </a:r>
          </a:p>
          <a:p xmlns:a="http://schemas.openxmlformats.org/drawingml/2006/main">
            <a:r>
              <a:t>Introduce una modificación propia con un requisito observable.</a:t>
            </a:r>
          </a:p>
          <a:p xmlns:a="http://schemas.openxmlformats.org/drawingml/2006/main">
            <a:r>
              <a:t>Prepara el expediente y la demostración del taller final.</a:t>
            </a:r>
          </a:p>
          <a:p xmlns:a="http://schemas.openxmlformats.org/drawingml/2006/main">
            <a:r>
              <a:t/>
            </a:r>
          </a:p>
          <a:p xmlns:a="http://schemas.openxmlformats.org/drawingml/2006/main">
            <a:r>
              <a:t>Hito / Condición de revisión</a:t>
            </a:r>
          </a:p>
          <a:p xmlns:a="http://schemas.openxmlformats.org/drawingml/2006/main">
            <a:r>
              <a:t>A: subsistemas / Cada uno explica su dato</a:t>
            </a:r>
          </a:p>
          <a:p xmlns:a="http://schemas.openxmlformats.org/drawingml/2006/main">
            <a:r>
              <a:t>B: integración / Referencias coherentes</a:t>
            </a:r>
          </a:p>
          <a:p xmlns:a="http://schemas.openxmlformats.org/drawingml/2006/main">
            <a:r>
              <a:t>C: diagnóstico / Fallo tratado de forma explícita</a:t>
            </a:r>
          </a:p>
          <a:p xmlns:a="http://schemas.openxmlformats.org/drawingml/2006/main">
            <a:r>
              <a:t>D: modificación / Comportamiento propio ensayado</a:t>
            </a:r>
          </a:p>
          <a:p xmlns:a="http://schemas.openxmlformats.org/drawingml/2006/main">
            <a:r>
              <a:t/>
            </a:r>
          </a:p>
          <a:p xmlns:a="http://schemas.openxmlformats.org/drawingml/2006/main">
            <a:r>
              <a:t>Si aparece un fallo durante integración, se vuelve al último hito comprobado y se cambia una condición. Conservar una versión funcional permite investigar sin borrar la referencia. Un registro de cambio pequeño es suficiente: qué se modificó, qué se esperaba y qué se observó. La documentación acompaña la construcción en lugar de inventarse al final.</a:t>
            </a:r>
          </a:p>
          <a:p xmlns:a="http://schemas.openxmlformats.org/drawingml/2006/main">
            <a:r>
              <a:t/>
            </a:r>
          </a:p>
          <a:p xmlns:a="http://schemas.openxmlformats.org/drawingml/2006/main">
            <a:r>
              <a:t>Objetivo: Integrar módulos ya estudiados en un sistema de banco con requisitos y pruebas trazables.</a:t>
            </a:r>
          </a:p>
          <a:p xmlns:a="http://schemas.openxmlformats.org/drawingml/2006/main">
            <a:r>
              <a:t>Aplicación: MECRO necesita que un participante pueda construir, diagnosticar y explicar una cadena de sensores o de control aplicada a equipos UAV.</a:t>
            </a:r>
          </a:p>
          <a:p xmlns:a="http://schemas.openxmlformats.org/drawingml/2006/main">
            <a:r>
              <a:t>Entrega: Primera versión integrada, mapa de pines, cuatro hitos y plan de demostración.</a:t>
            </a:r>
          </a:p>
          <a:p xmlns:a="http://schemas.openxmlformats.org/drawingml/2006/main">
            <a:r>
              <a:t/>
            </a:r>
          </a:p>
          <a:p xmlns:a="http://schemas.openxmlformats.org/drawingml/2006/main">
            <a:r>
              <a:t>Preguntas y respuestas</a:t>
            </a:r>
          </a:p>
          <a:p xmlns:a="http://schemas.openxmlformats.org/drawingml/2006/main">
            <a:r>
              <a:t>¿Se actualiza lastValid al imprimir?</a:t>
            </a:r>
          </a:p>
          <a:p xmlns:a="http://schemas.openxmlformats.org/drawingml/2006/main">
            <a:r>
              <a:t>Se actualiza al aceptar una adquisición nueva bajo el criterio definido.</a:t>
            </a:r>
          </a:p>
          <a:p xmlns:a="http://schemas.openxmlformats.org/drawingml/2006/main">
            <a:r>
              <a:t/>
            </a:r>
          </a:p>
          <a:p xmlns:a="http://schemas.openxmlformats.org/drawingml/2006/main">
            <a:r>
              <a:t>¿Puede integrarse sin revisar pines de las clases previas?</a:t>
            </a:r>
          </a:p>
          <a:p xmlns:a="http://schemas.openxmlformats.org/drawingml/2006/main">
            <a:r>
              <a:t>No. La configuración final necesita su propio mapa y revisión de conflictos.</a:t>
            </a:r>
          </a:p>
          <a:p xmlns:a="http://schemas.openxmlformats.org/drawingml/2006/main">
            <a:r>
              <a:t/>
            </a:r>
          </a:p>
          <a:p xmlns:a="http://schemas.openxmlformats.org/drawingml/2006/main">
            <a:r>
              <a:t>¿Qué identifica una modificación útil?</a:t>
            </a:r>
          </a:p>
          <a:p xmlns:a="http://schemas.openxmlformats.org/drawingml/2006/main">
            <a:r>
              <a:t>Un propósito, un requisito observable y una prueba que lo comprueba.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Espressif Systems. Arduino-ESP32: I2C. https://docs.espressif.com/projects/arduino-esp32/en/latest/api/i2c.html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Wokwi. ESP32 Simulation: periféricos y límites. https://docs.wokwi.com/guides/esp32</a:t>
            </a:r>
          </a:p>
          <a:p xmlns:a="http://schemas.openxmlformats.org/drawingml/2006/main">
            <a:r>
              <a:t>Lectura MECRO_ESP32_Clase_15.pdf.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15: Proyecto integrador: una estación de pruebas para UAV.</a:t>
            </a:r>
          </a:p>
          <a:p xmlns:a="http://schemas.openxmlformats.org/drawingml/2006/main">
            <a:r>
              <a:t>En línea, 2 horas. Núcleo de explicación: 4 minutos en esta diapositiva.</a:t>
            </a:r>
          </a:p>
          <a:p xmlns:a="http://schemas.openxmlformats.org/drawingml/2006/main">
            <a:r>
              <a:t/>
            </a:r>
          </a:p>
          <a:p xmlns:a="http://schemas.openxmlformats.org/drawingml/2006/main">
            <a:r>
              <a:t>Hito / Condición de revisión</a:t>
            </a:r>
          </a:p>
          <a:p xmlns:a="http://schemas.openxmlformats.org/drawingml/2006/main">
            <a:r>
              <a:t>A: subsistemas / Cada uno explica su dato</a:t>
            </a:r>
          </a:p>
          <a:p xmlns:a="http://schemas.openxmlformats.org/drawingml/2006/main">
            <a:r>
              <a:t>B: integración / Referencias coherentes</a:t>
            </a:r>
          </a:p>
          <a:p xmlns:a="http://schemas.openxmlformats.org/drawingml/2006/main">
            <a:r>
              <a:t>C: diagnóstico / Fallo tratado de forma explícita</a:t>
            </a:r>
          </a:p>
          <a:p xmlns:a="http://schemas.openxmlformats.org/drawingml/2006/main">
            <a:r>
              <a:t>D: modificación / Comportamiento propio ensayado</a:t>
            </a:r>
          </a:p>
          <a:p xmlns:a="http://schemas.openxmlformats.org/drawingml/2006/main">
            <a:r>
              <a:t>Comparar filas y explicar una condición que cambie la decisión.</a:t>
            </a:r>
          </a:p>
          <a:p xmlns:a="http://schemas.openxmlformats.org/drawingml/2006/main">
            <a:r>
              <a:t/>
            </a:r>
          </a:p>
          <a:p xmlns:a="http://schemas.openxmlformats.org/drawingml/2006/main">
            <a:r>
              <a:t>Objetivo: Integrar módulos ya estudiados en un sistema de banco con requisitos y pruebas trazables.</a:t>
            </a:r>
          </a:p>
          <a:p xmlns:a="http://schemas.openxmlformats.org/drawingml/2006/main">
            <a:r>
              <a:t>Aplicación: MECRO necesita que un participante pueda construir, diagnosticar y explicar una cadena de sensores o de control aplicada a equipos UAV.</a:t>
            </a:r>
          </a:p>
          <a:p xmlns:a="http://schemas.openxmlformats.org/drawingml/2006/main">
            <a:r>
              <a:t>Entrega: Primera versión integrada, mapa de pines, cuatro hitos y plan de demostración.</a:t>
            </a:r>
          </a:p>
          <a:p xmlns:a="http://schemas.openxmlformats.org/drawingml/2006/main">
            <a:r>
              <a:t/>
            </a:r>
          </a:p>
          <a:p xmlns:a="http://schemas.openxmlformats.org/drawingml/2006/main">
            <a:r>
              <a:t>Preguntas y respuestas</a:t>
            </a:r>
          </a:p>
          <a:p xmlns:a="http://schemas.openxmlformats.org/drawingml/2006/main">
            <a:r>
              <a:t>¿Se actualiza lastValid al imprimir?</a:t>
            </a:r>
          </a:p>
          <a:p xmlns:a="http://schemas.openxmlformats.org/drawingml/2006/main">
            <a:r>
              <a:t>Se actualiza al aceptar una adquisición nueva bajo el criterio definido.</a:t>
            </a:r>
          </a:p>
          <a:p xmlns:a="http://schemas.openxmlformats.org/drawingml/2006/main">
            <a:r>
              <a:t/>
            </a:r>
          </a:p>
          <a:p xmlns:a="http://schemas.openxmlformats.org/drawingml/2006/main">
            <a:r>
              <a:t>¿Puede integrarse sin revisar pines de las clases previas?</a:t>
            </a:r>
          </a:p>
          <a:p xmlns:a="http://schemas.openxmlformats.org/drawingml/2006/main">
            <a:r>
              <a:t>No. La configuración final necesita su propio mapa y revisión de conflictos.</a:t>
            </a:r>
          </a:p>
          <a:p xmlns:a="http://schemas.openxmlformats.org/drawingml/2006/main">
            <a:r>
              <a:t/>
            </a:r>
          </a:p>
          <a:p xmlns:a="http://schemas.openxmlformats.org/drawingml/2006/main">
            <a:r>
              <a:t>¿Qué identifica una modificación útil?</a:t>
            </a:r>
          </a:p>
          <a:p xmlns:a="http://schemas.openxmlformats.org/drawingml/2006/main">
            <a:r>
              <a:t>Un propósito, un requisito observable y una prueba que lo comprueba.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Espressif Systems. Arduino-ESP32: I2C. https://docs.espressif.com/projects/arduino-esp32/en/latest/api/i2c.html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Wokwi. ESP32 Simulation: periféricos y límites. https://docs.wokwi.com/guides/esp32</a:t>
            </a:r>
          </a:p>
          <a:p xmlns:a="http://schemas.openxmlformats.org/drawingml/2006/main">
            <a:r>
              <a:t>Lectura MECRO_ESP32_Clase_15.pdf.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15: Proyecto integrador: una estación de pruebas para UAV.</a:t>
            </a:r>
          </a:p>
          <a:p xmlns:a="http://schemas.openxmlformats.org/drawingml/2006/main">
            <a:r>
              <a:t>En línea, 2 horas. Núcleo de explicación: 5 minutos en esta diapositiva.</a:t>
            </a:r>
          </a:p>
          <a:p xmlns:a="http://schemas.openxmlformats.org/drawingml/2006/main">
            <a:r>
              <a:t/>
            </a:r>
          </a:p>
          <a:p xmlns:a="http://schemas.openxmlformats.org/drawingml/2006/main">
            <a:r>
              <a:t>Elige estación de sensores o banco de velocidad según recursos confirmados.</a:t>
            </a:r>
          </a:p>
          <a:p xmlns:a="http://schemas.openxmlformats.org/drawingml/2006/main">
            <a:r>
              <a:t>Congela una tabla de pines y dibuja energía, señal y referencia.</a:t>
            </a:r>
          </a:p>
          <a:p xmlns:a="http://schemas.openxmlformats.org/drawingml/2006/main">
            <a:r>
              <a:t>Ejecuta cada módulo por separado y conserva su resultado.</a:t>
            </a:r>
          </a:p>
          <a:p xmlns:a="http://schemas.openxmlformats.org/drawingml/2006/main">
            <a:r>
              <a:t>Integra dos módulos y comprueba primero una condición normal.</a:t>
            </a:r>
          </a:p>
          <a:p xmlns:a="http://schemas.openxmlformats.org/drawingml/2006/main">
            <a:r>
              <a:t>Añade el estado de dato y una prueba de ausencia o vencimiento.</a:t>
            </a:r>
          </a:p>
          <a:p xmlns:a="http://schemas.openxmlformats.org/drawingml/2006/main">
            <a:r>
              <a:t>Introduce una modificación propia con un requisito observable.</a:t>
            </a:r>
          </a:p>
          <a:p xmlns:a="http://schemas.openxmlformats.org/drawingml/2006/main">
            <a:r>
              <a:t>Prepara el expediente y la demostración del taller final.</a:t>
            </a:r>
          </a:p>
          <a:p xmlns:a="http://schemas.openxmlformats.org/drawingml/2006/main">
            <a:r>
              <a:t>Verificar un paso antes de seguir.</a:t>
            </a:r>
          </a:p>
          <a:p xmlns:a="http://schemas.openxmlformats.org/drawingml/2006/main">
            <a:r>
              <a:t/>
            </a:r>
          </a:p>
          <a:p xmlns:a="http://schemas.openxmlformats.org/drawingml/2006/main">
            <a:r>
              <a:t>Objetivo: Integrar módulos ya estudiados en un sistema de banco con requisitos y pruebas trazables.</a:t>
            </a:r>
          </a:p>
          <a:p xmlns:a="http://schemas.openxmlformats.org/drawingml/2006/main">
            <a:r>
              <a:t>Aplicación: MECRO necesita que un participante pueda construir, diagnosticar y explicar una cadena de sensores o de control aplicada a equipos UAV.</a:t>
            </a:r>
          </a:p>
          <a:p xmlns:a="http://schemas.openxmlformats.org/drawingml/2006/main">
            <a:r>
              <a:t>Entrega: Primera versión integrada, mapa de pines, cuatro hitos y plan de demostración.</a:t>
            </a:r>
          </a:p>
          <a:p xmlns:a="http://schemas.openxmlformats.org/drawingml/2006/main">
            <a:r>
              <a:t/>
            </a:r>
          </a:p>
          <a:p xmlns:a="http://schemas.openxmlformats.org/drawingml/2006/main">
            <a:r>
              <a:t>Preguntas y respuestas</a:t>
            </a:r>
          </a:p>
          <a:p xmlns:a="http://schemas.openxmlformats.org/drawingml/2006/main">
            <a:r>
              <a:t>¿Se actualiza lastValid al imprimir?</a:t>
            </a:r>
          </a:p>
          <a:p xmlns:a="http://schemas.openxmlformats.org/drawingml/2006/main">
            <a:r>
              <a:t>Se actualiza al aceptar una adquisición nueva bajo el criterio definido.</a:t>
            </a:r>
          </a:p>
          <a:p xmlns:a="http://schemas.openxmlformats.org/drawingml/2006/main">
            <a:r>
              <a:t/>
            </a:r>
          </a:p>
          <a:p xmlns:a="http://schemas.openxmlformats.org/drawingml/2006/main">
            <a:r>
              <a:t>¿Puede integrarse sin revisar pines de las clases previas?</a:t>
            </a:r>
          </a:p>
          <a:p xmlns:a="http://schemas.openxmlformats.org/drawingml/2006/main">
            <a:r>
              <a:t>No. La configuración final necesita su propio mapa y revisión de conflictos.</a:t>
            </a:r>
          </a:p>
          <a:p xmlns:a="http://schemas.openxmlformats.org/drawingml/2006/main">
            <a:r>
              <a:t/>
            </a:r>
          </a:p>
          <a:p xmlns:a="http://schemas.openxmlformats.org/drawingml/2006/main">
            <a:r>
              <a:t>¿Qué identifica una modificación útil?</a:t>
            </a:r>
          </a:p>
          <a:p xmlns:a="http://schemas.openxmlformats.org/drawingml/2006/main">
            <a:r>
              <a:t>Un propósito, un requisito observable y una prueba que lo comprueba.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Espressif Systems. Arduino-ESP32: I2C. https://docs.espressif.com/projects/arduino-esp32/en/latest/api/i2c.html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Wokwi. ESP32 Simulation: periféricos y límites. https://docs.wokwi.com/guides/esp32</a:t>
            </a:r>
          </a:p>
          <a:p xmlns:a="http://schemas.openxmlformats.org/drawingml/2006/main">
            <a:r>
              <a:t>Lectura MECRO_ESP32_Clase_15.pdf.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15: Proyecto integrador: una estación de pruebas para UAV.</a:t>
            </a:r>
          </a:p>
          <a:p xmlns:a="http://schemas.openxmlformats.org/drawingml/2006/main">
            <a:r>
              <a:t>En línea, 2 horas. Núcleo de explicación: 4 minutos en esta diapositiva.</a:t>
            </a:r>
          </a:p>
          <a:p xmlns:a="http://schemas.openxmlformats.org/drawingml/2006/main">
            <a:r>
              <a:t/>
            </a:r>
          </a:p>
          <a:p xmlns:a="http://schemas.openxmlformats.org/drawingml/2006/main">
            <a:r>
              <a:t>La demostración debe comenzar por el propósito y el objeto, no por recorrer todas las líneas de código. El equipo presenta una entrada, una transformación y una salida; muestra una condición normal y una condición que cambia el estado; después explica una decisión y su evidencia. Cada integrante responde una pregunta individual sobre su parte. Esa defensa permite distinguir comprensión de reproducción mecánica.</a:t>
            </a:r>
          </a:p>
          <a:p xmlns:a="http://schemas.openxmlformats.org/drawingml/2006/main">
            <a:r>
              <a:t/>
            </a:r>
          </a:p>
          <a:p xmlns:a="http://schemas.openxmlformats.org/drawingml/2006/main">
            <a:r>
              <a:t>Un equipo aporta simulación y otro montaje real. ¿Qué se compara en común y qué se identifica por separado?</a:t>
            </a:r>
          </a:p>
          <a:p xmlns:a="http://schemas.openxmlformats.org/drawingml/2006/main">
            <a:r>
              <a:t>Se comparan requisitos, coherencia del código, interpretación y análisis. Se identifica por separado qué prueba física realizó cada equipo y qué condiciones reales pudo observar.</a:t>
            </a:r>
          </a:p>
          <a:p xmlns:a="http://schemas.openxmlformats.org/drawingml/2006/main">
            <a:r>
              <a:t/>
            </a:r>
          </a:p>
          <a:p xmlns:a="http://schemas.openxmlformats.org/drawingml/2006/main">
            <a:r>
              <a:t>Para investigar, selecciona una ampliación: una pantalla, un registro persistente, una comunicación o un mecanismo. Explica qué interfaz y qué comprobaciones nuevas exige. La siguiente versión se propone con un motivo técnico vinculado al propósito, sin convertir una lista de componentes más larga en una mejora automática.</a:t>
            </a:r>
          </a:p>
          <a:p xmlns:a="http://schemas.openxmlformats.org/drawingml/2006/main">
            <a:r>
              <a:t/>
            </a:r>
          </a:p>
          <a:p xmlns:a="http://schemas.openxmlformats.org/drawingml/2006/main">
            <a:r>
              <a:t>Objetivo: Integrar módulos ya estudiados en un sistema de banco con requisitos y pruebas trazables.</a:t>
            </a:r>
          </a:p>
          <a:p xmlns:a="http://schemas.openxmlformats.org/drawingml/2006/main">
            <a:r>
              <a:t>Aplicación: MECRO necesita que un participante pueda construir, diagnosticar y explicar una cadena de sensores o de control aplicada a equipos UAV.</a:t>
            </a:r>
          </a:p>
          <a:p xmlns:a="http://schemas.openxmlformats.org/drawingml/2006/main">
            <a:r>
              <a:t>Entrega: Primera versión integrada, mapa de pines, cuatro hitos y plan de demostración.</a:t>
            </a:r>
          </a:p>
          <a:p xmlns:a="http://schemas.openxmlformats.org/drawingml/2006/main">
            <a:r>
              <a:t/>
            </a:r>
          </a:p>
          <a:p xmlns:a="http://schemas.openxmlformats.org/drawingml/2006/main">
            <a:r>
              <a:t>Preguntas y respuestas</a:t>
            </a:r>
          </a:p>
          <a:p xmlns:a="http://schemas.openxmlformats.org/drawingml/2006/main">
            <a:r>
              <a:t>¿Se actualiza lastValid al imprimir?</a:t>
            </a:r>
          </a:p>
          <a:p xmlns:a="http://schemas.openxmlformats.org/drawingml/2006/main">
            <a:r>
              <a:t>Se actualiza al aceptar una adquisición nueva bajo el criterio definido.</a:t>
            </a:r>
          </a:p>
          <a:p xmlns:a="http://schemas.openxmlformats.org/drawingml/2006/main">
            <a:r>
              <a:t/>
            </a:r>
          </a:p>
          <a:p xmlns:a="http://schemas.openxmlformats.org/drawingml/2006/main">
            <a:r>
              <a:t>¿Puede integrarse sin revisar pines de las clases previas?</a:t>
            </a:r>
          </a:p>
          <a:p xmlns:a="http://schemas.openxmlformats.org/drawingml/2006/main">
            <a:r>
              <a:t>No. La configuración final necesita su propio mapa y revisión de conflictos.</a:t>
            </a:r>
          </a:p>
          <a:p xmlns:a="http://schemas.openxmlformats.org/drawingml/2006/main">
            <a:r>
              <a:t/>
            </a:r>
          </a:p>
          <a:p xmlns:a="http://schemas.openxmlformats.org/drawingml/2006/main">
            <a:r>
              <a:t>¿Qué identifica una modificación útil?</a:t>
            </a:r>
          </a:p>
          <a:p xmlns:a="http://schemas.openxmlformats.org/drawingml/2006/main">
            <a:r>
              <a:t>Un propósito, un requisito observable y una prueba que lo comprueba.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Espressif Systems. Arduino-ESP32: I2C. https://docs.espressif.com/projects/arduino-esp32/en/latest/api/i2c.html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Wokwi. ESP32 Simulation: periféricos y límites. https://docs.wokwi.com/guides/esp32</a:t>
            </a:r>
          </a:p>
          <a:p xmlns:a="http://schemas.openxmlformats.org/drawingml/2006/main">
            <a:r>
              <a:t>Lectura MECRO_ESP32_Clase_15.pdf.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15: Proyecto integrador: una estación de pruebas para UAV.</a:t>
            </a:r>
          </a:p>
          <a:p xmlns:a="http://schemas.openxmlformats.org/drawingml/2006/main">
            <a:r>
              <a:t>En línea, 2 horas. Núcleo de explicación: 4 minutos en esta diapositiva.</a:t>
            </a:r>
          </a:p>
          <a:p xmlns:a="http://schemas.openxmlformats.org/drawingml/2006/main">
            <a:r>
              <a:t/>
            </a:r>
          </a:p>
          <a:p xmlns:a="http://schemas.openxmlformats.org/drawingml/2006/main">
            <a:r>
              <a:t>La demostración debe comenzar por el propósito y el objeto, no por recorrer todas las líneas de código. El equipo presenta una entrada, una transformación y una salida; muestra una condición normal y una condición que cambia el estado; después explica una decisión y su evidencia. Cada integrante responde una pregunta individual sobre su parte. Esa defensa permite distinguir comprensión de reproducción mecánica.</a:t>
            </a:r>
          </a:p>
          <a:p xmlns:a="http://schemas.openxmlformats.org/drawingml/2006/main">
            <a:r>
              <a:t/>
            </a:r>
          </a:p>
          <a:p xmlns:a="http://schemas.openxmlformats.org/drawingml/2006/main">
            <a:r>
              <a:t>Un equipo aporta simulación y otro montaje real. ¿Qué se compara en común y qué se identifica por separado?</a:t>
            </a:r>
          </a:p>
          <a:p xmlns:a="http://schemas.openxmlformats.org/drawingml/2006/main">
            <a:r>
              <a:t>Se comparan requisitos, coherencia del código, interpretación y análisis. Se identifica por separado qué prueba física realizó cada equipo y qué condiciones reales pudo observar.</a:t>
            </a:r>
          </a:p>
          <a:p xmlns:a="http://schemas.openxmlformats.org/drawingml/2006/main">
            <a:r>
              <a:t/>
            </a:r>
          </a:p>
          <a:p xmlns:a="http://schemas.openxmlformats.org/drawingml/2006/main">
            <a:r>
              <a:t>Para investigar, selecciona una ampliación: una pantalla, un registro persistente, una comunicación o un mecanismo. Explica qué interfaz y qué comprobaciones nuevas exige. La siguiente versión se propone con un motivo técnico vinculado al propósito, sin convertir una lista de componentes más larga en una mejora automática.</a:t>
            </a:r>
          </a:p>
          <a:p xmlns:a="http://schemas.openxmlformats.org/drawingml/2006/main">
            <a:r>
              <a:t/>
            </a:r>
          </a:p>
          <a:p xmlns:a="http://schemas.openxmlformats.org/drawingml/2006/main">
            <a:r>
              <a:t>Objetivo: Integrar módulos ya estudiados en un sistema de banco con requisitos y pruebas trazables.</a:t>
            </a:r>
          </a:p>
          <a:p xmlns:a="http://schemas.openxmlformats.org/drawingml/2006/main">
            <a:r>
              <a:t>Aplicación: MECRO necesita que un participante pueda construir, diagnosticar y explicar una cadena de sensores o de control aplicada a equipos UAV.</a:t>
            </a:r>
          </a:p>
          <a:p xmlns:a="http://schemas.openxmlformats.org/drawingml/2006/main">
            <a:r>
              <a:t>Entrega: Primera versión integrada, mapa de pines, cuatro hitos y plan de demostración.</a:t>
            </a:r>
          </a:p>
          <a:p xmlns:a="http://schemas.openxmlformats.org/drawingml/2006/main">
            <a:r>
              <a:t/>
            </a:r>
          </a:p>
          <a:p xmlns:a="http://schemas.openxmlformats.org/drawingml/2006/main">
            <a:r>
              <a:t>Preguntas y respuestas</a:t>
            </a:r>
          </a:p>
          <a:p xmlns:a="http://schemas.openxmlformats.org/drawingml/2006/main">
            <a:r>
              <a:t>¿Se actualiza lastValid al imprimir?</a:t>
            </a:r>
          </a:p>
          <a:p xmlns:a="http://schemas.openxmlformats.org/drawingml/2006/main">
            <a:r>
              <a:t>Se actualiza al aceptar una adquisición nueva bajo el criterio definido.</a:t>
            </a:r>
          </a:p>
          <a:p xmlns:a="http://schemas.openxmlformats.org/drawingml/2006/main">
            <a:r>
              <a:t/>
            </a:r>
          </a:p>
          <a:p xmlns:a="http://schemas.openxmlformats.org/drawingml/2006/main">
            <a:r>
              <a:t>¿Puede integrarse sin revisar pines de las clases previas?</a:t>
            </a:r>
          </a:p>
          <a:p xmlns:a="http://schemas.openxmlformats.org/drawingml/2006/main">
            <a:r>
              <a:t>No. La configuración final necesita su propio mapa y revisión de conflictos.</a:t>
            </a:r>
          </a:p>
          <a:p xmlns:a="http://schemas.openxmlformats.org/drawingml/2006/main">
            <a:r>
              <a:t/>
            </a:r>
          </a:p>
          <a:p xmlns:a="http://schemas.openxmlformats.org/drawingml/2006/main">
            <a:r>
              <a:t>¿Qué identifica una modificación útil?</a:t>
            </a:r>
          </a:p>
          <a:p xmlns:a="http://schemas.openxmlformats.org/drawingml/2006/main">
            <a:r>
              <a:t>Un propósito, un requisito observable y una prueba que lo comprueba.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Espressif Systems. Arduino-ESP32: I2C. https://docs.espressif.com/projects/arduino-esp32/en/latest/api/i2c.html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Wokwi. ESP32 Simulation: periféricos y límites. https://docs.wokwi.com/guides/esp32</a:t>
            </a:r>
          </a:p>
          <a:p xmlns:a="http://schemas.openxmlformats.org/drawingml/2006/main">
            <a:r>
              <a:t>Lectura MECRO_ESP32_Clase_15.pdf.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15: Proyecto integrador: una estación de pruebas para UAV.</a:t>
            </a:r>
          </a:p>
          <a:p xmlns:a="http://schemas.openxmlformats.org/drawingml/2006/main">
            <a:r>
              <a:t>En línea, 2 horas. Núcleo de explicación: 5 minutos en esta diapositiva.</a:t>
            </a:r>
          </a:p>
          <a:p xmlns:a="http://schemas.openxmlformats.org/drawingml/2006/main">
            <a:r>
              <a:t/>
            </a:r>
          </a:p>
          <a:p xmlns:a="http://schemas.openxmlformats.org/drawingml/2006/main">
            <a:r>
              <a:t>Primero tapar la solución o pedir respuesta individual.</a:t>
            </a:r>
          </a:p>
          <a:p xmlns:a="http://schemas.openxmlformats.org/drawingml/2006/main">
            <a:r>
              <a:t>Un equipo aporta simulación y otro montaje real. ¿Qué se compara en común y qué se identifica por separado?</a:t>
            </a:r>
          </a:p>
          <a:p xmlns:a="http://schemas.openxmlformats.org/drawingml/2006/main">
            <a:r>
              <a:t>Se comparan requisitos, coherencia del código, interpretación y análisis. Se identifica por separado qué prueba física realizó cada equipo y qué condiciones reales pudo observar.</a:t>
            </a:r>
          </a:p>
          <a:p xmlns:a="http://schemas.openxmlformats.org/drawingml/2006/main">
            <a:r>
              <a:t/>
            </a:r>
          </a:p>
          <a:p xmlns:a="http://schemas.openxmlformats.org/drawingml/2006/main">
            <a:r>
              <a:t>Objetivo: Integrar módulos ya estudiados en un sistema de banco con requisitos y pruebas trazables.</a:t>
            </a:r>
          </a:p>
          <a:p xmlns:a="http://schemas.openxmlformats.org/drawingml/2006/main">
            <a:r>
              <a:t>Aplicación: MECRO necesita que un participante pueda construir, diagnosticar y explicar una cadena de sensores o de control aplicada a equipos UAV.</a:t>
            </a:r>
          </a:p>
          <a:p xmlns:a="http://schemas.openxmlformats.org/drawingml/2006/main">
            <a:r>
              <a:t>Entrega: Primera versión integrada, mapa de pines, cuatro hitos y plan de demostración.</a:t>
            </a:r>
          </a:p>
          <a:p xmlns:a="http://schemas.openxmlformats.org/drawingml/2006/main">
            <a:r>
              <a:t/>
            </a:r>
          </a:p>
          <a:p xmlns:a="http://schemas.openxmlformats.org/drawingml/2006/main">
            <a:r>
              <a:t>Preguntas y respuestas</a:t>
            </a:r>
          </a:p>
          <a:p xmlns:a="http://schemas.openxmlformats.org/drawingml/2006/main">
            <a:r>
              <a:t>¿Se actualiza lastValid al imprimir?</a:t>
            </a:r>
          </a:p>
          <a:p xmlns:a="http://schemas.openxmlformats.org/drawingml/2006/main">
            <a:r>
              <a:t>Se actualiza al aceptar una adquisición nueva bajo el criterio definido.</a:t>
            </a:r>
          </a:p>
          <a:p xmlns:a="http://schemas.openxmlformats.org/drawingml/2006/main">
            <a:r>
              <a:t/>
            </a:r>
          </a:p>
          <a:p xmlns:a="http://schemas.openxmlformats.org/drawingml/2006/main">
            <a:r>
              <a:t>¿Puede integrarse sin revisar pines de las clases previas?</a:t>
            </a:r>
          </a:p>
          <a:p xmlns:a="http://schemas.openxmlformats.org/drawingml/2006/main">
            <a:r>
              <a:t>No. La configuración final necesita su propio mapa y revisión de conflictos.</a:t>
            </a:r>
          </a:p>
          <a:p xmlns:a="http://schemas.openxmlformats.org/drawingml/2006/main">
            <a:r>
              <a:t/>
            </a:r>
          </a:p>
          <a:p xmlns:a="http://schemas.openxmlformats.org/drawingml/2006/main">
            <a:r>
              <a:t>¿Qué identifica una modificación útil?</a:t>
            </a:r>
          </a:p>
          <a:p xmlns:a="http://schemas.openxmlformats.org/drawingml/2006/main">
            <a:r>
              <a:t>Un propósito, un requisito observable y una prueba que lo comprueba.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Espressif Systems. Arduino-ESP32: I2C. https://docs.espressif.com/projects/arduino-esp32/en/latest/api/i2c.html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Wokwi. ESP32 Simulation: periféricos y límites. https://docs.wokwi.com/guides/esp32</a:t>
            </a:r>
          </a:p>
          <a:p xmlns:a="http://schemas.openxmlformats.org/drawingml/2006/main">
            <a:r>
              <a:t>Lectura MECRO_ESP32_Clase_15.pdf.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15: Proyecto integrador: una estación de pruebas para UAV.</a:t>
            </a:r>
          </a:p>
          <a:p xmlns:a="http://schemas.openxmlformats.org/drawingml/2006/main">
            <a:r>
              <a:t>En línea, 2 horas. Núcleo de explicación: 12 minutos en esta diapositiva.</a:t>
            </a:r>
          </a:p>
          <a:p xmlns:a="http://schemas.openxmlformats.org/drawingml/2006/main">
            <a:r>
              <a:t/>
            </a:r>
          </a:p>
          <a:p xmlns:a="http://schemas.openxmlformats.org/drawingml/2006/main">
            <a:r>
              <a:t>Mostrar el portafolio acumulado y elegir un propósito concreto.</a:t>
            </a:r>
          </a:p>
          <a:p xmlns:a="http://schemas.openxmlformats.org/drawingml/2006/main">
            <a:r>
              <a:t>Revisar la tabla de pines y los requisitos del equipo.</a:t>
            </a:r>
          </a:p>
          <a:p xmlns:a="http://schemas.openxmlformats.org/drawingml/2006/main">
            <a:r>
              <a:t>Comprobar c15_integrador y una modificación propia.</a:t>
            </a:r>
          </a:p>
          <a:p xmlns:a="http://schemas.openxmlformats.org/drawingml/2006/main">
            <a:r>
              <a:t>Preparar prueba normal, prueba de fallo y defensa.</a:t>
            </a:r>
          </a:p>
          <a:p xmlns:a="http://schemas.openxmlformats.org/drawingml/2006/main">
            <a:r>
              <a:t>Rotar código, medida y registro.</a:t>
            </a:r>
          </a:p>
          <a:p xmlns:a="http://schemas.openxmlformats.org/drawingml/2006/main">
            <a:r>
              <a:t/>
            </a:r>
          </a:p>
          <a:p xmlns:a="http://schemas.openxmlformats.org/drawingml/2006/main">
            <a:r>
              <a:t>Objetivo: Integrar módulos ya estudiados en un sistema de banco con requisitos y pruebas trazables.</a:t>
            </a:r>
          </a:p>
          <a:p xmlns:a="http://schemas.openxmlformats.org/drawingml/2006/main">
            <a:r>
              <a:t>Aplicación: MECRO necesita que un participante pueda construir, diagnosticar y explicar una cadena de sensores o de control aplicada a equipos UAV.</a:t>
            </a:r>
          </a:p>
          <a:p xmlns:a="http://schemas.openxmlformats.org/drawingml/2006/main">
            <a:r>
              <a:t>Entrega: Primera versión integrada, mapa de pines, cuatro hitos y plan de demostración.</a:t>
            </a:r>
          </a:p>
          <a:p xmlns:a="http://schemas.openxmlformats.org/drawingml/2006/main">
            <a:r>
              <a:t/>
            </a:r>
          </a:p>
          <a:p xmlns:a="http://schemas.openxmlformats.org/drawingml/2006/main">
            <a:r>
              <a:t>Preguntas y respuestas</a:t>
            </a:r>
          </a:p>
          <a:p xmlns:a="http://schemas.openxmlformats.org/drawingml/2006/main">
            <a:r>
              <a:t>¿Se actualiza lastValid al imprimir?</a:t>
            </a:r>
          </a:p>
          <a:p xmlns:a="http://schemas.openxmlformats.org/drawingml/2006/main">
            <a:r>
              <a:t>Se actualiza al aceptar una adquisición nueva bajo el criterio definido.</a:t>
            </a:r>
          </a:p>
          <a:p xmlns:a="http://schemas.openxmlformats.org/drawingml/2006/main">
            <a:r>
              <a:t/>
            </a:r>
          </a:p>
          <a:p xmlns:a="http://schemas.openxmlformats.org/drawingml/2006/main">
            <a:r>
              <a:t>¿Puede integrarse sin revisar pines de las clases previas?</a:t>
            </a:r>
          </a:p>
          <a:p xmlns:a="http://schemas.openxmlformats.org/drawingml/2006/main">
            <a:r>
              <a:t>No. La configuración final necesita su propio mapa y revisión de conflictos.</a:t>
            </a:r>
          </a:p>
          <a:p xmlns:a="http://schemas.openxmlformats.org/drawingml/2006/main">
            <a:r>
              <a:t/>
            </a:r>
          </a:p>
          <a:p xmlns:a="http://schemas.openxmlformats.org/drawingml/2006/main">
            <a:r>
              <a:t>¿Qué identifica una modificación útil?</a:t>
            </a:r>
          </a:p>
          <a:p xmlns:a="http://schemas.openxmlformats.org/drawingml/2006/main">
            <a:r>
              <a:t>Un propósito, un requisito observable y una prueba que lo comprueba.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Espressif Systems. Arduino-ESP32: I2C. https://docs.espressif.com/projects/arduino-esp32/en/latest/api/i2c.html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Wokwi. ESP32 Simulation: periféricos y límites. https://docs.wokwi.com/guides/esp32</a:t>
            </a:r>
          </a:p>
          <a:p xmlns:a="http://schemas.openxmlformats.org/drawingml/2006/main">
            <a:r>
              <a:t>Lectura MECRO_ESP32_Clase_15.pdf.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15: Proyecto integrador: una estación de pruebas para UAV.</a:t>
            </a:r>
          </a:p>
          <a:p xmlns:a="http://schemas.openxmlformats.org/drawingml/2006/main">
            <a:r>
              <a:t>En línea, 2 horas. Núcleo de explicación: 10 minutos en esta diapositiva.</a:t>
            </a:r>
          </a:p>
          <a:p xmlns:a="http://schemas.openxmlformats.org/drawingml/2006/main">
            <a:r>
              <a:t/>
            </a:r>
          </a:p>
          <a:p xmlns:a="http://schemas.openxmlformats.org/drawingml/2006/main">
            <a:r>
              <a:t>MECRO necesita que un participante pueda construir, diagnosticar y explicar una cadena de sensores o de control aplicada a equipos UAV.</a:t>
            </a:r>
          </a:p>
          <a:p xmlns:a="http://schemas.openxmlformats.org/drawingml/2006/main">
            <a:r>
              <a:t>Primera versión integrada, mapa de pines, cuatro hitos y plan de demostración.</a:t>
            </a:r>
          </a:p>
          <a:p xmlns:a="http://schemas.openxmlformats.org/drawingml/2006/main">
            <a:r>
              <a:t/>
            </a:r>
          </a:p>
          <a:p xmlns:a="http://schemas.openxmlformats.org/drawingml/2006/main">
            <a:r>
              <a:t>Objetivo: Integrar módulos ya estudiados en un sistema de banco con requisitos y pruebas trazables.</a:t>
            </a:r>
          </a:p>
          <a:p xmlns:a="http://schemas.openxmlformats.org/drawingml/2006/main">
            <a:r>
              <a:t>Aplicación: MECRO necesita que un participante pueda construir, diagnosticar y explicar una cadena de sensores o de control aplicada a equipos UAV.</a:t>
            </a:r>
          </a:p>
          <a:p xmlns:a="http://schemas.openxmlformats.org/drawingml/2006/main">
            <a:r>
              <a:t>Entrega: Primera versión integrada, mapa de pines, cuatro hitos y plan de demostración.</a:t>
            </a:r>
          </a:p>
          <a:p xmlns:a="http://schemas.openxmlformats.org/drawingml/2006/main">
            <a:r>
              <a:t/>
            </a:r>
          </a:p>
          <a:p xmlns:a="http://schemas.openxmlformats.org/drawingml/2006/main">
            <a:r>
              <a:t>Preguntas y respuestas</a:t>
            </a:r>
          </a:p>
          <a:p xmlns:a="http://schemas.openxmlformats.org/drawingml/2006/main">
            <a:r>
              <a:t>¿Se actualiza lastValid al imprimir?</a:t>
            </a:r>
          </a:p>
          <a:p xmlns:a="http://schemas.openxmlformats.org/drawingml/2006/main">
            <a:r>
              <a:t>Se actualiza al aceptar una adquisición nueva bajo el criterio definido.</a:t>
            </a:r>
          </a:p>
          <a:p xmlns:a="http://schemas.openxmlformats.org/drawingml/2006/main">
            <a:r>
              <a:t/>
            </a:r>
          </a:p>
          <a:p xmlns:a="http://schemas.openxmlformats.org/drawingml/2006/main">
            <a:r>
              <a:t>¿Puede integrarse sin revisar pines de las clases previas?</a:t>
            </a:r>
          </a:p>
          <a:p xmlns:a="http://schemas.openxmlformats.org/drawingml/2006/main">
            <a:r>
              <a:t>No. La configuración final necesita su propio mapa y revisión de conflictos.</a:t>
            </a:r>
          </a:p>
          <a:p xmlns:a="http://schemas.openxmlformats.org/drawingml/2006/main">
            <a:r>
              <a:t/>
            </a:r>
          </a:p>
          <a:p xmlns:a="http://schemas.openxmlformats.org/drawingml/2006/main">
            <a:r>
              <a:t>¿Qué identifica una modificación útil?</a:t>
            </a:r>
          </a:p>
          <a:p xmlns:a="http://schemas.openxmlformats.org/drawingml/2006/main">
            <a:r>
              <a:t>Un propósito, un requisito observable y una prueba que lo comprueba.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Espressif Systems. Arduino-ESP32: I2C. https://docs.espressif.com/projects/arduino-esp32/en/latest/api/i2c.html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Wokwi. ESP32 Simulation: periféricos y límites. https://docs.wokwi.com/guides/esp32</a:t>
            </a:r>
          </a:p>
          <a:p xmlns:a="http://schemas.openxmlformats.org/drawingml/2006/main">
            <a:r>
              <a:t>Lectura MECRO_ESP32_Clase_15.pdf.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15: Proyecto integrador: una estación de pruebas para UAV.</a:t>
            </a:r>
          </a:p>
          <a:p xmlns:a="http://schemas.openxmlformats.org/drawingml/2006/main">
            <a:r>
              <a:t>En línea, 2 horas. Núcleo de explicación: 7 minutos en esta diapositiva.</a:t>
            </a:r>
          </a:p>
          <a:p xmlns:a="http://schemas.openxmlformats.org/drawingml/2006/main">
            <a:r>
              <a:t/>
            </a:r>
          </a:p>
          <a:p xmlns:a="http://schemas.openxmlformats.org/drawingml/2006/main">
            <a:r>
              <a:t>Respuesta individual y contraste con el equipo.</a:t>
            </a:r>
          </a:p>
          <a:p xmlns:a="http://schemas.openxmlformats.org/drawingml/2006/main">
            <a:r>
              <a:t/>
            </a:r>
          </a:p>
          <a:p xmlns:a="http://schemas.openxmlformats.org/drawingml/2006/main">
            <a:r>
              <a:t>Objetivo: Integrar módulos ya estudiados en un sistema de banco con requisitos y pruebas trazables.</a:t>
            </a:r>
          </a:p>
          <a:p xmlns:a="http://schemas.openxmlformats.org/drawingml/2006/main">
            <a:r>
              <a:t>Aplicación: MECRO necesita que un participante pueda construir, diagnosticar y explicar una cadena de sensores o de control aplicada a equipos UAV.</a:t>
            </a:r>
          </a:p>
          <a:p xmlns:a="http://schemas.openxmlformats.org/drawingml/2006/main">
            <a:r>
              <a:t>Entrega: Primera versión integrada, mapa de pines, cuatro hitos y plan de demostración.</a:t>
            </a:r>
          </a:p>
          <a:p xmlns:a="http://schemas.openxmlformats.org/drawingml/2006/main">
            <a:r>
              <a:t/>
            </a:r>
          </a:p>
          <a:p xmlns:a="http://schemas.openxmlformats.org/drawingml/2006/main">
            <a:r>
              <a:t>Preguntas y respuestas</a:t>
            </a:r>
          </a:p>
          <a:p xmlns:a="http://schemas.openxmlformats.org/drawingml/2006/main">
            <a:r>
              <a:t>¿Se actualiza lastValid al imprimir?</a:t>
            </a:r>
          </a:p>
          <a:p xmlns:a="http://schemas.openxmlformats.org/drawingml/2006/main">
            <a:r>
              <a:t>Se actualiza al aceptar una adquisición nueva bajo el criterio definido.</a:t>
            </a:r>
          </a:p>
          <a:p xmlns:a="http://schemas.openxmlformats.org/drawingml/2006/main">
            <a:r>
              <a:t/>
            </a:r>
          </a:p>
          <a:p xmlns:a="http://schemas.openxmlformats.org/drawingml/2006/main">
            <a:r>
              <a:t>¿Puede integrarse sin revisar pines de las clases previas?</a:t>
            </a:r>
          </a:p>
          <a:p xmlns:a="http://schemas.openxmlformats.org/drawingml/2006/main">
            <a:r>
              <a:t>No. La configuración final necesita su propio mapa y revisión de conflictos.</a:t>
            </a:r>
          </a:p>
          <a:p xmlns:a="http://schemas.openxmlformats.org/drawingml/2006/main">
            <a:r>
              <a:t/>
            </a:r>
          </a:p>
          <a:p xmlns:a="http://schemas.openxmlformats.org/drawingml/2006/main">
            <a:r>
              <a:t>¿Qué identifica una modificación útil?</a:t>
            </a:r>
          </a:p>
          <a:p xmlns:a="http://schemas.openxmlformats.org/drawingml/2006/main">
            <a:r>
              <a:t>Un propósito, un requisito observable y una prueba que lo comprueba.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Espressif Systems. Arduino-ESP32: I2C. https://docs.espressif.com/projects/arduino-esp32/en/latest/api/i2c.html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Wokwi. ESP32 Simulation: periféricos y límites. https://docs.wokwi.com/guides/esp32</a:t>
            </a:r>
          </a:p>
          <a:p xmlns:a="http://schemas.openxmlformats.org/drawingml/2006/main">
            <a:r>
              <a:t>Lectura MECRO_ESP32_Clase_15.pdf.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15: Proyecto integrador: una estación de pruebas para UAV.</a:t>
            </a:r>
          </a:p>
          <a:p xmlns:a="http://schemas.openxmlformats.org/drawingml/2006/main">
            <a:r>
              <a:t>En línea, 2 horas. Núcleo de explicación: 5 minutos en esta diapositiva.</a:t>
            </a:r>
          </a:p>
          <a:p xmlns:a="http://schemas.openxmlformats.org/drawingml/2006/main">
            <a:r>
              <a:t/>
            </a:r>
          </a:p>
          <a:p xmlns:a="http://schemas.openxmlformats.org/drawingml/2006/main">
            <a:r>
              <a:t>Pedir que una respuesta se apoye en el circuito o los datos del estudiante.</a:t>
            </a:r>
          </a:p>
          <a:p xmlns:a="http://schemas.openxmlformats.org/drawingml/2006/main">
            <a:r>
              <a:t/>
            </a:r>
          </a:p>
          <a:p xmlns:a="http://schemas.openxmlformats.org/drawingml/2006/main">
            <a:r>
              <a:t>Objetivo: Integrar módulos ya estudiados en un sistema de banco con requisitos y pruebas trazables.</a:t>
            </a:r>
          </a:p>
          <a:p xmlns:a="http://schemas.openxmlformats.org/drawingml/2006/main">
            <a:r>
              <a:t>Aplicación: MECRO necesita que un participante pueda construir, diagnosticar y explicar una cadena de sensores o de control aplicada a equipos UAV.</a:t>
            </a:r>
          </a:p>
          <a:p xmlns:a="http://schemas.openxmlformats.org/drawingml/2006/main">
            <a:r>
              <a:t>Entrega: Primera versión integrada, mapa de pines, cuatro hitos y plan de demostración.</a:t>
            </a:r>
          </a:p>
          <a:p xmlns:a="http://schemas.openxmlformats.org/drawingml/2006/main">
            <a:r>
              <a:t/>
            </a:r>
          </a:p>
          <a:p xmlns:a="http://schemas.openxmlformats.org/drawingml/2006/main">
            <a:r>
              <a:t>Preguntas y respuestas</a:t>
            </a:r>
          </a:p>
          <a:p xmlns:a="http://schemas.openxmlformats.org/drawingml/2006/main">
            <a:r>
              <a:t>¿Se actualiza lastValid al imprimir?</a:t>
            </a:r>
          </a:p>
          <a:p xmlns:a="http://schemas.openxmlformats.org/drawingml/2006/main">
            <a:r>
              <a:t>Se actualiza al aceptar una adquisición nueva bajo el criterio definido.</a:t>
            </a:r>
          </a:p>
          <a:p xmlns:a="http://schemas.openxmlformats.org/drawingml/2006/main">
            <a:r>
              <a:t/>
            </a:r>
          </a:p>
          <a:p xmlns:a="http://schemas.openxmlformats.org/drawingml/2006/main">
            <a:r>
              <a:t>¿Puede integrarse sin revisar pines de las clases previas?</a:t>
            </a:r>
          </a:p>
          <a:p xmlns:a="http://schemas.openxmlformats.org/drawingml/2006/main">
            <a:r>
              <a:t>No. La configuración final necesita su propio mapa y revisión de conflictos.</a:t>
            </a:r>
          </a:p>
          <a:p xmlns:a="http://schemas.openxmlformats.org/drawingml/2006/main">
            <a:r>
              <a:t/>
            </a:r>
          </a:p>
          <a:p xmlns:a="http://schemas.openxmlformats.org/drawingml/2006/main">
            <a:r>
              <a:t>¿Qué identifica una modificación útil?</a:t>
            </a:r>
          </a:p>
          <a:p xmlns:a="http://schemas.openxmlformats.org/drawingml/2006/main">
            <a:r>
              <a:t>Un propósito, un requisito observable y una prueba que lo comprueba.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Espressif Systems. Arduino-ESP32: I2C. https://docs.espressif.com/projects/arduino-esp32/en/latest/api/i2c.html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Wokwi. ESP32 Simulation: periféricos y límites. https://docs.wokwi.com/guides/esp32</a:t>
            </a:r>
          </a:p>
          <a:p xmlns:a="http://schemas.openxmlformats.org/drawingml/2006/main">
            <a:r>
              <a:t>Lectura MECRO_ESP32_Clase_15.pdf.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15: Proyecto integrador: una estación de pruebas para UAV.</a:t>
            </a:r>
          </a:p>
          <a:p xmlns:a="http://schemas.openxmlformats.org/drawingml/2006/main">
            <a:r>
              <a:t>En línea, 2 horas. Núcleo de explicación: 5 minutos en esta diapositiva.</a:t>
            </a:r>
          </a:p>
          <a:p xmlns:a="http://schemas.openxmlformats.org/drawingml/2006/main">
            <a:r>
              <a:t/>
            </a:r>
          </a:p>
          <a:p xmlns:a="http://schemas.openxmlformats.org/drawingml/2006/main">
            <a:r>
              <a:t>Primera versión integrada, mapa de pines, cuatro hitos y plan de demostración.</a:t>
            </a:r>
          </a:p>
          <a:p xmlns:a="http://schemas.openxmlformats.org/drawingml/2006/main">
            <a:r>
              <a:t/>
            </a:r>
          </a:p>
          <a:p xmlns:a="http://schemas.openxmlformats.org/drawingml/2006/main">
            <a:r>
              <a:t>Objetivo: Integrar módulos ya estudiados en un sistema de banco con requisitos y pruebas trazables.</a:t>
            </a:r>
          </a:p>
          <a:p xmlns:a="http://schemas.openxmlformats.org/drawingml/2006/main">
            <a:r>
              <a:t>Aplicación: MECRO necesita que un participante pueda construir, diagnosticar y explicar una cadena de sensores o de control aplicada a equipos UAV.</a:t>
            </a:r>
          </a:p>
          <a:p xmlns:a="http://schemas.openxmlformats.org/drawingml/2006/main">
            <a:r>
              <a:t>Entrega: Primera versión integrada, mapa de pines, cuatro hitos y plan de demostración.</a:t>
            </a:r>
          </a:p>
          <a:p xmlns:a="http://schemas.openxmlformats.org/drawingml/2006/main">
            <a:r>
              <a:t/>
            </a:r>
          </a:p>
          <a:p xmlns:a="http://schemas.openxmlformats.org/drawingml/2006/main">
            <a:r>
              <a:t>Preguntas y respuestas</a:t>
            </a:r>
          </a:p>
          <a:p xmlns:a="http://schemas.openxmlformats.org/drawingml/2006/main">
            <a:r>
              <a:t>¿Se actualiza lastValid al imprimir?</a:t>
            </a:r>
          </a:p>
          <a:p xmlns:a="http://schemas.openxmlformats.org/drawingml/2006/main">
            <a:r>
              <a:t>Se actualiza al aceptar una adquisición nueva bajo el criterio definido.</a:t>
            </a:r>
          </a:p>
          <a:p xmlns:a="http://schemas.openxmlformats.org/drawingml/2006/main">
            <a:r>
              <a:t/>
            </a:r>
          </a:p>
          <a:p xmlns:a="http://schemas.openxmlformats.org/drawingml/2006/main">
            <a:r>
              <a:t>¿Puede integrarse sin revisar pines de las clases previas?</a:t>
            </a:r>
          </a:p>
          <a:p xmlns:a="http://schemas.openxmlformats.org/drawingml/2006/main">
            <a:r>
              <a:t>No. La configuración final necesita su propio mapa y revisión de conflictos.</a:t>
            </a:r>
          </a:p>
          <a:p xmlns:a="http://schemas.openxmlformats.org/drawingml/2006/main">
            <a:r>
              <a:t/>
            </a:r>
          </a:p>
          <a:p xmlns:a="http://schemas.openxmlformats.org/drawingml/2006/main">
            <a:r>
              <a:t>¿Qué identifica una modificación útil?</a:t>
            </a:r>
          </a:p>
          <a:p xmlns:a="http://schemas.openxmlformats.org/drawingml/2006/main">
            <a:r>
              <a:t>Un propósito, un requisito observable y una prueba que lo comprueba.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Espressif Systems. Arduino-ESP32: I2C. https://docs.espressif.com/projects/arduino-esp32/en/latest/api/i2c.html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Wokwi. ESP32 Simulation: periféricos y límites. https://docs.wokwi.com/guides/esp32</a:t>
            </a:r>
          </a:p>
          <a:p xmlns:a="http://schemas.openxmlformats.org/drawingml/2006/main">
            <a:r>
              <a:t>Lectura MECRO_ESP32_Clase_15.pdf.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16: Taller final: pruebas, diagnóstico y clase maestra de cierre.</a:t>
            </a:r>
          </a:p>
          <a:p xmlns:a="http://schemas.openxmlformats.org/drawingml/2006/main">
            <a:r>
              <a:t>Presencial, 4 horas. Núcleo de explicación: 3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Revisar la configuración antes de la demostración.</a:t>
            </a:r>
          </a:p>
          <a:p xmlns:a="http://schemas.openxmlformats.org/drawingml/2006/main">
            <a:r>
              <a:t/>
            </a:r>
          </a:p>
          <a:p xmlns:a="http://schemas.openxmlformats.org/drawingml/2006/main">
            <a:r>
              <a:t>Objetivo: Demostrar el sistema, explicar una condición de fallo y defender una mejora con evidencia.</a:t>
            </a:r>
          </a:p>
          <a:p xmlns:a="http://schemas.openxmlformats.org/drawingml/2006/main">
            <a:r>
              <a:t>Aplicación: El cierre forma a un constructor que puede presentar y revisar un sistema de banco relacionado con UAV.</a:t>
            </a:r>
          </a:p>
          <a:p xmlns:a="http://schemas.openxmlformats.org/drawingml/2006/main">
            <a:r>
              <a:t>Entrega: Expediente final, matriz de pruebas, registro y defensa individual.</a:t>
            </a:r>
          </a:p>
          <a:p xmlns:a="http://schemas.openxmlformats.org/drawingml/2006/main">
            <a:r>
              <a:t/>
            </a:r>
          </a:p>
          <a:p xmlns:a="http://schemas.openxmlformats.org/drawingml/2006/main">
            <a:r>
              <a:t>Preguntas y respuestas</a:t>
            </a:r>
          </a:p>
          <a:p xmlns:a="http://schemas.openxmlformats.org/drawingml/2006/main">
            <a:r>
              <a:t>¿Compilar equivale a haber probado hardware?</a:t>
            </a:r>
          </a:p>
          <a:p xmlns:a="http://schemas.openxmlformats.org/drawingml/2006/main">
            <a:r>
              <a:t>No. Son evidencias distintas y se identifican por su alcance.</a:t>
            </a:r>
          </a:p>
          <a:p xmlns:a="http://schemas.openxmlformats.org/drawingml/2006/main">
            <a:r>
              <a:t/>
            </a:r>
          </a:p>
          <a:p xmlns:a="http://schemas.openxmlformats.org/drawingml/2006/main">
            <a:r>
              <a:t>¿Un valor retenido puede seguir impreso con data_valid=0?</a:t>
            </a:r>
          </a:p>
          <a:p xmlns:a="http://schemas.openxmlformats.org/drawingml/2006/main">
            <a:r>
              <a:t>Sí, si el formato lo explica; no debe presentarse como una adquisición reciente.</a:t>
            </a:r>
          </a:p>
          <a:p xmlns:a="http://schemas.openxmlformats.org/drawingml/2006/main">
            <a:r>
              <a:t/>
            </a:r>
          </a:p>
          <a:p xmlns:a="http://schemas.openxmlformats.org/drawingml/2006/main">
            <a:r>
              <a:t>¿Qué debe contener una mejora?</a:t>
            </a:r>
          </a:p>
          <a:p xmlns:a="http://schemas.openxmlformats.org/drawingml/2006/main">
            <a:r>
              <a:t>Problema observado, cambio con motivo y prueba para contrastarlo.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Espressif Systems. Arduino-ESP32: I2C. https://docs.espressif.com/projects/arduino-esp32/en/latest/api/i2c.html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Wokwi. ESP32 Simulation: periféricos y límites. https://docs.wokwi.com/guides/esp32</a:t>
            </a:r>
          </a:p>
          <a:p xmlns:a="http://schemas.openxmlformats.org/drawingml/2006/main">
            <a:r>
              <a:t>Lectura MECRO_ESP32_Clase_16.pdf.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16: Taller final: pruebas, diagnóstico y clase maestra de cierre.</a:t>
            </a:r>
          </a:p>
          <a:p xmlns:a="http://schemas.openxmlformats.org/drawingml/2006/main">
            <a:r>
              <a:t>Presencial, 4 horas. Núcleo de explicación: 4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La demostración final reúne construcción, programación y explicación. Se presenta una configuración identificada con un objetivo y un método de prueba. Una aplicación que solo muestra números bonitos puede ocultar referencias equivocadas; una que documenta su estado y sus datos permite investigar lo ocurrido. El taller evalúa ese criterio con el equipo delante.</a:t>
            </a:r>
          </a:p>
          <a:p xmlns:a="http://schemas.openxmlformats.org/drawingml/2006/main">
            <a:r>
              <a:t/>
            </a:r>
          </a:p>
          <a:p xmlns:a="http://schemas.openxmlformats.org/drawingml/2006/main">
            <a:r>
              <a:t>Elemento / Qué permite revisar</a:t>
            </a:r>
          </a:p>
          <a:p xmlns:a="http://schemas.openxmlformats.org/drawingml/2006/main">
            <a:r>
              <a:t>Esquema vigente / Energía, señal y referencia</a:t>
            </a:r>
          </a:p>
          <a:p xmlns:a="http://schemas.openxmlformats.org/drawingml/2006/main">
            <a:r>
              <a:t>Código y entorno / Reproducir la construcción</a:t>
            </a:r>
          </a:p>
          <a:p xmlns:a="http://schemas.openxmlformats.org/drawingml/2006/main">
            <a:r>
              <a:t>Registro / Tiempo, unidad y estado</a:t>
            </a:r>
          </a:p>
          <a:p xmlns:a="http://schemas.openxmlformats.org/drawingml/2006/main">
            <a:r>
              <a:t>Pruebas / Condiciones y observaciones</a:t>
            </a:r>
          </a:p>
          <a:p xmlns:a="http://schemas.openxmlformats.org/drawingml/2006/main">
            <a:r>
              <a:t>Defensa / Decisiones del estudiante</a:t>
            </a:r>
          </a:p>
          <a:p xmlns:a="http://schemas.openxmlformats.org/drawingml/2006/main">
            <a:r>
              <a:t/>
            </a:r>
          </a:p>
          <a:p xmlns:a="http://schemas.openxmlformats.org/drawingml/2006/main">
            <a:r>
              <a:t>El proyecto principal se demuestra en banco; no se plantea como firmware de vuelo. Un equipo que trabajó por simulación identifica sus resultados como tales y participa en las comprobaciones compartidas disponibles. La evaluación conserva esa diferencia para que un certificado del curso no prometa una experiencia física que no se documentó.</a:t>
            </a:r>
          </a:p>
          <a:p xmlns:a="http://schemas.openxmlformats.org/drawingml/2006/main">
            <a:r>
              <a:t/>
            </a:r>
          </a:p>
          <a:p xmlns:a="http://schemas.openxmlformats.org/drawingml/2006/main">
            <a:r>
              <a:t>Antes de energizar se revisa que el montaje corresponda al esquema de esa versión. Las modificaciones realizadas después de una prueba pueden afectar la referencia, los pines o el estado inicial. El expediente no necesita ser complicado: debe permitir reconocer qué sistema se examinó y qué condiciones se conservaron.</a:t>
            </a:r>
          </a:p>
          <a:p xmlns:a="http://schemas.openxmlformats.org/drawingml/2006/main">
            <a:r>
              <a:t/>
            </a:r>
          </a:p>
          <a:p xmlns:a="http://schemas.openxmlformats.org/drawingml/2006/main">
            <a:r>
              <a:t>Objetivo: Demostrar el sistema, explicar una condición de fallo y defender una mejora con evidencia.</a:t>
            </a:r>
          </a:p>
          <a:p xmlns:a="http://schemas.openxmlformats.org/drawingml/2006/main">
            <a:r>
              <a:t>Aplicación: El cierre forma a un constructor que puede presentar y revisar un sistema de banco relacionado con UAV.</a:t>
            </a:r>
          </a:p>
          <a:p xmlns:a="http://schemas.openxmlformats.org/drawingml/2006/main">
            <a:r>
              <a:t>Entrega: Expediente final, matriz de pruebas, registro y defensa individual.</a:t>
            </a:r>
          </a:p>
          <a:p xmlns:a="http://schemas.openxmlformats.org/drawingml/2006/main">
            <a:r>
              <a:t/>
            </a:r>
          </a:p>
          <a:p xmlns:a="http://schemas.openxmlformats.org/drawingml/2006/main">
            <a:r>
              <a:t>Preguntas y respuestas</a:t>
            </a:r>
          </a:p>
          <a:p xmlns:a="http://schemas.openxmlformats.org/drawingml/2006/main">
            <a:r>
              <a:t>¿Compilar equivale a haber probado hardware?</a:t>
            </a:r>
          </a:p>
          <a:p xmlns:a="http://schemas.openxmlformats.org/drawingml/2006/main">
            <a:r>
              <a:t>No. Son evidencias distintas y se identifican por su alcance.</a:t>
            </a:r>
          </a:p>
          <a:p xmlns:a="http://schemas.openxmlformats.org/drawingml/2006/main">
            <a:r>
              <a:t/>
            </a:r>
          </a:p>
          <a:p xmlns:a="http://schemas.openxmlformats.org/drawingml/2006/main">
            <a:r>
              <a:t>¿Un valor retenido puede seguir impreso con data_valid=0?</a:t>
            </a:r>
          </a:p>
          <a:p xmlns:a="http://schemas.openxmlformats.org/drawingml/2006/main">
            <a:r>
              <a:t>Sí, si el formato lo explica; no debe presentarse como una adquisición reciente.</a:t>
            </a:r>
          </a:p>
          <a:p xmlns:a="http://schemas.openxmlformats.org/drawingml/2006/main">
            <a:r>
              <a:t/>
            </a:r>
          </a:p>
          <a:p xmlns:a="http://schemas.openxmlformats.org/drawingml/2006/main">
            <a:r>
              <a:t>¿Qué debe contener una mejora?</a:t>
            </a:r>
          </a:p>
          <a:p xmlns:a="http://schemas.openxmlformats.org/drawingml/2006/main">
            <a:r>
              <a:t>Problema observado, cambio con motivo y prueba para contrastarlo.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Espressif Systems. Arduino-ESP32: I2C. https://docs.espressif.com/projects/arduino-esp32/en/latest/api/i2c.html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Wokwi. ESP32 Simulation: periféricos y límites. https://docs.wokwi.com/guides/esp32</a:t>
            </a:r>
          </a:p>
          <a:p xmlns:a="http://schemas.openxmlformats.org/drawingml/2006/main">
            <a:r>
              <a:t>Lectura MECRO_ESP32_Clase_16.pdf.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16: Taller final: pruebas, diagnóstico y clase maestra de cierre.</a:t>
            </a:r>
          </a:p>
          <a:p xmlns:a="http://schemas.openxmlformats.org/drawingml/2006/main">
            <a:r>
              <a:t>Presencial, 4 horas. Núcleo de explicación: 4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Elemento / Qué permite revisar</a:t>
            </a:r>
          </a:p>
          <a:p xmlns:a="http://schemas.openxmlformats.org/drawingml/2006/main">
            <a:r>
              <a:t>Esquema vigente / Energía, señal y referencia</a:t>
            </a:r>
          </a:p>
          <a:p xmlns:a="http://schemas.openxmlformats.org/drawingml/2006/main">
            <a:r>
              <a:t>Código y entorno / Reproducir la construcción</a:t>
            </a:r>
          </a:p>
          <a:p xmlns:a="http://schemas.openxmlformats.org/drawingml/2006/main">
            <a:r>
              <a:t>Registro / Tiempo, unidad y estado</a:t>
            </a:r>
          </a:p>
          <a:p xmlns:a="http://schemas.openxmlformats.org/drawingml/2006/main">
            <a:r>
              <a:t>Pruebas / Condiciones y observaciones</a:t>
            </a:r>
          </a:p>
          <a:p xmlns:a="http://schemas.openxmlformats.org/drawingml/2006/main">
            <a:r>
              <a:t>Defensa / Decisiones del estudiante</a:t>
            </a:r>
          </a:p>
          <a:p xmlns:a="http://schemas.openxmlformats.org/drawingml/2006/main">
            <a:r>
              <a:t>Comparar filas y explicar una condición que cambie la decisión.</a:t>
            </a:r>
          </a:p>
          <a:p xmlns:a="http://schemas.openxmlformats.org/drawingml/2006/main">
            <a:r>
              <a:t/>
            </a:r>
          </a:p>
          <a:p xmlns:a="http://schemas.openxmlformats.org/drawingml/2006/main">
            <a:r>
              <a:t>Objetivo: Demostrar el sistema, explicar una condición de fallo y defender una mejora con evidencia.</a:t>
            </a:r>
          </a:p>
          <a:p xmlns:a="http://schemas.openxmlformats.org/drawingml/2006/main">
            <a:r>
              <a:t>Aplicación: El cierre forma a un constructor que puede presentar y revisar un sistema de banco relacionado con UAV.</a:t>
            </a:r>
          </a:p>
          <a:p xmlns:a="http://schemas.openxmlformats.org/drawingml/2006/main">
            <a:r>
              <a:t>Entrega: Expediente final, matriz de pruebas, registro y defensa individual.</a:t>
            </a:r>
          </a:p>
          <a:p xmlns:a="http://schemas.openxmlformats.org/drawingml/2006/main">
            <a:r>
              <a:t/>
            </a:r>
          </a:p>
          <a:p xmlns:a="http://schemas.openxmlformats.org/drawingml/2006/main">
            <a:r>
              <a:t>Preguntas y respuestas</a:t>
            </a:r>
          </a:p>
          <a:p xmlns:a="http://schemas.openxmlformats.org/drawingml/2006/main">
            <a:r>
              <a:t>¿Compilar equivale a haber probado hardware?</a:t>
            </a:r>
          </a:p>
          <a:p xmlns:a="http://schemas.openxmlformats.org/drawingml/2006/main">
            <a:r>
              <a:t>No. Son evidencias distintas y se identifican por su alcance.</a:t>
            </a:r>
          </a:p>
          <a:p xmlns:a="http://schemas.openxmlformats.org/drawingml/2006/main">
            <a:r>
              <a:t/>
            </a:r>
          </a:p>
          <a:p xmlns:a="http://schemas.openxmlformats.org/drawingml/2006/main">
            <a:r>
              <a:t>¿Un valor retenido puede seguir impreso con data_valid=0?</a:t>
            </a:r>
          </a:p>
          <a:p xmlns:a="http://schemas.openxmlformats.org/drawingml/2006/main">
            <a:r>
              <a:t>Sí, si el formato lo explica; no debe presentarse como una adquisición reciente.</a:t>
            </a:r>
          </a:p>
          <a:p xmlns:a="http://schemas.openxmlformats.org/drawingml/2006/main">
            <a:r>
              <a:t/>
            </a:r>
          </a:p>
          <a:p xmlns:a="http://schemas.openxmlformats.org/drawingml/2006/main">
            <a:r>
              <a:t>¿Qué debe contener una mejora?</a:t>
            </a:r>
          </a:p>
          <a:p xmlns:a="http://schemas.openxmlformats.org/drawingml/2006/main">
            <a:r>
              <a:t>Problema observado, cambio con motivo y prueba para contrastarlo.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Espressif Systems. Arduino-ESP32: I2C. https://docs.espressif.com/projects/arduino-esp32/en/latest/api/i2c.html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Wokwi. ESP32 Simulation: periféricos y límites. https://docs.wokwi.com/guides/esp32</a:t>
            </a:r>
          </a:p>
          <a:p xmlns:a="http://schemas.openxmlformats.org/drawingml/2006/main">
            <a:r>
              <a:t>Lectura MECRO_ESP32_Clase_16.pdf.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16: Taller final: pruebas, diagnóstico y clase maestra de cierre.</a:t>
            </a:r>
          </a:p>
          <a:p xmlns:a="http://schemas.openxmlformats.org/drawingml/2006/main">
            <a:r>
              <a:t>Presencial, 4 horas. Núcleo de explicación: 5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La demostración final reúne construcción, programación y explicación. Se presenta una configuración identificada con un objetivo y un método de prueba. Una aplicación que solo muestra números bonitos puede ocultar referencias equivocadas; una que documenta su estado y sus datos permite investigar lo ocurrido. El taller evalúa ese criterio con el equipo delante.</a:t>
            </a:r>
          </a:p>
          <a:p xmlns:a="http://schemas.openxmlformats.org/drawingml/2006/main">
            <a:r>
              <a:t/>
            </a:r>
          </a:p>
          <a:p xmlns:a="http://schemas.openxmlformats.org/drawingml/2006/main">
            <a:r>
              <a:t>Elemento / Qué permite revisar</a:t>
            </a:r>
          </a:p>
          <a:p xmlns:a="http://schemas.openxmlformats.org/drawingml/2006/main">
            <a:r>
              <a:t>Esquema vigente / Energía, señal y referencia</a:t>
            </a:r>
          </a:p>
          <a:p xmlns:a="http://schemas.openxmlformats.org/drawingml/2006/main">
            <a:r>
              <a:t>Código y entorno / Reproducir la construcción</a:t>
            </a:r>
          </a:p>
          <a:p xmlns:a="http://schemas.openxmlformats.org/drawingml/2006/main">
            <a:r>
              <a:t>Registro / Tiempo, unidad y estado</a:t>
            </a:r>
          </a:p>
          <a:p xmlns:a="http://schemas.openxmlformats.org/drawingml/2006/main">
            <a:r>
              <a:t>Pruebas / Condiciones y observaciones</a:t>
            </a:r>
          </a:p>
          <a:p xmlns:a="http://schemas.openxmlformats.org/drawingml/2006/main">
            <a:r>
              <a:t>Defensa / Decisiones del estudiante</a:t>
            </a:r>
          </a:p>
          <a:p xmlns:a="http://schemas.openxmlformats.org/drawingml/2006/main">
            <a:r>
              <a:t/>
            </a:r>
          </a:p>
          <a:p xmlns:a="http://schemas.openxmlformats.org/drawingml/2006/main">
            <a:r>
              <a:t>El proyecto principal se demuestra en banco; no se plantea como firmware de vuelo. Un equipo que trabajó por simulación identifica sus resultados como tales y participa en las comprobaciones compartidas disponibles. La evaluación conserva esa diferencia para que un certificado del curso no prometa una experiencia física que no se documentó.</a:t>
            </a:r>
          </a:p>
          <a:p xmlns:a="http://schemas.openxmlformats.org/drawingml/2006/main">
            <a:r>
              <a:t/>
            </a:r>
          </a:p>
          <a:p xmlns:a="http://schemas.openxmlformats.org/drawingml/2006/main">
            <a:r>
              <a:t>Antes de energizar se revisa que el montaje corresponda al esquema de esa versión. Las modificaciones realizadas después de una prueba pueden afectar la referencia, los pines o el estado inicial. El expediente no necesita ser complicado: debe permitir reconocer qué sistema se examinó y qué condiciones se conservaron.</a:t>
            </a:r>
          </a:p>
          <a:p xmlns:a="http://schemas.openxmlformats.org/drawingml/2006/main">
            <a:r>
              <a:t/>
            </a:r>
          </a:p>
          <a:p xmlns:a="http://schemas.openxmlformats.org/drawingml/2006/main">
            <a:r>
              <a:t>Objetivo: Demostrar el sistema, explicar una condición de fallo y defender una mejora con evidencia.</a:t>
            </a:r>
          </a:p>
          <a:p xmlns:a="http://schemas.openxmlformats.org/drawingml/2006/main">
            <a:r>
              <a:t>Aplicación: El cierre forma a un constructor que puede presentar y revisar un sistema de banco relacionado con UAV.</a:t>
            </a:r>
          </a:p>
          <a:p xmlns:a="http://schemas.openxmlformats.org/drawingml/2006/main">
            <a:r>
              <a:t>Entrega: Expediente final, matriz de pruebas, registro y defensa individual.</a:t>
            </a:r>
          </a:p>
          <a:p xmlns:a="http://schemas.openxmlformats.org/drawingml/2006/main">
            <a:r>
              <a:t/>
            </a:r>
          </a:p>
          <a:p xmlns:a="http://schemas.openxmlformats.org/drawingml/2006/main">
            <a:r>
              <a:t>Preguntas y respuestas</a:t>
            </a:r>
          </a:p>
          <a:p xmlns:a="http://schemas.openxmlformats.org/drawingml/2006/main">
            <a:r>
              <a:t>¿Compilar equivale a haber probado hardware?</a:t>
            </a:r>
          </a:p>
          <a:p xmlns:a="http://schemas.openxmlformats.org/drawingml/2006/main">
            <a:r>
              <a:t>No. Son evidencias distintas y se identifican por su alcance.</a:t>
            </a:r>
          </a:p>
          <a:p xmlns:a="http://schemas.openxmlformats.org/drawingml/2006/main">
            <a:r>
              <a:t/>
            </a:r>
          </a:p>
          <a:p xmlns:a="http://schemas.openxmlformats.org/drawingml/2006/main">
            <a:r>
              <a:t>¿Un valor retenido puede seguir impreso con data_valid=0?</a:t>
            </a:r>
          </a:p>
          <a:p xmlns:a="http://schemas.openxmlformats.org/drawingml/2006/main">
            <a:r>
              <a:t>Sí, si el formato lo explica; no debe presentarse como una adquisición reciente.</a:t>
            </a:r>
          </a:p>
          <a:p xmlns:a="http://schemas.openxmlformats.org/drawingml/2006/main">
            <a:r>
              <a:t/>
            </a:r>
          </a:p>
          <a:p xmlns:a="http://schemas.openxmlformats.org/drawingml/2006/main">
            <a:r>
              <a:t>¿Qué debe contener una mejora?</a:t>
            </a:r>
          </a:p>
          <a:p xmlns:a="http://schemas.openxmlformats.org/drawingml/2006/main">
            <a:r>
              <a:t>Problema observado, cambio con motivo y prueba para contrastarlo.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Espressif Systems. Arduino-ESP32: I2C. https://docs.espressif.com/projects/arduino-esp32/en/latest/api/i2c.html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Wokwi. ESP32 Simulation: periféricos y límites. https://docs.wokwi.com/guides/esp32</a:t>
            </a:r>
          </a:p>
          <a:p xmlns:a="http://schemas.openxmlformats.org/drawingml/2006/main">
            <a:r>
              <a:t>Lectura MECRO_ESP32_Clase_16.pdf.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16: Taller final: pruebas, diagnóstico y clase maestra de cierre.</a:t>
            </a:r>
          </a:p>
          <a:p xmlns:a="http://schemas.openxmlformats.org/drawingml/2006/main">
            <a:r>
              <a:t>Presencial, 4 horas. Núcleo de explicación: 4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Minutos / Actividad / Producto</a:t>
            </a:r>
          </a:p>
          <a:p xmlns:a="http://schemas.openxmlformats.org/drawingml/2006/main">
            <a:r>
              <a:t>0–25 / Revisión de versiones / Lista de equipos</a:t>
            </a:r>
          </a:p>
          <a:p xmlns:a="http://schemas.openxmlformats.org/drawingml/2006/main">
            <a:r>
              <a:t>25–80 / Prueba normal y registro / Evidencia de funcionamiento</a:t>
            </a:r>
          </a:p>
          <a:p xmlns:a="http://schemas.openxmlformats.org/drawingml/2006/main">
            <a:r>
              <a:t>80–140 / Pruebas de fallo / Diagnóstico observado</a:t>
            </a:r>
          </a:p>
          <a:p xmlns:a="http://schemas.openxmlformats.org/drawingml/2006/main">
            <a:r>
              <a:t>140–195 / Demostraciones y defensa / Explicación individual</a:t>
            </a:r>
          </a:p>
          <a:p xmlns:a="http://schemas.openxmlformats.org/drawingml/2006/main">
            <a:r>
              <a:t>195–220 / Correcciones pequeñas / Revisión de cambio</a:t>
            </a:r>
          </a:p>
          <a:p xmlns:a="http://schemas.openxmlformats.org/drawingml/2006/main">
            <a:r>
              <a:t>220–240 / Cierre y siguiente ruta / Informe final</a:t>
            </a:r>
          </a:p>
          <a:p xmlns:a="http://schemas.openxmlformats.org/drawingml/2006/main">
            <a:r>
              <a:t/>
            </a:r>
          </a:p>
          <a:p xmlns:a="http://schemas.openxmlformats.org/drawingml/2006/main">
            <a:r>
              <a:t>Los roles de montaje, software, medición y registro rotan a lo largo del curso. En el cierre, cada integrante explica al menos un dato y una decisión. El docente puede pedir una modificación pequeña y controlada o presentar un caso nuevo del registro. No se trata de memorizar el programa del equipo, sino de poder usar sus conceptos para responder una pregunta cercana.</a:t>
            </a:r>
          </a:p>
          <a:p xmlns:a="http://schemas.openxmlformats.org/drawingml/2006/main">
            <a:r>
              <a:t/>
            </a:r>
          </a:p>
          <a:p xmlns:a="http://schemas.openxmlformats.org/drawingml/2006/main">
            <a:r>
              <a:t>Los bancos compartidos se programan según recursos reales. Si hay más equipos que puestos, unos ejecutan la prueba mientras otros revisan registros y preparan la defensa. El plan docente conserva quién realizó cada operación y quién participó como observador. Esa organización mantiene una evaluación justa para alumnos con y sin kit propio.</a:t>
            </a:r>
          </a:p>
          <a:p xmlns:a="http://schemas.openxmlformats.org/drawingml/2006/main">
            <a:r>
              <a:t/>
            </a:r>
          </a:p>
          <a:p xmlns:a="http://schemas.openxmlformats.org/drawingml/2006/main">
            <a:r>
              <a:t>Objetivo: Demostrar el sistema, explicar una condición de fallo y defender una mejora con evidencia.</a:t>
            </a:r>
          </a:p>
          <a:p xmlns:a="http://schemas.openxmlformats.org/drawingml/2006/main">
            <a:r>
              <a:t>Aplicación: El cierre forma a un constructor que puede presentar y revisar un sistema de banco relacionado con UAV.</a:t>
            </a:r>
          </a:p>
          <a:p xmlns:a="http://schemas.openxmlformats.org/drawingml/2006/main">
            <a:r>
              <a:t>Entrega: Expediente final, matriz de pruebas, registro y defensa individual.</a:t>
            </a:r>
          </a:p>
          <a:p xmlns:a="http://schemas.openxmlformats.org/drawingml/2006/main">
            <a:r>
              <a:t/>
            </a:r>
          </a:p>
          <a:p xmlns:a="http://schemas.openxmlformats.org/drawingml/2006/main">
            <a:r>
              <a:t>Preguntas y respuestas</a:t>
            </a:r>
          </a:p>
          <a:p xmlns:a="http://schemas.openxmlformats.org/drawingml/2006/main">
            <a:r>
              <a:t>¿Compilar equivale a haber probado hardware?</a:t>
            </a:r>
          </a:p>
          <a:p xmlns:a="http://schemas.openxmlformats.org/drawingml/2006/main">
            <a:r>
              <a:t>No. Son evidencias distintas y se identifican por su alcance.</a:t>
            </a:r>
          </a:p>
          <a:p xmlns:a="http://schemas.openxmlformats.org/drawingml/2006/main">
            <a:r>
              <a:t/>
            </a:r>
          </a:p>
          <a:p xmlns:a="http://schemas.openxmlformats.org/drawingml/2006/main">
            <a:r>
              <a:t>¿Un valor retenido puede seguir impreso con data_valid=0?</a:t>
            </a:r>
          </a:p>
          <a:p xmlns:a="http://schemas.openxmlformats.org/drawingml/2006/main">
            <a:r>
              <a:t>Sí, si el formato lo explica; no debe presentarse como una adquisición reciente.</a:t>
            </a:r>
          </a:p>
          <a:p xmlns:a="http://schemas.openxmlformats.org/drawingml/2006/main">
            <a:r>
              <a:t/>
            </a:r>
          </a:p>
          <a:p xmlns:a="http://schemas.openxmlformats.org/drawingml/2006/main">
            <a:r>
              <a:t>¿Qué debe contener una mejora?</a:t>
            </a:r>
          </a:p>
          <a:p xmlns:a="http://schemas.openxmlformats.org/drawingml/2006/main">
            <a:r>
              <a:t>Problema observado, cambio con motivo y prueba para contrastarlo.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Espressif Systems. Arduino-ESP32: I2C. https://docs.espressif.com/projects/arduino-esp32/en/latest/api/i2c.html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Wokwi. ESP32 Simulation: periféricos y límites. https://docs.wokwi.com/guides/esp32</a:t>
            </a:r>
          </a:p>
          <a:p xmlns:a="http://schemas.openxmlformats.org/drawingml/2006/main">
            <a:r>
              <a:t>Lectura MECRO_ESP32_Clase_16.pdf.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16: Taller final: pruebas, diagnóstico y clase maestra de cierre.</a:t>
            </a:r>
          </a:p>
          <a:p xmlns:a="http://schemas.openxmlformats.org/drawingml/2006/main">
            <a:r>
              <a:t>Presencial, 4 horas. Núcleo de explicación: 4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Minutos / Actividad / Producto</a:t>
            </a:r>
          </a:p>
          <a:p xmlns:a="http://schemas.openxmlformats.org/drawingml/2006/main">
            <a:r>
              <a:t>0–25 / Revisión de versiones / Lista de equipos</a:t>
            </a:r>
          </a:p>
          <a:p xmlns:a="http://schemas.openxmlformats.org/drawingml/2006/main">
            <a:r>
              <a:t>25–80 / Prueba normal y registro / Evidencia de funcionamiento</a:t>
            </a:r>
          </a:p>
          <a:p xmlns:a="http://schemas.openxmlformats.org/drawingml/2006/main">
            <a:r>
              <a:t>80–140 / Pruebas de fallo / Diagnóstico observado</a:t>
            </a:r>
          </a:p>
          <a:p xmlns:a="http://schemas.openxmlformats.org/drawingml/2006/main">
            <a:r>
              <a:t>140–195 / Demostraciones y defensa / Explicación individual</a:t>
            </a:r>
          </a:p>
          <a:p xmlns:a="http://schemas.openxmlformats.org/drawingml/2006/main">
            <a:r>
              <a:t>195–220 / Correcciones pequeñas / Revisión de cambio</a:t>
            </a:r>
          </a:p>
          <a:p xmlns:a="http://schemas.openxmlformats.org/drawingml/2006/main">
            <a:r>
              <a:t>220–240 / Cierre y siguiente ruta / Informe final</a:t>
            </a:r>
          </a:p>
          <a:p xmlns:a="http://schemas.openxmlformats.org/drawingml/2006/main">
            <a:r>
              <a:t>Comparar filas y explicar una condición que cambie la decisión.</a:t>
            </a:r>
          </a:p>
          <a:p xmlns:a="http://schemas.openxmlformats.org/drawingml/2006/main">
            <a:r>
              <a:t/>
            </a:r>
          </a:p>
          <a:p xmlns:a="http://schemas.openxmlformats.org/drawingml/2006/main">
            <a:r>
              <a:t>Objetivo: Demostrar el sistema, explicar una condición de fallo y defender una mejora con evidencia.</a:t>
            </a:r>
          </a:p>
          <a:p xmlns:a="http://schemas.openxmlformats.org/drawingml/2006/main">
            <a:r>
              <a:t>Aplicación: El cierre forma a un constructor que puede presentar y revisar un sistema de banco relacionado con UAV.</a:t>
            </a:r>
          </a:p>
          <a:p xmlns:a="http://schemas.openxmlformats.org/drawingml/2006/main">
            <a:r>
              <a:t>Entrega: Expediente final, matriz de pruebas, registro y defensa individual.</a:t>
            </a:r>
          </a:p>
          <a:p xmlns:a="http://schemas.openxmlformats.org/drawingml/2006/main">
            <a:r>
              <a:t/>
            </a:r>
          </a:p>
          <a:p xmlns:a="http://schemas.openxmlformats.org/drawingml/2006/main">
            <a:r>
              <a:t>Preguntas y respuestas</a:t>
            </a:r>
          </a:p>
          <a:p xmlns:a="http://schemas.openxmlformats.org/drawingml/2006/main">
            <a:r>
              <a:t>¿Compilar equivale a haber probado hardware?</a:t>
            </a:r>
          </a:p>
          <a:p xmlns:a="http://schemas.openxmlformats.org/drawingml/2006/main">
            <a:r>
              <a:t>No. Son evidencias distintas y se identifican por su alcance.</a:t>
            </a:r>
          </a:p>
          <a:p xmlns:a="http://schemas.openxmlformats.org/drawingml/2006/main">
            <a:r>
              <a:t/>
            </a:r>
          </a:p>
          <a:p xmlns:a="http://schemas.openxmlformats.org/drawingml/2006/main">
            <a:r>
              <a:t>¿Un valor retenido puede seguir impreso con data_valid=0?</a:t>
            </a:r>
          </a:p>
          <a:p xmlns:a="http://schemas.openxmlformats.org/drawingml/2006/main">
            <a:r>
              <a:t>Sí, si el formato lo explica; no debe presentarse como una adquisición reciente.</a:t>
            </a:r>
          </a:p>
          <a:p xmlns:a="http://schemas.openxmlformats.org/drawingml/2006/main">
            <a:r>
              <a:t/>
            </a:r>
          </a:p>
          <a:p xmlns:a="http://schemas.openxmlformats.org/drawingml/2006/main">
            <a:r>
              <a:t>¿Qué debe contener una mejora?</a:t>
            </a:r>
          </a:p>
          <a:p xmlns:a="http://schemas.openxmlformats.org/drawingml/2006/main">
            <a:r>
              <a:t>Problema observado, cambio con motivo y prueba para contrastarlo.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Espressif Systems. Arduino-ESP32: I2C. https://docs.espressif.com/projects/arduino-esp32/en/latest/api/i2c.html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Wokwi. ESP32 Simulation: periféricos y límites. https://docs.wokwi.com/guides/esp32</a:t>
            </a:r>
          </a:p>
          <a:p xmlns:a="http://schemas.openxmlformats.org/drawingml/2006/main">
            <a:r>
              <a:t>Lectura MECRO_ESP32_Clase_16.pdf.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16: Taller final: pruebas, diagnóstico y clase maestra de cierre.</a:t>
            </a:r>
          </a:p>
          <a:p xmlns:a="http://schemas.openxmlformats.org/drawingml/2006/main">
            <a:r>
              <a:t>Presencial, 4 horas. Núcleo de explicación: 5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Minutos / Actividad / Producto</a:t>
            </a:r>
          </a:p>
          <a:p xmlns:a="http://schemas.openxmlformats.org/drawingml/2006/main">
            <a:r>
              <a:t>0–25 / Revisión de versiones / Lista de equipos</a:t>
            </a:r>
          </a:p>
          <a:p xmlns:a="http://schemas.openxmlformats.org/drawingml/2006/main">
            <a:r>
              <a:t>25–80 / Prueba normal y registro / Evidencia de funcionamiento</a:t>
            </a:r>
          </a:p>
          <a:p xmlns:a="http://schemas.openxmlformats.org/drawingml/2006/main">
            <a:r>
              <a:t>80–140 / Pruebas de fallo / Diagnóstico observado</a:t>
            </a:r>
          </a:p>
          <a:p xmlns:a="http://schemas.openxmlformats.org/drawingml/2006/main">
            <a:r>
              <a:t>140–195 / Demostraciones y defensa / Explicación individual</a:t>
            </a:r>
          </a:p>
          <a:p xmlns:a="http://schemas.openxmlformats.org/drawingml/2006/main">
            <a:r>
              <a:t>195–220 / Correcciones pequeñas / Revisión de cambio</a:t>
            </a:r>
          </a:p>
          <a:p xmlns:a="http://schemas.openxmlformats.org/drawingml/2006/main">
            <a:r>
              <a:t>220–240 / Cierre y siguiente ruta / Informe final</a:t>
            </a:r>
          </a:p>
          <a:p xmlns:a="http://schemas.openxmlformats.org/drawingml/2006/main">
            <a:r>
              <a:t/>
            </a:r>
          </a:p>
          <a:p xmlns:a="http://schemas.openxmlformats.org/drawingml/2006/main">
            <a:r>
              <a:t>Los roles de montaje, software, medición y registro rotan a lo largo del curso. En el cierre, cada integrante explica al menos un dato y una decisión. El docente puede pedir una modificación pequeña y controlada o presentar un caso nuevo del registro. No se trata de memorizar el programa del equipo, sino de poder usar sus conceptos para responder una pregunta cercana.</a:t>
            </a:r>
          </a:p>
          <a:p xmlns:a="http://schemas.openxmlformats.org/drawingml/2006/main">
            <a:r>
              <a:t/>
            </a:r>
          </a:p>
          <a:p xmlns:a="http://schemas.openxmlformats.org/drawingml/2006/main">
            <a:r>
              <a:t>Los bancos compartidos se programan según recursos reales. Si hay más equipos que puestos, unos ejecutan la prueba mientras otros revisan registros y preparan la defensa. El plan docente conserva quién realizó cada operación y quién participó como observador. Esa organización mantiene una evaluación justa para alumnos con y sin kit propio.</a:t>
            </a:r>
          </a:p>
          <a:p xmlns:a="http://schemas.openxmlformats.org/drawingml/2006/main">
            <a:r>
              <a:t/>
            </a:r>
          </a:p>
          <a:p xmlns:a="http://schemas.openxmlformats.org/drawingml/2006/main">
            <a:r>
              <a:t>Objetivo: Demostrar el sistema, explicar una condición de fallo y defender una mejora con evidencia.</a:t>
            </a:r>
          </a:p>
          <a:p xmlns:a="http://schemas.openxmlformats.org/drawingml/2006/main">
            <a:r>
              <a:t>Aplicación: El cierre forma a un constructor que puede presentar y revisar un sistema de banco relacionado con UAV.</a:t>
            </a:r>
          </a:p>
          <a:p xmlns:a="http://schemas.openxmlformats.org/drawingml/2006/main">
            <a:r>
              <a:t>Entrega: Expediente final, matriz de pruebas, registro y defensa individual.</a:t>
            </a:r>
          </a:p>
          <a:p xmlns:a="http://schemas.openxmlformats.org/drawingml/2006/main">
            <a:r>
              <a:t/>
            </a:r>
          </a:p>
          <a:p xmlns:a="http://schemas.openxmlformats.org/drawingml/2006/main">
            <a:r>
              <a:t>Preguntas y respuestas</a:t>
            </a:r>
          </a:p>
          <a:p xmlns:a="http://schemas.openxmlformats.org/drawingml/2006/main">
            <a:r>
              <a:t>¿Compilar equivale a haber probado hardware?</a:t>
            </a:r>
          </a:p>
          <a:p xmlns:a="http://schemas.openxmlformats.org/drawingml/2006/main">
            <a:r>
              <a:t>No. Son evidencias distintas y se identifican por su alcance.</a:t>
            </a:r>
          </a:p>
          <a:p xmlns:a="http://schemas.openxmlformats.org/drawingml/2006/main">
            <a:r>
              <a:t/>
            </a:r>
          </a:p>
          <a:p xmlns:a="http://schemas.openxmlformats.org/drawingml/2006/main">
            <a:r>
              <a:t>¿Un valor retenido puede seguir impreso con data_valid=0?</a:t>
            </a:r>
          </a:p>
          <a:p xmlns:a="http://schemas.openxmlformats.org/drawingml/2006/main">
            <a:r>
              <a:t>Sí, si el formato lo explica; no debe presentarse como una adquisición reciente.</a:t>
            </a:r>
          </a:p>
          <a:p xmlns:a="http://schemas.openxmlformats.org/drawingml/2006/main">
            <a:r>
              <a:t/>
            </a:r>
          </a:p>
          <a:p xmlns:a="http://schemas.openxmlformats.org/drawingml/2006/main">
            <a:r>
              <a:t>¿Qué debe contener una mejora?</a:t>
            </a:r>
          </a:p>
          <a:p xmlns:a="http://schemas.openxmlformats.org/drawingml/2006/main">
            <a:r>
              <a:t>Problema observado, cambio con motivo y prueba para contrastarlo.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Espressif Systems. Arduino-ESP32: I2C. https://docs.espressif.com/projects/arduino-esp32/en/latest/api/i2c.html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Wokwi. ESP32 Simulation: periféricos y límites. https://docs.wokwi.com/guides/esp32</a:t>
            </a:r>
          </a:p>
          <a:p xmlns:a="http://schemas.openxmlformats.org/drawingml/2006/main">
            <a:r>
              <a:t>Lectura MECRO_ESP32_Clase_16.pdf.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16: Taller final: pruebas, diagnóstico y clase maestra de cierre.</a:t>
            </a:r>
          </a:p>
          <a:p xmlns:a="http://schemas.openxmlformats.org/drawingml/2006/main">
            <a:r>
              <a:t>Presencial, 4 horas. Núcleo de explicación: 4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Caso / Qué se observa / Resultado esperado</a:t>
            </a:r>
          </a:p>
          <a:p xmlns:a="http://schemas.openxmlformats.org/drawingml/2006/main">
            <a:r>
              <a:t>Inicio normal / Sensor y registro / Dato nuevo identificado</a:t>
            </a:r>
          </a:p>
          <a:p xmlns:a="http://schemas.openxmlformats.org/drawingml/2006/main">
            <a:r>
              <a:t>Sensor ausente al inicio / Estado de inicialización / Fallo explícito</a:t>
            </a:r>
          </a:p>
          <a:p xmlns:a="http://schemas.openxmlformats.org/drawingml/2006/main">
            <a:r>
              <a:t>Muestra vencida / Edad del último dato / Dejar de declararlo reciente</a:t>
            </a:r>
          </a:p>
          <a:p xmlns:a="http://schemas.openxmlformats.org/drawingml/2006/main">
            <a:r>
              <a:t>Entrada al extremo / Mando y límites / Rango definido</a:t>
            </a:r>
          </a:p>
          <a:p xmlns:a="http://schemas.openxmlformats.org/drawingml/2006/main">
            <a:r>
              <a:t>Registro repetido / Secuencia e instante / Reconocer duplicación</a:t>
            </a:r>
          </a:p>
          <a:p xmlns:a="http://schemas.openxmlformats.org/drawingml/2006/main">
            <a:r>
              <a:t/>
            </a:r>
          </a:p>
          <a:p xmlns:a="http://schemas.openxmlformats.org/drawingml/2006/main">
            <a:r>
              <a:t>Cada caso necesita un método. La ausencia inicial puede ensayarse con una configuración preparada por el docente. La muestra vencida puede inyectarse por software sin intervenir el cableado durante operación. Un resultado de inyección se identifica como tal y permite comprobar la lógica específica. El método no demuestra automáticamente todas las causas físicas de fallo del sensor.</a:t>
            </a:r>
          </a:p>
          <a:p xmlns:a="http://schemas.openxmlformats.org/drawingml/2006/main">
            <a:r>
              <a:t/>
            </a:r>
          </a:p>
          <a:p xmlns:a="http://schemas.openxmlformats.org/drawingml/2006/main">
            <a:r>
              <a:t>La IMU no aparece en el inicio. ¿Se puede concluir inmediatamente “el sensor se quemó”?</a:t>
            </a:r>
          </a:p>
          <a:p xmlns:a="http://schemas.openxmlformats.org/drawingml/2006/main">
            <a:r>
              <a:t>No. Se revisan alimentación, referencia, conexión, dirección y configuración. El resultado demuestra que no se obtuvo la condición de inicialización; la causa requiere más evidencia.</a:t>
            </a:r>
          </a:p>
          <a:p xmlns:a="http://schemas.openxmlformats.org/drawingml/2006/main">
            <a:r>
              <a:t/>
            </a:r>
          </a:p>
          <a:p xmlns:a="http://schemas.openxmlformats.org/drawingml/2006/main">
            <a:r>
              <a:t>La matriz convierte una afirmación amplia de funcionamiento en condiciones verificables. Si el resultado no coincide, se conserva la observación antes de cambiar código o cables. La comparación entre lo esperado y lo obtenido guía el diagnóstico y deja una evidencia que otro equipo puede entender.</a:t>
            </a:r>
          </a:p>
          <a:p xmlns:a="http://schemas.openxmlformats.org/drawingml/2006/main">
            <a:r>
              <a:t/>
            </a:r>
          </a:p>
          <a:p xmlns:a="http://schemas.openxmlformats.org/drawingml/2006/main">
            <a:r>
              <a:t>Objetivo: Demostrar el sistema, explicar una condición de fallo y defender una mejora con evidencia.</a:t>
            </a:r>
          </a:p>
          <a:p xmlns:a="http://schemas.openxmlformats.org/drawingml/2006/main">
            <a:r>
              <a:t>Aplicación: El cierre forma a un constructor que puede presentar y revisar un sistema de banco relacionado con UAV.</a:t>
            </a:r>
          </a:p>
          <a:p xmlns:a="http://schemas.openxmlformats.org/drawingml/2006/main">
            <a:r>
              <a:t>Entrega: Expediente final, matriz de pruebas, registro y defensa individual.</a:t>
            </a:r>
          </a:p>
          <a:p xmlns:a="http://schemas.openxmlformats.org/drawingml/2006/main">
            <a:r>
              <a:t/>
            </a:r>
          </a:p>
          <a:p xmlns:a="http://schemas.openxmlformats.org/drawingml/2006/main">
            <a:r>
              <a:t>Preguntas y respuestas</a:t>
            </a:r>
          </a:p>
          <a:p xmlns:a="http://schemas.openxmlformats.org/drawingml/2006/main">
            <a:r>
              <a:t>¿Compilar equivale a haber probado hardware?</a:t>
            </a:r>
          </a:p>
          <a:p xmlns:a="http://schemas.openxmlformats.org/drawingml/2006/main">
            <a:r>
              <a:t>No. Son evidencias distintas y se identifican por su alcance.</a:t>
            </a:r>
          </a:p>
          <a:p xmlns:a="http://schemas.openxmlformats.org/drawingml/2006/main">
            <a:r>
              <a:t/>
            </a:r>
          </a:p>
          <a:p xmlns:a="http://schemas.openxmlformats.org/drawingml/2006/main">
            <a:r>
              <a:t>¿Un valor retenido puede seguir impreso con data_valid=0?</a:t>
            </a:r>
          </a:p>
          <a:p xmlns:a="http://schemas.openxmlformats.org/drawingml/2006/main">
            <a:r>
              <a:t>Sí, si el formato lo explica; no debe presentarse como una adquisición reciente.</a:t>
            </a:r>
          </a:p>
          <a:p xmlns:a="http://schemas.openxmlformats.org/drawingml/2006/main">
            <a:r>
              <a:t/>
            </a:r>
          </a:p>
          <a:p xmlns:a="http://schemas.openxmlformats.org/drawingml/2006/main">
            <a:r>
              <a:t>¿Qué debe contener una mejora?</a:t>
            </a:r>
          </a:p>
          <a:p xmlns:a="http://schemas.openxmlformats.org/drawingml/2006/main">
            <a:r>
              <a:t>Problema observado, cambio con motivo y prueba para contrastarlo.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Espressif Systems. Arduino-ESP32: I2C. https://docs.espressif.com/projects/arduino-esp32/en/latest/api/i2c.html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Wokwi. ESP32 Simulation: periféricos y límites. https://docs.wokwi.com/guides/esp32</a:t>
            </a:r>
          </a:p>
          <a:p xmlns:a="http://schemas.openxmlformats.org/drawingml/2006/main">
            <a:r>
              <a:t>Lectura MECRO_ESP32_Clase_16.pdf.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16: Taller final: pruebas, diagnóstico y clase maestra de cierre.</a:t>
            </a:r>
          </a:p>
          <a:p xmlns:a="http://schemas.openxmlformats.org/drawingml/2006/main">
            <a:r>
              <a:t>Presencial, 4 horas. Núcleo de explicación: 4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Caso / Qué se observa / Resultado esperado</a:t>
            </a:r>
          </a:p>
          <a:p xmlns:a="http://schemas.openxmlformats.org/drawingml/2006/main">
            <a:r>
              <a:t>Inicio normal / Sensor y registro / Dato nuevo identificado</a:t>
            </a:r>
          </a:p>
          <a:p xmlns:a="http://schemas.openxmlformats.org/drawingml/2006/main">
            <a:r>
              <a:t>Sensor ausente al inicio / Estado de inicialización / Fallo explícito</a:t>
            </a:r>
          </a:p>
          <a:p xmlns:a="http://schemas.openxmlformats.org/drawingml/2006/main">
            <a:r>
              <a:t>Muestra vencida / Edad del último dato / Dejar de declararlo reciente</a:t>
            </a:r>
          </a:p>
          <a:p xmlns:a="http://schemas.openxmlformats.org/drawingml/2006/main">
            <a:r>
              <a:t>Entrada al extremo / Mando y límites / Rango definido</a:t>
            </a:r>
          </a:p>
          <a:p xmlns:a="http://schemas.openxmlformats.org/drawingml/2006/main">
            <a:r>
              <a:t>Registro repetido / Secuencia e instante / Reconocer duplicación</a:t>
            </a:r>
          </a:p>
          <a:p xmlns:a="http://schemas.openxmlformats.org/drawingml/2006/main">
            <a:r>
              <a:t>Comparar filas y explicar una condición que cambie la decisión.</a:t>
            </a:r>
          </a:p>
          <a:p xmlns:a="http://schemas.openxmlformats.org/drawingml/2006/main">
            <a:r>
              <a:t/>
            </a:r>
          </a:p>
          <a:p xmlns:a="http://schemas.openxmlformats.org/drawingml/2006/main">
            <a:r>
              <a:t>Objetivo: Demostrar el sistema, explicar una condición de fallo y defender una mejora con evidencia.</a:t>
            </a:r>
          </a:p>
          <a:p xmlns:a="http://schemas.openxmlformats.org/drawingml/2006/main">
            <a:r>
              <a:t>Aplicación: El cierre forma a un constructor que puede presentar y revisar un sistema de banco relacionado con UAV.</a:t>
            </a:r>
          </a:p>
          <a:p xmlns:a="http://schemas.openxmlformats.org/drawingml/2006/main">
            <a:r>
              <a:t>Entrega: Expediente final, matriz de pruebas, registro y defensa individual.</a:t>
            </a:r>
          </a:p>
          <a:p xmlns:a="http://schemas.openxmlformats.org/drawingml/2006/main">
            <a:r>
              <a:t/>
            </a:r>
          </a:p>
          <a:p xmlns:a="http://schemas.openxmlformats.org/drawingml/2006/main">
            <a:r>
              <a:t>Preguntas y respuestas</a:t>
            </a:r>
          </a:p>
          <a:p xmlns:a="http://schemas.openxmlformats.org/drawingml/2006/main">
            <a:r>
              <a:t>¿Compilar equivale a haber probado hardware?</a:t>
            </a:r>
          </a:p>
          <a:p xmlns:a="http://schemas.openxmlformats.org/drawingml/2006/main">
            <a:r>
              <a:t>No. Son evidencias distintas y se identifican por su alcance.</a:t>
            </a:r>
          </a:p>
          <a:p xmlns:a="http://schemas.openxmlformats.org/drawingml/2006/main">
            <a:r>
              <a:t/>
            </a:r>
          </a:p>
          <a:p xmlns:a="http://schemas.openxmlformats.org/drawingml/2006/main">
            <a:r>
              <a:t>¿Un valor retenido puede seguir impreso con data_valid=0?</a:t>
            </a:r>
          </a:p>
          <a:p xmlns:a="http://schemas.openxmlformats.org/drawingml/2006/main">
            <a:r>
              <a:t>Sí, si el formato lo explica; no debe presentarse como una adquisición reciente.</a:t>
            </a:r>
          </a:p>
          <a:p xmlns:a="http://schemas.openxmlformats.org/drawingml/2006/main">
            <a:r>
              <a:t/>
            </a:r>
          </a:p>
          <a:p xmlns:a="http://schemas.openxmlformats.org/drawingml/2006/main">
            <a:r>
              <a:t>¿Qué debe contener una mejora?</a:t>
            </a:r>
          </a:p>
          <a:p xmlns:a="http://schemas.openxmlformats.org/drawingml/2006/main">
            <a:r>
              <a:t>Problema observado, cambio con motivo y prueba para contrastarlo.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Espressif Systems. Arduino-ESP32: I2C. https://docs.espressif.com/projects/arduino-esp32/en/latest/api/i2c.html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Wokwi. ESP32 Simulation: periféricos y límites. https://docs.wokwi.com/guides/esp32</a:t>
            </a:r>
          </a:p>
          <a:p xmlns:a="http://schemas.openxmlformats.org/drawingml/2006/main">
            <a:r>
              <a:t>Lectura MECRO_ESP32_Clase_16.pdf.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16: Taller final: pruebas, diagnóstico y clase maestra de cierre.</a:t>
            </a:r>
          </a:p>
          <a:p xmlns:a="http://schemas.openxmlformats.org/drawingml/2006/main">
            <a:r>
              <a:t>Presencial, 4 horas. Núcleo de explicación: 5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Primero tapar la solución o pedir respuesta individual.</a:t>
            </a:r>
          </a:p>
          <a:p xmlns:a="http://schemas.openxmlformats.org/drawingml/2006/main">
            <a:r>
              <a:t>La IMU no aparece en el inicio. ¿Se puede concluir inmediatamente “el sensor se quemó”?</a:t>
            </a:r>
          </a:p>
          <a:p xmlns:a="http://schemas.openxmlformats.org/drawingml/2006/main">
            <a:r>
              <a:t>No. Se revisan alimentación, referencia, conexión, dirección y configuración. El resultado demuestra que no se obtuvo la condición de inicialización; la causa requiere más evidencia.</a:t>
            </a:r>
          </a:p>
          <a:p xmlns:a="http://schemas.openxmlformats.org/drawingml/2006/main">
            <a:r>
              <a:t/>
            </a:r>
          </a:p>
          <a:p xmlns:a="http://schemas.openxmlformats.org/drawingml/2006/main">
            <a:r>
              <a:t>Objetivo: Demostrar el sistema, explicar una condición de fallo y defender una mejora con evidencia.</a:t>
            </a:r>
          </a:p>
          <a:p xmlns:a="http://schemas.openxmlformats.org/drawingml/2006/main">
            <a:r>
              <a:t>Aplicación: El cierre forma a un constructor que puede presentar y revisar un sistema de banco relacionado con UAV.</a:t>
            </a:r>
          </a:p>
          <a:p xmlns:a="http://schemas.openxmlformats.org/drawingml/2006/main">
            <a:r>
              <a:t>Entrega: Expediente final, matriz de pruebas, registro y defensa individual.</a:t>
            </a:r>
          </a:p>
          <a:p xmlns:a="http://schemas.openxmlformats.org/drawingml/2006/main">
            <a:r>
              <a:t/>
            </a:r>
          </a:p>
          <a:p xmlns:a="http://schemas.openxmlformats.org/drawingml/2006/main">
            <a:r>
              <a:t>Preguntas y respuestas</a:t>
            </a:r>
          </a:p>
          <a:p xmlns:a="http://schemas.openxmlformats.org/drawingml/2006/main">
            <a:r>
              <a:t>¿Compilar equivale a haber probado hardware?</a:t>
            </a:r>
          </a:p>
          <a:p xmlns:a="http://schemas.openxmlformats.org/drawingml/2006/main">
            <a:r>
              <a:t>No. Son evidencias distintas y se identifican por su alcance.</a:t>
            </a:r>
          </a:p>
          <a:p xmlns:a="http://schemas.openxmlformats.org/drawingml/2006/main">
            <a:r>
              <a:t/>
            </a:r>
          </a:p>
          <a:p xmlns:a="http://schemas.openxmlformats.org/drawingml/2006/main">
            <a:r>
              <a:t>¿Un valor retenido puede seguir impreso con data_valid=0?</a:t>
            </a:r>
          </a:p>
          <a:p xmlns:a="http://schemas.openxmlformats.org/drawingml/2006/main">
            <a:r>
              <a:t>Sí, si el formato lo explica; no debe presentarse como una adquisición reciente.</a:t>
            </a:r>
          </a:p>
          <a:p xmlns:a="http://schemas.openxmlformats.org/drawingml/2006/main">
            <a:r>
              <a:t/>
            </a:r>
          </a:p>
          <a:p xmlns:a="http://schemas.openxmlformats.org/drawingml/2006/main">
            <a:r>
              <a:t>¿Qué debe contener una mejora?</a:t>
            </a:r>
          </a:p>
          <a:p xmlns:a="http://schemas.openxmlformats.org/drawingml/2006/main">
            <a:r>
              <a:t>Problema observado, cambio con motivo y prueba para contrastarlo.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Espressif Systems. Arduino-ESP32: I2C. https://docs.espressif.com/projects/arduino-esp32/en/latest/api/i2c.html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Wokwi. ESP32 Simulation: periféricos y límites. https://docs.wokwi.com/guides/esp32</a:t>
            </a:r>
          </a:p>
          <a:p xmlns:a="http://schemas.openxmlformats.org/drawingml/2006/main">
            <a:r>
              <a:t>Lectura MECRO_ESP32_Clase_16.pdf.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16: Taller final: pruebas, diagnóstico y clase maestra de cierre.</a:t>
            </a:r>
          </a:p>
          <a:p xmlns:a="http://schemas.openxmlformats.org/drawingml/2006/main">
            <a:r>
              <a:t>Presencial, 4 horas. Núcleo de explicación: 4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seq,t_ms,state,data_valid,roll_deg,pitch_deg</a:t>
            </a:r>
          </a:p>
          <a:p xmlns:a="http://schemas.openxmlformats.org/drawingml/2006/main">
            <a:r>
              <a:t>10,1000,1,1,2.1,-0.3</a:t>
            </a:r>
          </a:p>
          <a:p xmlns:a="http://schemas.openxmlformats.org/drawingml/2006/main">
            <a:r>
              <a:t>11,1100,1,1,2.2,-0.3</a:t>
            </a:r>
          </a:p>
          <a:p xmlns:a="http://schemas.openxmlformats.org/drawingml/2006/main">
            <a:r>
              <a:t>12,1400,2,0,2.2,-0.3</a:t>
            </a:r>
          </a:p>
          <a:p xmlns:a="http://schemas.openxmlformats.org/drawingml/2006/main">
            <a:r>
              <a:t/>
            </a:r>
          </a:p>
          <a:p xmlns:a="http://schemas.openxmlformats.org/drawingml/2006/main">
            <a:r>
              <a:t>La última fila conserva un valor numérico, pero lo marca como no válido en esa condición. Si alguien grafica solo roll_deg podría interpretar que nada cambió. El estado y el tiempo cuentan otra parte de la historia. Los datos de este ejemplo son sintéticos y se usan para enseñar lectura de registros; los del equipo se sustituyen por su ejecución identificada.</a:t>
            </a:r>
          </a:p>
          <a:p xmlns:a="http://schemas.openxmlformats.org/drawingml/2006/main">
            <a:r>
              <a:t/>
            </a:r>
          </a:p>
          <a:p xmlns:a="http://schemas.openxmlformats.org/drawingml/2006/main">
            <a:r>
              <a:t>En el banco de velocidad se revisan también referencia, RPM, mando, ventana y límites. Una respuesta lenta puede relacionarse con la planta, con la medida o con el controlador. El informe separa observación e hipótesis y propone qué nueva prueba ayudaría a distinguir causas. No se cambia todo a la vez hasta lograr una curva estéticamente agradable.</a:t>
            </a:r>
          </a:p>
          <a:p xmlns:a="http://schemas.openxmlformats.org/drawingml/2006/main">
            <a:r>
              <a:t/>
            </a:r>
          </a:p>
          <a:p xmlns:a="http://schemas.openxmlformats.org/drawingml/2006/main">
            <a:r>
              <a:t>El equipo propone “poner más filtros” porque vio ruido. ¿Qué debe comprobar?</a:t>
            </a:r>
          </a:p>
          <a:p xmlns:a="http://schemas.openxmlformats.org/drawingml/2006/main">
            <a:r>
              <a:t>Qué variación quiere reducir, con qué referencia la distingue y qué retardo o pérdida de detalle introduce la propuesta. La mejora se evalúa por función y evidencia.</a:t>
            </a:r>
          </a:p>
          <a:p xmlns:a="http://schemas.openxmlformats.org/drawingml/2006/main">
            <a:r>
              <a:t/>
            </a:r>
          </a:p>
          <a:p xmlns:a="http://schemas.openxmlformats.org/drawingml/2006/main">
            <a:r>
              <a:t>Objetivo: Demostrar el sistema, explicar una condición de fallo y defender una mejora con evidencia.</a:t>
            </a:r>
          </a:p>
          <a:p xmlns:a="http://schemas.openxmlformats.org/drawingml/2006/main">
            <a:r>
              <a:t>Aplicación: El cierre forma a un constructor que puede presentar y revisar un sistema de banco relacionado con UAV.</a:t>
            </a:r>
          </a:p>
          <a:p xmlns:a="http://schemas.openxmlformats.org/drawingml/2006/main">
            <a:r>
              <a:t>Entrega: Expediente final, matriz de pruebas, registro y defensa individual.</a:t>
            </a:r>
          </a:p>
          <a:p xmlns:a="http://schemas.openxmlformats.org/drawingml/2006/main">
            <a:r>
              <a:t/>
            </a:r>
          </a:p>
          <a:p xmlns:a="http://schemas.openxmlformats.org/drawingml/2006/main">
            <a:r>
              <a:t>Preguntas y respuestas</a:t>
            </a:r>
          </a:p>
          <a:p xmlns:a="http://schemas.openxmlformats.org/drawingml/2006/main">
            <a:r>
              <a:t>¿Compilar equivale a haber probado hardware?</a:t>
            </a:r>
          </a:p>
          <a:p xmlns:a="http://schemas.openxmlformats.org/drawingml/2006/main">
            <a:r>
              <a:t>No. Son evidencias distintas y se identifican por su alcance.</a:t>
            </a:r>
          </a:p>
          <a:p xmlns:a="http://schemas.openxmlformats.org/drawingml/2006/main">
            <a:r>
              <a:t/>
            </a:r>
          </a:p>
          <a:p xmlns:a="http://schemas.openxmlformats.org/drawingml/2006/main">
            <a:r>
              <a:t>¿Un valor retenido puede seguir impreso con data_valid=0?</a:t>
            </a:r>
          </a:p>
          <a:p xmlns:a="http://schemas.openxmlformats.org/drawingml/2006/main">
            <a:r>
              <a:t>Sí, si el formato lo explica; no debe presentarse como una adquisición reciente.</a:t>
            </a:r>
          </a:p>
          <a:p xmlns:a="http://schemas.openxmlformats.org/drawingml/2006/main">
            <a:r>
              <a:t/>
            </a:r>
          </a:p>
          <a:p xmlns:a="http://schemas.openxmlformats.org/drawingml/2006/main">
            <a:r>
              <a:t>¿Qué debe contener una mejora?</a:t>
            </a:r>
          </a:p>
          <a:p xmlns:a="http://schemas.openxmlformats.org/drawingml/2006/main">
            <a:r>
              <a:t>Problema observado, cambio con motivo y prueba para contrastarlo.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Espressif Systems. Arduino-ESP32: I2C. https://docs.espressif.com/projects/arduino-esp32/en/latest/api/i2c.html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Wokwi. ESP32 Simulation: periféricos y límites. https://docs.wokwi.com/guides/esp32</a:t>
            </a:r>
          </a:p>
          <a:p xmlns:a="http://schemas.openxmlformats.org/drawingml/2006/main">
            <a:r>
              <a:t>Lectura MECRO_ESP32_Clase_16.pdf.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16: Taller final: pruebas, diagnóstico y clase maestra de cierre.</a:t>
            </a:r>
          </a:p>
          <a:p xmlns:a="http://schemas.openxmlformats.org/drawingml/2006/main">
            <a:r>
              <a:t>Presencial, 4 horas. Núcleo de explicación: 4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seq,t_ms,state,data_valid,roll_deg,pitch_deg</a:t>
            </a:r>
          </a:p>
          <a:p xmlns:a="http://schemas.openxmlformats.org/drawingml/2006/main">
            <a:r>
              <a:t>10,1000,1,1,2.1,-0.3</a:t>
            </a:r>
          </a:p>
          <a:p xmlns:a="http://schemas.openxmlformats.org/drawingml/2006/main">
            <a:r>
              <a:t>11,1100,1,1,2.2,-0.3</a:t>
            </a:r>
          </a:p>
          <a:p xmlns:a="http://schemas.openxmlformats.org/drawingml/2006/main">
            <a:r>
              <a:t>12,1400,2,0,2.2,-0.3</a:t>
            </a:r>
          </a:p>
          <a:p xmlns:a="http://schemas.openxmlformats.org/drawingml/2006/main">
            <a:r>
              <a:t>Explicar entrada, estado, salida y momento de actualización.</a:t>
            </a:r>
          </a:p>
          <a:p xmlns:a="http://schemas.openxmlformats.org/drawingml/2006/main">
            <a:r>
              <a:t/>
            </a:r>
          </a:p>
          <a:p xmlns:a="http://schemas.openxmlformats.org/drawingml/2006/main">
            <a:r>
              <a:t>Objetivo: Demostrar el sistema, explicar una condición de fallo y defender una mejora con evidencia.</a:t>
            </a:r>
          </a:p>
          <a:p xmlns:a="http://schemas.openxmlformats.org/drawingml/2006/main">
            <a:r>
              <a:t>Aplicación: El cierre forma a un constructor que puede presentar y revisar un sistema de banco relacionado con UAV.</a:t>
            </a:r>
          </a:p>
          <a:p xmlns:a="http://schemas.openxmlformats.org/drawingml/2006/main">
            <a:r>
              <a:t>Entrega: Expediente final, matriz de pruebas, registro y defensa individual.</a:t>
            </a:r>
          </a:p>
          <a:p xmlns:a="http://schemas.openxmlformats.org/drawingml/2006/main">
            <a:r>
              <a:t/>
            </a:r>
          </a:p>
          <a:p xmlns:a="http://schemas.openxmlformats.org/drawingml/2006/main">
            <a:r>
              <a:t>Preguntas y respuestas</a:t>
            </a:r>
          </a:p>
          <a:p xmlns:a="http://schemas.openxmlformats.org/drawingml/2006/main">
            <a:r>
              <a:t>¿Compilar equivale a haber probado hardware?</a:t>
            </a:r>
          </a:p>
          <a:p xmlns:a="http://schemas.openxmlformats.org/drawingml/2006/main">
            <a:r>
              <a:t>No. Son evidencias distintas y se identifican por su alcance.</a:t>
            </a:r>
          </a:p>
          <a:p xmlns:a="http://schemas.openxmlformats.org/drawingml/2006/main">
            <a:r>
              <a:t/>
            </a:r>
          </a:p>
          <a:p xmlns:a="http://schemas.openxmlformats.org/drawingml/2006/main">
            <a:r>
              <a:t>¿Un valor retenido puede seguir impreso con data_valid=0?</a:t>
            </a:r>
          </a:p>
          <a:p xmlns:a="http://schemas.openxmlformats.org/drawingml/2006/main">
            <a:r>
              <a:t>Sí, si el formato lo explica; no debe presentarse como una adquisición reciente.</a:t>
            </a:r>
          </a:p>
          <a:p xmlns:a="http://schemas.openxmlformats.org/drawingml/2006/main">
            <a:r>
              <a:t/>
            </a:r>
          </a:p>
          <a:p xmlns:a="http://schemas.openxmlformats.org/drawingml/2006/main">
            <a:r>
              <a:t>¿Qué debe contener una mejora?</a:t>
            </a:r>
          </a:p>
          <a:p xmlns:a="http://schemas.openxmlformats.org/drawingml/2006/main">
            <a:r>
              <a:t>Problema observado, cambio con motivo y prueba para contrastarlo.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Espressif Systems. Arduino-ESP32: I2C. https://docs.espressif.com/projects/arduino-esp32/en/latest/api/i2c.html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Wokwi. ESP32 Simulation: periféricos y límites. https://docs.wokwi.com/guides/esp32</a:t>
            </a:r>
          </a:p>
          <a:p xmlns:a="http://schemas.openxmlformats.org/drawingml/2006/main">
            <a:r>
              <a:t>Lectura MECRO_ESP32_Clase_16.pdf.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16: Taller final: pruebas, diagnóstico y clase maestra de cierre.</a:t>
            </a:r>
          </a:p>
          <a:p xmlns:a="http://schemas.openxmlformats.org/drawingml/2006/main">
            <a:r>
              <a:t>Presencial, 4 horas. Núcleo de explicación: 5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Primero tapar la solución o pedir respuesta individual.</a:t>
            </a:r>
          </a:p>
          <a:p xmlns:a="http://schemas.openxmlformats.org/drawingml/2006/main">
            <a:r>
              <a:t>El equipo propone “poner más filtros” porque vio ruido. ¿Qué debe comprobar?</a:t>
            </a:r>
          </a:p>
          <a:p xmlns:a="http://schemas.openxmlformats.org/drawingml/2006/main">
            <a:r>
              <a:t>Qué variación quiere reducir, con qué referencia la distingue y qué retardo o pérdida de detalle introduce la propuesta. La mejora se evalúa por función y evidencia.</a:t>
            </a:r>
          </a:p>
          <a:p xmlns:a="http://schemas.openxmlformats.org/drawingml/2006/main">
            <a:r>
              <a:t/>
            </a:r>
          </a:p>
          <a:p xmlns:a="http://schemas.openxmlformats.org/drawingml/2006/main">
            <a:r>
              <a:t>Objetivo: Demostrar el sistema, explicar una condición de fallo y defender una mejora con evidencia.</a:t>
            </a:r>
          </a:p>
          <a:p xmlns:a="http://schemas.openxmlformats.org/drawingml/2006/main">
            <a:r>
              <a:t>Aplicación: El cierre forma a un constructor que puede presentar y revisar un sistema de banco relacionado con UAV.</a:t>
            </a:r>
          </a:p>
          <a:p xmlns:a="http://schemas.openxmlformats.org/drawingml/2006/main">
            <a:r>
              <a:t>Entrega: Expediente final, matriz de pruebas, registro y defensa individual.</a:t>
            </a:r>
          </a:p>
          <a:p xmlns:a="http://schemas.openxmlformats.org/drawingml/2006/main">
            <a:r>
              <a:t/>
            </a:r>
          </a:p>
          <a:p xmlns:a="http://schemas.openxmlformats.org/drawingml/2006/main">
            <a:r>
              <a:t>Preguntas y respuestas</a:t>
            </a:r>
          </a:p>
          <a:p xmlns:a="http://schemas.openxmlformats.org/drawingml/2006/main">
            <a:r>
              <a:t>¿Compilar equivale a haber probado hardware?</a:t>
            </a:r>
          </a:p>
          <a:p xmlns:a="http://schemas.openxmlformats.org/drawingml/2006/main">
            <a:r>
              <a:t>No. Son evidencias distintas y se identifican por su alcance.</a:t>
            </a:r>
          </a:p>
          <a:p xmlns:a="http://schemas.openxmlformats.org/drawingml/2006/main">
            <a:r>
              <a:t/>
            </a:r>
          </a:p>
          <a:p xmlns:a="http://schemas.openxmlformats.org/drawingml/2006/main">
            <a:r>
              <a:t>¿Un valor retenido puede seguir impreso con data_valid=0?</a:t>
            </a:r>
          </a:p>
          <a:p xmlns:a="http://schemas.openxmlformats.org/drawingml/2006/main">
            <a:r>
              <a:t>Sí, si el formato lo explica; no debe presentarse como una adquisición reciente.</a:t>
            </a:r>
          </a:p>
          <a:p xmlns:a="http://schemas.openxmlformats.org/drawingml/2006/main">
            <a:r>
              <a:t/>
            </a:r>
          </a:p>
          <a:p xmlns:a="http://schemas.openxmlformats.org/drawingml/2006/main">
            <a:r>
              <a:t>¿Qué debe contener una mejora?</a:t>
            </a:r>
          </a:p>
          <a:p xmlns:a="http://schemas.openxmlformats.org/drawingml/2006/main">
            <a:r>
              <a:t>Problema observado, cambio con motivo y prueba para contrastarlo.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Espressif Systems. Arduino-ESP32: I2C. https://docs.espressif.com/projects/arduino-esp32/en/latest/api/i2c.html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Wokwi. ESP32 Simulation: periféricos y límites. https://docs.wokwi.com/guides/esp32</a:t>
            </a:r>
          </a:p>
          <a:p xmlns:a="http://schemas.openxmlformats.org/drawingml/2006/main">
            <a:r>
              <a:t>Lectura MECRO_ESP32_Clase_16.pdf.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16: Taller final: pruebas, diagnóstico y clase maestra de cierre.</a:t>
            </a:r>
          </a:p>
          <a:p xmlns:a="http://schemas.openxmlformats.org/drawingml/2006/main">
            <a:r>
              <a:t>Presencial, 4 horas. Núcleo de explicación: 4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Componente / Peso / Qué se valora</a:t>
            </a:r>
          </a:p>
          <a:p xmlns:a="http://schemas.openxmlformats.org/drawingml/2006/main">
            <a:r>
              <a:t>Portafolio individual / 30% / Predicción y explicación</a:t>
            </a:r>
          </a:p>
          <a:p xmlns:a="http://schemas.openxmlformats.org/drawingml/2006/main">
            <a:r>
              <a:t>Prácticas y registros / 25% / Método y evidencia</a:t>
            </a:r>
          </a:p>
          <a:p xmlns:a="http://schemas.openxmlformats.org/drawingml/2006/main">
            <a:r>
              <a:t>Proyecto integrado / 35% / Requisitos y pruebas</a:t>
            </a:r>
          </a:p>
          <a:p xmlns:a="http://schemas.openxmlformats.org/drawingml/2006/main">
            <a:r>
              <a:t>Defensa individual / 10% / Comprensión y transferencia</a:t>
            </a:r>
          </a:p>
          <a:p xmlns:a="http://schemas.openxmlformats.org/drawingml/2006/main">
            <a:r>
              <a:t/>
            </a:r>
          </a:p>
          <a:p xmlns:a="http://schemas.openxmlformats.org/drawingml/2006/main">
            <a:r>
              <a:t>Presenta propósito y configuración en un minuto.</a:t>
            </a:r>
          </a:p>
          <a:p xmlns:a="http://schemas.openxmlformats.org/drawingml/2006/main">
            <a:r>
              <a:t>Señala energía, una entrada, una transformación y una salida.</a:t>
            </a:r>
          </a:p>
          <a:p xmlns:a="http://schemas.openxmlformats.org/drawingml/2006/main">
            <a:r>
              <a:t>Explica una fila del registro con unidades y referencia temporal.</a:t>
            </a:r>
          </a:p>
          <a:p xmlns:a="http://schemas.openxmlformats.org/drawingml/2006/main">
            <a:r>
              <a:t>Muestra una prueba de fallo y su alcance.</a:t>
            </a:r>
          </a:p>
          <a:p xmlns:a="http://schemas.openxmlformats.org/drawingml/2006/main">
            <a:r>
              <a:t>Defiende una modificación propia con su comparación.</a:t>
            </a:r>
          </a:p>
          <a:p xmlns:a="http://schemas.openxmlformats.org/drawingml/2006/main">
            <a:r>
              <a:t>Declara una limitación y la prueba que harías después.</a:t>
            </a:r>
          </a:p>
          <a:p xmlns:a="http://schemas.openxmlformats.org/drawingml/2006/main">
            <a:r>
              <a:t/>
            </a:r>
          </a:p>
          <a:p xmlns:a="http://schemas.openxmlformats.org/drawingml/2006/main">
            <a:r>
              <a:t>El docente distingue entre un cálculo correcto, un programa que compila, una simulación ejecutada y una comprobación física. Son evidencias complementarias. El alumnado recibe retroalimentación sobre qué logró demostrar y qué puede mejorar. Esa información sirve para elegir la siguiente ruta de formación y para presentar el proyecto de manera profesional.</a:t>
            </a:r>
          </a:p>
          <a:p xmlns:a="http://schemas.openxmlformats.org/drawingml/2006/main">
            <a:r>
              <a:t/>
            </a:r>
          </a:p>
          <a:p xmlns:a="http://schemas.openxmlformats.org/drawingml/2006/main">
            <a:r>
              <a:t>Objetivo: Demostrar el sistema, explicar una condición de fallo y defender una mejora con evidencia.</a:t>
            </a:r>
          </a:p>
          <a:p xmlns:a="http://schemas.openxmlformats.org/drawingml/2006/main">
            <a:r>
              <a:t>Aplicación: El cierre forma a un constructor que puede presentar y revisar un sistema de banco relacionado con UAV.</a:t>
            </a:r>
          </a:p>
          <a:p xmlns:a="http://schemas.openxmlformats.org/drawingml/2006/main">
            <a:r>
              <a:t>Entrega: Expediente final, matriz de pruebas, registro y defensa individual.</a:t>
            </a:r>
          </a:p>
          <a:p xmlns:a="http://schemas.openxmlformats.org/drawingml/2006/main">
            <a:r>
              <a:t/>
            </a:r>
          </a:p>
          <a:p xmlns:a="http://schemas.openxmlformats.org/drawingml/2006/main">
            <a:r>
              <a:t>Preguntas y respuestas</a:t>
            </a:r>
          </a:p>
          <a:p xmlns:a="http://schemas.openxmlformats.org/drawingml/2006/main">
            <a:r>
              <a:t>¿Compilar equivale a haber probado hardware?</a:t>
            </a:r>
          </a:p>
          <a:p xmlns:a="http://schemas.openxmlformats.org/drawingml/2006/main">
            <a:r>
              <a:t>No. Son evidencias distintas y se identifican por su alcance.</a:t>
            </a:r>
          </a:p>
          <a:p xmlns:a="http://schemas.openxmlformats.org/drawingml/2006/main">
            <a:r>
              <a:t/>
            </a:r>
          </a:p>
          <a:p xmlns:a="http://schemas.openxmlformats.org/drawingml/2006/main">
            <a:r>
              <a:t>¿Un valor retenido puede seguir impreso con data_valid=0?</a:t>
            </a:r>
          </a:p>
          <a:p xmlns:a="http://schemas.openxmlformats.org/drawingml/2006/main">
            <a:r>
              <a:t>Sí, si el formato lo explica; no debe presentarse como una adquisición reciente.</a:t>
            </a:r>
          </a:p>
          <a:p xmlns:a="http://schemas.openxmlformats.org/drawingml/2006/main">
            <a:r>
              <a:t/>
            </a:r>
          </a:p>
          <a:p xmlns:a="http://schemas.openxmlformats.org/drawingml/2006/main">
            <a:r>
              <a:t>¿Qué debe contener una mejora?</a:t>
            </a:r>
          </a:p>
          <a:p xmlns:a="http://schemas.openxmlformats.org/drawingml/2006/main">
            <a:r>
              <a:t>Problema observado, cambio con motivo y prueba para contrastarlo.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Espressif Systems. Arduino-ESP32: I2C. https://docs.espressif.com/projects/arduino-esp32/en/latest/api/i2c.html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Wokwi. ESP32 Simulation: periféricos y límites. https://docs.wokwi.com/guides/esp32</a:t>
            </a:r>
          </a:p>
          <a:p xmlns:a="http://schemas.openxmlformats.org/drawingml/2006/main">
            <a:r>
              <a:t>Lectura MECRO_ESP32_Clase_16.pdf.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16: Taller final: pruebas, diagnóstico y clase maestra de cierre.</a:t>
            </a:r>
          </a:p>
          <a:p xmlns:a="http://schemas.openxmlformats.org/drawingml/2006/main">
            <a:r>
              <a:t>Presencial, 4 horas. Núcleo de explicación: 4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Componente / Peso / Qué se valora</a:t>
            </a:r>
          </a:p>
          <a:p xmlns:a="http://schemas.openxmlformats.org/drawingml/2006/main">
            <a:r>
              <a:t>Portafolio individual / 30% / Predicción y explicación</a:t>
            </a:r>
          </a:p>
          <a:p xmlns:a="http://schemas.openxmlformats.org/drawingml/2006/main">
            <a:r>
              <a:t>Prácticas y registros / 25% / Método y evidencia</a:t>
            </a:r>
          </a:p>
          <a:p xmlns:a="http://schemas.openxmlformats.org/drawingml/2006/main">
            <a:r>
              <a:t>Proyecto integrado / 35% / Requisitos y pruebas</a:t>
            </a:r>
          </a:p>
          <a:p xmlns:a="http://schemas.openxmlformats.org/drawingml/2006/main">
            <a:r>
              <a:t>Defensa individual / 10% / Comprensión y transferencia</a:t>
            </a:r>
          </a:p>
          <a:p xmlns:a="http://schemas.openxmlformats.org/drawingml/2006/main">
            <a:r>
              <a:t>Comparar filas y explicar una condición que cambie la decisión.</a:t>
            </a:r>
          </a:p>
          <a:p xmlns:a="http://schemas.openxmlformats.org/drawingml/2006/main">
            <a:r>
              <a:t/>
            </a:r>
          </a:p>
          <a:p xmlns:a="http://schemas.openxmlformats.org/drawingml/2006/main">
            <a:r>
              <a:t>Objetivo: Demostrar el sistema, explicar una condición de fallo y defender una mejora con evidencia.</a:t>
            </a:r>
          </a:p>
          <a:p xmlns:a="http://schemas.openxmlformats.org/drawingml/2006/main">
            <a:r>
              <a:t>Aplicación: El cierre forma a un constructor que puede presentar y revisar un sistema de banco relacionado con UAV.</a:t>
            </a:r>
          </a:p>
          <a:p xmlns:a="http://schemas.openxmlformats.org/drawingml/2006/main">
            <a:r>
              <a:t>Entrega: Expediente final, matriz de pruebas, registro y defensa individual.</a:t>
            </a:r>
          </a:p>
          <a:p xmlns:a="http://schemas.openxmlformats.org/drawingml/2006/main">
            <a:r>
              <a:t/>
            </a:r>
          </a:p>
          <a:p xmlns:a="http://schemas.openxmlformats.org/drawingml/2006/main">
            <a:r>
              <a:t>Preguntas y respuestas</a:t>
            </a:r>
          </a:p>
          <a:p xmlns:a="http://schemas.openxmlformats.org/drawingml/2006/main">
            <a:r>
              <a:t>¿Compilar equivale a haber probado hardware?</a:t>
            </a:r>
          </a:p>
          <a:p xmlns:a="http://schemas.openxmlformats.org/drawingml/2006/main">
            <a:r>
              <a:t>No. Son evidencias distintas y se identifican por su alcance.</a:t>
            </a:r>
          </a:p>
          <a:p xmlns:a="http://schemas.openxmlformats.org/drawingml/2006/main">
            <a:r>
              <a:t/>
            </a:r>
          </a:p>
          <a:p xmlns:a="http://schemas.openxmlformats.org/drawingml/2006/main">
            <a:r>
              <a:t>¿Un valor retenido puede seguir impreso con data_valid=0?</a:t>
            </a:r>
          </a:p>
          <a:p xmlns:a="http://schemas.openxmlformats.org/drawingml/2006/main">
            <a:r>
              <a:t>Sí, si el formato lo explica; no debe presentarse como una adquisición reciente.</a:t>
            </a:r>
          </a:p>
          <a:p xmlns:a="http://schemas.openxmlformats.org/drawingml/2006/main">
            <a:r>
              <a:t/>
            </a:r>
          </a:p>
          <a:p xmlns:a="http://schemas.openxmlformats.org/drawingml/2006/main">
            <a:r>
              <a:t>¿Qué debe contener una mejora?</a:t>
            </a:r>
          </a:p>
          <a:p xmlns:a="http://schemas.openxmlformats.org/drawingml/2006/main">
            <a:r>
              <a:t>Problema observado, cambio con motivo y prueba para contrastarlo.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Espressif Systems. Arduino-ESP32: I2C. https://docs.espressif.com/projects/arduino-esp32/en/latest/api/i2c.html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Wokwi. ESP32 Simulation: periféricos y límites. https://docs.wokwi.com/guides/esp32</a:t>
            </a:r>
          </a:p>
          <a:p xmlns:a="http://schemas.openxmlformats.org/drawingml/2006/main">
            <a:r>
              <a:t>Lectura MECRO_ESP32_Clase_16.pdf.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16: Taller final: pruebas, diagnóstico y clase maestra de cierre.</a:t>
            </a:r>
          </a:p>
          <a:p xmlns:a="http://schemas.openxmlformats.org/drawingml/2006/main">
            <a:r>
              <a:t>Presencial, 4 horas. Núcleo de explicación: 5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Presenta propósito y configuración en un minuto.</a:t>
            </a:r>
          </a:p>
          <a:p xmlns:a="http://schemas.openxmlformats.org/drawingml/2006/main">
            <a:r>
              <a:t>Señala energía, una entrada, una transformación y una salida.</a:t>
            </a:r>
          </a:p>
          <a:p xmlns:a="http://schemas.openxmlformats.org/drawingml/2006/main">
            <a:r>
              <a:t>Explica una fila del registro con unidades y referencia temporal.</a:t>
            </a:r>
          </a:p>
          <a:p xmlns:a="http://schemas.openxmlformats.org/drawingml/2006/main">
            <a:r>
              <a:t>Muestra una prueba de fallo y su alcance.</a:t>
            </a:r>
          </a:p>
          <a:p xmlns:a="http://schemas.openxmlformats.org/drawingml/2006/main">
            <a:r>
              <a:t>Defiende una modificación propia con su comparación.</a:t>
            </a:r>
          </a:p>
          <a:p xmlns:a="http://schemas.openxmlformats.org/drawingml/2006/main">
            <a:r>
              <a:t>Declara una limitación y la prueba que harías después.</a:t>
            </a:r>
          </a:p>
          <a:p xmlns:a="http://schemas.openxmlformats.org/drawingml/2006/main">
            <a:r>
              <a:t>Verificar un paso antes de seguir.</a:t>
            </a:r>
          </a:p>
          <a:p xmlns:a="http://schemas.openxmlformats.org/drawingml/2006/main">
            <a:r>
              <a:t/>
            </a:r>
          </a:p>
          <a:p xmlns:a="http://schemas.openxmlformats.org/drawingml/2006/main">
            <a:r>
              <a:t>Objetivo: Demostrar el sistema, explicar una condición de fallo y defender una mejora con evidencia.</a:t>
            </a:r>
          </a:p>
          <a:p xmlns:a="http://schemas.openxmlformats.org/drawingml/2006/main">
            <a:r>
              <a:t>Aplicación: El cierre forma a un constructor que puede presentar y revisar un sistema de banco relacionado con UAV.</a:t>
            </a:r>
          </a:p>
          <a:p xmlns:a="http://schemas.openxmlformats.org/drawingml/2006/main">
            <a:r>
              <a:t>Entrega: Expediente final, matriz de pruebas, registro y defensa individual.</a:t>
            </a:r>
          </a:p>
          <a:p xmlns:a="http://schemas.openxmlformats.org/drawingml/2006/main">
            <a:r>
              <a:t/>
            </a:r>
          </a:p>
          <a:p xmlns:a="http://schemas.openxmlformats.org/drawingml/2006/main">
            <a:r>
              <a:t>Preguntas y respuestas</a:t>
            </a:r>
          </a:p>
          <a:p xmlns:a="http://schemas.openxmlformats.org/drawingml/2006/main">
            <a:r>
              <a:t>¿Compilar equivale a haber probado hardware?</a:t>
            </a:r>
          </a:p>
          <a:p xmlns:a="http://schemas.openxmlformats.org/drawingml/2006/main">
            <a:r>
              <a:t>No. Son evidencias distintas y se identifican por su alcance.</a:t>
            </a:r>
          </a:p>
          <a:p xmlns:a="http://schemas.openxmlformats.org/drawingml/2006/main">
            <a:r>
              <a:t/>
            </a:r>
          </a:p>
          <a:p xmlns:a="http://schemas.openxmlformats.org/drawingml/2006/main">
            <a:r>
              <a:t>¿Un valor retenido puede seguir impreso con data_valid=0?</a:t>
            </a:r>
          </a:p>
          <a:p xmlns:a="http://schemas.openxmlformats.org/drawingml/2006/main">
            <a:r>
              <a:t>Sí, si el formato lo explica; no debe presentarse como una adquisición reciente.</a:t>
            </a:r>
          </a:p>
          <a:p xmlns:a="http://schemas.openxmlformats.org/drawingml/2006/main">
            <a:r>
              <a:t/>
            </a:r>
          </a:p>
          <a:p xmlns:a="http://schemas.openxmlformats.org/drawingml/2006/main">
            <a:r>
              <a:t>¿Qué debe contener una mejora?</a:t>
            </a:r>
          </a:p>
          <a:p xmlns:a="http://schemas.openxmlformats.org/drawingml/2006/main">
            <a:r>
              <a:t>Problema observado, cambio con motivo y prueba para contrastarlo.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Espressif Systems. Arduino-ESP32: I2C. https://docs.espressif.com/projects/arduino-esp32/en/latest/api/i2c.html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Wokwi. ESP32 Simulation: periféricos y límites. https://docs.wokwi.com/guides/esp32</a:t>
            </a:r>
          </a:p>
          <a:p xmlns:a="http://schemas.openxmlformats.org/drawingml/2006/main">
            <a:r>
              <a:t>Lectura MECRO_ESP32_Clase_16.pdf.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16: Taller final: pruebas, diagnóstico y clase maestra de cierre.</a:t>
            </a:r>
          </a:p>
          <a:p xmlns:a="http://schemas.openxmlformats.org/drawingml/2006/main">
            <a:r>
              <a:t>Presencial, 4 horas. Núcleo de explicación: 4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La ruta siguiente puede profundizar en aviónica y telemetría, registro MicroSD, comunicaciones dedicadas, estimación de orientación o diseño de control. Otra ruta puede desarrollar mecanismos y robótica. La base obtenida permite elegir con criterio: el estudiante ya conoce entradas y salidas, tiempos, medida, potencia, referencias y pruebas. No necesita afirmar dominio de todos los subsistemas de un UAV para presentar un buen proyecto introductorio.</a:t>
            </a:r>
          </a:p>
          <a:p xmlns:a="http://schemas.openxmlformats.org/drawingml/2006/main">
            <a:r>
              <a:t/>
            </a:r>
          </a:p>
          <a:p xmlns:a="http://schemas.openxmlformats.org/drawingml/2006/main">
            <a:r>
              <a:t>Interés / Base del curso / Siguiente profundización</a:t>
            </a:r>
          </a:p>
          <a:p xmlns:a="http://schemas.openxmlformats.org/drawingml/2006/main">
            <a:r>
              <a:t>Sensores de UAV / Adquisición y unidades / Calibración y estimación</a:t>
            </a:r>
          </a:p>
          <a:p xmlns:a="http://schemas.openxmlformats.org/drawingml/2006/main">
            <a:r>
              <a:t>Mecanismos / Señal, potencia y medida / Control y diseño mecánico</a:t>
            </a:r>
          </a:p>
          <a:p xmlns:a="http://schemas.openxmlformats.org/drawingml/2006/main">
            <a:r>
              <a:t>Datos en tierra / Registros y HTTP / Telemetría y almacenamiento</a:t>
            </a:r>
          </a:p>
          <a:p xmlns:a="http://schemas.openxmlformats.org/drawingml/2006/main">
            <a:r>
              <a:t/>
            </a:r>
          </a:p>
          <a:p xmlns:a="http://schemas.openxmlformats.org/drawingml/2006/main">
            <a:r>
              <a:t>La entrega final incluye una propuesta de siguiente versión con una sola mejora prioritaria. Debe nombrar el problema observado, el cambio propuesto y una comprobación. Un proyecto pequeño puede tener gran valor formativo si su constructor entiende lo que mide, lo que decide y lo que todavía necesita estudiar. Ese es el criterio que MECRO conserva al ampliar su oferta.</a:t>
            </a:r>
          </a:p>
          <a:p xmlns:a="http://schemas.openxmlformats.org/drawingml/2006/main">
            <a:r>
              <a:t/>
            </a:r>
          </a:p>
          <a:p xmlns:a="http://schemas.openxmlformats.org/drawingml/2006/main">
            <a:r>
              <a:t>Objetivo: Demostrar el sistema, explicar una condición de fallo y defender una mejora con evidencia.</a:t>
            </a:r>
          </a:p>
          <a:p xmlns:a="http://schemas.openxmlformats.org/drawingml/2006/main">
            <a:r>
              <a:t>Aplicación: El cierre forma a un constructor que puede presentar y revisar un sistema de banco relacionado con UAV.</a:t>
            </a:r>
          </a:p>
          <a:p xmlns:a="http://schemas.openxmlformats.org/drawingml/2006/main">
            <a:r>
              <a:t>Entrega: Expediente final, matriz de pruebas, registro y defensa individual.</a:t>
            </a:r>
          </a:p>
          <a:p xmlns:a="http://schemas.openxmlformats.org/drawingml/2006/main">
            <a:r>
              <a:t/>
            </a:r>
          </a:p>
          <a:p xmlns:a="http://schemas.openxmlformats.org/drawingml/2006/main">
            <a:r>
              <a:t>Preguntas y respuestas</a:t>
            </a:r>
          </a:p>
          <a:p xmlns:a="http://schemas.openxmlformats.org/drawingml/2006/main">
            <a:r>
              <a:t>¿Compilar equivale a haber probado hardware?</a:t>
            </a:r>
          </a:p>
          <a:p xmlns:a="http://schemas.openxmlformats.org/drawingml/2006/main">
            <a:r>
              <a:t>No. Son evidencias distintas y se identifican por su alcance.</a:t>
            </a:r>
          </a:p>
          <a:p xmlns:a="http://schemas.openxmlformats.org/drawingml/2006/main">
            <a:r>
              <a:t/>
            </a:r>
          </a:p>
          <a:p xmlns:a="http://schemas.openxmlformats.org/drawingml/2006/main">
            <a:r>
              <a:t>¿Un valor retenido puede seguir impreso con data_valid=0?</a:t>
            </a:r>
          </a:p>
          <a:p xmlns:a="http://schemas.openxmlformats.org/drawingml/2006/main">
            <a:r>
              <a:t>Sí, si el formato lo explica; no debe presentarse como una adquisición reciente.</a:t>
            </a:r>
          </a:p>
          <a:p xmlns:a="http://schemas.openxmlformats.org/drawingml/2006/main">
            <a:r>
              <a:t/>
            </a:r>
          </a:p>
          <a:p xmlns:a="http://schemas.openxmlformats.org/drawingml/2006/main">
            <a:r>
              <a:t>¿Qué debe contener una mejora?</a:t>
            </a:r>
          </a:p>
          <a:p xmlns:a="http://schemas.openxmlformats.org/drawingml/2006/main">
            <a:r>
              <a:t>Problema observado, cambio con motivo y prueba para contrastarlo.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Espressif Systems. Arduino-ESP32: I2C. https://docs.espressif.com/projects/arduino-esp32/en/latest/api/i2c.html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Wokwi. ESP32 Simulation: periféricos y límites. https://docs.wokwi.com/guides/esp32</a:t>
            </a:r>
          </a:p>
          <a:p xmlns:a="http://schemas.openxmlformats.org/drawingml/2006/main">
            <a:r>
              <a:t>Lectura MECRO_ESP32_Clase_16.pdf.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16: Taller final: pruebas, diagnóstico y clase maestra de cierre.</a:t>
            </a:r>
          </a:p>
          <a:p xmlns:a="http://schemas.openxmlformats.org/drawingml/2006/main">
            <a:r>
              <a:t>Presencial, 4 horas. Núcleo de explicación: 4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Interés / Base del curso / Siguiente profundización</a:t>
            </a:r>
          </a:p>
          <a:p xmlns:a="http://schemas.openxmlformats.org/drawingml/2006/main">
            <a:r>
              <a:t>Sensores de UAV / Adquisición y unidades / Calibración y estimación</a:t>
            </a:r>
          </a:p>
          <a:p xmlns:a="http://schemas.openxmlformats.org/drawingml/2006/main">
            <a:r>
              <a:t>Mecanismos / Señal, potencia y medida / Control y diseño mecánico</a:t>
            </a:r>
          </a:p>
          <a:p xmlns:a="http://schemas.openxmlformats.org/drawingml/2006/main">
            <a:r>
              <a:t>Datos en tierra / Registros y HTTP / Telemetría y almacenamiento</a:t>
            </a:r>
          </a:p>
          <a:p xmlns:a="http://schemas.openxmlformats.org/drawingml/2006/main">
            <a:r>
              <a:t>Comparar filas y explicar una condición que cambie la decisión.</a:t>
            </a:r>
          </a:p>
          <a:p xmlns:a="http://schemas.openxmlformats.org/drawingml/2006/main">
            <a:r>
              <a:t/>
            </a:r>
          </a:p>
          <a:p xmlns:a="http://schemas.openxmlformats.org/drawingml/2006/main">
            <a:r>
              <a:t>Objetivo: Demostrar el sistema, explicar una condición de fallo y defender una mejora con evidencia.</a:t>
            </a:r>
          </a:p>
          <a:p xmlns:a="http://schemas.openxmlformats.org/drawingml/2006/main">
            <a:r>
              <a:t>Aplicación: El cierre forma a un constructor que puede presentar y revisar un sistema de banco relacionado con UAV.</a:t>
            </a:r>
          </a:p>
          <a:p xmlns:a="http://schemas.openxmlformats.org/drawingml/2006/main">
            <a:r>
              <a:t>Entrega: Expediente final, matriz de pruebas, registro y defensa individual.</a:t>
            </a:r>
          </a:p>
          <a:p xmlns:a="http://schemas.openxmlformats.org/drawingml/2006/main">
            <a:r>
              <a:t/>
            </a:r>
          </a:p>
          <a:p xmlns:a="http://schemas.openxmlformats.org/drawingml/2006/main">
            <a:r>
              <a:t>Preguntas y respuestas</a:t>
            </a:r>
          </a:p>
          <a:p xmlns:a="http://schemas.openxmlformats.org/drawingml/2006/main">
            <a:r>
              <a:t>¿Compilar equivale a haber probado hardware?</a:t>
            </a:r>
          </a:p>
          <a:p xmlns:a="http://schemas.openxmlformats.org/drawingml/2006/main">
            <a:r>
              <a:t>No. Son evidencias distintas y se identifican por su alcance.</a:t>
            </a:r>
          </a:p>
          <a:p xmlns:a="http://schemas.openxmlformats.org/drawingml/2006/main">
            <a:r>
              <a:t/>
            </a:r>
          </a:p>
          <a:p xmlns:a="http://schemas.openxmlformats.org/drawingml/2006/main">
            <a:r>
              <a:t>¿Un valor retenido puede seguir impreso con data_valid=0?</a:t>
            </a:r>
          </a:p>
          <a:p xmlns:a="http://schemas.openxmlformats.org/drawingml/2006/main">
            <a:r>
              <a:t>Sí, si el formato lo explica; no debe presentarse como una adquisición reciente.</a:t>
            </a:r>
          </a:p>
          <a:p xmlns:a="http://schemas.openxmlformats.org/drawingml/2006/main">
            <a:r>
              <a:t/>
            </a:r>
          </a:p>
          <a:p xmlns:a="http://schemas.openxmlformats.org/drawingml/2006/main">
            <a:r>
              <a:t>¿Qué debe contener una mejora?</a:t>
            </a:r>
          </a:p>
          <a:p xmlns:a="http://schemas.openxmlformats.org/drawingml/2006/main">
            <a:r>
              <a:t>Problema observado, cambio con motivo y prueba para contrastarlo.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Espressif Systems. Arduino-ESP32: I2C. https://docs.espressif.com/projects/arduino-esp32/en/latest/api/i2c.html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Wokwi. ESP32 Simulation: periféricos y límites. https://docs.wokwi.com/guides/esp32</a:t>
            </a:r>
          </a:p>
          <a:p xmlns:a="http://schemas.openxmlformats.org/drawingml/2006/main">
            <a:r>
              <a:t>Lectura MECRO_ESP32_Clase_16.pdf.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16: Taller final: pruebas, diagnóstico y clase maestra de cierre.</a:t>
            </a:r>
          </a:p>
          <a:p xmlns:a="http://schemas.openxmlformats.org/drawingml/2006/main">
            <a:r>
              <a:t>Presencial, 4 horas. Núcleo de explicación: 5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La ruta siguiente puede profundizar en aviónica y telemetría, registro MicroSD, comunicaciones dedicadas, estimación de orientación o diseño de control. Otra ruta puede desarrollar mecanismos y robótica. La base obtenida permite elegir con criterio: el estudiante ya conoce entradas y salidas, tiempos, medida, potencia, referencias y pruebas. No necesita afirmar dominio de todos los subsistemas de un UAV para presentar un buen proyecto introductorio.</a:t>
            </a:r>
          </a:p>
          <a:p xmlns:a="http://schemas.openxmlformats.org/drawingml/2006/main">
            <a:r>
              <a:t/>
            </a:r>
          </a:p>
          <a:p xmlns:a="http://schemas.openxmlformats.org/drawingml/2006/main">
            <a:r>
              <a:t>Interés / Base del curso / Siguiente profundización</a:t>
            </a:r>
          </a:p>
          <a:p xmlns:a="http://schemas.openxmlformats.org/drawingml/2006/main">
            <a:r>
              <a:t>Sensores de UAV / Adquisición y unidades / Calibración y estimación</a:t>
            </a:r>
          </a:p>
          <a:p xmlns:a="http://schemas.openxmlformats.org/drawingml/2006/main">
            <a:r>
              <a:t>Mecanismos / Señal, potencia y medida / Control y diseño mecánico</a:t>
            </a:r>
          </a:p>
          <a:p xmlns:a="http://schemas.openxmlformats.org/drawingml/2006/main">
            <a:r>
              <a:t>Datos en tierra / Registros y HTTP / Telemetría y almacenamiento</a:t>
            </a:r>
          </a:p>
          <a:p xmlns:a="http://schemas.openxmlformats.org/drawingml/2006/main">
            <a:r>
              <a:t/>
            </a:r>
          </a:p>
          <a:p xmlns:a="http://schemas.openxmlformats.org/drawingml/2006/main">
            <a:r>
              <a:t>La entrega final incluye una propuesta de siguiente versión con una sola mejora prioritaria. Debe nombrar el problema observado, el cambio propuesto y una comprobación. Un proyecto pequeño puede tener gran valor formativo si su constructor entiende lo que mide, lo que decide y lo que todavía necesita estudiar. Ese es el criterio que MECRO conserva al ampliar su oferta.</a:t>
            </a:r>
          </a:p>
          <a:p xmlns:a="http://schemas.openxmlformats.org/drawingml/2006/main">
            <a:r>
              <a:t/>
            </a:r>
          </a:p>
          <a:p xmlns:a="http://schemas.openxmlformats.org/drawingml/2006/main">
            <a:r>
              <a:t>Objetivo: Demostrar el sistema, explicar una condición de fallo y defender una mejora con evidencia.</a:t>
            </a:r>
          </a:p>
          <a:p xmlns:a="http://schemas.openxmlformats.org/drawingml/2006/main">
            <a:r>
              <a:t>Aplicación: El cierre forma a un constructor que puede presentar y revisar un sistema de banco relacionado con UAV.</a:t>
            </a:r>
          </a:p>
          <a:p xmlns:a="http://schemas.openxmlformats.org/drawingml/2006/main">
            <a:r>
              <a:t>Entrega: Expediente final, matriz de pruebas, registro y defensa individual.</a:t>
            </a:r>
          </a:p>
          <a:p xmlns:a="http://schemas.openxmlformats.org/drawingml/2006/main">
            <a:r>
              <a:t/>
            </a:r>
          </a:p>
          <a:p xmlns:a="http://schemas.openxmlformats.org/drawingml/2006/main">
            <a:r>
              <a:t>Preguntas y respuestas</a:t>
            </a:r>
          </a:p>
          <a:p xmlns:a="http://schemas.openxmlformats.org/drawingml/2006/main">
            <a:r>
              <a:t>¿Compilar equivale a haber probado hardware?</a:t>
            </a:r>
          </a:p>
          <a:p xmlns:a="http://schemas.openxmlformats.org/drawingml/2006/main">
            <a:r>
              <a:t>No. Son evidencias distintas y se identifican por su alcance.</a:t>
            </a:r>
          </a:p>
          <a:p xmlns:a="http://schemas.openxmlformats.org/drawingml/2006/main">
            <a:r>
              <a:t/>
            </a:r>
          </a:p>
          <a:p xmlns:a="http://schemas.openxmlformats.org/drawingml/2006/main">
            <a:r>
              <a:t>¿Un valor retenido puede seguir impreso con data_valid=0?</a:t>
            </a:r>
          </a:p>
          <a:p xmlns:a="http://schemas.openxmlformats.org/drawingml/2006/main">
            <a:r>
              <a:t>Sí, si el formato lo explica; no debe presentarse como una adquisición reciente.</a:t>
            </a:r>
          </a:p>
          <a:p xmlns:a="http://schemas.openxmlformats.org/drawingml/2006/main">
            <a:r>
              <a:t/>
            </a:r>
          </a:p>
          <a:p xmlns:a="http://schemas.openxmlformats.org/drawingml/2006/main">
            <a:r>
              <a:t>¿Qué debe contener una mejora?</a:t>
            </a:r>
          </a:p>
          <a:p xmlns:a="http://schemas.openxmlformats.org/drawingml/2006/main">
            <a:r>
              <a:t>Problema observado, cambio con motivo y prueba para contrastarlo.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Espressif Systems. Arduino-ESP32: I2C. https://docs.espressif.com/projects/arduino-esp32/en/latest/api/i2c.html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Wokwi. ESP32 Simulation: periféricos y límites. https://docs.wokwi.com/guides/esp32</a:t>
            </a:r>
          </a:p>
          <a:p xmlns:a="http://schemas.openxmlformats.org/drawingml/2006/main">
            <a:r>
              <a:t>Lectura MECRO_ESP32_Clase_16.pdf.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16: Taller final: pruebas, diagnóstico y clase maestra de cierre.</a:t>
            </a:r>
          </a:p>
          <a:p xmlns:a="http://schemas.openxmlformats.org/drawingml/2006/main">
            <a:r>
              <a:t>Presencial, 4 horas. Núcleo de explicación: 12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Revisar la configuración antes de la demostración.</a:t>
            </a:r>
          </a:p>
          <a:p xmlns:a="http://schemas.openxmlformats.org/drawingml/2006/main">
            <a:r>
              <a:t>Ejecutar prueba normal y matriz de fallos con evidencia.</a:t>
            </a:r>
          </a:p>
          <a:p xmlns:a="http://schemas.openxmlformats.org/drawingml/2006/main">
            <a:r>
              <a:t>Relacionar una fila del registro con el estado del sistema.</a:t>
            </a:r>
          </a:p>
          <a:p xmlns:a="http://schemas.openxmlformats.org/drawingml/2006/main">
            <a:r>
              <a:t>Defender una mejora y proponer la siguiente ruta.</a:t>
            </a:r>
          </a:p>
          <a:p xmlns:a="http://schemas.openxmlformats.org/drawingml/2006/main">
            <a:r>
              <a:t>Rotar código, medida y registro.</a:t>
            </a:r>
          </a:p>
          <a:p xmlns:a="http://schemas.openxmlformats.org/drawingml/2006/main">
            <a:r>
              <a:t/>
            </a:r>
          </a:p>
          <a:p xmlns:a="http://schemas.openxmlformats.org/drawingml/2006/main">
            <a:r>
              <a:t>Objetivo: Demostrar el sistema, explicar una condición de fallo y defender una mejora con evidencia.</a:t>
            </a:r>
          </a:p>
          <a:p xmlns:a="http://schemas.openxmlformats.org/drawingml/2006/main">
            <a:r>
              <a:t>Aplicación: El cierre forma a un constructor que puede presentar y revisar un sistema de banco relacionado con UAV.</a:t>
            </a:r>
          </a:p>
          <a:p xmlns:a="http://schemas.openxmlformats.org/drawingml/2006/main">
            <a:r>
              <a:t>Entrega: Expediente final, matriz de pruebas, registro y defensa individual.</a:t>
            </a:r>
          </a:p>
          <a:p xmlns:a="http://schemas.openxmlformats.org/drawingml/2006/main">
            <a:r>
              <a:t/>
            </a:r>
          </a:p>
          <a:p xmlns:a="http://schemas.openxmlformats.org/drawingml/2006/main">
            <a:r>
              <a:t>Preguntas y respuestas</a:t>
            </a:r>
          </a:p>
          <a:p xmlns:a="http://schemas.openxmlformats.org/drawingml/2006/main">
            <a:r>
              <a:t>¿Compilar equivale a haber probado hardware?</a:t>
            </a:r>
          </a:p>
          <a:p xmlns:a="http://schemas.openxmlformats.org/drawingml/2006/main">
            <a:r>
              <a:t>No. Son evidencias distintas y se identifican por su alcance.</a:t>
            </a:r>
          </a:p>
          <a:p xmlns:a="http://schemas.openxmlformats.org/drawingml/2006/main">
            <a:r>
              <a:t/>
            </a:r>
          </a:p>
          <a:p xmlns:a="http://schemas.openxmlformats.org/drawingml/2006/main">
            <a:r>
              <a:t>¿Un valor retenido puede seguir impreso con data_valid=0?</a:t>
            </a:r>
          </a:p>
          <a:p xmlns:a="http://schemas.openxmlformats.org/drawingml/2006/main">
            <a:r>
              <a:t>Sí, si el formato lo explica; no debe presentarse como una adquisición reciente.</a:t>
            </a:r>
          </a:p>
          <a:p xmlns:a="http://schemas.openxmlformats.org/drawingml/2006/main">
            <a:r>
              <a:t/>
            </a:r>
          </a:p>
          <a:p xmlns:a="http://schemas.openxmlformats.org/drawingml/2006/main">
            <a:r>
              <a:t>¿Qué debe contener una mejora?</a:t>
            </a:r>
          </a:p>
          <a:p xmlns:a="http://schemas.openxmlformats.org/drawingml/2006/main">
            <a:r>
              <a:t>Problema observado, cambio con motivo y prueba para contrastarlo.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Espressif Systems. Arduino-ESP32: I2C. https://docs.espressif.com/projects/arduino-esp32/en/latest/api/i2c.html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Wokwi. ESP32 Simulation: periféricos y límites. https://docs.wokwi.com/guides/esp32</a:t>
            </a:r>
          </a:p>
          <a:p xmlns:a="http://schemas.openxmlformats.org/drawingml/2006/main">
            <a:r>
              <a:t>Lectura MECRO_ESP32_Clase_16.pdf.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16: Taller final: pruebas, diagnóstico y clase maestra de cierre.</a:t>
            </a:r>
          </a:p>
          <a:p xmlns:a="http://schemas.openxmlformats.org/drawingml/2006/main">
            <a:r>
              <a:t>Presencial, 4 horas. Núcleo de explicación: 10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El cierre forma a un constructor que puede presentar y revisar un sistema de banco relacionado con UAV.</a:t>
            </a:r>
          </a:p>
          <a:p xmlns:a="http://schemas.openxmlformats.org/drawingml/2006/main">
            <a:r>
              <a:t>Expediente final, matriz de pruebas, registro y defensa individual.</a:t>
            </a:r>
          </a:p>
          <a:p xmlns:a="http://schemas.openxmlformats.org/drawingml/2006/main">
            <a:r>
              <a:t/>
            </a:r>
          </a:p>
          <a:p xmlns:a="http://schemas.openxmlformats.org/drawingml/2006/main">
            <a:r>
              <a:t>Objetivo: Demostrar el sistema, explicar una condición de fallo y defender una mejora con evidencia.</a:t>
            </a:r>
          </a:p>
          <a:p xmlns:a="http://schemas.openxmlformats.org/drawingml/2006/main">
            <a:r>
              <a:t>Aplicación: El cierre forma a un constructor que puede presentar y revisar un sistema de banco relacionado con UAV.</a:t>
            </a:r>
          </a:p>
          <a:p xmlns:a="http://schemas.openxmlformats.org/drawingml/2006/main">
            <a:r>
              <a:t>Entrega: Expediente final, matriz de pruebas, registro y defensa individual.</a:t>
            </a:r>
          </a:p>
          <a:p xmlns:a="http://schemas.openxmlformats.org/drawingml/2006/main">
            <a:r>
              <a:t/>
            </a:r>
          </a:p>
          <a:p xmlns:a="http://schemas.openxmlformats.org/drawingml/2006/main">
            <a:r>
              <a:t>Preguntas y respuestas</a:t>
            </a:r>
          </a:p>
          <a:p xmlns:a="http://schemas.openxmlformats.org/drawingml/2006/main">
            <a:r>
              <a:t>¿Compilar equivale a haber probado hardware?</a:t>
            </a:r>
          </a:p>
          <a:p xmlns:a="http://schemas.openxmlformats.org/drawingml/2006/main">
            <a:r>
              <a:t>No. Son evidencias distintas y se identifican por su alcance.</a:t>
            </a:r>
          </a:p>
          <a:p xmlns:a="http://schemas.openxmlformats.org/drawingml/2006/main">
            <a:r>
              <a:t/>
            </a:r>
          </a:p>
          <a:p xmlns:a="http://schemas.openxmlformats.org/drawingml/2006/main">
            <a:r>
              <a:t>¿Un valor retenido puede seguir impreso con data_valid=0?</a:t>
            </a:r>
          </a:p>
          <a:p xmlns:a="http://schemas.openxmlformats.org/drawingml/2006/main">
            <a:r>
              <a:t>Sí, si el formato lo explica; no debe presentarse como una adquisición reciente.</a:t>
            </a:r>
          </a:p>
          <a:p xmlns:a="http://schemas.openxmlformats.org/drawingml/2006/main">
            <a:r>
              <a:t/>
            </a:r>
          </a:p>
          <a:p xmlns:a="http://schemas.openxmlformats.org/drawingml/2006/main">
            <a:r>
              <a:t>¿Qué debe contener una mejora?</a:t>
            </a:r>
          </a:p>
          <a:p xmlns:a="http://schemas.openxmlformats.org/drawingml/2006/main">
            <a:r>
              <a:t>Problema observado, cambio con motivo y prueba para contrastarlo.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Espressif Systems. Arduino-ESP32: I2C. https://docs.espressif.com/projects/arduino-esp32/en/latest/api/i2c.html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Wokwi. ESP32 Simulation: periféricos y límites. https://docs.wokwi.com/guides/esp32</a:t>
            </a:r>
          </a:p>
          <a:p xmlns:a="http://schemas.openxmlformats.org/drawingml/2006/main">
            <a:r>
              <a:t>Lectura MECRO_ESP32_Clase_16.pdf.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16: Taller final: pruebas, diagnóstico y clase maestra de cierre.</a:t>
            </a:r>
          </a:p>
          <a:p xmlns:a="http://schemas.openxmlformats.org/drawingml/2006/main">
            <a:r>
              <a:t>Presencial, 4 horas. Núcleo de explicación: 7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Respuesta individual y contraste con el equipo.</a:t>
            </a:r>
          </a:p>
          <a:p xmlns:a="http://schemas.openxmlformats.org/drawingml/2006/main">
            <a:r>
              <a:t/>
            </a:r>
          </a:p>
          <a:p xmlns:a="http://schemas.openxmlformats.org/drawingml/2006/main">
            <a:r>
              <a:t>Objetivo: Demostrar el sistema, explicar una condición de fallo y defender una mejora con evidencia.</a:t>
            </a:r>
          </a:p>
          <a:p xmlns:a="http://schemas.openxmlformats.org/drawingml/2006/main">
            <a:r>
              <a:t>Aplicación: El cierre forma a un constructor que puede presentar y revisar un sistema de banco relacionado con UAV.</a:t>
            </a:r>
          </a:p>
          <a:p xmlns:a="http://schemas.openxmlformats.org/drawingml/2006/main">
            <a:r>
              <a:t>Entrega: Expediente final, matriz de pruebas, registro y defensa individual.</a:t>
            </a:r>
          </a:p>
          <a:p xmlns:a="http://schemas.openxmlformats.org/drawingml/2006/main">
            <a:r>
              <a:t/>
            </a:r>
          </a:p>
          <a:p xmlns:a="http://schemas.openxmlformats.org/drawingml/2006/main">
            <a:r>
              <a:t>Preguntas y respuestas</a:t>
            </a:r>
          </a:p>
          <a:p xmlns:a="http://schemas.openxmlformats.org/drawingml/2006/main">
            <a:r>
              <a:t>¿Compilar equivale a haber probado hardware?</a:t>
            </a:r>
          </a:p>
          <a:p xmlns:a="http://schemas.openxmlformats.org/drawingml/2006/main">
            <a:r>
              <a:t>No. Son evidencias distintas y se identifican por su alcance.</a:t>
            </a:r>
          </a:p>
          <a:p xmlns:a="http://schemas.openxmlformats.org/drawingml/2006/main">
            <a:r>
              <a:t/>
            </a:r>
          </a:p>
          <a:p xmlns:a="http://schemas.openxmlformats.org/drawingml/2006/main">
            <a:r>
              <a:t>¿Un valor retenido puede seguir impreso con data_valid=0?</a:t>
            </a:r>
          </a:p>
          <a:p xmlns:a="http://schemas.openxmlformats.org/drawingml/2006/main">
            <a:r>
              <a:t>Sí, si el formato lo explica; no debe presentarse como una adquisición reciente.</a:t>
            </a:r>
          </a:p>
          <a:p xmlns:a="http://schemas.openxmlformats.org/drawingml/2006/main">
            <a:r>
              <a:t/>
            </a:r>
          </a:p>
          <a:p xmlns:a="http://schemas.openxmlformats.org/drawingml/2006/main">
            <a:r>
              <a:t>¿Qué debe contener una mejora?</a:t>
            </a:r>
          </a:p>
          <a:p xmlns:a="http://schemas.openxmlformats.org/drawingml/2006/main">
            <a:r>
              <a:t>Problema observado, cambio con motivo y prueba para contrastarlo.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Espressif Systems. Arduino-ESP32: I2C. https://docs.espressif.com/projects/arduino-esp32/en/latest/api/i2c.html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Wokwi. ESP32 Simulation: periféricos y límites. https://docs.wokwi.com/guides/esp32</a:t>
            </a:r>
          </a:p>
          <a:p xmlns:a="http://schemas.openxmlformats.org/drawingml/2006/main">
            <a:r>
              <a:t>Lectura MECRO_ESP32_Clase_16.pdf.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16: Taller final: pruebas, diagnóstico y clase maestra de cierre.</a:t>
            </a:r>
          </a:p>
          <a:p xmlns:a="http://schemas.openxmlformats.org/drawingml/2006/main">
            <a:r>
              <a:t>Presencial, 4 horas. Núcleo de explicación: 5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Pedir que una respuesta se apoye en el circuito o los datos del estudiante.</a:t>
            </a:r>
          </a:p>
          <a:p xmlns:a="http://schemas.openxmlformats.org/drawingml/2006/main">
            <a:r>
              <a:t/>
            </a:r>
          </a:p>
          <a:p xmlns:a="http://schemas.openxmlformats.org/drawingml/2006/main">
            <a:r>
              <a:t>Objetivo: Demostrar el sistema, explicar una condición de fallo y defender una mejora con evidencia.</a:t>
            </a:r>
          </a:p>
          <a:p xmlns:a="http://schemas.openxmlformats.org/drawingml/2006/main">
            <a:r>
              <a:t>Aplicación: El cierre forma a un constructor que puede presentar y revisar un sistema de banco relacionado con UAV.</a:t>
            </a:r>
          </a:p>
          <a:p xmlns:a="http://schemas.openxmlformats.org/drawingml/2006/main">
            <a:r>
              <a:t>Entrega: Expediente final, matriz de pruebas, registro y defensa individual.</a:t>
            </a:r>
          </a:p>
          <a:p xmlns:a="http://schemas.openxmlformats.org/drawingml/2006/main">
            <a:r>
              <a:t/>
            </a:r>
          </a:p>
          <a:p xmlns:a="http://schemas.openxmlformats.org/drawingml/2006/main">
            <a:r>
              <a:t>Preguntas y respuestas</a:t>
            </a:r>
          </a:p>
          <a:p xmlns:a="http://schemas.openxmlformats.org/drawingml/2006/main">
            <a:r>
              <a:t>¿Compilar equivale a haber probado hardware?</a:t>
            </a:r>
          </a:p>
          <a:p xmlns:a="http://schemas.openxmlformats.org/drawingml/2006/main">
            <a:r>
              <a:t>No. Son evidencias distintas y se identifican por su alcance.</a:t>
            </a:r>
          </a:p>
          <a:p xmlns:a="http://schemas.openxmlformats.org/drawingml/2006/main">
            <a:r>
              <a:t/>
            </a:r>
          </a:p>
          <a:p xmlns:a="http://schemas.openxmlformats.org/drawingml/2006/main">
            <a:r>
              <a:t>¿Un valor retenido puede seguir impreso con data_valid=0?</a:t>
            </a:r>
          </a:p>
          <a:p xmlns:a="http://schemas.openxmlformats.org/drawingml/2006/main">
            <a:r>
              <a:t>Sí, si el formato lo explica; no debe presentarse como una adquisición reciente.</a:t>
            </a:r>
          </a:p>
          <a:p xmlns:a="http://schemas.openxmlformats.org/drawingml/2006/main">
            <a:r>
              <a:t/>
            </a:r>
          </a:p>
          <a:p xmlns:a="http://schemas.openxmlformats.org/drawingml/2006/main">
            <a:r>
              <a:t>¿Qué debe contener una mejora?</a:t>
            </a:r>
          </a:p>
          <a:p xmlns:a="http://schemas.openxmlformats.org/drawingml/2006/main">
            <a:r>
              <a:t>Problema observado, cambio con motivo y prueba para contrastarlo.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Espressif Systems. Arduino-ESP32: I2C. https://docs.espressif.com/projects/arduino-esp32/en/latest/api/i2c.html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Wokwi. ESP32 Simulation: periféricos y límites. https://docs.wokwi.com/guides/esp32</a:t>
            </a:r>
          </a:p>
          <a:p xmlns:a="http://schemas.openxmlformats.org/drawingml/2006/main">
            <a:r>
              <a:t>Lectura MECRO_ESP32_Clase_16.pdf.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16: Taller final: pruebas, diagnóstico y clase maestra de cierre.</a:t>
            </a:r>
          </a:p>
          <a:p xmlns:a="http://schemas.openxmlformats.org/drawingml/2006/main">
            <a:r>
              <a:t>Presencial, 4 horas. Núcleo de explicación: 5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Expediente final, matriz de pruebas, registro y defensa individual.</a:t>
            </a:r>
          </a:p>
          <a:p xmlns:a="http://schemas.openxmlformats.org/drawingml/2006/main">
            <a:r>
              <a:t/>
            </a:r>
          </a:p>
          <a:p xmlns:a="http://schemas.openxmlformats.org/drawingml/2006/main">
            <a:r>
              <a:t>Objetivo: Demostrar el sistema, explicar una condición de fallo y defender una mejora con evidencia.</a:t>
            </a:r>
          </a:p>
          <a:p xmlns:a="http://schemas.openxmlformats.org/drawingml/2006/main">
            <a:r>
              <a:t>Aplicación: El cierre forma a un constructor que puede presentar y revisar un sistema de banco relacionado con UAV.</a:t>
            </a:r>
          </a:p>
          <a:p xmlns:a="http://schemas.openxmlformats.org/drawingml/2006/main">
            <a:r>
              <a:t>Entrega: Expediente final, matriz de pruebas, registro y defensa individual.</a:t>
            </a:r>
          </a:p>
          <a:p xmlns:a="http://schemas.openxmlformats.org/drawingml/2006/main">
            <a:r>
              <a:t/>
            </a:r>
          </a:p>
          <a:p xmlns:a="http://schemas.openxmlformats.org/drawingml/2006/main">
            <a:r>
              <a:t>Preguntas y respuestas</a:t>
            </a:r>
          </a:p>
          <a:p xmlns:a="http://schemas.openxmlformats.org/drawingml/2006/main">
            <a:r>
              <a:t>¿Compilar equivale a haber probado hardware?</a:t>
            </a:r>
          </a:p>
          <a:p xmlns:a="http://schemas.openxmlformats.org/drawingml/2006/main">
            <a:r>
              <a:t>No. Son evidencias distintas y se identifican por su alcance.</a:t>
            </a:r>
          </a:p>
          <a:p xmlns:a="http://schemas.openxmlformats.org/drawingml/2006/main">
            <a:r>
              <a:t/>
            </a:r>
          </a:p>
          <a:p xmlns:a="http://schemas.openxmlformats.org/drawingml/2006/main">
            <a:r>
              <a:t>¿Un valor retenido puede seguir impreso con data_valid=0?</a:t>
            </a:r>
          </a:p>
          <a:p xmlns:a="http://schemas.openxmlformats.org/drawingml/2006/main">
            <a:r>
              <a:t>Sí, si el formato lo explica; no debe presentarse como una adquisición reciente.</a:t>
            </a:r>
          </a:p>
          <a:p xmlns:a="http://schemas.openxmlformats.org/drawingml/2006/main">
            <a:r>
              <a:t/>
            </a:r>
          </a:p>
          <a:p xmlns:a="http://schemas.openxmlformats.org/drawingml/2006/main">
            <a:r>
              <a:t>¿Qué debe contener una mejora?</a:t>
            </a:r>
          </a:p>
          <a:p xmlns:a="http://schemas.openxmlformats.org/drawingml/2006/main">
            <a:r>
              <a:t>Problema observado, cambio con motivo y prueba para contrastarlo.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Espressif Systems. Arduino-ESP32: I2C. https://docs.espressif.com/projects/arduino-esp32/en/latest/api/i2c.html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Wokwi. ESP32 Simulation: periféricos y límites. https://docs.wokwi.com/guides/esp32</a:t>
            </a:r>
          </a:p>
          <a:p xmlns:a="http://schemas.openxmlformats.org/drawingml/2006/main">
            <a:r>
              <a:t>Lectura MECRO_ESP32_Clase_16.pdf.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6f5af20702c4e6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52ce801904f42c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de41ca395214ee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3b573473101442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55b9d86d6e343e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b2414b5cd6042d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4444B8F-875E-41E2-8060-B2068694FD8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C3C8FF3-10AC-4322-A58A-F9776150882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3139C40-8903-44E6-B350-4FFC58AF2DF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AA1F069-2470-40CC-A642-C1A8AD7FA04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7E6BE11-0EE3-4F79-A247-7CF4DD6E238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F55748A-E8C6-46E0-896E-3365774F3D5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4A3F50F-FD6C-4F91-B88B-69639C3B21F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FA2CDF4-4032-41A8-842F-22E348253DD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9487D61-BADE-4A73-AE10-75A249DEE37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F93402E-93B9-4C84-AB0E-9C2905B0A46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18763ef1ebe47b2" /><Relationship Type="http://schemas.openxmlformats.org/officeDocument/2006/relationships/slideLayout" Target="/ppt/slideLayouts/slideLayout1.xml" Id="R4d7b350e25a94583" /><Relationship Type="http://schemas.openxmlformats.org/officeDocument/2006/relationships/slideLayout" Target="/ppt/slideLayouts/slideLayout2.xml" Id="R62a805df9d4a4fad" /><Relationship Type="http://schemas.openxmlformats.org/officeDocument/2006/relationships/slideLayout" Target="/ppt/slideLayouts/slideLayout3.xml" Id="R8ae9a5a4b17d44ed" /><Relationship Type="http://schemas.openxmlformats.org/officeDocument/2006/relationships/slideLayout" Target="/ppt/slideLayouts/slideLayout4.xml" Id="Rdd8510482cd74e63" /><Relationship Type="http://schemas.openxmlformats.org/officeDocument/2006/relationships/slideLayout" Target="/ppt/slideLayouts/slideLayout5.xml" Id="Rf9539e027a90407f" /><Relationship Type="http://schemas.openxmlformats.org/officeDocument/2006/relationships/slideLayout" Target="/ppt/slideLayouts/slideLayout6.xml" Id="R3df5eb01ad1647e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d7b350e25a94583"/>
    <p:sldLayoutId xmlns:r="http://schemas.openxmlformats.org/officeDocument/2006/relationships" id="2147483650" r:id="R62a805df9d4a4fad"/>
    <p:sldLayoutId xmlns:r="http://schemas.openxmlformats.org/officeDocument/2006/relationships" id="2147483651" r:id="R8ae9a5a4b17d44ed"/>
    <p:sldLayoutId xmlns:r="http://schemas.openxmlformats.org/officeDocument/2006/relationships" id="2147483652" r:id="Rdd8510482cd74e63"/>
    <p:sldLayoutId xmlns:r="http://schemas.openxmlformats.org/officeDocument/2006/relationships" id="2147483653" r:id="Rf9539e027a90407f"/>
    <p:sldLayoutId xmlns:r="http://schemas.openxmlformats.org/officeDocument/2006/relationships" id="2147483654" r:id="R3df5eb01ad1647e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5a5f7122c46442d" /><Relationship Type="http://schemas.openxmlformats.org/officeDocument/2006/relationships/image" Target="/ppt/media/image.png" Id="R6844d426e6294ebf" /><Relationship Type="http://schemas.openxmlformats.org/officeDocument/2006/relationships/notesSlide" Target="/ppt/notesSlides/notesSlide1.xml" Id="R627c52ac9d5a428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224206ee6624916" /><Relationship Type="http://schemas.openxmlformats.org/officeDocument/2006/relationships/image" Target="/ppt/media/image2.png" Id="R32c0e664c3644582" /><Relationship Type="http://schemas.openxmlformats.org/officeDocument/2006/relationships/notesSlide" Target="/ppt/notesSlides/notesSlide2.xml" Id="Rb8d7d3a27d8d44e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b4dd6eb8d9d426a" /><Relationship Type="http://schemas.openxmlformats.org/officeDocument/2006/relationships/image" Target="/ppt/media/image3.png" Id="R9f90611e3d8e487a" /><Relationship Type="http://schemas.openxmlformats.org/officeDocument/2006/relationships/image" Target="/ppt/media/image4.png" Id="R07f0d80797324eb2" /><Relationship Type="http://schemas.openxmlformats.org/officeDocument/2006/relationships/notesSlide" Target="/ppt/notesSlides/notesSlide3.xml" Id="R60676305ba6c433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13e0ebcf8bc442d" /><Relationship Type="http://schemas.openxmlformats.org/officeDocument/2006/relationships/image" Target="/ppt/media/image5.png" Id="R132bd7ffdd0f427a" /><Relationship Type="http://schemas.openxmlformats.org/officeDocument/2006/relationships/notesSlide" Target="/ppt/notesSlides/notesSlide4.xml" Id="R70bba9dff54f4f4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ca7a715efe5448a" /><Relationship Type="http://schemas.openxmlformats.org/officeDocument/2006/relationships/image" Target="/ppt/media/image6.png" Id="Rd4e9190bc94a4674" /><Relationship Type="http://schemas.openxmlformats.org/officeDocument/2006/relationships/notesSlide" Target="/ppt/notesSlides/notesSlide5.xml" Id="R5fe7ec0e2ac940c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8a008ddf86d4529" /><Relationship Type="http://schemas.openxmlformats.org/officeDocument/2006/relationships/image" Target="/ppt/media/image7.png" Id="Rf8e2660a15d941ec" /><Relationship Type="http://schemas.openxmlformats.org/officeDocument/2006/relationships/notesSlide" Target="/ppt/notesSlides/notesSlide6.xml" Id="R9a99959791204d5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cc455d9eb0546c6" /><Relationship Type="http://schemas.openxmlformats.org/officeDocument/2006/relationships/image" Target="/ppt/media/image8.png" Id="R38639f41665d4cfc" /><Relationship Type="http://schemas.openxmlformats.org/officeDocument/2006/relationships/notesSlide" Target="/ppt/notesSlides/notesSlide7.xml" Id="Rdeaa03ba182e40f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dbc2f65ac064db9" /><Relationship Type="http://schemas.openxmlformats.org/officeDocument/2006/relationships/image" Target="/ppt/media/image9.png" Id="Rd961cc390e50417e" /><Relationship Type="http://schemas.openxmlformats.org/officeDocument/2006/relationships/notesSlide" Target="/ppt/notesSlides/notesSlide8.xml" Id="R5e852b4fbfcd424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5d080d39c2b4c7c" /><Relationship Type="http://schemas.openxmlformats.org/officeDocument/2006/relationships/image" Target="/ppt/media/image10.png" Id="Rc9f3d4671c9e45e5" /><Relationship Type="http://schemas.openxmlformats.org/officeDocument/2006/relationships/notesSlide" Target="/ppt/notesSlides/notesSlide9.xml" Id="Rb2f1363e7c484a0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cdd549f0d04490b" /><Relationship Type="http://schemas.openxmlformats.org/officeDocument/2006/relationships/image" Target="/ppt/media/image11.png" Id="R20b4f952b5e54843" /><Relationship Type="http://schemas.openxmlformats.org/officeDocument/2006/relationships/notesSlide" Target="/ppt/notesSlides/notesSlide10.xml" Id="R10d1475bc8714f0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368dd9b5e6d4d25" /><Relationship Type="http://schemas.openxmlformats.org/officeDocument/2006/relationships/image" Target="/ppt/media/image12.png" Id="R2190f06e5d9e4901" /><Relationship Type="http://schemas.openxmlformats.org/officeDocument/2006/relationships/notesSlide" Target="/ppt/notesSlides/notesSlide11.xml" Id="Rfc4db9584de4418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0b8ff9811064ae9" /><Relationship Type="http://schemas.openxmlformats.org/officeDocument/2006/relationships/image" Target="/ppt/media/image13.png" Id="R541d45f10a1148db" /><Relationship Type="http://schemas.openxmlformats.org/officeDocument/2006/relationships/notesSlide" Target="/ppt/notesSlides/notesSlide12.xml" Id="R13f47e50df64434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a216319a179242b4" /><Relationship Type="http://schemas.openxmlformats.org/officeDocument/2006/relationships/image" Target="/ppt/media/image14.png" Id="R97cd5742b94d4514" /><Relationship Type="http://schemas.openxmlformats.org/officeDocument/2006/relationships/notesSlide" Target="/ppt/notesSlides/notesSlide13.xml" Id="R5bdcebdde34541c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6c03240b1514b93" /><Relationship Type="http://schemas.openxmlformats.org/officeDocument/2006/relationships/image" Target="/ppt/media/image15.png" Id="Redf695c99f0b40da" /><Relationship Type="http://schemas.openxmlformats.org/officeDocument/2006/relationships/notesSlide" Target="/ppt/notesSlides/notesSlide14.xml" Id="Ra5934ba4cd714cb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56f174bb4dd4780" /><Relationship Type="http://schemas.openxmlformats.org/officeDocument/2006/relationships/image" Target="/ppt/media/image16.png" Id="R3b4b9bbb2af740bf" /><Relationship Type="http://schemas.openxmlformats.org/officeDocument/2006/relationships/notesSlide" Target="/ppt/notesSlides/notesSlide15.xml" Id="R1a01d4f4a9a042a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0a3d907b92a84ec9" /><Relationship Type="http://schemas.openxmlformats.org/officeDocument/2006/relationships/image" Target="/ppt/media/image17.png" Id="R041374bb0a8c4faa" /><Relationship Type="http://schemas.openxmlformats.org/officeDocument/2006/relationships/notesSlide" Target="/ppt/notesSlides/notesSlide16.xml" Id="Rbd7717fdbbce4df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aba1b2b614394d37" /><Relationship Type="http://schemas.openxmlformats.org/officeDocument/2006/relationships/image" Target="/ppt/media/image18.png" Id="R0d86ba6ab8cd4612" /><Relationship Type="http://schemas.openxmlformats.org/officeDocument/2006/relationships/notesSlide" Target="/ppt/notesSlides/notesSlide17.xml" Id="Rdd1c62451deb4cd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297dc66c97b64bb7" /><Relationship Type="http://schemas.openxmlformats.org/officeDocument/2006/relationships/image" Target="/ppt/media/image19.png" Id="R1a40f2aca3954862" /><Relationship Type="http://schemas.openxmlformats.org/officeDocument/2006/relationships/notesSlide" Target="/ppt/notesSlides/notesSlide18.xml" Id="Rb67a82c09e784b0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81e002b9007e470b" /><Relationship Type="http://schemas.openxmlformats.org/officeDocument/2006/relationships/image" Target="/ppt/media/image20.png" Id="R6f87825138304433" /><Relationship Type="http://schemas.openxmlformats.org/officeDocument/2006/relationships/notesSlide" Target="/ppt/notesSlides/notesSlide19.xml" Id="R055e1f754030448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985bfa760ccf4359" /><Relationship Type="http://schemas.openxmlformats.org/officeDocument/2006/relationships/image" Target="/ppt/media/image21.png" Id="R72f11df3aaf344ae" /><Relationship Type="http://schemas.openxmlformats.org/officeDocument/2006/relationships/notesSlide" Target="/ppt/notesSlides/notesSlide20.xml" Id="R5f88dd8dbc5f477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7ee8246db9ef4822" /><Relationship Type="http://schemas.openxmlformats.org/officeDocument/2006/relationships/image" Target="/ppt/media/image22.png" Id="Ra3a0d09b3e2e4651" /><Relationship Type="http://schemas.openxmlformats.org/officeDocument/2006/relationships/notesSlide" Target="/ppt/notesSlides/notesSlide21.xml" Id="R9d74872aaa2541b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dc14a1bd7fb4422c" /><Relationship Type="http://schemas.openxmlformats.org/officeDocument/2006/relationships/image" Target="/ppt/media/image23.png" Id="Ra16e93c4e4854da1" /><Relationship Type="http://schemas.openxmlformats.org/officeDocument/2006/relationships/notesSlide" Target="/ppt/notesSlides/notesSlide22.xml" Id="Rbc29b1eb567d438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2e318ba40e88411b" /><Relationship Type="http://schemas.openxmlformats.org/officeDocument/2006/relationships/image" Target="/ppt/media/image24.png" Id="R4c4cfb36778540ac" /><Relationship Type="http://schemas.openxmlformats.org/officeDocument/2006/relationships/notesSlide" Target="/ppt/notesSlides/notesSlide23.xml" Id="R952e2510ae4144f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81c41559f9f84b3d" /><Relationship Type="http://schemas.openxmlformats.org/officeDocument/2006/relationships/image" Target="/ppt/media/image25.png" Id="R4f6ade76a46c427f" /><Relationship Type="http://schemas.openxmlformats.org/officeDocument/2006/relationships/notesSlide" Target="/ppt/notesSlides/notesSlide24.xml" Id="R185f6b3db3c64be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4f3bfd9d72b64064" /><Relationship Type="http://schemas.openxmlformats.org/officeDocument/2006/relationships/image" Target="/ppt/media/image26.png" Id="R0bc165672e8b4f76" /><Relationship Type="http://schemas.openxmlformats.org/officeDocument/2006/relationships/notesSlide" Target="/ppt/notesSlides/notesSlide25.xml" Id="R921fb7a0059b4a4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5c17762eb8f34f2b" /><Relationship Type="http://schemas.openxmlformats.org/officeDocument/2006/relationships/image" Target="/ppt/media/image27.png" Id="Ra513e8e35bfd45ff" /><Relationship Type="http://schemas.openxmlformats.org/officeDocument/2006/relationships/notesSlide" Target="/ppt/notesSlides/notesSlide26.xml" Id="Rb54f4334805d4bf7"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4e4facb9ccd4491d" /><Relationship Type="http://schemas.openxmlformats.org/officeDocument/2006/relationships/image" Target="/ppt/media/image28.png" Id="R9574f7c9197044a1" /><Relationship Type="http://schemas.openxmlformats.org/officeDocument/2006/relationships/notesSlide" Target="/ppt/notesSlides/notesSlide27.xml" Id="R77134640707547c1"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8ac70718aefc4e98" /><Relationship Type="http://schemas.openxmlformats.org/officeDocument/2006/relationships/image" Target="/ppt/media/image29.png" Id="R482a0665a5994228" /><Relationship Type="http://schemas.openxmlformats.org/officeDocument/2006/relationships/notesSlide" Target="/ppt/notesSlides/notesSlide28.xml" Id="Ra365990514e24a61"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8c88871d060a4287" /><Relationship Type="http://schemas.openxmlformats.org/officeDocument/2006/relationships/image" Target="/ppt/media/image30.png" Id="R9b47d267562b4120" /><Relationship Type="http://schemas.openxmlformats.org/officeDocument/2006/relationships/notesSlide" Target="/ppt/notesSlides/notesSlide29.xml" Id="Re8700eff2d814cc1"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a83d855446854489" /><Relationship Type="http://schemas.openxmlformats.org/officeDocument/2006/relationships/image" Target="/ppt/media/image31.png" Id="Rb49aea63b19b4f3a" /><Relationship Type="http://schemas.openxmlformats.org/officeDocument/2006/relationships/notesSlide" Target="/ppt/notesSlides/notesSlide30.xml" Id="R767713e873a045b1"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602a35ad38d84963" /><Relationship Type="http://schemas.openxmlformats.org/officeDocument/2006/relationships/image" Target="/ppt/media/image32.png" Id="Rc6fc50ac42d34ce0" /><Relationship Type="http://schemas.openxmlformats.org/officeDocument/2006/relationships/notesSlide" Target="/ppt/notesSlides/notesSlide31.xml" Id="Ra88bd08462554ced"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a567c075e7da434c" /><Relationship Type="http://schemas.openxmlformats.org/officeDocument/2006/relationships/image" Target="/ppt/media/image33.png" Id="R8d6cdf4a012f47e0" /><Relationship Type="http://schemas.openxmlformats.org/officeDocument/2006/relationships/notesSlide" Target="/ppt/notesSlides/notesSlide32.xml" Id="R95d09b357bd04318"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f40ca2cec7e54dec" /><Relationship Type="http://schemas.openxmlformats.org/officeDocument/2006/relationships/image" Target="/ppt/media/image34.png" Id="R5cf5b605457e4809" /><Relationship Type="http://schemas.openxmlformats.org/officeDocument/2006/relationships/notesSlide" Target="/ppt/notesSlides/notesSlide33.xml" Id="R0c2b246936d543c5"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83dda5b3ecc44a4d" /><Relationship Type="http://schemas.openxmlformats.org/officeDocument/2006/relationships/image" Target="/ppt/media/image35.png" Id="R1c631a393b6e4f5f" /><Relationship Type="http://schemas.openxmlformats.org/officeDocument/2006/relationships/notesSlide" Target="/ppt/notesSlides/notesSlide34.xml" Id="Rd2305bf993d34f32"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16078a863d184a4b" /><Relationship Type="http://schemas.openxmlformats.org/officeDocument/2006/relationships/image" Target="/ppt/media/image36.png" Id="R90dfa2e45352479e" /><Relationship Type="http://schemas.openxmlformats.org/officeDocument/2006/relationships/notesSlide" Target="/ppt/notesSlides/notesSlide35.xml" Id="R0dbc8b92c21c41ff"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ae8ad0e8263d438f" /><Relationship Type="http://schemas.openxmlformats.org/officeDocument/2006/relationships/image" Target="/ppt/media/image37.png" Id="Rd30b6e3209814cd5" /><Relationship Type="http://schemas.openxmlformats.org/officeDocument/2006/relationships/notesSlide" Target="/ppt/notesSlides/notesSlide36.xml" Id="R4bd85848ee024093"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b1e3904ee2a84196" /><Relationship Type="http://schemas.openxmlformats.org/officeDocument/2006/relationships/image" Target="/ppt/media/image38.png" Id="Rb89e5a8599ae4adc" /><Relationship Type="http://schemas.openxmlformats.org/officeDocument/2006/relationships/notesSlide" Target="/ppt/notesSlides/notesSlide37.xml" Id="R1fdc01fa669645a2"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abbced91667343a9" /><Relationship Type="http://schemas.openxmlformats.org/officeDocument/2006/relationships/image" Target="/ppt/media/image39.png" Id="Ra7901e0e83d5472d" /><Relationship Type="http://schemas.openxmlformats.org/officeDocument/2006/relationships/notesSlide" Target="/ppt/notesSlides/notesSlide38.xml" Id="Ree47e6636b244ea3"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fa176579ade745d3" /><Relationship Type="http://schemas.openxmlformats.org/officeDocument/2006/relationships/image" Target="/ppt/media/image40.png" Id="Re4cb30af6733455d" /><Relationship Type="http://schemas.openxmlformats.org/officeDocument/2006/relationships/notesSlide" Target="/ppt/notesSlides/notesSlide39.xml" Id="Rdbb25bf464754b47"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9718fecd858847bd" /><Relationship Type="http://schemas.openxmlformats.org/officeDocument/2006/relationships/image" Target="/ppt/media/image41.png" Id="R960dc58526134ed4" /><Relationship Type="http://schemas.openxmlformats.org/officeDocument/2006/relationships/notesSlide" Target="/ppt/notesSlides/notesSlide40.xml" Id="Rcb89f0f4f6814201"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4da9d7449bdd420d" /><Relationship Type="http://schemas.openxmlformats.org/officeDocument/2006/relationships/image" Target="/ppt/media/image42.png" Id="Rd891fcbc22d64e47" /><Relationship Type="http://schemas.openxmlformats.org/officeDocument/2006/relationships/notesSlide" Target="/ppt/notesSlides/notesSlide41.xml" Id="R3b3cf6616712459c"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fbd1b62541b745a5" /><Relationship Type="http://schemas.openxmlformats.org/officeDocument/2006/relationships/image" Target="/ppt/media/image43.png" Id="Ra7341eb83f904e8e" /><Relationship Type="http://schemas.openxmlformats.org/officeDocument/2006/relationships/notesSlide" Target="/ppt/notesSlides/notesSlide42.xml" Id="Rbd85490ae1ef4b84"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f7b96789727043a2" /><Relationship Type="http://schemas.openxmlformats.org/officeDocument/2006/relationships/image" Target="/ppt/media/image44.png" Id="Rb84fa0c0f7854809" /><Relationship Type="http://schemas.openxmlformats.org/officeDocument/2006/relationships/notesSlide" Target="/ppt/notesSlides/notesSlide43.xml" Id="R280ebc7d1c71423d"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ddd733b1e24d4905" /><Relationship Type="http://schemas.openxmlformats.org/officeDocument/2006/relationships/image" Target="/ppt/media/image45.png" Id="Rf1f75380fdaf4573" /><Relationship Type="http://schemas.openxmlformats.org/officeDocument/2006/relationships/notesSlide" Target="/ppt/notesSlides/notesSlide44.xml" Id="R04b8b36a80e44f3b"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f6da1a30887849f6" /><Relationship Type="http://schemas.openxmlformats.org/officeDocument/2006/relationships/image" Target="/ppt/media/image46.png" Id="R4f91bae60c19446d" /><Relationship Type="http://schemas.openxmlformats.org/officeDocument/2006/relationships/notesSlide" Target="/ppt/notesSlides/notesSlide45.xml" Id="R9cec959d2ae14a48"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d5061b91d753414e" /><Relationship Type="http://schemas.openxmlformats.org/officeDocument/2006/relationships/image" Target="/ppt/media/image47.png" Id="Rf873cfc30e4f4f2d" /><Relationship Type="http://schemas.openxmlformats.org/officeDocument/2006/relationships/notesSlide" Target="/ppt/notesSlides/notesSlide46.xml" Id="Rc70858ddc6f8483d"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9c29688c39f8415d" /><Relationship Type="http://schemas.openxmlformats.org/officeDocument/2006/relationships/image" Target="/ppt/media/image48.png" Id="R388aea4fd91e4727" /><Relationship Type="http://schemas.openxmlformats.org/officeDocument/2006/relationships/notesSlide" Target="/ppt/notesSlides/notesSlide47.xml" Id="R765a4ad59c0c434a"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8466c5264ce74722" /><Relationship Type="http://schemas.openxmlformats.org/officeDocument/2006/relationships/image" Target="/ppt/media/image49.png" Id="R443b5274b9f44840" /><Relationship Type="http://schemas.openxmlformats.org/officeDocument/2006/relationships/notesSlide" Target="/ppt/notesSlides/notesSlide48.xml" Id="Rfdb3548ecbe04610" /></Relationships>
</file>

<file path=ppt/slides/slide1.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522CC9F-9B06-431C-BF06-39C861664FC6}"/>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Proyecto integrador: una estación de pruebas para UAV</a:t>
            </a:r>
          </a:p>
        </p:txBody>
      </p:sp>
      <p:pic>
        <p:nvPicPr>
          <p:cNvPr id="2" name="">
            <a:extLst xmlns:a="http://schemas.openxmlformats.org/drawingml/2006/main">
              <a:ext uri="{FF2B5EF4-FFF2-40B4-BE49-F238E27FC236}">
                <a16:creationId xmlns:a16="http://schemas.microsoft.com/office/drawing/2014/main" id="{93AC55AD-C3A0-461F-A96C-EECDB48B26E6}"/>
              </a:ext>
            </a:extLst>
          </p:cNvPr>
          <p:cNvPicPr>
            <a:picLocks xmlns:a="http://schemas.openxmlformats.org/drawingml/2006/main" noChangeAspect="1"/>
          </p:cNvPicPr>
          <p:nvPr/>
        </p:nvPicPr>
        <p:blipFill>
          <a:blip xmlns:r="http://schemas.openxmlformats.org/officeDocument/2006/relationships" xmlns:a="http://schemas.openxmlformats.org/drawingml/2006/main" r:embed="R6844d426e6294ebf"/>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3A62813-402F-4CC6-B672-6802B315E4E1}"/>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8   CLASE 15   01/24</a:t>
            </a:r>
          </a:p>
        </p:txBody>
      </p:sp>
      <p:sp>
        <p:nvSpPr>
          <p:cNvPr id="4" name="">
            <a:extLst xmlns:a="http://schemas.openxmlformats.org/drawingml/2006/main">
              <a:ext uri="{FF2B5EF4-FFF2-40B4-BE49-F238E27FC236}">
                <a16:creationId xmlns:a16="http://schemas.microsoft.com/office/drawing/2014/main" id="{CABDBB0C-699D-4241-A0D5-5537FC26A4DB}"/>
              </a:ext>
            </a:extLst>
          </p:cNvPr>
          <p:cNvSpPr>
            <a:spLocks xmlns:a="http://schemas.openxmlformats.org/drawingml/2006/main" noGrp="1"/>
          </p:cNvSpPr>
          <p:nvPr/>
        </p:nvSpPr>
        <p:spPr>
          <a:xfrm xmlns:a="http://schemas.openxmlformats.org/drawingml/2006/main">
            <a:off x="590550" y="1762125"/>
            <a:ext cx="10715625"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AEF4BB"/>
                </a:solidFill>
                <a:latin typeface="Arial"/>
                <a:ea typeface="Arial"/>
                <a:cs typeface="Arial"/>
              </a:defRPr>
            </a:defPPr>
            <a:lvl1pPr>
              <a:defRPr sz="2850" b="1">
                <a:solidFill>
                  <a:srgbClr val="AEF4BB"/>
                </a:solidFill>
                <a:latin typeface="Arial"/>
                <a:ea typeface="Arial"/>
                <a:cs typeface="Arial"/>
              </a:defRPr>
            </a:lvl1pPr>
            <a:lvl2pPr>
              <a:defRPr sz="2850" b="1">
                <a:solidFill>
                  <a:srgbClr val="AEF4BB"/>
                </a:solidFill>
                <a:latin typeface="Arial"/>
                <a:ea typeface="Arial"/>
                <a:cs typeface="Arial"/>
              </a:defRPr>
            </a:lvl2pPr>
            <a:lvl3pPr>
              <a:defRPr sz="2850" b="1">
                <a:solidFill>
                  <a:srgbClr val="AEF4BB"/>
                </a:solidFill>
                <a:latin typeface="Arial"/>
                <a:ea typeface="Arial"/>
                <a:cs typeface="Arial"/>
              </a:defRPr>
            </a:lvl3pPr>
            <a:lvl4pPr>
              <a:defRPr sz="2850" b="1">
                <a:solidFill>
                  <a:srgbClr val="AEF4BB"/>
                </a:solidFill>
                <a:latin typeface="Arial"/>
                <a:ea typeface="Arial"/>
                <a:cs typeface="Arial"/>
              </a:defRPr>
            </a:lvl4pPr>
            <a:lvl5pPr>
              <a:defRPr sz="2850" b="1">
                <a:solidFill>
                  <a:srgbClr val="AEF4BB"/>
                </a:solidFill>
                <a:latin typeface="Arial"/>
                <a:ea typeface="Arial"/>
                <a:cs typeface="Arial"/>
              </a:defRPr>
            </a:lvl5pPr>
            <a:lvl6pPr>
              <a:defRPr sz="2850" b="1">
                <a:solidFill>
                  <a:srgbClr val="AEF4BB"/>
                </a:solidFill>
                <a:latin typeface="Arial"/>
                <a:ea typeface="Arial"/>
                <a:cs typeface="Arial"/>
              </a:defRPr>
            </a:lvl6pPr>
            <a:lvl7pPr>
              <a:defRPr sz="2850" b="1">
                <a:solidFill>
                  <a:srgbClr val="AEF4BB"/>
                </a:solidFill>
                <a:latin typeface="Arial"/>
                <a:ea typeface="Arial"/>
                <a:cs typeface="Arial"/>
              </a:defRPr>
            </a:lvl7pPr>
            <a:lvl8pPr>
              <a:defRPr sz="2850" b="1">
                <a:solidFill>
                  <a:srgbClr val="AEF4BB"/>
                </a:solidFill>
                <a:latin typeface="Arial"/>
                <a:ea typeface="Arial"/>
                <a:cs typeface="Arial"/>
              </a:defRPr>
            </a:lvl8pPr>
            <a:lvl9pPr>
              <a:defRPr sz="2850" b="1">
                <a:solidFill>
                  <a:srgbClr val="AEF4BB"/>
                </a:solidFill>
                <a:latin typeface="Arial"/>
                <a:ea typeface="Arial"/>
                <a:cs typeface="Arial"/>
              </a:defRPr>
            </a:lvl9pPr>
          </a:lstStyle>
          <a:p xmlns:a="http://schemas.openxmlformats.org/drawingml/2006/main">
            <a:pPr>
              <a:defRPr sz="2850" b="1">
                <a:solidFill>
                  <a:srgbClr val="AEF4BB"/>
                </a:solidFill>
                <a:latin typeface="Arial"/>
                <a:ea typeface="Arial"/>
                <a:cs typeface="Arial"/>
              </a:defRPr>
            </a:pPr>
            <a:r>
              <a:rPr sz="2850" b="1">
                <a:solidFill>
                  <a:srgbClr val="AEF4BB"/>
                </a:solidFill>
                <a:latin typeface="Arial"/>
                <a:ea typeface="Arial"/>
                <a:cs typeface="Arial"/>
              </a:rPr>
              <a:t>Integrar módulos ya estudiados en un sistema de banco con requisitos y pruebas trazables.</a:t>
            </a:r>
          </a:p>
        </p:txBody>
      </p:sp>
      <p:sp>
        <p:nvSpPr>
          <p:cNvPr id="5" name="">
            <a:extLst xmlns:a="http://schemas.openxmlformats.org/drawingml/2006/main">
              <a:ext uri="{FF2B5EF4-FFF2-40B4-BE49-F238E27FC236}">
                <a16:creationId xmlns:a16="http://schemas.microsoft.com/office/drawing/2014/main" id="{B428EAC8-9042-4CBC-93F3-5D8654E66C54}"/>
              </a:ext>
            </a:extLst>
          </p:cNvPr>
          <p:cNvSpPr>
            <a:spLocks xmlns:a="http://schemas.openxmlformats.org/drawingml/2006/main" noGrp="1"/>
          </p:cNvSpPr>
          <p:nvPr/>
        </p:nvSpPr>
        <p:spPr>
          <a:xfrm xmlns:a="http://schemas.openxmlformats.org/drawingml/2006/main">
            <a:off x="590550" y="3714750"/>
            <a:ext cx="107156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FCFCF8"/>
                </a:solidFill>
                <a:latin typeface="Arial"/>
                <a:ea typeface="Arial"/>
                <a:cs typeface="Arial"/>
              </a:defRPr>
            </a:defPPr>
            <a:lvl1pPr>
              <a:defRPr sz="2250" b="0">
                <a:solidFill>
                  <a:srgbClr val="FCFCF8"/>
                </a:solidFill>
                <a:latin typeface="Arial"/>
                <a:ea typeface="Arial"/>
                <a:cs typeface="Arial"/>
              </a:defRPr>
            </a:lvl1pPr>
            <a:lvl2pPr>
              <a:defRPr sz="2250" b="0">
                <a:solidFill>
                  <a:srgbClr val="FCFCF8"/>
                </a:solidFill>
                <a:latin typeface="Arial"/>
                <a:ea typeface="Arial"/>
                <a:cs typeface="Arial"/>
              </a:defRPr>
            </a:lvl2pPr>
            <a:lvl3pPr>
              <a:defRPr sz="2250" b="0">
                <a:solidFill>
                  <a:srgbClr val="FCFCF8"/>
                </a:solidFill>
                <a:latin typeface="Arial"/>
                <a:ea typeface="Arial"/>
                <a:cs typeface="Arial"/>
              </a:defRPr>
            </a:lvl3pPr>
            <a:lvl4pPr>
              <a:defRPr sz="2250" b="0">
                <a:solidFill>
                  <a:srgbClr val="FCFCF8"/>
                </a:solidFill>
                <a:latin typeface="Arial"/>
                <a:ea typeface="Arial"/>
                <a:cs typeface="Arial"/>
              </a:defRPr>
            </a:lvl4pPr>
            <a:lvl5pPr>
              <a:defRPr sz="2250" b="0">
                <a:solidFill>
                  <a:srgbClr val="FCFCF8"/>
                </a:solidFill>
                <a:latin typeface="Arial"/>
                <a:ea typeface="Arial"/>
                <a:cs typeface="Arial"/>
              </a:defRPr>
            </a:lvl5pPr>
            <a:lvl6pPr>
              <a:defRPr sz="2250" b="0">
                <a:solidFill>
                  <a:srgbClr val="FCFCF8"/>
                </a:solidFill>
                <a:latin typeface="Arial"/>
                <a:ea typeface="Arial"/>
                <a:cs typeface="Arial"/>
              </a:defRPr>
            </a:lvl6pPr>
            <a:lvl7pPr>
              <a:defRPr sz="2250" b="0">
                <a:solidFill>
                  <a:srgbClr val="FCFCF8"/>
                </a:solidFill>
                <a:latin typeface="Arial"/>
                <a:ea typeface="Arial"/>
                <a:cs typeface="Arial"/>
              </a:defRPr>
            </a:lvl7pPr>
            <a:lvl8pPr>
              <a:defRPr sz="2250" b="0">
                <a:solidFill>
                  <a:srgbClr val="FCFCF8"/>
                </a:solidFill>
                <a:latin typeface="Arial"/>
                <a:ea typeface="Arial"/>
                <a:cs typeface="Arial"/>
              </a:defRPr>
            </a:lvl8pPr>
            <a:lvl9pPr>
              <a:defRPr sz="2250" b="0">
                <a:solidFill>
                  <a:srgbClr val="FCFCF8"/>
                </a:solidFill>
                <a:latin typeface="Arial"/>
                <a:ea typeface="Arial"/>
                <a:cs typeface="Arial"/>
              </a:defRPr>
            </a:lvl9pPr>
          </a:lstStyle>
          <a:p xmlns:a="http://schemas.openxmlformats.org/drawingml/2006/main">
            <a:pPr>
              <a:defRPr sz="2250" b="0">
                <a:solidFill>
                  <a:srgbClr val="FCFCF8"/>
                </a:solidFill>
                <a:latin typeface="Arial"/>
                <a:ea typeface="Arial"/>
                <a:cs typeface="Arial"/>
              </a:defRPr>
            </a:pPr>
            <a:r>
              <a:rPr sz="2250" b="0">
                <a:solidFill>
                  <a:srgbClr val="FCFCF8"/>
                </a:solidFill>
                <a:latin typeface="Arial"/>
                <a:ea typeface="Arial"/>
                <a:cs typeface="Arial"/>
              </a:rPr>
              <a:t>MECRO necesita que un participante pueda construir, diagnosticar y explicar una cadena de sensores o de control aplicada a equipos UAV.</a:t>
            </a:r>
          </a:p>
        </p:txBody>
      </p:sp>
      <p:sp>
        <p:nvSpPr>
          <p:cNvPr id="6" name="">
            <a:extLst xmlns:a="http://schemas.openxmlformats.org/drawingml/2006/main">
              <a:ext uri="{FF2B5EF4-FFF2-40B4-BE49-F238E27FC236}">
                <a16:creationId xmlns:a16="http://schemas.microsoft.com/office/drawing/2014/main" id="{B72CFE3C-86C6-4409-AAED-96A4F14383AA}"/>
              </a:ext>
            </a:extLst>
          </p:cNvPr>
          <p:cNvSpPr>
            <a:spLocks xmlns:a="http://schemas.openxmlformats.org/drawingml/2006/main" noGrp="1"/>
          </p:cNvSpPr>
          <p:nvPr/>
        </p:nvSpPr>
        <p:spPr>
          <a:xfrm xmlns:a="http://schemas.openxmlformats.org/drawingml/2006/main">
            <a:off x="590550" y="5695950"/>
            <a:ext cx="10715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B8C8C1"/>
                </a:solidFill>
                <a:latin typeface="Consolas"/>
                <a:ea typeface="Consolas"/>
                <a:cs typeface="Consolas"/>
              </a:defRPr>
            </a:defPPr>
            <a:lvl1pPr>
              <a:defRPr sz="1725" b="0">
                <a:solidFill>
                  <a:srgbClr val="B8C8C1"/>
                </a:solidFill>
                <a:latin typeface="Consolas"/>
                <a:ea typeface="Consolas"/>
                <a:cs typeface="Consolas"/>
              </a:defRPr>
            </a:lvl1pPr>
            <a:lvl2pPr>
              <a:defRPr sz="1725" b="0">
                <a:solidFill>
                  <a:srgbClr val="B8C8C1"/>
                </a:solidFill>
                <a:latin typeface="Consolas"/>
                <a:ea typeface="Consolas"/>
                <a:cs typeface="Consolas"/>
              </a:defRPr>
            </a:lvl2pPr>
            <a:lvl3pPr>
              <a:defRPr sz="1725" b="0">
                <a:solidFill>
                  <a:srgbClr val="B8C8C1"/>
                </a:solidFill>
                <a:latin typeface="Consolas"/>
                <a:ea typeface="Consolas"/>
                <a:cs typeface="Consolas"/>
              </a:defRPr>
            </a:lvl3pPr>
            <a:lvl4pPr>
              <a:defRPr sz="1725" b="0">
                <a:solidFill>
                  <a:srgbClr val="B8C8C1"/>
                </a:solidFill>
                <a:latin typeface="Consolas"/>
                <a:ea typeface="Consolas"/>
                <a:cs typeface="Consolas"/>
              </a:defRPr>
            </a:lvl4pPr>
            <a:lvl5pPr>
              <a:defRPr sz="1725" b="0">
                <a:solidFill>
                  <a:srgbClr val="B8C8C1"/>
                </a:solidFill>
                <a:latin typeface="Consolas"/>
                <a:ea typeface="Consolas"/>
                <a:cs typeface="Consolas"/>
              </a:defRPr>
            </a:lvl5pPr>
            <a:lvl6pPr>
              <a:defRPr sz="1725" b="0">
                <a:solidFill>
                  <a:srgbClr val="B8C8C1"/>
                </a:solidFill>
                <a:latin typeface="Consolas"/>
                <a:ea typeface="Consolas"/>
                <a:cs typeface="Consolas"/>
              </a:defRPr>
            </a:lvl6pPr>
            <a:lvl7pPr>
              <a:defRPr sz="1725" b="0">
                <a:solidFill>
                  <a:srgbClr val="B8C8C1"/>
                </a:solidFill>
                <a:latin typeface="Consolas"/>
                <a:ea typeface="Consolas"/>
                <a:cs typeface="Consolas"/>
              </a:defRPr>
            </a:lvl7pPr>
            <a:lvl8pPr>
              <a:defRPr sz="1725" b="0">
                <a:solidFill>
                  <a:srgbClr val="B8C8C1"/>
                </a:solidFill>
                <a:latin typeface="Consolas"/>
                <a:ea typeface="Consolas"/>
                <a:cs typeface="Consolas"/>
              </a:defRPr>
            </a:lvl8pPr>
            <a:lvl9pPr>
              <a:defRPr sz="1725" b="0">
                <a:solidFill>
                  <a:srgbClr val="B8C8C1"/>
                </a:solidFill>
                <a:latin typeface="Consolas"/>
                <a:ea typeface="Consolas"/>
                <a:cs typeface="Consolas"/>
              </a:defRPr>
            </a:lvl9pPr>
          </a:lstStyle>
          <a:p xmlns:a="http://schemas.openxmlformats.org/drawingml/2006/main">
            <a:pPr>
              <a:defRPr sz="1725" b="0">
                <a:solidFill>
                  <a:srgbClr val="B8C8C1"/>
                </a:solidFill>
                <a:latin typeface="Consolas"/>
                <a:ea typeface="Consolas"/>
                <a:cs typeface="Consolas"/>
              </a:defRPr>
            </a:pPr>
            <a:r>
              <a:rPr sz="1725" b="0">
                <a:solidFill>
                  <a:srgbClr val="B8C8C1"/>
                </a:solidFill>
                <a:latin typeface="Consolas"/>
                <a:ea typeface="Consolas"/>
                <a:cs typeface="Consolas"/>
              </a:rPr>
              <a:t>EN LÍNEA   2 HORAS   ESP32 CLÁSICO</a:t>
            </a:r>
          </a:p>
        </p:txBody>
      </p:sp>
    </p:spTree>
    <p:extLst>
      <p:ext uri="{BB962C8B-B14F-4D97-AF65-F5344CB8AC3E}">
        <p14:creationId xmlns:p14="http://schemas.microsoft.com/office/powerpoint/2010/main" val="2006531538"/>
      </p:ext>
    </p:extLst>
  </p:cSld>
</p:sld>
</file>

<file path=ppt/slides/slide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FC3A834-71BF-4F6D-BCC4-472A873F40F6}"/>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El proyecto empieza en las clases anteriores</a:t>
            </a:r>
          </a:p>
        </p:txBody>
      </p:sp>
      <p:pic>
        <p:nvPicPr>
          <p:cNvPr id="2" name="">
            <a:extLst xmlns:a="http://schemas.openxmlformats.org/drawingml/2006/main">
              <a:ext uri="{FF2B5EF4-FFF2-40B4-BE49-F238E27FC236}">
                <a16:creationId xmlns:a16="http://schemas.microsoft.com/office/drawing/2014/main" id="{5E522E1A-FA47-45C7-A991-14153AB4CBFD}"/>
              </a:ext>
            </a:extLst>
          </p:cNvPr>
          <p:cNvPicPr>
            <a:picLocks xmlns:a="http://schemas.openxmlformats.org/drawingml/2006/main" noChangeAspect="1"/>
          </p:cNvPicPr>
          <p:nvPr/>
        </p:nvPicPr>
        <p:blipFill>
          <a:blip xmlns:r="http://schemas.openxmlformats.org/officeDocument/2006/relationships" xmlns:a="http://schemas.openxmlformats.org/drawingml/2006/main" r:embed="R32c0e664c3644582"/>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51F338C-46A8-4BC2-969C-FF660D8E47ED}"/>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8   CLASE 15   02/24</a:t>
            </a:r>
          </a:p>
        </p:txBody>
      </p:sp>
      <p:sp>
        <p:nvSpPr>
          <p:cNvPr id="4" name="">
            <a:extLst xmlns:a="http://schemas.openxmlformats.org/drawingml/2006/main">
              <a:ext uri="{FF2B5EF4-FFF2-40B4-BE49-F238E27FC236}">
                <a16:creationId xmlns:a16="http://schemas.microsoft.com/office/drawing/2014/main" id="{271B2F50-92CE-466C-828B-463049A6544B}"/>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La integración recoge un portafolio que ya creció durante el curso: circuito y medida, entrada digital, agenda, conversión, señal de mando, sensor e interpretación. No se empieza comprando todas las piezas en la clase 15. Cada equipo elige un propósito y conserva el perfil de hardware disponible. El resultado debe poder explicarse con un esquema y comprobarse con un conjunto pequeño de pruebas.</a:t>
            </a:r>
          </a:p>
        </p:txBody>
      </p:sp>
    </p:spTree>
    <p:extLst>
      <p:ext uri="{BB962C8B-B14F-4D97-AF65-F5344CB8AC3E}">
        <p14:creationId xmlns:p14="http://schemas.microsoft.com/office/powerpoint/2010/main" val="650065722"/>
      </p:ext>
    </p:extLst>
  </p:cSld>
</p:sld>
</file>

<file path=ppt/slides/slide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2BE4D67-FB2B-49D0-9456-D5363B98C4D6}"/>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El proyecto empieza en las clases anteriores</a:t>
            </a:r>
          </a:p>
        </p:txBody>
      </p:sp>
      <p:pic>
        <p:nvPicPr>
          <p:cNvPr id="2" name="">
            <a:extLst xmlns:a="http://schemas.openxmlformats.org/drawingml/2006/main">
              <a:ext uri="{FF2B5EF4-FFF2-40B4-BE49-F238E27FC236}">
                <a16:creationId xmlns:a16="http://schemas.microsoft.com/office/drawing/2014/main" id="{CD17B0D5-0B72-4B74-AC6D-B1A902014BEE}"/>
              </a:ext>
            </a:extLst>
          </p:cNvPr>
          <p:cNvPicPr>
            <a:picLocks xmlns:a="http://schemas.openxmlformats.org/drawingml/2006/main" noChangeAspect="1"/>
          </p:cNvPicPr>
          <p:nvPr/>
        </p:nvPicPr>
        <p:blipFill>
          <a:blip xmlns:r="http://schemas.openxmlformats.org/officeDocument/2006/relationships" xmlns:a="http://schemas.openxmlformats.org/drawingml/2006/main" r:embed="R9f90611e3d8e487a"/>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D999CC5-5663-4CF5-AC65-58779517AF87}"/>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8   CLASE 15   03/24</a:t>
            </a:r>
          </a:p>
        </p:txBody>
      </p:sp>
      <p:pic>
        <p:nvPicPr>
          <p:cNvPr id="4" name="">
            <a:extLst xmlns:a="http://schemas.openxmlformats.org/drawingml/2006/main">
              <a:ext uri="{FF2B5EF4-FFF2-40B4-BE49-F238E27FC236}">
                <a16:creationId xmlns:a16="http://schemas.microsoft.com/office/drawing/2014/main" id="{C5CA4533-2A26-4A93-BFAD-2F181C94BB69}"/>
              </a:ext>
            </a:extLst>
          </p:cNvPr>
          <p:cNvPicPr>
            <a:picLocks xmlns:a="http://schemas.openxmlformats.org/drawingml/2006/main" noChangeAspect="1"/>
          </p:cNvPicPr>
          <p:nvPr/>
        </p:nvPicPr>
        <p:blipFill>
          <a:blip xmlns:r="http://schemas.openxmlformats.org/officeDocument/2006/relationships" xmlns:a="http://schemas.openxmlformats.org/drawingml/2006/main" r:embed="R07f0d80797324eb2"/>
          <a:stretch xmlns:a="http://schemas.openxmlformats.org/drawingml/2006/main"/>
        </p:blipFill>
        <p:spPr>
          <a:xfrm xmlns:a="http://schemas.openxmlformats.org/drawingml/2006/main">
            <a:off x="2380410" y="1638300"/>
            <a:ext cx="3830729" cy="4000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5AFE087-45D2-427A-B90C-F711FC932106}"/>
              </a:ext>
            </a:extLst>
          </p:cNvPr>
          <p:cNvSpPr>
            <a:spLocks xmlns:a="http://schemas.openxmlformats.org/drawingml/2006/main" noGrp="1"/>
          </p:cNvSpPr>
          <p:nvPr/>
        </p:nvSpPr>
        <p:spPr>
          <a:xfrm xmlns:a="http://schemas.openxmlformats.org/drawingml/2006/main">
            <a:off x="8286750" y="1790700"/>
            <a:ext cx="3286125"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244F3D"/>
                </a:solidFill>
                <a:latin typeface="Arial"/>
                <a:ea typeface="Arial"/>
                <a:cs typeface="Arial"/>
              </a:defRPr>
            </a:defPPr>
            <a:lvl1pPr>
              <a:defRPr sz="2250" b="1">
                <a:solidFill>
                  <a:srgbClr val="244F3D"/>
                </a:solidFill>
                <a:latin typeface="Arial"/>
                <a:ea typeface="Arial"/>
                <a:cs typeface="Arial"/>
              </a:defRPr>
            </a:lvl1pPr>
            <a:lvl2pPr>
              <a:defRPr sz="2250" b="1">
                <a:solidFill>
                  <a:srgbClr val="244F3D"/>
                </a:solidFill>
                <a:latin typeface="Arial"/>
                <a:ea typeface="Arial"/>
                <a:cs typeface="Arial"/>
              </a:defRPr>
            </a:lvl2pPr>
            <a:lvl3pPr>
              <a:defRPr sz="2250" b="1">
                <a:solidFill>
                  <a:srgbClr val="244F3D"/>
                </a:solidFill>
                <a:latin typeface="Arial"/>
                <a:ea typeface="Arial"/>
                <a:cs typeface="Arial"/>
              </a:defRPr>
            </a:lvl3pPr>
            <a:lvl4pPr>
              <a:defRPr sz="2250" b="1">
                <a:solidFill>
                  <a:srgbClr val="244F3D"/>
                </a:solidFill>
                <a:latin typeface="Arial"/>
                <a:ea typeface="Arial"/>
                <a:cs typeface="Arial"/>
              </a:defRPr>
            </a:lvl4pPr>
            <a:lvl5pPr>
              <a:defRPr sz="2250" b="1">
                <a:solidFill>
                  <a:srgbClr val="244F3D"/>
                </a:solidFill>
                <a:latin typeface="Arial"/>
                <a:ea typeface="Arial"/>
                <a:cs typeface="Arial"/>
              </a:defRPr>
            </a:lvl5pPr>
            <a:lvl6pPr>
              <a:defRPr sz="2250" b="1">
                <a:solidFill>
                  <a:srgbClr val="244F3D"/>
                </a:solidFill>
                <a:latin typeface="Arial"/>
                <a:ea typeface="Arial"/>
                <a:cs typeface="Arial"/>
              </a:defRPr>
            </a:lvl6pPr>
            <a:lvl7pPr>
              <a:defRPr sz="2250" b="1">
                <a:solidFill>
                  <a:srgbClr val="244F3D"/>
                </a:solidFill>
                <a:latin typeface="Arial"/>
                <a:ea typeface="Arial"/>
                <a:cs typeface="Arial"/>
              </a:defRPr>
            </a:lvl7pPr>
            <a:lvl8pPr>
              <a:defRPr sz="2250" b="1">
                <a:solidFill>
                  <a:srgbClr val="244F3D"/>
                </a:solidFill>
                <a:latin typeface="Arial"/>
                <a:ea typeface="Arial"/>
                <a:cs typeface="Arial"/>
              </a:defRPr>
            </a:lvl8pPr>
            <a:lvl9pPr>
              <a:defRPr sz="2250" b="1">
                <a:solidFill>
                  <a:srgbClr val="244F3D"/>
                </a:solidFill>
                <a:latin typeface="Arial"/>
                <a:ea typeface="Arial"/>
                <a:cs typeface="Arial"/>
              </a:defRPr>
            </a:lvl9pPr>
          </a:lstStyle>
          <a:p xmlns:a="http://schemas.openxmlformats.org/drawingml/2006/main">
            <a:pPr>
              <a:defRPr sz="2250" b="1">
                <a:solidFill>
                  <a:srgbClr val="244F3D"/>
                </a:solidFill>
                <a:latin typeface="Arial"/>
                <a:ea typeface="Arial"/>
                <a:cs typeface="Arial"/>
              </a:defRPr>
            </a:pPr>
            <a:r>
              <a:rPr sz="2250" b="1">
                <a:solidFill>
                  <a:srgbClr val="244F3D"/>
                </a:solidFill>
                <a:latin typeface="Arial"/>
                <a:ea typeface="Arial"/>
                <a:cs typeface="Arial"/>
              </a:rPr>
              <a:t>Sigue el dato desde el sensor hasta el registro. ¿Cómo se marca si es válido?</a:t>
            </a:r>
          </a:p>
        </p:txBody>
      </p:sp>
      <p:sp>
        <p:nvSpPr>
          <p:cNvPr id="6" name="">
            <a:extLst xmlns:a="http://schemas.openxmlformats.org/drawingml/2006/main">
              <a:ext uri="{FF2B5EF4-FFF2-40B4-BE49-F238E27FC236}">
                <a16:creationId xmlns:a16="http://schemas.microsoft.com/office/drawing/2014/main" id="{5C03567A-A122-4551-A2C4-128DCAEF405B}"/>
              </a:ext>
            </a:extLst>
          </p:cNvPr>
          <p:cNvSpPr>
            <a:spLocks xmlns:a="http://schemas.openxmlformats.org/drawingml/2006/main" noGrp="1"/>
          </p:cNvSpPr>
          <p:nvPr/>
        </p:nvSpPr>
        <p:spPr>
          <a:xfrm xmlns:a="http://schemas.openxmlformats.org/drawingml/2006/main">
            <a:off x="590550" y="5857875"/>
            <a:ext cx="1095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65F"/>
                </a:solidFill>
                <a:latin typeface="Arial"/>
                <a:ea typeface="Arial"/>
                <a:cs typeface="Arial"/>
              </a:defRPr>
            </a:defPPr>
            <a:lvl1pPr>
              <a:defRPr sz="1275" b="0">
                <a:solidFill>
                  <a:srgbClr val="58665F"/>
                </a:solidFill>
                <a:latin typeface="Arial"/>
                <a:ea typeface="Arial"/>
                <a:cs typeface="Arial"/>
              </a:defRPr>
            </a:lvl1pPr>
            <a:lvl2pPr>
              <a:defRPr sz="1275" b="0">
                <a:solidFill>
                  <a:srgbClr val="58665F"/>
                </a:solidFill>
                <a:latin typeface="Arial"/>
                <a:ea typeface="Arial"/>
                <a:cs typeface="Arial"/>
              </a:defRPr>
            </a:lvl2pPr>
            <a:lvl3pPr>
              <a:defRPr sz="1275" b="0">
                <a:solidFill>
                  <a:srgbClr val="58665F"/>
                </a:solidFill>
                <a:latin typeface="Arial"/>
                <a:ea typeface="Arial"/>
                <a:cs typeface="Arial"/>
              </a:defRPr>
            </a:lvl3pPr>
            <a:lvl4pPr>
              <a:defRPr sz="1275" b="0">
                <a:solidFill>
                  <a:srgbClr val="58665F"/>
                </a:solidFill>
                <a:latin typeface="Arial"/>
                <a:ea typeface="Arial"/>
                <a:cs typeface="Arial"/>
              </a:defRPr>
            </a:lvl4pPr>
            <a:lvl5pPr>
              <a:defRPr sz="1275" b="0">
                <a:solidFill>
                  <a:srgbClr val="58665F"/>
                </a:solidFill>
                <a:latin typeface="Arial"/>
                <a:ea typeface="Arial"/>
                <a:cs typeface="Arial"/>
              </a:defRPr>
            </a:lvl5pPr>
            <a:lvl6pPr>
              <a:defRPr sz="1275" b="0">
                <a:solidFill>
                  <a:srgbClr val="58665F"/>
                </a:solidFill>
                <a:latin typeface="Arial"/>
                <a:ea typeface="Arial"/>
                <a:cs typeface="Arial"/>
              </a:defRPr>
            </a:lvl6pPr>
            <a:lvl7pPr>
              <a:defRPr sz="1275" b="0">
                <a:solidFill>
                  <a:srgbClr val="58665F"/>
                </a:solidFill>
                <a:latin typeface="Arial"/>
                <a:ea typeface="Arial"/>
                <a:cs typeface="Arial"/>
              </a:defRPr>
            </a:lvl7pPr>
            <a:lvl8pPr>
              <a:defRPr sz="1275" b="0">
                <a:solidFill>
                  <a:srgbClr val="58665F"/>
                </a:solidFill>
                <a:latin typeface="Arial"/>
                <a:ea typeface="Arial"/>
                <a:cs typeface="Arial"/>
              </a:defRPr>
            </a:lvl8pPr>
            <a:lvl9pPr>
              <a:defRPr sz="1275" b="0">
                <a:solidFill>
                  <a:srgbClr val="58665F"/>
                </a:solidFill>
                <a:latin typeface="Arial"/>
                <a:ea typeface="Arial"/>
                <a:cs typeface="Arial"/>
              </a:defRPr>
            </a:lvl9pPr>
          </a:lstStyle>
          <a:p xmlns:a="http://schemas.openxmlformats.org/drawingml/2006/main">
            <a:pPr>
              <a:defRPr sz="1275" b="0">
                <a:solidFill>
                  <a:srgbClr val="58665F"/>
                </a:solidFill>
                <a:latin typeface="Arial"/>
                <a:ea typeface="Arial"/>
                <a:cs typeface="Arial"/>
              </a:defRPr>
            </a:pPr>
            <a:r>
              <a:rPr sz="1275" b="0">
                <a:solidFill>
                  <a:srgbClr val="58665F"/>
                </a:solidFill>
                <a:latin typeface="Arial"/>
                <a:ea typeface="Arial"/>
                <a:cs typeface="Arial"/>
              </a:rPr>
              <a:t>MECRO, proyecto 16. Esquema original del laboratorio para reconocer la arquitectura en Wokwi. Para montaje físico se aplica la tabla y las correcciones de esta lectura.</a:t>
            </a:r>
          </a:p>
        </p:txBody>
      </p:sp>
    </p:spTree>
    <p:extLst>
      <p:ext uri="{BB962C8B-B14F-4D97-AF65-F5344CB8AC3E}">
        <p14:creationId xmlns:p14="http://schemas.microsoft.com/office/powerpoint/2010/main" val="200588725"/>
      </p:ext>
    </p:extLst>
  </p:cSld>
</p:sld>
</file>

<file path=ppt/slides/slide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1C4A546-9669-421F-A688-F75AEB5FF853}"/>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Interpretación · El proyecto empieza en las clases anteriores</a:t>
            </a:r>
          </a:p>
        </p:txBody>
      </p:sp>
      <p:pic>
        <p:nvPicPr>
          <p:cNvPr id="2" name="">
            <a:extLst xmlns:a="http://schemas.openxmlformats.org/drawingml/2006/main">
              <a:ext uri="{FF2B5EF4-FFF2-40B4-BE49-F238E27FC236}">
                <a16:creationId xmlns:a16="http://schemas.microsoft.com/office/drawing/2014/main" id="{36A41E69-DB62-4799-A34F-FF6000E8B531}"/>
              </a:ext>
            </a:extLst>
          </p:cNvPr>
          <p:cNvPicPr>
            <a:picLocks xmlns:a="http://schemas.openxmlformats.org/drawingml/2006/main" noChangeAspect="1"/>
          </p:cNvPicPr>
          <p:nvPr/>
        </p:nvPicPr>
        <p:blipFill>
          <a:blip xmlns:r="http://schemas.openxmlformats.org/officeDocument/2006/relationships" xmlns:a="http://schemas.openxmlformats.org/drawingml/2006/main" r:embed="R132bd7ffdd0f427a"/>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0AEAF3E-4C55-4F9E-A270-15BADFADF300}"/>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8   CLASE 15   04/24</a:t>
            </a:r>
          </a:p>
        </p:txBody>
      </p:sp>
      <p:sp>
        <p:nvSpPr>
          <p:cNvPr id="4" name="">
            <a:extLst xmlns:a="http://schemas.openxmlformats.org/drawingml/2006/main">
              <a:ext uri="{FF2B5EF4-FFF2-40B4-BE49-F238E27FC236}">
                <a16:creationId xmlns:a16="http://schemas.microsoft.com/office/drawing/2014/main" id="{9BAB70A6-4496-481D-B2A2-2861B4FC4FC5}"/>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1E"/>
                </a:solidFill>
                <a:latin typeface="Arial"/>
                <a:ea typeface="Arial"/>
                <a:cs typeface="Arial"/>
              </a:defRPr>
            </a:defPPr>
            <a:lvl1pPr>
              <a:defRPr sz="2175" b="0">
                <a:solidFill>
                  <a:srgbClr val="14231E"/>
                </a:solidFill>
                <a:latin typeface="Arial"/>
                <a:ea typeface="Arial"/>
                <a:cs typeface="Arial"/>
              </a:defRPr>
            </a:lvl1pPr>
            <a:lvl2pPr>
              <a:defRPr sz="2175" b="0">
                <a:solidFill>
                  <a:srgbClr val="14231E"/>
                </a:solidFill>
                <a:latin typeface="Arial"/>
                <a:ea typeface="Arial"/>
                <a:cs typeface="Arial"/>
              </a:defRPr>
            </a:lvl2pPr>
            <a:lvl3pPr>
              <a:defRPr sz="2175" b="0">
                <a:solidFill>
                  <a:srgbClr val="14231E"/>
                </a:solidFill>
                <a:latin typeface="Arial"/>
                <a:ea typeface="Arial"/>
                <a:cs typeface="Arial"/>
              </a:defRPr>
            </a:lvl3pPr>
            <a:lvl4pPr>
              <a:defRPr sz="2175" b="0">
                <a:solidFill>
                  <a:srgbClr val="14231E"/>
                </a:solidFill>
                <a:latin typeface="Arial"/>
                <a:ea typeface="Arial"/>
                <a:cs typeface="Arial"/>
              </a:defRPr>
            </a:lvl4pPr>
            <a:lvl5pPr>
              <a:defRPr sz="2175" b="0">
                <a:solidFill>
                  <a:srgbClr val="14231E"/>
                </a:solidFill>
                <a:latin typeface="Arial"/>
                <a:ea typeface="Arial"/>
                <a:cs typeface="Arial"/>
              </a:defRPr>
            </a:lvl5pPr>
            <a:lvl6pPr>
              <a:defRPr sz="2175" b="0">
                <a:solidFill>
                  <a:srgbClr val="14231E"/>
                </a:solidFill>
                <a:latin typeface="Arial"/>
                <a:ea typeface="Arial"/>
                <a:cs typeface="Arial"/>
              </a:defRPr>
            </a:lvl6pPr>
            <a:lvl7pPr>
              <a:defRPr sz="2175" b="0">
                <a:solidFill>
                  <a:srgbClr val="14231E"/>
                </a:solidFill>
                <a:latin typeface="Arial"/>
                <a:ea typeface="Arial"/>
                <a:cs typeface="Arial"/>
              </a:defRPr>
            </a:lvl7pPr>
            <a:lvl8pPr>
              <a:defRPr sz="2175" b="0">
                <a:solidFill>
                  <a:srgbClr val="14231E"/>
                </a:solidFill>
                <a:latin typeface="Arial"/>
                <a:ea typeface="Arial"/>
                <a:cs typeface="Arial"/>
              </a:defRPr>
            </a:lvl8pPr>
            <a:lvl9pPr>
              <a:defRPr sz="2175" b="0">
                <a:solidFill>
                  <a:srgbClr val="14231E"/>
                </a:solidFill>
                <a:latin typeface="Arial"/>
                <a:ea typeface="Arial"/>
                <a:cs typeface="Arial"/>
              </a:defRPr>
            </a:lvl9pPr>
          </a:lstStyle>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La opción principal es una estación de IMU y estado: adquiere datos, conserva tiempo y validez, presenta una salida y genera un registro de serie. La ampliación añade un mando analógico o una interfaz de consulta. Como alternativa, un equipo con motor, driver y encoder puede integrar el banco de velocidad con los módulos ya comprobados. La selección depende de componentes y objetivos; no cambia el nivel de exigencia sobre explicación y evidencia.</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El curso se puede seguir con simulación y bancos compartidos. El kit facilita el trabajo personal y se entrega a quienes lo soliciten con inventario confirmado. Esa condición comercial no obliga a afirmar que todos los asistentes construyeron físicamente todas las variantes. El expediente identifica el modo real de cada prueba.</a:t>
            </a:r>
          </a:p>
        </p:txBody>
      </p:sp>
    </p:spTree>
    <p:extLst>
      <p:ext uri="{BB962C8B-B14F-4D97-AF65-F5344CB8AC3E}">
        <p14:creationId xmlns:p14="http://schemas.microsoft.com/office/powerpoint/2010/main" val="333978237"/>
      </p:ext>
    </p:extLst>
  </p:cSld>
</p:sld>
</file>

<file path=ppt/slides/slide5.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6C69ECF-61F4-4692-A8C8-F86DD5C14A18}"/>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Requisitos que permiten ensayar</a:t>
            </a:r>
          </a:p>
        </p:txBody>
      </p:sp>
      <p:pic>
        <p:nvPicPr>
          <p:cNvPr id="2" name="">
            <a:extLst xmlns:a="http://schemas.openxmlformats.org/drawingml/2006/main">
              <a:ext uri="{FF2B5EF4-FFF2-40B4-BE49-F238E27FC236}">
                <a16:creationId xmlns:a16="http://schemas.microsoft.com/office/drawing/2014/main" id="{1B65CA74-AD4A-46C2-8719-3544E4943EAD}"/>
              </a:ext>
            </a:extLst>
          </p:cNvPr>
          <p:cNvPicPr>
            <a:picLocks xmlns:a="http://schemas.openxmlformats.org/drawingml/2006/main" noChangeAspect="1"/>
          </p:cNvPicPr>
          <p:nvPr/>
        </p:nvPicPr>
        <p:blipFill>
          <a:blip xmlns:r="http://schemas.openxmlformats.org/officeDocument/2006/relationships" xmlns:a="http://schemas.openxmlformats.org/drawingml/2006/main" r:embed="Rd4e9190bc94a4674"/>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2B08AFF-23D2-4409-8CD1-7277C56C1A99}"/>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8   CLASE 15   05/24</a:t>
            </a:r>
          </a:p>
        </p:txBody>
      </p:sp>
      <p:sp>
        <p:nvSpPr>
          <p:cNvPr id="4" name="">
            <a:extLst xmlns:a="http://schemas.openxmlformats.org/drawingml/2006/main">
              <a:ext uri="{FF2B5EF4-FFF2-40B4-BE49-F238E27FC236}">
                <a16:creationId xmlns:a16="http://schemas.microsoft.com/office/drawing/2014/main" id="{96414979-BB99-4CD4-8DD0-950D05EA46EB}"/>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Un requisito como “que funcione bien” no define una comprobación. Una condición observable podría ser “si no existe una muestra reciente, el registro indica dato no válido”. Para probarla se define qué antigüedad acepta el caso, cómo se inyecta la ausencia y dónde se observa el cambio. El valor de 250 ms del ejemplo es una condición didáctica del banco, no un tiempo universal de sistemas UAV.</a:t>
            </a:r>
          </a:p>
        </p:txBody>
      </p:sp>
    </p:spTree>
    <p:extLst>
      <p:ext uri="{BB962C8B-B14F-4D97-AF65-F5344CB8AC3E}">
        <p14:creationId xmlns:p14="http://schemas.microsoft.com/office/powerpoint/2010/main" val="1588461964"/>
      </p:ext>
    </p:extLst>
  </p:cSld>
</p:sld>
</file>

<file path=ppt/slides/slide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8550BE9-F680-480A-B775-C9F76C975A60}"/>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Proyecto principal de estación</a:t>
            </a:r>
          </a:p>
        </p:txBody>
      </p:sp>
      <p:pic>
        <p:nvPicPr>
          <p:cNvPr id="2" name="">
            <a:extLst xmlns:a="http://schemas.openxmlformats.org/drawingml/2006/main">
              <a:ext uri="{FF2B5EF4-FFF2-40B4-BE49-F238E27FC236}">
                <a16:creationId xmlns:a16="http://schemas.microsoft.com/office/drawing/2014/main" id="{FCC0153E-980D-43D2-815D-D6CCE352BDE5}"/>
              </a:ext>
            </a:extLst>
          </p:cNvPr>
          <p:cNvPicPr>
            <a:picLocks xmlns:a="http://schemas.openxmlformats.org/drawingml/2006/main" noChangeAspect="1"/>
          </p:cNvPicPr>
          <p:nvPr/>
        </p:nvPicPr>
        <p:blipFill>
          <a:blip xmlns:r="http://schemas.openxmlformats.org/officeDocument/2006/relationships" xmlns:a="http://schemas.openxmlformats.org/drawingml/2006/main" r:embed="Rf8e2660a15d941ec"/>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89E7405-9A22-430F-B0CC-7F0CCCA92FE4}"/>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8   CLASE 15   06/24</a:t>
            </a:r>
          </a:p>
        </p:txBody>
      </p:sp>
      <p:graphicFrame>
        <p:nvGraphicFramePr>
          <p:cNvPr id="4" name="">
            <a:extLst xmlns:a="http://schemas.openxmlformats.org/drawingml/2006/main">
              <a:ext uri="{FF2B5EF4-FFF2-40B4-BE49-F238E27FC236}">
                <a16:creationId xmlns:a16="http://schemas.microsoft.com/office/drawing/2014/main" id="{5C2AE954-7F31-4660-B65F-D839C4EF336B}"/>
              </a:ext>
            </a:extLst>
          </p:cNvPr>
          <p:cNvGraphicFramePr/>
          <p:nvPr/>
        </p:nvGraphicFramePr>
        <p:xfrm>
          <a:off xmlns:a="http://schemas.openxmlformats.org/drawingml/2006/main" x="590550" y="1714500"/>
          <a:ext xmlns:a="http://schemas.openxmlformats.org/drawingml/2006/main" cx="11010900" cy="4114800"/>
        </p:xfrm>
        <a:graphic xmlns:a="http://schemas.openxmlformats.org/drawingml/2006/main">
          <a:graphicData uri="http://schemas.openxmlformats.org/drawingml/2006/table">
            <a:tbl>
              <a:tblPr/>
              <a:tblGrid>
                <a:gridCol w="3238500"/>
                <a:gridCol w="3667125"/>
                <a:gridCol w="4105275"/>
              </a:tblGrid>
              <a:tr h="685800">
                <a:tc>
                  <a:txBody>
                    <a:bodyPr/>
                    <a:lstStyle/>
                    <a:p>
                      <a:r>
                        <a:rPr sz="1875" b="1">
                          <a:solidFill>
                            <a:srgbClr val="FFFFFF"/>
                          </a:solidFill>
                          <a:latin typeface="Arial"/>
                          <a:ea typeface="Arial"/>
                          <a:cs typeface="Arial"/>
                        </a:rPr>
                        <a:t>Requisito</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Prueba</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Evidencia</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685800">
                <a:tc>
                  <a:txBody>
                    <a:bodyPr/>
                    <a:lstStyle/>
                    <a:p>
                      <a:r>
                        <a:rPr sz="1875" b="0">
                          <a:solidFill>
                            <a:srgbClr val="14231E"/>
                          </a:solidFill>
                          <a:latin typeface="Arial"/>
                          <a:ea typeface="Arial"/>
                          <a:cs typeface="Arial"/>
                        </a:rPr>
                        <a:t>Identificar sensor</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Inicio con y sin módulo</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Estado registrado</a:t>
                      </a:r>
                    </a:p>
                  </a:txBody>
                  <a:tcPr marL="91440" marR="91440" marT="45720" marB="45720">
                    <a:lnR w="9525">
                      <a:solidFill>
                        <a:srgbClr val="BFCEC3"/>
                      </a:solidFill>
                      <a:prstDash val="solid"/>
                    </a:lnR>
                    <a:lnB w="9525">
                      <a:solidFill>
                        <a:srgbClr val="BFCEC3"/>
                      </a:solidFill>
                      <a:prstDash val="solid"/>
                    </a:lnB>
                    <a:solidFill>
                      <a:srgbClr val="EAF3EC"/>
                    </a:solidFill>
                  </a:tcPr>
                </a:tc>
              </a:tr>
              <a:tr h="685800">
                <a:tc>
                  <a:txBody>
                    <a:bodyPr/>
                    <a:lstStyle/>
                    <a:p>
                      <a:r>
                        <a:rPr sz="1875" b="0">
                          <a:solidFill>
                            <a:srgbClr val="14231E"/>
                          </a:solidFill>
                          <a:latin typeface="Arial"/>
                          <a:ea typeface="Arial"/>
                          <a:cs typeface="Arial"/>
                        </a:rPr>
                        <a:t>Adquirir periódicamente</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Observar marcas de tiempo</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CSV</a:t>
                      </a:r>
                    </a:p>
                  </a:txBody>
                  <a:tcPr marL="91440" marR="91440" marT="45720" marB="45720">
                    <a:lnR w="9525">
                      <a:solidFill>
                        <a:srgbClr val="BFCEC3"/>
                      </a:solidFill>
                      <a:prstDash val="solid"/>
                    </a:lnR>
                    <a:lnB w="9525">
                      <a:solidFill>
                        <a:srgbClr val="BFCEC3"/>
                      </a:solidFill>
                      <a:prstDash val="solid"/>
                    </a:lnB>
                    <a:solidFill>
                      <a:srgbClr val="FCFCF8"/>
                    </a:solidFill>
                  </a:tcPr>
                </a:tc>
              </a:tr>
              <a:tr h="685800">
                <a:tc>
                  <a:txBody>
                    <a:bodyPr/>
                    <a:lstStyle/>
                    <a:p>
                      <a:r>
                        <a:rPr sz="1875" b="0">
                          <a:solidFill>
                            <a:srgbClr val="14231E"/>
                          </a:solidFill>
                          <a:latin typeface="Arial"/>
                          <a:ea typeface="Arial"/>
                          <a:cs typeface="Arial"/>
                        </a:rPr>
                        <a:t>Separar dato y validez</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Vencer una lectura</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Estado de fallo</a:t>
                      </a:r>
                    </a:p>
                  </a:txBody>
                  <a:tcPr marL="91440" marR="91440" marT="45720" marB="45720">
                    <a:lnR w="9525">
                      <a:solidFill>
                        <a:srgbClr val="BFCEC3"/>
                      </a:solidFill>
                      <a:prstDash val="solid"/>
                    </a:lnR>
                    <a:lnB w="9525">
                      <a:solidFill>
                        <a:srgbClr val="BFCEC3"/>
                      </a:solidFill>
                      <a:prstDash val="solid"/>
                    </a:lnB>
                    <a:solidFill>
                      <a:srgbClr val="EAF3EC"/>
                    </a:solidFill>
                  </a:tcPr>
                </a:tc>
              </a:tr>
              <a:tr h="685800">
                <a:tc>
                  <a:txBody>
                    <a:bodyPr/>
                    <a:lstStyle/>
                    <a:p>
                      <a:r>
                        <a:rPr sz="1875" b="0">
                          <a:solidFill>
                            <a:srgbClr val="14231E"/>
                          </a:solidFill>
                          <a:latin typeface="Arial"/>
                          <a:ea typeface="Arial"/>
                          <a:cs typeface="Arial"/>
                        </a:rPr>
                        <a:t>Presentar estado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Ver salida y registro</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Coincidencia explicada</a:t>
                      </a:r>
                    </a:p>
                  </a:txBody>
                  <a:tcPr marL="91440" marR="91440" marT="45720" marB="45720">
                    <a:lnR w="9525">
                      <a:solidFill>
                        <a:srgbClr val="BFCEC3"/>
                      </a:solidFill>
                      <a:prstDash val="solid"/>
                    </a:lnR>
                    <a:lnB w="9525">
                      <a:solidFill>
                        <a:srgbClr val="BFCEC3"/>
                      </a:solidFill>
                      <a:prstDash val="solid"/>
                    </a:lnB>
                    <a:solidFill>
                      <a:srgbClr val="FCFCF8"/>
                    </a:solidFill>
                  </a:tcPr>
                </a:tc>
              </a:tr>
              <a:tr h="685800">
                <a:tc>
                  <a:txBody>
                    <a:bodyPr/>
                    <a:lstStyle/>
                    <a:p>
                      <a:r>
                        <a:rPr sz="1875" b="0">
                          <a:solidFill>
                            <a:srgbClr val="14231E"/>
                          </a:solidFill>
                          <a:latin typeface="Arial"/>
                          <a:ea typeface="Arial"/>
                          <a:cs typeface="Arial"/>
                        </a:rPr>
                        <a:t>Cambio propio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Comparar dos versiones</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Código y conclusión</a:t>
                      </a:r>
                    </a:p>
                  </a:txBody>
                  <a:tcPr marL="91440" marR="91440" marT="45720" marB="45720">
                    <a:lnR w="9525">
                      <a:solidFill>
                        <a:srgbClr val="BFCEC3"/>
                      </a:solidFill>
                      <a:prstDash val="solid"/>
                    </a:lnR>
                    <a:lnB w="9525">
                      <a:solidFill>
                        <a:srgbClr val="BFCEC3"/>
                      </a:solidFill>
                      <a:prstDash val="solid"/>
                    </a:lnB>
                    <a:solidFill>
                      <a:srgbClr val="EAF3EC"/>
                    </a:solidFill>
                  </a:tcPr>
                </a:tc>
              </a:tr>
            </a:tbl>
          </a:graphicData>
        </a:graphic>
      </p:graphicFrame>
    </p:spTree>
    <p:extLst>
      <p:ext uri="{BB962C8B-B14F-4D97-AF65-F5344CB8AC3E}">
        <p14:creationId xmlns:p14="http://schemas.microsoft.com/office/powerpoint/2010/main" val="1745952841"/>
      </p:ext>
    </p:extLst>
  </p:cSld>
</p:sld>
</file>

<file path=ppt/slides/slide7.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E19FA83-D2FB-49B8-88DF-C7D4498800CF}"/>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Requisito ambiguo</a:t>
            </a:r>
          </a:p>
        </p:txBody>
      </p:sp>
      <p:pic>
        <p:nvPicPr>
          <p:cNvPr id="2" name="">
            <a:extLst xmlns:a="http://schemas.openxmlformats.org/drawingml/2006/main">
              <a:ext uri="{FF2B5EF4-FFF2-40B4-BE49-F238E27FC236}">
                <a16:creationId xmlns:a16="http://schemas.microsoft.com/office/drawing/2014/main" id="{76A1FE58-89DF-48CB-AC7E-08E190DF1387}"/>
              </a:ext>
            </a:extLst>
          </p:cNvPr>
          <p:cNvPicPr>
            <a:picLocks xmlns:a="http://schemas.openxmlformats.org/drawingml/2006/main" noChangeAspect="1"/>
          </p:cNvPicPr>
          <p:nvPr/>
        </p:nvPicPr>
        <p:blipFill>
          <a:blip xmlns:r="http://schemas.openxmlformats.org/officeDocument/2006/relationships" xmlns:a="http://schemas.openxmlformats.org/drawingml/2006/main" r:embed="R38639f41665d4cfc"/>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9AFD994-6D40-4F12-BE50-2B33A3A34A12}"/>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8   CLASE 15   07/24</a:t>
            </a:r>
          </a:p>
        </p:txBody>
      </p:sp>
      <p:sp>
        <p:nvSpPr>
          <p:cNvPr id="4" name="">
            <a:extLst xmlns:a="http://schemas.openxmlformats.org/drawingml/2006/main">
              <a:ext uri="{FF2B5EF4-FFF2-40B4-BE49-F238E27FC236}">
                <a16:creationId xmlns:a16="http://schemas.microsoft.com/office/drawing/2014/main" id="{C4EC06B7-002C-4354-AD3B-404A3CBE94CA}"/>
              </a:ext>
            </a:extLst>
          </p:cNvPr>
          <p:cNvSpPr>
            <a:spLocks xmlns:a="http://schemas.openxmlformats.org/drawingml/2006/main" noGrp="1"/>
          </p:cNvSpPr>
          <p:nvPr/>
        </p:nvSpPr>
        <p:spPr>
          <a:xfrm xmlns:a="http://schemas.openxmlformats.org/drawingml/2006/main">
            <a:off x="590550" y="1743075"/>
            <a:ext cx="107156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AEF4BB"/>
                </a:solidFill>
                <a:latin typeface="Arial"/>
                <a:ea typeface="Arial"/>
                <a:cs typeface="Arial"/>
              </a:defRPr>
            </a:defPPr>
            <a:lvl1pPr>
              <a:defRPr sz="2475" b="1">
                <a:solidFill>
                  <a:srgbClr val="AEF4BB"/>
                </a:solidFill>
                <a:latin typeface="Arial"/>
                <a:ea typeface="Arial"/>
                <a:cs typeface="Arial"/>
              </a:defRPr>
            </a:lvl1pPr>
            <a:lvl2pPr>
              <a:defRPr sz="2475" b="1">
                <a:solidFill>
                  <a:srgbClr val="AEF4BB"/>
                </a:solidFill>
                <a:latin typeface="Arial"/>
                <a:ea typeface="Arial"/>
                <a:cs typeface="Arial"/>
              </a:defRPr>
            </a:lvl2pPr>
            <a:lvl3pPr>
              <a:defRPr sz="2475" b="1">
                <a:solidFill>
                  <a:srgbClr val="AEF4BB"/>
                </a:solidFill>
                <a:latin typeface="Arial"/>
                <a:ea typeface="Arial"/>
                <a:cs typeface="Arial"/>
              </a:defRPr>
            </a:lvl3pPr>
            <a:lvl4pPr>
              <a:defRPr sz="2475" b="1">
                <a:solidFill>
                  <a:srgbClr val="AEF4BB"/>
                </a:solidFill>
                <a:latin typeface="Arial"/>
                <a:ea typeface="Arial"/>
                <a:cs typeface="Arial"/>
              </a:defRPr>
            </a:lvl4pPr>
            <a:lvl5pPr>
              <a:defRPr sz="2475" b="1">
                <a:solidFill>
                  <a:srgbClr val="AEF4BB"/>
                </a:solidFill>
                <a:latin typeface="Arial"/>
                <a:ea typeface="Arial"/>
                <a:cs typeface="Arial"/>
              </a:defRPr>
            </a:lvl5pPr>
            <a:lvl6pPr>
              <a:defRPr sz="2475" b="1">
                <a:solidFill>
                  <a:srgbClr val="AEF4BB"/>
                </a:solidFill>
                <a:latin typeface="Arial"/>
                <a:ea typeface="Arial"/>
                <a:cs typeface="Arial"/>
              </a:defRPr>
            </a:lvl6pPr>
            <a:lvl7pPr>
              <a:defRPr sz="2475" b="1">
                <a:solidFill>
                  <a:srgbClr val="AEF4BB"/>
                </a:solidFill>
                <a:latin typeface="Arial"/>
                <a:ea typeface="Arial"/>
                <a:cs typeface="Arial"/>
              </a:defRPr>
            </a:lvl7pPr>
            <a:lvl8pPr>
              <a:defRPr sz="2475" b="1">
                <a:solidFill>
                  <a:srgbClr val="AEF4BB"/>
                </a:solidFill>
                <a:latin typeface="Arial"/>
                <a:ea typeface="Arial"/>
                <a:cs typeface="Arial"/>
              </a:defRPr>
            </a:lvl8pPr>
            <a:lvl9pPr>
              <a:defRPr sz="2475" b="1">
                <a:solidFill>
                  <a:srgbClr val="AEF4BB"/>
                </a:solidFill>
                <a:latin typeface="Arial"/>
                <a:ea typeface="Arial"/>
                <a:cs typeface="Arial"/>
              </a:defRPr>
            </a:lvl9pPr>
          </a:lstStyle>
          <a:p xmlns:a="http://schemas.openxmlformats.org/drawingml/2006/main">
            <a:pPr>
              <a:defRPr sz="2475" b="1">
                <a:solidFill>
                  <a:srgbClr val="AEF4BB"/>
                </a:solidFill>
                <a:latin typeface="Arial"/>
                <a:ea typeface="Arial"/>
                <a:cs typeface="Arial"/>
              </a:defRPr>
            </a:pPr>
            <a:r>
              <a:rPr sz="2475" b="1">
                <a:solidFill>
                  <a:srgbClr val="AEF4BB"/>
                </a:solidFill>
                <a:latin typeface="Arial"/>
                <a:ea typeface="Arial"/>
                <a:cs typeface="Arial"/>
              </a:rPr>
              <a:t>El equipo escribe “detectar cualquier fallo”. ¿Cómo lo convierte en una prueba de esta etapa?</a:t>
            </a:r>
          </a:p>
        </p:txBody>
      </p:sp>
      <p:sp>
        <p:nvSpPr>
          <p:cNvPr id="5" name="">
            <a:extLst xmlns:a="http://schemas.openxmlformats.org/drawingml/2006/main">
              <a:ext uri="{FF2B5EF4-FFF2-40B4-BE49-F238E27FC236}">
                <a16:creationId xmlns:a16="http://schemas.microsoft.com/office/drawing/2014/main" id="{4AA3D4A8-E42D-4356-A995-B05F6C78F52B}"/>
              </a:ext>
            </a:extLst>
          </p:cNvPr>
          <p:cNvSpPr>
            <a:spLocks xmlns:a="http://schemas.openxmlformats.org/drawingml/2006/main" noGrp="1"/>
          </p:cNvSpPr>
          <p:nvPr/>
        </p:nvSpPr>
        <p:spPr>
          <a:xfrm xmlns:a="http://schemas.openxmlformats.org/drawingml/2006/main">
            <a:off x="590550" y="3581400"/>
            <a:ext cx="10715625" cy="2533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FCFCF8"/>
                </a:solidFill>
                <a:latin typeface="Arial"/>
                <a:ea typeface="Arial"/>
                <a:cs typeface="Arial"/>
              </a:defRPr>
            </a:defPPr>
            <a:lvl1pPr>
              <a:defRPr sz="2175" b="0">
                <a:solidFill>
                  <a:srgbClr val="FCFCF8"/>
                </a:solidFill>
                <a:latin typeface="Arial"/>
                <a:ea typeface="Arial"/>
                <a:cs typeface="Arial"/>
              </a:defRPr>
            </a:lvl1pPr>
            <a:lvl2pPr>
              <a:defRPr sz="2175" b="0">
                <a:solidFill>
                  <a:srgbClr val="FCFCF8"/>
                </a:solidFill>
                <a:latin typeface="Arial"/>
                <a:ea typeface="Arial"/>
                <a:cs typeface="Arial"/>
              </a:defRPr>
            </a:lvl2pPr>
            <a:lvl3pPr>
              <a:defRPr sz="2175" b="0">
                <a:solidFill>
                  <a:srgbClr val="FCFCF8"/>
                </a:solidFill>
                <a:latin typeface="Arial"/>
                <a:ea typeface="Arial"/>
                <a:cs typeface="Arial"/>
              </a:defRPr>
            </a:lvl3pPr>
            <a:lvl4pPr>
              <a:defRPr sz="2175" b="0">
                <a:solidFill>
                  <a:srgbClr val="FCFCF8"/>
                </a:solidFill>
                <a:latin typeface="Arial"/>
                <a:ea typeface="Arial"/>
                <a:cs typeface="Arial"/>
              </a:defRPr>
            </a:lvl4pPr>
            <a:lvl5pPr>
              <a:defRPr sz="2175" b="0">
                <a:solidFill>
                  <a:srgbClr val="FCFCF8"/>
                </a:solidFill>
                <a:latin typeface="Arial"/>
                <a:ea typeface="Arial"/>
                <a:cs typeface="Arial"/>
              </a:defRPr>
            </a:lvl5pPr>
            <a:lvl6pPr>
              <a:defRPr sz="2175" b="0">
                <a:solidFill>
                  <a:srgbClr val="FCFCF8"/>
                </a:solidFill>
                <a:latin typeface="Arial"/>
                <a:ea typeface="Arial"/>
                <a:cs typeface="Arial"/>
              </a:defRPr>
            </a:lvl6pPr>
            <a:lvl7pPr>
              <a:defRPr sz="2175" b="0">
                <a:solidFill>
                  <a:srgbClr val="FCFCF8"/>
                </a:solidFill>
                <a:latin typeface="Arial"/>
                <a:ea typeface="Arial"/>
                <a:cs typeface="Arial"/>
              </a:defRPr>
            </a:lvl7pPr>
            <a:lvl8pPr>
              <a:defRPr sz="2175" b="0">
                <a:solidFill>
                  <a:srgbClr val="FCFCF8"/>
                </a:solidFill>
                <a:latin typeface="Arial"/>
                <a:ea typeface="Arial"/>
                <a:cs typeface="Arial"/>
              </a:defRPr>
            </a:lvl8pPr>
            <a:lvl9pPr>
              <a:defRPr sz="2175" b="0">
                <a:solidFill>
                  <a:srgbClr val="FCFCF8"/>
                </a:solidFill>
                <a:latin typeface="Arial"/>
                <a:ea typeface="Arial"/>
                <a:cs typeface="Arial"/>
              </a:defRPr>
            </a:lvl9pPr>
          </a:lstStyle>
          <a:p xmlns:a="http://schemas.openxmlformats.org/drawingml/2006/main">
            <a:pPr>
              <a:defRPr sz="2175" b="0">
                <a:solidFill>
                  <a:srgbClr val="FCFCF8"/>
                </a:solidFill>
                <a:latin typeface="Arial"/>
                <a:ea typeface="Arial"/>
                <a:cs typeface="Arial"/>
              </a:defRPr>
            </a:pPr>
            <a:r>
              <a:rPr sz="2175" b="0">
                <a:solidFill>
                  <a:srgbClr val="FCFCF8"/>
                </a:solidFill>
                <a:latin typeface="Arial"/>
                <a:ea typeface="Arial"/>
                <a:cs typeface="Arial"/>
              </a:rPr>
              <a:t>Elige una condición concreta: ausencia al inicializar, dirección sin respuesta, lectura vencida o rango no plausible. Describe el método y la evidencia sin prometer diagnóstico de toda causa posible.</a:t>
            </a:r>
          </a:p>
        </p:txBody>
      </p:sp>
    </p:spTree>
    <p:extLst>
      <p:ext uri="{BB962C8B-B14F-4D97-AF65-F5344CB8AC3E}">
        <p14:creationId xmlns:p14="http://schemas.microsoft.com/office/powerpoint/2010/main" val="435743070"/>
      </p:ext>
    </p:extLst>
  </p:cSld>
</p:sld>
</file>

<file path=ppt/slides/slide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FA31BC1-79E1-42E3-B379-6AB1A47F98E7}"/>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Módulos y responsabilidades</a:t>
            </a:r>
          </a:p>
        </p:txBody>
      </p:sp>
      <p:pic>
        <p:nvPicPr>
          <p:cNvPr id="2" name="">
            <a:extLst xmlns:a="http://schemas.openxmlformats.org/drawingml/2006/main">
              <a:ext uri="{FF2B5EF4-FFF2-40B4-BE49-F238E27FC236}">
                <a16:creationId xmlns:a16="http://schemas.microsoft.com/office/drawing/2014/main" id="{5AC4E869-AF7F-400E-9CE8-EE9F4EDD53C8}"/>
              </a:ext>
            </a:extLst>
          </p:cNvPr>
          <p:cNvPicPr>
            <a:picLocks xmlns:a="http://schemas.openxmlformats.org/drawingml/2006/main" noChangeAspect="1"/>
          </p:cNvPicPr>
          <p:nvPr/>
        </p:nvPicPr>
        <p:blipFill>
          <a:blip xmlns:r="http://schemas.openxmlformats.org/officeDocument/2006/relationships" xmlns:a="http://schemas.openxmlformats.org/drawingml/2006/main" r:embed="Rd961cc390e50417e"/>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AE99B05-10C7-4A61-ADBC-491ABCE55680}"/>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8   CLASE 15   08/24</a:t>
            </a:r>
          </a:p>
        </p:txBody>
      </p:sp>
      <p:sp>
        <p:nvSpPr>
          <p:cNvPr id="4" name="">
            <a:extLst xmlns:a="http://schemas.openxmlformats.org/drawingml/2006/main">
              <a:ext uri="{FF2B5EF4-FFF2-40B4-BE49-F238E27FC236}">
                <a16:creationId xmlns:a16="http://schemas.microsoft.com/office/drawing/2014/main" id="{26AA9BC1-D4E9-4979-8465-79D78BAA0BD5}"/>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El código se organiza en adquisición, procesamiento, estado y presentación. Un dato aceptado lleva su instante; la tarea de pantalla no cambia ese origen. La tabla de pines corresponde a la versión final y reemplaza las conexiones de ejercicios anteriores. El semáforo, la OLED y la IMU no se acumulan sobre los mismos GPIO sin revisar su función y sus conflictos.</a:t>
            </a:r>
          </a:p>
        </p:txBody>
      </p:sp>
    </p:spTree>
    <p:extLst>
      <p:ext uri="{BB962C8B-B14F-4D97-AF65-F5344CB8AC3E}">
        <p14:creationId xmlns:p14="http://schemas.microsoft.com/office/powerpoint/2010/main" val="717913013"/>
      </p:ext>
    </p:extLst>
  </p:cSld>
</p:sld>
</file>

<file path=ppt/slides/slide9.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4A1F6EA-78E8-4D77-9525-78B8CE4E210D}"/>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Perfil del ejemplo integrado</a:t>
            </a:r>
          </a:p>
        </p:txBody>
      </p:sp>
      <p:pic>
        <p:nvPicPr>
          <p:cNvPr id="2" name="">
            <a:extLst xmlns:a="http://schemas.openxmlformats.org/drawingml/2006/main">
              <a:ext uri="{FF2B5EF4-FFF2-40B4-BE49-F238E27FC236}">
                <a16:creationId xmlns:a16="http://schemas.microsoft.com/office/drawing/2014/main" id="{86B7E361-2229-4CA5-BEE7-B291EE94DD12}"/>
              </a:ext>
            </a:extLst>
          </p:cNvPr>
          <p:cNvPicPr>
            <a:picLocks xmlns:a="http://schemas.openxmlformats.org/drawingml/2006/main" noChangeAspect="1"/>
          </p:cNvPicPr>
          <p:nvPr/>
        </p:nvPicPr>
        <p:blipFill>
          <a:blip xmlns:r="http://schemas.openxmlformats.org/officeDocument/2006/relationships" xmlns:a="http://schemas.openxmlformats.org/drawingml/2006/main" r:embed="Rc9f3d4671c9e45e5"/>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1B6D74B-3A93-4F9E-A670-7700423124E3}"/>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8   CLASE 15   09/24</a:t>
            </a:r>
          </a:p>
        </p:txBody>
      </p:sp>
      <p:graphicFrame>
        <p:nvGraphicFramePr>
          <p:cNvPr id="4" name="">
            <a:extLst xmlns:a="http://schemas.openxmlformats.org/drawingml/2006/main">
              <a:ext uri="{FF2B5EF4-FFF2-40B4-BE49-F238E27FC236}">
                <a16:creationId xmlns:a16="http://schemas.microsoft.com/office/drawing/2014/main" id="{3E1F9F5E-E131-47B4-A5CB-BD28C82C3C62}"/>
              </a:ext>
            </a:extLst>
          </p:cNvPr>
          <p:cNvGraphicFramePr/>
          <p:nvPr/>
        </p:nvGraphicFramePr>
        <p:xfrm>
          <a:off xmlns:a="http://schemas.openxmlformats.org/drawingml/2006/main" x="590550" y="1714500"/>
          <a:ext xmlns:a="http://schemas.openxmlformats.org/drawingml/2006/main" cx="11010900" cy="3762375"/>
        </p:xfrm>
        <a:graphic xmlns:a="http://schemas.openxmlformats.org/drawingml/2006/main">
          <a:graphicData uri="http://schemas.openxmlformats.org/drawingml/2006/table">
            <a:tbl>
              <a:tblPr/>
              <a:tblGrid>
                <a:gridCol w="3238500"/>
                <a:gridCol w="3667125"/>
                <a:gridCol w="4105275"/>
              </a:tblGrid>
              <a:tr h="752475">
                <a:tc>
                  <a:txBody>
                    <a:bodyPr/>
                    <a:lstStyle/>
                    <a:p>
                      <a:r>
                        <a:rPr sz="1875" b="1">
                          <a:solidFill>
                            <a:srgbClr val="FFFFFF"/>
                          </a:solidFill>
                          <a:latin typeface="Arial"/>
                          <a:ea typeface="Arial"/>
                          <a:cs typeface="Arial"/>
                        </a:rPr>
                        <a:t>Elemento</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Conexión de referencia</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Función</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752475">
                <a:tc>
                  <a:txBody>
                    <a:bodyPr/>
                    <a:lstStyle/>
                    <a:p>
                      <a:r>
                        <a:rPr sz="1875" b="0">
                          <a:solidFill>
                            <a:srgbClr val="14231E"/>
                          </a:solidFill>
                          <a:latin typeface="Arial"/>
                          <a:ea typeface="Arial"/>
                          <a:cs typeface="Arial"/>
                        </a:rPr>
                        <a:t>IMU I2C</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SDA21 / SCL22</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Adquisición</a:t>
                      </a:r>
                    </a:p>
                  </a:txBody>
                  <a:tcPr marL="91440" marR="91440" marT="45720" marB="45720">
                    <a:lnR w="9525">
                      <a:solidFill>
                        <a:srgbClr val="BFCEC3"/>
                      </a:solidFill>
                      <a:prstDash val="solid"/>
                    </a:lnR>
                    <a:lnB w="9525">
                      <a:solidFill>
                        <a:srgbClr val="BFCEC3"/>
                      </a:solidFill>
                      <a:prstDash val="solid"/>
                    </a:lnB>
                    <a:solidFill>
                      <a:srgbClr val="EAF3EC"/>
                    </a:solidFill>
                  </a:tcPr>
                </a:tc>
              </a:tr>
              <a:tr h="752475">
                <a:tc>
                  <a:txBody>
                    <a:bodyPr/>
                    <a:lstStyle/>
                    <a:p>
                      <a:r>
                        <a:rPr sz="1875" b="0">
                          <a:solidFill>
                            <a:srgbClr val="14231E"/>
                          </a:solidFill>
                          <a:latin typeface="Arial"/>
                          <a:ea typeface="Arial"/>
                          <a:cs typeface="Arial"/>
                        </a:rPr>
                        <a:t>Entrada analógica</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GPIO34 / ADC1</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Lectura de mando</a:t>
                      </a:r>
                    </a:p>
                  </a:txBody>
                  <a:tcPr marL="91440" marR="91440" marT="45720" marB="45720">
                    <a:lnR w="9525">
                      <a:solidFill>
                        <a:srgbClr val="BFCEC3"/>
                      </a:solidFill>
                      <a:prstDash val="solid"/>
                    </a:lnR>
                    <a:lnB w="9525">
                      <a:solidFill>
                        <a:srgbClr val="BFCEC3"/>
                      </a:solidFill>
                      <a:prstDash val="solid"/>
                    </a:lnB>
                    <a:solidFill>
                      <a:srgbClr val="FCFCF8"/>
                    </a:solidFill>
                  </a:tcPr>
                </a:tc>
              </a:tr>
              <a:tr h="752475">
                <a:tc>
                  <a:txBody>
                    <a:bodyPr/>
                    <a:lstStyle/>
                    <a:p>
                      <a:r>
                        <a:rPr sz="1875" b="0">
                          <a:solidFill>
                            <a:srgbClr val="14231E"/>
                          </a:solidFill>
                          <a:latin typeface="Arial"/>
                          <a:ea typeface="Arial"/>
                          <a:cs typeface="Arial"/>
                        </a:rPr>
                        <a:t>LED con resistor</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GPIO23</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Estado del dato</a:t>
                      </a:r>
                    </a:p>
                  </a:txBody>
                  <a:tcPr marL="91440" marR="91440" marT="45720" marB="45720">
                    <a:lnR w="9525">
                      <a:solidFill>
                        <a:srgbClr val="BFCEC3"/>
                      </a:solidFill>
                      <a:prstDash val="solid"/>
                    </a:lnR>
                    <a:lnB w="9525">
                      <a:solidFill>
                        <a:srgbClr val="BFCEC3"/>
                      </a:solidFill>
                      <a:prstDash val="solid"/>
                    </a:lnB>
                    <a:solidFill>
                      <a:srgbClr val="EAF3EC"/>
                    </a:solidFill>
                  </a:tcPr>
                </a:tc>
              </a:tr>
              <a:tr h="752475">
                <a:tc>
                  <a:txBody>
                    <a:bodyPr/>
                    <a:lstStyle/>
                    <a:p>
                      <a:r>
                        <a:rPr sz="1875" b="0">
                          <a:solidFill>
                            <a:srgbClr val="14231E"/>
                          </a:solidFill>
                          <a:latin typeface="Arial"/>
                          <a:ea typeface="Arial"/>
                          <a:cs typeface="Arial"/>
                        </a:rPr>
                        <a:t>Puerto serie</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USB–UART de la placa</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Registro</a:t>
                      </a:r>
                    </a:p>
                  </a:txBody>
                  <a:tcPr marL="91440" marR="91440" marT="45720" marB="45720">
                    <a:lnR w="9525">
                      <a:solidFill>
                        <a:srgbClr val="BFCEC3"/>
                      </a:solidFill>
                      <a:prstDash val="solid"/>
                    </a:lnR>
                    <a:lnB w="9525">
                      <a:solidFill>
                        <a:srgbClr val="BFCEC3"/>
                      </a:solidFill>
                      <a:prstDash val="solid"/>
                    </a:lnB>
                    <a:solidFill>
                      <a:srgbClr val="FCFCF8"/>
                    </a:solidFill>
                  </a:tcPr>
                </a:tc>
              </a:tr>
            </a:tbl>
          </a:graphicData>
        </a:graphic>
      </p:graphicFrame>
    </p:spTree>
    <p:extLst>
      <p:ext uri="{BB962C8B-B14F-4D97-AF65-F5344CB8AC3E}">
        <p14:creationId xmlns:p14="http://schemas.microsoft.com/office/powerpoint/2010/main" val="338027342"/>
      </p:ext>
    </p:extLst>
  </p:cSld>
</p:sld>
</file>

<file path=ppt/slides/slide10.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166E0FD-532C-4B8E-87C6-9969B56D8746}"/>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Interpretación · Módulos y responsabilidades</a:t>
            </a:r>
          </a:p>
        </p:txBody>
      </p:sp>
      <p:pic>
        <p:nvPicPr>
          <p:cNvPr id="2" name="">
            <a:extLst xmlns:a="http://schemas.openxmlformats.org/drawingml/2006/main">
              <a:ext uri="{FF2B5EF4-FFF2-40B4-BE49-F238E27FC236}">
                <a16:creationId xmlns:a16="http://schemas.microsoft.com/office/drawing/2014/main" id="{5FD80818-844A-46AA-8D8F-E0D47B56D018}"/>
              </a:ext>
            </a:extLst>
          </p:cNvPr>
          <p:cNvPicPr>
            <a:picLocks xmlns:a="http://schemas.openxmlformats.org/drawingml/2006/main" noChangeAspect="1"/>
          </p:cNvPicPr>
          <p:nvPr/>
        </p:nvPicPr>
        <p:blipFill>
          <a:blip xmlns:r="http://schemas.openxmlformats.org/officeDocument/2006/relationships" xmlns:a="http://schemas.openxmlformats.org/drawingml/2006/main" r:embed="R20b4f952b5e54843"/>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5463EBF-20ED-4AFD-8C10-8C72DFF544E4}"/>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8   CLASE 15   10/24</a:t>
            </a:r>
          </a:p>
        </p:txBody>
      </p:sp>
      <p:sp>
        <p:nvSpPr>
          <p:cNvPr id="4" name="">
            <a:extLst xmlns:a="http://schemas.openxmlformats.org/drawingml/2006/main">
              <a:ext uri="{FF2B5EF4-FFF2-40B4-BE49-F238E27FC236}">
                <a16:creationId xmlns:a16="http://schemas.microsoft.com/office/drawing/2014/main" id="{AB550C2E-ADE4-43D4-86B1-5069F4E8CC90}"/>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1E"/>
                </a:solidFill>
                <a:latin typeface="Arial"/>
                <a:ea typeface="Arial"/>
                <a:cs typeface="Arial"/>
              </a:defRPr>
            </a:defPPr>
            <a:lvl1pPr>
              <a:defRPr sz="2175" b="0">
                <a:solidFill>
                  <a:srgbClr val="14231E"/>
                </a:solidFill>
                <a:latin typeface="Arial"/>
                <a:ea typeface="Arial"/>
                <a:cs typeface="Arial"/>
              </a:defRPr>
            </a:lvl1pPr>
            <a:lvl2pPr>
              <a:defRPr sz="2175" b="0">
                <a:solidFill>
                  <a:srgbClr val="14231E"/>
                </a:solidFill>
                <a:latin typeface="Arial"/>
                <a:ea typeface="Arial"/>
                <a:cs typeface="Arial"/>
              </a:defRPr>
            </a:lvl2pPr>
            <a:lvl3pPr>
              <a:defRPr sz="2175" b="0">
                <a:solidFill>
                  <a:srgbClr val="14231E"/>
                </a:solidFill>
                <a:latin typeface="Arial"/>
                <a:ea typeface="Arial"/>
                <a:cs typeface="Arial"/>
              </a:defRPr>
            </a:lvl3pPr>
            <a:lvl4pPr>
              <a:defRPr sz="2175" b="0">
                <a:solidFill>
                  <a:srgbClr val="14231E"/>
                </a:solidFill>
                <a:latin typeface="Arial"/>
                <a:ea typeface="Arial"/>
                <a:cs typeface="Arial"/>
              </a:defRPr>
            </a:lvl4pPr>
            <a:lvl5pPr>
              <a:defRPr sz="2175" b="0">
                <a:solidFill>
                  <a:srgbClr val="14231E"/>
                </a:solidFill>
                <a:latin typeface="Arial"/>
                <a:ea typeface="Arial"/>
                <a:cs typeface="Arial"/>
              </a:defRPr>
            </a:lvl5pPr>
            <a:lvl6pPr>
              <a:defRPr sz="2175" b="0">
                <a:solidFill>
                  <a:srgbClr val="14231E"/>
                </a:solidFill>
                <a:latin typeface="Arial"/>
                <a:ea typeface="Arial"/>
                <a:cs typeface="Arial"/>
              </a:defRPr>
            </a:lvl6pPr>
            <a:lvl7pPr>
              <a:defRPr sz="2175" b="0">
                <a:solidFill>
                  <a:srgbClr val="14231E"/>
                </a:solidFill>
                <a:latin typeface="Arial"/>
                <a:ea typeface="Arial"/>
                <a:cs typeface="Arial"/>
              </a:defRPr>
            </a:lvl7pPr>
            <a:lvl8pPr>
              <a:defRPr sz="2175" b="0">
                <a:solidFill>
                  <a:srgbClr val="14231E"/>
                </a:solidFill>
                <a:latin typeface="Arial"/>
                <a:ea typeface="Arial"/>
                <a:cs typeface="Arial"/>
              </a:defRPr>
            </a:lvl8pPr>
            <a:lvl9pPr>
              <a:defRPr sz="2175" b="0">
                <a:solidFill>
                  <a:srgbClr val="14231E"/>
                </a:solidFill>
                <a:latin typeface="Arial"/>
                <a:ea typeface="Arial"/>
                <a:cs typeface="Arial"/>
              </a:defRPr>
            </a:lvl9pPr>
          </a:lstStyle>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La variante de motor conserva, además, el eje y las cuentas por vuelta del encoder, las alimentaciones del driver y los límites de mando. El controlador solo se evalúa después de comprobar medida y sentido de acción. Las curvas del modelo de la clase 11 ayudan a formular la prueba, pero sus ganancias no se trasladan como una promesa de respuesta del hardware.</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La base de cámara y el ascensor quedan como ampliaciones de estados y posicionamiento. Sus esquemas publicados requieren unificar motor y driver con el código antes de construir. No se mezclan A4988 de STEP/DIR y una secuencia de cuatro salidas para otro tipo de motor como si fueran la misma interfaz.</a:t>
            </a:r>
          </a:p>
        </p:txBody>
      </p:sp>
    </p:spTree>
    <p:extLst>
      <p:ext uri="{BB962C8B-B14F-4D97-AF65-F5344CB8AC3E}">
        <p14:creationId xmlns:p14="http://schemas.microsoft.com/office/powerpoint/2010/main" val="701201197"/>
      </p:ext>
    </p:extLst>
  </p:cSld>
</p:sld>
</file>

<file path=ppt/slides/slide11.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91199E1-B9A4-4488-AF10-CD83D3301639}"/>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Lectura del ejemplo integrado</a:t>
            </a:r>
          </a:p>
        </p:txBody>
      </p:sp>
      <p:pic>
        <p:nvPicPr>
          <p:cNvPr id="2" name="">
            <a:extLst xmlns:a="http://schemas.openxmlformats.org/drawingml/2006/main">
              <a:ext uri="{FF2B5EF4-FFF2-40B4-BE49-F238E27FC236}">
                <a16:creationId xmlns:a16="http://schemas.microsoft.com/office/drawing/2014/main" id="{05CF58E6-FD19-4179-BEF5-54082CED2547}"/>
              </a:ext>
            </a:extLst>
          </p:cNvPr>
          <p:cNvPicPr>
            <a:picLocks xmlns:a="http://schemas.openxmlformats.org/drawingml/2006/main" noChangeAspect="1"/>
          </p:cNvPicPr>
          <p:nvPr/>
        </p:nvPicPr>
        <p:blipFill>
          <a:blip xmlns:r="http://schemas.openxmlformats.org/officeDocument/2006/relationships" xmlns:a="http://schemas.openxmlformats.org/drawingml/2006/main" r:embed="R2190f06e5d9e4901"/>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A228727-7021-4CA3-B41E-F6FF33BA9EB7}"/>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8   CLASE 15   11/24</a:t>
            </a:r>
          </a:p>
        </p:txBody>
      </p:sp>
      <p:sp>
        <p:nvSpPr>
          <p:cNvPr id="4" name="">
            <a:extLst xmlns:a="http://schemas.openxmlformats.org/drawingml/2006/main">
              <a:ext uri="{FF2B5EF4-FFF2-40B4-BE49-F238E27FC236}">
                <a16:creationId xmlns:a16="http://schemas.microsoft.com/office/drawing/2014/main" id="{9DAB4E2F-98BD-494E-87B7-C2E3473DBF3B}"/>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El ejemplo comprueba respuesta de bus antes de actualizar el registro. Esta prueba aporta presencia de comunicación en esa operación; no demuestra integridad absoluta de todas las medidas. La plausibilidad numérica y la antigüedad son criterios separados. La estimación angular conserva las hipótesis de la práctica cuasiestática. El alumno debe poder explicar exactamente qué significa data_valid en su propia versión.</a:t>
            </a:r>
          </a:p>
        </p:txBody>
      </p:sp>
    </p:spTree>
    <p:extLst>
      <p:ext uri="{BB962C8B-B14F-4D97-AF65-F5344CB8AC3E}">
        <p14:creationId xmlns:p14="http://schemas.microsoft.com/office/powerpoint/2010/main" val="596351548"/>
      </p:ext>
    </p:extLst>
  </p:cSld>
</p:sld>
</file>

<file path=ppt/slides/slide1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1D9A7C8-5F01-43A6-BB5C-629725CFFD14}"/>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Lógica principal de c15_integrador</a:t>
            </a:r>
          </a:p>
        </p:txBody>
      </p:sp>
      <p:pic>
        <p:nvPicPr>
          <p:cNvPr id="2" name="">
            <a:extLst xmlns:a="http://schemas.openxmlformats.org/drawingml/2006/main">
              <a:ext uri="{FF2B5EF4-FFF2-40B4-BE49-F238E27FC236}">
                <a16:creationId xmlns:a16="http://schemas.microsoft.com/office/drawing/2014/main" id="{A4E02F83-92FE-409E-98A4-87E0FDF89056}"/>
              </a:ext>
            </a:extLst>
          </p:cNvPr>
          <p:cNvPicPr>
            <a:picLocks xmlns:a="http://schemas.openxmlformats.org/drawingml/2006/main" noChangeAspect="1"/>
          </p:cNvPicPr>
          <p:nvPr/>
        </p:nvPicPr>
        <p:blipFill>
          <a:blip xmlns:r="http://schemas.openxmlformats.org/officeDocument/2006/relationships" xmlns:a="http://schemas.openxmlformats.org/drawingml/2006/main" r:embed="R541d45f10a1148db"/>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7A40ED3-183B-49DD-9DE2-37E656F1931D}"/>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8   CLASE 15   12/24</a:t>
            </a:r>
          </a:p>
        </p:txBody>
      </p:sp>
      <p:sp>
        <p:nvSpPr>
          <p:cNvPr id="4" name="">
            <a:extLst xmlns:a="http://schemas.openxmlformats.org/drawingml/2006/main">
              <a:ext uri="{FF2B5EF4-FFF2-40B4-BE49-F238E27FC236}">
                <a16:creationId xmlns:a16="http://schemas.microsoft.com/office/drawing/2014/main" id="{7219E2F4-F38B-4253-8BFF-A7E42EC41817}"/>
              </a:ext>
            </a:extLst>
          </p:cNvPr>
          <p:cNvSpPr>
            <a:spLocks xmlns:a="http://schemas.openxmlformats.org/drawingml/2006/main" noGrp="1"/>
          </p:cNvSpPr>
          <p:nvPr/>
        </p:nvSpPr>
        <p:spPr>
          <a:xfrm xmlns:a="http://schemas.openxmlformats.org/drawingml/2006/main">
            <a:off x="590550" y="1743075"/>
            <a:ext cx="109537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4231E"/>
                </a:solidFill>
                <a:latin typeface="Consolas"/>
                <a:ea typeface="Consolas"/>
                <a:cs typeface="Consolas"/>
              </a:defRPr>
            </a:defPPr>
            <a:lvl1pPr>
              <a:defRPr sz="1800" b="0">
                <a:solidFill>
                  <a:srgbClr val="14231E"/>
                </a:solidFill>
                <a:latin typeface="Consolas"/>
                <a:ea typeface="Consolas"/>
                <a:cs typeface="Consolas"/>
              </a:defRPr>
            </a:lvl1pPr>
            <a:lvl2pPr>
              <a:defRPr sz="1800" b="0">
                <a:solidFill>
                  <a:srgbClr val="14231E"/>
                </a:solidFill>
                <a:latin typeface="Consolas"/>
                <a:ea typeface="Consolas"/>
                <a:cs typeface="Consolas"/>
              </a:defRPr>
            </a:lvl2pPr>
            <a:lvl3pPr>
              <a:defRPr sz="1800" b="0">
                <a:solidFill>
                  <a:srgbClr val="14231E"/>
                </a:solidFill>
                <a:latin typeface="Consolas"/>
                <a:ea typeface="Consolas"/>
                <a:cs typeface="Consolas"/>
              </a:defRPr>
            </a:lvl3pPr>
            <a:lvl4pPr>
              <a:defRPr sz="1800" b="0">
                <a:solidFill>
                  <a:srgbClr val="14231E"/>
                </a:solidFill>
                <a:latin typeface="Consolas"/>
                <a:ea typeface="Consolas"/>
                <a:cs typeface="Consolas"/>
              </a:defRPr>
            </a:lvl4pPr>
            <a:lvl5pPr>
              <a:defRPr sz="1800" b="0">
                <a:solidFill>
                  <a:srgbClr val="14231E"/>
                </a:solidFill>
                <a:latin typeface="Consolas"/>
                <a:ea typeface="Consolas"/>
                <a:cs typeface="Consolas"/>
              </a:defRPr>
            </a:lvl5pPr>
            <a:lvl6pPr>
              <a:defRPr sz="1800" b="0">
                <a:solidFill>
                  <a:srgbClr val="14231E"/>
                </a:solidFill>
                <a:latin typeface="Consolas"/>
                <a:ea typeface="Consolas"/>
                <a:cs typeface="Consolas"/>
              </a:defRPr>
            </a:lvl6pPr>
            <a:lvl7pPr>
              <a:defRPr sz="1800" b="0">
                <a:solidFill>
                  <a:srgbClr val="14231E"/>
                </a:solidFill>
                <a:latin typeface="Consolas"/>
                <a:ea typeface="Consolas"/>
                <a:cs typeface="Consolas"/>
              </a:defRPr>
            </a:lvl7pPr>
            <a:lvl8pPr>
              <a:defRPr sz="1800" b="0">
                <a:solidFill>
                  <a:srgbClr val="14231E"/>
                </a:solidFill>
                <a:latin typeface="Consolas"/>
                <a:ea typeface="Consolas"/>
                <a:cs typeface="Consolas"/>
              </a:defRPr>
            </a:lvl8pPr>
            <a:lvl9pPr>
              <a:defRPr sz="1800" b="0">
                <a:solidFill>
                  <a:srgbClr val="14231E"/>
                </a:solidFill>
                <a:latin typeface="Consolas"/>
                <a:ea typeface="Consolas"/>
                <a:cs typeface="Consolas"/>
              </a:defRPr>
            </a:lvl9pPr>
          </a:lstStyle>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bool valid = ready &amp;&amp; haveSample</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  &amp;&amp; uint32_t(now-lastValid) &lt;= 250;</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state = valid ? State::READY : State::FAULT;</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digitalWrite(LED, valid);</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 El archivo completo conserva INICIO antes de la primera muestra.</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 El registro incluye secuencia, tiempo, estado y unidades.</a:t>
            </a:r>
          </a:p>
        </p:txBody>
      </p:sp>
      <p:sp>
        <p:nvSpPr>
          <p:cNvPr id="5" name="">
            <a:extLst xmlns:a="http://schemas.openxmlformats.org/drawingml/2006/main">
              <a:ext uri="{FF2B5EF4-FFF2-40B4-BE49-F238E27FC236}">
                <a16:creationId xmlns:a16="http://schemas.microsoft.com/office/drawing/2014/main" id="{4B7034A8-2226-4934-BED7-3BD86B4D088D}"/>
              </a:ext>
            </a:extLst>
          </p:cNvPr>
          <p:cNvSpPr>
            <a:spLocks xmlns:a="http://schemas.openxmlformats.org/drawingml/2006/main" noGrp="1"/>
          </p:cNvSpPr>
          <p:nvPr/>
        </p:nvSpPr>
        <p:spPr>
          <a:xfrm xmlns:a="http://schemas.openxmlformats.org/drawingml/2006/main">
            <a:off x="590550" y="5857875"/>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44F3D"/>
                </a:solidFill>
                <a:latin typeface="Arial"/>
                <a:ea typeface="Arial"/>
                <a:cs typeface="Arial"/>
              </a:defRPr>
            </a:defPPr>
            <a:lvl1pPr>
              <a:defRPr sz="1575" b="0">
                <a:solidFill>
                  <a:srgbClr val="244F3D"/>
                </a:solidFill>
                <a:latin typeface="Arial"/>
                <a:ea typeface="Arial"/>
                <a:cs typeface="Arial"/>
              </a:defRPr>
            </a:lvl1pPr>
            <a:lvl2pPr>
              <a:defRPr sz="1575" b="0">
                <a:solidFill>
                  <a:srgbClr val="244F3D"/>
                </a:solidFill>
                <a:latin typeface="Arial"/>
                <a:ea typeface="Arial"/>
                <a:cs typeface="Arial"/>
              </a:defRPr>
            </a:lvl2pPr>
            <a:lvl3pPr>
              <a:defRPr sz="1575" b="0">
                <a:solidFill>
                  <a:srgbClr val="244F3D"/>
                </a:solidFill>
                <a:latin typeface="Arial"/>
                <a:ea typeface="Arial"/>
                <a:cs typeface="Arial"/>
              </a:defRPr>
            </a:lvl3pPr>
            <a:lvl4pPr>
              <a:defRPr sz="1575" b="0">
                <a:solidFill>
                  <a:srgbClr val="244F3D"/>
                </a:solidFill>
                <a:latin typeface="Arial"/>
                <a:ea typeface="Arial"/>
                <a:cs typeface="Arial"/>
              </a:defRPr>
            </a:lvl4pPr>
            <a:lvl5pPr>
              <a:defRPr sz="1575" b="0">
                <a:solidFill>
                  <a:srgbClr val="244F3D"/>
                </a:solidFill>
                <a:latin typeface="Arial"/>
                <a:ea typeface="Arial"/>
                <a:cs typeface="Arial"/>
              </a:defRPr>
            </a:lvl5pPr>
            <a:lvl6pPr>
              <a:defRPr sz="1575" b="0">
                <a:solidFill>
                  <a:srgbClr val="244F3D"/>
                </a:solidFill>
                <a:latin typeface="Arial"/>
                <a:ea typeface="Arial"/>
                <a:cs typeface="Arial"/>
              </a:defRPr>
            </a:lvl6pPr>
            <a:lvl7pPr>
              <a:defRPr sz="1575" b="0">
                <a:solidFill>
                  <a:srgbClr val="244F3D"/>
                </a:solidFill>
                <a:latin typeface="Arial"/>
                <a:ea typeface="Arial"/>
                <a:cs typeface="Arial"/>
              </a:defRPr>
            </a:lvl7pPr>
            <a:lvl8pPr>
              <a:defRPr sz="1575" b="0">
                <a:solidFill>
                  <a:srgbClr val="244F3D"/>
                </a:solidFill>
                <a:latin typeface="Arial"/>
                <a:ea typeface="Arial"/>
                <a:cs typeface="Arial"/>
              </a:defRPr>
            </a:lvl8pPr>
            <a:lvl9pPr>
              <a:defRPr sz="1575" b="0">
                <a:solidFill>
                  <a:srgbClr val="244F3D"/>
                </a:solidFill>
                <a:latin typeface="Arial"/>
                <a:ea typeface="Arial"/>
                <a:cs typeface="Arial"/>
              </a:defRPr>
            </a:lvl9pPr>
          </a:lstStyle>
          <a:p xmlns:a="http://schemas.openxmlformats.org/drawingml/2006/main">
            <a:pPr>
              <a:defRPr sz="1575" b="0">
                <a:solidFill>
                  <a:srgbClr val="244F3D"/>
                </a:solidFill>
                <a:latin typeface="Arial"/>
                <a:ea typeface="Arial"/>
                <a:cs typeface="Arial"/>
              </a:defRPr>
            </a:pPr>
            <a:r>
              <a:rPr sz="1575" b="0">
                <a:solidFill>
                  <a:srgbClr val="244F3D"/>
                </a:solidFill>
                <a:latin typeface="Arial"/>
                <a:ea typeface="Arial"/>
                <a:cs typeface="Arial"/>
              </a:rPr>
              <a:t>Lee el fragmento. Predice una salida y cambia una sola condición antes de ejecutar.</a:t>
            </a:r>
          </a:p>
        </p:txBody>
      </p:sp>
    </p:spTree>
    <p:extLst>
      <p:ext uri="{BB962C8B-B14F-4D97-AF65-F5344CB8AC3E}">
        <p14:creationId xmlns:p14="http://schemas.microsoft.com/office/powerpoint/2010/main" val="1952037371"/>
      </p:ext>
    </p:extLst>
  </p:cSld>
</p:sld>
</file>

<file path=ppt/slides/slide13.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FEFECD5-6977-4B95-A80C-8C79D25D2A59}"/>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Una marca temporal falsa</a:t>
            </a:r>
          </a:p>
        </p:txBody>
      </p:sp>
      <p:pic>
        <p:nvPicPr>
          <p:cNvPr id="2" name="">
            <a:extLst xmlns:a="http://schemas.openxmlformats.org/drawingml/2006/main">
              <a:ext uri="{FF2B5EF4-FFF2-40B4-BE49-F238E27FC236}">
                <a16:creationId xmlns:a16="http://schemas.microsoft.com/office/drawing/2014/main" id="{41282394-F9C5-4071-AFC9-F00890AD277D}"/>
              </a:ext>
            </a:extLst>
          </p:cNvPr>
          <p:cNvPicPr>
            <a:picLocks xmlns:a="http://schemas.openxmlformats.org/drawingml/2006/main" noChangeAspect="1"/>
          </p:cNvPicPr>
          <p:nvPr/>
        </p:nvPicPr>
        <p:blipFill>
          <a:blip xmlns:r="http://schemas.openxmlformats.org/officeDocument/2006/relationships" xmlns:a="http://schemas.openxmlformats.org/drawingml/2006/main" r:embed="R97cd5742b94d4514"/>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DDC3A20-BD86-42B5-B52B-7C5FA3023F40}"/>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8   CLASE 15   13/24</a:t>
            </a:r>
          </a:p>
        </p:txBody>
      </p:sp>
      <p:sp>
        <p:nvSpPr>
          <p:cNvPr id="4" name="">
            <a:extLst xmlns:a="http://schemas.openxmlformats.org/drawingml/2006/main">
              <a:ext uri="{FF2B5EF4-FFF2-40B4-BE49-F238E27FC236}">
                <a16:creationId xmlns:a16="http://schemas.microsoft.com/office/drawing/2014/main" id="{273EBF52-E61A-4071-8995-6AD54E52895E}"/>
              </a:ext>
            </a:extLst>
          </p:cNvPr>
          <p:cNvSpPr>
            <a:spLocks xmlns:a="http://schemas.openxmlformats.org/drawingml/2006/main" noGrp="1"/>
          </p:cNvSpPr>
          <p:nvPr/>
        </p:nvSpPr>
        <p:spPr>
          <a:xfrm xmlns:a="http://schemas.openxmlformats.org/drawingml/2006/main">
            <a:off x="590550" y="1743075"/>
            <a:ext cx="107156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AEF4BB"/>
                </a:solidFill>
                <a:latin typeface="Arial"/>
                <a:ea typeface="Arial"/>
                <a:cs typeface="Arial"/>
              </a:defRPr>
            </a:defPPr>
            <a:lvl1pPr>
              <a:defRPr sz="2475" b="1">
                <a:solidFill>
                  <a:srgbClr val="AEF4BB"/>
                </a:solidFill>
                <a:latin typeface="Arial"/>
                <a:ea typeface="Arial"/>
                <a:cs typeface="Arial"/>
              </a:defRPr>
            </a:lvl1pPr>
            <a:lvl2pPr>
              <a:defRPr sz="2475" b="1">
                <a:solidFill>
                  <a:srgbClr val="AEF4BB"/>
                </a:solidFill>
                <a:latin typeface="Arial"/>
                <a:ea typeface="Arial"/>
                <a:cs typeface="Arial"/>
              </a:defRPr>
            </a:lvl2pPr>
            <a:lvl3pPr>
              <a:defRPr sz="2475" b="1">
                <a:solidFill>
                  <a:srgbClr val="AEF4BB"/>
                </a:solidFill>
                <a:latin typeface="Arial"/>
                <a:ea typeface="Arial"/>
                <a:cs typeface="Arial"/>
              </a:defRPr>
            </a:lvl3pPr>
            <a:lvl4pPr>
              <a:defRPr sz="2475" b="1">
                <a:solidFill>
                  <a:srgbClr val="AEF4BB"/>
                </a:solidFill>
                <a:latin typeface="Arial"/>
                <a:ea typeface="Arial"/>
                <a:cs typeface="Arial"/>
              </a:defRPr>
            </a:lvl4pPr>
            <a:lvl5pPr>
              <a:defRPr sz="2475" b="1">
                <a:solidFill>
                  <a:srgbClr val="AEF4BB"/>
                </a:solidFill>
                <a:latin typeface="Arial"/>
                <a:ea typeface="Arial"/>
                <a:cs typeface="Arial"/>
              </a:defRPr>
            </a:lvl5pPr>
            <a:lvl6pPr>
              <a:defRPr sz="2475" b="1">
                <a:solidFill>
                  <a:srgbClr val="AEF4BB"/>
                </a:solidFill>
                <a:latin typeface="Arial"/>
                <a:ea typeface="Arial"/>
                <a:cs typeface="Arial"/>
              </a:defRPr>
            </a:lvl6pPr>
            <a:lvl7pPr>
              <a:defRPr sz="2475" b="1">
                <a:solidFill>
                  <a:srgbClr val="AEF4BB"/>
                </a:solidFill>
                <a:latin typeface="Arial"/>
                <a:ea typeface="Arial"/>
                <a:cs typeface="Arial"/>
              </a:defRPr>
            </a:lvl7pPr>
            <a:lvl8pPr>
              <a:defRPr sz="2475" b="1">
                <a:solidFill>
                  <a:srgbClr val="AEF4BB"/>
                </a:solidFill>
                <a:latin typeface="Arial"/>
                <a:ea typeface="Arial"/>
                <a:cs typeface="Arial"/>
              </a:defRPr>
            </a:lvl8pPr>
            <a:lvl9pPr>
              <a:defRPr sz="2475" b="1">
                <a:solidFill>
                  <a:srgbClr val="AEF4BB"/>
                </a:solidFill>
                <a:latin typeface="Arial"/>
                <a:ea typeface="Arial"/>
                <a:cs typeface="Arial"/>
              </a:defRPr>
            </a:lvl9pPr>
          </a:lstStyle>
          <a:p xmlns:a="http://schemas.openxmlformats.org/drawingml/2006/main">
            <a:pPr>
              <a:defRPr sz="2475" b="1">
                <a:solidFill>
                  <a:srgbClr val="AEF4BB"/>
                </a:solidFill>
                <a:latin typeface="Arial"/>
                <a:ea typeface="Arial"/>
                <a:cs typeface="Arial"/>
              </a:defRPr>
            </a:pPr>
            <a:r>
              <a:rPr sz="2475" b="1">
                <a:solidFill>
                  <a:srgbClr val="AEF4BB"/>
                </a:solidFill>
                <a:latin typeface="Arial"/>
                <a:ea typeface="Arial"/>
                <a:cs typeface="Arial"/>
              </a:rPr>
              <a:t>El equipo actualiza lastValid cada vez que imprime, aunque la lectura haya fallado. ¿Qué ocurre con el criterio de antigüedad?</a:t>
            </a:r>
          </a:p>
        </p:txBody>
      </p:sp>
      <p:sp>
        <p:nvSpPr>
          <p:cNvPr id="5" name="">
            <a:extLst xmlns:a="http://schemas.openxmlformats.org/drawingml/2006/main">
              <a:ext uri="{FF2B5EF4-FFF2-40B4-BE49-F238E27FC236}">
                <a16:creationId xmlns:a16="http://schemas.microsoft.com/office/drawing/2014/main" id="{A871DFA3-CFB5-4898-B6BF-4BE62E4B5706}"/>
              </a:ext>
            </a:extLst>
          </p:cNvPr>
          <p:cNvSpPr>
            <a:spLocks xmlns:a="http://schemas.openxmlformats.org/drawingml/2006/main" noGrp="1"/>
          </p:cNvSpPr>
          <p:nvPr/>
        </p:nvSpPr>
        <p:spPr>
          <a:xfrm xmlns:a="http://schemas.openxmlformats.org/drawingml/2006/main">
            <a:off x="590550" y="3581400"/>
            <a:ext cx="10715625" cy="2533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FCFCF8"/>
                </a:solidFill>
                <a:latin typeface="Arial"/>
                <a:ea typeface="Arial"/>
                <a:cs typeface="Arial"/>
              </a:defRPr>
            </a:defPPr>
            <a:lvl1pPr>
              <a:defRPr sz="2175" b="0">
                <a:solidFill>
                  <a:srgbClr val="FCFCF8"/>
                </a:solidFill>
                <a:latin typeface="Arial"/>
                <a:ea typeface="Arial"/>
                <a:cs typeface="Arial"/>
              </a:defRPr>
            </a:lvl1pPr>
            <a:lvl2pPr>
              <a:defRPr sz="2175" b="0">
                <a:solidFill>
                  <a:srgbClr val="FCFCF8"/>
                </a:solidFill>
                <a:latin typeface="Arial"/>
                <a:ea typeface="Arial"/>
                <a:cs typeface="Arial"/>
              </a:defRPr>
            </a:lvl2pPr>
            <a:lvl3pPr>
              <a:defRPr sz="2175" b="0">
                <a:solidFill>
                  <a:srgbClr val="FCFCF8"/>
                </a:solidFill>
                <a:latin typeface="Arial"/>
                <a:ea typeface="Arial"/>
                <a:cs typeface="Arial"/>
              </a:defRPr>
            </a:lvl3pPr>
            <a:lvl4pPr>
              <a:defRPr sz="2175" b="0">
                <a:solidFill>
                  <a:srgbClr val="FCFCF8"/>
                </a:solidFill>
                <a:latin typeface="Arial"/>
                <a:ea typeface="Arial"/>
                <a:cs typeface="Arial"/>
              </a:defRPr>
            </a:lvl4pPr>
            <a:lvl5pPr>
              <a:defRPr sz="2175" b="0">
                <a:solidFill>
                  <a:srgbClr val="FCFCF8"/>
                </a:solidFill>
                <a:latin typeface="Arial"/>
                <a:ea typeface="Arial"/>
                <a:cs typeface="Arial"/>
              </a:defRPr>
            </a:lvl5pPr>
            <a:lvl6pPr>
              <a:defRPr sz="2175" b="0">
                <a:solidFill>
                  <a:srgbClr val="FCFCF8"/>
                </a:solidFill>
                <a:latin typeface="Arial"/>
                <a:ea typeface="Arial"/>
                <a:cs typeface="Arial"/>
              </a:defRPr>
            </a:lvl6pPr>
            <a:lvl7pPr>
              <a:defRPr sz="2175" b="0">
                <a:solidFill>
                  <a:srgbClr val="FCFCF8"/>
                </a:solidFill>
                <a:latin typeface="Arial"/>
                <a:ea typeface="Arial"/>
                <a:cs typeface="Arial"/>
              </a:defRPr>
            </a:lvl7pPr>
            <a:lvl8pPr>
              <a:defRPr sz="2175" b="0">
                <a:solidFill>
                  <a:srgbClr val="FCFCF8"/>
                </a:solidFill>
                <a:latin typeface="Arial"/>
                <a:ea typeface="Arial"/>
                <a:cs typeface="Arial"/>
              </a:defRPr>
            </a:lvl8pPr>
            <a:lvl9pPr>
              <a:defRPr sz="2175" b="0">
                <a:solidFill>
                  <a:srgbClr val="FCFCF8"/>
                </a:solidFill>
                <a:latin typeface="Arial"/>
                <a:ea typeface="Arial"/>
                <a:cs typeface="Arial"/>
              </a:defRPr>
            </a:lvl9pPr>
          </a:lstStyle>
          <a:p xmlns:a="http://schemas.openxmlformats.org/drawingml/2006/main">
            <a:pPr>
              <a:defRPr sz="2175" b="0">
                <a:solidFill>
                  <a:srgbClr val="FCFCF8"/>
                </a:solidFill>
                <a:latin typeface="Arial"/>
                <a:ea typeface="Arial"/>
                <a:cs typeface="Arial"/>
              </a:defRPr>
            </a:pPr>
            <a:r>
              <a:rPr sz="2175" b="0">
                <a:solidFill>
                  <a:srgbClr val="FCFCF8"/>
                </a:solidFill>
                <a:latin typeface="Arial"/>
                <a:ea typeface="Arial"/>
                <a:cs typeface="Arial"/>
              </a:rPr>
              <a:t>Deja de medir edad de la muestra y pasa a medir edad de la impresión. La aplicación puede seguir declarando reciente un dato que ya no lo es.</a:t>
            </a:r>
          </a:p>
        </p:txBody>
      </p:sp>
    </p:spTree>
    <p:extLst>
      <p:ext uri="{BB962C8B-B14F-4D97-AF65-F5344CB8AC3E}">
        <p14:creationId xmlns:p14="http://schemas.microsoft.com/office/powerpoint/2010/main" val="2095321941"/>
      </p:ext>
    </p:extLst>
  </p:cSld>
</p:sld>
</file>

<file path=ppt/slides/slide1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8B089D9-556F-4029-AB14-400C24F77AF2}"/>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Laboratorio de integración por hitos</a:t>
            </a:r>
          </a:p>
        </p:txBody>
      </p:sp>
      <p:pic>
        <p:nvPicPr>
          <p:cNvPr id="2" name="">
            <a:extLst xmlns:a="http://schemas.openxmlformats.org/drawingml/2006/main">
              <a:ext uri="{FF2B5EF4-FFF2-40B4-BE49-F238E27FC236}">
                <a16:creationId xmlns:a16="http://schemas.microsoft.com/office/drawing/2014/main" id="{6EDC0403-8A19-47CA-BA0E-66157FC75F7B}"/>
              </a:ext>
            </a:extLst>
          </p:cNvPr>
          <p:cNvPicPr>
            <a:picLocks xmlns:a="http://schemas.openxmlformats.org/drawingml/2006/main" noChangeAspect="1"/>
          </p:cNvPicPr>
          <p:nvPr/>
        </p:nvPicPr>
        <p:blipFill>
          <a:blip xmlns:r="http://schemas.openxmlformats.org/officeDocument/2006/relationships" xmlns:a="http://schemas.openxmlformats.org/drawingml/2006/main" r:embed="Redf695c99f0b40da"/>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B62AA62-8DDE-4E57-B5A1-4E475A074227}"/>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8   CLASE 15   14/24</a:t>
            </a:r>
          </a:p>
        </p:txBody>
      </p:sp>
      <p:sp>
        <p:nvSpPr>
          <p:cNvPr id="4" name="">
            <a:extLst xmlns:a="http://schemas.openxmlformats.org/drawingml/2006/main">
              <a:ext uri="{FF2B5EF4-FFF2-40B4-BE49-F238E27FC236}">
                <a16:creationId xmlns:a16="http://schemas.microsoft.com/office/drawing/2014/main" id="{AF94206B-6D5F-4F86-8D50-E95EBE1329C3}"/>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Si aparece un fallo durante integración, se vuelve al último hito comprobado y se cambia una condición. Conservar una versión funcional permite investigar sin borrar la referencia. Un registro de cambio pequeño es suficiente: qué se modificó, qué se esperaba y qué se observó. La documentación acompaña la construcción en lugar de inventarse al final.</a:t>
            </a:r>
          </a:p>
        </p:txBody>
      </p:sp>
    </p:spTree>
    <p:extLst>
      <p:ext uri="{BB962C8B-B14F-4D97-AF65-F5344CB8AC3E}">
        <p14:creationId xmlns:p14="http://schemas.microsoft.com/office/powerpoint/2010/main" val="1817129161"/>
      </p:ext>
    </p:extLst>
  </p:cSld>
</p:sld>
</file>

<file path=ppt/slides/slide15.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585FAA7-53A8-423C-BA99-9CEAD3D3ADCA}"/>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Hitos de la entrega</a:t>
            </a:r>
          </a:p>
        </p:txBody>
      </p:sp>
      <p:pic>
        <p:nvPicPr>
          <p:cNvPr id="2" name="">
            <a:extLst xmlns:a="http://schemas.openxmlformats.org/drawingml/2006/main">
              <a:ext uri="{FF2B5EF4-FFF2-40B4-BE49-F238E27FC236}">
                <a16:creationId xmlns:a16="http://schemas.microsoft.com/office/drawing/2014/main" id="{728D70B2-0FBD-4349-8B3E-7E569853CA64}"/>
              </a:ext>
            </a:extLst>
          </p:cNvPr>
          <p:cNvPicPr>
            <a:picLocks xmlns:a="http://schemas.openxmlformats.org/drawingml/2006/main" noChangeAspect="1"/>
          </p:cNvPicPr>
          <p:nvPr/>
        </p:nvPicPr>
        <p:blipFill>
          <a:blip xmlns:r="http://schemas.openxmlformats.org/officeDocument/2006/relationships" xmlns:a="http://schemas.openxmlformats.org/drawingml/2006/main" r:embed="R3b4b9bbb2af740bf"/>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1C3FE19-08CE-4C57-93C5-E40E4D48A7AF}"/>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8   CLASE 15   15/24</a:t>
            </a:r>
          </a:p>
        </p:txBody>
      </p:sp>
      <p:graphicFrame>
        <p:nvGraphicFramePr>
          <p:cNvPr id="4" name="">
            <a:extLst xmlns:a="http://schemas.openxmlformats.org/drawingml/2006/main">
              <a:ext uri="{FF2B5EF4-FFF2-40B4-BE49-F238E27FC236}">
                <a16:creationId xmlns:a16="http://schemas.microsoft.com/office/drawing/2014/main" id="{28D66BE7-702F-4C2F-B2DD-7DA8E42CAF83}"/>
              </a:ext>
            </a:extLst>
          </p:cNvPr>
          <p:cNvGraphicFramePr/>
          <p:nvPr/>
        </p:nvGraphicFramePr>
        <p:xfrm>
          <a:off xmlns:a="http://schemas.openxmlformats.org/drawingml/2006/main" x="590550" y="1714500"/>
          <a:ext xmlns:a="http://schemas.openxmlformats.org/drawingml/2006/main" cx="11010900" cy="3762375"/>
        </p:xfrm>
        <a:graphic xmlns:a="http://schemas.openxmlformats.org/drawingml/2006/main">
          <a:graphicData uri="http://schemas.openxmlformats.org/drawingml/2006/table">
            <a:tbl>
              <a:tblPr/>
              <a:tblGrid>
                <a:gridCol w="4381500"/>
                <a:gridCol w="6629400"/>
              </a:tblGrid>
              <a:tr h="752475">
                <a:tc>
                  <a:txBody>
                    <a:bodyPr/>
                    <a:lstStyle/>
                    <a:p>
                      <a:r>
                        <a:rPr sz="1875" b="1">
                          <a:solidFill>
                            <a:srgbClr val="FFFFFF"/>
                          </a:solidFill>
                          <a:latin typeface="Arial"/>
                          <a:ea typeface="Arial"/>
                          <a:cs typeface="Arial"/>
                        </a:rPr>
                        <a:t>Hito</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Condición de revisión</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752475">
                <a:tc>
                  <a:txBody>
                    <a:bodyPr/>
                    <a:lstStyle/>
                    <a:p>
                      <a:r>
                        <a:rPr sz="1875" b="0">
                          <a:solidFill>
                            <a:srgbClr val="14231E"/>
                          </a:solidFill>
                          <a:latin typeface="Arial"/>
                          <a:ea typeface="Arial"/>
                          <a:cs typeface="Arial"/>
                        </a:rPr>
                        <a:t>A: subsistemas</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Cada uno explica su dato</a:t>
                      </a:r>
                    </a:p>
                  </a:txBody>
                  <a:tcPr marL="91440" marR="91440" marT="45720" marB="45720">
                    <a:lnR w="9525">
                      <a:solidFill>
                        <a:srgbClr val="BFCEC3"/>
                      </a:solidFill>
                      <a:prstDash val="solid"/>
                    </a:lnR>
                    <a:lnB w="9525">
                      <a:solidFill>
                        <a:srgbClr val="BFCEC3"/>
                      </a:solidFill>
                      <a:prstDash val="solid"/>
                    </a:lnB>
                    <a:solidFill>
                      <a:srgbClr val="EAF3EC"/>
                    </a:solidFill>
                  </a:tcPr>
                </a:tc>
              </a:tr>
              <a:tr h="752475">
                <a:tc>
                  <a:txBody>
                    <a:bodyPr/>
                    <a:lstStyle/>
                    <a:p>
                      <a:r>
                        <a:rPr sz="1875" b="0">
                          <a:solidFill>
                            <a:srgbClr val="14231E"/>
                          </a:solidFill>
                          <a:latin typeface="Arial"/>
                          <a:ea typeface="Arial"/>
                          <a:cs typeface="Arial"/>
                        </a:rPr>
                        <a:t>B: integración</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Referencias coherentes</a:t>
                      </a:r>
                    </a:p>
                  </a:txBody>
                  <a:tcPr marL="91440" marR="91440" marT="45720" marB="45720">
                    <a:lnR w="9525">
                      <a:solidFill>
                        <a:srgbClr val="BFCEC3"/>
                      </a:solidFill>
                      <a:prstDash val="solid"/>
                    </a:lnR>
                    <a:lnB w="9525">
                      <a:solidFill>
                        <a:srgbClr val="BFCEC3"/>
                      </a:solidFill>
                      <a:prstDash val="solid"/>
                    </a:lnB>
                    <a:solidFill>
                      <a:srgbClr val="FCFCF8"/>
                    </a:solidFill>
                  </a:tcPr>
                </a:tc>
              </a:tr>
              <a:tr h="752475">
                <a:tc>
                  <a:txBody>
                    <a:bodyPr/>
                    <a:lstStyle/>
                    <a:p>
                      <a:r>
                        <a:rPr sz="1875" b="0">
                          <a:solidFill>
                            <a:srgbClr val="14231E"/>
                          </a:solidFill>
                          <a:latin typeface="Arial"/>
                          <a:ea typeface="Arial"/>
                          <a:cs typeface="Arial"/>
                        </a:rPr>
                        <a:t>C: diagnóstico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Fallo tratado de forma explícita</a:t>
                      </a:r>
                    </a:p>
                  </a:txBody>
                  <a:tcPr marL="91440" marR="91440" marT="45720" marB="45720">
                    <a:lnR w="9525">
                      <a:solidFill>
                        <a:srgbClr val="BFCEC3"/>
                      </a:solidFill>
                      <a:prstDash val="solid"/>
                    </a:lnR>
                    <a:lnB w="9525">
                      <a:solidFill>
                        <a:srgbClr val="BFCEC3"/>
                      </a:solidFill>
                      <a:prstDash val="solid"/>
                    </a:lnB>
                    <a:solidFill>
                      <a:srgbClr val="EAF3EC"/>
                    </a:solidFill>
                  </a:tcPr>
                </a:tc>
              </a:tr>
              <a:tr h="752475">
                <a:tc>
                  <a:txBody>
                    <a:bodyPr/>
                    <a:lstStyle/>
                    <a:p>
                      <a:r>
                        <a:rPr sz="1875" b="0">
                          <a:solidFill>
                            <a:srgbClr val="14231E"/>
                          </a:solidFill>
                          <a:latin typeface="Arial"/>
                          <a:ea typeface="Arial"/>
                          <a:cs typeface="Arial"/>
                        </a:rPr>
                        <a:t>D: modificación</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Comportamiento propio ensayado</a:t>
                      </a:r>
                    </a:p>
                  </a:txBody>
                  <a:tcPr marL="91440" marR="91440" marT="45720" marB="45720">
                    <a:lnR w="9525">
                      <a:solidFill>
                        <a:srgbClr val="BFCEC3"/>
                      </a:solidFill>
                      <a:prstDash val="solid"/>
                    </a:lnR>
                    <a:lnB w="9525">
                      <a:solidFill>
                        <a:srgbClr val="BFCEC3"/>
                      </a:solidFill>
                      <a:prstDash val="solid"/>
                    </a:lnB>
                    <a:solidFill>
                      <a:srgbClr val="FCFCF8"/>
                    </a:solidFill>
                  </a:tcPr>
                </a:tc>
              </a:tr>
            </a:tbl>
          </a:graphicData>
        </a:graphic>
      </p:graphicFrame>
    </p:spTree>
    <p:extLst>
      <p:ext uri="{BB962C8B-B14F-4D97-AF65-F5344CB8AC3E}">
        <p14:creationId xmlns:p14="http://schemas.microsoft.com/office/powerpoint/2010/main" val="1967045834"/>
      </p:ext>
    </p:extLst>
  </p:cSld>
</p:sld>
</file>

<file path=ppt/slides/slide1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3CB681D-4537-4846-AE78-974F5866FCCC}"/>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Práctica · Laboratorio de integración por hitos</a:t>
            </a:r>
          </a:p>
        </p:txBody>
      </p:sp>
      <p:pic>
        <p:nvPicPr>
          <p:cNvPr id="2" name="">
            <a:extLst xmlns:a="http://schemas.openxmlformats.org/drawingml/2006/main">
              <a:ext uri="{FF2B5EF4-FFF2-40B4-BE49-F238E27FC236}">
                <a16:creationId xmlns:a16="http://schemas.microsoft.com/office/drawing/2014/main" id="{66C09C00-6639-446F-8D34-BB7EA8952B48}"/>
              </a:ext>
            </a:extLst>
          </p:cNvPr>
          <p:cNvPicPr>
            <a:picLocks xmlns:a="http://schemas.openxmlformats.org/drawingml/2006/main" noChangeAspect="1"/>
          </p:cNvPicPr>
          <p:nvPr/>
        </p:nvPicPr>
        <p:blipFill>
          <a:blip xmlns:r="http://schemas.openxmlformats.org/officeDocument/2006/relationships" xmlns:a="http://schemas.openxmlformats.org/drawingml/2006/main" r:embed="R041374bb0a8c4faa"/>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9B9D2B6-7DCC-45E2-BF3B-FAE7A30706D1}"/>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8   CLASE 15   16/24</a:t>
            </a:r>
          </a:p>
        </p:txBody>
      </p:sp>
      <p:sp>
        <p:nvSpPr>
          <p:cNvPr id="4" name="">
            <a:extLst xmlns:a="http://schemas.openxmlformats.org/drawingml/2006/main">
              <a:ext uri="{FF2B5EF4-FFF2-40B4-BE49-F238E27FC236}">
                <a16:creationId xmlns:a16="http://schemas.microsoft.com/office/drawing/2014/main" id="{4AC43A38-72C4-4D91-9DDE-39BF7A4F08B2}"/>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4231E"/>
                </a:solidFill>
                <a:latin typeface="Arial"/>
                <a:ea typeface="Arial"/>
                <a:cs typeface="Arial"/>
              </a:defRPr>
            </a:defPPr>
            <a:lvl1pPr>
              <a:defRPr sz="1950" b="0">
                <a:solidFill>
                  <a:srgbClr val="14231E"/>
                </a:solidFill>
                <a:latin typeface="Arial"/>
                <a:ea typeface="Arial"/>
                <a:cs typeface="Arial"/>
              </a:defRPr>
            </a:lvl1pPr>
            <a:lvl2pPr>
              <a:defRPr sz="1950" b="0">
                <a:solidFill>
                  <a:srgbClr val="14231E"/>
                </a:solidFill>
                <a:latin typeface="Arial"/>
                <a:ea typeface="Arial"/>
                <a:cs typeface="Arial"/>
              </a:defRPr>
            </a:lvl2pPr>
            <a:lvl3pPr>
              <a:defRPr sz="1950" b="0">
                <a:solidFill>
                  <a:srgbClr val="14231E"/>
                </a:solidFill>
                <a:latin typeface="Arial"/>
                <a:ea typeface="Arial"/>
                <a:cs typeface="Arial"/>
              </a:defRPr>
            </a:lvl3pPr>
            <a:lvl4pPr>
              <a:defRPr sz="1950" b="0">
                <a:solidFill>
                  <a:srgbClr val="14231E"/>
                </a:solidFill>
                <a:latin typeface="Arial"/>
                <a:ea typeface="Arial"/>
                <a:cs typeface="Arial"/>
              </a:defRPr>
            </a:lvl4pPr>
            <a:lvl5pPr>
              <a:defRPr sz="1950" b="0">
                <a:solidFill>
                  <a:srgbClr val="14231E"/>
                </a:solidFill>
                <a:latin typeface="Arial"/>
                <a:ea typeface="Arial"/>
                <a:cs typeface="Arial"/>
              </a:defRPr>
            </a:lvl5pPr>
            <a:lvl6pPr>
              <a:defRPr sz="1950" b="0">
                <a:solidFill>
                  <a:srgbClr val="14231E"/>
                </a:solidFill>
                <a:latin typeface="Arial"/>
                <a:ea typeface="Arial"/>
                <a:cs typeface="Arial"/>
              </a:defRPr>
            </a:lvl6pPr>
            <a:lvl7pPr>
              <a:defRPr sz="1950" b="0">
                <a:solidFill>
                  <a:srgbClr val="14231E"/>
                </a:solidFill>
                <a:latin typeface="Arial"/>
                <a:ea typeface="Arial"/>
                <a:cs typeface="Arial"/>
              </a:defRPr>
            </a:lvl7pPr>
            <a:lvl8pPr>
              <a:defRPr sz="1950" b="0">
                <a:solidFill>
                  <a:srgbClr val="14231E"/>
                </a:solidFill>
                <a:latin typeface="Arial"/>
                <a:ea typeface="Arial"/>
                <a:cs typeface="Arial"/>
              </a:defRPr>
            </a:lvl8pPr>
            <a:lvl9pPr>
              <a:defRPr sz="1950" b="0">
                <a:solidFill>
                  <a:srgbClr val="14231E"/>
                </a:solidFill>
                <a:latin typeface="Arial"/>
                <a:ea typeface="Arial"/>
                <a:cs typeface="Arial"/>
              </a:defRPr>
            </a:lvl9pPr>
          </a:lstStyle>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1. Elige estación de sensores o banco de velocidad según recursos confirmados.</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2. Congela una tabla de pines y dibuja energía, señal y referencia.</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3. Ejecuta cada módulo por separado y conserva su resultado.</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4. Integra dos módulos y comprueba primero una condición normal.</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5. Añade el estado de dato y una prueba de ausencia o vencimiento.</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6. Introduce una modificación propia con un requisito observable.</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7. Prepara el expediente y la demostración del taller final.</a:t>
            </a:r>
          </a:p>
        </p:txBody>
      </p:sp>
    </p:spTree>
    <p:extLst>
      <p:ext uri="{BB962C8B-B14F-4D97-AF65-F5344CB8AC3E}">
        <p14:creationId xmlns:p14="http://schemas.microsoft.com/office/powerpoint/2010/main" val="1919350741"/>
      </p:ext>
    </p:extLst>
  </p:cSld>
</p:sld>
</file>

<file path=ppt/slides/slide1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F7D36A3-7D9E-4C97-8C53-F17341502292}"/>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Preparación de la defensa</a:t>
            </a:r>
          </a:p>
        </p:txBody>
      </p:sp>
      <p:pic>
        <p:nvPicPr>
          <p:cNvPr id="2" name="">
            <a:extLst xmlns:a="http://schemas.openxmlformats.org/drawingml/2006/main">
              <a:ext uri="{FF2B5EF4-FFF2-40B4-BE49-F238E27FC236}">
                <a16:creationId xmlns:a16="http://schemas.microsoft.com/office/drawing/2014/main" id="{FC23A5FC-2A05-42A3-99AF-0DA37B5A9906}"/>
              </a:ext>
            </a:extLst>
          </p:cNvPr>
          <p:cNvPicPr>
            <a:picLocks xmlns:a="http://schemas.openxmlformats.org/drawingml/2006/main" noChangeAspect="1"/>
          </p:cNvPicPr>
          <p:nvPr/>
        </p:nvPicPr>
        <p:blipFill>
          <a:blip xmlns:r="http://schemas.openxmlformats.org/officeDocument/2006/relationships" xmlns:a="http://schemas.openxmlformats.org/drawingml/2006/main" r:embed="R0d86ba6ab8cd4612"/>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45FEC29-1559-426E-B255-AADDB583CA7B}"/>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8   CLASE 15   17/24</a:t>
            </a:r>
          </a:p>
        </p:txBody>
      </p:sp>
      <p:sp>
        <p:nvSpPr>
          <p:cNvPr id="4" name="">
            <a:extLst xmlns:a="http://schemas.openxmlformats.org/drawingml/2006/main">
              <a:ext uri="{FF2B5EF4-FFF2-40B4-BE49-F238E27FC236}">
                <a16:creationId xmlns:a16="http://schemas.microsoft.com/office/drawing/2014/main" id="{38C7822E-1F8A-478E-87BE-393B692EFF26}"/>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La demostración debe comenzar por el propósito y el objeto, no por recorrer todas las líneas de código. El equipo presenta una entrada, una transformación y una salida; muestra una condición normal y una condición que cambia el estado; después explica una decisión y su evidencia. Cada integrante responde una pregunta individual sobre su parte. Esa defensa permite distinguir comprensión de reproducción mecánica.</a:t>
            </a:r>
          </a:p>
        </p:txBody>
      </p:sp>
    </p:spTree>
    <p:extLst>
      <p:ext uri="{BB962C8B-B14F-4D97-AF65-F5344CB8AC3E}">
        <p14:creationId xmlns:p14="http://schemas.microsoft.com/office/powerpoint/2010/main" val="776363345"/>
      </p:ext>
    </p:extLst>
  </p:cSld>
</p:sld>
</file>

<file path=ppt/slides/slide18.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4E7C5B3-1AEA-4A63-A28B-B190361F3F41}"/>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Predicción y explicación</a:t>
            </a:r>
          </a:p>
        </p:txBody>
      </p:sp>
      <p:pic>
        <p:nvPicPr>
          <p:cNvPr id="2" name="">
            <a:extLst xmlns:a="http://schemas.openxmlformats.org/drawingml/2006/main">
              <a:ext uri="{FF2B5EF4-FFF2-40B4-BE49-F238E27FC236}">
                <a16:creationId xmlns:a16="http://schemas.microsoft.com/office/drawing/2014/main" id="{342E650C-1566-435B-AE77-3C97E1F79930}"/>
              </a:ext>
            </a:extLst>
          </p:cNvPr>
          <p:cNvPicPr>
            <a:picLocks xmlns:a="http://schemas.openxmlformats.org/drawingml/2006/main" noChangeAspect="1"/>
          </p:cNvPicPr>
          <p:nvPr/>
        </p:nvPicPr>
        <p:blipFill>
          <a:blip xmlns:r="http://schemas.openxmlformats.org/officeDocument/2006/relationships" xmlns:a="http://schemas.openxmlformats.org/drawingml/2006/main" r:embed="R1a40f2aca3954862"/>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65788E3-6CC1-493F-824D-8F74CC9A5A6B}"/>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8   CLASE 15   18/24</a:t>
            </a:r>
          </a:p>
        </p:txBody>
      </p:sp>
      <p:sp>
        <p:nvSpPr>
          <p:cNvPr id="4" name="">
            <a:extLst xmlns:a="http://schemas.openxmlformats.org/drawingml/2006/main">
              <a:ext uri="{FF2B5EF4-FFF2-40B4-BE49-F238E27FC236}">
                <a16:creationId xmlns:a16="http://schemas.microsoft.com/office/drawing/2014/main" id="{5332F9BA-885A-4E55-BFB1-0E06AC929AB9}"/>
              </a:ext>
            </a:extLst>
          </p:cNvPr>
          <p:cNvSpPr>
            <a:spLocks xmlns:a="http://schemas.openxmlformats.org/drawingml/2006/main" noGrp="1"/>
          </p:cNvSpPr>
          <p:nvPr/>
        </p:nvSpPr>
        <p:spPr>
          <a:xfrm xmlns:a="http://schemas.openxmlformats.org/drawingml/2006/main">
            <a:off x="590550" y="1771650"/>
            <a:ext cx="1071562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Un equipo aporta simulación y otro montaje real. ¿Qué se compara en común y qué se identifica por separado?</a:t>
            </a:r>
          </a:p>
        </p:txBody>
      </p:sp>
      <p:sp>
        <p:nvSpPr>
          <p:cNvPr id="5" name="">
            <a:extLst xmlns:a="http://schemas.openxmlformats.org/drawingml/2006/main">
              <a:ext uri="{FF2B5EF4-FFF2-40B4-BE49-F238E27FC236}">
                <a16:creationId xmlns:a16="http://schemas.microsoft.com/office/drawing/2014/main" id="{F7E24AD5-11A7-4F06-982E-289874917142}"/>
              </a:ext>
            </a:extLst>
          </p:cNvPr>
          <p:cNvSpPr>
            <a:spLocks xmlns:a="http://schemas.openxmlformats.org/drawingml/2006/main" noGrp="1"/>
          </p:cNvSpPr>
          <p:nvPr/>
        </p:nvSpPr>
        <p:spPr>
          <a:xfrm xmlns:a="http://schemas.openxmlformats.org/drawingml/2006/main">
            <a:off x="590550" y="3905250"/>
            <a:ext cx="10715625" cy="217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CFCF8"/>
                </a:solidFill>
                <a:latin typeface="Arial"/>
                <a:ea typeface="Arial"/>
                <a:cs typeface="Arial"/>
              </a:defRPr>
            </a:defPPr>
            <a:lvl1pPr>
              <a:defRPr sz="2100" b="0">
                <a:solidFill>
                  <a:srgbClr val="FCFCF8"/>
                </a:solidFill>
                <a:latin typeface="Arial"/>
                <a:ea typeface="Arial"/>
                <a:cs typeface="Arial"/>
              </a:defRPr>
            </a:lvl1pPr>
            <a:lvl2pPr>
              <a:defRPr sz="2100" b="0">
                <a:solidFill>
                  <a:srgbClr val="FCFCF8"/>
                </a:solidFill>
                <a:latin typeface="Arial"/>
                <a:ea typeface="Arial"/>
                <a:cs typeface="Arial"/>
              </a:defRPr>
            </a:lvl2pPr>
            <a:lvl3pPr>
              <a:defRPr sz="2100" b="0">
                <a:solidFill>
                  <a:srgbClr val="FCFCF8"/>
                </a:solidFill>
                <a:latin typeface="Arial"/>
                <a:ea typeface="Arial"/>
                <a:cs typeface="Arial"/>
              </a:defRPr>
            </a:lvl3pPr>
            <a:lvl4pPr>
              <a:defRPr sz="2100" b="0">
                <a:solidFill>
                  <a:srgbClr val="FCFCF8"/>
                </a:solidFill>
                <a:latin typeface="Arial"/>
                <a:ea typeface="Arial"/>
                <a:cs typeface="Arial"/>
              </a:defRPr>
            </a:lvl4pPr>
            <a:lvl5pPr>
              <a:defRPr sz="2100" b="0">
                <a:solidFill>
                  <a:srgbClr val="FCFCF8"/>
                </a:solidFill>
                <a:latin typeface="Arial"/>
                <a:ea typeface="Arial"/>
                <a:cs typeface="Arial"/>
              </a:defRPr>
            </a:lvl5pPr>
            <a:lvl6pPr>
              <a:defRPr sz="2100" b="0">
                <a:solidFill>
                  <a:srgbClr val="FCFCF8"/>
                </a:solidFill>
                <a:latin typeface="Arial"/>
                <a:ea typeface="Arial"/>
                <a:cs typeface="Arial"/>
              </a:defRPr>
            </a:lvl6pPr>
            <a:lvl7pPr>
              <a:defRPr sz="2100" b="0">
                <a:solidFill>
                  <a:srgbClr val="FCFCF8"/>
                </a:solidFill>
                <a:latin typeface="Arial"/>
                <a:ea typeface="Arial"/>
                <a:cs typeface="Arial"/>
              </a:defRPr>
            </a:lvl7pPr>
            <a:lvl8pPr>
              <a:defRPr sz="2100" b="0">
                <a:solidFill>
                  <a:srgbClr val="FCFCF8"/>
                </a:solidFill>
                <a:latin typeface="Arial"/>
                <a:ea typeface="Arial"/>
                <a:cs typeface="Arial"/>
              </a:defRPr>
            </a:lvl8pPr>
            <a:lvl9pPr>
              <a:defRPr sz="2100" b="0">
                <a:solidFill>
                  <a:srgbClr val="FCFCF8"/>
                </a:solidFill>
                <a:latin typeface="Arial"/>
                <a:ea typeface="Arial"/>
                <a:cs typeface="Arial"/>
              </a:defRPr>
            </a:lvl9pPr>
          </a:lstStyle>
          <a:p xmlns:a="http://schemas.openxmlformats.org/drawingml/2006/main">
            <a:pPr>
              <a:defRPr sz="2100" b="0">
                <a:solidFill>
                  <a:srgbClr val="FCFCF8"/>
                </a:solidFill>
                <a:latin typeface="Arial"/>
                <a:ea typeface="Arial"/>
                <a:cs typeface="Arial"/>
              </a:defRPr>
            </a:pPr>
            <a:r>
              <a:rPr sz="2100" b="0">
                <a:solidFill>
                  <a:srgbClr val="FCFCF8"/>
                </a:solidFill>
                <a:latin typeface="Arial"/>
                <a:ea typeface="Arial"/>
                <a:cs typeface="Arial"/>
              </a:rPr>
              <a:t>Para investigar, selecciona una ampliación: una pantalla, un registro persistente, una comunicación o un mecanismo. Explica qué interfaz y qué comprobaciones nuevas exige. La siguiente versión se propone con un motivo técnico vinculado al propósito, sin convertir una lista de componentes más larga en una mejora automática.</a:t>
            </a:r>
          </a:p>
        </p:txBody>
      </p:sp>
    </p:spTree>
    <p:extLst>
      <p:ext uri="{BB962C8B-B14F-4D97-AF65-F5344CB8AC3E}">
        <p14:creationId xmlns:p14="http://schemas.microsoft.com/office/powerpoint/2010/main" val="2041965130"/>
      </p:ext>
    </p:extLst>
  </p:cSld>
</p:sld>
</file>

<file path=ppt/slides/slide19.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7339DF6-6DDC-4907-A44F-A71D0B8C5E20}"/>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Dos modos de evidencia</a:t>
            </a:r>
          </a:p>
        </p:txBody>
      </p:sp>
      <p:pic>
        <p:nvPicPr>
          <p:cNvPr id="2" name="">
            <a:extLst xmlns:a="http://schemas.openxmlformats.org/drawingml/2006/main">
              <a:ext uri="{FF2B5EF4-FFF2-40B4-BE49-F238E27FC236}">
                <a16:creationId xmlns:a16="http://schemas.microsoft.com/office/drawing/2014/main" id="{124E21CA-8340-4F58-8776-0E8003D8F733}"/>
              </a:ext>
            </a:extLst>
          </p:cNvPr>
          <p:cNvPicPr>
            <a:picLocks xmlns:a="http://schemas.openxmlformats.org/drawingml/2006/main" noChangeAspect="1"/>
          </p:cNvPicPr>
          <p:nvPr/>
        </p:nvPicPr>
        <p:blipFill>
          <a:blip xmlns:r="http://schemas.openxmlformats.org/officeDocument/2006/relationships" xmlns:a="http://schemas.openxmlformats.org/drawingml/2006/main" r:embed="R6f87825138304433"/>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7C051B6-EFE5-4AD1-9FC8-48A5AFE62337}"/>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8   CLASE 15   19/24</a:t>
            </a:r>
          </a:p>
        </p:txBody>
      </p:sp>
      <p:sp>
        <p:nvSpPr>
          <p:cNvPr id="4" name="">
            <a:extLst xmlns:a="http://schemas.openxmlformats.org/drawingml/2006/main">
              <a:ext uri="{FF2B5EF4-FFF2-40B4-BE49-F238E27FC236}">
                <a16:creationId xmlns:a16="http://schemas.microsoft.com/office/drawing/2014/main" id="{74D2387C-E0E8-4972-9227-668FF09784E0}"/>
              </a:ext>
            </a:extLst>
          </p:cNvPr>
          <p:cNvSpPr>
            <a:spLocks xmlns:a="http://schemas.openxmlformats.org/drawingml/2006/main" noGrp="1"/>
          </p:cNvSpPr>
          <p:nvPr/>
        </p:nvSpPr>
        <p:spPr>
          <a:xfrm xmlns:a="http://schemas.openxmlformats.org/drawingml/2006/main">
            <a:off x="590550" y="1743075"/>
            <a:ext cx="107156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AEF4BB"/>
                </a:solidFill>
                <a:latin typeface="Arial"/>
                <a:ea typeface="Arial"/>
                <a:cs typeface="Arial"/>
              </a:defRPr>
            </a:defPPr>
            <a:lvl1pPr>
              <a:defRPr sz="2475" b="1">
                <a:solidFill>
                  <a:srgbClr val="AEF4BB"/>
                </a:solidFill>
                <a:latin typeface="Arial"/>
                <a:ea typeface="Arial"/>
                <a:cs typeface="Arial"/>
              </a:defRPr>
            </a:lvl1pPr>
            <a:lvl2pPr>
              <a:defRPr sz="2475" b="1">
                <a:solidFill>
                  <a:srgbClr val="AEF4BB"/>
                </a:solidFill>
                <a:latin typeface="Arial"/>
                <a:ea typeface="Arial"/>
                <a:cs typeface="Arial"/>
              </a:defRPr>
            </a:lvl2pPr>
            <a:lvl3pPr>
              <a:defRPr sz="2475" b="1">
                <a:solidFill>
                  <a:srgbClr val="AEF4BB"/>
                </a:solidFill>
                <a:latin typeface="Arial"/>
                <a:ea typeface="Arial"/>
                <a:cs typeface="Arial"/>
              </a:defRPr>
            </a:lvl3pPr>
            <a:lvl4pPr>
              <a:defRPr sz="2475" b="1">
                <a:solidFill>
                  <a:srgbClr val="AEF4BB"/>
                </a:solidFill>
                <a:latin typeface="Arial"/>
                <a:ea typeface="Arial"/>
                <a:cs typeface="Arial"/>
              </a:defRPr>
            </a:lvl4pPr>
            <a:lvl5pPr>
              <a:defRPr sz="2475" b="1">
                <a:solidFill>
                  <a:srgbClr val="AEF4BB"/>
                </a:solidFill>
                <a:latin typeface="Arial"/>
                <a:ea typeface="Arial"/>
                <a:cs typeface="Arial"/>
              </a:defRPr>
            </a:lvl5pPr>
            <a:lvl6pPr>
              <a:defRPr sz="2475" b="1">
                <a:solidFill>
                  <a:srgbClr val="AEF4BB"/>
                </a:solidFill>
                <a:latin typeface="Arial"/>
                <a:ea typeface="Arial"/>
                <a:cs typeface="Arial"/>
              </a:defRPr>
            </a:lvl6pPr>
            <a:lvl7pPr>
              <a:defRPr sz="2475" b="1">
                <a:solidFill>
                  <a:srgbClr val="AEF4BB"/>
                </a:solidFill>
                <a:latin typeface="Arial"/>
                <a:ea typeface="Arial"/>
                <a:cs typeface="Arial"/>
              </a:defRPr>
            </a:lvl7pPr>
            <a:lvl8pPr>
              <a:defRPr sz="2475" b="1">
                <a:solidFill>
                  <a:srgbClr val="AEF4BB"/>
                </a:solidFill>
                <a:latin typeface="Arial"/>
                <a:ea typeface="Arial"/>
                <a:cs typeface="Arial"/>
              </a:defRPr>
            </a:lvl8pPr>
            <a:lvl9pPr>
              <a:defRPr sz="2475" b="1">
                <a:solidFill>
                  <a:srgbClr val="AEF4BB"/>
                </a:solidFill>
                <a:latin typeface="Arial"/>
                <a:ea typeface="Arial"/>
                <a:cs typeface="Arial"/>
              </a:defRPr>
            </a:lvl9pPr>
          </a:lstStyle>
          <a:p xmlns:a="http://schemas.openxmlformats.org/drawingml/2006/main">
            <a:pPr>
              <a:defRPr sz="2475" b="1">
                <a:solidFill>
                  <a:srgbClr val="AEF4BB"/>
                </a:solidFill>
                <a:latin typeface="Arial"/>
                <a:ea typeface="Arial"/>
                <a:cs typeface="Arial"/>
              </a:defRPr>
            </a:pPr>
            <a:r>
              <a:rPr sz="2475" b="1">
                <a:solidFill>
                  <a:srgbClr val="AEF4BB"/>
                </a:solidFill>
                <a:latin typeface="Arial"/>
                <a:ea typeface="Arial"/>
                <a:cs typeface="Arial"/>
              </a:rPr>
              <a:t>Un equipo aporta simulación y otro montaje real. ¿Qué se compara en común y qué se identifica por separado?</a:t>
            </a:r>
          </a:p>
        </p:txBody>
      </p:sp>
      <p:sp>
        <p:nvSpPr>
          <p:cNvPr id="5" name="">
            <a:extLst xmlns:a="http://schemas.openxmlformats.org/drawingml/2006/main">
              <a:ext uri="{FF2B5EF4-FFF2-40B4-BE49-F238E27FC236}">
                <a16:creationId xmlns:a16="http://schemas.microsoft.com/office/drawing/2014/main" id="{0144BEA4-F6E4-4640-9F05-389C834CB8C2}"/>
              </a:ext>
            </a:extLst>
          </p:cNvPr>
          <p:cNvSpPr>
            <a:spLocks xmlns:a="http://schemas.openxmlformats.org/drawingml/2006/main" noGrp="1"/>
          </p:cNvSpPr>
          <p:nvPr/>
        </p:nvSpPr>
        <p:spPr>
          <a:xfrm xmlns:a="http://schemas.openxmlformats.org/drawingml/2006/main">
            <a:off x="590550" y="3581400"/>
            <a:ext cx="10715625" cy="2533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FCFCF8"/>
                </a:solidFill>
                <a:latin typeface="Arial"/>
                <a:ea typeface="Arial"/>
                <a:cs typeface="Arial"/>
              </a:defRPr>
            </a:defPPr>
            <a:lvl1pPr>
              <a:defRPr sz="2175" b="0">
                <a:solidFill>
                  <a:srgbClr val="FCFCF8"/>
                </a:solidFill>
                <a:latin typeface="Arial"/>
                <a:ea typeface="Arial"/>
                <a:cs typeface="Arial"/>
              </a:defRPr>
            </a:lvl1pPr>
            <a:lvl2pPr>
              <a:defRPr sz="2175" b="0">
                <a:solidFill>
                  <a:srgbClr val="FCFCF8"/>
                </a:solidFill>
                <a:latin typeface="Arial"/>
                <a:ea typeface="Arial"/>
                <a:cs typeface="Arial"/>
              </a:defRPr>
            </a:lvl2pPr>
            <a:lvl3pPr>
              <a:defRPr sz="2175" b="0">
                <a:solidFill>
                  <a:srgbClr val="FCFCF8"/>
                </a:solidFill>
                <a:latin typeface="Arial"/>
                <a:ea typeface="Arial"/>
                <a:cs typeface="Arial"/>
              </a:defRPr>
            </a:lvl3pPr>
            <a:lvl4pPr>
              <a:defRPr sz="2175" b="0">
                <a:solidFill>
                  <a:srgbClr val="FCFCF8"/>
                </a:solidFill>
                <a:latin typeface="Arial"/>
                <a:ea typeface="Arial"/>
                <a:cs typeface="Arial"/>
              </a:defRPr>
            </a:lvl4pPr>
            <a:lvl5pPr>
              <a:defRPr sz="2175" b="0">
                <a:solidFill>
                  <a:srgbClr val="FCFCF8"/>
                </a:solidFill>
                <a:latin typeface="Arial"/>
                <a:ea typeface="Arial"/>
                <a:cs typeface="Arial"/>
              </a:defRPr>
            </a:lvl5pPr>
            <a:lvl6pPr>
              <a:defRPr sz="2175" b="0">
                <a:solidFill>
                  <a:srgbClr val="FCFCF8"/>
                </a:solidFill>
                <a:latin typeface="Arial"/>
                <a:ea typeface="Arial"/>
                <a:cs typeface="Arial"/>
              </a:defRPr>
            </a:lvl6pPr>
            <a:lvl7pPr>
              <a:defRPr sz="2175" b="0">
                <a:solidFill>
                  <a:srgbClr val="FCFCF8"/>
                </a:solidFill>
                <a:latin typeface="Arial"/>
                <a:ea typeface="Arial"/>
                <a:cs typeface="Arial"/>
              </a:defRPr>
            </a:lvl7pPr>
            <a:lvl8pPr>
              <a:defRPr sz="2175" b="0">
                <a:solidFill>
                  <a:srgbClr val="FCFCF8"/>
                </a:solidFill>
                <a:latin typeface="Arial"/>
                <a:ea typeface="Arial"/>
                <a:cs typeface="Arial"/>
              </a:defRPr>
            </a:lvl8pPr>
            <a:lvl9pPr>
              <a:defRPr sz="2175" b="0">
                <a:solidFill>
                  <a:srgbClr val="FCFCF8"/>
                </a:solidFill>
                <a:latin typeface="Arial"/>
                <a:ea typeface="Arial"/>
                <a:cs typeface="Arial"/>
              </a:defRPr>
            </a:lvl9pPr>
          </a:lstStyle>
          <a:p xmlns:a="http://schemas.openxmlformats.org/drawingml/2006/main">
            <a:pPr>
              <a:defRPr sz="2175" b="0">
                <a:solidFill>
                  <a:srgbClr val="FCFCF8"/>
                </a:solidFill>
                <a:latin typeface="Arial"/>
                <a:ea typeface="Arial"/>
                <a:cs typeface="Arial"/>
              </a:defRPr>
            </a:pPr>
            <a:r>
              <a:rPr sz="2175" b="0">
                <a:solidFill>
                  <a:srgbClr val="FCFCF8"/>
                </a:solidFill>
                <a:latin typeface="Arial"/>
                <a:ea typeface="Arial"/>
                <a:cs typeface="Arial"/>
              </a:rPr>
              <a:t>Se comparan requisitos, coherencia del código, interpretación y análisis. Se identifica por separado qué prueba física realizó cada equipo y qué condiciones reales pudo observar.</a:t>
            </a:r>
          </a:p>
        </p:txBody>
      </p:sp>
    </p:spTree>
    <p:extLst>
      <p:ext uri="{BB962C8B-B14F-4D97-AF65-F5344CB8AC3E}">
        <p14:creationId xmlns:p14="http://schemas.microsoft.com/office/powerpoint/2010/main" val="1326597425"/>
      </p:ext>
    </p:extLst>
  </p:cSld>
</p:sld>
</file>

<file path=ppt/slides/slide20.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CDA4F4E-7418-4E06-9C94-046BBF99B907}"/>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Práctica guiada</a:t>
            </a:r>
          </a:p>
        </p:txBody>
      </p:sp>
      <p:pic>
        <p:nvPicPr>
          <p:cNvPr id="2" name="">
            <a:extLst xmlns:a="http://schemas.openxmlformats.org/drawingml/2006/main">
              <a:ext uri="{FF2B5EF4-FFF2-40B4-BE49-F238E27FC236}">
                <a16:creationId xmlns:a16="http://schemas.microsoft.com/office/drawing/2014/main" id="{EC0540D2-37F0-46AC-87B1-E1A2A8F99163}"/>
              </a:ext>
            </a:extLst>
          </p:cNvPr>
          <p:cNvPicPr>
            <a:picLocks xmlns:a="http://schemas.openxmlformats.org/drawingml/2006/main" noChangeAspect="1"/>
          </p:cNvPicPr>
          <p:nvPr/>
        </p:nvPicPr>
        <p:blipFill>
          <a:blip xmlns:r="http://schemas.openxmlformats.org/officeDocument/2006/relationships" xmlns:a="http://schemas.openxmlformats.org/drawingml/2006/main" r:embed="R72f11df3aaf344ae"/>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484C9AC-1785-4933-8F90-FBB8DFD0F374}"/>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8   CLASE 15   20/24</a:t>
            </a:r>
          </a:p>
        </p:txBody>
      </p:sp>
      <p:sp>
        <p:nvSpPr>
          <p:cNvPr id="4" name="">
            <a:extLst xmlns:a="http://schemas.openxmlformats.org/drawingml/2006/main">
              <a:ext uri="{FF2B5EF4-FFF2-40B4-BE49-F238E27FC236}">
                <a16:creationId xmlns:a16="http://schemas.microsoft.com/office/drawing/2014/main" id="{940EEB0C-D43F-4E1B-B0F0-B8CBD18D43CF}"/>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1E"/>
                </a:solidFill>
                <a:latin typeface="Arial"/>
                <a:ea typeface="Arial"/>
                <a:cs typeface="Arial"/>
              </a:defRPr>
            </a:defPPr>
            <a:lvl1pPr>
              <a:defRPr sz="2175" b="0">
                <a:solidFill>
                  <a:srgbClr val="14231E"/>
                </a:solidFill>
                <a:latin typeface="Arial"/>
                <a:ea typeface="Arial"/>
                <a:cs typeface="Arial"/>
              </a:defRPr>
            </a:lvl1pPr>
            <a:lvl2pPr>
              <a:defRPr sz="2175" b="0">
                <a:solidFill>
                  <a:srgbClr val="14231E"/>
                </a:solidFill>
                <a:latin typeface="Arial"/>
                <a:ea typeface="Arial"/>
                <a:cs typeface="Arial"/>
              </a:defRPr>
            </a:lvl2pPr>
            <a:lvl3pPr>
              <a:defRPr sz="2175" b="0">
                <a:solidFill>
                  <a:srgbClr val="14231E"/>
                </a:solidFill>
                <a:latin typeface="Arial"/>
                <a:ea typeface="Arial"/>
                <a:cs typeface="Arial"/>
              </a:defRPr>
            </a:lvl3pPr>
            <a:lvl4pPr>
              <a:defRPr sz="2175" b="0">
                <a:solidFill>
                  <a:srgbClr val="14231E"/>
                </a:solidFill>
                <a:latin typeface="Arial"/>
                <a:ea typeface="Arial"/>
                <a:cs typeface="Arial"/>
              </a:defRPr>
            </a:lvl4pPr>
            <a:lvl5pPr>
              <a:defRPr sz="2175" b="0">
                <a:solidFill>
                  <a:srgbClr val="14231E"/>
                </a:solidFill>
                <a:latin typeface="Arial"/>
                <a:ea typeface="Arial"/>
                <a:cs typeface="Arial"/>
              </a:defRPr>
            </a:lvl5pPr>
            <a:lvl6pPr>
              <a:defRPr sz="2175" b="0">
                <a:solidFill>
                  <a:srgbClr val="14231E"/>
                </a:solidFill>
                <a:latin typeface="Arial"/>
                <a:ea typeface="Arial"/>
                <a:cs typeface="Arial"/>
              </a:defRPr>
            </a:lvl6pPr>
            <a:lvl7pPr>
              <a:defRPr sz="2175" b="0">
                <a:solidFill>
                  <a:srgbClr val="14231E"/>
                </a:solidFill>
                <a:latin typeface="Arial"/>
                <a:ea typeface="Arial"/>
                <a:cs typeface="Arial"/>
              </a:defRPr>
            </a:lvl7pPr>
            <a:lvl8pPr>
              <a:defRPr sz="2175" b="0">
                <a:solidFill>
                  <a:srgbClr val="14231E"/>
                </a:solidFill>
                <a:latin typeface="Arial"/>
                <a:ea typeface="Arial"/>
                <a:cs typeface="Arial"/>
              </a:defRPr>
            </a:lvl8pPr>
            <a:lvl9pPr>
              <a:defRPr sz="2175" b="0">
                <a:solidFill>
                  <a:srgbClr val="14231E"/>
                </a:solidFill>
                <a:latin typeface="Arial"/>
                <a:ea typeface="Arial"/>
                <a:cs typeface="Arial"/>
              </a:defRPr>
            </a:lvl9pPr>
          </a:lstStyle>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1. Mostrar el portafolio acumulado y elegir un propósito concreto.</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2. Revisar la tabla de pines y los requisitos del equipo.</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3. Comprobar c15_integrador y una modificación propia.</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4. Preparar prueba normal, prueba de fallo y defensa.</a:t>
            </a:r>
          </a:p>
        </p:txBody>
      </p:sp>
    </p:spTree>
    <p:extLst>
      <p:ext uri="{BB962C8B-B14F-4D97-AF65-F5344CB8AC3E}">
        <p14:creationId xmlns:p14="http://schemas.microsoft.com/office/powerpoint/2010/main" val="737338682"/>
      </p:ext>
    </p:extLst>
  </p:cSld>
</p:sld>
</file>

<file path=ppt/slides/slide21.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8048B12-6907-484B-B8E4-76B52A44EB58}"/>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Aplicación en un banco para drones</a:t>
            </a:r>
          </a:p>
        </p:txBody>
      </p:sp>
      <p:pic>
        <p:nvPicPr>
          <p:cNvPr id="2" name="">
            <a:extLst xmlns:a="http://schemas.openxmlformats.org/drawingml/2006/main">
              <a:ext uri="{FF2B5EF4-FFF2-40B4-BE49-F238E27FC236}">
                <a16:creationId xmlns:a16="http://schemas.microsoft.com/office/drawing/2014/main" id="{43368A1F-039E-487E-8954-6F62139E176A}"/>
              </a:ext>
            </a:extLst>
          </p:cNvPr>
          <p:cNvPicPr>
            <a:picLocks xmlns:a="http://schemas.openxmlformats.org/drawingml/2006/main" noChangeAspect="1"/>
          </p:cNvPicPr>
          <p:nvPr/>
        </p:nvPicPr>
        <p:blipFill>
          <a:blip xmlns:r="http://schemas.openxmlformats.org/officeDocument/2006/relationships" xmlns:a="http://schemas.openxmlformats.org/drawingml/2006/main" r:embed="Ra3a0d09b3e2e4651"/>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791EDEC-EE00-4C96-87D6-482189BED35B}"/>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8   CLASE 15   21/24</a:t>
            </a:r>
          </a:p>
        </p:txBody>
      </p:sp>
      <p:sp>
        <p:nvSpPr>
          <p:cNvPr id="4" name="">
            <a:extLst xmlns:a="http://schemas.openxmlformats.org/drawingml/2006/main">
              <a:ext uri="{FF2B5EF4-FFF2-40B4-BE49-F238E27FC236}">
                <a16:creationId xmlns:a16="http://schemas.microsoft.com/office/drawing/2014/main" id="{5DE1632B-BA45-45DF-94E6-00AB6FB4101D}"/>
              </a:ext>
            </a:extLst>
          </p:cNvPr>
          <p:cNvSpPr>
            <a:spLocks xmlns:a="http://schemas.openxmlformats.org/drawingml/2006/main" noGrp="1"/>
          </p:cNvSpPr>
          <p:nvPr/>
        </p:nvSpPr>
        <p:spPr>
          <a:xfrm xmlns:a="http://schemas.openxmlformats.org/drawingml/2006/main">
            <a:off x="590550" y="1762125"/>
            <a:ext cx="10715625"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MECRO necesita que un participante pueda construir, diagnosticar y explicar una cadena de sensores o de control aplicada a equipos UAV.</a:t>
            </a:r>
          </a:p>
        </p:txBody>
      </p:sp>
      <p:sp>
        <p:nvSpPr>
          <p:cNvPr id="5" name="">
            <a:extLst xmlns:a="http://schemas.openxmlformats.org/drawingml/2006/main">
              <a:ext uri="{FF2B5EF4-FFF2-40B4-BE49-F238E27FC236}">
                <a16:creationId xmlns:a16="http://schemas.microsoft.com/office/drawing/2014/main" id="{C0437DD0-CCBE-42E8-83E2-9DD1B0D4472B}"/>
              </a:ext>
            </a:extLst>
          </p:cNvPr>
          <p:cNvSpPr>
            <a:spLocks xmlns:a="http://schemas.openxmlformats.org/drawingml/2006/main" noGrp="1"/>
          </p:cNvSpPr>
          <p:nvPr/>
        </p:nvSpPr>
        <p:spPr>
          <a:xfrm xmlns:a="http://schemas.openxmlformats.org/drawingml/2006/main">
            <a:off x="590550" y="3914775"/>
            <a:ext cx="10715625" cy="1533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FCFCF8"/>
                </a:solidFill>
                <a:latin typeface="Arial"/>
                <a:ea typeface="Arial"/>
                <a:cs typeface="Arial"/>
              </a:defRPr>
            </a:defPPr>
            <a:lvl1pPr>
              <a:defRPr sz="2550" b="0">
                <a:solidFill>
                  <a:srgbClr val="FCFCF8"/>
                </a:solidFill>
                <a:latin typeface="Arial"/>
                <a:ea typeface="Arial"/>
                <a:cs typeface="Arial"/>
              </a:defRPr>
            </a:lvl1pPr>
            <a:lvl2pPr>
              <a:defRPr sz="2550" b="0">
                <a:solidFill>
                  <a:srgbClr val="FCFCF8"/>
                </a:solidFill>
                <a:latin typeface="Arial"/>
                <a:ea typeface="Arial"/>
                <a:cs typeface="Arial"/>
              </a:defRPr>
            </a:lvl2pPr>
            <a:lvl3pPr>
              <a:defRPr sz="2550" b="0">
                <a:solidFill>
                  <a:srgbClr val="FCFCF8"/>
                </a:solidFill>
                <a:latin typeface="Arial"/>
                <a:ea typeface="Arial"/>
                <a:cs typeface="Arial"/>
              </a:defRPr>
            </a:lvl3pPr>
            <a:lvl4pPr>
              <a:defRPr sz="2550" b="0">
                <a:solidFill>
                  <a:srgbClr val="FCFCF8"/>
                </a:solidFill>
                <a:latin typeface="Arial"/>
                <a:ea typeface="Arial"/>
                <a:cs typeface="Arial"/>
              </a:defRPr>
            </a:lvl4pPr>
            <a:lvl5pPr>
              <a:defRPr sz="2550" b="0">
                <a:solidFill>
                  <a:srgbClr val="FCFCF8"/>
                </a:solidFill>
                <a:latin typeface="Arial"/>
                <a:ea typeface="Arial"/>
                <a:cs typeface="Arial"/>
              </a:defRPr>
            </a:lvl5pPr>
            <a:lvl6pPr>
              <a:defRPr sz="2550" b="0">
                <a:solidFill>
                  <a:srgbClr val="FCFCF8"/>
                </a:solidFill>
                <a:latin typeface="Arial"/>
                <a:ea typeface="Arial"/>
                <a:cs typeface="Arial"/>
              </a:defRPr>
            </a:lvl6pPr>
            <a:lvl7pPr>
              <a:defRPr sz="2550" b="0">
                <a:solidFill>
                  <a:srgbClr val="FCFCF8"/>
                </a:solidFill>
                <a:latin typeface="Arial"/>
                <a:ea typeface="Arial"/>
                <a:cs typeface="Arial"/>
              </a:defRPr>
            </a:lvl7pPr>
            <a:lvl8pPr>
              <a:defRPr sz="2550" b="0">
                <a:solidFill>
                  <a:srgbClr val="FCFCF8"/>
                </a:solidFill>
                <a:latin typeface="Arial"/>
                <a:ea typeface="Arial"/>
                <a:cs typeface="Arial"/>
              </a:defRPr>
            </a:lvl8pPr>
            <a:lvl9pPr>
              <a:defRPr sz="2550" b="0">
                <a:solidFill>
                  <a:srgbClr val="FCFCF8"/>
                </a:solidFill>
                <a:latin typeface="Arial"/>
                <a:ea typeface="Arial"/>
                <a:cs typeface="Arial"/>
              </a:defRPr>
            </a:lvl9pPr>
          </a:lstStyle>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Explica una decisión con el esquema, el programa o un dato. ¿Qué queda sin comprobar?</a:t>
            </a:r>
          </a:p>
        </p:txBody>
      </p:sp>
    </p:spTree>
    <p:extLst>
      <p:ext uri="{BB962C8B-B14F-4D97-AF65-F5344CB8AC3E}">
        <p14:creationId xmlns:p14="http://schemas.microsoft.com/office/powerpoint/2010/main" val="1403255405"/>
      </p:ext>
    </p:extLst>
  </p:cSld>
</p:sld>
</file>

<file path=ppt/slides/slide22.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AF9787F-F3B9-4D46-8E5C-DAF39E5973BD}"/>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Preguntas de cierre</a:t>
            </a:r>
          </a:p>
        </p:txBody>
      </p:sp>
      <p:pic>
        <p:nvPicPr>
          <p:cNvPr id="2" name="">
            <a:extLst xmlns:a="http://schemas.openxmlformats.org/drawingml/2006/main">
              <a:ext uri="{FF2B5EF4-FFF2-40B4-BE49-F238E27FC236}">
                <a16:creationId xmlns:a16="http://schemas.microsoft.com/office/drawing/2014/main" id="{D65110B8-2FCF-4407-AC02-A8B8353710B0}"/>
              </a:ext>
            </a:extLst>
          </p:cNvPr>
          <p:cNvPicPr>
            <a:picLocks xmlns:a="http://schemas.openxmlformats.org/drawingml/2006/main" noChangeAspect="1"/>
          </p:cNvPicPr>
          <p:nvPr/>
        </p:nvPicPr>
        <p:blipFill>
          <a:blip xmlns:r="http://schemas.openxmlformats.org/officeDocument/2006/relationships" xmlns:a="http://schemas.openxmlformats.org/drawingml/2006/main" r:embed="Ra16e93c4e4854da1"/>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9B121E7-523A-40D2-A8C5-AABAF2D945FE}"/>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8   CLASE 15   22/24</a:t>
            </a:r>
          </a:p>
        </p:txBody>
      </p:sp>
      <p:sp>
        <p:nvSpPr>
          <p:cNvPr id="4" name="">
            <a:extLst xmlns:a="http://schemas.openxmlformats.org/drawingml/2006/main">
              <a:ext uri="{FF2B5EF4-FFF2-40B4-BE49-F238E27FC236}">
                <a16:creationId xmlns:a16="http://schemas.microsoft.com/office/drawing/2014/main" id="{DDF2D81A-6DFA-4B5B-808F-0D19A5402358}"/>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FCFCF8"/>
                </a:solidFill>
                <a:latin typeface="Arial"/>
                <a:ea typeface="Arial"/>
                <a:cs typeface="Arial"/>
              </a:defRPr>
            </a:defPPr>
            <a:lvl1pPr>
              <a:defRPr sz="2550" b="0">
                <a:solidFill>
                  <a:srgbClr val="FCFCF8"/>
                </a:solidFill>
                <a:latin typeface="Arial"/>
                <a:ea typeface="Arial"/>
                <a:cs typeface="Arial"/>
              </a:defRPr>
            </a:lvl1pPr>
            <a:lvl2pPr>
              <a:defRPr sz="2550" b="0">
                <a:solidFill>
                  <a:srgbClr val="FCFCF8"/>
                </a:solidFill>
                <a:latin typeface="Arial"/>
                <a:ea typeface="Arial"/>
                <a:cs typeface="Arial"/>
              </a:defRPr>
            </a:lvl2pPr>
            <a:lvl3pPr>
              <a:defRPr sz="2550" b="0">
                <a:solidFill>
                  <a:srgbClr val="FCFCF8"/>
                </a:solidFill>
                <a:latin typeface="Arial"/>
                <a:ea typeface="Arial"/>
                <a:cs typeface="Arial"/>
              </a:defRPr>
            </a:lvl3pPr>
            <a:lvl4pPr>
              <a:defRPr sz="2550" b="0">
                <a:solidFill>
                  <a:srgbClr val="FCFCF8"/>
                </a:solidFill>
                <a:latin typeface="Arial"/>
                <a:ea typeface="Arial"/>
                <a:cs typeface="Arial"/>
              </a:defRPr>
            </a:lvl4pPr>
            <a:lvl5pPr>
              <a:defRPr sz="2550" b="0">
                <a:solidFill>
                  <a:srgbClr val="FCFCF8"/>
                </a:solidFill>
                <a:latin typeface="Arial"/>
                <a:ea typeface="Arial"/>
                <a:cs typeface="Arial"/>
              </a:defRPr>
            </a:lvl5pPr>
            <a:lvl6pPr>
              <a:defRPr sz="2550" b="0">
                <a:solidFill>
                  <a:srgbClr val="FCFCF8"/>
                </a:solidFill>
                <a:latin typeface="Arial"/>
                <a:ea typeface="Arial"/>
                <a:cs typeface="Arial"/>
              </a:defRPr>
            </a:lvl6pPr>
            <a:lvl7pPr>
              <a:defRPr sz="2550" b="0">
                <a:solidFill>
                  <a:srgbClr val="FCFCF8"/>
                </a:solidFill>
                <a:latin typeface="Arial"/>
                <a:ea typeface="Arial"/>
                <a:cs typeface="Arial"/>
              </a:defRPr>
            </a:lvl7pPr>
            <a:lvl8pPr>
              <a:defRPr sz="2550" b="0">
                <a:solidFill>
                  <a:srgbClr val="FCFCF8"/>
                </a:solidFill>
                <a:latin typeface="Arial"/>
                <a:ea typeface="Arial"/>
                <a:cs typeface="Arial"/>
              </a:defRPr>
            </a:lvl8pPr>
            <a:lvl9pPr>
              <a:defRPr sz="2550" b="0">
                <a:solidFill>
                  <a:srgbClr val="FCFCF8"/>
                </a:solidFill>
                <a:latin typeface="Arial"/>
                <a:ea typeface="Arial"/>
                <a:cs typeface="Arial"/>
              </a:defRPr>
            </a:lvl9pPr>
          </a:lstStyle>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1. ¿Se actualiza lastValid al imprimir?</a:t>
            </a:r>
          </a:p>
          <a:p xmlns:a="http://schemas.openxmlformats.org/drawingml/2006/main">
            <a:r>
              <a:t/>
            </a:r>
          </a:p>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2. ¿Puede integrarse sin revisar pines de las clases previas?</a:t>
            </a:r>
          </a:p>
          <a:p xmlns:a="http://schemas.openxmlformats.org/drawingml/2006/main">
            <a:r>
              <a:t/>
            </a:r>
          </a:p>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3. ¿Qué identifica una modificación útil?</a:t>
            </a:r>
          </a:p>
        </p:txBody>
      </p:sp>
    </p:spTree>
    <p:extLst>
      <p:ext uri="{BB962C8B-B14F-4D97-AF65-F5344CB8AC3E}">
        <p14:creationId xmlns:p14="http://schemas.microsoft.com/office/powerpoint/2010/main" val="1874288430"/>
      </p:ext>
    </p:extLst>
  </p:cSld>
</p:sld>
</file>

<file path=ppt/slides/slide2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9F1EEA2-0DEE-40D9-ACA1-1C45663C9AAB}"/>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Respuestas y razonamiento</a:t>
            </a:r>
          </a:p>
        </p:txBody>
      </p:sp>
      <p:pic>
        <p:nvPicPr>
          <p:cNvPr id="2" name="">
            <a:extLst xmlns:a="http://schemas.openxmlformats.org/drawingml/2006/main">
              <a:ext uri="{FF2B5EF4-FFF2-40B4-BE49-F238E27FC236}">
                <a16:creationId xmlns:a16="http://schemas.microsoft.com/office/drawing/2014/main" id="{582D4217-4327-4A22-8CCB-92089E9B243E}"/>
              </a:ext>
            </a:extLst>
          </p:cNvPr>
          <p:cNvPicPr>
            <a:picLocks xmlns:a="http://schemas.openxmlformats.org/drawingml/2006/main" noChangeAspect="1"/>
          </p:cNvPicPr>
          <p:nvPr/>
        </p:nvPicPr>
        <p:blipFill>
          <a:blip xmlns:r="http://schemas.openxmlformats.org/officeDocument/2006/relationships" xmlns:a="http://schemas.openxmlformats.org/drawingml/2006/main" r:embed="R4c4cfb36778540ac"/>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F985CEC-84C8-40D6-B288-3B9927F24A70}"/>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8   CLASE 15   23/24</a:t>
            </a:r>
          </a:p>
        </p:txBody>
      </p:sp>
      <p:sp>
        <p:nvSpPr>
          <p:cNvPr id="4" name="">
            <a:extLst xmlns:a="http://schemas.openxmlformats.org/drawingml/2006/main">
              <a:ext uri="{FF2B5EF4-FFF2-40B4-BE49-F238E27FC236}">
                <a16:creationId xmlns:a16="http://schemas.microsoft.com/office/drawing/2014/main" id="{B16566FB-03B0-4DAD-8D65-E41DDE667264}"/>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4231E"/>
                </a:solidFill>
                <a:latin typeface="Arial"/>
                <a:ea typeface="Arial"/>
                <a:cs typeface="Arial"/>
              </a:defRPr>
            </a:defPPr>
            <a:lvl1pPr>
              <a:defRPr sz="2250" b="0">
                <a:solidFill>
                  <a:srgbClr val="14231E"/>
                </a:solidFill>
                <a:latin typeface="Arial"/>
                <a:ea typeface="Arial"/>
                <a:cs typeface="Arial"/>
              </a:defRPr>
            </a:lvl1pPr>
            <a:lvl2pPr>
              <a:defRPr sz="2250" b="0">
                <a:solidFill>
                  <a:srgbClr val="14231E"/>
                </a:solidFill>
                <a:latin typeface="Arial"/>
                <a:ea typeface="Arial"/>
                <a:cs typeface="Arial"/>
              </a:defRPr>
            </a:lvl2pPr>
            <a:lvl3pPr>
              <a:defRPr sz="2250" b="0">
                <a:solidFill>
                  <a:srgbClr val="14231E"/>
                </a:solidFill>
                <a:latin typeface="Arial"/>
                <a:ea typeface="Arial"/>
                <a:cs typeface="Arial"/>
              </a:defRPr>
            </a:lvl3pPr>
            <a:lvl4pPr>
              <a:defRPr sz="2250" b="0">
                <a:solidFill>
                  <a:srgbClr val="14231E"/>
                </a:solidFill>
                <a:latin typeface="Arial"/>
                <a:ea typeface="Arial"/>
                <a:cs typeface="Arial"/>
              </a:defRPr>
            </a:lvl4pPr>
            <a:lvl5pPr>
              <a:defRPr sz="2250" b="0">
                <a:solidFill>
                  <a:srgbClr val="14231E"/>
                </a:solidFill>
                <a:latin typeface="Arial"/>
                <a:ea typeface="Arial"/>
                <a:cs typeface="Arial"/>
              </a:defRPr>
            </a:lvl5pPr>
            <a:lvl6pPr>
              <a:defRPr sz="2250" b="0">
                <a:solidFill>
                  <a:srgbClr val="14231E"/>
                </a:solidFill>
                <a:latin typeface="Arial"/>
                <a:ea typeface="Arial"/>
                <a:cs typeface="Arial"/>
              </a:defRPr>
            </a:lvl6pPr>
            <a:lvl7pPr>
              <a:defRPr sz="2250" b="0">
                <a:solidFill>
                  <a:srgbClr val="14231E"/>
                </a:solidFill>
                <a:latin typeface="Arial"/>
                <a:ea typeface="Arial"/>
                <a:cs typeface="Arial"/>
              </a:defRPr>
            </a:lvl7pPr>
            <a:lvl8pPr>
              <a:defRPr sz="2250" b="0">
                <a:solidFill>
                  <a:srgbClr val="14231E"/>
                </a:solidFill>
                <a:latin typeface="Arial"/>
                <a:ea typeface="Arial"/>
                <a:cs typeface="Arial"/>
              </a:defRPr>
            </a:lvl8pPr>
            <a:lvl9pPr>
              <a:defRPr sz="2250" b="0">
                <a:solidFill>
                  <a:srgbClr val="14231E"/>
                </a:solidFill>
                <a:latin typeface="Arial"/>
                <a:ea typeface="Arial"/>
                <a:cs typeface="Arial"/>
              </a:defRPr>
            </a:lvl9pPr>
          </a:lstStyle>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1. Se actualiza al aceptar una adquisición nueva bajo el criterio definido.</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2. No. La configuración final necesita su propio mapa y revisión de conflictos.</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3. Un propósito, un requisito observable y una prueba que lo comprueba.</a:t>
            </a:r>
          </a:p>
        </p:txBody>
      </p:sp>
    </p:spTree>
    <p:extLst>
      <p:ext uri="{BB962C8B-B14F-4D97-AF65-F5344CB8AC3E}">
        <p14:creationId xmlns:p14="http://schemas.microsoft.com/office/powerpoint/2010/main" val="1438544082"/>
      </p:ext>
    </p:extLst>
  </p:cSld>
</p:sld>
</file>

<file path=ppt/slides/slide24.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E0959A6-D82E-448A-96B9-150389095379}"/>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Entrega de la clase</a:t>
            </a:r>
          </a:p>
        </p:txBody>
      </p:sp>
      <p:pic>
        <p:nvPicPr>
          <p:cNvPr id="2" name="">
            <a:extLst xmlns:a="http://schemas.openxmlformats.org/drawingml/2006/main">
              <a:ext uri="{FF2B5EF4-FFF2-40B4-BE49-F238E27FC236}">
                <a16:creationId xmlns:a16="http://schemas.microsoft.com/office/drawing/2014/main" id="{7777FAA0-49E3-4EE5-A517-AF9FA473EB50}"/>
              </a:ext>
            </a:extLst>
          </p:cNvPr>
          <p:cNvPicPr>
            <a:picLocks xmlns:a="http://schemas.openxmlformats.org/drawingml/2006/main" noChangeAspect="1"/>
          </p:cNvPicPr>
          <p:nvPr/>
        </p:nvPicPr>
        <p:blipFill>
          <a:blip xmlns:r="http://schemas.openxmlformats.org/officeDocument/2006/relationships" xmlns:a="http://schemas.openxmlformats.org/drawingml/2006/main" r:embed="R4f6ade76a46c427f"/>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0561257-2610-41B6-BAFA-8EAE6491B700}"/>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8   CLASE 15   24/24</a:t>
            </a:r>
          </a:p>
        </p:txBody>
      </p:sp>
      <p:sp>
        <p:nvSpPr>
          <p:cNvPr id="4" name="">
            <a:extLst xmlns:a="http://schemas.openxmlformats.org/drawingml/2006/main">
              <a:ext uri="{FF2B5EF4-FFF2-40B4-BE49-F238E27FC236}">
                <a16:creationId xmlns:a16="http://schemas.microsoft.com/office/drawing/2014/main" id="{D874B953-D87C-4ADE-B73C-D812DE3E7993}"/>
              </a:ext>
            </a:extLst>
          </p:cNvPr>
          <p:cNvSpPr>
            <a:spLocks xmlns:a="http://schemas.openxmlformats.org/drawingml/2006/main" noGrp="1"/>
          </p:cNvSpPr>
          <p:nvPr/>
        </p:nvSpPr>
        <p:spPr>
          <a:xfrm xmlns:a="http://schemas.openxmlformats.org/drawingml/2006/main">
            <a:off x="590550" y="1771650"/>
            <a:ext cx="10715625"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AEF4BB"/>
                </a:solidFill>
                <a:latin typeface="Arial"/>
                <a:ea typeface="Arial"/>
                <a:cs typeface="Arial"/>
              </a:defRPr>
            </a:defPPr>
            <a:lvl1pPr>
              <a:defRPr sz="2850" b="1">
                <a:solidFill>
                  <a:srgbClr val="AEF4BB"/>
                </a:solidFill>
                <a:latin typeface="Arial"/>
                <a:ea typeface="Arial"/>
                <a:cs typeface="Arial"/>
              </a:defRPr>
            </a:lvl1pPr>
            <a:lvl2pPr>
              <a:defRPr sz="2850" b="1">
                <a:solidFill>
                  <a:srgbClr val="AEF4BB"/>
                </a:solidFill>
                <a:latin typeface="Arial"/>
                <a:ea typeface="Arial"/>
                <a:cs typeface="Arial"/>
              </a:defRPr>
            </a:lvl2pPr>
            <a:lvl3pPr>
              <a:defRPr sz="2850" b="1">
                <a:solidFill>
                  <a:srgbClr val="AEF4BB"/>
                </a:solidFill>
                <a:latin typeface="Arial"/>
                <a:ea typeface="Arial"/>
                <a:cs typeface="Arial"/>
              </a:defRPr>
            </a:lvl3pPr>
            <a:lvl4pPr>
              <a:defRPr sz="2850" b="1">
                <a:solidFill>
                  <a:srgbClr val="AEF4BB"/>
                </a:solidFill>
                <a:latin typeface="Arial"/>
                <a:ea typeface="Arial"/>
                <a:cs typeface="Arial"/>
              </a:defRPr>
            </a:lvl4pPr>
            <a:lvl5pPr>
              <a:defRPr sz="2850" b="1">
                <a:solidFill>
                  <a:srgbClr val="AEF4BB"/>
                </a:solidFill>
                <a:latin typeface="Arial"/>
                <a:ea typeface="Arial"/>
                <a:cs typeface="Arial"/>
              </a:defRPr>
            </a:lvl5pPr>
            <a:lvl6pPr>
              <a:defRPr sz="2850" b="1">
                <a:solidFill>
                  <a:srgbClr val="AEF4BB"/>
                </a:solidFill>
                <a:latin typeface="Arial"/>
                <a:ea typeface="Arial"/>
                <a:cs typeface="Arial"/>
              </a:defRPr>
            </a:lvl6pPr>
            <a:lvl7pPr>
              <a:defRPr sz="2850" b="1">
                <a:solidFill>
                  <a:srgbClr val="AEF4BB"/>
                </a:solidFill>
                <a:latin typeface="Arial"/>
                <a:ea typeface="Arial"/>
                <a:cs typeface="Arial"/>
              </a:defRPr>
            </a:lvl7pPr>
            <a:lvl8pPr>
              <a:defRPr sz="2850" b="1">
                <a:solidFill>
                  <a:srgbClr val="AEF4BB"/>
                </a:solidFill>
                <a:latin typeface="Arial"/>
                <a:ea typeface="Arial"/>
                <a:cs typeface="Arial"/>
              </a:defRPr>
            </a:lvl8pPr>
            <a:lvl9pPr>
              <a:defRPr sz="2850" b="1">
                <a:solidFill>
                  <a:srgbClr val="AEF4BB"/>
                </a:solidFill>
                <a:latin typeface="Arial"/>
                <a:ea typeface="Arial"/>
                <a:cs typeface="Arial"/>
              </a:defRPr>
            </a:lvl9pPr>
          </a:lstStyle>
          <a:p xmlns:a="http://schemas.openxmlformats.org/drawingml/2006/main">
            <a:pPr>
              <a:defRPr sz="2850" b="1">
                <a:solidFill>
                  <a:srgbClr val="AEF4BB"/>
                </a:solidFill>
                <a:latin typeface="Arial"/>
                <a:ea typeface="Arial"/>
                <a:cs typeface="Arial"/>
              </a:defRPr>
            </a:pPr>
            <a:r>
              <a:rPr sz="2850" b="1">
                <a:solidFill>
                  <a:srgbClr val="AEF4BB"/>
                </a:solidFill>
                <a:latin typeface="Arial"/>
                <a:ea typeface="Arial"/>
                <a:cs typeface="Arial"/>
              </a:rPr>
              <a:t>Primera versión integrada, mapa de pines, cuatro hitos y plan de demostración.</a:t>
            </a:r>
          </a:p>
        </p:txBody>
      </p:sp>
      <p:sp>
        <p:nvSpPr>
          <p:cNvPr id="5" name="">
            <a:extLst xmlns:a="http://schemas.openxmlformats.org/drawingml/2006/main">
              <a:ext uri="{FF2B5EF4-FFF2-40B4-BE49-F238E27FC236}">
                <a16:creationId xmlns:a16="http://schemas.microsoft.com/office/drawing/2014/main" id="{4A8D6125-EBD9-445B-BDB7-EF12187DF3E7}"/>
              </a:ext>
            </a:extLst>
          </p:cNvPr>
          <p:cNvSpPr>
            <a:spLocks xmlns:a="http://schemas.openxmlformats.org/drawingml/2006/main" noGrp="1"/>
          </p:cNvSpPr>
          <p:nvPr/>
        </p:nvSpPr>
        <p:spPr>
          <a:xfrm xmlns:a="http://schemas.openxmlformats.org/drawingml/2006/main">
            <a:off x="590550" y="4476750"/>
            <a:ext cx="10715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CFCF8"/>
                </a:solidFill>
                <a:latin typeface="Arial"/>
                <a:ea typeface="Arial"/>
                <a:cs typeface="Arial"/>
              </a:defRPr>
            </a:defPPr>
            <a:lvl1pPr>
              <a:defRPr sz="2325" b="0">
                <a:solidFill>
                  <a:srgbClr val="FCFCF8"/>
                </a:solidFill>
                <a:latin typeface="Arial"/>
                <a:ea typeface="Arial"/>
                <a:cs typeface="Arial"/>
              </a:defRPr>
            </a:lvl1pPr>
            <a:lvl2pPr>
              <a:defRPr sz="2325" b="0">
                <a:solidFill>
                  <a:srgbClr val="FCFCF8"/>
                </a:solidFill>
                <a:latin typeface="Arial"/>
                <a:ea typeface="Arial"/>
                <a:cs typeface="Arial"/>
              </a:defRPr>
            </a:lvl2pPr>
            <a:lvl3pPr>
              <a:defRPr sz="2325" b="0">
                <a:solidFill>
                  <a:srgbClr val="FCFCF8"/>
                </a:solidFill>
                <a:latin typeface="Arial"/>
                <a:ea typeface="Arial"/>
                <a:cs typeface="Arial"/>
              </a:defRPr>
            </a:lvl3pPr>
            <a:lvl4pPr>
              <a:defRPr sz="2325" b="0">
                <a:solidFill>
                  <a:srgbClr val="FCFCF8"/>
                </a:solidFill>
                <a:latin typeface="Arial"/>
                <a:ea typeface="Arial"/>
                <a:cs typeface="Arial"/>
              </a:defRPr>
            </a:lvl4pPr>
            <a:lvl5pPr>
              <a:defRPr sz="2325" b="0">
                <a:solidFill>
                  <a:srgbClr val="FCFCF8"/>
                </a:solidFill>
                <a:latin typeface="Arial"/>
                <a:ea typeface="Arial"/>
                <a:cs typeface="Arial"/>
              </a:defRPr>
            </a:lvl5pPr>
            <a:lvl6pPr>
              <a:defRPr sz="2325" b="0">
                <a:solidFill>
                  <a:srgbClr val="FCFCF8"/>
                </a:solidFill>
                <a:latin typeface="Arial"/>
                <a:ea typeface="Arial"/>
                <a:cs typeface="Arial"/>
              </a:defRPr>
            </a:lvl6pPr>
            <a:lvl7pPr>
              <a:defRPr sz="2325" b="0">
                <a:solidFill>
                  <a:srgbClr val="FCFCF8"/>
                </a:solidFill>
                <a:latin typeface="Arial"/>
                <a:ea typeface="Arial"/>
                <a:cs typeface="Arial"/>
              </a:defRPr>
            </a:lvl7pPr>
            <a:lvl8pPr>
              <a:defRPr sz="2325" b="0">
                <a:solidFill>
                  <a:srgbClr val="FCFCF8"/>
                </a:solidFill>
                <a:latin typeface="Arial"/>
                <a:ea typeface="Arial"/>
                <a:cs typeface="Arial"/>
              </a:defRPr>
            </a:lvl8pPr>
            <a:lvl9pPr>
              <a:defRPr sz="2325" b="0">
                <a:solidFill>
                  <a:srgbClr val="FCFCF8"/>
                </a:solidFill>
                <a:latin typeface="Arial"/>
                <a:ea typeface="Arial"/>
                <a:cs typeface="Arial"/>
              </a:defRPr>
            </a:lvl9pPr>
          </a:lstStyle>
          <a:p xmlns:a="http://schemas.openxmlformats.org/drawingml/2006/main">
            <a:pPr>
              <a:defRPr sz="2325" b="0">
                <a:solidFill>
                  <a:srgbClr val="FCFCF8"/>
                </a:solidFill>
                <a:latin typeface="Arial"/>
                <a:ea typeface="Arial"/>
                <a:cs typeface="Arial"/>
              </a:defRPr>
            </a:pPr>
            <a:r>
              <a:rPr sz="2325" b="0">
                <a:solidFill>
                  <a:srgbClr val="FCFCF8"/>
                </a:solidFill>
                <a:latin typeface="Arial"/>
                <a:ea typeface="Arial"/>
                <a:cs typeface="Arial"/>
              </a:rPr>
              <a:t>Identifica versión, unidad y procedencia. Conserva la evidencia y explica qué probarías después.</a:t>
            </a:r>
          </a:p>
        </p:txBody>
      </p:sp>
    </p:spTree>
    <p:extLst>
      <p:ext uri="{BB962C8B-B14F-4D97-AF65-F5344CB8AC3E}">
        <p14:creationId xmlns:p14="http://schemas.microsoft.com/office/powerpoint/2010/main" val="241176680"/>
      </p:ext>
    </p:extLst>
  </p:cSld>
</p:sld>
</file>

<file path=ppt/slides/slide25.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927DCE3-137E-4415-8244-A28F454D199A}"/>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Taller final: pruebas, diagnóstico y clase maestra de cierre</a:t>
            </a:r>
          </a:p>
        </p:txBody>
      </p:sp>
      <p:pic>
        <p:nvPicPr>
          <p:cNvPr id="2" name="">
            <a:extLst xmlns:a="http://schemas.openxmlformats.org/drawingml/2006/main">
              <a:ext uri="{FF2B5EF4-FFF2-40B4-BE49-F238E27FC236}">
                <a16:creationId xmlns:a16="http://schemas.microsoft.com/office/drawing/2014/main" id="{F980F62A-DA57-4CC0-80E8-E212E7DD4D12}"/>
              </a:ext>
            </a:extLst>
          </p:cNvPr>
          <p:cNvPicPr>
            <a:picLocks xmlns:a="http://schemas.openxmlformats.org/drawingml/2006/main" noChangeAspect="1"/>
          </p:cNvPicPr>
          <p:nvPr/>
        </p:nvPicPr>
        <p:blipFill>
          <a:blip xmlns:r="http://schemas.openxmlformats.org/officeDocument/2006/relationships" xmlns:a="http://schemas.openxmlformats.org/drawingml/2006/main" r:embed="R0bc165672e8b4f76"/>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A8951BC-2B71-402F-9C84-E0A31B91AD9D}"/>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8   CLASE 16   01/24</a:t>
            </a:r>
          </a:p>
        </p:txBody>
      </p:sp>
      <p:sp>
        <p:nvSpPr>
          <p:cNvPr id="4" name="">
            <a:extLst xmlns:a="http://schemas.openxmlformats.org/drawingml/2006/main">
              <a:ext uri="{FF2B5EF4-FFF2-40B4-BE49-F238E27FC236}">
                <a16:creationId xmlns:a16="http://schemas.microsoft.com/office/drawing/2014/main" id="{F52309BC-F457-4939-89BA-D354D6AB4E19}"/>
              </a:ext>
            </a:extLst>
          </p:cNvPr>
          <p:cNvSpPr>
            <a:spLocks xmlns:a="http://schemas.openxmlformats.org/drawingml/2006/main" noGrp="1"/>
          </p:cNvSpPr>
          <p:nvPr/>
        </p:nvSpPr>
        <p:spPr>
          <a:xfrm xmlns:a="http://schemas.openxmlformats.org/drawingml/2006/main">
            <a:off x="590550" y="1762125"/>
            <a:ext cx="10715625"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AEF4BB"/>
                </a:solidFill>
                <a:latin typeface="Arial"/>
                <a:ea typeface="Arial"/>
                <a:cs typeface="Arial"/>
              </a:defRPr>
            </a:defPPr>
            <a:lvl1pPr>
              <a:defRPr sz="2850" b="1">
                <a:solidFill>
                  <a:srgbClr val="AEF4BB"/>
                </a:solidFill>
                <a:latin typeface="Arial"/>
                <a:ea typeface="Arial"/>
                <a:cs typeface="Arial"/>
              </a:defRPr>
            </a:lvl1pPr>
            <a:lvl2pPr>
              <a:defRPr sz="2850" b="1">
                <a:solidFill>
                  <a:srgbClr val="AEF4BB"/>
                </a:solidFill>
                <a:latin typeface="Arial"/>
                <a:ea typeface="Arial"/>
                <a:cs typeface="Arial"/>
              </a:defRPr>
            </a:lvl2pPr>
            <a:lvl3pPr>
              <a:defRPr sz="2850" b="1">
                <a:solidFill>
                  <a:srgbClr val="AEF4BB"/>
                </a:solidFill>
                <a:latin typeface="Arial"/>
                <a:ea typeface="Arial"/>
                <a:cs typeface="Arial"/>
              </a:defRPr>
            </a:lvl3pPr>
            <a:lvl4pPr>
              <a:defRPr sz="2850" b="1">
                <a:solidFill>
                  <a:srgbClr val="AEF4BB"/>
                </a:solidFill>
                <a:latin typeface="Arial"/>
                <a:ea typeface="Arial"/>
                <a:cs typeface="Arial"/>
              </a:defRPr>
            </a:lvl4pPr>
            <a:lvl5pPr>
              <a:defRPr sz="2850" b="1">
                <a:solidFill>
                  <a:srgbClr val="AEF4BB"/>
                </a:solidFill>
                <a:latin typeface="Arial"/>
                <a:ea typeface="Arial"/>
                <a:cs typeface="Arial"/>
              </a:defRPr>
            </a:lvl5pPr>
            <a:lvl6pPr>
              <a:defRPr sz="2850" b="1">
                <a:solidFill>
                  <a:srgbClr val="AEF4BB"/>
                </a:solidFill>
                <a:latin typeface="Arial"/>
                <a:ea typeface="Arial"/>
                <a:cs typeface="Arial"/>
              </a:defRPr>
            </a:lvl6pPr>
            <a:lvl7pPr>
              <a:defRPr sz="2850" b="1">
                <a:solidFill>
                  <a:srgbClr val="AEF4BB"/>
                </a:solidFill>
                <a:latin typeface="Arial"/>
                <a:ea typeface="Arial"/>
                <a:cs typeface="Arial"/>
              </a:defRPr>
            </a:lvl7pPr>
            <a:lvl8pPr>
              <a:defRPr sz="2850" b="1">
                <a:solidFill>
                  <a:srgbClr val="AEF4BB"/>
                </a:solidFill>
                <a:latin typeface="Arial"/>
                <a:ea typeface="Arial"/>
                <a:cs typeface="Arial"/>
              </a:defRPr>
            </a:lvl8pPr>
            <a:lvl9pPr>
              <a:defRPr sz="2850" b="1">
                <a:solidFill>
                  <a:srgbClr val="AEF4BB"/>
                </a:solidFill>
                <a:latin typeface="Arial"/>
                <a:ea typeface="Arial"/>
                <a:cs typeface="Arial"/>
              </a:defRPr>
            </a:lvl9pPr>
          </a:lstStyle>
          <a:p xmlns:a="http://schemas.openxmlformats.org/drawingml/2006/main">
            <a:pPr>
              <a:defRPr sz="2850" b="1">
                <a:solidFill>
                  <a:srgbClr val="AEF4BB"/>
                </a:solidFill>
                <a:latin typeface="Arial"/>
                <a:ea typeface="Arial"/>
                <a:cs typeface="Arial"/>
              </a:defRPr>
            </a:pPr>
            <a:r>
              <a:rPr sz="2850" b="1">
                <a:solidFill>
                  <a:srgbClr val="AEF4BB"/>
                </a:solidFill>
                <a:latin typeface="Arial"/>
                <a:ea typeface="Arial"/>
                <a:cs typeface="Arial"/>
              </a:rPr>
              <a:t>Demostrar el sistema, explicar una condición de fallo y defender una mejora con evidencia.</a:t>
            </a:r>
          </a:p>
        </p:txBody>
      </p:sp>
      <p:sp>
        <p:nvSpPr>
          <p:cNvPr id="5" name="">
            <a:extLst xmlns:a="http://schemas.openxmlformats.org/drawingml/2006/main">
              <a:ext uri="{FF2B5EF4-FFF2-40B4-BE49-F238E27FC236}">
                <a16:creationId xmlns:a16="http://schemas.microsoft.com/office/drawing/2014/main" id="{206F02CD-AA27-4E97-A4C0-2429BA7750F6}"/>
              </a:ext>
            </a:extLst>
          </p:cNvPr>
          <p:cNvSpPr>
            <a:spLocks xmlns:a="http://schemas.openxmlformats.org/drawingml/2006/main" noGrp="1"/>
          </p:cNvSpPr>
          <p:nvPr/>
        </p:nvSpPr>
        <p:spPr>
          <a:xfrm xmlns:a="http://schemas.openxmlformats.org/drawingml/2006/main">
            <a:off x="590550" y="3714750"/>
            <a:ext cx="107156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FCFCF8"/>
                </a:solidFill>
                <a:latin typeface="Arial"/>
                <a:ea typeface="Arial"/>
                <a:cs typeface="Arial"/>
              </a:defRPr>
            </a:defPPr>
            <a:lvl1pPr>
              <a:defRPr sz="2250" b="0">
                <a:solidFill>
                  <a:srgbClr val="FCFCF8"/>
                </a:solidFill>
                <a:latin typeface="Arial"/>
                <a:ea typeface="Arial"/>
                <a:cs typeface="Arial"/>
              </a:defRPr>
            </a:lvl1pPr>
            <a:lvl2pPr>
              <a:defRPr sz="2250" b="0">
                <a:solidFill>
                  <a:srgbClr val="FCFCF8"/>
                </a:solidFill>
                <a:latin typeface="Arial"/>
                <a:ea typeface="Arial"/>
                <a:cs typeface="Arial"/>
              </a:defRPr>
            </a:lvl2pPr>
            <a:lvl3pPr>
              <a:defRPr sz="2250" b="0">
                <a:solidFill>
                  <a:srgbClr val="FCFCF8"/>
                </a:solidFill>
                <a:latin typeface="Arial"/>
                <a:ea typeface="Arial"/>
                <a:cs typeface="Arial"/>
              </a:defRPr>
            </a:lvl3pPr>
            <a:lvl4pPr>
              <a:defRPr sz="2250" b="0">
                <a:solidFill>
                  <a:srgbClr val="FCFCF8"/>
                </a:solidFill>
                <a:latin typeface="Arial"/>
                <a:ea typeface="Arial"/>
                <a:cs typeface="Arial"/>
              </a:defRPr>
            </a:lvl4pPr>
            <a:lvl5pPr>
              <a:defRPr sz="2250" b="0">
                <a:solidFill>
                  <a:srgbClr val="FCFCF8"/>
                </a:solidFill>
                <a:latin typeface="Arial"/>
                <a:ea typeface="Arial"/>
                <a:cs typeface="Arial"/>
              </a:defRPr>
            </a:lvl5pPr>
            <a:lvl6pPr>
              <a:defRPr sz="2250" b="0">
                <a:solidFill>
                  <a:srgbClr val="FCFCF8"/>
                </a:solidFill>
                <a:latin typeface="Arial"/>
                <a:ea typeface="Arial"/>
                <a:cs typeface="Arial"/>
              </a:defRPr>
            </a:lvl6pPr>
            <a:lvl7pPr>
              <a:defRPr sz="2250" b="0">
                <a:solidFill>
                  <a:srgbClr val="FCFCF8"/>
                </a:solidFill>
                <a:latin typeface="Arial"/>
                <a:ea typeface="Arial"/>
                <a:cs typeface="Arial"/>
              </a:defRPr>
            </a:lvl7pPr>
            <a:lvl8pPr>
              <a:defRPr sz="2250" b="0">
                <a:solidFill>
                  <a:srgbClr val="FCFCF8"/>
                </a:solidFill>
                <a:latin typeface="Arial"/>
                <a:ea typeface="Arial"/>
                <a:cs typeface="Arial"/>
              </a:defRPr>
            </a:lvl8pPr>
            <a:lvl9pPr>
              <a:defRPr sz="2250" b="0">
                <a:solidFill>
                  <a:srgbClr val="FCFCF8"/>
                </a:solidFill>
                <a:latin typeface="Arial"/>
                <a:ea typeface="Arial"/>
                <a:cs typeface="Arial"/>
              </a:defRPr>
            </a:lvl9pPr>
          </a:lstStyle>
          <a:p xmlns:a="http://schemas.openxmlformats.org/drawingml/2006/main">
            <a:pPr>
              <a:defRPr sz="2250" b="0">
                <a:solidFill>
                  <a:srgbClr val="FCFCF8"/>
                </a:solidFill>
                <a:latin typeface="Arial"/>
                <a:ea typeface="Arial"/>
                <a:cs typeface="Arial"/>
              </a:defRPr>
            </a:pPr>
            <a:r>
              <a:rPr sz="2250" b="0">
                <a:solidFill>
                  <a:srgbClr val="FCFCF8"/>
                </a:solidFill>
                <a:latin typeface="Arial"/>
                <a:ea typeface="Arial"/>
                <a:cs typeface="Arial"/>
              </a:rPr>
              <a:t>El cierre forma a un constructor que puede presentar y revisar un sistema de banco relacionado con UAV.</a:t>
            </a:r>
          </a:p>
        </p:txBody>
      </p:sp>
      <p:sp>
        <p:nvSpPr>
          <p:cNvPr id="6" name="">
            <a:extLst xmlns:a="http://schemas.openxmlformats.org/drawingml/2006/main">
              <a:ext uri="{FF2B5EF4-FFF2-40B4-BE49-F238E27FC236}">
                <a16:creationId xmlns:a16="http://schemas.microsoft.com/office/drawing/2014/main" id="{6EB44396-81DF-49C4-9D0A-A160045AC7F3}"/>
              </a:ext>
            </a:extLst>
          </p:cNvPr>
          <p:cNvSpPr>
            <a:spLocks xmlns:a="http://schemas.openxmlformats.org/drawingml/2006/main" noGrp="1"/>
          </p:cNvSpPr>
          <p:nvPr/>
        </p:nvSpPr>
        <p:spPr>
          <a:xfrm xmlns:a="http://schemas.openxmlformats.org/drawingml/2006/main">
            <a:off x="590550" y="5695950"/>
            <a:ext cx="10715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B8C8C1"/>
                </a:solidFill>
                <a:latin typeface="Consolas"/>
                <a:ea typeface="Consolas"/>
                <a:cs typeface="Consolas"/>
              </a:defRPr>
            </a:defPPr>
            <a:lvl1pPr>
              <a:defRPr sz="1725" b="0">
                <a:solidFill>
                  <a:srgbClr val="B8C8C1"/>
                </a:solidFill>
                <a:latin typeface="Consolas"/>
                <a:ea typeface="Consolas"/>
                <a:cs typeface="Consolas"/>
              </a:defRPr>
            </a:lvl1pPr>
            <a:lvl2pPr>
              <a:defRPr sz="1725" b="0">
                <a:solidFill>
                  <a:srgbClr val="B8C8C1"/>
                </a:solidFill>
                <a:latin typeface="Consolas"/>
                <a:ea typeface="Consolas"/>
                <a:cs typeface="Consolas"/>
              </a:defRPr>
            </a:lvl2pPr>
            <a:lvl3pPr>
              <a:defRPr sz="1725" b="0">
                <a:solidFill>
                  <a:srgbClr val="B8C8C1"/>
                </a:solidFill>
                <a:latin typeface="Consolas"/>
                <a:ea typeface="Consolas"/>
                <a:cs typeface="Consolas"/>
              </a:defRPr>
            </a:lvl3pPr>
            <a:lvl4pPr>
              <a:defRPr sz="1725" b="0">
                <a:solidFill>
                  <a:srgbClr val="B8C8C1"/>
                </a:solidFill>
                <a:latin typeface="Consolas"/>
                <a:ea typeface="Consolas"/>
                <a:cs typeface="Consolas"/>
              </a:defRPr>
            </a:lvl4pPr>
            <a:lvl5pPr>
              <a:defRPr sz="1725" b="0">
                <a:solidFill>
                  <a:srgbClr val="B8C8C1"/>
                </a:solidFill>
                <a:latin typeface="Consolas"/>
                <a:ea typeface="Consolas"/>
                <a:cs typeface="Consolas"/>
              </a:defRPr>
            </a:lvl5pPr>
            <a:lvl6pPr>
              <a:defRPr sz="1725" b="0">
                <a:solidFill>
                  <a:srgbClr val="B8C8C1"/>
                </a:solidFill>
                <a:latin typeface="Consolas"/>
                <a:ea typeface="Consolas"/>
                <a:cs typeface="Consolas"/>
              </a:defRPr>
            </a:lvl6pPr>
            <a:lvl7pPr>
              <a:defRPr sz="1725" b="0">
                <a:solidFill>
                  <a:srgbClr val="B8C8C1"/>
                </a:solidFill>
                <a:latin typeface="Consolas"/>
                <a:ea typeface="Consolas"/>
                <a:cs typeface="Consolas"/>
              </a:defRPr>
            </a:lvl7pPr>
            <a:lvl8pPr>
              <a:defRPr sz="1725" b="0">
                <a:solidFill>
                  <a:srgbClr val="B8C8C1"/>
                </a:solidFill>
                <a:latin typeface="Consolas"/>
                <a:ea typeface="Consolas"/>
                <a:cs typeface="Consolas"/>
              </a:defRPr>
            </a:lvl8pPr>
            <a:lvl9pPr>
              <a:defRPr sz="1725" b="0">
                <a:solidFill>
                  <a:srgbClr val="B8C8C1"/>
                </a:solidFill>
                <a:latin typeface="Consolas"/>
                <a:ea typeface="Consolas"/>
                <a:cs typeface="Consolas"/>
              </a:defRPr>
            </a:lvl9pPr>
          </a:lstStyle>
          <a:p xmlns:a="http://schemas.openxmlformats.org/drawingml/2006/main">
            <a:pPr>
              <a:defRPr sz="1725" b="0">
                <a:solidFill>
                  <a:srgbClr val="B8C8C1"/>
                </a:solidFill>
                <a:latin typeface="Consolas"/>
                <a:ea typeface="Consolas"/>
                <a:cs typeface="Consolas"/>
              </a:defRPr>
            </a:pPr>
            <a:r>
              <a:rPr sz="1725" b="0">
                <a:solidFill>
                  <a:srgbClr val="B8C8C1"/>
                </a:solidFill>
                <a:latin typeface="Consolas"/>
                <a:ea typeface="Consolas"/>
                <a:cs typeface="Consolas"/>
              </a:rPr>
              <a:t>PRESENCIAL   4 HORAS   ESP32 CLÁSICO</a:t>
            </a:r>
          </a:p>
        </p:txBody>
      </p:sp>
    </p:spTree>
    <p:extLst>
      <p:ext uri="{BB962C8B-B14F-4D97-AF65-F5344CB8AC3E}">
        <p14:creationId xmlns:p14="http://schemas.microsoft.com/office/powerpoint/2010/main" val="317289362"/>
      </p:ext>
    </p:extLst>
  </p:cSld>
</p:sld>
</file>

<file path=ppt/slides/slide2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44C4B01-2145-4EE1-84C1-957F38EA96EB}"/>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Qué se demuestra al terminar</a:t>
            </a:r>
          </a:p>
        </p:txBody>
      </p:sp>
      <p:pic>
        <p:nvPicPr>
          <p:cNvPr id="2" name="">
            <a:extLst xmlns:a="http://schemas.openxmlformats.org/drawingml/2006/main">
              <a:ext uri="{FF2B5EF4-FFF2-40B4-BE49-F238E27FC236}">
                <a16:creationId xmlns:a16="http://schemas.microsoft.com/office/drawing/2014/main" id="{EDF7CD23-0959-4CE9-9D46-F8D99248E87B}"/>
              </a:ext>
            </a:extLst>
          </p:cNvPr>
          <p:cNvPicPr>
            <a:picLocks xmlns:a="http://schemas.openxmlformats.org/drawingml/2006/main" noChangeAspect="1"/>
          </p:cNvPicPr>
          <p:nvPr/>
        </p:nvPicPr>
        <p:blipFill>
          <a:blip xmlns:r="http://schemas.openxmlformats.org/officeDocument/2006/relationships" xmlns:a="http://schemas.openxmlformats.org/drawingml/2006/main" r:embed="Ra513e8e35bfd45ff"/>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F9C197F-A174-4314-A994-ED020658DF35}"/>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8   CLASE 16   02/24</a:t>
            </a:r>
          </a:p>
        </p:txBody>
      </p:sp>
      <p:sp>
        <p:nvSpPr>
          <p:cNvPr id="4" name="">
            <a:extLst xmlns:a="http://schemas.openxmlformats.org/drawingml/2006/main">
              <a:ext uri="{FF2B5EF4-FFF2-40B4-BE49-F238E27FC236}">
                <a16:creationId xmlns:a16="http://schemas.microsoft.com/office/drawing/2014/main" id="{A291F37D-E1E8-4D48-B675-892D0E4B2023}"/>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La demostración final reúne construcción, programación y explicación. Se presenta una configuración identificada con un objetivo y un método de prueba. Una aplicación que solo muestra números bonitos puede ocultar referencias equivocadas; una que documenta su estado y sus datos permite investigar lo ocurrido. El taller evalúa ese criterio con el equipo delante.</a:t>
            </a:r>
          </a:p>
        </p:txBody>
      </p:sp>
    </p:spTree>
    <p:extLst>
      <p:ext uri="{BB962C8B-B14F-4D97-AF65-F5344CB8AC3E}">
        <p14:creationId xmlns:p14="http://schemas.microsoft.com/office/powerpoint/2010/main" val="244683044"/>
      </p:ext>
    </p:extLst>
  </p:cSld>
</p:sld>
</file>

<file path=ppt/slides/slide2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19C21D0-F291-40BF-991B-440C74935D2E}"/>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Paquete de entrega</a:t>
            </a:r>
          </a:p>
        </p:txBody>
      </p:sp>
      <p:pic>
        <p:nvPicPr>
          <p:cNvPr id="2" name="">
            <a:extLst xmlns:a="http://schemas.openxmlformats.org/drawingml/2006/main">
              <a:ext uri="{FF2B5EF4-FFF2-40B4-BE49-F238E27FC236}">
                <a16:creationId xmlns:a16="http://schemas.microsoft.com/office/drawing/2014/main" id="{F8E6AE66-CE1A-4303-BD17-0E86F3DD491D}"/>
              </a:ext>
            </a:extLst>
          </p:cNvPr>
          <p:cNvPicPr>
            <a:picLocks xmlns:a="http://schemas.openxmlformats.org/drawingml/2006/main" noChangeAspect="1"/>
          </p:cNvPicPr>
          <p:nvPr/>
        </p:nvPicPr>
        <p:blipFill>
          <a:blip xmlns:r="http://schemas.openxmlformats.org/officeDocument/2006/relationships" xmlns:a="http://schemas.openxmlformats.org/drawingml/2006/main" r:embed="R9574f7c9197044a1"/>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3B80A0A-C7C4-48E5-B545-2F41A44B6F6A}"/>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8   CLASE 16   03/24</a:t>
            </a:r>
          </a:p>
        </p:txBody>
      </p:sp>
      <p:graphicFrame>
        <p:nvGraphicFramePr>
          <p:cNvPr id="4" name="">
            <a:extLst xmlns:a="http://schemas.openxmlformats.org/drawingml/2006/main">
              <a:ext uri="{FF2B5EF4-FFF2-40B4-BE49-F238E27FC236}">
                <a16:creationId xmlns:a16="http://schemas.microsoft.com/office/drawing/2014/main" id="{DF215447-DD7C-4592-83BF-8E7A2A36D7D2}"/>
              </a:ext>
            </a:extLst>
          </p:cNvPr>
          <p:cNvGraphicFramePr/>
          <p:nvPr/>
        </p:nvGraphicFramePr>
        <p:xfrm>
          <a:off xmlns:a="http://schemas.openxmlformats.org/drawingml/2006/main" x="590550" y="1714500"/>
          <a:ext xmlns:a="http://schemas.openxmlformats.org/drawingml/2006/main" cx="11010900" cy="4114800"/>
        </p:xfrm>
        <a:graphic xmlns:a="http://schemas.openxmlformats.org/drawingml/2006/main">
          <a:graphicData uri="http://schemas.openxmlformats.org/drawingml/2006/table">
            <a:tbl>
              <a:tblPr/>
              <a:tblGrid>
                <a:gridCol w="4381500"/>
                <a:gridCol w="6629400"/>
              </a:tblGrid>
              <a:tr h="685800">
                <a:tc>
                  <a:txBody>
                    <a:bodyPr/>
                    <a:lstStyle/>
                    <a:p>
                      <a:r>
                        <a:rPr sz="1875" b="1">
                          <a:solidFill>
                            <a:srgbClr val="FFFFFF"/>
                          </a:solidFill>
                          <a:latin typeface="Arial"/>
                          <a:ea typeface="Arial"/>
                          <a:cs typeface="Arial"/>
                        </a:rPr>
                        <a:t>Elemento</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Qué permite revisar</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685800">
                <a:tc>
                  <a:txBody>
                    <a:bodyPr/>
                    <a:lstStyle/>
                    <a:p>
                      <a:r>
                        <a:rPr sz="1875" b="0">
                          <a:solidFill>
                            <a:srgbClr val="14231E"/>
                          </a:solidFill>
                          <a:latin typeface="Arial"/>
                          <a:ea typeface="Arial"/>
                          <a:cs typeface="Arial"/>
                        </a:rPr>
                        <a:t>Esquema vigente</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Energía, señal y referencia</a:t>
                      </a:r>
                    </a:p>
                  </a:txBody>
                  <a:tcPr marL="91440" marR="91440" marT="45720" marB="45720">
                    <a:lnR w="9525">
                      <a:solidFill>
                        <a:srgbClr val="BFCEC3"/>
                      </a:solidFill>
                      <a:prstDash val="solid"/>
                    </a:lnR>
                    <a:lnB w="9525">
                      <a:solidFill>
                        <a:srgbClr val="BFCEC3"/>
                      </a:solidFill>
                      <a:prstDash val="solid"/>
                    </a:lnB>
                    <a:solidFill>
                      <a:srgbClr val="EAF3EC"/>
                    </a:solidFill>
                  </a:tcPr>
                </a:tc>
              </a:tr>
              <a:tr h="685800">
                <a:tc>
                  <a:txBody>
                    <a:bodyPr/>
                    <a:lstStyle/>
                    <a:p>
                      <a:r>
                        <a:rPr sz="1875" b="0">
                          <a:solidFill>
                            <a:srgbClr val="14231E"/>
                          </a:solidFill>
                          <a:latin typeface="Arial"/>
                          <a:ea typeface="Arial"/>
                          <a:cs typeface="Arial"/>
                        </a:rPr>
                        <a:t>Código y entorno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Reproducir la construcción</a:t>
                      </a:r>
                    </a:p>
                  </a:txBody>
                  <a:tcPr marL="91440" marR="91440" marT="45720" marB="45720">
                    <a:lnR w="9525">
                      <a:solidFill>
                        <a:srgbClr val="BFCEC3"/>
                      </a:solidFill>
                      <a:prstDash val="solid"/>
                    </a:lnR>
                    <a:lnB w="9525">
                      <a:solidFill>
                        <a:srgbClr val="BFCEC3"/>
                      </a:solidFill>
                      <a:prstDash val="solid"/>
                    </a:lnB>
                    <a:solidFill>
                      <a:srgbClr val="FCFCF8"/>
                    </a:solidFill>
                  </a:tcPr>
                </a:tc>
              </a:tr>
              <a:tr h="685800">
                <a:tc>
                  <a:txBody>
                    <a:bodyPr/>
                    <a:lstStyle/>
                    <a:p>
                      <a:r>
                        <a:rPr sz="1875" b="0">
                          <a:solidFill>
                            <a:srgbClr val="14231E"/>
                          </a:solidFill>
                          <a:latin typeface="Arial"/>
                          <a:ea typeface="Arial"/>
                          <a:cs typeface="Arial"/>
                        </a:rPr>
                        <a:t>Registro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Tiempo, unidad y estado</a:t>
                      </a:r>
                    </a:p>
                  </a:txBody>
                  <a:tcPr marL="91440" marR="91440" marT="45720" marB="45720">
                    <a:lnR w="9525">
                      <a:solidFill>
                        <a:srgbClr val="BFCEC3"/>
                      </a:solidFill>
                      <a:prstDash val="solid"/>
                    </a:lnR>
                    <a:lnB w="9525">
                      <a:solidFill>
                        <a:srgbClr val="BFCEC3"/>
                      </a:solidFill>
                      <a:prstDash val="solid"/>
                    </a:lnB>
                    <a:solidFill>
                      <a:srgbClr val="EAF3EC"/>
                    </a:solidFill>
                  </a:tcPr>
                </a:tc>
              </a:tr>
              <a:tr h="685800">
                <a:tc>
                  <a:txBody>
                    <a:bodyPr/>
                    <a:lstStyle/>
                    <a:p>
                      <a:r>
                        <a:rPr sz="1875" b="0">
                          <a:solidFill>
                            <a:srgbClr val="14231E"/>
                          </a:solidFill>
                          <a:latin typeface="Arial"/>
                          <a:ea typeface="Arial"/>
                          <a:cs typeface="Arial"/>
                        </a:rPr>
                        <a:t>Pruebas</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Condiciones y observaciones</a:t>
                      </a:r>
                    </a:p>
                  </a:txBody>
                  <a:tcPr marL="91440" marR="91440" marT="45720" marB="45720">
                    <a:lnR w="9525">
                      <a:solidFill>
                        <a:srgbClr val="BFCEC3"/>
                      </a:solidFill>
                      <a:prstDash val="solid"/>
                    </a:lnR>
                    <a:lnB w="9525">
                      <a:solidFill>
                        <a:srgbClr val="BFCEC3"/>
                      </a:solidFill>
                      <a:prstDash val="solid"/>
                    </a:lnB>
                    <a:solidFill>
                      <a:srgbClr val="FCFCF8"/>
                    </a:solidFill>
                  </a:tcPr>
                </a:tc>
              </a:tr>
              <a:tr h="685800">
                <a:tc>
                  <a:txBody>
                    <a:bodyPr/>
                    <a:lstStyle/>
                    <a:p>
                      <a:r>
                        <a:rPr sz="1875" b="0">
                          <a:solidFill>
                            <a:srgbClr val="14231E"/>
                          </a:solidFill>
                          <a:latin typeface="Arial"/>
                          <a:ea typeface="Arial"/>
                          <a:cs typeface="Arial"/>
                        </a:rPr>
                        <a:t>Defensa</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Decisiones del estudiante</a:t>
                      </a:r>
                    </a:p>
                  </a:txBody>
                  <a:tcPr marL="91440" marR="91440" marT="45720" marB="45720">
                    <a:lnR w="9525">
                      <a:solidFill>
                        <a:srgbClr val="BFCEC3"/>
                      </a:solidFill>
                      <a:prstDash val="solid"/>
                    </a:lnR>
                    <a:lnB w="9525">
                      <a:solidFill>
                        <a:srgbClr val="BFCEC3"/>
                      </a:solidFill>
                      <a:prstDash val="solid"/>
                    </a:lnB>
                    <a:solidFill>
                      <a:srgbClr val="EAF3EC"/>
                    </a:solidFill>
                  </a:tcPr>
                </a:tc>
              </a:tr>
            </a:tbl>
          </a:graphicData>
        </a:graphic>
      </p:graphicFrame>
    </p:spTree>
    <p:extLst>
      <p:ext uri="{BB962C8B-B14F-4D97-AF65-F5344CB8AC3E}">
        <p14:creationId xmlns:p14="http://schemas.microsoft.com/office/powerpoint/2010/main" val="377929237"/>
      </p:ext>
    </p:extLst>
  </p:cSld>
</p:sld>
</file>

<file path=ppt/slides/slide2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A5A37F0-D0C6-47B3-AE47-239AFCAAB819}"/>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Interpretación · Qué se demuestra al terminar</a:t>
            </a:r>
          </a:p>
        </p:txBody>
      </p:sp>
      <p:pic>
        <p:nvPicPr>
          <p:cNvPr id="2" name="">
            <a:extLst xmlns:a="http://schemas.openxmlformats.org/drawingml/2006/main">
              <a:ext uri="{FF2B5EF4-FFF2-40B4-BE49-F238E27FC236}">
                <a16:creationId xmlns:a16="http://schemas.microsoft.com/office/drawing/2014/main" id="{FDE4E49E-1E8E-4949-AA99-BE58565A8571}"/>
              </a:ext>
            </a:extLst>
          </p:cNvPr>
          <p:cNvPicPr>
            <a:picLocks xmlns:a="http://schemas.openxmlformats.org/drawingml/2006/main" noChangeAspect="1"/>
          </p:cNvPicPr>
          <p:nvPr/>
        </p:nvPicPr>
        <p:blipFill>
          <a:blip xmlns:r="http://schemas.openxmlformats.org/officeDocument/2006/relationships" xmlns:a="http://schemas.openxmlformats.org/drawingml/2006/main" r:embed="R482a0665a5994228"/>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134343E-F18D-487C-8821-432F337C3652}"/>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8   CLASE 16   04/24</a:t>
            </a:r>
          </a:p>
        </p:txBody>
      </p:sp>
      <p:sp>
        <p:nvSpPr>
          <p:cNvPr id="4" name="">
            <a:extLst xmlns:a="http://schemas.openxmlformats.org/drawingml/2006/main">
              <a:ext uri="{FF2B5EF4-FFF2-40B4-BE49-F238E27FC236}">
                <a16:creationId xmlns:a16="http://schemas.microsoft.com/office/drawing/2014/main" id="{76A3E160-6B39-416F-A15F-218EF00ABB44}"/>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1E"/>
                </a:solidFill>
                <a:latin typeface="Arial"/>
                <a:ea typeface="Arial"/>
                <a:cs typeface="Arial"/>
              </a:defRPr>
            </a:defPPr>
            <a:lvl1pPr>
              <a:defRPr sz="2175" b="0">
                <a:solidFill>
                  <a:srgbClr val="14231E"/>
                </a:solidFill>
                <a:latin typeface="Arial"/>
                <a:ea typeface="Arial"/>
                <a:cs typeface="Arial"/>
              </a:defRPr>
            </a:lvl1pPr>
            <a:lvl2pPr>
              <a:defRPr sz="2175" b="0">
                <a:solidFill>
                  <a:srgbClr val="14231E"/>
                </a:solidFill>
                <a:latin typeface="Arial"/>
                <a:ea typeface="Arial"/>
                <a:cs typeface="Arial"/>
              </a:defRPr>
            </a:lvl2pPr>
            <a:lvl3pPr>
              <a:defRPr sz="2175" b="0">
                <a:solidFill>
                  <a:srgbClr val="14231E"/>
                </a:solidFill>
                <a:latin typeface="Arial"/>
                <a:ea typeface="Arial"/>
                <a:cs typeface="Arial"/>
              </a:defRPr>
            </a:lvl3pPr>
            <a:lvl4pPr>
              <a:defRPr sz="2175" b="0">
                <a:solidFill>
                  <a:srgbClr val="14231E"/>
                </a:solidFill>
                <a:latin typeface="Arial"/>
                <a:ea typeface="Arial"/>
                <a:cs typeface="Arial"/>
              </a:defRPr>
            </a:lvl4pPr>
            <a:lvl5pPr>
              <a:defRPr sz="2175" b="0">
                <a:solidFill>
                  <a:srgbClr val="14231E"/>
                </a:solidFill>
                <a:latin typeface="Arial"/>
                <a:ea typeface="Arial"/>
                <a:cs typeface="Arial"/>
              </a:defRPr>
            </a:lvl5pPr>
            <a:lvl6pPr>
              <a:defRPr sz="2175" b="0">
                <a:solidFill>
                  <a:srgbClr val="14231E"/>
                </a:solidFill>
                <a:latin typeface="Arial"/>
                <a:ea typeface="Arial"/>
                <a:cs typeface="Arial"/>
              </a:defRPr>
            </a:lvl6pPr>
            <a:lvl7pPr>
              <a:defRPr sz="2175" b="0">
                <a:solidFill>
                  <a:srgbClr val="14231E"/>
                </a:solidFill>
                <a:latin typeface="Arial"/>
                <a:ea typeface="Arial"/>
                <a:cs typeface="Arial"/>
              </a:defRPr>
            </a:lvl7pPr>
            <a:lvl8pPr>
              <a:defRPr sz="2175" b="0">
                <a:solidFill>
                  <a:srgbClr val="14231E"/>
                </a:solidFill>
                <a:latin typeface="Arial"/>
                <a:ea typeface="Arial"/>
                <a:cs typeface="Arial"/>
              </a:defRPr>
            </a:lvl8pPr>
            <a:lvl9pPr>
              <a:defRPr sz="2175" b="0">
                <a:solidFill>
                  <a:srgbClr val="14231E"/>
                </a:solidFill>
                <a:latin typeface="Arial"/>
                <a:ea typeface="Arial"/>
                <a:cs typeface="Arial"/>
              </a:defRPr>
            </a:lvl9pPr>
          </a:lstStyle>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El proyecto principal se demuestra en banco; no se plantea como firmware de vuelo. Un equipo que trabajó por simulación identifica sus resultados como tales y participa en las comprobaciones compartidas disponibles. La evaluación conserva esa diferencia para que un certificado del curso no prometa una experiencia física que no se documentó.</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Antes de energizar se revisa que el montaje corresponda al esquema de esa versión. Las modificaciones realizadas después de una prueba pueden afectar la referencia, los pines o el estado inicial. El expediente no necesita ser complicado: debe permitir reconocer qué sistema se examinó y qué condiciones se conservaron.</a:t>
            </a:r>
          </a:p>
        </p:txBody>
      </p:sp>
    </p:spTree>
    <p:extLst>
      <p:ext uri="{BB962C8B-B14F-4D97-AF65-F5344CB8AC3E}">
        <p14:creationId xmlns:p14="http://schemas.microsoft.com/office/powerpoint/2010/main" val="1482937728"/>
      </p:ext>
    </p:extLst>
  </p:cSld>
</p:sld>
</file>

<file path=ppt/slides/slide29.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AFDCB6D-4E6D-4ABC-883D-B9B89819FFB9}"/>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Agenda del taller y roles</a:t>
            </a:r>
          </a:p>
        </p:txBody>
      </p:sp>
      <p:pic>
        <p:nvPicPr>
          <p:cNvPr id="2" name="">
            <a:extLst xmlns:a="http://schemas.openxmlformats.org/drawingml/2006/main">
              <a:ext uri="{FF2B5EF4-FFF2-40B4-BE49-F238E27FC236}">
                <a16:creationId xmlns:a16="http://schemas.microsoft.com/office/drawing/2014/main" id="{95E921FB-4F0D-483F-9E5A-729EA19F8744}"/>
              </a:ext>
            </a:extLst>
          </p:cNvPr>
          <p:cNvPicPr>
            <a:picLocks xmlns:a="http://schemas.openxmlformats.org/drawingml/2006/main" noChangeAspect="1"/>
          </p:cNvPicPr>
          <p:nvPr/>
        </p:nvPicPr>
        <p:blipFill>
          <a:blip xmlns:r="http://schemas.openxmlformats.org/officeDocument/2006/relationships" xmlns:a="http://schemas.openxmlformats.org/drawingml/2006/main" r:embed="R9b47d267562b4120"/>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7D7B74A-94B7-4F68-A5AF-16851ED8D4CA}"/>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8   CLASE 16   05/24</a:t>
            </a:r>
          </a:p>
        </p:txBody>
      </p:sp>
      <p:sp>
        <p:nvSpPr>
          <p:cNvPr id="4" name="">
            <a:extLst xmlns:a="http://schemas.openxmlformats.org/drawingml/2006/main">
              <a:ext uri="{FF2B5EF4-FFF2-40B4-BE49-F238E27FC236}">
                <a16:creationId xmlns:a16="http://schemas.microsoft.com/office/drawing/2014/main" id="{E0CFA70F-7985-45D2-97B0-0C2A7532E9D9}"/>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Los roles de montaje, software, medición y registro rotan a lo largo del curso. En el cierre, cada integrante explica al menos un dato y una decisión. El docente puede pedir una modificación pequeña y controlada o presentar un caso nuevo del registro. No se trata de memorizar el programa del equipo, sino de poder usar sus conceptos para responder una pregunta cercana.</a:t>
            </a:r>
          </a:p>
        </p:txBody>
      </p:sp>
    </p:spTree>
    <p:extLst>
      <p:ext uri="{BB962C8B-B14F-4D97-AF65-F5344CB8AC3E}">
        <p14:creationId xmlns:p14="http://schemas.microsoft.com/office/powerpoint/2010/main" val="1257262599"/>
      </p:ext>
    </p:extLst>
  </p:cSld>
</p:sld>
</file>

<file path=ppt/slides/slide30.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E73FC46-D78D-4E4F-8997-4840A1FA49F7}"/>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Taller presencial 2: cuatro horas</a:t>
            </a:r>
          </a:p>
        </p:txBody>
      </p:sp>
      <p:pic>
        <p:nvPicPr>
          <p:cNvPr id="2" name="">
            <a:extLst xmlns:a="http://schemas.openxmlformats.org/drawingml/2006/main">
              <a:ext uri="{FF2B5EF4-FFF2-40B4-BE49-F238E27FC236}">
                <a16:creationId xmlns:a16="http://schemas.microsoft.com/office/drawing/2014/main" id="{CDEE43C6-F182-467A-B6C0-313322122C2A}"/>
              </a:ext>
            </a:extLst>
          </p:cNvPr>
          <p:cNvPicPr>
            <a:picLocks xmlns:a="http://schemas.openxmlformats.org/drawingml/2006/main" noChangeAspect="1"/>
          </p:cNvPicPr>
          <p:nvPr/>
        </p:nvPicPr>
        <p:blipFill>
          <a:blip xmlns:r="http://schemas.openxmlformats.org/officeDocument/2006/relationships" xmlns:a="http://schemas.openxmlformats.org/drawingml/2006/main" r:embed="Rb49aea63b19b4f3a"/>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9C3B2D0-DA3D-4ED8-A992-C653EC1D5C9C}"/>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8   CLASE 16   06/24</a:t>
            </a:r>
          </a:p>
        </p:txBody>
      </p:sp>
      <p:graphicFrame>
        <p:nvGraphicFramePr>
          <p:cNvPr id="4" name="">
            <a:extLst xmlns:a="http://schemas.openxmlformats.org/drawingml/2006/main">
              <a:ext uri="{FF2B5EF4-FFF2-40B4-BE49-F238E27FC236}">
                <a16:creationId xmlns:a16="http://schemas.microsoft.com/office/drawing/2014/main" id="{C70575EF-F033-4910-B1DD-C204994AD95C}"/>
              </a:ext>
            </a:extLst>
          </p:cNvPr>
          <p:cNvGraphicFramePr/>
          <p:nvPr/>
        </p:nvGraphicFramePr>
        <p:xfrm>
          <a:off xmlns:a="http://schemas.openxmlformats.org/drawingml/2006/main" x="590550" y="1714500"/>
          <a:ext xmlns:a="http://schemas.openxmlformats.org/drawingml/2006/main" cx="11010900" cy="4114800"/>
        </p:xfrm>
        <a:graphic xmlns:a="http://schemas.openxmlformats.org/drawingml/2006/main">
          <a:graphicData uri="http://schemas.openxmlformats.org/drawingml/2006/table">
            <a:tbl>
              <a:tblPr/>
              <a:tblGrid>
                <a:gridCol w="3238500"/>
                <a:gridCol w="3667125"/>
                <a:gridCol w="4105275"/>
              </a:tblGrid>
              <a:tr h="587829">
                <a:tc>
                  <a:txBody>
                    <a:bodyPr/>
                    <a:lstStyle/>
                    <a:p>
                      <a:r>
                        <a:rPr sz="1725" b="1">
                          <a:solidFill>
                            <a:srgbClr val="FFFFFF"/>
                          </a:solidFill>
                          <a:latin typeface="Arial"/>
                          <a:ea typeface="Arial"/>
                          <a:cs typeface="Arial"/>
                        </a:rPr>
                        <a:t>Minutos</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725" b="1">
                          <a:solidFill>
                            <a:srgbClr val="FFFFFF"/>
                          </a:solidFill>
                          <a:latin typeface="Arial"/>
                          <a:ea typeface="Arial"/>
                          <a:cs typeface="Arial"/>
                        </a:rPr>
                        <a:t>Actividad</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725" b="1">
                          <a:solidFill>
                            <a:srgbClr val="FFFFFF"/>
                          </a:solidFill>
                          <a:latin typeface="Arial"/>
                          <a:ea typeface="Arial"/>
                          <a:cs typeface="Arial"/>
                        </a:rPr>
                        <a:t>Producto</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587829">
                <a:tc>
                  <a:txBody>
                    <a:bodyPr/>
                    <a:lstStyle/>
                    <a:p>
                      <a:r>
                        <a:rPr sz="1725" b="0">
                          <a:solidFill>
                            <a:srgbClr val="14231E"/>
                          </a:solidFill>
                          <a:latin typeface="Arial"/>
                          <a:ea typeface="Arial"/>
                          <a:cs typeface="Arial"/>
                        </a:rPr>
                        <a:t>0–25</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725" b="0">
                          <a:solidFill>
                            <a:srgbClr val="14231E"/>
                          </a:solidFill>
                          <a:latin typeface="Arial"/>
                          <a:ea typeface="Arial"/>
                          <a:cs typeface="Arial"/>
                        </a:rPr>
                        <a:t>Revisión de versiones</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725" b="0">
                          <a:solidFill>
                            <a:srgbClr val="14231E"/>
                          </a:solidFill>
                          <a:latin typeface="Arial"/>
                          <a:ea typeface="Arial"/>
                          <a:cs typeface="Arial"/>
                        </a:rPr>
                        <a:t>Lista de equipos</a:t>
                      </a:r>
                    </a:p>
                  </a:txBody>
                  <a:tcPr marL="91440" marR="91440" marT="45720" marB="45720">
                    <a:lnR w="9525">
                      <a:solidFill>
                        <a:srgbClr val="BFCEC3"/>
                      </a:solidFill>
                      <a:prstDash val="solid"/>
                    </a:lnR>
                    <a:lnB w="9525">
                      <a:solidFill>
                        <a:srgbClr val="BFCEC3"/>
                      </a:solidFill>
                      <a:prstDash val="solid"/>
                    </a:lnB>
                    <a:solidFill>
                      <a:srgbClr val="EAF3EC"/>
                    </a:solidFill>
                  </a:tcPr>
                </a:tc>
              </a:tr>
              <a:tr h="587829">
                <a:tc>
                  <a:txBody>
                    <a:bodyPr/>
                    <a:lstStyle/>
                    <a:p>
                      <a:r>
                        <a:rPr sz="1725" b="0">
                          <a:solidFill>
                            <a:srgbClr val="14231E"/>
                          </a:solidFill>
                          <a:latin typeface="Arial"/>
                          <a:ea typeface="Arial"/>
                          <a:cs typeface="Arial"/>
                        </a:rPr>
                        <a:t>25–80</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725" b="0">
                          <a:solidFill>
                            <a:srgbClr val="14231E"/>
                          </a:solidFill>
                          <a:latin typeface="Arial"/>
                          <a:ea typeface="Arial"/>
                          <a:cs typeface="Arial"/>
                        </a:rPr>
                        <a:t>Prueba normal y registro</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725" b="0">
                          <a:solidFill>
                            <a:srgbClr val="14231E"/>
                          </a:solidFill>
                          <a:latin typeface="Arial"/>
                          <a:ea typeface="Arial"/>
                          <a:cs typeface="Arial"/>
                        </a:rPr>
                        <a:t>Evidencia de funcionamiento</a:t>
                      </a:r>
                    </a:p>
                  </a:txBody>
                  <a:tcPr marL="91440" marR="91440" marT="45720" marB="45720">
                    <a:lnR w="9525">
                      <a:solidFill>
                        <a:srgbClr val="BFCEC3"/>
                      </a:solidFill>
                      <a:prstDash val="solid"/>
                    </a:lnR>
                    <a:lnB w="9525">
                      <a:solidFill>
                        <a:srgbClr val="BFCEC3"/>
                      </a:solidFill>
                      <a:prstDash val="solid"/>
                    </a:lnB>
                    <a:solidFill>
                      <a:srgbClr val="FCFCF8"/>
                    </a:solidFill>
                  </a:tcPr>
                </a:tc>
              </a:tr>
              <a:tr h="587829">
                <a:tc>
                  <a:txBody>
                    <a:bodyPr/>
                    <a:lstStyle/>
                    <a:p>
                      <a:r>
                        <a:rPr sz="1725" b="0">
                          <a:solidFill>
                            <a:srgbClr val="14231E"/>
                          </a:solidFill>
                          <a:latin typeface="Arial"/>
                          <a:ea typeface="Arial"/>
                          <a:cs typeface="Arial"/>
                        </a:rPr>
                        <a:t>80–140</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725" b="0">
                          <a:solidFill>
                            <a:srgbClr val="14231E"/>
                          </a:solidFill>
                          <a:latin typeface="Arial"/>
                          <a:ea typeface="Arial"/>
                          <a:cs typeface="Arial"/>
                        </a:rPr>
                        <a:t>Pruebas de fallo</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725" b="0">
                          <a:solidFill>
                            <a:srgbClr val="14231E"/>
                          </a:solidFill>
                          <a:latin typeface="Arial"/>
                          <a:ea typeface="Arial"/>
                          <a:cs typeface="Arial"/>
                        </a:rPr>
                        <a:t>Diagnóstico observado</a:t>
                      </a:r>
                    </a:p>
                  </a:txBody>
                  <a:tcPr marL="91440" marR="91440" marT="45720" marB="45720">
                    <a:lnR w="9525">
                      <a:solidFill>
                        <a:srgbClr val="BFCEC3"/>
                      </a:solidFill>
                      <a:prstDash val="solid"/>
                    </a:lnR>
                    <a:lnB w="9525">
                      <a:solidFill>
                        <a:srgbClr val="BFCEC3"/>
                      </a:solidFill>
                      <a:prstDash val="solid"/>
                    </a:lnB>
                    <a:solidFill>
                      <a:srgbClr val="EAF3EC"/>
                    </a:solidFill>
                  </a:tcPr>
                </a:tc>
              </a:tr>
              <a:tr h="587829">
                <a:tc>
                  <a:txBody>
                    <a:bodyPr/>
                    <a:lstStyle/>
                    <a:p>
                      <a:r>
                        <a:rPr sz="1725" b="0">
                          <a:solidFill>
                            <a:srgbClr val="14231E"/>
                          </a:solidFill>
                          <a:latin typeface="Arial"/>
                          <a:ea typeface="Arial"/>
                          <a:cs typeface="Arial"/>
                        </a:rPr>
                        <a:t>140–195</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725" b="0">
                          <a:solidFill>
                            <a:srgbClr val="14231E"/>
                          </a:solidFill>
                          <a:latin typeface="Arial"/>
                          <a:ea typeface="Arial"/>
                          <a:cs typeface="Arial"/>
                        </a:rPr>
                        <a:t>Demostraciones y defensa</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725" b="0">
                          <a:solidFill>
                            <a:srgbClr val="14231E"/>
                          </a:solidFill>
                          <a:latin typeface="Arial"/>
                          <a:ea typeface="Arial"/>
                          <a:cs typeface="Arial"/>
                        </a:rPr>
                        <a:t>Explicación individual</a:t>
                      </a:r>
                    </a:p>
                  </a:txBody>
                  <a:tcPr marL="91440" marR="91440" marT="45720" marB="45720">
                    <a:lnR w="9525">
                      <a:solidFill>
                        <a:srgbClr val="BFCEC3"/>
                      </a:solidFill>
                      <a:prstDash val="solid"/>
                    </a:lnR>
                    <a:lnB w="9525">
                      <a:solidFill>
                        <a:srgbClr val="BFCEC3"/>
                      </a:solidFill>
                      <a:prstDash val="solid"/>
                    </a:lnB>
                    <a:solidFill>
                      <a:srgbClr val="FCFCF8"/>
                    </a:solidFill>
                  </a:tcPr>
                </a:tc>
              </a:tr>
              <a:tr h="587829">
                <a:tc>
                  <a:txBody>
                    <a:bodyPr/>
                    <a:lstStyle/>
                    <a:p>
                      <a:r>
                        <a:rPr sz="1725" b="0">
                          <a:solidFill>
                            <a:srgbClr val="14231E"/>
                          </a:solidFill>
                          <a:latin typeface="Arial"/>
                          <a:ea typeface="Arial"/>
                          <a:cs typeface="Arial"/>
                        </a:rPr>
                        <a:t>195–220</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725" b="0">
                          <a:solidFill>
                            <a:srgbClr val="14231E"/>
                          </a:solidFill>
                          <a:latin typeface="Arial"/>
                          <a:ea typeface="Arial"/>
                          <a:cs typeface="Arial"/>
                        </a:rPr>
                        <a:t>Correcciones pequeñas</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725" b="0">
                          <a:solidFill>
                            <a:srgbClr val="14231E"/>
                          </a:solidFill>
                          <a:latin typeface="Arial"/>
                          <a:ea typeface="Arial"/>
                          <a:cs typeface="Arial"/>
                        </a:rPr>
                        <a:t>Revisión de cambio</a:t>
                      </a:r>
                    </a:p>
                  </a:txBody>
                  <a:tcPr marL="91440" marR="91440" marT="45720" marB="45720">
                    <a:lnR w="9525">
                      <a:solidFill>
                        <a:srgbClr val="BFCEC3"/>
                      </a:solidFill>
                      <a:prstDash val="solid"/>
                    </a:lnR>
                    <a:lnB w="9525">
                      <a:solidFill>
                        <a:srgbClr val="BFCEC3"/>
                      </a:solidFill>
                      <a:prstDash val="solid"/>
                    </a:lnB>
                    <a:solidFill>
                      <a:srgbClr val="EAF3EC"/>
                    </a:solidFill>
                  </a:tcPr>
                </a:tc>
              </a:tr>
              <a:tr h="587829">
                <a:tc>
                  <a:txBody>
                    <a:bodyPr/>
                    <a:lstStyle/>
                    <a:p>
                      <a:r>
                        <a:rPr sz="1725" b="0">
                          <a:solidFill>
                            <a:srgbClr val="14231E"/>
                          </a:solidFill>
                          <a:latin typeface="Arial"/>
                          <a:ea typeface="Arial"/>
                          <a:cs typeface="Arial"/>
                        </a:rPr>
                        <a:t>220–240</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725" b="0">
                          <a:solidFill>
                            <a:srgbClr val="14231E"/>
                          </a:solidFill>
                          <a:latin typeface="Arial"/>
                          <a:ea typeface="Arial"/>
                          <a:cs typeface="Arial"/>
                        </a:rPr>
                        <a:t>Cierre y siguiente ruta</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725" b="0">
                          <a:solidFill>
                            <a:srgbClr val="14231E"/>
                          </a:solidFill>
                          <a:latin typeface="Arial"/>
                          <a:ea typeface="Arial"/>
                          <a:cs typeface="Arial"/>
                        </a:rPr>
                        <a:t>Informe final</a:t>
                      </a:r>
                    </a:p>
                  </a:txBody>
                  <a:tcPr marL="91440" marR="91440" marT="45720" marB="45720">
                    <a:lnR w="9525">
                      <a:solidFill>
                        <a:srgbClr val="BFCEC3"/>
                      </a:solidFill>
                      <a:prstDash val="solid"/>
                    </a:lnR>
                    <a:lnB w="9525">
                      <a:solidFill>
                        <a:srgbClr val="BFCEC3"/>
                      </a:solidFill>
                      <a:prstDash val="solid"/>
                    </a:lnB>
                    <a:solidFill>
                      <a:srgbClr val="FCFCF8"/>
                    </a:solidFill>
                  </a:tcPr>
                </a:tc>
              </a:tr>
            </a:tbl>
          </a:graphicData>
        </a:graphic>
      </p:graphicFrame>
    </p:spTree>
    <p:extLst>
      <p:ext uri="{BB962C8B-B14F-4D97-AF65-F5344CB8AC3E}">
        <p14:creationId xmlns:p14="http://schemas.microsoft.com/office/powerpoint/2010/main" val="1314036664"/>
      </p:ext>
    </p:extLst>
  </p:cSld>
</p:sld>
</file>

<file path=ppt/slides/slide31.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806C261-FC73-4AD5-BD3B-4CAF8E511A4C}"/>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Interpretación · Agenda del taller y roles</a:t>
            </a:r>
          </a:p>
        </p:txBody>
      </p:sp>
      <p:pic>
        <p:nvPicPr>
          <p:cNvPr id="2" name="">
            <a:extLst xmlns:a="http://schemas.openxmlformats.org/drawingml/2006/main">
              <a:ext uri="{FF2B5EF4-FFF2-40B4-BE49-F238E27FC236}">
                <a16:creationId xmlns:a16="http://schemas.microsoft.com/office/drawing/2014/main" id="{3E301959-3E69-4562-9FF4-52482294EF4D}"/>
              </a:ext>
            </a:extLst>
          </p:cNvPr>
          <p:cNvPicPr>
            <a:picLocks xmlns:a="http://schemas.openxmlformats.org/drawingml/2006/main" noChangeAspect="1"/>
          </p:cNvPicPr>
          <p:nvPr/>
        </p:nvPicPr>
        <p:blipFill>
          <a:blip xmlns:r="http://schemas.openxmlformats.org/officeDocument/2006/relationships" xmlns:a="http://schemas.openxmlformats.org/drawingml/2006/main" r:embed="Rc6fc50ac42d34ce0"/>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F664683-704F-4D46-A3A3-9C664CF7A7C9}"/>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8   CLASE 16   07/24</a:t>
            </a:r>
          </a:p>
        </p:txBody>
      </p:sp>
      <p:sp>
        <p:nvSpPr>
          <p:cNvPr id="4" name="">
            <a:extLst xmlns:a="http://schemas.openxmlformats.org/drawingml/2006/main">
              <a:ext uri="{FF2B5EF4-FFF2-40B4-BE49-F238E27FC236}">
                <a16:creationId xmlns:a16="http://schemas.microsoft.com/office/drawing/2014/main" id="{411E4BC0-D279-473C-B80D-98EEB8607301}"/>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1E"/>
                </a:solidFill>
                <a:latin typeface="Arial"/>
                <a:ea typeface="Arial"/>
                <a:cs typeface="Arial"/>
              </a:defRPr>
            </a:defPPr>
            <a:lvl1pPr>
              <a:defRPr sz="2175" b="0">
                <a:solidFill>
                  <a:srgbClr val="14231E"/>
                </a:solidFill>
                <a:latin typeface="Arial"/>
                <a:ea typeface="Arial"/>
                <a:cs typeface="Arial"/>
              </a:defRPr>
            </a:lvl1pPr>
            <a:lvl2pPr>
              <a:defRPr sz="2175" b="0">
                <a:solidFill>
                  <a:srgbClr val="14231E"/>
                </a:solidFill>
                <a:latin typeface="Arial"/>
                <a:ea typeface="Arial"/>
                <a:cs typeface="Arial"/>
              </a:defRPr>
            </a:lvl2pPr>
            <a:lvl3pPr>
              <a:defRPr sz="2175" b="0">
                <a:solidFill>
                  <a:srgbClr val="14231E"/>
                </a:solidFill>
                <a:latin typeface="Arial"/>
                <a:ea typeface="Arial"/>
                <a:cs typeface="Arial"/>
              </a:defRPr>
            </a:lvl3pPr>
            <a:lvl4pPr>
              <a:defRPr sz="2175" b="0">
                <a:solidFill>
                  <a:srgbClr val="14231E"/>
                </a:solidFill>
                <a:latin typeface="Arial"/>
                <a:ea typeface="Arial"/>
                <a:cs typeface="Arial"/>
              </a:defRPr>
            </a:lvl4pPr>
            <a:lvl5pPr>
              <a:defRPr sz="2175" b="0">
                <a:solidFill>
                  <a:srgbClr val="14231E"/>
                </a:solidFill>
                <a:latin typeface="Arial"/>
                <a:ea typeface="Arial"/>
                <a:cs typeface="Arial"/>
              </a:defRPr>
            </a:lvl5pPr>
            <a:lvl6pPr>
              <a:defRPr sz="2175" b="0">
                <a:solidFill>
                  <a:srgbClr val="14231E"/>
                </a:solidFill>
                <a:latin typeface="Arial"/>
                <a:ea typeface="Arial"/>
                <a:cs typeface="Arial"/>
              </a:defRPr>
            </a:lvl6pPr>
            <a:lvl7pPr>
              <a:defRPr sz="2175" b="0">
                <a:solidFill>
                  <a:srgbClr val="14231E"/>
                </a:solidFill>
                <a:latin typeface="Arial"/>
                <a:ea typeface="Arial"/>
                <a:cs typeface="Arial"/>
              </a:defRPr>
            </a:lvl7pPr>
            <a:lvl8pPr>
              <a:defRPr sz="2175" b="0">
                <a:solidFill>
                  <a:srgbClr val="14231E"/>
                </a:solidFill>
                <a:latin typeface="Arial"/>
                <a:ea typeface="Arial"/>
                <a:cs typeface="Arial"/>
              </a:defRPr>
            </a:lvl8pPr>
            <a:lvl9pPr>
              <a:defRPr sz="2175" b="0">
                <a:solidFill>
                  <a:srgbClr val="14231E"/>
                </a:solidFill>
                <a:latin typeface="Arial"/>
                <a:ea typeface="Arial"/>
                <a:cs typeface="Arial"/>
              </a:defRPr>
            </a:lvl9pPr>
          </a:lstStyle>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Los bancos compartidos se programan según recursos reales. Si hay más equipos que puestos, unos ejecutan la prueba mientras otros revisan registros y preparan la defensa. El plan docente conserva quién realizó cada operación y quién participó como observador. Esa organización mantiene una evaluación justa para alumnos con y sin kit propio.</a:t>
            </a:r>
          </a:p>
        </p:txBody>
      </p:sp>
    </p:spTree>
    <p:extLst>
      <p:ext uri="{BB962C8B-B14F-4D97-AF65-F5344CB8AC3E}">
        <p14:creationId xmlns:p14="http://schemas.microsoft.com/office/powerpoint/2010/main" val="1705440193"/>
      </p:ext>
    </p:extLst>
  </p:cSld>
</p:sld>
</file>

<file path=ppt/slides/slide3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1BF90F7-48D9-42BD-A378-F29D2B5633EC}"/>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Una matriz de pruebas que produce conclusiones</a:t>
            </a:r>
          </a:p>
        </p:txBody>
      </p:sp>
      <p:pic>
        <p:nvPicPr>
          <p:cNvPr id="2" name="">
            <a:extLst xmlns:a="http://schemas.openxmlformats.org/drawingml/2006/main">
              <a:ext uri="{FF2B5EF4-FFF2-40B4-BE49-F238E27FC236}">
                <a16:creationId xmlns:a16="http://schemas.microsoft.com/office/drawing/2014/main" id="{9087C394-256F-43EF-96B0-B673F36D0466}"/>
              </a:ext>
            </a:extLst>
          </p:cNvPr>
          <p:cNvPicPr>
            <a:picLocks xmlns:a="http://schemas.openxmlformats.org/drawingml/2006/main" noChangeAspect="1"/>
          </p:cNvPicPr>
          <p:nvPr/>
        </p:nvPicPr>
        <p:blipFill>
          <a:blip xmlns:r="http://schemas.openxmlformats.org/officeDocument/2006/relationships" xmlns:a="http://schemas.openxmlformats.org/drawingml/2006/main" r:embed="R8d6cdf4a012f47e0"/>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E7348BC-0114-4671-82D3-C338632A9CED}"/>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8   CLASE 16   08/24</a:t>
            </a:r>
          </a:p>
        </p:txBody>
      </p:sp>
      <p:sp>
        <p:nvSpPr>
          <p:cNvPr id="4" name="">
            <a:extLst xmlns:a="http://schemas.openxmlformats.org/drawingml/2006/main">
              <a:ext uri="{FF2B5EF4-FFF2-40B4-BE49-F238E27FC236}">
                <a16:creationId xmlns:a16="http://schemas.microsoft.com/office/drawing/2014/main" id="{9B0C46F1-A88D-4C49-9C89-C04366375E7D}"/>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Cada caso necesita un método. La ausencia inicial puede ensayarse con una configuración preparada por el docente. La muestra vencida puede inyectarse por software sin intervenir el cableado durante operación. Un resultado de inyección se identifica como tal y permite comprobar la lógica específica. El método no demuestra automáticamente todas las causas físicas de fallo del sensor.</a:t>
            </a:r>
          </a:p>
        </p:txBody>
      </p:sp>
    </p:spTree>
    <p:extLst>
      <p:ext uri="{BB962C8B-B14F-4D97-AF65-F5344CB8AC3E}">
        <p14:creationId xmlns:p14="http://schemas.microsoft.com/office/powerpoint/2010/main" val="1840179339"/>
      </p:ext>
    </p:extLst>
  </p:cSld>
</p:sld>
</file>

<file path=ppt/slides/slide3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EF76E70-BA28-4B19-985C-03C764AE838C}"/>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Casos del proyecto principal</a:t>
            </a:r>
          </a:p>
        </p:txBody>
      </p:sp>
      <p:pic>
        <p:nvPicPr>
          <p:cNvPr id="2" name="">
            <a:extLst xmlns:a="http://schemas.openxmlformats.org/drawingml/2006/main">
              <a:ext uri="{FF2B5EF4-FFF2-40B4-BE49-F238E27FC236}">
                <a16:creationId xmlns:a16="http://schemas.microsoft.com/office/drawing/2014/main" id="{CE6DF4BE-B5F7-42B2-912F-580200BAE6AC}"/>
              </a:ext>
            </a:extLst>
          </p:cNvPr>
          <p:cNvPicPr>
            <a:picLocks xmlns:a="http://schemas.openxmlformats.org/drawingml/2006/main" noChangeAspect="1"/>
          </p:cNvPicPr>
          <p:nvPr/>
        </p:nvPicPr>
        <p:blipFill>
          <a:blip xmlns:r="http://schemas.openxmlformats.org/officeDocument/2006/relationships" xmlns:a="http://schemas.openxmlformats.org/drawingml/2006/main" r:embed="R5cf5b605457e4809"/>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A121B69-89D1-4F76-8734-985BAA1684A9}"/>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8   CLASE 16   09/24</a:t>
            </a:r>
          </a:p>
        </p:txBody>
      </p:sp>
      <p:graphicFrame>
        <p:nvGraphicFramePr>
          <p:cNvPr id="4" name="">
            <a:extLst xmlns:a="http://schemas.openxmlformats.org/drawingml/2006/main">
              <a:ext uri="{FF2B5EF4-FFF2-40B4-BE49-F238E27FC236}">
                <a16:creationId xmlns:a16="http://schemas.microsoft.com/office/drawing/2014/main" id="{32ECEF2C-5206-46E1-98A5-054F2454DE4D}"/>
              </a:ext>
            </a:extLst>
          </p:cNvPr>
          <p:cNvGraphicFramePr/>
          <p:nvPr/>
        </p:nvGraphicFramePr>
        <p:xfrm>
          <a:off xmlns:a="http://schemas.openxmlformats.org/drawingml/2006/main" x="590550" y="1714500"/>
          <a:ext xmlns:a="http://schemas.openxmlformats.org/drawingml/2006/main" cx="11010900" cy="4114800"/>
        </p:xfrm>
        <a:graphic xmlns:a="http://schemas.openxmlformats.org/drawingml/2006/main">
          <a:graphicData uri="http://schemas.openxmlformats.org/drawingml/2006/table">
            <a:tbl>
              <a:tblPr/>
              <a:tblGrid>
                <a:gridCol w="3238500"/>
                <a:gridCol w="3667125"/>
                <a:gridCol w="4105275"/>
              </a:tblGrid>
              <a:tr h="685800">
                <a:tc>
                  <a:txBody>
                    <a:bodyPr/>
                    <a:lstStyle/>
                    <a:p>
                      <a:r>
                        <a:rPr sz="1875" b="1">
                          <a:solidFill>
                            <a:srgbClr val="FFFFFF"/>
                          </a:solidFill>
                          <a:latin typeface="Arial"/>
                          <a:ea typeface="Arial"/>
                          <a:cs typeface="Arial"/>
                        </a:rPr>
                        <a:t>Caso</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Qué se observa</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Resultado esperado</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685800">
                <a:tc>
                  <a:txBody>
                    <a:bodyPr/>
                    <a:lstStyle/>
                    <a:p>
                      <a:r>
                        <a:rPr sz="1875" b="0">
                          <a:solidFill>
                            <a:srgbClr val="14231E"/>
                          </a:solidFill>
                          <a:latin typeface="Arial"/>
                          <a:ea typeface="Arial"/>
                          <a:cs typeface="Arial"/>
                        </a:rPr>
                        <a:t>Inicio normal</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Sensor y registro</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Dato nuevo identificado</a:t>
                      </a:r>
                    </a:p>
                  </a:txBody>
                  <a:tcPr marL="91440" marR="91440" marT="45720" marB="45720">
                    <a:lnR w="9525">
                      <a:solidFill>
                        <a:srgbClr val="BFCEC3"/>
                      </a:solidFill>
                      <a:prstDash val="solid"/>
                    </a:lnR>
                    <a:lnB w="9525">
                      <a:solidFill>
                        <a:srgbClr val="BFCEC3"/>
                      </a:solidFill>
                      <a:prstDash val="solid"/>
                    </a:lnB>
                    <a:solidFill>
                      <a:srgbClr val="EAF3EC"/>
                    </a:solidFill>
                  </a:tcPr>
                </a:tc>
              </a:tr>
              <a:tr h="685800">
                <a:tc>
                  <a:txBody>
                    <a:bodyPr/>
                    <a:lstStyle/>
                    <a:p>
                      <a:r>
                        <a:rPr sz="1875" b="0">
                          <a:solidFill>
                            <a:srgbClr val="14231E"/>
                          </a:solidFill>
                          <a:latin typeface="Arial"/>
                          <a:ea typeface="Arial"/>
                          <a:cs typeface="Arial"/>
                        </a:rPr>
                        <a:t>Sensor ausente al inicio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Estado de inicialización</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Fallo explícito</a:t>
                      </a:r>
                    </a:p>
                  </a:txBody>
                  <a:tcPr marL="91440" marR="91440" marT="45720" marB="45720">
                    <a:lnR w="9525">
                      <a:solidFill>
                        <a:srgbClr val="BFCEC3"/>
                      </a:solidFill>
                      <a:prstDash val="solid"/>
                    </a:lnR>
                    <a:lnB w="9525">
                      <a:solidFill>
                        <a:srgbClr val="BFCEC3"/>
                      </a:solidFill>
                      <a:prstDash val="solid"/>
                    </a:lnB>
                    <a:solidFill>
                      <a:srgbClr val="FCFCF8"/>
                    </a:solidFill>
                  </a:tcPr>
                </a:tc>
              </a:tr>
              <a:tr h="685800">
                <a:tc>
                  <a:txBody>
                    <a:bodyPr/>
                    <a:lstStyle/>
                    <a:p>
                      <a:r>
                        <a:rPr sz="1875" b="0">
                          <a:solidFill>
                            <a:srgbClr val="14231E"/>
                          </a:solidFill>
                          <a:latin typeface="Arial"/>
                          <a:ea typeface="Arial"/>
                          <a:cs typeface="Arial"/>
                        </a:rPr>
                        <a:t>Muestra vencida</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Edad del último dato</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Dejar de declararlo reciente</a:t>
                      </a:r>
                    </a:p>
                  </a:txBody>
                  <a:tcPr marL="91440" marR="91440" marT="45720" marB="45720">
                    <a:lnR w="9525">
                      <a:solidFill>
                        <a:srgbClr val="BFCEC3"/>
                      </a:solidFill>
                      <a:prstDash val="solid"/>
                    </a:lnR>
                    <a:lnB w="9525">
                      <a:solidFill>
                        <a:srgbClr val="BFCEC3"/>
                      </a:solidFill>
                      <a:prstDash val="solid"/>
                    </a:lnB>
                    <a:solidFill>
                      <a:srgbClr val="EAF3EC"/>
                    </a:solidFill>
                  </a:tcPr>
                </a:tc>
              </a:tr>
              <a:tr h="685800">
                <a:tc>
                  <a:txBody>
                    <a:bodyPr/>
                    <a:lstStyle/>
                    <a:p>
                      <a:r>
                        <a:rPr sz="1875" b="0">
                          <a:solidFill>
                            <a:srgbClr val="14231E"/>
                          </a:solidFill>
                          <a:latin typeface="Arial"/>
                          <a:ea typeface="Arial"/>
                          <a:cs typeface="Arial"/>
                        </a:rPr>
                        <a:t>Entrada al extremo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Mando y límites</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Rango definido</a:t>
                      </a:r>
                    </a:p>
                  </a:txBody>
                  <a:tcPr marL="91440" marR="91440" marT="45720" marB="45720">
                    <a:lnR w="9525">
                      <a:solidFill>
                        <a:srgbClr val="BFCEC3"/>
                      </a:solidFill>
                      <a:prstDash val="solid"/>
                    </a:lnR>
                    <a:lnB w="9525">
                      <a:solidFill>
                        <a:srgbClr val="BFCEC3"/>
                      </a:solidFill>
                      <a:prstDash val="solid"/>
                    </a:lnB>
                    <a:solidFill>
                      <a:srgbClr val="FCFCF8"/>
                    </a:solidFill>
                  </a:tcPr>
                </a:tc>
              </a:tr>
              <a:tr h="685800">
                <a:tc>
                  <a:txBody>
                    <a:bodyPr/>
                    <a:lstStyle/>
                    <a:p>
                      <a:r>
                        <a:rPr sz="1875" b="0">
                          <a:solidFill>
                            <a:srgbClr val="14231E"/>
                          </a:solidFill>
                          <a:latin typeface="Arial"/>
                          <a:ea typeface="Arial"/>
                          <a:cs typeface="Arial"/>
                        </a:rPr>
                        <a:t>Registro repetido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Secuencia e instante</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Reconocer duplicación</a:t>
                      </a:r>
                    </a:p>
                  </a:txBody>
                  <a:tcPr marL="91440" marR="91440" marT="45720" marB="45720">
                    <a:lnR w="9525">
                      <a:solidFill>
                        <a:srgbClr val="BFCEC3"/>
                      </a:solidFill>
                      <a:prstDash val="solid"/>
                    </a:lnR>
                    <a:lnB w="9525">
                      <a:solidFill>
                        <a:srgbClr val="BFCEC3"/>
                      </a:solidFill>
                      <a:prstDash val="solid"/>
                    </a:lnB>
                    <a:solidFill>
                      <a:srgbClr val="EAF3EC"/>
                    </a:solidFill>
                  </a:tcPr>
                </a:tc>
              </a:tr>
            </a:tbl>
          </a:graphicData>
        </a:graphic>
      </p:graphicFrame>
    </p:spTree>
    <p:extLst>
      <p:ext uri="{BB962C8B-B14F-4D97-AF65-F5344CB8AC3E}">
        <p14:creationId xmlns:p14="http://schemas.microsoft.com/office/powerpoint/2010/main" val="26896147"/>
      </p:ext>
    </p:extLst>
  </p:cSld>
</p:sld>
</file>

<file path=ppt/slides/slide34.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E013E71-A138-49E2-941A-B6DBDD937D2A}"/>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Fallo observado y causa propuesta</a:t>
            </a:r>
          </a:p>
        </p:txBody>
      </p:sp>
      <p:pic>
        <p:nvPicPr>
          <p:cNvPr id="2" name="">
            <a:extLst xmlns:a="http://schemas.openxmlformats.org/drawingml/2006/main">
              <a:ext uri="{FF2B5EF4-FFF2-40B4-BE49-F238E27FC236}">
                <a16:creationId xmlns:a16="http://schemas.microsoft.com/office/drawing/2014/main" id="{DFA326A4-991A-4CB7-A641-FE8F40CA65FD}"/>
              </a:ext>
            </a:extLst>
          </p:cNvPr>
          <p:cNvPicPr>
            <a:picLocks xmlns:a="http://schemas.openxmlformats.org/drawingml/2006/main" noChangeAspect="1"/>
          </p:cNvPicPr>
          <p:nvPr/>
        </p:nvPicPr>
        <p:blipFill>
          <a:blip xmlns:r="http://schemas.openxmlformats.org/officeDocument/2006/relationships" xmlns:a="http://schemas.openxmlformats.org/drawingml/2006/main" r:embed="R1c631a393b6e4f5f"/>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56A1373-05C4-4A40-9B6E-9328FCC2C268}"/>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8   CLASE 16   10/24</a:t>
            </a:r>
          </a:p>
        </p:txBody>
      </p:sp>
      <p:sp>
        <p:nvSpPr>
          <p:cNvPr id="4" name="">
            <a:extLst xmlns:a="http://schemas.openxmlformats.org/drawingml/2006/main">
              <a:ext uri="{FF2B5EF4-FFF2-40B4-BE49-F238E27FC236}">
                <a16:creationId xmlns:a16="http://schemas.microsoft.com/office/drawing/2014/main" id="{BF8E5906-5831-420C-BB53-A7F1D43B5F45}"/>
              </a:ext>
            </a:extLst>
          </p:cNvPr>
          <p:cNvSpPr>
            <a:spLocks xmlns:a="http://schemas.openxmlformats.org/drawingml/2006/main" noGrp="1"/>
          </p:cNvSpPr>
          <p:nvPr/>
        </p:nvSpPr>
        <p:spPr>
          <a:xfrm xmlns:a="http://schemas.openxmlformats.org/drawingml/2006/main">
            <a:off x="590550" y="1743075"/>
            <a:ext cx="107156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AEF4BB"/>
                </a:solidFill>
                <a:latin typeface="Arial"/>
                <a:ea typeface="Arial"/>
                <a:cs typeface="Arial"/>
              </a:defRPr>
            </a:defPPr>
            <a:lvl1pPr>
              <a:defRPr sz="2475" b="1">
                <a:solidFill>
                  <a:srgbClr val="AEF4BB"/>
                </a:solidFill>
                <a:latin typeface="Arial"/>
                <a:ea typeface="Arial"/>
                <a:cs typeface="Arial"/>
              </a:defRPr>
            </a:lvl1pPr>
            <a:lvl2pPr>
              <a:defRPr sz="2475" b="1">
                <a:solidFill>
                  <a:srgbClr val="AEF4BB"/>
                </a:solidFill>
                <a:latin typeface="Arial"/>
                <a:ea typeface="Arial"/>
                <a:cs typeface="Arial"/>
              </a:defRPr>
            </a:lvl2pPr>
            <a:lvl3pPr>
              <a:defRPr sz="2475" b="1">
                <a:solidFill>
                  <a:srgbClr val="AEF4BB"/>
                </a:solidFill>
                <a:latin typeface="Arial"/>
                <a:ea typeface="Arial"/>
                <a:cs typeface="Arial"/>
              </a:defRPr>
            </a:lvl3pPr>
            <a:lvl4pPr>
              <a:defRPr sz="2475" b="1">
                <a:solidFill>
                  <a:srgbClr val="AEF4BB"/>
                </a:solidFill>
                <a:latin typeface="Arial"/>
                <a:ea typeface="Arial"/>
                <a:cs typeface="Arial"/>
              </a:defRPr>
            </a:lvl4pPr>
            <a:lvl5pPr>
              <a:defRPr sz="2475" b="1">
                <a:solidFill>
                  <a:srgbClr val="AEF4BB"/>
                </a:solidFill>
                <a:latin typeface="Arial"/>
                <a:ea typeface="Arial"/>
                <a:cs typeface="Arial"/>
              </a:defRPr>
            </a:lvl5pPr>
            <a:lvl6pPr>
              <a:defRPr sz="2475" b="1">
                <a:solidFill>
                  <a:srgbClr val="AEF4BB"/>
                </a:solidFill>
                <a:latin typeface="Arial"/>
                <a:ea typeface="Arial"/>
                <a:cs typeface="Arial"/>
              </a:defRPr>
            </a:lvl6pPr>
            <a:lvl7pPr>
              <a:defRPr sz="2475" b="1">
                <a:solidFill>
                  <a:srgbClr val="AEF4BB"/>
                </a:solidFill>
                <a:latin typeface="Arial"/>
                <a:ea typeface="Arial"/>
                <a:cs typeface="Arial"/>
              </a:defRPr>
            </a:lvl7pPr>
            <a:lvl8pPr>
              <a:defRPr sz="2475" b="1">
                <a:solidFill>
                  <a:srgbClr val="AEF4BB"/>
                </a:solidFill>
                <a:latin typeface="Arial"/>
                <a:ea typeface="Arial"/>
                <a:cs typeface="Arial"/>
              </a:defRPr>
            </a:lvl8pPr>
            <a:lvl9pPr>
              <a:defRPr sz="2475" b="1">
                <a:solidFill>
                  <a:srgbClr val="AEF4BB"/>
                </a:solidFill>
                <a:latin typeface="Arial"/>
                <a:ea typeface="Arial"/>
                <a:cs typeface="Arial"/>
              </a:defRPr>
            </a:lvl9pPr>
          </a:lstStyle>
          <a:p xmlns:a="http://schemas.openxmlformats.org/drawingml/2006/main">
            <a:pPr>
              <a:defRPr sz="2475" b="1">
                <a:solidFill>
                  <a:srgbClr val="AEF4BB"/>
                </a:solidFill>
                <a:latin typeface="Arial"/>
                <a:ea typeface="Arial"/>
                <a:cs typeface="Arial"/>
              </a:defRPr>
            </a:pPr>
            <a:r>
              <a:rPr sz="2475" b="1">
                <a:solidFill>
                  <a:srgbClr val="AEF4BB"/>
                </a:solidFill>
                <a:latin typeface="Arial"/>
                <a:ea typeface="Arial"/>
                <a:cs typeface="Arial"/>
              </a:rPr>
              <a:t>La IMU no aparece en el inicio. ¿Se puede concluir inmediatamente “el sensor se quemó”?</a:t>
            </a:r>
          </a:p>
        </p:txBody>
      </p:sp>
      <p:sp>
        <p:nvSpPr>
          <p:cNvPr id="5" name="">
            <a:extLst xmlns:a="http://schemas.openxmlformats.org/drawingml/2006/main">
              <a:ext uri="{FF2B5EF4-FFF2-40B4-BE49-F238E27FC236}">
                <a16:creationId xmlns:a16="http://schemas.microsoft.com/office/drawing/2014/main" id="{6B8D3119-9BBC-4310-A187-30EF4FA7F6BD}"/>
              </a:ext>
            </a:extLst>
          </p:cNvPr>
          <p:cNvSpPr>
            <a:spLocks xmlns:a="http://schemas.openxmlformats.org/drawingml/2006/main" noGrp="1"/>
          </p:cNvSpPr>
          <p:nvPr/>
        </p:nvSpPr>
        <p:spPr>
          <a:xfrm xmlns:a="http://schemas.openxmlformats.org/drawingml/2006/main">
            <a:off x="590550" y="3581400"/>
            <a:ext cx="10715625" cy="2533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FCFCF8"/>
                </a:solidFill>
                <a:latin typeface="Arial"/>
                <a:ea typeface="Arial"/>
                <a:cs typeface="Arial"/>
              </a:defRPr>
            </a:defPPr>
            <a:lvl1pPr>
              <a:defRPr sz="2175" b="0">
                <a:solidFill>
                  <a:srgbClr val="FCFCF8"/>
                </a:solidFill>
                <a:latin typeface="Arial"/>
                <a:ea typeface="Arial"/>
                <a:cs typeface="Arial"/>
              </a:defRPr>
            </a:lvl1pPr>
            <a:lvl2pPr>
              <a:defRPr sz="2175" b="0">
                <a:solidFill>
                  <a:srgbClr val="FCFCF8"/>
                </a:solidFill>
                <a:latin typeface="Arial"/>
                <a:ea typeface="Arial"/>
                <a:cs typeface="Arial"/>
              </a:defRPr>
            </a:lvl2pPr>
            <a:lvl3pPr>
              <a:defRPr sz="2175" b="0">
                <a:solidFill>
                  <a:srgbClr val="FCFCF8"/>
                </a:solidFill>
                <a:latin typeface="Arial"/>
                <a:ea typeface="Arial"/>
                <a:cs typeface="Arial"/>
              </a:defRPr>
            </a:lvl3pPr>
            <a:lvl4pPr>
              <a:defRPr sz="2175" b="0">
                <a:solidFill>
                  <a:srgbClr val="FCFCF8"/>
                </a:solidFill>
                <a:latin typeface="Arial"/>
                <a:ea typeface="Arial"/>
                <a:cs typeface="Arial"/>
              </a:defRPr>
            </a:lvl4pPr>
            <a:lvl5pPr>
              <a:defRPr sz="2175" b="0">
                <a:solidFill>
                  <a:srgbClr val="FCFCF8"/>
                </a:solidFill>
                <a:latin typeface="Arial"/>
                <a:ea typeface="Arial"/>
                <a:cs typeface="Arial"/>
              </a:defRPr>
            </a:lvl5pPr>
            <a:lvl6pPr>
              <a:defRPr sz="2175" b="0">
                <a:solidFill>
                  <a:srgbClr val="FCFCF8"/>
                </a:solidFill>
                <a:latin typeface="Arial"/>
                <a:ea typeface="Arial"/>
                <a:cs typeface="Arial"/>
              </a:defRPr>
            </a:lvl6pPr>
            <a:lvl7pPr>
              <a:defRPr sz="2175" b="0">
                <a:solidFill>
                  <a:srgbClr val="FCFCF8"/>
                </a:solidFill>
                <a:latin typeface="Arial"/>
                <a:ea typeface="Arial"/>
                <a:cs typeface="Arial"/>
              </a:defRPr>
            </a:lvl7pPr>
            <a:lvl8pPr>
              <a:defRPr sz="2175" b="0">
                <a:solidFill>
                  <a:srgbClr val="FCFCF8"/>
                </a:solidFill>
                <a:latin typeface="Arial"/>
                <a:ea typeface="Arial"/>
                <a:cs typeface="Arial"/>
              </a:defRPr>
            </a:lvl8pPr>
            <a:lvl9pPr>
              <a:defRPr sz="2175" b="0">
                <a:solidFill>
                  <a:srgbClr val="FCFCF8"/>
                </a:solidFill>
                <a:latin typeface="Arial"/>
                <a:ea typeface="Arial"/>
                <a:cs typeface="Arial"/>
              </a:defRPr>
            </a:lvl9pPr>
          </a:lstStyle>
          <a:p xmlns:a="http://schemas.openxmlformats.org/drawingml/2006/main">
            <a:pPr>
              <a:defRPr sz="2175" b="0">
                <a:solidFill>
                  <a:srgbClr val="FCFCF8"/>
                </a:solidFill>
                <a:latin typeface="Arial"/>
                <a:ea typeface="Arial"/>
                <a:cs typeface="Arial"/>
              </a:defRPr>
            </a:pPr>
            <a:r>
              <a:rPr sz="2175" b="0">
                <a:solidFill>
                  <a:srgbClr val="FCFCF8"/>
                </a:solidFill>
                <a:latin typeface="Arial"/>
                <a:ea typeface="Arial"/>
                <a:cs typeface="Arial"/>
              </a:rPr>
              <a:t>No. Se revisan alimentación, referencia, conexión, dirección y configuración. El resultado demuestra que no se obtuvo la condición de inicialización; la causa requiere más evidencia.</a:t>
            </a:r>
          </a:p>
        </p:txBody>
      </p:sp>
    </p:spTree>
    <p:extLst>
      <p:ext uri="{BB962C8B-B14F-4D97-AF65-F5344CB8AC3E}">
        <p14:creationId xmlns:p14="http://schemas.microsoft.com/office/powerpoint/2010/main" val="1105844571"/>
      </p:ext>
    </p:extLst>
  </p:cSld>
</p:sld>
</file>

<file path=ppt/slides/slide35.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DC4AAFB-4D40-4896-BE94-6027880B855E}"/>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Leer el registro de una prueba</a:t>
            </a:r>
          </a:p>
        </p:txBody>
      </p:sp>
      <p:pic>
        <p:nvPicPr>
          <p:cNvPr id="2" name="">
            <a:extLst xmlns:a="http://schemas.openxmlformats.org/drawingml/2006/main">
              <a:ext uri="{FF2B5EF4-FFF2-40B4-BE49-F238E27FC236}">
                <a16:creationId xmlns:a16="http://schemas.microsoft.com/office/drawing/2014/main" id="{9448DA61-DBFE-4A6C-B35A-C517FB568941}"/>
              </a:ext>
            </a:extLst>
          </p:cNvPr>
          <p:cNvPicPr>
            <a:picLocks xmlns:a="http://schemas.openxmlformats.org/drawingml/2006/main" noChangeAspect="1"/>
          </p:cNvPicPr>
          <p:nvPr/>
        </p:nvPicPr>
        <p:blipFill>
          <a:blip xmlns:r="http://schemas.openxmlformats.org/officeDocument/2006/relationships" xmlns:a="http://schemas.openxmlformats.org/drawingml/2006/main" r:embed="R90dfa2e45352479e"/>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0AF6088-9A45-4130-9196-A3C6D6447B23}"/>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8   CLASE 16   11/24</a:t>
            </a:r>
          </a:p>
        </p:txBody>
      </p:sp>
      <p:sp>
        <p:nvSpPr>
          <p:cNvPr id="4" name="">
            <a:extLst xmlns:a="http://schemas.openxmlformats.org/drawingml/2006/main">
              <a:ext uri="{FF2B5EF4-FFF2-40B4-BE49-F238E27FC236}">
                <a16:creationId xmlns:a16="http://schemas.microsoft.com/office/drawing/2014/main" id="{4649D2F5-CA9F-46DB-87C4-A984E5BB0650}"/>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La última fila conserva un valor numérico, pero lo marca como no válido en esa condición. Si alguien grafica solo roll_deg podría interpretar que nada cambió. El estado y el tiempo cuentan otra parte de la historia. Los datos de este ejemplo son sintéticos y se usan para enseñar lectura de registros; los del equipo se sustituyen por su ejecución identificada.</a:t>
            </a:r>
          </a:p>
        </p:txBody>
      </p:sp>
    </p:spTree>
    <p:extLst>
      <p:ext uri="{BB962C8B-B14F-4D97-AF65-F5344CB8AC3E}">
        <p14:creationId xmlns:p14="http://schemas.microsoft.com/office/powerpoint/2010/main" val="239404444"/>
      </p:ext>
    </p:extLst>
  </p:cSld>
</p:sld>
</file>

<file path=ppt/slides/slide3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18A4995-F5BD-443D-95E2-E10166A7B4AF}"/>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Ejemplo sintético de formato CSV</a:t>
            </a:r>
          </a:p>
        </p:txBody>
      </p:sp>
      <p:pic>
        <p:nvPicPr>
          <p:cNvPr id="2" name="">
            <a:extLst xmlns:a="http://schemas.openxmlformats.org/drawingml/2006/main">
              <a:ext uri="{FF2B5EF4-FFF2-40B4-BE49-F238E27FC236}">
                <a16:creationId xmlns:a16="http://schemas.microsoft.com/office/drawing/2014/main" id="{C2AB3F75-2086-470A-AD4F-3669D0E15A4C}"/>
              </a:ext>
            </a:extLst>
          </p:cNvPr>
          <p:cNvPicPr>
            <a:picLocks xmlns:a="http://schemas.openxmlformats.org/drawingml/2006/main" noChangeAspect="1"/>
          </p:cNvPicPr>
          <p:nvPr/>
        </p:nvPicPr>
        <p:blipFill>
          <a:blip xmlns:r="http://schemas.openxmlformats.org/officeDocument/2006/relationships" xmlns:a="http://schemas.openxmlformats.org/drawingml/2006/main" r:embed="Rd30b6e3209814cd5"/>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3430430-48B6-4750-AE6E-9F18A94F82E5}"/>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8   CLASE 16   12/24</a:t>
            </a:r>
          </a:p>
        </p:txBody>
      </p:sp>
      <p:sp>
        <p:nvSpPr>
          <p:cNvPr id="4" name="">
            <a:extLst xmlns:a="http://schemas.openxmlformats.org/drawingml/2006/main">
              <a:ext uri="{FF2B5EF4-FFF2-40B4-BE49-F238E27FC236}">
                <a16:creationId xmlns:a16="http://schemas.microsoft.com/office/drawing/2014/main" id="{931A0A21-7C27-49EA-99D4-8D381836D4DE}"/>
              </a:ext>
            </a:extLst>
          </p:cNvPr>
          <p:cNvSpPr>
            <a:spLocks xmlns:a="http://schemas.openxmlformats.org/drawingml/2006/main" noGrp="1"/>
          </p:cNvSpPr>
          <p:nvPr/>
        </p:nvSpPr>
        <p:spPr>
          <a:xfrm xmlns:a="http://schemas.openxmlformats.org/drawingml/2006/main">
            <a:off x="590550" y="1743075"/>
            <a:ext cx="109537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4231E"/>
                </a:solidFill>
                <a:latin typeface="Consolas"/>
                <a:ea typeface="Consolas"/>
                <a:cs typeface="Consolas"/>
              </a:defRPr>
            </a:defPPr>
            <a:lvl1pPr>
              <a:defRPr sz="1800" b="0">
                <a:solidFill>
                  <a:srgbClr val="14231E"/>
                </a:solidFill>
                <a:latin typeface="Consolas"/>
                <a:ea typeface="Consolas"/>
                <a:cs typeface="Consolas"/>
              </a:defRPr>
            </a:lvl1pPr>
            <a:lvl2pPr>
              <a:defRPr sz="1800" b="0">
                <a:solidFill>
                  <a:srgbClr val="14231E"/>
                </a:solidFill>
                <a:latin typeface="Consolas"/>
                <a:ea typeface="Consolas"/>
                <a:cs typeface="Consolas"/>
              </a:defRPr>
            </a:lvl2pPr>
            <a:lvl3pPr>
              <a:defRPr sz="1800" b="0">
                <a:solidFill>
                  <a:srgbClr val="14231E"/>
                </a:solidFill>
                <a:latin typeface="Consolas"/>
                <a:ea typeface="Consolas"/>
                <a:cs typeface="Consolas"/>
              </a:defRPr>
            </a:lvl3pPr>
            <a:lvl4pPr>
              <a:defRPr sz="1800" b="0">
                <a:solidFill>
                  <a:srgbClr val="14231E"/>
                </a:solidFill>
                <a:latin typeface="Consolas"/>
                <a:ea typeface="Consolas"/>
                <a:cs typeface="Consolas"/>
              </a:defRPr>
            </a:lvl4pPr>
            <a:lvl5pPr>
              <a:defRPr sz="1800" b="0">
                <a:solidFill>
                  <a:srgbClr val="14231E"/>
                </a:solidFill>
                <a:latin typeface="Consolas"/>
                <a:ea typeface="Consolas"/>
                <a:cs typeface="Consolas"/>
              </a:defRPr>
            </a:lvl5pPr>
            <a:lvl6pPr>
              <a:defRPr sz="1800" b="0">
                <a:solidFill>
                  <a:srgbClr val="14231E"/>
                </a:solidFill>
                <a:latin typeface="Consolas"/>
                <a:ea typeface="Consolas"/>
                <a:cs typeface="Consolas"/>
              </a:defRPr>
            </a:lvl6pPr>
            <a:lvl7pPr>
              <a:defRPr sz="1800" b="0">
                <a:solidFill>
                  <a:srgbClr val="14231E"/>
                </a:solidFill>
                <a:latin typeface="Consolas"/>
                <a:ea typeface="Consolas"/>
                <a:cs typeface="Consolas"/>
              </a:defRPr>
            </a:lvl7pPr>
            <a:lvl8pPr>
              <a:defRPr sz="1800" b="0">
                <a:solidFill>
                  <a:srgbClr val="14231E"/>
                </a:solidFill>
                <a:latin typeface="Consolas"/>
                <a:ea typeface="Consolas"/>
                <a:cs typeface="Consolas"/>
              </a:defRPr>
            </a:lvl8pPr>
            <a:lvl9pPr>
              <a:defRPr sz="1800" b="0">
                <a:solidFill>
                  <a:srgbClr val="14231E"/>
                </a:solidFill>
                <a:latin typeface="Consolas"/>
                <a:ea typeface="Consolas"/>
                <a:cs typeface="Consolas"/>
              </a:defRPr>
            </a:lvl9pPr>
          </a:lstStyle>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seq,t_ms,state,data_valid,roll_deg,pitch_deg</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10,1000,1,1,2.1,-0.3</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11,1100,1,1,2.2,-0.3</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12,1400,2,0,2.2,-0.3</a:t>
            </a:r>
          </a:p>
        </p:txBody>
      </p:sp>
      <p:sp>
        <p:nvSpPr>
          <p:cNvPr id="5" name="">
            <a:extLst xmlns:a="http://schemas.openxmlformats.org/drawingml/2006/main">
              <a:ext uri="{FF2B5EF4-FFF2-40B4-BE49-F238E27FC236}">
                <a16:creationId xmlns:a16="http://schemas.microsoft.com/office/drawing/2014/main" id="{1A3E72E2-A171-4C39-BA52-E9CFCC2F9458}"/>
              </a:ext>
            </a:extLst>
          </p:cNvPr>
          <p:cNvSpPr>
            <a:spLocks xmlns:a="http://schemas.openxmlformats.org/drawingml/2006/main" noGrp="1"/>
          </p:cNvSpPr>
          <p:nvPr/>
        </p:nvSpPr>
        <p:spPr>
          <a:xfrm xmlns:a="http://schemas.openxmlformats.org/drawingml/2006/main">
            <a:off x="590550" y="5857875"/>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44F3D"/>
                </a:solidFill>
                <a:latin typeface="Arial"/>
                <a:ea typeface="Arial"/>
                <a:cs typeface="Arial"/>
              </a:defRPr>
            </a:defPPr>
            <a:lvl1pPr>
              <a:defRPr sz="1575" b="0">
                <a:solidFill>
                  <a:srgbClr val="244F3D"/>
                </a:solidFill>
                <a:latin typeface="Arial"/>
                <a:ea typeface="Arial"/>
                <a:cs typeface="Arial"/>
              </a:defRPr>
            </a:lvl1pPr>
            <a:lvl2pPr>
              <a:defRPr sz="1575" b="0">
                <a:solidFill>
                  <a:srgbClr val="244F3D"/>
                </a:solidFill>
                <a:latin typeface="Arial"/>
                <a:ea typeface="Arial"/>
                <a:cs typeface="Arial"/>
              </a:defRPr>
            </a:lvl2pPr>
            <a:lvl3pPr>
              <a:defRPr sz="1575" b="0">
                <a:solidFill>
                  <a:srgbClr val="244F3D"/>
                </a:solidFill>
                <a:latin typeface="Arial"/>
                <a:ea typeface="Arial"/>
                <a:cs typeface="Arial"/>
              </a:defRPr>
            </a:lvl3pPr>
            <a:lvl4pPr>
              <a:defRPr sz="1575" b="0">
                <a:solidFill>
                  <a:srgbClr val="244F3D"/>
                </a:solidFill>
                <a:latin typeface="Arial"/>
                <a:ea typeface="Arial"/>
                <a:cs typeface="Arial"/>
              </a:defRPr>
            </a:lvl4pPr>
            <a:lvl5pPr>
              <a:defRPr sz="1575" b="0">
                <a:solidFill>
                  <a:srgbClr val="244F3D"/>
                </a:solidFill>
                <a:latin typeface="Arial"/>
                <a:ea typeface="Arial"/>
                <a:cs typeface="Arial"/>
              </a:defRPr>
            </a:lvl5pPr>
            <a:lvl6pPr>
              <a:defRPr sz="1575" b="0">
                <a:solidFill>
                  <a:srgbClr val="244F3D"/>
                </a:solidFill>
                <a:latin typeface="Arial"/>
                <a:ea typeface="Arial"/>
                <a:cs typeface="Arial"/>
              </a:defRPr>
            </a:lvl6pPr>
            <a:lvl7pPr>
              <a:defRPr sz="1575" b="0">
                <a:solidFill>
                  <a:srgbClr val="244F3D"/>
                </a:solidFill>
                <a:latin typeface="Arial"/>
                <a:ea typeface="Arial"/>
                <a:cs typeface="Arial"/>
              </a:defRPr>
            </a:lvl7pPr>
            <a:lvl8pPr>
              <a:defRPr sz="1575" b="0">
                <a:solidFill>
                  <a:srgbClr val="244F3D"/>
                </a:solidFill>
                <a:latin typeface="Arial"/>
                <a:ea typeface="Arial"/>
                <a:cs typeface="Arial"/>
              </a:defRPr>
            </a:lvl8pPr>
            <a:lvl9pPr>
              <a:defRPr sz="1575" b="0">
                <a:solidFill>
                  <a:srgbClr val="244F3D"/>
                </a:solidFill>
                <a:latin typeface="Arial"/>
                <a:ea typeface="Arial"/>
                <a:cs typeface="Arial"/>
              </a:defRPr>
            </a:lvl9pPr>
          </a:lstStyle>
          <a:p xmlns:a="http://schemas.openxmlformats.org/drawingml/2006/main">
            <a:pPr>
              <a:defRPr sz="1575" b="0">
                <a:solidFill>
                  <a:srgbClr val="244F3D"/>
                </a:solidFill>
                <a:latin typeface="Arial"/>
                <a:ea typeface="Arial"/>
                <a:cs typeface="Arial"/>
              </a:defRPr>
            </a:pPr>
            <a:r>
              <a:rPr sz="1575" b="0">
                <a:solidFill>
                  <a:srgbClr val="244F3D"/>
                </a:solidFill>
                <a:latin typeface="Arial"/>
                <a:ea typeface="Arial"/>
                <a:cs typeface="Arial"/>
              </a:rPr>
              <a:t>Lee el fragmento. Predice una salida y cambia una sola condición antes de ejecutar.</a:t>
            </a:r>
          </a:p>
        </p:txBody>
      </p:sp>
    </p:spTree>
    <p:extLst>
      <p:ext uri="{BB962C8B-B14F-4D97-AF65-F5344CB8AC3E}">
        <p14:creationId xmlns:p14="http://schemas.microsoft.com/office/powerpoint/2010/main" val="1237050379"/>
      </p:ext>
    </p:extLst>
  </p:cSld>
</p:sld>
</file>

<file path=ppt/slides/slide37.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DB8988A-6429-4EF5-A1A0-2B6EC79E4BFD}"/>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Una mejora con una pregunta</a:t>
            </a:r>
          </a:p>
        </p:txBody>
      </p:sp>
      <p:pic>
        <p:nvPicPr>
          <p:cNvPr id="2" name="">
            <a:extLst xmlns:a="http://schemas.openxmlformats.org/drawingml/2006/main">
              <a:ext uri="{FF2B5EF4-FFF2-40B4-BE49-F238E27FC236}">
                <a16:creationId xmlns:a16="http://schemas.microsoft.com/office/drawing/2014/main" id="{9D77E2F9-AB12-4C90-AA62-6AB08E0889E3}"/>
              </a:ext>
            </a:extLst>
          </p:cNvPr>
          <p:cNvPicPr>
            <a:picLocks xmlns:a="http://schemas.openxmlformats.org/drawingml/2006/main" noChangeAspect="1"/>
          </p:cNvPicPr>
          <p:nvPr/>
        </p:nvPicPr>
        <p:blipFill>
          <a:blip xmlns:r="http://schemas.openxmlformats.org/officeDocument/2006/relationships" xmlns:a="http://schemas.openxmlformats.org/drawingml/2006/main" r:embed="Rb89e5a8599ae4adc"/>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1900598-59B2-437E-9DE6-FFD033E8C02C}"/>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8   CLASE 16   13/24</a:t>
            </a:r>
          </a:p>
        </p:txBody>
      </p:sp>
      <p:sp>
        <p:nvSpPr>
          <p:cNvPr id="4" name="">
            <a:extLst xmlns:a="http://schemas.openxmlformats.org/drawingml/2006/main">
              <a:ext uri="{FF2B5EF4-FFF2-40B4-BE49-F238E27FC236}">
                <a16:creationId xmlns:a16="http://schemas.microsoft.com/office/drawing/2014/main" id="{6EE4BDF1-510C-43D0-B894-194C5764EDEF}"/>
              </a:ext>
            </a:extLst>
          </p:cNvPr>
          <p:cNvSpPr>
            <a:spLocks xmlns:a="http://schemas.openxmlformats.org/drawingml/2006/main" noGrp="1"/>
          </p:cNvSpPr>
          <p:nvPr/>
        </p:nvSpPr>
        <p:spPr>
          <a:xfrm xmlns:a="http://schemas.openxmlformats.org/drawingml/2006/main">
            <a:off x="590550" y="1743075"/>
            <a:ext cx="107156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AEF4BB"/>
                </a:solidFill>
                <a:latin typeface="Arial"/>
                <a:ea typeface="Arial"/>
                <a:cs typeface="Arial"/>
              </a:defRPr>
            </a:defPPr>
            <a:lvl1pPr>
              <a:defRPr sz="2475" b="1">
                <a:solidFill>
                  <a:srgbClr val="AEF4BB"/>
                </a:solidFill>
                <a:latin typeface="Arial"/>
                <a:ea typeface="Arial"/>
                <a:cs typeface="Arial"/>
              </a:defRPr>
            </a:lvl1pPr>
            <a:lvl2pPr>
              <a:defRPr sz="2475" b="1">
                <a:solidFill>
                  <a:srgbClr val="AEF4BB"/>
                </a:solidFill>
                <a:latin typeface="Arial"/>
                <a:ea typeface="Arial"/>
                <a:cs typeface="Arial"/>
              </a:defRPr>
            </a:lvl2pPr>
            <a:lvl3pPr>
              <a:defRPr sz="2475" b="1">
                <a:solidFill>
                  <a:srgbClr val="AEF4BB"/>
                </a:solidFill>
                <a:latin typeface="Arial"/>
                <a:ea typeface="Arial"/>
                <a:cs typeface="Arial"/>
              </a:defRPr>
            </a:lvl3pPr>
            <a:lvl4pPr>
              <a:defRPr sz="2475" b="1">
                <a:solidFill>
                  <a:srgbClr val="AEF4BB"/>
                </a:solidFill>
                <a:latin typeface="Arial"/>
                <a:ea typeface="Arial"/>
                <a:cs typeface="Arial"/>
              </a:defRPr>
            </a:lvl4pPr>
            <a:lvl5pPr>
              <a:defRPr sz="2475" b="1">
                <a:solidFill>
                  <a:srgbClr val="AEF4BB"/>
                </a:solidFill>
                <a:latin typeface="Arial"/>
                <a:ea typeface="Arial"/>
                <a:cs typeface="Arial"/>
              </a:defRPr>
            </a:lvl5pPr>
            <a:lvl6pPr>
              <a:defRPr sz="2475" b="1">
                <a:solidFill>
                  <a:srgbClr val="AEF4BB"/>
                </a:solidFill>
                <a:latin typeface="Arial"/>
                <a:ea typeface="Arial"/>
                <a:cs typeface="Arial"/>
              </a:defRPr>
            </a:lvl6pPr>
            <a:lvl7pPr>
              <a:defRPr sz="2475" b="1">
                <a:solidFill>
                  <a:srgbClr val="AEF4BB"/>
                </a:solidFill>
                <a:latin typeface="Arial"/>
                <a:ea typeface="Arial"/>
                <a:cs typeface="Arial"/>
              </a:defRPr>
            </a:lvl7pPr>
            <a:lvl8pPr>
              <a:defRPr sz="2475" b="1">
                <a:solidFill>
                  <a:srgbClr val="AEF4BB"/>
                </a:solidFill>
                <a:latin typeface="Arial"/>
                <a:ea typeface="Arial"/>
                <a:cs typeface="Arial"/>
              </a:defRPr>
            </a:lvl8pPr>
            <a:lvl9pPr>
              <a:defRPr sz="2475" b="1">
                <a:solidFill>
                  <a:srgbClr val="AEF4BB"/>
                </a:solidFill>
                <a:latin typeface="Arial"/>
                <a:ea typeface="Arial"/>
                <a:cs typeface="Arial"/>
              </a:defRPr>
            </a:lvl9pPr>
          </a:lstStyle>
          <a:p xmlns:a="http://schemas.openxmlformats.org/drawingml/2006/main">
            <a:pPr>
              <a:defRPr sz="2475" b="1">
                <a:solidFill>
                  <a:srgbClr val="AEF4BB"/>
                </a:solidFill>
                <a:latin typeface="Arial"/>
                <a:ea typeface="Arial"/>
                <a:cs typeface="Arial"/>
              </a:defRPr>
            </a:pPr>
            <a:r>
              <a:rPr sz="2475" b="1">
                <a:solidFill>
                  <a:srgbClr val="AEF4BB"/>
                </a:solidFill>
                <a:latin typeface="Arial"/>
                <a:ea typeface="Arial"/>
                <a:cs typeface="Arial"/>
              </a:rPr>
              <a:t>El equipo propone “poner más filtros” porque vio ruido. ¿Qué debe comprobar?</a:t>
            </a:r>
          </a:p>
        </p:txBody>
      </p:sp>
      <p:sp>
        <p:nvSpPr>
          <p:cNvPr id="5" name="">
            <a:extLst xmlns:a="http://schemas.openxmlformats.org/drawingml/2006/main">
              <a:ext uri="{FF2B5EF4-FFF2-40B4-BE49-F238E27FC236}">
                <a16:creationId xmlns:a16="http://schemas.microsoft.com/office/drawing/2014/main" id="{0E9065A2-F1EE-4727-AD1D-7CA45C863EE6}"/>
              </a:ext>
            </a:extLst>
          </p:cNvPr>
          <p:cNvSpPr>
            <a:spLocks xmlns:a="http://schemas.openxmlformats.org/drawingml/2006/main" noGrp="1"/>
          </p:cNvSpPr>
          <p:nvPr/>
        </p:nvSpPr>
        <p:spPr>
          <a:xfrm xmlns:a="http://schemas.openxmlformats.org/drawingml/2006/main">
            <a:off x="590550" y="3581400"/>
            <a:ext cx="10715625" cy="2533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FCFCF8"/>
                </a:solidFill>
                <a:latin typeface="Arial"/>
                <a:ea typeface="Arial"/>
                <a:cs typeface="Arial"/>
              </a:defRPr>
            </a:defPPr>
            <a:lvl1pPr>
              <a:defRPr sz="2175" b="0">
                <a:solidFill>
                  <a:srgbClr val="FCFCF8"/>
                </a:solidFill>
                <a:latin typeface="Arial"/>
                <a:ea typeface="Arial"/>
                <a:cs typeface="Arial"/>
              </a:defRPr>
            </a:lvl1pPr>
            <a:lvl2pPr>
              <a:defRPr sz="2175" b="0">
                <a:solidFill>
                  <a:srgbClr val="FCFCF8"/>
                </a:solidFill>
                <a:latin typeface="Arial"/>
                <a:ea typeface="Arial"/>
                <a:cs typeface="Arial"/>
              </a:defRPr>
            </a:lvl2pPr>
            <a:lvl3pPr>
              <a:defRPr sz="2175" b="0">
                <a:solidFill>
                  <a:srgbClr val="FCFCF8"/>
                </a:solidFill>
                <a:latin typeface="Arial"/>
                <a:ea typeface="Arial"/>
                <a:cs typeface="Arial"/>
              </a:defRPr>
            </a:lvl3pPr>
            <a:lvl4pPr>
              <a:defRPr sz="2175" b="0">
                <a:solidFill>
                  <a:srgbClr val="FCFCF8"/>
                </a:solidFill>
                <a:latin typeface="Arial"/>
                <a:ea typeface="Arial"/>
                <a:cs typeface="Arial"/>
              </a:defRPr>
            </a:lvl4pPr>
            <a:lvl5pPr>
              <a:defRPr sz="2175" b="0">
                <a:solidFill>
                  <a:srgbClr val="FCFCF8"/>
                </a:solidFill>
                <a:latin typeface="Arial"/>
                <a:ea typeface="Arial"/>
                <a:cs typeface="Arial"/>
              </a:defRPr>
            </a:lvl5pPr>
            <a:lvl6pPr>
              <a:defRPr sz="2175" b="0">
                <a:solidFill>
                  <a:srgbClr val="FCFCF8"/>
                </a:solidFill>
                <a:latin typeface="Arial"/>
                <a:ea typeface="Arial"/>
                <a:cs typeface="Arial"/>
              </a:defRPr>
            </a:lvl6pPr>
            <a:lvl7pPr>
              <a:defRPr sz="2175" b="0">
                <a:solidFill>
                  <a:srgbClr val="FCFCF8"/>
                </a:solidFill>
                <a:latin typeface="Arial"/>
                <a:ea typeface="Arial"/>
                <a:cs typeface="Arial"/>
              </a:defRPr>
            </a:lvl7pPr>
            <a:lvl8pPr>
              <a:defRPr sz="2175" b="0">
                <a:solidFill>
                  <a:srgbClr val="FCFCF8"/>
                </a:solidFill>
                <a:latin typeface="Arial"/>
                <a:ea typeface="Arial"/>
                <a:cs typeface="Arial"/>
              </a:defRPr>
            </a:lvl8pPr>
            <a:lvl9pPr>
              <a:defRPr sz="2175" b="0">
                <a:solidFill>
                  <a:srgbClr val="FCFCF8"/>
                </a:solidFill>
                <a:latin typeface="Arial"/>
                <a:ea typeface="Arial"/>
                <a:cs typeface="Arial"/>
              </a:defRPr>
            </a:lvl9pPr>
          </a:lstStyle>
          <a:p xmlns:a="http://schemas.openxmlformats.org/drawingml/2006/main">
            <a:pPr>
              <a:defRPr sz="2175" b="0">
                <a:solidFill>
                  <a:srgbClr val="FCFCF8"/>
                </a:solidFill>
                <a:latin typeface="Arial"/>
                <a:ea typeface="Arial"/>
                <a:cs typeface="Arial"/>
              </a:defRPr>
            </a:pPr>
            <a:r>
              <a:rPr sz="2175" b="0">
                <a:solidFill>
                  <a:srgbClr val="FCFCF8"/>
                </a:solidFill>
                <a:latin typeface="Arial"/>
                <a:ea typeface="Arial"/>
                <a:cs typeface="Arial"/>
              </a:rPr>
              <a:t>Qué variación quiere reducir, con qué referencia la distingue y qué retardo o pérdida de detalle introduce la propuesta. La mejora se evalúa por función y evidencia.</a:t>
            </a:r>
          </a:p>
        </p:txBody>
      </p:sp>
    </p:spTree>
    <p:extLst>
      <p:ext uri="{BB962C8B-B14F-4D97-AF65-F5344CB8AC3E}">
        <p14:creationId xmlns:p14="http://schemas.microsoft.com/office/powerpoint/2010/main" val="1638540619"/>
      </p:ext>
    </p:extLst>
  </p:cSld>
</p:sld>
</file>

<file path=ppt/slides/slide3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53E360A-E7F5-4AE7-ABF1-5B8B46BAD722}"/>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Evaluación y defensa individual</a:t>
            </a:r>
          </a:p>
        </p:txBody>
      </p:sp>
      <p:pic>
        <p:nvPicPr>
          <p:cNvPr id="2" name="">
            <a:extLst xmlns:a="http://schemas.openxmlformats.org/drawingml/2006/main">
              <a:ext uri="{FF2B5EF4-FFF2-40B4-BE49-F238E27FC236}">
                <a16:creationId xmlns:a16="http://schemas.microsoft.com/office/drawing/2014/main" id="{6C4948B8-0CD4-4D48-84F5-5E274822770A}"/>
              </a:ext>
            </a:extLst>
          </p:cNvPr>
          <p:cNvPicPr>
            <a:picLocks xmlns:a="http://schemas.openxmlformats.org/drawingml/2006/main" noChangeAspect="1"/>
          </p:cNvPicPr>
          <p:nvPr/>
        </p:nvPicPr>
        <p:blipFill>
          <a:blip xmlns:r="http://schemas.openxmlformats.org/officeDocument/2006/relationships" xmlns:a="http://schemas.openxmlformats.org/drawingml/2006/main" r:embed="Ra7901e0e83d5472d"/>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DB5F3A4-3A35-4878-A8BB-3E624096C934}"/>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8   CLASE 16   14/24</a:t>
            </a:r>
          </a:p>
        </p:txBody>
      </p:sp>
      <p:sp>
        <p:nvSpPr>
          <p:cNvPr id="4" name="">
            <a:extLst xmlns:a="http://schemas.openxmlformats.org/drawingml/2006/main">
              <a:ext uri="{FF2B5EF4-FFF2-40B4-BE49-F238E27FC236}">
                <a16:creationId xmlns:a16="http://schemas.microsoft.com/office/drawing/2014/main" id="{D346C01C-C23A-46BD-89E1-DFDF8776C133}"/>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El docente distingue entre un cálculo correcto, un programa que compila, una simulación ejecutada y una comprobación física. Son evidencias complementarias. El alumnado recibe retroalimentación sobre qué logró demostrar y qué puede mejorar. Esa información sirve para elegir la siguiente ruta de formación y para presentar el proyecto de manera profesional.</a:t>
            </a:r>
          </a:p>
        </p:txBody>
      </p:sp>
    </p:spTree>
    <p:extLst>
      <p:ext uri="{BB962C8B-B14F-4D97-AF65-F5344CB8AC3E}">
        <p14:creationId xmlns:p14="http://schemas.microsoft.com/office/powerpoint/2010/main" val="1138400727"/>
      </p:ext>
    </p:extLst>
  </p:cSld>
</p:sld>
</file>

<file path=ppt/slides/slide39.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02A0721-544B-48E7-B7C3-9613797626D3}"/>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Evaluación del curso</a:t>
            </a:r>
          </a:p>
        </p:txBody>
      </p:sp>
      <p:pic>
        <p:nvPicPr>
          <p:cNvPr id="2" name="">
            <a:extLst xmlns:a="http://schemas.openxmlformats.org/drawingml/2006/main">
              <a:ext uri="{FF2B5EF4-FFF2-40B4-BE49-F238E27FC236}">
                <a16:creationId xmlns:a16="http://schemas.microsoft.com/office/drawing/2014/main" id="{ADA59451-1899-49D5-AE68-3206A89A49F7}"/>
              </a:ext>
            </a:extLst>
          </p:cNvPr>
          <p:cNvPicPr>
            <a:picLocks xmlns:a="http://schemas.openxmlformats.org/drawingml/2006/main" noChangeAspect="1"/>
          </p:cNvPicPr>
          <p:nvPr/>
        </p:nvPicPr>
        <p:blipFill>
          <a:blip xmlns:r="http://schemas.openxmlformats.org/officeDocument/2006/relationships" xmlns:a="http://schemas.openxmlformats.org/drawingml/2006/main" r:embed="Re4cb30af6733455d"/>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8C43546-2B55-4CDE-8AC1-DBF55C4E6D3D}"/>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8   CLASE 16   15/24</a:t>
            </a:r>
          </a:p>
        </p:txBody>
      </p:sp>
      <p:graphicFrame>
        <p:nvGraphicFramePr>
          <p:cNvPr id="4" name="">
            <a:extLst xmlns:a="http://schemas.openxmlformats.org/drawingml/2006/main">
              <a:ext uri="{FF2B5EF4-FFF2-40B4-BE49-F238E27FC236}">
                <a16:creationId xmlns:a16="http://schemas.microsoft.com/office/drawing/2014/main" id="{CD4F21D6-7774-49D5-805B-8297373D984C}"/>
              </a:ext>
            </a:extLst>
          </p:cNvPr>
          <p:cNvGraphicFramePr/>
          <p:nvPr/>
        </p:nvGraphicFramePr>
        <p:xfrm>
          <a:off xmlns:a="http://schemas.openxmlformats.org/drawingml/2006/main" x="590550" y="1714500"/>
          <a:ext xmlns:a="http://schemas.openxmlformats.org/drawingml/2006/main" cx="11010900" cy="3762375"/>
        </p:xfrm>
        <a:graphic xmlns:a="http://schemas.openxmlformats.org/drawingml/2006/main">
          <a:graphicData uri="http://schemas.openxmlformats.org/drawingml/2006/table">
            <a:tbl>
              <a:tblPr/>
              <a:tblGrid>
                <a:gridCol w="3238500"/>
                <a:gridCol w="3667125"/>
                <a:gridCol w="4105275"/>
              </a:tblGrid>
              <a:tr h="752475">
                <a:tc>
                  <a:txBody>
                    <a:bodyPr/>
                    <a:lstStyle/>
                    <a:p>
                      <a:r>
                        <a:rPr sz="1875" b="1">
                          <a:solidFill>
                            <a:srgbClr val="FFFFFF"/>
                          </a:solidFill>
                          <a:latin typeface="Arial"/>
                          <a:ea typeface="Arial"/>
                          <a:cs typeface="Arial"/>
                        </a:rPr>
                        <a:t>Componente</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Peso</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Qué se valora</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752475">
                <a:tc>
                  <a:txBody>
                    <a:bodyPr/>
                    <a:lstStyle/>
                    <a:p>
                      <a:r>
                        <a:rPr sz="1875" b="0">
                          <a:solidFill>
                            <a:srgbClr val="14231E"/>
                          </a:solidFill>
                          <a:latin typeface="Arial"/>
                          <a:ea typeface="Arial"/>
                          <a:cs typeface="Arial"/>
                        </a:rPr>
                        <a:t>Portafolio individual</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30%</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Predicción y explicación</a:t>
                      </a:r>
                    </a:p>
                  </a:txBody>
                  <a:tcPr marL="91440" marR="91440" marT="45720" marB="45720">
                    <a:lnR w="9525">
                      <a:solidFill>
                        <a:srgbClr val="BFCEC3"/>
                      </a:solidFill>
                      <a:prstDash val="solid"/>
                    </a:lnR>
                    <a:lnB w="9525">
                      <a:solidFill>
                        <a:srgbClr val="BFCEC3"/>
                      </a:solidFill>
                      <a:prstDash val="solid"/>
                    </a:lnB>
                    <a:solidFill>
                      <a:srgbClr val="EAF3EC"/>
                    </a:solidFill>
                  </a:tcPr>
                </a:tc>
              </a:tr>
              <a:tr h="752475">
                <a:tc>
                  <a:txBody>
                    <a:bodyPr/>
                    <a:lstStyle/>
                    <a:p>
                      <a:r>
                        <a:rPr sz="1875" b="0">
                          <a:solidFill>
                            <a:srgbClr val="14231E"/>
                          </a:solidFill>
                          <a:latin typeface="Arial"/>
                          <a:ea typeface="Arial"/>
                          <a:cs typeface="Arial"/>
                        </a:rPr>
                        <a:t>Prácticas y registros</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25%</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Método y evidencia</a:t>
                      </a:r>
                    </a:p>
                  </a:txBody>
                  <a:tcPr marL="91440" marR="91440" marT="45720" marB="45720">
                    <a:lnR w="9525">
                      <a:solidFill>
                        <a:srgbClr val="BFCEC3"/>
                      </a:solidFill>
                      <a:prstDash val="solid"/>
                    </a:lnR>
                    <a:lnB w="9525">
                      <a:solidFill>
                        <a:srgbClr val="BFCEC3"/>
                      </a:solidFill>
                      <a:prstDash val="solid"/>
                    </a:lnB>
                    <a:solidFill>
                      <a:srgbClr val="FCFCF8"/>
                    </a:solidFill>
                  </a:tcPr>
                </a:tc>
              </a:tr>
              <a:tr h="752475">
                <a:tc>
                  <a:txBody>
                    <a:bodyPr/>
                    <a:lstStyle/>
                    <a:p>
                      <a:r>
                        <a:rPr sz="1875" b="0">
                          <a:solidFill>
                            <a:srgbClr val="14231E"/>
                          </a:solidFill>
                          <a:latin typeface="Arial"/>
                          <a:ea typeface="Arial"/>
                          <a:cs typeface="Arial"/>
                        </a:rPr>
                        <a:t>Proyecto integrado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35%</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Requisitos y pruebas</a:t>
                      </a:r>
                    </a:p>
                  </a:txBody>
                  <a:tcPr marL="91440" marR="91440" marT="45720" marB="45720">
                    <a:lnR w="9525">
                      <a:solidFill>
                        <a:srgbClr val="BFCEC3"/>
                      </a:solidFill>
                      <a:prstDash val="solid"/>
                    </a:lnR>
                    <a:lnB w="9525">
                      <a:solidFill>
                        <a:srgbClr val="BFCEC3"/>
                      </a:solidFill>
                      <a:prstDash val="solid"/>
                    </a:lnB>
                    <a:solidFill>
                      <a:srgbClr val="EAF3EC"/>
                    </a:solidFill>
                  </a:tcPr>
                </a:tc>
              </a:tr>
              <a:tr h="752475">
                <a:tc>
                  <a:txBody>
                    <a:bodyPr/>
                    <a:lstStyle/>
                    <a:p>
                      <a:r>
                        <a:rPr sz="1875" b="0">
                          <a:solidFill>
                            <a:srgbClr val="14231E"/>
                          </a:solidFill>
                          <a:latin typeface="Arial"/>
                          <a:ea typeface="Arial"/>
                          <a:cs typeface="Arial"/>
                        </a:rPr>
                        <a:t>Defensa individual</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10%</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Comprensión y transferencia</a:t>
                      </a:r>
                    </a:p>
                  </a:txBody>
                  <a:tcPr marL="91440" marR="91440" marT="45720" marB="45720">
                    <a:lnR w="9525">
                      <a:solidFill>
                        <a:srgbClr val="BFCEC3"/>
                      </a:solidFill>
                      <a:prstDash val="solid"/>
                    </a:lnR>
                    <a:lnB w="9525">
                      <a:solidFill>
                        <a:srgbClr val="BFCEC3"/>
                      </a:solidFill>
                      <a:prstDash val="solid"/>
                    </a:lnB>
                    <a:solidFill>
                      <a:srgbClr val="FCFCF8"/>
                    </a:solidFill>
                  </a:tcPr>
                </a:tc>
              </a:tr>
            </a:tbl>
          </a:graphicData>
        </a:graphic>
      </p:graphicFrame>
    </p:spTree>
    <p:extLst>
      <p:ext uri="{BB962C8B-B14F-4D97-AF65-F5344CB8AC3E}">
        <p14:creationId xmlns:p14="http://schemas.microsoft.com/office/powerpoint/2010/main" val="240736600"/>
      </p:ext>
    </p:extLst>
  </p:cSld>
</p:sld>
</file>

<file path=ppt/slides/slide40.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7762B18-339F-48BF-AEE3-28F81C08C8A7}"/>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Práctica · Evaluación y defensa individual</a:t>
            </a:r>
          </a:p>
        </p:txBody>
      </p:sp>
      <p:pic>
        <p:nvPicPr>
          <p:cNvPr id="2" name="">
            <a:extLst xmlns:a="http://schemas.openxmlformats.org/drawingml/2006/main">
              <a:ext uri="{FF2B5EF4-FFF2-40B4-BE49-F238E27FC236}">
                <a16:creationId xmlns:a16="http://schemas.microsoft.com/office/drawing/2014/main" id="{5FBF1582-8183-4741-9745-94DC50795CD8}"/>
              </a:ext>
            </a:extLst>
          </p:cNvPr>
          <p:cNvPicPr>
            <a:picLocks xmlns:a="http://schemas.openxmlformats.org/drawingml/2006/main" noChangeAspect="1"/>
          </p:cNvPicPr>
          <p:nvPr/>
        </p:nvPicPr>
        <p:blipFill>
          <a:blip xmlns:r="http://schemas.openxmlformats.org/officeDocument/2006/relationships" xmlns:a="http://schemas.openxmlformats.org/drawingml/2006/main" r:embed="R960dc58526134ed4"/>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4D7308A-2805-4BC0-A8C5-C2155907FDAD}"/>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8   CLASE 16   16/24</a:t>
            </a:r>
          </a:p>
        </p:txBody>
      </p:sp>
      <p:sp>
        <p:nvSpPr>
          <p:cNvPr id="4" name="">
            <a:extLst xmlns:a="http://schemas.openxmlformats.org/drawingml/2006/main">
              <a:ext uri="{FF2B5EF4-FFF2-40B4-BE49-F238E27FC236}">
                <a16:creationId xmlns:a16="http://schemas.microsoft.com/office/drawing/2014/main" id="{88498EE6-A58B-48A8-A584-F80AB98084FA}"/>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4231E"/>
                </a:solidFill>
                <a:latin typeface="Arial"/>
                <a:ea typeface="Arial"/>
                <a:cs typeface="Arial"/>
              </a:defRPr>
            </a:defPPr>
            <a:lvl1pPr>
              <a:defRPr sz="1950" b="0">
                <a:solidFill>
                  <a:srgbClr val="14231E"/>
                </a:solidFill>
                <a:latin typeface="Arial"/>
                <a:ea typeface="Arial"/>
                <a:cs typeface="Arial"/>
              </a:defRPr>
            </a:lvl1pPr>
            <a:lvl2pPr>
              <a:defRPr sz="1950" b="0">
                <a:solidFill>
                  <a:srgbClr val="14231E"/>
                </a:solidFill>
                <a:latin typeface="Arial"/>
                <a:ea typeface="Arial"/>
                <a:cs typeface="Arial"/>
              </a:defRPr>
            </a:lvl2pPr>
            <a:lvl3pPr>
              <a:defRPr sz="1950" b="0">
                <a:solidFill>
                  <a:srgbClr val="14231E"/>
                </a:solidFill>
                <a:latin typeface="Arial"/>
                <a:ea typeface="Arial"/>
                <a:cs typeface="Arial"/>
              </a:defRPr>
            </a:lvl3pPr>
            <a:lvl4pPr>
              <a:defRPr sz="1950" b="0">
                <a:solidFill>
                  <a:srgbClr val="14231E"/>
                </a:solidFill>
                <a:latin typeface="Arial"/>
                <a:ea typeface="Arial"/>
                <a:cs typeface="Arial"/>
              </a:defRPr>
            </a:lvl4pPr>
            <a:lvl5pPr>
              <a:defRPr sz="1950" b="0">
                <a:solidFill>
                  <a:srgbClr val="14231E"/>
                </a:solidFill>
                <a:latin typeface="Arial"/>
                <a:ea typeface="Arial"/>
                <a:cs typeface="Arial"/>
              </a:defRPr>
            </a:lvl5pPr>
            <a:lvl6pPr>
              <a:defRPr sz="1950" b="0">
                <a:solidFill>
                  <a:srgbClr val="14231E"/>
                </a:solidFill>
                <a:latin typeface="Arial"/>
                <a:ea typeface="Arial"/>
                <a:cs typeface="Arial"/>
              </a:defRPr>
            </a:lvl6pPr>
            <a:lvl7pPr>
              <a:defRPr sz="1950" b="0">
                <a:solidFill>
                  <a:srgbClr val="14231E"/>
                </a:solidFill>
                <a:latin typeface="Arial"/>
                <a:ea typeface="Arial"/>
                <a:cs typeface="Arial"/>
              </a:defRPr>
            </a:lvl7pPr>
            <a:lvl8pPr>
              <a:defRPr sz="1950" b="0">
                <a:solidFill>
                  <a:srgbClr val="14231E"/>
                </a:solidFill>
                <a:latin typeface="Arial"/>
                <a:ea typeface="Arial"/>
                <a:cs typeface="Arial"/>
              </a:defRPr>
            </a:lvl8pPr>
            <a:lvl9pPr>
              <a:defRPr sz="1950" b="0">
                <a:solidFill>
                  <a:srgbClr val="14231E"/>
                </a:solidFill>
                <a:latin typeface="Arial"/>
                <a:ea typeface="Arial"/>
                <a:cs typeface="Arial"/>
              </a:defRPr>
            </a:lvl9pPr>
          </a:lstStyle>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1. Presenta propósito y configuración en un minuto.</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2. Señala energía, una entrada, una transformación y una salida.</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3. Explica una fila del registro con unidades y referencia temporal.</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4. Muestra una prueba de fallo y su alcance.</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5. Defiende una modificación propia con su comparación.</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6. Declara una limitación y la prueba que harías después.</a:t>
            </a:r>
          </a:p>
        </p:txBody>
      </p:sp>
    </p:spTree>
    <p:extLst>
      <p:ext uri="{BB962C8B-B14F-4D97-AF65-F5344CB8AC3E}">
        <p14:creationId xmlns:p14="http://schemas.microsoft.com/office/powerpoint/2010/main" val="2092434017"/>
      </p:ext>
    </p:extLst>
  </p:cSld>
</p:sld>
</file>

<file path=ppt/slides/slide41.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813423D-29DB-4E72-9258-07E5E3118A17}"/>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Lo que sigue después de este curso</a:t>
            </a:r>
          </a:p>
        </p:txBody>
      </p:sp>
      <p:pic>
        <p:nvPicPr>
          <p:cNvPr id="2" name="">
            <a:extLst xmlns:a="http://schemas.openxmlformats.org/drawingml/2006/main">
              <a:ext uri="{FF2B5EF4-FFF2-40B4-BE49-F238E27FC236}">
                <a16:creationId xmlns:a16="http://schemas.microsoft.com/office/drawing/2014/main" id="{65EDEE5B-7D38-4B8C-AFDB-0267D3DCABFB}"/>
              </a:ext>
            </a:extLst>
          </p:cNvPr>
          <p:cNvPicPr>
            <a:picLocks xmlns:a="http://schemas.openxmlformats.org/drawingml/2006/main" noChangeAspect="1"/>
          </p:cNvPicPr>
          <p:nvPr/>
        </p:nvPicPr>
        <p:blipFill>
          <a:blip xmlns:r="http://schemas.openxmlformats.org/officeDocument/2006/relationships" xmlns:a="http://schemas.openxmlformats.org/drawingml/2006/main" r:embed="Rd891fcbc22d64e47"/>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E4B6598-20F8-4BFE-9119-1B5C384DD34A}"/>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8   CLASE 16   17/24</a:t>
            </a:r>
          </a:p>
        </p:txBody>
      </p:sp>
      <p:sp>
        <p:nvSpPr>
          <p:cNvPr id="4" name="">
            <a:extLst xmlns:a="http://schemas.openxmlformats.org/drawingml/2006/main">
              <a:ext uri="{FF2B5EF4-FFF2-40B4-BE49-F238E27FC236}">
                <a16:creationId xmlns:a16="http://schemas.microsoft.com/office/drawing/2014/main" id="{BFE97DBF-ACB7-4F41-BC5F-488BC095428E}"/>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La ruta siguiente puede profundizar en aviónica y telemetría, registro MicroSD, comunicaciones dedicadas, estimación de orientación o diseño de control. Otra ruta puede desarrollar mecanismos y robótica. La base obtenida permite elegir con criterio: el estudiante ya conoce entradas y salidas, tiempos, medida, potencia, referencias y pruebas. No necesita afirmar dominio de todos los subsistemas de un UAV para presentar un buen proyecto introductorio.</a:t>
            </a:r>
          </a:p>
        </p:txBody>
      </p:sp>
    </p:spTree>
    <p:extLst>
      <p:ext uri="{BB962C8B-B14F-4D97-AF65-F5344CB8AC3E}">
        <p14:creationId xmlns:p14="http://schemas.microsoft.com/office/powerpoint/2010/main" val="729245618"/>
      </p:ext>
    </p:extLst>
  </p:cSld>
</p:sld>
</file>

<file path=ppt/slides/slide4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F25D6CF-3F9D-4CEF-8104-B9EAB9B15B83}"/>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Interés del estudiante</a:t>
            </a:r>
          </a:p>
        </p:txBody>
      </p:sp>
      <p:pic>
        <p:nvPicPr>
          <p:cNvPr id="2" name="">
            <a:extLst xmlns:a="http://schemas.openxmlformats.org/drawingml/2006/main">
              <a:ext uri="{FF2B5EF4-FFF2-40B4-BE49-F238E27FC236}">
                <a16:creationId xmlns:a16="http://schemas.microsoft.com/office/drawing/2014/main" id="{5843324C-47FE-4188-B45B-46F758A440DB}"/>
              </a:ext>
            </a:extLst>
          </p:cNvPr>
          <p:cNvPicPr>
            <a:picLocks xmlns:a="http://schemas.openxmlformats.org/drawingml/2006/main" noChangeAspect="1"/>
          </p:cNvPicPr>
          <p:nvPr/>
        </p:nvPicPr>
        <p:blipFill>
          <a:blip xmlns:r="http://schemas.openxmlformats.org/officeDocument/2006/relationships" xmlns:a="http://schemas.openxmlformats.org/drawingml/2006/main" r:embed="Ra7341eb83f904e8e"/>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256CB5B-EA9A-48F1-94FD-E2ECD35B9863}"/>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8   CLASE 16   18/24</a:t>
            </a:r>
          </a:p>
        </p:txBody>
      </p:sp>
      <p:graphicFrame>
        <p:nvGraphicFramePr>
          <p:cNvPr id="4" name="">
            <a:extLst xmlns:a="http://schemas.openxmlformats.org/drawingml/2006/main">
              <a:ext uri="{FF2B5EF4-FFF2-40B4-BE49-F238E27FC236}">
                <a16:creationId xmlns:a16="http://schemas.microsoft.com/office/drawing/2014/main" id="{FAF599CD-A780-4B64-AF58-20A753A235FD}"/>
              </a:ext>
            </a:extLst>
          </p:cNvPr>
          <p:cNvGraphicFramePr/>
          <p:nvPr/>
        </p:nvGraphicFramePr>
        <p:xfrm>
          <a:off xmlns:a="http://schemas.openxmlformats.org/drawingml/2006/main" x="590550" y="1714500"/>
          <a:ext xmlns:a="http://schemas.openxmlformats.org/drawingml/2006/main" cx="11010900" cy="3762375"/>
        </p:xfrm>
        <a:graphic xmlns:a="http://schemas.openxmlformats.org/drawingml/2006/main">
          <a:graphicData uri="http://schemas.openxmlformats.org/drawingml/2006/table">
            <a:tbl>
              <a:tblPr/>
              <a:tblGrid>
                <a:gridCol w="3238500"/>
                <a:gridCol w="3667125"/>
                <a:gridCol w="4105275"/>
              </a:tblGrid>
              <a:tr h="940594">
                <a:tc>
                  <a:txBody>
                    <a:bodyPr/>
                    <a:lstStyle/>
                    <a:p>
                      <a:r>
                        <a:rPr sz="1875" b="1">
                          <a:solidFill>
                            <a:srgbClr val="FFFFFF"/>
                          </a:solidFill>
                          <a:latin typeface="Arial"/>
                          <a:ea typeface="Arial"/>
                          <a:cs typeface="Arial"/>
                        </a:rPr>
                        <a:t>Interés</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Base del curso</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Siguiente profundización</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940594">
                <a:tc>
                  <a:txBody>
                    <a:bodyPr/>
                    <a:lstStyle/>
                    <a:p>
                      <a:r>
                        <a:rPr sz="1875" b="0">
                          <a:solidFill>
                            <a:srgbClr val="14231E"/>
                          </a:solidFill>
                          <a:latin typeface="Arial"/>
                          <a:ea typeface="Arial"/>
                          <a:cs typeface="Arial"/>
                        </a:rPr>
                        <a:t>Sensores de UAV</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Adquisición y unidades</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Calibración y estimación</a:t>
                      </a:r>
                    </a:p>
                  </a:txBody>
                  <a:tcPr marL="91440" marR="91440" marT="45720" marB="45720">
                    <a:lnR w="9525">
                      <a:solidFill>
                        <a:srgbClr val="BFCEC3"/>
                      </a:solidFill>
                      <a:prstDash val="solid"/>
                    </a:lnR>
                    <a:lnB w="9525">
                      <a:solidFill>
                        <a:srgbClr val="BFCEC3"/>
                      </a:solidFill>
                      <a:prstDash val="solid"/>
                    </a:lnB>
                    <a:solidFill>
                      <a:srgbClr val="EAF3EC"/>
                    </a:solidFill>
                  </a:tcPr>
                </a:tc>
              </a:tr>
              <a:tr h="940594">
                <a:tc>
                  <a:txBody>
                    <a:bodyPr/>
                    <a:lstStyle/>
                    <a:p>
                      <a:r>
                        <a:rPr sz="1875" b="0">
                          <a:solidFill>
                            <a:srgbClr val="14231E"/>
                          </a:solidFill>
                          <a:latin typeface="Arial"/>
                          <a:ea typeface="Arial"/>
                          <a:cs typeface="Arial"/>
                        </a:rPr>
                        <a:t>Mecanismos</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Señal, potencia y medida</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Control y diseño mecánico</a:t>
                      </a:r>
                    </a:p>
                  </a:txBody>
                  <a:tcPr marL="91440" marR="91440" marT="45720" marB="45720">
                    <a:lnR w="9525">
                      <a:solidFill>
                        <a:srgbClr val="BFCEC3"/>
                      </a:solidFill>
                      <a:prstDash val="solid"/>
                    </a:lnR>
                    <a:lnB w="9525">
                      <a:solidFill>
                        <a:srgbClr val="BFCEC3"/>
                      </a:solidFill>
                      <a:prstDash val="solid"/>
                    </a:lnB>
                    <a:solidFill>
                      <a:srgbClr val="FCFCF8"/>
                    </a:solidFill>
                  </a:tcPr>
                </a:tc>
              </a:tr>
              <a:tr h="940594">
                <a:tc>
                  <a:txBody>
                    <a:bodyPr/>
                    <a:lstStyle/>
                    <a:p>
                      <a:r>
                        <a:rPr sz="1875" b="0">
                          <a:solidFill>
                            <a:srgbClr val="14231E"/>
                          </a:solidFill>
                          <a:latin typeface="Arial"/>
                          <a:ea typeface="Arial"/>
                          <a:cs typeface="Arial"/>
                        </a:rPr>
                        <a:t>Datos en tierra</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Registros y HTTP</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Telemetría y almacenamiento</a:t>
                      </a:r>
                    </a:p>
                  </a:txBody>
                  <a:tcPr marL="91440" marR="91440" marT="45720" marB="45720">
                    <a:lnR w="9525">
                      <a:solidFill>
                        <a:srgbClr val="BFCEC3"/>
                      </a:solidFill>
                      <a:prstDash val="solid"/>
                    </a:lnR>
                    <a:lnB w="9525">
                      <a:solidFill>
                        <a:srgbClr val="BFCEC3"/>
                      </a:solidFill>
                      <a:prstDash val="solid"/>
                    </a:lnB>
                    <a:solidFill>
                      <a:srgbClr val="EAF3EC"/>
                    </a:solidFill>
                  </a:tcPr>
                </a:tc>
              </a:tr>
            </a:tbl>
          </a:graphicData>
        </a:graphic>
      </p:graphicFrame>
    </p:spTree>
    <p:extLst>
      <p:ext uri="{BB962C8B-B14F-4D97-AF65-F5344CB8AC3E}">
        <p14:creationId xmlns:p14="http://schemas.microsoft.com/office/powerpoint/2010/main" val="1382934538"/>
      </p:ext>
    </p:extLst>
  </p:cSld>
</p:sld>
</file>

<file path=ppt/slides/slide4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D276376-5633-4C88-9E8C-B9B6CF8423C2}"/>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Interpretación · Lo que sigue después de este curso</a:t>
            </a:r>
          </a:p>
        </p:txBody>
      </p:sp>
      <p:pic>
        <p:nvPicPr>
          <p:cNvPr id="2" name="">
            <a:extLst xmlns:a="http://schemas.openxmlformats.org/drawingml/2006/main">
              <a:ext uri="{FF2B5EF4-FFF2-40B4-BE49-F238E27FC236}">
                <a16:creationId xmlns:a16="http://schemas.microsoft.com/office/drawing/2014/main" id="{3D415D97-D7C6-455B-9892-B685A6E8C0E1}"/>
              </a:ext>
            </a:extLst>
          </p:cNvPr>
          <p:cNvPicPr>
            <a:picLocks xmlns:a="http://schemas.openxmlformats.org/drawingml/2006/main" noChangeAspect="1"/>
          </p:cNvPicPr>
          <p:nvPr/>
        </p:nvPicPr>
        <p:blipFill>
          <a:blip xmlns:r="http://schemas.openxmlformats.org/officeDocument/2006/relationships" xmlns:a="http://schemas.openxmlformats.org/drawingml/2006/main" r:embed="Rb84fa0c0f7854809"/>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495A94B-A150-4D18-9426-DE1F955D5C15}"/>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8   CLASE 16   19/24</a:t>
            </a:r>
          </a:p>
        </p:txBody>
      </p:sp>
      <p:sp>
        <p:nvSpPr>
          <p:cNvPr id="4" name="">
            <a:extLst xmlns:a="http://schemas.openxmlformats.org/drawingml/2006/main">
              <a:ext uri="{FF2B5EF4-FFF2-40B4-BE49-F238E27FC236}">
                <a16:creationId xmlns:a16="http://schemas.microsoft.com/office/drawing/2014/main" id="{F6B6B93D-5680-436E-8F2F-B7E8B02F5829}"/>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1E"/>
                </a:solidFill>
                <a:latin typeface="Arial"/>
                <a:ea typeface="Arial"/>
                <a:cs typeface="Arial"/>
              </a:defRPr>
            </a:defPPr>
            <a:lvl1pPr>
              <a:defRPr sz="2175" b="0">
                <a:solidFill>
                  <a:srgbClr val="14231E"/>
                </a:solidFill>
                <a:latin typeface="Arial"/>
                <a:ea typeface="Arial"/>
                <a:cs typeface="Arial"/>
              </a:defRPr>
            </a:lvl1pPr>
            <a:lvl2pPr>
              <a:defRPr sz="2175" b="0">
                <a:solidFill>
                  <a:srgbClr val="14231E"/>
                </a:solidFill>
                <a:latin typeface="Arial"/>
                <a:ea typeface="Arial"/>
                <a:cs typeface="Arial"/>
              </a:defRPr>
            </a:lvl2pPr>
            <a:lvl3pPr>
              <a:defRPr sz="2175" b="0">
                <a:solidFill>
                  <a:srgbClr val="14231E"/>
                </a:solidFill>
                <a:latin typeface="Arial"/>
                <a:ea typeface="Arial"/>
                <a:cs typeface="Arial"/>
              </a:defRPr>
            </a:lvl3pPr>
            <a:lvl4pPr>
              <a:defRPr sz="2175" b="0">
                <a:solidFill>
                  <a:srgbClr val="14231E"/>
                </a:solidFill>
                <a:latin typeface="Arial"/>
                <a:ea typeface="Arial"/>
                <a:cs typeface="Arial"/>
              </a:defRPr>
            </a:lvl4pPr>
            <a:lvl5pPr>
              <a:defRPr sz="2175" b="0">
                <a:solidFill>
                  <a:srgbClr val="14231E"/>
                </a:solidFill>
                <a:latin typeface="Arial"/>
                <a:ea typeface="Arial"/>
                <a:cs typeface="Arial"/>
              </a:defRPr>
            </a:lvl5pPr>
            <a:lvl6pPr>
              <a:defRPr sz="2175" b="0">
                <a:solidFill>
                  <a:srgbClr val="14231E"/>
                </a:solidFill>
                <a:latin typeface="Arial"/>
                <a:ea typeface="Arial"/>
                <a:cs typeface="Arial"/>
              </a:defRPr>
            </a:lvl6pPr>
            <a:lvl7pPr>
              <a:defRPr sz="2175" b="0">
                <a:solidFill>
                  <a:srgbClr val="14231E"/>
                </a:solidFill>
                <a:latin typeface="Arial"/>
                <a:ea typeface="Arial"/>
                <a:cs typeface="Arial"/>
              </a:defRPr>
            </a:lvl7pPr>
            <a:lvl8pPr>
              <a:defRPr sz="2175" b="0">
                <a:solidFill>
                  <a:srgbClr val="14231E"/>
                </a:solidFill>
                <a:latin typeface="Arial"/>
                <a:ea typeface="Arial"/>
                <a:cs typeface="Arial"/>
              </a:defRPr>
            </a:lvl8pPr>
            <a:lvl9pPr>
              <a:defRPr sz="2175" b="0">
                <a:solidFill>
                  <a:srgbClr val="14231E"/>
                </a:solidFill>
                <a:latin typeface="Arial"/>
                <a:ea typeface="Arial"/>
                <a:cs typeface="Arial"/>
              </a:defRPr>
            </a:lvl9pPr>
          </a:lstStyle>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La entrega final incluye una propuesta de siguiente versión con una sola mejora prioritaria. Debe nombrar el problema observado, el cambio propuesto y una comprobación. Un proyecto pequeño puede tener gran valor formativo si su constructor entiende lo que mide, lo que decide y lo que todavía necesita estudiar. Ese es el criterio que MECRO conserva al ampliar su oferta.</a:t>
            </a:r>
          </a:p>
        </p:txBody>
      </p:sp>
    </p:spTree>
    <p:extLst>
      <p:ext uri="{BB962C8B-B14F-4D97-AF65-F5344CB8AC3E}">
        <p14:creationId xmlns:p14="http://schemas.microsoft.com/office/powerpoint/2010/main" val="888612251"/>
      </p:ext>
    </p:extLst>
  </p:cSld>
</p:sld>
</file>

<file path=ppt/slides/slide4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7C9586E-FCD8-468A-B0DD-CA422F63A75A}"/>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Práctica guiada</a:t>
            </a:r>
          </a:p>
        </p:txBody>
      </p:sp>
      <p:pic>
        <p:nvPicPr>
          <p:cNvPr id="2" name="">
            <a:extLst xmlns:a="http://schemas.openxmlformats.org/drawingml/2006/main">
              <a:ext uri="{FF2B5EF4-FFF2-40B4-BE49-F238E27FC236}">
                <a16:creationId xmlns:a16="http://schemas.microsoft.com/office/drawing/2014/main" id="{BEB8D479-6ED6-4599-A618-11957FD28713}"/>
              </a:ext>
            </a:extLst>
          </p:cNvPr>
          <p:cNvPicPr>
            <a:picLocks xmlns:a="http://schemas.openxmlformats.org/drawingml/2006/main" noChangeAspect="1"/>
          </p:cNvPicPr>
          <p:nvPr/>
        </p:nvPicPr>
        <p:blipFill>
          <a:blip xmlns:r="http://schemas.openxmlformats.org/officeDocument/2006/relationships" xmlns:a="http://schemas.openxmlformats.org/drawingml/2006/main" r:embed="Rf1f75380fdaf4573"/>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98C8793-F4C9-44B5-A827-B655A74D6860}"/>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8   CLASE 16   20/24</a:t>
            </a:r>
          </a:p>
        </p:txBody>
      </p:sp>
      <p:sp>
        <p:nvSpPr>
          <p:cNvPr id="4" name="">
            <a:extLst xmlns:a="http://schemas.openxmlformats.org/drawingml/2006/main">
              <a:ext uri="{FF2B5EF4-FFF2-40B4-BE49-F238E27FC236}">
                <a16:creationId xmlns:a16="http://schemas.microsoft.com/office/drawing/2014/main" id="{08FA7EED-D6A6-4507-A042-5151D7D620E5}"/>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1E"/>
                </a:solidFill>
                <a:latin typeface="Arial"/>
                <a:ea typeface="Arial"/>
                <a:cs typeface="Arial"/>
              </a:defRPr>
            </a:defPPr>
            <a:lvl1pPr>
              <a:defRPr sz="2175" b="0">
                <a:solidFill>
                  <a:srgbClr val="14231E"/>
                </a:solidFill>
                <a:latin typeface="Arial"/>
                <a:ea typeface="Arial"/>
                <a:cs typeface="Arial"/>
              </a:defRPr>
            </a:lvl1pPr>
            <a:lvl2pPr>
              <a:defRPr sz="2175" b="0">
                <a:solidFill>
                  <a:srgbClr val="14231E"/>
                </a:solidFill>
                <a:latin typeface="Arial"/>
                <a:ea typeface="Arial"/>
                <a:cs typeface="Arial"/>
              </a:defRPr>
            </a:lvl2pPr>
            <a:lvl3pPr>
              <a:defRPr sz="2175" b="0">
                <a:solidFill>
                  <a:srgbClr val="14231E"/>
                </a:solidFill>
                <a:latin typeface="Arial"/>
                <a:ea typeface="Arial"/>
                <a:cs typeface="Arial"/>
              </a:defRPr>
            </a:lvl3pPr>
            <a:lvl4pPr>
              <a:defRPr sz="2175" b="0">
                <a:solidFill>
                  <a:srgbClr val="14231E"/>
                </a:solidFill>
                <a:latin typeface="Arial"/>
                <a:ea typeface="Arial"/>
                <a:cs typeface="Arial"/>
              </a:defRPr>
            </a:lvl4pPr>
            <a:lvl5pPr>
              <a:defRPr sz="2175" b="0">
                <a:solidFill>
                  <a:srgbClr val="14231E"/>
                </a:solidFill>
                <a:latin typeface="Arial"/>
                <a:ea typeface="Arial"/>
                <a:cs typeface="Arial"/>
              </a:defRPr>
            </a:lvl5pPr>
            <a:lvl6pPr>
              <a:defRPr sz="2175" b="0">
                <a:solidFill>
                  <a:srgbClr val="14231E"/>
                </a:solidFill>
                <a:latin typeface="Arial"/>
                <a:ea typeface="Arial"/>
                <a:cs typeface="Arial"/>
              </a:defRPr>
            </a:lvl6pPr>
            <a:lvl7pPr>
              <a:defRPr sz="2175" b="0">
                <a:solidFill>
                  <a:srgbClr val="14231E"/>
                </a:solidFill>
                <a:latin typeface="Arial"/>
                <a:ea typeface="Arial"/>
                <a:cs typeface="Arial"/>
              </a:defRPr>
            </a:lvl7pPr>
            <a:lvl8pPr>
              <a:defRPr sz="2175" b="0">
                <a:solidFill>
                  <a:srgbClr val="14231E"/>
                </a:solidFill>
                <a:latin typeface="Arial"/>
                <a:ea typeface="Arial"/>
                <a:cs typeface="Arial"/>
              </a:defRPr>
            </a:lvl8pPr>
            <a:lvl9pPr>
              <a:defRPr sz="2175" b="0">
                <a:solidFill>
                  <a:srgbClr val="14231E"/>
                </a:solidFill>
                <a:latin typeface="Arial"/>
                <a:ea typeface="Arial"/>
                <a:cs typeface="Arial"/>
              </a:defRPr>
            </a:lvl9pPr>
          </a:lstStyle>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1. Revisar la configuración antes de la demostración.</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2. Ejecutar prueba normal y matriz de fallos con evidencia.</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3. Relacionar una fila del registro con el estado del sistema.</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4. Defender una mejora y proponer la siguiente ruta.</a:t>
            </a:r>
          </a:p>
        </p:txBody>
      </p:sp>
    </p:spTree>
    <p:extLst>
      <p:ext uri="{BB962C8B-B14F-4D97-AF65-F5344CB8AC3E}">
        <p14:creationId xmlns:p14="http://schemas.microsoft.com/office/powerpoint/2010/main" val="173760217"/>
      </p:ext>
    </p:extLst>
  </p:cSld>
</p:sld>
</file>

<file path=ppt/slides/slide45.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C0A1E1A-010F-48CC-9258-AA70A81FB769}"/>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Aplicación en un banco para drones</a:t>
            </a:r>
          </a:p>
        </p:txBody>
      </p:sp>
      <p:pic>
        <p:nvPicPr>
          <p:cNvPr id="2" name="">
            <a:extLst xmlns:a="http://schemas.openxmlformats.org/drawingml/2006/main">
              <a:ext uri="{FF2B5EF4-FFF2-40B4-BE49-F238E27FC236}">
                <a16:creationId xmlns:a16="http://schemas.microsoft.com/office/drawing/2014/main" id="{BF3DA1CF-09AE-4428-90BC-6FD05F4E4364}"/>
              </a:ext>
            </a:extLst>
          </p:cNvPr>
          <p:cNvPicPr>
            <a:picLocks xmlns:a="http://schemas.openxmlformats.org/drawingml/2006/main" noChangeAspect="1"/>
          </p:cNvPicPr>
          <p:nvPr/>
        </p:nvPicPr>
        <p:blipFill>
          <a:blip xmlns:r="http://schemas.openxmlformats.org/officeDocument/2006/relationships" xmlns:a="http://schemas.openxmlformats.org/drawingml/2006/main" r:embed="R4f91bae60c19446d"/>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0B162B6-99D0-4D32-A3AB-48B9EE9EAB1D}"/>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8   CLASE 16   21/24</a:t>
            </a:r>
          </a:p>
        </p:txBody>
      </p:sp>
      <p:sp>
        <p:nvSpPr>
          <p:cNvPr id="4" name="">
            <a:extLst xmlns:a="http://schemas.openxmlformats.org/drawingml/2006/main">
              <a:ext uri="{FF2B5EF4-FFF2-40B4-BE49-F238E27FC236}">
                <a16:creationId xmlns:a16="http://schemas.microsoft.com/office/drawing/2014/main" id="{A409E708-B7FE-499C-B2C7-EBAB73614057}"/>
              </a:ext>
            </a:extLst>
          </p:cNvPr>
          <p:cNvSpPr>
            <a:spLocks xmlns:a="http://schemas.openxmlformats.org/drawingml/2006/main" noGrp="1"/>
          </p:cNvSpPr>
          <p:nvPr/>
        </p:nvSpPr>
        <p:spPr>
          <a:xfrm xmlns:a="http://schemas.openxmlformats.org/drawingml/2006/main">
            <a:off x="590550" y="1762125"/>
            <a:ext cx="10715625"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El cierre forma a un constructor que puede presentar y revisar un sistema de banco relacionado con UAV.</a:t>
            </a:r>
          </a:p>
        </p:txBody>
      </p:sp>
      <p:sp>
        <p:nvSpPr>
          <p:cNvPr id="5" name="">
            <a:extLst xmlns:a="http://schemas.openxmlformats.org/drawingml/2006/main">
              <a:ext uri="{FF2B5EF4-FFF2-40B4-BE49-F238E27FC236}">
                <a16:creationId xmlns:a16="http://schemas.microsoft.com/office/drawing/2014/main" id="{3897F28D-CB23-4C2A-B8ED-3FD21E280590}"/>
              </a:ext>
            </a:extLst>
          </p:cNvPr>
          <p:cNvSpPr>
            <a:spLocks xmlns:a="http://schemas.openxmlformats.org/drawingml/2006/main" noGrp="1"/>
          </p:cNvSpPr>
          <p:nvPr/>
        </p:nvSpPr>
        <p:spPr>
          <a:xfrm xmlns:a="http://schemas.openxmlformats.org/drawingml/2006/main">
            <a:off x="590550" y="3914775"/>
            <a:ext cx="10715625" cy="1533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FCFCF8"/>
                </a:solidFill>
                <a:latin typeface="Arial"/>
                <a:ea typeface="Arial"/>
                <a:cs typeface="Arial"/>
              </a:defRPr>
            </a:defPPr>
            <a:lvl1pPr>
              <a:defRPr sz="2550" b="0">
                <a:solidFill>
                  <a:srgbClr val="FCFCF8"/>
                </a:solidFill>
                <a:latin typeface="Arial"/>
                <a:ea typeface="Arial"/>
                <a:cs typeface="Arial"/>
              </a:defRPr>
            </a:lvl1pPr>
            <a:lvl2pPr>
              <a:defRPr sz="2550" b="0">
                <a:solidFill>
                  <a:srgbClr val="FCFCF8"/>
                </a:solidFill>
                <a:latin typeface="Arial"/>
                <a:ea typeface="Arial"/>
                <a:cs typeface="Arial"/>
              </a:defRPr>
            </a:lvl2pPr>
            <a:lvl3pPr>
              <a:defRPr sz="2550" b="0">
                <a:solidFill>
                  <a:srgbClr val="FCFCF8"/>
                </a:solidFill>
                <a:latin typeface="Arial"/>
                <a:ea typeface="Arial"/>
                <a:cs typeface="Arial"/>
              </a:defRPr>
            </a:lvl3pPr>
            <a:lvl4pPr>
              <a:defRPr sz="2550" b="0">
                <a:solidFill>
                  <a:srgbClr val="FCFCF8"/>
                </a:solidFill>
                <a:latin typeface="Arial"/>
                <a:ea typeface="Arial"/>
                <a:cs typeface="Arial"/>
              </a:defRPr>
            </a:lvl4pPr>
            <a:lvl5pPr>
              <a:defRPr sz="2550" b="0">
                <a:solidFill>
                  <a:srgbClr val="FCFCF8"/>
                </a:solidFill>
                <a:latin typeface="Arial"/>
                <a:ea typeface="Arial"/>
                <a:cs typeface="Arial"/>
              </a:defRPr>
            </a:lvl5pPr>
            <a:lvl6pPr>
              <a:defRPr sz="2550" b="0">
                <a:solidFill>
                  <a:srgbClr val="FCFCF8"/>
                </a:solidFill>
                <a:latin typeface="Arial"/>
                <a:ea typeface="Arial"/>
                <a:cs typeface="Arial"/>
              </a:defRPr>
            </a:lvl6pPr>
            <a:lvl7pPr>
              <a:defRPr sz="2550" b="0">
                <a:solidFill>
                  <a:srgbClr val="FCFCF8"/>
                </a:solidFill>
                <a:latin typeface="Arial"/>
                <a:ea typeface="Arial"/>
                <a:cs typeface="Arial"/>
              </a:defRPr>
            </a:lvl7pPr>
            <a:lvl8pPr>
              <a:defRPr sz="2550" b="0">
                <a:solidFill>
                  <a:srgbClr val="FCFCF8"/>
                </a:solidFill>
                <a:latin typeface="Arial"/>
                <a:ea typeface="Arial"/>
                <a:cs typeface="Arial"/>
              </a:defRPr>
            </a:lvl8pPr>
            <a:lvl9pPr>
              <a:defRPr sz="2550" b="0">
                <a:solidFill>
                  <a:srgbClr val="FCFCF8"/>
                </a:solidFill>
                <a:latin typeface="Arial"/>
                <a:ea typeface="Arial"/>
                <a:cs typeface="Arial"/>
              </a:defRPr>
            </a:lvl9pPr>
          </a:lstStyle>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Explica una decisión con el esquema, el programa o un dato. ¿Qué queda sin comprobar?</a:t>
            </a:r>
          </a:p>
        </p:txBody>
      </p:sp>
    </p:spTree>
    <p:extLst>
      <p:ext uri="{BB962C8B-B14F-4D97-AF65-F5344CB8AC3E}">
        <p14:creationId xmlns:p14="http://schemas.microsoft.com/office/powerpoint/2010/main" val="1582021825"/>
      </p:ext>
    </p:extLst>
  </p:cSld>
</p:sld>
</file>

<file path=ppt/slides/slide46.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BBAF2DD-8343-4E1D-9BD1-C1FB9C286622}"/>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Preguntas de cierre</a:t>
            </a:r>
          </a:p>
        </p:txBody>
      </p:sp>
      <p:pic>
        <p:nvPicPr>
          <p:cNvPr id="2" name="">
            <a:extLst xmlns:a="http://schemas.openxmlformats.org/drawingml/2006/main">
              <a:ext uri="{FF2B5EF4-FFF2-40B4-BE49-F238E27FC236}">
                <a16:creationId xmlns:a16="http://schemas.microsoft.com/office/drawing/2014/main" id="{CFCC5CC9-9E24-4FD1-B556-5E4E0FB7A2D9}"/>
              </a:ext>
            </a:extLst>
          </p:cNvPr>
          <p:cNvPicPr>
            <a:picLocks xmlns:a="http://schemas.openxmlformats.org/drawingml/2006/main" noChangeAspect="1"/>
          </p:cNvPicPr>
          <p:nvPr/>
        </p:nvPicPr>
        <p:blipFill>
          <a:blip xmlns:r="http://schemas.openxmlformats.org/officeDocument/2006/relationships" xmlns:a="http://schemas.openxmlformats.org/drawingml/2006/main" r:embed="Rf873cfc30e4f4f2d"/>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CE1D156-0A9E-4702-BDEC-74996DAEB3E7}"/>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8   CLASE 16   22/24</a:t>
            </a:r>
          </a:p>
        </p:txBody>
      </p:sp>
      <p:sp>
        <p:nvSpPr>
          <p:cNvPr id="4" name="">
            <a:extLst xmlns:a="http://schemas.openxmlformats.org/drawingml/2006/main">
              <a:ext uri="{FF2B5EF4-FFF2-40B4-BE49-F238E27FC236}">
                <a16:creationId xmlns:a16="http://schemas.microsoft.com/office/drawing/2014/main" id="{F4374941-0816-4499-A848-8EEE175121C8}"/>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FCFCF8"/>
                </a:solidFill>
                <a:latin typeface="Arial"/>
                <a:ea typeface="Arial"/>
                <a:cs typeface="Arial"/>
              </a:defRPr>
            </a:defPPr>
            <a:lvl1pPr>
              <a:defRPr sz="2550" b="0">
                <a:solidFill>
                  <a:srgbClr val="FCFCF8"/>
                </a:solidFill>
                <a:latin typeface="Arial"/>
                <a:ea typeface="Arial"/>
                <a:cs typeface="Arial"/>
              </a:defRPr>
            </a:lvl1pPr>
            <a:lvl2pPr>
              <a:defRPr sz="2550" b="0">
                <a:solidFill>
                  <a:srgbClr val="FCFCF8"/>
                </a:solidFill>
                <a:latin typeface="Arial"/>
                <a:ea typeface="Arial"/>
                <a:cs typeface="Arial"/>
              </a:defRPr>
            </a:lvl2pPr>
            <a:lvl3pPr>
              <a:defRPr sz="2550" b="0">
                <a:solidFill>
                  <a:srgbClr val="FCFCF8"/>
                </a:solidFill>
                <a:latin typeface="Arial"/>
                <a:ea typeface="Arial"/>
                <a:cs typeface="Arial"/>
              </a:defRPr>
            </a:lvl3pPr>
            <a:lvl4pPr>
              <a:defRPr sz="2550" b="0">
                <a:solidFill>
                  <a:srgbClr val="FCFCF8"/>
                </a:solidFill>
                <a:latin typeface="Arial"/>
                <a:ea typeface="Arial"/>
                <a:cs typeface="Arial"/>
              </a:defRPr>
            </a:lvl4pPr>
            <a:lvl5pPr>
              <a:defRPr sz="2550" b="0">
                <a:solidFill>
                  <a:srgbClr val="FCFCF8"/>
                </a:solidFill>
                <a:latin typeface="Arial"/>
                <a:ea typeface="Arial"/>
                <a:cs typeface="Arial"/>
              </a:defRPr>
            </a:lvl5pPr>
            <a:lvl6pPr>
              <a:defRPr sz="2550" b="0">
                <a:solidFill>
                  <a:srgbClr val="FCFCF8"/>
                </a:solidFill>
                <a:latin typeface="Arial"/>
                <a:ea typeface="Arial"/>
                <a:cs typeface="Arial"/>
              </a:defRPr>
            </a:lvl6pPr>
            <a:lvl7pPr>
              <a:defRPr sz="2550" b="0">
                <a:solidFill>
                  <a:srgbClr val="FCFCF8"/>
                </a:solidFill>
                <a:latin typeface="Arial"/>
                <a:ea typeface="Arial"/>
                <a:cs typeface="Arial"/>
              </a:defRPr>
            </a:lvl7pPr>
            <a:lvl8pPr>
              <a:defRPr sz="2550" b="0">
                <a:solidFill>
                  <a:srgbClr val="FCFCF8"/>
                </a:solidFill>
                <a:latin typeface="Arial"/>
                <a:ea typeface="Arial"/>
                <a:cs typeface="Arial"/>
              </a:defRPr>
            </a:lvl8pPr>
            <a:lvl9pPr>
              <a:defRPr sz="2550" b="0">
                <a:solidFill>
                  <a:srgbClr val="FCFCF8"/>
                </a:solidFill>
                <a:latin typeface="Arial"/>
                <a:ea typeface="Arial"/>
                <a:cs typeface="Arial"/>
              </a:defRPr>
            </a:lvl9pPr>
          </a:lstStyle>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1. ¿Compilar equivale a haber probado hardware?</a:t>
            </a:r>
          </a:p>
          <a:p xmlns:a="http://schemas.openxmlformats.org/drawingml/2006/main">
            <a:r>
              <a:t/>
            </a:r>
          </a:p>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2. ¿Un valor retenido puede seguir impreso con data_valid=0?</a:t>
            </a:r>
          </a:p>
          <a:p xmlns:a="http://schemas.openxmlformats.org/drawingml/2006/main">
            <a:r>
              <a:t/>
            </a:r>
          </a:p>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3. ¿Qué debe contener una mejora?</a:t>
            </a:r>
          </a:p>
        </p:txBody>
      </p:sp>
    </p:spTree>
    <p:extLst>
      <p:ext uri="{BB962C8B-B14F-4D97-AF65-F5344CB8AC3E}">
        <p14:creationId xmlns:p14="http://schemas.microsoft.com/office/powerpoint/2010/main" val="61130415"/>
      </p:ext>
    </p:extLst>
  </p:cSld>
</p:sld>
</file>

<file path=ppt/slides/slide4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01AFBA0-8309-4F02-B6CD-3AE43CD75E4B}"/>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Respuestas y razonamiento</a:t>
            </a:r>
          </a:p>
        </p:txBody>
      </p:sp>
      <p:pic>
        <p:nvPicPr>
          <p:cNvPr id="2" name="">
            <a:extLst xmlns:a="http://schemas.openxmlformats.org/drawingml/2006/main">
              <a:ext uri="{FF2B5EF4-FFF2-40B4-BE49-F238E27FC236}">
                <a16:creationId xmlns:a16="http://schemas.microsoft.com/office/drawing/2014/main" id="{BF363C5C-9928-427A-A26B-63C267C9EC11}"/>
              </a:ext>
            </a:extLst>
          </p:cNvPr>
          <p:cNvPicPr>
            <a:picLocks xmlns:a="http://schemas.openxmlformats.org/drawingml/2006/main" noChangeAspect="1"/>
          </p:cNvPicPr>
          <p:nvPr/>
        </p:nvPicPr>
        <p:blipFill>
          <a:blip xmlns:r="http://schemas.openxmlformats.org/officeDocument/2006/relationships" xmlns:a="http://schemas.openxmlformats.org/drawingml/2006/main" r:embed="R388aea4fd91e4727"/>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0FBBAE5-2FF3-4F90-9ADB-90392ED80B11}"/>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8   CLASE 16   23/24</a:t>
            </a:r>
          </a:p>
        </p:txBody>
      </p:sp>
      <p:sp>
        <p:nvSpPr>
          <p:cNvPr id="4" name="">
            <a:extLst xmlns:a="http://schemas.openxmlformats.org/drawingml/2006/main">
              <a:ext uri="{FF2B5EF4-FFF2-40B4-BE49-F238E27FC236}">
                <a16:creationId xmlns:a16="http://schemas.microsoft.com/office/drawing/2014/main" id="{5EFE0490-4DB1-44DB-9A5F-2280C425EF62}"/>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4231E"/>
                </a:solidFill>
                <a:latin typeface="Arial"/>
                <a:ea typeface="Arial"/>
                <a:cs typeface="Arial"/>
              </a:defRPr>
            </a:defPPr>
            <a:lvl1pPr>
              <a:defRPr sz="2250" b="0">
                <a:solidFill>
                  <a:srgbClr val="14231E"/>
                </a:solidFill>
                <a:latin typeface="Arial"/>
                <a:ea typeface="Arial"/>
                <a:cs typeface="Arial"/>
              </a:defRPr>
            </a:lvl1pPr>
            <a:lvl2pPr>
              <a:defRPr sz="2250" b="0">
                <a:solidFill>
                  <a:srgbClr val="14231E"/>
                </a:solidFill>
                <a:latin typeface="Arial"/>
                <a:ea typeface="Arial"/>
                <a:cs typeface="Arial"/>
              </a:defRPr>
            </a:lvl2pPr>
            <a:lvl3pPr>
              <a:defRPr sz="2250" b="0">
                <a:solidFill>
                  <a:srgbClr val="14231E"/>
                </a:solidFill>
                <a:latin typeface="Arial"/>
                <a:ea typeface="Arial"/>
                <a:cs typeface="Arial"/>
              </a:defRPr>
            </a:lvl3pPr>
            <a:lvl4pPr>
              <a:defRPr sz="2250" b="0">
                <a:solidFill>
                  <a:srgbClr val="14231E"/>
                </a:solidFill>
                <a:latin typeface="Arial"/>
                <a:ea typeface="Arial"/>
                <a:cs typeface="Arial"/>
              </a:defRPr>
            </a:lvl4pPr>
            <a:lvl5pPr>
              <a:defRPr sz="2250" b="0">
                <a:solidFill>
                  <a:srgbClr val="14231E"/>
                </a:solidFill>
                <a:latin typeface="Arial"/>
                <a:ea typeface="Arial"/>
                <a:cs typeface="Arial"/>
              </a:defRPr>
            </a:lvl5pPr>
            <a:lvl6pPr>
              <a:defRPr sz="2250" b="0">
                <a:solidFill>
                  <a:srgbClr val="14231E"/>
                </a:solidFill>
                <a:latin typeface="Arial"/>
                <a:ea typeface="Arial"/>
                <a:cs typeface="Arial"/>
              </a:defRPr>
            </a:lvl6pPr>
            <a:lvl7pPr>
              <a:defRPr sz="2250" b="0">
                <a:solidFill>
                  <a:srgbClr val="14231E"/>
                </a:solidFill>
                <a:latin typeface="Arial"/>
                <a:ea typeface="Arial"/>
                <a:cs typeface="Arial"/>
              </a:defRPr>
            </a:lvl7pPr>
            <a:lvl8pPr>
              <a:defRPr sz="2250" b="0">
                <a:solidFill>
                  <a:srgbClr val="14231E"/>
                </a:solidFill>
                <a:latin typeface="Arial"/>
                <a:ea typeface="Arial"/>
                <a:cs typeface="Arial"/>
              </a:defRPr>
            </a:lvl8pPr>
            <a:lvl9pPr>
              <a:defRPr sz="2250" b="0">
                <a:solidFill>
                  <a:srgbClr val="14231E"/>
                </a:solidFill>
                <a:latin typeface="Arial"/>
                <a:ea typeface="Arial"/>
                <a:cs typeface="Arial"/>
              </a:defRPr>
            </a:lvl9pPr>
          </a:lstStyle>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1. No. Son evidencias distintas y se identifican por su alcance.</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2. Sí, si el formato lo explica; no debe presentarse como una adquisición reciente.</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3. Problema observado, cambio con motivo y prueba para contrastarlo.</a:t>
            </a:r>
          </a:p>
        </p:txBody>
      </p:sp>
    </p:spTree>
    <p:extLst>
      <p:ext uri="{BB962C8B-B14F-4D97-AF65-F5344CB8AC3E}">
        <p14:creationId xmlns:p14="http://schemas.microsoft.com/office/powerpoint/2010/main" val="2021727305"/>
      </p:ext>
    </p:extLst>
  </p:cSld>
</p:sld>
</file>

<file path=ppt/slides/slide48.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8401176-3438-4729-925F-9E831BE0B792}"/>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Entrega de la clase</a:t>
            </a:r>
          </a:p>
        </p:txBody>
      </p:sp>
      <p:pic>
        <p:nvPicPr>
          <p:cNvPr id="2" name="">
            <a:extLst xmlns:a="http://schemas.openxmlformats.org/drawingml/2006/main">
              <a:ext uri="{FF2B5EF4-FFF2-40B4-BE49-F238E27FC236}">
                <a16:creationId xmlns:a16="http://schemas.microsoft.com/office/drawing/2014/main" id="{0A723D0E-8102-427B-A137-0DA78C74D30C}"/>
              </a:ext>
            </a:extLst>
          </p:cNvPr>
          <p:cNvPicPr>
            <a:picLocks xmlns:a="http://schemas.openxmlformats.org/drawingml/2006/main" noChangeAspect="1"/>
          </p:cNvPicPr>
          <p:nvPr/>
        </p:nvPicPr>
        <p:blipFill>
          <a:blip xmlns:r="http://schemas.openxmlformats.org/officeDocument/2006/relationships" xmlns:a="http://schemas.openxmlformats.org/drawingml/2006/main" r:embed="R443b5274b9f44840"/>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273A711-70B8-4531-A7D8-85CBF40F5314}"/>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8   CLASE 16   24/24</a:t>
            </a:r>
          </a:p>
        </p:txBody>
      </p:sp>
      <p:sp>
        <p:nvSpPr>
          <p:cNvPr id="4" name="">
            <a:extLst xmlns:a="http://schemas.openxmlformats.org/drawingml/2006/main">
              <a:ext uri="{FF2B5EF4-FFF2-40B4-BE49-F238E27FC236}">
                <a16:creationId xmlns:a16="http://schemas.microsoft.com/office/drawing/2014/main" id="{B1437687-BEAE-4547-AE6A-98B3FD1F82C5}"/>
              </a:ext>
            </a:extLst>
          </p:cNvPr>
          <p:cNvSpPr>
            <a:spLocks xmlns:a="http://schemas.openxmlformats.org/drawingml/2006/main" noGrp="1"/>
          </p:cNvSpPr>
          <p:nvPr/>
        </p:nvSpPr>
        <p:spPr>
          <a:xfrm xmlns:a="http://schemas.openxmlformats.org/drawingml/2006/main">
            <a:off x="590550" y="1771650"/>
            <a:ext cx="10715625"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AEF4BB"/>
                </a:solidFill>
                <a:latin typeface="Arial"/>
                <a:ea typeface="Arial"/>
                <a:cs typeface="Arial"/>
              </a:defRPr>
            </a:defPPr>
            <a:lvl1pPr>
              <a:defRPr sz="2850" b="1">
                <a:solidFill>
                  <a:srgbClr val="AEF4BB"/>
                </a:solidFill>
                <a:latin typeface="Arial"/>
                <a:ea typeface="Arial"/>
                <a:cs typeface="Arial"/>
              </a:defRPr>
            </a:lvl1pPr>
            <a:lvl2pPr>
              <a:defRPr sz="2850" b="1">
                <a:solidFill>
                  <a:srgbClr val="AEF4BB"/>
                </a:solidFill>
                <a:latin typeface="Arial"/>
                <a:ea typeface="Arial"/>
                <a:cs typeface="Arial"/>
              </a:defRPr>
            </a:lvl2pPr>
            <a:lvl3pPr>
              <a:defRPr sz="2850" b="1">
                <a:solidFill>
                  <a:srgbClr val="AEF4BB"/>
                </a:solidFill>
                <a:latin typeface="Arial"/>
                <a:ea typeface="Arial"/>
                <a:cs typeface="Arial"/>
              </a:defRPr>
            </a:lvl3pPr>
            <a:lvl4pPr>
              <a:defRPr sz="2850" b="1">
                <a:solidFill>
                  <a:srgbClr val="AEF4BB"/>
                </a:solidFill>
                <a:latin typeface="Arial"/>
                <a:ea typeface="Arial"/>
                <a:cs typeface="Arial"/>
              </a:defRPr>
            </a:lvl4pPr>
            <a:lvl5pPr>
              <a:defRPr sz="2850" b="1">
                <a:solidFill>
                  <a:srgbClr val="AEF4BB"/>
                </a:solidFill>
                <a:latin typeface="Arial"/>
                <a:ea typeface="Arial"/>
                <a:cs typeface="Arial"/>
              </a:defRPr>
            </a:lvl5pPr>
            <a:lvl6pPr>
              <a:defRPr sz="2850" b="1">
                <a:solidFill>
                  <a:srgbClr val="AEF4BB"/>
                </a:solidFill>
                <a:latin typeface="Arial"/>
                <a:ea typeface="Arial"/>
                <a:cs typeface="Arial"/>
              </a:defRPr>
            </a:lvl6pPr>
            <a:lvl7pPr>
              <a:defRPr sz="2850" b="1">
                <a:solidFill>
                  <a:srgbClr val="AEF4BB"/>
                </a:solidFill>
                <a:latin typeface="Arial"/>
                <a:ea typeface="Arial"/>
                <a:cs typeface="Arial"/>
              </a:defRPr>
            </a:lvl7pPr>
            <a:lvl8pPr>
              <a:defRPr sz="2850" b="1">
                <a:solidFill>
                  <a:srgbClr val="AEF4BB"/>
                </a:solidFill>
                <a:latin typeface="Arial"/>
                <a:ea typeface="Arial"/>
                <a:cs typeface="Arial"/>
              </a:defRPr>
            </a:lvl8pPr>
            <a:lvl9pPr>
              <a:defRPr sz="2850" b="1">
                <a:solidFill>
                  <a:srgbClr val="AEF4BB"/>
                </a:solidFill>
                <a:latin typeface="Arial"/>
                <a:ea typeface="Arial"/>
                <a:cs typeface="Arial"/>
              </a:defRPr>
            </a:lvl9pPr>
          </a:lstStyle>
          <a:p xmlns:a="http://schemas.openxmlformats.org/drawingml/2006/main">
            <a:pPr>
              <a:defRPr sz="2850" b="1">
                <a:solidFill>
                  <a:srgbClr val="AEF4BB"/>
                </a:solidFill>
                <a:latin typeface="Arial"/>
                <a:ea typeface="Arial"/>
                <a:cs typeface="Arial"/>
              </a:defRPr>
            </a:pPr>
            <a:r>
              <a:rPr sz="2850" b="1">
                <a:solidFill>
                  <a:srgbClr val="AEF4BB"/>
                </a:solidFill>
                <a:latin typeface="Arial"/>
                <a:ea typeface="Arial"/>
                <a:cs typeface="Arial"/>
              </a:rPr>
              <a:t>Expediente final, matriz de pruebas, registro y defensa individual.</a:t>
            </a:r>
          </a:p>
        </p:txBody>
      </p:sp>
      <p:sp>
        <p:nvSpPr>
          <p:cNvPr id="5" name="">
            <a:extLst xmlns:a="http://schemas.openxmlformats.org/drawingml/2006/main">
              <a:ext uri="{FF2B5EF4-FFF2-40B4-BE49-F238E27FC236}">
                <a16:creationId xmlns:a16="http://schemas.microsoft.com/office/drawing/2014/main" id="{2C702587-195E-44E8-A090-2BE13CD88F67}"/>
              </a:ext>
            </a:extLst>
          </p:cNvPr>
          <p:cNvSpPr>
            <a:spLocks xmlns:a="http://schemas.openxmlformats.org/drawingml/2006/main" noGrp="1"/>
          </p:cNvSpPr>
          <p:nvPr/>
        </p:nvSpPr>
        <p:spPr>
          <a:xfrm xmlns:a="http://schemas.openxmlformats.org/drawingml/2006/main">
            <a:off x="590550" y="4476750"/>
            <a:ext cx="10715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CFCF8"/>
                </a:solidFill>
                <a:latin typeface="Arial"/>
                <a:ea typeface="Arial"/>
                <a:cs typeface="Arial"/>
              </a:defRPr>
            </a:defPPr>
            <a:lvl1pPr>
              <a:defRPr sz="2325" b="0">
                <a:solidFill>
                  <a:srgbClr val="FCFCF8"/>
                </a:solidFill>
                <a:latin typeface="Arial"/>
                <a:ea typeface="Arial"/>
                <a:cs typeface="Arial"/>
              </a:defRPr>
            </a:lvl1pPr>
            <a:lvl2pPr>
              <a:defRPr sz="2325" b="0">
                <a:solidFill>
                  <a:srgbClr val="FCFCF8"/>
                </a:solidFill>
                <a:latin typeface="Arial"/>
                <a:ea typeface="Arial"/>
                <a:cs typeface="Arial"/>
              </a:defRPr>
            </a:lvl2pPr>
            <a:lvl3pPr>
              <a:defRPr sz="2325" b="0">
                <a:solidFill>
                  <a:srgbClr val="FCFCF8"/>
                </a:solidFill>
                <a:latin typeface="Arial"/>
                <a:ea typeface="Arial"/>
                <a:cs typeface="Arial"/>
              </a:defRPr>
            </a:lvl3pPr>
            <a:lvl4pPr>
              <a:defRPr sz="2325" b="0">
                <a:solidFill>
                  <a:srgbClr val="FCFCF8"/>
                </a:solidFill>
                <a:latin typeface="Arial"/>
                <a:ea typeface="Arial"/>
                <a:cs typeface="Arial"/>
              </a:defRPr>
            </a:lvl4pPr>
            <a:lvl5pPr>
              <a:defRPr sz="2325" b="0">
                <a:solidFill>
                  <a:srgbClr val="FCFCF8"/>
                </a:solidFill>
                <a:latin typeface="Arial"/>
                <a:ea typeface="Arial"/>
                <a:cs typeface="Arial"/>
              </a:defRPr>
            </a:lvl5pPr>
            <a:lvl6pPr>
              <a:defRPr sz="2325" b="0">
                <a:solidFill>
                  <a:srgbClr val="FCFCF8"/>
                </a:solidFill>
                <a:latin typeface="Arial"/>
                <a:ea typeface="Arial"/>
                <a:cs typeface="Arial"/>
              </a:defRPr>
            </a:lvl6pPr>
            <a:lvl7pPr>
              <a:defRPr sz="2325" b="0">
                <a:solidFill>
                  <a:srgbClr val="FCFCF8"/>
                </a:solidFill>
                <a:latin typeface="Arial"/>
                <a:ea typeface="Arial"/>
                <a:cs typeface="Arial"/>
              </a:defRPr>
            </a:lvl7pPr>
            <a:lvl8pPr>
              <a:defRPr sz="2325" b="0">
                <a:solidFill>
                  <a:srgbClr val="FCFCF8"/>
                </a:solidFill>
                <a:latin typeface="Arial"/>
                <a:ea typeface="Arial"/>
                <a:cs typeface="Arial"/>
              </a:defRPr>
            </a:lvl8pPr>
            <a:lvl9pPr>
              <a:defRPr sz="2325" b="0">
                <a:solidFill>
                  <a:srgbClr val="FCFCF8"/>
                </a:solidFill>
                <a:latin typeface="Arial"/>
                <a:ea typeface="Arial"/>
                <a:cs typeface="Arial"/>
              </a:defRPr>
            </a:lvl9pPr>
          </a:lstStyle>
          <a:p xmlns:a="http://schemas.openxmlformats.org/drawingml/2006/main">
            <a:pPr>
              <a:defRPr sz="2325" b="0">
                <a:solidFill>
                  <a:srgbClr val="FCFCF8"/>
                </a:solidFill>
                <a:latin typeface="Arial"/>
                <a:ea typeface="Arial"/>
                <a:cs typeface="Arial"/>
              </a:defRPr>
            </a:pPr>
            <a:r>
              <a:rPr sz="2325" b="0">
                <a:solidFill>
                  <a:srgbClr val="FCFCF8"/>
                </a:solidFill>
                <a:latin typeface="Arial"/>
                <a:ea typeface="Arial"/>
                <a:cs typeface="Arial"/>
              </a:rPr>
              <a:t>Identifica versión, unidad y procedencia. Conserva la evidencia y explica qué probarías después.</a:t>
            </a:r>
          </a:p>
        </p:txBody>
      </p:sp>
    </p:spTree>
    <p:extLst>
      <p:ext uri="{BB962C8B-B14F-4D97-AF65-F5344CB8AC3E}">
        <p14:creationId xmlns:p14="http://schemas.microsoft.com/office/powerpoint/2010/main" val="4383930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2026-10-22T20:13:32.4430000Z</dcterms:created>
  <dcterms:modified xsi:type="dcterms:W3CDTF">2026-10-22T20:13:32.4430000Z</dcterms:modified>
</coreProperties>
</file>