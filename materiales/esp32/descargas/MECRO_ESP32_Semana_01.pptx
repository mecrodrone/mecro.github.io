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bccb4ed01f4d2c" /><Relationship Type="http://schemas.openxmlformats.org/officeDocument/2006/relationships/extended-properties" Target="/docProps/app.xml" Id="R87612dd24e564038" /><Relationship Type="http://schemas.openxmlformats.org/officeDocument/2006/relationships/officeDocument" Target="/ppt/presentation.xml" Id="R86e91f40e5b54c27" /></Relationships>
</file>

<file path=ppt/presentation.xml><?xml version="1.0" encoding="utf-8"?>
<p:presentation xmlns:p="http://schemas.openxmlformats.org/presentationml/2006/main">
  <p:sldMasterIdLst>
    <p:sldMasterId xmlns:r="http://schemas.openxmlformats.org/officeDocument/2006/relationships" id="2147483648" r:id="R1cd844e60791467f"/>
  </p:sldMasterIdLst>
  <p:notesMasterIdLst>
    <p:notesMasterId xmlns:r="http://schemas.openxmlformats.org/officeDocument/2006/relationships" r:id="R33990d60492848eb"/>
  </p:notesMasterIdLst>
  <p:sldIdLst>
    <p:sldId xmlns:r="http://schemas.openxmlformats.org/officeDocument/2006/relationships" id="256" r:id="R0ca27eb183ad4af2"/>
    <p:sldId xmlns:r="http://schemas.openxmlformats.org/officeDocument/2006/relationships" id="257" r:id="R1a9d1655e99f4ac8"/>
    <p:sldId xmlns:r="http://schemas.openxmlformats.org/officeDocument/2006/relationships" id="258" r:id="Re686b2665ac24ee3"/>
    <p:sldId xmlns:r="http://schemas.openxmlformats.org/officeDocument/2006/relationships" id="259" r:id="R888b59c7d3d44ba6"/>
    <p:sldId xmlns:r="http://schemas.openxmlformats.org/officeDocument/2006/relationships" id="260" r:id="Rb3e5601207c74268"/>
    <p:sldId xmlns:r="http://schemas.openxmlformats.org/officeDocument/2006/relationships" id="261" r:id="R89d5797d92a24db5"/>
    <p:sldId xmlns:r="http://schemas.openxmlformats.org/officeDocument/2006/relationships" id="262" r:id="R66f27063b61c4104"/>
    <p:sldId xmlns:r="http://schemas.openxmlformats.org/officeDocument/2006/relationships" id="263" r:id="R6a9042c3421e466e"/>
    <p:sldId xmlns:r="http://schemas.openxmlformats.org/officeDocument/2006/relationships" id="264" r:id="R6e0e155fcf124f83"/>
    <p:sldId xmlns:r="http://schemas.openxmlformats.org/officeDocument/2006/relationships" id="265" r:id="R17d3249186724cdc"/>
    <p:sldId xmlns:r="http://schemas.openxmlformats.org/officeDocument/2006/relationships" id="266" r:id="R09e779aad1af4783"/>
    <p:sldId xmlns:r="http://schemas.openxmlformats.org/officeDocument/2006/relationships" id="267" r:id="R8c7920c724694ed3"/>
    <p:sldId xmlns:r="http://schemas.openxmlformats.org/officeDocument/2006/relationships" id="268" r:id="R0874d809e1cd4f7b"/>
    <p:sldId xmlns:r="http://schemas.openxmlformats.org/officeDocument/2006/relationships" id="269" r:id="Rf4958d92415a4aa0"/>
    <p:sldId xmlns:r="http://schemas.openxmlformats.org/officeDocument/2006/relationships" id="270" r:id="R311c82cd59f9446e"/>
    <p:sldId xmlns:r="http://schemas.openxmlformats.org/officeDocument/2006/relationships" id="271" r:id="Rfe045125722c438c"/>
    <p:sldId xmlns:r="http://schemas.openxmlformats.org/officeDocument/2006/relationships" id="272" r:id="R9a3c0cae4c7340f0"/>
    <p:sldId xmlns:r="http://schemas.openxmlformats.org/officeDocument/2006/relationships" id="273" r:id="R1f86108a87e940e9"/>
    <p:sldId xmlns:r="http://schemas.openxmlformats.org/officeDocument/2006/relationships" id="274" r:id="R162599679fa24afe"/>
    <p:sldId xmlns:r="http://schemas.openxmlformats.org/officeDocument/2006/relationships" id="275" r:id="Rc4b25e18e2c24ced"/>
    <p:sldId xmlns:r="http://schemas.openxmlformats.org/officeDocument/2006/relationships" id="276" r:id="Rc16197446232416b"/>
    <p:sldId xmlns:r="http://schemas.openxmlformats.org/officeDocument/2006/relationships" id="277" r:id="Rdd890cd49f874990"/>
    <p:sldId xmlns:r="http://schemas.openxmlformats.org/officeDocument/2006/relationships" id="278" r:id="R876f30eb25ac4abe"/>
    <p:sldId xmlns:r="http://schemas.openxmlformats.org/officeDocument/2006/relationships" id="279" r:id="Rc0b225e2fce44345"/>
    <p:sldId xmlns:r="http://schemas.openxmlformats.org/officeDocument/2006/relationships" id="280" r:id="Rda17764e03ca4d6f"/>
    <p:sldId xmlns:r="http://schemas.openxmlformats.org/officeDocument/2006/relationships" id="281" r:id="R4c92b99858af4c9e"/>
    <p:sldId xmlns:r="http://schemas.openxmlformats.org/officeDocument/2006/relationships" id="282" r:id="R6a5486482f134ce2"/>
    <p:sldId xmlns:r="http://schemas.openxmlformats.org/officeDocument/2006/relationships" id="283" r:id="Rf991f87c46614786"/>
    <p:sldId xmlns:r="http://schemas.openxmlformats.org/officeDocument/2006/relationships" id="284" r:id="R1529c4c85c514629"/>
    <p:sldId xmlns:r="http://schemas.openxmlformats.org/officeDocument/2006/relationships" id="285" r:id="R8a67c488419e42f9"/>
    <p:sldId xmlns:r="http://schemas.openxmlformats.org/officeDocument/2006/relationships" id="286" r:id="R16921efef3014d75"/>
    <p:sldId xmlns:r="http://schemas.openxmlformats.org/officeDocument/2006/relationships" id="287" r:id="R9fd8a89aa7184887"/>
    <p:sldId xmlns:r="http://schemas.openxmlformats.org/officeDocument/2006/relationships" id="288" r:id="R69e7aadfa10f406f"/>
    <p:sldId xmlns:r="http://schemas.openxmlformats.org/officeDocument/2006/relationships" id="289" r:id="R66a2ff89bd874bd1"/>
    <p:sldId xmlns:r="http://schemas.openxmlformats.org/officeDocument/2006/relationships" id="290" r:id="R73cb276c14304125"/>
    <p:sldId xmlns:r="http://schemas.openxmlformats.org/officeDocument/2006/relationships" id="291" r:id="R49c214965b334822"/>
    <p:sldId xmlns:r="http://schemas.openxmlformats.org/officeDocument/2006/relationships" id="292" r:id="R99cecac8deac4d0f"/>
    <p:sldId xmlns:r="http://schemas.openxmlformats.org/officeDocument/2006/relationships" id="293" r:id="Rbf3dcbcda24a420d"/>
    <p:sldId xmlns:r="http://schemas.openxmlformats.org/officeDocument/2006/relationships" id="294" r:id="R4b966cefc2d043f2"/>
    <p:sldId xmlns:r="http://schemas.openxmlformats.org/officeDocument/2006/relationships" id="295" r:id="Rf655af489d464f35"/>
    <p:sldId xmlns:r="http://schemas.openxmlformats.org/officeDocument/2006/relationships" id="296" r:id="R1ea55a72682e430f"/>
    <p:sldId xmlns:r="http://schemas.openxmlformats.org/officeDocument/2006/relationships" id="297" r:id="R98750cf4db654f9c"/>
    <p:sldId xmlns:r="http://schemas.openxmlformats.org/officeDocument/2006/relationships" id="298" r:id="R92f62805f2444c2a"/>
    <p:sldId xmlns:r="http://schemas.openxmlformats.org/officeDocument/2006/relationships" id="299" r:id="R61fb32b8940943d2"/>
    <p:sldId xmlns:r="http://schemas.openxmlformats.org/officeDocument/2006/relationships" id="300" r:id="R4b4ac14389e1446b"/>
    <p:sldId xmlns:r="http://schemas.openxmlformats.org/officeDocument/2006/relationships" id="301" r:id="Reebbc4149002429d"/>
    <p:sldId xmlns:r="http://schemas.openxmlformats.org/officeDocument/2006/relationships" id="302" r:id="R0b103484fde6432b"/>
    <p:sldId xmlns:r="http://schemas.openxmlformats.org/officeDocument/2006/relationships" id="303" r:id="R5f11f46b4f734f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d51377f857d4ebb" /><Relationship Type="http://schemas.openxmlformats.org/officeDocument/2006/relationships/slideMaster" Target="/ppt/slideMasters/slideMaster1.xml" Id="R1cd844e60791467f" /><Relationship Type="http://schemas.openxmlformats.org/officeDocument/2006/relationships/notesMaster" Target="/ppt/notesMasters/notesMaster1.xml" Id="R33990d60492848eb" /><Relationship Type="http://schemas.openxmlformats.org/officeDocument/2006/relationships/presProps" Target="/ppt/presProps.xml" Id="Rbdb063758d2c4648" /><Relationship Type="http://schemas.openxmlformats.org/officeDocument/2006/relationships/tableStyles" Target="/ppt/tableStyles.xml" Id="R6343156fd5fb44c4" /><Relationship Type="http://schemas.openxmlformats.org/officeDocument/2006/relationships/slide" Target="/ppt/slides/slide1.xml" Id="R0ca27eb183ad4af2" /><Relationship Type="http://schemas.openxmlformats.org/officeDocument/2006/relationships/slide" Target="/ppt/slides/slide2.xml" Id="R1a9d1655e99f4ac8" /><Relationship Type="http://schemas.openxmlformats.org/officeDocument/2006/relationships/slide" Target="/ppt/slides/slide3.xml" Id="Re686b2665ac24ee3" /><Relationship Type="http://schemas.openxmlformats.org/officeDocument/2006/relationships/slide" Target="/ppt/slides/slide4.xml" Id="R888b59c7d3d44ba6" /><Relationship Type="http://schemas.openxmlformats.org/officeDocument/2006/relationships/slide" Target="/ppt/slides/slide5.xml" Id="Rb3e5601207c74268" /><Relationship Type="http://schemas.openxmlformats.org/officeDocument/2006/relationships/slide" Target="/ppt/slides/slide6.xml" Id="R89d5797d92a24db5" /><Relationship Type="http://schemas.openxmlformats.org/officeDocument/2006/relationships/slide" Target="/ppt/slides/slide7.xml" Id="R66f27063b61c4104" /><Relationship Type="http://schemas.openxmlformats.org/officeDocument/2006/relationships/slide" Target="/ppt/slides/slide8.xml" Id="R6a9042c3421e466e" /><Relationship Type="http://schemas.openxmlformats.org/officeDocument/2006/relationships/slide" Target="/ppt/slides/slide9.xml" Id="R6e0e155fcf124f83" /><Relationship Type="http://schemas.openxmlformats.org/officeDocument/2006/relationships/slide" Target="/ppt/slides/slide10.xml" Id="R17d3249186724cdc" /><Relationship Type="http://schemas.openxmlformats.org/officeDocument/2006/relationships/slide" Target="/ppt/slides/slide11.xml" Id="R09e779aad1af4783" /><Relationship Type="http://schemas.openxmlformats.org/officeDocument/2006/relationships/slide" Target="/ppt/slides/slide12.xml" Id="R8c7920c724694ed3" /><Relationship Type="http://schemas.openxmlformats.org/officeDocument/2006/relationships/slide" Target="/ppt/slides/slide13.xml" Id="R0874d809e1cd4f7b" /><Relationship Type="http://schemas.openxmlformats.org/officeDocument/2006/relationships/slide" Target="/ppt/slides/slide14.xml" Id="Rf4958d92415a4aa0" /><Relationship Type="http://schemas.openxmlformats.org/officeDocument/2006/relationships/slide" Target="/ppt/slides/slide15.xml" Id="R311c82cd59f9446e" /><Relationship Type="http://schemas.openxmlformats.org/officeDocument/2006/relationships/slide" Target="/ppt/slides/slide16.xml" Id="Rfe045125722c438c" /><Relationship Type="http://schemas.openxmlformats.org/officeDocument/2006/relationships/slide" Target="/ppt/slides/slide17.xml" Id="R9a3c0cae4c7340f0" /><Relationship Type="http://schemas.openxmlformats.org/officeDocument/2006/relationships/slide" Target="/ppt/slides/slide18.xml" Id="R1f86108a87e940e9" /><Relationship Type="http://schemas.openxmlformats.org/officeDocument/2006/relationships/slide" Target="/ppt/slides/slide19.xml" Id="R162599679fa24afe" /><Relationship Type="http://schemas.openxmlformats.org/officeDocument/2006/relationships/slide" Target="/ppt/slides/slide20.xml" Id="Rc4b25e18e2c24ced" /><Relationship Type="http://schemas.openxmlformats.org/officeDocument/2006/relationships/slide" Target="/ppt/slides/slide21.xml" Id="Rc16197446232416b" /><Relationship Type="http://schemas.openxmlformats.org/officeDocument/2006/relationships/slide" Target="/ppt/slides/slide22.xml" Id="Rdd890cd49f874990" /><Relationship Type="http://schemas.openxmlformats.org/officeDocument/2006/relationships/slide" Target="/ppt/slides/slide23.xml" Id="R876f30eb25ac4abe" /><Relationship Type="http://schemas.openxmlformats.org/officeDocument/2006/relationships/slide" Target="/ppt/slides/slide24.xml" Id="Rc0b225e2fce44345" /><Relationship Type="http://schemas.openxmlformats.org/officeDocument/2006/relationships/slide" Target="/ppt/slides/slide25.xml" Id="Rda17764e03ca4d6f" /><Relationship Type="http://schemas.openxmlformats.org/officeDocument/2006/relationships/slide" Target="/ppt/slides/slide26.xml" Id="R4c92b99858af4c9e" /><Relationship Type="http://schemas.openxmlformats.org/officeDocument/2006/relationships/slide" Target="/ppt/slides/slide27.xml" Id="R6a5486482f134ce2" /><Relationship Type="http://schemas.openxmlformats.org/officeDocument/2006/relationships/slide" Target="/ppt/slides/slide28.xml" Id="Rf991f87c46614786" /><Relationship Type="http://schemas.openxmlformats.org/officeDocument/2006/relationships/slide" Target="/ppt/slides/slide29.xml" Id="R1529c4c85c514629" /><Relationship Type="http://schemas.openxmlformats.org/officeDocument/2006/relationships/slide" Target="/ppt/slides/slide30.xml" Id="R8a67c488419e42f9" /><Relationship Type="http://schemas.openxmlformats.org/officeDocument/2006/relationships/slide" Target="/ppt/slides/slide31.xml" Id="R16921efef3014d75" /><Relationship Type="http://schemas.openxmlformats.org/officeDocument/2006/relationships/slide" Target="/ppt/slides/slide32.xml" Id="R9fd8a89aa7184887" /><Relationship Type="http://schemas.openxmlformats.org/officeDocument/2006/relationships/slide" Target="/ppt/slides/slide33.xml" Id="R69e7aadfa10f406f" /><Relationship Type="http://schemas.openxmlformats.org/officeDocument/2006/relationships/slide" Target="/ppt/slides/slide34.xml" Id="R66a2ff89bd874bd1" /><Relationship Type="http://schemas.openxmlformats.org/officeDocument/2006/relationships/slide" Target="/ppt/slides/slide35.xml" Id="R73cb276c14304125" /><Relationship Type="http://schemas.openxmlformats.org/officeDocument/2006/relationships/slide" Target="/ppt/slides/slide36.xml" Id="R49c214965b334822" /><Relationship Type="http://schemas.openxmlformats.org/officeDocument/2006/relationships/slide" Target="/ppt/slides/slide37.xml" Id="R99cecac8deac4d0f" /><Relationship Type="http://schemas.openxmlformats.org/officeDocument/2006/relationships/slide" Target="/ppt/slides/slide38.xml" Id="Rbf3dcbcda24a420d" /><Relationship Type="http://schemas.openxmlformats.org/officeDocument/2006/relationships/slide" Target="/ppt/slides/slide39.xml" Id="R4b966cefc2d043f2" /><Relationship Type="http://schemas.openxmlformats.org/officeDocument/2006/relationships/slide" Target="/ppt/slides/slide40.xml" Id="Rf655af489d464f35" /><Relationship Type="http://schemas.openxmlformats.org/officeDocument/2006/relationships/slide" Target="/ppt/slides/slide41.xml" Id="R1ea55a72682e430f" /><Relationship Type="http://schemas.openxmlformats.org/officeDocument/2006/relationships/slide" Target="/ppt/slides/slide42.xml" Id="R98750cf4db654f9c" /><Relationship Type="http://schemas.openxmlformats.org/officeDocument/2006/relationships/slide" Target="/ppt/slides/slide43.xml" Id="R92f62805f2444c2a" /><Relationship Type="http://schemas.openxmlformats.org/officeDocument/2006/relationships/slide" Target="/ppt/slides/slide44.xml" Id="R61fb32b8940943d2" /><Relationship Type="http://schemas.openxmlformats.org/officeDocument/2006/relationships/slide" Target="/ppt/slides/slide45.xml" Id="R4b4ac14389e1446b" /><Relationship Type="http://schemas.openxmlformats.org/officeDocument/2006/relationships/slide" Target="/ppt/slides/slide46.xml" Id="Reebbc4149002429d" /><Relationship Type="http://schemas.openxmlformats.org/officeDocument/2006/relationships/slide" Target="/ppt/slides/slide47.xml" Id="R0b103484fde6432b" /><Relationship Type="http://schemas.openxmlformats.org/officeDocument/2006/relationships/slide" Target="/ppt/slides/slide48.xml" Id="R5f11f46b4f734f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94c6b81e77493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a93ff8f31a47ab" /><Relationship Type="http://schemas.openxmlformats.org/officeDocument/2006/relationships/notesMaster" Target="/ppt/notesMasters/notesMaster1.xml" Id="Rbe70f886482241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d5340ff9654816" /><Relationship Type="http://schemas.openxmlformats.org/officeDocument/2006/relationships/notesMaster" Target="/ppt/notesMasters/notesMaster1.xml" Id="Rd68e167db53c43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d80dbbb65249f3" /><Relationship Type="http://schemas.openxmlformats.org/officeDocument/2006/relationships/notesMaster" Target="/ppt/notesMasters/notesMaster1.xml" Id="Rc91120b6785644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fd408ea635482c" /><Relationship Type="http://schemas.openxmlformats.org/officeDocument/2006/relationships/notesMaster" Target="/ppt/notesMasters/notesMaster1.xml" Id="R616ecf71d78b49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1e464f32744d90" /><Relationship Type="http://schemas.openxmlformats.org/officeDocument/2006/relationships/notesMaster" Target="/ppt/notesMasters/notesMaster1.xml" Id="Rbad9c3559d3d47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e8d03628194d22" /><Relationship Type="http://schemas.openxmlformats.org/officeDocument/2006/relationships/notesMaster" Target="/ppt/notesMasters/notesMaster1.xml" Id="R4d00a85b6a9041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7270edb54542b6" /><Relationship Type="http://schemas.openxmlformats.org/officeDocument/2006/relationships/notesMaster" Target="/ppt/notesMasters/notesMaster1.xml" Id="R5848fe81738c4c6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576df999dc4064" /><Relationship Type="http://schemas.openxmlformats.org/officeDocument/2006/relationships/notesMaster" Target="/ppt/notesMasters/notesMaster1.xml" Id="Rac14169a5bc442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4f31400f5d40d5" /><Relationship Type="http://schemas.openxmlformats.org/officeDocument/2006/relationships/notesMaster" Target="/ppt/notesMasters/notesMaster1.xml" Id="R9ef998e68a354e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facd37660f47a0" /><Relationship Type="http://schemas.openxmlformats.org/officeDocument/2006/relationships/notesMaster" Target="/ppt/notesMasters/notesMaster1.xml" Id="Rc8dfb73e7e9b4ec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95cf827a5f4adc" /><Relationship Type="http://schemas.openxmlformats.org/officeDocument/2006/relationships/notesMaster" Target="/ppt/notesMasters/notesMaster1.xml" Id="Rb8d3281aa3ff40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98470223114453" /><Relationship Type="http://schemas.openxmlformats.org/officeDocument/2006/relationships/notesMaster" Target="/ppt/notesMasters/notesMaster1.xml" Id="Rcfbfc4f20d6048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e2649d1ba8f41ae" /><Relationship Type="http://schemas.openxmlformats.org/officeDocument/2006/relationships/notesMaster" Target="/ppt/notesMasters/notesMaster1.xml" Id="R1e35c3eb113a461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8161071a2f475a" /><Relationship Type="http://schemas.openxmlformats.org/officeDocument/2006/relationships/notesMaster" Target="/ppt/notesMasters/notesMaster1.xml" Id="R7a8b3cb4bcf145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0ae30d843b4eec" /><Relationship Type="http://schemas.openxmlformats.org/officeDocument/2006/relationships/notesMaster" Target="/ppt/notesMasters/notesMaster1.xml" Id="Rea26f8e3028449c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fb9cd13e1b4b3b" /><Relationship Type="http://schemas.openxmlformats.org/officeDocument/2006/relationships/notesMaster" Target="/ppt/notesMasters/notesMaster1.xml" Id="R0e97d4e93fb04f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6fe1049a3e44ba" /><Relationship Type="http://schemas.openxmlformats.org/officeDocument/2006/relationships/notesMaster" Target="/ppt/notesMasters/notesMaster1.xml" Id="Rcb988c46a6d4449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e329b6b3a747ae" /><Relationship Type="http://schemas.openxmlformats.org/officeDocument/2006/relationships/notesMaster" Target="/ppt/notesMasters/notesMaster1.xml" Id="R084982c220bb43e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7accd11be04e23" /><Relationship Type="http://schemas.openxmlformats.org/officeDocument/2006/relationships/notesMaster" Target="/ppt/notesMasters/notesMaster1.xml" Id="R369f633c288343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bb2cde23be4877" /><Relationship Type="http://schemas.openxmlformats.org/officeDocument/2006/relationships/notesMaster" Target="/ppt/notesMasters/notesMaster1.xml" Id="R905876994a0e43b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514b582714467a" /><Relationship Type="http://schemas.openxmlformats.org/officeDocument/2006/relationships/notesMaster" Target="/ppt/notesMasters/notesMaster1.xml" Id="Rfe7b2141f99a400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6723021529c4e06" /><Relationship Type="http://schemas.openxmlformats.org/officeDocument/2006/relationships/notesMaster" Target="/ppt/notesMasters/notesMaster1.xml" Id="Rd3516eea572543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bac2034afb1460e" /><Relationship Type="http://schemas.openxmlformats.org/officeDocument/2006/relationships/notesMaster" Target="/ppt/notesMasters/notesMaster1.xml" Id="R17ac08d8668b4c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43ce9cc1b6448ba" /><Relationship Type="http://schemas.openxmlformats.org/officeDocument/2006/relationships/notesMaster" Target="/ppt/notesMasters/notesMaster1.xml" Id="R0b3eb439f48d45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c167cd24f2a4d20" /><Relationship Type="http://schemas.openxmlformats.org/officeDocument/2006/relationships/notesMaster" Target="/ppt/notesMasters/notesMaster1.xml" Id="Rd659008d0a8045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6861bf392fe49bf" /><Relationship Type="http://schemas.openxmlformats.org/officeDocument/2006/relationships/notesMaster" Target="/ppt/notesMasters/notesMaster1.xml" Id="R0528ebb5f2bf4f1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f767a7b5254b2c" /><Relationship Type="http://schemas.openxmlformats.org/officeDocument/2006/relationships/notesMaster" Target="/ppt/notesMasters/notesMaster1.xml" Id="R755f22dbe5694b0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c9bd9f111454790" /><Relationship Type="http://schemas.openxmlformats.org/officeDocument/2006/relationships/notesMaster" Target="/ppt/notesMasters/notesMaster1.xml" Id="R6658f80628bc4a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91ea27ba2a34a52" /><Relationship Type="http://schemas.openxmlformats.org/officeDocument/2006/relationships/notesMaster" Target="/ppt/notesMasters/notesMaster1.xml" Id="R3e77364d3bf6406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7c5d9f70da74b33" /><Relationship Type="http://schemas.openxmlformats.org/officeDocument/2006/relationships/notesMaster" Target="/ppt/notesMasters/notesMaster1.xml" Id="Ra09d187c3830416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62298fc622f4bab" /><Relationship Type="http://schemas.openxmlformats.org/officeDocument/2006/relationships/notesMaster" Target="/ppt/notesMasters/notesMaster1.xml" Id="R8be98bf563ff427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55dad2a05e34341" /><Relationship Type="http://schemas.openxmlformats.org/officeDocument/2006/relationships/notesMaster" Target="/ppt/notesMasters/notesMaster1.xml" Id="R4fa7fc83cdd444d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d157af4c8874829" /><Relationship Type="http://schemas.openxmlformats.org/officeDocument/2006/relationships/notesMaster" Target="/ppt/notesMasters/notesMaster1.xml" Id="Rf3513f45ea3a4ba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8462dae673e4294" /><Relationship Type="http://schemas.openxmlformats.org/officeDocument/2006/relationships/notesMaster" Target="/ppt/notesMasters/notesMaster1.xml" Id="R0da0c1d96f6d47c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9a2eb3b75584676" /><Relationship Type="http://schemas.openxmlformats.org/officeDocument/2006/relationships/notesMaster" Target="/ppt/notesMasters/notesMaster1.xml" Id="R86934f6db118455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3efbf1a29e2461e" /><Relationship Type="http://schemas.openxmlformats.org/officeDocument/2006/relationships/notesMaster" Target="/ppt/notesMasters/notesMaster1.xml" Id="R37e383b09a084b8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9ad087dd75b43b2" /><Relationship Type="http://schemas.openxmlformats.org/officeDocument/2006/relationships/notesMaster" Target="/ppt/notesMasters/notesMaster1.xml" Id="Ra867b1bb67f1463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45b5e431d44fa1" /><Relationship Type="http://schemas.openxmlformats.org/officeDocument/2006/relationships/notesMaster" Target="/ppt/notesMasters/notesMaster1.xml" Id="R81f3ae3d6dd1409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bdaebfdbf814f58" /><Relationship Type="http://schemas.openxmlformats.org/officeDocument/2006/relationships/notesMaster" Target="/ppt/notesMasters/notesMaster1.xml" Id="R9afb59259c514c4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97f1cc4daaf4fdd" /><Relationship Type="http://schemas.openxmlformats.org/officeDocument/2006/relationships/notesMaster" Target="/ppt/notesMasters/notesMaster1.xml" Id="R39b0b881d7e6466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db7270465d94423" /><Relationship Type="http://schemas.openxmlformats.org/officeDocument/2006/relationships/notesMaster" Target="/ppt/notesMasters/notesMaster1.xml" Id="Rb370d5e4ee084c0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39d0af9326a46af" /><Relationship Type="http://schemas.openxmlformats.org/officeDocument/2006/relationships/notesMaster" Target="/ppt/notesMasters/notesMaster1.xml" Id="Rd7cba8102ddc4f6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7ea704d8d654c88" /><Relationship Type="http://schemas.openxmlformats.org/officeDocument/2006/relationships/notesMaster" Target="/ppt/notesMasters/notesMaster1.xml" Id="R2b15d177a91d4b8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6df1a414baa44010" /><Relationship Type="http://schemas.openxmlformats.org/officeDocument/2006/relationships/notesMaster" Target="/ppt/notesMasters/notesMaster1.xml" Id="R13909cf674ce4fd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7e17c883b37496d" /><Relationship Type="http://schemas.openxmlformats.org/officeDocument/2006/relationships/notesMaster" Target="/ppt/notesMasters/notesMaster1.xml" Id="Rabbf673bd3f34e7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f57514389cf4f30" /><Relationship Type="http://schemas.openxmlformats.org/officeDocument/2006/relationships/notesMaster" Target="/ppt/notesMasters/notesMaster1.xml" Id="R8300d191e3c34a7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a7ffd034ccd44f0" /><Relationship Type="http://schemas.openxmlformats.org/officeDocument/2006/relationships/notesMaster" Target="/ppt/notesMasters/notesMaster1.xml" Id="R4c76ac2c457b4f7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796b9bad1084c4a" /><Relationship Type="http://schemas.openxmlformats.org/officeDocument/2006/relationships/notesMaster" Target="/ppt/notesMasters/notesMaster1.xml" Id="R071ae407c72545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la placa y seguir el camino de corriente antes de abrir el programa.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El primer objeto del curso es un LED externo con su resistencia. Parece sencillo, pero reúne las cuatro decisiones que repetiremos: de dónde sale la energía, por dónde circula la corriente, qué señal controla el comportamiento y cómo comprobaremos el resultado. El ESP32 es un microcontrolador: ejecuta instrucciones y dispone de periféricos para relacionarlas con entradas y salidas. La placa de desarrollo añade alimentación, conexiones y una interfaz de programación. El módulo metálico y el conector USB cumplen funciones diferentes.</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Identifica el texto del módulo antes de elegir la placa en el entorno. El curso usa ESP32 clásico, confirmado para el kit MECRO. Una placa S3 requiere otra selección y otro mapa de pines. En el protoboard, los grupos de contactos y los rieles de alimentación no son todos continuos. Con el circuito desconectado, sigue con el dedo el camino GPIO, resistencia, LED y GND. Si el camino termina en una fila sin continuidad, ningún cambio de código lo completará.</a:t>
            </a:r>
          </a:p>
          <a:p xmlns:a="http://schemas.openxmlformats.org/drawingml/2006/main">
            <a:r>
              <a:t/>
            </a:r>
          </a:p>
          <a:p xmlns:a="http://schemas.openxmlformats.org/drawingml/2006/main">
            <a:r>
              <a:t>La referencia GND permite interpretar el voltaje de una señal. Medir 3,3 V significa medir una diferencia respecto a esa referencia; no significa que el pin pueda entregar cualquier corriente. Un GPIO representa una orden de baja potencia. Durante las primeras prácticas separaremos esa función de la energía que necesitan servos y motores. Esta distinción será fundamental al reconocer el controlador, los ESC y la batería de un dron.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El primer objeto del curso es un LED externo con su resistencia. Parece sencillo, pero reúne las cuatro decisiones que repetiremos: de dónde sale la energía, por dónde circula la corriente, qué señal controla el comportamiento y cómo comprobaremos el resultado. El ESP32 es un microcontrolador: ejecuta instrucciones y dispone de periféricos para relacionarlas con entradas y salidas. La placa de desarrollo añade alimentación, conexiones y una interfaz de programación. El módulo metálico y el conector USB cumplen funciones diferentes.</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Identifica el texto del módulo antes de elegir la placa en el entorno. El curso usa ESP32 clásico, confirmado para el kit MECRO. Una placa S3 requiere otra selección y otro mapa de pines. En el protoboard, los grupos de contactos y los rieles de alimentación no son todos continuos. Con el circuito desconectado, sigue con el dedo el camino GPIO, resistencia, LED y GND. Si el camino termina en una fila sin continuidad, ningún cambio de código lo completará.</a:t>
            </a:r>
          </a:p>
          <a:p xmlns:a="http://schemas.openxmlformats.org/drawingml/2006/main">
            <a:r>
              <a:t/>
            </a:r>
          </a:p>
          <a:p xmlns:a="http://schemas.openxmlformats.org/drawingml/2006/main">
            <a:r>
              <a:t>La referencia GND permite interpretar el voltaje de una señal. Medir 3,3 V significa medir una diferencia respecto a esa referencia; no significa que el pin pueda entregar cualquier corriente. Un GPIO representa una orden de baja potencia. Durante las primeras prácticas separaremos esa función de la energía que necesitan servos y motores. Esta distinción será fundamental al reconocer el controlador, los ESC y la batería de un dron.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El primer objeto del curso es un LED externo con su resistencia. Parece sencillo, pero reúne las cuatro decisiones que repetiremos: de dónde sale la energía, por dónde circula la corriente, qué señal controla el comportamiento y cómo comprobaremos el resultado. El ESP32 es un microcontrolador: ejecuta instrucciones y dispone de periféricos para relacionarlas con entradas y salidas. La placa de desarrollo añade alimentación, conexiones y una interfaz de programación. El módulo metálico y el conector USB cumplen funciones diferentes.</a:t>
            </a:r>
          </a:p>
          <a:p xmlns:a="http://schemas.openxmlformats.org/drawingml/2006/main">
            <a:r>
              <a:t/>
            </a:r>
          </a:p>
          <a:p xmlns:a="http://schemas.openxmlformats.org/drawingml/2006/main">
            <a:r>
              <a:t>MECRO, proyecto 01.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Identifica el texto del módulo antes de elegir la placa en el entorno. El curso usa ESP32 clásico, confirmado para el kit MECRO. Una placa S3 requiere otra selección y otro mapa de pines. En el protoboard, los grupos de contactos y los rieles de alimentación no son todos continuos. Con el circuito desconectado, sigue con el dedo el camino GPIO, resistencia, LED y GND. Si el camino termina en una fila sin continuidad, ningún cambio de código lo completará.</a:t>
            </a:r>
          </a:p>
          <a:p xmlns:a="http://schemas.openxmlformats.org/drawingml/2006/main">
            <a:r>
              <a:t/>
            </a:r>
          </a:p>
          <a:p xmlns:a="http://schemas.openxmlformats.org/drawingml/2006/main">
            <a:r>
              <a:t>La referencia GND permite interpretar el voltaje de una señal. Medir 3,3 V significa medir una diferencia respecto a esa referencia; no significa que el pin pueda entregar cualquier corriente. Un GPIO representa una orden de baja potencia. Durante las primeras prácticas separaremos esa función de la energía que necesitan servos y motores. Esta distinción será fundamental al reconocer el controlador, los ESC y la batería de un dron.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El voltaje expresa diferencia de potencial y se mide en voltios. La corriente expresa flujo de carga y se mide en amperios. La resistencia relaciona ambos en un elemento resistivo bajo el modelo que usamos en clase. La analogía del agua ayuda a imaginar presión y caudal, pero el circuito se resuelve con magnitudes eléctricas. La corriente se expresa con frecuencia en miliamperios: 5 mA son 0,005 A. Convertir correctamente la unidad evita seleccionar una resistencia mil veces distinta.</a:t>
            </a:r>
          </a:p>
          <a:p xmlns:a="http://schemas.openxmlformats.org/drawingml/2006/main">
            <a:r>
              <a:t/>
            </a:r>
          </a:p>
          <a:p xmlns:a="http://schemas.openxmlformats.org/drawingml/2006/main">
            <a:r>
              <a:t>La ley de Ohm se aplica a la resistencia. El LED tiene una caída de tensión propia; no es una resistencia ideal.</a:t>
            </a:r>
          </a:p>
          <a:p xmlns:a="http://schemas.openxmlformats.org/drawingml/2006/main">
            <a:r>
              <a:t/>
            </a:r>
          </a:p>
          <a:p xmlns:a="http://schemas.openxmlformats.org/drawingml/2006/main">
            <a:r>
              <a:t>Magnitud / Unidad / Qué pregunta responde</a:t>
            </a:r>
          </a:p>
          <a:p xmlns:a="http://schemas.openxmlformats.org/drawingml/2006/main">
            <a:r>
              <a:t>Voltaje / V / Diferencia entre dos nodos</a:t>
            </a:r>
          </a:p>
          <a:p xmlns:a="http://schemas.openxmlformats.org/drawingml/2006/main">
            <a:r>
              <a:t>Corriente / A o mA / Cuánta carga circula</a:t>
            </a:r>
          </a:p>
          <a:p xmlns:a="http://schemas.openxmlformats.org/drawingml/2006/main">
            <a:r>
              <a:t>Resistencia / ohm / Relación V/I del resistor</a:t>
            </a:r>
          </a:p>
          <a:p xmlns:a="http://schemas.openxmlformats.org/drawingml/2006/main">
            <a:r>
              <a:t>Potencia / W / Energía por segundo</a:t>
            </a:r>
          </a:p>
          <a:p xmlns:a="http://schemas.openxmlformats.org/drawingml/2006/main">
            <a:r>
              <a:t/>
            </a:r>
          </a:p>
          <a:p xmlns:a="http://schemas.openxmlformats.org/drawingml/2006/main">
            <a:r>
              <a:t>El LED tiene polaridad y una curva corriente–tensión. Para el cálculo inicial tomamos una caída de tensión aproximada del componente y dejamos el resto a la resistencia. Esa aproximación debe declararse: un LED rojo y uno azul no tienen necesariamente la misma caída. El valor que medimos en el GPIO también puede diferir del ideal cuando entrega corriente. El cálculo sirve para proponer el circuito y la medición sirve para contrastar la propuesta.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Magnitud / Unidad / Qué pregunta responde</a:t>
            </a:r>
          </a:p>
          <a:p xmlns:a="http://schemas.openxmlformats.org/drawingml/2006/main">
            <a:r>
              <a:t>Voltaje / V / Diferencia entre dos nodos</a:t>
            </a:r>
          </a:p>
          <a:p xmlns:a="http://schemas.openxmlformats.org/drawingml/2006/main">
            <a:r>
              <a:t>Corriente / A o mA / Cuánta carga circula</a:t>
            </a:r>
          </a:p>
          <a:p xmlns:a="http://schemas.openxmlformats.org/drawingml/2006/main">
            <a:r>
              <a:t>Resistencia / ohm / Relación V/I del resistor</a:t>
            </a:r>
          </a:p>
          <a:p xmlns:a="http://schemas.openxmlformats.org/drawingml/2006/main">
            <a:r>
              <a:t>Potencia / W / Energía por segundo</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El voltaje expresa diferencia de potencial y se mide en voltios. La corriente expresa flujo de carga y se mide en amperios. La resistencia relaciona ambos en un elemento resistivo bajo el modelo que usamos en clase. La analogía del agua ayuda a imaginar presión y caudal, pero el circuito se resuelve con magnitudes eléctricas. La corriente se expresa con frecuencia en miliamperios: 5 mA son 0,005 A. Convertir correctamente la unidad evita seleccionar una resistencia mil veces distinta.</a:t>
            </a:r>
          </a:p>
          <a:p xmlns:a="http://schemas.openxmlformats.org/drawingml/2006/main">
            <a:r>
              <a:t/>
            </a:r>
          </a:p>
          <a:p xmlns:a="http://schemas.openxmlformats.org/drawingml/2006/main">
            <a:r>
              <a:t>La ley de Ohm se aplica a la resistencia. El LED tiene una caída de tensión propia; no es una resistencia ideal.</a:t>
            </a:r>
          </a:p>
          <a:p xmlns:a="http://schemas.openxmlformats.org/drawingml/2006/main">
            <a:r>
              <a:t/>
            </a:r>
          </a:p>
          <a:p xmlns:a="http://schemas.openxmlformats.org/drawingml/2006/main">
            <a:r>
              <a:t>Magnitud / Unidad / Qué pregunta responde</a:t>
            </a:r>
          </a:p>
          <a:p xmlns:a="http://schemas.openxmlformats.org/drawingml/2006/main">
            <a:r>
              <a:t>Voltaje / V / Diferencia entre dos nodos</a:t>
            </a:r>
          </a:p>
          <a:p xmlns:a="http://schemas.openxmlformats.org/drawingml/2006/main">
            <a:r>
              <a:t>Corriente / A o mA / Cuánta carga circula</a:t>
            </a:r>
          </a:p>
          <a:p xmlns:a="http://schemas.openxmlformats.org/drawingml/2006/main">
            <a:r>
              <a:t>Resistencia / ohm / Relación V/I del resistor</a:t>
            </a:r>
          </a:p>
          <a:p xmlns:a="http://schemas.openxmlformats.org/drawingml/2006/main">
            <a:r>
              <a:t>Potencia / W / Energía por segundo</a:t>
            </a:r>
          </a:p>
          <a:p xmlns:a="http://schemas.openxmlformats.org/drawingml/2006/main">
            <a:r>
              <a:t/>
            </a:r>
          </a:p>
          <a:p xmlns:a="http://schemas.openxmlformats.org/drawingml/2006/main">
            <a:r>
              <a:t>El LED tiene polaridad y una curva corriente–tensión. Para el cálculo inicial tomamos una caída de tensión aproximada del componente y dejamos el resto a la resistencia. Esa aproximación debe declararse: un LED rojo y uno azul no tienen necesariamente la misma caída. El valor que medimos en el GPIO también puede diferir del ideal cuando entrega corriente. El cálculo sirve para proponer el circuito y la medición sirve para contrastar la propuesta.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Supón GPIO de 3,3 V, LED con caída aproximada de 2,0 V y objetivo de 5 mA. ¿Qué resistencia propones?</a:t>
            </a:r>
          </a:p>
          <a:p xmlns:a="http://schemas.openxmlformats.org/drawingml/2006/main">
            <a:r>
              <a:t>La resistencia recibe 1,3 V. R = 1,3 / 0,005 = 260 ohm. Con 330 ohm, la corriente ideal sería 1,3 / 330 = 3,94 mA. La potencia del resistor sería aproximadamente 5,1 mW. Son cifras del modelo de aula; se comprueban con las piezas reales.</a:t>
            </a:r>
          </a:p>
          <a:p xmlns:a="http://schemas.openxmlformats.org/drawingml/2006/main">
            <a:r>
              <a:t/>
            </a:r>
          </a:p>
          <a:p xmlns:a="http://schemas.openxmlformats.org/drawingml/2006/main">
            <a:r>
              <a:t>Se elige un valor comercial razonable y se comprueba el conjunto, sin tratar el límite absoluto de un pin como corriente de trabajo.</a:t>
            </a:r>
          </a:p>
          <a:p xmlns:a="http://schemas.openxmlformats.org/drawingml/2006/main">
            <a:r>
              <a:t/>
            </a:r>
          </a:p>
          <a:p xmlns:a="http://schemas.openxmlformats.org/drawingml/2006/main">
            <a:r>
              <a:t>Medimos tensión en paralelo con el componente. Para comenzar basta medir la caída en la resistencia y calcular su corriente. No se coloca el multímetro en modo corriente directamente entre alimentación y GND: esa conexión altera radicalmente el circuito. El docente muestra las puntas, la función y los puntos de medida antes de energizar. El registro debe indicar qué dos nodos se compararon, porque “medí 1,3 V” sin esa referencia no explica el circuito.</a:t>
            </a:r>
          </a:p>
          <a:p xmlns:a="http://schemas.openxmlformats.org/drawingml/2006/main">
            <a:r>
              <a:t/>
            </a:r>
          </a:p>
          <a:p xmlns:a="http://schemas.openxmlformats.org/drawingml/2006/main">
            <a:r>
              <a:t>Dato / Predicción de aula / Dato del equipo</a:t>
            </a:r>
          </a:p>
          <a:p xmlns:a="http://schemas.openxmlformats.org/drawingml/2006/main">
            <a:r>
              <a:t>Resistencia / 330 ohm / Leer y medir</a:t>
            </a:r>
          </a:p>
          <a:p xmlns:a="http://schemas.openxmlformats.org/drawingml/2006/main">
            <a:r>
              <a:t>Caída en resistor / 1,3 V ideal / Medir nodos</a:t>
            </a:r>
          </a:p>
          <a:p xmlns:a="http://schemas.openxmlformats.org/drawingml/2006/main">
            <a:r>
              <a:t>Corriente / 3,94 mA ideal / Calcular con V/R</a:t>
            </a:r>
          </a:p>
          <a:p xmlns:a="http://schemas.openxmlformats.org/drawingml/2006/main">
            <a:r>
              <a:t>Estado lógico / HIGH / LOW / Observar salida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Dato / Predicción de aula / Dato del equipo</a:t>
            </a:r>
          </a:p>
          <a:p xmlns:a="http://schemas.openxmlformats.org/drawingml/2006/main">
            <a:r>
              <a:t>Resistencia / 330 ohm / Leer y medir</a:t>
            </a:r>
          </a:p>
          <a:p xmlns:a="http://schemas.openxmlformats.org/drawingml/2006/main">
            <a:r>
              <a:t>Caída en resistor / 1,3 V ideal / Medir nodos</a:t>
            </a:r>
          </a:p>
          <a:p xmlns:a="http://schemas.openxmlformats.org/drawingml/2006/main">
            <a:r>
              <a:t>Corriente / 3,94 mA ideal / Calcular con V/R</a:t>
            </a:r>
          </a:p>
          <a:p xmlns:a="http://schemas.openxmlformats.org/drawingml/2006/main">
            <a:r>
              <a:t>Estado lógico / HIGH / LOW / Observar salida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Supón GPIO de 3,3 V, LED con caída aproximada de 2,0 V y objetivo de 5 mA. ¿Qué resistencia propones?</a:t>
            </a:r>
          </a:p>
          <a:p xmlns:a="http://schemas.openxmlformats.org/drawingml/2006/main">
            <a:r>
              <a:t>La resistencia recibe 1,3 V. R = 1,3 / 0,005 = 260 ohm. Con 330 ohm, la corriente ideal sería 1,3 / 330 = 3,94 mA. La potencia del resistor sería aproximadamente 5,1 mW. Son cifras del modelo de aula; se comprueban con las piezas reales.</a:t>
            </a:r>
          </a:p>
          <a:p xmlns:a="http://schemas.openxmlformats.org/drawingml/2006/main">
            <a:r>
              <a:t/>
            </a:r>
          </a:p>
          <a:p xmlns:a="http://schemas.openxmlformats.org/drawingml/2006/main">
            <a:r>
              <a:t>Se elige un valor comercial razonable y se comprueba el conjunto, sin tratar el límite absoluto de un pin como corriente de trabajo.</a:t>
            </a:r>
          </a:p>
          <a:p xmlns:a="http://schemas.openxmlformats.org/drawingml/2006/main">
            <a:r>
              <a:t/>
            </a:r>
          </a:p>
          <a:p xmlns:a="http://schemas.openxmlformats.org/drawingml/2006/main">
            <a:r>
              <a:t>Medimos tensión en paralelo con el componente. Para comenzar basta medir la caída en la resistencia y calcular su corriente. No se coloca el multímetro en modo corriente directamente entre alimentación y GND: esa conexión altera radicalmente el circuito. El docente muestra las puntas, la función y los puntos de medida antes de energizar. El registro debe indicar qué dos nodos se compararon, porque “medí 1,3 V” sin esa referencia no explica el circuito.</a:t>
            </a:r>
          </a:p>
          <a:p xmlns:a="http://schemas.openxmlformats.org/drawingml/2006/main">
            <a:r>
              <a:t/>
            </a:r>
          </a:p>
          <a:p xmlns:a="http://schemas.openxmlformats.org/drawingml/2006/main">
            <a:r>
              <a:t>Dato / Predicción de aula / Dato del equipo</a:t>
            </a:r>
          </a:p>
          <a:p xmlns:a="http://schemas.openxmlformats.org/drawingml/2006/main">
            <a:r>
              <a:t>Resistencia / 330 ohm / Leer y medir</a:t>
            </a:r>
          </a:p>
          <a:p xmlns:a="http://schemas.openxmlformats.org/drawingml/2006/main">
            <a:r>
              <a:t>Caída en resistor / 1,3 V ideal / Medir nodos</a:t>
            </a:r>
          </a:p>
          <a:p xmlns:a="http://schemas.openxmlformats.org/drawingml/2006/main">
            <a:r>
              <a:t>Corriente / 3,94 mA ideal / Calcular con V/R</a:t>
            </a:r>
          </a:p>
          <a:p xmlns:a="http://schemas.openxmlformats.org/drawingml/2006/main">
            <a:r>
              <a:t>Estado lógico / HIGH / LOW / Observar salida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VS Code es el editor; PlatformIO organiza el proyecto y sus herramientas; Arduino es el framework que aporta funciones de programación. El archivo platformio.ini declara placa, plataforma y bibliotecas. El curso incluye una versión de referencia fijada para ESP32 clásico. Compilar convierte el programa en firmware; cargarlo lo transfiere a la placa; abrir el monitor serie permite observar mensajes. Un error de compilación y un circuito mal conectado requieren comprobaciones diferentes.</a:t>
            </a:r>
          </a:p>
          <a:p xmlns:a="http://schemas.openxmlformats.org/drawingml/2006/main">
            <a:r>
              <a:t/>
            </a:r>
          </a:p>
          <a:p xmlns:a="http://schemas.openxmlformats.org/drawingml/2006/main">
            <a:r>
              <a:t>constexpr uint8_t LED = 23;</a:t>
            </a:r>
          </a:p>
          <a:p xmlns:a="http://schemas.openxmlformats.org/drawingml/2006/main">
            <a:r>
              <a:t>uint32_t last = 0;</a:t>
            </a:r>
          </a:p>
          <a:p xmlns:a="http://schemas.openxmlformats.org/drawingml/2006/main">
            <a:r>
              <a:t>bool on = false;</a:t>
            </a:r>
          </a:p>
          <a:p xmlns:a="http://schemas.openxmlformats.org/drawingml/2006/main">
            <a:r>
              <a:t>void setup() {</a:t>
            </a:r>
          </a:p>
          <a:p xmlns:a="http://schemas.openxmlformats.org/drawingml/2006/main">
            <a:r>
              <a:t>  pinMode(LED, OUTPUT);</a:t>
            </a:r>
          </a:p>
          <a:p xmlns:a="http://schemas.openxmlformats.org/drawingml/2006/main">
            <a:r>
              <a:t>}</a:t>
            </a:r>
          </a:p>
          <a:p xmlns:a="http://schemas.openxmlformats.org/drawingml/2006/main">
            <a:r>
              <a:t>void loop() {</a:t>
            </a:r>
          </a:p>
          <a:p xmlns:a="http://schemas.openxmlformats.org/drawingml/2006/main">
            <a:r>
              <a:t>  uint32_t now = millis();</a:t>
            </a:r>
          </a:p>
          <a:p xmlns:a="http://schemas.openxmlformats.org/drawingml/2006/main">
            <a:r>
              <a:t>  if (uint32_t(now-last) &gt;= 500) {</a:t>
            </a:r>
          </a:p>
          <a:p xmlns:a="http://schemas.openxmlformats.org/drawingml/2006/main">
            <a:r>
              <a:t>    last = now;</a:t>
            </a:r>
          </a:p>
          <a:p xmlns:a="http://schemas.openxmlformats.org/drawingml/2006/main">
            <a:r>
              <a:t>    on = !on;</a:t>
            </a:r>
          </a:p>
          <a:p xmlns:a="http://schemas.openxmlformats.org/drawingml/2006/main">
            <a:r>
              <a:t>    digitalWrite(LED, on);</a:t>
            </a:r>
          </a:p>
          <a:p xmlns:a="http://schemas.openxmlformats.org/drawingml/2006/main">
            <a:r>
              <a:t>  }</a:t>
            </a:r>
          </a:p>
          <a:p xmlns:a="http://schemas.openxmlformats.org/drawingml/2006/main">
            <a:r>
              <a:t>}</a:t>
            </a:r>
          </a:p>
          <a:p xmlns:a="http://schemas.openxmlformats.org/drawingml/2006/main">
            <a:r>
              <a:t/>
            </a:r>
          </a:p>
          <a:p xmlns:a="http://schemas.openxmlformats.org/drawingml/2006/main">
            <a:r>
              <a:t>setup() prepara la ejecución y loop() vuelve a evaluar la lógica. El nombre LED ayuda a relacionar el esquema con un GPIO concreto. La función digitalWrite() ordena un nivel; el camino eléctrico determina qué ocurre con ese nivel. La versión completa c01_led también emite mensajes. En esta clase reconocemos el patrón temporal; en la tercera explicaremos por qué permite atender otros eventos. Antes de cambiarlo, predice cuánto dura cada estado y cuánto dura el ciclo completo.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constexpr uint8_t LED = 23;</a:t>
            </a:r>
          </a:p>
          <a:p xmlns:a="http://schemas.openxmlformats.org/drawingml/2006/main">
            <a:r>
              <a:t>uint32_t last = 0;</a:t>
            </a:r>
          </a:p>
          <a:p xmlns:a="http://schemas.openxmlformats.org/drawingml/2006/main">
            <a:r>
              <a:t>bool on = false;</a:t>
            </a:r>
          </a:p>
          <a:p xmlns:a="http://schemas.openxmlformats.org/drawingml/2006/main">
            <a:r>
              <a:t>void setup() {</a:t>
            </a:r>
          </a:p>
          <a:p xmlns:a="http://schemas.openxmlformats.org/drawingml/2006/main">
            <a:r>
              <a:t>  pinMode(LED, OUTPUT);</a:t>
            </a:r>
          </a:p>
          <a:p xmlns:a="http://schemas.openxmlformats.org/drawingml/2006/main">
            <a:r>
              <a:t>}</a:t>
            </a:r>
          </a:p>
          <a:p xmlns:a="http://schemas.openxmlformats.org/drawingml/2006/main">
            <a:r>
              <a:t>void loop() {</a:t>
            </a:r>
          </a:p>
          <a:p xmlns:a="http://schemas.openxmlformats.org/drawingml/2006/main">
            <a:r>
              <a:t>  uint32_t now = millis();</a:t>
            </a:r>
          </a:p>
          <a:p xmlns:a="http://schemas.openxmlformats.org/drawingml/2006/main">
            <a:r>
              <a:t>  if (uint32_t(now-last) &gt;= 500) {</a:t>
            </a:r>
          </a:p>
          <a:p xmlns:a="http://schemas.openxmlformats.org/drawingml/2006/main">
            <a:r>
              <a:t>    last = now;</a:t>
            </a:r>
          </a:p>
          <a:p xmlns:a="http://schemas.openxmlformats.org/drawingml/2006/main">
            <a:r>
              <a:t>    on = !on;</a:t>
            </a:r>
          </a:p>
          <a:p xmlns:a="http://schemas.openxmlformats.org/drawingml/2006/main">
            <a:r>
              <a:t>    digitalWrite(LED, on);</a:t>
            </a:r>
          </a:p>
          <a:p xmlns:a="http://schemas.openxmlformats.org/drawingml/2006/main">
            <a:r>
              <a:t>  }</a:t>
            </a:r>
          </a:p>
          <a:p xmlns:a="http://schemas.openxmlformats.org/drawingml/2006/main">
            <a:r>
              <a:t>}</a:t>
            </a:r>
          </a:p>
          <a:p xmlns:a="http://schemas.openxmlformats.org/drawingml/2006/main">
            <a:r>
              <a:t>Explicar entrada, estado, salida y momento de actualización.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VS Code es el editor; PlatformIO organiza el proyecto y sus herramientas; Arduino es el framework que aporta funciones de programación. El archivo platformio.ini declara placa, plataforma y bibliotecas. El curso incluye una versión de referencia fijada para ESP32 clásico. Compilar convierte el programa en firmware; cargarlo lo transfiere a la placa; abrir el monitor serie permite observar mensajes. Un error de compilación y un circuito mal conectado requieren comprobaciones diferentes.</a:t>
            </a:r>
          </a:p>
          <a:p xmlns:a="http://schemas.openxmlformats.org/drawingml/2006/main">
            <a:r>
              <a:t/>
            </a:r>
          </a:p>
          <a:p xmlns:a="http://schemas.openxmlformats.org/drawingml/2006/main">
            <a:r>
              <a:t>constexpr uint8_t LED = 23;</a:t>
            </a:r>
          </a:p>
          <a:p xmlns:a="http://schemas.openxmlformats.org/drawingml/2006/main">
            <a:r>
              <a:t>uint32_t last = 0;</a:t>
            </a:r>
          </a:p>
          <a:p xmlns:a="http://schemas.openxmlformats.org/drawingml/2006/main">
            <a:r>
              <a:t>bool on = false;</a:t>
            </a:r>
          </a:p>
          <a:p xmlns:a="http://schemas.openxmlformats.org/drawingml/2006/main">
            <a:r>
              <a:t>void setup() {</a:t>
            </a:r>
          </a:p>
          <a:p xmlns:a="http://schemas.openxmlformats.org/drawingml/2006/main">
            <a:r>
              <a:t>  pinMode(LED, OUTPUT);</a:t>
            </a:r>
          </a:p>
          <a:p xmlns:a="http://schemas.openxmlformats.org/drawingml/2006/main">
            <a:r>
              <a:t>}</a:t>
            </a:r>
          </a:p>
          <a:p xmlns:a="http://schemas.openxmlformats.org/drawingml/2006/main">
            <a:r>
              <a:t>void loop() {</a:t>
            </a:r>
          </a:p>
          <a:p xmlns:a="http://schemas.openxmlformats.org/drawingml/2006/main">
            <a:r>
              <a:t>  uint32_t now = millis();</a:t>
            </a:r>
          </a:p>
          <a:p xmlns:a="http://schemas.openxmlformats.org/drawingml/2006/main">
            <a:r>
              <a:t>  if (uint32_t(now-last) &gt;= 500) {</a:t>
            </a:r>
          </a:p>
          <a:p xmlns:a="http://schemas.openxmlformats.org/drawingml/2006/main">
            <a:r>
              <a:t>    last = now;</a:t>
            </a:r>
          </a:p>
          <a:p xmlns:a="http://schemas.openxmlformats.org/drawingml/2006/main">
            <a:r>
              <a:t>    on = !on;</a:t>
            </a:r>
          </a:p>
          <a:p xmlns:a="http://schemas.openxmlformats.org/drawingml/2006/main">
            <a:r>
              <a:t>    digitalWrite(LED, on);</a:t>
            </a:r>
          </a:p>
          <a:p xmlns:a="http://schemas.openxmlformats.org/drawingml/2006/main">
            <a:r>
              <a:t>  }</a:t>
            </a:r>
          </a:p>
          <a:p xmlns:a="http://schemas.openxmlformats.org/drawingml/2006/main">
            <a:r>
              <a:t>}</a:t>
            </a:r>
          </a:p>
          <a:p xmlns:a="http://schemas.openxmlformats.org/drawingml/2006/main">
            <a:r>
              <a:t/>
            </a:r>
          </a:p>
          <a:p xmlns:a="http://schemas.openxmlformats.org/drawingml/2006/main">
            <a:r>
              <a:t>setup() prepara la ejecución y loop() vuelve a evaluar la lógica. El nombre LED ayuda a relacionar el esquema con un GPIO concreto. La función digitalWrite() ordena un nivel; el camino eléctrico determina qué ocurre con ese nivel. La versión completa c01_led también emite mensajes. En esta clase reconocemos el patrón temporal; en la tercera explicaremos por qué permite atender otros eventos. Antes de cambiarlo, predice cuánto dura cada estado y cuánto dura el ciclo completo.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módulo, placa y GPIO23. Revisa la configuración de referencia antes de compilar c01_led.</a:t>
            </a:r>
          </a:p>
          <a:p xmlns:a="http://schemas.openxmlformats.org/drawingml/2006/main">
            <a:r>
              <a:t>Dibuja el camino de corriente. Coloca LED y resistencia con la alimentación desconectada.</a:t>
            </a:r>
          </a:p>
          <a:p xmlns:a="http://schemas.openxmlformats.org/drawingml/2006/main">
            <a:r>
              <a:t>Comprueba continuidad del protoboard y polaridad. Pide una revisión cruzada del esquema.</a:t>
            </a:r>
          </a:p>
          <a:p xmlns:a="http://schemas.openxmlformats.org/drawingml/2006/main">
            <a:r>
              <a:t>Ejecuta primero la versión equivalente en Wokwi y localiza qué variable representa cada componente.</a:t>
            </a:r>
          </a:p>
          <a:p xmlns:a="http://schemas.openxmlformats.org/drawingml/2006/main">
            <a:r>
              <a:t>En hardware, mide tensión en el resistor y calcula corriente. Anota qué valor de resistencia utilizaste.</a:t>
            </a:r>
          </a:p>
          <a:p xmlns:a="http://schemas.openxmlformats.org/drawingml/2006/main">
            <a:r>
              <a:t>Cambia el tiempo de 500 a 250 ms. Predice el periodo total antes de observarlo.</a:t>
            </a:r>
          </a:p>
          <a:p xmlns:a="http://schemas.openxmlformats.org/drawingml/2006/main">
            <a:r>
              <a:t>Conserva esquema, código y una explicación individual del resultado.</a:t>
            </a:r>
          </a:p>
          <a:p xmlns:a="http://schemas.openxmlformats.org/drawingml/2006/main">
            <a:r>
              <a:t/>
            </a:r>
          </a:p>
          <a:p xmlns:a="http://schemas.openxmlformats.org/drawingml/2006/main">
            <a:r>
              <a:t>Un parpadeo correcto demuestra que esa configuración produjo el comportamiento observado. Para aprender más, cambia una sola condición: tiempo, valor de resistencia o pin documentado. La misma comprobación se hace con el código y con el circuito delante. Si el LED permanece apagado, comienza por alimentación, referencia, polaridad y camino de corriente. Si los mensajes cambian pero la luz no, ya existe una pista que permite separar la ejecución del programa de su salida física.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Identifica módulo, placa y GPIO23. Revisa la configuración de referencia antes de compilar c01_led.</a:t>
            </a:r>
          </a:p>
          <a:p xmlns:a="http://schemas.openxmlformats.org/drawingml/2006/main">
            <a:r>
              <a:t>Dibuja el camino de corriente. Coloca LED y resistencia con la alimentación desconectada.</a:t>
            </a:r>
          </a:p>
          <a:p xmlns:a="http://schemas.openxmlformats.org/drawingml/2006/main">
            <a:r>
              <a:t>Comprueba continuidad del protoboard y polaridad. Pide una revisión cruzada del esquema.</a:t>
            </a:r>
          </a:p>
          <a:p xmlns:a="http://schemas.openxmlformats.org/drawingml/2006/main">
            <a:r>
              <a:t>Ejecuta primero la versión equivalente en Wokwi y localiza qué variable representa cada componente.</a:t>
            </a:r>
          </a:p>
          <a:p xmlns:a="http://schemas.openxmlformats.org/drawingml/2006/main">
            <a:r>
              <a:t>En hardware, mide tensión en el resistor y calcula corriente. Anota qué valor de resistencia utilizaste.</a:t>
            </a:r>
          </a:p>
          <a:p xmlns:a="http://schemas.openxmlformats.org/drawingml/2006/main">
            <a:r>
              <a:t>Cambia el tiempo de 500 a 250 ms. Predice el periodo total antes de observarlo.</a:t>
            </a:r>
          </a:p>
          <a:p xmlns:a="http://schemas.openxmlformats.org/drawingml/2006/main">
            <a:r>
              <a:t>Conserva esquema, código y una explicación individual del resultado.</a:t>
            </a:r>
          </a:p>
          <a:p xmlns:a="http://schemas.openxmlformats.org/drawingml/2006/main">
            <a:r>
              <a:t/>
            </a:r>
          </a:p>
          <a:p xmlns:a="http://schemas.openxmlformats.org/drawingml/2006/main">
            <a:r>
              <a:t>Un parpadeo correcto demuestra que esa configuración produjo el comportamiento observado. Para aprender más, cambia una sola condición: tiempo, valor de resistencia o pin documentado. La misma comprobación se hace con el código y con el circuito delante. Si el LED permanece apagado, comienza por alimentación, referencia, polaridad y camino de corriente. Si los mensajes cambian pero la luz no, ya existe una pista que permite separar la ejecución del programa de su salida física.</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Identifica módulo, placa y GPIO23. Revisa la configuración de referencia antes de compilar c01_led.</a:t>
            </a:r>
          </a:p>
          <a:p xmlns:a="http://schemas.openxmlformats.org/drawingml/2006/main">
            <a:r>
              <a:t>Dibuja el camino de corriente. Coloca LED y resistencia con la alimentación desconectada.</a:t>
            </a:r>
          </a:p>
          <a:p xmlns:a="http://schemas.openxmlformats.org/drawingml/2006/main">
            <a:r>
              <a:t>Comprueba continuidad del protoboard y polaridad. Pide una revisión cruzada del esquema.</a:t>
            </a:r>
          </a:p>
          <a:p xmlns:a="http://schemas.openxmlformats.org/drawingml/2006/main">
            <a:r>
              <a:t>Ejecuta primero la versión equivalente en Wokwi y localiza qué variable representa cada componente.</a:t>
            </a:r>
          </a:p>
          <a:p xmlns:a="http://schemas.openxmlformats.org/drawingml/2006/main">
            <a:r>
              <a:t>En hardware, mide tensión en el resistor y calcula corriente. Anota qué valor de resistencia utilizaste.</a:t>
            </a:r>
          </a:p>
          <a:p xmlns:a="http://schemas.openxmlformats.org/drawingml/2006/main">
            <a:r>
              <a:t>Cambia el tiempo de 500 a 250 ms. Predice el periodo total antes de observarlo.</a:t>
            </a:r>
          </a:p>
          <a:p xmlns:a="http://schemas.openxmlformats.org/drawingml/2006/main">
            <a:r>
              <a:t>Conserva esquema, código y una explicación individual del resultado.</a:t>
            </a:r>
          </a:p>
          <a:p xmlns:a="http://schemas.openxmlformats.org/drawingml/2006/main">
            <a:r>
              <a:t>Verificar un paso antes de seguir.</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Un sistema UAV utiliza indicadores para distinguir alimentación, enlace, registro o estado del equipo. Un LED aislado puede indicar que hay energía, pero el software puede usarlo para comunicar otra condición. En una estación de banco, un patrón lento podría significar espera y otro representar una lectura pendiente. Esa convención debe estar documentada: el color no explica automáticamente el estado. El alumno propone un indicador para una función del mercado de MECRO y describe qué señal necesitaría para activarlo.</a:t>
            </a:r>
          </a:p>
          <a:p xmlns:a="http://schemas.openxmlformats.org/drawingml/2006/main">
            <a:r>
              <a:t/>
            </a:r>
          </a:p>
          <a:p xmlns:a="http://schemas.openxmlformats.org/drawingml/2006/main">
            <a:r>
              <a:t>Hoy / Aplicación posterior / Qué añade el sistema</a:t>
            </a:r>
          </a:p>
          <a:p xmlns:a="http://schemas.openxmlformats.org/drawingml/2006/main">
            <a:r>
              <a:t>GPIO y LED / Indicador de estado / Condición documentada</a:t>
            </a:r>
          </a:p>
          <a:p xmlns:a="http://schemas.openxmlformats.org/drawingml/2006/main">
            <a:r>
              <a:t>GND y tensión / Interfaz de sensor / Niveles compatibles</a:t>
            </a:r>
          </a:p>
          <a:p xmlns:a="http://schemas.openxmlformats.org/drawingml/2006/main">
            <a:r>
              <a:t>Resistor calculado / Etapa de salida / Balance de potencia</a:t>
            </a:r>
          </a:p>
          <a:p xmlns:a="http://schemas.openxmlformats.org/drawingml/2006/main">
            <a:r>
              <a:t/>
            </a:r>
          </a:p>
          <a:p xmlns:a="http://schemas.openxmlformats.org/drawingml/2006/main">
            <a:r>
              <a:t>Para investigar, localiza en la guía de tu placa la función del USB, de EN y de BOOT. Distingue alimentación del módulo y señal de programación. Después revisa la ficha de un LED concreto y busca la condición de corriente a la que se especifica su caída típica. El objetivo no es memorizar toda la hoja de datos, sino reconocer que una cifra técnica viene acompañada de una condición.</a:t>
            </a:r>
          </a:p>
          <a:p xmlns:a="http://schemas.openxmlformats.org/drawingml/2006/main">
            <a:r>
              <a:t/>
            </a:r>
          </a:p>
          <a:p xmlns:a="http://schemas.openxmlformats.org/drawingml/2006/main">
            <a:r>
              <a:t>¿HIGH equivale a una fuente ideal que alimenta cualquier carga?</a:t>
            </a:r>
          </a:p>
          <a:p xmlns:a="http://schemas.openxmlformats.org/drawingml/2006/main">
            <a:r>
              <a:t>HIGH expresa un estado de salida dentro de límites eléctricos. La corriente y la carga deben ser compatibles con el GPIO y con el circuito.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4 minutos en esta diapositiva.</a:t>
            </a:r>
          </a:p>
          <a:p xmlns:a="http://schemas.openxmlformats.org/drawingml/2006/main">
            <a:r>
              <a:t/>
            </a:r>
          </a:p>
          <a:p xmlns:a="http://schemas.openxmlformats.org/drawingml/2006/main">
            <a:r>
              <a:t>Hoy / Aplicación posterior / Qué añade el sistema</a:t>
            </a:r>
          </a:p>
          <a:p xmlns:a="http://schemas.openxmlformats.org/drawingml/2006/main">
            <a:r>
              <a:t>GPIO y LED / Indicador de estado / Condición documentada</a:t>
            </a:r>
          </a:p>
          <a:p xmlns:a="http://schemas.openxmlformats.org/drawingml/2006/main">
            <a:r>
              <a:t>GND y tensión / Interfaz de sensor / Niveles compatibles</a:t>
            </a:r>
          </a:p>
          <a:p xmlns:a="http://schemas.openxmlformats.org/drawingml/2006/main">
            <a:r>
              <a:t>Resistor calculado / Etapa de salida / Balance de potencia</a:t>
            </a:r>
          </a:p>
          <a:p xmlns:a="http://schemas.openxmlformats.org/drawingml/2006/main">
            <a:r>
              <a:t>Comparar filas y explicar una condición que cambie la decisión.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¿HIGH equivale a una fuente ideal que alimenta cualquier carga?</a:t>
            </a:r>
          </a:p>
          <a:p xmlns:a="http://schemas.openxmlformats.org/drawingml/2006/main">
            <a:r>
              <a:t>HIGH expresa un estado de salida dentro de límites eléctricos. La corriente y la carga deben ser compatibles con el GPIO y con el circuito.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la placa y seguir el camino de corriente antes de abrir el programa.</a:t>
            </a:r>
          </a:p>
          <a:p xmlns:a="http://schemas.openxmlformats.org/drawingml/2006/main">
            <a:r>
              <a:t>Resolver el LED de 330 ohm y comparar con el resistor disponible.</a:t>
            </a:r>
          </a:p>
          <a:p xmlns:a="http://schemas.openxmlformats.org/drawingml/2006/main">
            <a:r>
              <a:t>Ejecutar c01_led y modificar su periodo.</a:t>
            </a:r>
          </a:p>
          <a:p xmlns:a="http://schemas.openxmlformats.org/drawingml/2006/main">
            <a:r>
              <a:t>Registrar una medida y explicar la relación V/R.</a:t>
            </a:r>
          </a:p>
          <a:p xmlns:a="http://schemas.openxmlformats.org/drawingml/2006/main">
            <a:r>
              <a:t>Rotar código, medida y registro.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10 minutos en esta diapositiva.</a:t>
            </a:r>
          </a:p>
          <a:p xmlns:a="http://schemas.openxmlformats.org/drawingml/2006/main">
            <a:r>
              <a:t/>
            </a:r>
          </a:p>
          <a:p xmlns:a="http://schemas.openxmlformats.org/drawingml/2006/main">
            <a:r>
              <a:t>Un indicador de estado en una estación de drones debe comunicar una condición mediante un circuito y un programa que se entiendan.</a:t>
            </a:r>
          </a:p>
          <a:p xmlns:a="http://schemas.openxmlformats.org/drawingml/2006/main">
            <a:r>
              <a:t>Esquema del LED, cálculo con unidades, primer firmware y registro de observación.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1: Electrónica con ESP32: del circuito al primer programa.</a:t>
            </a:r>
          </a:p>
          <a:p xmlns:a="http://schemas.openxmlformats.org/drawingml/2006/main">
            <a:r>
              <a:t>En línea, 2 horas. Núcleo de explicación: 5 minutos en esta diapositiva.</a:t>
            </a:r>
          </a:p>
          <a:p xmlns:a="http://schemas.openxmlformats.org/drawingml/2006/main">
            <a:r>
              <a:t/>
            </a:r>
          </a:p>
          <a:p xmlns:a="http://schemas.openxmlformats.org/drawingml/2006/main">
            <a:r>
              <a:t>Esquema del LED, cálculo con unidades, primer firmware y registro de observación.</a:t>
            </a:r>
          </a:p>
          <a:p xmlns:a="http://schemas.openxmlformats.org/drawingml/2006/main">
            <a:r>
              <a:t/>
            </a:r>
          </a:p>
          <a:p xmlns:a="http://schemas.openxmlformats.org/drawingml/2006/main">
            <a:r>
              <a:t>Objetivo: Reconocer la placa clásica y construir una salida LED cuya corriente pueda explicar.</a:t>
            </a:r>
          </a:p>
          <a:p xmlns:a="http://schemas.openxmlformats.org/drawingml/2006/main">
            <a:r>
              <a:t>Aplicación: Un indicador de estado en una estación de drones debe comunicar una condición mediante un circuito y un programa que se entiendan.</a:t>
            </a:r>
          </a:p>
          <a:p xmlns:a="http://schemas.openxmlformats.org/drawingml/2006/main">
            <a:r>
              <a:t>Entrega: Esquema del LED, cálculo con unidades, primer firmware y registro de observación.</a:t>
            </a:r>
          </a:p>
          <a:p xmlns:a="http://schemas.openxmlformats.org/drawingml/2006/main">
            <a:r>
              <a:t/>
            </a:r>
          </a:p>
          <a:p xmlns:a="http://schemas.openxmlformats.org/drawingml/2006/main">
            <a:r>
              <a:t>Preguntas y respuestas</a:t>
            </a:r>
          </a:p>
          <a:p xmlns:a="http://schemas.openxmlformats.org/drawingml/2006/main">
            <a:r>
              <a:t>¿Dónde se aplica V = IR?</a:t>
            </a:r>
          </a:p>
          <a:p xmlns:a="http://schemas.openxmlformats.org/drawingml/2006/main">
            <a:r>
              <a:t>En el resistor del modelo; el LED se representa con su caída de tensión aproximada.</a:t>
            </a:r>
          </a:p>
          <a:p xmlns:a="http://schemas.openxmlformats.org/drawingml/2006/main">
            <a:r>
              <a:t/>
            </a:r>
          </a:p>
          <a:p xmlns:a="http://schemas.openxmlformats.org/drawingml/2006/main">
            <a:r>
              <a:t>¿500 ms por cambio producen un ciclo de 500 ms?</a:t>
            </a:r>
          </a:p>
          <a:p xmlns:a="http://schemas.openxmlformats.org/drawingml/2006/main">
            <a:r>
              <a:t>No. Encendido y apagado duran 500 ms cada uno: el ciclo completo dura 1 s.</a:t>
            </a:r>
          </a:p>
          <a:p xmlns:a="http://schemas.openxmlformats.org/drawingml/2006/main">
            <a:r>
              <a:t/>
            </a:r>
          </a:p>
          <a:p xmlns:a="http://schemas.openxmlformats.org/drawingml/2006/main">
            <a:r>
              <a:t>¿Qué confirma compilar?</a:t>
            </a:r>
          </a:p>
          <a:p xmlns:a="http://schemas.openxmlformats.org/drawingml/2006/main">
            <a:r>
              <a:t>Que el código se pudo construir para la configuración elegida; el circuito todavía se comprueba aparte.</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ESP32-DevKitC V4: guía de la placa. https://docs.espressif.com/projects/esp-dev-kits/en/latest/esp32/esp32-devkitc/user_guide.html</a:t>
            </a:r>
          </a:p>
          <a:p xmlns:a="http://schemas.openxmlformats.org/drawingml/2006/main">
            <a:r>
              <a:t>Espressif Systems. GPIO y restricciones de ESP32 clásico. https://docs.espressif.com/projects/esp-idf/en/stable/esp32/api-reference/peripherals/gpio.html</a:t>
            </a:r>
          </a:p>
          <a:p xmlns:a="http://schemas.openxmlformats.org/drawingml/2006/main">
            <a:r>
              <a:t>PlatformIO. Plataforma Espressif 32, versión fijada 6.9.0. https://github.com/platformio/platform-espressif32/blob/v6.9.0/platform.json</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MECRO_ESP32_Clase_01.pdf.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3 minutos en esta diapositiva.</a:t>
            </a:r>
          </a:p>
          <a:p xmlns:a="http://schemas.openxmlformats.org/drawingml/2006/main">
            <a:r>
              <a:t/>
            </a:r>
          </a:p>
          <a:p xmlns:a="http://schemas.openxmlformats.org/drawingml/2006/main">
            <a:r>
              <a:t>Mostrar una pulsación larga y pedir la diferencia entre nivel y evento.</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Un programa de hardware transforma observaciones en decisiones. El pulsador es la entrada; una condición representa la decisión; una luz o un sonido comunica la salida. Antes de escribir instrucciones, define el comportamiento: “mientras mantengo pulsado, la luz permanece encendida” es diferente de “cada pulsación cambia el estado”. La primera regla usa un nivel; la segunda necesita reconocer un evento. Si no se aclara esa diferencia, el programa puede parecer defectuoso aunque ejecute exactamente lo que se escribió.</a:t>
            </a:r>
          </a:p>
          <a:p xmlns:a="http://schemas.openxmlformats.org/drawingml/2006/main">
            <a:r>
              <a:t/>
            </a:r>
          </a:p>
          <a:p xmlns:a="http://schemas.openxmlformats.org/drawingml/2006/main">
            <a:r>
              <a:t>MECRO, proyecto 02.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proyecto del piano permite observar esta cadena con tres entradas. Cada botón selecciona una acción. El dado digital añade una variable que conserva un resultado después de la pulsación. Reutilizaremos ambos como ejercicios de programación; no es necesario repetir dos montajes completos para enseñar el mismo concepto. Cada estudiante modifica una regla y debe explicar cuándo se evalúa.</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MECRO, proyecto 02. Esquema original del laboratorio para reconocer la arquitectura en Wokwi. Para montaje físico se aplica la tabla y las correcciones de esta lectura.</a:t>
            </a:r>
          </a:p>
          <a:p xmlns:a="http://schemas.openxmlformats.org/drawingml/2006/main">
            <a:r>
              <a:t>Un programa de hardware transforma observaciones en decisiones. El pulsador es la entrada; una condición representa la decisión; una luz o un sonido comunica la salida. Antes de escribir instrucciones, define el comportamiento: “mientras mantengo pulsado, la luz permanece encendida” es diferente de “cada pulsación cambia el estado”. La primera regla usa un nivel; la segunda necesita reconocer un evento. Si no se aclara esa diferencia, el programa puede parecer defectuoso aunque ejecute exactamente lo que se escribió.</a:t>
            </a:r>
          </a:p>
          <a:p xmlns:a="http://schemas.openxmlformats.org/drawingml/2006/main">
            <a:r>
              <a:t/>
            </a:r>
          </a:p>
          <a:p xmlns:a="http://schemas.openxmlformats.org/drawingml/2006/main">
            <a:r>
              <a:t>MECRO, proyecto 02.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proyecto del piano permite observar esta cadena con tres entradas. Cada botón selecciona una acción. El dado digital añade una variable que conserva un resultado después de la pulsación. Reutilizaremos ambos como ejercicios de programación; no es necesario repetir dos montajes completos para enseñar el mismo concepto. Cada estudiante modifica una regla y debe explicar cuándo se evalúa.</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Un programa de hardware transforma observaciones en decisiones. El pulsador es la entrada; una condición representa la decisión; una luz o un sonido comunica la salida. Antes de escribir instrucciones, define el comportamiento: “mientras mantengo pulsado, la luz permanece encendida” es diferente de “cada pulsación cambia el estado”. La primera regla usa un nivel; la segunda necesita reconocer un evento. Si no se aclara esa diferencia, el programa puede parecer defectuoso aunque ejecute exactamente lo que se escribió.</a:t>
            </a:r>
          </a:p>
          <a:p xmlns:a="http://schemas.openxmlformats.org/drawingml/2006/main">
            <a:r>
              <a:t/>
            </a:r>
          </a:p>
          <a:p xmlns:a="http://schemas.openxmlformats.org/drawingml/2006/main">
            <a:r>
              <a:t>MECRO, proyecto 02. Esquema original del laboratorio para reconocer la arquitectura en Wokwi. Para montaje físico se aplica la tabla y las correcciones de esta lectura.</a:t>
            </a:r>
          </a:p>
          <a:p xmlns:a="http://schemas.openxmlformats.org/drawingml/2006/main">
            <a:r>
              <a:t/>
            </a:r>
          </a:p>
          <a:p xmlns:a="http://schemas.openxmlformats.org/drawingml/2006/main">
            <a:r>
              <a:t>El proyecto del piano permite observar esta cadena con tres entradas. Cada botón selecciona una acción. El dado digital añade una variable que conserva un resultado después de la pulsación. Reutilizaremos ambos como ejercicios de programación; no es necesario repetir dos montajes completos para enseñar el mismo concepto. Cada estudiante modifica una regla y debe explicar cuándo se evalúa.</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constante nombra una elección que no cambia durante la ejecución: por ejemplo, el número de pin. Una variable conserva información que sí puede cambiar. bool representa dos estados lógicos; un entero representa un conteo; float permite valores fraccionarios con precisión limitada. El tipo también afecta las operaciones. Si dividimos dos enteros, el resultado sigue reglas de aritmética entera. Escribir la unidad junto al nombre, como tiempo_ms o distancia_cm, reduce confusiones sin exigir un lenguaje más complejo.</a:t>
            </a:r>
          </a:p>
          <a:p xmlns:a="http://schemas.openxmlformats.org/drawingml/2006/main">
            <a:r>
              <a:t/>
            </a:r>
          </a:p>
          <a:p xmlns:a="http://schemas.openxmlformats.org/drawingml/2006/main">
            <a:r>
              <a:t>Intención / Ejemplo / Uso</a:t>
            </a:r>
          </a:p>
          <a:p xmlns:a="http://schemas.openxmlformats.org/drawingml/2006/main">
            <a:r>
              <a:t>Pin fijo / constexpr uint8_t BTN=18 / Relacionar esquema y código</a:t>
            </a:r>
          </a:p>
          <a:p xmlns:a="http://schemas.openxmlformats.org/drawingml/2006/main">
            <a:r>
              <a:t>Estado / bool encendido=false / Conservar una decisión</a:t>
            </a:r>
          </a:p>
          <a:p xmlns:a="http://schemas.openxmlformats.org/drawingml/2006/main">
            <a:r>
              <a:t>Tiempo / uint32_t ahora=millis() / Medir intervalos</a:t>
            </a:r>
          </a:p>
          <a:p xmlns:a="http://schemas.openxmlformats.org/drawingml/2006/main">
            <a:r>
              <a:t>Magnitud fraccional / float distancia_cm / Expresar una lectura</a:t>
            </a:r>
          </a:p>
          <a:p xmlns:a="http://schemas.openxmlformats.org/drawingml/2006/main">
            <a:r>
              <a:t/>
            </a:r>
          </a:p>
          <a:p xmlns:a="http://schemas.openxmlformats.org/drawingml/2006/main">
            <a:r>
              <a:t>Una función agrupa una tarea con entradas y una salida comprensibles. Una función llamada actualizarIndicador() explica mejor la intención que copiar varias instrucciones dispersas. El alcance de una variable define desde dónde se puede usar. Una variable creada dentro de loop() puede reiniciarse al repetir la función; si debe conservar el estado anterior, hay que elegir una duración de almacenamiento adecuada. El curso usa variables globales pequeñas y explícitas antes de introducir arquitecturas más avanzadas.</a:t>
            </a:r>
          </a:p>
          <a:p xmlns:a="http://schemas.openxmlformats.org/drawingml/2006/main">
            <a:r>
              <a:t/>
            </a:r>
          </a:p>
          <a:p xmlns:a="http://schemas.openxmlformats.org/drawingml/2006/main">
            <a:r>
              <a:t>¿Cuánto vale 5/2 en una operación entre enteros y cómo obtienes 2,5?</a:t>
            </a:r>
          </a:p>
          <a:p xmlns:a="http://schemas.openxmlformats.org/drawingml/2006/main">
            <a:r>
              <a:t>Entre enteros da 2. Una expresión como 5.0f/2.0f conserva la fracción. La decisión depende de qué magnitud quieres representar.</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Intención / Ejemplo / Uso</a:t>
            </a:r>
          </a:p>
          <a:p xmlns:a="http://schemas.openxmlformats.org/drawingml/2006/main">
            <a:r>
              <a:t>Pin fijo / constexpr uint8_t BTN=18 / Relacionar esquema y código</a:t>
            </a:r>
          </a:p>
          <a:p xmlns:a="http://schemas.openxmlformats.org/drawingml/2006/main">
            <a:r>
              <a:t>Estado / bool encendido=false / Conservar una decisión</a:t>
            </a:r>
          </a:p>
          <a:p xmlns:a="http://schemas.openxmlformats.org/drawingml/2006/main">
            <a:r>
              <a:t>Tiempo / uint32_t ahora=millis() / Medir intervalos</a:t>
            </a:r>
          </a:p>
          <a:p xmlns:a="http://schemas.openxmlformats.org/drawingml/2006/main">
            <a:r>
              <a:t>Magnitud fraccional / float distancia_cm / Expresar una lectura</a:t>
            </a:r>
          </a:p>
          <a:p xmlns:a="http://schemas.openxmlformats.org/drawingml/2006/main">
            <a:r>
              <a:t>Comparar filas y explicar una condición que cambie la decisión.</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¿Cuánto vale 5/2 en una operación entre enteros y cómo obtienes 2,5?</a:t>
            </a:r>
          </a:p>
          <a:p xmlns:a="http://schemas.openxmlformats.org/drawingml/2006/main">
            <a:r>
              <a:t>Entre enteros da 2. Una expresión como 5.0f/2.0f conserva la fracción. La decisión depende de qué magnitud quieres representar.</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Una entrada sin referencia puede responder a interferencias y mostrar estados variables. INPUT_PULLUP habilita una resistencia interna que tiende a llevar el pin a HIGH. El pulsador lo conecta a GND al presionarlo, así que pulsado se interpreta como LOW. Esa inversión es una convención del circuito. No se corrige cambiando cables al azar: se relacionan nivel físico y significado en una tabla de verdad.</a:t>
            </a:r>
          </a:p>
          <a:p xmlns:a="http://schemas.openxmlformats.org/drawingml/2006/main">
            <a:r>
              <a:t/>
            </a:r>
          </a:p>
          <a:p xmlns:a="http://schemas.openxmlformats.org/drawingml/2006/main">
            <a:r>
              <a:t>Situación / Lectura / Significado elegido</a:t>
            </a:r>
          </a:p>
          <a:p xmlns:a="http://schemas.openxmlformats.org/drawingml/2006/main">
            <a:r>
              <a:t>Abierto / HIGH / Reposo</a:t>
            </a:r>
          </a:p>
          <a:p xmlns:a="http://schemas.openxmlformats.org/drawingml/2006/main">
            <a:r>
              <a:t>Presionado / LOW / Solicitud</a:t>
            </a:r>
          </a:p>
          <a:p xmlns:a="http://schemas.openxmlformats.org/drawingml/2006/main">
            <a:r>
              <a:t>Lecturas alternantes breves / HIGH / LOW / Posible rebote</a:t>
            </a:r>
          </a:p>
          <a:p xmlns:a="http://schemas.openxmlformats.org/drawingml/2006/main">
            <a:r>
              <a:t/>
            </a:r>
          </a:p>
          <a:p xmlns:a="http://schemas.openxmlformats.org/drawingml/2006/main">
            <a:r>
              <a:t>El contacto mecánico puede abrir y cerrar varias veces durante una sola acción. El pull-up fija el nivel cuando está abierto, pero no elimina ese rebote. Una estrategia sencilla acepta una lectura nueva solo cuando permanece estable durante un intervalo. El valor de 25 ms del ejemplo es una decisión de aula para comprobar, no una constante universal de todos los pulsadores. Al medir la respuesta importa también la latencia que esa espera introduce.</a:t>
            </a:r>
          </a:p>
          <a:p xmlns:a="http://schemas.openxmlformats.org/drawingml/2006/main">
            <a:r>
              <a:t/>
            </a:r>
          </a:p>
          <a:p xmlns:a="http://schemas.openxmlformats.org/drawingml/2006/main">
            <a:r>
              <a:t>Un contador aumenta cinco veces al tocar una vez el botón. ¿Basta cambiar INPUT por INPUT_PULLUP?</a:t>
            </a:r>
          </a:p>
          <a:p xmlns:a="http://schemas.openxmlformats.org/drawingml/2006/main">
            <a:r>
              <a:t>Primero se necesita una referencia válida. Si ya existe, hay que distinguir transición y rebote: contar una transición estable, no cada recorrido de loop() con el botón pulsado.</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Situación / Lectura / Significado elegido</a:t>
            </a:r>
          </a:p>
          <a:p xmlns:a="http://schemas.openxmlformats.org/drawingml/2006/main">
            <a:r>
              <a:t>Abierto / HIGH / Reposo</a:t>
            </a:r>
          </a:p>
          <a:p xmlns:a="http://schemas.openxmlformats.org/drawingml/2006/main">
            <a:r>
              <a:t>Presionado / LOW / Solicitud</a:t>
            </a:r>
          </a:p>
          <a:p xmlns:a="http://schemas.openxmlformats.org/drawingml/2006/main">
            <a:r>
              <a:t>Lecturas alternantes breves / HIGH / LOW / Posible rebote</a:t>
            </a:r>
          </a:p>
          <a:p xmlns:a="http://schemas.openxmlformats.org/drawingml/2006/main">
            <a:r>
              <a:t>Comparar filas y explicar una condición que cambie la decisión.</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Primero tapar la solución o pedir respuesta individual.</a:t>
            </a:r>
          </a:p>
          <a:p xmlns:a="http://schemas.openxmlformats.org/drawingml/2006/main">
            <a:r>
              <a:t>Un contador aumenta cinco veces al tocar una vez el botón. ¿Basta cambiar INPUT por INPUT_PULLUP?</a:t>
            </a:r>
          </a:p>
          <a:p xmlns:a="http://schemas.openxmlformats.org/drawingml/2006/main">
            <a:r>
              <a:t>Primero se necesita una referencia válida. Si ya existe, hay que distinguir transición y rebote: contar una transición estable, no cada recorrido de loop() con el botón pulsado.</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bool raw = digitalRead(BTN);</a:t>
            </a:r>
          </a:p>
          <a:p xmlns:a="http://schemas.openxmlformats.org/drawingml/2006/main">
            <a:r>
              <a:t>if (raw != rawPrevious) {</a:t>
            </a:r>
          </a:p>
          <a:p xmlns:a="http://schemas.openxmlformats.org/drawingml/2006/main">
            <a:r>
              <a:t>  rawPrevious = raw;</a:t>
            </a:r>
          </a:p>
          <a:p xmlns:a="http://schemas.openxmlformats.org/drawingml/2006/main">
            <a:r>
              <a:t>  changed = now;</a:t>
            </a:r>
          </a:p>
          <a:p xmlns:a="http://schemas.openxmlformats.org/drawingml/2006/main">
            <a:r>
              <a:t>}</a:t>
            </a:r>
          </a:p>
          <a:p xmlns:a="http://schemas.openxmlformats.org/drawingml/2006/main">
            <a:r>
              <a:t>if (uint32_t(now-changed) &gt;= 25</a:t>
            </a:r>
          </a:p>
          <a:p xmlns:a="http://schemas.openxmlformats.org/drawingml/2006/main">
            <a:r>
              <a:t>    &amp;&amp; raw != stable) {</a:t>
            </a:r>
          </a:p>
          <a:p xmlns:a="http://schemas.openxmlformats.org/drawingml/2006/main">
            <a:r>
              <a:t>  stable = raw;</a:t>
            </a:r>
          </a:p>
          <a:p xmlns:a="http://schemas.openxmlformats.org/drawingml/2006/main">
            <a:r>
              <a:t>  digitalWrite(LED, stable == LOW);</a:t>
            </a:r>
          </a:p>
          <a:p xmlns:a="http://schemas.openxmlformats.org/drawingml/2006/main">
            <a:r>
              <a:t>}</a:t>
            </a:r>
          </a:p>
          <a:p xmlns:a="http://schemas.openxmlformats.org/drawingml/2006/main">
            <a:r>
              <a:t/>
            </a:r>
          </a:p>
          <a:p xmlns:a="http://schemas.openxmlformats.org/drawingml/2006/main">
            <a:r>
              <a:t>raw es la lectura instantánea. rawPrevious permite reconocer que cambió. changed conserva cuándo se produjo el cambio más reciente. stable representa lo que el programa acepta después de la espera. Durante esa espera, loop() puede seguir atendiendo otras tareas. Al separar estas variables evitamos llamar “estado del botón” a tres cosas que no significan lo mismo. La versión completa emite PRESS y RELEASE para observar ambas transiciones.</a:t>
            </a:r>
          </a:p>
          <a:p xmlns:a="http://schemas.openxmlformats.org/drawingml/2006/main">
            <a:r>
              <a:t/>
            </a:r>
          </a:p>
          <a:p xmlns:a="http://schemas.openxmlformats.org/drawingml/2006/main">
            <a:r>
              <a:t>El piano original usa prioridades con if y else if: si se pulsan dos botones, la primera condición verdadera domina. Esa decisión puede ser correcta para un instrumento monofónico. Para una interfaz de mando hay que documentar qué ocurre con órdenes simultáneas. El alumno prueba dos entradas y describe el resultado antes de proponer otra prioridad. Programar también consiste en resolver esas situaciones límite.</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bool raw = digitalRead(BTN);</a:t>
            </a:r>
          </a:p>
          <a:p xmlns:a="http://schemas.openxmlformats.org/drawingml/2006/main">
            <a:r>
              <a:t>if (raw != rawPrevious) {</a:t>
            </a:r>
          </a:p>
          <a:p xmlns:a="http://schemas.openxmlformats.org/drawingml/2006/main">
            <a:r>
              <a:t>  rawPrevious = raw;</a:t>
            </a:r>
          </a:p>
          <a:p xmlns:a="http://schemas.openxmlformats.org/drawingml/2006/main">
            <a:r>
              <a:t>  changed = now;</a:t>
            </a:r>
          </a:p>
          <a:p xmlns:a="http://schemas.openxmlformats.org/drawingml/2006/main">
            <a:r>
              <a:t>}</a:t>
            </a:r>
          </a:p>
          <a:p xmlns:a="http://schemas.openxmlformats.org/drawingml/2006/main">
            <a:r>
              <a:t>if (uint32_t(now-changed) &gt;= 25</a:t>
            </a:r>
          </a:p>
          <a:p xmlns:a="http://schemas.openxmlformats.org/drawingml/2006/main">
            <a:r>
              <a:t>    &amp;&amp; raw != stable) {</a:t>
            </a:r>
          </a:p>
          <a:p xmlns:a="http://schemas.openxmlformats.org/drawingml/2006/main">
            <a:r>
              <a:t>  stable = raw;</a:t>
            </a:r>
          </a:p>
          <a:p xmlns:a="http://schemas.openxmlformats.org/drawingml/2006/main">
            <a:r>
              <a:t>  digitalWrite(LED, stable == LOW);</a:t>
            </a:r>
          </a:p>
          <a:p xmlns:a="http://schemas.openxmlformats.org/drawingml/2006/main">
            <a:r>
              <a:t>}</a:t>
            </a:r>
          </a:p>
          <a:p xmlns:a="http://schemas.openxmlformats.org/drawingml/2006/main">
            <a:r>
              <a:t>Explicar entrada, estado, salida y momento de actualización.</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bool raw = digitalRead(BTN);</a:t>
            </a:r>
          </a:p>
          <a:p xmlns:a="http://schemas.openxmlformats.org/drawingml/2006/main">
            <a:r>
              <a:t>if (raw != rawPrevious) {</a:t>
            </a:r>
          </a:p>
          <a:p xmlns:a="http://schemas.openxmlformats.org/drawingml/2006/main">
            <a:r>
              <a:t>  rawPrevious = raw;</a:t>
            </a:r>
          </a:p>
          <a:p xmlns:a="http://schemas.openxmlformats.org/drawingml/2006/main">
            <a:r>
              <a:t>  changed = now;</a:t>
            </a:r>
          </a:p>
          <a:p xmlns:a="http://schemas.openxmlformats.org/drawingml/2006/main">
            <a:r>
              <a:t>}</a:t>
            </a:r>
          </a:p>
          <a:p xmlns:a="http://schemas.openxmlformats.org/drawingml/2006/main">
            <a:r>
              <a:t>if (uint32_t(now-changed) &gt;= 25</a:t>
            </a:r>
          </a:p>
          <a:p xmlns:a="http://schemas.openxmlformats.org/drawingml/2006/main">
            <a:r>
              <a:t>    &amp;&amp; raw != stable) {</a:t>
            </a:r>
          </a:p>
          <a:p xmlns:a="http://schemas.openxmlformats.org/drawingml/2006/main">
            <a:r>
              <a:t>  stable = raw;</a:t>
            </a:r>
          </a:p>
          <a:p xmlns:a="http://schemas.openxmlformats.org/drawingml/2006/main">
            <a:r>
              <a:t>  digitalWrite(LED, stable == LOW);</a:t>
            </a:r>
          </a:p>
          <a:p xmlns:a="http://schemas.openxmlformats.org/drawingml/2006/main">
            <a:r>
              <a:t>}</a:t>
            </a:r>
          </a:p>
          <a:p xmlns:a="http://schemas.openxmlformats.org/drawingml/2006/main">
            <a:r>
              <a:t/>
            </a:r>
          </a:p>
          <a:p xmlns:a="http://schemas.openxmlformats.org/drawingml/2006/main">
            <a:r>
              <a:t>raw es la lectura instantánea. rawPrevious permite reconocer que cambió. changed conserva cuándo se produjo el cambio más reciente. stable representa lo que el programa acepta después de la espera. Durante esa espera, loop() puede seguir atendiendo otras tareas. Al separar estas variables evitamos llamar “estado del botón” a tres cosas que no significan lo mismo. La versión completa emite PRESS y RELEASE para observar ambas transiciones.</a:t>
            </a:r>
          </a:p>
          <a:p xmlns:a="http://schemas.openxmlformats.org/drawingml/2006/main">
            <a:r>
              <a:t/>
            </a:r>
          </a:p>
          <a:p xmlns:a="http://schemas.openxmlformats.org/drawingml/2006/main">
            <a:r>
              <a:t>El piano original usa prioridades con if y else if: si se pulsan dos botones, la primera condición verdadera domina. Esa decisión puede ser correcta para un instrumento monofónico. Para una interfaz de mando hay que documentar qué ocurre con órdenes simultáneas. El alumno prueba dos entradas y describe el resultado antes de proponer otra prioridad. Programar también consiste en resolver esas situaciones límite.</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Conecta GPIO18 a GND mediante un pulsador; utiliza INPUT_PULLUP.</a:t>
            </a:r>
          </a:p>
          <a:p xmlns:a="http://schemas.openxmlformats.org/drawingml/2006/main">
            <a:r>
              <a:t>Ejecuta c02_boton y relaciona PRESS y RELEASE con la acción física.</a:t>
            </a:r>
          </a:p>
          <a:p xmlns:a="http://schemas.openxmlformats.org/drawingml/2006/main">
            <a:r>
              <a:t>Mantén pulsado dos segundos: verifica que no aparezcan nuevas pulsaciones aceptadas.</a:t>
            </a:r>
          </a:p>
          <a:p xmlns:a="http://schemas.openxmlformats.org/drawingml/2006/main">
            <a:r>
              <a:t>Añade un contador que aumente únicamente al aceptar stable == LOW.</a:t>
            </a:r>
          </a:p>
          <a:p xmlns:a="http://schemas.openxmlformats.org/drawingml/2006/main">
            <a:r>
              <a:t>En el piano del laboratorio, predice la prioridad de dos teclas y compruébala.</a:t>
            </a:r>
          </a:p>
          <a:p xmlns:a="http://schemas.openxmlformats.org/drawingml/2006/main">
            <a:r>
              <a:t>Como reto, usa el evento para solicitar un nuevo valor del dado y conserva el resultado.</a:t>
            </a:r>
          </a:p>
          <a:p xmlns:a="http://schemas.openxmlformats.org/drawingml/2006/main">
            <a:r>
              <a:t>Documenta las resistencias por segmento si se propone montar un display desnudo en hardware.</a:t>
            </a:r>
          </a:p>
          <a:p xmlns:a="http://schemas.openxmlformats.org/drawingml/2006/main">
            <a:r>
              <a:t/>
            </a:r>
          </a:p>
          <a:p xmlns:a="http://schemas.openxmlformats.org/drawingml/2006/main">
            <a:r>
              <a:t>La simulación del dado sirve para comprender condiciones, variables y presentación. Un display real puede ser de ánodo o cátodo común y necesita limitar corriente por segmento según su montaje. La ilustración original del laboratorio no sustituye esa revisión. Por eso el reto obligatorio evalúa primero la lógica y la tabla de segmentos. La construcción física se realiza con un esquema eléctrico completo revisado por el docente.</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Conecta GPIO18 a GND mediante un pulsador; utiliza INPUT_PULLUP.</a:t>
            </a:r>
          </a:p>
          <a:p xmlns:a="http://schemas.openxmlformats.org/drawingml/2006/main">
            <a:r>
              <a:t>Ejecuta c02_boton y relaciona PRESS y RELEASE con la acción física.</a:t>
            </a:r>
          </a:p>
          <a:p xmlns:a="http://schemas.openxmlformats.org/drawingml/2006/main">
            <a:r>
              <a:t>Mantén pulsado dos segundos: verifica que no aparezcan nuevas pulsaciones aceptadas.</a:t>
            </a:r>
          </a:p>
          <a:p xmlns:a="http://schemas.openxmlformats.org/drawingml/2006/main">
            <a:r>
              <a:t>Añade un contador que aumente únicamente al aceptar stable == LOW.</a:t>
            </a:r>
          </a:p>
          <a:p xmlns:a="http://schemas.openxmlformats.org/drawingml/2006/main">
            <a:r>
              <a:t>En el piano del laboratorio, predice la prioridad de dos teclas y compruébala.</a:t>
            </a:r>
          </a:p>
          <a:p xmlns:a="http://schemas.openxmlformats.org/drawingml/2006/main">
            <a:r>
              <a:t>Como reto, usa el evento para solicitar un nuevo valor del dado y conserva el resultado.</a:t>
            </a:r>
          </a:p>
          <a:p xmlns:a="http://schemas.openxmlformats.org/drawingml/2006/main">
            <a:r>
              <a:t>Documenta las resistencias por segmento si se propone montar un display desnudo en hardware.</a:t>
            </a:r>
          </a:p>
          <a:p xmlns:a="http://schemas.openxmlformats.org/drawingml/2006/main">
            <a:r>
              <a:t/>
            </a:r>
          </a:p>
          <a:p xmlns:a="http://schemas.openxmlformats.org/drawingml/2006/main">
            <a:r>
              <a:t>La simulación del dado sirve para comprender condiciones, variables y presentación. Un display real puede ser de ánodo o cátodo común y necesita limitar corriente por segmento según su montaje. La ilustración original del laboratorio no sustituye esa revisión. Por eso el reto obligatorio evalúa primero la lógica y la tabla de segmentos. La construcción física se realiza con un esquema eléctrico completo revisado por el docente.</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Conecta GPIO18 a GND mediante un pulsador; utiliza INPUT_PULLUP.</a:t>
            </a:r>
          </a:p>
          <a:p xmlns:a="http://schemas.openxmlformats.org/drawingml/2006/main">
            <a:r>
              <a:t>Ejecuta c02_boton y relaciona PRESS y RELEASE con la acción física.</a:t>
            </a:r>
          </a:p>
          <a:p xmlns:a="http://schemas.openxmlformats.org/drawingml/2006/main">
            <a:r>
              <a:t>Mantén pulsado dos segundos: verifica que no aparezcan nuevas pulsaciones aceptadas.</a:t>
            </a:r>
          </a:p>
          <a:p xmlns:a="http://schemas.openxmlformats.org/drawingml/2006/main">
            <a:r>
              <a:t>Añade un contador que aumente únicamente al aceptar stable == LOW.</a:t>
            </a:r>
          </a:p>
          <a:p xmlns:a="http://schemas.openxmlformats.org/drawingml/2006/main">
            <a:r>
              <a:t>En el piano del laboratorio, predice la prioridad de dos teclas y compruébala.</a:t>
            </a:r>
          </a:p>
          <a:p xmlns:a="http://schemas.openxmlformats.org/drawingml/2006/main">
            <a:r>
              <a:t>Como reto, usa el evento para solicitar un nuevo valor del dado y conserva el resultado.</a:t>
            </a:r>
          </a:p>
          <a:p xmlns:a="http://schemas.openxmlformats.org/drawingml/2006/main">
            <a:r>
              <a:t>Documenta las resistencias por segmento si se propone montar un display desnudo en hardware.</a:t>
            </a:r>
          </a:p>
          <a:p xmlns:a="http://schemas.openxmlformats.org/drawingml/2006/main">
            <a:r>
              <a:t>Verificar un paso antes de seguir.</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En un banco relacionado con UAV, una pulsación puede solicitar una prueba, reconocer un aviso o cambiar la pantalla. Define el estado inicial, la acción permitida y qué sucede si el botón queda retenido. La interfaz debe poder explicarse a otra persona. Una buena prueba incluye pulsación breve, larga, doble, simultánea y al iniciar el equipo. Ninguna de esas pruebas requiere un dron en vuelo; se aprende con una entrada y una salida observables.</a:t>
            </a:r>
          </a:p>
          <a:p xmlns:a="http://schemas.openxmlformats.org/drawingml/2006/main">
            <a:r>
              <a:t/>
            </a:r>
          </a:p>
          <a:p xmlns:a="http://schemas.openxmlformats.org/drawingml/2006/main">
            <a:r>
              <a:t>Prueba / Resultado que se define</a:t>
            </a:r>
          </a:p>
          <a:p xmlns:a="http://schemas.openxmlformats.org/drawingml/2006/main">
            <a:r>
              <a:t>Mantener pulsado / Un evento o acción sostenida</a:t>
            </a:r>
          </a:p>
          <a:p xmlns:a="http://schemas.openxmlformats.org/drawingml/2006/main">
            <a:r>
              <a:t>Dos botones / Prioridad o combinación</a:t>
            </a:r>
          </a:p>
          <a:p xmlns:a="http://schemas.openxmlformats.org/drawingml/2006/main">
            <a:r>
              <a:t>Pulsado al arrancar / Estado inicial documentado</a:t>
            </a:r>
          </a:p>
          <a:p xmlns:a="http://schemas.openxmlformats.org/drawingml/2006/main">
            <a:r>
              <a:t>Rebote / Una transición aceptada</a:t>
            </a:r>
          </a:p>
          <a:p xmlns:a="http://schemas.openxmlformats.org/drawingml/2006/main">
            <a:r>
              <a:t/>
            </a:r>
          </a:p>
          <a:p xmlns:a="http://schemas.openxmlformats.org/drawingml/2006/main">
            <a:r>
              <a:t>Investiga la diferencia entre un botón con resistencia externa y un pin con resistencia interna habilitada. En el ESP32 clásico, GPIO34–39 son entradas y carecen de pull-up o pull-down internos. La elección del pin, por tanto, cambia el circuito necesario. Relaciona esa información con el hecho de que esos mismos pines pueden resultar útiles para lecturas analógicas. El nombre “GPIO” no promete exactamente las mismas funciones en todos los números.</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4 minutos en esta diapositiva.</a:t>
            </a:r>
          </a:p>
          <a:p xmlns:a="http://schemas.openxmlformats.org/drawingml/2006/main">
            <a:r>
              <a:t/>
            </a:r>
          </a:p>
          <a:p xmlns:a="http://schemas.openxmlformats.org/drawingml/2006/main">
            <a:r>
              <a:t>Prueba / Resultado que se define</a:t>
            </a:r>
          </a:p>
          <a:p xmlns:a="http://schemas.openxmlformats.org/drawingml/2006/main">
            <a:r>
              <a:t>Mantener pulsado / Un evento o acción sostenida</a:t>
            </a:r>
          </a:p>
          <a:p xmlns:a="http://schemas.openxmlformats.org/drawingml/2006/main">
            <a:r>
              <a:t>Dos botones / Prioridad o combinación</a:t>
            </a:r>
          </a:p>
          <a:p xmlns:a="http://schemas.openxmlformats.org/drawingml/2006/main">
            <a:r>
              <a:t>Pulsado al arrancar / Estado inicial documentado</a:t>
            </a:r>
          </a:p>
          <a:p xmlns:a="http://schemas.openxmlformats.org/drawingml/2006/main">
            <a:r>
              <a:t>Rebote / Una transición aceptada</a:t>
            </a:r>
          </a:p>
          <a:p xmlns:a="http://schemas.openxmlformats.org/drawingml/2006/main">
            <a:r>
              <a:t>Comparar filas y explicar una condición que cambie la decisión.</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En un banco relacionado con UAV, una pulsación puede solicitar una prueba, reconocer un aviso o cambiar la pantalla. Define el estado inicial, la acción permitida y qué sucede si el botón queda retenido. La interfaz debe poder explicarse a otra persona. Una buena prueba incluye pulsación breve, larga, doble, simultánea y al iniciar el equipo. Ninguna de esas pruebas requiere un dron en vuelo; se aprende con una entrada y una salida observables.</a:t>
            </a:r>
          </a:p>
          <a:p xmlns:a="http://schemas.openxmlformats.org/drawingml/2006/main">
            <a:r>
              <a:t/>
            </a:r>
          </a:p>
          <a:p xmlns:a="http://schemas.openxmlformats.org/drawingml/2006/main">
            <a:r>
              <a:t>Prueba / Resultado que se define</a:t>
            </a:r>
          </a:p>
          <a:p xmlns:a="http://schemas.openxmlformats.org/drawingml/2006/main">
            <a:r>
              <a:t>Mantener pulsado / Un evento o acción sostenida</a:t>
            </a:r>
          </a:p>
          <a:p xmlns:a="http://schemas.openxmlformats.org/drawingml/2006/main">
            <a:r>
              <a:t>Dos botones / Prioridad o combinación</a:t>
            </a:r>
          </a:p>
          <a:p xmlns:a="http://schemas.openxmlformats.org/drawingml/2006/main">
            <a:r>
              <a:t>Pulsado al arrancar / Estado inicial documentado</a:t>
            </a:r>
          </a:p>
          <a:p xmlns:a="http://schemas.openxmlformats.org/drawingml/2006/main">
            <a:r>
              <a:t>Rebote / Una transición aceptada</a:t>
            </a:r>
          </a:p>
          <a:p xmlns:a="http://schemas.openxmlformats.org/drawingml/2006/main">
            <a:r>
              <a:t/>
            </a:r>
          </a:p>
          <a:p xmlns:a="http://schemas.openxmlformats.org/drawingml/2006/main">
            <a:r>
              <a:t>Investiga la diferencia entre un botón con resistencia externa y un pin con resistencia interna habilitada. En el ESP32 clásico, GPIO34–39 son entradas y carecen de pull-up o pull-down internos. La elección del pin, por tanto, cambia el circuito necesario. Relaciona esa información con el hecho de que esos mismos pines pueden resultar útiles para lecturas analógicas. El nombre “GPIO” no promete exactamente las mismas funciones en todos los números.</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12 minutos en esta diapositiva.</a:t>
            </a:r>
          </a:p>
          <a:p xmlns:a="http://schemas.openxmlformats.org/drawingml/2006/main">
            <a:r>
              <a:t/>
            </a:r>
          </a:p>
          <a:p xmlns:a="http://schemas.openxmlformats.org/drawingml/2006/main">
            <a:r>
              <a:t>Mostrar una pulsación larga y pedir la diferencia entre nivel y evento.</a:t>
            </a:r>
          </a:p>
          <a:p xmlns:a="http://schemas.openxmlformats.org/drawingml/2006/main">
            <a:r>
              <a:t>Rastrear raw, changed y stable con una tabla temporal.</a:t>
            </a:r>
          </a:p>
          <a:p xmlns:a="http://schemas.openxmlformats.org/drawingml/2006/main">
            <a:r>
              <a:t>Comprobar c02_boton y añadir el contador de eventos.</a:t>
            </a:r>
          </a:p>
          <a:p xmlns:a="http://schemas.openxmlformats.org/drawingml/2006/main">
            <a:r>
              <a:t>Resolver la prioridad del piano y el reto lógico del dado.</a:t>
            </a:r>
          </a:p>
          <a:p xmlns:a="http://schemas.openxmlformats.org/drawingml/2006/main">
            <a:r>
              <a:t>Rotar código, medida y registro.</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10 minutos en esta diapositiva.</a:t>
            </a:r>
          </a:p>
          <a:p xmlns:a="http://schemas.openxmlformats.org/drawingml/2006/main">
            <a:r>
              <a:t/>
            </a:r>
          </a:p>
          <a:p xmlns:a="http://schemas.openxmlformats.org/drawingml/2006/main">
            <a:r>
              <a:t>Los mandos y los avisos de una estación de drones necesitan interpretar acciones humanas con estados definidos.</a:t>
            </a:r>
          </a:p>
          <a:p xmlns:a="http://schemas.openxmlformats.org/drawingml/2006/main">
            <a:r>
              <a:t>Código del botón, tabla nivel/evento y cuatro pruebas de interfaz.</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7 minutos en esta diapositiva.</a:t>
            </a:r>
          </a:p>
          <a:p xmlns:a="http://schemas.openxmlformats.org/drawingml/2006/main">
            <a:r>
              <a:t/>
            </a:r>
          </a:p>
          <a:p xmlns:a="http://schemas.openxmlformats.org/drawingml/2006/main">
            <a:r>
              <a:t>Respuesta individual y contraste con el equipo.</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Pedir que una respuesta se apoye en el circuito o los datos del estudiante.</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MECRO. Clase 2: Programación y entradas digitales: botones que significan eventos.</a:t>
            </a:r>
          </a:p>
          <a:p xmlns:a="http://schemas.openxmlformats.org/drawingml/2006/main">
            <a:r>
              <a:t>En línea, 2 horas. Núcleo de explicación: 5 minutos en esta diapositiva.</a:t>
            </a:r>
          </a:p>
          <a:p xmlns:a="http://schemas.openxmlformats.org/drawingml/2006/main">
            <a:r>
              <a:t/>
            </a:r>
          </a:p>
          <a:p xmlns:a="http://schemas.openxmlformats.org/drawingml/2006/main">
            <a:r>
              <a:t>Código del botón, tabla nivel/evento y cuatro pruebas de interfaz.</a:t>
            </a:r>
          </a:p>
          <a:p xmlns:a="http://schemas.openxmlformats.org/drawingml/2006/main">
            <a:r>
              <a:t/>
            </a:r>
          </a:p>
          <a:p xmlns:a="http://schemas.openxmlformats.org/drawingml/2006/main">
            <a:r>
              <a:t>Objetivo: Organizar un programa con funciones y detectar una pulsación sin confundir nivel, transición y rebote.</a:t>
            </a:r>
          </a:p>
          <a:p xmlns:a="http://schemas.openxmlformats.org/drawingml/2006/main">
            <a:r>
              <a:t>Aplicación: Los mandos y los avisos de una estación de drones necesitan interpretar acciones humanas con estados definidos.</a:t>
            </a:r>
          </a:p>
          <a:p xmlns:a="http://schemas.openxmlformats.org/drawingml/2006/main">
            <a:r>
              <a:t>Entrega: Código del botón, tabla nivel/evento y cuatro pruebas de interfaz.</a:t>
            </a:r>
          </a:p>
          <a:p xmlns:a="http://schemas.openxmlformats.org/drawingml/2006/main">
            <a:r>
              <a:t/>
            </a:r>
          </a:p>
          <a:p xmlns:a="http://schemas.openxmlformats.org/drawingml/2006/main">
            <a:r>
              <a:t>Preguntas y respuestas</a:t>
            </a:r>
          </a:p>
          <a:p xmlns:a="http://schemas.openxmlformats.org/drawingml/2006/main">
            <a:r>
              <a:t>¿LOW siempre significa apagado?</a:t>
            </a:r>
          </a:p>
          <a:p xmlns:a="http://schemas.openxmlformats.org/drawingml/2006/main">
            <a:r>
              <a:t>Su significado depende del circuito; con pull-up puede representar un botón pulsado.</a:t>
            </a:r>
          </a:p>
          <a:p xmlns:a="http://schemas.openxmlformats.org/drawingml/2006/main">
            <a:r>
              <a:t/>
            </a:r>
          </a:p>
          <a:p xmlns:a="http://schemas.openxmlformats.org/drawingml/2006/main">
            <a:r>
              <a:t>¿El pull-up elimina el rebote?</a:t>
            </a:r>
          </a:p>
          <a:p xmlns:a="http://schemas.openxmlformats.org/drawingml/2006/main">
            <a:r>
              <a:t>Fija el nivel en reposo; el rebote se trata con otra estrategia.</a:t>
            </a:r>
          </a:p>
          <a:p xmlns:a="http://schemas.openxmlformats.org/drawingml/2006/main">
            <a:r>
              <a:t/>
            </a:r>
          </a:p>
          <a:p xmlns:a="http://schemas.openxmlformats.org/drawingml/2006/main">
            <a:r>
              <a:t>¿Por qué no contar cada loop() en LOW?</a:t>
            </a:r>
          </a:p>
          <a:p xmlns:a="http://schemas.openxmlformats.org/drawingml/2006/main">
            <a:r>
              <a:t>Porque una pulsación sostenida atraviesa muchas iteraciones.</a:t>
            </a:r>
          </a:p>
          <a:p xmlns:a="http://schemas.openxmlformats.org/drawingml/2006/main">
            <a:r>
              <a:t/>
            </a:r>
          </a:p>
          <a:p xmlns:a="http://schemas.openxmlformats.org/drawingml/2006/main">
            <a:r>
              <a:t>Fuentes</a:t>
            </a:r>
          </a:p>
          <a:p xmlns:a="http://schemas.openxmlformats.org/drawingml/2006/main">
            <a:r>
              <a:t>MECRO. Laboratorio Electrónica con ESP32: veinte proyectos. https://mecrodrone.github.io/mecro.github.io/laboratorio.html</a:t>
            </a:r>
          </a:p>
          <a:p xmlns:a="http://schemas.openxmlformats.org/drawingml/2006/main">
            <a:r>
              <a:t>Espressif Systems. GPIO y restricciones de ESP32 clásico. https://docs.espressif.com/projects/esp-idf/en/stable/esp32/api-reference/peripherals/gpio.html</a:t>
            </a:r>
          </a:p>
          <a:p xmlns:a="http://schemas.openxmlformats.org/drawingml/2006/main">
            <a:r>
              <a:t>Arduino. Referencia del lenguaje: millis. https://docs.arduino.cc/language-reference/en/functions/time/millis/</a:t>
            </a:r>
          </a:p>
          <a:p xmlns:a="http://schemas.openxmlformats.org/drawingml/2006/main">
            <a:r>
              <a:t>Agarwal y Lang / MIT OpenCourseWare. 6.002 Circuits and Electronics; texto: Foundations of Analog and Digital Electronic Circuits (2005). https://ocw.mit.edu/courses/6-002-circuits-and-electronics-spring-2007/</a:t>
            </a:r>
          </a:p>
          <a:p xmlns:a="http://schemas.openxmlformats.org/drawingml/2006/main">
            <a:r>
              <a:t>Lectura MECRO_ESP32_Clase_02.pdf. Los datos sintéticos están identificados y los esquemas de simulación requieren la revisión física indicada en la lectura.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4245b0141b47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849e35a542c48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aefadbfcf641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c98507db3547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019e88c55d44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2c13dc8bbe47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F3EB18-F0DC-4E18-B65F-72E8BDB751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B1844C-35F4-4118-8066-C502575B35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D1A415-CC43-4F35-B157-FFFA25E0CB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0EB86A-0F56-4BEE-B1C6-50C05E9756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4CD1743-72B8-4C6B-872C-488A2745AD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5C0203-9F14-455D-A02C-B16CD44764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5D3425-D7C6-4E66-A1BF-44E8782D7B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3573A1-0BC1-4865-AC7D-623BA48F0E4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FA0FF3-5AFD-42D0-B0DA-0D3D7ABF57E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80BED4-D064-427E-A06E-37796B072F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b177eebc39489c" /><Relationship Type="http://schemas.openxmlformats.org/officeDocument/2006/relationships/slideLayout" Target="/ppt/slideLayouts/slideLayout1.xml" Id="Re18556f7fbcb441f" /><Relationship Type="http://schemas.openxmlformats.org/officeDocument/2006/relationships/slideLayout" Target="/ppt/slideLayouts/slideLayout2.xml" Id="R3263a759bce644ed" /><Relationship Type="http://schemas.openxmlformats.org/officeDocument/2006/relationships/slideLayout" Target="/ppt/slideLayouts/slideLayout3.xml" Id="R6cc8b0ae418845cc" /><Relationship Type="http://schemas.openxmlformats.org/officeDocument/2006/relationships/slideLayout" Target="/ppt/slideLayouts/slideLayout4.xml" Id="R4924bda595d0470f" /><Relationship Type="http://schemas.openxmlformats.org/officeDocument/2006/relationships/slideLayout" Target="/ppt/slideLayouts/slideLayout5.xml" Id="Ra6dd447c78a44479" /><Relationship Type="http://schemas.openxmlformats.org/officeDocument/2006/relationships/slideLayout" Target="/ppt/slideLayouts/slideLayout6.xml" Id="R7ba023e32f3840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8556f7fbcb441f"/>
    <p:sldLayoutId xmlns:r="http://schemas.openxmlformats.org/officeDocument/2006/relationships" id="2147483650" r:id="R3263a759bce644ed"/>
    <p:sldLayoutId xmlns:r="http://schemas.openxmlformats.org/officeDocument/2006/relationships" id="2147483651" r:id="R6cc8b0ae418845cc"/>
    <p:sldLayoutId xmlns:r="http://schemas.openxmlformats.org/officeDocument/2006/relationships" id="2147483652" r:id="R4924bda595d0470f"/>
    <p:sldLayoutId xmlns:r="http://schemas.openxmlformats.org/officeDocument/2006/relationships" id="2147483653" r:id="Ra6dd447c78a44479"/>
    <p:sldLayoutId xmlns:r="http://schemas.openxmlformats.org/officeDocument/2006/relationships" id="2147483654" r:id="R7ba023e32f3840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6b36385386d48ba" /><Relationship Type="http://schemas.openxmlformats.org/officeDocument/2006/relationships/image" Target="/ppt/media/image.png" Id="R1ad2c22ae02244eb" /><Relationship Type="http://schemas.openxmlformats.org/officeDocument/2006/relationships/notesSlide" Target="/ppt/notesSlides/notesSlide1.xml" Id="R3361f600fc9046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cf8392c54ca4f9e" /><Relationship Type="http://schemas.openxmlformats.org/officeDocument/2006/relationships/image" Target="/ppt/media/image2.png" Id="Rb0105e66c17f456b" /><Relationship Type="http://schemas.openxmlformats.org/officeDocument/2006/relationships/notesSlide" Target="/ppt/notesSlides/notesSlide2.xml" Id="R52ff52f8756e40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838dcdd88e47f6" /><Relationship Type="http://schemas.openxmlformats.org/officeDocument/2006/relationships/image" Target="/ppt/media/image3.png" Id="Rb4d637c6142a44e3" /><Relationship Type="http://schemas.openxmlformats.org/officeDocument/2006/relationships/image" Target="/ppt/media/image4.png" Id="R771e7cc9975f4d73" /><Relationship Type="http://schemas.openxmlformats.org/officeDocument/2006/relationships/notesSlide" Target="/ppt/notesSlides/notesSlide3.xml" Id="R74877f49e6404e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31594a116546cb" /><Relationship Type="http://schemas.openxmlformats.org/officeDocument/2006/relationships/image" Target="/ppt/media/image5.png" Id="R87c2fe47c51548a9" /><Relationship Type="http://schemas.openxmlformats.org/officeDocument/2006/relationships/notesSlide" Target="/ppt/notesSlides/notesSlide4.xml" Id="R8101c28a42aa4a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3ab39a53d54f63" /><Relationship Type="http://schemas.openxmlformats.org/officeDocument/2006/relationships/image" Target="/ppt/media/image6.png" Id="R16955c6eb13545ee" /><Relationship Type="http://schemas.openxmlformats.org/officeDocument/2006/relationships/notesSlide" Target="/ppt/notesSlides/notesSlide5.xml" Id="R3dcf6fe2dd8144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38f09a2e00430e" /><Relationship Type="http://schemas.openxmlformats.org/officeDocument/2006/relationships/image" Target="/ppt/media/image7.png" Id="R1ea644b79b1040f2" /><Relationship Type="http://schemas.openxmlformats.org/officeDocument/2006/relationships/notesSlide" Target="/ppt/notesSlides/notesSlide6.xml" Id="R090065ecf2de47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bc89aa607b46e5" /><Relationship Type="http://schemas.openxmlformats.org/officeDocument/2006/relationships/image" Target="/ppt/media/image8.png" Id="R5d07e020f9da4631" /><Relationship Type="http://schemas.openxmlformats.org/officeDocument/2006/relationships/image" Target="/ppt/media/image9.png" Id="R9a788cbb57c64662" /><Relationship Type="http://schemas.openxmlformats.org/officeDocument/2006/relationships/notesSlide" Target="/ppt/notesSlides/notesSlide7.xml" Id="R5978c61f58d042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2266b624244492" /><Relationship Type="http://schemas.openxmlformats.org/officeDocument/2006/relationships/image" Target="/ppt/media/image10.png" Id="R2628081273394d89" /><Relationship Type="http://schemas.openxmlformats.org/officeDocument/2006/relationships/notesSlide" Target="/ppt/notesSlides/notesSlide8.xml" Id="R45d70b5587ef44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e2d91f36124ee7" /><Relationship Type="http://schemas.openxmlformats.org/officeDocument/2006/relationships/image" Target="/ppt/media/image11.png" Id="R4f072713f9614b57" /><Relationship Type="http://schemas.openxmlformats.org/officeDocument/2006/relationships/notesSlide" Target="/ppt/notesSlides/notesSlide9.xml" Id="Rc8abf8e1d333440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27fe7ac4fcb4c19" /><Relationship Type="http://schemas.openxmlformats.org/officeDocument/2006/relationships/image" Target="/ppt/media/image12.png" Id="R251d2186b9d640cc" /><Relationship Type="http://schemas.openxmlformats.org/officeDocument/2006/relationships/image" Target="/ppt/media/image13.png" Id="Rc729dbe63846457c" /><Relationship Type="http://schemas.openxmlformats.org/officeDocument/2006/relationships/notesSlide" Target="/ppt/notesSlides/notesSlide10.xml" Id="R687e2c4f061f45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efee4752d74371" /><Relationship Type="http://schemas.openxmlformats.org/officeDocument/2006/relationships/image" Target="/ppt/media/image14.png" Id="R58a95253a0ca4151" /><Relationship Type="http://schemas.openxmlformats.org/officeDocument/2006/relationships/notesSlide" Target="/ppt/notesSlides/notesSlide11.xml" Id="R3da6a9a704b64a7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b9fc0382264ded" /><Relationship Type="http://schemas.openxmlformats.org/officeDocument/2006/relationships/image" Target="/ppt/media/image15.png" Id="R7065f94ecd364927" /><Relationship Type="http://schemas.openxmlformats.org/officeDocument/2006/relationships/notesSlide" Target="/ppt/notesSlides/notesSlide12.xml" Id="R3f47144fed6243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454805031e944e5" /><Relationship Type="http://schemas.openxmlformats.org/officeDocument/2006/relationships/image" Target="/ppt/media/image16.png" Id="Rc720f4b78b124fdc" /><Relationship Type="http://schemas.openxmlformats.org/officeDocument/2006/relationships/notesSlide" Target="/ppt/notesSlides/notesSlide13.xml" Id="Re120aaa4fd814a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4b5f8103a704e43" /><Relationship Type="http://schemas.openxmlformats.org/officeDocument/2006/relationships/image" Target="/ppt/media/image17.png" Id="R578c0b64c5994feb" /><Relationship Type="http://schemas.openxmlformats.org/officeDocument/2006/relationships/notesSlide" Target="/ppt/notesSlides/notesSlide14.xml" Id="R00b7332c812f41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665791eb8a54c2b" /><Relationship Type="http://schemas.openxmlformats.org/officeDocument/2006/relationships/image" Target="/ppt/media/image18.png" Id="Rf5b492a883b84f8e" /><Relationship Type="http://schemas.openxmlformats.org/officeDocument/2006/relationships/notesSlide" Target="/ppt/notesSlides/notesSlide15.xml" Id="R3fbe089a6b5449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9db5a92668c4083" /><Relationship Type="http://schemas.openxmlformats.org/officeDocument/2006/relationships/image" Target="/ppt/media/image19.png" Id="R75e039225be049e0" /><Relationship Type="http://schemas.openxmlformats.org/officeDocument/2006/relationships/notesSlide" Target="/ppt/notesSlides/notesSlide16.xml" Id="Rd2ded7006ac14e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ec1d0b784f6485f" /><Relationship Type="http://schemas.openxmlformats.org/officeDocument/2006/relationships/image" Target="/ppt/media/image20.png" Id="Rc90bc05b62e64278" /><Relationship Type="http://schemas.openxmlformats.org/officeDocument/2006/relationships/notesSlide" Target="/ppt/notesSlides/notesSlide17.xml" Id="R0799c20b488440b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a25f7974ac44d91" /><Relationship Type="http://schemas.openxmlformats.org/officeDocument/2006/relationships/image" Target="/ppt/media/image21.png" Id="R8bc79e43fae64d33" /><Relationship Type="http://schemas.openxmlformats.org/officeDocument/2006/relationships/notesSlide" Target="/ppt/notesSlides/notesSlide18.xml" Id="R993f9d0cced34c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427070090d442b3" /><Relationship Type="http://schemas.openxmlformats.org/officeDocument/2006/relationships/image" Target="/ppt/media/image22.png" Id="R6177988518384857" /><Relationship Type="http://schemas.openxmlformats.org/officeDocument/2006/relationships/notesSlide" Target="/ppt/notesSlides/notesSlide19.xml" Id="R446f3b70fef34d7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3a5c46e128640d5" /><Relationship Type="http://schemas.openxmlformats.org/officeDocument/2006/relationships/image" Target="/ppt/media/image23.png" Id="Ra5a8eca7b2574b70" /><Relationship Type="http://schemas.openxmlformats.org/officeDocument/2006/relationships/notesSlide" Target="/ppt/notesSlides/notesSlide20.xml" Id="Rbd3892479b0f424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52456edf5d6472a" /><Relationship Type="http://schemas.openxmlformats.org/officeDocument/2006/relationships/image" Target="/ppt/media/image24.png" Id="R5dba700054154e9a" /><Relationship Type="http://schemas.openxmlformats.org/officeDocument/2006/relationships/notesSlide" Target="/ppt/notesSlides/notesSlide21.xml" Id="Ra21a051b892749f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ac7e1fd649b485a" /><Relationship Type="http://schemas.openxmlformats.org/officeDocument/2006/relationships/image" Target="/ppt/media/image25.png" Id="Rbf98cbaeb9734c89" /><Relationship Type="http://schemas.openxmlformats.org/officeDocument/2006/relationships/notesSlide" Target="/ppt/notesSlides/notesSlide22.xml" Id="Ra741baf36b834d9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72402c764e84e7b" /><Relationship Type="http://schemas.openxmlformats.org/officeDocument/2006/relationships/image" Target="/ppt/media/image26.png" Id="Rc1d7645bd9c54387" /><Relationship Type="http://schemas.openxmlformats.org/officeDocument/2006/relationships/notesSlide" Target="/ppt/notesSlides/notesSlide23.xml" Id="Rb18027484b9848c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b1362f72b71453c" /><Relationship Type="http://schemas.openxmlformats.org/officeDocument/2006/relationships/image" Target="/ppt/media/image27.png" Id="R146c5d6239c643a6" /><Relationship Type="http://schemas.openxmlformats.org/officeDocument/2006/relationships/notesSlide" Target="/ppt/notesSlides/notesSlide24.xml" Id="Rdbd3f0b88c05488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248597777464bac" /><Relationship Type="http://schemas.openxmlformats.org/officeDocument/2006/relationships/image" Target="/ppt/media/image28.png" Id="Re08e4a04d8704904" /><Relationship Type="http://schemas.openxmlformats.org/officeDocument/2006/relationships/notesSlide" Target="/ppt/notesSlides/notesSlide25.xml" Id="Re15570afc42e4f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0a47f16363140b0" /><Relationship Type="http://schemas.openxmlformats.org/officeDocument/2006/relationships/image" Target="/ppt/media/image29.png" Id="R790f1367360442ea" /><Relationship Type="http://schemas.openxmlformats.org/officeDocument/2006/relationships/notesSlide" Target="/ppt/notesSlides/notesSlide26.xml" Id="R139bae38d6d042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a057d718ebd43f7" /><Relationship Type="http://schemas.openxmlformats.org/officeDocument/2006/relationships/image" Target="/ppt/media/image30.png" Id="R636a6044a6514a9c" /><Relationship Type="http://schemas.openxmlformats.org/officeDocument/2006/relationships/image" Target="/ppt/media/image31.png" Id="Rc66e7ffea35949e9" /><Relationship Type="http://schemas.openxmlformats.org/officeDocument/2006/relationships/notesSlide" Target="/ppt/notesSlides/notesSlide27.xml" Id="Rebf5e050ce974e1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84ba46d18644eac" /><Relationship Type="http://schemas.openxmlformats.org/officeDocument/2006/relationships/image" Target="/ppt/media/image32.png" Id="R6a434537eacf4505" /><Relationship Type="http://schemas.openxmlformats.org/officeDocument/2006/relationships/notesSlide" Target="/ppt/notesSlides/notesSlide28.xml" Id="R0a2d84b405534e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973552326414ba8" /><Relationship Type="http://schemas.openxmlformats.org/officeDocument/2006/relationships/image" Target="/ppt/media/image33.png" Id="Re940a4070c7b43f0" /><Relationship Type="http://schemas.openxmlformats.org/officeDocument/2006/relationships/notesSlide" Target="/ppt/notesSlides/notesSlide29.xml" Id="R8f16c3ffddc3401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c3f6f2b77674c2f" /><Relationship Type="http://schemas.openxmlformats.org/officeDocument/2006/relationships/image" Target="/ppt/media/image34.png" Id="R5b85b8e63fc4463b" /><Relationship Type="http://schemas.openxmlformats.org/officeDocument/2006/relationships/notesSlide" Target="/ppt/notesSlides/notesSlide30.xml" Id="R02837fde483647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5f0b5f888b547d7" /><Relationship Type="http://schemas.openxmlformats.org/officeDocument/2006/relationships/image" Target="/ppt/media/image35.png" Id="Re27a938d9ecd43fc" /><Relationship Type="http://schemas.openxmlformats.org/officeDocument/2006/relationships/notesSlide" Target="/ppt/notesSlides/notesSlide31.xml" Id="Rdd0a4992834140d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04a63a2a8434410" /><Relationship Type="http://schemas.openxmlformats.org/officeDocument/2006/relationships/image" Target="/ppt/media/image36.png" Id="R0d2a39dc59044c75" /><Relationship Type="http://schemas.openxmlformats.org/officeDocument/2006/relationships/notesSlide" Target="/ppt/notesSlides/notesSlide32.xml" Id="Rdcaaa99e7b3642b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5e7ad5b489146f0" /><Relationship Type="http://schemas.openxmlformats.org/officeDocument/2006/relationships/image" Target="/ppt/media/image37.png" Id="R9d8e1883cc9d40f8" /><Relationship Type="http://schemas.openxmlformats.org/officeDocument/2006/relationships/notesSlide" Target="/ppt/notesSlides/notesSlide33.xml" Id="R274e711bc58d430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46ab1bbf12484b39" /><Relationship Type="http://schemas.openxmlformats.org/officeDocument/2006/relationships/image" Target="/ppt/media/image38.png" Id="R9b00288536f94e96" /><Relationship Type="http://schemas.openxmlformats.org/officeDocument/2006/relationships/notesSlide" Target="/ppt/notesSlides/notesSlide34.xml" Id="R38941d4832174dc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bc3eb25476541f5" /><Relationship Type="http://schemas.openxmlformats.org/officeDocument/2006/relationships/image" Target="/ppt/media/image39.png" Id="R40cee51667f04d1d" /><Relationship Type="http://schemas.openxmlformats.org/officeDocument/2006/relationships/notesSlide" Target="/ppt/notesSlides/notesSlide35.xml" Id="Rcc84d4abf38643a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a0891c4f9a64f9e" /><Relationship Type="http://schemas.openxmlformats.org/officeDocument/2006/relationships/image" Target="/ppt/media/image40.png" Id="R34855602d1684b55" /><Relationship Type="http://schemas.openxmlformats.org/officeDocument/2006/relationships/notesSlide" Target="/ppt/notesSlides/notesSlide36.xml" Id="Rb91a7bcb2c9949a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16680ab6fe24cc5" /><Relationship Type="http://schemas.openxmlformats.org/officeDocument/2006/relationships/image" Target="/ppt/media/image41.png" Id="Rf2f98057a2254905" /><Relationship Type="http://schemas.openxmlformats.org/officeDocument/2006/relationships/notesSlide" Target="/ppt/notesSlides/notesSlide37.xml" Id="R8251cadadb754ad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2e08ddbd3e74cec" /><Relationship Type="http://schemas.openxmlformats.org/officeDocument/2006/relationships/image" Target="/ppt/media/image42.png" Id="Rf453814b25bf48c5" /><Relationship Type="http://schemas.openxmlformats.org/officeDocument/2006/relationships/notesSlide" Target="/ppt/notesSlides/notesSlide38.xml" Id="R29b46fed98c34c1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c610765823c94ea6" /><Relationship Type="http://schemas.openxmlformats.org/officeDocument/2006/relationships/image" Target="/ppt/media/image43.png" Id="R7043151873de4d24" /><Relationship Type="http://schemas.openxmlformats.org/officeDocument/2006/relationships/notesSlide" Target="/ppt/notesSlides/notesSlide39.xml" Id="R19df870ea434481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e55022ab83f4ff8" /><Relationship Type="http://schemas.openxmlformats.org/officeDocument/2006/relationships/image" Target="/ppt/media/image44.png" Id="R99f0df946bab43ec" /><Relationship Type="http://schemas.openxmlformats.org/officeDocument/2006/relationships/notesSlide" Target="/ppt/notesSlides/notesSlide40.xml" Id="R004c79632cfd49e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175ae2c1421d4168" /><Relationship Type="http://schemas.openxmlformats.org/officeDocument/2006/relationships/image" Target="/ppt/media/image45.png" Id="R0e64cbf9533548ca" /><Relationship Type="http://schemas.openxmlformats.org/officeDocument/2006/relationships/notesSlide" Target="/ppt/notesSlides/notesSlide41.xml" Id="R2b44ebfa8f98474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e377ab85b114c29" /><Relationship Type="http://schemas.openxmlformats.org/officeDocument/2006/relationships/image" Target="/ppt/media/image46.png" Id="R1116f1acfa6d420c" /><Relationship Type="http://schemas.openxmlformats.org/officeDocument/2006/relationships/notesSlide" Target="/ppt/notesSlides/notesSlide42.xml" Id="R06b42cf835cd46d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a0ac79af85c4826" /><Relationship Type="http://schemas.openxmlformats.org/officeDocument/2006/relationships/image" Target="/ppt/media/image47.png" Id="R80e36af93cd94c50" /><Relationship Type="http://schemas.openxmlformats.org/officeDocument/2006/relationships/notesSlide" Target="/ppt/notesSlides/notesSlide43.xml" Id="Rc08818eb83a4490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99586596c1548ba" /><Relationship Type="http://schemas.openxmlformats.org/officeDocument/2006/relationships/image" Target="/ppt/media/image48.png" Id="R682e2059852e44aa" /><Relationship Type="http://schemas.openxmlformats.org/officeDocument/2006/relationships/notesSlide" Target="/ppt/notesSlides/notesSlide44.xml" Id="R8f22570f7b434aa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2b53e025de443d9" /><Relationship Type="http://schemas.openxmlformats.org/officeDocument/2006/relationships/image" Target="/ppt/media/image49.png" Id="R136d1cb4bc114ceb" /><Relationship Type="http://schemas.openxmlformats.org/officeDocument/2006/relationships/notesSlide" Target="/ppt/notesSlides/notesSlide45.xml" Id="R7738fb7d0b684c1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16981cba6cbd493a" /><Relationship Type="http://schemas.openxmlformats.org/officeDocument/2006/relationships/image" Target="/ppt/media/image50.png" Id="Raf5ceb1cd5d143fc" /><Relationship Type="http://schemas.openxmlformats.org/officeDocument/2006/relationships/notesSlide" Target="/ppt/notesSlides/notesSlide46.xml" Id="R928bc3c0fd82429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a02560e94e7464b" /><Relationship Type="http://schemas.openxmlformats.org/officeDocument/2006/relationships/image" Target="/ppt/media/image51.png" Id="Rf808d66bb64b4c46" /><Relationship Type="http://schemas.openxmlformats.org/officeDocument/2006/relationships/notesSlide" Target="/ppt/notesSlides/notesSlide47.xml" Id="Rc0da413d6ea44f8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adac8d16f544f6d" /><Relationship Type="http://schemas.openxmlformats.org/officeDocument/2006/relationships/image" Target="/ppt/media/image52.png" Id="Rbc0f562418604c26" /><Relationship Type="http://schemas.openxmlformats.org/officeDocument/2006/relationships/notesSlide" Target="/ppt/notesSlides/notesSlide48.xml" Id="R589be90f219e4c1a" /></Relationships>
</file>

<file path=ppt/slides/slide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914D7E-D31D-49A6-AC6F-B54167C71E7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Electrónica con ESP32: del circuito al primer programa</a:t>
            </a:r>
          </a:p>
        </p:txBody>
      </p:sp>
      <p:pic>
        <p:nvPicPr>
          <p:cNvPr id="2" name="">
            <a:extLst xmlns:a="http://schemas.openxmlformats.org/drawingml/2006/main">
              <a:ext uri="{FF2B5EF4-FFF2-40B4-BE49-F238E27FC236}">
                <a16:creationId xmlns:a16="http://schemas.microsoft.com/office/drawing/2014/main" id="{DE5EC8AC-9B64-41B6-859E-D19E3EA8B656}"/>
              </a:ext>
            </a:extLst>
          </p:cNvPr>
          <p:cNvPicPr>
            <a:picLocks xmlns:a="http://schemas.openxmlformats.org/drawingml/2006/main" noChangeAspect="1"/>
          </p:cNvPicPr>
          <p:nvPr/>
        </p:nvPicPr>
        <p:blipFill>
          <a:blip xmlns:r="http://schemas.openxmlformats.org/officeDocument/2006/relationships" xmlns:a="http://schemas.openxmlformats.org/drawingml/2006/main" r:embed="R1ad2c22ae02244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A365F02-F9A3-4FB6-81F4-015FF590236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01/24</a:t>
            </a:r>
          </a:p>
        </p:txBody>
      </p:sp>
      <p:sp>
        <p:nvSpPr>
          <p:cNvPr id="4" name="">
            <a:extLst xmlns:a="http://schemas.openxmlformats.org/drawingml/2006/main">
              <a:ext uri="{FF2B5EF4-FFF2-40B4-BE49-F238E27FC236}">
                <a16:creationId xmlns:a16="http://schemas.microsoft.com/office/drawing/2014/main" id="{CC77541F-1AAC-4826-B305-AB2AEE885F3C}"/>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Reconocer la placa clásica y construir una salida LED cuya corriente pueda explicar.</a:t>
            </a:r>
          </a:p>
        </p:txBody>
      </p:sp>
      <p:sp>
        <p:nvSpPr>
          <p:cNvPr id="5" name="">
            <a:extLst xmlns:a="http://schemas.openxmlformats.org/drawingml/2006/main">
              <a:ext uri="{FF2B5EF4-FFF2-40B4-BE49-F238E27FC236}">
                <a16:creationId xmlns:a16="http://schemas.microsoft.com/office/drawing/2014/main" id="{2863CDB8-F56F-4E51-8E17-F3F6D316DACD}"/>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Un indicador de estado en una estación de drones debe comunicar una condición mediante un circuito y un programa que se entiendan.</a:t>
            </a:r>
          </a:p>
        </p:txBody>
      </p:sp>
      <p:sp>
        <p:nvSpPr>
          <p:cNvPr id="6" name="">
            <a:extLst xmlns:a="http://schemas.openxmlformats.org/drawingml/2006/main">
              <a:ext uri="{FF2B5EF4-FFF2-40B4-BE49-F238E27FC236}">
                <a16:creationId xmlns:a16="http://schemas.microsoft.com/office/drawing/2014/main" id="{6291B7ED-7DD5-4DBD-AB32-FAD523C76C54}"/>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944587253"/>
      </p:ext>
    </p:extLst>
  </p:cSld>
</p:sld>
</file>

<file path=ppt/slides/slide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C556BDA-4B8B-44E4-8D66-F4346192128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estamos construyendo</a:t>
            </a:r>
          </a:p>
        </p:txBody>
      </p:sp>
      <p:pic>
        <p:nvPicPr>
          <p:cNvPr id="2" name="">
            <a:extLst xmlns:a="http://schemas.openxmlformats.org/drawingml/2006/main">
              <a:ext uri="{FF2B5EF4-FFF2-40B4-BE49-F238E27FC236}">
                <a16:creationId xmlns:a16="http://schemas.microsoft.com/office/drawing/2014/main" id="{BCD68B7A-681A-42A9-B4DE-E168693CE2FF}"/>
              </a:ext>
            </a:extLst>
          </p:cNvPr>
          <p:cNvPicPr>
            <a:picLocks xmlns:a="http://schemas.openxmlformats.org/drawingml/2006/main" noChangeAspect="1"/>
          </p:cNvPicPr>
          <p:nvPr/>
        </p:nvPicPr>
        <p:blipFill>
          <a:blip xmlns:r="http://schemas.openxmlformats.org/officeDocument/2006/relationships" xmlns:a="http://schemas.openxmlformats.org/drawingml/2006/main" r:embed="Rb0105e66c17f456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6F300AE-AC50-47F7-B63A-82AFE80362D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02/24</a:t>
            </a:r>
          </a:p>
        </p:txBody>
      </p:sp>
      <p:sp>
        <p:nvSpPr>
          <p:cNvPr id="4" name="">
            <a:extLst xmlns:a="http://schemas.openxmlformats.org/drawingml/2006/main">
              <a:ext uri="{FF2B5EF4-FFF2-40B4-BE49-F238E27FC236}">
                <a16:creationId xmlns:a16="http://schemas.microsoft.com/office/drawing/2014/main" id="{C3EE1DE6-D061-4808-BE94-5ECF7D3EDCD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primer objeto del curso es un LED externo con su resistencia. Parece sencillo, pero reúne las cuatro decisiones que repetiremos: de dónde sale la energía, por dónde circula la corriente, qué señal controla el comportamiento y cómo comprobaremos el resultado. El ESP32 es un microcontrolador: ejecuta instrucciones y dispone de periféricos para relacionarlas con entradas y salidas. La placa de desarrollo añade alimentación, conexiones y una interfaz de programación. El módulo metálico y el conector USB cumplen funciones diferentes.</a:t>
            </a:r>
          </a:p>
        </p:txBody>
      </p:sp>
    </p:spTree>
    <p:extLst>
      <p:ext uri="{BB962C8B-B14F-4D97-AF65-F5344CB8AC3E}">
        <p14:creationId xmlns:p14="http://schemas.microsoft.com/office/powerpoint/2010/main" val="1681688886"/>
      </p:ext>
    </p:extLst>
  </p:cSld>
</p:sld>
</file>

<file path=ppt/slides/slide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47ABE75-131F-4295-87D5-FF202CDB4DD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Qué estamos construyendo</a:t>
            </a:r>
          </a:p>
        </p:txBody>
      </p:sp>
      <p:pic>
        <p:nvPicPr>
          <p:cNvPr id="2" name="">
            <a:extLst xmlns:a="http://schemas.openxmlformats.org/drawingml/2006/main">
              <a:ext uri="{FF2B5EF4-FFF2-40B4-BE49-F238E27FC236}">
                <a16:creationId xmlns:a16="http://schemas.microsoft.com/office/drawing/2014/main" id="{0A2DBD5E-A3A8-4E1C-9976-00801A4771C0}"/>
              </a:ext>
            </a:extLst>
          </p:cNvPr>
          <p:cNvPicPr>
            <a:picLocks xmlns:a="http://schemas.openxmlformats.org/drawingml/2006/main" noChangeAspect="1"/>
          </p:cNvPicPr>
          <p:nvPr/>
        </p:nvPicPr>
        <p:blipFill>
          <a:blip xmlns:r="http://schemas.openxmlformats.org/officeDocument/2006/relationships" xmlns:a="http://schemas.openxmlformats.org/drawingml/2006/main" r:embed="Rb4d637c6142a44e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8E5C511-7A77-49E2-8452-A57F705DB3A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03/24</a:t>
            </a:r>
          </a:p>
        </p:txBody>
      </p:sp>
      <p:pic>
        <p:nvPicPr>
          <p:cNvPr id="4" name="">
            <a:extLst xmlns:a="http://schemas.openxmlformats.org/drawingml/2006/main">
              <a:ext uri="{FF2B5EF4-FFF2-40B4-BE49-F238E27FC236}">
                <a16:creationId xmlns:a16="http://schemas.microsoft.com/office/drawing/2014/main" id="{ACE34A3F-3C8A-46DA-878C-1389A37756B8}"/>
              </a:ext>
            </a:extLst>
          </p:cNvPr>
          <p:cNvPicPr>
            <a:picLocks xmlns:a="http://schemas.openxmlformats.org/drawingml/2006/main" noChangeAspect="1"/>
          </p:cNvPicPr>
          <p:nvPr/>
        </p:nvPicPr>
        <p:blipFill>
          <a:blip xmlns:r="http://schemas.openxmlformats.org/officeDocument/2006/relationships" xmlns:a="http://schemas.openxmlformats.org/drawingml/2006/main" r:embed="R771e7cc9975f4d73"/>
          <a:stretch xmlns:a="http://schemas.openxmlformats.org/drawingml/2006/main"/>
        </p:blipFill>
        <p:spPr>
          <a:xfrm xmlns:a="http://schemas.openxmlformats.org/drawingml/2006/main">
            <a:off x="1982176" y="1638300"/>
            <a:ext cx="4627198"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DAF72DF-04C2-4359-ACD9-BF61391CED7A}"/>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Sigue el camino GPIO → resistencia → LED → GND. ¿Dónde medirías la caída en la resistencia?</a:t>
            </a:r>
          </a:p>
        </p:txBody>
      </p:sp>
      <p:sp>
        <p:nvSpPr>
          <p:cNvPr id="6" name="">
            <a:extLst xmlns:a="http://schemas.openxmlformats.org/drawingml/2006/main">
              <a:ext uri="{FF2B5EF4-FFF2-40B4-BE49-F238E27FC236}">
                <a16:creationId xmlns:a16="http://schemas.microsoft.com/office/drawing/2014/main" id="{3A2B3A95-F3C3-46E5-8E0C-5CD8504D7719}"/>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01.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337224080"/>
      </p:ext>
    </p:extLst>
  </p:cSld>
</p:sld>
</file>

<file path=ppt/slides/slide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8A7A5A-B0D2-4E72-BBE4-CF4A25BEABA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Qué estamos construyendo</a:t>
            </a:r>
          </a:p>
        </p:txBody>
      </p:sp>
      <p:pic>
        <p:nvPicPr>
          <p:cNvPr id="2" name="">
            <a:extLst xmlns:a="http://schemas.openxmlformats.org/drawingml/2006/main">
              <a:ext uri="{FF2B5EF4-FFF2-40B4-BE49-F238E27FC236}">
                <a16:creationId xmlns:a16="http://schemas.microsoft.com/office/drawing/2014/main" id="{445FAB53-5F69-4C2C-AF72-CAA2EFA57396}"/>
              </a:ext>
            </a:extLst>
          </p:cNvPr>
          <p:cNvPicPr>
            <a:picLocks xmlns:a="http://schemas.openxmlformats.org/drawingml/2006/main" noChangeAspect="1"/>
          </p:cNvPicPr>
          <p:nvPr/>
        </p:nvPicPr>
        <p:blipFill>
          <a:blip xmlns:r="http://schemas.openxmlformats.org/officeDocument/2006/relationships" xmlns:a="http://schemas.openxmlformats.org/drawingml/2006/main" r:embed="R87c2fe47c51548a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811D3FA-563E-496F-B5D0-4EF3C0D9CC2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04/24</a:t>
            </a:r>
          </a:p>
        </p:txBody>
      </p:sp>
      <p:sp>
        <p:nvSpPr>
          <p:cNvPr id="4" name="">
            <a:extLst xmlns:a="http://schemas.openxmlformats.org/drawingml/2006/main">
              <a:ext uri="{FF2B5EF4-FFF2-40B4-BE49-F238E27FC236}">
                <a16:creationId xmlns:a16="http://schemas.microsoft.com/office/drawing/2014/main" id="{A1D70A1C-7999-488A-AC87-3C394660291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Identifica el texto del módulo antes de elegir la placa en el entorno. El curso usa ESP32 clásico, confirmado para el kit MECRO. Una placa S3 requiere otra selección y otro mapa de pines. En el protoboard, los grupos de contactos y los rieles de alimentación no son todos continuos. Con el circuito desconectado, sigue con el dedo el camino GPIO, resistencia, LED y GND. Si el camino termina en una fila sin continuidad, ningún cambio de código lo completará.</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La referencia GND permite interpretar el voltaje de una señal. Medir 3,3 V significa medir una diferencia respecto a esa referencia; no significa que el pin pueda entregar cualquier corriente. Un GPIO representa una orden de baja potencia. Durante las primeras prácticas separaremos esa función de la energía que necesitan servos y motores. Esta distinción será fundamental al reconocer el controlador, los ESC y la batería de un dron.</a:t>
            </a:r>
          </a:p>
        </p:txBody>
      </p:sp>
    </p:spTree>
    <p:extLst>
      <p:ext uri="{BB962C8B-B14F-4D97-AF65-F5344CB8AC3E}">
        <p14:creationId xmlns:p14="http://schemas.microsoft.com/office/powerpoint/2010/main" val="1227398257"/>
      </p:ext>
    </p:extLst>
  </p:cSld>
</p:sld>
</file>

<file path=ppt/slides/slide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F4F141-2C63-490D-B783-E7A7D1323E0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Voltaje, corriente y resistencia con unidades</a:t>
            </a:r>
          </a:p>
        </p:txBody>
      </p:sp>
      <p:pic>
        <p:nvPicPr>
          <p:cNvPr id="2" name="">
            <a:extLst xmlns:a="http://schemas.openxmlformats.org/drawingml/2006/main">
              <a:ext uri="{FF2B5EF4-FFF2-40B4-BE49-F238E27FC236}">
                <a16:creationId xmlns:a16="http://schemas.microsoft.com/office/drawing/2014/main" id="{E09CB36D-0D09-4540-920C-64D4D90645DC}"/>
              </a:ext>
            </a:extLst>
          </p:cNvPr>
          <p:cNvPicPr>
            <a:picLocks xmlns:a="http://schemas.openxmlformats.org/drawingml/2006/main" noChangeAspect="1"/>
          </p:cNvPicPr>
          <p:nvPr/>
        </p:nvPicPr>
        <p:blipFill>
          <a:blip xmlns:r="http://schemas.openxmlformats.org/officeDocument/2006/relationships" xmlns:a="http://schemas.openxmlformats.org/drawingml/2006/main" r:embed="R16955c6eb13545e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C510969-163F-4556-BBF7-760CF55BEFE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05/24</a:t>
            </a:r>
          </a:p>
        </p:txBody>
      </p:sp>
      <p:sp>
        <p:nvSpPr>
          <p:cNvPr id="4" name="">
            <a:extLst xmlns:a="http://schemas.openxmlformats.org/drawingml/2006/main">
              <a:ext uri="{FF2B5EF4-FFF2-40B4-BE49-F238E27FC236}">
                <a16:creationId xmlns:a16="http://schemas.microsoft.com/office/drawing/2014/main" id="{F59E6738-71B2-4B5E-9B51-B874DA5A67B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El voltaje expresa diferencia de potencial y se mide en voltios. La corriente expresa flujo de carga y se mide en amperios. La resistencia relaciona ambos en un elemento resistivo bajo el modelo que usamos en clase. La analogía del agua ayuda a imaginar presión y caudal, pero el circuito se resuelve con magnitudes eléctricas. La corriente se expresa con frecuencia en miliamperios: 5 mA son 0,005 A. Convertir correctamente la unidad evita seleccionar una resistencia mil veces distinta.</a:t>
            </a:r>
          </a:p>
        </p:txBody>
      </p:sp>
    </p:spTree>
    <p:extLst>
      <p:ext uri="{BB962C8B-B14F-4D97-AF65-F5344CB8AC3E}">
        <p14:creationId xmlns:p14="http://schemas.microsoft.com/office/powerpoint/2010/main" val="1983246677"/>
      </p:ext>
    </p:extLst>
  </p:cSld>
</p:sld>
</file>

<file path=ppt/slides/slide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4DDC8B-BACB-4805-AB33-00665E710E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Magnitudes que vamos a distinguir</a:t>
            </a:r>
          </a:p>
        </p:txBody>
      </p:sp>
      <p:pic>
        <p:nvPicPr>
          <p:cNvPr id="2" name="">
            <a:extLst xmlns:a="http://schemas.openxmlformats.org/drawingml/2006/main">
              <a:ext uri="{FF2B5EF4-FFF2-40B4-BE49-F238E27FC236}">
                <a16:creationId xmlns:a16="http://schemas.microsoft.com/office/drawing/2014/main" id="{3B0926C1-ECA7-48B2-9548-07E68864420B}"/>
              </a:ext>
            </a:extLst>
          </p:cNvPr>
          <p:cNvPicPr>
            <a:picLocks xmlns:a="http://schemas.openxmlformats.org/drawingml/2006/main" noChangeAspect="1"/>
          </p:cNvPicPr>
          <p:nvPr/>
        </p:nvPicPr>
        <p:blipFill>
          <a:blip xmlns:r="http://schemas.openxmlformats.org/officeDocument/2006/relationships" xmlns:a="http://schemas.openxmlformats.org/drawingml/2006/main" r:embed="R1ea644b79b1040f2"/>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E61D25-0855-4392-B593-20081D2922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06/24</a:t>
            </a:r>
          </a:p>
        </p:txBody>
      </p:sp>
      <p:graphicFrame>
        <p:nvGraphicFramePr>
          <p:cNvPr id="4" name="">
            <a:extLst xmlns:a="http://schemas.openxmlformats.org/drawingml/2006/main">
              <a:ext uri="{FF2B5EF4-FFF2-40B4-BE49-F238E27FC236}">
                <a16:creationId xmlns:a16="http://schemas.microsoft.com/office/drawing/2014/main" id="{5AAF73BA-EE92-44CA-A050-7F20D51BEA0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Magnitud</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Unidad</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pregunta responde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Voltaje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V</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Diferencia entre dos nodos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Corriente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A o mA</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Cuánta carga circula</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Resistencia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ohm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Relación V/I del resistor</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Potencia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W</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Energía por segundo</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801154471"/>
      </p:ext>
    </p:extLst>
  </p:cSld>
</p:sld>
</file>

<file path=ppt/slides/slide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12701F-53F5-4A48-8C46-E9E7B20F73A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Voltaje, corriente y resistencia con unidades</a:t>
            </a:r>
          </a:p>
        </p:txBody>
      </p:sp>
      <p:pic>
        <p:nvPicPr>
          <p:cNvPr id="2" name="">
            <a:extLst xmlns:a="http://schemas.openxmlformats.org/drawingml/2006/main">
              <a:ext uri="{FF2B5EF4-FFF2-40B4-BE49-F238E27FC236}">
                <a16:creationId xmlns:a16="http://schemas.microsoft.com/office/drawing/2014/main" id="{F445987C-79CC-4D0E-AC6D-D9FF3082B57A}"/>
              </a:ext>
            </a:extLst>
          </p:cNvPr>
          <p:cNvPicPr>
            <a:picLocks xmlns:a="http://schemas.openxmlformats.org/drawingml/2006/main" noChangeAspect="1"/>
          </p:cNvPicPr>
          <p:nvPr/>
        </p:nvPicPr>
        <p:blipFill>
          <a:blip xmlns:r="http://schemas.openxmlformats.org/officeDocument/2006/relationships" xmlns:a="http://schemas.openxmlformats.org/drawingml/2006/main" r:embed="R5d07e020f9da463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EB5C927-E001-457C-BBAE-C6E77EA7A49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07/24</a:t>
            </a:r>
          </a:p>
        </p:txBody>
      </p:sp>
      <p:pic>
        <p:nvPicPr>
          <p:cNvPr id="4" name="">
            <a:extLst xmlns:a="http://schemas.openxmlformats.org/drawingml/2006/main">
              <a:ext uri="{FF2B5EF4-FFF2-40B4-BE49-F238E27FC236}">
                <a16:creationId xmlns:a16="http://schemas.microsoft.com/office/drawing/2014/main" id="{A2DD6426-5076-4ACB-95EB-7E7704F39B5C}"/>
              </a:ext>
            </a:extLst>
          </p:cNvPr>
          <p:cNvPicPr>
            <a:picLocks xmlns:a="http://schemas.openxmlformats.org/drawingml/2006/main" noChangeAspect="1"/>
          </p:cNvPicPr>
          <p:nvPr/>
        </p:nvPicPr>
        <p:blipFill>
          <a:blip xmlns:r="http://schemas.openxmlformats.org/officeDocument/2006/relationships" xmlns:a="http://schemas.openxmlformats.org/drawingml/2006/main" r:embed="R9a788cbb57c64662"/>
          <a:stretch xmlns:a="http://schemas.openxmlformats.org/drawingml/2006/main"/>
        </p:blipFill>
        <p:spPr>
          <a:xfrm xmlns:a="http://schemas.openxmlformats.org/drawingml/2006/main">
            <a:off x="2012506" y="1714500"/>
            <a:ext cx="8166987"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B45E24-EF7F-4D34-92F6-D0F2C9D87978}"/>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El LED tiene polaridad y una curva corriente–tensión. Para el cálculo inicial tomamos una caída de tensión aproximada del componente y dejamos el resto a la resistencia. Esa aproximación debe declararse: un LED rojo y uno azul no tienen necesariamente la misma caída. El valor que medimos en el GPIO también puede diferir del ideal cuando entrega corriente. El cálculo sirve para proponer el circuito y la medición sirve para contrastar la propuesta.</a:t>
            </a:r>
          </a:p>
        </p:txBody>
      </p:sp>
      <p:sp>
        <p:nvSpPr>
          <p:cNvPr id="6" name="">
            <a:extLst xmlns:a="http://schemas.openxmlformats.org/drawingml/2006/main">
              <a:ext uri="{FF2B5EF4-FFF2-40B4-BE49-F238E27FC236}">
                <a16:creationId xmlns:a16="http://schemas.microsoft.com/office/drawing/2014/main" id="{50D89138-3126-432D-9067-F8225A9BF0F0}"/>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La ley de Ohm se aplica a la resistencia. El LED tiene una caída de tensión propia; no es una resistencia ideal.</a:t>
            </a:r>
          </a:p>
        </p:txBody>
      </p:sp>
    </p:spTree>
    <p:extLst>
      <p:ext uri="{BB962C8B-B14F-4D97-AF65-F5344CB8AC3E}">
        <p14:creationId xmlns:p14="http://schemas.microsoft.com/office/powerpoint/2010/main" val="1038079552"/>
      </p:ext>
    </p:extLst>
  </p:cSld>
</p:sld>
</file>

<file path=ppt/slides/slide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1A58938-ED4F-4EE2-A8BD-607A693A236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cálculo que decide una pieza</a:t>
            </a:r>
          </a:p>
        </p:txBody>
      </p:sp>
      <p:pic>
        <p:nvPicPr>
          <p:cNvPr id="2" name="">
            <a:extLst xmlns:a="http://schemas.openxmlformats.org/drawingml/2006/main">
              <a:ext uri="{FF2B5EF4-FFF2-40B4-BE49-F238E27FC236}">
                <a16:creationId xmlns:a16="http://schemas.microsoft.com/office/drawing/2014/main" id="{EF78E685-28C3-4F30-A349-3083CCC163E3}"/>
              </a:ext>
            </a:extLst>
          </p:cNvPr>
          <p:cNvPicPr>
            <a:picLocks xmlns:a="http://schemas.openxmlformats.org/drawingml/2006/main" noChangeAspect="1"/>
          </p:cNvPicPr>
          <p:nvPr/>
        </p:nvPicPr>
        <p:blipFill>
          <a:blip xmlns:r="http://schemas.openxmlformats.org/officeDocument/2006/relationships" xmlns:a="http://schemas.openxmlformats.org/drawingml/2006/main" r:embed="R2628081273394d8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04F005-317D-4B4B-B32E-6853CB770A6A}"/>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08/24</a:t>
            </a:r>
          </a:p>
        </p:txBody>
      </p:sp>
      <p:sp>
        <p:nvSpPr>
          <p:cNvPr id="4" name="">
            <a:extLst xmlns:a="http://schemas.openxmlformats.org/drawingml/2006/main">
              <a:ext uri="{FF2B5EF4-FFF2-40B4-BE49-F238E27FC236}">
                <a16:creationId xmlns:a16="http://schemas.microsoft.com/office/drawing/2014/main" id="{C5114A31-DC5A-4B62-B455-2481A6A335D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Medimos tensión en paralelo con el componente. Para comenzar basta medir la caída en la resistencia y calcular su corriente. No se coloca el multímetro en modo corriente directamente entre alimentación y GND: esa conexión altera radicalmente el circuito. El docente muestra las puntas, la función y los puntos de medida antes de energizar. El registro debe indicar qué dos nodos se compararon, porque “medí 1,3 V” sin esa referencia no explica el circuito.</a:t>
            </a:r>
          </a:p>
        </p:txBody>
      </p:sp>
    </p:spTree>
    <p:extLst>
      <p:ext uri="{BB962C8B-B14F-4D97-AF65-F5344CB8AC3E}">
        <p14:creationId xmlns:p14="http://schemas.microsoft.com/office/powerpoint/2010/main" val="2081503828"/>
      </p:ext>
    </p:extLst>
  </p:cSld>
</p:sld>
</file>

<file path=ppt/slides/slide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123C852-9B1F-4E31-9DF8-98325ADF938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Ficha del primer LED</a:t>
            </a:r>
          </a:p>
        </p:txBody>
      </p:sp>
      <p:pic>
        <p:nvPicPr>
          <p:cNvPr id="2" name="">
            <a:extLst xmlns:a="http://schemas.openxmlformats.org/drawingml/2006/main">
              <a:ext uri="{FF2B5EF4-FFF2-40B4-BE49-F238E27FC236}">
                <a16:creationId xmlns:a16="http://schemas.microsoft.com/office/drawing/2014/main" id="{FD918AF6-FDBC-4804-9542-6F0972C7CC4F}"/>
              </a:ext>
            </a:extLst>
          </p:cNvPr>
          <p:cNvPicPr>
            <a:picLocks xmlns:a="http://schemas.openxmlformats.org/drawingml/2006/main" noChangeAspect="1"/>
          </p:cNvPicPr>
          <p:nvPr/>
        </p:nvPicPr>
        <p:blipFill>
          <a:blip xmlns:r="http://schemas.openxmlformats.org/officeDocument/2006/relationships" xmlns:a="http://schemas.openxmlformats.org/drawingml/2006/main" r:embed="R4f072713f9614b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412124-8A6C-45AA-B1B3-407EB9B7ECA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09/24</a:t>
            </a:r>
          </a:p>
        </p:txBody>
      </p:sp>
      <p:graphicFrame>
        <p:nvGraphicFramePr>
          <p:cNvPr id="4" name="">
            <a:extLst xmlns:a="http://schemas.openxmlformats.org/drawingml/2006/main">
              <a:ext uri="{FF2B5EF4-FFF2-40B4-BE49-F238E27FC236}">
                <a16:creationId xmlns:a16="http://schemas.microsoft.com/office/drawing/2014/main" id="{54C3757E-14F6-44D1-B91C-A84FA90B6FB4}"/>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Dato</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Predicción de aula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Dato del equipo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Resistencia</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330 ohm</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Leer y medir</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Caída en resistor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1,3 V ideal</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Medir nodos</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Corriente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3,94 mA ideal</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Calcular con V/R</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Estado lógico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HIGH / LOW</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Observar salida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714708047"/>
      </p:ext>
    </p:extLst>
  </p:cSld>
</p:sld>
</file>

<file path=ppt/slides/slide1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D2AA20-A426-46CB-9DC6-E341B993585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LED rojo del ejercicio</a:t>
            </a:r>
          </a:p>
        </p:txBody>
      </p:sp>
      <p:pic>
        <p:nvPicPr>
          <p:cNvPr id="2" name="">
            <a:extLst xmlns:a="http://schemas.openxmlformats.org/drawingml/2006/main">
              <a:ext uri="{FF2B5EF4-FFF2-40B4-BE49-F238E27FC236}">
                <a16:creationId xmlns:a16="http://schemas.microsoft.com/office/drawing/2014/main" id="{3103D6E2-CE8B-4BA5-A306-7F1A4B309511}"/>
              </a:ext>
            </a:extLst>
          </p:cNvPr>
          <p:cNvPicPr>
            <a:picLocks xmlns:a="http://schemas.openxmlformats.org/drawingml/2006/main" noChangeAspect="1"/>
          </p:cNvPicPr>
          <p:nvPr/>
        </p:nvPicPr>
        <p:blipFill>
          <a:blip xmlns:r="http://schemas.openxmlformats.org/officeDocument/2006/relationships" xmlns:a="http://schemas.openxmlformats.org/drawingml/2006/main" r:embed="R251d2186b9d640c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A14DBD9-97CE-4152-BF6F-98C0C95F268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10/24</a:t>
            </a:r>
          </a:p>
        </p:txBody>
      </p:sp>
      <p:pic>
        <p:nvPicPr>
          <p:cNvPr id="4" name="">
            <a:extLst xmlns:a="http://schemas.openxmlformats.org/drawingml/2006/main">
              <a:ext uri="{FF2B5EF4-FFF2-40B4-BE49-F238E27FC236}">
                <a16:creationId xmlns:a16="http://schemas.microsoft.com/office/drawing/2014/main" id="{0DABF1A7-9BDE-48B9-87A0-60143C71A167}"/>
              </a:ext>
            </a:extLst>
          </p:cNvPr>
          <p:cNvPicPr>
            <a:picLocks xmlns:a="http://schemas.openxmlformats.org/drawingml/2006/main" noChangeAspect="1"/>
          </p:cNvPicPr>
          <p:nvPr/>
        </p:nvPicPr>
        <p:blipFill>
          <a:blip xmlns:r="http://schemas.openxmlformats.org/officeDocument/2006/relationships" xmlns:a="http://schemas.openxmlformats.org/drawingml/2006/main" r:embed="Rc729dbe63846457c"/>
          <a:stretch xmlns:a="http://schemas.openxmlformats.org/drawingml/2006/main"/>
        </p:blipFill>
        <p:spPr>
          <a:xfrm xmlns:a="http://schemas.openxmlformats.org/drawingml/2006/main">
            <a:off x="1975304" y="1714500"/>
            <a:ext cx="8241393" cy="10953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70A08DC-D4D7-43DA-B359-34B7C7133307}"/>
              </a:ext>
            </a:extLst>
          </p:cNvPr>
          <p:cNvSpPr>
            <a:spLocks xmlns:a="http://schemas.openxmlformats.org/drawingml/2006/main" noGrp="1"/>
          </p:cNvSpPr>
          <p:nvPr/>
        </p:nvSpPr>
        <p:spPr>
          <a:xfrm xmlns:a="http://schemas.openxmlformats.org/drawingml/2006/main">
            <a:off x="590550" y="3295650"/>
            <a:ext cx="108108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La resistencia recibe 1,3 V. R = 1,3 / 0,005 = 260 ohm. Con 330 ohm, la corriente ideal sería 1,3 / 330 = 3,94 mA. La potencia del resistor sería aproximadamente 5,1 mW. Son cifras del modelo de aula; se comprueban con las piezas reales.</a:t>
            </a:r>
          </a:p>
        </p:txBody>
      </p:sp>
      <p:sp>
        <p:nvSpPr>
          <p:cNvPr id="6" name="">
            <a:extLst xmlns:a="http://schemas.openxmlformats.org/drawingml/2006/main">
              <a:ext uri="{FF2B5EF4-FFF2-40B4-BE49-F238E27FC236}">
                <a16:creationId xmlns:a16="http://schemas.microsoft.com/office/drawing/2014/main" id="{A665ACF7-F09D-4754-B552-5096F715A239}"/>
              </a:ext>
            </a:extLst>
          </p:cNvPr>
          <p:cNvSpPr>
            <a:spLocks xmlns:a="http://schemas.openxmlformats.org/drawingml/2006/main" noGrp="1"/>
          </p:cNvSpPr>
          <p:nvPr/>
        </p:nvSpPr>
        <p:spPr>
          <a:xfrm xmlns:a="http://schemas.openxmlformats.org/drawingml/2006/main">
            <a:off x="590550" y="5857875"/>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8665F"/>
                </a:solidFill>
                <a:latin typeface="Arial"/>
                <a:ea typeface="Arial"/>
                <a:cs typeface="Arial"/>
              </a:defRPr>
            </a:defPPr>
            <a:lvl1pPr>
              <a:defRPr sz="1425" b="0">
                <a:solidFill>
                  <a:srgbClr val="58665F"/>
                </a:solidFill>
                <a:latin typeface="Arial"/>
                <a:ea typeface="Arial"/>
                <a:cs typeface="Arial"/>
              </a:defRPr>
            </a:lvl1pPr>
            <a:lvl2pPr>
              <a:defRPr sz="1425" b="0">
                <a:solidFill>
                  <a:srgbClr val="58665F"/>
                </a:solidFill>
                <a:latin typeface="Arial"/>
                <a:ea typeface="Arial"/>
                <a:cs typeface="Arial"/>
              </a:defRPr>
            </a:lvl2pPr>
            <a:lvl3pPr>
              <a:defRPr sz="1425" b="0">
                <a:solidFill>
                  <a:srgbClr val="58665F"/>
                </a:solidFill>
                <a:latin typeface="Arial"/>
                <a:ea typeface="Arial"/>
                <a:cs typeface="Arial"/>
              </a:defRPr>
            </a:lvl3pPr>
            <a:lvl4pPr>
              <a:defRPr sz="1425" b="0">
                <a:solidFill>
                  <a:srgbClr val="58665F"/>
                </a:solidFill>
                <a:latin typeface="Arial"/>
                <a:ea typeface="Arial"/>
                <a:cs typeface="Arial"/>
              </a:defRPr>
            </a:lvl4pPr>
            <a:lvl5pPr>
              <a:defRPr sz="1425" b="0">
                <a:solidFill>
                  <a:srgbClr val="58665F"/>
                </a:solidFill>
                <a:latin typeface="Arial"/>
                <a:ea typeface="Arial"/>
                <a:cs typeface="Arial"/>
              </a:defRPr>
            </a:lvl5pPr>
            <a:lvl6pPr>
              <a:defRPr sz="1425" b="0">
                <a:solidFill>
                  <a:srgbClr val="58665F"/>
                </a:solidFill>
                <a:latin typeface="Arial"/>
                <a:ea typeface="Arial"/>
                <a:cs typeface="Arial"/>
              </a:defRPr>
            </a:lvl6pPr>
            <a:lvl7pPr>
              <a:defRPr sz="1425" b="0">
                <a:solidFill>
                  <a:srgbClr val="58665F"/>
                </a:solidFill>
                <a:latin typeface="Arial"/>
                <a:ea typeface="Arial"/>
                <a:cs typeface="Arial"/>
              </a:defRPr>
            </a:lvl7pPr>
            <a:lvl8pPr>
              <a:defRPr sz="1425" b="0">
                <a:solidFill>
                  <a:srgbClr val="58665F"/>
                </a:solidFill>
                <a:latin typeface="Arial"/>
                <a:ea typeface="Arial"/>
                <a:cs typeface="Arial"/>
              </a:defRPr>
            </a:lvl8pPr>
            <a:lvl9pPr>
              <a:defRPr sz="1425" b="0">
                <a:solidFill>
                  <a:srgbClr val="58665F"/>
                </a:solidFill>
                <a:latin typeface="Arial"/>
                <a:ea typeface="Arial"/>
                <a:cs typeface="Arial"/>
              </a:defRPr>
            </a:lvl9pPr>
          </a:lstStyle>
          <a:p xmlns:a="http://schemas.openxmlformats.org/drawingml/2006/main">
            <a:pPr>
              <a:defRPr sz="1425" b="0">
                <a:solidFill>
                  <a:srgbClr val="58665F"/>
                </a:solidFill>
                <a:latin typeface="Arial"/>
                <a:ea typeface="Arial"/>
                <a:cs typeface="Arial"/>
              </a:defRPr>
            </a:pPr>
            <a:r>
              <a:rPr sz="1425" b="0">
                <a:solidFill>
                  <a:srgbClr val="58665F"/>
                </a:solidFill>
                <a:latin typeface="Arial"/>
                <a:ea typeface="Arial"/>
                <a:cs typeface="Arial"/>
              </a:rPr>
              <a:t>Se elige un valor comercial razonable y se comprueba el conjunto, sin tratar el límite absoluto de un pin como corriente de trabajo.</a:t>
            </a:r>
          </a:p>
        </p:txBody>
      </p:sp>
    </p:spTree>
    <p:extLst>
      <p:ext uri="{BB962C8B-B14F-4D97-AF65-F5344CB8AC3E}">
        <p14:creationId xmlns:p14="http://schemas.microsoft.com/office/powerpoint/2010/main" val="1673952498"/>
      </p:ext>
    </p:extLst>
  </p:cSld>
</p:sld>
</file>

<file path=ppt/slides/slide1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5400B4-69DB-4247-9DB6-7146ECC58139}"/>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El recorrido del programa hasta el pin</a:t>
            </a:r>
          </a:p>
        </p:txBody>
      </p:sp>
      <p:pic>
        <p:nvPicPr>
          <p:cNvPr id="2" name="">
            <a:extLst xmlns:a="http://schemas.openxmlformats.org/drawingml/2006/main">
              <a:ext uri="{FF2B5EF4-FFF2-40B4-BE49-F238E27FC236}">
                <a16:creationId xmlns:a16="http://schemas.microsoft.com/office/drawing/2014/main" id="{689583AD-E56F-4D44-B773-5E16B2E130D5}"/>
              </a:ext>
            </a:extLst>
          </p:cNvPr>
          <p:cNvPicPr>
            <a:picLocks xmlns:a="http://schemas.openxmlformats.org/drawingml/2006/main" noChangeAspect="1"/>
          </p:cNvPicPr>
          <p:nvPr/>
        </p:nvPicPr>
        <p:blipFill>
          <a:blip xmlns:r="http://schemas.openxmlformats.org/officeDocument/2006/relationships" xmlns:a="http://schemas.openxmlformats.org/drawingml/2006/main" r:embed="R58a95253a0ca4151"/>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706DEC-412E-49AB-9092-2BE4A41240F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11/24</a:t>
            </a:r>
          </a:p>
        </p:txBody>
      </p:sp>
      <p:sp>
        <p:nvSpPr>
          <p:cNvPr id="4" name="">
            <a:extLst xmlns:a="http://schemas.openxmlformats.org/drawingml/2006/main">
              <a:ext uri="{FF2B5EF4-FFF2-40B4-BE49-F238E27FC236}">
                <a16:creationId xmlns:a16="http://schemas.microsoft.com/office/drawing/2014/main" id="{5A6EEC7B-068C-4EC4-AF7A-8FB275587A9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VS Code es el editor; PlatformIO organiza el proyecto y sus herramientas; Arduino es el framework que aporta funciones de programación. El archivo platformio.ini declara placa, plataforma y bibliotecas. El curso incluye una versión de referencia fijada para ESP32 clásico. Compilar convierte el programa en firmware; cargarlo lo transfiere a la placa; abrir el monitor serie permite observar mensajes. Un error de compilación y un circuito mal conectado requieren comprobaciones diferentes.</a:t>
            </a:r>
          </a:p>
        </p:txBody>
      </p:sp>
    </p:spTree>
    <p:extLst>
      <p:ext uri="{BB962C8B-B14F-4D97-AF65-F5344CB8AC3E}">
        <p14:creationId xmlns:p14="http://schemas.microsoft.com/office/powerpoint/2010/main" val="2123333621"/>
      </p:ext>
    </p:extLst>
  </p:cSld>
</p:sld>
</file>

<file path=ppt/slides/slide1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7DC6EC-DCD9-4EA3-A3C8-6220724A09D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Fragmento del primer ejemplo</a:t>
            </a:r>
          </a:p>
        </p:txBody>
      </p:sp>
      <p:pic>
        <p:nvPicPr>
          <p:cNvPr id="2" name="">
            <a:extLst xmlns:a="http://schemas.openxmlformats.org/drawingml/2006/main">
              <a:ext uri="{FF2B5EF4-FFF2-40B4-BE49-F238E27FC236}">
                <a16:creationId xmlns:a16="http://schemas.microsoft.com/office/drawing/2014/main" id="{B27D4F55-A60D-4D58-9E1F-B5AD8C83C547}"/>
              </a:ext>
            </a:extLst>
          </p:cNvPr>
          <p:cNvPicPr>
            <a:picLocks xmlns:a="http://schemas.openxmlformats.org/drawingml/2006/main" noChangeAspect="1"/>
          </p:cNvPicPr>
          <p:nvPr/>
        </p:nvPicPr>
        <p:blipFill>
          <a:blip xmlns:r="http://schemas.openxmlformats.org/officeDocument/2006/relationships" xmlns:a="http://schemas.openxmlformats.org/drawingml/2006/main" r:embed="R7065f94ecd36492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0EDC2E1-B62A-4E08-9051-4FA59B09B23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12/24</a:t>
            </a:r>
          </a:p>
        </p:txBody>
      </p:sp>
      <p:sp>
        <p:nvSpPr>
          <p:cNvPr id="4" name="">
            <a:extLst xmlns:a="http://schemas.openxmlformats.org/drawingml/2006/main">
              <a:ext uri="{FF2B5EF4-FFF2-40B4-BE49-F238E27FC236}">
                <a16:creationId xmlns:a16="http://schemas.microsoft.com/office/drawing/2014/main" id="{37261E41-265C-40A3-961A-FF154E768361}"/>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constexpr uint8_t LED = 23;</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uint32_t last = 0;</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on = false;</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void setup()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pinMode(LED, OUTPUT);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void loop()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uint32_t now = millis();</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if (uint32_t(now-last) &gt;= 500)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last = now;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on = !on;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digitalWrite(LED, on);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29DC2660-C88C-46B5-8ADD-E29FBD75BDA6}"/>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1520174990"/>
      </p:ext>
    </p:extLst>
  </p:cSld>
</p:sld>
</file>

<file path=ppt/slides/slide1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170C31A-B9E6-49EB-B16D-186841FA59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El recorrido del programa hasta el pin</a:t>
            </a:r>
          </a:p>
        </p:txBody>
      </p:sp>
      <p:pic>
        <p:nvPicPr>
          <p:cNvPr id="2" name="">
            <a:extLst xmlns:a="http://schemas.openxmlformats.org/drawingml/2006/main">
              <a:ext uri="{FF2B5EF4-FFF2-40B4-BE49-F238E27FC236}">
                <a16:creationId xmlns:a16="http://schemas.microsoft.com/office/drawing/2014/main" id="{7F34D006-14F1-42BD-8B8A-D97972DB5DFB}"/>
              </a:ext>
            </a:extLst>
          </p:cNvPr>
          <p:cNvPicPr>
            <a:picLocks xmlns:a="http://schemas.openxmlformats.org/drawingml/2006/main" noChangeAspect="1"/>
          </p:cNvPicPr>
          <p:nvPr/>
        </p:nvPicPr>
        <p:blipFill>
          <a:blip xmlns:r="http://schemas.openxmlformats.org/officeDocument/2006/relationships" xmlns:a="http://schemas.openxmlformats.org/drawingml/2006/main" r:embed="Rc720f4b78b124fd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25A9DDE-E8FE-4F13-BE20-A51E8E7B179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13/24</a:t>
            </a:r>
          </a:p>
        </p:txBody>
      </p:sp>
      <p:sp>
        <p:nvSpPr>
          <p:cNvPr id="4" name="">
            <a:extLst xmlns:a="http://schemas.openxmlformats.org/drawingml/2006/main">
              <a:ext uri="{FF2B5EF4-FFF2-40B4-BE49-F238E27FC236}">
                <a16:creationId xmlns:a16="http://schemas.microsoft.com/office/drawing/2014/main" id="{C3045E15-62E3-4D1F-A37D-69922EBCCD48}"/>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setup() prepara la ejecución y loop() vuelve a evaluar la lógica. El nombre LED ayuda a relacionar el esquema con un GPIO concreto. La función digitalWrite() ordena un nivel; el camino eléctrico determina qué ocurre con ese nivel. La versión completa c01_led también emite mensajes. En esta clase reconocemos el patrón temporal; en la tercera explicaremos por qué permite atender otros eventos. Antes de cambiarlo, predice cuánto dura cada estado y cuánto dura el ciclo completo.</a:t>
            </a:r>
          </a:p>
        </p:txBody>
      </p:sp>
    </p:spTree>
    <p:extLst>
      <p:ext uri="{BB962C8B-B14F-4D97-AF65-F5344CB8AC3E}">
        <p14:creationId xmlns:p14="http://schemas.microsoft.com/office/powerpoint/2010/main" val="1792435868"/>
      </p:ext>
    </p:extLst>
  </p:cSld>
</p:sld>
</file>

<file path=ppt/slides/slide1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760142-0E2B-40A6-B04E-977E0FCF285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medir, ejecutar y explicar</a:t>
            </a:r>
          </a:p>
        </p:txBody>
      </p:sp>
      <p:pic>
        <p:nvPicPr>
          <p:cNvPr id="2" name="">
            <a:extLst xmlns:a="http://schemas.openxmlformats.org/drawingml/2006/main">
              <a:ext uri="{FF2B5EF4-FFF2-40B4-BE49-F238E27FC236}">
                <a16:creationId xmlns:a16="http://schemas.microsoft.com/office/drawing/2014/main" id="{E389A83B-2507-4769-AC24-BF339530A21F}"/>
              </a:ext>
            </a:extLst>
          </p:cNvPr>
          <p:cNvPicPr>
            <a:picLocks xmlns:a="http://schemas.openxmlformats.org/drawingml/2006/main" noChangeAspect="1"/>
          </p:cNvPicPr>
          <p:nvPr/>
        </p:nvPicPr>
        <p:blipFill>
          <a:blip xmlns:r="http://schemas.openxmlformats.org/officeDocument/2006/relationships" xmlns:a="http://schemas.openxmlformats.org/drawingml/2006/main" r:embed="R578c0b64c5994f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A3FF182-E6A7-4B00-84C0-991F9364435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14/24</a:t>
            </a:r>
          </a:p>
        </p:txBody>
      </p:sp>
      <p:sp>
        <p:nvSpPr>
          <p:cNvPr id="4" name="">
            <a:extLst xmlns:a="http://schemas.openxmlformats.org/drawingml/2006/main">
              <a:ext uri="{FF2B5EF4-FFF2-40B4-BE49-F238E27FC236}">
                <a16:creationId xmlns:a16="http://schemas.microsoft.com/office/drawing/2014/main" id="{7C4FE5BD-21AE-403C-BDA3-C07271B7212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parpadeo correcto demuestra que esa configuración produjo el comportamiento observado. Para aprender más, cambia una sola condición: tiempo, valor de resistencia o pin documentado. La misma comprobación se hace con el código y con el circuito delante. Si el LED permanece apagado, comienza por alimentación, referencia, polaridad y camino de corriente. Si los mensajes cambian pero la luz no, ya existe una pista que permite separar la ejecución del programa de su salida física.</a:t>
            </a:r>
          </a:p>
        </p:txBody>
      </p:sp>
    </p:spTree>
    <p:extLst>
      <p:ext uri="{BB962C8B-B14F-4D97-AF65-F5344CB8AC3E}">
        <p14:creationId xmlns:p14="http://schemas.microsoft.com/office/powerpoint/2010/main" val="526096477"/>
      </p:ext>
    </p:extLst>
  </p:cSld>
</p:sld>
</file>

<file path=ppt/slides/slide1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6E3048-634C-4698-94D6-586334A5B89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0507ADE1-7D48-411C-B2FD-0024DC69ABDF}"/>
              </a:ext>
            </a:extLst>
          </p:cNvPr>
          <p:cNvPicPr>
            <a:picLocks xmlns:a="http://schemas.openxmlformats.org/drawingml/2006/main" noChangeAspect="1"/>
          </p:cNvPicPr>
          <p:nvPr/>
        </p:nvPicPr>
        <p:blipFill>
          <a:blip xmlns:r="http://schemas.openxmlformats.org/officeDocument/2006/relationships" xmlns:a="http://schemas.openxmlformats.org/drawingml/2006/main" r:embed="Rf5b492a883b84f8e"/>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4DAB29F-8E68-4863-8A0E-977E9EE8CF0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15/24</a:t>
            </a:r>
          </a:p>
        </p:txBody>
      </p:sp>
      <p:sp>
        <p:nvSpPr>
          <p:cNvPr id="4" name="">
            <a:extLst xmlns:a="http://schemas.openxmlformats.org/drawingml/2006/main">
              <a:ext uri="{FF2B5EF4-FFF2-40B4-BE49-F238E27FC236}">
                <a16:creationId xmlns:a16="http://schemas.microsoft.com/office/drawing/2014/main" id="{F0700A8E-FFAF-4D73-8317-2D749E6959AF}"/>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¿500 ms por cambio producen un ciclo de 500 ms?</a:t>
            </a:r>
          </a:p>
        </p:txBody>
      </p:sp>
      <p:sp>
        <p:nvSpPr>
          <p:cNvPr id="5" name="">
            <a:extLst xmlns:a="http://schemas.openxmlformats.org/drawingml/2006/main">
              <a:ext uri="{FF2B5EF4-FFF2-40B4-BE49-F238E27FC236}">
                <a16:creationId xmlns:a16="http://schemas.microsoft.com/office/drawing/2014/main" id="{021A9069-87F9-4A6C-BC61-B09AF206EBDE}"/>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Registrar una medida y explicar la relación V/R.</a:t>
            </a:r>
          </a:p>
        </p:txBody>
      </p:sp>
    </p:spTree>
    <p:extLst>
      <p:ext uri="{BB962C8B-B14F-4D97-AF65-F5344CB8AC3E}">
        <p14:creationId xmlns:p14="http://schemas.microsoft.com/office/powerpoint/2010/main" val="1722276389"/>
      </p:ext>
    </p:extLst>
  </p:cSld>
</p:sld>
</file>

<file path=ppt/slides/slide1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FD6137-D863-4E5E-8199-876F92E27A2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medir, ejecutar y explicar</a:t>
            </a:r>
          </a:p>
        </p:txBody>
      </p:sp>
      <p:pic>
        <p:nvPicPr>
          <p:cNvPr id="2" name="">
            <a:extLst xmlns:a="http://schemas.openxmlformats.org/drawingml/2006/main">
              <a:ext uri="{FF2B5EF4-FFF2-40B4-BE49-F238E27FC236}">
                <a16:creationId xmlns:a16="http://schemas.microsoft.com/office/drawing/2014/main" id="{D171194E-FD51-4A88-956B-5522B038FBFF}"/>
              </a:ext>
            </a:extLst>
          </p:cNvPr>
          <p:cNvPicPr>
            <a:picLocks xmlns:a="http://schemas.openxmlformats.org/drawingml/2006/main" noChangeAspect="1"/>
          </p:cNvPicPr>
          <p:nvPr/>
        </p:nvPicPr>
        <p:blipFill>
          <a:blip xmlns:r="http://schemas.openxmlformats.org/officeDocument/2006/relationships" xmlns:a="http://schemas.openxmlformats.org/drawingml/2006/main" r:embed="R75e039225be049e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E3FEBEA-B413-4583-A818-35C0F33AF3B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16/24</a:t>
            </a:r>
          </a:p>
        </p:txBody>
      </p:sp>
      <p:sp>
        <p:nvSpPr>
          <p:cNvPr id="4" name="">
            <a:extLst xmlns:a="http://schemas.openxmlformats.org/drawingml/2006/main">
              <a:ext uri="{FF2B5EF4-FFF2-40B4-BE49-F238E27FC236}">
                <a16:creationId xmlns:a16="http://schemas.microsoft.com/office/drawing/2014/main" id="{C94E947E-E5A6-4F4B-A7A8-CAF861AD982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Identifica módulo, placa y GPIO23. Revisa la configuración de referencia antes de compilar c01_led.</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Dibuja el camino de corriente. Coloca LED y resistencia con la alimentación desconectada.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Comprueba continuidad del protoboard y polaridad. Pide una revisión cruzada del esquema.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Ejecuta primero la versión equivalente en Wokwi y localiza qué variable representa cada componente.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En hardware, mide tensión en el resistor y calcula corriente. Anota qué valor de resistencia utilizaste.</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Cambia el tiempo de 500 a 250 ms. Predice el periodo total antes de observarlo.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Conserva esquema, código y una explicación individual del resultado.</a:t>
            </a:r>
          </a:p>
        </p:txBody>
      </p:sp>
    </p:spTree>
    <p:extLst>
      <p:ext uri="{BB962C8B-B14F-4D97-AF65-F5344CB8AC3E}">
        <p14:creationId xmlns:p14="http://schemas.microsoft.com/office/powerpoint/2010/main" val="740243111"/>
      </p:ext>
    </p:extLst>
  </p:cSld>
</p:sld>
</file>

<file path=ppt/slides/slide1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953453-E074-4FE0-AC80-4E04BAA181D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Aplicación a drones y lectura de investigación</a:t>
            </a:r>
          </a:p>
        </p:txBody>
      </p:sp>
      <p:pic>
        <p:nvPicPr>
          <p:cNvPr id="2" name="">
            <a:extLst xmlns:a="http://schemas.openxmlformats.org/drawingml/2006/main">
              <a:ext uri="{FF2B5EF4-FFF2-40B4-BE49-F238E27FC236}">
                <a16:creationId xmlns:a16="http://schemas.microsoft.com/office/drawing/2014/main" id="{B61F3889-C406-45AC-944F-36A863AB9252}"/>
              </a:ext>
            </a:extLst>
          </p:cNvPr>
          <p:cNvPicPr>
            <a:picLocks xmlns:a="http://schemas.openxmlformats.org/drawingml/2006/main" noChangeAspect="1"/>
          </p:cNvPicPr>
          <p:nvPr/>
        </p:nvPicPr>
        <p:blipFill>
          <a:blip xmlns:r="http://schemas.openxmlformats.org/officeDocument/2006/relationships" xmlns:a="http://schemas.openxmlformats.org/drawingml/2006/main" r:embed="Rc90bc05b62e6427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BE62051-7925-46C7-9FAA-D1912378F34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17/24</a:t>
            </a:r>
          </a:p>
        </p:txBody>
      </p:sp>
      <p:sp>
        <p:nvSpPr>
          <p:cNvPr id="4" name="">
            <a:extLst xmlns:a="http://schemas.openxmlformats.org/drawingml/2006/main">
              <a:ext uri="{FF2B5EF4-FFF2-40B4-BE49-F238E27FC236}">
                <a16:creationId xmlns:a16="http://schemas.microsoft.com/office/drawing/2014/main" id="{71BD4992-8196-4CDA-9D1B-C7C4C8EF298B}"/>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sistema UAV utiliza indicadores para distinguir alimentación, enlace, registro o estado del equipo. Un LED aislado puede indicar que hay energía, pero el software puede usarlo para comunicar otra condición. En una estación de banco, un patrón lento podría significar espera y otro representar una lectura pendiente. Esa convención debe estar documentada: el color no explica automáticamente el estado. El alumno propone un indicador para una función del mercado de MECRO y describe qué señal necesitaría para activarlo.</a:t>
            </a:r>
          </a:p>
        </p:txBody>
      </p:sp>
    </p:spTree>
    <p:extLst>
      <p:ext uri="{BB962C8B-B14F-4D97-AF65-F5344CB8AC3E}">
        <p14:creationId xmlns:p14="http://schemas.microsoft.com/office/powerpoint/2010/main" val="2146377311"/>
      </p:ext>
    </p:extLst>
  </p:cSld>
</p:sld>
</file>

<file path=ppt/slides/slide1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A4B35B-7954-4391-9157-7BF5713899FA}"/>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Del circuito sencillo al sistema</a:t>
            </a:r>
          </a:p>
        </p:txBody>
      </p:sp>
      <p:pic>
        <p:nvPicPr>
          <p:cNvPr id="2" name="">
            <a:extLst xmlns:a="http://schemas.openxmlformats.org/drawingml/2006/main">
              <a:ext uri="{FF2B5EF4-FFF2-40B4-BE49-F238E27FC236}">
                <a16:creationId xmlns:a16="http://schemas.microsoft.com/office/drawing/2014/main" id="{DB219222-4F1A-4FCD-B0D6-E4F9B75C19FD}"/>
              </a:ext>
            </a:extLst>
          </p:cNvPr>
          <p:cNvPicPr>
            <a:picLocks xmlns:a="http://schemas.openxmlformats.org/drawingml/2006/main" noChangeAspect="1"/>
          </p:cNvPicPr>
          <p:nvPr/>
        </p:nvPicPr>
        <p:blipFill>
          <a:blip xmlns:r="http://schemas.openxmlformats.org/officeDocument/2006/relationships" xmlns:a="http://schemas.openxmlformats.org/drawingml/2006/main" r:embed="R8bc79e43fae64d33"/>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F7701F6-94F0-4774-BFD1-E6E3048C411C}"/>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18/24</a:t>
            </a:r>
          </a:p>
        </p:txBody>
      </p:sp>
      <p:graphicFrame>
        <p:nvGraphicFramePr>
          <p:cNvPr id="4" name="">
            <a:extLst xmlns:a="http://schemas.openxmlformats.org/drawingml/2006/main">
              <a:ext uri="{FF2B5EF4-FFF2-40B4-BE49-F238E27FC236}">
                <a16:creationId xmlns:a16="http://schemas.microsoft.com/office/drawing/2014/main" id="{29833539-C968-457A-ABBD-863D6A72F26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Hoy</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Aplicación posterior</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Qué añade el sistema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GPIO y LED</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Indicador de estado</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Condición documentada</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GND y tensión</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Interfaz de sensor</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Niveles compatibles</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Resistor calculado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Etapa de salida</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Balance de potencia</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1290313021"/>
      </p:ext>
    </p:extLst>
  </p:cSld>
</p:sld>
</file>

<file path=ppt/slides/slide1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3C11995-7B50-428B-9D85-DEF3AE8CC6C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Comprobación final</a:t>
            </a:r>
          </a:p>
        </p:txBody>
      </p:sp>
      <p:pic>
        <p:nvPicPr>
          <p:cNvPr id="2" name="">
            <a:extLst xmlns:a="http://schemas.openxmlformats.org/drawingml/2006/main">
              <a:ext uri="{FF2B5EF4-FFF2-40B4-BE49-F238E27FC236}">
                <a16:creationId xmlns:a16="http://schemas.microsoft.com/office/drawing/2014/main" id="{FB63E58F-51E7-423E-9132-AFF13FC66498}"/>
              </a:ext>
            </a:extLst>
          </p:cNvPr>
          <p:cNvPicPr>
            <a:picLocks xmlns:a="http://schemas.openxmlformats.org/drawingml/2006/main" noChangeAspect="1"/>
          </p:cNvPicPr>
          <p:nvPr/>
        </p:nvPicPr>
        <p:blipFill>
          <a:blip xmlns:r="http://schemas.openxmlformats.org/officeDocument/2006/relationships" xmlns:a="http://schemas.openxmlformats.org/drawingml/2006/main" r:embed="R617798851838485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06B8749-3069-4525-8F37-C4B86F59A25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19/24</a:t>
            </a:r>
          </a:p>
        </p:txBody>
      </p:sp>
      <p:sp>
        <p:nvSpPr>
          <p:cNvPr id="4" name="">
            <a:extLst xmlns:a="http://schemas.openxmlformats.org/drawingml/2006/main">
              <a:ext uri="{FF2B5EF4-FFF2-40B4-BE49-F238E27FC236}">
                <a16:creationId xmlns:a16="http://schemas.microsoft.com/office/drawing/2014/main" id="{931475A5-0F18-43F9-9EED-65C02814C845}"/>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¿HIGH equivale a una fuente ideal que alimenta cualquier carga?</a:t>
            </a:r>
          </a:p>
        </p:txBody>
      </p:sp>
      <p:sp>
        <p:nvSpPr>
          <p:cNvPr id="5" name="">
            <a:extLst xmlns:a="http://schemas.openxmlformats.org/drawingml/2006/main">
              <a:ext uri="{FF2B5EF4-FFF2-40B4-BE49-F238E27FC236}">
                <a16:creationId xmlns:a16="http://schemas.microsoft.com/office/drawing/2014/main" id="{1AEC5A98-FD47-456B-AC49-AFC3E050FC0B}"/>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HIGH expresa un estado de salida dentro de límites eléctricos. La corriente y la carga deben ser compatibles con el GPIO y con el circuito.</a:t>
            </a:r>
          </a:p>
        </p:txBody>
      </p:sp>
    </p:spTree>
    <p:extLst>
      <p:ext uri="{BB962C8B-B14F-4D97-AF65-F5344CB8AC3E}">
        <p14:creationId xmlns:p14="http://schemas.microsoft.com/office/powerpoint/2010/main" val="1798652335"/>
      </p:ext>
    </p:extLst>
  </p:cSld>
</p:sld>
</file>

<file path=ppt/slides/slide2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B45DDF4-9799-4988-9D54-C5E73AC4E20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FDEADDB4-3B65-4DBE-992A-C3F14694B4EA}"/>
              </a:ext>
            </a:extLst>
          </p:cNvPr>
          <p:cNvPicPr>
            <a:picLocks xmlns:a="http://schemas.openxmlformats.org/drawingml/2006/main" noChangeAspect="1"/>
          </p:cNvPicPr>
          <p:nvPr/>
        </p:nvPicPr>
        <p:blipFill>
          <a:blip xmlns:r="http://schemas.openxmlformats.org/officeDocument/2006/relationships" xmlns:a="http://schemas.openxmlformats.org/drawingml/2006/main" r:embed="Ra5a8eca7b2574b7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338B19-A9D2-43E9-90DE-62B80871B5A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20/24</a:t>
            </a:r>
          </a:p>
        </p:txBody>
      </p:sp>
      <p:sp>
        <p:nvSpPr>
          <p:cNvPr id="4" name="">
            <a:extLst xmlns:a="http://schemas.openxmlformats.org/drawingml/2006/main">
              <a:ext uri="{FF2B5EF4-FFF2-40B4-BE49-F238E27FC236}">
                <a16:creationId xmlns:a16="http://schemas.microsoft.com/office/drawing/2014/main" id="{51F965E9-2185-4A77-A0C4-DFA847A1B7F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la placa y seguir el camino de corriente antes de abrir el programa.</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Resolver el LED de 330 ohm y comparar con el resistor disponible.</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Ejecutar c01_led y modificar su periodo.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Registrar una medida y explicar la relación V/R.</a:t>
            </a:r>
          </a:p>
        </p:txBody>
      </p:sp>
    </p:spTree>
    <p:extLst>
      <p:ext uri="{BB962C8B-B14F-4D97-AF65-F5344CB8AC3E}">
        <p14:creationId xmlns:p14="http://schemas.microsoft.com/office/powerpoint/2010/main" val="2121760434"/>
      </p:ext>
    </p:extLst>
  </p:cSld>
</p:sld>
</file>

<file path=ppt/slides/slide2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2F6DAA-DD49-41EF-95A9-CE113CF03E5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6C3F5AFB-84B2-409D-8DE1-9B42B411DF78}"/>
              </a:ext>
            </a:extLst>
          </p:cNvPr>
          <p:cNvPicPr>
            <a:picLocks xmlns:a="http://schemas.openxmlformats.org/drawingml/2006/main" noChangeAspect="1"/>
          </p:cNvPicPr>
          <p:nvPr/>
        </p:nvPicPr>
        <p:blipFill>
          <a:blip xmlns:r="http://schemas.openxmlformats.org/officeDocument/2006/relationships" xmlns:a="http://schemas.openxmlformats.org/drawingml/2006/main" r:embed="R5dba700054154e9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7A367B4-EED7-4C05-A091-3E56E1628BA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21/24</a:t>
            </a:r>
          </a:p>
        </p:txBody>
      </p:sp>
      <p:sp>
        <p:nvSpPr>
          <p:cNvPr id="4" name="">
            <a:extLst xmlns:a="http://schemas.openxmlformats.org/drawingml/2006/main">
              <a:ext uri="{FF2B5EF4-FFF2-40B4-BE49-F238E27FC236}">
                <a16:creationId xmlns:a16="http://schemas.microsoft.com/office/drawing/2014/main" id="{81B7390E-4E52-4C44-BA3E-0C56359BD250}"/>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Un indicador de estado en una estación de drones debe comunicar una condición mediante un circuito y un programa que se entiendan.</a:t>
            </a:r>
          </a:p>
        </p:txBody>
      </p:sp>
      <p:sp>
        <p:nvSpPr>
          <p:cNvPr id="5" name="">
            <a:extLst xmlns:a="http://schemas.openxmlformats.org/drawingml/2006/main">
              <a:ext uri="{FF2B5EF4-FFF2-40B4-BE49-F238E27FC236}">
                <a16:creationId xmlns:a16="http://schemas.microsoft.com/office/drawing/2014/main" id="{ADBF4EFD-7B6F-45B4-897C-0EA8A53136E4}"/>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308426160"/>
      </p:ext>
    </p:extLst>
  </p:cSld>
</p:sld>
</file>

<file path=ppt/slides/slide22.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25496D2-3940-4555-888E-A5D22AF7503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C903D412-A224-4F7E-B10E-0A4A95AD3F8A}"/>
              </a:ext>
            </a:extLst>
          </p:cNvPr>
          <p:cNvPicPr>
            <a:picLocks xmlns:a="http://schemas.openxmlformats.org/drawingml/2006/main" noChangeAspect="1"/>
          </p:cNvPicPr>
          <p:nvPr/>
        </p:nvPicPr>
        <p:blipFill>
          <a:blip xmlns:r="http://schemas.openxmlformats.org/officeDocument/2006/relationships" xmlns:a="http://schemas.openxmlformats.org/drawingml/2006/main" r:embed="Rbf98cbaeb9734c89"/>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61F1FAB-200D-4A3A-8E0E-6BD2CFADAF5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22/24</a:t>
            </a:r>
          </a:p>
        </p:txBody>
      </p:sp>
      <p:sp>
        <p:nvSpPr>
          <p:cNvPr id="4" name="">
            <a:extLst xmlns:a="http://schemas.openxmlformats.org/drawingml/2006/main">
              <a:ext uri="{FF2B5EF4-FFF2-40B4-BE49-F238E27FC236}">
                <a16:creationId xmlns:a16="http://schemas.microsoft.com/office/drawing/2014/main" id="{2651470E-26D7-44E4-8F33-A5B32E53CB2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¿Dónde se aplica V = IR?</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¿500 ms por cambio producen un ciclo de 500 ms?</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¿Qué confirma compilar?</a:t>
            </a:r>
          </a:p>
        </p:txBody>
      </p:sp>
    </p:spTree>
    <p:extLst>
      <p:ext uri="{BB962C8B-B14F-4D97-AF65-F5344CB8AC3E}">
        <p14:creationId xmlns:p14="http://schemas.microsoft.com/office/powerpoint/2010/main" val="1398106561"/>
      </p:ext>
    </p:extLst>
  </p:cSld>
</p:sld>
</file>

<file path=ppt/slides/slide2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2D0D30-344E-452D-B5A4-362E9A50259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E78325C0-C661-4ECF-8779-879CDA479F4C}"/>
              </a:ext>
            </a:extLst>
          </p:cNvPr>
          <p:cNvPicPr>
            <a:picLocks xmlns:a="http://schemas.openxmlformats.org/drawingml/2006/main" noChangeAspect="1"/>
          </p:cNvPicPr>
          <p:nvPr/>
        </p:nvPicPr>
        <p:blipFill>
          <a:blip xmlns:r="http://schemas.openxmlformats.org/officeDocument/2006/relationships" xmlns:a="http://schemas.openxmlformats.org/drawingml/2006/main" r:embed="Rc1d7645bd9c54387"/>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4AB2BC1-3919-4FF3-B73D-BCAD94D52B9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01   23/24</a:t>
            </a:r>
          </a:p>
        </p:txBody>
      </p:sp>
      <p:sp>
        <p:nvSpPr>
          <p:cNvPr id="4" name="">
            <a:extLst xmlns:a="http://schemas.openxmlformats.org/drawingml/2006/main">
              <a:ext uri="{FF2B5EF4-FFF2-40B4-BE49-F238E27FC236}">
                <a16:creationId xmlns:a16="http://schemas.microsoft.com/office/drawing/2014/main" id="{E81A15E3-25D1-49DA-A61F-E9E9F3B0DB6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En el resistor del modelo; el LED se representa con su caída de tensión aproximada.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No. Encendido y apagado duran 500 ms cada uno: el ciclo completo dura 1 s.</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Que el código se pudo construir para la configuración elegida; el circuito todavía se comprueba aparte.</a:t>
            </a:r>
          </a:p>
        </p:txBody>
      </p:sp>
    </p:spTree>
    <p:extLst>
      <p:ext uri="{BB962C8B-B14F-4D97-AF65-F5344CB8AC3E}">
        <p14:creationId xmlns:p14="http://schemas.microsoft.com/office/powerpoint/2010/main" val="220070695"/>
      </p:ext>
    </p:extLst>
  </p:cSld>
</p:sld>
</file>

<file path=ppt/slides/slide2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FE3F23-8460-4CFD-BE6C-878614C043B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B6BF0127-635B-43C4-B516-2438598F42D9}"/>
              </a:ext>
            </a:extLst>
          </p:cNvPr>
          <p:cNvPicPr>
            <a:picLocks xmlns:a="http://schemas.openxmlformats.org/drawingml/2006/main" noChangeAspect="1"/>
          </p:cNvPicPr>
          <p:nvPr/>
        </p:nvPicPr>
        <p:blipFill>
          <a:blip xmlns:r="http://schemas.openxmlformats.org/officeDocument/2006/relationships" xmlns:a="http://schemas.openxmlformats.org/drawingml/2006/main" r:embed="R146c5d6239c643a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7FADF8-A107-4AD8-840C-7D382B72507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01   24/24</a:t>
            </a:r>
          </a:p>
        </p:txBody>
      </p:sp>
      <p:sp>
        <p:nvSpPr>
          <p:cNvPr id="4" name="">
            <a:extLst xmlns:a="http://schemas.openxmlformats.org/drawingml/2006/main">
              <a:ext uri="{FF2B5EF4-FFF2-40B4-BE49-F238E27FC236}">
                <a16:creationId xmlns:a16="http://schemas.microsoft.com/office/drawing/2014/main" id="{03AF9635-2409-4995-A681-3FB385FD6A27}"/>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Esquema del LED, cálculo con unidades, primer firmware y registro de observación.</a:t>
            </a:r>
          </a:p>
        </p:txBody>
      </p:sp>
      <p:sp>
        <p:nvSpPr>
          <p:cNvPr id="5" name="">
            <a:extLst xmlns:a="http://schemas.openxmlformats.org/drawingml/2006/main">
              <a:ext uri="{FF2B5EF4-FFF2-40B4-BE49-F238E27FC236}">
                <a16:creationId xmlns:a16="http://schemas.microsoft.com/office/drawing/2014/main" id="{70844541-0B84-42B1-9BB8-74A45300A697}"/>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94567851"/>
      </p:ext>
    </p:extLst>
  </p:cSld>
</p:sld>
</file>

<file path=ppt/slides/slide2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B75684-C9C6-4EDC-9EDE-F02663FC8388}"/>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Programación y entradas digitales: botones que significan eventos</a:t>
            </a:r>
          </a:p>
        </p:txBody>
      </p:sp>
      <p:pic>
        <p:nvPicPr>
          <p:cNvPr id="2" name="">
            <a:extLst xmlns:a="http://schemas.openxmlformats.org/drawingml/2006/main">
              <a:ext uri="{FF2B5EF4-FFF2-40B4-BE49-F238E27FC236}">
                <a16:creationId xmlns:a16="http://schemas.microsoft.com/office/drawing/2014/main" id="{40A53884-C420-4650-937F-1AB5FD21304A}"/>
              </a:ext>
            </a:extLst>
          </p:cNvPr>
          <p:cNvPicPr>
            <a:picLocks xmlns:a="http://schemas.openxmlformats.org/drawingml/2006/main" noChangeAspect="1"/>
          </p:cNvPicPr>
          <p:nvPr/>
        </p:nvPicPr>
        <p:blipFill>
          <a:blip xmlns:r="http://schemas.openxmlformats.org/officeDocument/2006/relationships" xmlns:a="http://schemas.openxmlformats.org/drawingml/2006/main" r:embed="Re08e4a04d870490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0F46CAE-3BB4-43C1-9805-F696C18F8A6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01/24</a:t>
            </a:r>
          </a:p>
        </p:txBody>
      </p:sp>
      <p:sp>
        <p:nvSpPr>
          <p:cNvPr id="4" name="">
            <a:extLst xmlns:a="http://schemas.openxmlformats.org/drawingml/2006/main">
              <a:ext uri="{FF2B5EF4-FFF2-40B4-BE49-F238E27FC236}">
                <a16:creationId xmlns:a16="http://schemas.microsoft.com/office/drawing/2014/main" id="{E0BBB978-A39E-4BFF-A9E8-0A49561E5C56}"/>
              </a:ext>
            </a:extLst>
          </p:cNvPr>
          <p:cNvSpPr>
            <a:spLocks xmlns:a="http://schemas.openxmlformats.org/drawingml/2006/main" noGrp="1"/>
          </p:cNvSpPr>
          <p:nvPr/>
        </p:nvSpPr>
        <p:spPr>
          <a:xfrm xmlns:a="http://schemas.openxmlformats.org/drawingml/2006/main">
            <a:off x="590550" y="1762125"/>
            <a:ext cx="107156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Organizar un programa con funciones y detectar una pulsación sin confundir nivel, transición y rebote.</a:t>
            </a:r>
          </a:p>
        </p:txBody>
      </p:sp>
      <p:sp>
        <p:nvSpPr>
          <p:cNvPr id="5" name="">
            <a:extLst xmlns:a="http://schemas.openxmlformats.org/drawingml/2006/main">
              <a:ext uri="{FF2B5EF4-FFF2-40B4-BE49-F238E27FC236}">
                <a16:creationId xmlns:a16="http://schemas.microsoft.com/office/drawing/2014/main" id="{999E3FEA-01B9-453B-A4C0-4325C9275F76}"/>
              </a:ext>
            </a:extLst>
          </p:cNvPr>
          <p:cNvSpPr>
            <a:spLocks xmlns:a="http://schemas.openxmlformats.org/drawingml/2006/main" noGrp="1"/>
          </p:cNvSpPr>
          <p:nvPr/>
        </p:nvSpPr>
        <p:spPr>
          <a:xfrm xmlns:a="http://schemas.openxmlformats.org/drawingml/2006/main">
            <a:off x="590550" y="3714750"/>
            <a:ext cx="10715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CFCF8"/>
                </a:solidFill>
                <a:latin typeface="Arial"/>
                <a:ea typeface="Arial"/>
                <a:cs typeface="Arial"/>
              </a:defRPr>
            </a:defPPr>
            <a:lvl1pPr>
              <a:defRPr sz="2250" b="0">
                <a:solidFill>
                  <a:srgbClr val="FCFCF8"/>
                </a:solidFill>
                <a:latin typeface="Arial"/>
                <a:ea typeface="Arial"/>
                <a:cs typeface="Arial"/>
              </a:defRPr>
            </a:lvl1pPr>
            <a:lvl2pPr>
              <a:defRPr sz="2250" b="0">
                <a:solidFill>
                  <a:srgbClr val="FCFCF8"/>
                </a:solidFill>
                <a:latin typeface="Arial"/>
                <a:ea typeface="Arial"/>
                <a:cs typeface="Arial"/>
              </a:defRPr>
            </a:lvl2pPr>
            <a:lvl3pPr>
              <a:defRPr sz="2250" b="0">
                <a:solidFill>
                  <a:srgbClr val="FCFCF8"/>
                </a:solidFill>
                <a:latin typeface="Arial"/>
                <a:ea typeface="Arial"/>
                <a:cs typeface="Arial"/>
              </a:defRPr>
            </a:lvl3pPr>
            <a:lvl4pPr>
              <a:defRPr sz="2250" b="0">
                <a:solidFill>
                  <a:srgbClr val="FCFCF8"/>
                </a:solidFill>
                <a:latin typeface="Arial"/>
                <a:ea typeface="Arial"/>
                <a:cs typeface="Arial"/>
              </a:defRPr>
            </a:lvl4pPr>
            <a:lvl5pPr>
              <a:defRPr sz="2250" b="0">
                <a:solidFill>
                  <a:srgbClr val="FCFCF8"/>
                </a:solidFill>
                <a:latin typeface="Arial"/>
                <a:ea typeface="Arial"/>
                <a:cs typeface="Arial"/>
              </a:defRPr>
            </a:lvl5pPr>
            <a:lvl6pPr>
              <a:defRPr sz="2250" b="0">
                <a:solidFill>
                  <a:srgbClr val="FCFCF8"/>
                </a:solidFill>
                <a:latin typeface="Arial"/>
                <a:ea typeface="Arial"/>
                <a:cs typeface="Arial"/>
              </a:defRPr>
            </a:lvl6pPr>
            <a:lvl7pPr>
              <a:defRPr sz="2250" b="0">
                <a:solidFill>
                  <a:srgbClr val="FCFCF8"/>
                </a:solidFill>
                <a:latin typeface="Arial"/>
                <a:ea typeface="Arial"/>
                <a:cs typeface="Arial"/>
              </a:defRPr>
            </a:lvl7pPr>
            <a:lvl8pPr>
              <a:defRPr sz="2250" b="0">
                <a:solidFill>
                  <a:srgbClr val="FCFCF8"/>
                </a:solidFill>
                <a:latin typeface="Arial"/>
                <a:ea typeface="Arial"/>
                <a:cs typeface="Arial"/>
              </a:defRPr>
            </a:lvl8pPr>
            <a:lvl9pPr>
              <a:defRPr sz="2250" b="0">
                <a:solidFill>
                  <a:srgbClr val="FCFCF8"/>
                </a:solidFill>
                <a:latin typeface="Arial"/>
                <a:ea typeface="Arial"/>
                <a:cs typeface="Arial"/>
              </a:defRPr>
            </a:lvl9pPr>
          </a:lstStyle>
          <a:p xmlns:a="http://schemas.openxmlformats.org/drawingml/2006/main">
            <a:pPr>
              <a:defRPr sz="2250" b="0">
                <a:solidFill>
                  <a:srgbClr val="FCFCF8"/>
                </a:solidFill>
                <a:latin typeface="Arial"/>
                <a:ea typeface="Arial"/>
                <a:cs typeface="Arial"/>
              </a:defRPr>
            </a:pPr>
            <a:r>
              <a:rPr sz="2250" b="0">
                <a:solidFill>
                  <a:srgbClr val="FCFCF8"/>
                </a:solidFill>
                <a:latin typeface="Arial"/>
                <a:ea typeface="Arial"/>
                <a:cs typeface="Arial"/>
              </a:rPr>
              <a:t>Los mandos y los avisos de una estación de drones necesitan interpretar acciones humanas con estados definidos.</a:t>
            </a:r>
          </a:p>
        </p:txBody>
      </p:sp>
      <p:sp>
        <p:nvSpPr>
          <p:cNvPr id="6" name="">
            <a:extLst xmlns:a="http://schemas.openxmlformats.org/drawingml/2006/main">
              <a:ext uri="{FF2B5EF4-FFF2-40B4-BE49-F238E27FC236}">
                <a16:creationId xmlns:a16="http://schemas.microsoft.com/office/drawing/2014/main" id="{F3F87F1E-1738-4131-BDCA-CB3F5260F4D7}"/>
              </a:ext>
            </a:extLst>
          </p:cNvPr>
          <p:cNvSpPr>
            <a:spLocks xmlns:a="http://schemas.openxmlformats.org/drawingml/2006/main" noGrp="1"/>
          </p:cNvSpPr>
          <p:nvPr/>
        </p:nvSpPr>
        <p:spPr>
          <a:xfrm xmlns:a="http://schemas.openxmlformats.org/drawingml/2006/main">
            <a:off x="590550" y="569595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8C8C1"/>
                </a:solidFill>
                <a:latin typeface="Consolas"/>
                <a:ea typeface="Consolas"/>
                <a:cs typeface="Consolas"/>
              </a:defRPr>
            </a:defPPr>
            <a:lvl1pPr>
              <a:defRPr sz="1725" b="0">
                <a:solidFill>
                  <a:srgbClr val="B8C8C1"/>
                </a:solidFill>
                <a:latin typeface="Consolas"/>
                <a:ea typeface="Consolas"/>
                <a:cs typeface="Consolas"/>
              </a:defRPr>
            </a:lvl1pPr>
            <a:lvl2pPr>
              <a:defRPr sz="1725" b="0">
                <a:solidFill>
                  <a:srgbClr val="B8C8C1"/>
                </a:solidFill>
                <a:latin typeface="Consolas"/>
                <a:ea typeface="Consolas"/>
                <a:cs typeface="Consolas"/>
              </a:defRPr>
            </a:lvl2pPr>
            <a:lvl3pPr>
              <a:defRPr sz="1725" b="0">
                <a:solidFill>
                  <a:srgbClr val="B8C8C1"/>
                </a:solidFill>
                <a:latin typeface="Consolas"/>
                <a:ea typeface="Consolas"/>
                <a:cs typeface="Consolas"/>
              </a:defRPr>
            </a:lvl3pPr>
            <a:lvl4pPr>
              <a:defRPr sz="1725" b="0">
                <a:solidFill>
                  <a:srgbClr val="B8C8C1"/>
                </a:solidFill>
                <a:latin typeface="Consolas"/>
                <a:ea typeface="Consolas"/>
                <a:cs typeface="Consolas"/>
              </a:defRPr>
            </a:lvl4pPr>
            <a:lvl5pPr>
              <a:defRPr sz="1725" b="0">
                <a:solidFill>
                  <a:srgbClr val="B8C8C1"/>
                </a:solidFill>
                <a:latin typeface="Consolas"/>
                <a:ea typeface="Consolas"/>
                <a:cs typeface="Consolas"/>
              </a:defRPr>
            </a:lvl5pPr>
            <a:lvl6pPr>
              <a:defRPr sz="1725" b="0">
                <a:solidFill>
                  <a:srgbClr val="B8C8C1"/>
                </a:solidFill>
                <a:latin typeface="Consolas"/>
                <a:ea typeface="Consolas"/>
                <a:cs typeface="Consolas"/>
              </a:defRPr>
            </a:lvl6pPr>
            <a:lvl7pPr>
              <a:defRPr sz="1725" b="0">
                <a:solidFill>
                  <a:srgbClr val="B8C8C1"/>
                </a:solidFill>
                <a:latin typeface="Consolas"/>
                <a:ea typeface="Consolas"/>
                <a:cs typeface="Consolas"/>
              </a:defRPr>
            </a:lvl7pPr>
            <a:lvl8pPr>
              <a:defRPr sz="1725" b="0">
                <a:solidFill>
                  <a:srgbClr val="B8C8C1"/>
                </a:solidFill>
                <a:latin typeface="Consolas"/>
                <a:ea typeface="Consolas"/>
                <a:cs typeface="Consolas"/>
              </a:defRPr>
            </a:lvl8pPr>
            <a:lvl9pPr>
              <a:defRPr sz="1725" b="0">
                <a:solidFill>
                  <a:srgbClr val="B8C8C1"/>
                </a:solidFill>
                <a:latin typeface="Consolas"/>
                <a:ea typeface="Consolas"/>
                <a:cs typeface="Consolas"/>
              </a:defRPr>
            </a:lvl9pPr>
          </a:lstStyle>
          <a:p xmlns:a="http://schemas.openxmlformats.org/drawingml/2006/main">
            <a:pPr>
              <a:defRPr sz="1725" b="0">
                <a:solidFill>
                  <a:srgbClr val="B8C8C1"/>
                </a:solidFill>
                <a:latin typeface="Consolas"/>
                <a:ea typeface="Consolas"/>
                <a:cs typeface="Consolas"/>
              </a:defRPr>
            </a:pPr>
            <a:r>
              <a:rPr sz="1725" b="0">
                <a:solidFill>
                  <a:srgbClr val="B8C8C1"/>
                </a:solidFill>
                <a:latin typeface="Consolas"/>
                <a:ea typeface="Consolas"/>
                <a:cs typeface="Consolas"/>
              </a:rPr>
              <a:t>EN LÍNEA   2 HORAS   ESP32 CLÁSICO</a:t>
            </a:r>
          </a:p>
        </p:txBody>
      </p:sp>
    </p:spTree>
    <p:extLst>
      <p:ext uri="{BB962C8B-B14F-4D97-AF65-F5344CB8AC3E}">
        <p14:creationId xmlns:p14="http://schemas.microsoft.com/office/powerpoint/2010/main" val="480606004"/>
      </p:ext>
    </p:extLst>
  </p:cSld>
</p:sld>
</file>

<file path=ppt/slides/slide2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7F99D8F-7EE5-48F5-8AFE-EAE2F16E0EB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Entrada, decisión y salida</a:t>
            </a:r>
          </a:p>
        </p:txBody>
      </p:sp>
      <p:pic>
        <p:nvPicPr>
          <p:cNvPr id="2" name="">
            <a:extLst xmlns:a="http://schemas.openxmlformats.org/drawingml/2006/main">
              <a:ext uri="{FF2B5EF4-FFF2-40B4-BE49-F238E27FC236}">
                <a16:creationId xmlns:a16="http://schemas.microsoft.com/office/drawing/2014/main" id="{0AEE1D45-54DE-4B0B-AAB7-C9CDFA28D28C}"/>
              </a:ext>
            </a:extLst>
          </p:cNvPr>
          <p:cNvPicPr>
            <a:picLocks xmlns:a="http://schemas.openxmlformats.org/drawingml/2006/main" noChangeAspect="1"/>
          </p:cNvPicPr>
          <p:nvPr/>
        </p:nvPicPr>
        <p:blipFill>
          <a:blip xmlns:r="http://schemas.openxmlformats.org/officeDocument/2006/relationships" xmlns:a="http://schemas.openxmlformats.org/drawingml/2006/main" r:embed="R790f1367360442e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DEACBE2-2640-4AEB-97AA-B3D5C5B2BA2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02/24</a:t>
            </a:r>
          </a:p>
        </p:txBody>
      </p:sp>
      <p:sp>
        <p:nvSpPr>
          <p:cNvPr id="4" name="">
            <a:extLst xmlns:a="http://schemas.openxmlformats.org/drawingml/2006/main">
              <a:ext uri="{FF2B5EF4-FFF2-40B4-BE49-F238E27FC236}">
                <a16:creationId xmlns:a16="http://schemas.microsoft.com/office/drawing/2014/main" id="{C5FF449C-4139-4AAF-B9FF-4A0F30839B8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 programa de hardware transforma observaciones en decisiones. El pulsador es la entrada; una condición representa la decisión; una luz o un sonido comunica la salida. Antes de escribir instrucciones, define el comportamiento: “mientras mantengo pulsado, la luz permanece encendida” es diferente de “cada pulsación cambia el estado”. La primera regla usa un nivel; la segunda necesita reconocer un evento. Si no se aclara esa diferencia, el programa puede parecer defectuoso aunque ejecute exactamente lo que se escribió.</a:t>
            </a:r>
          </a:p>
        </p:txBody>
      </p:sp>
    </p:spTree>
    <p:extLst>
      <p:ext uri="{BB962C8B-B14F-4D97-AF65-F5344CB8AC3E}">
        <p14:creationId xmlns:p14="http://schemas.microsoft.com/office/powerpoint/2010/main" val="1832517619"/>
      </p:ext>
    </p:extLst>
  </p:cSld>
</p:sld>
</file>

<file path=ppt/slides/slide2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B49709-D61E-4976-A57C-606C3595487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Entrada, decisión y salida</a:t>
            </a:r>
          </a:p>
        </p:txBody>
      </p:sp>
      <p:pic>
        <p:nvPicPr>
          <p:cNvPr id="2" name="">
            <a:extLst xmlns:a="http://schemas.openxmlformats.org/drawingml/2006/main">
              <a:ext uri="{FF2B5EF4-FFF2-40B4-BE49-F238E27FC236}">
                <a16:creationId xmlns:a16="http://schemas.microsoft.com/office/drawing/2014/main" id="{7C721B29-F646-41D2-BE49-B44676F8FC5B}"/>
              </a:ext>
            </a:extLst>
          </p:cNvPr>
          <p:cNvPicPr>
            <a:picLocks xmlns:a="http://schemas.openxmlformats.org/drawingml/2006/main" noChangeAspect="1"/>
          </p:cNvPicPr>
          <p:nvPr/>
        </p:nvPicPr>
        <p:blipFill>
          <a:blip xmlns:r="http://schemas.openxmlformats.org/officeDocument/2006/relationships" xmlns:a="http://schemas.openxmlformats.org/drawingml/2006/main" r:embed="R636a6044a6514a9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3F81A5-3416-4709-8B14-2B6F70C650F9}"/>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03/24</a:t>
            </a:r>
          </a:p>
        </p:txBody>
      </p:sp>
      <p:pic>
        <p:nvPicPr>
          <p:cNvPr id="4" name="">
            <a:extLst xmlns:a="http://schemas.openxmlformats.org/drawingml/2006/main">
              <a:ext uri="{FF2B5EF4-FFF2-40B4-BE49-F238E27FC236}">
                <a16:creationId xmlns:a16="http://schemas.microsoft.com/office/drawing/2014/main" id="{1AAB12DB-D17F-4244-82EB-2736B28103D7}"/>
              </a:ext>
            </a:extLst>
          </p:cNvPr>
          <p:cNvPicPr>
            <a:picLocks xmlns:a="http://schemas.openxmlformats.org/drawingml/2006/main" noChangeAspect="1"/>
          </p:cNvPicPr>
          <p:nvPr/>
        </p:nvPicPr>
        <p:blipFill>
          <a:blip xmlns:r="http://schemas.openxmlformats.org/officeDocument/2006/relationships" xmlns:a="http://schemas.openxmlformats.org/drawingml/2006/main" r:embed="Rc66e7ffea35949e9"/>
          <a:stretch xmlns:a="http://schemas.openxmlformats.org/drawingml/2006/main"/>
        </p:blipFill>
        <p:spPr>
          <a:xfrm xmlns:a="http://schemas.openxmlformats.org/drawingml/2006/main">
            <a:off x="2496757" y="1638300"/>
            <a:ext cx="3598035"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05F1550-5C00-44A9-8041-BD2C5B3B7C6B}"/>
              </a:ext>
            </a:extLst>
          </p:cNvPr>
          <p:cNvSpPr>
            <a:spLocks xmlns:a="http://schemas.openxmlformats.org/drawingml/2006/main" noGrp="1"/>
          </p:cNvSpPr>
          <p:nvPr/>
        </p:nvSpPr>
        <p:spPr>
          <a:xfrm xmlns:a="http://schemas.openxmlformats.org/drawingml/2006/main">
            <a:off x="8286750" y="1790700"/>
            <a:ext cx="3286125"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4F3D"/>
                </a:solidFill>
                <a:latin typeface="Arial"/>
                <a:ea typeface="Arial"/>
                <a:cs typeface="Arial"/>
              </a:defRPr>
            </a:defPPr>
            <a:lvl1pPr>
              <a:defRPr sz="2250" b="1">
                <a:solidFill>
                  <a:srgbClr val="244F3D"/>
                </a:solidFill>
                <a:latin typeface="Arial"/>
                <a:ea typeface="Arial"/>
                <a:cs typeface="Arial"/>
              </a:defRPr>
            </a:lvl1pPr>
            <a:lvl2pPr>
              <a:defRPr sz="2250" b="1">
                <a:solidFill>
                  <a:srgbClr val="244F3D"/>
                </a:solidFill>
                <a:latin typeface="Arial"/>
                <a:ea typeface="Arial"/>
                <a:cs typeface="Arial"/>
              </a:defRPr>
            </a:lvl2pPr>
            <a:lvl3pPr>
              <a:defRPr sz="2250" b="1">
                <a:solidFill>
                  <a:srgbClr val="244F3D"/>
                </a:solidFill>
                <a:latin typeface="Arial"/>
                <a:ea typeface="Arial"/>
                <a:cs typeface="Arial"/>
              </a:defRPr>
            </a:lvl3pPr>
            <a:lvl4pPr>
              <a:defRPr sz="2250" b="1">
                <a:solidFill>
                  <a:srgbClr val="244F3D"/>
                </a:solidFill>
                <a:latin typeface="Arial"/>
                <a:ea typeface="Arial"/>
                <a:cs typeface="Arial"/>
              </a:defRPr>
            </a:lvl4pPr>
            <a:lvl5pPr>
              <a:defRPr sz="2250" b="1">
                <a:solidFill>
                  <a:srgbClr val="244F3D"/>
                </a:solidFill>
                <a:latin typeface="Arial"/>
                <a:ea typeface="Arial"/>
                <a:cs typeface="Arial"/>
              </a:defRPr>
            </a:lvl5pPr>
            <a:lvl6pPr>
              <a:defRPr sz="2250" b="1">
                <a:solidFill>
                  <a:srgbClr val="244F3D"/>
                </a:solidFill>
                <a:latin typeface="Arial"/>
                <a:ea typeface="Arial"/>
                <a:cs typeface="Arial"/>
              </a:defRPr>
            </a:lvl6pPr>
            <a:lvl7pPr>
              <a:defRPr sz="2250" b="1">
                <a:solidFill>
                  <a:srgbClr val="244F3D"/>
                </a:solidFill>
                <a:latin typeface="Arial"/>
                <a:ea typeface="Arial"/>
                <a:cs typeface="Arial"/>
              </a:defRPr>
            </a:lvl7pPr>
            <a:lvl8pPr>
              <a:defRPr sz="2250" b="1">
                <a:solidFill>
                  <a:srgbClr val="244F3D"/>
                </a:solidFill>
                <a:latin typeface="Arial"/>
                <a:ea typeface="Arial"/>
                <a:cs typeface="Arial"/>
              </a:defRPr>
            </a:lvl8pPr>
            <a:lvl9pPr>
              <a:defRPr sz="2250" b="1">
                <a:solidFill>
                  <a:srgbClr val="244F3D"/>
                </a:solidFill>
                <a:latin typeface="Arial"/>
                <a:ea typeface="Arial"/>
                <a:cs typeface="Arial"/>
              </a:defRPr>
            </a:lvl9pPr>
          </a:lstStyle>
          <a:p xmlns:a="http://schemas.openxmlformats.org/drawingml/2006/main">
            <a:pPr>
              <a:defRPr sz="2250" b="1">
                <a:solidFill>
                  <a:srgbClr val="244F3D"/>
                </a:solidFill>
                <a:latin typeface="Arial"/>
                <a:ea typeface="Arial"/>
                <a:cs typeface="Arial"/>
              </a:defRPr>
            </a:pPr>
            <a:r>
              <a:rPr sz="2250" b="1">
                <a:solidFill>
                  <a:srgbClr val="244F3D"/>
                </a:solidFill>
                <a:latin typeface="Arial"/>
                <a:ea typeface="Arial"/>
                <a:cs typeface="Arial"/>
              </a:rPr>
              <a:t>¿El programa necesita el nivel del botón o una pulsación? Señala entrada y salida.</a:t>
            </a:r>
          </a:p>
        </p:txBody>
      </p:sp>
      <p:sp>
        <p:nvSpPr>
          <p:cNvPr id="6" name="">
            <a:extLst xmlns:a="http://schemas.openxmlformats.org/drawingml/2006/main">
              <a:ext uri="{FF2B5EF4-FFF2-40B4-BE49-F238E27FC236}">
                <a16:creationId xmlns:a16="http://schemas.microsoft.com/office/drawing/2014/main" id="{6745304D-75C6-4D87-9A98-264301A6B898}"/>
              </a:ext>
            </a:extLst>
          </p:cNvPr>
          <p:cNvSpPr>
            <a:spLocks xmlns:a="http://schemas.openxmlformats.org/drawingml/2006/main" noGrp="1"/>
          </p:cNvSpPr>
          <p:nvPr/>
        </p:nvSpPr>
        <p:spPr>
          <a:xfrm xmlns:a="http://schemas.openxmlformats.org/drawingml/2006/main">
            <a:off x="590550" y="58578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58665F"/>
                </a:solidFill>
                <a:latin typeface="Arial"/>
                <a:ea typeface="Arial"/>
                <a:cs typeface="Arial"/>
              </a:defRPr>
            </a:defPPr>
            <a:lvl1pPr>
              <a:defRPr sz="1275" b="0">
                <a:solidFill>
                  <a:srgbClr val="58665F"/>
                </a:solidFill>
                <a:latin typeface="Arial"/>
                <a:ea typeface="Arial"/>
                <a:cs typeface="Arial"/>
              </a:defRPr>
            </a:lvl1pPr>
            <a:lvl2pPr>
              <a:defRPr sz="1275" b="0">
                <a:solidFill>
                  <a:srgbClr val="58665F"/>
                </a:solidFill>
                <a:latin typeface="Arial"/>
                <a:ea typeface="Arial"/>
                <a:cs typeface="Arial"/>
              </a:defRPr>
            </a:lvl2pPr>
            <a:lvl3pPr>
              <a:defRPr sz="1275" b="0">
                <a:solidFill>
                  <a:srgbClr val="58665F"/>
                </a:solidFill>
                <a:latin typeface="Arial"/>
                <a:ea typeface="Arial"/>
                <a:cs typeface="Arial"/>
              </a:defRPr>
            </a:lvl3pPr>
            <a:lvl4pPr>
              <a:defRPr sz="1275" b="0">
                <a:solidFill>
                  <a:srgbClr val="58665F"/>
                </a:solidFill>
                <a:latin typeface="Arial"/>
                <a:ea typeface="Arial"/>
                <a:cs typeface="Arial"/>
              </a:defRPr>
            </a:lvl4pPr>
            <a:lvl5pPr>
              <a:defRPr sz="1275" b="0">
                <a:solidFill>
                  <a:srgbClr val="58665F"/>
                </a:solidFill>
                <a:latin typeface="Arial"/>
                <a:ea typeface="Arial"/>
                <a:cs typeface="Arial"/>
              </a:defRPr>
            </a:lvl5pPr>
            <a:lvl6pPr>
              <a:defRPr sz="1275" b="0">
                <a:solidFill>
                  <a:srgbClr val="58665F"/>
                </a:solidFill>
                <a:latin typeface="Arial"/>
                <a:ea typeface="Arial"/>
                <a:cs typeface="Arial"/>
              </a:defRPr>
            </a:lvl6pPr>
            <a:lvl7pPr>
              <a:defRPr sz="1275" b="0">
                <a:solidFill>
                  <a:srgbClr val="58665F"/>
                </a:solidFill>
                <a:latin typeface="Arial"/>
                <a:ea typeface="Arial"/>
                <a:cs typeface="Arial"/>
              </a:defRPr>
            </a:lvl7pPr>
            <a:lvl8pPr>
              <a:defRPr sz="1275" b="0">
                <a:solidFill>
                  <a:srgbClr val="58665F"/>
                </a:solidFill>
                <a:latin typeface="Arial"/>
                <a:ea typeface="Arial"/>
                <a:cs typeface="Arial"/>
              </a:defRPr>
            </a:lvl8pPr>
            <a:lvl9pPr>
              <a:defRPr sz="1275" b="0">
                <a:solidFill>
                  <a:srgbClr val="58665F"/>
                </a:solidFill>
                <a:latin typeface="Arial"/>
                <a:ea typeface="Arial"/>
                <a:cs typeface="Arial"/>
              </a:defRPr>
            </a:lvl9pPr>
          </a:lstStyle>
          <a:p xmlns:a="http://schemas.openxmlformats.org/drawingml/2006/main">
            <a:pPr>
              <a:defRPr sz="1275" b="0">
                <a:solidFill>
                  <a:srgbClr val="58665F"/>
                </a:solidFill>
                <a:latin typeface="Arial"/>
                <a:ea typeface="Arial"/>
                <a:cs typeface="Arial"/>
              </a:defRPr>
            </a:pPr>
            <a:r>
              <a:rPr sz="1275" b="0">
                <a:solidFill>
                  <a:srgbClr val="58665F"/>
                </a:solidFill>
                <a:latin typeface="Arial"/>
                <a:ea typeface="Arial"/>
                <a:cs typeface="Arial"/>
              </a:rPr>
              <a:t>MECRO, proyecto 02. Esquema original del laboratorio para reconocer la arquitectura en Wokwi. Para montaje físico se aplica la tabla y las correcciones de esta lectura.</a:t>
            </a:r>
          </a:p>
        </p:txBody>
      </p:sp>
    </p:spTree>
    <p:extLst>
      <p:ext uri="{BB962C8B-B14F-4D97-AF65-F5344CB8AC3E}">
        <p14:creationId xmlns:p14="http://schemas.microsoft.com/office/powerpoint/2010/main" val="717758134"/>
      </p:ext>
    </p:extLst>
  </p:cSld>
</p:sld>
</file>

<file path=ppt/slides/slide2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BCE7B1-5D9C-4DF4-A017-2F6298A6B02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Entrada, decisión y salida</a:t>
            </a:r>
          </a:p>
        </p:txBody>
      </p:sp>
      <p:pic>
        <p:nvPicPr>
          <p:cNvPr id="2" name="">
            <a:extLst xmlns:a="http://schemas.openxmlformats.org/drawingml/2006/main">
              <a:ext uri="{FF2B5EF4-FFF2-40B4-BE49-F238E27FC236}">
                <a16:creationId xmlns:a16="http://schemas.microsoft.com/office/drawing/2014/main" id="{4951191A-B448-43E4-8C35-3C45565EFFEC}"/>
              </a:ext>
            </a:extLst>
          </p:cNvPr>
          <p:cNvPicPr>
            <a:picLocks xmlns:a="http://schemas.openxmlformats.org/drawingml/2006/main" noChangeAspect="1"/>
          </p:cNvPicPr>
          <p:nvPr/>
        </p:nvPicPr>
        <p:blipFill>
          <a:blip xmlns:r="http://schemas.openxmlformats.org/officeDocument/2006/relationships" xmlns:a="http://schemas.openxmlformats.org/drawingml/2006/main" r:embed="R6a434537eacf450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211BFB6-8035-44EA-83A4-85DF072063E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04/24</a:t>
            </a:r>
          </a:p>
        </p:txBody>
      </p:sp>
      <p:sp>
        <p:nvSpPr>
          <p:cNvPr id="4" name="">
            <a:extLst xmlns:a="http://schemas.openxmlformats.org/drawingml/2006/main">
              <a:ext uri="{FF2B5EF4-FFF2-40B4-BE49-F238E27FC236}">
                <a16:creationId xmlns:a16="http://schemas.microsoft.com/office/drawing/2014/main" id="{DFEE8FCC-7508-4E71-A705-2F246464636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proyecto del piano permite observar esta cadena con tres entradas. Cada botón selecciona una acción. El dado digital añade una variable que conserva un resultado después de la pulsación. Reutilizaremos ambos como ejercicios de programación; no es necesario repetir dos montajes completos para enseñar el mismo concepto. Cada estudiante modifica una regla y debe explicar cuándo se evalúa.</a:t>
            </a:r>
          </a:p>
        </p:txBody>
      </p:sp>
    </p:spTree>
    <p:extLst>
      <p:ext uri="{BB962C8B-B14F-4D97-AF65-F5344CB8AC3E}">
        <p14:creationId xmlns:p14="http://schemas.microsoft.com/office/powerpoint/2010/main" val="1111825930"/>
      </p:ext>
    </p:extLst>
  </p:cSld>
</p:sld>
</file>

<file path=ppt/slides/slide29.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44F7FF-E65F-44E3-88B8-72A536E5C764}"/>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Tipos, condiciones y funciones que ayudan a pensar</a:t>
            </a:r>
          </a:p>
        </p:txBody>
      </p:sp>
      <p:pic>
        <p:nvPicPr>
          <p:cNvPr id="2" name="">
            <a:extLst xmlns:a="http://schemas.openxmlformats.org/drawingml/2006/main">
              <a:ext uri="{FF2B5EF4-FFF2-40B4-BE49-F238E27FC236}">
                <a16:creationId xmlns:a16="http://schemas.microsoft.com/office/drawing/2014/main" id="{B1865D94-6F15-41B0-AE59-02AED6E7CBDE}"/>
              </a:ext>
            </a:extLst>
          </p:cNvPr>
          <p:cNvPicPr>
            <a:picLocks xmlns:a="http://schemas.openxmlformats.org/drawingml/2006/main" noChangeAspect="1"/>
          </p:cNvPicPr>
          <p:nvPr/>
        </p:nvPicPr>
        <p:blipFill>
          <a:blip xmlns:r="http://schemas.openxmlformats.org/officeDocument/2006/relationships" xmlns:a="http://schemas.openxmlformats.org/drawingml/2006/main" r:embed="Re940a4070c7b43f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6632E5-E3F6-496C-A976-C0E508C04114}"/>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05/24</a:t>
            </a:r>
          </a:p>
        </p:txBody>
      </p:sp>
      <p:sp>
        <p:nvSpPr>
          <p:cNvPr id="4" name="">
            <a:extLst xmlns:a="http://schemas.openxmlformats.org/drawingml/2006/main">
              <a:ext uri="{FF2B5EF4-FFF2-40B4-BE49-F238E27FC236}">
                <a16:creationId xmlns:a16="http://schemas.microsoft.com/office/drawing/2014/main" id="{F512F290-E4B0-4910-935E-6F2C05EA08AF}"/>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constante nombra una elección que no cambia durante la ejecución: por ejemplo, el número de pin. Una variable conserva información que sí puede cambiar. bool representa dos estados lógicos; un entero representa un conteo; float permite valores fraccionarios con precisión limitada. El tipo también afecta las operaciones. Si dividimos dos enteros, el resultado sigue reglas de aritmética entera. Escribir la unidad junto al nombre, como tiempo_ms o distancia_cm, reduce confusiones sin exigir un lenguaje más complejo.</a:t>
            </a:r>
          </a:p>
        </p:txBody>
      </p:sp>
    </p:spTree>
    <p:extLst>
      <p:ext uri="{BB962C8B-B14F-4D97-AF65-F5344CB8AC3E}">
        <p14:creationId xmlns:p14="http://schemas.microsoft.com/office/powerpoint/2010/main" val="143753152"/>
      </p:ext>
    </p:extLst>
  </p:cSld>
</p:sld>
</file>

<file path=ppt/slides/slide3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D27BD59-6B41-4487-A2F2-8DA557E686D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Una intención y su representación</a:t>
            </a:r>
          </a:p>
        </p:txBody>
      </p:sp>
      <p:pic>
        <p:nvPicPr>
          <p:cNvPr id="2" name="">
            <a:extLst xmlns:a="http://schemas.openxmlformats.org/drawingml/2006/main">
              <a:ext uri="{FF2B5EF4-FFF2-40B4-BE49-F238E27FC236}">
                <a16:creationId xmlns:a16="http://schemas.microsoft.com/office/drawing/2014/main" id="{C5D9030A-4E82-443E-A7CF-F9F237592DC4}"/>
              </a:ext>
            </a:extLst>
          </p:cNvPr>
          <p:cNvPicPr>
            <a:picLocks xmlns:a="http://schemas.openxmlformats.org/drawingml/2006/main" noChangeAspect="1"/>
          </p:cNvPicPr>
          <p:nvPr/>
        </p:nvPicPr>
        <p:blipFill>
          <a:blip xmlns:r="http://schemas.openxmlformats.org/officeDocument/2006/relationships" xmlns:a="http://schemas.openxmlformats.org/drawingml/2006/main" r:embed="R5b85b8e63fc4463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54C805C-7849-4EFF-80C3-E7F5B48BF20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06/24</a:t>
            </a:r>
          </a:p>
        </p:txBody>
      </p:sp>
      <p:graphicFrame>
        <p:nvGraphicFramePr>
          <p:cNvPr id="4" name="">
            <a:extLst xmlns:a="http://schemas.openxmlformats.org/drawingml/2006/main">
              <a:ext uri="{FF2B5EF4-FFF2-40B4-BE49-F238E27FC236}">
                <a16:creationId xmlns:a16="http://schemas.microsoft.com/office/drawing/2014/main" id="{DE08642A-CD99-4A4C-A367-2ACCD4228BD5}"/>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752475">
                <a:tc>
                  <a:txBody>
                    <a:bodyPr/>
                    <a:lstStyle/>
                    <a:p>
                      <a:r>
                        <a:rPr sz="1875" b="1">
                          <a:solidFill>
                            <a:srgbClr val="FFFFFF"/>
                          </a:solidFill>
                          <a:latin typeface="Arial"/>
                          <a:ea typeface="Arial"/>
                          <a:cs typeface="Arial"/>
                        </a:rPr>
                        <a:t>Intención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Ejemplo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Uso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Pin fijo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constexpr uint8_t BTN=18</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Relacionar esquema y código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Estado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bool encendido=false</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Conservar una decisión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Tiempo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uint32_t ahora=millis()</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Medir intervalos</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Magnitud fraccional</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float distancia_cm</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Expresar una lectura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1168921630"/>
      </p:ext>
    </p:extLst>
  </p:cSld>
</p:sld>
</file>

<file path=ppt/slides/slide31.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67BB2A-AFF4-4432-990A-BC2241B010F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División que cambia el resultado</a:t>
            </a:r>
          </a:p>
        </p:txBody>
      </p:sp>
      <p:pic>
        <p:nvPicPr>
          <p:cNvPr id="2" name="">
            <a:extLst xmlns:a="http://schemas.openxmlformats.org/drawingml/2006/main">
              <a:ext uri="{FF2B5EF4-FFF2-40B4-BE49-F238E27FC236}">
                <a16:creationId xmlns:a16="http://schemas.microsoft.com/office/drawing/2014/main" id="{CBED0AE6-9305-46C0-B8FA-9343C3B3CD7F}"/>
              </a:ext>
            </a:extLst>
          </p:cNvPr>
          <p:cNvPicPr>
            <a:picLocks xmlns:a="http://schemas.openxmlformats.org/drawingml/2006/main" noChangeAspect="1"/>
          </p:cNvPicPr>
          <p:nvPr/>
        </p:nvPicPr>
        <p:blipFill>
          <a:blip xmlns:r="http://schemas.openxmlformats.org/officeDocument/2006/relationships" xmlns:a="http://schemas.openxmlformats.org/drawingml/2006/main" r:embed="Re27a938d9ecd43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CDFE3F-2ECB-41F7-94E0-2A4B0F228E3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07/24</a:t>
            </a:r>
          </a:p>
        </p:txBody>
      </p:sp>
      <p:sp>
        <p:nvSpPr>
          <p:cNvPr id="4" name="">
            <a:extLst xmlns:a="http://schemas.openxmlformats.org/drawingml/2006/main">
              <a:ext uri="{FF2B5EF4-FFF2-40B4-BE49-F238E27FC236}">
                <a16:creationId xmlns:a16="http://schemas.microsoft.com/office/drawing/2014/main" id="{EFF053BA-0D6F-4E91-8A93-DDF6A8049ED9}"/>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¿Cuánto vale 5/2 en una operación entre enteros y cómo obtienes 2,5?</a:t>
            </a:r>
          </a:p>
        </p:txBody>
      </p:sp>
      <p:sp>
        <p:nvSpPr>
          <p:cNvPr id="5" name="">
            <a:extLst xmlns:a="http://schemas.openxmlformats.org/drawingml/2006/main">
              <a:ext uri="{FF2B5EF4-FFF2-40B4-BE49-F238E27FC236}">
                <a16:creationId xmlns:a16="http://schemas.microsoft.com/office/drawing/2014/main" id="{C8003D11-61AB-4FB3-A07F-2C82CC98FC26}"/>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Entre enteros da 2. Una expresión como 5.0f/2.0f conserva la fracción. La decisión depende de qué magnitud quieres representar.</a:t>
            </a:r>
          </a:p>
        </p:txBody>
      </p:sp>
    </p:spTree>
    <p:extLst>
      <p:ext uri="{BB962C8B-B14F-4D97-AF65-F5344CB8AC3E}">
        <p14:creationId xmlns:p14="http://schemas.microsoft.com/office/powerpoint/2010/main" val="1271654413"/>
      </p:ext>
    </p:extLst>
  </p:cSld>
</p:sld>
</file>

<file path=ppt/slides/slide3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24195B5-D27F-4303-AD22-982A7BE78B5D}"/>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Pull-up y rebote: dos problemas diferentes</a:t>
            </a:r>
          </a:p>
        </p:txBody>
      </p:sp>
      <p:pic>
        <p:nvPicPr>
          <p:cNvPr id="2" name="">
            <a:extLst xmlns:a="http://schemas.openxmlformats.org/drawingml/2006/main">
              <a:ext uri="{FF2B5EF4-FFF2-40B4-BE49-F238E27FC236}">
                <a16:creationId xmlns:a16="http://schemas.microsoft.com/office/drawing/2014/main" id="{8AFB11E5-3685-4EFA-BD3C-E30E8853D61F}"/>
              </a:ext>
            </a:extLst>
          </p:cNvPr>
          <p:cNvPicPr>
            <a:picLocks xmlns:a="http://schemas.openxmlformats.org/drawingml/2006/main" noChangeAspect="1"/>
          </p:cNvPicPr>
          <p:nvPr/>
        </p:nvPicPr>
        <p:blipFill>
          <a:blip xmlns:r="http://schemas.openxmlformats.org/officeDocument/2006/relationships" xmlns:a="http://schemas.openxmlformats.org/drawingml/2006/main" r:embed="R0d2a39dc59044c7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D290BF6-6D96-42AA-B70A-9766B6F73260}"/>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08/24</a:t>
            </a:r>
          </a:p>
        </p:txBody>
      </p:sp>
      <p:sp>
        <p:nvSpPr>
          <p:cNvPr id="4" name="">
            <a:extLst xmlns:a="http://schemas.openxmlformats.org/drawingml/2006/main">
              <a:ext uri="{FF2B5EF4-FFF2-40B4-BE49-F238E27FC236}">
                <a16:creationId xmlns:a16="http://schemas.microsoft.com/office/drawing/2014/main" id="{5BBE3496-4B40-4B1B-AD0F-2C1D3D3C3B3A}"/>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Una entrada sin referencia puede responder a interferencias y mostrar estados variables. INPUT_PULLUP habilita una resistencia interna que tiende a llevar el pin a HIGH. El pulsador lo conecta a GND al presionarlo, así que pulsado se interpreta como LOW. Esa inversión es una convención del circuito. No se corrige cambiando cables al azar: se relacionan nivel físico y significado en una tabla de verdad.</a:t>
            </a:r>
          </a:p>
        </p:txBody>
      </p:sp>
    </p:spTree>
    <p:extLst>
      <p:ext uri="{BB962C8B-B14F-4D97-AF65-F5344CB8AC3E}">
        <p14:creationId xmlns:p14="http://schemas.microsoft.com/office/powerpoint/2010/main" val="558292830"/>
      </p:ext>
    </p:extLst>
  </p:cSld>
</p:sld>
</file>

<file path=ppt/slides/slide3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CA7ACAD-9686-4784-A032-D260542BB1D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Pulsador entre GPIO18 y GND</a:t>
            </a:r>
          </a:p>
        </p:txBody>
      </p:sp>
      <p:pic>
        <p:nvPicPr>
          <p:cNvPr id="2" name="">
            <a:extLst xmlns:a="http://schemas.openxmlformats.org/drawingml/2006/main">
              <a:ext uri="{FF2B5EF4-FFF2-40B4-BE49-F238E27FC236}">
                <a16:creationId xmlns:a16="http://schemas.microsoft.com/office/drawing/2014/main" id="{55BF2968-FFD5-4469-927D-744671EF9167}"/>
              </a:ext>
            </a:extLst>
          </p:cNvPr>
          <p:cNvPicPr>
            <a:picLocks xmlns:a="http://schemas.openxmlformats.org/drawingml/2006/main" noChangeAspect="1"/>
          </p:cNvPicPr>
          <p:nvPr/>
        </p:nvPicPr>
        <p:blipFill>
          <a:blip xmlns:r="http://schemas.openxmlformats.org/officeDocument/2006/relationships" xmlns:a="http://schemas.openxmlformats.org/drawingml/2006/main" r:embed="R9d8e1883cc9d40f8"/>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28359D8-40D7-4C8C-8C15-098D286E2DFB}"/>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09/24</a:t>
            </a:r>
          </a:p>
        </p:txBody>
      </p:sp>
      <p:graphicFrame>
        <p:nvGraphicFramePr>
          <p:cNvPr id="4" name="">
            <a:extLst xmlns:a="http://schemas.openxmlformats.org/drawingml/2006/main">
              <a:ext uri="{FF2B5EF4-FFF2-40B4-BE49-F238E27FC236}">
                <a16:creationId xmlns:a16="http://schemas.microsoft.com/office/drawing/2014/main" id="{3A463F77-0265-4E77-BCE2-2789FA2EFECF}"/>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3238500"/>
                <a:gridCol w="3667125"/>
                <a:gridCol w="4105275"/>
              </a:tblGrid>
              <a:tr h="940594">
                <a:tc>
                  <a:txBody>
                    <a:bodyPr/>
                    <a:lstStyle/>
                    <a:p>
                      <a:r>
                        <a:rPr sz="1875" b="1">
                          <a:solidFill>
                            <a:srgbClr val="FFFFFF"/>
                          </a:solidFill>
                          <a:latin typeface="Arial"/>
                          <a:ea typeface="Arial"/>
                          <a:cs typeface="Arial"/>
                        </a:rPr>
                        <a:t>Situación</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Lectura</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Significado elegido</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940594">
                <a:tc>
                  <a:txBody>
                    <a:bodyPr/>
                    <a:lstStyle/>
                    <a:p>
                      <a:r>
                        <a:rPr sz="1875" b="0">
                          <a:solidFill>
                            <a:srgbClr val="14231E"/>
                          </a:solidFill>
                          <a:latin typeface="Arial"/>
                          <a:ea typeface="Arial"/>
                          <a:cs typeface="Arial"/>
                        </a:rPr>
                        <a:t>Abierto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HIGH</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Reposo</a:t>
                      </a:r>
                    </a:p>
                  </a:txBody>
                  <a:tcPr marL="91440" marR="91440" marT="45720" marB="45720">
                    <a:lnR w="9525">
                      <a:solidFill>
                        <a:srgbClr val="BFCEC3"/>
                      </a:solidFill>
                      <a:prstDash val="solid"/>
                    </a:lnR>
                    <a:lnB w="9525">
                      <a:solidFill>
                        <a:srgbClr val="BFCEC3"/>
                      </a:solidFill>
                      <a:prstDash val="solid"/>
                    </a:lnB>
                    <a:solidFill>
                      <a:srgbClr val="EAF3EC"/>
                    </a:solidFill>
                  </a:tcPr>
                </a:tc>
              </a:tr>
              <a:tr h="940594">
                <a:tc>
                  <a:txBody>
                    <a:bodyPr/>
                    <a:lstStyle/>
                    <a:p>
                      <a:r>
                        <a:rPr sz="1875" b="0">
                          <a:solidFill>
                            <a:srgbClr val="14231E"/>
                          </a:solidFill>
                          <a:latin typeface="Arial"/>
                          <a:ea typeface="Arial"/>
                          <a:cs typeface="Arial"/>
                        </a:rPr>
                        <a:t>Presionado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LOW</a:t>
                      </a:r>
                    </a:p>
                  </a:txBody>
                  <a:tcPr marL="91440" marR="91440" marT="45720" marB="45720">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Solicitud</a:t>
                      </a:r>
                    </a:p>
                  </a:txBody>
                  <a:tcPr marL="91440" marR="91440" marT="45720" marB="45720">
                    <a:lnR w="9525">
                      <a:solidFill>
                        <a:srgbClr val="BFCEC3"/>
                      </a:solidFill>
                      <a:prstDash val="solid"/>
                    </a:lnR>
                    <a:lnB w="9525">
                      <a:solidFill>
                        <a:srgbClr val="BFCEC3"/>
                      </a:solidFill>
                      <a:prstDash val="solid"/>
                    </a:lnB>
                    <a:solidFill>
                      <a:srgbClr val="FCFCF8"/>
                    </a:solidFill>
                  </a:tcPr>
                </a:tc>
              </a:tr>
              <a:tr h="940594">
                <a:tc>
                  <a:txBody>
                    <a:bodyPr/>
                    <a:lstStyle/>
                    <a:p>
                      <a:r>
                        <a:rPr sz="1875" b="0">
                          <a:solidFill>
                            <a:srgbClr val="14231E"/>
                          </a:solidFill>
                          <a:latin typeface="Arial"/>
                          <a:ea typeface="Arial"/>
                          <a:cs typeface="Arial"/>
                        </a:rPr>
                        <a:t>Lecturas alternantes breves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HIGH / LOW</a:t>
                      </a:r>
                    </a:p>
                  </a:txBody>
                  <a:tcPr marL="91440" marR="91440" marT="45720" marB="45720">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Posible rebote</a:t>
                      </a:r>
                    </a:p>
                  </a:txBody>
                  <a:tcPr marL="91440" marR="91440" marT="45720" marB="45720">
                    <a:lnR w="9525">
                      <a:solidFill>
                        <a:srgbClr val="BFCEC3"/>
                      </a:solidFill>
                      <a:prstDash val="solid"/>
                    </a:lnR>
                    <a:lnB w="9525">
                      <a:solidFill>
                        <a:srgbClr val="BFCEC3"/>
                      </a:solidFill>
                      <a:prstDash val="solid"/>
                    </a:lnB>
                    <a:solidFill>
                      <a:srgbClr val="EAF3EC"/>
                    </a:solidFill>
                  </a:tcPr>
                </a:tc>
              </a:tr>
            </a:tbl>
          </a:graphicData>
        </a:graphic>
      </p:graphicFrame>
    </p:spTree>
    <p:extLst>
      <p:ext uri="{BB962C8B-B14F-4D97-AF65-F5344CB8AC3E}">
        <p14:creationId xmlns:p14="http://schemas.microsoft.com/office/powerpoint/2010/main" val="645783449"/>
      </p:ext>
    </p:extLst>
  </p:cSld>
</p:sld>
</file>

<file path=ppt/slides/slide34.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5427B8-8A90-45C8-ABEA-F6FD70A74B8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Una pulsación, varios cambios</a:t>
            </a:r>
          </a:p>
        </p:txBody>
      </p:sp>
      <p:pic>
        <p:nvPicPr>
          <p:cNvPr id="2" name="">
            <a:extLst xmlns:a="http://schemas.openxmlformats.org/drawingml/2006/main">
              <a:ext uri="{FF2B5EF4-FFF2-40B4-BE49-F238E27FC236}">
                <a16:creationId xmlns:a16="http://schemas.microsoft.com/office/drawing/2014/main" id="{B44698F4-6AB2-41EB-B7EF-F5A9D625F69B}"/>
              </a:ext>
            </a:extLst>
          </p:cNvPr>
          <p:cNvPicPr>
            <a:picLocks xmlns:a="http://schemas.openxmlformats.org/drawingml/2006/main" noChangeAspect="1"/>
          </p:cNvPicPr>
          <p:nvPr/>
        </p:nvPicPr>
        <p:blipFill>
          <a:blip xmlns:r="http://schemas.openxmlformats.org/officeDocument/2006/relationships" xmlns:a="http://schemas.openxmlformats.org/drawingml/2006/main" r:embed="R9b00288536f94e9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8CFDFE7-A6D3-41BE-B52D-63E8C8A47FDE}"/>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10/24</a:t>
            </a:r>
          </a:p>
        </p:txBody>
      </p:sp>
      <p:sp>
        <p:nvSpPr>
          <p:cNvPr id="4" name="">
            <a:extLst xmlns:a="http://schemas.openxmlformats.org/drawingml/2006/main">
              <a:ext uri="{FF2B5EF4-FFF2-40B4-BE49-F238E27FC236}">
                <a16:creationId xmlns:a16="http://schemas.microsoft.com/office/drawing/2014/main" id="{02AE1678-900B-453B-845F-2C08EF567B67}"/>
              </a:ext>
            </a:extLst>
          </p:cNvPr>
          <p:cNvSpPr>
            <a:spLocks xmlns:a="http://schemas.openxmlformats.org/drawingml/2006/main" noGrp="1"/>
          </p:cNvSpPr>
          <p:nvPr/>
        </p:nvSpPr>
        <p:spPr>
          <a:xfrm xmlns:a="http://schemas.openxmlformats.org/drawingml/2006/main">
            <a:off x="590550" y="1743075"/>
            <a:ext cx="10715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AEF4BB"/>
                </a:solidFill>
                <a:latin typeface="Arial"/>
                <a:ea typeface="Arial"/>
                <a:cs typeface="Arial"/>
              </a:defRPr>
            </a:defPPr>
            <a:lvl1pPr>
              <a:defRPr sz="2475" b="1">
                <a:solidFill>
                  <a:srgbClr val="AEF4BB"/>
                </a:solidFill>
                <a:latin typeface="Arial"/>
                <a:ea typeface="Arial"/>
                <a:cs typeface="Arial"/>
              </a:defRPr>
            </a:lvl1pPr>
            <a:lvl2pPr>
              <a:defRPr sz="2475" b="1">
                <a:solidFill>
                  <a:srgbClr val="AEF4BB"/>
                </a:solidFill>
                <a:latin typeface="Arial"/>
                <a:ea typeface="Arial"/>
                <a:cs typeface="Arial"/>
              </a:defRPr>
            </a:lvl2pPr>
            <a:lvl3pPr>
              <a:defRPr sz="2475" b="1">
                <a:solidFill>
                  <a:srgbClr val="AEF4BB"/>
                </a:solidFill>
                <a:latin typeface="Arial"/>
                <a:ea typeface="Arial"/>
                <a:cs typeface="Arial"/>
              </a:defRPr>
            </a:lvl3pPr>
            <a:lvl4pPr>
              <a:defRPr sz="2475" b="1">
                <a:solidFill>
                  <a:srgbClr val="AEF4BB"/>
                </a:solidFill>
                <a:latin typeface="Arial"/>
                <a:ea typeface="Arial"/>
                <a:cs typeface="Arial"/>
              </a:defRPr>
            </a:lvl4pPr>
            <a:lvl5pPr>
              <a:defRPr sz="2475" b="1">
                <a:solidFill>
                  <a:srgbClr val="AEF4BB"/>
                </a:solidFill>
                <a:latin typeface="Arial"/>
                <a:ea typeface="Arial"/>
                <a:cs typeface="Arial"/>
              </a:defRPr>
            </a:lvl5pPr>
            <a:lvl6pPr>
              <a:defRPr sz="2475" b="1">
                <a:solidFill>
                  <a:srgbClr val="AEF4BB"/>
                </a:solidFill>
                <a:latin typeface="Arial"/>
                <a:ea typeface="Arial"/>
                <a:cs typeface="Arial"/>
              </a:defRPr>
            </a:lvl6pPr>
            <a:lvl7pPr>
              <a:defRPr sz="2475" b="1">
                <a:solidFill>
                  <a:srgbClr val="AEF4BB"/>
                </a:solidFill>
                <a:latin typeface="Arial"/>
                <a:ea typeface="Arial"/>
                <a:cs typeface="Arial"/>
              </a:defRPr>
            </a:lvl7pPr>
            <a:lvl8pPr>
              <a:defRPr sz="2475" b="1">
                <a:solidFill>
                  <a:srgbClr val="AEF4BB"/>
                </a:solidFill>
                <a:latin typeface="Arial"/>
                <a:ea typeface="Arial"/>
                <a:cs typeface="Arial"/>
              </a:defRPr>
            </a:lvl8pPr>
            <a:lvl9pPr>
              <a:defRPr sz="2475" b="1">
                <a:solidFill>
                  <a:srgbClr val="AEF4BB"/>
                </a:solidFill>
                <a:latin typeface="Arial"/>
                <a:ea typeface="Arial"/>
                <a:cs typeface="Arial"/>
              </a:defRPr>
            </a:lvl9pPr>
          </a:lstStyle>
          <a:p xmlns:a="http://schemas.openxmlformats.org/drawingml/2006/main">
            <a:pPr>
              <a:defRPr sz="2475" b="1">
                <a:solidFill>
                  <a:srgbClr val="AEF4BB"/>
                </a:solidFill>
                <a:latin typeface="Arial"/>
                <a:ea typeface="Arial"/>
                <a:cs typeface="Arial"/>
              </a:defRPr>
            </a:pPr>
            <a:r>
              <a:rPr sz="2475" b="1">
                <a:solidFill>
                  <a:srgbClr val="AEF4BB"/>
                </a:solidFill>
                <a:latin typeface="Arial"/>
                <a:ea typeface="Arial"/>
                <a:cs typeface="Arial"/>
              </a:rPr>
              <a:t>Un contador aumenta cinco veces al tocar una vez el botón. ¿Basta cambiar INPUT por INPUT_PULLUP?</a:t>
            </a:r>
          </a:p>
        </p:txBody>
      </p:sp>
      <p:sp>
        <p:nvSpPr>
          <p:cNvPr id="5" name="">
            <a:extLst xmlns:a="http://schemas.openxmlformats.org/drawingml/2006/main">
              <a:ext uri="{FF2B5EF4-FFF2-40B4-BE49-F238E27FC236}">
                <a16:creationId xmlns:a16="http://schemas.microsoft.com/office/drawing/2014/main" id="{39266CD5-8809-45E8-894C-B99CC2185EB3}"/>
              </a:ext>
            </a:extLst>
          </p:cNvPr>
          <p:cNvSpPr>
            <a:spLocks xmlns:a="http://schemas.openxmlformats.org/drawingml/2006/main" noGrp="1"/>
          </p:cNvSpPr>
          <p:nvPr/>
        </p:nvSpPr>
        <p:spPr>
          <a:xfrm xmlns:a="http://schemas.openxmlformats.org/drawingml/2006/main">
            <a:off x="590550" y="3581400"/>
            <a:ext cx="10715625" cy="2533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CFCF8"/>
                </a:solidFill>
                <a:latin typeface="Arial"/>
                <a:ea typeface="Arial"/>
                <a:cs typeface="Arial"/>
              </a:defRPr>
            </a:defPPr>
            <a:lvl1pPr>
              <a:defRPr sz="2175" b="0">
                <a:solidFill>
                  <a:srgbClr val="FCFCF8"/>
                </a:solidFill>
                <a:latin typeface="Arial"/>
                <a:ea typeface="Arial"/>
                <a:cs typeface="Arial"/>
              </a:defRPr>
            </a:lvl1pPr>
            <a:lvl2pPr>
              <a:defRPr sz="2175" b="0">
                <a:solidFill>
                  <a:srgbClr val="FCFCF8"/>
                </a:solidFill>
                <a:latin typeface="Arial"/>
                <a:ea typeface="Arial"/>
                <a:cs typeface="Arial"/>
              </a:defRPr>
            </a:lvl2pPr>
            <a:lvl3pPr>
              <a:defRPr sz="2175" b="0">
                <a:solidFill>
                  <a:srgbClr val="FCFCF8"/>
                </a:solidFill>
                <a:latin typeface="Arial"/>
                <a:ea typeface="Arial"/>
                <a:cs typeface="Arial"/>
              </a:defRPr>
            </a:lvl3pPr>
            <a:lvl4pPr>
              <a:defRPr sz="2175" b="0">
                <a:solidFill>
                  <a:srgbClr val="FCFCF8"/>
                </a:solidFill>
                <a:latin typeface="Arial"/>
                <a:ea typeface="Arial"/>
                <a:cs typeface="Arial"/>
              </a:defRPr>
            </a:lvl4pPr>
            <a:lvl5pPr>
              <a:defRPr sz="2175" b="0">
                <a:solidFill>
                  <a:srgbClr val="FCFCF8"/>
                </a:solidFill>
                <a:latin typeface="Arial"/>
                <a:ea typeface="Arial"/>
                <a:cs typeface="Arial"/>
              </a:defRPr>
            </a:lvl5pPr>
            <a:lvl6pPr>
              <a:defRPr sz="2175" b="0">
                <a:solidFill>
                  <a:srgbClr val="FCFCF8"/>
                </a:solidFill>
                <a:latin typeface="Arial"/>
                <a:ea typeface="Arial"/>
                <a:cs typeface="Arial"/>
              </a:defRPr>
            </a:lvl6pPr>
            <a:lvl7pPr>
              <a:defRPr sz="2175" b="0">
                <a:solidFill>
                  <a:srgbClr val="FCFCF8"/>
                </a:solidFill>
                <a:latin typeface="Arial"/>
                <a:ea typeface="Arial"/>
                <a:cs typeface="Arial"/>
              </a:defRPr>
            </a:lvl7pPr>
            <a:lvl8pPr>
              <a:defRPr sz="2175" b="0">
                <a:solidFill>
                  <a:srgbClr val="FCFCF8"/>
                </a:solidFill>
                <a:latin typeface="Arial"/>
                <a:ea typeface="Arial"/>
                <a:cs typeface="Arial"/>
              </a:defRPr>
            </a:lvl8pPr>
            <a:lvl9pPr>
              <a:defRPr sz="2175" b="0">
                <a:solidFill>
                  <a:srgbClr val="FCFCF8"/>
                </a:solidFill>
                <a:latin typeface="Arial"/>
                <a:ea typeface="Arial"/>
                <a:cs typeface="Arial"/>
              </a:defRPr>
            </a:lvl9pPr>
          </a:lstStyle>
          <a:p xmlns:a="http://schemas.openxmlformats.org/drawingml/2006/main">
            <a:pPr>
              <a:defRPr sz="2175" b="0">
                <a:solidFill>
                  <a:srgbClr val="FCFCF8"/>
                </a:solidFill>
                <a:latin typeface="Arial"/>
                <a:ea typeface="Arial"/>
                <a:cs typeface="Arial"/>
              </a:defRPr>
            </a:pPr>
            <a:r>
              <a:rPr sz="2175" b="0">
                <a:solidFill>
                  <a:srgbClr val="FCFCF8"/>
                </a:solidFill>
                <a:latin typeface="Arial"/>
                <a:ea typeface="Arial"/>
                <a:cs typeface="Arial"/>
              </a:rPr>
              <a:t>Primero se necesita una referencia válida. Si ya existe, hay que distinguir transición y rebote: contar una transición estable, no cada recorrido de loop() con el botón pulsado.</a:t>
            </a:r>
          </a:p>
        </p:txBody>
      </p:sp>
    </p:spTree>
    <p:extLst>
      <p:ext uri="{BB962C8B-B14F-4D97-AF65-F5344CB8AC3E}">
        <p14:creationId xmlns:p14="http://schemas.microsoft.com/office/powerpoint/2010/main" val="1421432230"/>
      </p:ext>
    </p:extLst>
  </p:cSld>
</p:sld>
</file>

<file path=ppt/slides/slide35.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0E3A4F-1B74-4A2D-89D0-D584BFE381B6}"/>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Lectura del antirrebote incluido</a:t>
            </a:r>
          </a:p>
        </p:txBody>
      </p:sp>
      <p:pic>
        <p:nvPicPr>
          <p:cNvPr id="2" name="">
            <a:extLst xmlns:a="http://schemas.openxmlformats.org/drawingml/2006/main">
              <a:ext uri="{FF2B5EF4-FFF2-40B4-BE49-F238E27FC236}">
                <a16:creationId xmlns:a16="http://schemas.microsoft.com/office/drawing/2014/main" id="{79F950DB-C4DA-4C89-A42B-69E287694B11}"/>
              </a:ext>
            </a:extLst>
          </p:cNvPr>
          <p:cNvPicPr>
            <a:picLocks xmlns:a="http://schemas.openxmlformats.org/drawingml/2006/main" noChangeAspect="1"/>
          </p:cNvPicPr>
          <p:nvPr/>
        </p:nvPicPr>
        <p:blipFill>
          <a:blip xmlns:r="http://schemas.openxmlformats.org/officeDocument/2006/relationships" xmlns:a="http://schemas.openxmlformats.org/drawingml/2006/main" r:embed="R40cee51667f04d1d"/>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22FE2C-5791-4EF5-B521-2EAE1E198F41}"/>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11/24</a:t>
            </a:r>
          </a:p>
        </p:txBody>
      </p:sp>
      <p:sp>
        <p:nvSpPr>
          <p:cNvPr id="4" name="">
            <a:extLst xmlns:a="http://schemas.openxmlformats.org/drawingml/2006/main">
              <a:ext uri="{FF2B5EF4-FFF2-40B4-BE49-F238E27FC236}">
                <a16:creationId xmlns:a16="http://schemas.microsoft.com/office/drawing/2014/main" id="{16C74C64-215C-484B-BBEA-5B128BFF49D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raw es la lectura instantánea. rawPrevious permite reconocer que cambió. changed conserva cuándo se produjo el cambio más reciente. stable representa lo que el programa acepta después de la espera. Durante esa espera, loop() puede seguir atendiendo otras tareas. Al separar estas variables evitamos llamar “estado del botón” a tres cosas que no significan lo mismo. La versión completa emite PRESS y RELEASE para observar ambas transiciones.</a:t>
            </a:r>
          </a:p>
        </p:txBody>
      </p:sp>
    </p:spTree>
    <p:extLst>
      <p:ext uri="{BB962C8B-B14F-4D97-AF65-F5344CB8AC3E}">
        <p14:creationId xmlns:p14="http://schemas.microsoft.com/office/powerpoint/2010/main" val="103997673"/>
      </p:ext>
    </p:extLst>
  </p:cSld>
</p:sld>
</file>

<file path=ppt/slides/slide36.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AD9516A-11CC-41A4-BCEB-5B7FF8FEDC8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Núcleo de c02_boton</a:t>
            </a:r>
          </a:p>
        </p:txBody>
      </p:sp>
      <p:pic>
        <p:nvPicPr>
          <p:cNvPr id="2" name="">
            <a:extLst xmlns:a="http://schemas.openxmlformats.org/drawingml/2006/main">
              <a:ext uri="{FF2B5EF4-FFF2-40B4-BE49-F238E27FC236}">
                <a16:creationId xmlns:a16="http://schemas.microsoft.com/office/drawing/2014/main" id="{716B8908-4FE9-49ED-A6A6-958DFEF7D757}"/>
              </a:ext>
            </a:extLst>
          </p:cNvPr>
          <p:cNvPicPr>
            <a:picLocks xmlns:a="http://schemas.openxmlformats.org/drawingml/2006/main" noChangeAspect="1"/>
          </p:cNvPicPr>
          <p:nvPr/>
        </p:nvPicPr>
        <p:blipFill>
          <a:blip xmlns:r="http://schemas.openxmlformats.org/officeDocument/2006/relationships" xmlns:a="http://schemas.openxmlformats.org/drawingml/2006/main" r:embed="R34855602d1684b5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9A07F59-AF6B-4838-BC27-18505B01CC8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12/24</a:t>
            </a:r>
          </a:p>
        </p:txBody>
      </p:sp>
      <p:sp>
        <p:nvSpPr>
          <p:cNvPr id="4" name="">
            <a:extLst xmlns:a="http://schemas.openxmlformats.org/drawingml/2006/main">
              <a:ext uri="{FF2B5EF4-FFF2-40B4-BE49-F238E27FC236}">
                <a16:creationId xmlns:a16="http://schemas.microsoft.com/office/drawing/2014/main" id="{D6701610-D1E7-4215-91A8-B88ED425737A}"/>
              </a:ext>
            </a:extLst>
          </p:cNvPr>
          <p:cNvSpPr>
            <a:spLocks xmlns:a="http://schemas.openxmlformats.org/drawingml/2006/main" noGrp="1"/>
          </p:cNvSpPr>
          <p:nvPr/>
        </p:nvSpPr>
        <p:spPr>
          <a:xfrm xmlns:a="http://schemas.openxmlformats.org/drawingml/2006/main">
            <a:off x="590550" y="1743075"/>
            <a:ext cx="10953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4231E"/>
                </a:solidFill>
                <a:latin typeface="Consolas"/>
                <a:ea typeface="Consolas"/>
                <a:cs typeface="Consolas"/>
              </a:defRPr>
            </a:defPPr>
            <a:lvl1pPr>
              <a:defRPr sz="1800" b="0">
                <a:solidFill>
                  <a:srgbClr val="14231E"/>
                </a:solidFill>
                <a:latin typeface="Consolas"/>
                <a:ea typeface="Consolas"/>
                <a:cs typeface="Consolas"/>
              </a:defRPr>
            </a:lvl1pPr>
            <a:lvl2pPr>
              <a:defRPr sz="1800" b="0">
                <a:solidFill>
                  <a:srgbClr val="14231E"/>
                </a:solidFill>
                <a:latin typeface="Consolas"/>
                <a:ea typeface="Consolas"/>
                <a:cs typeface="Consolas"/>
              </a:defRPr>
            </a:lvl2pPr>
            <a:lvl3pPr>
              <a:defRPr sz="1800" b="0">
                <a:solidFill>
                  <a:srgbClr val="14231E"/>
                </a:solidFill>
                <a:latin typeface="Consolas"/>
                <a:ea typeface="Consolas"/>
                <a:cs typeface="Consolas"/>
              </a:defRPr>
            </a:lvl3pPr>
            <a:lvl4pPr>
              <a:defRPr sz="1800" b="0">
                <a:solidFill>
                  <a:srgbClr val="14231E"/>
                </a:solidFill>
                <a:latin typeface="Consolas"/>
                <a:ea typeface="Consolas"/>
                <a:cs typeface="Consolas"/>
              </a:defRPr>
            </a:lvl4pPr>
            <a:lvl5pPr>
              <a:defRPr sz="1800" b="0">
                <a:solidFill>
                  <a:srgbClr val="14231E"/>
                </a:solidFill>
                <a:latin typeface="Consolas"/>
                <a:ea typeface="Consolas"/>
                <a:cs typeface="Consolas"/>
              </a:defRPr>
            </a:lvl5pPr>
            <a:lvl6pPr>
              <a:defRPr sz="1800" b="0">
                <a:solidFill>
                  <a:srgbClr val="14231E"/>
                </a:solidFill>
                <a:latin typeface="Consolas"/>
                <a:ea typeface="Consolas"/>
                <a:cs typeface="Consolas"/>
              </a:defRPr>
            </a:lvl6pPr>
            <a:lvl7pPr>
              <a:defRPr sz="1800" b="0">
                <a:solidFill>
                  <a:srgbClr val="14231E"/>
                </a:solidFill>
                <a:latin typeface="Consolas"/>
                <a:ea typeface="Consolas"/>
                <a:cs typeface="Consolas"/>
              </a:defRPr>
            </a:lvl7pPr>
            <a:lvl8pPr>
              <a:defRPr sz="1800" b="0">
                <a:solidFill>
                  <a:srgbClr val="14231E"/>
                </a:solidFill>
                <a:latin typeface="Consolas"/>
                <a:ea typeface="Consolas"/>
                <a:cs typeface="Consolas"/>
              </a:defRPr>
            </a:lvl8pPr>
            <a:lvl9pPr>
              <a:defRPr sz="1800" b="0">
                <a:solidFill>
                  <a:srgbClr val="14231E"/>
                </a:solidFill>
                <a:latin typeface="Consolas"/>
                <a:ea typeface="Consolas"/>
                <a:cs typeface="Consolas"/>
              </a:defRPr>
            </a:lvl9pPr>
          </a:lstStyle>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bool raw = digitalRead(BTN);</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(raw != rawPrevious)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rawPrevious = raw;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changed = now;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if (uint32_t(now-changed) &gt;= 25</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&amp;&amp; raw != stable) {</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stable = raw;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  digitalWrite(LED, stable == LOW);</a:t>
            </a:r>
          </a:p>
          <a:p xmlns:a="http://schemas.openxmlformats.org/drawingml/2006/main">
            <a:pPr>
              <a:defRPr sz="1800" b="0">
                <a:solidFill>
                  <a:srgbClr val="14231E"/>
                </a:solidFill>
                <a:latin typeface="Consolas"/>
                <a:ea typeface="Consolas"/>
                <a:cs typeface="Consolas"/>
              </a:defRPr>
            </a:pPr>
            <a:r>
              <a:rPr sz="1800" b="0">
                <a:solidFill>
                  <a:srgbClr val="14231E"/>
                </a:solidFill>
                <a:latin typeface="Consolas"/>
                <a:ea typeface="Consolas"/>
                <a:cs typeface="Consolas"/>
              </a:rPr>
              <a:t>}</a:t>
            </a:r>
          </a:p>
        </p:txBody>
      </p:sp>
      <p:sp>
        <p:nvSpPr>
          <p:cNvPr id="5" name="">
            <a:extLst xmlns:a="http://schemas.openxmlformats.org/drawingml/2006/main">
              <a:ext uri="{FF2B5EF4-FFF2-40B4-BE49-F238E27FC236}">
                <a16:creationId xmlns:a16="http://schemas.microsoft.com/office/drawing/2014/main" id="{6163E544-350F-4C14-B6F2-06ADBB6D3B68}"/>
              </a:ext>
            </a:extLst>
          </p:cNvPr>
          <p:cNvSpPr>
            <a:spLocks xmlns:a="http://schemas.openxmlformats.org/drawingml/2006/main" noGrp="1"/>
          </p:cNvSpPr>
          <p:nvPr/>
        </p:nvSpPr>
        <p:spPr>
          <a:xfrm xmlns:a="http://schemas.openxmlformats.org/drawingml/2006/main">
            <a:off x="590550" y="58578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244F3D"/>
                </a:solidFill>
                <a:latin typeface="Arial"/>
                <a:ea typeface="Arial"/>
                <a:cs typeface="Arial"/>
              </a:defRPr>
            </a:defPPr>
            <a:lvl1pPr>
              <a:defRPr sz="1575" b="0">
                <a:solidFill>
                  <a:srgbClr val="244F3D"/>
                </a:solidFill>
                <a:latin typeface="Arial"/>
                <a:ea typeface="Arial"/>
                <a:cs typeface="Arial"/>
              </a:defRPr>
            </a:lvl1pPr>
            <a:lvl2pPr>
              <a:defRPr sz="1575" b="0">
                <a:solidFill>
                  <a:srgbClr val="244F3D"/>
                </a:solidFill>
                <a:latin typeface="Arial"/>
                <a:ea typeface="Arial"/>
                <a:cs typeface="Arial"/>
              </a:defRPr>
            </a:lvl2pPr>
            <a:lvl3pPr>
              <a:defRPr sz="1575" b="0">
                <a:solidFill>
                  <a:srgbClr val="244F3D"/>
                </a:solidFill>
                <a:latin typeface="Arial"/>
                <a:ea typeface="Arial"/>
                <a:cs typeface="Arial"/>
              </a:defRPr>
            </a:lvl3pPr>
            <a:lvl4pPr>
              <a:defRPr sz="1575" b="0">
                <a:solidFill>
                  <a:srgbClr val="244F3D"/>
                </a:solidFill>
                <a:latin typeface="Arial"/>
                <a:ea typeface="Arial"/>
                <a:cs typeface="Arial"/>
              </a:defRPr>
            </a:lvl4pPr>
            <a:lvl5pPr>
              <a:defRPr sz="1575" b="0">
                <a:solidFill>
                  <a:srgbClr val="244F3D"/>
                </a:solidFill>
                <a:latin typeface="Arial"/>
                <a:ea typeface="Arial"/>
                <a:cs typeface="Arial"/>
              </a:defRPr>
            </a:lvl5pPr>
            <a:lvl6pPr>
              <a:defRPr sz="1575" b="0">
                <a:solidFill>
                  <a:srgbClr val="244F3D"/>
                </a:solidFill>
                <a:latin typeface="Arial"/>
                <a:ea typeface="Arial"/>
                <a:cs typeface="Arial"/>
              </a:defRPr>
            </a:lvl6pPr>
            <a:lvl7pPr>
              <a:defRPr sz="1575" b="0">
                <a:solidFill>
                  <a:srgbClr val="244F3D"/>
                </a:solidFill>
                <a:latin typeface="Arial"/>
                <a:ea typeface="Arial"/>
                <a:cs typeface="Arial"/>
              </a:defRPr>
            </a:lvl7pPr>
            <a:lvl8pPr>
              <a:defRPr sz="1575" b="0">
                <a:solidFill>
                  <a:srgbClr val="244F3D"/>
                </a:solidFill>
                <a:latin typeface="Arial"/>
                <a:ea typeface="Arial"/>
                <a:cs typeface="Arial"/>
              </a:defRPr>
            </a:lvl8pPr>
            <a:lvl9pPr>
              <a:defRPr sz="1575" b="0">
                <a:solidFill>
                  <a:srgbClr val="244F3D"/>
                </a:solidFill>
                <a:latin typeface="Arial"/>
                <a:ea typeface="Arial"/>
                <a:cs typeface="Arial"/>
              </a:defRPr>
            </a:lvl9pPr>
          </a:lstStyle>
          <a:p xmlns:a="http://schemas.openxmlformats.org/drawingml/2006/main">
            <a:pPr>
              <a:defRPr sz="1575" b="0">
                <a:solidFill>
                  <a:srgbClr val="244F3D"/>
                </a:solidFill>
                <a:latin typeface="Arial"/>
                <a:ea typeface="Arial"/>
                <a:cs typeface="Arial"/>
              </a:defRPr>
            </a:pPr>
            <a:r>
              <a:rPr sz="1575" b="0">
                <a:solidFill>
                  <a:srgbClr val="244F3D"/>
                </a:solidFill>
                <a:latin typeface="Arial"/>
                <a:ea typeface="Arial"/>
                <a:cs typeface="Arial"/>
              </a:rPr>
              <a:t>Lee el fragmento. Predice una salida y cambia una sola condición antes de ejecutar.</a:t>
            </a:r>
          </a:p>
        </p:txBody>
      </p:sp>
    </p:spTree>
    <p:extLst>
      <p:ext uri="{BB962C8B-B14F-4D97-AF65-F5344CB8AC3E}">
        <p14:creationId xmlns:p14="http://schemas.microsoft.com/office/powerpoint/2010/main" val="645220329"/>
      </p:ext>
    </p:extLst>
  </p:cSld>
</p:sld>
</file>

<file path=ppt/slides/slide3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D09097-14AF-4760-91FC-E71A1829DF2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Lectura del antirrebote incluido</a:t>
            </a:r>
          </a:p>
        </p:txBody>
      </p:sp>
      <p:pic>
        <p:nvPicPr>
          <p:cNvPr id="2" name="">
            <a:extLst xmlns:a="http://schemas.openxmlformats.org/drawingml/2006/main">
              <a:ext uri="{FF2B5EF4-FFF2-40B4-BE49-F238E27FC236}">
                <a16:creationId xmlns:a16="http://schemas.microsoft.com/office/drawing/2014/main" id="{EB5812EC-1BB3-42B5-9DF2-44669004EC35}"/>
              </a:ext>
            </a:extLst>
          </p:cNvPr>
          <p:cNvPicPr>
            <a:picLocks xmlns:a="http://schemas.openxmlformats.org/drawingml/2006/main" noChangeAspect="1"/>
          </p:cNvPicPr>
          <p:nvPr/>
        </p:nvPicPr>
        <p:blipFill>
          <a:blip xmlns:r="http://schemas.openxmlformats.org/officeDocument/2006/relationships" xmlns:a="http://schemas.openxmlformats.org/drawingml/2006/main" r:embed="Rf2f98057a225490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9991A80-004E-463E-8CD1-94AAAC4D06E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13/24</a:t>
            </a:r>
          </a:p>
        </p:txBody>
      </p:sp>
      <p:sp>
        <p:nvSpPr>
          <p:cNvPr id="4" name="">
            <a:extLst xmlns:a="http://schemas.openxmlformats.org/drawingml/2006/main">
              <a:ext uri="{FF2B5EF4-FFF2-40B4-BE49-F238E27FC236}">
                <a16:creationId xmlns:a16="http://schemas.microsoft.com/office/drawing/2014/main" id="{2375477F-6E60-4C11-97FB-5B190DF86EF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El piano original usa prioridades con if y else if: si se pulsan dos botones, la primera condición verdadera domina. Esa decisión puede ser correcta para un instrumento monofónico. Para una interfaz de mando hay que documentar qué ocurre con órdenes simultáneas. El alumno prueba dos entradas y describe el resultado antes de proponer otra prioridad. Programar también consiste en resolver esas situaciones límite.</a:t>
            </a:r>
          </a:p>
        </p:txBody>
      </p:sp>
    </p:spTree>
    <p:extLst>
      <p:ext uri="{BB962C8B-B14F-4D97-AF65-F5344CB8AC3E}">
        <p14:creationId xmlns:p14="http://schemas.microsoft.com/office/powerpoint/2010/main" val="547208449"/>
      </p:ext>
    </p:extLst>
  </p:cSld>
</p:sld>
</file>

<file path=ppt/slides/slide38.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DEA1EB-1BE9-4EFB-B85B-D872FDFE59B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Laboratorio y reto del dado</a:t>
            </a:r>
          </a:p>
        </p:txBody>
      </p:sp>
      <p:pic>
        <p:nvPicPr>
          <p:cNvPr id="2" name="">
            <a:extLst xmlns:a="http://schemas.openxmlformats.org/drawingml/2006/main">
              <a:ext uri="{FF2B5EF4-FFF2-40B4-BE49-F238E27FC236}">
                <a16:creationId xmlns:a16="http://schemas.microsoft.com/office/drawing/2014/main" id="{86C259A1-80F4-4B38-AAA3-00D4745DBB78}"/>
              </a:ext>
            </a:extLst>
          </p:cNvPr>
          <p:cNvPicPr>
            <a:picLocks xmlns:a="http://schemas.openxmlformats.org/drawingml/2006/main" noChangeAspect="1"/>
          </p:cNvPicPr>
          <p:nvPr/>
        </p:nvPicPr>
        <p:blipFill>
          <a:blip xmlns:r="http://schemas.openxmlformats.org/officeDocument/2006/relationships" xmlns:a="http://schemas.openxmlformats.org/drawingml/2006/main" r:embed="Rf453814b25bf48c5"/>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60071B8-6CB2-4F02-B983-5289BF6C99E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14/24</a:t>
            </a:r>
          </a:p>
        </p:txBody>
      </p:sp>
      <p:sp>
        <p:nvSpPr>
          <p:cNvPr id="4" name="">
            <a:extLst xmlns:a="http://schemas.openxmlformats.org/drawingml/2006/main">
              <a:ext uri="{FF2B5EF4-FFF2-40B4-BE49-F238E27FC236}">
                <a16:creationId xmlns:a16="http://schemas.microsoft.com/office/drawing/2014/main" id="{46A5B016-EBAC-4BE9-B063-F5A4553AA27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La simulación del dado sirve para comprender condiciones, variables y presentación. Un display real puede ser de ánodo o cátodo común y necesita limitar corriente por segmento según su montaje. La ilustración original del laboratorio no sustituye esa revisión. Por eso el reto obligatorio evalúa primero la lógica y la tabla de segmentos. La construcción física se realiza con un esquema eléctrico completo revisado por el docente.</a:t>
            </a:r>
          </a:p>
        </p:txBody>
      </p:sp>
    </p:spTree>
    <p:extLst>
      <p:ext uri="{BB962C8B-B14F-4D97-AF65-F5344CB8AC3E}">
        <p14:creationId xmlns:p14="http://schemas.microsoft.com/office/powerpoint/2010/main" val="2061507319"/>
      </p:ext>
    </p:extLst>
  </p:cSld>
</p:sld>
</file>

<file path=ppt/slides/slide39.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881EFE-3759-4D15-93C9-5F2E37AC84DF}"/>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Predicción y explicación</a:t>
            </a:r>
          </a:p>
        </p:txBody>
      </p:sp>
      <p:pic>
        <p:nvPicPr>
          <p:cNvPr id="2" name="">
            <a:extLst xmlns:a="http://schemas.openxmlformats.org/drawingml/2006/main">
              <a:ext uri="{FF2B5EF4-FFF2-40B4-BE49-F238E27FC236}">
                <a16:creationId xmlns:a16="http://schemas.microsoft.com/office/drawing/2014/main" id="{D3150DC6-B425-42E9-A5F5-17E945F00E9C}"/>
              </a:ext>
            </a:extLst>
          </p:cNvPr>
          <p:cNvPicPr>
            <a:picLocks xmlns:a="http://schemas.openxmlformats.org/drawingml/2006/main" noChangeAspect="1"/>
          </p:cNvPicPr>
          <p:nvPr/>
        </p:nvPicPr>
        <p:blipFill>
          <a:blip xmlns:r="http://schemas.openxmlformats.org/officeDocument/2006/relationships" xmlns:a="http://schemas.openxmlformats.org/drawingml/2006/main" r:embed="R7043151873de4d24"/>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BCDE7FE-6740-40C5-95E1-E8C2CAE5386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15/24</a:t>
            </a:r>
          </a:p>
        </p:txBody>
      </p:sp>
      <p:sp>
        <p:nvSpPr>
          <p:cNvPr id="4" name="">
            <a:extLst xmlns:a="http://schemas.openxmlformats.org/drawingml/2006/main">
              <a:ext uri="{FF2B5EF4-FFF2-40B4-BE49-F238E27FC236}">
                <a16:creationId xmlns:a16="http://schemas.microsoft.com/office/drawing/2014/main" id="{AFD142B8-2D77-4310-934B-67009756C79A}"/>
              </a:ext>
            </a:extLst>
          </p:cNvPr>
          <p:cNvSpPr>
            <a:spLocks xmlns:a="http://schemas.openxmlformats.org/drawingml/2006/main" noGrp="1"/>
          </p:cNvSpPr>
          <p:nvPr/>
        </p:nvSpPr>
        <p:spPr>
          <a:xfrm xmlns:a="http://schemas.openxmlformats.org/drawingml/2006/main">
            <a:off x="590550" y="1771650"/>
            <a:ext cx="10715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¿El pull-up elimina el rebote?</a:t>
            </a:r>
          </a:p>
        </p:txBody>
      </p:sp>
      <p:sp>
        <p:nvSpPr>
          <p:cNvPr id="5" name="">
            <a:extLst xmlns:a="http://schemas.openxmlformats.org/drawingml/2006/main">
              <a:ext uri="{FF2B5EF4-FFF2-40B4-BE49-F238E27FC236}">
                <a16:creationId xmlns:a16="http://schemas.microsoft.com/office/drawing/2014/main" id="{43733977-F064-46B0-99FF-20838AA088E2}"/>
              </a:ext>
            </a:extLst>
          </p:cNvPr>
          <p:cNvSpPr>
            <a:spLocks xmlns:a="http://schemas.openxmlformats.org/drawingml/2006/main" noGrp="1"/>
          </p:cNvSpPr>
          <p:nvPr/>
        </p:nvSpPr>
        <p:spPr>
          <a:xfrm xmlns:a="http://schemas.openxmlformats.org/drawingml/2006/main">
            <a:off x="590550" y="3905250"/>
            <a:ext cx="10715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CFCF8"/>
                </a:solidFill>
                <a:latin typeface="Arial"/>
                <a:ea typeface="Arial"/>
                <a:cs typeface="Arial"/>
              </a:defRPr>
            </a:defPPr>
            <a:lvl1pPr>
              <a:defRPr sz="2100" b="0">
                <a:solidFill>
                  <a:srgbClr val="FCFCF8"/>
                </a:solidFill>
                <a:latin typeface="Arial"/>
                <a:ea typeface="Arial"/>
                <a:cs typeface="Arial"/>
              </a:defRPr>
            </a:lvl1pPr>
            <a:lvl2pPr>
              <a:defRPr sz="2100" b="0">
                <a:solidFill>
                  <a:srgbClr val="FCFCF8"/>
                </a:solidFill>
                <a:latin typeface="Arial"/>
                <a:ea typeface="Arial"/>
                <a:cs typeface="Arial"/>
              </a:defRPr>
            </a:lvl2pPr>
            <a:lvl3pPr>
              <a:defRPr sz="2100" b="0">
                <a:solidFill>
                  <a:srgbClr val="FCFCF8"/>
                </a:solidFill>
                <a:latin typeface="Arial"/>
                <a:ea typeface="Arial"/>
                <a:cs typeface="Arial"/>
              </a:defRPr>
            </a:lvl3pPr>
            <a:lvl4pPr>
              <a:defRPr sz="2100" b="0">
                <a:solidFill>
                  <a:srgbClr val="FCFCF8"/>
                </a:solidFill>
                <a:latin typeface="Arial"/>
                <a:ea typeface="Arial"/>
                <a:cs typeface="Arial"/>
              </a:defRPr>
            </a:lvl4pPr>
            <a:lvl5pPr>
              <a:defRPr sz="2100" b="0">
                <a:solidFill>
                  <a:srgbClr val="FCFCF8"/>
                </a:solidFill>
                <a:latin typeface="Arial"/>
                <a:ea typeface="Arial"/>
                <a:cs typeface="Arial"/>
              </a:defRPr>
            </a:lvl5pPr>
            <a:lvl6pPr>
              <a:defRPr sz="2100" b="0">
                <a:solidFill>
                  <a:srgbClr val="FCFCF8"/>
                </a:solidFill>
                <a:latin typeface="Arial"/>
                <a:ea typeface="Arial"/>
                <a:cs typeface="Arial"/>
              </a:defRPr>
            </a:lvl6pPr>
            <a:lvl7pPr>
              <a:defRPr sz="2100" b="0">
                <a:solidFill>
                  <a:srgbClr val="FCFCF8"/>
                </a:solidFill>
                <a:latin typeface="Arial"/>
                <a:ea typeface="Arial"/>
                <a:cs typeface="Arial"/>
              </a:defRPr>
            </a:lvl7pPr>
            <a:lvl8pPr>
              <a:defRPr sz="2100" b="0">
                <a:solidFill>
                  <a:srgbClr val="FCFCF8"/>
                </a:solidFill>
                <a:latin typeface="Arial"/>
                <a:ea typeface="Arial"/>
                <a:cs typeface="Arial"/>
              </a:defRPr>
            </a:lvl8pPr>
            <a:lvl9pPr>
              <a:defRPr sz="2100" b="0">
                <a:solidFill>
                  <a:srgbClr val="FCFCF8"/>
                </a:solidFill>
                <a:latin typeface="Arial"/>
                <a:ea typeface="Arial"/>
                <a:cs typeface="Arial"/>
              </a:defRPr>
            </a:lvl9pPr>
          </a:lstStyle>
          <a:p xmlns:a="http://schemas.openxmlformats.org/drawingml/2006/main">
            <a:pPr>
              <a:defRPr sz="2100" b="0">
                <a:solidFill>
                  <a:srgbClr val="FCFCF8"/>
                </a:solidFill>
                <a:latin typeface="Arial"/>
                <a:ea typeface="Arial"/>
                <a:cs typeface="Arial"/>
              </a:defRPr>
            </a:pPr>
            <a:r>
              <a:rPr sz="2100" b="0">
                <a:solidFill>
                  <a:srgbClr val="FCFCF8"/>
                </a:solidFill>
                <a:latin typeface="Arial"/>
                <a:ea typeface="Arial"/>
                <a:cs typeface="Arial"/>
              </a:rPr>
              <a:t>Resolver la prioridad del piano y el reto lógico del dado.</a:t>
            </a:r>
          </a:p>
        </p:txBody>
      </p:sp>
    </p:spTree>
    <p:extLst>
      <p:ext uri="{BB962C8B-B14F-4D97-AF65-F5344CB8AC3E}">
        <p14:creationId xmlns:p14="http://schemas.microsoft.com/office/powerpoint/2010/main" val="33019575"/>
      </p:ext>
    </p:extLst>
  </p:cSld>
</p:sld>
</file>

<file path=ppt/slides/slide40.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A9CD89-9ADA-4F51-AAA5-EFF965F18E9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 Laboratorio y reto del dado</a:t>
            </a:r>
          </a:p>
        </p:txBody>
      </p:sp>
      <p:pic>
        <p:nvPicPr>
          <p:cNvPr id="2" name="">
            <a:extLst xmlns:a="http://schemas.openxmlformats.org/drawingml/2006/main">
              <a:ext uri="{FF2B5EF4-FFF2-40B4-BE49-F238E27FC236}">
                <a16:creationId xmlns:a16="http://schemas.microsoft.com/office/drawing/2014/main" id="{7854435E-A93F-48D5-9C86-F07FAE70F8AE}"/>
              </a:ext>
            </a:extLst>
          </p:cNvPr>
          <p:cNvPicPr>
            <a:picLocks xmlns:a="http://schemas.openxmlformats.org/drawingml/2006/main" noChangeAspect="1"/>
          </p:cNvPicPr>
          <p:nvPr/>
        </p:nvPicPr>
        <p:blipFill>
          <a:blip xmlns:r="http://schemas.openxmlformats.org/officeDocument/2006/relationships" xmlns:a="http://schemas.openxmlformats.org/drawingml/2006/main" r:embed="R99f0df946bab43e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EF62FA-4528-4043-A776-B666EF0FAAF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16/24</a:t>
            </a:r>
          </a:p>
        </p:txBody>
      </p:sp>
      <p:sp>
        <p:nvSpPr>
          <p:cNvPr id="4" name="">
            <a:extLst xmlns:a="http://schemas.openxmlformats.org/drawingml/2006/main">
              <a:ext uri="{FF2B5EF4-FFF2-40B4-BE49-F238E27FC236}">
                <a16:creationId xmlns:a16="http://schemas.microsoft.com/office/drawing/2014/main" id="{419B8563-89CE-4453-B32D-10EE95145F57}"/>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4231E"/>
                </a:solidFill>
                <a:latin typeface="Arial"/>
                <a:ea typeface="Arial"/>
                <a:cs typeface="Arial"/>
              </a:defRPr>
            </a:defPPr>
            <a:lvl1pPr>
              <a:defRPr sz="1950" b="0">
                <a:solidFill>
                  <a:srgbClr val="14231E"/>
                </a:solidFill>
                <a:latin typeface="Arial"/>
                <a:ea typeface="Arial"/>
                <a:cs typeface="Arial"/>
              </a:defRPr>
            </a:lvl1pPr>
            <a:lvl2pPr>
              <a:defRPr sz="1950" b="0">
                <a:solidFill>
                  <a:srgbClr val="14231E"/>
                </a:solidFill>
                <a:latin typeface="Arial"/>
                <a:ea typeface="Arial"/>
                <a:cs typeface="Arial"/>
              </a:defRPr>
            </a:lvl2pPr>
            <a:lvl3pPr>
              <a:defRPr sz="1950" b="0">
                <a:solidFill>
                  <a:srgbClr val="14231E"/>
                </a:solidFill>
                <a:latin typeface="Arial"/>
                <a:ea typeface="Arial"/>
                <a:cs typeface="Arial"/>
              </a:defRPr>
            </a:lvl3pPr>
            <a:lvl4pPr>
              <a:defRPr sz="1950" b="0">
                <a:solidFill>
                  <a:srgbClr val="14231E"/>
                </a:solidFill>
                <a:latin typeface="Arial"/>
                <a:ea typeface="Arial"/>
                <a:cs typeface="Arial"/>
              </a:defRPr>
            </a:lvl4pPr>
            <a:lvl5pPr>
              <a:defRPr sz="1950" b="0">
                <a:solidFill>
                  <a:srgbClr val="14231E"/>
                </a:solidFill>
                <a:latin typeface="Arial"/>
                <a:ea typeface="Arial"/>
                <a:cs typeface="Arial"/>
              </a:defRPr>
            </a:lvl5pPr>
            <a:lvl6pPr>
              <a:defRPr sz="1950" b="0">
                <a:solidFill>
                  <a:srgbClr val="14231E"/>
                </a:solidFill>
                <a:latin typeface="Arial"/>
                <a:ea typeface="Arial"/>
                <a:cs typeface="Arial"/>
              </a:defRPr>
            </a:lvl6pPr>
            <a:lvl7pPr>
              <a:defRPr sz="1950" b="0">
                <a:solidFill>
                  <a:srgbClr val="14231E"/>
                </a:solidFill>
                <a:latin typeface="Arial"/>
                <a:ea typeface="Arial"/>
                <a:cs typeface="Arial"/>
              </a:defRPr>
            </a:lvl7pPr>
            <a:lvl8pPr>
              <a:defRPr sz="1950" b="0">
                <a:solidFill>
                  <a:srgbClr val="14231E"/>
                </a:solidFill>
                <a:latin typeface="Arial"/>
                <a:ea typeface="Arial"/>
                <a:cs typeface="Arial"/>
              </a:defRPr>
            </a:lvl8pPr>
            <a:lvl9pPr>
              <a:defRPr sz="1950" b="0">
                <a:solidFill>
                  <a:srgbClr val="14231E"/>
                </a:solidFill>
                <a:latin typeface="Arial"/>
                <a:ea typeface="Arial"/>
                <a:cs typeface="Arial"/>
              </a:defRPr>
            </a:lvl9pPr>
          </a:lstStyle>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1. Conecta GPIO18 a GND mediante un pulsador; utiliza INPUT_PULLUP.</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2. Ejecuta c02_boton y relaciona PRESS y RELEASE con la acción física.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3. Mantén pulsado dos segundos: verifica que no aparezcan nuevas pulsaciones aceptadas.</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4. Añade un contador que aumente únicamente al aceptar stable == LOW.</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5. En el piano del laboratorio, predice la prioridad de dos teclas y compruébala.</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6. Como reto, usa el evento para solicitar un nuevo valor del dado y conserva el resultado.</a:t>
            </a:r>
          </a:p>
          <a:p xmlns:a="http://schemas.openxmlformats.org/drawingml/2006/main">
            <a:r>
              <a:t/>
            </a:r>
          </a:p>
          <a:p xmlns:a="http://schemas.openxmlformats.org/drawingml/2006/main">
            <a:pPr>
              <a:defRPr sz="1950" b="0">
                <a:solidFill>
                  <a:srgbClr val="14231E"/>
                </a:solidFill>
                <a:latin typeface="Arial"/>
                <a:ea typeface="Arial"/>
                <a:cs typeface="Arial"/>
              </a:defRPr>
            </a:pPr>
            <a:r>
              <a:rPr sz="1950" b="0">
                <a:solidFill>
                  <a:srgbClr val="14231E"/>
                </a:solidFill>
                <a:latin typeface="Arial"/>
                <a:ea typeface="Arial"/>
                <a:cs typeface="Arial"/>
              </a:rPr>
              <a:t>7. Documenta las resistencias por segmento si se propone montar un display desnudo en hardware.</a:t>
            </a:r>
          </a:p>
        </p:txBody>
      </p:sp>
    </p:spTree>
    <p:extLst>
      <p:ext uri="{BB962C8B-B14F-4D97-AF65-F5344CB8AC3E}">
        <p14:creationId xmlns:p14="http://schemas.microsoft.com/office/powerpoint/2010/main" val="1665942831"/>
      </p:ext>
    </p:extLst>
  </p:cSld>
</p:sld>
</file>

<file path=ppt/slides/slide41.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E1F0A2E-BE8D-4954-AE0F-0CD7B975EC3E}"/>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Un contrato para las entradas humanas</a:t>
            </a:r>
          </a:p>
        </p:txBody>
      </p:sp>
      <p:pic>
        <p:nvPicPr>
          <p:cNvPr id="2" name="">
            <a:extLst xmlns:a="http://schemas.openxmlformats.org/drawingml/2006/main">
              <a:ext uri="{FF2B5EF4-FFF2-40B4-BE49-F238E27FC236}">
                <a16:creationId xmlns:a16="http://schemas.microsoft.com/office/drawing/2014/main" id="{0AB8EEC4-B8F2-41D2-ABA9-461E91670607}"/>
              </a:ext>
            </a:extLst>
          </p:cNvPr>
          <p:cNvPicPr>
            <a:picLocks xmlns:a="http://schemas.openxmlformats.org/drawingml/2006/main" noChangeAspect="1"/>
          </p:cNvPicPr>
          <p:nvPr/>
        </p:nvPicPr>
        <p:blipFill>
          <a:blip xmlns:r="http://schemas.openxmlformats.org/officeDocument/2006/relationships" xmlns:a="http://schemas.openxmlformats.org/drawingml/2006/main" r:embed="R0e64cbf9533548c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834393E-EE58-4C88-BB7A-290770D9641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17/24</a:t>
            </a:r>
          </a:p>
        </p:txBody>
      </p:sp>
      <p:sp>
        <p:nvSpPr>
          <p:cNvPr id="4" name="">
            <a:extLst xmlns:a="http://schemas.openxmlformats.org/drawingml/2006/main">
              <a:ext uri="{FF2B5EF4-FFF2-40B4-BE49-F238E27FC236}">
                <a16:creationId xmlns:a16="http://schemas.microsoft.com/office/drawing/2014/main" id="{9E3A03D0-2AE8-43E8-9578-45F84C865A1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4231E"/>
                </a:solidFill>
                <a:latin typeface="Arial"/>
                <a:ea typeface="Arial"/>
                <a:cs typeface="Arial"/>
              </a:defRPr>
            </a:defPPr>
            <a:lvl1pPr>
              <a:defRPr sz="2325" b="0">
                <a:solidFill>
                  <a:srgbClr val="14231E"/>
                </a:solidFill>
                <a:latin typeface="Arial"/>
                <a:ea typeface="Arial"/>
                <a:cs typeface="Arial"/>
              </a:defRPr>
            </a:lvl1pPr>
            <a:lvl2pPr>
              <a:defRPr sz="2325" b="0">
                <a:solidFill>
                  <a:srgbClr val="14231E"/>
                </a:solidFill>
                <a:latin typeface="Arial"/>
                <a:ea typeface="Arial"/>
                <a:cs typeface="Arial"/>
              </a:defRPr>
            </a:lvl2pPr>
            <a:lvl3pPr>
              <a:defRPr sz="2325" b="0">
                <a:solidFill>
                  <a:srgbClr val="14231E"/>
                </a:solidFill>
                <a:latin typeface="Arial"/>
                <a:ea typeface="Arial"/>
                <a:cs typeface="Arial"/>
              </a:defRPr>
            </a:lvl3pPr>
            <a:lvl4pPr>
              <a:defRPr sz="2325" b="0">
                <a:solidFill>
                  <a:srgbClr val="14231E"/>
                </a:solidFill>
                <a:latin typeface="Arial"/>
                <a:ea typeface="Arial"/>
                <a:cs typeface="Arial"/>
              </a:defRPr>
            </a:lvl4pPr>
            <a:lvl5pPr>
              <a:defRPr sz="2325" b="0">
                <a:solidFill>
                  <a:srgbClr val="14231E"/>
                </a:solidFill>
                <a:latin typeface="Arial"/>
                <a:ea typeface="Arial"/>
                <a:cs typeface="Arial"/>
              </a:defRPr>
            </a:lvl5pPr>
            <a:lvl6pPr>
              <a:defRPr sz="2325" b="0">
                <a:solidFill>
                  <a:srgbClr val="14231E"/>
                </a:solidFill>
                <a:latin typeface="Arial"/>
                <a:ea typeface="Arial"/>
                <a:cs typeface="Arial"/>
              </a:defRPr>
            </a:lvl6pPr>
            <a:lvl7pPr>
              <a:defRPr sz="2325" b="0">
                <a:solidFill>
                  <a:srgbClr val="14231E"/>
                </a:solidFill>
                <a:latin typeface="Arial"/>
                <a:ea typeface="Arial"/>
                <a:cs typeface="Arial"/>
              </a:defRPr>
            </a:lvl7pPr>
            <a:lvl8pPr>
              <a:defRPr sz="2325" b="0">
                <a:solidFill>
                  <a:srgbClr val="14231E"/>
                </a:solidFill>
                <a:latin typeface="Arial"/>
                <a:ea typeface="Arial"/>
                <a:cs typeface="Arial"/>
              </a:defRPr>
            </a:lvl8pPr>
            <a:lvl9pPr>
              <a:defRPr sz="2325" b="0">
                <a:solidFill>
                  <a:srgbClr val="14231E"/>
                </a:solidFill>
                <a:latin typeface="Arial"/>
                <a:ea typeface="Arial"/>
                <a:cs typeface="Arial"/>
              </a:defRPr>
            </a:lvl9pPr>
          </a:lstStyle>
          <a:p xmlns:a="http://schemas.openxmlformats.org/drawingml/2006/main">
            <a:pPr>
              <a:defRPr sz="2325" b="0">
                <a:solidFill>
                  <a:srgbClr val="14231E"/>
                </a:solidFill>
                <a:latin typeface="Arial"/>
                <a:ea typeface="Arial"/>
                <a:cs typeface="Arial"/>
              </a:defRPr>
            </a:pPr>
            <a:r>
              <a:rPr sz="2325" b="0">
                <a:solidFill>
                  <a:srgbClr val="14231E"/>
                </a:solidFill>
                <a:latin typeface="Arial"/>
                <a:ea typeface="Arial"/>
                <a:cs typeface="Arial"/>
              </a:rPr>
              <a:t>En un banco relacionado con UAV, una pulsación puede solicitar una prueba, reconocer un aviso o cambiar la pantalla. Define el estado inicial, la acción permitida y qué sucede si el botón queda retenido. La interfaz debe poder explicarse a otra persona. Una buena prueba incluye pulsación breve, larga, doble, simultánea y al iniciar el equipo. Ninguna de esas pruebas requiere un dron en vuelo; se aprende con una entrada y una salida observables.</a:t>
            </a:r>
          </a:p>
        </p:txBody>
      </p:sp>
    </p:spTree>
    <p:extLst>
      <p:ext uri="{BB962C8B-B14F-4D97-AF65-F5344CB8AC3E}">
        <p14:creationId xmlns:p14="http://schemas.microsoft.com/office/powerpoint/2010/main" val="1235858005"/>
      </p:ext>
    </p:extLst>
  </p:cSld>
</p:sld>
</file>

<file path=ppt/slides/slide42.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EF6FEC1-447B-43BD-B97A-820383FDF847}"/>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Casos de prueba de la interfaz</a:t>
            </a:r>
          </a:p>
        </p:txBody>
      </p:sp>
      <p:pic>
        <p:nvPicPr>
          <p:cNvPr id="2" name="">
            <a:extLst xmlns:a="http://schemas.openxmlformats.org/drawingml/2006/main">
              <a:ext uri="{FF2B5EF4-FFF2-40B4-BE49-F238E27FC236}">
                <a16:creationId xmlns:a16="http://schemas.microsoft.com/office/drawing/2014/main" id="{6D63B2FC-838B-4B29-9D2F-6F952FFD9B72}"/>
              </a:ext>
            </a:extLst>
          </p:cNvPr>
          <p:cNvPicPr>
            <a:picLocks xmlns:a="http://schemas.openxmlformats.org/drawingml/2006/main" noChangeAspect="1"/>
          </p:cNvPicPr>
          <p:nvPr/>
        </p:nvPicPr>
        <p:blipFill>
          <a:blip xmlns:r="http://schemas.openxmlformats.org/officeDocument/2006/relationships" xmlns:a="http://schemas.openxmlformats.org/drawingml/2006/main" r:embed="R1116f1acfa6d420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154FE68-ED71-4190-886A-AA2F8E57BA9D}"/>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18/24</a:t>
            </a:r>
          </a:p>
        </p:txBody>
      </p:sp>
      <p:graphicFrame>
        <p:nvGraphicFramePr>
          <p:cNvPr id="4" name="">
            <a:extLst xmlns:a="http://schemas.openxmlformats.org/drawingml/2006/main">
              <a:ext uri="{FF2B5EF4-FFF2-40B4-BE49-F238E27FC236}">
                <a16:creationId xmlns:a16="http://schemas.microsoft.com/office/drawing/2014/main" id="{27BE2EED-43EB-4CD5-A2A6-8F1F92AA4876}"/>
              </a:ext>
            </a:extLst>
          </p:cNvPr>
          <p:cNvGraphicFramePr/>
          <p:nvPr/>
        </p:nvGraphicFramePr>
        <p:xfrm>
          <a:off xmlns:a="http://schemas.openxmlformats.org/drawingml/2006/main" x="590550" y="1714500"/>
          <a:ext xmlns:a="http://schemas.openxmlformats.org/drawingml/2006/main" cx="11010900" cy="3762375"/>
        </p:xfrm>
        <a:graphic xmlns:a="http://schemas.openxmlformats.org/drawingml/2006/main">
          <a:graphicData uri="http://schemas.openxmlformats.org/drawingml/2006/table">
            <a:tbl>
              <a:tblPr/>
              <a:tblGrid>
                <a:gridCol w="4381500"/>
                <a:gridCol w="6629400"/>
              </a:tblGrid>
              <a:tr h="752475">
                <a:tc>
                  <a:txBody>
                    <a:bodyPr/>
                    <a:lstStyle/>
                    <a:p>
                      <a:r>
                        <a:rPr sz="1875" b="1">
                          <a:solidFill>
                            <a:srgbClr val="FFFFFF"/>
                          </a:solidFill>
                          <a:latin typeface="Arial"/>
                          <a:ea typeface="Arial"/>
                          <a:cs typeface="Arial"/>
                        </a:rPr>
                        <a:t>Prueba</a:t>
                      </a:r>
                    </a:p>
                  </a:txBody>
                  <a:tcPr marL="91440" marR="91440" marT="45720" marB="45720">
                    <a:lnL w="9525">
                      <a:solidFill>
                        <a:srgbClr val="BFCEC3"/>
                      </a:solidFill>
                      <a:prstDash val="solid"/>
                    </a:lnL>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c>
                  <a:txBody>
                    <a:bodyPr/>
                    <a:lstStyle/>
                    <a:p>
                      <a:r>
                        <a:rPr sz="1875" b="1">
                          <a:solidFill>
                            <a:srgbClr val="FFFFFF"/>
                          </a:solidFill>
                          <a:latin typeface="Arial"/>
                          <a:ea typeface="Arial"/>
                          <a:cs typeface="Arial"/>
                        </a:rPr>
                        <a:t>Resultado que se define</a:t>
                      </a:r>
                    </a:p>
                  </a:txBody>
                  <a:tcPr marL="91440" marR="91440" marT="45720" marB="45720">
                    <a:lnR w="9525">
                      <a:solidFill>
                        <a:srgbClr val="BFCEC3"/>
                      </a:solidFill>
                      <a:prstDash val="solid"/>
                    </a:lnR>
                    <a:lnT w="9525">
                      <a:solidFill>
                        <a:srgbClr val="BFCEC3"/>
                      </a:solidFill>
                      <a:prstDash val="solid"/>
                    </a:lnT>
                    <a:lnB w="9525">
                      <a:solidFill>
                        <a:srgbClr val="BFCEC3"/>
                      </a:solidFill>
                      <a:prstDash val="solid"/>
                    </a:lnB>
                    <a:solidFill>
                      <a:srgbClr val="244F3D"/>
                    </a:solidFill>
                  </a:tcPr>
                </a:tc>
              </a:tr>
              <a:tr h="752475">
                <a:tc>
                  <a:txBody>
                    <a:bodyPr/>
                    <a:lstStyle/>
                    <a:p>
                      <a:r>
                        <a:rPr sz="1875" b="0">
                          <a:solidFill>
                            <a:srgbClr val="14231E"/>
                          </a:solidFill>
                          <a:latin typeface="Arial"/>
                          <a:ea typeface="Arial"/>
                          <a:cs typeface="Arial"/>
                        </a:rPr>
                        <a:t>Mantener pulsado</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Un evento o acción sostenida</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Dos botones</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Prioridad o combinación</a:t>
                      </a:r>
                    </a:p>
                  </a:txBody>
                  <a:tcPr marL="91440" marR="91440" marT="45720" marB="45720">
                    <a:lnR w="9525">
                      <a:solidFill>
                        <a:srgbClr val="BFCEC3"/>
                      </a:solidFill>
                      <a:prstDash val="solid"/>
                    </a:lnR>
                    <a:lnB w="9525">
                      <a:solidFill>
                        <a:srgbClr val="BFCEC3"/>
                      </a:solidFill>
                      <a:prstDash val="solid"/>
                    </a:lnB>
                    <a:solidFill>
                      <a:srgbClr val="FCFCF8"/>
                    </a:solidFill>
                  </a:tcPr>
                </a:tc>
              </a:tr>
              <a:tr h="752475">
                <a:tc>
                  <a:txBody>
                    <a:bodyPr/>
                    <a:lstStyle/>
                    <a:p>
                      <a:r>
                        <a:rPr sz="1875" b="0">
                          <a:solidFill>
                            <a:srgbClr val="14231E"/>
                          </a:solidFill>
                          <a:latin typeface="Arial"/>
                          <a:ea typeface="Arial"/>
                          <a:cs typeface="Arial"/>
                        </a:rPr>
                        <a:t>Pulsado al arrancar</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EAF3EC"/>
                    </a:solidFill>
                  </a:tcPr>
                </a:tc>
                <a:tc>
                  <a:txBody>
                    <a:bodyPr/>
                    <a:lstStyle/>
                    <a:p>
                      <a:r>
                        <a:rPr sz="1875" b="0">
                          <a:solidFill>
                            <a:srgbClr val="14231E"/>
                          </a:solidFill>
                          <a:latin typeface="Arial"/>
                          <a:ea typeface="Arial"/>
                          <a:cs typeface="Arial"/>
                        </a:rPr>
                        <a:t>Estado inicial documentado</a:t>
                      </a:r>
                    </a:p>
                  </a:txBody>
                  <a:tcPr marL="91440" marR="91440" marT="45720" marB="45720">
                    <a:lnR w="9525">
                      <a:solidFill>
                        <a:srgbClr val="BFCEC3"/>
                      </a:solidFill>
                      <a:prstDash val="solid"/>
                    </a:lnR>
                    <a:lnB w="9525">
                      <a:solidFill>
                        <a:srgbClr val="BFCEC3"/>
                      </a:solidFill>
                      <a:prstDash val="solid"/>
                    </a:lnB>
                    <a:solidFill>
                      <a:srgbClr val="EAF3EC"/>
                    </a:solidFill>
                  </a:tcPr>
                </a:tc>
              </a:tr>
              <a:tr h="752475">
                <a:tc>
                  <a:txBody>
                    <a:bodyPr/>
                    <a:lstStyle/>
                    <a:p>
                      <a:r>
                        <a:rPr sz="1875" b="0">
                          <a:solidFill>
                            <a:srgbClr val="14231E"/>
                          </a:solidFill>
                          <a:latin typeface="Arial"/>
                          <a:ea typeface="Arial"/>
                          <a:cs typeface="Arial"/>
                        </a:rPr>
                        <a:t>Rebote</a:t>
                      </a:r>
                    </a:p>
                  </a:txBody>
                  <a:tcPr marL="91440" marR="91440" marT="45720" marB="45720">
                    <a:lnL w="9525">
                      <a:solidFill>
                        <a:srgbClr val="BFCEC3"/>
                      </a:solidFill>
                      <a:prstDash val="solid"/>
                    </a:lnL>
                    <a:lnR w="9525">
                      <a:solidFill>
                        <a:srgbClr val="BFCEC3"/>
                      </a:solidFill>
                      <a:prstDash val="solid"/>
                    </a:lnR>
                    <a:lnB w="9525">
                      <a:solidFill>
                        <a:srgbClr val="BFCEC3"/>
                      </a:solidFill>
                      <a:prstDash val="solid"/>
                    </a:lnB>
                    <a:solidFill>
                      <a:srgbClr val="FCFCF8"/>
                    </a:solidFill>
                  </a:tcPr>
                </a:tc>
                <a:tc>
                  <a:txBody>
                    <a:bodyPr/>
                    <a:lstStyle/>
                    <a:p>
                      <a:r>
                        <a:rPr sz="1875" b="0">
                          <a:solidFill>
                            <a:srgbClr val="14231E"/>
                          </a:solidFill>
                          <a:latin typeface="Arial"/>
                          <a:ea typeface="Arial"/>
                          <a:cs typeface="Arial"/>
                        </a:rPr>
                        <a:t>Una transición aceptada</a:t>
                      </a:r>
                    </a:p>
                  </a:txBody>
                  <a:tcPr marL="91440" marR="91440" marT="45720" marB="45720">
                    <a:lnR w="9525">
                      <a:solidFill>
                        <a:srgbClr val="BFCEC3"/>
                      </a:solidFill>
                      <a:prstDash val="solid"/>
                    </a:lnR>
                    <a:lnB w="9525">
                      <a:solidFill>
                        <a:srgbClr val="BFCEC3"/>
                      </a:solidFill>
                      <a:prstDash val="solid"/>
                    </a:lnB>
                    <a:solidFill>
                      <a:srgbClr val="FCFCF8"/>
                    </a:solidFill>
                  </a:tcPr>
                </a:tc>
              </a:tr>
            </a:tbl>
          </a:graphicData>
        </a:graphic>
      </p:graphicFrame>
    </p:spTree>
    <p:extLst>
      <p:ext uri="{BB962C8B-B14F-4D97-AF65-F5344CB8AC3E}">
        <p14:creationId xmlns:p14="http://schemas.microsoft.com/office/powerpoint/2010/main" val="2111705517"/>
      </p:ext>
    </p:extLst>
  </p:cSld>
</p:sld>
</file>

<file path=ppt/slides/slide43.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19C46E6-AC0C-407C-97A2-256689F402C5}"/>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Interpretación · Un contrato para las entradas humanas</a:t>
            </a:r>
          </a:p>
        </p:txBody>
      </p:sp>
      <p:pic>
        <p:nvPicPr>
          <p:cNvPr id="2" name="">
            <a:extLst xmlns:a="http://schemas.openxmlformats.org/drawingml/2006/main">
              <a:ext uri="{FF2B5EF4-FFF2-40B4-BE49-F238E27FC236}">
                <a16:creationId xmlns:a16="http://schemas.microsoft.com/office/drawing/2014/main" id="{89158AAC-0484-4654-B1A0-12AA6B713CEE}"/>
              </a:ext>
            </a:extLst>
          </p:cNvPr>
          <p:cNvPicPr>
            <a:picLocks xmlns:a="http://schemas.openxmlformats.org/drawingml/2006/main" noChangeAspect="1"/>
          </p:cNvPicPr>
          <p:nvPr/>
        </p:nvPicPr>
        <p:blipFill>
          <a:blip xmlns:r="http://schemas.openxmlformats.org/officeDocument/2006/relationships" xmlns:a="http://schemas.openxmlformats.org/drawingml/2006/main" r:embed="R80e36af93cd94c50"/>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82A1DA2-F72D-4ACB-A5E6-BB9CFD9AAE33}"/>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19/24</a:t>
            </a:r>
          </a:p>
        </p:txBody>
      </p:sp>
      <p:sp>
        <p:nvSpPr>
          <p:cNvPr id="4" name="">
            <a:extLst xmlns:a="http://schemas.openxmlformats.org/drawingml/2006/main">
              <a:ext uri="{FF2B5EF4-FFF2-40B4-BE49-F238E27FC236}">
                <a16:creationId xmlns:a16="http://schemas.microsoft.com/office/drawing/2014/main" id="{D85F3F76-43B0-4F95-9795-04FAE7E4F186}"/>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Investiga la diferencia entre un botón con resistencia externa y un pin con resistencia interna habilitada. En el ESP32 clásico, GPIO34–39 son entradas y carecen de pull-up o pull-down internos. La elección del pin, por tanto, cambia el circuito necesario. Relaciona esa información con el hecho de que esos mismos pines pueden resultar útiles para lecturas analógicas. El nombre “GPIO” no promete exactamente las mismas funciones en todos los números.</a:t>
            </a:r>
          </a:p>
        </p:txBody>
      </p:sp>
    </p:spTree>
    <p:extLst>
      <p:ext uri="{BB962C8B-B14F-4D97-AF65-F5344CB8AC3E}">
        <p14:creationId xmlns:p14="http://schemas.microsoft.com/office/powerpoint/2010/main" val="1099182059"/>
      </p:ext>
    </p:extLst>
  </p:cSld>
</p:sld>
</file>

<file path=ppt/slides/slide44.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E3539ED-61B9-4EAF-868D-28BA0C694E72}"/>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Práctica guiada</a:t>
            </a:r>
          </a:p>
        </p:txBody>
      </p:sp>
      <p:pic>
        <p:nvPicPr>
          <p:cNvPr id="2" name="">
            <a:extLst xmlns:a="http://schemas.openxmlformats.org/drawingml/2006/main">
              <a:ext uri="{FF2B5EF4-FFF2-40B4-BE49-F238E27FC236}">
                <a16:creationId xmlns:a16="http://schemas.microsoft.com/office/drawing/2014/main" id="{653086EC-40E4-4C65-B757-C42315BCDE6D}"/>
              </a:ext>
            </a:extLst>
          </p:cNvPr>
          <p:cNvPicPr>
            <a:picLocks xmlns:a="http://schemas.openxmlformats.org/drawingml/2006/main" noChangeAspect="1"/>
          </p:cNvPicPr>
          <p:nvPr/>
        </p:nvPicPr>
        <p:blipFill>
          <a:blip xmlns:r="http://schemas.openxmlformats.org/officeDocument/2006/relationships" xmlns:a="http://schemas.openxmlformats.org/drawingml/2006/main" r:embed="R682e2059852e44aa"/>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A097951-061E-4505-B95D-4FDB32839787}"/>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20/24</a:t>
            </a:r>
          </a:p>
        </p:txBody>
      </p:sp>
      <p:sp>
        <p:nvSpPr>
          <p:cNvPr id="4" name="">
            <a:extLst xmlns:a="http://schemas.openxmlformats.org/drawingml/2006/main">
              <a:ext uri="{FF2B5EF4-FFF2-40B4-BE49-F238E27FC236}">
                <a16:creationId xmlns:a16="http://schemas.microsoft.com/office/drawing/2014/main" id="{C72EB765-A884-4AB9-91C7-A2D612680B81}"/>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4231E"/>
                </a:solidFill>
                <a:latin typeface="Arial"/>
                <a:ea typeface="Arial"/>
                <a:cs typeface="Arial"/>
              </a:defRPr>
            </a:defPPr>
            <a:lvl1pPr>
              <a:defRPr sz="2175" b="0">
                <a:solidFill>
                  <a:srgbClr val="14231E"/>
                </a:solidFill>
                <a:latin typeface="Arial"/>
                <a:ea typeface="Arial"/>
                <a:cs typeface="Arial"/>
              </a:defRPr>
            </a:lvl1pPr>
            <a:lvl2pPr>
              <a:defRPr sz="2175" b="0">
                <a:solidFill>
                  <a:srgbClr val="14231E"/>
                </a:solidFill>
                <a:latin typeface="Arial"/>
                <a:ea typeface="Arial"/>
                <a:cs typeface="Arial"/>
              </a:defRPr>
            </a:lvl2pPr>
            <a:lvl3pPr>
              <a:defRPr sz="2175" b="0">
                <a:solidFill>
                  <a:srgbClr val="14231E"/>
                </a:solidFill>
                <a:latin typeface="Arial"/>
                <a:ea typeface="Arial"/>
                <a:cs typeface="Arial"/>
              </a:defRPr>
            </a:lvl3pPr>
            <a:lvl4pPr>
              <a:defRPr sz="2175" b="0">
                <a:solidFill>
                  <a:srgbClr val="14231E"/>
                </a:solidFill>
                <a:latin typeface="Arial"/>
                <a:ea typeface="Arial"/>
                <a:cs typeface="Arial"/>
              </a:defRPr>
            </a:lvl4pPr>
            <a:lvl5pPr>
              <a:defRPr sz="2175" b="0">
                <a:solidFill>
                  <a:srgbClr val="14231E"/>
                </a:solidFill>
                <a:latin typeface="Arial"/>
                <a:ea typeface="Arial"/>
                <a:cs typeface="Arial"/>
              </a:defRPr>
            </a:lvl5pPr>
            <a:lvl6pPr>
              <a:defRPr sz="2175" b="0">
                <a:solidFill>
                  <a:srgbClr val="14231E"/>
                </a:solidFill>
                <a:latin typeface="Arial"/>
                <a:ea typeface="Arial"/>
                <a:cs typeface="Arial"/>
              </a:defRPr>
            </a:lvl6pPr>
            <a:lvl7pPr>
              <a:defRPr sz="2175" b="0">
                <a:solidFill>
                  <a:srgbClr val="14231E"/>
                </a:solidFill>
                <a:latin typeface="Arial"/>
                <a:ea typeface="Arial"/>
                <a:cs typeface="Arial"/>
              </a:defRPr>
            </a:lvl7pPr>
            <a:lvl8pPr>
              <a:defRPr sz="2175" b="0">
                <a:solidFill>
                  <a:srgbClr val="14231E"/>
                </a:solidFill>
                <a:latin typeface="Arial"/>
                <a:ea typeface="Arial"/>
                <a:cs typeface="Arial"/>
              </a:defRPr>
            </a:lvl8pPr>
            <a:lvl9pPr>
              <a:defRPr sz="2175" b="0">
                <a:solidFill>
                  <a:srgbClr val="14231E"/>
                </a:solidFill>
                <a:latin typeface="Arial"/>
                <a:ea typeface="Arial"/>
                <a:cs typeface="Arial"/>
              </a:defRPr>
            </a:lvl9pPr>
          </a:lstStyle>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1. Mostrar una pulsación larga y pedir la diferencia entre nivel y evento.</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2. Rastrear raw, changed y stable con una tabla temporal.</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3. Comprobar c02_boton y añadir el contador de eventos.</a:t>
            </a:r>
          </a:p>
          <a:p xmlns:a="http://schemas.openxmlformats.org/drawingml/2006/main">
            <a:r>
              <a:t/>
            </a:r>
          </a:p>
          <a:p xmlns:a="http://schemas.openxmlformats.org/drawingml/2006/main">
            <a:pPr>
              <a:defRPr sz="2175" b="0">
                <a:solidFill>
                  <a:srgbClr val="14231E"/>
                </a:solidFill>
                <a:latin typeface="Arial"/>
                <a:ea typeface="Arial"/>
                <a:cs typeface="Arial"/>
              </a:defRPr>
            </a:pPr>
            <a:r>
              <a:rPr sz="2175" b="0">
                <a:solidFill>
                  <a:srgbClr val="14231E"/>
                </a:solidFill>
                <a:latin typeface="Arial"/>
                <a:ea typeface="Arial"/>
                <a:cs typeface="Arial"/>
              </a:rPr>
              <a:t>4. Resolver la prioridad del piano y el reto lógico del dado.</a:t>
            </a:r>
          </a:p>
        </p:txBody>
      </p:sp>
    </p:spTree>
    <p:extLst>
      <p:ext uri="{BB962C8B-B14F-4D97-AF65-F5344CB8AC3E}">
        <p14:creationId xmlns:p14="http://schemas.microsoft.com/office/powerpoint/2010/main" val="756751906"/>
      </p:ext>
    </p:extLst>
  </p:cSld>
</p:sld>
</file>

<file path=ppt/slides/slide45.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37D00F-9201-4604-A86E-14B2F9089171}"/>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Aplicación en un banco para drones</a:t>
            </a:r>
          </a:p>
        </p:txBody>
      </p:sp>
      <p:pic>
        <p:nvPicPr>
          <p:cNvPr id="2" name="">
            <a:extLst xmlns:a="http://schemas.openxmlformats.org/drawingml/2006/main">
              <a:ext uri="{FF2B5EF4-FFF2-40B4-BE49-F238E27FC236}">
                <a16:creationId xmlns:a16="http://schemas.microsoft.com/office/drawing/2014/main" id="{D1EAD466-A4E7-44FB-8ED8-DCE76FBE2BF8}"/>
              </a:ext>
            </a:extLst>
          </p:cNvPr>
          <p:cNvPicPr>
            <a:picLocks xmlns:a="http://schemas.openxmlformats.org/drawingml/2006/main" noChangeAspect="1"/>
          </p:cNvPicPr>
          <p:nvPr/>
        </p:nvPicPr>
        <p:blipFill>
          <a:blip xmlns:r="http://schemas.openxmlformats.org/officeDocument/2006/relationships" xmlns:a="http://schemas.openxmlformats.org/drawingml/2006/main" r:embed="R136d1cb4bc114ceb"/>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C735E8D-1EFF-4D85-B739-95EDEE2FA172}"/>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21/24</a:t>
            </a:r>
          </a:p>
        </p:txBody>
      </p:sp>
      <p:sp>
        <p:nvSpPr>
          <p:cNvPr id="4" name="">
            <a:extLst xmlns:a="http://schemas.openxmlformats.org/drawingml/2006/main">
              <a:ext uri="{FF2B5EF4-FFF2-40B4-BE49-F238E27FC236}">
                <a16:creationId xmlns:a16="http://schemas.microsoft.com/office/drawing/2014/main" id="{5EB49297-D565-473F-A890-165F9E2145F2}"/>
              </a:ext>
            </a:extLst>
          </p:cNvPr>
          <p:cNvSpPr>
            <a:spLocks xmlns:a="http://schemas.openxmlformats.org/drawingml/2006/main" noGrp="1"/>
          </p:cNvSpPr>
          <p:nvPr/>
        </p:nvSpPr>
        <p:spPr>
          <a:xfrm xmlns:a="http://schemas.openxmlformats.org/drawingml/2006/main">
            <a:off x="590550" y="1762125"/>
            <a:ext cx="10715625"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AEF4BB"/>
                </a:solidFill>
                <a:latin typeface="Arial"/>
                <a:ea typeface="Arial"/>
                <a:cs typeface="Arial"/>
              </a:defRPr>
            </a:defPPr>
            <a:lvl1pPr>
              <a:defRPr sz="2700" b="1">
                <a:solidFill>
                  <a:srgbClr val="AEF4BB"/>
                </a:solidFill>
                <a:latin typeface="Arial"/>
                <a:ea typeface="Arial"/>
                <a:cs typeface="Arial"/>
              </a:defRPr>
            </a:lvl1pPr>
            <a:lvl2pPr>
              <a:defRPr sz="2700" b="1">
                <a:solidFill>
                  <a:srgbClr val="AEF4BB"/>
                </a:solidFill>
                <a:latin typeface="Arial"/>
                <a:ea typeface="Arial"/>
                <a:cs typeface="Arial"/>
              </a:defRPr>
            </a:lvl2pPr>
            <a:lvl3pPr>
              <a:defRPr sz="2700" b="1">
                <a:solidFill>
                  <a:srgbClr val="AEF4BB"/>
                </a:solidFill>
                <a:latin typeface="Arial"/>
                <a:ea typeface="Arial"/>
                <a:cs typeface="Arial"/>
              </a:defRPr>
            </a:lvl3pPr>
            <a:lvl4pPr>
              <a:defRPr sz="2700" b="1">
                <a:solidFill>
                  <a:srgbClr val="AEF4BB"/>
                </a:solidFill>
                <a:latin typeface="Arial"/>
                <a:ea typeface="Arial"/>
                <a:cs typeface="Arial"/>
              </a:defRPr>
            </a:lvl4pPr>
            <a:lvl5pPr>
              <a:defRPr sz="2700" b="1">
                <a:solidFill>
                  <a:srgbClr val="AEF4BB"/>
                </a:solidFill>
                <a:latin typeface="Arial"/>
                <a:ea typeface="Arial"/>
                <a:cs typeface="Arial"/>
              </a:defRPr>
            </a:lvl5pPr>
            <a:lvl6pPr>
              <a:defRPr sz="2700" b="1">
                <a:solidFill>
                  <a:srgbClr val="AEF4BB"/>
                </a:solidFill>
                <a:latin typeface="Arial"/>
                <a:ea typeface="Arial"/>
                <a:cs typeface="Arial"/>
              </a:defRPr>
            </a:lvl6pPr>
            <a:lvl7pPr>
              <a:defRPr sz="2700" b="1">
                <a:solidFill>
                  <a:srgbClr val="AEF4BB"/>
                </a:solidFill>
                <a:latin typeface="Arial"/>
                <a:ea typeface="Arial"/>
                <a:cs typeface="Arial"/>
              </a:defRPr>
            </a:lvl7pPr>
            <a:lvl8pPr>
              <a:defRPr sz="2700" b="1">
                <a:solidFill>
                  <a:srgbClr val="AEF4BB"/>
                </a:solidFill>
                <a:latin typeface="Arial"/>
                <a:ea typeface="Arial"/>
                <a:cs typeface="Arial"/>
              </a:defRPr>
            </a:lvl8pPr>
            <a:lvl9pPr>
              <a:defRPr sz="2700" b="1">
                <a:solidFill>
                  <a:srgbClr val="AEF4BB"/>
                </a:solidFill>
                <a:latin typeface="Arial"/>
                <a:ea typeface="Arial"/>
                <a:cs typeface="Arial"/>
              </a:defRPr>
            </a:lvl9pPr>
          </a:lstStyle>
          <a:p xmlns:a="http://schemas.openxmlformats.org/drawingml/2006/main">
            <a:pPr>
              <a:defRPr sz="2700" b="1">
                <a:solidFill>
                  <a:srgbClr val="AEF4BB"/>
                </a:solidFill>
                <a:latin typeface="Arial"/>
                <a:ea typeface="Arial"/>
                <a:cs typeface="Arial"/>
              </a:defRPr>
            </a:pPr>
            <a:r>
              <a:rPr sz="2700" b="1">
                <a:solidFill>
                  <a:srgbClr val="AEF4BB"/>
                </a:solidFill>
                <a:latin typeface="Arial"/>
                <a:ea typeface="Arial"/>
                <a:cs typeface="Arial"/>
              </a:rPr>
              <a:t>Los mandos y los avisos de una estación de drones necesitan interpretar acciones humanas con estados definidos.</a:t>
            </a:r>
          </a:p>
        </p:txBody>
      </p:sp>
      <p:sp>
        <p:nvSpPr>
          <p:cNvPr id="5" name="">
            <a:extLst xmlns:a="http://schemas.openxmlformats.org/drawingml/2006/main">
              <a:ext uri="{FF2B5EF4-FFF2-40B4-BE49-F238E27FC236}">
                <a16:creationId xmlns:a16="http://schemas.microsoft.com/office/drawing/2014/main" id="{83912C3D-F644-4FFF-BAE9-0F65306697B7}"/>
              </a:ext>
            </a:extLst>
          </p:cNvPr>
          <p:cNvSpPr>
            <a:spLocks xmlns:a="http://schemas.openxmlformats.org/drawingml/2006/main" noGrp="1"/>
          </p:cNvSpPr>
          <p:nvPr/>
        </p:nvSpPr>
        <p:spPr>
          <a:xfrm xmlns:a="http://schemas.openxmlformats.org/drawingml/2006/main">
            <a:off x="590550" y="3914775"/>
            <a:ext cx="10715625" cy="1533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Explica una decisión con el esquema, el programa o un dato. ¿Qué queda sin comprobar?</a:t>
            </a:r>
          </a:p>
        </p:txBody>
      </p:sp>
    </p:spTree>
    <p:extLst>
      <p:ext uri="{BB962C8B-B14F-4D97-AF65-F5344CB8AC3E}">
        <p14:creationId xmlns:p14="http://schemas.microsoft.com/office/powerpoint/2010/main" val="1255354188"/>
      </p:ext>
    </p:extLst>
  </p:cSld>
</p:sld>
</file>

<file path=ppt/slides/slide46.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3A2DF82-A0DE-4FF6-8C62-56E31D515ACC}"/>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Preguntas de cierre</a:t>
            </a:r>
          </a:p>
        </p:txBody>
      </p:sp>
      <p:pic>
        <p:nvPicPr>
          <p:cNvPr id="2" name="">
            <a:extLst xmlns:a="http://schemas.openxmlformats.org/drawingml/2006/main">
              <a:ext uri="{FF2B5EF4-FFF2-40B4-BE49-F238E27FC236}">
                <a16:creationId xmlns:a16="http://schemas.microsoft.com/office/drawing/2014/main" id="{27A504B4-95D8-476F-AAE8-926C4F2EBB24}"/>
              </a:ext>
            </a:extLst>
          </p:cNvPr>
          <p:cNvPicPr>
            <a:picLocks xmlns:a="http://schemas.openxmlformats.org/drawingml/2006/main" noChangeAspect="1"/>
          </p:cNvPicPr>
          <p:nvPr/>
        </p:nvPicPr>
        <p:blipFill>
          <a:blip xmlns:r="http://schemas.openxmlformats.org/officeDocument/2006/relationships" xmlns:a="http://schemas.openxmlformats.org/drawingml/2006/main" r:embed="Raf5ceb1cd5d143fc"/>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B7C3C50-BC9F-4EED-8649-46D2B22789EF}"/>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22/24</a:t>
            </a:r>
          </a:p>
        </p:txBody>
      </p:sp>
      <p:sp>
        <p:nvSpPr>
          <p:cNvPr id="4" name="">
            <a:extLst xmlns:a="http://schemas.openxmlformats.org/drawingml/2006/main">
              <a:ext uri="{FF2B5EF4-FFF2-40B4-BE49-F238E27FC236}">
                <a16:creationId xmlns:a16="http://schemas.microsoft.com/office/drawing/2014/main" id="{C651CB48-95BC-4684-92F3-9840E52DC2A2}"/>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FCFCF8"/>
                </a:solidFill>
                <a:latin typeface="Arial"/>
                <a:ea typeface="Arial"/>
                <a:cs typeface="Arial"/>
              </a:defRPr>
            </a:defPPr>
            <a:lvl1pPr>
              <a:defRPr sz="2550" b="0">
                <a:solidFill>
                  <a:srgbClr val="FCFCF8"/>
                </a:solidFill>
                <a:latin typeface="Arial"/>
                <a:ea typeface="Arial"/>
                <a:cs typeface="Arial"/>
              </a:defRPr>
            </a:lvl1pPr>
            <a:lvl2pPr>
              <a:defRPr sz="2550" b="0">
                <a:solidFill>
                  <a:srgbClr val="FCFCF8"/>
                </a:solidFill>
                <a:latin typeface="Arial"/>
                <a:ea typeface="Arial"/>
                <a:cs typeface="Arial"/>
              </a:defRPr>
            </a:lvl2pPr>
            <a:lvl3pPr>
              <a:defRPr sz="2550" b="0">
                <a:solidFill>
                  <a:srgbClr val="FCFCF8"/>
                </a:solidFill>
                <a:latin typeface="Arial"/>
                <a:ea typeface="Arial"/>
                <a:cs typeface="Arial"/>
              </a:defRPr>
            </a:lvl3pPr>
            <a:lvl4pPr>
              <a:defRPr sz="2550" b="0">
                <a:solidFill>
                  <a:srgbClr val="FCFCF8"/>
                </a:solidFill>
                <a:latin typeface="Arial"/>
                <a:ea typeface="Arial"/>
                <a:cs typeface="Arial"/>
              </a:defRPr>
            </a:lvl4pPr>
            <a:lvl5pPr>
              <a:defRPr sz="2550" b="0">
                <a:solidFill>
                  <a:srgbClr val="FCFCF8"/>
                </a:solidFill>
                <a:latin typeface="Arial"/>
                <a:ea typeface="Arial"/>
                <a:cs typeface="Arial"/>
              </a:defRPr>
            </a:lvl5pPr>
            <a:lvl6pPr>
              <a:defRPr sz="2550" b="0">
                <a:solidFill>
                  <a:srgbClr val="FCFCF8"/>
                </a:solidFill>
                <a:latin typeface="Arial"/>
                <a:ea typeface="Arial"/>
                <a:cs typeface="Arial"/>
              </a:defRPr>
            </a:lvl6pPr>
            <a:lvl7pPr>
              <a:defRPr sz="2550" b="0">
                <a:solidFill>
                  <a:srgbClr val="FCFCF8"/>
                </a:solidFill>
                <a:latin typeface="Arial"/>
                <a:ea typeface="Arial"/>
                <a:cs typeface="Arial"/>
              </a:defRPr>
            </a:lvl7pPr>
            <a:lvl8pPr>
              <a:defRPr sz="2550" b="0">
                <a:solidFill>
                  <a:srgbClr val="FCFCF8"/>
                </a:solidFill>
                <a:latin typeface="Arial"/>
                <a:ea typeface="Arial"/>
                <a:cs typeface="Arial"/>
              </a:defRPr>
            </a:lvl8pPr>
            <a:lvl9pPr>
              <a:defRPr sz="2550" b="0">
                <a:solidFill>
                  <a:srgbClr val="FCFCF8"/>
                </a:solidFill>
                <a:latin typeface="Arial"/>
                <a:ea typeface="Arial"/>
                <a:cs typeface="Arial"/>
              </a:defRPr>
            </a:lvl9pPr>
          </a:lstStyle>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1. ¿LOW siempre significa apagado?</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2. ¿El pull-up elimina el rebote?</a:t>
            </a:r>
          </a:p>
          <a:p xmlns:a="http://schemas.openxmlformats.org/drawingml/2006/main">
            <a:r>
              <a:t/>
            </a:r>
          </a:p>
          <a:p xmlns:a="http://schemas.openxmlformats.org/drawingml/2006/main">
            <a:pPr>
              <a:defRPr sz="2550" b="0">
                <a:solidFill>
                  <a:srgbClr val="FCFCF8"/>
                </a:solidFill>
                <a:latin typeface="Arial"/>
                <a:ea typeface="Arial"/>
                <a:cs typeface="Arial"/>
              </a:defRPr>
            </a:pPr>
            <a:r>
              <a:rPr sz="2550" b="0">
                <a:solidFill>
                  <a:srgbClr val="FCFCF8"/>
                </a:solidFill>
                <a:latin typeface="Arial"/>
                <a:ea typeface="Arial"/>
                <a:cs typeface="Arial"/>
              </a:rPr>
              <a:t>3. ¿Por qué no contar cada loop() en LOW?</a:t>
            </a:r>
          </a:p>
        </p:txBody>
      </p:sp>
    </p:spTree>
    <p:extLst>
      <p:ext uri="{BB962C8B-B14F-4D97-AF65-F5344CB8AC3E}">
        <p14:creationId xmlns:p14="http://schemas.microsoft.com/office/powerpoint/2010/main" val="118413249"/>
      </p:ext>
    </p:extLst>
  </p:cSld>
</p:sld>
</file>

<file path=ppt/slides/slide47.xml><?xml version="1.0" encoding="utf-8"?>
<p:sld xmlns:p="http://schemas.openxmlformats.org/presentationml/2006/main">
  <p:cSld>
    <p:bg>
      <p:bgPr>
        <a:solidFill xmlns:a="http://schemas.openxmlformats.org/drawingml/2006/main">
          <a:srgbClr val="FCFC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C74096C-3150-467C-8E16-91486470E333}"/>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14231E"/>
                </a:solidFill>
                <a:latin typeface="Arial Narrow"/>
                <a:ea typeface="Arial Narrow"/>
                <a:cs typeface="Arial Narrow"/>
              </a:defRPr>
            </a:defPPr>
            <a:lvl1pPr>
              <a:defRPr sz="3375" b="1">
                <a:solidFill>
                  <a:srgbClr val="14231E"/>
                </a:solidFill>
                <a:latin typeface="Arial Narrow"/>
                <a:ea typeface="Arial Narrow"/>
                <a:cs typeface="Arial Narrow"/>
              </a:defRPr>
            </a:lvl1pPr>
            <a:lvl2pPr>
              <a:defRPr sz="3375" b="1">
                <a:solidFill>
                  <a:srgbClr val="14231E"/>
                </a:solidFill>
                <a:latin typeface="Arial Narrow"/>
                <a:ea typeface="Arial Narrow"/>
                <a:cs typeface="Arial Narrow"/>
              </a:defRPr>
            </a:lvl2pPr>
            <a:lvl3pPr>
              <a:defRPr sz="3375" b="1">
                <a:solidFill>
                  <a:srgbClr val="14231E"/>
                </a:solidFill>
                <a:latin typeface="Arial Narrow"/>
                <a:ea typeface="Arial Narrow"/>
                <a:cs typeface="Arial Narrow"/>
              </a:defRPr>
            </a:lvl3pPr>
            <a:lvl4pPr>
              <a:defRPr sz="3375" b="1">
                <a:solidFill>
                  <a:srgbClr val="14231E"/>
                </a:solidFill>
                <a:latin typeface="Arial Narrow"/>
                <a:ea typeface="Arial Narrow"/>
                <a:cs typeface="Arial Narrow"/>
              </a:defRPr>
            </a:lvl4pPr>
            <a:lvl5pPr>
              <a:defRPr sz="3375" b="1">
                <a:solidFill>
                  <a:srgbClr val="14231E"/>
                </a:solidFill>
                <a:latin typeface="Arial Narrow"/>
                <a:ea typeface="Arial Narrow"/>
                <a:cs typeface="Arial Narrow"/>
              </a:defRPr>
            </a:lvl5pPr>
            <a:lvl6pPr>
              <a:defRPr sz="3375" b="1">
                <a:solidFill>
                  <a:srgbClr val="14231E"/>
                </a:solidFill>
                <a:latin typeface="Arial Narrow"/>
                <a:ea typeface="Arial Narrow"/>
                <a:cs typeface="Arial Narrow"/>
              </a:defRPr>
            </a:lvl6pPr>
            <a:lvl7pPr>
              <a:defRPr sz="3375" b="1">
                <a:solidFill>
                  <a:srgbClr val="14231E"/>
                </a:solidFill>
                <a:latin typeface="Arial Narrow"/>
                <a:ea typeface="Arial Narrow"/>
                <a:cs typeface="Arial Narrow"/>
              </a:defRPr>
            </a:lvl7pPr>
            <a:lvl8pPr>
              <a:defRPr sz="3375" b="1">
                <a:solidFill>
                  <a:srgbClr val="14231E"/>
                </a:solidFill>
                <a:latin typeface="Arial Narrow"/>
                <a:ea typeface="Arial Narrow"/>
                <a:cs typeface="Arial Narrow"/>
              </a:defRPr>
            </a:lvl8pPr>
            <a:lvl9pPr>
              <a:defRPr sz="3375" b="1">
                <a:solidFill>
                  <a:srgbClr val="14231E"/>
                </a:solidFill>
                <a:latin typeface="Arial Narrow"/>
                <a:ea typeface="Arial Narrow"/>
                <a:cs typeface="Arial Narrow"/>
              </a:defRPr>
            </a:lvl9pPr>
          </a:lstStyle>
          <a:p xmlns:a="http://schemas.openxmlformats.org/drawingml/2006/main">
            <a:pPr>
              <a:defRPr sz="3375" b="1">
                <a:solidFill>
                  <a:srgbClr val="14231E"/>
                </a:solidFill>
                <a:latin typeface="Arial Narrow"/>
                <a:ea typeface="Arial Narrow"/>
                <a:cs typeface="Arial Narrow"/>
              </a:defRPr>
            </a:pPr>
            <a:r>
              <a:rPr sz="3375" b="1">
                <a:solidFill>
                  <a:srgbClr val="14231E"/>
                </a:solidFill>
                <a:latin typeface="Arial Narrow"/>
                <a:ea typeface="Arial Narrow"/>
                <a:cs typeface="Arial Narrow"/>
              </a:rPr>
              <a:t>Respuestas y razonamiento</a:t>
            </a:r>
          </a:p>
        </p:txBody>
      </p:sp>
      <p:pic>
        <p:nvPicPr>
          <p:cNvPr id="2" name="">
            <a:extLst xmlns:a="http://schemas.openxmlformats.org/drawingml/2006/main">
              <a:ext uri="{FF2B5EF4-FFF2-40B4-BE49-F238E27FC236}">
                <a16:creationId xmlns:a16="http://schemas.microsoft.com/office/drawing/2014/main" id="{F5F843E7-D5C2-4A60-A096-6D55F4A1413F}"/>
              </a:ext>
            </a:extLst>
          </p:cNvPr>
          <p:cNvPicPr>
            <a:picLocks xmlns:a="http://schemas.openxmlformats.org/drawingml/2006/main" noChangeAspect="1"/>
          </p:cNvPicPr>
          <p:nvPr/>
        </p:nvPicPr>
        <p:blipFill>
          <a:blip xmlns:r="http://schemas.openxmlformats.org/officeDocument/2006/relationships" xmlns:a="http://schemas.openxmlformats.org/drawingml/2006/main" r:embed="Rf808d66bb64b4c4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6BDFFB5-992A-4BA2-8625-7675862B5416}"/>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8665F"/>
                </a:solidFill>
                <a:latin typeface="Consolas"/>
                <a:ea typeface="Consolas"/>
                <a:cs typeface="Consolas"/>
              </a:defRPr>
            </a:defPPr>
            <a:lvl1pPr>
              <a:defRPr sz="1125" b="0">
                <a:solidFill>
                  <a:srgbClr val="58665F"/>
                </a:solidFill>
                <a:latin typeface="Consolas"/>
                <a:ea typeface="Consolas"/>
                <a:cs typeface="Consolas"/>
              </a:defRPr>
            </a:lvl1pPr>
            <a:lvl2pPr>
              <a:defRPr sz="1125" b="0">
                <a:solidFill>
                  <a:srgbClr val="58665F"/>
                </a:solidFill>
                <a:latin typeface="Consolas"/>
                <a:ea typeface="Consolas"/>
                <a:cs typeface="Consolas"/>
              </a:defRPr>
            </a:lvl2pPr>
            <a:lvl3pPr>
              <a:defRPr sz="1125" b="0">
                <a:solidFill>
                  <a:srgbClr val="58665F"/>
                </a:solidFill>
                <a:latin typeface="Consolas"/>
                <a:ea typeface="Consolas"/>
                <a:cs typeface="Consolas"/>
              </a:defRPr>
            </a:lvl3pPr>
            <a:lvl4pPr>
              <a:defRPr sz="1125" b="0">
                <a:solidFill>
                  <a:srgbClr val="58665F"/>
                </a:solidFill>
                <a:latin typeface="Consolas"/>
                <a:ea typeface="Consolas"/>
                <a:cs typeface="Consolas"/>
              </a:defRPr>
            </a:lvl4pPr>
            <a:lvl5pPr>
              <a:defRPr sz="1125" b="0">
                <a:solidFill>
                  <a:srgbClr val="58665F"/>
                </a:solidFill>
                <a:latin typeface="Consolas"/>
                <a:ea typeface="Consolas"/>
                <a:cs typeface="Consolas"/>
              </a:defRPr>
            </a:lvl5pPr>
            <a:lvl6pPr>
              <a:defRPr sz="1125" b="0">
                <a:solidFill>
                  <a:srgbClr val="58665F"/>
                </a:solidFill>
                <a:latin typeface="Consolas"/>
                <a:ea typeface="Consolas"/>
                <a:cs typeface="Consolas"/>
              </a:defRPr>
            </a:lvl6pPr>
            <a:lvl7pPr>
              <a:defRPr sz="1125" b="0">
                <a:solidFill>
                  <a:srgbClr val="58665F"/>
                </a:solidFill>
                <a:latin typeface="Consolas"/>
                <a:ea typeface="Consolas"/>
                <a:cs typeface="Consolas"/>
              </a:defRPr>
            </a:lvl7pPr>
            <a:lvl8pPr>
              <a:defRPr sz="1125" b="0">
                <a:solidFill>
                  <a:srgbClr val="58665F"/>
                </a:solidFill>
                <a:latin typeface="Consolas"/>
                <a:ea typeface="Consolas"/>
                <a:cs typeface="Consolas"/>
              </a:defRPr>
            </a:lvl8pPr>
            <a:lvl9pPr>
              <a:defRPr sz="1125" b="0">
                <a:solidFill>
                  <a:srgbClr val="58665F"/>
                </a:solidFill>
                <a:latin typeface="Consolas"/>
                <a:ea typeface="Consolas"/>
                <a:cs typeface="Consolas"/>
              </a:defRPr>
            </a:lvl9pPr>
          </a:lstStyle>
          <a:p xmlns:a="http://schemas.openxmlformats.org/drawingml/2006/main">
            <a:pPr>
              <a:defRPr sz="1125" b="0">
                <a:solidFill>
                  <a:srgbClr val="58665F"/>
                </a:solidFill>
                <a:latin typeface="Consolas"/>
                <a:ea typeface="Consolas"/>
                <a:cs typeface="Consolas"/>
              </a:defRPr>
            </a:pPr>
            <a:r>
              <a:rPr sz="1125" b="0">
                <a:solidFill>
                  <a:srgbClr val="58665F"/>
                </a:solidFill>
                <a:latin typeface="Consolas"/>
                <a:ea typeface="Consolas"/>
                <a:cs typeface="Consolas"/>
              </a:rPr>
              <a:t>MECRO   SEMANA 1   CLASE 02   23/24</a:t>
            </a:r>
          </a:p>
        </p:txBody>
      </p:sp>
      <p:sp>
        <p:nvSpPr>
          <p:cNvPr id="4" name="">
            <a:extLst xmlns:a="http://schemas.openxmlformats.org/drawingml/2006/main">
              <a:ext uri="{FF2B5EF4-FFF2-40B4-BE49-F238E27FC236}">
                <a16:creationId xmlns:a16="http://schemas.microsoft.com/office/drawing/2014/main" id="{8D01E7D4-0DC7-4951-AADC-4BDA9BC87B44}"/>
              </a:ext>
            </a:extLst>
          </p:cNvPr>
          <p:cNvSpPr>
            <a:spLocks xmlns:a="http://schemas.openxmlformats.org/drawingml/2006/main" noGrp="1"/>
          </p:cNvSpPr>
          <p:nvPr/>
        </p:nvSpPr>
        <p:spPr>
          <a:xfrm xmlns:a="http://schemas.openxmlformats.org/drawingml/2006/main">
            <a:off x="590550" y="1714500"/>
            <a:ext cx="10810875" cy="442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4231E"/>
                </a:solidFill>
                <a:latin typeface="Arial"/>
                <a:ea typeface="Arial"/>
                <a:cs typeface="Arial"/>
              </a:defRPr>
            </a:defPPr>
            <a:lvl1pPr>
              <a:defRPr sz="2250" b="0">
                <a:solidFill>
                  <a:srgbClr val="14231E"/>
                </a:solidFill>
                <a:latin typeface="Arial"/>
                <a:ea typeface="Arial"/>
                <a:cs typeface="Arial"/>
              </a:defRPr>
            </a:lvl1pPr>
            <a:lvl2pPr>
              <a:defRPr sz="2250" b="0">
                <a:solidFill>
                  <a:srgbClr val="14231E"/>
                </a:solidFill>
                <a:latin typeface="Arial"/>
                <a:ea typeface="Arial"/>
                <a:cs typeface="Arial"/>
              </a:defRPr>
            </a:lvl2pPr>
            <a:lvl3pPr>
              <a:defRPr sz="2250" b="0">
                <a:solidFill>
                  <a:srgbClr val="14231E"/>
                </a:solidFill>
                <a:latin typeface="Arial"/>
                <a:ea typeface="Arial"/>
                <a:cs typeface="Arial"/>
              </a:defRPr>
            </a:lvl3pPr>
            <a:lvl4pPr>
              <a:defRPr sz="2250" b="0">
                <a:solidFill>
                  <a:srgbClr val="14231E"/>
                </a:solidFill>
                <a:latin typeface="Arial"/>
                <a:ea typeface="Arial"/>
                <a:cs typeface="Arial"/>
              </a:defRPr>
            </a:lvl4pPr>
            <a:lvl5pPr>
              <a:defRPr sz="2250" b="0">
                <a:solidFill>
                  <a:srgbClr val="14231E"/>
                </a:solidFill>
                <a:latin typeface="Arial"/>
                <a:ea typeface="Arial"/>
                <a:cs typeface="Arial"/>
              </a:defRPr>
            </a:lvl5pPr>
            <a:lvl6pPr>
              <a:defRPr sz="2250" b="0">
                <a:solidFill>
                  <a:srgbClr val="14231E"/>
                </a:solidFill>
                <a:latin typeface="Arial"/>
                <a:ea typeface="Arial"/>
                <a:cs typeface="Arial"/>
              </a:defRPr>
            </a:lvl6pPr>
            <a:lvl7pPr>
              <a:defRPr sz="2250" b="0">
                <a:solidFill>
                  <a:srgbClr val="14231E"/>
                </a:solidFill>
                <a:latin typeface="Arial"/>
                <a:ea typeface="Arial"/>
                <a:cs typeface="Arial"/>
              </a:defRPr>
            </a:lvl7pPr>
            <a:lvl8pPr>
              <a:defRPr sz="2250" b="0">
                <a:solidFill>
                  <a:srgbClr val="14231E"/>
                </a:solidFill>
                <a:latin typeface="Arial"/>
                <a:ea typeface="Arial"/>
                <a:cs typeface="Arial"/>
              </a:defRPr>
            </a:lvl8pPr>
            <a:lvl9pPr>
              <a:defRPr sz="2250" b="0">
                <a:solidFill>
                  <a:srgbClr val="14231E"/>
                </a:solidFill>
                <a:latin typeface="Arial"/>
                <a:ea typeface="Arial"/>
                <a:cs typeface="Arial"/>
              </a:defRPr>
            </a:lvl9pPr>
          </a:lstStyle>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1. Su significado depende del circuito; con pull-up puede representar un botón pulsado.</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2. Fija el nivel en reposo; el rebote se trata con otra estrategia.</a:t>
            </a:r>
          </a:p>
          <a:p xmlns:a="http://schemas.openxmlformats.org/drawingml/2006/main">
            <a:r>
              <a:t/>
            </a:r>
          </a:p>
          <a:p xmlns:a="http://schemas.openxmlformats.org/drawingml/2006/main">
            <a:pPr>
              <a:defRPr sz="2250" b="0">
                <a:solidFill>
                  <a:srgbClr val="14231E"/>
                </a:solidFill>
                <a:latin typeface="Arial"/>
                <a:ea typeface="Arial"/>
                <a:cs typeface="Arial"/>
              </a:defRPr>
            </a:pPr>
            <a:r>
              <a:rPr sz="2250" b="0">
                <a:solidFill>
                  <a:srgbClr val="14231E"/>
                </a:solidFill>
                <a:latin typeface="Arial"/>
                <a:ea typeface="Arial"/>
                <a:cs typeface="Arial"/>
              </a:rPr>
              <a:t>3. Porque una pulsación sostenida atraviesa muchas iteraciones.</a:t>
            </a:r>
          </a:p>
        </p:txBody>
      </p:sp>
    </p:spTree>
    <p:extLst>
      <p:ext uri="{BB962C8B-B14F-4D97-AF65-F5344CB8AC3E}">
        <p14:creationId xmlns:p14="http://schemas.microsoft.com/office/powerpoint/2010/main" val="201015692"/>
      </p:ext>
    </p:extLst>
  </p:cSld>
</p:sld>
</file>

<file path=ppt/slides/slide48.xml><?xml version="1.0" encoding="utf-8"?>
<p:sld xmlns:p="http://schemas.openxmlformats.org/presentationml/2006/main">
  <p:cSld>
    <p:bg>
      <p:bgPr>
        <a:solidFill xmlns:a="http://schemas.openxmlformats.org/drawingml/2006/main">
          <a:srgbClr val="090F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1653A8-D500-4078-BD63-C3C74644084B}"/>
              </a:ext>
            </a:extLst>
          </p:cNvPr>
          <p:cNvSpPr>
            <a:spLocks xmlns:a="http://schemas.openxmlformats.org/drawingml/2006/main" noGrp="1"/>
          </p:cNvSpPr>
          <p:nvPr/>
        </p:nvSpPr>
        <p:spPr>
          <a:xfrm xmlns:a="http://schemas.openxmlformats.org/drawingml/2006/main">
            <a:off x="590550" y="409575"/>
            <a:ext cx="1009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CFCF8"/>
                </a:solidFill>
                <a:latin typeface="Arial Narrow"/>
                <a:ea typeface="Arial Narrow"/>
                <a:cs typeface="Arial Narrow"/>
              </a:defRPr>
            </a:defPPr>
            <a:lvl1pPr>
              <a:defRPr sz="3375" b="1">
                <a:solidFill>
                  <a:srgbClr val="FCFCF8"/>
                </a:solidFill>
                <a:latin typeface="Arial Narrow"/>
                <a:ea typeface="Arial Narrow"/>
                <a:cs typeface="Arial Narrow"/>
              </a:defRPr>
            </a:lvl1pPr>
            <a:lvl2pPr>
              <a:defRPr sz="3375" b="1">
                <a:solidFill>
                  <a:srgbClr val="FCFCF8"/>
                </a:solidFill>
                <a:latin typeface="Arial Narrow"/>
                <a:ea typeface="Arial Narrow"/>
                <a:cs typeface="Arial Narrow"/>
              </a:defRPr>
            </a:lvl2pPr>
            <a:lvl3pPr>
              <a:defRPr sz="3375" b="1">
                <a:solidFill>
                  <a:srgbClr val="FCFCF8"/>
                </a:solidFill>
                <a:latin typeface="Arial Narrow"/>
                <a:ea typeface="Arial Narrow"/>
                <a:cs typeface="Arial Narrow"/>
              </a:defRPr>
            </a:lvl3pPr>
            <a:lvl4pPr>
              <a:defRPr sz="3375" b="1">
                <a:solidFill>
                  <a:srgbClr val="FCFCF8"/>
                </a:solidFill>
                <a:latin typeface="Arial Narrow"/>
                <a:ea typeface="Arial Narrow"/>
                <a:cs typeface="Arial Narrow"/>
              </a:defRPr>
            </a:lvl4pPr>
            <a:lvl5pPr>
              <a:defRPr sz="3375" b="1">
                <a:solidFill>
                  <a:srgbClr val="FCFCF8"/>
                </a:solidFill>
                <a:latin typeface="Arial Narrow"/>
                <a:ea typeface="Arial Narrow"/>
                <a:cs typeface="Arial Narrow"/>
              </a:defRPr>
            </a:lvl5pPr>
            <a:lvl6pPr>
              <a:defRPr sz="3375" b="1">
                <a:solidFill>
                  <a:srgbClr val="FCFCF8"/>
                </a:solidFill>
                <a:latin typeface="Arial Narrow"/>
                <a:ea typeface="Arial Narrow"/>
                <a:cs typeface="Arial Narrow"/>
              </a:defRPr>
            </a:lvl6pPr>
            <a:lvl7pPr>
              <a:defRPr sz="3375" b="1">
                <a:solidFill>
                  <a:srgbClr val="FCFCF8"/>
                </a:solidFill>
                <a:latin typeface="Arial Narrow"/>
                <a:ea typeface="Arial Narrow"/>
                <a:cs typeface="Arial Narrow"/>
              </a:defRPr>
            </a:lvl7pPr>
            <a:lvl8pPr>
              <a:defRPr sz="3375" b="1">
                <a:solidFill>
                  <a:srgbClr val="FCFCF8"/>
                </a:solidFill>
                <a:latin typeface="Arial Narrow"/>
                <a:ea typeface="Arial Narrow"/>
                <a:cs typeface="Arial Narrow"/>
              </a:defRPr>
            </a:lvl8pPr>
            <a:lvl9pPr>
              <a:defRPr sz="3375" b="1">
                <a:solidFill>
                  <a:srgbClr val="FCFCF8"/>
                </a:solidFill>
                <a:latin typeface="Arial Narrow"/>
                <a:ea typeface="Arial Narrow"/>
                <a:cs typeface="Arial Narrow"/>
              </a:defRPr>
            </a:lvl9pPr>
          </a:lstStyle>
          <a:p xmlns:a="http://schemas.openxmlformats.org/drawingml/2006/main">
            <a:pPr>
              <a:defRPr sz="3375" b="1">
                <a:solidFill>
                  <a:srgbClr val="FCFCF8"/>
                </a:solidFill>
                <a:latin typeface="Arial Narrow"/>
                <a:ea typeface="Arial Narrow"/>
                <a:cs typeface="Arial Narrow"/>
              </a:defRPr>
            </a:pPr>
            <a:r>
              <a:rPr sz="3375" b="1">
                <a:solidFill>
                  <a:srgbClr val="FCFCF8"/>
                </a:solidFill>
                <a:latin typeface="Arial Narrow"/>
                <a:ea typeface="Arial Narrow"/>
                <a:cs typeface="Arial Narrow"/>
              </a:rPr>
              <a:t>Entrega de la clase</a:t>
            </a:r>
          </a:p>
        </p:txBody>
      </p:sp>
      <p:pic>
        <p:nvPicPr>
          <p:cNvPr id="2" name="">
            <a:extLst xmlns:a="http://schemas.openxmlformats.org/drawingml/2006/main">
              <a:ext uri="{FF2B5EF4-FFF2-40B4-BE49-F238E27FC236}">
                <a16:creationId xmlns:a16="http://schemas.microsoft.com/office/drawing/2014/main" id="{EC78A0E8-0F15-43A1-8C33-EFE5419B2BDD}"/>
              </a:ext>
            </a:extLst>
          </p:cNvPr>
          <p:cNvPicPr>
            <a:picLocks xmlns:a="http://schemas.openxmlformats.org/drawingml/2006/main" noChangeAspect="1"/>
          </p:cNvPicPr>
          <p:nvPr/>
        </p:nvPicPr>
        <p:blipFill>
          <a:blip xmlns:r="http://schemas.openxmlformats.org/officeDocument/2006/relationships" xmlns:a="http://schemas.openxmlformats.org/drawingml/2006/main" r:embed="Rbc0f562418604c26"/>
          <a:stretch xmlns:a="http://schemas.openxmlformats.org/drawingml/2006/main"/>
        </p:blipFill>
        <p:spPr>
          <a:xfrm xmlns:a="http://schemas.openxmlformats.org/drawingml/2006/main">
            <a:off x="10858500" y="337942"/>
            <a:ext cx="762000" cy="27661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27CC4AC-E68C-4467-8E46-837AE7DAAC08}"/>
              </a:ext>
            </a:extLst>
          </p:cNvPr>
          <p:cNvSpPr>
            <a:spLocks xmlns:a="http://schemas.openxmlformats.org/drawingml/2006/main" noGrp="1"/>
          </p:cNvSpPr>
          <p:nvPr/>
        </p:nvSpPr>
        <p:spPr>
          <a:xfrm xmlns:a="http://schemas.openxmlformats.org/drawingml/2006/main">
            <a:off x="590550" y="6467475"/>
            <a:ext cx="10810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B8C8C1"/>
                </a:solidFill>
                <a:latin typeface="Consolas"/>
                <a:ea typeface="Consolas"/>
                <a:cs typeface="Consolas"/>
              </a:defRPr>
            </a:defPPr>
            <a:lvl1pPr>
              <a:defRPr sz="1125" b="0">
                <a:solidFill>
                  <a:srgbClr val="B8C8C1"/>
                </a:solidFill>
                <a:latin typeface="Consolas"/>
                <a:ea typeface="Consolas"/>
                <a:cs typeface="Consolas"/>
              </a:defRPr>
            </a:lvl1pPr>
            <a:lvl2pPr>
              <a:defRPr sz="1125" b="0">
                <a:solidFill>
                  <a:srgbClr val="B8C8C1"/>
                </a:solidFill>
                <a:latin typeface="Consolas"/>
                <a:ea typeface="Consolas"/>
                <a:cs typeface="Consolas"/>
              </a:defRPr>
            </a:lvl2pPr>
            <a:lvl3pPr>
              <a:defRPr sz="1125" b="0">
                <a:solidFill>
                  <a:srgbClr val="B8C8C1"/>
                </a:solidFill>
                <a:latin typeface="Consolas"/>
                <a:ea typeface="Consolas"/>
                <a:cs typeface="Consolas"/>
              </a:defRPr>
            </a:lvl3pPr>
            <a:lvl4pPr>
              <a:defRPr sz="1125" b="0">
                <a:solidFill>
                  <a:srgbClr val="B8C8C1"/>
                </a:solidFill>
                <a:latin typeface="Consolas"/>
                <a:ea typeface="Consolas"/>
                <a:cs typeface="Consolas"/>
              </a:defRPr>
            </a:lvl4pPr>
            <a:lvl5pPr>
              <a:defRPr sz="1125" b="0">
                <a:solidFill>
                  <a:srgbClr val="B8C8C1"/>
                </a:solidFill>
                <a:latin typeface="Consolas"/>
                <a:ea typeface="Consolas"/>
                <a:cs typeface="Consolas"/>
              </a:defRPr>
            </a:lvl5pPr>
            <a:lvl6pPr>
              <a:defRPr sz="1125" b="0">
                <a:solidFill>
                  <a:srgbClr val="B8C8C1"/>
                </a:solidFill>
                <a:latin typeface="Consolas"/>
                <a:ea typeface="Consolas"/>
                <a:cs typeface="Consolas"/>
              </a:defRPr>
            </a:lvl6pPr>
            <a:lvl7pPr>
              <a:defRPr sz="1125" b="0">
                <a:solidFill>
                  <a:srgbClr val="B8C8C1"/>
                </a:solidFill>
                <a:latin typeface="Consolas"/>
                <a:ea typeface="Consolas"/>
                <a:cs typeface="Consolas"/>
              </a:defRPr>
            </a:lvl7pPr>
            <a:lvl8pPr>
              <a:defRPr sz="1125" b="0">
                <a:solidFill>
                  <a:srgbClr val="B8C8C1"/>
                </a:solidFill>
                <a:latin typeface="Consolas"/>
                <a:ea typeface="Consolas"/>
                <a:cs typeface="Consolas"/>
              </a:defRPr>
            </a:lvl8pPr>
            <a:lvl9pPr>
              <a:defRPr sz="1125" b="0">
                <a:solidFill>
                  <a:srgbClr val="B8C8C1"/>
                </a:solidFill>
                <a:latin typeface="Consolas"/>
                <a:ea typeface="Consolas"/>
                <a:cs typeface="Consolas"/>
              </a:defRPr>
            </a:lvl9pPr>
          </a:lstStyle>
          <a:p xmlns:a="http://schemas.openxmlformats.org/drawingml/2006/main">
            <a:pPr>
              <a:defRPr sz="1125" b="0">
                <a:solidFill>
                  <a:srgbClr val="B8C8C1"/>
                </a:solidFill>
                <a:latin typeface="Consolas"/>
                <a:ea typeface="Consolas"/>
                <a:cs typeface="Consolas"/>
              </a:defRPr>
            </a:pPr>
            <a:r>
              <a:rPr sz="1125" b="0">
                <a:solidFill>
                  <a:srgbClr val="B8C8C1"/>
                </a:solidFill>
                <a:latin typeface="Consolas"/>
                <a:ea typeface="Consolas"/>
                <a:cs typeface="Consolas"/>
              </a:rPr>
              <a:t>MECRO   SEMANA 1   CLASE 02   24/24</a:t>
            </a:r>
          </a:p>
        </p:txBody>
      </p:sp>
      <p:sp>
        <p:nvSpPr>
          <p:cNvPr id="4" name="">
            <a:extLst xmlns:a="http://schemas.openxmlformats.org/drawingml/2006/main">
              <a:ext uri="{FF2B5EF4-FFF2-40B4-BE49-F238E27FC236}">
                <a16:creationId xmlns:a16="http://schemas.microsoft.com/office/drawing/2014/main" id="{1D4D345D-ACA9-481A-9D53-8B829C46F77C}"/>
              </a:ext>
            </a:extLst>
          </p:cNvPr>
          <p:cNvSpPr>
            <a:spLocks xmlns:a="http://schemas.openxmlformats.org/drawingml/2006/main" noGrp="1"/>
          </p:cNvSpPr>
          <p:nvPr/>
        </p:nvSpPr>
        <p:spPr>
          <a:xfrm xmlns:a="http://schemas.openxmlformats.org/drawingml/2006/main">
            <a:off x="590550" y="1771650"/>
            <a:ext cx="1071562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AEF4BB"/>
                </a:solidFill>
                <a:latin typeface="Arial"/>
                <a:ea typeface="Arial"/>
                <a:cs typeface="Arial"/>
              </a:defRPr>
            </a:defPPr>
            <a:lvl1pPr>
              <a:defRPr sz="2850" b="1">
                <a:solidFill>
                  <a:srgbClr val="AEF4BB"/>
                </a:solidFill>
                <a:latin typeface="Arial"/>
                <a:ea typeface="Arial"/>
                <a:cs typeface="Arial"/>
              </a:defRPr>
            </a:lvl1pPr>
            <a:lvl2pPr>
              <a:defRPr sz="2850" b="1">
                <a:solidFill>
                  <a:srgbClr val="AEF4BB"/>
                </a:solidFill>
                <a:latin typeface="Arial"/>
                <a:ea typeface="Arial"/>
                <a:cs typeface="Arial"/>
              </a:defRPr>
            </a:lvl2pPr>
            <a:lvl3pPr>
              <a:defRPr sz="2850" b="1">
                <a:solidFill>
                  <a:srgbClr val="AEF4BB"/>
                </a:solidFill>
                <a:latin typeface="Arial"/>
                <a:ea typeface="Arial"/>
                <a:cs typeface="Arial"/>
              </a:defRPr>
            </a:lvl3pPr>
            <a:lvl4pPr>
              <a:defRPr sz="2850" b="1">
                <a:solidFill>
                  <a:srgbClr val="AEF4BB"/>
                </a:solidFill>
                <a:latin typeface="Arial"/>
                <a:ea typeface="Arial"/>
                <a:cs typeface="Arial"/>
              </a:defRPr>
            </a:lvl4pPr>
            <a:lvl5pPr>
              <a:defRPr sz="2850" b="1">
                <a:solidFill>
                  <a:srgbClr val="AEF4BB"/>
                </a:solidFill>
                <a:latin typeface="Arial"/>
                <a:ea typeface="Arial"/>
                <a:cs typeface="Arial"/>
              </a:defRPr>
            </a:lvl5pPr>
            <a:lvl6pPr>
              <a:defRPr sz="2850" b="1">
                <a:solidFill>
                  <a:srgbClr val="AEF4BB"/>
                </a:solidFill>
                <a:latin typeface="Arial"/>
                <a:ea typeface="Arial"/>
                <a:cs typeface="Arial"/>
              </a:defRPr>
            </a:lvl6pPr>
            <a:lvl7pPr>
              <a:defRPr sz="2850" b="1">
                <a:solidFill>
                  <a:srgbClr val="AEF4BB"/>
                </a:solidFill>
                <a:latin typeface="Arial"/>
                <a:ea typeface="Arial"/>
                <a:cs typeface="Arial"/>
              </a:defRPr>
            </a:lvl7pPr>
            <a:lvl8pPr>
              <a:defRPr sz="2850" b="1">
                <a:solidFill>
                  <a:srgbClr val="AEF4BB"/>
                </a:solidFill>
                <a:latin typeface="Arial"/>
                <a:ea typeface="Arial"/>
                <a:cs typeface="Arial"/>
              </a:defRPr>
            </a:lvl8pPr>
            <a:lvl9pPr>
              <a:defRPr sz="2850" b="1">
                <a:solidFill>
                  <a:srgbClr val="AEF4BB"/>
                </a:solidFill>
                <a:latin typeface="Arial"/>
                <a:ea typeface="Arial"/>
                <a:cs typeface="Arial"/>
              </a:defRPr>
            </a:lvl9pPr>
          </a:lstStyle>
          <a:p xmlns:a="http://schemas.openxmlformats.org/drawingml/2006/main">
            <a:pPr>
              <a:defRPr sz="2850" b="1">
                <a:solidFill>
                  <a:srgbClr val="AEF4BB"/>
                </a:solidFill>
                <a:latin typeface="Arial"/>
                <a:ea typeface="Arial"/>
                <a:cs typeface="Arial"/>
              </a:defRPr>
            </a:pPr>
            <a:r>
              <a:rPr sz="2850" b="1">
                <a:solidFill>
                  <a:srgbClr val="AEF4BB"/>
                </a:solidFill>
                <a:latin typeface="Arial"/>
                <a:ea typeface="Arial"/>
                <a:cs typeface="Arial"/>
              </a:rPr>
              <a:t>Código del botón, tabla nivel/evento y cuatro pruebas de interfaz.</a:t>
            </a:r>
          </a:p>
        </p:txBody>
      </p:sp>
      <p:sp>
        <p:nvSpPr>
          <p:cNvPr id="5" name="">
            <a:extLst xmlns:a="http://schemas.openxmlformats.org/drawingml/2006/main">
              <a:ext uri="{FF2B5EF4-FFF2-40B4-BE49-F238E27FC236}">
                <a16:creationId xmlns:a16="http://schemas.microsoft.com/office/drawing/2014/main" id="{75487B36-189A-4637-8168-C9D0588AF95A}"/>
              </a:ext>
            </a:extLst>
          </p:cNvPr>
          <p:cNvSpPr>
            <a:spLocks xmlns:a="http://schemas.openxmlformats.org/drawingml/2006/main" noGrp="1"/>
          </p:cNvSpPr>
          <p:nvPr/>
        </p:nvSpPr>
        <p:spPr>
          <a:xfrm xmlns:a="http://schemas.openxmlformats.org/drawingml/2006/main">
            <a:off x="590550" y="4476750"/>
            <a:ext cx="10715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CFCF8"/>
                </a:solidFill>
                <a:latin typeface="Arial"/>
                <a:ea typeface="Arial"/>
                <a:cs typeface="Arial"/>
              </a:defRPr>
            </a:defPPr>
            <a:lvl1pPr>
              <a:defRPr sz="2325" b="0">
                <a:solidFill>
                  <a:srgbClr val="FCFCF8"/>
                </a:solidFill>
                <a:latin typeface="Arial"/>
                <a:ea typeface="Arial"/>
                <a:cs typeface="Arial"/>
              </a:defRPr>
            </a:lvl1pPr>
            <a:lvl2pPr>
              <a:defRPr sz="2325" b="0">
                <a:solidFill>
                  <a:srgbClr val="FCFCF8"/>
                </a:solidFill>
                <a:latin typeface="Arial"/>
                <a:ea typeface="Arial"/>
                <a:cs typeface="Arial"/>
              </a:defRPr>
            </a:lvl2pPr>
            <a:lvl3pPr>
              <a:defRPr sz="2325" b="0">
                <a:solidFill>
                  <a:srgbClr val="FCFCF8"/>
                </a:solidFill>
                <a:latin typeface="Arial"/>
                <a:ea typeface="Arial"/>
                <a:cs typeface="Arial"/>
              </a:defRPr>
            </a:lvl3pPr>
            <a:lvl4pPr>
              <a:defRPr sz="2325" b="0">
                <a:solidFill>
                  <a:srgbClr val="FCFCF8"/>
                </a:solidFill>
                <a:latin typeface="Arial"/>
                <a:ea typeface="Arial"/>
                <a:cs typeface="Arial"/>
              </a:defRPr>
            </a:lvl4pPr>
            <a:lvl5pPr>
              <a:defRPr sz="2325" b="0">
                <a:solidFill>
                  <a:srgbClr val="FCFCF8"/>
                </a:solidFill>
                <a:latin typeface="Arial"/>
                <a:ea typeface="Arial"/>
                <a:cs typeface="Arial"/>
              </a:defRPr>
            </a:lvl5pPr>
            <a:lvl6pPr>
              <a:defRPr sz="2325" b="0">
                <a:solidFill>
                  <a:srgbClr val="FCFCF8"/>
                </a:solidFill>
                <a:latin typeface="Arial"/>
                <a:ea typeface="Arial"/>
                <a:cs typeface="Arial"/>
              </a:defRPr>
            </a:lvl6pPr>
            <a:lvl7pPr>
              <a:defRPr sz="2325" b="0">
                <a:solidFill>
                  <a:srgbClr val="FCFCF8"/>
                </a:solidFill>
                <a:latin typeface="Arial"/>
                <a:ea typeface="Arial"/>
                <a:cs typeface="Arial"/>
              </a:defRPr>
            </a:lvl7pPr>
            <a:lvl8pPr>
              <a:defRPr sz="2325" b="0">
                <a:solidFill>
                  <a:srgbClr val="FCFCF8"/>
                </a:solidFill>
                <a:latin typeface="Arial"/>
                <a:ea typeface="Arial"/>
                <a:cs typeface="Arial"/>
              </a:defRPr>
            </a:lvl8pPr>
            <a:lvl9pPr>
              <a:defRPr sz="2325" b="0">
                <a:solidFill>
                  <a:srgbClr val="FCFCF8"/>
                </a:solidFill>
                <a:latin typeface="Arial"/>
                <a:ea typeface="Arial"/>
                <a:cs typeface="Arial"/>
              </a:defRPr>
            </a:lvl9pPr>
          </a:lstStyle>
          <a:p xmlns:a="http://schemas.openxmlformats.org/drawingml/2006/main">
            <a:pPr>
              <a:defRPr sz="2325" b="0">
                <a:solidFill>
                  <a:srgbClr val="FCFCF8"/>
                </a:solidFill>
                <a:latin typeface="Arial"/>
                <a:ea typeface="Arial"/>
                <a:cs typeface="Arial"/>
              </a:defRPr>
            </a:pPr>
            <a:r>
              <a:rPr sz="2325" b="0">
                <a:solidFill>
                  <a:srgbClr val="FCFCF8"/>
                </a:solidFill>
                <a:latin typeface="Arial"/>
                <a:ea typeface="Arial"/>
                <a:cs typeface="Arial"/>
              </a:rPr>
              <a:t>Identifica versión, unidad y procedencia. Conserva la evidencia y explica qué probarías después.</a:t>
            </a:r>
          </a:p>
        </p:txBody>
      </p:sp>
    </p:spTree>
    <p:extLst>
      <p:ext uri="{BB962C8B-B14F-4D97-AF65-F5344CB8AC3E}">
        <p14:creationId xmlns:p14="http://schemas.microsoft.com/office/powerpoint/2010/main" val="18063523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2026-10-22T20:12:37.5410000Z</dcterms:created>
  <dcterms:modified xsi:type="dcterms:W3CDTF">2026-10-22T20:12:37.5410000Z</dcterms:modified>
</coreProperties>
</file>