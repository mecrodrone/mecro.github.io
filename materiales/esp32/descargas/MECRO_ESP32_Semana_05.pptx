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2.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c122e81358a4afa" /><Relationship Type="http://schemas.openxmlformats.org/officeDocument/2006/relationships/extended-properties" Target="/docProps/app.xml" Id="R6680041d12134a75" /><Relationship Type="http://schemas.openxmlformats.org/officeDocument/2006/relationships/officeDocument" Target="/ppt/presentation.xml" Id="Rfc2677881d1f4519" /></Relationships>
</file>

<file path=ppt/presentation.xml><?xml version="1.0" encoding="utf-8"?>
<p:presentation xmlns:p="http://schemas.openxmlformats.org/presentationml/2006/main">
  <p:sldMasterIdLst>
    <p:sldMasterId xmlns:r="http://schemas.openxmlformats.org/officeDocument/2006/relationships" id="2147483648" r:id="R5430c68eaab14afe"/>
  </p:sldMasterIdLst>
  <p:notesMasterIdLst>
    <p:notesMasterId xmlns:r="http://schemas.openxmlformats.org/officeDocument/2006/relationships" r:id="R2d9c3b84449a4653"/>
  </p:notesMasterIdLst>
  <p:sldIdLst>
    <p:sldId xmlns:r="http://schemas.openxmlformats.org/officeDocument/2006/relationships" id="256" r:id="R46dac2bee3e34da5"/>
    <p:sldId xmlns:r="http://schemas.openxmlformats.org/officeDocument/2006/relationships" id="257" r:id="R4b068559e12d4725"/>
    <p:sldId xmlns:r="http://schemas.openxmlformats.org/officeDocument/2006/relationships" id="258" r:id="R88245d7b2721498b"/>
    <p:sldId xmlns:r="http://schemas.openxmlformats.org/officeDocument/2006/relationships" id="259" r:id="R3ec310cb42ef47e3"/>
    <p:sldId xmlns:r="http://schemas.openxmlformats.org/officeDocument/2006/relationships" id="260" r:id="Rd7eb2efda29a41df"/>
    <p:sldId xmlns:r="http://schemas.openxmlformats.org/officeDocument/2006/relationships" id="261" r:id="R8bdeaddd65024949"/>
    <p:sldId xmlns:r="http://schemas.openxmlformats.org/officeDocument/2006/relationships" id="262" r:id="R947efc6df8fc4e94"/>
    <p:sldId xmlns:r="http://schemas.openxmlformats.org/officeDocument/2006/relationships" id="263" r:id="R2b6c2516ad6f40bd"/>
    <p:sldId xmlns:r="http://schemas.openxmlformats.org/officeDocument/2006/relationships" id="264" r:id="R7fda8fd1a6cd4162"/>
    <p:sldId xmlns:r="http://schemas.openxmlformats.org/officeDocument/2006/relationships" id="265" r:id="R79d92c0ccd6445a1"/>
    <p:sldId xmlns:r="http://schemas.openxmlformats.org/officeDocument/2006/relationships" id="266" r:id="R696fedd79b67452f"/>
    <p:sldId xmlns:r="http://schemas.openxmlformats.org/officeDocument/2006/relationships" id="267" r:id="Rb000e457268e49e9"/>
    <p:sldId xmlns:r="http://schemas.openxmlformats.org/officeDocument/2006/relationships" id="268" r:id="Rc5116a14441b48eb"/>
    <p:sldId xmlns:r="http://schemas.openxmlformats.org/officeDocument/2006/relationships" id="269" r:id="Rf965ffac1ee34b97"/>
    <p:sldId xmlns:r="http://schemas.openxmlformats.org/officeDocument/2006/relationships" id="270" r:id="Rf7a69075601e47e3"/>
    <p:sldId xmlns:r="http://schemas.openxmlformats.org/officeDocument/2006/relationships" id="271" r:id="Rdcc382e08d1040ef"/>
    <p:sldId xmlns:r="http://schemas.openxmlformats.org/officeDocument/2006/relationships" id="272" r:id="Rddf6709262ce4884"/>
    <p:sldId xmlns:r="http://schemas.openxmlformats.org/officeDocument/2006/relationships" id="273" r:id="Rd133a5b298224789"/>
    <p:sldId xmlns:r="http://schemas.openxmlformats.org/officeDocument/2006/relationships" id="274" r:id="R3683bdf374b646c3"/>
    <p:sldId xmlns:r="http://schemas.openxmlformats.org/officeDocument/2006/relationships" id="275" r:id="R0755a09df3104629"/>
    <p:sldId xmlns:r="http://schemas.openxmlformats.org/officeDocument/2006/relationships" id="276" r:id="R83b92bcc1c7d45a5"/>
    <p:sldId xmlns:r="http://schemas.openxmlformats.org/officeDocument/2006/relationships" id="277" r:id="R95d546aeda104ff7"/>
    <p:sldId xmlns:r="http://schemas.openxmlformats.org/officeDocument/2006/relationships" id="278" r:id="R579fbcba3eb047ad"/>
    <p:sldId xmlns:r="http://schemas.openxmlformats.org/officeDocument/2006/relationships" id="279" r:id="Ra5d43ece09c14ff9"/>
    <p:sldId xmlns:r="http://schemas.openxmlformats.org/officeDocument/2006/relationships" id="280" r:id="R2fa48962c9ea43ec"/>
    <p:sldId xmlns:r="http://schemas.openxmlformats.org/officeDocument/2006/relationships" id="281" r:id="Rd00c464211bd4798"/>
    <p:sldId xmlns:r="http://schemas.openxmlformats.org/officeDocument/2006/relationships" id="282" r:id="Rcad55e642c864a62"/>
    <p:sldId xmlns:r="http://schemas.openxmlformats.org/officeDocument/2006/relationships" id="283" r:id="R6dd132838bc143a0"/>
    <p:sldId xmlns:r="http://schemas.openxmlformats.org/officeDocument/2006/relationships" id="284" r:id="R9abb98e4de604bf1"/>
    <p:sldId xmlns:r="http://schemas.openxmlformats.org/officeDocument/2006/relationships" id="285" r:id="R987c57d576894a13"/>
    <p:sldId xmlns:r="http://schemas.openxmlformats.org/officeDocument/2006/relationships" id="286" r:id="R3fd5e7054aac4c03"/>
    <p:sldId xmlns:r="http://schemas.openxmlformats.org/officeDocument/2006/relationships" id="287" r:id="R522dfd4d22d0460e"/>
    <p:sldId xmlns:r="http://schemas.openxmlformats.org/officeDocument/2006/relationships" id="288" r:id="Red51d68ecaf545f6"/>
    <p:sldId xmlns:r="http://schemas.openxmlformats.org/officeDocument/2006/relationships" id="289" r:id="R8fabde358c0e48ee"/>
    <p:sldId xmlns:r="http://schemas.openxmlformats.org/officeDocument/2006/relationships" id="290" r:id="R77df15ff5d374f25"/>
    <p:sldId xmlns:r="http://schemas.openxmlformats.org/officeDocument/2006/relationships" id="291" r:id="R21cd2f3d5e7b4b26"/>
    <p:sldId xmlns:r="http://schemas.openxmlformats.org/officeDocument/2006/relationships" id="292" r:id="Ra886642f9f9945ed"/>
    <p:sldId xmlns:r="http://schemas.openxmlformats.org/officeDocument/2006/relationships" id="293" r:id="R8401b245aafe4660"/>
    <p:sldId xmlns:r="http://schemas.openxmlformats.org/officeDocument/2006/relationships" id="294" r:id="R9ed81b99a5a749e3"/>
    <p:sldId xmlns:r="http://schemas.openxmlformats.org/officeDocument/2006/relationships" id="295" r:id="R65ebc71f1613436e"/>
    <p:sldId xmlns:r="http://schemas.openxmlformats.org/officeDocument/2006/relationships" id="296" r:id="R0dd4f82351fe4ce9"/>
    <p:sldId xmlns:r="http://schemas.openxmlformats.org/officeDocument/2006/relationships" id="297" r:id="R4e6cfb6f483e463c"/>
    <p:sldId xmlns:r="http://schemas.openxmlformats.org/officeDocument/2006/relationships" id="298" r:id="Rb74e3f21ea5045a1"/>
    <p:sldId xmlns:r="http://schemas.openxmlformats.org/officeDocument/2006/relationships" id="299" r:id="R2faaccc897a34e24"/>
    <p:sldId xmlns:r="http://schemas.openxmlformats.org/officeDocument/2006/relationships" id="300" r:id="Rd0b1998b60804a62"/>
    <p:sldId xmlns:r="http://schemas.openxmlformats.org/officeDocument/2006/relationships" id="301" r:id="Rb006b62982df4774"/>
    <p:sldId xmlns:r="http://schemas.openxmlformats.org/officeDocument/2006/relationships" id="302" r:id="R7f0c50424c2d489f"/>
    <p:sldId xmlns:r="http://schemas.openxmlformats.org/officeDocument/2006/relationships" id="303" r:id="Rd5e0b647086040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2c4c493f074c43" /><Relationship Type="http://schemas.openxmlformats.org/officeDocument/2006/relationships/slideMaster" Target="/ppt/slideMasters/slideMaster1.xml" Id="R5430c68eaab14afe" /><Relationship Type="http://schemas.openxmlformats.org/officeDocument/2006/relationships/notesMaster" Target="/ppt/notesMasters/notesMaster1.xml" Id="R2d9c3b84449a4653" /><Relationship Type="http://schemas.openxmlformats.org/officeDocument/2006/relationships/presProps" Target="/ppt/presProps.xml" Id="R15bc04f97bb54af3" /><Relationship Type="http://schemas.openxmlformats.org/officeDocument/2006/relationships/tableStyles" Target="/ppt/tableStyles.xml" Id="Rc9a29398f00b4a65" /><Relationship Type="http://schemas.openxmlformats.org/officeDocument/2006/relationships/slide" Target="/ppt/slides/slide1.xml" Id="R46dac2bee3e34da5" /><Relationship Type="http://schemas.openxmlformats.org/officeDocument/2006/relationships/slide" Target="/ppt/slides/slide2.xml" Id="R4b068559e12d4725" /><Relationship Type="http://schemas.openxmlformats.org/officeDocument/2006/relationships/slide" Target="/ppt/slides/slide3.xml" Id="R88245d7b2721498b" /><Relationship Type="http://schemas.openxmlformats.org/officeDocument/2006/relationships/slide" Target="/ppt/slides/slide4.xml" Id="R3ec310cb42ef47e3" /><Relationship Type="http://schemas.openxmlformats.org/officeDocument/2006/relationships/slide" Target="/ppt/slides/slide5.xml" Id="Rd7eb2efda29a41df" /><Relationship Type="http://schemas.openxmlformats.org/officeDocument/2006/relationships/slide" Target="/ppt/slides/slide6.xml" Id="R8bdeaddd65024949" /><Relationship Type="http://schemas.openxmlformats.org/officeDocument/2006/relationships/slide" Target="/ppt/slides/slide7.xml" Id="R947efc6df8fc4e94" /><Relationship Type="http://schemas.openxmlformats.org/officeDocument/2006/relationships/slide" Target="/ppt/slides/slide8.xml" Id="R2b6c2516ad6f40bd" /><Relationship Type="http://schemas.openxmlformats.org/officeDocument/2006/relationships/slide" Target="/ppt/slides/slide9.xml" Id="R7fda8fd1a6cd4162" /><Relationship Type="http://schemas.openxmlformats.org/officeDocument/2006/relationships/slide" Target="/ppt/slides/slide10.xml" Id="R79d92c0ccd6445a1" /><Relationship Type="http://schemas.openxmlformats.org/officeDocument/2006/relationships/slide" Target="/ppt/slides/slide11.xml" Id="R696fedd79b67452f" /><Relationship Type="http://schemas.openxmlformats.org/officeDocument/2006/relationships/slide" Target="/ppt/slides/slide12.xml" Id="Rb000e457268e49e9" /><Relationship Type="http://schemas.openxmlformats.org/officeDocument/2006/relationships/slide" Target="/ppt/slides/slide13.xml" Id="Rc5116a14441b48eb" /><Relationship Type="http://schemas.openxmlformats.org/officeDocument/2006/relationships/slide" Target="/ppt/slides/slide14.xml" Id="Rf965ffac1ee34b97" /><Relationship Type="http://schemas.openxmlformats.org/officeDocument/2006/relationships/slide" Target="/ppt/slides/slide15.xml" Id="Rf7a69075601e47e3" /><Relationship Type="http://schemas.openxmlformats.org/officeDocument/2006/relationships/slide" Target="/ppt/slides/slide16.xml" Id="Rdcc382e08d1040ef" /><Relationship Type="http://schemas.openxmlformats.org/officeDocument/2006/relationships/slide" Target="/ppt/slides/slide17.xml" Id="Rddf6709262ce4884" /><Relationship Type="http://schemas.openxmlformats.org/officeDocument/2006/relationships/slide" Target="/ppt/slides/slide18.xml" Id="Rd133a5b298224789" /><Relationship Type="http://schemas.openxmlformats.org/officeDocument/2006/relationships/slide" Target="/ppt/slides/slide19.xml" Id="R3683bdf374b646c3" /><Relationship Type="http://schemas.openxmlformats.org/officeDocument/2006/relationships/slide" Target="/ppt/slides/slide20.xml" Id="R0755a09df3104629" /><Relationship Type="http://schemas.openxmlformats.org/officeDocument/2006/relationships/slide" Target="/ppt/slides/slide21.xml" Id="R83b92bcc1c7d45a5" /><Relationship Type="http://schemas.openxmlformats.org/officeDocument/2006/relationships/slide" Target="/ppt/slides/slide22.xml" Id="R95d546aeda104ff7" /><Relationship Type="http://schemas.openxmlformats.org/officeDocument/2006/relationships/slide" Target="/ppt/slides/slide23.xml" Id="R579fbcba3eb047ad" /><Relationship Type="http://schemas.openxmlformats.org/officeDocument/2006/relationships/slide" Target="/ppt/slides/slide24.xml" Id="Ra5d43ece09c14ff9" /><Relationship Type="http://schemas.openxmlformats.org/officeDocument/2006/relationships/slide" Target="/ppt/slides/slide25.xml" Id="R2fa48962c9ea43ec" /><Relationship Type="http://schemas.openxmlformats.org/officeDocument/2006/relationships/slide" Target="/ppt/slides/slide26.xml" Id="Rd00c464211bd4798" /><Relationship Type="http://schemas.openxmlformats.org/officeDocument/2006/relationships/slide" Target="/ppt/slides/slide27.xml" Id="Rcad55e642c864a62" /><Relationship Type="http://schemas.openxmlformats.org/officeDocument/2006/relationships/slide" Target="/ppt/slides/slide28.xml" Id="R6dd132838bc143a0" /><Relationship Type="http://schemas.openxmlformats.org/officeDocument/2006/relationships/slide" Target="/ppt/slides/slide29.xml" Id="R9abb98e4de604bf1" /><Relationship Type="http://schemas.openxmlformats.org/officeDocument/2006/relationships/slide" Target="/ppt/slides/slide30.xml" Id="R987c57d576894a13" /><Relationship Type="http://schemas.openxmlformats.org/officeDocument/2006/relationships/slide" Target="/ppt/slides/slide31.xml" Id="R3fd5e7054aac4c03" /><Relationship Type="http://schemas.openxmlformats.org/officeDocument/2006/relationships/slide" Target="/ppt/slides/slide32.xml" Id="R522dfd4d22d0460e" /><Relationship Type="http://schemas.openxmlformats.org/officeDocument/2006/relationships/slide" Target="/ppt/slides/slide33.xml" Id="Red51d68ecaf545f6" /><Relationship Type="http://schemas.openxmlformats.org/officeDocument/2006/relationships/slide" Target="/ppt/slides/slide34.xml" Id="R8fabde358c0e48ee" /><Relationship Type="http://schemas.openxmlformats.org/officeDocument/2006/relationships/slide" Target="/ppt/slides/slide35.xml" Id="R77df15ff5d374f25" /><Relationship Type="http://schemas.openxmlformats.org/officeDocument/2006/relationships/slide" Target="/ppt/slides/slide36.xml" Id="R21cd2f3d5e7b4b26" /><Relationship Type="http://schemas.openxmlformats.org/officeDocument/2006/relationships/slide" Target="/ppt/slides/slide37.xml" Id="Ra886642f9f9945ed" /><Relationship Type="http://schemas.openxmlformats.org/officeDocument/2006/relationships/slide" Target="/ppt/slides/slide38.xml" Id="R8401b245aafe4660" /><Relationship Type="http://schemas.openxmlformats.org/officeDocument/2006/relationships/slide" Target="/ppt/slides/slide39.xml" Id="R9ed81b99a5a749e3" /><Relationship Type="http://schemas.openxmlformats.org/officeDocument/2006/relationships/slide" Target="/ppt/slides/slide40.xml" Id="R65ebc71f1613436e" /><Relationship Type="http://schemas.openxmlformats.org/officeDocument/2006/relationships/slide" Target="/ppt/slides/slide41.xml" Id="R0dd4f82351fe4ce9" /><Relationship Type="http://schemas.openxmlformats.org/officeDocument/2006/relationships/slide" Target="/ppt/slides/slide42.xml" Id="R4e6cfb6f483e463c" /><Relationship Type="http://schemas.openxmlformats.org/officeDocument/2006/relationships/slide" Target="/ppt/slides/slide43.xml" Id="Rb74e3f21ea5045a1" /><Relationship Type="http://schemas.openxmlformats.org/officeDocument/2006/relationships/slide" Target="/ppt/slides/slide44.xml" Id="R2faaccc897a34e24" /><Relationship Type="http://schemas.openxmlformats.org/officeDocument/2006/relationships/slide" Target="/ppt/slides/slide45.xml" Id="Rd0b1998b60804a62" /><Relationship Type="http://schemas.openxmlformats.org/officeDocument/2006/relationships/slide" Target="/ppt/slides/slide46.xml" Id="Rb006b62982df4774" /><Relationship Type="http://schemas.openxmlformats.org/officeDocument/2006/relationships/slide" Target="/ppt/slides/slide47.xml" Id="R7f0c50424c2d489f" /><Relationship Type="http://schemas.openxmlformats.org/officeDocument/2006/relationships/slide" Target="/ppt/slides/slide48.xml" Id="Rd5e0b647086040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55145f8b7f41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01bcb24b5642c5" /><Relationship Type="http://schemas.openxmlformats.org/officeDocument/2006/relationships/notesMaster" Target="/ppt/notesMasters/notesMaster1.xml" Id="R0cd92de31a4940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d6b1ab02d74f09" /><Relationship Type="http://schemas.openxmlformats.org/officeDocument/2006/relationships/notesMaster" Target="/ppt/notesMasters/notesMaster1.xml" Id="R710da6eb90394c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db7860be75477b" /><Relationship Type="http://schemas.openxmlformats.org/officeDocument/2006/relationships/notesMaster" Target="/ppt/notesMasters/notesMaster1.xml" Id="R0be498c9eca946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b2e447acde4189" /><Relationship Type="http://schemas.openxmlformats.org/officeDocument/2006/relationships/notesMaster" Target="/ppt/notesMasters/notesMaster1.xml" Id="Rd92647f16f814c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386ff9e7754e35" /><Relationship Type="http://schemas.openxmlformats.org/officeDocument/2006/relationships/notesMaster" Target="/ppt/notesMasters/notesMaster1.xml" Id="Rf57a67c5943141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5874cf4c164eb3" /><Relationship Type="http://schemas.openxmlformats.org/officeDocument/2006/relationships/notesMaster" Target="/ppt/notesMasters/notesMaster1.xml" Id="R2cb126e8b28340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4200615ad9247a8" /><Relationship Type="http://schemas.openxmlformats.org/officeDocument/2006/relationships/notesMaster" Target="/ppt/notesMasters/notesMaster1.xml" Id="Rfbcefefed4034f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c7b530822aa4b62" /><Relationship Type="http://schemas.openxmlformats.org/officeDocument/2006/relationships/notesMaster" Target="/ppt/notesMasters/notesMaster1.xml" Id="Rc0f9d9a52ebc43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0616c765194063" /><Relationship Type="http://schemas.openxmlformats.org/officeDocument/2006/relationships/notesMaster" Target="/ppt/notesMasters/notesMaster1.xml" Id="Rc822aa8bcd194d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84d82b923ad4108" /><Relationship Type="http://schemas.openxmlformats.org/officeDocument/2006/relationships/notesMaster" Target="/ppt/notesMasters/notesMaster1.xml" Id="Rdde548eb90b841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b304b8d63f4e69" /><Relationship Type="http://schemas.openxmlformats.org/officeDocument/2006/relationships/notesMaster" Target="/ppt/notesMasters/notesMaster1.xml" Id="R86cd971cc08d43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ab13dc6c4f470b" /><Relationship Type="http://schemas.openxmlformats.org/officeDocument/2006/relationships/notesMaster" Target="/ppt/notesMasters/notesMaster1.xml" Id="Rbaaf83e8723e43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aab8dbb531047ac" /><Relationship Type="http://schemas.openxmlformats.org/officeDocument/2006/relationships/notesMaster" Target="/ppt/notesMasters/notesMaster1.xml" Id="R1da8dcc1432944b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9c609b347e74b71" /><Relationship Type="http://schemas.openxmlformats.org/officeDocument/2006/relationships/notesMaster" Target="/ppt/notesMasters/notesMaster1.xml" Id="Re1e073180b4e4d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91215a8e444364" /><Relationship Type="http://schemas.openxmlformats.org/officeDocument/2006/relationships/notesMaster" Target="/ppt/notesMasters/notesMaster1.xml" Id="R2f7e0b16a7a841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1478b42ffd8489e" /><Relationship Type="http://schemas.openxmlformats.org/officeDocument/2006/relationships/notesMaster" Target="/ppt/notesMasters/notesMaster1.xml" Id="Rbc696fd42ef641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6e4900832d4274" /><Relationship Type="http://schemas.openxmlformats.org/officeDocument/2006/relationships/notesMaster" Target="/ppt/notesMasters/notesMaster1.xml" Id="R8ad2ecd3efc149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9eee02eefc44a55" /><Relationship Type="http://schemas.openxmlformats.org/officeDocument/2006/relationships/notesMaster" Target="/ppt/notesMasters/notesMaster1.xml" Id="R51765448050b4d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b07f1072314bdc" /><Relationship Type="http://schemas.openxmlformats.org/officeDocument/2006/relationships/notesMaster" Target="/ppt/notesMasters/notesMaster1.xml" Id="R1924a77d86704e4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b03c2c91c074adb" /><Relationship Type="http://schemas.openxmlformats.org/officeDocument/2006/relationships/notesMaster" Target="/ppt/notesMasters/notesMaster1.xml" Id="R36f3e3e1731641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8833a6d3fec43cc" /><Relationship Type="http://schemas.openxmlformats.org/officeDocument/2006/relationships/notesMaster" Target="/ppt/notesMasters/notesMaster1.xml" Id="R11ec6672512545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8666e6a24c0486b" /><Relationship Type="http://schemas.openxmlformats.org/officeDocument/2006/relationships/notesMaster" Target="/ppt/notesMasters/notesMaster1.xml" Id="R13dcc46638b2419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d5a8311f6354179" /><Relationship Type="http://schemas.openxmlformats.org/officeDocument/2006/relationships/notesMaster" Target="/ppt/notesMasters/notesMaster1.xml" Id="Rac16de3aed28468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67c250a6fe04749" /><Relationship Type="http://schemas.openxmlformats.org/officeDocument/2006/relationships/notesMaster" Target="/ppt/notesMasters/notesMaster1.xml" Id="Rd2ee8512d4d041e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2de32b9f31d4fba" /><Relationship Type="http://schemas.openxmlformats.org/officeDocument/2006/relationships/notesMaster" Target="/ppt/notesMasters/notesMaster1.xml" Id="R51cab43e60e44aa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890bee3e2364def" /><Relationship Type="http://schemas.openxmlformats.org/officeDocument/2006/relationships/notesMaster" Target="/ppt/notesMasters/notesMaster1.xml" Id="R06765ed35796475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ec724f24464cee" /><Relationship Type="http://schemas.openxmlformats.org/officeDocument/2006/relationships/notesMaster" Target="/ppt/notesMasters/notesMaster1.xml" Id="R97fb064b95b94f7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0419a18fe54424" /><Relationship Type="http://schemas.openxmlformats.org/officeDocument/2006/relationships/notesMaster" Target="/ppt/notesMasters/notesMaster1.xml" Id="Rbc5bdb00deae433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05527adb2e244f1" /><Relationship Type="http://schemas.openxmlformats.org/officeDocument/2006/relationships/notesMaster" Target="/ppt/notesMasters/notesMaster1.xml" Id="Rfac2ff6f5d6e4a5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87c03f7aaa04887" /><Relationship Type="http://schemas.openxmlformats.org/officeDocument/2006/relationships/notesMaster" Target="/ppt/notesMasters/notesMaster1.xml" Id="R8a71eac96e53483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4eec02fc0af4cd8" /><Relationship Type="http://schemas.openxmlformats.org/officeDocument/2006/relationships/notesMaster" Target="/ppt/notesMasters/notesMaster1.xml" Id="R7988aca4716a44e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82f9373bb084369" /><Relationship Type="http://schemas.openxmlformats.org/officeDocument/2006/relationships/notesMaster" Target="/ppt/notesMasters/notesMaster1.xml" Id="R29fdc62adbb44f0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78a81b019e14902" /><Relationship Type="http://schemas.openxmlformats.org/officeDocument/2006/relationships/notesMaster" Target="/ppt/notesMasters/notesMaster1.xml" Id="Rb33fdce5815b4ae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8538ab3d8274fe9" /><Relationship Type="http://schemas.openxmlformats.org/officeDocument/2006/relationships/notesMaster" Target="/ppt/notesMasters/notesMaster1.xml" Id="R07de916a414d420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0e2eab0c1bc407f" /><Relationship Type="http://schemas.openxmlformats.org/officeDocument/2006/relationships/notesMaster" Target="/ppt/notesMasters/notesMaster1.xml" Id="R5d6ac4ca6b49429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6cb6c8d36864e40" /><Relationship Type="http://schemas.openxmlformats.org/officeDocument/2006/relationships/notesMaster" Target="/ppt/notesMasters/notesMaster1.xml" Id="R3092ec278881435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acce86542834da5" /><Relationship Type="http://schemas.openxmlformats.org/officeDocument/2006/relationships/notesMaster" Target="/ppt/notesMasters/notesMaster1.xml" Id="R5a991130baaf43c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f31f80fcf514c0e" /><Relationship Type="http://schemas.openxmlformats.org/officeDocument/2006/relationships/notesMaster" Target="/ppt/notesMasters/notesMaster1.xml" Id="Rcf2e456cd7db46e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f9b6ceb78bb4d69" /><Relationship Type="http://schemas.openxmlformats.org/officeDocument/2006/relationships/notesMaster" Target="/ppt/notesMasters/notesMaster1.xml" Id="R40efb96ae33f424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8d57c0a193048bb" /><Relationship Type="http://schemas.openxmlformats.org/officeDocument/2006/relationships/notesMaster" Target="/ppt/notesMasters/notesMaster1.xml" Id="R317f0042a2564a1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ecb1e37d2ea409a" /><Relationship Type="http://schemas.openxmlformats.org/officeDocument/2006/relationships/notesMaster" Target="/ppt/notesMasters/notesMaster1.xml" Id="Rcc38681103c740c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839c7be4d7345a8" /><Relationship Type="http://schemas.openxmlformats.org/officeDocument/2006/relationships/notesMaster" Target="/ppt/notesMasters/notesMaster1.xml" Id="R87a78cac85d44b8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e5494b1b7924c8d" /><Relationship Type="http://schemas.openxmlformats.org/officeDocument/2006/relationships/notesMaster" Target="/ppt/notesMasters/notesMaster1.xml" Id="R08e18933b8c8406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427236c21344c2c" /><Relationship Type="http://schemas.openxmlformats.org/officeDocument/2006/relationships/notesMaster" Target="/ppt/notesMasters/notesMaster1.xml" Id="Rba88a70cf283452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4b5b8498a924421" /><Relationship Type="http://schemas.openxmlformats.org/officeDocument/2006/relationships/notesMaster" Target="/ppt/notesMasters/notesMaster1.xml" Id="Rf4c6ad72f59b409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0a56dba52cf4de8" /><Relationship Type="http://schemas.openxmlformats.org/officeDocument/2006/relationships/notesMaster" Target="/ppt/notesMasters/notesMaster1.xml" Id="R722ad6e8c70b42a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41bec94493545b1" /><Relationship Type="http://schemas.openxmlformats.org/officeDocument/2006/relationships/notesMaster" Target="/ppt/notesMasters/notesMaster1.xml" Id="R440a24fcf992417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4ab382594174667" /><Relationship Type="http://schemas.openxmlformats.org/officeDocument/2006/relationships/notesMaster" Target="/ppt/notesMasters/notesMaster1.xml" Id="Rf3055d22fac34a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3 minutos en esta diapositiva.</a:t>
            </a:r>
          </a:p>
          <a:p xmlns:a="http://schemas.openxmlformats.org/drawingml/2006/main">
            <a:r>
              <a:t/>
            </a:r>
          </a:p>
          <a:p xmlns:a="http://schemas.openxmlformats.org/drawingml/2006/main">
            <a:r>
              <a:t>Separar señal, fuente y carga en el esquema antes de mostrar el código.</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El ESP32 produce señales de mando; la etapa de potencia dirige energía hacia la carga. Un motor DC puede consumir corrientes muy superiores a las de un GPIO y generar perturbaciones al conmutar o cambiar de movimiento. Por eso no se conecta como si fuera otro LED. El banco del curso identifica fuente, driver, motor, referencia y señal. Cada elemento aparece en el esquema antes de ejecutar el programa.</a:t>
            </a:r>
          </a:p>
          <a:p xmlns:a="http://schemas.openxmlformats.org/drawingml/2006/main">
            <a:r>
              <a:t/>
            </a:r>
          </a:p>
          <a:p xmlns:a="http://schemas.openxmlformats.org/drawingml/2006/main">
            <a:r>
              <a:t>Elemento / Función / Evidencia que se busca</a:t>
            </a:r>
          </a:p>
          <a:p xmlns:a="http://schemas.openxmlformats.org/drawingml/2006/main">
            <a:r>
              <a:t>ESP32 / Generar la orden / Pin y configuración</a:t>
            </a:r>
          </a:p>
          <a:p xmlns:a="http://schemas.openxmlformats.org/drawingml/2006/main">
            <a:r>
              <a:t>Driver / Conmutar energía / Referencia y conexiones</a:t>
            </a:r>
          </a:p>
          <a:p xmlns:a="http://schemas.openxmlformats.org/drawingml/2006/main">
            <a:r>
              <a:t>Fuente / Aportar potencia / Condición de alimentación</a:t>
            </a:r>
          </a:p>
          <a:p xmlns:a="http://schemas.openxmlformats.org/drawingml/2006/main">
            <a:r>
              <a:t>Motor / Producir movimiento / Estado y respuesta</a:t>
            </a:r>
          </a:p>
          <a:p xmlns:a="http://schemas.openxmlformats.org/drawingml/2006/main">
            <a:r>
              <a:t/>
            </a:r>
          </a:p>
          <a:p xmlns:a="http://schemas.openxmlformats.org/drawingml/2006/main">
            <a:r>
              <a:t>El proyecto 15 del laboratorio aporta una base de control de dirección y PWM con L293D, pero al revisar la página su enlace de simulación está vacío y su imagen no se encuentra en la ruta publicada. El curso no depende de ese recurso ausente: aporta un ejemplo nuevo de mando de banco, una tabla de interfaz y una práctica virtual numérica. El montaje con motor se organiza con el material confirmado o en banco compartido.</a:t>
            </a:r>
          </a:p>
          <a:p xmlns:a="http://schemas.openxmlformats.org/drawingml/2006/main">
            <a:r>
              <a:t/>
            </a:r>
          </a:p>
          <a:p xmlns:a="http://schemas.openxmlformats.org/drawingml/2006/main">
            <a:r>
              <a:t>Un motor DC de escobillas no representa toda la electrónica de un motor BLDC de dron. El primero sirve aquí para ver la separación entre orden y potencia y para aprender medición y realimentación. El ESC de un BLDC cumple otra interfaz y controla sus fases. Se compara la arquitectura sin trasladar automáticamente conexiones ni parámetros de un dispositivo al otro.</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Elemento / Función / Evidencia que se busca</a:t>
            </a:r>
          </a:p>
          <a:p xmlns:a="http://schemas.openxmlformats.org/drawingml/2006/main">
            <a:r>
              <a:t>ESP32 / Generar la orden / Pin y configuración</a:t>
            </a:r>
          </a:p>
          <a:p xmlns:a="http://schemas.openxmlformats.org/drawingml/2006/main">
            <a:r>
              <a:t>Driver / Conmutar energía / Referencia y conexiones</a:t>
            </a:r>
          </a:p>
          <a:p xmlns:a="http://schemas.openxmlformats.org/drawingml/2006/main">
            <a:r>
              <a:t>Fuente / Aportar potencia / Condición de alimentación</a:t>
            </a:r>
          </a:p>
          <a:p xmlns:a="http://schemas.openxmlformats.org/drawingml/2006/main">
            <a:r>
              <a:t>Motor / Producir movimiento / Estado y respuesta</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5 minutos en esta diapositiva.</a:t>
            </a:r>
          </a:p>
          <a:p xmlns:a="http://schemas.openxmlformats.org/drawingml/2006/main">
            <a:r>
              <a:t/>
            </a:r>
          </a:p>
          <a:p xmlns:a="http://schemas.openxmlformats.org/drawingml/2006/main">
            <a:r>
              <a:t>El ESP32 produce señales de mando; la etapa de potencia dirige energía hacia la carga. Un motor DC puede consumir corrientes muy superiores a las de un GPIO y generar perturbaciones al conmutar o cambiar de movimiento. Por eso no se conecta como si fuera otro LED. El banco del curso identifica fuente, driver, motor, referencia y señal. Cada elemento aparece en el esquema antes de ejecutar el programa.</a:t>
            </a:r>
          </a:p>
          <a:p xmlns:a="http://schemas.openxmlformats.org/drawingml/2006/main">
            <a:r>
              <a:t/>
            </a:r>
          </a:p>
          <a:p xmlns:a="http://schemas.openxmlformats.org/drawingml/2006/main">
            <a:r>
              <a:t>Elemento / Función / Evidencia que se busca</a:t>
            </a:r>
          </a:p>
          <a:p xmlns:a="http://schemas.openxmlformats.org/drawingml/2006/main">
            <a:r>
              <a:t>ESP32 / Generar la orden / Pin y configuración</a:t>
            </a:r>
          </a:p>
          <a:p xmlns:a="http://schemas.openxmlformats.org/drawingml/2006/main">
            <a:r>
              <a:t>Driver / Conmutar energía / Referencia y conexiones</a:t>
            </a:r>
          </a:p>
          <a:p xmlns:a="http://schemas.openxmlformats.org/drawingml/2006/main">
            <a:r>
              <a:t>Fuente / Aportar potencia / Condición de alimentación</a:t>
            </a:r>
          </a:p>
          <a:p xmlns:a="http://schemas.openxmlformats.org/drawingml/2006/main">
            <a:r>
              <a:t>Motor / Producir movimiento / Estado y respuesta</a:t>
            </a:r>
          </a:p>
          <a:p xmlns:a="http://schemas.openxmlformats.org/drawingml/2006/main">
            <a:r>
              <a:t/>
            </a:r>
          </a:p>
          <a:p xmlns:a="http://schemas.openxmlformats.org/drawingml/2006/main">
            <a:r>
              <a:t>El proyecto 15 del laboratorio aporta una base de control de dirección y PWM con L293D, pero al revisar la página su enlace de simulación está vacío y su imagen no se encuentra en la ruta publicada. El curso no depende de ese recurso ausente: aporta un ejemplo nuevo de mando de banco, una tabla de interfaz y una práctica virtual numérica. El montaje con motor se organiza con el material confirmado o en banco compartido.</a:t>
            </a:r>
          </a:p>
          <a:p xmlns:a="http://schemas.openxmlformats.org/drawingml/2006/main">
            <a:r>
              <a:t/>
            </a:r>
          </a:p>
          <a:p xmlns:a="http://schemas.openxmlformats.org/drawingml/2006/main">
            <a:r>
              <a:t>Un motor DC de escobillas no representa toda la electrónica de un motor BLDC de dron. El primero sirve aquí para ver la separación entre orden y potencia y para aprender medición y realimentación. El ESC de un BLDC cumple otra interfaz y controla sus fases. Se compara la arquitectura sin trasladar automáticamente conexiones ni parámetros de un dispositivo al otro.</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Un puente H permite aplicar distintas condiciones a los extremos de un motor. Las entradas de dirección y la habilitación deben interpretarse con la hoja del driver concreto. Deshabilitar, dejar libre y frenar no son necesariamente el mismo estado eléctrico. La clase comienza con movimiento en un solo sentido y parada de mando, de manera que la observación sea fácil de relacionar con las señales.</a:t>
            </a:r>
          </a:p>
          <a:p xmlns:a="http://schemas.openxmlformats.org/drawingml/2006/main">
            <a:r>
              <a:t/>
            </a:r>
          </a:p>
          <a:p xmlns:a="http://schemas.openxmlformats.org/drawingml/2006/main">
            <a:r>
              <a:t>Señal / GPIO clásico / Papel</a:t>
            </a:r>
          </a:p>
          <a:p xmlns:a="http://schemas.openxmlformats.org/drawingml/2006/main">
            <a:r>
              <a:t>ENABLE / 25 / PWM de mando</a:t>
            </a:r>
          </a:p>
          <a:p xmlns:a="http://schemas.openxmlformats.org/drawingml/2006/main">
            <a:r>
              <a:t>IN1 / 26 / Dirección del banco</a:t>
            </a:r>
          </a:p>
          <a:p xmlns:a="http://schemas.openxmlformats.org/drawingml/2006/main">
            <a:r>
              <a:t>IN2 / 27 / Dirección del banco</a:t>
            </a:r>
          </a:p>
          <a:p xmlns:a="http://schemas.openxmlformats.org/drawingml/2006/main">
            <a:r>
              <a:t>GND / Referencia / Según esquema del driver</a:t>
            </a:r>
          </a:p>
          <a:p xmlns:a="http://schemas.openxmlformats.org/drawingml/2006/main">
            <a:r>
              <a:t/>
            </a:r>
          </a:p>
          <a:p xmlns:a="http://schemas.openxmlformats.org/drawingml/2006/main">
            <a:r>
              <a:t>En el L293D se distingue la alimentación lógica VCC1 de la de potencia VCC2. La hoja de TI especifica condiciones de operación; no respalda alimentar VCC1 con 3,3 V como propone una explicación del sitio. El banco utiliza la alimentación lógica que exige el componente y revisa por separado la compatibilidad de sus entradas con el ESP32. Separar alimentaciones de señal y potencia no constituye por sí solo aislamiento galvánico.</a:t>
            </a:r>
          </a:p>
          <a:p xmlns:a="http://schemas.openxmlformats.org/drawingml/2006/main">
            <a:r>
              <a:t/>
            </a:r>
          </a:p>
          <a:p xmlns:a="http://schemas.openxmlformats.org/drawingml/2006/main">
            <a:r>
              <a:t>La fuente entrega una tensión, pero en los bornes del motor se observa menos durante el movimiento. ¿La diferencia demuestra que el ADC falla?</a:t>
            </a:r>
          </a:p>
          <a:p xmlns:a="http://schemas.openxmlformats.org/drawingml/2006/main">
            <a:r>
              <a:t>No. Primero se identifica qué se midió y se considera la caída de tensión en la etapa de potencia y en las conexiones bajo esa carga. El circuito se estudia antes de atribuir el síntoma a otro subsistema.</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Señal / GPIO clásico / Papel</a:t>
            </a:r>
          </a:p>
          <a:p xmlns:a="http://schemas.openxmlformats.org/drawingml/2006/main">
            <a:r>
              <a:t>ENABLE / 25 / PWM de mando</a:t>
            </a:r>
          </a:p>
          <a:p xmlns:a="http://schemas.openxmlformats.org/drawingml/2006/main">
            <a:r>
              <a:t>IN1 / 26 / Dirección del banco</a:t>
            </a:r>
          </a:p>
          <a:p xmlns:a="http://schemas.openxmlformats.org/drawingml/2006/main">
            <a:r>
              <a:t>IN2 / 27 / Dirección del banco</a:t>
            </a:r>
          </a:p>
          <a:p xmlns:a="http://schemas.openxmlformats.org/drawingml/2006/main">
            <a:r>
              <a:t>GND / Referencia / Según esquema del driver</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La fuente entrega una tensión, pero en los bornes del motor se observa menos durante el movimiento. ¿La diferencia demuestra que el ADC falla?</a:t>
            </a:r>
          </a:p>
          <a:p xmlns:a="http://schemas.openxmlformats.org/drawingml/2006/main">
            <a:r>
              <a:t>No. Primero se identifica qué se midió y se considera la caída de tensión en la etapa de potencia y en las conexiones bajo esa carga. El circuito se estudia antes de atribuir el síntoma a otro subsistema.</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La misma orden PWM no garantiza la misma velocidad con distintas cargas, tensiones o condiciones de arranque. Puede existir una zona en la que el motor aún no inicia movimiento y otra en la que sí continúa girando después de haber arrancado. Para estudiar esa respuesta se conservan fuente, montaje y sentido. Primero registramos el efecto observado; la próxima clase añadirá un método explícito de medición de RPM.</a:t>
            </a:r>
          </a:p>
          <a:p xmlns:a="http://schemas.openxmlformats.org/drawingml/2006/main">
            <a:r>
              <a:t/>
            </a:r>
          </a:p>
          <a:p xmlns:a="http://schemas.openxmlformats.org/drawingml/2006/main">
            <a:r>
              <a:t>Mando / % / Velocidad / RPM / Condición</a:t>
            </a:r>
          </a:p>
          <a:p xmlns:a="http://schemas.openxmlformats.org/drawingml/2006/main">
            <a:r>
              <a:t>0 / 0 / Modelo didáctico</a:t>
            </a:r>
          </a:p>
          <a:p xmlns:a="http://schemas.openxmlformats.org/drawingml/2006/main">
            <a:r>
              <a:t>20 / 80 / Modelo didáctico</a:t>
            </a:r>
          </a:p>
          <a:p xmlns:a="http://schemas.openxmlformats.org/drawingml/2006/main">
            <a:r>
              <a:t>60 / 570 / Modelo didáctico</a:t>
            </a:r>
          </a:p>
          <a:p xmlns:a="http://schemas.openxmlformats.org/drawingml/2006/main">
            <a:r>
              <a:t>100 / 950 / Modelo didáctico</a:t>
            </a:r>
          </a:p>
          <a:p xmlns:a="http://schemas.openxmlformats.org/drawingml/2006/main">
            <a:r>
              <a:t/>
            </a:r>
          </a:p>
          <a:p xmlns:a="http://schemas.openxmlformats.org/drawingml/2006/main">
            <a:r>
              <a:t>En el caso sintético, pasar de 20% a 60% cambia de 80 a 570 RPM. ¿Puedes anunciar una ley universal PWM–RPM?</a:t>
            </a:r>
          </a:p>
          <a:p xmlns:a="http://schemas.openxmlformats.org/drawingml/2006/main">
            <a:r>
              <a:t>No. La tabla describe el caso declarado y muestra que mando y respuesta son magnitudes diferentes. Para un motor físico se requiere medir bajo condiciones identificadas.</a:t>
            </a:r>
          </a:p>
          <a:p xmlns:a="http://schemas.openxmlformats.org/drawingml/2006/main">
            <a:r>
              <a:t/>
            </a:r>
          </a:p>
          <a:p xmlns:a="http://schemas.openxmlformats.org/drawingml/2006/main">
            <a:r>
              <a:t>La denominación “control de velocidad” se utiliza a veces para mover un potenciómetro que cambia PWM. En esta fase el programa controla el mando, no verifica velocidad. Ese lenguaje se precisa al cerrar el lazo. La distinción será visible cuando aparezca una perturbación: el potenciómetro puede conservar su posición mientras la velocidad cambia.</a:t>
            </a:r>
          </a:p>
          <a:p xmlns:a="http://schemas.openxmlformats.org/drawingml/2006/main">
            <a:r>
              <a:t/>
            </a:r>
          </a:p>
          <a:p xmlns:a="http://schemas.openxmlformats.org/drawingml/2006/main">
            <a:r>
              <a:t>Datos sintéticos del caso de clase. El banco real debe caracterizarse con su fuente, motor, driver y carga.</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Mando / % / Velocidad / RPM / Condición</a:t>
            </a:r>
          </a:p>
          <a:p xmlns:a="http://schemas.openxmlformats.org/drawingml/2006/main">
            <a:r>
              <a:t>0 / 0 / Modelo didáctico</a:t>
            </a:r>
          </a:p>
          <a:p xmlns:a="http://schemas.openxmlformats.org/drawingml/2006/main">
            <a:r>
              <a:t>20 / 80 / Modelo didáctico</a:t>
            </a:r>
          </a:p>
          <a:p xmlns:a="http://schemas.openxmlformats.org/drawingml/2006/main">
            <a:r>
              <a:t>60 / 570 / Modelo didáctico</a:t>
            </a:r>
          </a:p>
          <a:p xmlns:a="http://schemas.openxmlformats.org/drawingml/2006/main">
            <a:r>
              <a:t>100 / 950 / Modelo didáctico</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5 minutos en esta diapositiva.</a:t>
            </a:r>
          </a:p>
          <a:p xmlns:a="http://schemas.openxmlformats.org/drawingml/2006/main">
            <a:r>
              <a:t/>
            </a:r>
          </a:p>
          <a:p xmlns:a="http://schemas.openxmlformats.org/drawingml/2006/main">
            <a:r>
              <a:t>Datos sintéticos del caso de clase. El banco real debe caracterizarse con su fuente, motor, driver y carga.</a:t>
            </a:r>
          </a:p>
          <a:p xmlns:a="http://schemas.openxmlformats.org/drawingml/2006/main">
            <a:r>
              <a:t>La misma orden PWM no garantiza la misma velocidad con distintas cargas, tensiones o condiciones de arranque. Puede existir una zona en la que el motor aún no inicia movimiento y otra en la que sí continúa girando después de haber arrancado. Para estudiar esa respuesta se conservan fuente, montaje y sentido. Primero registramos el efecto observado; la próxima clase añadirá un método explícito de medición de RPM.</a:t>
            </a:r>
          </a:p>
          <a:p xmlns:a="http://schemas.openxmlformats.org/drawingml/2006/main">
            <a:r>
              <a:t/>
            </a:r>
          </a:p>
          <a:p xmlns:a="http://schemas.openxmlformats.org/drawingml/2006/main">
            <a:r>
              <a:t>Mando / % / Velocidad / RPM / Condición</a:t>
            </a:r>
          </a:p>
          <a:p xmlns:a="http://schemas.openxmlformats.org/drawingml/2006/main">
            <a:r>
              <a:t>0 / 0 / Modelo didáctico</a:t>
            </a:r>
          </a:p>
          <a:p xmlns:a="http://schemas.openxmlformats.org/drawingml/2006/main">
            <a:r>
              <a:t>20 / 80 / Modelo didáctico</a:t>
            </a:r>
          </a:p>
          <a:p xmlns:a="http://schemas.openxmlformats.org/drawingml/2006/main">
            <a:r>
              <a:t>60 / 570 / Modelo didáctico</a:t>
            </a:r>
          </a:p>
          <a:p xmlns:a="http://schemas.openxmlformats.org/drawingml/2006/main">
            <a:r>
              <a:t>100 / 950 / Modelo didáctico</a:t>
            </a:r>
          </a:p>
          <a:p xmlns:a="http://schemas.openxmlformats.org/drawingml/2006/main">
            <a:r>
              <a:t/>
            </a:r>
          </a:p>
          <a:p xmlns:a="http://schemas.openxmlformats.org/drawingml/2006/main">
            <a:r>
              <a:t>En el caso sintético, pasar de 20% a 60% cambia de 80 a 570 RPM. ¿Puedes anunciar una ley universal PWM–RPM?</a:t>
            </a:r>
          </a:p>
          <a:p xmlns:a="http://schemas.openxmlformats.org/drawingml/2006/main">
            <a:r>
              <a:t>No. La tabla describe el caso declarado y muestra que mando y respuesta son magnitudes diferentes. Para un motor físico se requiere medir bajo condiciones identificadas.</a:t>
            </a:r>
          </a:p>
          <a:p xmlns:a="http://schemas.openxmlformats.org/drawingml/2006/main">
            <a:r>
              <a:t/>
            </a:r>
          </a:p>
          <a:p xmlns:a="http://schemas.openxmlformats.org/drawingml/2006/main">
            <a:r>
              <a:t>La denominación “control de velocidad” se utiliza a veces para mover un potenciómetro que cambia PWM. En esta fase el programa controla el mando, no verifica velocidad. Ese lenguaje se precisa al cerrar el lazo. La distinción será visible cuando aparezca una perturbación: el potenciómetro puede conservar su posición mientras la velocidad cambia.</a:t>
            </a:r>
          </a:p>
          <a:p xmlns:a="http://schemas.openxmlformats.org/drawingml/2006/main">
            <a:r>
              <a:t/>
            </a:r>
          </a:p>
          <a:p xmlns:a="http://schemas.openxmlformats.org/drawingml/2006/main">
            <a:r>
              <a:t>Datos sintéticos del caso de clase. El banco real debe caracterizarse con su fuente, motor, driver y carga.</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 El mando inicia en cero.</a:t>
            </a:r>
          </a:p>
          <a:p xmlns:a="http://schemas.openxmlformats.org/drawingml/2006/main">
            <a:r>
              <a:t>if (command == '+') duty = min(160, duty+20);</a:t>
            </a:r>
          </a:p>
          <a:p xmlns:a="http://schemas.openxmlformats.org/drawingml/2006/main">
            <a:r>
              <a:t>if (command == 's') duty = 0;</a:t>
            </a:r>
          </a:p>
          <a:p xmlns:a="http://schemas.openxmlformats.org/drawingml/2006/main">
            <a:r>
              <a:t>if (uint32_t(now-commandAt) &gt; 2000) duty = 0;</a:t>
            </a:r>
          </a:p>
          <a:p xmlns:a="http://schemas.openxmlformats.org/drawingml/2006/main">
            <a:r>
              <a:t>motor.write(duty);</a:t>
            </a:r>
          </a:p>
          <a:p xmlns:a="http://schemas.openxmlformats.org/drawingml/2006/main">
            <a:r>
              <a:t/>
            </a:r>
          </a:p>
          <a:p xmlns:a="http://schemas.openxmlformats.org/drawingml/2006/main">
            <a:r>
              <a:t>El ejemplo completo inicia con el driver deshabilitado y acepta órdenes por el monitor serie. El mando de aula se limita y vence si no se renueva. Ese comportamiento se documenta para evitar interpretar una parada temporal como un fallo del driver. La versión incluida trabaja en un solo sentido: el alumno estudia la tabla del componente antes de ampliar una inversión.</a:t>
            </a:r>
          </a:p>
          <a:p xmlns:a="http://schemas.openxmlformats.org/drawingml/2006/main">
            <a:r>
              <a:t/>
            </a:r>
          </a:p>
          <a:p xmlns:a="http://schemas.openxmlformats.org/drawingml/2006/main">
            <a:r>
              <a:t>La frecuencia de PWM es una elección de diseño del banco. No se enseña que 5 kHz sea una frecuencia “ideal” universal para L293D. El efecto audible, las pérdidas de conmutación y el comportamiento del conjunto pueden cambiar con la frecuencia. El docente elige una condición de referencia compatible con su montaje y la mantiene durante la primera comparación. Cambiar frecuencia y carga simultáneamente no produce una prueba fácil de interpretar.</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 El mando inicia en cero.</a:t>
            </a:r>
          </a:p>
          <a:p xmlns:a="http://schemas.openxmlformats.org/drawingml/2006/main">
            <a:r>
              <a:t>if (command == '+') duty = min(160, duty+20);</a:t>
            </a:r>
          </a:p>
          <a:p xmlns:a="http://schemas.openxmlformats.org/drawingml/2006/main">
            <a:r>
              <a:t>if (command == 's') duty = 0;</a:t>
            </a:r>
          </a:p>
          <a:p xmlns:a="http://schemas.openxmlformats.org/drawingml/2006/main">
            <a:r>
              <a:t>if (uint32_t(now-commandAt) &gt; 2000) duty = 0;</a:t>
            </a:r>
          </a:p>
          <a:p xmlns:a="http://schemas.openxmlformats.org/drawingml/2006/main">
            <a:r>
              <a:t>motor.write(duty);</a:t>
            </a:r>
          </a:p>
          <a:p xmlns:a="http://schemas.openxmlformats.org/drawingml/2006/main">
            <a:r>
              <a:t>Explicar entrada, estado, salida y momento de actualización.</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5 minutos en esta diapositiva.</a:t>
            </a:r>
          </a:p>
          <a:p xmlns:a="http://schemas.openxmlformats.org/drawingml/2006/main">
            <a:r>
              <a:t/>
            </a:r>
          </a:p>
          <a:p xmlns:a="http://schemas.openxmlformats.org/drawingml/2006/main">
            <a:r>
              <a:t>// El mando inicia en cero.</a:t>
            </a:r>
          </a:p>
          <a:p xmlns:a="http://schemas.openxmlformats.org/drawingml/2006/main">
            <a:r>
              <a:t>if (command == '+') duty = min(160, duty+20);</a:t>
            </a:r>
          </a:p>
          <a:p xmlns:a="http://schemas.openxmlformats.org/drawingml/2006/main">
            <a:r>
              <a:t>if (command == 's') duty = 0;</a:t>
            </a:r>
          </a:p>
          <a:p xmlns:a="http://schemas.openxmlformats.org/drawingml/2006/main">
            <a:r>
              <a:t>if (uint32_t(now-commandAt) &gt; 2000) duty = 0;</a:t>
            </a:r>
          </a:p>
          <a:p xmlns:a="http://schemas.openxmlformats.org/drawingml/2006/main">
            <a:r>
              <a:t>motor.write(duty);</a:t>
            </a:r>
          </a:p>
          <a:p xmlns:a="http://schemas.openxmlformats.org/drawingml/2006/main">
            <a:r>
              <a:t/>
            </a:r>
          </a:p>
          <a:p xmlns:a="http://schemas.openxmlformats.org/drawingml/2006/main">
            <a:r>
              <a:t>El ejemplo completo inicia con el driver deshabilitado y acepta órdenes por el monitor serie. El mando de aula se limita y vence si no se renueva. Ese comportamiento se documenta para evitar interpretar una parada temporal como un fallo del driver. La versión incluida trabaja en un solo sentido: el alumno estudia la tabla del componente antes de ampliar una inversión.</a:t>
            </a:r>
          </a:p>
          <a:p xmlns:a="http://schemas.openxmlformats.org/drawingml/2006/main">
            <a:r>
              <a:t/>
            </a:r>
          </a:p>
          <a:p xmlns:a="http://schemas.openxmlformats.org/drawingml/2006/main">
            <a:r>
              <a:t>La frecuencia de PWM es una elección de diseño del banco. No se enseña que 5 kHz sea una frecuencia “ideal” universal para L293D. El efecto audible, las pérdidas de conmutación y el comportamiento del conjunto pueden cambiar con la frecuencia. El docente elige una condición de referencia compatible con su montaje y la mantiene durante la primera comparación. Cambiar frecuencia y carga simultáneamente no produce una prueba fácil de interpretar.</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Presenta el esquema de la etapa y señala por dónde circula la energía del motor.</a:t>
            </a:r>
          </a:p>
          <a:p xmlns:a="http://schemas.openxmlformats.org/drawingml/2006/main">
            <a:r>
              <a:t>Comprueba alimentación lógica, alimentación de potencia e interfaz del componente.</a:t>
            </a:r>
          </a:p>
          <a:p xmlns:a="http://schemas.openxmlformats.org/drawingml/2006/main">
            <a:r>
              <a:t>Ejecuta c09_motor primero con la salida observada y sin una carga no revisada.</a:t>
            </a:r>
          </a:p>
          <a:p xmlns:a="http://schemas.openxmlformats.org/drawingml/2006/main">
            <a:r>
              <a:t>En el banco docente, ordena incrementos pequeños dentro del límite previsto y observa el inicio de movimiento.</a:t>
            </a:r>
          </a:p>
          <a:p xmlns:a="http://schemas.openxmlformats.org/drawingml/2006/main">
            <a:r>
              <a:t>Comprueba parada por orden y vencimiento del mando.</a:t>
            </a:r>
          </a:p>
          <a:p xmlns:a="http://schemas.openxmlformats.org/drawingml/2006/main">
            <a:r>
              <a:t>Registra configuración, orden, tensión observada y descripción del movimiento.</a:t>
            </a:r>
          </a:p>
          <a:p xmlns:a="http://schemas.openxmlformats.org/drawingml/2006/main">
            <a:r>
              <a:t>Prepara qué variable y qué sensor faltan para informar RPM.</a:t>
            </a:r>
          </a:p>
          <a:p xmlns:a="http://schemas.openxmlformats.org/drawingml/2006/main">
            <a:r>
              <a:t/>
            </a:r>
          </a:p>
          <a:p xmlns:a="http://schemas.openxmlformats.org/drawingml/2006/main">
            <a:r>
              <a:t>La comparación se realiza con motor de baja tensión sujeto en el banco y bajo el procedimiento docente. El alumno sin motor puede estudiar la señal de habilitación y resolver los registros sintéticos; la evidencia del ensayo físico queda a cargo del equipo que lo ejecuta. El propósito común es explicar la cadena completa, no afirmar que un movimiento visto en pantalla valida corriente o temperatura del hardware.</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Presenta el esquema de la etapa y señala por dónde circula la energía del motor.</a:t>
            </a:r>
          </a:p>
          <a:p xmlns:a="http://schemas.openxmlformats.org/drawingml/2006/main">
            <a:r>
              <a:t>Comprueba alimentación lógica, alimentación de potencia e interfaz del componente.</a:t>
            </a:r>
          </a:p>
          <a:p xmlns:a="http://schemas.openxmlformats.org/drawingml/2006/main">
            <a:r>
              <a:t>Ejecuta c09_motor primero con la salida observada y sin una carga no revisada.</a:t>
            </a:r>
          </a:p>
          <a:p xmlns:a="http://schemas.openxmlformats.org/drawingml/2006/main">
            <a:r>
              <a:t>En el banco docente, ordena incrementos pequeños dentro del límite previsto y observa el inicio de movimiento.</a:t>
            </a:r>
          </a:p>
          <a:p xmlns:a="http://schemas.openxmlformats.org/drawingml/2006/main">
            <a:r>
              <a:t>Comprueba parada por orden y vencimiento del mando.</a:t>
            </a:r>
          </a:p>
          <a:p xmlns:a="http://schemas.openxmlformats.org/drawingml/2006/main">
            <a:r>
              <a:t>Registra configuración, orden, tensión observada y descripción del movimiento.</a:t>
            </a:r>
          </a:p>
          <a:p xmlns:a="http://schemas.openxmlformats.org/drawingml/2006/main">
            <a:r>
              <a:t>Prepara qué variable y qué sensor faltan para informar RPM.</a:t>
            </a:r>
          </a:p>
          <a:p xmlns:a="http://schemas.openxmlformats.org/drawingml/2006/main">
            <a:r>
              <a:t/>
            </a:r>
          </a:p>
          <a:p xmlns:a="http://schemas.openxmlformats.org/drawingml/2006/main">
            <a:r>
              <a:t>La comparación se realiza con motor de baja tensión sujeto en el banco y bajo el procedimiento docente. El alumno sin motor puede estudiar la señal de habilitación y resolver los registros sintéticos; la evidencia del ensayo físico queda a cargo del equipo que lo ejecuta. El propósito común es explicar la cadena completa, no afirmar que un movimiento visto en pantalla valida corriente o temperatura del hardware.</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5 minutos en esta diapositiva.</a:t>
            </a:r>
          </a:p>
          <a:p xmlns:a="http://schemas.openxmlformats.org/drawingml/2006/main">
            <a:r>
              <a:t/>
            </a:r>
          </a:p>
          <a:p xmlns:a="http://schemas.openxmlformats.org/drawingml/2006/main">
            <a:r>
              <a:t>Presenta el esquema de la etapa y señala por dónde circula la energía del motor.</a:t>
            </a:r>
          </a:p>
          <a:p xmlns:a="http://schemas.openxmlformats.org/drawingml/2006/main">
            <a:r>
              <a:t>Comprueba alimentación lógica, alimentación de potencia e interfaz del componente.</a:t>
            </a:r>
          </a:p>
          <a:p xmlns:a="http://schemas.openxmlformats.org/drawingml/2006/main">
            <a:r>
              <a:t>Ejecuta c09_motor primero con la salida observada y sin una carga no revisada.</a:t>
            </a:r>
          </a:p>
          <a:p xmlns:a="http://schemas.openxmlformats.org/drawingml/2006/main">
            <a:r>
              <a:t>En el banco docente, ordena incrementos pequeños dentro del límite previsto y observa el inicio de movimiento.</a:t>
            </a:r>
          </a:p>
          <a:p xmlns:a="http://schemas.openxmlformats.org/drawingml/2006/main">
            <a:r>
              <a:t>Comprueba parada por orden y vencimiento del mando.</a:t>
            </a:r>
          </a:p>
          <a:p xmlns:a="http://schemas.openxmlformats.org/drawingml/2006/main">
            <a:r>
              <a:t>Registra configuración, orden, tensión observada y descripción del movimiento.</a:t>
            </a:r>
          </a:p>
          <a:p xmlns:a="http://schemas.openxmlformats.org/drawingml/2006/main">
            <a:r>
              <a:t>Prepara qué variable y qué sensor faltan para informar RPM.</a:t>
            </a:r>
          </a:p>
          <a:p xmlns:a="http://schemas.openxmlformats.org/drawingml/2006/main">
            <a:r>
              <a:t>Verificar un paso antes de seguir.</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Sistema / Interfaz de potencia / Qué se aprende aquí</a:t>
            </a:r>
          </a:p>
          <a:p xmlns:a="http://schemas.openxmlformats.org/drawingml/2006/main">
            <a:r>
              <a:t>DC de escobillas / Puente H o etapa adecuada / Mando y energía</a:t>
            </a:r>
          </a:p>
          <a:p xmlns:a="http://schemas.openxmlformats.org/drawingml/2006/main">
            <a:r>
              <a:t>Servo de posición / Control interno propio / Pulso y posición</a:t>
            </a:r>
          </a:p>
          <a:p xmlns:a="http://schemas.openxmlformats.org/drawingml/2006/main">
            <a:r>
              <a:t>BLDC con ESC / Conmutación electrónica / Cadena de interfaces</a:t>
            </a:r>
          </a:p>
          <a:p xmlns:a="http://schemas.openxmlformats.org/drawingml/2006/main">
            <a:r>
              <a:t/>
            </a:r>
          </a:p>
          <a:p xmlns:a="http://schemas.openxmlformats.org/drawingml/2006/main">
            <a:r>
              <a:t>Para una carga mecánica auxiliar de UAV, elegir el actuador empieza por la función: posicionar un soporte, accionar una pieza o sostener una velocidad. El tipo de motor y la información que entrega su sistema cambian la arquitectura. En lugar de escoger por apariencia, el equipo escribe qué orden recibe y qué observación necesitaría para verificar su función.</a:t>
            </a:r>
          </a:p>
          <a:p xmlns:a="http://schemas.openxmlformats.org/drawingml/2006/main">
            <a:r>
              <a:t/>
            </a:r>
          </a:p>
          <a:p xmlns:a="http://schemas.openxmlformats.org/drawingml/2006/main">
            <a:r>
              <a:t>Investiga en la hoja del driver el nombre y la condición de cada alimentación. Compara luego un estado deshabilitado con uno de frenado según su tabla funcional. Describe la diferencia sin generalizarla a todos los puentes H. El siguiente paso consiste en obtener una medida de movimiento cuya unidad y referencia podamos defender.</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4 minutos en esta diapositiva.</a:t>
            </a:r>
          </a:p>
          <a:p xmlns:a="http://schemas.openxmlformats.org/drawingml/2006/main">
            <a:r>
              <a:t/>
            </a:r>
          </a:p>
          <a:p xmlns:a="http://schemas.openxmlformats.org/drawingml/2006/main">
            <a:r>
              <a:t>Sistema / Interfaz de potencia / Qué se aprende aquí</a:t>
            </a:r>
          </a:p>
          <a:p xmlns:a="http://schemas.openxmlformats.org/drawingml/2006/main">
            <a:r>
              <a:t>DC de escobillas / Puente H o etapa adecuada / Mando y energía</a:t>
            </a:r>
          </a:p>
          <a:p xmlns:a="http://schemas.openxmlformats.org/drawingml/2006/main">
            <a:r>
              <a:t>Servo de posición / Control interno propio / Pulso y posición</a:t>
            </a:r>
          </a:p>
          <a:p xmlns:a="http://schemas.openxmlformats.org/drawingml/2006/main">
            <a:r>
              <a:t>BLDC con ESC / Conmutación electrónica / Cadena de interfaces</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5 minutos en esta diapositiva.</a:t>
            </a:r>
          </a:p>
          <a:p xmlns:a="http://schemas.openxmlformats.org/drawingml/2006/main">
            <a:r>
              <a:t/>
            </a:r>
          </a:p>
          <a:p xmlns:a="http://schemas.openxmlformats.org/drawingml/2006/main">
            <a:r>
              <a:t>Sistema / Interfaz de potencia / Qué se aprende aquí</a:t>
            </a:r>
          </a:p>
          <a:p xmlns:a="http://schemas.openxmlformats.org/drawingml/2006/main">
            <a:r>
              <a:t>DC de escobillas / Puente H o etapa adecuada / Mando y energía</a:t>
            </a:r>
          </a:p>
          <a:p xmlns:a="http://schemas.openxmlformats.org/drawingml/2006/main">
            <a:r>
              <a:t>Servo de posición / Control interno propio / Pulso y posición</a:t>
            </a:r>
          </a:p>
          <a:p xmlns:a="http://schemas.openxmlformats.org/drawingml/2006/main">
            <a:r>
              <a:t>BLDC con ESC / Conmutación electrónica / Cadena de interfaces</a:t>
            </a:r>
          </a:p>
          <a:p xmlns:a="http://schemas.openxmlformats.org/drawingml/2006/main">
            <a:r>
              <a:t/>
            </a:r>
          </a:p>
          <a:p xmlns:a="http://schemas.openxmlformats.org/drawingml/2006/main">
            <a:r>
              <a:t>Para una carga mecánica auxiliar de UAV, elegir el actuador empieza por la función: posicionar un soporte, accionar una pieza o sostener una velocidad. El tipo de motor y la información que entrega su sistema cambian la arquitectura. En lugar de escoger por apariencia, el equipo escribe qué orden recibe y qué observación necesitaría para verificar su función.</a:t>
            </a:r>
          </a:p>
          <a:p xmlns:a="http://schemas.openxmlformats.org/drawingml/2006/main">
            <a:r>
              <a:t/>
            </a:r>
          </a:p>
          <a:p xmlns:a="http://schemas.openxmlformats.org/drawingml/2006/main">
            <a:r>
              <a:t>Investiga en la hoja del driver el nombre y la condición de cada alimentación. Compara luego un estado deshabilitado con uno de frenado según su tabla funcional. Describe la diferencia sin generalizarla a todos los puentes H. El siguiente paso consiste en obtener una medida de movimiento cuya unidad y referencia podamos defender.</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12 minutos en esta diapositiva.</a:t>
            </a:r>
          </a:p>
          <a:p xmlns:a="http://schemas.openxmlformats.org/drawingml/2006/main">
            <a:r>
              <a:t/>
            </a:r>
          </a:p>
          <a:p xmlns:a="http://schemas.openxmlformats.org/drawingml/2006/main">
            <a:r>
              <a:t>Separar señal, fuente y carga en el esquema antes de mostrar el código.</a:t>
            </a:r>
          </a:p>
          <a:p xmlns:a="http://schemas.openxmlformats.org/drawingml/2006/main">
            <a:r>
              <a:t>Revisar las alimentaciones de la hoja del driver.</a:t>
            </a:r>
          </a:p>
          <a:p xmlns:a="http://schemas.openxmlformats.org/drawingml/2006/main">
            <a:r>
              <a:t>Comparar orden PWM y respuesta del banco o del caso sintético.</a:t>
            </a:r>
          </a:p>
          <a:p xmlns:a="http://schemas.openxmlformats.org/drawingml/2006/main">
            <a:r>
              <a:t>Identificar qué falta para hablar de RPM medidas.</a:t>
            </a:r>
          </a:p>
          <a:p xmlns:a="http://schemas.openxmlformats.org/drawingml/2006/main">
            <a:r>
              <a:t>Rotar código, medida y registro.</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10 minutos en esta diapositiva.</a:t>
            </a:r>
          </a:p>
          <a:p xmlns:a="http://schemas.openxmlformats.org/drawingml/2006/main">
            <a:r>
              <a:t/>
            </a:r>
          </a:p>
          <a:p xmlns:a="http://schemas.openxmlformats.org/drawingml/2006/main">
            <a:r>
              <a:t>La cadena controlador, etapa de potencia y motor permite entender la arquitectura de propulsión y de mecanismos auxiliares de un UAV.</a:t>
            </a:r>
          </a:p>
          <a:p xmlns:a="http://schemas.openxmlformats.org/drawingml/2006/main">
            <a:r>
              <a:t>Esquema de potencia, registro de mando y explicación de la medida que falta.</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Motores y etapa de potencia: la orden no es la energía.</a:t>
            </a:r>
          </a:p>
          <a:p xmlns:a="http://schemas.openxmlformats.org/drawingml/2006/main">
            <a:r>
              <a:t>En línea, 2 horas. Núcleo de explicación: 5 minutos en esta diapositiva.</a:t>
            </a:r>
          </a:p>
          <a:p xmlns:a="http://schemas.openxmlformats.org/drawingml/2006/main">
            <a:r>
              <a:t/>
            </a:r>
          </a:p>
          <a:p xmlns:a="http://schemas.openxmlformats.org/drawingml/2006/main">
            <a:r>
              <a:t>Esquema de potencia, registro de mando y explicación de la medida que falta.</a:t>
            </a:r>
          </a:p>
          <a:p xmlns:a="http://schemas.openxmlformats.org/drawingml/2006/main">
            <a:r>
              <a:t/>
            </a:r>
          </a:p>
          <a:p xmlns:a="http://schemas.openxmlformats.org/drawingml/2006/main">
            <a:r>
              <a:t>Objetivo: Reconocer un driver y caracterizar un motor DC de banco sin confundir PWM con velocidad medida.</a:t>
            </a:r>
          </a:p>
          <a:p xmlns:a="http://schemas.openxmlformats.org/drawingml/2006/main">
            <a:r>
              <a:t>Aplicación: La cadena controlador, etapa de potencia y motor permite entender la arquitectura de propulsión y de mecanismos auxiliares de un UAV.</a:t>
            </a:r>
          </a:p>
          <a:p xmlns:a="http://schemas.openxmlformats.org/drawingml/2006/main">
            <a:r>
              <a:t>Entrega: Esquema de potencia, registro de mando y explicación de la medida que falta.</a:t>
            </a:r>
          </a:p>
          <a:p xmlns:a="http://schemas.openxmlformats.org/drawingml/2006/main">
            <a:r>
              <a:t/>
            </a:r>
          </a:p>
          <a:p xmlns:a="http://schemas.openxmlformats.org/drawingml/2006/main">
            <a:r>
              <a:t>Preguntas y respuestas</a:t>
            </a:r>
          </a:p>
          <a:p xmlns:a="http://schemas.openxmlformats.org/drawingml/2006/main">
            <a:r>
              <a:t>¿PWM es una lectura de velocidad?</a:t>
            </a:r>
          </a:p>
          <a:p xmlns:a="http://schemas.openxmlformats.org/drawingml/2006/main">
            <a:r>
              <a:t>No. Es un mando; la velocidad requiere un método de observación.</a:t>
            </a:r>
          </a:p>
          <a:p xmlns:a="http://schemas.openxmlformats.org/drawingml/2006/main">
            <a:r>
              <a:t/>
            </a:r>
          </a:p>
          <a:p xmlns:a="http://schemas.openxmlformats.org/drawingml/2006/main">
            <a:r>
              <a:t>¿Dos fuentes implican aislamiento galvánico?</a:t>
            </a:r>
          </a:p>
          <a:p xmlns:a="http://schemas.openxmlformats.org/drawingml/2006/main">
            <a:r>
              <a:t>No. Depende de las conexiones y de la arquitectura de interfaz.</a:t>
            </a:r>
          </a:p>
          <a:p xmlns:a="http://schemas.openxmlformats.org/drawingml/2006/main">
            <a:r>
              <a:t/>
            </a:r>
          </a:p>
          <a:p xmlns:a="http://schemas.openxmlformats.org/drawingml/2006/main">
            <a:r>
              <a:t>¿El L293D se alimenta lógicamente a 3,3 V por usar ESP32?</a:t>
            </a:r>
          </a:p>
          <a:p xmlns:a="http://schemas.openxmlformats.org/drawingml/2006/main">
            <a:r>
              <a:t>No. Se respeta la condición de VCC1 del fabricante y se revisan las entradas por separado.</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Texas Instruments. L293/L293D: hoja de datos SLRS008D. https://www.ti.com/lit/ds/symlink/l293.pdf</a:t>
            </a:r>
          </a:p>
          <a:p xmlns:a="http://schemas.openxmlformats.org/drawingml/2006/main">
            <a:r>
              <a:t>Espressif Systems. Arduino-ESP32: LEDC. https://docs.espressif.com/projects/arduino-esp32/en/latest/api/ledc.html</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MECRO_ESP32_Clase_09.pdf.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una señal de pulsos antes de convertir unidades.</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Un encoder transforma movimiento en señales que el programa puede contar. El número de pulsos solo tiene significado de velocidad cuando sabemos cuánto movimiento representa y en qué tiempo ocurrió. Un sensor puede especificar pulsos por revolución del eje del motor, mientras el proyecto observa el eje de salida de una reducción. Además, una biblioteca puede contar un flanco, ambos flancos o transiciones de dos canales. La definición que importa es la cuenta efectiva por vuelta de la referencia observada.</a:t>
            </a:r>
          </a:p>
          <a:p xmlns:a="http://schemas.openxmlformats.org/drawingml/2006/main">
            <a:r>
              <a:t/>
            </a:r>
          </a:p>
          <a:p xmlns:a="http://schemas.openxmlformats.org/drawingml/2006/main">
            <a:r>
              <a:t>Dato / Pregunta / Unidad</a:t>
            </a:r>
          </a:p>
          <a:p xmlns:a="http://schemas.openxmlformats.org/drawingml/2006/main">
            <a:r>
              <a:t>Cuenta efectiva por vuelta / ¿Qué flancos cuenta? / cuentas/vuelta</a:t>
            </a:r>
          </a:p>
          <a:p xmlns:a="http://schemas.openxmlformats.org/drawingml/2006/main">
            <a:r>
              <a:t>Ventana real / ¿Cuánto tiempo pasó? / s o ms</a:t>
            </a:r>
          </a:p>
          <a:p xmlns:a="http://schemas.openxmlformats.org/drawingml/2006/main">
            <a:r>
              <a:t>Referencia mecánica / ¿Qué eje se observa? / Identificador</a:t>
            </a:r>
          </a:p>
          <a:p xmlns:a="http://schemas.openxmlformats.org/drawingml/2006/main">
            <a:r>
              <a:t>Conteo / ¿Qué ocurrió en la ventana? / cuentas</a:t>
            </a:r>
          </a:p>
          <a:p xmlns:a="http://schemas.openxmlformats.org/drawingml/2006/main">
            <a:r>
              <a:t/>
            </a:r>
          </a:p>
          <a:p xmlns:a="http://schemas.openxmlformats.org/drawingml/2006/main">
            <a:r>
              <a:t>El proyecto de motor de la web no incluye esta medición, por eso se añade como práctica nueva. Se puede comenzar con un generador de pulsos del banco o un modelo de señal. Después se relaciona con un encoder real identificado. No se asignan 20 cuentas por vuelta a cualquier motor: ese número es una constante de ejercicio que se sustituye al caracterizar el dispositivo.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Dato / Pregunta / Unidad</a:t>
            </a:r>
          </a:p>
          <a:p xmlns:a="http://schemas.openxmlformats.org/drawingml/2006/main">
            <a:r>
              <a:t>Cuenta efectiva por vuelta / ¿Qué flancos cuenta? / cuentas/vuelta</a:t>
            </a:r>
          </a:p>
          <a:p xmlns:a="http://schemas.openxmlformats.org/drawingml/2006/main">
            <a:r>
              <a:t>Ventana real / ¿Cuánto tiempo pasó? / s o ms</a:t>
            </a:r>
          </a:p>
          <a:p xmlns:a="http://schemas.openxmlformats.org/drawingml/2006/main">
            <a:r>
              <a:t>Referencia mecánica / ¿Qué eje se observa? / Identificador</a:t>
            </a:r>
          </a:p>
          <a:p xmlns:a="http://schemas.openxmlformats.org/drawingml/2006/main">
            <a:r>
              <a:t>Conteo / ¿Qué ocurrió en la ventana? / cuentas</a:t>
            </a:r>
          </a:p>
          <a:p xmlns:a="http://schemas.openxmlformats.org/drawingml/2006/main">
            <a:r>
              <a:t>Comparar filas y explicar una condición que cambie la decisión.</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Un encoder transforma movimiento en señales que el programa puede contar. El número de pulsos solo tiene significado de velocidad cuando sabemos cuánto movimiento representa y en qué tiempo ocurrió. Un sensor puede especificar pulsos por revolución del eje del motor, mientras el proyecto observa el eje de salida de una reducción. Además, una biblioteca puede contar un flanco, ambos flancos o transiciones de dos canales. La definición que importa es la cuenta efectiva por vuelta de la referencia observada.</a:t>
            </a:r>
          </a:p>
          <a:p xmlns:a="http://schemas.openxmlformats.org/drawingml/2006/main">
            <a:r>
              <a:t/>
            </a:r>
          </a:p>
          <a:p xmlns:a="http://schemas.openxmlformats.org/drawingml/2006/main">
            <a:r>
              <a:t>Dato / Pregunta / Unidad</a:t>
            </a:r>
          </a:p>
          <a:p xmlns:a="http://schemas.openxmlformats.org/drawingml/2006/main">
            <a:r>
              <a:t>Cuenta efectiva por vuelta / ¿Qué flancos cuenta? / cuentas/vuelta</a:t>
            </a:r>
          </a:p>
          <a:p xmlns:a="http://schemas.openxmlformats.org/drawingml/2006/main">
            <a:r>
              <a:t>Ventana real / ¿Cuánto tiempo pasó? / s o ms</a:t>
            </a:r>
          </a:p>
          <a:p xmlns:a="http://schemas.openxmlformats.org/drawingml/2006/main">
            <a:r>
              <a:t>Referencia mecánica / ¿Qué eje se observa? / Identificador</a:t>
            </a:r>
          </a:p>
          <a:p xmlns:a="http://schemas.openxmlformats.org/drawingml/2006/main">
            <a:r>
              <a:t>Conteo / ¿Qué ocurrió en la ventana? / cuentas</a:t>
            </a:r>
          </a:p>
          <a:p xmlns:a="http://schemas.openxmlformats.org/drawingml/2006/main">
            <a:r>
              <a:t/>
            </a:r>
          </a:p>
          <a:p xmlns:a="http://schemas.openxmlformats.org/drawingml/2006/main">
            <a:r>
              <a:t>El proyecto de motor de la web no incluye esta medición, por eso se añade como práctica nueva. Se puede comenzar con un generador de pulsos del banco o un modelo de señal. Después se relaciona con un encoder real identificado. No se asignan 20 cuentas por vuelta a cualquier motor: ese número es una constante de ejercicio que se sustituye al caracterizar el dispositivo.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Nvuelta corresponde al método de conteo y al eje declarados.</a:t>
            </a:r>
          </a:p>
          <a:p xmlns:a="http://schemas.openxmlformats.org/drawingml/2006/main">
            <a:r>
              <a:t/>
            </a:r>
          </a:p>
          <a:p xmlns:a="http://schemas.openxmlformats.org/drawingml/2006/main">
            <a:r>
              <a:t>Se cuentan 12 flancos durante 100 ms. La referencia comprobada es 20 flancos por vuelta del eje observado. ¿Qué velocidad media representa?</a:t>
            </a:r>
          </a:p>
          <a:p xmlns:a="http://schemas.openxmlformats.org/drawingml/2006/main">
            <a:r>
              <a:t>12/20 = 0,6 vueltas en 0,1 s. Son 6 vueltas por segundo y, por tanto, 360 RPM.</a:t>
            </a:r>
          </a:p>
          <a:p xmlns:a="http://schemas.openxmlformats.org/drawingml/2006/main">
            <a:r>
              <a:t/>
            </a:r>
          </a:p>
          <a:p xmlns:a="http://schemas.openxmlformats.org/drawingml/2006/main">
            <a:r>
              <a:t>Si realmente transcurrieron 110 ms, usar 100 ms en la cuenta sobreestimaría la velocidad. El código conserva elapsed = now-last y utiliza esa duración. La ventana aporta una media durante un intervalo; no es una velocidad instantánea perfecta. En un cambio rápido, una ventana larga mezcla estados anteriores con el más reciente.</a:t>
            </a:r>
          </a:p>
          <a:p xmlns:a="http://schemas.openxmlformats.org/drawingml/2006/main">
            <a:r>
              <a:t/>
            </a:r>
          </a:p>
          <a:p xmlns:a="http://schemas.openxmlformats.org/drawingml/2006/main">
            <a:r>
              <a:t>Referencia / Duración / Resultado</a:t>
            </a:r>
          </a:p>
          <a:p xmlns:a="http://schemas.openxmlformats.org/drawingml/2006/main">
            <a:r>
              <a:t>20 cuentas/vuelta / 100 ms, 12 cuentas / 360 RPM</a:t>
            </a:r>
          </a:p>
          <a:p xmlns:a="http://schemas.openxmlformats.org/drawingml/2006/main">
            <a:r>
              <a:t>20 cuentas/vuelta / 110 ms, 12 cuentas / 327,3 RPM</a:t>
            </a:r>
          </a:p>
          <a:p xmlns:a="http://schemas.openxmlformats.org/drawingml/2006/main">
            <a:r>
              <a:t>40 cuentas/vuelta / 100 ms, 12 cuentas / 180 RPM</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Referencia / Duración / Resultado</a:t>
            </a:r>
          </a:p>
          <a:p xmlns:a="http://schemas.openxmlformats.org/drawingml/2006/main">
            <a:r>
              <a:t>20 cuentas/vuelta / 100 ms, 12 cuentas / 360 RPM</a:t>
            </a:r>
          </a:p>
          <a:p xmlns:a="http://schemas.openxmlformats.org/drawingml/2006/main">
            <a:r>
              <a:t>20 cuentas/vuelta / 110 ms, 12 cuentas / 327,3 RPM</a:t>
            </a:r>
          </a:p>
          <a:p xmlns:a="http://schemas.openxmlformats.org/drawingml/2006/main">
            <a:r>
              <a:t>40 cuentas/vuelta / 100 ms, 12 cuentas / 180 RPM</a:t>
            </a:r>
          </a:p>
          <a:p xmlns:a="http://schemas.openxmlformats.org/drawingml/2006/main">
            <a:r>
              <a:t>Comparar filas y explicar una condición que cambie la decisión.</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Nvuelta corresponde al método de conteo y al eje declarados.</a:t>
            </a:r>
          </a:p>
          <a:p xmlns:a="http://schemas.openxmlformats.org/drawingml/2006/main">
            <a:r>
              <a:t/>
            </a:r>
          </a:p>
          <a:p xmlns:a="http://schemas.openxmlformats.org/drawingml/2006/main">
            <a:r>
              <a:t>Se cuentan 12 flancos durante 100 ms. La referencia comprobada es 20 flancos por vuelta del eje observado. ¿Qué velocidad media representa?</a:t>
            </a:r>
          </a:p>
          <a:p xmlns:a="http://schemas.openxmlformats.org/drawingml/2006/main">
            <a:r>
              <a:t>12/20 = 0,6 vueltas en 0,1 s. Son 6 vueltas por segundo y, por tanto, 360 RPM.</a:t>
            </a:r>
          </a:p>
          <a:p xmlns:a="http://schemas.openxmlformats.org/drawingml/2006/main">
            <a:r>
              <a:t/>
            </a:r>
          </a:p>
          <a:p xmlns:a="http://schemas.openxmlformats.org/drawingml/2006/main">
            <a:r>
              <a:t>Si realmente transcurrieron 110 ms, usar 100 ms en la cuenta sobreestimaría la velocidad. El código conserva elapsed = now-last y utiliza esa duración. La ventana aporta una media durante un intervalo; no es una velocidad instantánea perfecta. En un cambio rápido, una ventana larga mezcla estados anteriores con el más reciente.</a:t>
            </a:r>
          </a:p>
          <a:p xmlns:a="http://schemas.openxmlformats.org/drawingml/2006/main">
            <a:r>
              <a:t/>
            </a:r>
          </a:p>
          <a:p xmlns:a="http://schemas.openxmlformats.org/drawingml/2006/main">
            <a:r>
              <a:t>Referencia / Duración / Resultado</a:t>
            </a:r>
          </a:p>
          <a:p xmlns:a="http://schemas.openxmlformats.org/drawingml/2006/main">
            <a:r>
              <a:t>20 cuentas/vuelta / 100 ms, 12 cuentas / 360 RPM</a:t>
            </a:r>
          </a:p>
          <a:p xmlns:a="http://schemas.openxmlformats.org/drawingml/2006/main">
            <a:r>
              <a:t>20 cuentas/vuelta / 110 ms, 12 cuentas / 327,3 RPM</a:t>
            </a:r>
          </a:p>
          <a:p xmlns:a="http://schemas.openxmlformats.org/drawingml/2006/main">
            <a:r>
              <a:t>40 cuentas/vuelta / 100 ms, 12 cuentas / 180 RPM</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cuenta adicional cambia la estimación en esa cantidad de RPM para la ventana dada.</a:t>
            </a:r>
          </a:p>
          <a:p xmlns:a="http://schemas.openxmlformats.org/drawingml/2006/main">
            <a:r>
              <a:t/>
            </a:r>
          </a:p>
          <a:p xmlns:a="http://schemas.openxmlformats.org/drawingml/2006/main">
            <a:r>
              <a:t>Con 20 cuentas por vuelta y ventana de 0,1 s, una sola cuenta representa 30 RPM. Un número con muchos decimales no añade información que el conteo no tiene. Una ventana de 0,25 s reduce ese salto a 12 RPM, pero tarda más en describir un cambio. El equipo compara esa compensación con el comportamiento que desea observar.</a:t>
            </a:r>
          </a:p>
          <a:p xmlns:a="http://schemas.openxmlformats.org/drawingml/2006/main">
            <a:r>
              <a:t/>
            </a:r>
          </a:p>
          <a:p xmlns:a="http://schemas.openxmlformats.org/drawingml/2006/main">
            <a:r>
              <a:t>Ventana / Salto por cuenta / Compensación</a:t>
            </a:r>
          </a:p>
          <a:p xmlns:a="http://schemas.openxmlformats.org/drawingml/2006/main">
            <a:r>
              <a:t>50 ms / 60 RPM / Respuesta más frecuente</a:t>
            </a:r>
          </a:p>
          <a:p xmlns:a="http://schemas.openxmlformats.org/drawingml/2006/main">
            <a:r>
              <a:t>100 ms / 30 RPM / Condición de referencia</a:t>
            </a:r>
          </a:p>
          <a:p xmlns:a="http://schemas.openxmlformats.org/drawingml/2006/main">
            <a:r>
              <a:t>250 ms / 12 RPM / Promedio más prolongado</a:t>
            </a:r>
          </a:p>
          <a:p xmlns:a="http://schemas.openxmlformats.org/drawingml/2006/main">
            <a:r>
              <a:t/>
            </a:r>
          </a:p>
          <a:p xmlns:a="http://schemas.openxmlformats.org/drawingml/2006/main">
            <a:r>
              <a:t>Un encoder de dos canales también puede permitir conocer dirección mediante la relación entre sus señales. La primera práctica cuenta solo flancos ascendentes de un canal para que su denominador sea transparente. La cuadratura se deja como ampliación después de verificar una vuelta y un método. Añadir canales sin revisar el factor de conteo puede multiplicar por dos o cuatro una lectura aparente.</a:t>
            </a:r>
          </a:p>
          <a:p xmlns:a="http://schemas.openxmlformats.org/drawingml/2006/main">
            <a:r>
              <a:t/>
            </a:r>
          </a:p>
          <a:p xmlns:a="http://schemas.openxmlformats.org/drawingml/2006/main">
            <a:r>
              <a:t>Cálculo con veinte cuentas efectivas por vuelta. Ventana mayor mejora el paso de lectura y agrega espera.</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Ventana / Salto por cuenta / Compensación</a:t>
            </a:r>
          </a:p>
          <a:p xmlns:a="http://schemas.openxmlformats.org/drawingml/2006/main">
            <a:r>
              <a:t>50 ms / 60 RPM / Respuesta más frecuente</a:t>
            </a:r>
          </a:p>
          <a:p xmlns:a="http://schemas.openxmlformats.org/drawingml/2006/main">
            <a:r>
              <a:t>100 ms / 30 RPM / Condición de referencia</a:t>
            </a:r>
          </a:p>
          <a:p xmlns:a="http://schemas.openxmlformats.org/drawingml/2006/main">
            <a:r>
              <a:t>250 ms / 12 RPM / Promedio más prolongado</a:t>
            </a:r>
          </a:p>
          <a:p xmlns:a="http://schemas.openxmlformats.org/drawingml/2006/main">
            <a:r>
              <a:t>Comparar filas y explicar una condición que cambie la decisión.</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Cálculo con veinte cuentas efectivas por vuelta. Ventana mayor mejora el paso de lectura y agrega espera.</a:t>
            </a:r>
          </a:p>
          <a:p xmlns:a="http://schemas.openxmlformats.org/drawingml/2006/main">
            <a:r>
              <a:t>Una cuenta adicional cambia la estimación en esa cantidad de RPM para la ventana dada.</a:t>
            </a:r>
          </a:p>
          <a:p xmlns:a="http://schemas.openxmlformats.org/drawingml/2006/main">
            <a:r>
              <a:t/>
            </a:r>
          </a:p>
          <a:p xmlns:a="http://schemas.openxmlformats.org/drawingml/2006/main">
            <a:r>
              <a:t>Con 20 cuentas por vuelta y ventana de 0,1 s, una sola cuenta representa 30 RPM. Un número con muchos decimales no añade información que el conteo no tiene. Una ventana de 0,25 s reduce ese salto a 12 RPM, pero tarda más en describir un cambio. El equipo compara esa compensación con el comportamiento que desea observar.</a:t>
            </a:r>
          </a:p>
          <a:p xmlns:a="http://schemas.openxmlformats.org/drawingml/2006/main">
            <a:r>
              <a:t/>
            </a:r>
          </a:p>
          <a:p xmlns:a="http://schemas.openxmlformats.org/drawingml/2006/main">
            <a:r>
              <a:t>Ventana / Salto por cuenta / Compensación</a:t>
            </a:r>
          </a:p>
          <a:p xmlns:a="http://schemas.openxmlformats.org/drawingml/2006/main">
            <a:r>
              <a:t>50 ms / 60 RPM / Respuesta más frecuente</a:t>
            </a:r>
          </a:p>
          <a:p xmlns:a="http://schemas.openxmlformats.org/drawingml/2006/main">
            <a:r>
              <a:t>100 ms / 30 RPM / Condición de referencia</a:t>
            </a:r>
          </a:p>
          <a:p xmlns:a="http://schemas.openxmlformats.org/drawingml/2006/main">
            <a:r>
              <a:t>250 ms / 12 RPM / Promedio más prolongado</a:t>
            </a:r>
          </a:p>
          <a:p xmlns:a="http://schemas.openxmlformats.org/drawingml/2006/main">
            <a:r>
              <a:t/>
            </a:r>
          </a:p>
          <a:p xmlns:a="http://schemas.openxmlformats.org/drawingml/2006/main">
            <a:r>
              <a:t>Un encoder de dos canales también puede permitir conocer dirección mediante la relación entre sus señales. La primera práctica cuenta solo flancos ascendentes de un canal para que su denominador sea transparente. La cuadratura se deja como ampliación después de verificar una vuelta y un método. Añadir canales sin revisar el factor de conteo puede multiplicar por dos o cuatro una lectura aparente.</a:t>
            </a:r>
          </a:p>
          <a:p xmlns:a="http://schemas.openxmlformats.org/drawingml/2006/main">
            <a:r>
              <a:t/>
            </a:r>
          </a:p>
          <a:p xmlns:a="http://schemas.openxmlformats.org/drawingml/2006/main">
            <a:r>
              <a:t>Cálculo con veinte cuentas efectivas por vuelta. Ventana mayor mejora el paso de lectura y agrega espera.</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void IRAM_ATTR edge() {</a:t>
            </a:r>
          </a:p>
          <a:p xmlns:a="http://schemas.openxmlformats.org/drawingml/2006/main">
            <a:r>
              <a:t>  portENTER_CRITICAL_ISR(&amp;mux);</a:t>
            </a:r>
          </a:p>
          <a:p xmlns:a="http://schemas.openxmlformats.org/drawingml/2006/main">
            <a:r>
              <a:t>  ++edges;</a:t>
            </a:r>
          </a:p>
          <a:p xmlns:a="http://schemas.openxmlformats.org/drawingml/2006/main">
            <a:r>
              <a:t>  portEXIT_CRITICAL_ISR(&amp;mux);</a:t>
            </a:r>
          </a:p>
          <a:p xmlns:a="http://schemas.openxmlformats.org/drawingml/2006/main">
            <a:r>
              <a:t>}</a:t>
            </a:r>
          </a:p>
          <a:p xmlns:a="http://schemas.openxmlformats.org/drawingml/2006/main">
            <a:r>
              <a:t>// En loop(): copiar y poner a cero como una operacion.</a:t>
            </a:r>
          </a:p>
          <a:p xmlns:a="http://schemas.openxmlformats.org/drawingml/2006/main">
            <a:r>
              <a:t>portENTER_CRITICAL(&amp;mux);</a:t>
            </a:r>
          </a:p>
          <a:p xmlns:a="http://schemas.openxmlformats.org/drawingml/2006/main">
            <a:r>
              <a:t>uint32_t count = edges;</a:t>
            </a:r>
          </a:p>
          <a:p xmlns:a="http://schemas.openxmlformats.org/drawingml/2006/main">
            <a:r>
              <a:t>edges = 0;</a:t>
            </a:r>
          </a:p>
          <a:p xmlns:a="http://schemas.openxmlformats.org/drawingml/2006/main">
            <a:r>
              <a:t>portEXIT_CRITICAL(&amp;mux);</a:t>
            </a:r>
          </a:p>
          <a:p xmlns:a="http://schemas.openxmlformats.org/drawingml/2006/main">
            <a:r>
              <a:t/>
            </a:r>
          </a:p>
          <a:p xmlns:a="http://schemas.openxmlformats.org/drawingml/2006/main">
            <a:r>
              <a:t>La rutina de interrupción realiza una tarea breve: conservar el evento de conteo. La conversión, impresión y decisión se hacen fuera. volatile evita ciertas suposiciones del compilador sobre accesos, pero no convierte una secuencia de copiar y poner a cero en una operación indivisible. Por eso el ejemplo protege ese intercambio de manera explícita.</a:t>
            </a:r>
          </a:p>
          <a:p xmlns:a="http://schemas.openxmlformats.org/drawingml/2006/main">
            <a:r>
              <a:t/>
            </a:r>
          </a:p>
          <a:p xmlns:a="http://schemas.openxmlformats.org/drawingml/2006/main">
            <a:r>
              <a:t>La señal debe tener niveles compatibles y una forma que el sistema pueda interpretar. Un encoder con salida de colector abierto puede necesitar polarización; otro módulo puede entregar una señal que requiere adaptación. El banco identifica ese tipo de salida antes de conectar. Las transiciones espurias y el ruido no se corrigen inventando un nuevo número de cuentas por vuelta: se investiga la señal y el montaje.</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void IRAM_ATTR edge() {</a:t>
            </a:r>
          </a:p>
          <a:p xmlns:a="http://schemas.openxmlformats.org/drawingml/2006/main">
            <a:r>
              <a:t>  portENTER_CRITICAL_ISR(&amp;mux);</a:t>
            </a:r>
          </a:p>
          <a:p xmlns:a="http://schemas.openxmlformats.org/drawingml/2006/main">
            <a:r>
              <a:t>  ++edges;</a:t>
            </a:r>
          </a:p>
          <a:p xmlns:a="http://schemas.openxmlformats.org/drawingml/2006/main">
            <a:r>
              <a:t>  portEXIT_CRITICAL_ISR(&amp;mux);</a:t>
            </a:r>
          </a:p>
          <a:p xmlns:a="http://schemas.openxmlformats.org/drawingml/2006/main">
            <a:r>
              <a:t>}</a:t>
            </a:r>
          </a:p>
          <a:p xmlns:a="http://schemas.openxmlformats.org/drawingml/2006/main">
            <a:r>
              <a:t>// En loop(): copiar y poner a cero como una operacion.</a:t>
            </a:r>
          </a:p>
          <a:p xmlns:a="http://schemas.openxmlformats.org/drawingml/2006/main">
            <a:r>
              <a:t>portENTER_CRITICAL(&amp;mux);</a:t>
            </a:r>
          </a:p>
          <a:p xmlns:a="http://schemas.openxmlformats.org/drawingml/2006/main">
            <a:r>
              <a:t>uint32_t count = edges;</a:t>
            </a:r>
          </a:p>
          <a:p xmlns:a="http://schemas.openxmlformats.org/drawingml/2006/main">
            <a:r>
              <a:t>edges = 0;</a:t>
            </a:r>
          </a:p>
          <a:p xmlns:a="http://schemas.openxmlformats.org/drawingml/2006/main">
            <a:r>
              <a:t>portEXIT_CRITICAL(&amp;mux);</a:t>
            </a:r>
          </a:p>
          <a:p xmlns:a="http://schemas.openxmlformats.org/drawingml/2006/main">
            <a:r>
              <a:t>Explicar entrada, estado, salida y momento de actualización.</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void IRAM_ATTR edge() {</a:t>
            </a:r>
          </a:p>
          <a:p xmlns:a="http://schemas.openxmlformats.org/drawingml/2006/main">
            <a:r>
              <a:t>  portENTER_CRITICAL_ISR(&amp;mux);</a:t>
            </a:r>
          </a:p>
          <a:p xmlns:a="http://schemas.openxmlformats.org/drawingml/2006/main">
            <a:r>
              <a:t>  ++edges;</a:t>
            </a:r>
          </a:p>
          <a:p xmlns:a="http://schemas.openxmlformats.org/drawingml/2006/main">
            <a:r>
              <a:t>  portEXIT_CRITICAL_ISR(&amp;mux);</a:t>
            </a:r>
          </a:p>
          <a:p xmlns:a="http://schemas.openxmlformats.org/drawingml/2006/main">
            <a:r>
              <a:t>}</a:t>
            </a:r>
          </a:p>
          <a:p xmlns:a="http://schemas.openxmlformats.org/drawingml/2006/main">
            <a:r>
              <a:t>// En loop(): copiar y poner a cero como una operacion.</a:t>
            </a:r>
          </a:p>
          <a:p xmlns:a="http://schemas.openxmlformats.org/drawingml/2006/main">
            <a:r>
              <a:t>portENTER_CRITICAL(&amp;mux);</a:t>
            </a:r>
          </a:p>
          <a:p xmlns:a="http://schemas.openxmlformats.org/drawingml/2006/main">
            <a:r>
              <a:t>uint32_t count = edges;</a:t>
            </a:r>
          </a:p>
          <a:p xmlns:a="http://schemas.openxmlformats.org/drawingml/2006/main">
            <a:r>
              <a:t>edges = 0;</a:t>
            </a:r>
          </a:p>
          <a:p xmlns:a="http://schemas.openxmlformats.org/drawingml/2006/main">
            <a:r>
              <a:t>portEXIT_CRITICAL(&amp;mux);</a:t>
            </a:r>
          </a:p>
          <a:p xmlns:a="http://schemas.openxmlformats.org/drawingml/2006/main">
            <a:r>
              <a:t/>
            </a:r>
          </a:p>
          <a:p xmlns:a="http://schemas.openxmlformats.org/drawingml/2006/main">
            <a:r>
              <a:t>La rutina de interrupción realiza una tarea breve: conservar el evento de conteo. La conversión, impresión y decisión se hacen fuera. volatile evita ciertas suposiciones del compilador sobre accesos, pero no convierte una secuencia de copiar y poner a cero en una operación indivisible. Por eso el ejemplo protege ese intercambio de manera explícita.</a:t>
            </a:r>
          </a:p>
          <a:p xmlns:a="http://schemas.openxmlformats.org/drawingml/2006/main">
            <a:r>
              <a:t/>
            </a:r>
          </a:p>
          <a:p xmlns:a="http://schemas.openxmlformats.org/drawingml/2006/main">
            <a:r>
              <a:t>La señal debe tener niveles compatibles y una forma que el sistema pueda interpretar. Un encoder con salida de colector abierto puede necesitar polarización; otro módulo puede entregar una señal que requiere adaptación. El banco identifica ese tipo de salida antes de conectar. Las transiciones espurias y el ruido no se corrigen inventando un nuevo número de cuentas por vuelta: se investiga la señal y el montaje.</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el eje y la convención de conteo que utilizarás.</a:t>
            </a:r>
          </a:p>
          <a:p xmlns:a="http://schemas.openxmlformats.org/drawingml/2006/main">
            <a:r>
              <a:t>Antes de convertir a RPM, comprueba las cuentas de una vuelta observada o de una señal conocida.</a:t>
            </a:r>
          </a:p>
          <a:p xmlns:a="http://schemas.openxmlformats.org/drawingml/2006/main">
            <a:r>
              <a:t>Ejecuta c10_encoder con el generador de pulsos o el encoder preparado.</a:t>
            </a:r>
          </a:p>
          <a:p xmlns:a="http://schemas.openxmlformats.org/drawingml/2006/main">
            <a:r>
              <a:t>Calcula manualmente una fila del registro con elapsed real.</a:t>
            </a:r>
          </a:p>
          <a:p xmlns:a="http://schemas.openxmlformats.org/drawingml/2006/main">
            <a:r>
              <a:t>Compara ventanas de 50, 100 y 250 ms sin cambiar a la vez el método de conteo.</a:t>
            </a:r>
          </a:p>
          <a:p xmlns:a="http://schemas.openxmlformats.org/drawingml/2006/main">
            <a:r>
              <a:t>Busca un error de factor dos o cuatro en un caso de prueba del docente.</a:t>
            </a:r>
          </a:p>
          <a:p xmlns:a="http://schemas.openxmlformats.org/drawingml/2006/main">
            <a:r>
              <a:t>Conserva fuente de señal, condiciones y resultado con unidades.</a:t>
            </a:r>
          </a:p>
          <a:p xmlns:a="http://schemas.openxmlformats.org/drawingml/2006/main">
            <a:r>
              <a:t/>
            </a:r>
          </a:p>
          <a:p xmlns:a="http://schemas.openxmlformats.org/drawingml/2006/main">
            <a:r>
              <a:t>El alumno sin encoder resuelve el conjunto de pulsos del curso y explica qué falta para trasladarlo a un motor real. En el taller compartido se contrasta el método con hardware disponible. Esta organización permite estudiar la medida antes de comprar un componente adicional y evita anunciar un encoder como parte del kit cuando su inventario aún no se ha confirmado.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el eje y la convención de conteo que utilizarás.</a:t>
            </a:r>
          </a:p>
          <a:p xmlns:a="http://schemas.openxmlformats.org/drawingml/2006/main">
            <a:r>
              <a:t>Antes de convertir a RPM, comprueba las cuentas de una vuelta observada o de una señal conocida.</a:t>
            </a:r>
          </a:p>
          <a:p xmlns:a="http://schemas.openxmlformats.org/drawingml/2006/main">
            <a:r>
              <a:t>Ejecuta c10_encoder con el generador de pulsos o el encoder preparado.</a:t>
            </a:r>
          </a:p>
          <a:p xmlns:a="http://schemas.openxmlformats.org/drawingml/2006/main">
            <a:r>
              <a:t>Calcula manualmente una fila del registro con elapsed real.</a:t>
            </a:r>
          </a:p>
          <a:p xmlns:a="http://schemas.openxmlformats.org/drawingml/2006/main">
            <a:r>
              <a:t>Compara ventanas de 50, 100 y 250 ms sin cambiar a la vez el método de conteo.</a:t>
            </a:r>
          </a:p>
          <a:p xmlns:a="http://schemas.openxmlformats.org/drawingml/2006/main">
            <a:r>
              <a:t>Busca un error de factor dos o cuatro en un caso de prueba del docente.</a:t>
            </a:r>
          </a:p>
          <a:p xmlns:a="http://schemas.openxmlformats.org/drawingml/2006/main">
            <a:r>
              <a:t>Conserva fuente de señal, condiciones y resultado con unidades.</a:t>
            </a:r>
          </a:p>
          <a:p xmlns:a="http://schemas.openxmlformats.org/drawingml/2006/main">
            <a:r>
              <a:t/>
            </a:r>
          </a:p>
          <a:p xmlns:a="http://schemas.openxmlformats.org/drawingml/2006/main">
            <a:r>
              <a:t>El alumno sin encoder resuelve el conjunto de pulsos del curso y explica qué falta para trasladarlo a un motor real. En el taller compartido se contrasta el método con hardware disponible. Esta organización permite estudiar la medida antes de comprar un componente adicional y evita anunciar un encoder como parte del kit cuando su inventario aún no se ha confirmado.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Identifica el eje y la convención de conteo que utilizarás.</a:t>
            </a:r>
          </a:p>
          <a:p xmlns:a="http://schemas.openxmlformats.org/drawingml/2006/main">
            <a:r>
              <a:t>Antes de convertir a RPM, comprueba las cuentas de una vuelta observada o de una señal conocida.</a:t>
            </a:r>
          </a:p>
          <a:p xmlns:a="http://schemas.openxmlformats.org/drawingml/2006/main">
            <a:r>
              <a:t>Ejecuta c10_encoder con el generador de pulsos o el encoder preparado.</a:t>
            </a:r>
          </a:p>
          <a:p xmlns:a="http://schemas.openxmlformats.org/drawingml/2006/main">
            <a:r>
              <a:t>Calcula manualmente una fila del registro con elapsed real.</a:t>
            </a:r>
          </a:p>
          <a:p xmlns:a="http://schemas.openxmlformats.org/drawingml/2006/main">
            <a:r>
              <a:t>Compara ventanas de 50, 100 y 250 ms sin cambiar a la vez el método de conteo.</a:t>
            </a:r>
          </a:p>
          <a:p xmlns:a="http://schemas.openxmlformats.org/drawingml/2006/main">
            <a:r>
              <a:t>Busca un error de factor dos o cuatro en un caso de prueba del docente.</a:t>
            </a:r>
          </a:p>
          <a:p xmlns:a="http://schemas.openxmlformats.org/drawingml/2006/main">
            <a:r>
              <a:t>Conserva fuente de señal, condiciones y resultado con unidades.</a:t>
            </a:r>
          </a:p>
          <a:p xmlns:a="http://schemas.openxmlformats.org/drawingml/2006/main">
            <a:r>
              <a:t>Verificar un paso antes de seguir.</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El lazo de control recibirá una estimación de velocidad con su periodo, dispersión y posibilidad de fallo. Un valor cero puede corresponder a motor parado, una ventana sin pulsos o una señal ausente. La interpretación exige contexto. La aplicación conoce si ordenó movimiento, cuánto tiempo pasó y qué otras comprobaciones existen. Esos datos ayudan a formular un estado de diagnóstico, aunque no convierten cualquier ausencia de pulsos en una causa demostrada.</a:t>
            </a:r>
          </a:p>
          <a:p xmlns:a="http://schemas.openxmlformats.org/drawingml/2006/main">
            <a:r>
              <a:t/>
            </a:r>
          </a:p>
          <a:p xmlns:a="http://schemas.openxmlformats.org/drawingml/2006/main">
            <a:r>
              <a:t>El monitor muestra 360,000 RPM con un salto de 30 RPM por cuenta. ¿Qué comunican esos tres decimales?</a:t>
            </a:r>
          </a:p>
          <a:p xmlns:a="http://schemas.openxmlformats.org/drawingml/2006/main">
            <a:r>
              <a:t>No demuestran una precisión milésima. El formato de impresión debe respetar la información y las limitaciones del método.</a:t>
            </a:r>
          </a:p>
          <a:p xmlns:a="http://schemas.openxmlformats.org/drawingml/2006/main">
            <a:r>
              <a:t/>
            </a:r>
          </a:p>
          <a:p xmlns:a="http://schemas.openxmlformats.org/drawingml/2006/main">
            <a:r>
              <a:t>Investiga qué significa PPR o CPR en la ficha concreta de un encoder. Copia la definición, no solo el número. Si hay una reducción, señala a qué eje pertenece. Prepara una frase completa de tu método: “cuento flancos ascendentes de A, con tantas cuentas por vuelta del eje de salida, durante el intervalo registrado”. Esa frase será parte de la entrega del lazo cerrado.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4 minutos en esta diapositiva.</a:t>
            </a:r>
          </a:p>
          <a:p xmlns:a="http://schemas.openxmlformats.org/drawingml/2006/main">
            <a:r>
              <a:t/>
            </a:r>
          </a:p>
          <a:p xmlns:a="http://schemas.openxmlformats.org/drawingml/2006/main">
            <a:r>
              <a:t>El lazo de control recibirá una estimación de velocidad con su periodo, dispersión y posibilidad de fallo. Un valor cero puede corresponder a motor parado, una ventana sin pulsos o una señal ausente. La interpretación exige contexto. La aplicación conoce si ordenó movimiento, cuánto tiempo pasó y qué otras comprobaciones existen. Esos datos ayudan a formular un estado de diagnóstico, aunque no convierten cualquier ausencia de pulsos en una causa demostrada.</a:t>
            </a:r>
          </a:p>
          <a:p xmlns:a="http://schemas.openxmlformats.org/drawingml/2006/main">
            <a:r>
              <a:t/>
            </a:r>
          </a:p>
          <a:p xmlns:a="http://schemas.openxmlformats.org/drawingml/2006/main">
            <a:r>
              <a:t>El monitor muestra 360,000 RPM con un salto de 30 RPM por cuenta. ¿Qué comunican esos tres decimales?</a:t>
            </a:r>
          </a:p>
          <a:p xmlns:a="http://schemas.openxmlformats.org/drawingml/2006/main">
            <a:r>
              <a:t>No demuestran una precisión milésima. El formato de impresión debe respetar la información y las limitaciones del método.</a:t>
            </a:r>
          </a:p>
          <a:p xmlns:a="http://schemas.openxmlformats.org/drawingml/2006/main">
            <a:r>
              <a:t/>
            </a:r>
          </a:p>
          <a:p xmlns:a="http://schemas.openxmlformats.org/drawingml/2006/main">
            <a:r>
              <a:t>Investiga qué significa PPR o CPR en la ficha concreta de un encoder. Copia la definición, no solo el número. Si hay una reducción, señala a qué eje pertenece. Prepara una frase completa de tu método: “cuento flancos ascendentes de A, con tantas cuentas por vuelta del eje de salida, durante el intervalo registrado”. Esa frase será parte de la entrega del lazo cerrado.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El monitor muestra 360,000 RPM con un salto de 30 RPM por cuenta. ¿Qué comunican esos tres decimales?</a:t>
            </a:r>
          </a:p>
          <a:p xmlns:a="http://schemas.openxmlformats.org/drawingml/2006/main">
            <a:r>
              <a:t>No demuestran una precisión milésima. El formato de impresión debe respetar la información y las limitaciones del método.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una señal de pulsos antes de convertir unidades.</a:t>
            </a:r>
          </a:p>
          <a:p xmlns:a="http://schemas.openxmlformats.org/drawingml/2006/main">
            <a:r>
              <a:t>Resolver 12 cuentas y contrastar dos duraciones reales.</a:t>
            </a:r>
          </a:p>
          <a:p xmlns:a="http://schemas.openxmlformats.org/drawingml/2006/main">
            <a:r>
              <a:t>Separar ISR y cálculo con el programa incluido.</a:t>
            </a:r>
          </a:p>
          <a:p xmlns:a="http://schemas.openxmlformats.org/drawingml/2006/main">
            <a:r>
              <a:t>Comprobar definición de vuelta, conteo y ventana.</a:t>
            </a:r>
          </a:p>
          <a:p xmlns:a="http://schemas.openxmlformats.org/drawingml/2006/main">
            <a:r>
              <a:t>Rotar código, medida y registro.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10 minutos en esta diapositiva.</a:t>
            </a:r>
          </a:p>
          <a:p xmlns:a="http://schemas.openxmlformats.org/drawingml/2006/main">
            <a:r>
              <a:t/>
            </a:r>
          </a:p>
          <a:p xmlns:a="http://schemas.openxmlformats.org/drawingml/2006/main">
            <a:r>
              <a:t>La instrumentación de un mecanismo UAV exige una medida antes de poder hablar de realimentación.</a:t>
            </a:r>
          </a:p>
          <a:p xmlns:a="http://schemas.openxmlformats.org/drawingml/2006/main">
            <a:r>
              <a:t>Conversión de una fila, definición de cuenta por vuelta y comparación de ventanas.</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Encoder e interrupciones: medir velocidad con una definición.</a:t>
            </a:r>
          </a:p>
          <a:p xmlns:a="http://schemas.openxmlformats.org/drawingml/2006/main">
            <a:r>
              <a:t>En línea, 2 horas. Núcleo de explicación: 5 minutos en esta diapositiva.</a:t>
            </a:r>
          </a:p>
          <a:p xmlns:a="http://schemas.openxmlformats.org/drawingml/2006/main">
            <a:r>
              <a:t/>
            </a:r>
          </a:p>
          <a:p xmlns:a="http://schemas.openxmlformats.org/drawingml/2006/main">
            <a:r>
              <a:t>Conversión de una fila, definición de cuenta por vuelta y comparación de ventanas.</a:t>
            </a:r>
          </a:p>
          <a:p xmlns:a="http://schemas.openxmlformats.org/drawingml/2006/main">
            <a:r>
              <a:t/>
            </a:r>
          </a:p>
          <a:p xmlns:a="http://schemas.openxmlformats.org/drawingml/2006/main">
            <a:r>
              <a:t>Objetivo: Calcular RPM desde pulsos usando el conteo por vuelta y el tiempo realmente transcurrido.</a:t>
            </a:r>
          </a:p>
          <a:p xmlns:a="http://schemas.openxmlformats.org/drawingml/2006/main">
            <a:r>
              <a:t>Aplicación: La instrumentación de un mecanismo UAV exige una medida antes de poder hablar de realimentación.</a:t>
            </a:r>
          </a:p>
          <a:p xmlns:a="http://schemas.openxmlformats.org/drawingml/2006/main">
            <a:r>
              <a:t>Entrega: Conversión de una fila, definición de cuenta por vuelta y comparación de ventanas.</a:t>
            </a:r>
          </a:p>
          <a:p xmlns:a="http://schemas.openxmlformats.org/drawingml/2006/main">
            <a:r>
              <a:t/>
            </a:r>
          </a:p>
          <a:p xmlns:a="http://schemas.openxmlformats.org/drawingml/2006/main">
            <a:r>
              <a:t>Preguntas y respuestas</a:t>
            </a:r>
          </a:p>
          <a:p xmlns:a="http://schemas.openxmlformats.org/drawingml/2006/main">
            <a:r>
              <a:t>¿PPR basta sin saber qué cuenta la biblioteca?</a:t>
            </a:r>
          </a:p>
          <a:p xmlns:a="http://schemas.openxmlformats.org/drawingml/2006/main">
            <a:r>
              <a:t>No. Se necesita la cuenta efectiva del método y la referencia mecánica.</a:t>
            </a:r>
          </a:p>
          <a:p xmlns:a="http://schemas.openxmlformats.org/drawingml/2006/main">
            <a:r>
              <a:t/>
            </a:r>
          </a:p>
          <a:p xmlns:a="http://schemas.openxmlformats.org/drawingml/2006/main">
            <a:r>
              <a:t>¿volatile protege copiar y reiniciar un contador?</a:t>
            </a:r>
          </a:p>
          <a:p xmlns:a="http://schemas.openxmlformats.org/drawingml/2006/main">
            <a:r>
              <a:t>No garantiza que la secuencia sea indivisible; se coordina el acceso compartido.</a:t>
            </a:r>
          </a:p>
          <a:p xmlns:a="http://schemas.openxmlformats.org/drawingml/2006/main">
            <a:r>
              <a:t/>
            </a:r>
          </a:p>
          <a:p xmlns:a="http://schemas.openxmlformats.org/drawingml/2006/main">
            <a:r>
              <a:t>¿Ventana mayor mejora todo?</a:t>
            </a:r>
          </a:p>
          <a:p xmlns:a="http://schemas.openxmlformats.org/drawingml/2006/main">
            <a:r>
              <a:t>Reduce el salto de conteo, pero prolonga el promedio y cambia la respuesta temporal.</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Espressif Systems. Arduino-ESP32: Serial/UART. https://docs.espressif.com/projects/arduino-esp32/en/latest/api/serial.html</a:t>
            </a:r>
          </a:p>
          <a:p xmlns:a="http://schemas.openxmlformats.org/drawingml/2006/main">
            <a:r>
              <a:t>Åström y Murray. Feedback Systems: An Introduction for Scientists and Engineers; edición electrónica de los autores. https://www.cds.caltech.edu/~murray/books/AM08/</a:t>
            </a:r>
          </a:p>
          <a:p xmlns:a="http://schemas.openxmlformats.org/drawingml/2006/main">
            <a:r>
              <a:t>Lectura MECRO_ESP32_Clase_10.pdf.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6f4e94db2c48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9e101b6aa14c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98cd77e66d43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af764bb4c245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0c4947e0a74f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6ddd45410744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759959-2BAB-43BD-9AF0-7C910D4005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F52C9F0-811C-4CDD-A3DF-771C48EC94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6B5154D-901F-4679-B8CF-86D63A97DB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C2BAB1-7223-4996-B63F-FBCDA1112E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7D058A7-19AC-42EF-B6A4-73C81A6BC76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07351C-248A-4EBA-B584-85414E9DE8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22DA7A-84DA-4B5F-BB9E-B16BAC0E52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BC035D-2FD7-4BAD-8C07-AE36E00A36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92B853-A32D-4E7D-BC28-1AA151CB6E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E1394C1-E00E-4BE4-9462-ACD02B60A6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4abb784b9b4bd4" /><Relationship Type="http://schemas.openxmlformats.org/officeDocument/2006/relationships/slideLayout" Target="/ppt/slideLayouts/slideLayout1.xml" Id="R1c49c01764d040ae" /><Relationship Type="http://schemas.openxmlformats.org/officeDocument/2006/relationships/slideLayout" Target="/ppt/slideLayouts/slideLayout2.xml" Id="R1e8dfa50d77b4cd7" /><Relationship Type="http://schemas.openxmlformats.org/officeDocument/2006/relationships/slideLayout" Target="/ppt/slideLayouts/slideLayout3.xml" Id="Rfa0b219d0ce74bd3" /><Relationship Type="http://schemas.openxmlformats.org/officeDocument/2006/relationships/slideLayout" Target="/ppt/slideLayouts/slideLayout4.xml" Id="R9029692bce8b4867" /><Relationship Type="http://schemas.openxmlformats.org/officeDocument/2006/relationships/slideLayout" Target="/ppt/slideLayouts/slideLayout5.xml" Id="R767ddc880f184b8e" /><Relationship Type="http://schemas.openxmlformats.org/officeDocument/2006/relationships/slideLayout" Target="/ppt/slideLayouts/slideLayout6.xml" Id="R140072a1b3b240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49c01764d040ae"/>
    <p:sldLayoutId xmlns:r="http://schemas.openxmlformats.org/officeDocument/2006/relationships" id="2147483650" r:id="R1e8dfa50d77b4cd7"/>
    <p:sldLayoutId xmlns:r="http://schemas.openxmlformats.org/officeDocument/2006/relationships" id="2147483651" r:id="Rfa0b219d0ce74bd3"/>
    <p:sldLayoutId xmlns:r="http://schemas.openxmlformats.org/officeDocument/2006/relationships" id="2147483652" r:id="R9029692bce8b4867"/>
    <p:sldLayoutId xmlns:r="http://schemas.openxmlformats.org/officeDocument/2006/relationships" id="2147483653" r:id="R767ddc880f184b8e"/>
    <p:sldLayoutId xmlns:r="http://schemas.openxmlformats.org/officeDocument/2006/relationships" id="2147483654" r:id="R140072a1b3b240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28b58143a44b06" /><Relationship Type="http://schemas.openxmlformats.org/officeDocument/2006/relationships/image" Target="/ppt/media/image.png" Id="R94461270522949c4" /><Relationship Type="http://schemas.openxmlformats.org/officeDocument/2006/relationships/notesSlide" Target="/ppt/notesSlides/notesSlide1.xml" Id="R0b3f5007da2643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79a09557e64efa" /><Relationship Type="http://schemas.openxmlformats.org/officeDocument/2006/relationships/image" Target="/ppt/media/image2.png" Id="R476428341fff4f3b" /><Relationship Type="http://schemas.openxmlformats.org/officeDocument/2006/relationships/notesSlide" Target="/ppt/notesSlides/notesSlide2.xml" Id="R36f99195159d49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05b7561f2243ed" /><Relationship Type="http://schemas.openxmlformats.org/officeDocument/2006/relationships/image" Target="/ppt/media/image3.png" Id="Rb5ccad3420ad4615" /><Relationship Type="http://schemas.openxmlformats.org/officeDocument/2006/relationships/notesSlide" Target="/ppt/notesSlides/notesSlide3.xml" Id="Rb622d570f73644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8ca8cc5e79498a" /><Relationship Type="http://schemas.openxmlformats.org/officeDocument/2006/relationships/image" Target="/ppt/media/image4.png" Id="R377f35e1a36b47a3" /><Relationship Type="http://schemas.openxmlformats.org/officeDocument/2006/relationships/notesSlide" Target="/ppt/notesSlides/notesSlide4.xml" Id="R6ac80fe2c0ea40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36044097c9f4fa9" /><Relationship Type="http://schemas.openxmlformats.org/officeDocument/2006/relationships/image" Target="/ppt/media/image5.png" Id="R8aaa06feed884b1f" /><Relationship Type="http://schemas.openxmlformats.org/officeDocument/2006/relationships/notesSlide" Target="/ppt/notesSlides/notesSlide5.xml" Id="Rf2620d6006bf40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c8cc18e69c4e9b" /><Relationship Type="http://schemas.openxmlformats.org/officeDocument/2006/relationships/image" Target="/ppt/media/image6.png" Id="Rdd1ce0c904f945c3" /><Relationship Type="http://schemas.openxmlformats.org/officeDocument/2006/relationships/notesSlide" Target="/ppt/notesSlides/notesSlide6.xml" Id="R89fec5b17ee445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2b26decb4204f2f" /><Relationship Type="http://schemas.openxmlformats.org/officeDocument/2006/relationships/image" Target="/ppt/media/image7.png" Id="R881959e599ea4350" /><Relationship Type="http://schemas.openxmlformats.org/officeDocument/2006/relationships/notesSlide" Target="/ppt/notesSlides/notesSlide7.xml" Id="Rfb6073c572df48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45bf75b4c3467f" /><Relationship Type="http://schemas.openxmlformats.org/officeDocument/2006/relationships/image" Target="/ppt/media/image8.png" Id="R877b45f7bd844ec8" /><Relationship Type="http://schemas.openxmlformats.org/officeDocument/2006/relationships/notesSlide" Target="/ppt/notesSlides/notesSlide8.xml" Id="Rd6c33628b98947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e0a2906bd94c0b" /><Relationship Type="http://schemas.openxmlformats.org/officeDocument/2006/relationships/image" Target="/ppt/media/image9.png" Id="Rd77fcf9ec30a4d61" /><Relationship Type="http://schemas.openxmlformats.org/officeDocument/2006/relationships/notesSlide" Target="/ppt/notesSlides/notesSlide9.xml" Id="R3548c0760b8a40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f3bb86fd98d4fbe" /><Relationship Type="http://schemas.openxmlformats.org/officeDocument/2006/relationships/image" Target="/ppt/media/image10.png" Id="Rdc79f5ed51e844ca" /><Relationship Type="http://schemas.openxmlformats.org/officeDocument/2006/relationships/chart" Target="/ppt/slides/charts/chart1.xml" Id="R7f7002ab7127487e" /><Relationship Type="http://schemas.openxmlformats.org/officeDocument/2006/relationships/notesSlide" Target="/ppt/notesSlides/notesSlide10.xml" Id="Rd33ff39131a742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e33183e71942f8" /><Relationship Type="http://schemas.openxmlformats.org/officeDocument/2006/relationships/image" Target="/ppt/media/image11.png" Id="R1c20044e783548df" /><Relationship Type="http://schemas.openxmlformats.org/officeDocument/2006/relationships/notesSlide" Target="/ppt/notesSlides/notesSlide11.xml" Id="R240933ce75f5402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773bc1639134420" /><Relationship Type="http://schemas.openxmlformats.org/officeDocument/2006/relationships/image" Target="/ppt/media/image12.png" Id="Re3e9c1e1289f4e4a" /><Relationship Type="http://schemas.openxmlformats.org/officeDocument/2006/relationships/notesSlide" Target="/ppt/notesSlides/notesSlide12.xml" Id="Ra5321342bc754f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4e2338a84e04e91" /><Relationship Type="http://schemas.openxmlformats.org/officeDocument/2006/relationships/image" Target="/ppt/media/image13.png" Id="Rafe91cfd44d74c9a" /><Relationship Type="http://schemas.openxmlformats.org/officeDocument/2006/relationships/notesSlide" Target="/ppt/notesSlides/notesSlide13.xml" Id="R4eff41efacdc48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d4be51393fa4488" /><Relationship Type="http://schemas.openxmlformats.org/officeDocument/2006/relationships/image" Target="/ppt/media/image14.png" Id="Rc49995785eab442d" /><Relationship Type="http://schemas.openxmlformats.org/officeDocument/2006/relationships/notesSlide" Target="/ppt/notesSlides/notesSlide14.xml" Id="R9332f8520cd34a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e4d807346b44040" /><Relationship Type="http://schemas.openxmlformats.org/officeDocument/2006/relationships/image" Target="/ppt/media/image15.png" Id="R640a98cfab284a41" /><Relationship Type="http://schemas.openxmlformats.org/officeDocument/2006/relationships/notesSlide" Target="/ppt/notesSlides/notesSlide15.xml" Id="R55d67f48af0e4d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7ca2bcc85dd49e2" /><Relationship Type="http://schemas.openxmlformats.org/officeDocument/2006/relationships/image" Target="/ppt/media/image16.png" Id="Rcee7bb445c5a43e4" /><Relationship Type="http://schemas.openxmlformats.org/officeDocument/2006/relationships/notesSlide" Target="/ppt/notesSlides/notesSlide16.xml" Id="R3a1c8dd696724b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db6614e5c004e42" /><Relationship Type="http://schemas.openxmlformats.org/officeDocument/2006/relationships/image" Target="/ppt/media/image17.png" Id="R8dd1f257ed1d4a98" /><Relationship Type="http://schemas.openxmlformats.org/officeDocument/2006/relationships/notesSlide" Target="/ppt/notesSlides/notesSlide17.xml" Id="R5c98c63982124f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2ca298d7c5643db" /><Relationship Type="http://schemas.openxmlformats.org/officeDocument/2006/relationships/image" Target="/ppt/media/image18.png" Id="Ra6cbfa3c54b34bc5" /><Relationship Type="http://schemas.openxmlformats.org/officeDocument/2006/relationships/notesSlide" Target="/ppt/notesSlides/notesSlide18.xml" Id="Rabe7fbef4bee497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731c9f5c59648e7" /><Relationship Type="http://schemas.openxmlformats.org/officeDocument/2006/relationships/image" Target="/ppt/media/image19.png" Id="R0995b519f1b44312" /><Relationship Type="http://schemas.openxmlformats.org/officeDocument/2006/relationships/notesSlide" Target="/ppt/notesSlides/notesSlide19.xml" Id="R1a2bae85565346f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3c08417843544b3" /><Relationship Type="http://schemas.openxmlformats.org/officeDocument/2006/relationships/image" Target="/ppt/media/image20.png" Id="R31a44dcb8c644b2d" /><Relationship Type="http://schemas.openxmlformats.org/officeDocument/2006/relationships/notesSlide" Target="/ppt/notesSlides/notesSlide20.xml" Id="R3b9d84ee1c07409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9579303634c42fc" /><Relationship Type="http://schemas.openxmlformats.org/officeDocument/2006/relationships/image" Target="/ppt/media/image21.png" Id="R6ffc4dc6d3284b3c" /><Relationship Type="http://schemas.openxmlformats.org/officeDocument/2006/relationships/notesSlide" Target="/ppt/notesSlides/notesSlide21.xml" Id="Rd2d5cf9d368c449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575636652b94fa6" /><Relationship Type="http://schemas.openxmlformats.org/officeDocument/2006/relationships/image" Target="/ppt/media/image22.png" Id="R692b386411d3494d" /><Relationship Type="http://schemas.openxmlformats.org/officeDocument/2006/relationships/notesSlide" Target="/ppt/notesSlides/notesSlide22.xml" Id="Rb6901710f54948f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a942edae8aa4441" /><Relationship Type="http://schemas.openxmlformats.org/officeDocument/2006/relationships/image" Target="/ppt/media/image23.png" Id="R10019618731142f8" /><Relationship Type="http://schemas.openxmlformats.org/officeDocument/2006/relationships/notesSlide" Target="/ppt/notesSlides/notesSlide23.xml" Id="Rb0aa669e91fd4c6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f21d00e90044616" /><Relationship Type="http://schemas.openxmlformats.org/officeDocument/2006/relationships/image" Target="/ppt/media/image24.png" Id="R15d5bb3ee21a43f7" /><Relationship Type="http://schemas.openxmlformats.org/officeDocument/2006/relationships/notesSlide" Target="/ppt/notesSlides/notesSlide24.xml" Id="Re76b0b03c5b74a4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4473a610e4920" /><Relationship Type="http://schemas.openxmlformats.org/officeDocument/2006/relationships/image" Target="/ppt/media/image25.png" Id="Ra24319a3efef4aac" /><Relationship Type="http://schemas.openxmlformats.org/officeDocument/2006/relationships/notesSlide" Target="/ppt/notesSlides/notesSlide25.xml" Id="Rd7eb7eb072504e3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d7361bd37714a95" /><Relationship Type="http://schemas.openxmlformats.org/officeDocument/2006/relationships/image" Target="/ppt/media/image26.png" Id="R0c95039980fd4b76" /><Relationship Type="http://schemas.openxmlformats.org/officeDocument/2006/relationships/notesSlide" Target="/ppt/notesSlides/notesSlide26.xml" Id="Rb612e87e9da54f2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319f620273943b4" /><Relationship Type="http://schemas.openxmlformats.org/officeDocument/2006/relationships/image" Target="/ppt/media/image27.png" Id="R00a1d21590f546d7" /><Relationship Type="http://schemas.openxmlformats.org/officeDocument/2006/relationships/notesSlide" Target="/ppt/notesSlides/notesSlide27.xml" Id="R679dfb42f2ec45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006d79931e6474a" /><Relationship Type="http://schemas.openxmlformats.org/officeDocument/2006/relationships/image" Target="/ppt/media/image28.png" Id="R6ff454ac48e24f4f" /><Relationship Type="http://schemas.openxmlformats.org/officeDocument/2006/relationships/notesSlide" Target="/ppt/notesSlides/notesSlide28.xml" Id="Rd4b022dbb1ed4f9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855e34e588c4f2d" /><Relationship Type="http://schemas.openxmlformats.org/officeDocument/2006/relationships/image" Target="/ppt/media/image29.png" Id="R44d48786cd3340f9" /><Relationship Type="http://schemas.openxmlformats.org/officeDocument/2006/relationships/notesSlide" Target="/ppt/notesSlides/notesSlide29.xml" Id="R2d8d342a1e9a469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f481f64295245d1" /><Relationship Type="http://schemas.openxmlformats.org/officeDocument/2006/relationships/image" Target="/ppt/media/image30.png" Id="Re12ae35139414cd5" /><Relationship Type="http://schemas.openxmlformats.org/officeDocument/2006/relationships/notesSlide" Target="/ppt/notesSlides/notesSlide30.xml" Id="R5189065120dc43b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130ec65155648cb" /><Relationship Type="http://schemas.openxmlformats.org/officeDocument/2006/relationships/image" Target="/ppt/media/image31.png" Id="R110eca7f4dc84902" /><Relationship Type="http://schemas.openxmlformats.org/officeDocument/2006/relationships/image" Target="/ppt/media/image32.png" Id="R067abd754a994b00" /><Relationship Type="http://schemas.openxmlformats.org/officeDocument/2006/relationships/notesSlide" Target="/ppt/notesSlides/notesSlide31.xml" Id="R1ddec83142ed43a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80e622200624f71" /><Relationship Type="http://schemas.openxmlformats.org/officeDocument/2006/relationships/image" Target="/ppt/media/image33.png" Id="Rdc0e52bf91a34f3e" /><Relationship Type="http://schemas.openxmlformats.org/officeDocument/2006/relationships/notesSlide" Target="/ppt/notesSlides/notesSlide32.xml" Id="Rc9a6cb30ef84460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a7554e7eee5403f" /><Relationship Type="http://schemas.openxmlformats.org/officeDocument/2006/relationships/image" Target="/ppt/media/image34.png" Id="R60742f99bacc46b7" /><Relationship Type="http://schemas.openxmlformats.org/officeDocument/2006/relationships/notesSlide" Target="/ppt/notesSlides/notesSlide33.xml" Id="R9fe93d66f81642c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896b4a0294f4219" /><Relationship Type="http://schemas.openxmlformats.org/officeDocument/2006/relationships/image" Target="/ppt/media/image35.png" Id="R3b472f170770456a" /><Relationship Type="http://schemas.openxmlformats.org/officeDocument/2006/relationships/chart" Target="/ppt/slides/charts/chart2.xml" Id="Rd9a06c549afe4f6c" /><Relationship Type="http://schemas.openxmlformats.org/officeDocument/2006/relationships/notesSlide" Target="/ppt/notesSlides/notesSlide34.xml" Id="R81b9482c7ca3441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f77c92a6dd54dc3" /><Relationship Type="http://schemas.openxmlformats.org/officeDocument/2006/relationships/image" Target="/ppt/media/image36.png" Id="R12023de04c6c465a" /><Relationship Type="http://schemas.openxmlformats.org/officeDocument/2006/relationships/notesSlide" Target="/ppt/notesSlides/notesSlide35.xml" Id="Re5c1e76685fd46f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e703bf518c741d3" /><Relationship Type="http://schemas.openxmlformats.org/officeDocument/2006/relationships/image" Target="/ppt/media/image37.png" Id="Rb561794066f4425c" /><Relationship Type="http://schemas.openxmlformats.org/officeDocument/2006/relationships/notesSlide" Target="/ppt/notesSlides/notesSlide36.xml" Id="R5f0fb8459b94404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5af03570e47402c" /><Relationship Type="http://schemas.openxmlformats.org/officeDocument/2006/relationships/image" Target="/ppt/media/image38.png" Id="R1ab69acf835745dc" /><Relationship Type="http://schemas.openxmlformats.org/officeDocument/2006/relationships/notesSlide" Target="/ppt/notesSlides/notesSlide37.xml" Id="R9821d1e0de3e425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990dc9786a1d40ed" /><Relationship Type="http://schemas.openxmlformats.org/officeDocument/2006/relationships/image" Target="/ppt/media/image39.png" Id="R0b37deb296b74975" /><Relationship Type="http://schemas.openxmlformats.org/officeDocument/2006/relationships/notesSlide" Target="/ppt/notesSlides/notesSlide38.xml" Id="R9248cbfc59784e3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33b2cd447e542f9" /><Relationship Type="http://schemas.openxmlformats.org/officeDocument/2006/relationships/image" Target="/ppt/media/image40.png" Id="R1c1f82247f0b4ed4" /><Relationship Type="http://schemas.openxmlformats.org/officeDocument/2006/relationships/notesSlide" Target="/ppt/notesSlides/notesSlide39.xml" Id="R5471106fe3624d2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e5575fdc36a411f" /><Relationship Type="http://schemas.openxmlformats.org/officeDocument/2006/relationships/image" Target="/ppt/media/image41.png" Id="Rfb2ee2bac196449a" /><Relationship Type="http://schemas.openxmlformats.org/officeDocument/2006/relationships/notesSlide" Target="/ppt/notesSlides/notesSlide40.xml" Id="R0225d84fd2274ca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e73b9b77a7b45eb" /><Relationship Type="http://schemas.openxmlformats.org/officeDocument/2006/relationships/image" Target="/ppt/media/image42.png" Id="Ree0f805a0f4c4ba7" /><Relationship Type="http://schemas.openxmlformats.org/officeDocument/2006/relationships/notesSlide" Target="/ppt/notesSlides/notesSlide41.xml" Id="Re989910def82451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2d87a79c78e47ed" /><Relationship Type="http://schemas.openxmlformats.org/officeDocument/2006/relationships/image" Target="/ppt/media/image43.png" Id="Rc18064d0769c4874" /><Relationship Type="http://schemas.openxmlformats.org/officeDocument/2006/relationships/notesSlide" Target="/ppt/notesSlides/notesSlide42.xml" Id="Rcd6e3e9dd324431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91dc317e6614d77" /><Relationship Type="http://schemas.openxmlformats.org/officeDocument/2006/relationships/image" Target="/ppt/media/image44.png" Id="R5400a1799ae64d07" /><Relationship Type="http://schemas.openxmlformats.org/officeDocument/2006/relationships/notesSlide" Target="/ppt/notesSlides/notesSlide43.xml" Id="R96d1ce1075ac407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b9f8835bfcd4456" /><Relationship Type="http://schemas.openxmlformats.org/officeDocument/2006/relationships/image" Target="/ppt/media/image45.png" Id="R670597e550044232" /><Relationship Type="http://schemas.openxmlformats.org/officeDocument/2006/relationships/notesSlide" Target="/ppt/notesSlides/notesSlide44.xml" Id="R745b4c685615442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4d5b9a0cc9e040b3" /><Relationship Type="http://schemas.openxmlformats.org/officeDocument/2006/relationships/image" Target="/ppt/media/image46.png" Id="Rb3a9050c84214116" /><Relationship Type="http://schemas.openxmlformats.org/officeDocument/2006/relationships/notesSlide" Target="/ppt/notesSlides/notesSlide45.xml" Id="R824cf1dbc7ae441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3f04057644a4d46" /><Relationship Type="http://schemas.openxmlformats.org/officeDocument/2006/relationships/image" Target="/ppt/media/image47.png" Id="R6735ec43584a4a91" /><Relationship Type="http://schemas.openxmlformats.org/officeDocument/2006/relationships/notesSlide" Target="/ppt/notesSlides/notesSlide46.xml" Id="Ra6029fbf5fdb44b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dee1e62887f4320" /><Relationship Type="http://schemas.openxmlformats.org/officeDocument/2006/relationships/image" Target="/ppt/media/image48.png" Id="Rf08e1fecacd54c2c" /><Relationship Type="http://schemas.openxmlformats.org/officeDocument/2006/relationships/notesSlide" Target="/ppt/notesSlides/notesSlide47.xml" Id="Rc9a5598e7b804b3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0e82b4ee5ad4175" /><Relationship Type="http://schemas.openxmlformats.org/officeDocument/2006/relationships/image" Target="/ppt/media/image49.png" Id="Ree223a695c994eda" /><Relationship Type="http://schemas.openxmlformats.org/officeDocument/2006/relationships/notesSlide" Target="/ppt/notesSlides/notesSlide48.xml" Id="Rdf4771550b1844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Velocidad / krpm</c:v>
          </c:tx>
          <c:spPr>
            <a:solidFill xmlns:a="http://schemas.openxmlformats.org/drawingml/2006/main">
              <a:srgbClr val="244F3D"/>
            </a:solidFill>
            <a:ln xmlns:a="http://schemas.openxmlformats.org/drawingml/2006/main" w="28575">
              <a:solidFill>
                <a:srgbClr val="244F3D"/>
              </a:solidFill>
            </a:ln>
          </c:spPr>
          <c:invertIfNegative val="0"/>
          <c:cat>
            <c:strRef>
              <c:f>'Chart Data'!$A$2:$A$5</c:f>
              <c:strCache>
                <c:ptCount val="4"/>
                <c:pt idx="0">
                  <c:v>0 %</c:v>
                </c:pt>
                <c:pt idx="1">
                  <c:v>20 %</c:v>
                </c:pt>
                <c:pt idx="2">
                  <c:v>60 %</c:v>
                </c:pt>
                <c:pt idx="3">
                  <c:v>100 %</c:v>
                </c:pt>
              </c:strCache>
            </c:strRef>
          </c:cat>
          <c:val>
            <c:numRef>
              <c:f>'Chart Data'!$B$2:$B$5</c:f>
              <c:numCache>
                <c:formatCode>0.0</c:formatCode>
                <c:ptCount val="4"/>
                <c:pt idx="0">
                  <c:v>0</c:v>
                </c:pt>
                <c:pt idx="1">
                  <c:v>0.08</c:v>
                </c:pt>
                <c:pt idx="2">
                  <c:v>0.57</c:v>
                </c:pt>
                <c:pt idx="3">
                  <c:v>0.95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Velocidad / krpm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0.2"/>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RPM por cuenta</c:v>
          </c:tx>
          <c:spPr>
            <a:solidFill xmlns:a="http://schemas.openxmlformats.org/drawingml/2006/main">
              <a:srgbClr val="244F3D"/>
            </a:solidFill>
            <a:ln xmlns:a="http://schemas.openxmlformats.org/drawingml/2006/main" w="28575">
              <a:solidFill>
                <a:srgbClr val="244F3D"/>
              </a:solidFill>
            </a:ln>
          </c:spPr>
          <c:invertIfNegative val="0"/>
          <c:cat>
            <c:strRef>
              <c:f>'Chart Data'!$A$2:$A$4</c:f>
              <c:strCache>
                <c:ptCount val="3"/>
                <c:pt idx="0">
                  <c:v>50 ms</c:v>
                </c:pt>
                <c:pt idx="1">
                  <c:v>100 ms</c:v>
                </c:pt>
                <c:pt idx="2">
                  <c:v>250 ms</c:v>
                </c:pt>
              </c:strCache>
            </c:strRef>
          </c:cat>
          <c:val>
            <c:numRef>
              <c:f>'Chart Data'!$B$2:$B$4</c:f>
              <c:numCache>
                <c:formatCode>0</c:formatCode>
                <c:ptCount val="3"/>
                <c:pt idx="0">
                  <c:v>60</c:v>
                </c:pt>
                <c:pt idx="1">
                  <c:v>30</c:v>
                </c:pt>
                <c:pt idx="2">
                  <c:v>12</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4231E"/>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D7DFD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RPM por cuenta · N = 20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5F"/>
                </a:solidFill>
                <a:latin typeface="Arial"/>
                <a:ea typeface="Arial"/>
                <a:cs typeface="Arial"/>
              </a:defRPr>
            </a:pPr>
          </a:p>
        </c:txPr>
        <c:crossAx val="48650112"/>
        <c:crossBetween val="between"/>
        <c:majorUnit val="20"/>
      </c:valAx>
      <c:spPr>
        <a:solidFill xmlns:a="http://schemas.openxmlformats.org/drawingml/2006/main">
          <a:srgbClr val="FCFCF8"/>
        </a:solidFill>
      </c:spPr>
    </c:plotArea>
    <c:plotVisOnly val="1"/>
  </c:chart>
  <c:spPr>
    <a:solidFill xmlns:a="http://schemas.openxmlformats.org/drawingml/2006/main">
      <a:srgbClr val="FCFC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0640DE-3449-49AB-8FD6-799CCF84BEB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Motores y etapa de potencia: la orden no es la energía</a:t>
            </a:r>
          </a:p>
        </p:txBody>
      </p:sp>
      <p:pic>
        <p:nvPicPr>
          <p:cNvPr id="2" name="">
            <a:extLst xmlns:a="http://schemas.openxmlformats.org/drawingml/2006/main">
              <a:ext uri="{FF2B5EF4-FFF2-40B4-BE49-F238E27FC236}">
                <a16:creationId xmlns:a16="http://schemas.microsoft.com/office/drawing/2014/main" id="{98A9CD2C-331E-4F76-BBE4-3FC793B150CD}"/>
              </a:ext>
            </a:extLst>
          </p:cNvPr>
          <p:cNvPicPr>
            <a:picLocks xmlns:a="http://schemas.openxmlformats.org/drawingml/2006/main" noChangeAspect="1"/>
          </p:cNvPicPr>
          <p:nvPr/>
        </p:nvPicPr>
        <p:blipFill>
          <a:blip xmlns:r="http://schemas.openxmlformats.org/officeDocument/2006/relationships" xmlns:a="http://schemas.openxmlformats.org/drawingml/2006/main" r:embed="R94461270522949c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ED46E6-0268-4994-8F79-C4D3FCBBD42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01/24</a:t>
            </a:r>
          </a:p>
        </p:txBody>
      </p:sp>
      <p:sp>
        <p:nvSpPr>
          <p:cNvPr id="4" name="">
            <a:extLst xmlns:a="http://schemas.openxmlformats.org/drawingml/2006/main">
              <a:ext uri="{FF2B5EF4-FFF2-40B4-BE49-F238E27FC236}">
                <a16:creationId xmlns:a16="http://schemas.microsoft.com/office/drawing/2014/main" id="{6A109C60-97FC-46B7-B6FF-66BCFADB45F5}"/>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Reconocer un driver y caracterizar un motor DC de banco sin confundir PWM con velocidad medida.</a:t>
            </a:r>
          </a:p>
        </p:txBody>
      </p:sp>
      <p:sp>
        <p:nvSpPr>
          <p:cNvPr id="5" name="">
            <a:extLst xmlns:a="http://schemas.openxmlformats.org/drawingml/2006/main">
              <a:ext uri="{FF2B5EF4-FFF2-40B4-BE49-F238E27FC236}">
                <a16:creationId xmlns:a16="http://schemas.microsoft.com/office/drawing/2014/main" id="{36F6D184-B5B0-4A07-A950-177AEDBABE4D}"/>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cadena controlador, etapa de potencia y motor permite entender la arquitectura de propulsión y de mecanismos auxiliares de un UAV.</a:t>
            </a:r>
          </a:p>
        </p:txBody>
      </p:sp>
      <p:sp>
        <p:nvSpPr>
          <p:cNvPr id="6" name="">
            <a:extLst xmlns:a="http://schemas.openxmlformats.org/drawingml/2006/main">
              <a:ext uri="{FF2B5EF4-FFF2-40B4-BE49-F238E27FC236}">
                <a16:creationId xmlns:a16="http://schemas.microsoft.com/office/drawing/2014/main" id="{19174D70-DEB2-43F8-8E7F-53BCD4788CAD}"/>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1438432700"/>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5377C9-7966-4736-AA37-25ACE3B9717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cadena con funciones separadas</a:t>
            </a:r>
          </a:p>
        </p:txBody>
      </p:sp>
      <p:pic>
        <p:nvPicPr>
          <p:cNvPr id="2" name="">
            <a:extLst xmlns:a="http://schemas.openxmlformats.org/drawingml/2006/main">
              <a:ext uri="{FF2B5EF4-FFF2-40B4-BE49-F238E27FC236}">
                <a16:creationId xmlns:a16="http://schemas.microsoft.com/office/drawing/2014/main" id="{FA761291-87AB-4B8A-B7B8-344FAFF8AF32}"/>
              </a:ext>
            </a:extLst>
          </p:cNvPr>
          <p:cNvPicPr>
            <a:picLocks xmlns:a="http://schemas.openxmlformats.org/drawingml/2006/main" noChangeAspect="1"/>
          </p:cNvPicPr>
          <p:nvPr/>
        </p:nvPicPr>
        <p:blipFill>
          <a:blip xmlns:r="http://schemas.openxmlformats.org/officeDocument/2006/relationships" xmlns:a="http://schemas.openxmlformats.org/drawingml/2006/main" r:embed="R476428341fff4f3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40AB71-5AFF-474F-8F33-C3D23EFFAE4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02/24</a:t>
            </a:r>
          </a:p>
        </p:txBody>
      </p:sp>
      <p:sp>
        <p:nvSpPr>
          <p:cNvPr id="4" name="">
            <a:extLst xmlns:a="http://schemas.openxmlformats.org/drawingml/2006/main">
              <a:ext uri="{FF2B5EF4-FFF2-40B4-BE49-F238E27FC236}">
                <a16:creationId xmlns:a16="http://schemas.microsoft.com/office/drawing/2014/main" id="{0A104960-4CA2-4129-A584-52F73F63657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ESP32 produce señales de mando; la etapa de potencia dirige energía hacia la carga. Un motor DC puede consumir corrientes muy superiores a las de un GPIO y generar perturbaciones al conmutar o cambiar de movimiento. Por eso no se conecta como si fuera otro LED. El banco del curso identifica fuente, driver, motor, referencia y señal. Cada elemento aparece en el esquema antes de ejecutar el programa.</a:t>
            </a:r>
          </a:p>
        </p:txBody>
      </p:sp>
    </p:spTree>
    <p:extLst>
      <p:ext uri="{BB962C8B-B14F-4D97-AF65-F5344CB8AC3E}">
        <p14:creationId xmlns:p14="http://schemas.microsoft.com/office/powerpoint/2010/main" val="1775242788"/>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3F92DA-50CB-4127-B053-3327C4E8666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Cadena del banco DC</a:t>
            </a:r>
          </a:p>
        </p:txBody>
      </p:sp>
      <p:pic>
        <p:nvPicPr>
          <p:cNvPr id="2" name="">
            <a:extLst xmlns:a="http://schemas.openxmlformats.org/drawingml/2006/main">
              <a:ext uri="{FF2B5EF4-FFF2-40B4-BE49-F238E27FC236}">
                <a16:creationId xmlns:a16="http://schemas.microsoft.com/office/drawing/2014/main" id="{D76E0258-1A2D-4F06-A4EF-83B1FFB6BF81}"/>
              </a:ext>
            </a:extLst>
          </p:cNvPr>
          <p:cNvPicPr>
            <a:picLocks xmlns:a="http://schemas.openxmlformats.org/drawingml/2006/main" noChangeAspect="1"/>
          </p:cNvPicPr>
          <p:nvPr/>
        </p:nvPicPr>
        <p:blipFill>
          <a:blip xmlns:r="http://schemas.openxmlformats.org/officeDocument/2006/relationships" xmlns:a="http://schemas.openxmlformats.org/drawingml/2006/main" r:embed="Rb5ccad3420ad461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EE58875-7541-4202-93CA-AB206328049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03/24</a:t>
            </a:r>
          </a:p>
        </p:txBody>
      </p:sp>
      <p:graphicFrame>
        <p:nvGraphicFramePr>
          <p:cNvPr id="4" name="">
            <a:extLst xmlns:a="http://schemas.openxmlformats.org/drawingml/2006/main">
              <a:ext uri="{FF2B5EF4-FFF2-40B4-BE49-F238E27FC236}">
                <a16:creationId xmlns:a16="http://schemas.microsoft.com/office/drawing/2014/main" id="{F5F4CE51-C5C7-44FC-86AA-3940EDA391C4}"/>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Elemento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Función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Evidencia que se busca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ESP32</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Generar la orden</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Pin y configuración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Driver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Conmutar energía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Referencia y conexiones</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Fuente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Aportar potencia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Condición de alimentación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Motor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Producir movimiento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Estado y respuesta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204921846"/>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047BB3-D620-454B-BF29-AF01F54F821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Una cadena con funciones separadas</a:t>
            </a:r>
          </a:p>
        </p:txBody>
      </p:sp>
      <p:pic>
        <p:nvPicPr>
          <p:cNvPr id="2" name="">
            <a:extLst xmlns:a="http://schemas.openxmlformats.org/drawingml/2006/main">
              <a:ext uri="{FF2B5EF4-FFF2-40B4-BE49-F238E27FC236}">
                <a16:creationId xmlns:a16="http://schemas.microsoft.com/office/drawing/2014/main" id="{A84323B1-CCE5-4340-A55B-43E97DAAE72B}"/>
              </a:ext>
            </a:extLst>
          </p:cNvPr>
          <p:cNvPicPr>
            <a:picLocks xmlns:a="http://schemas.openxmlformats.org/drawingml/2006/main" noChangeAspect="1"/>
          </p:cNvPicPr>
          <p:nvPr/>
        </p:nvPicPr>
        <p:blipFill>
          <a:blip xmlns:r="http://schemas.openxmlformats.org/officeDocument/2006/relationships" xmlns:a="http://schemas.openxmlformats.org/drawingml/2006/main" r:embed="R377f35e1a36b47a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4C7B6CE-97A1-42F1-AF8A-96E064B6D83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04/24</a:t>
            </a:r>
          </a:p>
        </p:txBody>
      </p:sp>
      <p:sp>
        <p:nvSpPr>
          <p:cNvPr id="4" name="">
            <a:extLst xmlns:a="http://schemas.openxmlformats.org/drawingml/2006/main">
              <a:ext uri="{FF2B5EF4-FFF2-40B4-BE49-F238E27FC236}">
                <a16:creationId xmlns:a16="http://schemas.microsoft.com/office/drawing/2014/main" id="{43CC364C-DEC4-490D-9D70-72EB2E4D0BE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proyecto 15 del laboratorio aporta una base de control de dirección y PWM con L293D, pero al revisar la página su enlace de simulación está vacío y su imagen no se encuentra en la ruta publicada. El curso no depende de ese recurso ausente: aporta un ejemplo nuevo de mando de banco, una tabla de interfaz y una práctica virtual numérica. El montaje con motor se organiza con el material confirmado o en banco compartido.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Un motor DC de escobillas no representa toda la electrónica de un motor BLDC de dron. El primero sirve aquí para ver la separación entre orden y potencia y para aprender medición y realimentación. El ESC de un BLDC cumple otra interfaz y controla sus fases. Se compara la arquitectura sin trasladar automáticamente conexiones ni parámetros de un dispositivo al otro.</a:t>
            </a:r>
          </a:p>
        </p:txBody>
      </p:sp>
    </p:spTree>
    <p:extLst>
      <p:ext uri="{BB962C8B-B14F-4D97-AF65-F5344CB8AC3E}">
        <p14:creationId xmlns:p14="http://schemas.microsoft.com/office/powerpoint/2010/main" val="1661706137"/>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E11EC5-337A-4BA2-ACDE-C77EB104D32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Puente H, habilitación y alimentación</a:t>
            </a:r>
          </a:p>
        </p:txBody>
      </p:sp>
      <p:pic>
        <p:nvPicPr>
          <p:cNvPr id="2" name="">
            <a:extLst xmlns:a="http://schemas.openxmlformats.org/drawingml/2006/main">
              <a:ext uri="{FF2B5EF4-FFF2-40B4-BE49-F238E27FC236}">
                <a16:creationId xmlns:a16="http://schemas.microsoft.com/office/drawing/2014/main" id="{391521BE-5134-47B4-BE15-95C7048FD32E}"/>
              </a:ext>
            </a:extLst>
          </p:cNvPr>
          <p:cNvPicPr>
            <a:picLocks xmlns:a="http://schemas.openxmlformats.org/drawingml/2006/main" noChangeAspect="1"/>
          </p:cNvPicPr>
          <p:nvPr/>
        </p:nvPicPr>
        <p:blipFill>
          <a:blip xmlns:r="http://schemas.openxmlformats.org/officeDocument/2006/relationships" xmlns:a="http://schemas.openxmlformats.org/drawingml/2006/main" r:embed="R8aaa06feed884b1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855A836-BC18-48AE-BDD2-FE2FD77E73D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05/24</a:t>
            </a:r>
          </a:p>
        </p:txBody>
      </p:sp>
      <p:sp>
        <p:nvSpPr>
          <p:cNvPr id="4" name="">
            <a:extLst xmlns:a="http://schemas.openxmlformats.org/drawingml/2006/main">
              <a:ext uri="{FF2B5EF4-FFF2-40B4-BE49-F238E27FC236}">
                <a16:creationId xmlns:a16="http://schemas.microsoft.com/office/drawing/2014/main" id="{922968BC-4F74-4149-92B1-6C0289E6777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puente H permite aplicar distintas condiciones a los extremos de un motor. Las entradas de dirección y la habilitación deben interpretarse con la hoja del driver concreto. Deshabilitar, dejar libre y frenar no son necesariamente el mismo estado eléctrico. La clase comienza con movimiento en un solo sentido y parada de mando, de manera que la observación sea fácil de relacionar con las señales.</a:t>
            </a:r>
          </a:p>
        </p:txBody>
      </p:sp>
    </p:spTree>
    <p:extLst>
      <p:ext uri="{BB962C8B-B14F-4D97-AF65-F5344CB8AC3E}">
        <p14:creationId xmlns:p14="http://schemas.microsoft.com/office/powerpoint/2010/main" val="1259239135"/>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6345EF-C3B8-4248-A2FF-F710F766BD1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Perfil de conexiones del ejemplo nuevo</a:t>
            </a:r>
          </a:p>
        </p:txBody>
      </p:sp>
      <p:pic>
        <p:nvPicPr>
          <p:cNvPr id="2" name="">
            <a:extLst xmlns:a="http://schemas.openxmlformats.org/drawingml/2006/main">
              <a:ext uri="{FF2B5EF4-FFF2-40B4-BE49-F238E27FC236}">
                <a16:creationId xmlns:a16="http://schemas.microsoft.com/office/drawing/2014/main" id="{8F90A977-FFE0-4864-896E-CA6B8940C06A}"/>
              </a:ext>
            </a:extLst>
          </p:cNvPr>
          <p:cNvPicPr>
            <a:picLocks xmlns:a="http://schemas.openxmlformats.org/drawingml/2006/main" noChangeAspect="1"/>
          </p:cNvPicPr>
          <p:nvPr/>
        </p:nvPicPr>
        <p:blipFill>
          <a:blip xmlns:r="http://schemas.openxmlformats.org/officeDocument/2006/relationships" xmlns:a="http://schemas.openxmlformats.org/drawingml/2006/main" r:embed="Rdd1ce0c904f945c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89269EE-16D6-41AC-9C86-3C7F908FA78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06/24</a:t>
            </a:r>
          </a:p>
        </p:txBody>
      </p:sp>
      <p:graphicFrame>
        <p:nvGraphicFramePr>
          <p:cNvPr id="4" name="">
            <a:extLst xmlns:a="http://schemas.openxmlformats.org/drawingml/2006/main">
              <a:ext uri="{FF2B5EF4-FFF2-40B4-BE49-F238E27FC236}">
                <a16:creationId xmlns:a16="http://schemas.microsoft.com/office/drawing/2014/main" id="{4CC60DCD-25AC-4666-8F2F-E40AE4C9E7F6}"/>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Señal</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GPIO clásico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Papel</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ENABLE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25</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PWM de mando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IN1</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26</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Dirección del banco</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IN2</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27</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Dirección del banco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GND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Referencia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Según esquema del driver</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76216688"/>
      </p:ext>
    </p:extLst>
  </p:cSld>
</p:sld>
</file>

<file path=ppt/slides/slide7.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AC15C3-904D-4AE9-B87D-36CF1E6DC26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tensión que desaparece</a:t>
            </a:r>
          </a:p>
        </p:txBody>
      </p:sp>
      <p:pic>
        <p:nvPicPr>
          <p:cNvPr id="2" name="">
            <a:extLst xmlns:a="http://schemas.openxmlformats.org/drawingml/2006/main">
              <a:ext uri="{FF2B5EF4-FFF2-40B4-BE49-F238E27FC236}">
                <a16:creationId xmlns:a16="http://schemas.microsoft.com/office/drawing/2014/main" id="{110A1809-5B90-427B-B8BD-F2ED05B1B40A}"/>
              </a:ext>
            </a:extLst>
          </p:cNvPr>
          <p:cNvPicPr>
            <a:picLocks xmlns:a="http://schemas.openxmlformats.org/drawingml/2006/main" noChangeAspect="1"/>
          </p:cNvPicPr>
          <p:nvPr/>
        </p:nvPicPr>
        <p:blipFill>
          <a:blip xmlns:r="http://schemas.openxmlformats.org/officeDocument/2006/relationships" xmlns:a="http://schemas.openxmlformats.org/drawingml/2006/main" r:embed="R881959e599ea435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177280-0AA7-414E-819D-DBA0D9A491E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07/24</a:t>
            </a:r>
          </a:p>
        </p:txBody>
      </p:sp>
      <p:sp>
        <p:nvSpPr>
          <p:cNvPr id="4" name="">
            <a:extLst xmlns:a="http://schemas.openxmlformats.org/drawingml/2006/main">
              <a:ext uri="{FF2B5EF4-FFF2-40B4-BE49-F238E27FC236}">
                <a16:creationId xmlns:a16="http://schemas.microsoft.com/office/drawing/2014/main" id="{713863E0-66B6-4710-AE31-9F09FAD27A6A}"/>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La fuente entrega una tensión, pero en los bornes del motor se observa menos durante el movimiento. ¿La diferencia demuestra que el ADC falla?</a:t>
            </a:r>
          </a:p>
        </p:txBody>
      </p:sp>
      <p:sp>
        <p:nvSpPr>
          <p:cNvPr id="5" name="">
            <a:extLst xmlns:a="http://schemas.openxmlformats.org/drawingml/2006/main">
              <a:ext uri="{FF2B5EF4-FFF2-40B4-BE49-F238E27FC236}">
                <a16:creationId xmlns:a16="http://schemas.microsoft.com/office/drawing/2014/main" id="{0A8FC6A8-DCA0-440A-B93F-D5ACBAA1AE86}"/>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Primero se identifica qué se midió y se considera la caída de tensión en la etapa de potencia y en las conexiones bajo esa carga. El circuito se estudia antes de atribuir el síntoma a otro subsistema.</a:t>
            </a:r>
          </a:p>
        </p:txBody>
      </p:sp>
    </p:spTree>
    <p:extLst>
      <p:ext uri="{BB962C8B-B14F-4D97-AF65-F5344CB8AC3E}">
        <p14:creationId xmlns:p14="http://schemas.microsoft.com/office/powerpoint/2010/main" val="1924033106"/>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4840A8-B4AC-4361-B6C2-E6F43F86B5F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Caracterizar antes de controlar</a:t>
            </a:r>
          </a:p>
        </p:txBody>
      </p:sp>
      <p:pic>
        <p:nvPicPr>
          <p:cNvPr id="2" name="">
            <a:extLst xmlns:a="http://schemas.openxmlformats.org/drawingml/2006/main">
              <a:ext uri="{FF2B5EF4-FFF2-40B4-BE49-F238E27FC236}">
                <a16:creationId xmlns:a16="http://schemas.microsoft.com/office/drawing/2014/main" id="{95001235-3277-4BDC-979E-B31A7C43FFD0}"/>
              </a:ext>
            </a:extLst>
          </p:cNvPr>
          <p:cNvPicPr>
            <a:picLocks xmlns:a="http://schemas.openxmlformats.org/drawingml/2006/main" noChangeAspect="1"/>
          </p:cNvPicPr>
          <p:nvPr/>
        </p:nvPicPr>
        <p:blipFill>
          <a:blip xmlns:r="http://schemas.openxmlformats.org/officeDocument/2006/relationships" xmlns:a="http://schemas.openxmlformats.org/drawingml/2006/main" r:embed="R877b45f7bd844ec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F8D5737-5496-4BF1-BA2C-FECA2F0F4BF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08/24</a:t>
            </a:r>
          </a:p>
        </p:txBody>
      </p:sp>
      <p:sp>
        <p:nvSpPr>
          <p:cNvPr id="4" name="">
            <a:extLst xmlns:a="http://schemas.openxmlformats.org/drawingml/2006/main">
              <a:ext uri="{FF2B5EF4-FFF2-40B4-BE49-F238E27FC236}">
                <a16:creationId xmlns:a16="http://schemas.microsoft.com/office/drawing/2014/main" id="{CCAC8EB9-5242-480F-8C20-C7EC6DACB20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misma orden PWM no garantiza la misma velocidad con distintas cargas, tensiones o condiciones de arranque. Puede existir una zona en la que el motor aún no inicia movimiento y otra en la que sí continúa girando después de haber arrancado. Para estudiar esa respuesta se conservan fuente, montaje y sentido. Primero registramos el efecto observado; la próxima clase añadirá un método explícito de medición de RPM.</a:t>
            </a:r>
          </a:p>
        </p:txBody>
      </p:sp>
    </p:spTree>
    <p:extLst>
      <p:ext uri="{BB962C8B-B14F-4D97-AF65-F5344CB8AC3E}">
        <p14:creationId xmlns:p14="http://schemas.microsoft.com/office/powerpoint/2010/main" val="752596379"/>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01A441-589B-4E6B-9B6F-9AB651B435D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Datos sintéticos para practicar lectura</a:t>
            </a:r>
          </a:p>
        </p:txBody>
      </p:sp>
      <p:pic>
        <p:nvPicPr>
          <p:cNvPr id="2" name="">
            <a:extLst xmlns:a="http://schemas.openxmlformats.org/drawingml/2006/main">
              <a:ext uri="{FF2B5EF4-FFF2-40B4-BE49-F238E27FC236}">
                <a16:creationId xmlns:a16="http://schemas.microsoft.com/office/drawing/2014/main" id="{D1A62DE0-841F-4B5B-87C2-EE9EB055C02E}"/>
              </a:ext>
            </a:extLst>
          </p:cNvPr>
          <p:cNvPicPr>
            <a:picLocks xmlns:a="http://schemas.openxmlformats.org/drawingml/2006/main" noChangeAspect="1"/>
          </p:cNvPicPr>
          <p:nvPr/>
        </p:nvPicPr>
        <p:blipFill>
          <a:blip xmlns:r="http://schemas.openxmlformats.org/officeDocument/2006/relationships" xmlns:a="http://schemas.openxmlformats.org/drawingml/2006/main" r:embed="Rd77fcf9ec30a4d6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33772CF-C076-47FE-A070-C6065347054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09/24</a:t>
            </a:r>
          </a:p>
        </p:txBody>
      </p:sp>
      <p:graphicFrame>
        <p:nvGraphicFramePr>
          <p:cNvPr id="4" name="">
            <a:extLst xmlns:a="http://schemas.openxmlformats.org/drawingml/2006/main">
              <a:ext uri="{FF2B5EF4-FFF2-40B4-BE49-F238E27FC236}">
                <a16:creationId xmlns:a16="http://schemas.microsoft.com/office/drawing/2014/main" id="{247B3EA0-8B0F-476F-BEA9-119246197260}"/>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Mando / %</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Velocidad / RPM</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Condición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0</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Modelo didáctico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20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80</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Modelo didáctico</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60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570</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Modelo didáctico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100</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950</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Modelo didáctico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907271262"/>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1FA6EF-F627-44FA-AA84-54984BEC143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Mismo motor: PWM y velocidad no son iguales</a:t>
            </a:r>
          </a:p>
        </p:txBody>
      </p:sp>
      <p:pic>
        <p:nvPicPr>
          <p:cNvPr id="2" name="">
            <a:extLst xmlns:a="http://schemas.openxmlformats.org/drawingml/2006/main">
              <a:ext uri="{FF2B5EF4-FFF2-40B4-BE49-F238E27FC236}">
                <a16:creationId xmlns:a16="http://schemas.microsoft.com/office/drawing/2014/main" id="{AC9E068D-7746-49BB-A6B8-F0350DFC48A1}"/>
              </a:ext>
            </a:extLst>
          </p:cNvPr>
          <p:cNvPicPr>
            <a:picLocks xmlns:a="http://schemas.openxmlformats.org/drawingml/2006/main" noChangeAspect="1"/>
          </p:cNvPicPr>
          <p:nvPr/>
        </p:nvPicPr>
        <p:blipFill>
          <a:blip xmlns:r="http://schemas.openxmlformats.org/officeDocument/2006/relationships" xmlns:a="http://schemas.openxmlformats.org/drawingml/2006/main" r:embed="Rdc79f5ed51e844c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5650D08-8111-415B-9556-C08AE6578E7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10/24</a:t>
            </a:r>
          </a:p>
        </p:txBody>
      </p:sp>
      <p:graphicFrame>
        <p:nvGraphicFramePr>
          <p:cNvPr id="4" name="Chart">
            <a:extLst xmlns:a="http://schemas.openxmlformats.org/drawingml/2006/main">
              <a:ext uri="{FF2B5EF4-FFF2-40B4-BE49-F238E27FC236}">
                <a16:creationId xmlns:a16="http://schemas.microsoft.com/office/drawing/2014/main" id="{108992C6-40E0-4DBE-AE64-E3576EEB23B2}"/>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7f7002ab7127487e"/>
          </a:graphicData>
        </a:graphic>
      </p:graphicFrame>
      <p:sp>
        <p:nvSpPr>
          <p:cNvPr id="5" name="">
            <a:extLst xmlns:a="http://schemas.openxmlformats.org/drawingml/2006/main">
              <a:ext uri="{FF2B5EF4-FFF2-40B4-BE49-F238E27FC236}">
                <a16:creationId xmlns:a16="http://schemas.microsoft.com/office/drawing/2014/main" id="{27E63899-CFCE-464F-9987-6B3010859C16}"/>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Datos sintéticos del caso de clase. El banco real debe caracterizarse con su fuente, motor, driver y carga.</a:t>
            </a:r>
          </a:p>
        </p:txBody>
      </p:sp>
    </p:spTree>
    <p:extLst>
      <p:ext uri="{BB962C8B-B14F-4D97-AF65-F5344CB8AC3E}">
        <p14:creationId xmlns:p14="http://schemas.microsoft.com/office/powerpoint/2010/main" val="363721617"/>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6749EC-0A88-4BCC-8704-50CEEDD50A1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Mando explícito y estado inicial</a:t>
            </a:r>
          </a:p>
        </p:txBody>
      </p:sp>
      <p:pic>
        <p:nvPicPr>
          <p:cNvPr id="2" name="">
            <a:extLst xmlns:a="http://schemas.openxmlformats.org/drawingml/2006/main">
              <a:ext uri="{FF2B5EF4-FFF2-40B4-BE49-F238E27FC236}">
                <a16:creationId xmlns:a16="http://schemas.microsoft.com/office/drawing/2014/main" id="{2256F89A-3F53-4DA5-B0A7-D032C7C501DE}"/>
              </a:ext>
            </a:extLst>
          </p:cNvPr>
          <p:cNvPicPr>
            <a:picLocks xmlns:a="http://schemas.openxmlformats.org/drawingml/2006/main" noChangeAspect="1"/>
          </p:cNvPicPr>
          <p:nvPr/>
        </p:nvPicPr>
        <p:blipFill>
          <a:blip xmlns:r="http://schemas.openxmlformats.org/officeDocument/2006/relationships" xmlns:a="http://schemas.openxmlformats.org/drawingml/2006/main" r:embed="R1c20044e783548d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6135D8F-0757-493B-9CD0-EDC4EB394E9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11/24</a:t>
            </a:r>
          </a:p>
        </p:txBody>
      </p:sp>
      <p:sp>
        <p:nvSpPr>
          <p:cNvPr id="4" name="">
            <a:extLst xmlns:a="http://schemas.openxmlformats.org/drawingml/2006/main">
              <a:ext uri="{FF2B5EF4-FFF2-40B4-BE49-F238E27FC236}">
                <a16:creationId xmlns:a16="http://schemas.microsoft.com/office/drawing/2014/main" id="{B520DE4D-AD3D-439F-97CB-B6494504474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ejemplo completo inicia con el driver deshabilitado y acepta órdenes por el monitor serie. El mando de aula se limita y vence si no se renueva. Ese comportamiento se documenta para evitar interpretar una parada temporal como un fallo del driver. La versión incluida trabaja en un solo sentido: el alumno estudia la tabla del componente antes de ampliar una inversión.</a:t>
            </a:r>
          </a:p>
        </p:txBody>
      </p:sp>
    </p:spTree>
    <p:extLst>
      <p:ext uri="{BB962C8B-B14F-4D97-AF65-F5344CB8AC3E}">
        <p14:creationId xmlns:p14="http://schemas.microsoft.com/office/powerpoint/2010/main" val="1225855833"/>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034098-2B74-4472-BA47-37D69E4CD57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Núcleo del banco c09_motor</a:t>
            </a:r>
          </a:p>
        </p:txBody>
      </p:sp>
      <p:pic>
        <p:nvPicPr>
          <p:cNvPr id="2" name="">
            <a:extLst xmlns:a="http://schemas.openxmlformats.org/drawingml/2006/main">
              <a:ext uri="{FF2B5EF4-FFF2-40B4-BE49-F238E27FC236}">
                <a16:creationId xmlns:a16="http://schemas.microsoft.com/office/drawing/2014/main" id="{F17D3428-9D36-42C5-9D52-9163C66B6D93}"/>
              </a:ext>
            </a:extLst>
          </p:cNvPr>
          <p:cNvPicPr>
            <a:picLocks xmlns:a="http://schemas.openxmlformats.org/drawingml/2006/main" noChangeAspect="1"/>
          </p:cNvPicPr>
          <p:nvPr/>
        </p:nvPicPr>
        <p:blipFill>
          <a:blip xmlns:r="http://schemas.openxmlformats.org/officeDocument/2006/relationships" xmlns:a="http://schemas.openxmlformats.org/drawingml/2006/main" r:embed="Re3e9c1e1289f4e4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672415F-5873-42B0-8052-24324D08661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12/24</a:t>
            </a:r>
          </a:p>
        </p:txBody>
      </p:sp>
      <p:sp>
        <p:nvSpPr>
          <p:cNvPr id="4" name="">
            <a:extLst xmlns:a="http://schemas.openxmlformats.org/drawingml/2006/main">
              <a:ext uri="{FF2B5EF4-FFF2-40B4-BE49-F238E27FC236}">
                <a16:creationId xmlns:a16="http://schemas.microsoft.com/office/drawing/2014/main" id="{E139B7C3-0F30-4005-808B-488B9D6D1EE2}"/>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El mando inicia en cero.</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(command == '+') duty = min(160, duty+20);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(command == 's') duty = 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(uint32_t(now-commandAt) &gt; 2000) duty = 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motor.write(duty);</a:t>
            </a:r>
          </a:p>
        </p:txBody>
      </p:sp>
      <p:sp>
        <p:nvSpPr>
          <p:cNvPr id="5" name="">
            <a:extLst xmlns:a="http://schemas.openxmlformats.org/drawingml/2006/main">
              <a:ext uri="{FF2B5EF4-FFF2-40B4-BE49-F238E27FC236}">
                <a16:creationId xmlns:a16="http://schemas.microsoft.com/office/drawing/2014/main" id="{0A0CC2A8-916D-4A6C-B9EF-1984BC34A5A4}"/>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846294372"/>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A36C5C-8239-4BE9-9AD4-48DD02C4870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Mando explícito y estado inicial</a:t>
            </a:r>
          </a:p>
        </p:txBody>
      </p:sp>
      <p:pic>
        <p:nvPicPr>
          <p:cNvPr id="2" name="">
            <a:extLst xmlns:a="http://schemas.openxmlformats.org/drawingml/2006/main">
              <a:ext uri="{FF2B5EF4-FFF2-40B4-BE49-F238E27FC236}">
                <a16:creationId xmlns:a16="http://schemas.microsoft.com/office/drawing/2014/main" id="{EC5676C2-40D2-4B8B-AFF1-7F9363FFFBEA}"/>
              </a:ext>
            </a:extLst>
          </p:cNvPr>
          <p:cNvPicPr>
            <a:picLocks xmlns:a="http://schemas.openxmlformats.org/drawingml/2006/main" noChangeAspect="1"/>
          </p:cNvPicPr>
          <p:nvPr/>
        </p:nvPicPr>
        <p:blipFill>
          <a:blip xmlns:r="http://schemas.openxmlformats.org/officeDocument/2006/relationships" xmlns:a="http://schemas.openxmlformats.org/drawingml/2006/main" r:embed="Rafe91cfd44d74c9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58A5040-2FC7-4D8C-ABC2-A3880AF031C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13/24</a:t>
            </a:r>
          </a:p>
        </p:txBody>
      </p:sp>
      <p:sp>
        <p:nvSpPr>
          <p:cNvPr id="4" name="">
            <a:extLst xmlns:a="http://schemas.openxmlformats.org/drawingml/2006/main">
              <a:ext uri="{FF2B5EF4-FFF2-40B4-BE49-F238E27FC236}">
                <a16:creationId xmlns:a16="http://schemas.microsoft.com/office/drawing/2014/main" id="{922CD670-8169-4779-8958-2CC0C9ADF72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frecuencia de PWM es una elección de diseño del banco. No se enseña que 5 kHz sea una frecuencia “ideal” universal para L293D. El efecto audible, las pérdidas de conmutación y el comportamiento del conjunto pueden cambiar con la frecuencia. El docente elige una condición de referencia compatible con su montaje y la mantiene durante la primera comparación. Cambiar frecuencia y carga simultáneamente no produce una prueba fácil de interpretar.</a:t>
            </a:r>
          </a:p>
        </p:txBody>
      </p:sp>
    </p:spTree>
    <p:extLst>
      <p:ext uri="{BB962C8B-B14F-4D97-AF65-F5344CB8AC3E}">
        <p14:creationId xmlns:p14="http://schemas.microsoft.com/office/powerpoint/2010/main" val="1993078434"/>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3FE394-3602-4968-A09E-FED90B41686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mando y respuesta</a:t>
            </a:r>
          </a:p>
        </p:txBody>
      </p:sp>
      <p:pic>
        <p:nvPicPr>
          <p:cNvPr id="2" name="">
            <a:extLst xmlns:a="http://schemas.openxmlformats.org/drawingml/2006/main">
              <a:ext uri="{FF2B5EF4-FFF2-40B4-BE49-F238E27FC236}">
                <a16:creationId xmlns:a16="http://schemas.microsoft.com/office/drawing/2014/main" id="{5C4AD607-E4B8-4488-859A-701B2FD86922}"/>
              </a:ext>
            </a:extLst>
          </p:cNvPr>
          <p:cNvPicPr>
            <a:picLocks xmlns:a="http://schemas.openxmlformats.org/drawingml/2006/main" noChangeAspect="1"/>
          </p:cNvPicPr>
          <p:nvPr/>
        </p:nvPicPr>
        <p:blipFill>
          <a:blip xmlns:r="http://schemas.openxmlformats.org/officeDocument/2006/relationships" xmlns:a="http://schemas.openxmlformats.org/drawingml/2006/main" r:embed="Rc49995785eab442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DBCCA5F-CA71-4E57-8CBD-12A59A3E9BF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14/24</a:t>
            </a:r>
          </a:p>
        </p:txBody>
      </p:sp>
      <p:sp>
        <p:nvSpPr>
          <p:cNvPr id="4" name="">
            <a:extLst xmlns:a="http://schemas.openxmlformats.org/drawingml/2006/main">
              <a:ext uri="{FF2B5EF4-FFF2-40B4-BE49-F238E27FC236}">
                <a16:creationId xmlns:a16="http://schemas.microsoft.com/office/drawing/2014/main" id="{E913869E-344E-48B1-A8CB-A3FDB52EFB0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comparación se realiza con motor de baja tensión sujeto en el banco y bajo el procedimiento docente. El alumno sin motor puede estudiar la señal de habilitación y resolver los registros sintéticos; la evidencia del ensayo físico queda a cargo del equipo que lo ejecuta. El propósito común es explicar la cadena completa, no afirmar que un movimiento visto en pantalla valida corriente o temperatura del hardware.</a:t>
            </a:r>
          </a:p>
        </p:txBody>
      </p:sp>
    </p:spTree>
    <p:extLst>
      <p:ext uri="{BB962C8B-B14F-4D97-AF65-F5344CB8AC3E}">
        <p14:creationId xmlns:p14="http://schemas.microsoft.com/office/powerpoint/2010/main" val="1210631585"/>
      </p:ext>
    </p:extLst>
  </p:cSld>
</p:sld>
</file>

<file path=ppt/slides/slide1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759762-7043-4E07-9D48-B7BAB9F01B2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067311EC-7385-44C0-9F51-A75324710DCB}"/>
              </a:ext>
            </a:extLst>
          </p:cNvPr>
          <p:cNvPicPr>
            <a:picLocks xmlns:a="http://schemas.openxmlformats.org/drawingml/2006/main" noChangeAspect="1"/>
          </p:cNvPicPr>
          <p:nvPr/>
        </p:nvPicPr>
        <p:blipFill>
          <a:blip xmlns:r="http://schemas.openxmlformats.org/officeDocument/2006/relationships" xmlns:a="http://schemas.openxmlformats.org/drawingml/2006/main" r:embed="R640a98cfab284a4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14F596A-22A1-4237-AD45-E4FBF8C4243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15/24</a:t>
            </a:r>
          </a:p>
        </p:txBody>
      </p:sp>
      <p:sp>
        <p:nvSpPr>
          <p:cNvPr id="4" name="">
            <a:extLst xmlns:a="http://schemas.openxmlformats.org/drawingml/2006/main">
              <a:ext uri="{FF2B5EF4-FFF2-40B4-BE49-F238E27FC236}">
                <a16:creationId xmlns:a16="http://schemas.microsoft.com/office/drawing/2014/main" id="{5B201078-3CC3-41AD-BBF0-F07F75E562FC}"/>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¿Dos fuentes implican aislamiento galvánico?</a:t>
            </a:r>
          </a:p>
        </p:txBody>
      </p:sp>
      <p:sp>
        <p:nvSpPr>
          <p:cNvPr id="5" name="">
            <a:extLst xmlns:a="http://schemas.openxmlformats.org/drawingml/2006/main">
              <a:ext uri="{FF2B5EF4-FFF2-40B4-BE49-F238E27FC236}">
                <a16:creationId xmlns:a16="http://schemas.microsoft.com/office/drawing/2014/main" id="{53824F56-5AD9-46F7-B24A-2570FD54D008}"/>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Identificar qué falta para hablar de RPM medidas.</a:t>
            </a:r>
          </a:p>
        </p:txBody>
      </p:sp>
    </p:spTree>
    <p:extLst>
      <p:ext uri="{BB962C8B-B14F-4D97-AF65-F5344CB8AC3E}">
        <p14:creationId xmlns:p14="http://schemas.microsoft.com/office/powerpoint/2010/main" val="1637901757"/>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C1BA27-FDDE-49EE-81FE-9BFA5180582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mando y respuesta</a:t>
            </a:r>
          </a:p>
        </p:txBody>
      </p:sp>
      <p:pic>
        <p:nvPicPr>
          <p:cNvPr id="2" name="">
            <a:extLst xmlns:a="http://schemas.openxmlformats.org/drawingml/2006/main">
              <a:ext uri="{FF2B5EF4-FFF2-40B4-BE49-F238E27FC236}">
                <a16:creationId xmlns:a16="http://schemas.microsoft.com/office/drawing/2014/main" id="{7F76517E-7FF7-414F-BD7C-D4DD32F3A072}"/>
              </a:ext>
            </a:extLst>
          </p:cNvPr>
          <p:cNvPicPr>
            <a:picLocks xmlns:a="http://schemas.openxmlformats.org/drawingml/2006/main" noChangeAspect="1"/>
          </p:cNvPicPr>
          <p:nvPr/>
        </p:nvPicPr>
        <p:blipFill>
          <a:blip xmlns:r="http://schemas.openxmlformats.org/officeDocument/2006/relationships" xmlns:a="http://schemas.openxmlformats.org/drawingml/2006/main" r:embed="Rcee7bb445c5a43e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9394664-8B41-419F-B500-807E392B1E3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16/24</a:t>
            </a:r>
          </a:p>
        </p:txBody>
      </p:sp>
      <p:sp>
        <p:nvSpPr>
          <p:cNvPr id="4" name="">
            <a:extLst xmlns:a="http://schemas.openxmlformats.org/drawingml/2006/main">
              <a:ext uri="{FF2B5EF4-FFF2-40B4-BE49-F238E27FC236}">
                <a16:creationId xmlns:a16="http://schemas.microsoft.com/office/drawing/2014/main" id="{07FAA6AA-CA14-465E-933B-F9AAFDD0FCB5}"/>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Presenta el esquema de la etapa y señala por dónde circula la energía del motor.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Comprueba alimentación lógica, alimentación de potencia e interfaz del componente.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Ejecuta c09_motor primero con la salida observada y sin una carga no revisada.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En el banco docente, ordena incrementos pequeños dentro del límite previsto y observa el inicio de movimiento.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Comprueba parada por orden y vencimiento del mando.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Registra configuración, orden, tensión observada y descripción del movimiento.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Prepara qué variable y qué sensor faltan para informar RPM.</a:t>
            </a:r>
          </a:p>
        </p:txBody>
      </p:sp>
    </p:spTree>
    <p:extLst>
      <p:ext uri="{BB962C8B-B14F-4D97-AF65-F5344CB8AC3E}">
        <p14:creationId xmlns:p14="http://schemas.microsoft.com/office/powerpoint/2010/main" val="17912468"/>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0C63EA-9013-465D-A441-710FA199146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Comparación con la arquitectura de drones</a:t>
            </a:r>
          </a:p>
        </p:txBody>
      </p:sp>
      <p:pic>
        <p:nvPicPr>
          <p:cNvPr id="2" name="">
            <a:extLst xmlns:a="http://schemas.openxmlformats.org/drawingml/2006/main">
              <a:ext uri="{FF2B5EF4-FFF2-40B4-BE49-F238E27FC236}">
                <a16:creationId xmlns:a16="http://schemas.microsoft.com/office/drawing/2014/main" id="{CB4639F2-A9C3-46DD-83EF-3E9C2E99B85D}"/>
              </a:ext>
            </a:extLst>
          </p:cNvPr>
          <p:cNvPicPr>
            <a:picLocks xmlns:a="http://schemas.openxmlformats.org/drawingml/2006/main" noChangeAspect="1"/>
          </p:cNvPicPr>
          <p:nvPr/>
        </p:nvPicPr>
        <p:blipFill>
          <a:blip xmlns:r="http://schemas.openxmlformats.org/officeDocument/2006/relationships" xmlns:a="http://schemas.openxmlformats.org/drawingml/2006/main" r:embed="R8dd1f257ed1d4a9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79B8C6-A918-48A6-935D-1606100A9BE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17/24</a:t>
            </a:r>
          </a:p>
        </p:txBody>
      </p:sp>
      <p:sp>
        <p:nvSpPr>
          <p:cNvPr id="4" name="">
            <a:extLst xmlns:a="http://schemas.openxmlformats.org/drawingml/2006/main">
              <a:ext uri="{FF2B5EF4-FFF2-40B4-BE49-F238E27FC236}">
                <a16:creationId xmlns:a16="http://schemas.microsoft.com/office/drawing/2014/main" id="{4D58AFA8-B8EC-4026-AECB-BD8D0F6331B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Para una carga mecánica auxiliar de UAV, elegir el actuador empieza por la función: posicionar un soporte, accionar una pieza o sostener una velocidad. El tipo de motor y la información que entrega su sistema cambian la arquitectura. En lugar de escoger por apariencia, el equipo escribe qué orden recibe y qué observación necesitaría para verificar su función.</a:t>
            </a:r>
          </a:p>
        </p:txBody>
      </p:sp>
    </p:spTree>
    <p:extLst>
      <p:ext uri="{BB962C8B-B14F-4D97-AF65-F5344CB8AC3E}">
        <p14:creationId xmlns:p14="http://schemas.microsoft.com/office/powerpoint/2010/main" val="1346777049"/>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773B6F-0530-4BB9-9F7C-25FEE6A8E51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Dispositivos que no se intercambian por nombre</a:t>
            </a:r>
          </a:p>
        </p:txBody>
      </p:sp>
      <p:pic>
        <p:nvPicPr>
          <p:cNvPr id="2" name="">
            <a:extLst xmlns:a="http://schemas.openxmlformats.org/drawingml/2006/main">
              <a:ext uri="{FF2B5EF4-FFF2-40B4-BE49-F238E27FC236}">
                <a16:creationId xmlns:a16="http://schemas.microsoft.com/office/drawing/2014/main" id="{5147FCCE-9245-40E9-9082-8E5FF247F42D}"/>
              </a:ext>
            </a:extLst>
          </p:cNvPr>
          <p:cNvPicPr>
            <a:picLocks xmlns:a="http://schemas.openxmlformats.org/drawingml/2006/main" noChangeAspect="1"/>
          </p:cNvPicPr>
          <p:nvPr/>
        </p:nvPicPr>
        <p:blipFill>
          <a:blip xmlns:r="http://schemas.openxmlformats.org/officeDocument/2006/relationships" xmlns:a="http://schemas.openxmlformats.org/drawingml/2006/main" r:embed="Ra6cbfa3c54b34bc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D92B39-B74D-42BE-9841-D15EA20952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18/24</a:t>
            </a:r>
          </a:p>
        </p:txBody>
      </p:sp>
      <p:graphicFrame>
        <p:nvGraphicFramePr>
          <p:cNvPr id="4" name="">
            <a:extLst xmlns:a="http://schemas.openxmlformats.org/drawingml/2006/main">
              <a:ext uri="{FF2B5EF4-FFF2-40B4-BE49-F238E27FC236}">
                <a16:creationId xmlns:a16="http://schemas.microsoft.com/office/drawing/2014/main" id="{98985E6D-FD91-42BD-BFF3-B7FF28A31F30}"/>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Sistema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Interfaz de potencia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se aprende aquí</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DC de escobillas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Puente H o etapa adecuada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Mando y energía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Servo de posición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Control interno propio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Pulso y posición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BLDC con ESC</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Conmutación electrónica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Cadena de interfaces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608955676"/>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C001EC-3B28-48F5-A34F-E0C3577CFFB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Comparación con la arquitectura de drones</a:t>
            </a:r>
          </a:p>
        </p:txBody>
      </p:sp>
      <p:pic>
        <p:nvPicPr>
          <p:cNvPr id="2" name="">
            <a:extLst xmlns:a="http://schemas.openxmlformats.org/drawingml/2006/main">
              <a:ext uri="{FF2B5EF4-FFF2-40B4-BE49-F238E27FC236}">
                <a16:creationId xmlns:a16="http://schemas.microsoft.com/office/drawing/2014/main" id="{92731523-FD1F-42A4-AFBC-C4E25F258AA2}"/>
              </a:ext>
            </a:extLst>
          </p:cNvPr>
          <p:cNvPicPr>
            <a:picLocks xmlns:a="http://schemas.openxmlformats.org/drawingml/2006/main" noChangeAspect="1"/>
          </p:cNvPicPr>
          <p:nvPr/>
        </p:nvPicPr>
        <p:blipFill>
          <a:blip xmlns:r="http://schemas.openxmlformats.org/officeDocument/2006/relationships" xmlns:a="http://schemas.openxmlformats.org/drawingml/2006/main" r:embed="R0995b519f1b4431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0BE2FE6-8F45-4C05-955B-E17DDAEE5A2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19/24</a:t>
            </a:r>
          </a:p>
        </p:txBody>
      </p:sp>
      <p:sp>
        <p:nvSpPr>
          <p:cNvPr id="4" name="">
            <a:extLst xmlns:a="http://schemas.openxmlformats.org/drawingml/2006/main">
              <a:ext uri="{FF2B5EF4-FFF2-40B4-BE49-F238E27FC236}">
                <a16:creationId xmlns:a16="http://schemas.microsoft.com/office/drawing/2014/main" id="{5C293F0B-A7ED-4EC7-86E6-79714D45056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Investiga en la hoja del driver el nombre y la condición de cada alimentación. Compara luego un estado deshabilitado con uno de frenado según su tabla funcional. Describe la diferencia sin generalizarla a todos los puentes H. El siguiente paso consiste en obtener una medida de movimiento cuya unidad y referencia podamos defender.</a:t>
            </a:r>
          </a:p>
        </p:txBody>
      </p:sp>
    </p:spTree>
    <p:extLst>
      <p:ext uri="{BB962C8B-B14F-4D97-AF65-F5344CB8AC3E}">
        <p14:creationId xmlns:p14="http://schemas.microsoft.com/office/powerpoint/2010/main" val="856837752"/>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C4141B-8FF7-49A2-9F5B-47981D237B3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D7203735-DF54-4027-971E-697F704890A6}"/>
              </a:ext>
            </a:extLst>
          </p:cNvPr>
          <p:cNvPicPr>
            <a:picLocks xmlns:a="http://schemas.openxmlformats.org/drawingml/2006/main" noChangeAspect="1"/>
          </p:cNvPicPr>
          <p:nvPr/>
        </p:nvPicPr>
        <p:blipFill>
          <a:blip xmlns:r="http://schemas.openxmlformats.org/officeDocument/2006/relationships" xmlns:a="http://schemas.openxmlformats.org/drawingml/2006/main" r:embed="R31a44dcb8c644b2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899DDBD-42CF-4991-A693-661DC04563C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20/24</a:t>
            </a:r>
          </a:p>
        </p:txBody>
      </p:sp>
      <p:sp>
        <p:nvSpPr>
          <p:cNvPr id="4" name="">
            <a:extLst xmlns:a="http://schemas.openxmlformats.org/drawingml/2006/main">
              <a:ext uri="{FF2B5EF4-FFF2-40B4-BE49-F238E27FC236}">
                <a16:creationId xmlns:a16="http://schemas.microsoft.com/office/drawing/2014/main" id="{5C5CEFE6-2FFA-496A-A5F2-A3DFE3F6B04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Separar señal, fuente y carga en el esquema antes de mostrar el código.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Revisar las alimentaciones de la hoja del driver.</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Comparar orden PWM y respuesta del banco o del caso sintético.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Identificar qué falta para hablar de RPM medidas.</a:t>
            </a:r>
          </a:p>
        </p:txBody>
      </p:sp>
    </p:spTree>
    <p:extLst>
      <p:ext uri="{BB962C8B-B14F-4D97-AF65-F5344CB8AC3E}">
        <p14:creationId xmlns:p14="http://schemas.microsoft.com/office/powerpoint/2010/main" val="475681249"/>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BA7536-C91B-446E-88FD-8503D6E4FDB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F0F6225B-DFC6-425A-8DF9-63CD7D2FB075}"/>
              </a:ext>
            </a:extLst>
          </p:cNvPr>
          <p:cNvPicPr>
            <a:picLocks xmlns:a="http://schemas.openxmlformats.org/drawingml/2006/main" noChangeAspect="1"/>
          </p:cNvPicPr>
          <p:nvPr/>
        </p:nvPicPr>
        <p:blipFill>
          <a:blip xmlns:r="http://schemas.openxmlformats.org/officeDocument/2006/relationships" xmlns:a="http://schemas.openxmlformats.org/drawingml/2006/main" r:embed="R6ffc4dc6d3284b3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AF3ABED-C2DC-49F9-A96A-6DC2BFEBBAC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21/24</a:t>
            </a:r>
          </a:p>
        </p:txBody>
      </p:sp>
      <p:sp>
        <p:nvSpPr>
          <p:cNvPr id="4" name="">
            <a:extLst xmlns:a="http://schemas.openxmlformats.org/drawingml/2006/main">
              <a:ext uri="{FF2B5EF4-FFF2-40B4-BE49-F238E27FC236}">
                <a16:creationId xmlns:a16="http://schemas.microsoft.com/office/drawing/2014/main" id="{6C7F3DAF-D93F-48B9-9EBD-A49A44202B66}"/>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cadena controlador, etapa de potencia y motor permite entender la arquitectura de propulsión y de mecanismos auxiliares de un UAV.</a:t>
            </a:r>
          </a:p>
        </p:txBody>
      </p:sp>
      <p:sp>
        <p:nvSpPr>
          <p:cNvPr id="5" name="">
            <a:extLst xmlns:a="http://schemas.openxmlformats.org/drawingml/2006/main">
              <a:ext uri="{FF2B5EF4-FFF2-40B4-BE49-F238E27FC236}">
                <a16:creationId xmlns:a16="http://schemas.microsoft.com/office/drawing/2014/main" id="{3DFF6115-A9BE-4773-87DC-03370BDB7062}"/>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216810311"/>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7CD64B-485C-46C4-8002-DDB77BB67A4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08AB77A3-21FF-4988-BBC9-00B260719B0B}"/>
              </a:ext>
            </a:extLst>
          </p:cNvPr>
          <p:cNvPicPr>
            <a:picLocks xmlns:a="http://schemas.openxmlformats.org/drawingml/2006/main" noChangeAspect="1"/>
          </p:cNvPicPr>
          <p:nvPr/>
        </p:nvPicPr>
        <p:blipFill>
          <a:blip xmlns:r="http://schemas.openxmlformats.org/officeDocument/2006/relationships" xmlns:a="http://schemas.openxmlformats.org/drawingml/2006/main" r:embed="R692b386411d3494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C65682D-09A9-4C5A-869B-CB680EBFDF1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22/24</a:t>
            </a:r>
          </a:p>
        </p:txBody>
      </p:sp>
      <p:sp>
        <p:nvSpPr>
          <p:cNvPr id="4" name="">
            <a:extLst xmlns:a="http://schemas.openxmlformats.org/drawingml/2006/main">
              <a:ext uri="{FF2B5EF4-FFF2-40B4-BE49-F238E27FC236}">
                <a16:creationId xmlns:a16="http://schemas.microsoft.com/office/drawing/2014/main" id="{87AC9C5A-1690-4CA3-8427-C2746CE964F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¿PWM es una lectura de velocidad?</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¿Dos fuentes implican aislamiento galvánico?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¿El L293D se alimenta lógicamente a 3,3 V por usar ESP32?</a:t>
            </a:r>
          </a:p>
        </p:txBody>
      </p:sp>
    </p:spTree>
    <p:extLst>
      <p:ext uri="{BB962C8B-B14F-4D97-AF65-F5344CB8AC3E}">
        <p14:creationId xmlns:p14="http://schemas.microsoft.com/office/powerpoint/2010/main" val="1483118736"/>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A39933-8D17-4776-B035-77B16DC7511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A1F00575-C0AD-4F68-B6B5-C09C7A46B568}"/>
              </a:ext>
            </a:extLst>
          </p:cNvPr>
          <p:cNvPicPr>
            <a:picLocks xmlns:a="http://schemas.openxmlformats.org/drawingml/2006/main" noChangeAspect="1"/>
          </p:cNvPicPr>
          <p:nvPr/>
        </p:nvPicPr>
        <p:blipFill>
          <a:blip xmlns:r="http://schemas.openxmlformats.org/officeDocument/2006/relationships" xmlns:a="http://schemas.openxmlformats.org/drawingml/2006/main" r:embed="R10019618731142f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3C3037A-C7D7-4A31-A1E7-60A779F8C52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23/24</a:t>
            </a:r>
          </a:p>
        </p:txBody>
      </p:sp>
      <p:sp>
        <p:nvSpPr>
          <p:cNvPr id="4" name="">
            <a:extLst xmlns:a="http://schemas.openxmlformats.org/drawingml/2006/main">
              <a:ext uri="{FF2B5EF4-FFF2-40B4-BE49-F238E27FC236}">
                <a16:creationId xmlns:a16="http://schemas.microsoft.com/office/drawing/2014/main" id="{3FB070E5-695B-4D37-B71F-E291E54C4BA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Es un mando; la velocidad requiere un método de observación.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Depende de las conexiones y de la arquitectura de interfaz.</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No. Se respeta la condición de VCC1 del fabricante y se revisan las entradas por separado.</a:t>
            </a:r>
          </a:p>
        </p:txBody>
      </p:sp>
    </p:spTree>
    <p:extLst>
      <p:ext uri="{BB962C8B-B14F-4D97-AF65-F5344CB8AC3E}">
        <p14:creationId xmlns:p14="http://schemas.microsoft.com/office/powerpoint/2010/main" val="666528486"/>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B9D1D1-F3DE-4512-96C5-991A9A3C28A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427B5D2E-46F4-4016-B191-AA3572AC5E61}"/>
              </a:ext>
            </a:extLst>
          </p:cNvPr>
          <p:cNvPicPr>
            <a:picLocks xmlns:a="http://schemas.openxmlformats.org/drawingml/2006/main" noChangeAspect="1"/>
          </p:cNvPicPr>
          <p:nvPr/>
        </p:nvPicPr>
        <p:blipFill>
          <a:blip xmlns:r="http://schemas.openxmlformats.org/officeDocument/2006/relationships" xmlns:a="http://schemas.openxmlformats.org/drawingml/2006/main" r:embed="R15d5bb3ee21a43f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722D57A-9F06-45B1-A0ED-A3E3AA37363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24/24</a:t>
            </a:r>
          </a:p>
        </p:txBody>
      </p:sp>
      <p:sp>
        <p:nvSpPr>
          <p:cNvPr id="4" name="">
            <a:extLst xmlns:a="http://schemas.openxmlformats.org/drawingml/2006/main">
              <a:ext uri="{FF2B5EF4-FFF2-40B4-BE49-F238E27FC236}">
                <a16:creationId xmlns:a16="http://schemas.microsoft.com/office/drawing/2014/main" id="{3F4C87F7-DE98-4E18-8DD8-A57A2DE7B7D5}"/>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Esquema de potencia, registro de mando y explicación de la medida que falta.</a:t>
            </a:r>
          </a:p>
        </p:txBody>
      </p:sp>
      <p:sp>
        <p:nvSpPr>
          <p:cNvPr id="5" name="">
            <a:extLst xmlns:a="http://schemas.openxmlformats.org/drawingml/2006/main">
              <a:ext uri="{FF2B5EF4-FFF2-40B4-BE49-F238E27FC236}">
                <a16:creationId xmlns:a16="http://schemas.microsoft.com/office/drawing/2014/main" id="{7DF4D478-B959-4F25-8A6A-62C812C66F53}"/>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380075474"/>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1873C8-34CA-4FBD-AEC3-165CD8E3A95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Encoder e interrupciones: medir velocidad con una definición</a:t>
            </a:r>
          </a:p>
        </p:txBody>
      </p:sp>
      <p:pic>
        <p:nvPicPr>
          <p:cNvPr id="2" name="">
            <a:extLst xmlns:a="http://schemas.openxmlformats.org/drawingml/2006/main">
              <a:ext uri="{FF2B5EF4-FFF2-40B4-BE49-F238E27FC236}">
                <a16:creationId xmlns:a16="http://schemas.microsoft.com/office/drawing/2014/main" id="{999F988D-69B6-4470-9B68-E4820DDF4EFD}"/>
              </a:ext>
            </a:extLst>
          </p:cNvPr>
          <p:cNvPicPr>
            <a:picLocks xmlns:a="http://schemas.openxmlformats.org/drawingml/2006/main" noChangeAspect="1"/>
          </p:cNvPicPr>
          <p:nvPr/>
        </p:nvPicPr>
        <p:blipFill>
          <a:blip xmlns:r="http://schemas.openxmlformats.org/officeDocument/2006/relationships" xmlns:a="http://schemas.openxmlformats.org/drawingml/2006/main" r:embed="Ra24319a3efef4aa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AF63B3B-46C7-4875-A7EA-F7A2C272C4D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01/24</a:t>
            </a:r>
          </a:p>
        </p:txBody>
      </p:sp>
      <p:sp>
        <p:nvSpPr>
          <p:cNvPr id="4" name="">
            <a:extLst xmlns:a="http://schemas.openxmlformats.org/drawingml/2006/main">
              <a:ext uri="{FF2B5EF4-FFF2-40B4-BE49-F238E27FC236}">
                <a16:creationId xmlns:a16="http://schemas.microsoft.com/office/drawing/2014/main" id="{4519F003-4150-4B96-BF26-0C448BA7E6FC}"/>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Calcular RPM desde pulsos usando el conteo por vuelta y el tiempo realmente transcurrido.</a:t>
            </a:r>
          </a:p>
        </p:txBody>
      </p:sp>
      <p:sp>
        <p:nvSpPr>
          <p:cNvPr id="5" name="">
            <a:extLst xmlns:a="http://schemas.openxmlformats.org/drawingml/2006/main">
              <a:ext uri="{FF2B5EF4-FFF2-40B4-BE49-F238E27FC236}">
                <a16:creationId xmlns:a16="http://schemas.microsoft.com/office/drawing/2014/main" id="{DA5DFAD9-F623-4F8D-A274-FEEC9C6B8ABE}"/>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instrumentación de un mecanismo UAV exige una medida antes de poder hablar de realimentación.</a:t>
            </a:r>
          </a:p>
        </p:txBody>
      </p:sp>
      <p:sp>
        <p:nvSpPr>
          <p:cNvPr id="6" name="">
            <a:extLst xmlns:a="http://schemas.openxmlformats.org/drawingml/2006/main">
              <a:ext uri="{FF2B5EF4-FFF2-40B4-BE49-F238E27FC236}">
                <a16:creationId xmlns:a16="http://schemas.microsoft.com/office/drawing/2014/main" id="{16DD48C2-F672-4884-93CE-7C426B9DFC7F}"/>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1414522057"/>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5D2F83-3C05-408C-875B-EB504202B96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Contar no es todavía medir RPM</a:t>
            </a:r>
          </a:p>
        </p:txBody>
      </p:sp>
      <p:pic>
        <p:nvPicPr>
          <p:cNvPr id="2" name="">
            <a:extLst xmlns:a="http://schemas.openxmlformats.org/drawingml/2006/main">
              <a:ext uri="{FF2B5EF4-FFF2-40B4-BE49-F238E27FC236}">
                <a16:creationId xmlns:a16="http://schemas.microsoft.com/office/drawing/2014/main" id="{8E184F44-DC5B-4AA0-B6C9-7A54A3A083CA}"/>
              </a:ext>
            </a:extLst>
          </p:cNvPr>
          <p:cNvPicPr>
            <a:picLocks xmlns:a="http://schemas.openxmlformats.org/drawingml/2006/main" noChangeAspect="1"/>
          </p:cNvPicPr>
          <p:nvPr/>
        </p:nvPicPr>
        <p:blipFill>
          <a:blip xmlns:r="http://schemas.openxmlformats.org/officeDocument/2006/relationships" xmlns:a="http://schemas.openxmlformats.org/drawingml/2006/main" r:embed="R0c95039980fd4b7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EEF4CFE-8CF7-43C2-BB59-2B10D38C00E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02/24</a:t>
            </a:r>
          </a:p>
        </p:txBody>
      </p:sp>
      <p:sp>
        <p:nvSpPr>
          <p:cNvPr id="4" name="">
            <a:extLst xmlns:a="http://schemas.openxmlformats.org/drawingml/2006/main">
              <a:ext uri="{FF2B5EF4-FFF2-40B4-BE49-F238E27FC236}">
                <a16:creationId xmlns:a16="http://schemas.microsoft.com/office/drawing/2014/main" id="{168CACC5-67CB-4FEA-8872-A1E89C87531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encoder transforma movimiento en señales que el programa puede contar. El número de pulsos solo tiene significado de velocidad cuando sabemos cuánto movimiento representa y en qué tiempo ocurrió. Un sensor puede especificar pulsos por revolución del eje del motor, mientras el proyecto observa el eje de salida de una reducción. Además, una biblioteca puede contar un flanco, ambos flancos o transiciones de dos canales. La definición que importa es la cuenta efectiva por vuelta de la referencia observada.</a:t>
            </a:r>
          </a:p>
        </p:txBody>
      </p:sp>
    </p:spTree>
    <p:extLst>
      <p:ext uri="{BB962C8B-B14F-4D97-AF65-F5344CB8AC3E}">
        <p14:creationId xmlns:p14="http://schemas.microsoft.com/office/powerpoint/2010/main" val="179528080"/>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77E5D0-3231-4B56-A42F-06339DD8506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Datos necesarios</a:t>
            </a:r>
          </a:p>
        </p:txBody>
      </p:sp>
      <p:pic>
        <p:nvPicPr>
          <p:cNvPr id="2" name="">
            <a:extLst xmlns:a="http://schemas.openxmlformats.org/drawingml/2006/main">
              <a:ext uri="{FF2B5EF4-FFF2-40B4-BE49-F238E27FC236}">
                <a16:creationId xmlns:a16="http://schemas.microsoft.com/office/drawing/2014/main" id="{CD4E23D1-5A95-4520-BE89-195A98C40ADD}"/>
              </a:ext>
            </a:extLst>
          </p:cNvPr>
          <p:cNvPicPr>
            <a:picLocks xmlns:a="http://schemas.openxmlformats.org/drawingml/2006/main" noChangeAspect="1"/>
          </p:cNvPicPr>
          <p:nvPr/>
        </p:nvPicPr>
        <p:blipFill>
          <a:blip xmlns:r="http://schemas.openxmlformats.org/officeDocument/2006/relationships" xmlns:a="http://schemas.openxmlformats.org/drawingml/2006/main" r:embed="R00a1d21590f546d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2A0781-F620-4640-8EBA-40293D3B342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03/24</a:t>
            </a:r>
          </a:p>
        </p:txBody>
      </p:sp>
      <p:graphicFrame>
        <p:nvGraphicFramePr>
          <p:cNvPr id="4" name="">
            <a:extLst xmlns:a="http://schemas.openxmlformats.org/drawingml/2006/main">
              <a:ext uri="{FF2B5EF4-FFF2-40B4-BE49-F238E27FC236}">
                <a16:creationId xmlns:a16="http://schemas.microsoft.com/office/drawing/2014/main" id="{9DBDD75B-F109-49D9-8CF8-6F83711860BF}"/>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Pregunta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Unidad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Cuenta efectiva por vuelta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¿Qué flancos cuenta?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cuentas/vuelta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Ventana real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¿Cuánto tiempo pasó?</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 o ms</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Referencia mecánica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¿Qué eje se observa?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Identificador</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Conteo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¿Qué ocurrió en la ventana?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cuentas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202486578"/>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FF7BA0-87AB-4151-AA42-311F79B3453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Contar no es todavía medir RPM</a:t>
            </a:r>
          </a:p>
        </p:txBody>
      </p:sp>
      <p:pic>
        <p:nvPicPr>
          <p:cNvPr id="2" name="">
            <a:extLst xmlns:a="http://schemas.openxmlformats.org/drawingml/2006/main">
              <a:ext uri="{FF2B5EF4-FFF2-40B4-BE49-F238E27FC236}">
                <a16:creationId xmlns:a16="http://schemas.microsoft.com/office/drawing/2014/main" id="{987A8365-24F6-4A55-AA18-346121CFF0B9}"/>
              </a:ext>
            </a:extLst>
          </p:cNvPr>
          <p:cNvPicPr>
            <a:picLocks xmlns:a="http://schemas.openxmlformats.org/drawingml/2006/main" noChangeAspect="1"/>
          </p:cNvPicPr>
          <p:nvPr/>
        </p:nvPicPr>
        <p:blipFill>
          <a:blip xmlns:r="http://schemas.openxmlformats.org/officeDocument/2006/relationships" xmlns:a="http://schemas.openxmlformats.org/drawingml/2006/main" r:embed="R6ff454ac48e24f4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7941F4-FDE6-49AA-97B7-6ECD1260CA2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04/24</a:t>
            </a:r>
          </a:p>
        </p:txBody>
      </p:sp>
      <p:sp>
        <p:nvSpPr>
          <p:cNvPr id="4" name="">
            <a:extLst xmlns:a="http://schemas.openxmlformats.org/drawingml/2006/main">
              <a:ext uri="{FF2B5EF4-FFF2-40B4-BE49-F238E27FC236}">
                <a16:creationId xmlns:a16="http://schemas.microsoft.com/office/drawing/2014/main" id="{0E4436D9-7DD1-472D-8749-0D57B0B9849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proyecto de motor de la web no incluye esta medición, por eso se añade como práctica nueva. Se puede comenzar con un generador de pulsos del banco o un modelo de señal. Después se relaciona con un encoder real identificado. No se asignan 20 cuentas por vuelta a cualquier motor: ese número es una constante de ejercicio que se sustituye al caracterizar el dispositivo.</a:t>
            </a:r>
          </a:p>
        </p:txBody>
      </p:sp>
    </p:spTree>
    <p:extLst>
      <p:ext uri="{BB962C8B-B14F-4D97-AF65-F5344CB8AC3E}">
        <p14:creationId xmlns:p14="http://schemas.microsoft.com/office/powerpoint/2010/main" val="1928778878"/>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AC73D3-27FB-49AF-8402-11DC190A65C0}"/>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Conversión con unidades</a:t>
            </a:r>
          </a:p>
        </p:txBody>
      </p:sp>
      <p:pic>
        <p:nvPicPr>
          <p:cNvPr id="2" name="">
            <a:extLst xmlns:a="http://schemas.openxmlformats.org/drawingml/2006/main">
              <a:ext uri="{FF2B5EF4-FFF2-40B4-BE49-F238E27FC236}">
                <a16:creationId xmlns:a16="http://schemas.microsoft.com/office/drawing/2014/main" id="{3B66A6C4-6BBA-4E63-BD2F-557915DA3D92}"/>
              </a:ext>
            </a:extLst>
          </p:cNvPr>
          <p:cNvPicPr>
            <a:picLocks xmlns:a="http://schemas.openxmlformats.org/drawingml/2006/main" noChangeAspect="1"/>
          </p:cNvPicPr>
          <p:nvPr/>
        </p:nvPicPr>
        <p:blipFill>
          <a:blip xmlns:r="http://schemas.openxmlformats.org/officeDocument/2006/relationships" xmlns:a="http://schemas.openxmlformats.org/drawingml/2006/main" r:embed="R44d48786cd3340f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AF3ED8D-2C47-42ED-A99A-891267EC19F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05/24</a:t>
            </a:r>
          </a:p>
        </p:txBody>
      </p:sp>
      <p:sp>
        <p:nvSpPr>
          <p:cNvPr id="4" name="">
            <a:extLst xmlns:a="http://schemas.openxmlformats.org/drawingml/2006/main">
              <a:ext uri="{FF2B5EF4-FFF2-40B4-BE49-F238E27FC236}">
                <a16:creationId xmlns:a16="http://schemas.microsoft.com/office/drawing/2014/main" id="{2B0894D6-5A28-4558-8405-EB03E34CDC2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Si realmente transcurrieron 110 ms, usar 100 ms en la cuenta sobreestimaría la velocidad. El código conserva elapsed = now-last y utiliza esa duración. La ventana aporta una media durante un intervalo; no es una velocidad instantánea perfecta. En un cambio rápido, una ventana larga mezcla estados anteriores con el más reciente.</a:t>
            </a:r>
          </a:p>
        </p:txBody>
      </p:sp>
    </p:spTree>
    <p:extLst>
      <p:ext uri="{BB962C8B-B14F-4D97-AF65-F5344CB8AC3E}">
        <p14:creationId xmlns:p14="http://schemas.microsoft.com/office/powerpoint/2010/main" val="903302912"/>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819787-19CF-4E44-A466-32A8EC6C9F4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misma cuenta y dos referencias</a:t>
            </a:r>
          </a:p>
        </p:txBody>
      </p:sp>
      <p:pic>
        <p:nvPicPr>
          <p:cNvPr id="2" name="">
            <a:extLst xmlns:a="http://schemas.openxmlformats.org/drawingml/2006/main">
              <a:ext uri="{FF2B5EF4-FFF2-40B4-BE49-F238E27FC236}">
                <a16:creationId xmlns:a16="http://schemas.microsoft.com/office/drawing/2014/main" id="{77099C2B-CD7A-4B26-AD07-5F3B3DAABB68}"/>
              </a:ext>
            </a:extLst>
          </p:cNvPr>
          <p:cNvPicPr>
            <a:picLocks xmlns:a="http://schemas.openxmlformats.org/drawingml/2006/main" noChangeAspect="1"/>
          </p:cNvPicPr>
          <p:nvPr/>
        </p:nvPicPr>
        <p:blipFill>
          <a:blip xmlns:r="http://schemas.openxmlformats.org/officeDocument/2006/relationships" xmlns:a="http://schemas.openxmlformats.org/drawingml/2006/main" r:embed="Re12ae35139414cd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60FA7D5-D490-4238-A713-C230618D5F5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06/24</a:t>
            </a:r>
          </a:p>
        </p:txBody>
      </p:sp>
      <p:graphicFrame>
        <p:nvGraphicFramePr>
          <p:cNvPr id="4" name="">
            <a:extLst xmlns:a="http://schemas.openxmlformats.org/drawingml/2006/main">
              <a:ext uri="{FF2B5EF4-FFF2-40B4-BE49-F238E27FC236}">
                <a16:creationId xmlns:a16="http://schemas.microsoft.com/office/drawing/2014/main" id="{DD35F05A-A46B-4F38-92CE-FCC31FB0F418}"/>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Referencia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Duración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Resultado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20 cuentas/vuelta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100 ms, 12 cuentas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360 RPM</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20 cuentas/vuelta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110 ms, 12 cuentas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327,3 RPM</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40 cuentas/vuelta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100 ms, 12 cuentas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180 RPM</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974418276"/>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341630-6B3E-4D61-B0D5-994C4421914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Doce cuentas en una ventana</a:t>
            </a:r>
          </a:p>
        </p:txBody>
      </p:sp>
      <p:pic>
        <p:nvPicPr>
          <p:cNvPr id="2" name="">
            <a:extLst xmlns:a="http://schemas.openxmlformats.org/drawingml/2006/main">
              <a:ext uri="{FF2B5EF4-FFF2-40B4-BE49-F238E27FC236}">
                <a16:creationId xmlns:a16="http://schemas.microsoft.com/office/drawing/2014/main" id="{48EB082A-D9F2-481B-A4A3-EA773F6F9C3A}"/>
              </a:ext>
            </a:extLst>
          </p:cNvPr>
          <p:cNvPicPr>
            <a:picLocks xmlns:a="http://schemas.openxmlformats.org/drawingml/2006/main" noChangeAspect="1"/>
          </p:cNvPicPr>
          <p:nvPr/>
        </p:nvPicPr>
        <p:blipFill>
          <a:blip xmlns:r="http://schemas.openxmlformats.org/officeDocument/2006/relationships" xmlns:a="http://schemas.openxmlformats.org/drawingml/2006/main" r:embed="R110eca7f4dc8490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0D5E91-44A4-4058-803F-A17FA4579D8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07/24</a:t>
            </a:r>
          </a:p>
        </p:txBody>
      </p:sp>
      <p:pic>
        <p:nvPicPr>
          <p:cNvPr id="4" name="">
            <a:extLst xmlns:a="http://schemas.openxmlformats.org/drawingml/2006/main">
              <a:ext uri="{FF2B5EF4-FFF2-40B4-BE49-F238E27FC236}">
                <a16:creationId xmlns:a16="http://schemas.microsoft.com/office/drawing/2014/main" id="{EA37C24D-C7DC-40C3-BBEC-7A8BD22F6ADC}"/>
              </a:ext>
            </a:extLst>
          </p:cNvPr>
          <p:cNvPicPr>
            <a:picLocks xmlns:a="http://schemas.openxmlformats.org/drawingml/2006/main" noChangeAspect="1"/>
          </p:cNvPicPr>
          <p:nvPr/>
        </p:nvPicPr>
        <p:blipFill>
          <a:blip xmlns:r="http://schemas.openxmlformats.org/officeDocument/2006/relationships" xmlns:a="http://schemas.openxmlformats.org/drawingml/2006/main" r:embed="R067abd754a994b00"/>
          <a:stretch xmlns:a="http://schemas.openxmlformats.org/drawingml/2006/main"/>
        </p:blipFill>
        <p:spPr>
          <a:xfrm xmlns:a="http://schemas.openxmlformats.org/drawingml/2006/main">
            <a:off x="3377299" y="1714500"/>
            <a:ext cx="5437402"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EDA7E2D-EDDE-44CD-8FAC-D0BAEA4BCC7C}"/>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12/20 = 0,6 vueltas en 0,1 s. Son 6 vueltas por segundo y, por tanto, 360 RPM.</a:t>
            </a:r>
          </a:p>
        </p:txBody>
      </p:sp>
      <p:sp>
        <p:nvSpPr>
          <p:cNvPr id="6" name="">
            <a:extLst xmlns:a="http://schemas.openxmlformats.org/drawingml/2006/main">
              <a:ext uri="{FF2B5EF4-FFF2-40B4-BE49-F238E27FC236}">
                <a16:creationId xmlns:a16="http://schemas.microsoft.com/office/drawing/2014/main" id="{2E018A0F-15FA-4433-946A-54796560EE14}"/>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Nvuelta corresponde al método de conteo y al eje declarados.</a:t>
            </a:r>
          </a:p>
        </p:txBody>
      </p:sp>
    </p:spTree>
    <p:extLst>
      <p:ext uri="{BB962C8B-B14F-4D97-AF65-F5344CB8AC3E}">
        <p14:creationId xmlns:p14="http://schemas.microsoft.com/office/powerpoint/2010/main" val="1100020995"/>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EC8407-429B-40B2-A57E-A49A836264A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Resolución temporal y de conteo</a:t>
            </a:r>
          </a:p>
        </p:txBody>
      </p:sp>
      <p:pic>
        <p:nvPicPr>
          <p:cNvPr id="2" name="">
            <a:extLst xmlns:a="http://schemas.openxmlformats.org/drawingml/2006/main">
              <a:ext uri="{FF2B5EF4-FFF2-40B4-BE49-F238E27FC236}">
                <a16:creationId xmlns:a16="http://schemas.microsoft.com/office/drawing/2014/main" id="{C29120E7-1051-4E14-B756-0771BC212096}"/>
              </a:ext>
            </a:extLst>
          </p:cNvPr>
          <p:cNvPicPr>
            <a:picLocks xmlns:a="http://schemas.openxmlformats.org/drawingml/2006/main" noChangeAspect="1"/>
          </p:cNvPicPr>
          <p:nvPr/>
        </p:nvPicPr>
        <p:blipFill>
          <a:blip xmlns:r="http://schemas.openxmlformats.org/officeDocument/2006/relationships" xmlns:a="http://schemas.openxmlformats.org/drawingml/2006/main" r:embed="Rdc0e52bf91a34f3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DAB5F88-0B10-40AD-AB56-35B2A474B4E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08/24</a:t>
            </a:r>
          </a:p>
        </p:txBody>
      </p:sp>
      <p:sp>
        <p:nvSpPr>
          <p:cNvPr id="4" name="">
            <a:extLst xmlns:a="http://schemas.openxmlformats.org/drawingml/2006/main">
              <a:ext uri="{FF2B5EF4-FFF2-40B4-BE49-F238E27FC236}">
                <a16:creationId xmlns:a16="http://schemas.microsoft.com/office/drawing/2014/main" id="{16B081EF-1B9E-4EE5-B3A5-EEC1C92FD9B0}"/>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Con 20 cuentas por vuelta y ventana de 0,1 s, una sola cuenta representa 30 RPM. Un número con muchos decimales no añade información que el conteo no tiene. Una ventana de 0,25 s reduce ese salto a 12 RPM, pero tarda más en describir un cambio. El equipo compara esa compensación con el comportamiento que desea observar.</a:t>
            </a:r>
          </a:p>
        </p:txBody>
      </p:sp>
    </p:spTree>
    <p:extLst>
      <p:ext uri="{BB962C8B-B14F-4D97-AF65-F5344CB8AC3E}">
        <p14:creationId xmlns:p14="http://schemas.microsoft.com/office/powerpoint/2010/main" val="404706136"/>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E16C1E-DE53-45D5-8BA8-78BF370001D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Caso didáctico, 20 cuentas/vuelta</a:t>
            </a:r>
          </a:p>
        </p:txBody>
      </p:sp>
      <p:pic>
        <p:nvPicPr>
          <p:cNvPr id="2" name="">
            <a:extLst xmlns:a="http://schemas.openxmlformats.org/drawingml/2006/main">
              <a:ext uri="{FF2B5EF4-FFF2-40B4-BE49-F238E27FC236}">
                <a16:creationId xmlns:a16="http://schemas.microsoft.com/office/drawing/2014/main" id="{047D95AF-7D68-4707-949C-4D67E699CF51}"/>
              </a:ext>
            </a:extLst>
          </p:cNvPr>
          <p:cNvPicPr>
            <a:picLocks xmlns:a="http://schemas.openxmlformats.org/drawingml/2006/main" noChangeAspect="1"/>
          </p:cNvPicPr>
          <p:nvPr/>
        </p:nvPicPr>
        <p:blipFill>
          <a:blip xmlns:r="http://schemas.openxmlformats.org/officeDocument/2006/relationships" xmlns:a="http://schemas.openxmlformats.org/drawingml/2006/main" r:embed="R60742f99bacc46b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BB7EA04-4C71-4B29-83B1-B3A34F23AF0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09/24</a:t>
            </a:r>
          </a:p>
        </p:txBody>
      </p:sp>
      <p:graphicFrame>
        <p:nvGraphicFramePr>
          <p:cNvPr id="4" name="">
            <a:extLst xmlns:a="http://schemas.openxmlformats.org/drawingml/2006/main">
              <a:ext uri="{FF2B5EF4-FFF2-40B4-BE49-F238E27FC236}">
                <a16:creationId xmlns:a16="http://schemas.microsoft.com/office/drawing/2014/main" id="{8DDF9ED7-4C78-40B4-96FF-C8476909A262}"/>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Ventana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Salto por cuenta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Compensación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50 ms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60 RPM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Respuesta más frecuente</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100 ms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30 RPM</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Condición de referencia</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250 ms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12 RPM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Promedio más prolongado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345505298"/>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3AE345-F40F-44CC-88BC-32FC678A1C8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cuenta cambia la lectura de velocidad</a:t>
            </a:r>
          </a:p>
        </p:txBody>
      </p:sp>
      <p:pic>
        <p:nvPicPr>
          <p:cNvPr id="2" name="">
            <a:extLst xmlns:a="http://schemas.openxmlformats.org/drawingml/2006/main">
              <a:ext uri="{FF2B5EF4-FFF2-40B4-BE49-F238E27FC236}">
                <a16:creationId xmlns:a16="http://schemas.microsoft.com/office/drawing/2014/main" id="{8EA216FB-1CD8-44BB-8BC5-1444690148E5}"/>
              </a:ext>
            </a:extLst>
          </p:cNvPr>
          <p:cNvPicPr>
            <a:picLocks xmlns:a="http://schemas.openxmlformats.org/drawingml/2006/main" noChangeAspect="1"/>
          </p:cNvPicPr>
          <p:nvPr/>
        </p:nvPicPr>
        <p:blipFill>
          <a:blip xmlns:r="http://schemas.openxmlformats.org/officeDocument/2006/relationships" xmlns:a="http://schemas.openxmlformats.org/drawingml/2006/main" r:embed="R3b472f170770456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B2A7C9-DF1A-40CA-94A0-7F396C53AA3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10/24</a:t>
            </a:r>
          </a:p>
        </p:txBody>
      </p:sp>
      <p:graphicFrame>
        <p:nvGraphicFramePr>
          <p:cNvPr id="4" name="Chart">
            <a:extLst xmlns:a="http://schemas.openxmlformats.org/drawingml/2006/main">
              <a:ext uri="{FF2B5EF4-FFF2-40B4-BE49-F238E27FC236}">
                <a16:creationId xmlns:a16="http://schemas.microsoft.com/office/drawing/2014/main" id="{45062857-7A1B-45E9-8F35-4EFF357D9715}"/>
              </a:ext>
            </a:extLst>
          </p:cNvPr>
          <p:cNvGraphicFramePr/>
          <p:nvPr/>
        </p:nvGraphicFramePr>
        <p:xfrm>
          <a:off xmlns:a="http://schemas.openxmlformats.org/drawingml/2006/main" x="590550" y="1657350"/>
          <a:ext xmlns:a="http://schemas.openxmlformats.org/drawingml/2006/main" cx="11010900" cy="3952875"/>
        </p:xfrm>
        <a:graphic xmlns:a="http://schemas.openxmlformats.org/drawingml/2006/main">
          <a:graphicData uri="http://schemas.openxmlformats.org/drawingml/2006/chart">
            <c:chart xmlns:r="http://schemas.openxmlformats.org/officeDocument/2006/relationships" xmlns:c="http://schemas.openxmlformats.org/drawingml/2006/chart" r:id="Rd9a06c549afe4f6c"/>
          </a:graphicData>
        </a:graphic>
      </p:graphicFrame>
      <p:sp>
        <p:nvSpPr>
          <p:cNvPr id="5" name="">
            <a:extLst xmlns:a="http://schemas.openxmlformats.org/drawingml/2006/main">
              <a:ext uri="{FF2B5EF4-FFF2-40B4-BE49-F238E27FC236}">
                <a16:creationId xmlns:a16="http://schemas.microsoft.com/office/drawing/2014/main" id="{3C7850B9-62CE-4B0A-890F-17E4C679226F}"/>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Cálculo con veinte cuentas efectivas por vuelta. Ventana mayor mejora el paso de lectura y agrega espera.</a:t>
            </a:r>
          </a:p>
        </p:txBody>
      </p:sp>
    </p:spTree>
    <p:extLst>
      <p:ext uri="{BB962C8B-B14F-4D97-AF65-F5344CB8AC3E}">
        <p14:creationId xmlns:p14="http://schemas.microsoft.com/office/powerpoint/2010/main" val="216560009"/>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F430B1-A9EA-4B9E-9EE8-D439D6DA815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hace la interrupción y qué hace loop()</a:t>
            </a:r>
          </a:p>
        </p:txBody>
      </p:sp>
      <p:pic>
        <p:nvPicPr>
          <p:cNvPr id="2" name="">
            <a:extLst xmlns:a="http://schemas.openxmlformats.org/drawingml/2006/main">
              <a:ext uri="{FF2B5EF4-FFF2-40B4-BE49-F238E27FC236}">
                <a16:creationId xmlns:a16="http://schemas.microsoft.com/office/drawing/2014/main" id="{6A1FB6A0-F1D7-469F-A38D-7FEE1F678454}"/>
              </a:ext>
            </a:extLst>
          </p:cNvPr>
          <p:cNvPicPr>
            <a:picLocks xmlns:a="http://schemas.openxmlformats.org/drawingml/2006/main" noChangeAspect="1"/>
          </p:cNvPicPr>
          <p:nvPr/>
        </p:nvPicPr>
        <p:blipFill>
          <a:blip xmlns:r="http://schemas.openxmlformats.org/officeDocument/2006/relationships" xmlns:a="http://schemas.openxmlformats.org/drawingml/2006/main" r:embed="R12023de04c6c465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0E97204-E856-48E7-BE8A-9165F3A8F14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11/24</a:t>
            </a:r>
          </a:p>
        </p:txBody>
      </p:sp>
      <p:sp>
        <p:nvSpPr>
          <p:cNvPr id="4" name="">
            <a:extLst xmlns:a="http://schemas.openxmlformats.org/drawingml/2006/main">
              <a:ext uri="{FF2B5EF4-FFF2-40B4-BE49-F238E27FC236}">
                <a16:creationId xmlns:a16="http://schemas.microsoft.com/office/drawing/2014/main" id="{C43A9157-80E7-48EE-8D87-8E82D51A7AA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rutina de interrupción realiza una tarea breve: conservar el evento de conteo. La conversión, impresión y decisión se hacen fuera. volatile evita ciertas suposiciones del compilador sobre accesos, pero no convierte una secuencia de copiar y poner a cero en una operación indivisible. Por eso el ejemplo protege ese intercambio de manera explícita.</a:t>
            </a:r>
          </a:p>
        </p:txBody>
      </p:sp>
    </p:spTree>
    <p:extLst>
      <p:ext uri="{BB962C8B-B14F-4D97-AF65-F5344CB8AC3E}">
        <p14:creationId xmlns:p14="http://schemas.microsoft.com/office/powerpoint/2010/main" val="179839148"/>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1DFEB4-0E59-41E3-B7D3-7A6AB90DA6F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Reparto de tareas en c10_encoder</a:t>
            </a:r>
          </a:p>
        </p:txBody>
      </p:sp>
      <p:pic>
        <p:nvPicPr>
          <p:cNvPr id="2" name="">
            <a:extLst xmlns:a="http://schemas.openxmlformats.org/drawingml/2006/main">
              <a:ext uri="{FF2B5EF4-FFF2-40B4-BE49-F238E27FC236}">
                <a16:creationId xmlns:a16="http://schemas.microsoft.com/office/drawing/2014/main" id="{B7FD6BB0-F2C0-4501-89E2-2F7B02B9635C}"/>
              </a:ext>
            </a:extLst>
          </p:cNvPr>
          <p:cNvPicPr>
            <a:picLocks xmlns:a="http://schemas.openxmlformats.org/drawingml/2006/main" noChangeAspect="1"/>
          </p:cNvPicPr>
          <p:nvPr/>
        </p:nvPicPr>
        <p:blipFill>
          <a:blip xmlns:r="http://schemas.openxmlformats.org/officeDocument/2006/relationships" xmlns:a="http://schemas.openxmlformats.org/drawingml/2006/main" r:embed="Rb561794066f4425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D0F2B98-A0C1-41E8-9402-0213ABD902D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12/24</a:t>
            </a:r>
          </a:p>
        </p:txBody>
      </p:sp>
      <p:sp>
        <p:nvSpPr>
          <p:cNvPr id="4" name="">
            <a:extLst xmlns:a="http://schemas.openxmlformats.org/drawingml/2006/main">
              <a:ext uri="{FF2B5EF4-FFF2-40B4-BE49-F238E27FC236}">
                <a16:creationId xmlns:a16="http://schemas.microsoft.com/office/drawing/2014/main" id="{65974242-076B-4606-BDD4-B25CDB18D486}"/>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void IRAM_ATTR edge()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portENTER_CRITICAL_ISR(&amp;mux);</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++edges;</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portEXIT_CRITICAL_ISR(&amp;mux);</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En loop(): copiar y poner a cero como una operacion.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portENTER_CRITICAL(&amp;mux);</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uint32_t count = edges;</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edges = 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portEXIT_CRITICAL(&amp;mux);</a:t>
            </a:r>
          </a:p>
        </p:txBody>
      </p:sp>
      <p:sp>
        <p:nvSpPr>
          <p:cNvPr id="5" name="">
            <a:extLst xmlns:a="http://schemas.openxmlformats.org/drawingml/2006/main">
              <a:ext uri="{FF2B5EF4-FFF2-40B4-BE49-F238E27FC236}">
                <a16:creationId xmlns:a16="http://schemas.microsoft.com/office/drawing/2014/main" id="{067B46B8-235C-40F5-9315-6AF238858481}"/>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045703791"/>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E866D9-1776-4652-9621-D3B2DC295A9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hace la interrupción y qué hace loop()</a:t>
            </a:r>
          </a:p>
        </p:txBody>
      </p:sp>
      <p:pic>
        <p:nvPicPr>
          <p:cNvPr id="2" name="">
            <a:extLst xmlns:a="http://schemas.openxmlformats.org/drawingml/2006/main">
              <a:ext uri="{FF2B5EF4-FFF2-40B4-BE49-F238E27FC236}">
                <a16:creationId xmlns:a16="http://schemas.microsoft.com/office/drawing/2014/main" id="{B8FAE0EE-1126-45B8-860A-91D7633D300D}"/>
              </a:ext>
            </a:extLst>
          </p:cNvPr>
          <p:cNvPicPr>
            <a:picLocks xmlns:a="http://schemas.openxmlformats.org/drawingml/2006/main" noChangeAspect="1"/>
          </p:cNvPicPr>
          <p:nvPr/>
        </p:nvPicPr>
        <p:blipFill>
          <a:blip xmlns:r="http://schemas.openxmlformats.org/officeDocument/2006/relationships" xmlns:a="http://schemas.openxmlformats.org/drawingml/2006/main" r:embed="R1ab69acf835745d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D19622-D5EC-40D6-B9A5-39643FF4DFD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13/24</a:t>
            </a:r>
          </a:p>
        </p:txBody>
      </p:sp>
      <p:sp>
        <p:nvSpPr>
          <p:cNvPr id="4" name="">
            <a:extLst xmlns:a="http://schemas.openxmlformats.org/drawingml/2006/main">
              <a:ext uri="{FF2B5EF4-FFF2-40B4-BE49-F238E27FC236}">
                <a16:creationId xmlns:a16="http://schemas.microsoft.com/office/drawing/2014/main" id="{BB3BA44B-244D-4EE0-B7BA-5AD9C81DC26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señal debe tener niveles compatibles y una forma que el sistema pueda interpretar. Un encoder con salida de colector abierto puede necesitar polarización; otro módulo puede entregar una señal que requiere adaptación. El banco identifica ese tipo de salida antes de conectar. Las transiciones espurias y el ruido no se corrigen inventando un nuevo número de cuentas por vuelta: se investiga la señal y el montaje.</a:t>
            </a:r>
          </a:p>
        </p:txBody>
      </p:sp>
    </p:spTree>
    <p:extLst>
      <p:ext uri="{BB962C8B-B14F-4D97-AF65-F5344CB8AC3E}">
        <p14:creationId xmlns:p14="http://schemas.microsoft.com/office/powerpoint/2010/main" val="419320663"/>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2F9A02-DB3A-4101-9938-EA1A45C81F1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de una vuelta y una ventana</a:t>
            </a:r>
          </a:p>
        </p:txBody>
      </p:sp>
      <p:pic>
        <p:nvPicPr>
          <p:cNvPr id="2" name="">
            <a:extLst xmlns:a="http://schemas.openxmlformats.org/drawingml/2006/main">
              <a:ext uri="{FF2B5EF4-FFF2-40B4-BE49-F238E27FC236}">
                <a16:creationId xmlns:a16="http://schemas.microsoft.com/office/drawing/2014/main" id="{2CF86148-D292-4040-9DAB-F946C37BF601}"/>
              </a:ext>
            </a:extLst>
          </p:cNvPr>
          <p:cNvPicPr>
            <a:picLocks xmlns:a="http://schemas.openxmlformats.org/drawingml/2006/main" noChangeAspect="1"/>
          </p:cNvPicPr>
          <p:nvPr/>
        </p:nvPicPr>
        <p:blipFill>
          <a:blip xmlns:r="http://schemas.openxmlformats.org/officeDocument/2006/relationships" xmlns:a="http://schemas.openxmlformats.org/drawingml/2006/main" r:embed="R0b37deb296b7497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8BC194-B8B5-4E95-865E-1806F43C1D2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14/24</a:t>
            </a:r>
          </a:p>
        </p:txBody>
      </p:sp>
      <p:sp>
        <p:nvSpPr>
          <p:cNvPr id="4" name="">
            <a:extLst xmlns:a="http://schemas.openxmlformats.org/drawingml/2006/main">
              <a:ext uri="{FF2B5EF4-FFF2-40B4-BE49-F238E27FC236}">
                <a16:creationId xmlns:a16="http://schemas.microsoft.com/office/drawing/2014/main" id="{006DEC71-EC14-41CA-8431-F71935C4A4BC}"/>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alumno sin encoder resuelve el conjunto de pulsos del curso y explica qué falta para trasladarlo a un motor real. En el taller compartido se contrasta el método con hardware disponible. Esta organización permite estudiar la medida antes de comprar un componente adicional y evita anunciar un encoder como parte del kit cuando su inventario aún no se ha confirmado.</a:t>
            </a:r>
          </a:p>
        </p:txBody>
      </p:sp>
    </p:spTree>
    <p:extLst>
      <p:ext uri="{BB962C8B-B14F-4D97-AF65-F5344CB8AC3E}">
        <p14:creationId xmlns:p14="http://schemas.microsoft.com/office/powerpoint/2010/main" val="190456667"/>
      </p:ext>
    </p:extLst>
  </p:cSld>
</p:sld>
</file>

<file path=ppt/slides/slide3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5E8DB7-4A15-4570-86E8-5BE5E50B424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DD516A8D-4543-441A-8215-EC717947A037}"/>
              </a:ext>
            </a:extLst>
          </p:cNvPr>
          <p:cNvPicPr>
            <a:picLocks xmlns:a="http://schemas.openxmlformats.org/drawingml/2006/main" noChangeAspect="1"/>
          </p:cNvPicPr>
          <p:nvPr/>
        </p:nvPicPr>
        <p:blipFill>
          <a:blip xmlns:r="http://schemas.openxmlformats.org/officeDocument/2006/relationships" xmlns:a="http://schemas.openxmlformats.org/drawingml/2006/main" r:embed="R1c1f82247f0b4ed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BD00767-E8A2-4B5C-9290-0F7D9117090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15/24</a:t>
            </a:r>
          </a:p>
        </p:txBody>
      </p:sp>
      <p:sp>
        <p:nvSpPr>
          <p:cNvPr id="4" name="">
            <a:extLst xmlns:a="http://schemas.openxmlformats.org/drawingml/2006/main">
              <a:ext uri="{FF2B5EF4-FFF2-40B4-BE49-F238E27FC236}">
                <a16:creationId xmlns:a16="http://schemas.microsoft.com/office/drawing/2014/main" id="{C93048AE-C46C-4829-9611-BF870872B510}"/>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¿volatile protege copiar y reiniciar un contador?</a:t>
            </a:r>
          </a:p>
        </p:txBody>
      </p:sp>
      <p:sp>
        <p:nvSpPr>
          <p:cNvPr id="5" name="">
            <a:extLst xmlns:a="http://schemas.openxmlformats.org/drawingml/2006/main">
              <a:ext uri="{FF2B5EF4-FFF2-40B4-BE49-F238E27FC236}">
                <a16:creationId xmlns:a16="http://schemas.microsoft.com/office/drawing/2014/main" id="{6C300605-1558-4F07-9657-238DC2A2E1F5}"/>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Comprobar definición de vuelta, conteo y ventana.</a:t>
            </a:r>
          </a:p>
        </p:txBody>
      </p:sp>
    </p:spTree>
    <p:extLst>
      <p:ext uri="{BB962C8B-B14F-4D97-AF65-F5344CB8AC3E}">
        <p14:creationId xmlns:p14="http://schemas.microsoft.com/office/powerpoint/2010/main" val="1150993325"/>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288928-4A7B-4D6C-81A9-99803B02017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de una vuelta y una ventana</a:t>
            </a:r>
          </a:p>
        </p:txBody>
      </p:sp>
      <p:pic>
        <p:nvPicPr>
          <p:cNvPr id="2" name="">
            <a:extLst xmlns:a="http://schemas.openxmlformats.org/drawingml/2006/main">
              <a:ext uri="{FF2B5EF4-FFF2-40B4-BE49-F238E27FC236}">
                <a16:creationId xmlns:a16="http://schemas.microsoft.com/office/drawing/2014/main" id="{B41FA182-4E45-4A41-AA72-77E8BB1381EC}"/>
              </a:ext>
            </a:extLst>
          </p:cNvPr>
          <p:cNvPicPr>
            <a:picLocks xmlns:a="http://schemas.openxmlformats.org/drawingml/2006/main" noChangeAspect="1"/>
          </p:cNvPicPr>
          <p:nvPr/>
        </p:nvPicPr>
        <p:blipFill>
          <a:blip xmlns:r="http://schemas.openxmlformats.org/officeDocument/2006/relationships" xmlns:a="http://schemas.openxmlformats.org/drawingml/2006/main" r:embed="Rfb2ee2bac196449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D51144-FB87-4FD9-98D3-A08A5AF443E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16/24</a:t>
            </a:r>
          </a:p>
        </p:txBody>
      </p:sp>
      <p:sp>
        <p:nvSpPr>
          <p:cNvPr id="4" name="">
            <a:extLst xmlns:a="http://schemas.openxmlformats.org/drawingml/2006/main">
              <a:ext uri="{FF2B5EF4-FFF2-40B4-BE49-F238E27FC236}">
                <a16:creationId xmlns:a16="http://schemas.microsoft.com/office/drawing/2014/main" id="{A5D8CEE6-7A51-4DBC-9A19-DECD2BF4E8B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el eje y la convención de conteo que utilizarás.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Antes de convertir a RPM, comprueba las cuentas de una vuelta observada o de una señal conocida.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Ejecuta c10_encoder con el generador de pulsos o el encoder preparado.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Calcula manualmente una fila del registro con elapsed real.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Compara ventanas de 50, 100 y 250 ms sin cambiar a la vez el método de conteo.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Busca un error de factor dos o cuatro en un caso de prueba del docente.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Conserva fuente de señal, condiciones y resultado con unidades.</a:t>
            </a:r>
          </a:p>
        </p:txBody>
      </p:sp>
    </p:spTree>
    <p:extLst>
      <p:ext uri="{BB962C8B-B14F-4D97-AF65-F5344CB8AC3E}">
        <p14:creationId xmlns:p14="http://schemas.microsoft.com/office/powerpoint/2010/main" val="1117473562"/>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EAAC58-4677-40A8-899F-9907895E22A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necesita el controlador de esta medición</a:t>
            </a:r>
          </a:p>
        </p:txBody>
      </p:sp>
      <p:pic>
        <p:nvPicPr>
          <p:cNvPr id="2" name="">
            <a:extLst xmlns:a="http://schemas.openxmlformats.org/drawingml/2006/main">
              <a:ext uri="{FF2B5EF4-FFF2-40B4-BE49-F238E27FC236}">
                <a16:creationId xmlns:a16="http://schemas.microsoft.com/office/drawing/2014/main" id="{2FBC8F64-1C4F-4111-A3B3-3DAAB6594EE5}"/>
              </a:ext>
            </a:extLst>
          </p:cNvPr>
          <p:cNvPicPr>
            <a:picLocks xmlns:a="http://schemas.openxmlformats.org/drawingml/2006/main" noChangeAspect="1"/>
          </p:cNvPicPr>
          <p:nvPr/>
        </p:nvPicPr>
        <p:blipFill>
          <a:blip xmlns:r="http://schemas.openxmlformats.org/officeDocument/2006/relationships" xmlns:a="http://schemas.openxmlformats.org/drawingml/2006/main" r:embed="Ree0f805a0f4c4ba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AADEF87-650E-45F4-BE3D-779CD7C75E2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17/24</a:t>
            </a:r>
          </a:p>
        </p:txBody>
      </p:sp>
      <p:sp>
        <p:nvSpPr>
          <p:cNvPr id="4" name="">
            <a:extLst xmlns:a="http://schemas.openxmlformats.org/drawingml/2006/main">
              <a:ext uri="{FF2B5EF4-FFF2-40B4-BE49-F238E27FC236}">
                <a16:creationId xmlns:a16="http://schemas.microsoft.com/office/drawing/2014/main" id="{8F0091B1-0A54-4B61-8ECF-1940ABE83C0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lazo de control recibirá una estimación de velocidad con su periodo, dispersión y posibilidad de fallo. Un valor cero puede corresponder a motor parado, una ventana sin pulsos o una señal ausente. La interpretación exige contexto. La aplicación conoce si ordenó movimiento, cuánto tiempo pasó y qué otras comprobaciones existen. Esos datos ayudan a formular un estado de diagnóstico, aunque no convierten cualquier ausencia de pulsos en una causa demostrada.</a:t>
            </a:r>
          </a:p>
        </p:txBody>
      </p:sp>
    </p:spTree>
    <p:extLst>
      <p:ext uri="{BB962C8B-B14F-4D97-AF65-F5344CB8AC3E}">
        <p14:creationId xmlns:p14="http://schemas.microsoft.com/office/powerpoint/2010/main" val="1095613838"/>
      </p:ext>
    </p:extLst>
  </p:cSld>
</p:sld>
</file>

<file path=ppt/slides/slide4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912BA3-A93D-483F-878C-E254EEA0D49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A51A52A9-A162-4741-BAAE-D7B41803F974}"/>
              </a:ext>
            </a:extLst>
          </p:cNvPr>
          <p:cNvPicPr>
            <a:picLocks xmlns:a="http://schemas.openxmlformats.org/drawingml/2006/main" noChangeAspect="1"/>
          </p:cNvPicPr>
          <p:nvPr/>
        </p:nvPicPr>
        <p:blipFill>
          <a:blip xmlns:r="http://schemas.openxmlformats.org/officeDocument/2006/relationships" xmlns:a="http://schemas.openxmlformats.org/drawingml/2006/main" r:embed="Rc18064d0769c487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5B18636-5D1D-4F28-87BD-BD0774CD80E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18/24</a:t>
            </a:r>
          </a:p>
        </p:txBody>
      </p:sp>
      <p:sp>
        <p:nvSpPr>
          <p:cNvPr id="4" name="">
            <a:extLst xmlns:a="http://schemas.openxmlformats.org/drawingml/2006/main">
              <a:ext uri="{FF2B5EF4-FFF2-40B4-BE49-F238E27FC236}">
                <a16:creationId xmlns:a16="http://schemas.microsoft.com/office/drawing/2014/main" id="{B120CC66-7EF7-4377-AEDD-6CF5EB4C2978}"/>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monitor muestra 360,000 RPM con un salto de 30 RPM por cuenta. ¿Qué comunican esos tres decimales?</a:t>
            </a:r>
          </a:p>
        </p:txBody>
      </p:sp>
      <p:sp>
        <p:nvSpPr>
          <p:cNvPr id="5" name="">
            <a:extLst xmlns:a="http://schemas.openxmlformats.org/drawingml/2006/main">
              <a:ext uri="{FF2B5EF4-FFF2-40B4-BE49-F238E27FC236}">
                <a16:creationId xmlns:a16="http://schemas.microsoft.com/office/drawing/2014/main" id="{F477B892-70B4-4021-99EB-0DFFC6371623}"/>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Investiga qué significa PPR o CPR en la ficha concreta de un encoder. Copia la definición, no solo el número. Si hay una reducción, señala a qué eje pertenece. Prepara una frase completa de tu método: “cuento flancos ascendentes de A, con tantas cuentas por vuelta del eje de salida, durante el intervalo registrado”. Esa frase será parte de la entrega del lazo cerrado.</a:t>
            </a:r>
          </a:p>
        </p:txBody>
      </p:sp>
    </p:spTree>
    <p:extLst>
      <p:ext uri="{BB962C8B-B14F-4D97-AF65-F5344CB8AC3E}">
        <p14:creationId xmlns:p14="http://schemas.microsoft.com/office/powerpoint/2010/main" val="375800107"/>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706C30-5AB6-4A9B-96EC-8DAC5647400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Precisión aparente</a:t>
            </a:r>
          </a:p>
        </p:txBody>
      </p:sp>
      <p:pic>
        <p:nvPicPr>
          <p:cNvPr id="2" name="">
            <a:extLst xmlns:a="http://schemas.openxmlformats.org/drawingml/2006/main">
              <a:ext uri="{FF2B5EF4-FFF2-40B4-BE49-F238E27FC236}">
                <a16:creationId xmlns:a16="http://schemas.microsoft.com/office/drawing/2014/main" id="{2B438067-69DC-4AE7-97FE-C1783896CC11}"/>
              </a:ext>
            </a:extLst>
          </p:cNvPr>
          <p:cNvPicPr>
            <a:picLocks xmlns:a="http://schemas.openxmlformats.org/drawingml/2006/main" noChangeAspect="1"/>
          </p:cNvPicPr>
          <p:nvPr/>
        </p:nvPicPr>
        <p:blipFill>
          <a:blip xmlns:r="http://schemas.openxmlformats.org/officeDocument/2006/relationships" xmlns:a="http://schemas.openxmlformats.org/drawingml/2006/main" r:embed="R5400a1799ae64d0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D736DE6-8AD8-4C5A-9EAE-9AAB17A3E81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19/24</a:t>
            </a:r>
          </a:p>
        </p:txBody>
      </p:sp>
      <p:sp>
        <p:nvSpPr>
          <p:cNvPr id="4" name="">
            <a:extLst xmlns:a="http://schemas.openxmlformats.org/drawingml/2006/main">
              <a:ext uri="{FF2B5EF4-FFF2-40B4-BE49-F238E27FC236}">
                <a16:creationId xmlns:a16="http://schemas.microsoft.com/office/drawing/2014/main" id="{AC3FA6FD-0200-46BB-96C0-F1BA61FB31DF}"/>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El monitor muestra 360,000 RPM con un salto de 30 RPM por cuenta. ¿Qué comunican esos tres decimales?</a:t>
            </a:r>
          </a:p>
        </p:txBody>
      </p:sp>
      <p:sp>
        <p:nvSpPr>
          <p:cNvPr id="5" name="">
            <a:extLst xmlns:a="http://schemas.openxmlformats.org/drawingml/2006/main">
              <a:ext uri="{FF2B5EF4-FFF2-40B4-BE49-F238E27FC236}">
                <a16:creationId xmlns:a16="http://schemas.microsoft.com/office/drawing/2014/main" id="{EFFD7CA2-F02E-4B65-8B7B-2084E89DA49F}"/>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No demuestran una precisión milésima. El formato de impresión debe respetar la información y las limitaciones del método.</a:t>
            </a:r>
          </a:p>
        </p:txBody>
      </p:sp>
    </p:spTree>
    <p:extLst>
      <p:ext uri="{BB962C8B-B14F-4D97-AF65-F5344CB8AC3E}">
        <p14:creationId xmlns:p14="http://schemas.microsoft.com/office/powerpoint/2010/main" val="1494413851"/>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9253648-FF6A-40ED-8C00-78FBA6A58C8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93C0B3D7-AD3A-4465-8411-A7D3C9EDB718}"/>
              </a:ext>
            </a:extLst>
          </p:cNvPr>
          <p:cNvPicPr>
            <a:picLocks xmlns:a="http://schemas.openxmlformats.org/drawingml/2006/main" noChangeAspect="1"/>
          </p:cNvPicPr>
          <p:nvPr/>
        </p:nvPicPr>
        <p:blipFill>
          <a:blip xmlns:r="http://schemas.openxmlformats.org/officeDocument/2006/relationships" xmlns:a="http://schemas.openxmlformats.org/drawingml/2006/main" r:embed="R670597e55004423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3A942C-A0C0-4C86-96F5-3D4A6015B3F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20/24</a:t>
            </a:r>
          </a:p>
        </p:txBody>
      </p:sp>
      <p:sp>
        <p:nvSpPr>
          <p:cNvPr id="4" name="">
            <a:extLst xmlns:a="http://schemas.openxmlformats.org/drawingml/2006/main">
              <a:ext uri="{FF2B5EF4-FFF2-40B4-BE49-F238E27FC236}">
                <a16:creationId xmlns:a16="http://schemas.microsoft.com/office/drawing/2014/main" id="{E1C8CEF1-7B49-4099-974C-FDEBD1B68B6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una señal de pulsos antes de convertir unidades.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Resolver 12 cuentas y contrastar dos duraciones reales.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Separar ISR y cálculo con el programa incluido.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Comprobar definición de vuelta, conteo y ventana.</a:t>
            </a:r>
          </a:p>
        </p:txBody>
      </p:sp>
    </p:spTree>
    <p:extLst>
      <p:ext uri="{BB962C8B-B14F-4D97-AF65-F5344CB8AC3E}">
        <p14:creationId xmlns:p14="http://schemas.microsoft.com/office/powerpoint/2010/main" val="1984462705"/>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52E115-159C-4E89-9BDA-89EEDA81DA8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22F5CC4E-96EA-4DBB-962B-35CCDF28FCFC}"/>
              </a:ext>
            </a:extLst>
          </p:cNvPr>
          <p:cNvPicPr>
            <a:picLocks xmlns:a="http://schemas.openxmlformats.org/drawingml/2006/main" noChangeAspect="1"/>
          </p:cNvPicPr>
          <p:nvPr/>
        </p:nvPicPr>
        <p:blipFill>
          <a:blip xmlns:r="http://schemas.openxmlformats.org/officeDocument/2006/relationships" xmlns:a="http://schemas.openxmlformats.org/drawingml/2006/main" r:embed="Rb3a9050c8421411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1987A8B-BEAB-4C64-8890-DABA6C2EE2D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21/24</a:t>
            </a:r>
          </a:p>
        </p:txBody>
      </p:sp>
      <p:sp>
        <p:nvSpPr>
          <p:cNvPr id="4" name="">
            <a:extLst xmlns:a="http://schemas.openxmlformats.org/drawingml/2006/main">
              <a:ext uri="{FF2B5EF4-FFF2-40B4-BE49-F238E27FC236}">
                <a16:creationId xmlns:a16="http://schemas.microsoft.com/office/drawing/2014/main" id="{CF7C580B-B317-4BB6-9DCD-FD6D4D7238D1}"/>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La instrumentación de un mecanismo UAV exige una medida antes de poder hablar de realimentación.</a:t>
            </a:r>
          </a:p>
        </p:txBody>
      </p:sp>
      <p:sp>
        <p:nvSpPr>
          <p:cNvPr id="5" name="">
            <a:extLst xmlns:a="http://schemas.openxmlformats.org/drawingml/2006/main">
              <a:ext uri="{FF2B5EF4-FFF2-40B4-BE49-F238E27FC236}">
                <a16:creationId xmlns:a16="http://schemas.microsoft.com/office/drawing/2014/main" id="{176FB54B-92FF-4E47-8B7D-0CE2D77136BF}"/>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230976581"/>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443E71-ACD9-4B38-9F3D-85834C57BEA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FDDA75F2-ABB7-4DED-A03C-52A83AD69A94}"/>
              </a:ext>
            </a:extLst>
          </p:cNvPr>
          <p:cNvPicPr>
            <a:picLocks xmlns:a="http://schemas.openxmlformats.org/drawingml/2006/main" noChangeAspect="1"/>
          </p:cNvPicPr>
          <p:nvPr/>
        </p:nvPicPr>
        <p:blipFill>
          <a:blip xmlns:r="http://schemas.openxmlformats.org/officeDocument/2006/relationships" xmlns:a="http://schemas.openxmlformats.org/drawingml/2006/main" r:embed="R6735ec43584a4a9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080776B-46EE-44BD-86B4-029A21F150F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22/24</a:t>
            </a:r>
          </a:p>
        </p:txBody>
      </p:sp>
      <p:sp>
        <p:nvSpPr>
          <p:cNvPr id="4" name="">
            <a:extLst xmlns:a="http://schemas.openxmlformats.org/drawingml/2006/main">
              <a:ext uri="{FF2B5EF4-FFF2-40B4-BE49-F238E27FC236}">
                <a16:creationId xmlns:a16="http://schemas.microsoft.com/office/drawing/2014/main" id="{C4230AFA-8CB4-4BC6-B15A-F84C1090F9A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¿PPR basta sin saber qué cuenta la biblioteca?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¿volatile protege copiar y reiniciar un contador?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¿Ventana mayor mejora todo?</a:t>
            </a:r>
          </a:p>
        </p:txBody>
      </p:sp>
    </p:spTree>
    <p:extLst>
      <p:ext uri="{BB962C8B-B14F-4D97-AF65-F5344CB8AC3E}">
        <p14:creationId xmlns:p14="http://schemas.microsoft.com/office/powerpoint/2010/main" val="1002652288"/>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2C4125-A6A2-4889-B0F9-BC645A706CE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FB1E935D-6ADE-41C6-A518-21572796579D}"/>
              </a:ext>
            </a:extLst>
          </p:cNvPr>
          <p:cNvPicPr>
            <a:picLocks xmlns:a="http://schemas.openxmlformats.org/drawingml/2006/main" noChangeAspect="1"/>
          </p:cNvPicPr>
          <p:nvPr/>
        </p:nvPicPr>
        <p:blipFill>
          <a:blip xmlns:r="http://schemas.openxmlformats.org/officeDocument/2006/relationships" xmlns:a="http://schemas.openxmlformats.org/drawingml/2006/main" r:embed="Rf08e1fecacd54c2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02ECEA-9E50-4BC2-BA79-80D5C8D9FFF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23/24</a:t>
            </a:r>
          </a:p>
        </p:txBody>
      </p:sp>
      <p:sp>
        <p:nvSpPr>
          <p:cNvPr id="4" name="">
            <a:extLst xmlns:a="http://schemas.openxmlformats.org/drawingml/2006/main">
              <a:ext uri="{FF2B5EF4-FFF2-40B4-BE49-F238E27FC236}">
                <a16:creationId xmlns:a16="http://schemas.microsoft.com/office/drawing/2014/main" id="{3A274A0B-9BBF-4082-BB99-AEC071245A69}"/>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No. Se necesita la cuenta efectiva del método y la referencia mecánica.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garantiza que la secuencia sea indivisible; se coordina el acceso compartido.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Reduce el salto de conteo, pero prolonga el promedio y cambia la respuesta temporal.</a:t>
            </a:r>
          </a:p>
        </p:txBody>
      </p:sp>
    </p:spTree>
    <p:extLst>
      <p:ext uri="{BB962C8B-B14F-4D97-AF65-F5344CB8AC3E}">
        <p14:creationId xmlns:p14="http://schemas.microsoft.com/office/powerpoint/2010/main" val="400602435"/>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9BFF38-941C-48B4-96AB-50E1F69EF9E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D0DC36D8-1AF5-4BC5-B126-5BAC6A2CA20D}"/>
              </a:ext>
            </a:extLst>
          </p:cNvPr>
          <p:cNvPicPr>
            <a:picLocks xmlns:a="http://schemas.openxmlformats.org/drawingml/2006/main" noChangeAspect="1"/>
          </p:cNvPicPr>
          <p:nvPr/>
        </p:nvPicPr>
        <p:blipFill>
          <a:blip xmlns:r="http://schemas.openxmlformats.org/officeDocument/2006/relationships" xmlns:a="http://schemas.openxmlformats.org/drawingml/2006/main" r:embed="Ree223a695c994ed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3642A3-3323-4348-B7AB-CE6E10DDE96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24/24</a:t>
            </a:r>
          </a:p>
        </p:txBody>
      </p:sp>
      <p:sp>
        <p:nvSpPr>
          <p:cNvPr id="4" name="">
            <a:extLst xmlns:a="http://schemas.openxmlformats.org/drawingml/2006/main">
              <a:ext uri="{FF2B5EF4-FFF2-40B4-BE49-F238E27FC236}">
                <a16:creationId xmlns:a16="http://schemas.microsoft.com/office/drawing/2014/main" id="{5B890E73-B252-46BD-A63D-48E028E257FA}"/>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Conversión de una fila, definición de cuenta por vuelta y comparación de ventanas.</a:t>
            </a:r>
          </a:p>
        </p:txBody>
      </p:sp>
      <p:sp>
        <p:nvSpPr>
          <p:cNvPr id="5" name="">
            <a:extLst xmlns:a="http://schemas.openxmlformats.org/drawingml/2006/main">
              <a:ext uri="{FF2B5EF4-FFF2-40B4-BE49-F238E27FC236}">
                <a16:creationId xmlns:a16="http://schemas.microsoft.com/office/drawing/2014/main" id="{1D51E446-07B4-49D3-8E6B-6F2092BBFA38}"/>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721669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2026-10-22T22:27:04.5680000Z</dcterms:created>
  <dcterms:modified xsi:type="dcterms:W3CDTF">2026-10-22T22:27:04.5680000Z</dcterms:modified>
</coreProperties>
</file>