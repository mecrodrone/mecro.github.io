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bb77285697488b" /><Relationship Type="http://schemas.openxmlformats.org/officeDocument/2006/relationships/extended-properties" Target="/docProps/app.xml" Id="R3061b1cb926b41f0" /><Relationship Type="http://schemas.openxmlformats.org/officeDocument/2006/relationships/officeDocument" Target="/ppt/presentation.xml" Id="R175da2b38a6741f1" /></Relationships>
</file>

<file path=ppt/presentation.xml><?xml version="1.0" encoding="utf-8"?>
<p:presentation xmlns:p="http://schemas.openxmlformats.org/presentationml/2006/main">
  <p:sldMasterIdLst>
    <p:sldMasterId xmlns:r="http://schemas.openxmlformats.org/officeDocument/2006/relationships" id="2147483648" r:id="R687832a25a98414c"/>
  </p:sldMasterIdLst>
  <p:notesMasterIdLst>
    <p:notesMasterId xmlns:r="http://schemas.openxmlformats.org/officeDocument/2006/relationships" r:id="R6952b1041ba7407d"/>
  </p:notesMasterIdLst>
  <p:sldIdLst>
    <p:sldId xmlns:r="http://schemas.openxmlformats.org/officeDocument/2006/relationships" id="256" r:id="Rf92c1d880f2d41d2"/>
    <p:sldId xmlns:r="http://schemas.openxmlformats.org/officeDocument/2006/relationships" id="257" r:id="R2926309b8c304db5"/>
    <p:sldId xmlns:r="http://schemas.openxmlformats.org/officeDocument/2006/relationships" id="258" r:id="R6a4fe194491c4125"/>
    <p:sldId xmlns:r="http://schemas.openxmlformats.org/officeDocument/2006/relationships" id="259" r:id="R60768e8e0b714ebf"/>
    <p:sldId xmlns:r="http://schemas.openxmlformats.org/officeDocument/2006/relationships" id="260" r:id="R5568663706684d5d"/>
    <p:sldId xmlns:r="http://schemas.openxmlformats.org/officeDocument/2006/relationships" id="261" r:id="R46375afc759b4c9c"/>
    <p:sldId xmlns:r="http://schemas.openxmlformats.org/officeDocument/2006/relationships" id="262" r:id="R3996b000b72b48cc"/>
    <p:sldId xmlns:r="http://schemas.openxmlformats.org/officeDocument/2006/relationships" id="263" r:id="R83431d6fb0304a8e"/>
    <p:sldId xmlns:r="http://schemas.openxmlformats.org/officeDocument/2006/relationships" id="264" r:id="Rf81f4171e2de4271"/>
    <p:sldId xmlns:r="http://schemas.openxmlformats.org/officeDocument/2006/relationships" id="265" r:id="R741636f7b7ee4904"/>
    <p:sldId xmlns:r="http://schemas.openxmlformats.org/officeDocument/2006/relationships" id="266" r:id="Rc72a73d8abf145bd"/>
    <p:sldId xmlns:r="http://schemas.openxmlformats.org/officeDocument/2006/relationships" id="267" r:id="Re21eb93a68ca48f5"/>
    <p:sldId xmlns:r="http://schemas.openxmlformats.org/officeDocument/2006/relationships" id="268" r:id="Rab35491cbb6540d4"/>
    <p:sldId xmlns:r="http://schemas.openxmlformats.org/officeDocument/2006/relationships" id="269" r:id="Rc48bb13e27104505"/>
    <p:sldId xmlns:r="http://schemas.openxmlformats.org/officeDocument/2006/relationships" id="270" r:id="Ref2f44451cba4573"/>
    <p:sldId xmlns:r="http://schemas.openxmlformats.org/officeDocument/2006/relationships" id="271" r:id="Rec99d39b33304e23"/>
    <p:sldId xmlns:r="http://schemas.openxmlformats.org/officeDocument/2006/relationships" id="272" r:id="R6a92248fffb94a5d"/>
    <p:sldId xmlns:r="http://schemas.openxmlformats.org/officeDocument/2006/relationships" id="273" r:id="R6e53f36011ee46f2"/>
    <p:sldId xmlns:r="http://schemas.openxmlformats.org/officeDocument/2006/relationships" id="274" r:id="Re8a4b47efcd844c4"/>
    <p:sldId xmlns:r="http://schemas.openxmlformats.org/officeDocument/2006/relationships" id="275" r:id="Re02ced2d6322458e"/>
    <p:sldId xmlns:r="http://schemas.openxmlformats.org/officeDocument/2006/relationships" id="276" r:id="R9d2a70226405422a"/>
    <p:sldId xmlns:r="http://schemas.openxmlformats.org/officeDocument/2006/relationships" id="277" r:id="R49f4bf9e8d1a42cb"/>
    <p:sldId xmlns:r="http://schemas.openxmlformats.org/officeDocument/2006/relationships" id="278" r:id="Ra1e8123ff9f94252"/>
    <p:sldId xmlns:r="http://schemas.openxmlformats.org/officeDocument/2006/relationships" id="279" r:id="Rd3a560c09216465f"/>
    <p:sldId xmlns:r="http://schemas.openxmlformats.org/officeDocument/2006/relationships" id="280" r:id="R3c70aa046ef3407d"/>
    <p:sldId xmlns:r="http://schemas.openxmlformats.org/officeDocument/2006/relationships" id="281" r:id="Rd9bd0e68b5e84d66"/>
    <p:sldId xmlns:r="http://schemas.openxmlformats.org/officeDocument/2006/relationships" id="282" r:id="Ra28ab40636524140"/>
    <p:sldId xmlns:r="http://schemas.openxmlformats.org/officeDocument/2006/relationships" id="283" r:id="Rc7ec079da89b4079"/>
    <p:sldId xmlns:r="http://schemas.openxmlformats.org/officeDocument/2006/relationships" id="284" r:id="Rdf61262142344f67"/>
    <p:sldId xmlns:r="http://schemas.openxmlformats.org/officeDocument/2006/relationships" id="285" r:id="R9b8296e4ccb347e3"/>
    <p:sldId xmlns:r="http://schemas.openxmlformats.org/officeDocument/2006/relationships" id="286" r:id="R90a85f91aa3f4ee1"/>
    <p:sldId xmlns:r="http://schemas.openxmlformats.org/officeDocument/2006/relationships" id="287" r:id="R9e3ea68b8e804174"/>
    <p:sldId xmlns:r="http://schemas.openxmlformats.org/officeDocument/2006/relationships" id="288" r:id="R780a28bfc3514af2"/>
    <p:sldId xmlns:r="http://schemas.openxmlformats.org/officeDocument/2006/relationships" id="289" r:id="Rd3ad55238dd14047"/>
    <p:sldId xmlns:r="http://schemas.openxmlformats.org/officeDocument/2006/relationships" id="290" r:id="R2447d493b577420f"/>
    <p:sldId xmlns:r="http://schemas.openxmlformats.org/officeDocument/2006/relationships" id="291" r:id="R3774498303d54034"/>
    <p:sldId xmlns:r="http://schemas.openxmlformats.org/officeDocument/2006/relationships" id="292" r:id="R7b878cb353554995"/>
    <p:sldId xmlns:r="http://schemas.openxmlformats.org/officeDocument/2006/relationships" id="293" r:id="Rc74ba9b5f30a4250"/>
    <p:sldId xmlns:r="http://schemas.openxmlformats.org/officeDocument/2006/relationships" id="294" r:id="R3748b67365b04559"/>
    <p:sldId xmlns:r="http://schemas.openxmlformats.org/officeDocument/2006/relationships" id="295" r:id="Ref39523342d444a3"/>
    <p:sldId xmlns:r="http://schemas.openxmlformats.org/officeDocument/2006/relationships" id="296" r:id="R87ddf466315e4bfa"/>
    <p:sldId xmlns:r="http://schemas.openxmlformats.org/officeDocument/2006/relationships" id="297" r:id="R7a00d7747cc64f28"/>
    <p:sldId xmlns:r="http://schemas.openxmlformats.org/officeDocument/2006/relationships" id="298" r:id="Rbe5151c090b74f58"/>
    <p:sldId xmlns:r="http://schemas.openxmlformats.org/officeDocument/2006/relationships" id="299" r:id="Rca033d09b0c54ae3"/>
    <p:sldId xmlns:r="http://schemas.openxmlformats.org/officeDocument/2006/relationships" id="300" r:id="Rc9fc0ec965cf4bf9"/>
    <p:sldId xmlns:r="http://schemas.openxmlformats.org/officeDocument/2006/relationships" id="301" r:id="Rb3a8cd186f71467b"/>
    <p:sldId xmlns:r="http://schemas.openxmlformats.org/officeDocument/2006/relationships" id="302" r:id="R1650e998781a4ea0"/>
    <p:sldId xmlns:r="http://schemas.openxmlformats.org/officeDocument/2006/relationships" id="303" r:id="Rd6e0e514054840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e2cf42f5c04554" /><Relationship Type="http://schemas.openxmlformats.org/officeDocument/2006/relationships/slideMaster" Target="/ppt/slideMasters/slideMaster1.xml" Id="R687832a25a98414c" /><Relationship Type="http://schemas.openxmlformats.org/officeDocument/2006/relationships/notesMaster" Target="/ppt/notesMasters/notesMaster1.xml" Id="R6952b1041ba7407d" /><Relationship Type="http://schemas.openxmlformats.org/officeDocument/2006/relationships/presProps" Target="/ppt/presProps.xml" Id="R0e9461d7eca54b29" /><Relationship Type="http://schemas.openxmlformats.org/officeDocument/2006/relationships/tableStyles" Target="/ppt/tableStyles.xml" Id="Rfc589e372a734b5c" /><Relationship Type="http://schemas.openxmlformats.org/officeDocument/2006/relationships/slide" Target="/ppt/slides/slide1.xml" Id="Rf92c1d880f2d41d2" /><Relationship Type="http://schemas.openxmlformats.org/officeDocument/2006/relationships/slide" Target="/ppt/slides/slide2.xml" Id="R2926309b8c304db5" /><Relationship Type="http://schemas.openxmlformats.org/officeDocument/2006/relationships/slide" Target="/ppt/slides/slide3.xml" Id="R6a4fe194491c4125" /><Relationship Type="http://schemas.openxmlformats.org/officeDocument/2006/relationships/slide" Target="/ppt/slides/slide4.xml" Id="R60768e8e0b714ebf" /><Relationship Type="http://schemas.openxmlformats.org/officeDocument/2006/relationships/slide" Target="/ppt/slides/slide5.xml" Id="R5568663706684d5d" /><Relationship Type="http://schemas.openxmlformats.org/officeDocument/2006/relationships/slide" Target="/ppt/slides/slide6.xml" Id="R46375afc759b4c9c" /><Relationship Type="http://schemas.openxmlformats.org/officeDocument/2006/relationships/slide" Target="/ppt/slides/slide7.xml" Id="R3996b000b72b48cc" /><Relationship Type="http://schemas.openxmlformats.org/officeDocument/2006/relationships/slide" Target="/ppt/slides/slide8.xml" Id="R83431d6fb0304a8e" /><Relationship Type="http://schemas.openxmlformats.org/officeDocument/2006/relationships/slide" Target="/ppt/slides/slide9.xml" Id="Rf81f4171e2de4271" /><Relationship Type="http://schemas.openxmlformats.org/officeDocument/2006/relationships/slide" Target="/ppt/slides/slide10.xml" Id="R741636f7b7ee4904" /><Relationship Type="http://schemas.openxmlformats.org/officeDocument/2006/relationships/slide" Target="/ppt/slides/slide11.xml" Id="Rc72a73d8abf145bd" /><Relationship Type="http://schemas.openxmlformats.org/officeDocument/2006/relationships/slide" Target="/ppt/slides/slide12.xml" Id="Re21eb93a68ca48f5" /><Relationship Type="http://schemas.openxmlformats.org/officeDocument/2006/relationships/slide" Target="/ppt/slides/slide13.xml" Id="Rab35491cbb6540d4" /><Relationship Type="http://schemas.openxmlformats.org/officeDocument/2006/relationships/slide" Target="/ppt/slides/slide14.xml" Id="Rc48bb13e27104505" /><Relationship Type="http://schemas.openxmlformats.org/officeDocument/2006/relationships/slide" Target="/ppt/slides/slide15.xml" Id="Ref2f44451cba4573" /><Relationship Type="http://schemas.openxmlformats.org/officeDocument/2006/relationships/slide" Target="/ppt/slides/slide16.xml" Id="Rec99d39b33304e23" /><Relationship Type="http://schemas.openxmlformats.org/officeDocument/2006/relationships/slide" Target="/ppt/slides/slide17.xml" Id="R6a92248fffb94a5d" /><Relationship Type="http://schemas.openxmlformats.org/officeDocument/2006/relationships/slide" Target="/ppt/slides/slide18.xml" Id="R6e53f36011ee46f2" /><Relationship Type="http://schemas.openxmlformats.org/officeDocument/2006/relationships/slide" Target="/ppt/slides/slide19.xml" Id="Re8a4b47efcd844c4" /><Relationship Type="http://schemas.openxmlformats.org/officeDocument/2006/relationships/slide" Target="/ppt/slides/slide20.xml" Id="Re02ced2d6322458e" /><Relationship Type="http://schemas.openxmlformats.org/officeDocument/2006/relationships/slide" Target="/ppt/slides/slide21.xml" Id="R9d2a70226405422a" /><Relationship Type="http://schemas.openxmlformats.org/officeDocument/2006/relationships/slide" Target="/ppt/slides/slide22.xml" Id="R49f4bf9e8d1a42cb" /><Relationship Type="http://schemas.openxmlformats.org/officeDocument/2006/relationships/slide" Target="/ppt/slides/slide23.xml" Id="Ra1e8123ff9f94252" /><Relationship Type="http://schemas.openxmlformats.org/officeDocument/2006/relationships/slide" Target="/ppt/slides/slide24.xml" Id="Rd3a560c09216465f" /><Relationship Type="http://schemas.openxmlformats.org/officeDocument/2006/relationships/slide" Target="/ppt/slides/slide25.xml" Id="R3c70aa046ef3407d" /><Relationship Type="http://schemas.openxmlformats.org/officeDocument/2006/relationships/slide" Target="/ppt/slides/slide26.xml" Id="Rd9bd0e68b5e84d66" /><Relationship Type="http://schemas.openxmlformats.org/officeDocument/2006/relationships/slide" Target="/ppt/slides/slide27.xml" Id="Ra28ab40636524140" /><Relationship Type="http://schemas.openxmlformats.org/officeDocument/2006/relationships/slide" Target="/ppt/slides/slide28.xml" Id="Rc7ec079da89b4079" /><Relationship Type="http://schemas.openxmlformats.org/officeDocument/2006/relationships/slide" Target="/ppt/slides/slide29.xml" Id="Rdf61262142344f67" /><Relationship Type="http://schemas.openxmlformats.org/officeDocument/2006/relationships/slide" Target="/ppt/slides/slide30.xml" Id="R9b8296e4ccb347e3" /><Relationship Type="http://schemas.openxmlformats.org/officeDocument/2006/relationships/slide" Target="/ppt/slides/slide31.xml" Id="R90a85f91aa3f4ee1" /><Relationship Type="http://schemas.openxmlformats.org/officeDocument/2006/relationships/slide" Target="/ppt/slides/slide32.xml" Id="R9e3ea68b8e804174" /><Relationship Type="http://schemas.openxmlformats.org/officeDocument/2006/relationships/slide" Target="/ppt/slides/slide33.xml" Id="R780a28bfc3514af2" /><Relationship Type="http://schemas.openxmlformats.org/officeDocument/2006/relationships/slide" Target="/ppt/slides/slide34.xml" Id="Rd3ad55238dd14047" /><Relationship Type="http://schemas.openxmlformats.org/officeDocument/2006/relationships/slide" Target="/ppt/slides/slide35.xml" Id="R2447d493b577420f" /><Relationship Type="http://schemas.openxmlformats.org/officeDocument/2006/relationships/slide" Target="/ppt/slides/slide36.xml" Id="R3774498303d54034" /><Relationship Type="http://schemas.openxmlformats.org/officeDocument/2006/relationships/slide" Target="/ppt/slides/slide37.xml" Id="R7b878cb353554995" /><Relationship Type="http://schemas.openxmlformats.org/officeDocument/2006/relationships/slide" Target="/ppt/slides/slide38.xml" Id="Rc74ba9b5f30a4250" /><Relationship Type="http://schemas.openxmlformats.org/officeDocument/2006/relationships/slide" Target="/ppt/slides/slide39.xml" Id="R3748b67365b04559" /><Relationship Type="http://schemas.openxmlformats.org/officeDocument/2006/relationships/slide" Target="/ppt/slides/slide40.xml" Id="Ref39523342d444a3" /><Relationship Type="http://schemas.openxmlformats.org/officeDocument/2006/relationships/slide" Target="/ppt/slides/slide41.xml" Id="R87ddf466315e4bfa" /><Relationship Type="http://schemas.openxmlformats.org/officeDocument/2006/relationships/slide" Target="/ppt/slides/slide42.xml" Id="R7a00d7747cc64f28" /><Relationship Type="http://schemas.openxmlformats.org/officeDocument/2006/relationships/slide" Target="/ppt/slides/slide43.xml" Id="Rbe5151c090b74f58" /><Relationship Type="http://schemas.openxmlformats.org/officeDocument/2006/relationships/slide" Target="/ppt/slides/slide44.xml" Id="Rca033d09b0c54ae3" /><Relationship Type="http://schemas.openxmlformats.org/officeDocument/2006/relationships/slide" Target="/ppt/slides/slide45.xml" Id="Rc9fc0ec965cf4bf9" /><Relationship Type="http://schemas.openxmlformats.org/officeDocument/2006/relationships/slide" Target="/ppt/slides/slide46.xml" Id="Rb3a8cd186f71467b" /><Relationship Type="http://schemas.openxmlformats.org/officeDocument/2006/relationships/slide" Target="/ppt/slides/slide47.xml" Id="R1650e998781a4ea0" /><Relationship Type="http://schemas.openxmlformats.org/officeDocument/2006/relationships/slide" Target="/ppt/slides/slide48.xml" Id="Rd6e0e514054840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eabe07598d4d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ddba86c1f74979" /><Relationship Type="http://schemas.openxmlformats.org/officeDocument/2006/relationships/notesMaster" Target="/ppt/notesMasters/notesMaster1.xml" Id="R5c39c8ddce4342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5bf0e260ab472f" /><Relationship Type="http://schemas.openxmlformats.org/officeDocument/2006/relationships/notesMaster" Target="/ppt/notesMasters/notesMaster1.xml" Id="R9d2592da883748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368616f9cc41bd" /><Relationship Type="http://schemas.openxmlformats.org/officeDocument/2006/relationships/notesMaster" Target="/ppt/notesMasters/notesMaster1.xml" Id="R950f399f5ef440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8ab56b47bc46ec" /><Relationship Type="http://schemas.openxmlformats.org/officeDocument/2006/relationships/notesMaster" Target="/ppt/notesMasters/notesMaster1.xml" Id="R79456ad3126c42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3cd2178ef8447f" /><Relationship Type="http://schemas.openxmlformats.org/officeDocument/2006/relationships/notesMaster" Target="/ppt/notesMasters/notesMaster1.xml" Id="R2d5f08700fb84d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1f10bbb6b14ca6" /><Relationship Type="http://schemas.openxmlformats.org/officeDocument/2006/relationships/notesMaster" Target="/ppt/notesMasters/notesMaster1.xml" Id="Rc25f562aa4f54b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d8ff46cbfd442f" /><Relationship Type="http://schemas.openxmlformats.org/officeDocument/2006/relationships/notesMaster" Target="/ppt/notesMasters/notesMaster1.xml" Id="R296202e8f57f49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66a02cc3b7453c" /><Relationship Type="http://schemas.openxmlformats.org/officeDocument/2006/relationships/notesMaster" Target="/ppt/notesMasters/notesMaster1.xml" Id="R795a24a210914e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be38569c854ee3" /><Relationship Type="http://schemas.openxmlformats.org/officeDocument/2006/relationships/notesMaster" Target="/ppt/notesMasters/notesMaster1.xml" Id="R9e1fb976827042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b50713f3744c19" /><Relationship Type="http://schemas.openxmlformats.org/officeDocument/2006/relationships/notesMaster" Target="/ppt/notesMasters/notesMaster1.xml" Id="R26cb4cfe65774a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fb79d96f474024" /><Relationship Type="http://schemas.openxmlformats.org/officeDocument/2006/relationships/notesMaster" Target="/ppt/notesMasters/notesMaster1.xml" Id="R887c2b869c9a4a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c23445651f49c7" /><Relationship Type="http://schemas.openxmlformats.org/officeDocument/2006/relationships/notesMaster" Target="/ppt/notesMasters/notesMaster1.xml" Id="Rf84f03b2e70d44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20c50ee6b646e7" /><Relationship Type="http://schemas.openxmlformats.org/officeDocument/2006/relationships/notesMaster" Target="/ppt/notesMasters/notesMaster1.xml" Id="R6083e263c0a045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5d36f687c84dc5" /><Relationship Type="http://schemas.openxmlformats.org/officeDocument/2006/relationships/notesMaster" Target="/ppt/notesMasters/notesMaster1.xml" Id="R6eae8d724d0348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1510a67d4d44ee" /><Relationship Type="http://schemas.openxmlformats.org/officeDocument/2006/relationships/notesMaster" Target="/ppt/notesMasters/notesMaster1.xml" Id="Rb7fd9742728144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56d489e7c24585" /><Relationship Type="http://schemas.openxmlformats.org/officeDocument/2006/relationships/notesMaster" Target="/ppt/notesMasters/notesMaster1.xml" Id="Rc2001d8c6f4e4d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819d9aeb904cb2" /><Relationship Type="http://schemas.openxmlformats.org/officeDocument/2006/relationships/notesMaster" Target="/ppt/notesMasters/notesMaster1.xml" Id="Redbeba974a7947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3ee5cae5b04171" /><Relationship Type="http://schemas.openxmlformats.org/officeDocument/2006/relationships/notesMaster" Target="/ppt/notesMasters/notesMaster1.xml" Id="Ra3bc4db51efb4c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782c3f1a60644a3" /><Relationship Type="http://schemas.openxmlformats.org/officeDocument/2006/relationships/notesMaster" Target="/ppt/notesMasters/notesMaster1.xml" Id="Rc750dfdd1c5345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228b0d194d4c24" /><Relationship Type="http://schemas.openxmlformats.org/officeDocument/2006/relationships/notesMaster" Target="/ppt/notesMasters/notesMaster1.xml" Id="R705819f2ff434fe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0c1570e8a340c0" /><Relationship Type="http://schemas.openxmlformats.org/officeDocument/2006/relationships/notesMaster" Target="/ppt/notesMasters/notesMaster1.xml" Id="R0d6a3e7fc5f241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ae78e98e344c77" /><Relationship Type="http://schemas.openxmlformats.org/officeDocument/2006/relationships/notesMaster" Target="/ppt/notesMasters/notesMaster1.xml" Id="R5279c5d3f43d4e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8f6873076954e6f" /><Relationship Type="http://schemas.openxmlformats.org/officeDocument/2006/relationships/notesMaster" Target="/ppt/notesMasters/notesMaster1.xml" Id="Rb544012b47e04ce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bf8706fe7f4dbc" /><Relationship Type="http://schemas.openxmlformats.org/officeDocument/2006/relationships/notesMaster" Target="/ppt/notesMasters/notesMaster1.xml" Id="R1b026873dbbe4a1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a705011ec84b6c" /><Relationship Type="http://schemas.openxmlformats.org/officeDocument/2006/relationships/notesMaster" Target="/ppt/notesMasters/notesMaster1.xml" Id="R1f6a00552fb745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31d40194874f72" /><Relationship Type="http://schemas.openxmlformats.org/officeDocument/2006/relationships/notesMaster" Target="/ppt/notesMasters/notesMaster1.xml" Id="R215b21bb063440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2e6a166e6214bf4" /><Relationship Type="http://schemas.openxmlformats.org/officeDocument/2006/relationships/notesMaster" Target="/ppt/notesMasters/notesMaster1.xml" Id="R696acdd01ef34ac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cdf66fb925b4e17" /><Relationship Type="http://schemas.openxmlformats.org/officeDocument/2006/relationships/notesMaster" Target="/ppt/notesMasters/notesMaster1.xml" Id="Ra594aa1445f242e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57724f11ee84f69" /><Relationship Type="http://schemas.openxmlformats.org/officeDocument/2006/relationships/notesMaster" Target="/ppt/notesMasters/notesMaster1.xml" Id="R8e27c13430764f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71bc72995cd488d" /><Relationship Type="http://schemas.openxmlformats.org/officeDocument/2006/relationships/notesMaster" Target="/ppt/notesMasters/notesMaster1.xml" Id="R183683c95c9a434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01973bb6a2e49e0" /><Relationship Type="http://schemas.openxmlformats.org/officeDocument/2006/relationships/notesMaster" Target="/ppt/notesMasters/notesMaster1.xml" Id="R802fab233a8f46f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2fb0398b7534293" /><Relationship Type="http://schemas.openxmlformats.org/officeDocument/2006/relationships/notesMaster" Target="/ppt/notesMasters/notesMaster1.xml" Id="R9a7cfceeeaeb4cf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fb86a33945446ad" /><Relationship Type="http://schemas.openxmlformats.org/officeDocument/2006/relationships/notesMaster" Target="/ppt/notesMasters/notesMaster1.xml" Id="R5be0b7591c9d440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a653af5d38744ff" /><Relationship Type="http://schemas.openxmlformats.org/officeDocument/2006/relationships/notesMaster" Target="/ppt/notesMasters/notesMaster1.xml" Id="Rd4eb626a2d2645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92ad7817f4446e7" /><Relationship Type="http://schemas.openxmlformats.org/officeDocument/2006/relationships/notesMaster" Target="/ppt/notesMasters/notesMaster1.xml" Id="Raa1c016a8eb0467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45a1fd45116431c" /><Relationship Type="http://schemas.openxmlformats.org/officeDocument/2006/relationships/notesMaster" Target="/ppt/notesMasters/notesMaster1.xml" Id="Re513ec6d0479430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65f40142770491e" /><Relationship Type="http://schemas.openxmlformats.org/officeDocument/2006/relationships/notesMaster" Target="/ppt/notesMasters/notesMaster1.xml" Id="Ra135c61643c14b4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2ca347bf0c946ff" /><Relationship Type="http://schemas.openxmlformats.org/officeDocument/2006/relationships/notesMaster" Target="/ppt/notesMasters/notesMaster1.xml" Id="Rfaa417cd5b254e4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ea498f62c23403d" /><Relationship Type="http://schemas.openxmlformats.org/officeDocument/2006/relationships/notesMaster" Target="/ppt/notesMasters/notesMaster1.xml" Id="Rcfe9fe30815b488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60c3a1b5d75488e" /><Relationship Type="http://schemas.openxmlformats.org/officeDocument/2006/relationships/notesMaster" Target="/ppt/notesMasters/notesMaster1.xml" Id="R3db93c4534334e2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f57b5b7d7f3455b" /><Relationship Type="http://schemas.openxmlformats.org/officeDocument/2006/relationships/notesMaster" Target="/ppt/notesMasters/notesMaster1.xml" Id="R4468e9fd44824d4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00fac9b69734f5f" /><Relationship Type="http://schemas.openxmlformats.org/officeDocument/2006/relationships/notesMaster" Target="/ppt/notesMasters/notesMaster1.xml" Id="R9dfbd1538bb7433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39211790b814316" /><Relationship Type="http://schemas.openxmlformats.org/officeDocument/2006/relationships/notesMaster" Target="/ppt/notesMasters/notesMaster1.xml" Id="Rcb04d731aebd476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c8ce63112ed4867" /><Relationship Type="http://schemas.openxmlformats.org/officeDocument/2006/relationships/notesMaster" Target="/ppt/notesMasters/notesMaster1.xml" Id="Rbe2a4a04295f400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78e71867a784ad1" /><Relationship Type="http://schemas.openxmlformats.org/officeDocument/2006/relationships/notesMaster" Target="/ppt/notesMasters/notesMaster1.xml" Id="R7782df6c97124f5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0e2b0abb639410e" /><Relationship Type="http://schemas.openxmlformats.org/officeDocument/2006/relationships/notesMaster" Target="/ppt/notesMasters/notesMaster1.xml" Id="Rb7384bfd63154cf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687740b245c494c" /><Relationship Type="http://schemas.openxmlformats.org/officeDocument/2006/relationships/notesMaster" Target="/ppt/notesMasters/notesMaster1.xml" Id="Rdc91e0a7464b4b9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cf438eaa3d34ca6" /><Relationship Type="http://schemas.openxmlformats.org/officeDocument/2006/relationships/notesMaster" Target="/ppt/notesMasters/notesMaster1.xml" Id="Rc1e96f15952a41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una onda digital antes de hablar de brillo o velocidad.</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PWM alterna una salida entre sus niveles digitales siguiendo un periodo y una fracción de tiempo activa. La señal conserva esos niveles; lo que cambia es su distribución temporal. Un LED y su circuito pueden producir una apariencia de brillo distinta al variar esa fracción. Un instrumento o una carga pueden responder de otra manera. No convertimos automáticamente el GPIO en una fuente analógica de potencia variable.</a:t>
            </a:r>
          </a:p>
          <a:p xmlns:a="http://schemas.openxmlformats.org/drawingml/2006/main">
            <a:r>
              <a:t/>
            </a:r>
          </a:p>
          <a:p xmlns:a="http://schemas.openxmlformats.org/drawingml/2006/main">
            <a:r>
              <a:t>MECRO, proyecto 04.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piano muestra una señal cuyo ritmo determina la nota, mientras el dimmer muestra una señal cuyo ciclo de trabajo regula el efecto de brillo. Son usos diferentes de una onda digital. El registro 74HC595 del proyecto de luces ofrece otra ampliación: convierte una secuencia de bits en varias salidas conservadas. Esta clase compara las dos ideas sin confundir “muchas salidas” con “resolución de PWM”.</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04. Esquema original del laboratorio para reconocer la arquitectura en Wokwi. Para montaje físico se aplica la tabla y las correcciones de esta lectura.</a:t>
            </a:r>
          </a:p>
          <a:p xmlns:a="http://schemas.openxmlformats.org/drawingml/2006/main">
            <a:r>
              <a:t>PWM alterna una salida entre sus niveles digitales siguiendo un periodo y una fracción de tiempo activa. La señal conserva esos niveles; lo que cambia es su distribución temporal. Un LED y su circuito pueden producir una apariencia de brillo distinta al variar esa fracción. Un instrumento o una carga pueden responder de otra manera. No convertimos automáticamente el GPIO en una fuente analógica de potencia variable.</a:t>
            </a:r>
          </a:p>
          <a:p xmlns:a="http://schemas.openxmlformats.org/drawingml/2006/main">
            <a:r>
              <a:t/>
            </a:r>
          </a:p>
          <a:p xmlns:a="http://schemas.openxmlformats.org/drawingml/2006/main">
            <a:r>
              <a:t>MECRO, proyecto 04.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piano muestra una señal cuyo ritmo determina la nota, mientras el dimmer muestra una señal cuyo ciclo de trabajo regula el efecto de brillo. Son usos diferentes de una onda digital. El registro 74HC595 del proyecto de luces ofrece otra ampliación: convierte una secuencia de bits en varias salidas conservadas. Esta clase compara las dos ideas sin confundir “muchas salidas” con “resolución de PWM”.</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PWM alterna una salida entre sus niveles digitales siguiendo un periodo y una fracción de tiempo activa. La señal conserva esos niveles; lo que cambia es su distribución temporal. Un LED y su circuito pueden producir una apariencia de brillo distinta al variar esa fracción. Un instrumento o una carga pueden responder de otra manera. No convertimos automáticamente el GPIO en una fuente analógica de potencia variable.</a:t>
            </a:r>
          </a:p>
          <a:p xmlns:a="http://schemas.openxmlformats.org/drawingml/2006/main">
            <a:r>
              <a:t/>
            </a:r>
          </a:p>
          <a:p xmlns:a="http://schemas.openxmlformats.org/drawingml/2006/main">
            <a:r>
              <a:t>MECRO, proyecto 04.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piano muestra una señal cuyo ritmo determina la nota, mientras el dimmer muestra una señal cuyo ciclo de trabajo regula el efecto de brillo. Son usos diferentes de una onda digital. El registro 74HC595 del proyecto de luces ofrece otra ampliación: convierte una secuencia de bits en varias salidas conservadas. Esta clase compara las dos ideas sin confundir “muchas salidas” con “resolución de PWM”.</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D es una proporción; d es un código de mando de b bits para la convención del ejemplo.</a:t>
            </a:r>
          </a:p>
          <a:p xmlns:a="http://schemas.openxmlformats.org/drawingml/2006/main">
            <a:r>
              <a:t/>
            </a:r>
          </a:p>
          <a:p xmlns:a="http://schemas.openxmlformats.org/drawingml/2006/main">
            <a:r>
              <a:t>Con periodo de 1 ms y tiempo activo de 0,25 ms, ¿qué ciclo de trabajo y qué código de 8 bits propones?</a:t>
            </a:r>
          </a:p>
          <a:p xmlns:a="http://schemas.openxmlformats.org/drawingml/2006/main">
            <a:r>
              <a:t>D = 0,25, equivalente al 25%. El código aproximado es 0,25 × 255 = 63,75: se elige 64. La frecuencia sigue siendo 1 kHz.</a:t>
            </a:r>
          </a:p>
          <a:p xmlns:a="http://schemas.openxmlformats.org/drawingml/2006/main">
            <a:r>
              <a:t/>
            </a:r>
          </a:p>
          <a:p xmlns:a="http://schemas.openxmlformats.org/drawingml/2006/main">
            <a:r>
              <a:t>Cambio / Qué modifica / Ejemplo</a:t>
            </a:r>
          </a:p>
          <a:p xmlns:a="http://schemas.openxmlformats.org/drawingml/2006/main">
            <a:r>
              <a:t>Frecuencia / Repetición por segundo / Nota en buzzer pasivo</a:t>
            </a:r>
          </a:p>
          <a:p xmlns:a="http://schemas.openxmlformats.org/drawingml/2006/main">
            <a:r>
              <a:t>Duty / Fracción activa / Brillo del LED</a:t>
            </a:r>
          </a:p>
          <a:p xmlns:a="http://schemas.openxmlformats.org/drawingml/2006/main">
            <a:r>
              <a:t>Resolución / Pasos de mando / 8 bits: 0 a 255</a:t>
            </a:r>
          </a:p>
          <a:p xmlns:a="http://schemas.openxmlformats.org/drawingml/2006/main">
            <a:r>
              <a:t/>
            </a:r>
          </a:p>
          <a:p xmlns:a="http://schemas.openxmlformats.org/drawingml/2006/main">
            <a:r>
              <a:t>Más resolución permite seleccionar más códigos, pero el periférico debe generar la combinación de frecuencia y resolución solicitada. En el código de referencia se comprueba si la configuración tuvo éxito. Elegir una frecuencia nueva puede compartir recursos con otra salida, según la configuración del periférico y las bibliotecas. En la clase de servo volveremos a este punto con una señal de 50 Hz que tiene un significado distinto al brillo.</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Cambio / Qué modifica / Ejemplo</a:t>
            </a:r>
          </a:p>
          <a:p xmlns:a="http://schemas.openxmlformats.org/drawingml/2006/main">
            <a:r>
              <a:t>Frecuencia / Repetición por segundo / Nota en buzzer pasivo</a:t>
            </a:r>
          </a:p>
          <a:p xmlns:a="http://schemas.openxmlformats.org/drawingml/2006/main">
            <a:r>
              <a:t>Duty / Fracción activa / Brillo del LED</a:t>
            </a:r>
          </a:p>
          <a:p xmlns:a="http://schemas.openxmlformats.org/drawingml/2006/main">
            <a:r>
              <a:t>Resolución / Pasos de mando / 8 bits: 0 a 255</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D es una proporción; d es un código de mando de b bits para la convención del ejemplo.</a:t>
            </a:r>
          </a:p>
          <a:p xmlns:a="http://schemas.openxmlformats.org/drawingml/2006/main">
            <a:r>
              <a:t/>
            </a:r>
          </a:p>
          <a:p xmlns:a="http://schemas.openxmlformats.org/drawingml/2006/main">
            <a:r>
              <a:t>Con periodo de 1 ms y tiempo activo de 0,25 ms, ¿qué ciclo de trabajo y qué código de 8 bits propones?</a:t>
            </a:r>
          </a:p>
          <a:p xmlns:a="http://schemas.openxmlformats.org/drawingml/2006/main">
            <a:r>
              <a:t>D = 0,25, equivalente al 25%. El código aproximado es 0,25 × 255 = 63,75: se elige 64. La frecuencia sigue siendo 1 kHz.</a:t>
            </a:r>
          </a:p>
          <a:p xmlns:a="http://schemas.openxmlformats.org/drawingml/2006/main">
            <a:r>
              <a:t/>
            </a:r>
          </a:p>
          <a:p xmlns:a="http://schemas.openxmlformats.org/drawingml/2006/main">
            <a:r>
              <a:t>Cambio / Qué modifica / Ejemplo</a:t>
            </a:r>
          </a:p>
          <a:p xmlns:a="http://schemas.openxmlformats.org/drawingml/2006/main">
            <a:r>
              <a:t>Frecuencia / Repetición por segundo / Nota en buzzer pasivo</a:t>
            </a:r>
          </a:p>
          <a:p xmlns:a="http://schemas.openxmlformats.org/drawingml/2006/main">
            <a:r>
              <a:t>Duty / Fracción activa / Brillo del LED</a:t>
            </a:r>
          </a:p>
          <a:p xmlns:a="http://schemas.openxmlformats.org/drawingml/2006/main">
            <a:r>
              <a:t>Resolución / Pasos de mando / 8 bits: 0 a 255</a:t>
            </a:r>
          </a:p>
          <a:p xmlns:a="http://schemas.openxmlformats.org/drawingml/2006/main">
            <a:r>
              <a:t/>
            </a:r>
          </a:p>
          <a:p xmlns:a="http://schemas.openxmlformats.org/drawingml/2006/main">
            <a:r>
              <a:t>Más resolución permite seleccionar más códigos, pero el periférico debe generar la combinación de frecuencia y resolución solicitada. En el código de referencia se comprueba si la configuración tuvo éxito. Elegir una frecuencia nueva puede compartir recursos con otra salida, según la configuración del periférico y las bibliotecas. En la clase de servo volveremos a este punto con una señal de 50 Hz que tiene un significado distinto al brillo.</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El registro recibe bits en serie y mantiene un conjunto de salidas. DATA transporta el valor de cada bit; CLOCK determina cuándo se incorpora; LATCH presenta el conjunto almacenado. Un patrón como 00010000 puede representar una luz encendida entre ocho. Desplazar ese patrón produce la animación del proyecto. La operación shiftOut() genera una secuencia por software; no demuestra que el circuito esté usando automáticamente el periférico SPI del ESP32.</a:t>
            </a:r>
          </a:p>
          <a:p xmlns:a="http://schemas.openxmlformats.org/drawingml/2006/main">
            <a:r>
              <a:t/>
            </a:r>
          </a:p>
          <a:p xmlns:a="http://schemas.openxmlformats.org/drawingml/2006/main">
            <a:r>
              <a:t>Señal / Papel / Qué observa el alumno</a:t>
            </a:r>
          </a:p>
          <a:p xmlns:a="http://schemas.openxmlformats.org/drawingml/2006/main">
            <a:r>
              <a:t>DATA / Bit que se transmite / 0 o 1</a:t>
            </a:r>
          </a:p>
          <a:p xmlns:a="http://schemas.openxmlformats.org/drawingml/2006/main">
            <a:r>
              <a:t>CLOCK / Paso de desplazamiento / Ocho pulsos por palabra</a:t>
            </a:r>
          </a:p>
          <a:p xmlns:a="http://schemas.openxmlformats.org/drawingml/2006/main">
            <a:r>
              <a:t>LATCH / Actualización de salidas / Cambio del patrón completo</a:t>
            </a:r>
          </a:p>
          <a:p xmlns:a="http://schemas.openxmlformats.org/drawingml/2006/main">
            <a:r>
              <a:t/>
            </a:r>
          </a:p>
          <a:p xmlns:a="http://schemas.openxmlformats.org/drawingml/2006/main">
            <a:r>
              <a:t>La salida del integrado también tiene límites de corriente. En un montaje con LEDs se requiere una resistencia por rama. La alimentación del SN74HC595 y los umbrales de entrada se consultan juntos: un HC alimentado a 5 V no debe suponerse compatible en todas sus condiciones con una señal de 3,3 V. El ejemplo físico del curso se prepara a 3,3 V con corrientes de indicador pequeñas y una hoja de conexiones revisada.</a:t>
            </a:r>
          </a:p>
          <a:p xmlns:a="http://schemas.openxmlformats.org/drawingml/2006/main">
            <a:r>
              <a:t/>
            </a:r>
          </a:p>
          <a:p xmlns:a="http://schemas.openxmlformats.org/drawingml/2006/main">
            <a:r>
              <a:t>Con LED de 2,0 V y alimentación de 3,3 V, un resistor de 680 ohm produce aproximadamente 1,9 mA por rama en el modelo ideal. ¿Qué suma representan ocho ramas?</a:t>
            </a:r>
          </a:p>
          <a:p xmlns:a="http://schemas.openxmlformats.org/drawingml/2006/main">
            <a:r>
              <a:t>Aproximadamente 15,3 mA. También se revisan las condiciones por salida y del integrado completo; la suma de ramas no autoriza ignorar la caída de tensión del driver.</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Señal / Papel / Qué observa el alumno</a:t>
            </a:r>
          </a:p>
          <a:p xmlns:a="http://schemas.openxmlformats.org/drawingml/2006/main">
            <a:r>
              <a:t>DATA / Bit que se transmite / 0 o 1</a:t>
            </a:r>
          </a:p>
          <a:p xmlns:a="http://schemas.openxmlformats.org/drawingml/2006/main">
            <a:r>
              <a:t>CLOCK / Paso de desplazamiento / Ocho pulsos por palabra</a:t>
            </a:r>
          </a:p>
          <a:p xmlns:a="http://schemas.openxmlformats.org/drawingml/2006/main">
            <a:r>
              <a:t>LATCH / Actualización de salidas / Cambio del patrón completo</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Con LED de 2,0 V y alimentación de 3,3 V, un resistor de 680 ohm produce aproximadamente 1,9 mA por rama en el modelo ideal. ¿Qué suma representan ocho ramas?</a:t>
            </a:r>
          </a:p>
          <a:p xmlns:a="http://schemas.openxmlformats.org/drawingml/2006/main">
            <a:r>
              <a:t>Aproximadamente 15,3 mA. También se revisan las condiciones por salida y del integrado completo; la suma de ramas no autoriza ignorar la caída de tensión del driver.</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CoursePwm led(23, 0);</a:t>
            </a:r>
          </a:p>
          <a:p xmlns:a="http://schemas.openxmlformats.org/drawingml/2006/main">
            <a:r>
              <a:t>bool ok = led.begin(1000, 8);</a:t>
            </a:r>
          </a:p>
          <a:p xmlns:a="http://schemas.openxmlformats.org/drawingml/2006/main">
            <a:r>
              <a:t>if (ok) {</a:t>
            </a:r>
          </a:p>
          <a:p xmlns:a="http://schemas.openxmlformats.org/drawingml/2006/main">
            <a:r>
              <a:t>  uint32_t duty = (raw * 255UL) / 4095UL;</a:t>
            </a:r>
          </a:p>
          <a:p xmlns:a="http://schemas.openxmlformats.org/drawingml/2006/main">
            <a:r>
              <a:t>  led.write(duty);</a:t>
            </a:r>
          </a:p>
          <a:p xmlns:a="http://schemas.openxmlformats.org/drawingml/2006/main">
            <a:r>
              <a:t>}</a:t>
            </a:r>
          </a:p>
          <a:p xmlns:a="http://schemas.openxmlformats.org/drawingml/2006/main">
            <a:r>
              <a:t/>
            </a:r>
          </a:p>
          <a:p xmlns:a="http://schemas.openxmlformats.org/drawingml/2006/main">
            <a:r>
              <a:t>La capa course_pwm.h conserva separados el número de GPIO y el canal. En Arduino-ESP32 2.x se configuran canal y asociación de pin; en 3.x cambió la API y varias operaciones se expresan por pin. El material fija un entorno de referencia para los ejemplos y explica esa diferencia. Encontrar una función con el mismo nombre no garantiza que sus argumentos conserven el significado de una versión anterior.</a:t>
            </a:r>
          </a:p>
          <a:p xmlns:a="http://schemas.openxmlformats.org/drawingml/2006/main">
            <a:r>
              <a:t/>
            </a:r>
          </a:p>
          <a:p xmlns:a="http://schemas.openxmlformats.org/drawingml/2006/main">
            <a:r>
              <a:t>digitalWrite(LATCH, LOW);</a:t>
            </a:r>
          </a:p>
          <a:p xmlns:a="http://schemas.openxmlformats.org/drawingml/2006/main">
            <a:r>
              <a:t>shiftOut(DATA, CLOCK, MSBFIRST, pattern);</a:t>
            </a:r>
          </a:p>
          <a:p xmlns:a="http://schemas.openxmlformats.org/drawingml/2006/main">
            <a:r>
              <a:t>digitalWrite(LATCH, HIGH);</a:t>
            </a:r>
          </a:p>
          <a:p xmlns:a="http://schemas.openxmlformats.org/drawingml/2006/main">
            <a:r>
              <a:t/>
            </a:r>
          </a:p>
          <a:p xmlns:a="http://schemas.openxmlformats.org/drawingml/2006/main">
            <a:r>
              <a:t>El orden de bits se relaciona con la posición física de las salidas. Si la animación parece invertida, primero compara el patrón, la convención MSBFIRST y las conexiones. No hace falta cambiar simultáneamente ocho cables y todo el programa para investigar una inversión. Una prueba de un solo bit permite identificar la correspondencia.</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CoursePwm led(23, 0);</a:t>
            </a:r>
          </a:p>
          <a:p xmlns:a="http://schemas.openxmlformats.org/drawingml/2006/main">
            <a:r>
              <a:t>bool ok = led.begin(1000, 8);</a:t>
            </a:r>
          </a:p>
          <a:p xmlns:a="http://schemas.openxmlformats.org/drawingml/2006/main">
            <a:r>
              <a:t>if (ok) {</a:t>
            </a:r>
          </a:p>
          <a:p xmlns:a="http://schemas.openxmlformats.org/drawingml/2006/main">
            <a:r>
              <a:t>  uint32_t duty = (raw * 255UL) / 4095UL;</a:t>
            </a:r>
          </a:p>
          <a:p xmlns:a="http://schemas.openxmlformats.org/drawingml/2006/main">
            <a:r>
              <a:t>  led.write(duty);</a:t>
            </a:r>
          </a:p>
          <a:p xmlns:a="http://schemas.openxmlformats.org/drawingml/2006/main">
            <a:r>
              <a:t>}</a:t>
            </a:r>
          </a:p>
          <a:p xmlns:a="http://schemas.openxmlformats.org/drawingml/2006/main">
            <a:r>
              <a:t>Explicar entrada, estado, salida y momento de actualización.</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CoursePwm led(23, 0);</a:t>
            </a:r>
          </a:p>
          <a:p xmlns:a="http://schemas.openxmlformats.org/drawingml/2006/main">
            <a:r>
              <a:t>bool ok = led.begin(1000, 8);</a:t>
            </a:r>
          </a:p>
          <a:p xmlns:a="http://schemas.openxmlformats.org/drawingml/2006/main">
            <a:r>
              <a:t>if (ok) {</a:t>
            </a:r>
          </a:p>
          <a:p xmlns:a="http://schemas.openxmlformats.org/drawingml/2006/main">
            <a:r>
              <a:t>  uint32_t duty = (raw * 255UL) / 4095UL;</a:t>
            </a:r>
          </a:p>
          <a:p xmlns:a="http://schemas.openxmlformats.org/drawingml/2006/main">
            <a:r>
              <a:t>  led.write(duty);</a:t>
            </a:r>
          </a:p>
          <a:p xmlns:a="http://schemas.openxmlformats.org/drawingml/2006/main">
            <a:r>
              <a:t>}</a:t>
            </a:r>
          </a:p>
          <a:p xmlns:a="http://schemas.openxmlformats.org/drawingml/2006/main">
            <a:r>
              <a:t/>
            </a:r>
          </a:p>
          <a:p xmlns:a="http://schemas.openxmlformats.org/drawingml/2006/main">
            <a:r>
              <a:t>La capa course_pwm.h conserva separados el número de GPIO y el canal. En Arduino-ESP32 2.x se configuran canal y asociación de pin; en 3.x cambió la API y varias operaciones se expresan por pin. El material fija un entorno de referencia para los ejemplos y explica esa diferencia. Encontrar una función con el mismo nombre no garantiza que sus argumentos conserven el significado de una versión anterior.</a:t>
            </a:r>
          </a:p>
          <a:p xmlns:a="http://schemas.openxmlformats.org/drawingml/2006/main">
            <a:r>
              <a:t/>
            </a:r>
          </a:p>
          <a:p xmlns:a="http://schemas.openxmlformats.org/drawingml/2006/main">
            <a:r>
              <a:t>digitalWrite(LATCH, LOW);</a:t>
            </a:r>
          </a:p>
          <a:p xmlns:a="http://schemas.openxmlformats.org/drawingml/2006/main">
            <a:r>
              <a:t>shiftOut(DATA, CLOCK, MSBFIRST, pattern);</a:t>
            </a:r>
          </a:p>
          <a:p xmlns:a="http://schemas.openxmlformats.org/drawingml/2006/main">
            <a:r>
              <a:t>digitalWrite(LATCH, HIGH);</a:t>
            </a:r>
          </a:p>
          <a:p xmlns:a="http://schemas.openxmlformats.org/drawingml/2006/main">
            <a:r>
              <a:t/>
            </a:r>
          </a:p>
          <a:p xmlns:a="http://schemas.openxmlformats.org/drawingml/2006/main">
            <a:r>
              <a:t>El orden de bits se relaciona con la posición física de las salidas. Si la animación parece invertida, primero compara el patrón, la convención MSBFIRST y las conexiones. No hace falta cambiar simultáneamente ocho cables y todo el programa para investigar una inversión. Una prueba de un solo bit permite identificar la correspondencia.</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Ejecuta c05_pwm con LED y resistencia; reconoce pin, canal, frecuencia y resolución.</a:t>
            </a:r>
          </a:p>
          <a:p xmlns:a="http://schemas.openxmlformats.org/drawingml/2006/main">
            <a:r>
              <a:t>Selecciona códigos 0, 64, 128, 192 y 255. Predice sus fracciones de mando.</a:t>
            </a:r>
          </a:p>
          <a:p xmlns:a="http://schemas.openxmlformats.org/drawingml/2006/main">
            <a:r>
              <a:t>Si hay analizador lógico u osciloscopio, mide periodo y tiempo activo; conserva la configuración.</a:t>
            </a:r>
          </a:p>
          <a:p xmlns:a="http://schemas.openxmlformats.org/drawingml/2006/main">
            <a:r>
              <a:t>En el proyecto 4, prueba un bit cada vez y dibuja su relación con las salidas.</a:t>
            </a:r>
          </a:p>
          <a:p xmlns:a="http://schemas.openxmlformats.org/drawingml/2006/main">
            <a:r>
              <a:t>Compara cambiar frecuencia del buzzer con cambiar duty del LED.</a:t>
            </a:r>
          </a:p>
          <a:p xmlns:a="http://schemas.openxmlformats.org/drawingml/2006/main">
            <a:r>
              <a:t>Conserva una tabla que diferencie mando calculado, señal observada y efecto visible.</a:t>
            </a:r>
          </a:p>
          <a:p xmlns:a="http://schemas.openxmlformats.org/drawingml/2006/main">
            <a:r>
              <a:t/>
            </a:r>
          </a:p>
          <a:p xmlns:a="http://schemas.openxmlformats.org/drawingml/2006/main">
            <a:r>
              <a:t>Código / 8 bits / Fracción aproximada / Observación</a:t>
            </a:r>
          </a:p>
          <a:p xmlns:a="http://schemas.openxmlformats.org/drawingml/2006/main">
            <a:r>
              <a:t>64 / 25,1% / Por comprobar</a:t>
            </a:r>
          </a:p>
          <a:p xmlns:a="http://schemas.openxmlformats.org/drawingml/2006/main">
            <a:r>
              <a:t>128 / 50,2% / Por comprobar</a:t>
            </a:r>
          </a:p>
          <a:p xmlns:a="http://schemas.openxmlformats.org/drawingml/2006/main">
            <a:r>
              <a:t>192 / 75,3% / Por comprobar</a:t>
            </a:r>
          </a:p>
          <a:p xmlns:a="http://schemas.openxmlformats.org/drawingml/2006/main">
            <a:r>
              <a:t/>
            </a:r>
          </a:p>
          <a:p xmlns:a="http://schemas.openxmlformats.org/drawingml/2006/main">
            <a:r>
              <a:t>La vista de una simulación ayuda a relacionar el algoritmo con el patrón. Una estimación visual de brillo no es una medida lineal de potencia óptica. Si el equipo usa solo observación, puede describir orden y contraste entre estados. Para afirmar valores de señal necesita el instrumento o el modelo identificado. El docente demuestra al menos una lectura de periodo para ligar la fórmula con un objeto real.</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Código / 8 bits / Fracción aproximada / Observación</a:t>
            </a:r>
          </a:p>
          <a:p xmlns:a="http://schemas.openxmlformats.org/drawingml/2006/main">
            <a:r>
              <a:t>64 / 25,1% / Por comprobar</a:t>
            </a:r>
          </a:p>
          <a:p xmlns:a="http://schemas.openxmlformats.org/drawingml/2006/main">
            <a:r>
              <a:t>128 / 50,2% / Por comprobar</a:t>
            </a:r>
          </a:p>
          <a:p xmlns:a="http://schemas.openxmlformats.org/drawingml/2006/main">
            <a:r>
              <a:t>192 / 75,3% / Por comprobar</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Ejecuta c05_pwm con LED y resistencia; reconoce pin, canal, frecuencia y resolución.</a:t>
            </a:r>
          </a:p>
          <a:p xmlns:a="http://schemas.openxmlformats.org/drawingml/2006/main">
            <a:r>
              <a:t>Selecciona códigos 0, 64, 128, 192 y 255. Predice sus fracciones de mando.</a:t>
            </a:r>
          </a:p>
          <a:p xmlns:a="http://schemas.openxmlformats.org/drawingml/2006/main">
            <a:r>
              <a:t>Si hay analizador lógico u osciloscopio, mide periodo y tiempo activo; conserva la configuración.</a:t>
            </a:r>
          </a:p>
          <a:p xmlns:a="http://schemas.openxmlformats.org/drawingml/2006/main">
            <a:r>
              <a:t>En el proyecto 4, prueba un bit cada vez y dibuja su relación con las salidas.</a:t>
            </a:r>
          </a:p>
          <a:p xmlns:a="http://schemas.openxmlformats.org/drawingml/2006/main">
            <a:r>
              <a:t>Compara cambiar frecuencia del buzzer con cambiar duty del LED.</a:t>
            </a:r>
          </a:p>
          <a:p xmlns:a="http://schemas.openxmlformats.org/drawingml/2006/main">
            <a:r>
              <a:t>Conserva una tabla que diferencie mando calculado, señal observada y efecto visible.</a:t>
            </a:r>
          </a:p>
          <a:p xmlns:a="http://schemas.openxmlformats.org/drawingml/2006/main">
            <a:r>
              <a:t>Verificar un paso antes de seguir.</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En una aeronave conviven interfaces digitales con significados distintos. Una orden hacia un servo, un controlador de motor y una cadena de LEDs no se interpreta del mismo modo. Compartir el término PWM no hace intercambiables sus frecuencias, anchos de pulso ni etapas de potencia. El aprendizaje del curso es leer qué espera el dispositivo receptor y comprobar la señal generada antes de integrarlo. No se usa el pin como sustituto de un ESC.</a:t>
            </a:r>
          </a:p>
          <a:p xmlns:a="http://schemas.openxmlformats.org/drawingml/2006/main">
            <a:r>
              <a:t/>
            </a:r>
          </a:p>
          <a:p xmlns:a="http://schemas.openxmlformats.org/drawingml/2006/main">
            <a:r>
              <a:t>Dispositivo / Dato relevante / Comprobación</a:t>
            </a:r>
          </a:p>
          <a:p xmlns:a="http://schemas.openxmlformats.org/drawingml/2006/main">
            <a:r>
              <a:t>LED / Duty del efecto / Periodo y estado</a:t>
            </a:r>
          </a:p>
          <a:p xmlns:a="http://schemas.openxmlformats.org/drawingml/2006/main">
            <a:r>
              <a:t>Servo / Ancho de pulso / Intervalo permitido</a:t>
            </a:r>
          </a:p>
          <a:p xmlns:a="http://schemas.openxmlformats.org/drawingml/2006/main">
            <a:r>
              <a:t>Driver DC / Entrada de mando / Potencia y respuesta</a:t>
            </a:r>
          </a:p>
          <a:p xmlns:a="http://schemas.openxmlformats.org/drawingml/2006/main">
            <a:r>
              <a:t/>
            </a:r>
          </a:p>
          <a:p xmlns:a="http://schemas.openxmlformats.org/drawingml/2006/main">
            <a:r>
              <a:t>Investiga en la hoja del SN74HC595 la diferencia entre registro de desplazamiento y registro de salida. Busca además sus condiciones de alimentación y de corriente. Compara la comunicación DATA/CLOCK/LATCH con un bus SPI de propósito general: ambos son síncronos, pero la función del dispositivo y el protocolo concreto siguen importando. Presenta una semejanza y una diferencia útiles para cablear.</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4 minutos en esta diapositiva.</a:t>
            </a:r>
          </a:p>
          <a:p xmlns:a="http://schemas.openxmlformats.org/drawingml/2006/main">
            <a:r>
              <a:t/>
            </a:r>
          </a:p>
          <a:p xmlns:a="http://schemas.openxmlformats.org/drawingml/2006/main">
            <a:r>
              <a:t>Dispositivo / Dato relevante / Comprobación</a:t>
            </a:r>
          </a:p>
          <a:p xmlns:a="http://schemas.openxmlformats.org/drawingml/2006/main">
            <a:r>
              <a:t>LED / Duty del efecto / Periodo y estado</a:t>
            </a:r>
          </a:p>
          <a:p xmlns:a="http://schemas.openxmlformats.org/drawingml/2006/main">
            <a:r>
              <a:t>Servo / Ancho de pulso / Intervalo permitido</a:t>
            </a:r>
          </a:p>
          <a:p xmlns:a="http://schemas.openxmlformats.org/drawingml/2006/main">
            <a:r>
              <a:t>Driver DC / Entrada de mando / Potencia y respuesta</a:t>
            </a:r>
          </a:p>
          <a:p xmlns:a="http://schemas.openxmlformats.org/drawingml/2006/main">
            <a:r>
              <a:t>Comparar filas y explicar una condición que cambie la decisión.</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En una aeronave conviven interfaces digitales con significados distintos. Una orden hacia un servo, un controlador de motor y una cadena de LEDs no se interpreta del mismo modo. Compartir el término PWM no hace intercambiables sus frecuencias, anchos de pulso ni etapas de potencia. El aprendizaje del curso es leer qué espera el dispositivo receptor y comprobar la señal generada antes de integrarlo. No se usa el pin como sustituto de un ESC.</a:t>
            </a:r>
          </a:p>
          <a:p xmlns:a="http://schemas.openxmlformats.org/drawingml/2006/main">
            <a:r>
              <a:t/>
            </a:r>
          </a:p>
          <a:p xmlns:a="http://schemas.openxmlformats.org/drawingml/2006/main">
            <a:r>
              <a:t>Dispositivo / Dato relevante / Comprobación</a:t>
            </a:r>
          </a:p>
          <a:p xmlns:a="http://schemas.openxmlformats.org/drawingml/2006/main">
            <a:r>
              <a:t>LED / Duty del efecto / Periodo y estado</a:t>
            </a:r>
          </a:p>
          <a:p xmlns:a="http://schemas.openxmlformats.org/drawingml/2006/main">
            <a:r>
              <a:t>Servo / Ancho de pulso / Intervalo permitido</a:t>
            </a:r>
          </a:p>
          <a:p xmlns:a="http://schemas.openxmlformats.org/drawingml/2006/main">
            <a:r>
              <a:t>Driver DC / Entrada de mando / Potencia y respuesta</a:t>
            </a:r>
          </a:p>
          <a:p xmlns:a="http://schemas.openxmlformats.org/drawingml/2006/main">
            <a:r>
              <a:t/>
            </a:r>
          </a:p>
          <a:p xmlns:a="http://schemas.openxmlformats.org/drawingml/2006/main">
            <a:r>
              <a:t>Investiga en la hoja del SN74HC595 la diferencia entre registro de desplazamiento y registro de salida. Busca además sus condiciones de alimentación y de corriente. Compara la comunicación DATA/CLOCK/LATCH con un bus SPI de propósito general: ambos son síncronos, pero la función del dispositivo y el protocolo concreto siguen importando. Presenta una semejanza y una diferencia útiles para cablear.</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una onda digital antes de hablar de brillo o velocidad.</a:t>
            </a:r>
          </a:p>
          <a:p xmlns:a="http://schemas.openxmlformats.org/drawingml/2006/main">
            <a:r>
              <a:t>Resolver periodo y duty con unidades.</a:t>
            </a:r>
          </a:p>
          <a:p xmlns:a="http://schemas.openxmlformats.org/drawingml/2006/main">
            <a:r>
              <a:t>Comprobar c05_pwm y una palabra del registro 74HC595.</a:t>
            </a:r>
          </a:p>
          <a:p xmlns:a="http://schemas.openxmlformats.org/drawingml/2006/main">
            <a:r>
              <a:t>Contrastar LED, buzzer y futuro servo como interfaces diferentes.</a:t>
            </a:r>
          </a:p>
          <a:p xmlns:a="http://schemas.openxmlformats.org/drawingml/2006/main">
            <a:r>
              <a:t>Rotar código, medida y registro.</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10 minutos en esta diapositiva.</a:t>
            </a:r>
          </a:p>
          <a:p xmlns:a="http://schemas.openxmlformats.org/drawingml/2006/main">
            <a:r>
              <a:t/>
            </a:r>
          </a:p>
          <a:p xmlns:a="http://schemas.openxmlformats.org/drawingml/2006/main">
            <a:r>
              <a:t>Una orden del controlador puede representar brillo, un aviso o una consigna para otra etapa; el significado depende de la interfaz.</a:t>
            </a:r>
          </a:p>
          <a:p xmlns:a="http://schemas.openxmlformats.org/drawingml/2006/main">
            <a:r>
              <a:t>Tabla de señales PWM y correspondencia de bits del proyecto 4.</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5: PWM, sonido y salidas digitales en serie.</a:t>
            </a:r>
          </a:p>
          <a:p xmlns:a="http://schemas.openxmlformats.org/drawingml/2006/main">
            <a:r>
              <a:t>En línea, 2 horas. Núcleo de explicación: 5 minutos en esta diapositiva.</a:t>
            </a:r>
          </a:p>
          <a:p xmlns:a="http://schemas.openxmlformats.org/drawingml/2006/main">
            <a:r>
              <a:t/>
            </a:r>
          </a:p>
          <a:p xmlns:a="http://schemas.openxmlformats.org/drawingml/2006/main">
            <a:r>
              <a:t>Tabla de señales PWM y correspondencia de bits del proyecto 4.</a:t>
            </a:r>
          </a:p>
          <a:p xmlns:a="http://schemas.openxmlformats.org/drawingml/2006/main">
            <a:r>
              <a:t/>
            </a:r>
          </a:p>
          <a:p xmlns:a="http://schemas.openxmlformats.org/drawingml/2006/main">
            <a:r>
              <a:t>Objetivo: Distinguir frecuencia, resolución y ciclo de trabajo, y ampliar salidas con un registro de desplazamiento.</a:t>
            </a:r>
          </a:p>
          <a:p xmlns:a="http://schemas.openxmlformats.org/drawingml/2006/main">
            <a:r>
              <a:t>Aplicación: Una orden del controlador puede representar brillo, un aviso o una consigna para otra etapa; el significado depende de la interfaz.</a:t>
            </a:r>
          </a:p>
          <a:p xmlns:a="http://schemas.openxmlformats.org/drawingml/2006/main">
            <a:r>
              <a:t>Entrega: Tabla de señales PWM y correspondencia de bits del proyecto 4.</a:t>
            </a:r>
          </a:p>
          <a:p xmlns:a="http://schemas.openxmlformats.org/drawingml/2006/main">
            <a:r>
              <a:t/>
            </a:r>
          </a:p>
          <a:p xmlns:a="http://schemas.openxmlformats.org/drawingml/2006/main">
            <a:r>
              <a:t>Preguntas y respuestas</a:t>
            </a:r>
          </a:p>
          <a:p xmlns:a="http://schemas.openxmlformats.org/drawingml/2006/main">
            <a:r>
              <a:t>¿50% de duty equivale a 1,65 V constantes en el pin?</a:t>
            </a:r>
          </a:p>
          <a:p xmlns:a="http://schemas.openxmlformats.org/drawingml/2006/main">
            <a:r>
              <a:t>No: el pin alterna niveles; una magnitud media depende del circuito y de la medida.</a:t>
            </a:r>
          </a:p>
          <a:p xmlns:a="http://schemas.openxmlformats.org/drawingml/2006/main">
            <a:r>
              <a:t/>
            </a:r>
          </a:p>
          <a:p xmlns:a="http://schemas.openxmlformats.org/drawingml/2006/main">
            <a:r>
              <a:t>¿Pin y canal son lo mismo?</a:t>
            </a:r>
          </a:p>
          <a:p xmlns:a="http://schemas.openxmlformats.org/drawingml/2006/main">
            <a:r>
              <a:t>No. La API y la capa de compatibilidad deben conservar la correspondencia.</a:t>
            </a:r>
          </a:p>
          <a:p xmlns:a="http://schemas.openxmlformats.org/drawingml/2006/main">
            <a:r>
              <a:t/>
            </a:r>
          </a:p>
          <a:p xmlns:a="http://schemas.openxmlformats.org/drawingml/2006/main">
            <a:r>
              <a:t>¿shiftOut() prueba uso del SPI de hardware?</a:t>
            </a:r>
          </a:p>
          <a:p xmlns:a="http://schemas.openxmlformats.org/drawingml/2006/main">
            <a:r>
              <a:t>No; genera una secuencia por software para la función definida.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LEDC. https://docs.espressif.com/projects/arduino-esp32/en/latest/api/ledc.html</a:t>
            </a:r>
          </a:p>
          <a:p xmlns:a="http://schemas.openxmlformats.org/drawingml/2006/main">
            <a:r>
              <a:t>Espressif Systems. Migración Arduino-ESP32 2.x a 3.0. https://docs.espressif.com/projects/arduino-esp32/en/latest/migration_guides/2.x_to_3.0.html</a:t>
            </a:r>
          </a:p>
          <a:p xmlns:a="http://schemas.openxmlformats.org/drawingml/2006/main">
            <a:r>
              <a:t>Texas Instruments. SN74HC595: hoja de datos. https://www.ti.com/lit/ds/symlink/sn74hc595.pdf</a:t>
            </a:r>
          </a:p>
          <a:p xmlns:a="http://schemas.openxmlformats.org/drawingml/2006/main">
            <a:r>
              <a:t>Lectura MECRO_ESP32_Clase_05.pdf.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un valor en pantalla y preguntar de cuándo es.</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lectura de temperatura necesita unidad, instante y origen. El número 24 puede significar grados Celsius, un código de conversión o un valor anterior que quedó en la pantalla. El proyecto de estación de clima permite comenzar con esa distinción. El sensor adquiere; el programa interpreta; la pantalla presenta. Una actualización de pantalla no demuestra que haya ocurrido una adquisición nueva.</a:t>
            </a:r>
          </a:p>
          <a:p xmlns:a="http://schemas.openxmlformats.org/drawingml/2006/main">
            <a:r>
              <a:t/>
            </a:r>
          </a:p>
          <a:p xmlns:a="http://schemas.openxmlformats.org/drawingml/2006/main">
            <a:r>
              <a:t>MECRO, proyecto 07.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Separar tareas ayuda a organizarlas a velocidades distintas. Un sensor lento puede actualizarse cada cierto intervalo mientras la interfaz responde a un botón más a menudo. La última lectura se almacena junto a un indicador de validez y su tiempo. Cuando falla la adquisición, la aplicación puede mostrar FALLO o una lectura anterior con su antigüedad. Reemplazar todo error por cero confunde una ausencia de dato con una medida legítima.</a:t>
            </a:r>
          </a:p>
          <a:p xmlns:a="http://schemas.openxmlformats.org/drawingml/2006/main">
            <a:r>
              <a:t/>
            </a:r>
          </a:p>
          <a:p xmlns:a="http://schemas.openxmlformats.org/drawingml/2006/main">
            <a:r>
              <a:t>La estación de clima del laboratorio usa un sensor DHT y una pantalla OLED. El sensor DHT no se convierte en I2C por compartir una placa con la pantalla. Cada conexión sigue su propio protocolo. Más adelante, la IMU sí compartirá I2C con una pantalla si direcciones y condiciones eléctricas son compatibles.</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07. Esquema original del laboratorio para reconocer la arquitectura en Wokwi. Para montaje físico se aplica la tabla y las correcciones de esta lectura.</a:t>
            </a:r>
          </a:p>
          <a:p xmlns:a="http://schemas.openxmlformats.org/drawingml/2006/main">
            <a:r>
              <a:t>Una lectura de temperatura necesita unidad, instante y origen. El número 24 puede significar grados Celsius, un código de conversión o un valor anterior que quedó en la pantalla. El proyecto de estación de clima permite comenzar con esa distinción. El sensor adquiere; el programa interpreta; la pantalla presenta. Una actualización de pantalla no demuestra que haya ocurrido una adquisición nueva.</a:t>
            </a:r>
          </a:p>
          <a:p xmlns:a="http://schemas.openxmlformats.org/drawingml/2006/main">
            <a:r>
              <a:t/>
            </a:r>
          </a:p>
          <a:p xmlns:a="http://schemas.openxmlformats.org/drawingml/2006/main">
            <a:r>
              <a:t>MECRO, proyecto 07.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Separar tareas ayuda a organizarlas a velocidades distintas. Un sensor lento puede actualizarse cada cierto intervalo mientras la interfaz responde a un botón más a menudo. La última lectura se almacena junto a un indicador de validez y su tiempo. Cuando falla la adquisición, la aplicación puede mostrar FALLO o una lectura anterior con su antigüedad. Reemplazar todo error por cero confunde una ausencia de dato con una medida legítima.</a:t>
            </a:r>
          </a:p>
          <a:p xmlns:a="http://schemas.openxmlformats.org/drawingml/2006/main">
            <a:r>
              <a:t/>
            </a:r>
          </a:p>
          <a:p xmlns:a="http://schemas.openxmlformats.org/drawingml/2006/main">
            <a:r>
              <a:t>La estación de clima del laboratorio usa un sensor DHT y una pantalla OLED. El sensor DHT no se convierte en I2C por compartir una placa con la pantalla. Cada conexión sigue su propio protocolo. Más adelante, la IMU sí compartirá I2C con una pantalla si direcciones y condiciones eléctricas son compatibles.</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Una lectura de temperatura necesita unidad, instante y origen. El número 24 puede significar grados Celsius, un código de conversión o un valor anterior que quedó en la pantalla. El proyecto de estación de clima permite comenzar con esa distinción. El sensor adquiere; el programa interpreta; la pantalla presenta. Una actualización de pantalla no demuestra que haya ocurrido una adquisición nueva.</a:t>
            </a:r>
          </a:p>
          <a:p xmlns:a="http://schemas.openxmlformats.org/drawingml/2006/main">
            <a:r>
              <a:t/>
            </a:r>
          </a:p>
          <a:p xmlns:a="http://schemas.openxmlformats.org/drawingml/2006/main">
            <a:r>
              <a:t>MECRO, proyecto 07.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Separar tareas ayuda a organizarlas a velocidades distintas. Un sensor lento puede actualizarse cada cierto intervalo mientras la interfaz responde a un botón más a menudo. La última lectura se almacena junto a un indicador de validez y su tiempo. Cuando falla la adquisición, la aplicación puede mostrar FALLO o una lectura anterior con su antigüedad. Reemplazar todo error por cero confunde una ausencia de dato con una medida legítima.</a:t>
            </a:r>
          </a:p>
          <a:p xmlns:a="http://schemas.openxmlformats.org/drawingml/2006/main">
            <a:r>
              <a:t/>
            </a:r>
          </a:p>
          <a:p xmlns:a="http://schemas.openxmlformats.org/drawingml/2006/main">
            <a:r>
              <a:t>La estación de clima del laboratorio usa un sensor DHT y una pantalla OLED. El sensor DHT no se convierte en I2C por compartir una placa con la pantalla. Cada conexión sigue su propio protocolo. Más adelante, la IMU sí compartirá I2C con una pantalla si direcciones y condiciones eléctricas son compatibles.</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I2C utiliza una línea de datos y una de reloj con dispositivos identificados mediante dirección. En el perfil clásico de las prácticas usamos SDA21 y SCL22, cuando ese montaje lo permita. Esas conexiones sustituyen el semáforo que usaba algunos de los mismos pines: los ejercicios son configuraciones diferentes, no un único circuito acumulado de manera automática. La dirección se comprueba con el dispositivo real y con su biblioteca.</a:t>
            </a:r>
          </a:p>
          <a:p xmlns:a="http://schemas.openxmlformats.org/drawingml/2006/main">
            <a:r>
              <a:t/>
            </a:r>
          </a:p>
          <a:p xmlns:a="http://schemas.openxmlformats.org/drawingml/2006/main">
            <a:r>
              <a:t>Interfaz / Organización / Ejemplo</a:t>
            </a:r>
          </a:p>
          <a:p xmlns:a="http://schemas.openxmlformats.org/drawingml/2006/main">
            <a:r>
              <a:t>UART / Flujo de bytes / Monitor serie</a:t>
            </a:r>
          </a:p>
          <a:p xmlns:a="http://schemas.openxmlformats.org/drawingml/2006/main">
            <a:r>
              <a:t>I2C / Bus con direcciones / OLED y MPU6050</a:t>
            </a:r>
          </a:p>
          <a:p xmlns:a="http://schemas.openxmlformats.org/drawingml/2006/main">
            <a:r>
              <a:t>DHT / Señal y temporización propias / Temperatura y humedad</a:t>
            </a:r>
          </a:p>
          <a:p xmlns:a="http://schemas.openxmlformats.org/drawingml/2006/main">
            <a:r>
              <a:t/>
            </a:r>
          </a:p>
          <a:p xmlns:a="http://schemas.openxmlformats.org/drawingml/2006/main">
            <a:r>
              <a:t>Las líneas I2C necesitan condiciones de polarización compatibles. Algunos módulos ya incluyen resistencias pull-up y al conectarlos en paralelo cambia la resistencia equivalente. Lo importante para el primer montaje es identificar dónde van esas resistencias y a qué tensión se conectan. No se supone que cualquier módulo alimentado con 5 V produzca señales seguras para el ESP32. La ficha del módulo y las medidas del banco completan el esquema.</a:t>
            </a:r>
          </a:p>
          <a:p xmlns:a="http://schemas.openxmlformats.org/drawingml/2006/main">
            <a:r>
              <a:t/>
            </a:r>
          </a:p>
          <a:p xmlns:a="http://schemas.openxmlformats.org/drawingml/2006/main">
            <a:r>
              <a:t>Dos módulos responden con la misma dirección fija. ¿Basta conectar ambos en paralelo y darles nombres distintos en C++?</a:t>
            </a:r>
          </a:p>
          <a:p xmlns:a="http://schemas.openxmlformats.org/drawingml/2006/main">
            <a:r>
              <a:t>No. Los nombres del programa no cambian la dirección del bus. Se revisan opciones de dirección o una arquitectura de bus adecuada.</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Interfaz / Organización / Ejemplo</a:t>
            </a:r>
          </a:p>
          <a:p xmlns:a="http://schemas.openxmlformats.org/drawingml/2006/main">
            <a:r>
              <a:t>UART / Flujo de bytes / Monitor serie</a:t>
            </a:r>
          </a:p>
          <a:p xmlns:a="http://schemas.openxmlformats.org/drawingml/2006/main">
            <a:r>
              <a:t>I2C / Bus con direcciones / OLED y MPU6050</a:t>
            </a:r>
          </a:p>
          <a:p xmlns:a="http://schemas.openxmlformats.org/drawingml/2006/main">
            <a:r>
              <a:t>DHT / Señal y temporización propias / Temperatura y humedad</a:t>
            </a:r>
          </a:p>
          <a:p xmlns:a="http://schemas.openxmlformats.org/drawingml/2006/main">
            <a:r>
              <a:t>Comparar filas y explicar una condición que cambie la decisión.</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Dos módulos responden con la misma dirección fija. ¿Basta conectar ambos en paralelo y darles nombres distintos en C++?</a:t>
            </a:r>
          </a:p>
          <a:p xmlns:a="http://schemas.openxmlformats.org/drawingml/2006/main">
            <a:r>
              <a:t>No. Los nombres del programa no cambian la dirección del bus. Se revisan opciones de dirección o una arquitectura de bus adecuada.</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Un registro mínimo puede contener valor, unidad, tiempo e indicador válido. Para tratar antigüedad se resta el tiempo de la última adquisición aceptada al tiempo actual. El umbral permitido depende de la misión y de la velocidad del sensor. Un dato ambiental de hace un segundo y uno de orientación de hace un segundo pueden tener utilidades muy diferentes. El curso pide nombrar el criterio de cada uno.</a:t>
            </a:r>
          </a:p>
          <a:p xmlns:a="http://schemas.openxmlformats.org/drawingml/2006/main">
            <a:r>
              <a:t/>
            </a:r>
          </a:p>
          <a:p xmlns:a="http://schemas.openxmlformats.org/drawingml/2006/main">
            <a:r>
              <a:t>El instante se actualiza al aceptar una lectura nueva, no simplemente al redibujar la pantalla.</a:t>
            </a:r>
          </a:p>
          <a:p xmlns:a="http://schemas.openxmlformats.org/drawingml/2006/main">
            <a:r>
              <a:t/>
            </a:r>
          </a:p>
          <a:p xmlns:a="http://schemas.openxmlformats.org/drawingml/2006/main">
            <a:r>
              <a:t>Entrada / Pantalla útil / Registro</a:t>
            </a:r>
          </a:p>
          <a:p xmlns:a="http://schemas.openxmlformats.org/drawingml/2006/main">
            <a:r>
              <a:t>Lectura reciente / Valor y unidad / Instante nuevo</a:t>
            </a:r>
          </a:p>
          <a:p xmlns:a="http://schemas.openxmlformats.org/drawingml/2006/main">
            <a:r>
              <a:t>Lectura inválida / FALLO o aviso / Estado de error</a:t>
            </a:r>
          </a:p>
          <a:p xmlns:a="http://schemas.openxmlformats.org/drawingml/2006/main">
            <a:r>
              <a:t>Lectura antigua / Valor con edad / Última adquisición válida</a:t>
            </a:r>
          </a:p>
          <a:p xmlns:a="http://schemas.openxmlformats.org/drawingml/2006/main">
            <a:r>
              <a:t/>
            </a:r>
          </a:p>
          <a:p xmlns:a="http://schemas.openxmlformats.org/drawingml/2006/main">
            <a:r>
              <a:t>En bibliotecas que representan una lectura inválida mediante NaN, una comparación numérica corriente puede no comportarse como se espera. Hay que consultar la condición de validez y tratarla antes de decidir una salida. El ejemplo de clima ya contiene una comprobación isnan(); la clase explica para qué sirve y qué debe conservar el resto de la aplicación cuando se activa.</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Entrada / Pantalla útil / Registro</a:t>
            </a:r>
          </a:p>
          <a:p xmlns:a="http://schemas.openxmlformats.org/drawingml/2006/main">
            <a:r>
              <a:t>Lectura reciente / Valor y unidad / Instante nuevo</a:t>
            </a:r>
          </a:p>
          <a:p xmlns:a="http://schemas.openxmlformats.org/drawingml/2006/main">
            <a:r>
              <a:t>Lectura inválida / FALLO o aviso / Estado de error</a:t>
            </a:r>
          </a:p>
          <a:p xmlns:a="http://schemas.openxmlformats.org/drawingml/2006/main">
            <a:r>
              <a:t>Lectura antigua / Valor con edad / Última adquisición válida</a:t>
            </a:r>
          </a:p>
          <a:p xmlns:a="http://schemas.openxmlformats.org/drawingml/2006/main">
            <a:r>
              <a:t>Comparar filas y explicar una condición que cambie la decisión.</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Un registro mínimo puede contener valor, unidad, tiempo e indicador válido. Para tratar antigüedad se resta el tiempo de la última adquisición aceptada al tiempo actual. El umbral permitido depende de la misión y de la velocidad del sensor. Un dato ambiental de hace un segundo y uno de orientación de hace un segundo pueden tener utilidades muy diferentes. El curso pide nombrar el criterio de cada uno.</a:t>
            </a:r>
          </a:p>
          <a:p xmlns:a="http://schemas.openxmlformats.org/drawingml/2006/main">
            <a:r>
              <a:t/>
            </a:r>
          </a:p>
          <a:p xmlns:a="http://schemas.openxmlformats.org/drawingml/2006/main">
            <a:r>
              <a:t>El instante se actualiza al aceptar una lectura nueva, no simplemente al redibujar la pantalla.</a:t>
            </a:r>
          </a:p>
          <a:p xmlns:a="http://schemas.openxmlformats.org/drawingml/2006/main">
            <a:r>
              <a:t/>
            </a:r>
          </a:p>
          <a:p xmlns:a="http://schemas.openxmlformats.org/drawingml/2006/main">
            <a:r>
              <a:t>Entrada / Pantalla útil / Registro</a:t>
            </a:r>
          </a:p>
          <a:p xmlns:a="http://schemas.openxmlformats.org/drawingml/2006/main">
            <a:r>
              <a:t>Lectura reciente / Valor y unidad / Instante nuevo</a:t>
            </a:r>
          </a:p>
          <a:p xmlns:a="http://schemas.openxmlformats.org/drawingml/2006/main">
            <a:r>
              <a:t>Lectura inválida / FALLO o aviso / Estado de error</a:t>
            </a:r>
          </a:p>
          <a:p xmlns:a="http://schemas.openxmlformats.org/drawingml/2006/main">
            <a:r>
              <a:t>Lectura antigua / Valor con edad / Última adquisición válida</a:t>
            </a:r>
          </a:p>
          <a:p xmlns:a="http://schemas.openxmlformats.org/drawingml/2006/main">
            <a:r>
              <a:t/>
            </a:r>
          </a:p>
          <a:p xmlns:a="http://schemas.openxmlformats.org/drawingml/2006/main">
            <a:r>
              <a:t>En bibliotecas que representan una lectura inválida mediante NaN, una comparación numérica corriente puede no comportarse como se espera. Hay que consultar la condición de validez y tratarla antes de decidir una salida. El ejemplo de clima ya contiene una comprobación isnan(); la clase explica para qué sirve y qué debe conservar el resto de la aplicación cuando se activa.</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Wire.begin(21, 22);</a:t>
            </a:r>
          </a:p>
          <a:p xmlns:a="http://schemas.openxmlformats.org/drawingml/2006/main">
            <a:r>
              <a:t>Wire.beginTransmission(0x68);</a:t>
            </a:r>
          </a:p>
          <a:p xmlns:a="http://schemas.openxmlformats.org/drawingml/2006/main">
            <a:r>
              <a:t>uint8_t status = Wire.endTransmission();</a:t>
            </a:r>
          </a:p>
          <a:p xmlns:a="http://schemas.openxmlformats.org/drawingml/2006/main">
            <a:r>
              <a:t>bool acknowledged = (status == 0);</a:t>
            </a:r>
          </a:p>
          <a:p xmlns:a="http://schemas.openxmlformats.org/drawingml/2006/main">
            <a:r>
              <a:t/>
            </a:r>
          </a:p>
          <a:p xmlns:a="http://schemas.openxmlformats.org/drawingml/2006/main">
            <a:r>
              <a:t>Una respuesta en la dirección 0x68 indica que algún dispositivo reconoció esa dirección en esa prueba. No certifica por sí sola la identidad, la escala ni la calidad de sus medidas. La identificación de registro o el procedimiento de la biblioteca aporta otra comprobación. El diagnóstico se realiza primero sin mezclarlo con pantallas complejas, gráficas y múltiples sensores.</a:t>
            </a:r>
          </a:p>
          <a:p xmlns:a="http://schemas.openxmlformats.org/drawingml/2006/main">
            <a:r>
              <a:t/>
            </a:r>
          </a:p>
          <a:p xmlns:a="http://schemas.openxmlformats.org/drawingml/2006/main">
            <a:r>
              <a:t>Una pantalla OLED se organiza mediante un controlador y una biblioteca que traduce texto o píxeles a comandos. La dirección habitual del ejemplo puede diferir en otro módulo. También hay pantallas de aspecto parecido con controladores distintos. Antes de cambiar el código del sensor, el equipo identifica si el problema pertenece al bus, al controlador de pantalla o a la lógica de presentación.</a:t>
            </a:r>
          </a:p>
          <a:p xmlns:a="http://schemas.openxmlformats.org/drawingml/2006/main">
            <a:r>
              <a:t/>
            </a:r>
          </a:p>
          <a:p xmlns:a="http://schemas.openxmlformats.org/drawingml/2006/main">
            <a:r>
              <a:t>La pantalla sigue mostrando 24,0 °C después de desconectar el sensor. ¿Qué dato del software falta consultar?</a:t>
            </a:r>
          </a:p>
          <a:p xmlns:a="http://schemas.openxmlformats.org/drawingml/2006/main">
            <a:r>
              <a:t>La validez y el instante de la última adquisición. El valor mostrado puede ser una copia antigua; hace falta una política explícita para ese estado.</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Wire.begin(21, 22);</a:t>
            </a:r>
          </a:p>
          <a:p xmlns:a="http://schemas.openxmlformats.org/drawingml/2006/main">
            <a:r>
              <a:t>Wire.beginTransmission(0x68);</a:t>
            </a:r>
          </a:p>
          <a:p xmlns:a="http://schemas.openxmlformats.org/drawingml/2006/main">
            <a:r>
              <a:t>uint8_t status = Wire.endTransmission();</a:t>
            </a:r>
          </a:p>
          <a:p xmlns:a="http://schemas.openxmlformats.org/drawingml/2006/main">
            <a:r>
              <a:t>bool acknowledged = (status == 0);</a:t>
            </a:r>
          </a:p>
          <a:p xmlns:a="http://schemas.openxmlformats.org/drawingml/2006/main">
            <a:r>
              <a:t>Explicar entrada, estado, salida y momento de actualización.</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La pantalla sigue mostrando 24,0 °C después de desconectar el sensor. ¿Qué dato del software falta consultar?</a:t>
            </a:r>
          </a:p>
          <a:p xmlns:a="http://schemas.openxmlformats.org/drawingml/2006/main">
            <a:r>
              <a:t>La validez y el instante de la última adquisición. El valor mostrado puede ser una copia antigua; hace falta una política explícita para ese estado.</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Abre el proyecto 7 y localiza sensor, pantalla y protocolos.</a:t>
            </a:r>
          </a:p>
          <a:p xmlns:a="http://schemas.openxmlformats.org/drawingml/2006/main">
            <a:r>
              <a:t>Registra el tipo exacto de sensor que usa el archivo del simulador; no lo supongas por el título.</a:t>
            </a:r>
          </a:p>
          <a:p xmlns:a="http://schemas.openxmlformats.org/drawingml/2006/main">
            <a:r>
              <a:t>Localiza periodo de lectura, periodo de pantalla y condición de fallo.</a:t>
            </a:r>
          </a:p>
          <a:p xmlns:a="http://schemas.openxmlformats.org/drawingml/2006/main">
            <a:r>
              <a:t>Añade al registro una marca temporal y un estado de validez.</a:t>
            </a:r>
          </a:p>
          <a:p xmlns:a="http://schemas.openxmlformats.org/drawingml/2006/main">
            <a:r>
              <a:t>Identifica los dispositivos I2C y sus direcciones con la prueba preparada por el docente.</a:t>
            </a:r>
          </a:p>
          <a:p xmlns:a="http://schemas.openxmlformats.org/drawingml/2006/main">
            <a:r>
              <a:t>Provoca una ausencia de lectura en la simulación o con el procedimiento de banco indicado.</a:t>
            </a:r>
          </a:p>
          <a:p xmlns:a="http://schemas.openxmlformats.org/drawingml/2006/main">
            <a:r>
              <a:t>Explica cómo cambia la presentación y qué valor conserva el registro.</a:t>
            </a:r>
          </a:p>
          <a:p xmlns:a="http://schemas.openxmlformats.org/drawingml/2006/main">
            <a:r>
              <a:t/>
            </a:r>
          </a:p>
          <a:p xmlns:a="http://schemas.openxmlformats.org/drawingml/2006/main">
            <a:r>
              <a:t>En un montaje físico se revisa el circuito desconectado y se aplica el procedimiento de comprobación del banco. Si el sensor no puede desconectarse durante operación, se simula la condición por software y se declara ese origen. La finalidad del ejercicio es que la aplicación distinga dato y estado. No se presenta una inyección de error como una medición de fallo real del componente.</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Abre el proyecto 7 y localiza sensor, pantalla y protocolos.</a:t>
            </a:r>
          </a:p>
          <a:p xmlns:a="http://schemas.openxmlformats.org/drawingml/2006/main">
            <a:r>
              <a:t>Registra el tipo exacto de sensor que usa el archivo del simulador; no lo supongas por el título.</a:t>
            </a:r>
          </a:p>
          <a:p xmlns:a="http://schemas.openxmlformats.org/drawingml/2006/main">
            <a:r>
              <a:t>Localiza periodo de lectura, periodo de pantalla y condición de fallo.</a:t>
            </a:r>
          </a:p>
          <a:p xmlns:a="http://schemas.openxmlformats.org/drawingml/2006/main">
            <a:r>
              <a:t>Añade al registro una marca temporal y un estado de validez.</a:t>
            </a:r>
          </a:p>
          <a:p xmlns:a="http://schemas.openxmlformats.org/drawingml/2006/main">
            <a:r>
              <a:t>Identifica los dispositivos I2C y sus direcciones con la prueba preparada por el docente.</a:t>
            </a:r>
          </a:p>
          <a:p xmlns:a="http://schemas.openxmlformats.org/drawingml/2006/main">
            <a:r>
              <a:t>Provoca una ausencia de lectura en la simulación o con el procedimiento de banco indicado.</a:t>
            </a:r>
          </a:p>
          <a:p xmlns:a="http://schemas.openxmlformats.org/drawingml/2006/main">
            <a:r>
              <a:t>Explica cómo cambia la presentación y qué valor conserva el registro.</a:t>
            </a:r>
          </a:p>
          <a:p xmlns:a="http://schemas.openxmlformats.org/drawingml/2006/main">
            <a:r>
              <a:t/>
            </a:r>
          </a:p>
          <a:p xmlns:a="http://schemas.openxmlformats.org/drawingml/2006/main">
            <a:r>
              <a:t>En un montaje físico se revisa el circuito desconectado y se aplica el procedimiento de comprobación del banco. Si el sensor no puede desconectarse durante operación, se simula la condición por software y se declara ese origen. La finalidad del ejercicio es que la aplicación distinga dato y estado. No se presenta una inyección de error como una medición de fallo real del componente.</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Abre el proyecto 7 y localiza sensor, pantalla y protocolos.</a:t>
            </a:r>
          </a:p>
          <a:p xmlns:a="http://schemas.openxmlformats.org/drawingml/2006/main">
            <a:r>
              <a:t>Registra el tipo exacto de sensor que usa el archivo del simulador; no lo supongas por el título.</a:t>
            </a:r>
          </a:p>
          <a:p xmlns:a="http://schemas.openxmlformats.org/drawingml/2006/main">
            <a:r>
              <a:t>Localiza periodo de lectura, periodo de pantalla y condición de fallo.</a:t>
            </a:r>
          </a:p>
          <a:p xmlns:a="http://schemas.openxmlformats.org/drawingml/2006/main">
            <a:r>
              <a:t>Añade al registro una marca temporal y un estado de validez.</a:t>
            </a:r>
          </a:p>
          <a:p xmlns:a="http://schemas.openxmlformats.org/drawingml/2006/main">
            <a:r>
              <a:t>Identifica los dispositivos I2C y sus direcciones con la prueba preparada por el docente.</a:t>
            </a:r>
          </a:p>
          <a:p xmlns:a="http://schemas.openxmlformats.org/drawingml/2006/main">
            <a:r>
              <a:t>Provoca una ausencia de lectura en la simulación o con el procedimiento de banco indicado.</a:t>
            </a:r>
          </a:p>
          <a:p xmlns:a="http://schemas.openxmlformats.org/drawingml/2006/main">
            <a:r>
              <a:t>Explica cómo cambia la presentación y qué valor conserva el registro.</a:t>
            </a:r>
          </a:p>
          <a:p xmlns:a="http://schemas.openxmlformats.org/drawingml/2006/main">
            <a:r>
              <a:t>Verificar un paso antes de seguir.</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carga de sensores para un UAV puede utilizar una arquitectura semejante: adquisición, procesamiento, almacenamiento y presentación. Los requisitos de tiempo y precisión cambian con la variable. La organización de módulos que aprendemos hoy permite añadir la IMU sin convertir todo el programa en una única función extensa. Cada dato llega acompañado de la información que permite usarlo con criterio.</a:t>
            </a:r>
          </a:p>
          <a:p xmlns:a="http://schemas.openxmlformats.org/drawingml/2006/main">
            <a:r>
              <a:t/>
            </a:r>
          </a:p>
          <a:p xmlns:a="http://schemas.openxmlformats.org/drawingml/2006/main">
            <a:r>
              <a:t>Pregunta / Dónde buscar</a:t>
            </a:r>
          </a:p>
          <a:p xmlns:a="http://schemas.openxmlformats.org/drawingml/2006/main">
            <a:r>
              <a:t>¿Qué variable entrega? / Hoja de datos y biblioteca</a:t>
            </a:r>
          </a:p>
          <a:p xmlns:a="http://schemas.openxmlformats.org/drawingml/2006/main">
            <a:r>
              <a:t>¿Con qué unidad? / API y escala configurada</a:t>
            </a:r>
          </a:p>
          <a:p xmlns:a="http://schemas.openxmlformats.org/drawingml/2006/main">
            <a:r>
              <a:t>¿Cada cuánto es nueva? / Adquisición y marcas de tiempo</a:t>
            </a:r>
          </a:p>
          <a:p xmlns:a="http://schemas.openxmlformats.org/drawingml/2006/main">
            <a:r>
              <a:t>¿Cómo informa fallo? / Resultado de la operación</a:t>
            </a:r>
          </a:p>
          <a:p xmlns:a="http://schemas.openxmlformats.org/drawingml/2006/main">
            <a:r>
              <a:t/>
            </a:r>
          </a:p>
          <a:p xmlns:a="http://schemas.openxmlformats.org/drawingml/2006/main">
            <a:r>
              <a:t>Investiga la diferencia entre dirección del bus, número de pin y nombre de la variable. Son referencias de niveles distintos. Para ampliar, compara UART, I2C y SPI con una tabla de líneas, organización y dispositivo de ejemplo. No necesitas implementar tres protocolos completos en una sesión: sí debes poder explicar por qué conectar la pantalla a un pin de sensor DHT no cumple la misma función.</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4 minutos en esta diapositiva.</a:t>
            </a:r>
          </a:p>
          <a:p xmlns:a="http://schemas.openxmlformats.org/drawingml/2006/main">
            <a:r>
              <a:t/>
            </a:r>
          </a:p>
          <a:p xmlns:a="http://schemas.openxmlformats.org/drawingml/2006/main">
            <a:r>
              <a:t>Pregunta / Dónde buscar</a:t>
            </a:r>
          </a:p>
          <a:p xmlns:a="http://schemas.openxmlformats.org/drawingml/2006/main">
            <a:r>
              <a:t>¿Qué variable entrega? / Hoja de datos y biblioteca</a:t>
            </a:r>
          </a:p>
          <a:p xmlns:a="http://schemas.openxmlformats.org/drawingml/2006/main">
            <a:r>
              <a:t>¿Con qué unidad? / API y escala configurada</a:t>
            </a:r>
          </a:p>
          <a:p xmlns:a="http://schemas.openxmlformats.org/drawingml/2006/main">
            <a:r>
              <a:t>¿Cada cuánto es nueva? / Adquisición y marcas de tiempo</a:t>
            </a:r>
          </a:p>
          <a:p xmlns:a="http://schemas.openxmlformats.org/drawingml/2006/main">
            <a:r>
              <a:t>¿Cómo informa fallo? / Resultado de la operación</a:t>
            </a:r>
          </a:p>
          <a:p xmlns:a="http://schemas.openxmlformats.org/drawingml/2006/main">
            <a:r>
              <a:t>Comparar filas y explicar una condición que cambie la decisión.</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Una carga de sensores para un UAV puede utilizar una arquitectura semejante: adquisición, procesamiento, almacenamiento y presentación. Los requisitos de tiempo y precisión cambian con la variable. La organización de módulos que aprendemos hoy permite añadir la IMU sin convertir todo el programa en una única función extensa. Cada dato llega acompañado de la información que permite usarlo con criterio.</a:t>
            </a:r>
          </a:p>
          <a:p xmlns:a="http://schemas.openxmlformats.org/drawingml/2006/main">
            <a:r>
              <a:t/>
            </a:r>
          </a:p>
          <a:p xmlns:a="http://schemas.openxmlformats.org/drawingml/2006/main">
            <a:r>
              <a:t>Pregunta / Dónde buscar</a:t>
            </a:r>
          </a:p>
          <a:p xmlns:a="http://schemas.openxmlformats.org/drawingml/2006/main">
            <a:r>
              <a:t>¿Qué variable entrega? / Hoja de datos y biblioteca</a:t>
            </a:r>
          </a:p>
          <a:p xmlns:a="http://schemas.openxmlformats.org/drawingml/2006/main">
            <a:r>
              <a:t>¿Con qué unidad? / API y escala configurada</a:t>
            </a:r>
          </a:p>
          <a:p xmlns:a="http://schemas.openxmlformats.org/drawingml/2006/main">
            <a:r>
              <a:t>¿Cada cuánto es nueva? / Adquisición y marcas de tiempo</a:t>
            </a:r>
          </a:p>
          <a:p xmlns:a="http://schemas.openxmlformats.org/drawingml/2006/main">
            <a:r>
              <a:t>¿Cómo informa fallo? / Resultado de la operación</a:t>
            </a:r>
          </a:p>
          <a:p xmlns:a="http://schemas.openxmlformats.org/drawingml/2006/main">
            <a:r>
              <a:t/>
            </a:r>
          </a:p>
          <a:p xmlns:a="http://schemas.openxmlformats.org/drawingml/2006/main">
            <a:r>
              <a:t>Investiga la diferencia entre dirección del bus, número de pin y nombre de la variable. Son referencias de niveles distintos. Para ampliar, compara UART, I2C y SPI con una tabla de líneas, organización y dispositivo de ejemplo. No necesitas implementar tres protocolos completos en una sesión: sí debes poder explicar por qué conectar la pantalla a un pin de sensor DHT no cumple la misma función.</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un valor en pantalla y preguntar de cuándo es.</a:t>
            </a:r>
          </a:p>
          <a:p xmlns:a="http://schemas.openxmlformats.org/drawingml/2006/main">
            <a:r>
              <a:t>Separar DHT, OLED e I2C en el esquema del proyecto.</a:t>
            </a:r>
          </a:p>
          <a:p xmlns:a="http://schemas.openxmlformats.org/drawingml/2006/main">
            <a:r>
              <a:t>Agregar tiempo y validez al registro del clima.</a:t>
            </a:r>
          </a:p>
          <a:p xmlns:a="http://schemas.openxmlformats.org/drawingml/2006/main">
            <a:r>
              <a:t>Relacionar el resultado con el futuro banco de IMU.</a:t>
            </a:r>
          </a:p>
          <a:p xmlns:a="http://schemas.openxmlformats.org/drawingml/2006/main">
            <a:r>
              <a:t>Rotar código, medida y registro.</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instrumentación de drones necesita saber qué sensor produjo cada dato y si sigue siendo utilizable.</a:t>
            </a:r>
          </a:p>
          <a:p xmlns:a="http://schemas.openxmlformats.org/drawingml/2006/main">
            <a:r>
              <a:t>Mapa de interfaces y registro de valor, unidad, tiempo y estado.</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6: Sensores digitales, I2C y pantallas: un dato con identidad.</a:t>
            </a:r>
          </a:p>
          <a:p xmlns:a="http://schemas.openxmlformats.org/drawingml/2006/main">
            <a:r>
              <a:t>En línea, 2 horas. Núcleo de explicación: 5 minutos en esta diapositiva.</a:t>
            </a:r>
          </a:p>
          <a:p xmlns:a="http://schemas.openxmlformats.org/drawingml/2006/main">
            <a:r>
              <a:t/>
            </a:r>
          </a:p>
          <a:p xmlns:a="http://schemas.openxmlformats.org/drawingml/2006/main">
            <a:r>
              <a:t>Mapa de interfaces y registro de valor, unidad, tiempo y estado.</a:t>
            </a:r>
          </a:p>
          <a:p xmlns:a="http://schemas.openxmlformats.org/drawingml/2006/main">
            <a:r>
              <a:t/>
            </a:r>
          </a:p>
          <a:p xmlns:a="http://schemas.openxmlformats.org/drawingml/2006/main">
            <a:r>
              <a:t>Objetivo: Leer y presentar una variable conservando unidad, instante, estado de la lectura y dirección del dispositivo.</a:t>
            </a:r>
          </a:p>
          <a:p xmlns:a="http://schemas.openxmlformats.org/drawingml/2006/main">
            <a:r>
              <a:t>Aplicación: La instrumentación de drones necesita saber qué sensor produjo cada dato y si sigue siendo utilizable.</a:t>
            </a:r>
          </a:p>
          <a:p xmlns:a="http://schemas.openxmlformats.org/drawingml/2006/main">
            <a:r>
              <a:t>Entrega: Mapa de interfaces y registro de valor, unidad, tiempo y estado.</a:t>
            </a:r>
          </a:p>
          <a:p xmlns:a="http://schemas.openxmlformats.org/drawingml/2006/main">
            <a:r>
              <a:t/>
            </a:r>
          </a:p>
          <a:p xmlns:a="http://schemas.openxmlformats.org/drawingml/2006/main">
            <a:r>
              <a:t>Preguntas y respuestas</a:t>
            </a:r>
          </a:p>
          <a:p xmlns:a="http://schemas.openxmlformats.org/drawingml/2006/main">
            <a:r>
              <a:t>¿Actualizar OLED equivale a adquirir un dato?</a:t>
            </a:r>
          </a:p>
          <a:p xmlns:a="http://schemas.openxmlformats.org/drawingml/2006/main">
            <a:r>
              <a:t>No. Pueden ejecutarse con agendas distintas.</a:t>
            </a:r>
          </a:p>
          <a:p xmlns:a="http://schemas.openxmlformats.org/drawingml/2006/main">
            <a:r>
              <a:t/>
            </a:r>
          </a:p>
          <a:p xmlns:a="http://schemas.openxmlformats.org/drawingml/2006/main">
            <a:r>
              <a:t>¿Una respuesta I2C confirma una medida correcta?</a:t>
            </a:r>
          </a:p>
          <a:p xmlns:a="http://schemas.openxmlformats.org/drawingml/2006/main">
            <a:r>
              <a:t>Confirma reconocimiento de dirección en esa prueba; faltan identidad, configuración y lectura.</a:t>
            </a:r>
          </a:p>
          <a:p xmlns:a="http://schemas.openxmlformats.org/drawingml/2006/main">
            <a:r>
              <a:t/>
            </a:r>
          </a:p>
          <a:p xmlns:a="http://schemas.openxmlformats.org/drawingml/2006/main">
            <a:r>
              <a:t>¿Qué comunica mejor un fallo: cero o un estado?</a:t>
            </a:r>
          </a:p>
          <a:p xmlns:a="http://schemas.openxmlformats.org/drawingml/2006/main">
            <a:r>
              <a:t>Un estado explícito evita confundir ausencia con una medida numérica legítima.</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I2C. https://docs.espressif.com/projects/arduino-esp32/en/latest/api/i2c.html</a:t>
            </a:r>
          </a:p>
          <a:p xmlns:a="http://schemas.openxmlformats.org/drawingml/2006/main">
            <a:r>
              <a:t>Espressif Systems. Arduino-ESP32: Serial/UART. https://docs.espressif.com/projects/arduino-esp32/en/latest/api/serial.html</a:t>
            </a:r>
          </a:p>
          <a:p xmlns:a="http://schemas.openxmlformats.org/drawingml/2006/main">
            <a:r>
              <a:t>Adafruit. MPU6050: biblioteca, cableado y lectura. https://learn.adafruit.com/mpu6050-6-dof-accelerometer-and-gyro/arduino</a:t>
            </a:r>
          </a:p>
          <a:p xmlns:a="http://schemas.openxmlformats.org/drawingml/2006/main">
            <a:r>
              <a:t>Wokwi. ESP32 Simulation: periféricos y límites. https://docs.wokwi.com/guides/esp32</a:t>
            </a:r>
          </a:p>
          <a:p xmlns:a="http://schemas.openxmlformats.org/drawingml/2006/main">
            <a:r>
              <a:t>Lectura MECRO_ESP32_Clase_06.pdf.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ff436fd33843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4b0c0337054b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7137f1262a4f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94de6ec24642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1778ae6b6d49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113b469ef24f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1B18EF-AF0E-45AB-8AD9-1CB2ACE7FB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3EE4A2-AEA4-497B-9B22-C6E9CE6010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DA6DFA-AE91-4FCE-888B-31011B7FD4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90B615-AC84-4BDD-ABB3-025504FA85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2FEA26-C5EA-4C91-BEE4-9AC80162FDE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1BE094-84C9-41F1-86ED-CA4B41FAAB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DD6C23-2E8E-4D55-90DD-AF90111FFE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C39A68-516D-4874-B4C7-5AE332849FA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B65848-134E-4F3A-8C1B-584EB1DF64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655CC6-8089-4A5C-9C16-B4E14A1B04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a85e25ba084944" /><Relationship Type="http://schemas.openxmlformats.org/officeDocument/2006/relationships/slideLayout" Target="/ppt/slideLayouts/slideLayout1.xml" Id="R014a76d224dc44e3" /><Relationship Type="http://schemas.openxmlformats.org/officeDocument/2006/relationships/slideLayout" Target="/ppt/slideLayouts/slideLayout2.xml" Id="R89a5c26accfb44dc" /><Relationship Type="http://schemas.openxmlformats.org/officeDocument/2006/relationships/slideLayout" Target="/ppt/slideLayouts/slideLayout3.xml" Id="Red528dda1b6c4183" /><Relationship Type="http://schemas.openxmlformats.org/officeDocument/2006/relationships/slideLayout" Target="/ppt/slideLayouts/slideLayout4.xml" Id="Rb2fdcad3018543f0" /><Relationship Type="http://schemas.openxmlformats.org/officeDocument/2006/relationships/slideLayout" Target="/ppt/slideLayouts/slideLayout5.xml" Id="R6daeb50d07c8400f" /><Relationship Type="http://schemas.openxmlformats.org/officeDocument/2006/relationships/slideLayout" Target="/ppt/slideLayouts/slideLayout6.xml" Id="Rfc5f5cfcc41141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4a76d224dc44e3"/>
    <p:sldLayoutId xmlns:r="http://schemas.openxmlformats.org/officeDocument/2006/relationships" id="2147483650" r:id="R89a5c26accfb44dc"/>
    <p:sldLayoutId xmlns:r="http://schemas.openxmlformats.org/officeDocument/2006/relationships" id="2147483651" r:id="Red528dda1b6c4183"/>
    <p:sldLayoutId xmlns:r="http://schemas.openxmlformats.org/officeDocument/2006/relationships" id="2147483652" r:id="Rb2fdcad3018543f0"/>
    <p:sldLayoutId xmlns:r="http://schemas.openxmlformats.org/officeDocument/2006/relationships" id="2147483653" r:id="R6daeb50d07c8400f"/>
    <p:sldLayoutId xmlns:r="http://schemas.openxmlformats.org/officeDocument/2006/relationships" id="2147483654" r:id="Rfc5f5cfcc41141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f47771cbf84c75" /><Relationship Type="http://schemas.openxmlformats.org/officeDocument/2006/relationships/image" Target="/ppt/media/image.png" Id="R0d277b6df206414f" /><Relationship Type="http://schemas.openxmlformats.org/officeDocument/2006/relationships/notesSlide" Target="/ppt/notesSlides/notesSlide1.xml" Id="R66d0c33b955d49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07b5ac55674392" /><Relationship Type="http://schemas.openxmlformats.org/officeDocument/2006/relationships/image" Target="/ppt/media/image2.png" Id="R86b0525c7205405a" /><Relationship Type="http://schemas.openxmlformats.org/officeDocument/2006/relationships/notesSlide" Target="/ppt/notesSlides/notesSlide2.xml" Id="R1eaf143c53e241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5b2be777f04626" /><Relationship Type="http://schemas.openxmlformats.org/officeDocument/2006/relationships/image" Target="/ppt/media/image3.png" Id="R03d34cda30944c7a" /><Relationship Type="http://schemas.openxmlformats.org/officeDocument/2006/relationships/image" Target="/ppt/media/image4.png" Id="R5fbe7b36e54f4f2b" /><Relationship Type="http://schemas.openxmlformats.org/officeDocument/2006/relationships/notesSlide" Target="/ppt/notesSlides/notesSlide3.xml" Id="R7ff2b156bb0040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0cd2317faf4b62" /><Relationship Type="http://schemas.openxmlformats.org/officeDocument/2006/relationships/image" Target="/ppt/media/image5.png" Id="Rcc0867ecabee4a5d" /><Relationship Type="http://schemas.openxmlformats.org/officeDocument/2006/relationships/notesSlide" Target="/ppt/notesSlides/notesSlide4.xml" Id="R2f38279981b947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ffa839c2bb4aff" /><Relationship Type="http://schemas.openxmlformats.org/officeDocument/2006/relationships/image" Target="/ppt/media/image6.png" Id="Rd1250c56470348a3" /><Relationship Type="http://schemas.openxmlformats.org/officeDocument/2006/relationships/notesSlide" Target="/ppt/notesSlides/notesSlide5.xml" Id="R679cc204e7174c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819cef1703436a" /><Relationship Type="http://schemas.openxmlformats.org/officeDocument/2006/relationships/image" Target="/ppt/media/image7.png" Id="Raab4542580ca4c21" /><Relationship Type="http://schemas.openxmlformats.org/officeDocument/2006/relationships/notesSlide" Target="/ppt/notesSlides/notesSlide6.xml" Id="R519a566276534a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c250c6188c4e48" /><Relationship Type="http://schemas.openxmlformats.org/officeDocument/2006/relationships/image" Target="/ppt/media/image8.png" Id="R1a1d48cc9fb54112" /><Relationship Type="http://schemas.openxmlformats.org/officeDocument/2006/relationships/image" Target="/ppt/media/image9.png" Id="R93f8f9cbd68e4555" /><Relationship Type="http://schemas.openxmlformats.org/officeDocument/2006/relationships/notesSlide" Target="/ppt/notesSlides/notesSlide7.xml" Id="R6732f992b23e40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5e63b335914a9d" /><Relationship Type="http://schemas.openxmlformats.org/officeDocument/2006/relationships/image" Target="/ppt/media/image10.png" Id="Re66ac994e382491c" /><Relationship Type="http://schemas.openxmlformats.org/officeDocument/2006/relationships/notesSlide" Target="/ppt/notesSlides/notesSlide8.xml" Id="Rb97879c3423a46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3c0cb35e554cdf" /><Relationship Type="http://schemas.openxmlformats.org/officeDocument/2006/relationships/image" Target="/ppt/media/image11.png" Id="R35bd755deb0543d8" /><Relationship Type="http://schemas.openxmlformats.org/officeDocument/2006/relationships/notesSlide" Target="/ppt/notesSlides/notesSlide9.xml" Id="R6c9a60969e4b41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8da9be00de4030" /><Relationship Type="http://schemas.openxmlformats.org/officeDocument/2006/relationships/image" Target="/ppt/media/image12.png" Id="R0738f95c507f4126" /><Relationship Type="http://schemas.openxmlformats.org/officeDocument/2006/relationships/notesSlide" Target="/ppt/notesSlides/notesSlide10.xml" Id="R83884a953f9141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ab09c98429e4811" /><Relationship Type="http://schemas.openxmlformats.org/officeDocument/2006/relationships/image" Target="/ppt/media/image13.png" Id="Rd0a67b92667c4bb3" /><Relationship Type="http://schemas.openxmlformats.org/officeDocument/2006/relationships/notesSlide" Target="/ppt/notesSlides/notesSlide11.xml" Id="R779401b34db648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7ab0885ddcd4c84" /><Relationship Type="http://schemas.openxmlformats.org/officeDocument/2006/relationships/image" Target="/ppt/media/image14.png" Id="Ra7e48ce534bd4876" /><Relationship Type="http://schemas.openxmlformats.org/officeDocument/2006/relationships/notesSlide" Target="/ppt/notesSlides/notesSlide12.xml" Id="R4ed5d17fa5ae4f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29b462514c43a1" /><Relationship Type="http://schemas.openxmlformats.org/officeDocument/2006/relationships/image" Target="/ppt/media/image15.png" Id="R1fa08c75a1e643da" /><Relationship Type="http://schemas.openxmlformats.org/officeDocument/2006/relationships/notesSlide" Target="/ppt/notesSlides/notesSlide13.xml" Id="Rd4dcc116e9d24b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0a746cfff6a4de0" /><Relationship Type="http://schemas.openxmlformats.org/officeDocument/2006/relationships/image" Target="/ppt/media/image16.png" Id="R32bf13ab208a470f" /><Relationship Type="http://schemas.openxmlformats.org/officeDocument/2006/relationships/notesSlide" Target="/ppt/notesSlides/notesSlide14.xml" Id="R582f2ad983bf42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f354c85f2d74395" /><Relationship Type="http://schemas.openxmlformats.org/officeDocument/2006/relationships/image" Target="/ppt/media/image17.png" Id="Refc1ab4ab74149ba" /><Relationship Type="http://schemas.openxmlformats.org/officeDocument/2006/relationships/notesSlide" Target="/ppt/notesSlides/notesSlide15.xml" Id="R7c4b8900441844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31d5563a28c407c" /><Relationship Type="http://schemas.openxmlformats.org/officeDocument/2006/relationships/image" Target="/ppt/media/image18.png" Id="Re9d7b9e5a9b44428" /><Relationship Type="http://schemas.openxmlformats.org/officeDocument/2006/relationships/notesSlide" Target="/ppt/notesSlides/notesSlide16.xml" Id="R95cba7f2a7aa4a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ceadfc0d0ec4759" /><Relationship Type="http://schemas.openxmlformats.org/officeDocument/2006/relationships/image" Target="/ppt/media/image19.png" Id="R8ec5a88d92de4d6e" /><Relationship Type="http://schemas.openxmlformats.org/officeDocument/2006/relationships/notesSlide" Target="/ppt/notesSlides/notesSlide17.xml" Id="Re7353ffae38646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2508eec94724a89" /><Relationship Type="http://schemas.openxmlformats.org/officeDocument/2006/relationships/image" Target="/ppt/media/image20.png" Id="R897938c5a9f34918" /><Relationship Type="http://schemas.openxmlformats.org/officeDocument/2006/relationships/notesSlide" Target="/ppt/notesSlides/notesSlide18.xml" Id="Rb06df3566c5c42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9ccb1c03f19470d" /><Relationship Type="http://schemas.openxmlformats.org/officeDocument/2006/relationships/image" Target="/ppt/media/image21.png" Id="R03d1c9abe6414ecf" /><Relationship Type="http://schemas.openxmlformats.org/officeDocument/2006/relationships/notesSlide" Target="/ppt/notesSlides/notesSlide19.xml" Id="R89df725bfb0144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613265aa6974662" /><Relationship Type="http://schemas.openxmlformats.org/officeDocument/2006/relationships/image" Target="/ppt/media/image22.png" Id="Rd980cb13b41d47e6" /><Relationship Type="http://schemas.openxmlformats.org/officeDocument/2006/relationships/notesSlide" Target="/ppt/notesSlides/notesSlide20.xml" Id="Rb158f9d45fb34b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173b85770a942d4" /><Relationship Type="http://schemas.openxmlformats.org/officeDocument/2006/relationships/image" Target="/ppt/media/image23.png" Id="Ra6fb5756a67144a1" /><Relationship Type="http://schemas.openxmlformats.org/officeDocument/2006/relationships/notesSlide" Target="/ppt/notesSlides/notesSlide21.xml" Id="Rd8037dfcb4d944f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2ca334f47b24146" /><Relationship Type="http://schemas.openxmlformats.org/officeDocument/2006/relationships/image" Target="/ppt/media/image24.png" Id="Re2e9392cf43f449f" /><Relationship Type="http://schemas.openxmlformats.org/officeDocument/2006/relationships/notesSlide" Target="/ppt/notesSlides/notesSlide22.xml" Id="R959a5ad842694f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0e3e5a04134f20" /><Relationship Type="http://schemas.openxmlformats.org/officeDocument/2006/relationships/image" Target="/ppt/media/image25.png" Id="R2baec062d3584a89" /><Relationship Type="http://schemas.openxmlformats.org/officeDocument/2006/relationships/notesSlide" Target="/ppt/notesSlides/notesSlide23.xml" Id="R3565ae7423f24d4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4d983ce7af04423" /><Relationship Type="http://schemas.openxmlformats.org/officeDocument/2006/relationships/image" Target="/ppt/media/image26.png" Id="R8c9fa69c756d4d78" /><Relationship Type="http://schemas.openxmlformats.org/officeDocument/2006/relationships/notesSlide" Target="/ppt/notesSlides/notesSlide24.xml" Id="Rb27a2af2dc2943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791b46e411c411a" /><Relationship Type="http://schemas.openxmlformats.org/officeDocument/2006/relationships/image" Target="/ppt/media/image27.png" Id="Ra6325b17d02f4373" /><Relationship Type="http://schemas.openxmlformats.org/officeDocument/2006/relationships/notesSlide" Target="/ppt/notesSlides/notesSlide25.xml" Id="R374c2a144eaa47f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8a1b20b51934991" /><Relationship Type="http://schemas.openxmlformats.org/officeDocument/2006/relationships/image" Target="/ppt/media/image28.png" Id="R21b4e042f2164664" /><Relationship Type="http://schemas.openxmlformats.org/officeDocument/2006/relationships/notesSlide" Target="/ppt/notesSlides/notesSlide26.xml" Id="Rd783379d4bec44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c94ffde06d14e5f" /><Relationship Type="http://schemas.openxmlformats.org/officeDocument/2006/relationships/image" Target="/ppt/media/image29.png" Id="Re4192239f652435d" /><Relationship Type="http://schemas.openxmlformats.org/officeDocument/2006/relationships/image" Target="/ppt/media/image30.png" Id="Ra54cc8449b5e48ea" /><Relationship Type="http://schemas.openxmlformats.org/officeDocument/2006/relationships/notesSlide" Target="/ppt/notesSlides/notesSlide27.xml" Id="Redacb813b78046b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98640e6c6a64cd2" /><Relationship Type="http://schemas.openxmlformats.org/officeDocument/2006/relationships/image" Target="/ppt/media/image31.png" Id="R632edaf029b142a0" /><Relationship Type="http://schemas.openxmlformats.org/officeDocument/2006/relationships/notesSlide" Target="/ppt/notesSlides/notesSlide28.xml" Id="R73ce2a98f579461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0f463a3f1aa4deb" /><Relationship Type="http://schemas.openxmlformats.org/officeDocument/2006/relationships/image" Target="/ppt/media/image32.png" Id="R3aec820d6c254f44" /><Relationship Type="http://schemas.openxmlformats.org/officeDocument/2006/relationships/notesSlide" Target="/ppt/notesSlides/notesSlide29.xml" Id="Rac90790ef81e4b2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12bc257241d4c02" /><Relationship Type="http://schemas.openxmlformats.org/officeDocument/2006/relationships/image" Target="/ppt/media/image33.png" Id="R678df41acf47424d" /><Relationship Type="http://schemas.openxmlformats.org/officeDocument/2006/relationships/notesSlide" Target="/ppt/notesSlides/notesSlide30.xml" Id="R297f946c66cf4ce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cc1f44634b84943" /><Relationship Type="http://schemas.openxmlformats.org/officeDocument/2006/relationships/image" Target="/ppt/media/image34.png" Id="Ra33e9a06a5bd46e6" /><Relationship Type="http://schemas.openxmlformats.org/officeDocument/2006/relationships/notesSlide" Target="/ppt/notesSlides/notesSlide31.xml" Id="R6836c6e8d077498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1face71d06f4b98" /><Relationship Type="http://schemas.openxmlformats.org/officeDocument/2006/relationships/image" Target="/ppt/media/image35.png" Id="Rb1d22bb90a744b62" /><Relationship Type="http://schemas.openxmlformats.org/officeDocument/2006/relationships/notesSlide" Target="/ppt/notesSlides/notesSlide32.xml" Id="Rd0e434de83f24ba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417fc3e704e4e9d" /><Relationship Type="http://schemas.openxmlformats.org/officeDocument/2006/relationships/image" Target="/ppt/media/image36.png" Id="Rd4dbe67546554084" /><Relationship Type="http://schemas.openxmlformats.org/officeDocument/2006/relationships/notesSlide" Target="/ppt/notesSlides/notesSlide33.xml" Id="R7936293e7447485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59836c5240a4b20" /><Relationship Type="http://schemas.openxmlformats.org/officeDocument/2006/relationships/image" Target="/ppt/media/image37.png" Id="R513601d9b4b848e1" /><Relationship Type="http://schemas.openxmlformats.org/officeDocument/2006/relationships/image" Target="/ppt/media/image38.png" Id="R2eacec85b1204cf8" /><Relationship Type="http://schemas.openxmlformats.org/officeDocument/2006/relationships/notesSlide" Target="/ppt/notesSlides/notesSlide34.xml" Id="Rb69b820dad3c455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17128d028c64306" /><Relationship Type="http://schemas.openxmlformats.org/officeDocument/2006/relationships/image" Target="/ppt/media/image39.png" Id="R8c610f25ab2f45d4" /><Relationship Type="http://schemas.openxmlformats.org/officeDocument/2006/relationships/notesSlide" Target="/ppt/notesSlides/notesSlide35.xml" Id="R26095263203242e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7f7f2f473b848f1" /><Relationship Type="http://schemas.openxmlformats.org/officeDocument/2006/relationships/image" Target="/ppt/media/image40.png" Id="R073848077411455f" /><Relationship Type="http://schemas.openxmlformats.org/officeDocument/2006/relationships/notesSlide" Target="/ppt/notesSlides/notesSlide36.xml" Id="R6ea3fbe0e07d4bd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2b56d6d2ba34e23" /><Relationship Type="http://schemas.openxmlformats.org/officeDocument/2006/relationships/image" Target="/ppt/media/image41.png" Id="R47a2d1e8f67a48fa" /><Relationship Type="http://schemas.openxmlformats.org/officeDocument/2006/relationships/notesSlide" Target="/ppt/notesSlides/notesSlide37.xml" Id="Re68e17203a0e49f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0900afbe065415a" /><Relationship Type="http://schemas.openxmlformats.org/officeDocument/2006/relationships/image" Target="/ppt/media/image42.png" Id="R501903ae2b7440a3" /><Relationship Type="http://schemas.openxmlformats.org/officeDocument/2006/relationships/notesSlide" Target="/ppt/notesSlides/notesSlide38.xml" Id="Ra537e2dfd9b548f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520a62fa1a34907" /><Relationship Type="http://schemas.openxmlformats.org/officeDocument/2006/relationships/image" Target="/ppt/media/image43.png" Id="Re6edb92915f5400a" /><Relationship Type="http://schemas.openxmlformats.org/officeDocument/2006/relationships/notesSlide" Target="/ppt/notesSlides/notesSlide39.xml" Id="R13e729c188fb426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727c9f7241f4642" /><Relationship Type="http://schemas.openxmlformats.org/officeDocument/2006/relationships/image" Target="/ppt/media/image44.png" Id="Rb6d9aace23644e94" /><Relationship Type="http://schemas.openxmlformats.org/officeDocument/2006/relationships/notesSlide" Target="/ppt/notesSlides/notesSlide40.xml" Id="Re7f096e79d7f475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bb3130d2b3442eb" /><Relationship Type="http://schemas.openxmlformats.org/officeDocument/2006/relationships/image" Target="/ppt/media/image45.png" Id="Ref8cf696f27744b6" /><Relationship Type="http://schemas.openxmlformats.org/officeDocument/2006/relationships/notesSlide" Target="/ppt/notesSlides/notesSlide41.xml" Id="R0a7cb70fdebf4e0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59304727c094133" /><Relationship Type="http://schemas.openxmlformats.org/officeDocument/2006/relationships/image" Target="/ppt/media/image46.png" Id="R9b7c77b022c6480d" /><Relationship Type="http://schemas.openxmlformats.org/officeDocument/2006/relationships/notesSlide" Target="/ppt/notesSlides/notesSlide42.xml" Id="Rb6faf56cba464ff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d200de45e314819" /><Relationship Type="http://schemas.openxmlformats.org/officeDocument/2006/relationships/image" Target="/ppt/media/image47.png" Id="R8abf6580e0f74395" /><Relationship Type="http://schemas.openxmlformats.org/officeDocument/2006/relationships/notesSlide" Target="/ppt/notesSlides/notesSlide43.xml" Id="R8664eb6549e7410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78509a421044861" /><Relationship Type="http://schemas.openxmlformats.org/officeDocument/2006/relationships/image" Target="/ppt/media/image48.png" Id="R5a7318f7f9e54128" /><Relationship Type="http://schemas.openxmlformats.org/officeDocument/2006/relationships/notesSlide" Target="/ppt/notesSlides/notesSlide44.xml" Id="Rd562d60555bc41a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223da12c4c24bba" /><Relationship Type="http://schemas.openxmlformats.org/officeDocument/2006/relationships/image" Target="/ppt/media/image49.png" Id="Rf5a29c9e372e4899" /><Relationship Type="http://schemas.openxmlformats.org/officeDocument/2006/relationships/notesSlide" Target="/ppt/notesSlides/notesSlide45.xml" Id="Rd99affe192d64b3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952e9566757e4bc8" /><Relationship Type="http://schemas.openxmlformats.org/officeDocument/2006/relationships/image" Target="/ppt/media/image50.png" Id="Rd2cb543cb80d4c46" /><Relationship Type="http://schemas.openxmlformats.org/officeDocument/2006/relationships/notesSlide" Target="/ppt/notesSlides/notesSlide46.xml" Id="Ra72a7c904f4d4a1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62d39ae8d0b4933" /><Relationship Type="http://schemas.openxmlformats.org/officeDocument/2006/relationships/image" Target="/ppt/media/image51.png" Id="R4597ab1f60584ea0" /><Relationship Type="http://schemas.openxmlformats.org/officeDocument/2006/relationships/notesSlide" Target="/ppt/notesSlides/notesSlide47.xml" Id="Re95245c69ccd416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a2f267f043a042f8" /><Relationship Type="http://schemas.openxmlformats.org/officeDocument/2006/relationships/image" Target="/ppt/media/image52.png" Id="R9f4402e73daf4b65" /><Relationship Type="http://schemas.openxmlformats.org/officeDocument/2006/relationships/notesSlide" Target="/ppt/notesSlides/notesSlide48.xml" Id="R2123a0db35974f95"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5E6BD8-3602-48CF-87A0-907D88C2128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PWM, sonido y salidas digitales en serie</a:t>
            </a:r>
          </a:p>
        </p:txBody>
      </p:sp>
      <p:pic>
        <p:nvPicPr>
          <p:cNvPr id="2" name="">
            <a:extLst xmlns:a="http://schemas.openxmlformats.org/drawingml/2006/main">
              <a:ext uri="{FF2B5EF4-FFF2-40B4-BE49-F238E27FC236}">
                <a16:creationId xmlns:a16="http://schemas.microsoft.com/office/drawing/2014/main" id="{945D8C7F-4866-4578-A1D3-745AB984119C}"/>
              </a:ext>
            </a:extLst>
          </p:cNvPr>
          <p:cNvPicPr>
            <a:picLocks xmlns:a="http://schemas.openxmlformats.org/drawingml/2006/main" noChangeAspect="1"/>
          </p:cNvPicPr>
          <p:nvPr/>
        </p:nvPicPr>
        <p:blipFill>
          <a:blip xmlns:r="http://schemas.openxmlformats.org/officeDocument/2006/relationships" xmlns:a="http://schemas.openxmlformats.org/drawingml/2006/main" r:embed="R0d277b6df206414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2139D34-C31F-465B-BFEC-E5CAA1670C0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01/24</a:t>
            </a:r>
          </a:p>
        </p:txBody>
      </p:sp>
      <p:sp>
        <p:nvSpPr>
          <p:cNvPr id="4" name="">
            <a:extLst xmlns:a="http://schemas.openxmlformats.org/drawingml/2006/main">
              <a:ext uri="{FF2B5EF4-FFF2-40B4-BE49-F238E27FC236}">
                <a16:creationId xmlns:a16="http://schemas.microsoft.com/office/drawing/2014/main" id="{0E4E424D-751F-468D-B713-94EE8D0FDAFA}"/>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Distinguir frecuencia, resolución y ciclo de trabajo, y ampliar salidas con un registro de desplazamiento.</a:t>
            </a:r>
          </a:p>
        </p:txBody>
      </p:sp>
      <p:sp>
        <p:nvSpPr>
          <p:cNvPr id="5" name="">
            <a:extLst xmlns:a="http://schemas.openxmlformats.org/drawingml/2006/main">
              <a:ext uri="{FF2B5EF4-FFF2-40B4-BE49-F238E27FC236}">
                <a16:creationId xmlns:a16="http://schemas.microsoft.com/office/drawing/2014/main" id="{9B17E3AE-4530-4635-BD58-91108971CC91}"/>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Una orden del controlador puede representar brillo, un aviso o una consigna para otra etapa; el significado depende de la interfaz.</a:t>
            </a:r>
          </a:p>
        </p:txBody>
      </p:sp>
      <p:sp>
        <p:nvSpPr>
          <p:cNvPr id="6" name="">
            <a:extLst xmlns:a="http://schemas.openxmlformats.org/drawingml/2006/main">
              <a:ext uri="{FF2B5EF4-FFF2-40B4-BE49-F238E27FC236}">
                <a16:creationId xmlns:a16="http://schemas.microsoft.com/office/drawing/2014/main" id="{C8AAED88-FB53-40DA-8F90-3C28E1348F0C}"/>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1339639160"/>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11ABAC-2D91-4269-BC68-2158D69338A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salida digital puede expresar más que encendido y apagado</a:t>
            </a:r>
          </a:p>
        </p:txBody>
      </p:sp>
      <p:pic>
        <p:nvPicPr>
          <p:cNvPr id="2" name="">
            <a:extLst xmlns:a="http://schemas.openxmlformats.org/drawingml/2006/main">
              <a:ext uri="{FF2B5EF4-FFF2-40B4-BE49-F238E27FC236}">
                <a16:creationId xmlns:a16="http://schemas.microsoft.com/office/drawing/2014/main" id="{1FE8ACF5-8356-4CF0-BBE6-3AA1784C39B9}"/>
              </a:ext>
            </a:extLst>
          </p:cNvPr>
          <p:cNvPicPr>
            <a:picLocks xmlns:a="http://schemas.openxmlformats.org/drawingml/2006/main" noChangeAspect="1"/>
          </p:cNvPicPr>
          <p:nvPr/>
        </p:nvPicPr>
        <p:blipFill>
          <a:blip xmlns:r="http://schemas.openxmlformats.org/officeDocument/2006/relationships" xmlns:a="http://schemas.openxmlformats.org/drawingml/2006/main" r:embed="R86b0525c7205405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418C9C6-88D2-492B-B831-3A1ED7232C7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02/24</a:t>
            </a:r>
          </a:p>
        </p:txBody>
      </p:sp>
      <p:sp>
        <p:nvSpPr>
          <p:cNvPr id="4" name="">
            <a:extLst xmlns:a="http://schemas.openxmlformats.org/drawingml/2006/main">
              <a:ext uri="{FF2B5EF4-FFF2-40B4-BE49-F238E27FC236}">
                <a16:creationId xmlns:a16="http://schemas.microsoft.com/office/drawing/2014/main" id="{42DC958B-5D0F-4B33-BA58-9D6802FB1F7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PWM alterna una salida entre sus niveles digitales siguiendo un periodo y una fracción de tiempo activa. La señal conserva esos niveles; lo que cambia es su distribución temporal. Un LED y su circuito pueden producir una apariencia de brillo distinta al variar esa fracción. Un instrumento o una carga pueden responder de otra manera. No convertimos automáticamente el GPIO en una fuente analógica de potencia variable.</a:t>
            </a:r>
          </a:p>
        </p:txBody>
      </p:sp>
    </p:spTree>
    <p:extLst>
      <p:ext uri="{BB962C8B-B14F-4D97-AF65-F5344CB8AC3E}">
        <p14:creationId xmlns:p14="http://schemas.microsoft.com/office/powerpoint/2010/main" val="859831792"/>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3D7FED-B018-4C8E-BC00-9C5B003E39C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salida digital puede expresar más que encendido y apagado</a:t>
            </a:r>
          </a:p>
        </p:txBody>
      </p:sp>
      <p:pic>
        <p:nvPicPr>
          <p:cNvPr id="2" name="">
            <a:extLst xmlns:a="http://schemas.openxmlformats.org/drawingml/2006/main">
              <a:ext uri="{FF2B5EF4-FFF2-40B4-BE49-F238E27FC236}">
                <a16:creationId xmlns:a16="http://schemas.microsoft.com/office/drawing/2014/main" id="{EEB53C8C-2BFA-4159-B525-F87265369775}"/>
              </a:ext>
            </a:extLst>
          </p:cNvPr>
          <p:cNvPicPr>
            <a:picLocks xmlns:a="http://schemas.openxmlformats.org/drawingml/2006/main" noChangeAspect="1"/>
          </p:cNvPicPr>
          <p:nvPr/>
        </p:nvPicPr>
        <p:blipFill>
          <a:blip xmlns:r="http://schemas.openxmlformats.org/officeDocument/2006/relationships" xmlns:a="http://schemas.openxmlformats.org/drawingml/2006/main" r:embed="R03d34cda30944c7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9DA04A0-0FC6-4151-980B-E1E69A54693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03/24</a:t>
            </a:r>
          </a:p>
        </p:txBody>
      </p:sp>
      <p:pic>
        <p:nvPicPr>
          <p:cNvPr id="4" name="">
            <a:extLst xmlns:a="http://schemas.openxmlformats.org/drawingml/2006/main">
              <a:ext uri="{FF2B5EF4-FFF2-40B4-BE49-F238E27FC236}">
                <a16:creationId xmlns:a16="http://schemas.microsoft.com/office/drawing/2014/main" id="{0B3689EC-3DB7-4331-A903-EF701665AA35}"/>
              </a:ext>
            </a:extLst>
          </p:cNvPr>
          <p:cNvPicPr>
            <a:picLocks xmlns:a="http://schemas.openxmlformats.org/drawingml/2006/main" noChangeAspect="1"/>
          </p:cNvPicPr>
          <p:nvPr/>
        </p:nvPicPr>
        <p:blipFill>
          <a:blip xmlns:r="http://schemas.openxmlformats.org/officeDocument/2006/relationships" xmlns:a="http://schemas.openxmlformats.org/drawingml/2006/main" r:embed="R5fbe7b36e54f4f2b"/>
          <a:stretch xmlns:a="http://schemas.openxmlformats.org/drawingml/2006/main"/>
        </p:blipFill>
        <p:spPr>
          <a:xfrm xmlns:a="http://schemas.openxmlformats.org/drawingml/2006/main">
            <a:off x="1545130" y="1638300"/>
            <a:ext cx="5501291"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2DEFA4B-E552-4EC8-BC1A-75142D665196}"/>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Localiza datos, reloj y latch. ¿Qué significa desplazar ocho bits?</a:t>
            </a:r>
          </a:p>
        </p:txBody>
      </p:sp>
      <p:sp>
        <p:nvSpPr>
          <p:cNvPr id="6" name="">
            <a:extLst xmlns:a="http://schemas.openxmlformats.org/drawingml/2006/main">
              <a:ext uri="{FF2B5EF4-FFF2-40B4-BE49-F238E27FC236}">
                <a16:creationId xmlns:a16="http://schemas.microsoft.com/office/drawing/2014/main" id="{A74E4F73-19BB-4570-A5D2-B2ACB1FC4AA1}"/>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04.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399317462"/>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79717A-248C-409D-9B40-49DC21E4F26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4231E"/>
                </a:solidFill>
                <a:latin typeface="Arial Narrow"/>
                <a:ea typeface="Arial Narrow"/>
                <a:cs typeface="Arial Narrow"/>
              </a:defRPr>
            </a:defPPr>
            <a:lvl1pPr>
              <a:defRPr sz="2925" b="1">
                <a:solidFill>
                  <a:srgbClr val="14231E"/>
                </a:solidFill>
                <a:latin typeface="Arial Narrow"/>
                <a:ea typeface="Arial Narrow"/>
                <a:cs typeface="Arial Narrow"/>
              </a:defRPr>
            </a:lvl1pPr>
            <a:lvl2pPr>
              <a:defRPr sz="2925" b="1">
                <a:solidFill>
                  <a:srgbClr val="14231E"/>
                </a:solidFill>
                <a:latin typeface="Arial Narrow"/>
                <a:ea typeface="Arial Narrow"/>
                <a:cs typeface="Arial Narrow"/>
              </a:defRPr>
            </a:lvl2pPr>
            <a:lvl3pPr>
              <a:defRPr sz="2925" b="1">
                <a:solidFill>
                  <a:srgbClr val="14231E"/>
                </a:solidFill>
                <a:latin typeface="Arial Narrow"/>
                <a:ea typeface="Arial Narrow"/>
                <a:cs typeface="Arial Narrow"/>
              </a:defRPr>
            </a:lvl3pPr>
            <a:lvl4pPr>
              <a:defRPr sz="2925" b="1">
                <a:solidFill>
                  <a:srgbClr val="14231E"/>
                </a:solidFill>
                <a:latin typeface="Arial Narrow"/>
                <a:ea typeface="Arial Narrow"/>
                <a:cs typeface="Arial Narrow"/>
              </a:defRPr>
            </a:lvl4pPr>
            <a:lvl5pPr>
              <a:defRPr sz="2925" b="1">
                <a:solidFill>
                  <a:srgbClr val="14231E"/>
                </a:solidFill>
                <a:latin typeface="Arial Narrow"/>
                <a:ea typeface="Arial Narrow"/>
                <a:cs typeface="Arial Narrow"/>
              </a:defRPr>
            </a:lvl5pPr>
            <a:lvl6pPr>
              <a:defRPr sz="2925" b="1">
                <a:solidFill>
                  <a:srgbClr val="14231E"/>
                </a:solidFill>
                <a:latin typeface="Arial Narrow"/>
                <a:ea typeface="Arial Narrow"/>
                <a:cs typeface="Arial Narrow"/>
              </a:defRPr>
            </a:lvl6pPr>
            <a:lvl7pPr>
              <a:defRPr sz="2925" b="1">
                <a:solidFill>
                  <a:srgbClr val="14231E"/>
                </a:solidFill>
                <a:latin typeface="Arial Narrow"/>
                <a:ea typeface="Arial Narrow"/>
                <a:cs typeface="Arial Narrow"/>
              </a:defRPr>
            </a:lvl7pPr>
            <a:lvl8pPr>
              <a:defRPr sz="2925" b="1">
                <a:solidFill>
                  <a:srgbClr val="14231E"/>
                </a:solidFill>
                <a:latin typeface="Arial Narrow"/>
                <a:ea typeface="Arial Narrow"/>
                <a:cs typeface="Arial Narrow"/>
              </a:defRPr>
            </a:lvl8pPr>
            <a:lvl9pPr>
              <a:defRPr sz="2925" b="1">
                <a:solidFill>
                  <a:srgbClr val="14231E"/>
                </a:solidFill>
                <a:latin typeface="Arial Narrow"/>
                <a:ea typeface="Arial Narrow"/>
                <a:cs typeface="Arial Narrow"/>
              </a:defRPr>
            </a:lvl9pPr>
          </a:lstStyle>
          <a:p xmlns:a="http://schemas.openxmlformats.org/drawingml/2006/main">
            <a:pPr>
              <a:defRPr sz="2925" b="1">
                <a:solidFill>
                  <a:srgbClr val="14231E"/>
                </a:solidFill>
                <a:latin typeface="Arial Narrow"/>
                <a:ea typeface="Arial Narrow"/>
                <a:cs typeface="Arial Narrow"/>
              </a:defRPr>
            </a:pPr>
            <a:r>
              <a:rPr sz="2925" b="1">
                <a:solidFill>
                  <a:srgbClr val="14231E"/>
                </a:solidFill>
                <a:latin typeface="Arial Narrow"/>
                <a:ea typeface="Arial Narrow"/>
                <a:cs typeface="Arial Narrow"/>
              </a:rPr>
              <a:t>Interpretación · Una salida digital puede expresar más que encendido y apagado</a:t>
            </a:r>
          </a:p>
        </p:txBody>
      </p:sp>
      <p:pic>
        <p:nvPicPr>
          <p:cNvPr id="2" name="">
            <a:extLst xmlns:a="http://schemas.openxmlformats.org/drawingml/2006/main">
              <a:ext uri="{FF2B5EF4-FFF2-40B4-BE49-F238E27FC236}">
                <a16:creationId xmlns:a16="http://schemas.microsoft.com/office/drawing/2014/main" id="{1A052C03-F45F-42FE-9236-96C2E2AAEBFF}"/>
              </a:ext>
            </a:extLst>
          </p:cNvPr>
          <p:cNvPicPr>
            <a:picLocks xmlns:a="http://schemas.openxmlformats.org/drawingml/2006/main" noChangeAspect="1"/>
          </p:cNvPicPr>
          <p:nvPr/>
        </p:nvPicPr>
        <p:blipFill>
          <a:blip xmlns:r="http://schemas.openxmlformats.org/officeDocument/2006/relationships" xmlns:a="http://schemas.openxmlformats.org/drawingml/2006/main" r:embed="Rcc0867ecabee4a5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F8E483-C499-492F-84A7-F55F4D2D9E5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04/24</a:t>
            </a:r>
          </a:p>
        </p:txBody>
      </p:sp>
      <p:sp>
        <p:nvSpPr>
          <p:cNvPr id="4" name="">
            <a:extLst xmlns:a="http://schemas.openxmlformats.org/drawingml/2006/main">
              <a:ext uri="{FF2B5EF4-FFF2-40B4-BE49-F238E27FC236}">
                <a16:creationId xmlns:a16="http://schemas.microsoft.com/office/drawing/2014/main" id="{3FED4C25-3D41-48E9-9788-E106F431A50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piano muestra una señal cuyo ritmo determina la nota, mientras el dimmer muestra una señal cuyo ciclo de trabajo regula el efecto de brillo. Son usos diferentes de una onda digital. El registro 74HC595 del proyecto de luces ofrece otra ampliación: convierte una secuencia de bits en varias salidas conservadas. Esta clase compara las dos ideas sin confundir “muchas salidas” con “resolución de PWM”.</a:t>
            </a:r>
          </a:p>
        </p:txBody>
      </p:sp>
    </p:spTree>
    <p:extLst>
      <p:ext uri="{BB962C8B-B14F-4D97-AF65-F5344CB8AC3E}">
        <p14:creationId xmlns:p14="http://schemas.microsoft.com/office/powerpoint/2010/main" val="1964185506"/>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B12669-FEAE-402F-A344-66F9F812B7C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Periodo, frecuencia y resolución</a:t>
            </a:r>
          </a:p>
        </p:txBody>
      </p:sp>
      <p:pic>
        <p:nvPicPr>
          <p:cNvPr id="2" name="">
            <a:extLst xmlns:a="http://schemas.openxmlformats.org/drawingml/2006/main">
              <a:ext uri="{FF2B5EF4-FFF2-40B4-BE49-F238E27FC236}">
                <a16:creationId xmlns:a16="http://schemas.microsoft.com/office/drawing/2014/main" id="{F17BCF64-B46A-43BC-A9DC-6472D4E71A31}"/>
              </a:ext>
            </a:extLst>
          </p:cNvPr>
          <p:cNvPicPr>
            <a:picLocks xmlns:a="http://schemas.openxmlformats.org/drawingml/2006/main" noChangeAspect="1"/>
          </p:cNvPicPr>
          <p:nvPr/>
        </p:nvPicPr>
        <p:blipFill>
          <a:blip xmlns:r="http://schemas.openxmlformats.org/officeDocument/2006/relationships" xmlns:a="http://schemas.openxmlformats.org/drawingml/2006/main" r:embed="Rd1250c56470348a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BA3D1B3-4F88-4FA5-8D3F-D857D7DFF59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05/24</a:t>
            </a:r>
          </a:p>
        </p:txBody>
      </p:sp>
      <p:sp>
        <p:nvSpPr>
          <p:cNvPr id="4" name="">
            <a:extLst xmlns:a="http://schemas.openxmlformats.org/drawingml/2006/main">
              <a:ext uri="{FF2B5EF4-FFF2-40B4-BE49-F238E27FC236}">
                <a16:creationId xmlns:a16="http://schemas.microsoft.com/office/drawing/2014/main" id="{8574FE9F-11FF-4D92-A99A-CA0F33A9620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Más resolución permite seleccionar más códigos, pero el periférico debe generar la combinación de frecuencia y resolución solicitada. En el código de referencia se comprueba si la configuración tuvo éxito. Elegir una frecuencia nueva puede compartir recursos con otra salida, según la configuración del periférico y las bibliotecas. En la clase de servo volveremos a este punto con una señal de 50 Hz que tiene un significado distinto al brillo.</a:t>
            </a:r>
          </a:p>
        </p:txBody>
      </p:sp>
    </p:spTree>
    <p:extLst>
      <p:ext uri="{BB962C8B-B14F-4D97-AF65-F5344CB8AC3E}">
        <p14:creationId xmlns:p14="http://schemas.microsoft.com/office/powerpoint/2010/main" val="236970713"/>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0D17DB-BD9D-432A-BA59-C7FE9EA4F6E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controles diferentes</a:t>
            </a:r>
          </a:p>
        </p:txBody>
      </p:sp>
      <p:pic>
        <p:nvPicPr>
          <p:cNvPr id="2" name="">
            <a:extLst xmlns:a="http://schemas.openxmlformats.org/drawingml/2006/main">
              <a:ext uri="{FF2B5EF4-FFF2-40B4-BE49-F238E27FC236}">
                <a16:creationId xmlns:a16="http://schemas.microsoft.com/office/drawing/2014/main" id="{B9C56A59-C350-41C1-A1EB-AC3003982F49}"/>
              </a:ext>
            </a:extLst>
          </p:cNvPr>
          <p:cNvPicPr>
            <a:picLocks xmlns:a="http://schemas.openxmlformats.org/drawingml/2006/main" noChangeAspect="1"/>
          </p:cNvPicPr>
          <p:nvPr/>
        </p:nvPicPr>
        <p:blipFill>
          <a:blip xmlns:r="http://schemas.openxmlformats.org/officeDocument/2006/relationships" xmlns:a="http://schemas.openxmlformats.org/drawingml/2006/main" r:embed="Raab4542580ca4c2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60B3E7-EDB3-4AC6-B037-A02E575FBEF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06/24</a:t>
            </a:r>
          </a:p>
        </p:txBody>
      </p:sp>
      <p:graphicFrame>
        <p:nvGraphicFramePr>
          <p:cNvPr id="4" name="">
            <a:extLst xmlns:a="http://schemas.openxmlformats.org/drawingml/2006/main">
              <a:ext uri="{FF2B5EF4-FFF2-40B4-BE49-F238E27FC236}">
                <a16:creationId xmlns:a16="http://schemas.microsoft.com/office/drawing/2014/main" id="{48DE0255-E9F7-4135-9220-FDA0321243B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Cambio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modifica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Ejemplo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Frecuencia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Repetición por segundo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Nota en buzzer pasivo</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Duty</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Fracción activa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Brillo del LED</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Resolución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Pasos de mando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8 bits: 0 a 255</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10750569"/>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AD7225-BAA1-4FC8-8950-337C7D2CABE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señal de 1 kHz</a:t>
            </a:r>
          </a:p>
        </p:txBody>
      </p:sp>
      <p:pic>
        <p:nvPicPr>
          <p:cNvPr id="2" name="">
            <a:extLst xmlns:a="http://schemas.openxmlformats.org/drawingml/2006/main">
              <a:ext uri="{FF2B5EF4-FFF2-40B4-BE49-F238E27FC236}">
                <a16:creationId xmlns:a16="http://schemas.microsoft.com/office/drawing/2014/main" id="{5831ED6C-7F7D-4533-BBAF-8E5ED753BD0A}"/>
              </a:ext>
            </a:extLst>
          </p:cNvPr>
          <p:cNvPicPr>
            <a:picLocks xmlns:a="http://schemas.openxmlformats.org/drawingml/2006/main" noChangeAspect="1"/>
          </p:cNvPicPr>
          <p:nvPr/>
        </p:nvPicPr>
        <p:blipFill>
          <a:blip xmlns:r="http://schemas.openxmlformats.org/officeDocument/2006/relationships" xmlns:a="http://schemas.openxmlformats.org/drawingml/2006/main" r:embed="R1a1d48cc9fb5411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CB6ACD-26D7-4AA1-93C5-5849478CEA6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07/24</a:t>
            </a:r>
          </a:p>
        </p:txBody>
      </p:sp>
      <p:pic>
        <p:nvPicPr>
          <p:cNvPr id="4" name="">
            <a:extLst xmlns:a="http://schemas.openxmlformats.org/drawingml/2006/main">
              <a:ext uri="{FF2B5EF4-FFF2-40B4-BE49-F238E27FC236}">
                <a16:creationId xmlns:a16="http://schemas.microsoft.com/office/drawing/2014/main" id="{0AEB02F0-6770-4D88-91F3-05F53E65B8BF}"/>
              </a:ext>
            </a:extLst>
          </p:cNvPr>
          <p:cNvPicPr>
            <a:picLocks xmlns:a="http://schemas.openxmlformats.org/drawingml/2006/main" noChangeAspect="1"/>
          </p:cNvPicPr>
          <p:nvPr/>
        </p:nvPicPr>
        <p:blipFill>
          <a:blip xmlns:r="http://schemas.openxmlformats.org/officeDocument/2006/relationships" xmlns:a="http://schemas.openxmlformats.org/drawingml/2006/main" r:embed="R93f8f9cbd68e4555"/>
          <a:stretch xmlns:a="http://schemas.openxmlformats.org/drawingml/2006/main"/>
        </p:blipFill>
        <p:spPr>
          <a:xfrm xmlns:a="http://schemas.openxmlformats.org/drawingml/2006/main">
            <a:off x="2692893" y="1714500"/>
            <a:ext cx="6806214"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CD28488-6772-4EBB-B99A-C6FE18AE3725}"/>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D = 0,25, equivalente al 25%. El código aproximado es 0,25 × 255 = 63,75: se elige 64. La frecuencia sigue siendo 1 kHz.</a:t>
            </a:r>
          </a:p>
        </p:txBody>
      </p:sp>
      <p:sp>
        <p:nvSpPr>
          <p:cNvPr id="6" name="">
            <a:extLst xmlns:a="http://schemas.openxmlformats.org/drawingml/2006/main">
              <a:ext uri="{FF2B5EF4-FFF2-40B4-BE49-F238E27FC236}">
                <a16:creationId xmlns:a16="http://schemas.microsoft.com/office/drawing/2014/main" id="{5DB69183-326F-4767-9D5E-0F355336F5F1}"/>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D es una proporción; d es un código de mando de b bits para la convención del ejemplo.</a:t>
            </a:r>
          </a:p>
        </p:txBody>
      </p:sp>
    </p:spTree>
    <p:extLst>
      <p:ext uri="{BB962C8B-B14F-4D97-AF65-F5344CB8AC3E}">
        <p14:creationId xmlns:p14="http://schemas.microsoft.com/office/powerpoint/2010/main" val="1032173306"/>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926B07-40E6-483D-8AB0-BDE8AD26507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74HC595 y una palabra de ocho bits</a:t>
            </a:r>
          </a:p>
        </p:txBody>
      </p:sp>
      <p:pic>
        <p:nvPicPr>
          <p:cNvPr id="2" name="">
            <a:extLst xmlns:a="http://schemas.openxmlformats.org/drawingml/2006/main">
              <a:ext uri="{FF2B5EF4-FFF2-40B4-BE49-F238E27FC236}">
                <a16:creationId xmlns:a16="http://schemas.microsoft.com/office/drawing/2014/main" id="{2CD7C303-96E1-40A9-9280-726B22CBA4CD}"/>
              </a:ext>
            </a:extLst>
          </p:cNvPr>
          <p:cNvPicPr>
            <a:picLocks xmlns:a="http://schemas.openxmlformats.org/drawingml/2006/main" noChangeAspect="1"/>
          </p:cNvPicPr>
          <p:nvPr/>
        </p:nvPicPr>
        <p:blipFill>
          <a:blip xmlns:r="http://schemas.openxmlformats.org/officeDocument/2006/relationships" xmlns:a="http://schemas.openxmlformats.org/drawingml/2006/main" r:embed="Re66ac994e382491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26E52CD-AF31-41D5-AC0B-D4AB70CA6C7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08/24</a:t>
            </a:r>
          </a:p>
        </p:txBody>
      </p:sp>
      <p:sp>
        <p:nvSpPr>
          <p:cNvPr id="4" name="">
            <a:extLst xmlns:a="http://schemas.openxmlformats.org/drawingml/2006/main">
              <a:ext uri="{FF2B5EF4-FFF2-40B4-BE49-F238E27FC236}">
                <a16:creationId xmlns:a16="http://schemas.microsoft.com/office/drawing/2014/main" id="{A5948006-063E-4044-AAAD-C2580A747E0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registro recibe bits en serie y mantiene un conjunto de salidas. DATA transporta el valor de cada bit; CLOCK determina cuándo se incorpora; LATCH presenta el conjunto almacenado. Un patrón como 00010000 puede representar una luz encendida entre ocho. Desplazar ese patrón produce la animación del proyecto. La operación shiftOut() genera una secuencia por software; no demuestra que el circuito esté usando automáticamente el periférico SPI del ESP32.</a:t>
            </a:r>
          </a:p>
        </p:txBody>
      </p:sp>
    </p:spTree>
    <p:extLst>
      <p:ext uri="{BB962C8B-B14F-4D97-AF65-F5344CB8AC3E}">
        <p14:creationId xmlns:p14="http://schemas.microsoft.com/office/powerpoint/2010/main" val="1154457966"/>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87AF11-9960-4137-A97A-150FFFDFDB4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Señales del registro</a:t>
            </a:r>
          </a:p>
        </p:txBody>
      </p:sp>
      <p:pic>
        <p:nvPicPr>
          <p:cNvPr id="2" name="">
            <a:extLst xmlns:a="http://schemas.openxmlformats.org/drawingml/2006/main">
              <a:ext uri="{FF2B5EF4-FFF2-40B4-BE49-F238E27FC236}">
                <a16:creationId xmlns:a16="http://schemas.microsoft.com/office/drawing/2014/main" id="{21349F97-F1B1-4466-BD9B-3AFF657FEFC3}"/>
              </a:ext>
            </a:extLst>
          </p:cNvPr>
          <p:cNvPicPr>
            <a:picLocks xmlns:a="http://schemas.openxmlformats.org/drawingml/2006/main" noChangeAspect="1"/>
          </p:cNvPicPr>
          <p:nvPr/>
        </p:nvPicPr>
        <p:blipFill>
          <a:blip xmlns:r="http://schemas.openxmlformats.org/officeDocument/2006/relationships" xmlns:a="http://schemas.openxmlformats.org/drawingml/2006/main" r:embed="R35bd755deb0543d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86C49E-DC63-4BAB-B79B-D014791E0E0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09/24</a:t>
            </a:r>
          </a:p>
        </p:txBody>
      </p:sp>
      <p:graphicFrame>
        <p:nvGraphicFramePr>
          <p:cNvPr id="4" name="">
            <a:extLst xmlns:a="http://schemas.openxmlformats.org/drawingml/2006/main">
              <a:ext uri="{FF2B5EF4-FFF2-40B4-BE49-F238E27FC236}">
                <a16:creationId xmlns:a16="http://schemas.microsoft.com/office/drawing/2014/main" id="{4AEA4A9B-B65F-4B30-98CF-587CA41F8FBF}"/>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Señal</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Papel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observa el alumno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DATA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Bit que se transmite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0 o 1</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CLOCK</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Paso de desplazamiento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Ocho pulsos por palabra</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LATCH</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Actualización de salidas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Cambio del patrón completo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2096221450"/>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0216E9-3B76-42F1-94D7-C98E510E460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Ocho indicadores</a:t>
            </a:r>
          </a:p>
        </p:txBody>
      </p:sp>
      <p:pic>
        <p:nvPicPr>
          <p:cNvPr id="2" name="">
            <a:extLst xmlns:a="http://schemas.openxmlformats.org/drawingml/2006/main">
              <a:ext uri="{FF2B5EF4-FFF2-40B4-BE49-F238E27FC236}">
                <a16:creationId xmlns:a16="http://schemas.microsoft.com/office/drawing/2014/main" id="{A13B9AF1-8234-4095-931C-F8F78C6A4E84}"/>
              </a:ext>
            </a:extLst>
          </p:cNvPr>
          <p:cNvPicPr>
            <a:picLocks xmlns:a="http://schemas.openxmlformats.org/drawingml/2006/main" noChangeAspect="1"/>
          </p:cNvPicPr>
          <p:nvPr/>
        </p:nvPicPr>
        <p:blipFill>
          <a:blip xmlns:r="http://schemas.openxmlformats.org/officeDocument/2006/relationships" xmlns:a="http://schemas.openxmlformats.org/drawingml/2006/main" r:embed="R0738f95c507f412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26D8D57-F1C2-409E-BCCC-A4F7F8B3F3D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10/24</a:t>
            </a:r>
          </a:p>
        </p:txBody>
      </p:sp>
      <p:sp>
        <p:nvSpPr>
          <p:cNvPr id="4" name="">
            <a:extLst xmlns:a="http://schemas.openxmlformats.org/drawingml/2006/main">
              <a:ext uri="{FF2B5EF4-FFF2-40B4-BE49-F238E27FC236}">
                <a16:creationId xmlns:a16="http://schemas.microsoft.com/office/drawing/2014/main" id="{E094AA9B-3943-4CDA-90C7-CC04D02828C3}"/>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Con LED de 2,0 V y alimentación de 3,3 V, un resistor de 680 ohm produce aproximadamente 1,9 mA por rama en el modelo ideal. ¿Qué suma representan ocho ramas?</a:t>
            </a:r>
          </a:p>
        </p:txBody>
      </p:sp>
      <p:sp>
        <p:nvSpPr>
          <p:cNvPr id="5" name="">
            <a:extLst xmlns:a="http://schemas.openxmlformats.org/drawingml/2006/main">
              <a:ext uri="{FF2B5EF4-FFF2-40B4-BE49-F238E27FC236}">
                <a16:creationId xmlns:a16="http://schemas.microsoft.com/office/drawing/2014/main" id="{682B1D8F-7449-42EB-A8A7-1A98944F66C5}"/>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Aproximadamente 15,3 mA. También se revisan las condiciones por salida y del integrado completo; la suma de ramas no autoriza ignorar la caída de tensión del driver.</a:t>
            </a:r>
          </a:p>
        </p:txBody>
      </p:sp>
    </p:spTree>
    <p:extLst>
      <p:ext uri="{BB962C8B-B14F-4D97-AF65-F5344CB8AC3E}">
        <p14:creationId xmlns:p14="http://schemas.microsoft.com/office/powerpoint/2010/main" val="1794617252"/>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6310F9-819B-4D64-984A-6F09A6B7406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código y dos familias de API</a:t>
            </a:r>
          </a:p>
        </p:txBody>
      </p:sp>
      <p:pic>
        <p:nvPicPr>
          <p:cNvPr id="2" name="">
            <a:extLst xmlns:a="http://schemas.openxmlformats.org/drawingml/2006/main">
              <a:ext uri="{FF2B5EF4-FFF2-40B4-BE49-F238E27FC236}">
                <a16:creationId xmlns:a16="http://schemas.microsoft.com/office/drawing/2014/main" id="{7FD0AC0C-E933-4CC8-957A-F2B35B220D25}"/>
              </a:ext>
            </a:extLst>
          </p:cNvPr>
          <p:cNvPicPr>
            <a:picLocks xmlns:a="http://schemas.openxmlformats.org/drawingml/2006/main" noChangeAspect="1"/>
          </p:cNvPicPr>
          <p:nvPr/>
        </p:nvPicPr>
        <p:blipFill>
          <a:blip xmlns:r="http://schemas.openxmlformats.org/officeDocument/2006/relationships" xmlns:a="http://schemas.openxmlformats.org/drawingml/2006/main" r:embed="Rd0a67b92667c4bb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F439779-63FE-47BA-9EB8-754919AD99B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11/24</a:t>
            </a:r>
          </a:p>
        </p:txBody>
      </p:sp>
      <p:sp>
        <p:nvSpPr>
          <p:cNvPr id="4" name="">
            <a:extLst xmlns:a="http://schemas.openxmlformats.org/drawingml/2006/main">
              <a:ext uri="{FF2B5EF4-FFF2-40B4-BE49-F238E27FC236}">
                <a16:creationId xmlns:a16="http://schemas.microsoft.com/office/drawing/2014/main" id="{0F49A047-DB5E-468E-952F-C9F51507651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capa course_pwm.h conserva separados el número de GPIO y el canal. En Arduino-ESP32 2.x se configuran canal y asociación de pin; en 3.x cambió la API y varias operaciones se expresan por pin. El material fija un entorno de referencia para los ejemplos y explica esa diferencia. Encontrar una función con el mismo nombre no garantiza que sus argumentos conserven el significado de una versión anterior.</a:t>
            </a:r>
          </a:p>
        </p:txBody>
      </p:sp>
    </p:spTree>
    <p:extLst>
      <p:ext uri="{BB962C8B-B14F-4D97-AF65-F5344CB8AC3E}">
        <p14:creationId xmlns:p14="http://schemas.microsoft.com/office/powerpoint/2010/main" val="790841457"/>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9736A5-6595-4FC5-8146-C9763FFC576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Uso de la capa de compatibilidad incluida</a:t>
            </a:r>
          </a:p>
        </p:txBody>
      </p:sp>
      <p:pic>
        <p:nvPicPr>
          <p:cNvPr id="2" name="">
            <a:extLst xmlns:a="http://schemas.openxmlformats.org/drawingml/2006/main">
              <a:ext uri="{FF2B5EF4-FFF2-40B4-BE49-F238E27FC236}">
                <a16:creationId xmlns:a16="http://schemas.microsoft.com/office/drawing/2014/main" id="{C3983819-2D97-4D0B-98B9-423FF3801329}"/>
              </a:ext>
            </a:extLst>
          </p:cNvPr>
          <p:cNvPicPr>
            <a:picLocks xmlns:a="http://schemas.openxmlformats.org/drawingml/2006/main" noChangeAspect="1"/>
          </p:cNvPicPr>
          <p:nvPr/>
        </p:nvPicPr>
        <p:blipFill>
          <a:blip xmlns:r="http://schemas.openxmlformats.org/officeDocument/2006/relationships" xmlns:a="http://schemas.openxmlformats.org/drawingml/2006/main" r:embed="Ra7e48ce534bd487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33C670D-400B-4699-B4FC-0E36B92F25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12/24</a:t>
            </a:r>
          </a:p>
        </p:txBody>
      </p:sp>
      <p:sp>
        <p:nvSpPr>
          <p:cNvPr id="4" name="">
            <a:extLst xmlns:a="http://schemas.openxmlformats.org/drawingml/2006/main">
              <a:ext uri="{FF2B5EF4-FFF2-40B4-BE49-F238E27FC236}">
                <a16:creationId xmlns:a16="http://schemas.microsoft.com/office/drawing/2014/main" id="{3C49072A-84C3-42AE-9F96-B14220091397}"/>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CoursePwm led(23,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bool ok = led.begin(1000, 8);</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(ok)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uint32_t duty = (raw * 255UL) / 4095UL;</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led.write(duty);</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BBC77975-51CD-4EFB-9498-088A162231AB}"/>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355917729"/>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782ABC-CCDE-4554-A514-800EA5E999A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Un código y dos familias de API</a:t>
            </a:r>
          </a:p>
        </p:txBody>
      </p:sp>
      <p:pic>
        <p:nvPicPr>
          <p:cNvPr id="2" name="">
            <a:extLst xmlns:a="http://schemas.openxmlformats.org/drawingml/2006/main">
              <a:ext uri="{FF2B5EF4-FFF2-40B4-BE49-F238E27FC236}">
                <a16:creationId xmlns:a16="http://schemas.microsoft.com/office/drawing/2014/main" id="{90C331CD-8224-476A-AC30-A5C4B702F5E3}"/>
              </a:ext>
            </a:extLst>
          </p:cNvPr>
          <p:cNvPicPr>
            <a:picLocks xmlns:a="http://schemas.openxmlformats.org/drawingml/2006/main" noChangeAspect="1"/>
          </p:cNvPicPr>
          <p:nvPr/>
        </p:nvPicPr>
        <p:blipFill>
          <a:blip xmlns:r="http://schemas.openxmlformats.org/officeDocument/2006/relationships" xmlns:a="http://schemas.openxmlformats.org/drawingml/2006/main" r:embed="R1fa08c75a1e643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6D3C01-EE9E-4AB1-9249-CB42DF4FCA5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13/24</a:t>
            </a:r>
          </a:p>
        </p:txBody>
      </p:sp>
      <p:sp>
        <p:nvSpPr>
          <p:cNvPr id="4" name="">
            <a:extLst xmlns:a="http://schemas.openxmlformats.org/drawingml/2006/main">
              <a:ext uri="{FF2B5EF4-FFF2-40B4-BE49-F238E27FC236}">
                <a16:creationId xmlns:a16="http://schemas.microsoft.com/office/drawing/2014/main" id="{2252D01F-2792-4614-909E-257273B0E1F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orden de bits se relaciona con la posición física de las salidas. Si la animación parece invertida, primero compara el patrón, la convención MSBFIRST y las conexiones. No hace falta cambiar simultáneamente ocho cables y todo el programa para investigar una inversión. Una prueba de un solo bit permite identificar la correspondencia.</a:t>
            </a:r>
          </a:p>
        </p:txBody>
      </p:sp>
    </p:spTree>
    <p:extLst>
      <p:ext uri="{BB962C8B-B14F-4D97-AF65-F5344CB8AC3E}">
        <p14:creationId xmlns:p14="http://schemas.microsoft.com/office/powerpoint/2010/main" val="127352186"/>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0012E2-10D4-4C9F-AD6C-B53214333CE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un efecto y una secuencia</a:t>
            </a:r>
          </a:p>
        </p:txBody>
      </p:sp>
      <p:pic>
        <p:nvPicPr>
          <p:cNvPr id="2" name="">
            <a:extLst xmlns:a="http://schemas.openxmlformats.org/drawingml/2006/main">
              <a:ext uri="{FF2B5EF4-FFF2-40B4-BE49-F238E27FC236}">
                <a16:creationId xmlns:a16="http://schemas.microsoft.com/office/drawing/2014/main" id="{F2D51A4B-C78B-401F-9AD4-3F2C7066F109}"/>
              </a:ext>
            </a:extLst>
          </p:cNvPr>
          <p:cNvPicPr>
            <a:picLocks xmlns:a="http://schemas.openxmlformats.org/drawingml/2006/main" noChangeAspect="1"/>
          </p:cNvPicPr>
          <p:nvPr/>
        </p:nvPicPr>
        <p:blipFill>
          <a:blip xmlns:r="http://schemas.openxmlformats.org/officeDocument/2006/relationships" xmlns:a="http://schemas.openxmlformats.org/drawingml/2006/main" r:embed="R32bf13ab208a470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4A8288-951C-4112-B79E-4751B1D276E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14/24</a:t>
            </a:r>
          </a:p>
        </p:txBody>
      </p:sp>
      <p:sp>
        <p:nvSpPr>
          <p:cNvPr id="4" name="">
            <a:extLst xmlns:a="http://schemas.openxmlformats.org/drawingml/2006/main">
              <a:ext uri="{FF2B5EF4-FFF2-40B4-BE49-F238E27FC236}">
                <a16:creationId xmlns:a16="http://schemas.microsoft.com/office/drawing/2014/main" id="{8F90EE85-B0BB-42E0-9001-F408E1BD413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vista de una simulación ayuda a relacionar el algoritmo con el patrón. Una estimación visual de brillo no es una medida lineal de potencia óptica. Si el equipo usa solo observación, puede describir orden y contraste entre estados. Para afirmar valores de señal necesita el instrumento o el modelo identificado. El docente demuestra al menos una lectura de periodo para ligar la fórmula con un objeto real.</a:t>
            </a:r>
          </a:p>
        </p:txBody>
      </p:sp>
    </p:spTree>
    <p:extLst>
      <p:ext uri="{BB962C8B-B14F-4D97-AF65-F5344CB8AC3E}">
        <p14:creationId xmlns:p14="http://schemas.microsoft.com/office/powerpoint/2010/main" val="1653154783"/>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84333C-7F3C-442E-8203-121B4546FBC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Mando del ejercicio</a:t>
            </a:r>
          </a:p>
        </p:txBody>
      </p:sp>
      <p:pic>
        <p:nvPicPr>
          <p:cNvPr id="2" name="">
            <a:extLst xmlns:a="http://schemas.openxmlformats.org/drawingml/2006/main">
              <a:ext uri="{FF2B5EF4-FFF2-40B4-BE49-F238E27FC236}">
                <a16:creationId xmlns:a16="http://schemas.microsoft.com/office/drawing/2014/main" id="{47DB687D-070E-4C6F-8D33-F8558811BC13}"/>
              </a:ext>
            </a:extLst>
          </p:cNvPr>
          <p:cNvPicPr>
            <a:picLocks xmlns:a="http://schemas.openxmlformats.org/drawingml/2006/main" noChangeAspect="1"/>
          </p:cNvPicPr>
          <p:nvPr/>
        </p:nvPicPr>
        <p:blipFill>
          <a:blip xmlns:r="http://schemas.openxmlformats.org/officeDocument/2006/relationships" xmlns:a="http://schemas.openxmlformats.org/drawingml/2006/main" r:embed="Refc1ab4ab74149b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D24FF5-D333-450D-A7E3-F4B1D4A364F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15/24</a:t>
            </a:r>
          </a:p>
        </p:txBody>
      </p:sp>
      <p:graphicFrame>
        <p:nvGraphicFramePr>
          <p:cNvPr id="4" name="">
            <a:extLst xmlns:a="http://schemas.openxmlformats.org/drawingml/2006/main">
              <a:ext uri="{FF2B5EF4-FFF2-40B4-BE49-F238E27FC236}">
                <a16:creationId xmlns:a16="http://schemas.microsoft.com/office/drawing/2014/main" id="{E7025C47-1416-4479-8651-3B05AD1CCD6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Código / 8 bits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Fracción aproximada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Observación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64</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25,1%</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Por comprobar</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128</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50,2%</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Por comprobar</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192</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75,3%</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Por comprobar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658297987"/>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47A702-8379-46AE-8BD6-5BD48264E52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un efecto y una secuencia</a:t>
            </a:r>
          </a:p>
        </p:txBody>
      </p:sp>
      <p:pic>
        <p:nvPicPr>
          <p:cNvPr id="2" name="">
            <a:extLst xmlns:a="http://schemas.openxmlformats.org/drawingml/2006/main">
              <a:ext uri="{FF2B5EF4-FFF2-40B4-BE49-F238E27FC236}">
                <a16:creationId xmlns:a16="http://schemas.microsoft.com/office/drawing/2014/main" id="{FA58CAD1-9469-406C-AD0E-CB6228C81CB4}"/>
              </a:ext>
            </a:extLst>
          </p:cNvPr>
          <p:cNvPicPr>
            <a:picLocks xmlns:a="http://schemas.openxmlformats.org/drawingml/2006/main" noChangeAspect="1"/>
          </p:cNvPicPr>
          <p:nvPr/>
        </p:nvPicPr>
        <p:blipFill>
          <a:blip xmlns:r="http://schemas.openxmlformats.org/officeDocument/2006/relationships" xmlns:a="http://schemas.openxmlformats.org/drawingml/2006/main" r:embed="Re9d7b9e5a9b4442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27A14D-9541-41E8-A760-0DBEFDEF58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16/24</a:t>
            </a:r>
          </a:p>
        </p:txBody>
      </p:sp>
      <p:sp>
        <p:nvSpPr>
          <p:cNvPr id="4" name="">
            <a:extLst xmlns:a="http://schemas.openxmlformats.org/drawingml/2006/main">
              <a:ext uri="{FF2B5EF4-FFF2-40B4-BE49-F238E27FC236}">
                <a16:creationId xmlns:a16="http://schemas.microsoft.com/office/drawing/2014/main" id="{EBF13A50-2DFC-4F04-9D7C-EB393CE2E1C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Ejecuta c05_pwm con LED y resistencia; reconoce pin, canal, frecuencia y resolución.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Selecciona códigos 0, 64, 128, 192 y 255. Predice sus fracciones de mando.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Si hay analizador lógico u osciloscopio, mide periodo y tiempo activo; conserva la configuración.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En el proyecto 4, prueba un bit cada vez y dibuja su relación con las salidas.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Compara cambiar frecuencia del buzzer con cambiar duty del LED.</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Conserva una tabla que diferencie mando calculado, señal observada y efecto visible.</a:t>
            </a:r>
          </a:p>
        </p:txBody>
      </p:sp>
    </p:spTree>
    <p:extLst>
      <p:ext uri="{BB962C8B-B14F-4D97-AF65-F5344CB8AC3E}">
        <p14:creationId xmlns:p14="http://schemas.microsoft.com/office/powerpoint/2010/main" val="1103786504"/>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3A11C5-A8F6-4A3B-885E-235765C0883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se transfiere la idea a un UAV</a:t>
            </a:r>
          </a:p>
        </p:txBody>
      </p:sp>
      <p:pic>
        <p:nvPicPr>
          <p:cNvPr id="2" name="">
            <a:extLst xmlns:a="http://schemas.openxmlformats.org/drawingml/2006/main">
              <a:ext uri="{FF2B5EF4-FFF2-40B4-BE49-F238E27FC236}">
                <a16:creationId xmlns:a16="http://schemas.microsoft.com/office/drawing/2014/main" id="{2C089718-9DCF-4CA0-81E5-E05C5452124F}"/>
              </a:ext>
            </a:extLst>
          </p:cNvPr>
          <p:cNvPicPr>
            <a:picLocks xmlns:a="http://schemas.openxmlformats.org/drawingml/2006/main" noChangeAspect="1"/>
          </p:cNvPicPr>
          <p:nvPr/>
        </p:nvPicPr>
        <p:blipFill>
          <a:blip xmlns:r="http://schemas.openxmlformats.org/officeDocument/2006/relationships" xmlns:a="http://schemas.openxmlformats.org/drawingml/2006/main" r:embed="R8ec5a88d92de4d6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3C874C-E7DF-4BB7-AA9F-CFF6DB9E151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17/24</a:t>
            </a:r>
          </a:p>
        </p:txBody>
      </p:sp>
      <p:sp>
        <p:nvSpPr>
          <p:cNvPr id="4" name="">
            <a:extLst xmlns:a="http://schemas.openxmlformats.org/drawingml/2006/main">
              <a:ext uri="{FF2B5EF4-FFF2-40B4-BE49-F238E27FC236}">
                <a16:creationId xmlns:a16="http://schemas.microsoft.com/office/drawing/2014/main" id="{8EB15C39-2C40-4939-BA39-8F47F36E25C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una aeronave conviven interfaces digitales con significados distintos. Una orden hacia un servo, un controlador de motor y una cadena de LEDs no se interpreta del mismo modo. Compartir el término PWM no hace intercambiables sus frecuencias, anchos de pulso ni etapas de potencia. El aprendizaje del curso es leer qué espera el dispositivo receptor y comprobar la señal generada antes de integrarlo. No se usa el pin como sustituto de un ESC.</a:t>
            </a:r>
          </a:p>
        </p:txBody>
      </p:sp>
    </p:spTree>
    <p:extLst>
      <p:ext uri="{BB962C8B-B14F-4D97-AF65-F5344CB8AC3E}">
        <p14:creationId xmlns:p14="http://schemas.microsoft.com/office/powerpoint/2010/main" val="1582824816"/>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970696-F073-411D-8EFB-448E8FC7E61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veremos después</a:t>
            </a:r>
          </a:p>
        </p:txBody>
      </p:sp>
      <p:pic>
        <p:nvPicPr>
          <p:cNvPr id="2" name="">
            <a:extLst xmlns:a="http://schemas.openxmlformats.org/drawingml/2006/main">
              <a:ext uri="{FF2B5EF4-FFF2-40B4-BE49-F238E27FC236}">
                <a16:creationId xmlns:a16="http://schemas.microsoft.com/office/drawing/2014/main" id="{FC249921-3CDD-4566-839A-6DBFF8FA73B2}"/>
              </a:ext>
            </a:extLst>
          </p:cNvPr>
          <p:cNvPicPr>
            <a:picLocks xmlns:a="http://schemas.openxmlformats.org/drawingml/2006/main" noChangeAspect="1"/>
          </p:cNvPicPr>
          <p:nvPr/>
        </p:nvPicPr>
        <p:blipFill>
          <a:blip xmlns:r="http://schemas.openxmlformats.org/officeDocument/2006/relationships" xmlns:a="http://schemas.openxmlformats.org/drawingml/2006/main" r:embed="R897938c5a9f3491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BB47E4-DBF7-4228-A90B-AB7B2B169A9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18/24</a:t>
            </a:r>
          </a:p>
        </p:txBody>
      </p:sp>
      <p:graphicFrame>
        <p:nvGraphicFramePr>
          <p:cNvPr id="4" name="">
            <a:extLst xmlns:a="http://schemas.openxmlformats.org/drawingml/2006/main">
              <a:ext uri="{FF2B5EF4-FFF2-40B4-BE49-F238E27FC236}">
                <a16:creationId xmlns:a16="http://schemas.microsoft.com/office/drawing/2014/main" id="{AA54F6E0-D8B5-4EB9-8F55-23B2B34AEC76}"/>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Dispositivo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Dato relevante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LED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Duty del efecto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Periodo y estado</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Servo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Ancho de pulso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Intervalo permitido</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Driver DC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Entrada de mando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Potencia y respuesta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293402653"/>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009B92-A450-4CAF-902F-425CB269237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Cómo se transfiere la idea a un UAV</a:t>
            </a:r>
          </a:p>
        </p:txBody>
      </p:sp>
      <p:pic>
        <p:nvPicPr>
          <p:cNvPr id="2" name="">
            <a:extLst xmlns:a="http://schemas.openxmlformats.org/drawingml/2006/main">
              <a:ext uri="{FF2B5EF4-FFF2-40B4-BE49-F238E27FC236}">
                <a16:creationId xmlns:a16="http://schemas.microsoft.com/office/drawing/2014/main" id="{58B860F8-752C-456A-9854-77CF7D99EBD8}"/>
              </a:ext>
            </a:extLst>
          </p:cNvPr>
          <p:cNvPicPr>
            <a:picLocks xmlns:a="http://schemas.openxmlformats.org/drawingml/2006/main" noChangeAspect="1"/>
          </p:cNvPicPr>
          <p:nvPr/>
        </p:nvPicPr>
        <p:blipFill>
          <a:blip xmlns:r="http://schemas.openxmlformats.org/officeDocument/2006/relationships" xmlns:a="http://schemas.openxmlformats.org/drawingml/2006/main" r:embed="R03d1c9abe6414ec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40809A-6ACB-4495-8017-3DA9158A4D0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19/24</a:t>
            </a:r>
          </a:p>
        </p:txBody>
      </p:sp>
      <p:sp>
        <p:nvSpPr>
          <p:cNvPr id="4" name="">
            <a:extLst xmlns:a="http://schemas.openxmlformats.org/drawingml/2006/main">
              <a:ext uri="{FF2B5EF4-FFF2-40B4-BE49-F238E27FC236}">
                <a16:creationId xmlns:a16="http://schemas.microsoft.com/office/drawing/2014/main" id="{17F7E141-B182-4525-BBDB-54CB72B34DE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Investiga en la hoja del SN74HC595 la diferencia entre registro de desplazamiento y registro de salida. Busca además sus condiciones de alimentación y de corriente. Compara la comunicación DATA/CLOCK/LATCH con un bus SPI de propósito general: ambos son síncronos, pero la función del dispositivo y el protocolo concreto siguen importando. Presenta una semejanza y una diferencia útiles para cablear.</a:t>
            </a:r>
          </a:p>
        </p:txBody>
      </p:sp>
    </p:spTree>
    <p:extLst>
      <p:ext uri="{BB962C8B-B14F-4D97-AF65-F5344CB8AC3E}">
        <p14:creationId xmlns:p14="http://schemas.microsoft.com/office/powerpoint/2010/main" val="208228998"/>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ED927C-FF8A-4CA3-BB76-9A2DFA0E475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4D4F51E3-4507-4A72-9E38-6B03FB51245F}"/>
              </a:ext>
            </a:extLst>
          </p:cNvPr>
          <p:cNvPicPr>
            <a:picLocks xmlns:a="http://schemas.openxmlformats.org/drawingml/2006/main" noChangeAspect="1"/>
          </p:cNvPicPr>
          <p:nvPr/>
        </p:nvPicPr>
        <p:blipFill>
          <a:blip xmlns:r="http://schemas.openxmlformats.org/officeDocument/2006/relationships" xmlns:a="http://schemas.openxmlformats.org/drawingml/2006/main" r:embed="Rd980cb13b41d47e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B9028A2-81B3-4C77-992B-E1475FC5874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20/24</a:t>
            </a:r>
          </a:p>
        </p:txBody>
      </p:sp>
      <p:sp>
        <p:nvSpPr>
          <p:cNvPr id="4" name="">
            <a:extLst xmlns:a="http://schemas.openxmlformats.org/drawingml/2006/main">
              <a:ext uri="{FF2B5EF4-FFF2-40B4-BE49-F238E27FC236}">
                <a16:creationId xmlns:a16="http://schemas.microsoft.com/office/drawing/2014/main" id="{F70C2602-B3E1-47DE-9077-C775D316217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una onda digital antes de hablar de brillo o velocidad.</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Resolver periodo y duty con unidades.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Comprobar c05_pwm y una palabra del registro 74HC595.</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Contrastar LED, buzzer y futuro servo como interfaces diferentes.</a:t>
            </a:r>
          </a:p>
        </p:txBody>
      </p:sp>
    </p:spTree>
    <p:extLst>
      <p:ext uri="{BB962C8B-B14F-4D97-AF65-F5344CB8AC3E}">
        <p14:creationId xmlns:p14="http://schemas.microsoft.com/office/powerpoint/2010/main" val="243491367"/>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EAF3FC-31C0-4F5A-A3D5-9DB57F6CEB8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910D850D-3BB7-494E-B9BB-252922108710}"/>
              </a:ext>
            </a:extLst>
          </p:cNvPr>
          <p:cNvPicPr>
            <a:picLocks xmlns:a="http://schemas.openxmlformats.org/drawingml/2006/main" noChangeAspect="1"/>
          </p:cNvPicPr>
          <p:nvPr/>
        </p:nvPicPr>
        <p:blipFill>
          <a:blip xmlns:r="http://schemas.openxmlformats.org/officeDocument/2006/relationships" xmlns:a="http://schemas.openxmlformats.org/drawingml/2006/main" r:embed="Ra6fb5756a67144a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5381FAD-1203-427E-88AE-C7543915459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21/24</a:t>
            </a:r>
          </a:p>
        </p:txBody>
      </p:sp>
      <p:sp>
        <p:nvSpPr>
          <p:cNvPr id="4" name="">
            <a:extLst xmlns:a="http://schemas.openxmlformats.org/drawingml/2006/main">
              <a:ext uri="{FF2B5EF4-FFF2-40B4-BE49-F238E27FC236}">
                <a16:creationId xmlns:a16="http://schemas.microsoft.com/office/drawing/2014/main" id="{B3313053-C9CE-46B5-8266-7CD61703CA7E}"/>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orden del controlador puede representar brillo, un aviso o una consigna para otra etapa; el significado depende de la interfaz.</a:t>
            </a:r>
          </a:p>
        </p:txBody>
      </p:sp>
      <p:sp>
        <p:nvSpPr>
          <p:cNvPr id="5" name="">
            <a:extLst xmlns:a="http://schemas.openxmlformats.org/drawingml/2006/main">
              <a:ext uri="{FF2B5EF4-FFF2-40B4-BE49-F238E27FC236}">
                <a16:creationId xmlns:a16="http://schemas.microsoft.com/office/drawing/2014/main" id="{91786CA8-C2BD-42AF-A0F3-ABBC896AB253}"/>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235871769"/>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3E913F-AF37-4F48-B2F0-071DBDE6649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83E498F5-2DAF-48F7-A7FD-E84C21F592CA}"/>
              </a:ext>
            </a:extLst>
          </p:cNvPr>
          <p:cNvPicPr>
            <a:picLocks xmlns:a="http://schemas.openxmlformats.org/drawingml/2006/main" noChangeAspect="1"/>
          </p:cNvPicPr>
          <p:nvPr/>
        </p:nvPicPr>
        <p:blipFill>
          <a:blip xmlns:r="http://schemas.openxmlformats.org/officeDocument/2006/relationships" xmlns:a="http://schemas.openxmlformats.org/drawingml/2006/main" r:embed="Re2e9392cf43f449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403436-6551-4B48-B7AE-8521797C85A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22/24</a:t>
            </a:r>
          </a:p>
        </p:txBody>
      </p:sp>
      <p:sp>
        <p:nvSpPr>
          <p:cNvPr id="4" name="">
            <a:extLst xmlns:a="http://schemas.openxmlformats.org/drawingml/2006/main">
              <a:ext uri="{FF2B5EF4-FFF2-40B4-BE49-F238E27FC236}">
                <a16:creationId xmlns:a16="http://schemas.microsoft.com/office/drawing/2014/main" id="{344E3375-C151-4682-A7B7-05AB6A57002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¿50% de duty equivale a 1,65 V constantes en el pin?</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¿Pin y canal son lo mismo?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¿shiftOut() prueba uso del SPI de hardware?</a:t>
            </a:r>
          </a:p>
        </p:txBody>
      </p:sp>
    </p:spTree>
    <p:extLst>
      <p:ext uri="{BB962C8B-B14F-4D97-AF65-F5344CB8AC3E}">
        <p14:creationId xmlns:p14="http://schemas.microsoft.com/office/powerpoint/2010/main" val="1246005396"/>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9ED7F1-59EF-410E-A4DA-4E103242C05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4092F86B-79D9-4DF9-8D82-8F37791BFEBF}"/>
              </a:ext>
            </a:extLst>
          </p:cNvPr>
          <p:cNvPicPr>
            <a:picLocks xmlns:a="http://schemas.openxmlformats.org/drawingml/2006/main" noChangeAspect="1"/>
          </p:cNvPicPr>
          <p:nvPr/>
        </p:nvPicPr>
        <p:blipFill>
          <a:blip xmlns:r="http://schemas.openxmlformats.org/officeDocument/2006/relationships" xmlns:a="http://schemas.openxmlformats.org/drawingml/2006/main" r:embed="R2baec062d3584a8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EFA890-A0A9-482E-83E4-B345F7D1D06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05   23/24</a:t>
            </a:r>
          </a:p>
        </p:txBody>
      </p:sp>
      <p:sp>
        <p:nvSpPr>
          <p:cNvPr id="4" name="">
            <a:extLst xmlns:a="http://schemas.openxmlformats.org/drawingml/2006/main">
              <a:ext uri="{FF2B5EF4-FFF2-40B4-BE49-F238E27FC236}">
                <a16:creationId xmlns:a16="http://schemas.microsoft.com/office/drawing/2014/main" id="{AE836EE6-E11D-484A-8BD4-1A654695F18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el pin alterna niveles; una magnitud media depende del circuito y de la medida.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La API y la capa de compatibilidad deben conservar la correspondencia.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genera una secuencia por software para la función definida.</a:t>
            </a:r>
          </a:p>
        </p:txBody>
      </p:sp>
    </p:spTree>
    <p:extLst>
      <p:ext uri="{BB962C8B-B14F-4D97-AF65-F5344CB8AC3E}">
        <p14:creationId xmlns:p14="http://schemas.microsoft.com/office/powerpoint/2010/main" val="1653313612"/>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B555D3-7C51-45F7-A3FD-5C4826DF995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CC2E3473-66F3-4591-B7F4-800C4DA1BAC1}"/>
              </a:ext>
            </a:extLst>
          </p:cNvPr>
          <p:cNvPicPr>
            <a:picLocks xmlns:a="http://schemas.openxmlformats.org/drawingml/2006/main" noChangeAspect="1"/>
          </p:cNvPicPr>
          <p:nvPr/>
        </p:nvPicPr>
        <p:blipFill>
          <a:blip xmlns:r="http://schemas.openxmlformats.org/officeDocument/2006/relationships" xmlns:a="http://schemas.openxmlformats.org/drawingml/2006/main" r:embed="R8c9fa69c756d4d7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11EEFAF-D64B-4145-AA0B-3341D690A68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05   24/24</a:t>
            </a:r>
          </a:p>
        </p:txBody>
      </p:sp>
      <p:sp>
        <p:nvSpPr>
          <p:cNvPr id="4" name="">
            <a:extLst xmlns:a="http://schemas.openxmlformats.org/drawingml/2006/main">
              <a:ext uri="{FF2B5EF4-FFF2-40B4-BE49-F238E27FC236}">
                <a16:creationId xmlns:a16="http://schemas.microsoft.com/office/drawing/2014/main" id="{1DF6FBD2-5F6B-4DB9-BE10-03F7F404A38F}"/>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Tabla de señales PWM y correspondencia de bits del proyecto 4.</a:t>
            </a:r>
          </a:p>
        </p:txBody>
      </p:sp>
      <p:sp>
        <p:nvSpPr>
          <p:cNvPr id="5" name="">
            <a:extLst xmlns:a="http://schemas.openxmlformats.org/drawingml/2006/main">
              <a:ext uri="{FF2B5EF4-FFF2-40B4-BE49-F238E27FC236}">
                <a16:creationId xmlns:a16="http://schemas.microsoft.com/office/drawing/2014/main" id="{5C14E6D9-2CCB-4F8F-8C14-FD2DA6728C83}"/>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352503675"/>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E8A5BD-D525-45C9-B4EA-F0585A49432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Sensores digitales, I2C y pantallas: un dato con identidad</a:t>
            </a:r>
          </a:p>
        </p:txBody>
      </p:sp>
      <p:pic>
        <p:nvPicPr>
          <p:cNvPr id="2" name="">
            <a:extLst xmlns:a="http://schemas.openxmlformats.org/drawingml/2006/main">
              <a:ext uri="{FF2B5EF4-FFF2-40B4-BE49-F238E27FC236}">
                <a16:creationId xmlns:a16="http://schemas.microsoft.com/office/drawing/2014/main" id="{0AF3CEE6-1C54-4B02-B2A6-01BE2A649B6C}"/>
              </a:ext>
            </a:extLst>
          </p:cNvPr>
          <p:cNvPicPr>
            <a:picLocks xmlns:a="http://schemas.openxmlformats.org/drawingml/2006/main" noChangeAspect="1"/>
          </p:cNvPicPr>
          <p:nvPr/>
        </p:nvPicPr>
        <p:blipFill>
          <a:blip xmlns:r="http://schemas.openxmlformats.org/officeDocument/2006/relationships" xmlns:a="http://schemas.openxmlformats.org/drawingml/2006/main" r:embed="Ra6325b17d02f437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2302C0-1946-407A-AFC0-57213C8A6EC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01/24</a:t>
            </a:r>
          </a:p>
        </p:txBody>
      </p:sp>
      <p:sp>
        <p:nvSpPr>
          <p:cNvPr id="4" name="">
            <a:extLst xmlns:a="http://schemas.openxmlformats.org/drawingml/2006/main">
              <a:ext uri="{FF2B5EF4-FFF2-40B4-BE49-F238E27FC236}">
                <a16:creationId xmlns:a16="http://schemas.microsoft.com/office/drawing/2014/main" id="{23BC19D1-D8B0-4FF8-A85E-74C830E0B70F}"/>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Leer y presentar una variable conservando unidad, instante, estado de la lectura y dirección del dispositivo.</a:t>
            </a:r>
          </a:p>
        </p:txBody>
      </p:sp>
      <p:sp>
        <p:nvSpPr>
          <p:cNvPr id="5" name="">
            <a:extLst xmlns:a="http://schemas.openxmlformats.org/drawingml/2006/main">
              <a:ext uri="{FF2B5EF4-FFF2-40B4-BE49-F238E27FC236}">
                <a16:creationId xmlns:a16="http://schemas.microsoft.com/office/drawing/2014/main" id="{F6AA33C9-C428-49EF-89DE-BE7447E3B840}"/>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instrumentación de drones necesita saber qué sensor produjo cada dato y si sigue siendo utilizable.</a:t>
            </a:r>
          </a:p>
        </p:txBody>
      </p:sp>
      <p:sp>
        <p:nvSpPr>
          <p:cNvPr id="6" name="">
            <a:extLst xmlns:a="http://schemas.openxmlformats.org/drawingml/2006/main">
              <a:ext uri="{FF2B5EF4-FFF2-40B4-BE49-F238E27FC236}">
                <a16:creationId xmlns:a16="http://schemas.microsoft.com/office/drawing/2014/main" id="{C685D180-C474-4A8C-BBED-09F496A6EBE9}"/>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326878921"/>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A71F7B-9E8E-44FF-BA70-DDD19BCF12F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valor no viaja solo</a:t>
            </a:r>
          </a:p>
        </p:txBody>
      </p:sp>
      <p:pic>
        <p:nvPicPr>
          <p:cNvPr id="2" name="">
            <a:extLst xmlns:a="http://schemas.openxmlformats.org/drawingml/2006/main">
              <a:ext uri="{FF2B5EF4-FFF2-40B4-BE49-F238E27FC236}">
                <a16:creationId xmlns:a16="http://schemas.microsoft.com/office/drawing/2014/main" id="{91525FA5-1ACA-499A-81BD-8E9F3CC414E0}"/>
              </a:ext>
            </a:extLst>
          </p:cNvPr>
          <p:cNvPicPr>
            <a:picLocks xmlns:a="http://schemas.openxmlformats.org/drawingml/2006/main" noChangeAspect="1"/>
          </p:cNvPicPr>
          <p:nvPr/>
        </p:nvPicPr>
        <p:blipFill>
          <a:blip xmlns:r="http://schemas.openxmlformats.org/officeDocument/2006/relationships" xmlns:a="http://schemas.openxmlformats.org/drawingml/2006/main" r:embed="R21b4e042f216466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E405E9-B40C-4ABC-9A59-507626C1F23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02/24</a:t>
            </a:r>
          </a:p>
        </p:txBody>
      </p:sp>
      <p:sp>
        <p:nvSpPr>
          <p:cNvPr id="4" name="">
            <a:extLst xmlns:a="http://schemas.openxmlformats.org/drawingml/2006/main">
              <a:ext uri="{FF2B5EF4-FFF2-40B4-BE49-F238E27FC236}">
                <a16:creationId xmlns:a16="http://schemas.microsoft.com/office/drawing/2014/main" id="{FE8371EF-0C7D-482A-9731-D7704982849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lectura de temperatura necesita unidad, instante y origen. El número 24 puede significar grados Celsius, un código de conversión o un valor anterior que quedó en la pantalla. El proyecto de estación de clima permite comenzar con esa distinción. El sensor adquiere; el programa interpreta; la pantalla presenta. Una actualización de pantalla no demuestra que haya ocurrido una adquisición nueva.</a:t>
            </a:r>
          </a:p>
        </p:txBody>
      </p:sp>
    </p:spTree>
    <p:extLst>
      <p:ext uri="{BB962C8B-B14F-4D97-AF65-F5344CB8AC3E}">
        <p14:creationId xmlns:p14="http://schemas.microsoft.com/office/powerpoint/2010/main" val="445282617"/>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C52F65-2F34-48B9-81AC-58101DE9141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valor no viaja solo</a:t>
            </a:r>
          </a:p>
        </p:txBody>
      </p:sp>
      <p:pic>
        <p:nvPicPr>
          <p:cNvPr id="2" name="">
            <a:extLst xmlns:a="http://schemas.openxmlformats.org/drawingml/2006/main">
              <a:ext uri="{FF2B5EF4-FFF2-40B4-BE49-F238E27FC236}">
                <a16:creationId xmlns:a16="http://schemas.microsoft.com/office/drawing/2014/main" id="{CCC83953-2700-46E6-A896-AD29E96913FB}"/>
              </a:ext>
            </a:extLst>
          </p:cNvPr>
          <p:cNvPicPr>
            <a:picLocks xmlns:a="http://schemas.openxmlformats.org/drawingml/2006/main" noChangeAspect="1"/>
          </p:cNvPicPr>
          <p:nvPr/>
        </p:nvPicPr>
        <p:blipFill>
          <a:blip xmlns:r="http://schemas.openxmlformats.org/officeDocument/2006/relationships" xmlns:a="http://schemas.openxmlformats.org/drawingml/2006/main" r:embed="Re4192239f652435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8452A7-8E0C-41D2-8E36-93AB4DDF97C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03/24</a:t>
            </a:r>
          </a:p>
        </p:txBody>
      </p:sp>
      <p:pic>
        <p:nvPicPr>
          <p:cNvPr id="4" name="">
            <a:extLst xmlns:a="http://schemas.openxmlformats.org/drawingml/2006/main">
              <a:ext uri="{FF2B5EF4-FFF2-40B4-BE49-F238E27FC236}">
                <a16:creationId xmlns:a16="http://schemas.microsoft.com/office/drawing/2014/main" id="{8540E4E6-13BE-4D09-AD8E-00B100B9B1BE}"/>
              </a:ext>
            </a:extLst>
          </p:cNvPr>
          <p:cNvPicPr>
            <a:picLocks xmlns:a="http://schemas.openxmlformats.org/drawingml/2006/main" noChangeAspect="1"/>
          </p:cNvPicPr>
          <p:nvPr/>
        </p:nvPicPr>
        <p:blipFill>
          <a:blip xmlns:r="http://schemas.openxmlformats.org/officeDocument/2006/relationships" xmlns:a="http://schemas.openxmlformats.org/drawingml/2006/main" r:embed="Ra54cc8449b5e48ea"/>
          <a:stretch xmlns:a="http://schemas.openxmlformats.org/drawingml/2006/main"/>
        </p:blipFill>
        <p:spPr>
          <a:xfrm xmlns:a="http://schemas.openxmlformats.org/drawingml/2006/main">
            <a:off x="2544464" y="1638300"/>
            <a:ext cx="3502621"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507268B-BE7F-4DC5-9232-F772D5A0C491}"/>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¿Qué interfaz usa cada componente? No todos los sensores son I2C.</a:t>
            </a:r>
          </a:p>
        </p:txBody>
      </p:sp>
      <p:sp>
        <p:nvSpPr>
          <p:cNvPr id="6" name="">
            <a:extLst xmlns:a="http://schemas.openxmlformats.org/drawingml/2006/main">
              <a:ext uri="{FF2B5EF4-FFF2-40B4-BE49-F238E27FC236}">
                <a16:creationId xmlns:a16="http://schemas.microsoft.com/office/drawing/2014/main" id="{9B675F49-7DD1-4264-87BE-AAE963281D83}"/>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07.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337716795"/>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E3EB80-8E95-41EA-857F-1DA1AD4E4D7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El valor no viaja solo</a:t>
            </a:r>
          </a:p>
        </p:txBody>
      </p:sp>
      <p:pic>
        <p:nvPicPr>
          <p:cNvPr id="2" name="">
            <a:extLst xmlns:a="http://schemas.openxmlformats.org/drawingml/2006/main">
              <a:ext uri="{FF2B5EF4-FFF2-40B4-BE49-F238E27FC236}">
                <a16:creationId xmlns:a16="http://schemas.microsoft.com/office/drawing/2014/main" id="{860FC101-285F-4EF9-8503-AD5498E86718}"/>
              </a:ext>
            </a:extLst>
          </p:cNvPr>
          <p:cNvPicPr>
            <a:picLocks xmlns:a="http://schemas.openxmlformats.org/drawingml/2006/main" noChangeAspect="1"/>
          </p:cNvPicPr>
          <p:nvPr/>
        </p:nvPicPr>
        <p:blipFill>
          <a:blip xmlns:r="http://schemas.openxmlformats.org/officeDocument/2006/relationships" xmlns:a="http://schemas.openxmlformats.org/drawingml/2006/main" r:embed="R632edaf029b142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7B48D6-3D08-4C44-846D-843133EF95A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04/24</a:t>
            </a:r>
          </a:p>
        </p:txBody>
      </p:sp>
      <p:sp>
        <p:nvSpPr>
          <p:cNvPr id="4" name="">
            <a:extLst xmlns:a="http://schemas.openxmlformats.org/drawingml/2006/main">
              <a:ext uri="{FF2B5EF4-FFF2-40B4-BE49-F238E27FC236}">
                <a16:creationId xmlns:a16="http://schemas.microsoft.com/office/drawing/2014/main" id="{EBD3D150-92BB-4B79-8718-51F9CCBE4CF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Separar tareas ayuda a organizarlas a velocidades distintas. Un sensor lento puede actualizarse cada cierto intervalo mientras la interfaz responde a un botón más a menudo. La última lectura se almacena junto a un indicador de validez y su tiempo. Cuando falla la adquisición, la aplicación puede mostrar FALLO o una lectura anterior con su antigüedad. Reemplazar todo error por cero confunde una ausencia de dato con una medida legítima.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estación de clima del laboratorio usa un sensor DHT y una pantalla OLED. El sensor DHT no se convierte en I2C por compartir una placa con la pantalla. Cada conexión sigue su propio protocolo. Más adelante, la IMU sí compartirá I2C con una pantalla si direcciones y condiciones eléctricas son compatibles.</a:t>
            </a:r>
          </a:p>
        </p:txBody>
      </p:sp>
    </p:spTree>
    <p:extLst>
      <p:ext uri="{BB962C8B-B14F-4D97-AF65-F5344CB8AC3E}">
        <p14:creationId xmlns:p14="http://schemas.microsoft.com/office/powerpoint/2010/main" val="1528311466"/>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7CAC6B-0ED8-45D4-9D93-4D5F49DA7E0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ofrece un bus I2C</a:t>
            </a:r>
          </a:p>
        </p:txBody>
      </p:sp>
      <p:pic>
        <p:nvPicPr>
          <p:cNvPr id="2" name="">
            <a:extLst xmlns:a="http://schemas.openxmlformats.org/drawingml/2006/main">
              <a:ext uri="{FF2B5EF4-FFF2-40B4-BE49-F238E27FC236}">
                <a16:creationId xmlns:a16="http://schemas.microsoft.com/office/drawing/2014/main" id="{412820F7-6D8B-49E0-B305-0A213A0487BD}"/>
              </a:ext>
            </a:extLst>
          </p:cNvPr>
          <p:cNvPicPr>
            <a:picLocks xmlns:a="http://schemas.openxmlformats.org/drawingml/2006/main" noChangeAspect="1"/>
          </p:cNvPicPr>
          <p:nvPr/>
        </p:nvPicPr>
        <p:blipFill>
          <a:blip xmlns:r="http://schemas.openxmlformats.org/officeDocument/2006/relationships" xmlns:a="http://schemas.openxmlformats.org/drawingml/2006/main" r:embed="R3aec820d6c254f4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6E9F547-9D81-49F2-9669-45CA9F0C0E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05/24</a:t>
            </a:r>
          </a:p>
        </p:txBody>
      </p:sp>
      <p:sp>
        <p:nvSpPr>
          <p:cNvPr id="4" name="">
            <a:extLst xmlns:a="http://schemas.openxmlformats.org/drawingml/2006/main">
              <a:ext uri="{FF2B5EF4-FFF2-40B4-BE49-F238E27FC236}">
                <a16:creationId xmlns:a16="http://schemas.microsoft.com/office/drawing/2014/main" id="{08214AD9-98E9-421E-9A94-67A81687BEA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I2C utiliza una línea de datos y una de reloj con dispositivos identificados mediante dirección. En el perfil clásico de las prácticas usamos SDA21 y SCL22, cuando ese montaje lo permita. Esas conexiones sustituyen el semáforo que usaba algunos de los mismos pines: los ejercicios son configuraciones diferentes, no un único circuito acumulado de manera automática. La dirección se comprueba con el dispositivo real y con su biblioteca.</a:t>
            </a:r>
          </a:p>
        </p:txBody>
      </p:sp>
    </p:spTree>
    <p:extLst>
      <p:ext uri="{BB962C8B-B14F-4D97-AF65-F5344CB8AC3E}">
        <p14:creationId xmlns:p14="http://schemas.microsoft.com/office/powerpoint/2010/main" val="472000421"/>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D5708E-C552-46DD-A7E4-8165F5D2B2C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comunicaciones del banco</a:t>
            </a:r>
          </a:p>
        </p:txBody>
      </p:sp>
      <p:pic>
        <p:nvPicPr>
          <p:cNvPr id="2" name="">
            <a:extLst xmlns:a="http://schemas.openxmlformats.org/drawingml/2006/main">
              <a:ext uri="{FF2B5EF4-FFF2-40B4-BE49-F238E27FC236}">
                <a16:creationId xmlns:a16="http://schemas.microsoft.com/office/drawing/2014/main" id="{90557F9A-FA6C-4968-BEE6-E9AEC64D59DE}"/>
              </a:ext>
            </a:extLst>
          </p:cNvPr>
          <p:cNvPicPr>
            <a:picLocks xmlns:a="http://schemas.openxmlformats.org/drawingml/2006/main" noChangeAspect="1"/>
          </p:cNvPicPr>
          <p:nvPr/>
        </p:nvPicPr>
        <p:blipFill>
          <a:blip xmlns:r="http://schemas.openxmlformats.org/officeDocument/2006/relationships" xmlns:a="http://schemas.openxmlformats.org/drawingml/2006/main" r:embed="R678df41acf47424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A488BD7-2FE3-48C1-A6F7-8E6B218AC3C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06/24</a:t>
            </a:r>
          </a:p>
        </p:txBody>
      </p:sp>
      <p:graphicFrame>
        <p:nvGraphicFramePr>
          <p:cNvPr id="4" name="">
            <a:extLst xmlns:a="http://schemas.openxmlformats.org/drawingml/2006/main">
              <a:ext uri="{FF2B5EF4-FFF2-40B4-BE49-F238E27FC236}">
                <a16:creationId xmlns:a16="http://schemas.microsoft.com/office/drawing/2014/main" id="{17BA41B2-F52F-4DDC-817E-2FFE2A4AD76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Interfaz</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Organización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Ejemplo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UART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Flujo de bytes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Monitor serie</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I2C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Bus con direcciones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OLED y MPU6050</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DHT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Señal y temporización propias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Temperatura y humedad</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036686837"/>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1D9BBE-31F7-4B18-AB8A-F00974F5909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Dos dispositivos, una dirección</a:t>
            </a:r>
          </a:p>
        </p:txBody>
      </p:sp>
      <p:pic>
        <p:nvPicPr>
          <p:cNvPr id="2" name="">
            <a:extLst xmlns:a="http://schemas.openxmlformats.org/drawingml/2006/main">
              <a:ext uri="{FF2B5EF4-FFF2-40B4-BE49-F238E27FC236}">
                <a16:creationId xmlns:a16="http://schemas.microsoft.com/office/drawing/2014/main" id="{CA808944-788D-41C2-BEBC-001B916B96CA}"/>
              </a:ext>
            </a:extLst>
          </p:cNvPr>
          <p:cNvPicPr>
            <a:picLocks xmlns:a="http://schemas.openxmlformats.org/drawingml/2006/main" noChangeAspect="1"/>
          </p:cNvPicPr>
          <p:nvPr/>
        </p:nvPicPr>
        <p:blipFill>
          <a:blip xmlns:r="http://schemas.openxmlformats.org/officeDocument/2006/relationships" xmlns:a="http://schemas.openxmlformats.org/drawingml/2006/main" r:embed="Ra33e9a06a5bd46e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3A54A1-D330-4270-AD86-B004CFBCBC0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07/24</a:t>
            </a:r>
          </a:p>
        </p:txBody>
      </p:sp>
      <p:sp>
        <p:nvSpPr>
          <p:cNvPr id="4" name="">
            <a:extLst xmlns:a="http://schemas.openxmlformats.org/drawingml/2006/main">
              <a:ext uri="{FF2B5EF4-FFF2-40B4-BE49-F238E27FC236}">
                <a16:creationId xmlns:a16="http://schemas.microsoft.com/office/drawing/2014/main" id="{D4D0C759-3887-46E3-9064-03CD4CFEC339}"/>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Dos módulos responden con la misma dirección fija. ¿Basta conectar ambos en paralelo y darles nombres distintos en C++?</a:t>
            </a:r>
          </a:p>
        </p:txBody>
      </p:sp>
      <p:sp>
        <p:nvSpPr>
          <p:cNvPr id="5" name="">
            <a:extLst xmlns:a="http://schemas.openxmlformats.org/drawingml/2006/main">
              <a:ext uri="{FF2B5EF4-FFF2-40B4-BE49-F238E27FC236}">
                <a16:creationId xmlns:a16="http://schemas.microsoft.com/office/drawing/2014/main" id="{5C475853-F79E-4815-877D-B9D477A7CD86}"/>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Los nombres del programa no cambian la dirección del bus. Se revisan opciones de dirección o una arquitectura de bus adecuada.</a:t>
            </a:r>
          </a:p>
        </p:txBody>
      </p:sp>
    </p:spTree>
    <p:extLst>
      <p:ext uri="{BB962C8B-B14F-4D97-AF65-F5344CB8AC3E}">
        <p14:creationId xmlns:p14="http://schemas.microsoft.com/office/powerpoint/2010/main" val="1532571124"/>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1FA0D9-8305-484E-AE9F-D4361D1C84F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Validez y antigüedad</a:t>
            </a:r>
          </a:p>
        </p:txBody>
      </p:sp>
      <p:pic>
        <p:nvPicPr>
          <p:cNvPr id="2" name="">
            <a:extLst xmlns:a="http://schemas.openxmlformats.org/drawingml/2006/main">
              <a:ext uri="{FF2B5EF4-FFF2-40B4-BE49-F238E27FC236}">
                <a16:creationId xmlns:a16="http://schemas.microsoft.com/office/drawing/2014/main" id="{7E8AC155-0154-4F79-ACB4-2F57A6F5FB7A}"/>
              </a:ext>
            </a:extLst>
          </p:cNvPr>
          <p:cNvPicPr>
            <a:picLocks xmlns:a="http://schemas.openxmlformats.org/drawingml/2006/main" noChangeAspect="1"/>
          </p:cNvPicPr>
          <p:nvPr/>
        </p:nvPicPr>
        <p:blipFill>
          <a:blip xmlns:r="http://schemas.openxmlformats.org/officeDocument/2006/relationships" xmlns:a="http://schemas.openxmlformats.org/drawingml/2006/main" r:embed="Rb1d22bb90a744b6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CF55B8-1EE1-4851-A525-019251018FD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08/24</a:t>
            </a:r>
          </a:p>
        </p:txBody>
      </p:sp>
      <p:sp>
        <p:nvSpPr>
          <p:cNvPr id="4" name="">
            <a:extLst xmlns:a="http://schemas.openxmlformats.org/drawingml/2006/main">
              <a:ext uri="{FF2B5EF4-FFF2-40B4-BE49-F238E27FC236}">
                <a16:creationId xmlns:a16="http://schemas.microsoft.com/office/drawing/2014/main" id="{26651859-5D11-4A73-BE59-472E88F8343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registro mínimo puede contener valor, unidad, tiempo e indicador válido. Para tratar antigüedad se resta el tiempo de la última adquisición aceptada al tiempo actual. El umbral permitido depende de la misión y de la velocidad del sensor. Un dato ambiental de hace un segundo y uno de orientación de hace un segundo pueden tener utilidades muy diferentes. El curso pide nombrar el criterio de cada uno.</a:t>
            </a:r>
          </a:p>
        </p:txBody>
      </p:sp>
    </p:spTree>
    <p:extLst>
      <p:ext uri="{BB962C8B-B14F-4D97-AF65-F5344CB8AC3E}">
        <p14:creationId xmlns:p14="http://schemas.microsoft.com/office/powerpoint/2010/main" val="2074085689"/>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E9DA4D-6677-416D-BF52-AE849F0C1E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situaciones de presentación</a:t>
            </a:r>
          </a:p>
        </p:txBody>
      </p:sp>
      <p:pic>
        <p:nvPicPr>
          <p:cNvPr id="2" name="">
            <a:extLst xmlns:a="http://schemas.openxmlformats.org/drawingml/2006/main">
              <a:ext uri="{FF2B5EF4-FFF2-40B4-BE49-F238E27FC236}">
                <a16:creationId xmlns:a16="http://schemas.microsoft.com/office/drawing/2014/main" id="{55004501-9D05-46E8-9CAB-0A9DB236B21C}"/>
              </a:ext>
            </a:extLst>
          </p:cNvPr>
          <p:cNvPicPr>
            <a:picLocks xmlns:a="http://schemas.openxmlformats.org/drawingml/2006/main" noChangeAspect="1"/>
          </p:cNvPicPr>
          <p:nvPr/>
        </p:nvPicPr>
        <p:blipFill>
          <a:blip xmlns:r="http://schemas.openxmlformats.org/officeDocument/2006/relationships" xmlns:a="http://schemas.openxmlformats.org/drawingml/2006/main" r:embed="Rd4dbe6754655408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77B3278-143B-4D3C-962D-57D0FB640C5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09/24</a:t>
            </a:r>
          </a:p>
        </p:txBody>
      </p:sp>
      <p:graphicFrame>
        <p:nvGraphicFramePr>
          <p:cNvPr id="4" name="">
            <a:extLst xmlns:a="http://schemas.openxmlformats.org/drawingml/2006/main">
              <a:ext uri="{FF2B5EF4-FFF2-40B4-BE49-F238E27FC236}">
                <a16:creationId xmlns:a16="http://schemas.microsoft.com/office/drawing/2014/main" id="{5A7301AA-C3D0-4C5C-BAFB-61A1B2E7F421}"/>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Entrada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Pantalla útil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Registro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Lectura reciente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Valor y unidad</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Instante nuevo</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Lectura inválida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FALLO o aviso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Estado de error</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Lectura antigua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Valor con edad</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Última adquisición válida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461531631"/>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965975-3A4D-41E8-9152-C76E4C34EE0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Validez y antigüedad</a:t>
            </a:r>
          </a:p>
        </p:txBody>
      </p:sp>
      <p:pic>
        <p:nvPicPr>
          <p:cNvPr id="2" name="">
            <a:extLst xmlns:a="http://schemas.openxmlformats.org/drawingml/2006/main">
              <a:ext uri="{FF2B5EF4-FFF2-40B4-BE49-F238E27FC236}">
                <a16:creationId xmlns:a16="http://schemas.microsoft.com/office/drawing/2014/main" id="{6ACE8021-5076-4C56-AFA0-541BB6B513DE}"/>
              </a:ext>
            </a:extLst>
          </p:cNvPr>
          <p:cNvPicPr>
            <a:picLocks xmlns:a="http://schemas.openxmlformats.org/drawingml/2006/main" noChangeAspect="1"/>
          </p:cNvPicPr>
          <p:nvPr/>
        </p:nvPicPr>
        <p:blipFill>
          <a:blip xmlns:r="http://schemas.openxmlformats.org/officeDocument/2006/relationships" xmlns:a="http://schemas.openxmlformats.org/drawingml/2006/main" r:embed="R513601d9b4b848e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08EDA05-7EDA-4174-A41F-677083B88B7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10/24</a:t>
            </a:r>
          </a:p>
        </p:txBody>
      </p:sp>
      <p:pic>
        <p:nvPicPr>
          <p:cNvPr id="4" name="">
            <a:extLst xmlns:a="http://schemas.openxmlformats.org/drawingml/2006/main">
              <a:ext uri="{FF2B5EF4-FFF2-40B4-BE49-F238E27FC236}">
                <a16:creationId xmlns:a16="http://schemas.microsoft.com/office/drawing/2014/main" id="{A598B946-26D4-4AF5-A823-6AE3ADDA0DD9}"/>
              </a:ext>
            </a:extLst>
          </p:cNvPr>
          <p:cNvPicPr>
            <a:picLocks xmlns:a="http://schemas.openxmlformats.org/drawingml/2006/main" noChangeAspect="1"/>
          </p:cNvPicPr>
          <p:nvPr/>
        </p:nvPicPr>
        <p:blipFill>
          <a:blip xmlns:r="http://schemas.openxmlformats.org/officeDocument/2006/relationships" xmlns:a="http://schemas.openxmlformats.org/drawingml/2006/main" r:embed="R2eacec85b1204cf8"/>
          <a:stretch xmlns:a="http://schemas.openxmlformats.org/drawingml/2006/main"/>
        </p:blipFill>
        <p:spPr>
          <a:xfrm xmlns:a="http://schemas.openxmlformats.org/drawingml/2006/main">
            <a:off x="951329" y="1714500"/>
            <a:ext cx="10289342"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6FE7E43-8B9A-4B9B-8D82-A117ED74DF56}"/>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En bibliotecas que representan una lectura inválida mediante NaN, una comparación numérica corriente puede no comportarse como se espera. Hay que consultar la condición de validez y tratarla antes de decidir una salida. El ejemplo de clima ya contiene una comprobación isnan(); la clase explica para qué sirve y qué debe conservar el resto de la aplicación cuando se activa.</a:t>
            </a:r>
          </a:p>
        </p:txBody>
      </p:sp>
      <p:sp>
        <p:nvSpPr>
          <p:cNvPr id="6" name="">
            <a:extLst xmlns:a="http://schemas.openxmlformats.org/drawingml/2006/main">
              <a:ext uri="{FF2B5EF4-FFF2-40B4-BE49-F238E27FC236}">
                <a16:creationId xmlns:a16="http://schemas.microsoft.com/office/drawing/2014/main" id="{D1E49652-E71F-4641-9A26-2BBC78ACEEBD}"/>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El instante se actualiza al aceptar una lectura nueva, no simplemente al redibujar la pantalla.</a:t>
            </a:r>
          </a:p>
        </p:txBody>
      </p:sp>
    </p:spTree>
    <p:extLst>
      <p:ext uri="{BB962C8B-B14F-4D97-AF65-F5344CB8AC3E}">
        <p14:creationId xmlns:p14="http://schemas.microsoft.com/office/powerpoint/2010/main" val="291235963"/>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8846D3-10D5-491E-BB6A-919F4008A11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investigar una conexión</a:t>
            </a:r>
          </a:p>
        </p:txBody>
      </p:sp>
      <p:pic>
        <p:nvPicPr>
          <p:cNvPr id="2" name="">
            <a:extLst xmlns:a="http://schemas.openxmlformats.org/drawingml/2006/main">
              <a:ext uri="{FF2B5EF4-FFF2-40B4-BE49-F238E27FC236}">
                <a16:creationId xmlns:a16="http://schemas.microsoft.com/office/drawing/2014/main" id="{639B938C-17DC-4CE3-98D4-1A644FB093A4}"/>
              </a:ext>
            </a:extLst>
          </p:cNvPr>
          <p:cNvPicPr>
            <a:picLocks xmlns:a="http://schemas.openxmlformats.org/drawingml/2006/main" noChangeAspect="1"/>
          </p:cNvPicPr>
          <p:nvPr/>
        </p:nvPicPr>
        <p:blipFill>
          <a:blip xmlns:r="http://schemas.openxmlformats.org/officeDocument/2006/relationships" xmlns:a="http://schemas.openxmlformats.org/drawingml/2006/main" r:embed="R8c610f25ab2f45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4CA8A3-F899-4627-B784-4A00B296C4F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11/24</a:t>
            </a:r>
          </a:p>
        </p:txBody>
      </p:sp>
      <p:sp>
        <p:nvSpPr>
          <p:cNvPr id="4" name="">
            <a:extLst xmlns:a="http://schemas.openxmlformats.org/drawingml/2006/main">
              <a:ext uri="{FF2B5EF4-FFF2-40B4-BE49-F238E27FC236}">
                <a16:creationId xmlns:a16="http://schemas.microsoft.com/office/drawing/2014/main" id="{60B5C661-F4BD-4F3D-87B5-0D2B1CC5542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respuesta en la dirección 0x68 indica que algún dispositivo reconoció esa dirección en esa prueba. No certifica por sí sola la identidad, la escala ni la calidad de sus medidas. La identificación de registro o el procedimiento de la biblioteca aporta otra comprobación. El diagnóstico se realiza primero sin mezclarlo con pantallas complejas, gráficas y múltiples sensores.</a:t>
            </a:r>
          </a:p>
        </p:txBody>
      </p:sp>
    </p:spTree>
    <p:extLst>
      <p:ext uri="{BB962C8B-B14F-4D97-AF65-F5344CB8AC3E}">
        <p14:creationId xmlns:p14="http://schemas.microsoft.com/office/powerpoint/2010/main" val="776981199"/>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391B95-92E9-4B83-897B-926D3125A3D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Fragmento de diagnóstico I2C</a:t>
            </a:r>
          </a:p>
        </p:txBody>
      </p:sp>
      <p:pic>
        <p:nvPicPr>
          <p:cNvPr id="2" name="">
            <a:extLst xmlns:a="http://schemas.openxmlformats.org/drawingml/2006/main">
              <a:ext uri="{FF2B5EF4-FFF2-40B4-BE49-F238E27FC236}">
                <a16:creationId xmlns:a16="http://schemas.microsoft.com/office/drawing/2014/main" id="{53664D1D-2208-47D2-9DE8-C29D8B7871CC}"/>
              </a:ext>
            </a:extLst>
          </p:cNvPr>
          <p:cNvPicPr>
            <a:picLocks xmlns:a="http://schemas.openxmlformats.org/drawingml/2006/main" noChangeAspect="1"/>
          </p:cNvPicPr>
          <p:nvPr/>
        </p:nvPicPr>
        <p:blipFill>
          <a:blip xmlns:r="http://schemas.openxmlformats.org/officeDocument/2006/relationships" xmlns:a="http://schemas.openxmlformats.org/drawingml/2006/main" r:embed="R073848077411455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348438-1956-47A3-8522-AF44E74172F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12/24</a:t>
            </a:r>
          </a:p>
        </p:txBody>
      </p:sp>
      <p:sp>
        <p:nvSpPr>
          <p:cNvPr id="4" name="">
            <a:extLst xmlns:a="http://schemas.openxmlformats.org/drawingml/2006/main">
              <a:ext uri="{FF2B5EF4-FFF2-40B4-BE49-F238E27FC236}">
                <a16:creationId xmlns:a16="http://schemas.microsoft.com/office/drawing/2014/main" id="{95188AE7-6A7E-4DFF-98B9-F8C783987423}"/>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Wire.begin(21, 22);</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Wire.beginTransmission(0x68);</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uint8_t status = Wire.endTransmission();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bool acknowledged = (status == 0);</a:t>
            </a:r>
          </a:p>
        </p:txBody>
      </p:sp>
      <p:sp>
        <p:nvSpPr>
          <p:cNvPr id="5" name="">
            <a:extLst xmlns:a="http://schemas.openxmlformats.org/drawingml/2006/main">
              <a:ext uri="{FF2B5EF4-FFF2-40B4-BE49-F238E27FC236}">
                <a16:creationId xmlns:a16="http://schemas.microsoft.com/office/drawing/2014/main" id="{0C3EF2E0-8FC8-4A57-9201-5B2BA35E69A3}"/>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241858658"/>
      </p:ext>
    </p:extLst>
  </p:cSld>
</p:sld>
</file>

<file path=ppt/slides/slide3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497179-7CDA-4BE2-8065-32C3E968839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Pantalla congelada</a:t>
            </a:r>
          </a:p>
        </p:txBody>
      </p:sp>
      <p:pic>
        <p:nvPicPr>
          <p:cNvPr id="2" name="">
            <a:extLst xmlns:a="http://schemas.openxmlformats.org/drawingml/2006/main">
              <a:ext uri="{FF2B5EF4-FFF2-40B4-BE49-F238E27FC236}">
                <a16:creationId xmlns:a16="http://schemas.microsoft.com/office/drawing/2014/main" id="{EC061473-0349-4B78-B435-4E865A43A00C}"/>
              </a:ext>
            </a:extLst>
          </p:cNvPr>
          <p:cNvPicPr>
            <a:picLocks xmlns:a="http://schemas.openxmlformats.org/drawingml/2006/main" noChangeAspect="1"/>
          </p:cNvPicPr>
          <p:nvPr/>
        </p:nvPicPr>
        <p:blipFill>
          <a:blip xmlns:r="http://schemas.openxmlformats.org/officeDocument/2006/relationships" xmlns:a="http://schemas.openxmlformats.org/drawingml/2006/main" r:embed="R47a2d1e8f67a48f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7EAE6E-D153-4EB8-A1AE-039F102B14E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13/24</a:t>
            </a:r>
          </a:p>
        </p:txBody>
      </p:sp>
      <p:sp>
        <p:nvSpPr>
          <p:cNvPr id="4" name="">
            <a:extLst xmlns:a="http://schemas.openxmlformats.org/drawingml/2006/main">
              <a:ext uri="{FF2B5EF4-FFF2-40B4-BE49-F238E27FC236}">
                <a16:creationId xmlns:a16="http://schemas.microsoft.com/office/drawing/2014/main" id="{C65B8052-889E-457D-A075-D0613B31DFEE}"/>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La pantalla sigue mostrando 24,0 °C después de desconectar el sensor. ¿Qué dato del software falta consultar?</a:t>
            </a:r>
          </a:p>
        </p:txBody>
      </p:sp>
      <p:sp>
        <p:nvSpPr>
          <p:cNvPr id="5" name="">
            <a:extLst xmlns:a="http://schemas.openxmlformats.org/drawingml/2006/main">
              <a:ext uri="{FF2B5EF4-FFF2-40B4-BE49-F238E27FC236}">
                <a16:creationId xmlns:a16="http://schemas.microsoft.com/office/drawing/2014/main" id="{83FDEEC4-89FE-479F-81B3-171EBB7752E1}"/>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La validez y el instante de la última adquisición. El valor mostrado puede ser una copia antigua; hace falta una política explícita para ese estado.</a:t>
            </a:r>
          </a:p>
        </p:txBody>
      </p:sp>
    </p:spTree>
    <p:extLst>
      <p:ext uri="{BB962C8B-B14F-4D97-AF65-F5344CB8AC3E}">
        <p14:creationId xmlns:p14="http://schemas.microsoft.com/office/powerpoint/2010/main" val="380990060"/>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F535AD-6F96-4B2A-A584-F688B012B54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adquisición y presentación</a:t>
            </a:r>
          </a:p>
        </p:txBody>
      </p:sp>
      <p:pic>
        <p:nvPicPr>
          <p:cNvPr id="2" name="">
            <a:extLst xmlns:a="http://schemas.openxmlformats.org/drawingml/2006/main">
              <a:ext uri="{FF2B5EF4-FFF2-40B4-BE49-F238E27FC236}">
                <a16:creationId xmlns:a16="http://schemas.microsoft.com/office/drawing/2014/main" id="{FBF65B3B-15DD-455E-966B-93D01E641E5C}"/>
              </a:ext>
            </a:extLst>
          </p:cNvPr>
          <p:cNvPicPr>
            <a:picLocks xmlns:a="http://schemas.openxmlformats.org/drawingml/2006/main" noChangeAspect="1"/>
          </p:cNvPicPr>
          <p:nvPr/>
        </p:nvPicPr>
        <p:blipFill>
          <a:blip xmlns:r="http://schemas.openxmlformats.org/officeDocument/2006/relationships" xmlns:a="http://schemas.openxmlformats.org/drawingml/2006/main" r:embed="R501903ae2b7440a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7C2F0D9-E6AB-4299-B174-96B3D0924B0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14/24</a:t>
            </a:r>
          </a:p>
        </p:txBody>
      </p:sp>
      <p:sp>
        <p:nvSpPr>
          <p:cNvPr id="4" name="">
            <a:extLst xmlns:a="http://schemas.openxmlformats.org/drawingml/2006/main">
              <a:ext uri="{FF2B5EF4-FFF2-40B4-BE49-F238E27FC236}">
                <a16:creationId xmlns:a16="http://schemas.microsoft.com/office/drawing/2014/main" id="{F336903F-6643-4417-B956-06823F2F69F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 montaje físico se revisa el circuito desconectado y se aplica el procedimiento de comprobación del banco. Si el sensor no puede desconectarse durante operación, se simula la condición por software y se declara ese origen. La finalidad del ejercicio es que la aplicación distinga dato y estado. No se presenta una inyección de error como una medición de fallo real del componente.</a:t>
            </a:r>
          </a:p>
        </p:txBody>
      </p:sp>
    </p:spTree>
    <p:extLst>
      <p:ext uri="{BB962C8B-B14F-4D97-AF65-F5344CB8AC3E}">
        <p14:creationId xmlns:p14="http://schemas.microsoft.com/office/powerpoint/2010/main" val="1904821457"/>
      </p:ext>
    </p:extLst>
  </p:cSld>
</p:sld>
</file>

<file path=ppt/slides/slide3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130E56-6FC9-4889-8426-12511C4F509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B54A36F2-3512-4392-B4D7-E50DB3C89FE1}"/>
              </a:ext>
            </a:extLst>
          </p:cNvPr>
          <p:cNvPicPr>
            <a:picLocks xmlns:a="http://schemas.openxmlformats.org/drawingml/2006/main" noChangeAspect="1"/>
          </p:cNvPicPr>
          <p:nvPr/>
        </p:nvPicPr>
        <p:blipFill>
          <a:blip xmlns:r="http://schemas.openxmlformats.org/officeDocument/2006/relationships" xmlns:a="http://schemas.openxmlformats.org/drawingml/2006/main" r:embed="Re6edb92915f5400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6DF973-AC06-44B6-A2C3-B6134D4F320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15/24</a:t>
            </a:r>
          </a:p>
        </p:txBody>
      </p:sp>
      <p:sp>
        <p:nvSpPr>
          <p:cNvPr id="4" name="">
            <a:extLst xmlns:a="http://schemas.openxmlformats.org/drawingml/2006/main">
              <a:ext uri="{FF2B5EF4-FFF2-40B4-BE49-F238E27FC236}">
                <a16:creationId xmlns:a16="http://schemas.microsoft.com/office/drawing/2014/main" id="{0F5D00B2-2610-4D05-812E-A1BEBE31D039}"/>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respuesta I2C confirma una medida correcta?</a:t>
            </a:r>
          </a:p>
        </p:txBody>
      </p:sp>
      <p:sp>
        <p:nvSpPr>
          <p:cNvPr id="5" name="">
            <a:extLst xmlns:a="http://schemas.openxmlformats.org/drawingml/2006/main">
              <a:ext uri="{FF2B5EF4-FFF2-40B4-BE49-F238E27FC236}">
                <a16:creationId xmlns:a16="http://schemas.microsoft.com/office/drawing/2014/main" id="{38DD9CF4-B6E2-41B8-95B2-A23AAC89581E}"/>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Relacionar el resultado con el futuro banco de IMU.</a:t>
            </a:r>
          </a:p>
        </p:txBody>
      </p:sp>
    </p:spTree>
    <p:extLst>
      <p:ext uri="{BB962C8B-B14F-4D97-AF65-F5344CB8AC3E}">
        <p14:creationId xmlns:p14="http://schemas.microsoft.com/office/powerpoint/2010/main" val="900788388"/>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FBA543-C53E-4885-9310-7F6AF81497F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adquisición y presentación</a:t>
            </a:r>
          </a:p>
        </p:txBody>
      </p:sp>
      <p:pic>
        <p:nvPicPr>
          <p:cNvPr id="2" name="">
            <a:extLst xmlns:a="http://schemas.openxmlformats.org/drawingml/2006/main">
              <a:ext uri="{FF2B5EF4-FFF2-40B4-BE49-F238E27FC236}">
                <a16:creationId xmlns:a16="http://schemas.microsoft.com/office/drawing/2014/main" id="{48C5B445-B5C0-48A4-9827-2E5C4DD8F3BE}"/>
              </a:ext>
            </a:extLst>
          </p:cNvPr>
          <p:cNvPicPr>
            <a:picLocks xmlns:a="http://schemas.openxmlformats.org/drawingml/2006/main" noChangeAspect="1"/>
          </p:cNvPicPr>
          <p:nvPr/>
        </p:nvPicPr>
        <p:blipFill>
          <a:blip xmlns:r="http://schemas.openxmlformats.org/officeDocument/2006/relationships" xmlns:a="http://schemas.openxmlformats.org/drawingml/2006/main" r:embed="Rb6d9aace23644e9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8F71FF-460C-4B9D-88FC-A2060A688CE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16/24</a:t>
            </a:r>
          </a:p>
        </p:txBody>
      </p:sp>
      <p:sp>
        <p:nvSpPr>
          <p:cNvPr id="4" name="">
            <a:extLst xmlns:a="http://schemas.openxmlformats.org/drawingml/2006/main">
              <a:ext uri="{FF2B5EF4-FFF2-40B4-BE49-F238E27FC236}">
                <a16:creationId xmlns:a16="http://schemas.microsoft.com/office/drawing/2014/main" id="{6D2AE019-CCF7-40CE-BDF4-5BEEEB2562C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el proyecto 7 y localiza sensor, pantalla y protocolos.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Registra el tipo exacto de sensor que usa el archivo del simulador; no lo supongas por el título.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Localiza periodo de lectura, periodo de pantalla y condición de fallo.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Añade al registro una marca temporal y un estado de validez.</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Identifica los dispositivos I2C y sus direcciones con la prueba preparada por el docente.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Provoca una ausencia de lectura en la simulación o con el procedimiento de banco indicado.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Explica cómo cambia la presentación y qué valor conserva el registro.</a:t>
            </a:r>
          </a:p>
        </p:txBody>
      </p:sp>
    </p:spTree>
    <p:extLst>
      <p:ext uri="{BB962C8B-B14F-4D97-AF65-F5344CB8AC3E}">
        <p14:creationId xmlns:p14="http://schemas.microsoft.com/office/powerpoint/2010/main" val="687400665"/>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68C268-B682-4C8E-B886-BC4AE4B4391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 la estación ambiental a una carga de sensores</a:t>
            </a:r>
          </a:p>
        </p:txBody>
      </p:sp>
      <p:pic>
        <p:nvPicPr>
          <p:cNvPr id="2" name="">
            <a:extLst xmlns:a="http://schemas.openxmlformats.org/drawingml/2006/main">
              <a:ext uri="{FF2B5EF4-FFF2-40B4-BE49-F238E27FC236}">
                <a16:creationId xmlns:a16="http://schemas.microsoft.com/office/drawing/2014/main" id="{38E49A06-8105-42FF-85CA-911102146B64}"/>
              </a:ext>
            </a:extLst>
          </p:cNvPr>
          <p:cNvPicPr>
            <a:picLocks xmlns:a="http://schemas.openxmlformats.org/drawingml/2006/main" noChangeAspect="1"/>
          </p:cNvPicPr>
          <p:nvPr/>
        </p:nvPicPr>
        <p:blipFill>
          <a:blip xmlns:r="http://schemas.openxmlformats.org/officeDocument/2006/relationships" xmlns:a="http://schemas.openxmlformats.org/drawingml/2006/main" r:embed="Ref8cf696f27744b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8BC8262-5BBF-492E-89C2-F63F8BF1566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17/24</a:t>
            </a:r>
          </a:p>
        </p:txBody>
      </p:sp>
      <p:sp>
        <p:nvSpPr>
          <p:cNvPr id="4" name="">
            <a:extLst xmlns:a="http://schemas.openxmlformats.org/drawingml/2006/main">
              <a:ext uri="{FF2B5EF4-FFF2-40B4-BE49-F238E27FC236}">
                <a16:creationId xmlns:a16="http://schemas.microsoft.com/office/drawing/2014/main" id="{222B5456-6636-494F-BABF-F17A04FABD5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carga de sensores para un UAV puede utilizar una arquitectura semejante: adquisición, procesamiento, almacenamiento y presentación. Los requisitos de tiempo y precisión cambian con la variable. La organización de módulos que aprendemos hoy permite añadir la IMU sin convertir todo el programa en una única función extensa. Cada dato llega acompañado de la información que permite usarlo con criterio.</a:t>
            </a:r>
          </a:p>
        </p:txBody>
      </p:sp>
    </p:spTree>
    <p:extLst>
      <p:ext uri="{BB962C8B-B14F-4D97-AF65-F5344CB8AC3E}">
        <p14:creationId xmlns:p14="http://schemas.microsoft.com/office/powerpoint/2010/main" val="1595774339"/>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EDCA29-4B54-4DFF-A233-7EA571A447A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Preguntas para cualquier sensor nuevo</a:t>
            </a:r>
          </a:p>
        </p:txBody>
      </p:sp>
      <p:pic>
        <p:nvPicPr>
          <p:cNvPr id="2" name="">
            <a:extLst xmlns:a="http://schemas.openxmlformats.org/drawingml/2006/main">
              <a:ext uri="{FF2B5EF4-FFF2-40B4-BE49-F238E27FC236}">
                <a16:creationId xmlns:a16="http://schemas.microsoft.com/office/drawing/2014/main" id="{793CFF66-7A79-4291-A4C9-72A66EFB4095}"/>
              </a:ext>
            </a:extLst>
          </p:cNvPr>
          <p:cNvPicPr>
            <a:picLocks xmlns:a="http://schemas.openxmlformats.org/drawingml/2006/main" noChangeAspect="1"/>
          </p:cNvPicPr>
          <p:nvPr/>
        </p:nvPicPr>
        <p:blipFill>
          <a:blip xmlns:r="http://schemas.openxmlformats.org/officeDocument/2006/relationships" xmlns:a="http://schemas.openxmlformats.org/drawingml/2006/main" r:embed="R9b7c77b022c6480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6D6C45-DCC9-4AE2-B2C9-94B0B5B8329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18/24</a:t>
            </a:r>
          </a:p>
        </p:txBody>
      </p:sp>
      <p:graphicFrame>
        <p:nvGraphicFramePr>
          <p:cNvPr id="4" name="">
            <a:extLst xmlns:a="http://schemas.openxmlformats.org/drawingml/2006/main">
              <a:ext uri="{FF2B5EF4-FFF2-40B4-BE49-F238E27FC236}">
                <a16:creationId xmlns:a16="http://schemas.microsoft.com/office/drawing/2014/main" id="{08DBD99B-9E83-4112-9394-F95546CA334C}"/>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Dónde buscar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¿Qué variable entrega?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Hoja de datos y biblioteca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¿Con qué unidad?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API y escala configurada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¿Cada cuánto es nueva?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Adquisición y marcas de tiempo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¿Cómo informa fallo?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Resultado de la operación</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36694003"/>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CB67A8-CB66-4F97-B2BB-D4B83B0C0F8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De la estación ambiental a una carga de sensores</a:t>
            </a:r>
          </a:p>
        </p:txBody>
      </p:sp>
      <p:pic>
        <p:nvPicPr>
          <p:cNvPr id="2" name="">
            <a:extLst xmlns:a="http://schemas.openxmlformats.org/drawingml/2006/main">
              <a:ext uri="{FF2B5EF4-FFF2-40B4-BE49-F238E27FC236}">
                <a16:creationId xmlns:a16="http://schemas.microsoft.com/office/drawing/2014/main" id="{4480835B-869C-40C1-A3CA-7DFEC8C56927}"/>
              </a:ext>
            </a:extLst>
          </p:cNvPr>
          <p:cNvPicPr>
            <a:picLocks xmlns:a="http://schemas.openxmlformats.org/drawingml/2006/main" noChangeAspect="1"/>
          </p:cNvPicPr>
          <p:nvPr/>
        </p:nvPicPr>
        <p:blipFill>
          <a:blip xmlns:r="http://schemas.openxmlformats.org/officeDocument/2006/relationships" xmlns:a="http://schemas.openxmlformats.org/drawingml/2006/main" r:embed="R8abf6580e0f7439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011D5CA-AA47-48B6-9976-D56549383ED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19/24</a:t>
            </a:r>
          </a:p>
        </p:txBody>
      </p:sp>
      <p:sp>
        <p:nvSpPr>
          <p:cNvPr id="4" name="">
            <a:extLst xmlns:a="http://schemas.openxmlformats.org/drawingml/2006/main">
              <a:ext uri="{FF2B5EF4-FFF2-40B4-BE49-F238E27FC236}">
                <a16:creationId xmlns:a16="http://schemas.microsoft.com/office/drawing/2014/main" id="{253350E1-9C96-42BE-83B0-28784CECCD8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Investiga la diferencia entre dirección del bus, número de pin y nombre de la variable. Son referencias de niveles distintos. Para ampliar, compara UART, I2C y SPI con una tabla de líneas, organización y dispositivo de ejemplo. No necesitas implementar tres protocolos completos en una sesión: sí debes poder explicar por qué conectar la pantalla a un pin de sensor DHT no cumple la misma función.</a:t>
            </a:r>
          </a:p>
        </p:txBody>
      </p:sp>
    </p:spTree>
    <p:extLst>
      <p:ext uri="{BB962C8B-B14F-4D97-AF65-F5344CB8AC3E}">
        <p14:creationId xmlns:p14="http://schemas.microsoft.com/office/powerpoint/2010/main" val="1078423586"/>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063553-3419-45AC-805A-1799A1798A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C3A57DB4-3FC0-402C-9A9F-0E33A7C259E2}"/>
              </a:ext>
            </a:extLst>
          </p:cNvPr>
          <p:cNvPicPr>
            <a:picLocks xmlns:a="http://schemas.openxmlformats.org/drawingml/2006/main" noChangeAspect="1"/>
          </p:cNvPicPr>
          <p:nvPr/>
        </p:nvPicPr>
        <p:blipFill>
          <a:blip xmlns:r="http://schemas.openxmlformats.org/officeDocument/2006/relationships" xmlns:a="http://schemas.openxmlformats.org/drawingml/2006/main" r:embed="R5a7318f7f9e5412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B733947-2A60-4D06-9FA1-EEAF6159156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20/24</a:t>
            </a:r>
          </a:p>
        </p:txBody>
      </p:sp>
      <p:sp>
        <p:nvSpPr>
          <p:cNvPr id="4" name="">
            <a:extLst xmlns:a="http://schemas.openxmlformats.org/drawingml/2006/main">
              <a:ext uri="{FF2B5EF4-FFF2-40B4-BE49-F238E27FC236}">
                <a16:creationId xmlns:a16="http://schemas.microsoft.com/office/drawing/2014/main" id="{6B4826CB-399B-4046-B95A-039D6DAD539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un valor en pantalla y preguntar de cuándo 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Separar DHT, OLED e I2C en el esquema del proyecto.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Agregar tiempo y validez al registro del clima.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Relacionar el resultado con el futuro banco de IMU.</a:t>
            </a:r>
          </a:p>
        </p:txBody>
      </p:sp>
    </p:spTree>
    <p:extLst>
      <p:ext uri="{BB962C8B-B14F-4D97-AF65-F5344CB8AC3E}">
        <p14:creationId xmlns:p14="http://schemas.microsoft.com/office/powerpoint/2010/main" val="381669041"/>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F97AE5-54CB-4EAA-A2CE-04FFE3460D6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57BB8B57-9B32-4755-80DD-EEB16EC98AB0}"/>
              </a:ext>
            </a:extLst>
          </p:cNvPr>
          <p:cNvPicPr>
            <a:picLocks xmlns:a="http://schemas.openxmlformats.org/drawingml/2006/main" noChangeAspect="1"/>
          </p:cNvPicPr>
          <p:nvPr/>
        </p:nvPicPr>
        <p:blipFill>
          <a:blip xmlns:r="http://schemas.openxmlformats.org/officeDocument/2006/relationships" xmlns:a="http://schemas.openxmlformats.org/drawingml/2006/main" r:embed="Rf5a29c9e372e489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70852F-7BB1-4127-B422-96CD6672D8A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21/24</a:t>
            </a:r>
          </a:p>
        </p:txBody>
      </p:sp>
      <p:sp>
        <p:nvSpPr>
          <p:cNvPr id="4" name="">
            <a:extLst xmlns:a="http://schemas.openxmlformats.org/drawingml/2006/main">
              <a:ext uri="{FF2B5EF4-FFF2-40B4-BE49-F238E27FC236}">
                <a16:creationId xmlns:a16="http://schemas.microsoft.com/office/drawing/2014/main" id="{06E82BFB-E0C0-4898-9D12-1F3A85DF372A}"/>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instrumentación de drones necesita saber qué sensor produjo cada dato y si sigue siendo utilizable.</a:t>
            </a:r>
          </a:p>
        </p:txBody>
      </p:sp>
      <p:sp>
        <p:nvSpPr>
          <p:cNvPr id="5" name="">
            <a:extLst xmlns:a="http://schemas.openxmlformats.org/drawingml/2006/main">
              <a:ext uri="{FF2B5EF4-FFF2-40B4-BE49-F238E27FC236}">
                <a16:creationId xmlns:a16="http://schemas.microsoft.com/office/drawing/2014/main" id="{63DF5FE7-CF4F-4C64-AB92-8659C9BF0B07}"/>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497784862"/>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F450D8-8C0E-4815-99B7-78A52B972B9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35C25D8D-28C6-4C8F-BC37-C80ABE940896}"/>
              </a:ext>
            </a:extLst>
          </p:cNvPr>
          <p:cNvPicPr>
            <a:picLocks xmlns:a="http://schemas.openxmlformats.org/drawingml/2006/main" noChangeAspect="1"/>
          </p:cNvPicPr>
          <p:nvPr/>
        </p:nvPicPr>
        <p:blipFill>
          <a:blip xmlns:r="http://schemas.openxmlformats.org/officeDocument/2006/relationships" xmlns:a="http://schemas.openxmlformats.org/drawingml/2006/main" r:embed="Rd2cb543cb80d4c4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6C3833-1C31-4B23-AA7B-7324F3250BF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22/24</a:t>
            </a:r>
          </a:p>
        </p:txBody>
      </p:sp>
      <p:sp>
        <p:nvSpPr>
          <p:cNvPr id="4" name="">
            <a:extLst xmlns:a="http://schemas.openxmlformats.org/drawingml/2006/main">
              <a:ext uri="{FF2B5EF4-FFF2-40B4-BE49-F238E27FC236}">
                <a16:creationId xmlns:a16="http://schemas.microsoft.com/office/drawing/2014/main" id="{FA8A2B2C-5F70-48F9-9788-EEFDD1AE6E5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¿Actualizar OLED equivale a adquirir un dato?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¿Una respuesta I2C confirma una medida correcta?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comunica mejor un fallo: cero o un estado?</a:t>
            </a:r>
          </a:p>
        </p:txBody>
      </p:sp>
    </p:spTree>
    <p:extLst>
      <p:ext uri="{BB962C8B-B14F-4D97-AF65-F5344CB8AC3E}">
        <p14:creationId xmlns:p14="http://schemas.microsoft.com/office/powerpoint/2010/main" val="476770726"/>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DCAE4E-3697-44B4-9311-8B20E07BC82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458E4A9F-D17D-4F5A-93A6-699089E3BB5D}"/>
              </a:ext>
            </a:extLst>
          </p:cNvPr>
          <p:cNvPicPr>
            <a:picLocks xmlns:a="http://schemas.openxmlformats.org/drawingml/2006/main" noChangeAspect="1"/>
          </p:cNvPicPr>
          <p:nvPr/>
        </p:nvPicPr>
        <p:blipFill>
          <a:blip xmlns:r="http://schemas.openxmlformats.org/officeDocument/2006/relationships" xmlns:a="http://schemas.openxmlformats.org/drawingml/2006/main" r:embed="R4597ab1f60584e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2F903F8-2A8C-45E3-BF93-882B0255089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3   CLASE 06   23/24</a:t>
            </a:r>
          </a:p>
        </p:txBody>
      </p:sp>
      <p:sp>
        <p:nvSpPr>
          <p:cNvPr id="4" name="">
            <a:extLst xmlns:a="http://schemas.openxmlformats.org/drawingml/2006/main">
              <a:ext uri="{FF2B5EF4-FFF2-40B4-BE49-F238E27FC236}">
                <a16:creationId xmlns:a16="http://schemas.microsoft.com/office/drawing/2014/main" id="{33B6ECE0-4261-4539-9D9A-0D2FB9A3B14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Pueden ejecutarse con agendas distintas.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Confirma reconocimiento de dirección en esa prueba; faltan identidad, configuración y lectura.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Un estado explícito evita confundir ausencia con una medida numérica legítima.</a:t>
            </a:r>
          </a:p>
        </p:txBody>
      </p:sp>
    </p:spTree>
    <p:extLst>
      <p:ext uri="{BB962C8B-B14F-4D97-AF65-F5344CB8AC3E}">
        <p14:creationId xmlns:p14="http://schemas.microsoft.com/office/powerpoint/2010/main" val="1671333964"/>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BCF068-0F08-48D2-AA36-883EAD5F08C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42C3CE3C-963E-486E-B1D7-331229285E30}"/>
              </a:ext>
            </a:extLst>
          </p:cNvPr>
          <p:cNvPicPr>
            <a:picLocks xmlns:a="http://schemas.openxmlformats.org/drawingml/2006/main" noChangeAspect="1"/>
          </p:cNvPicPr>
          <p:nvPr/>
        </p:nvPicPr>
        <p:blipFill>
          <a:blip xmlns:r="http://schemas.openxmlformats.org/officeDocument/2006/relationships" xmlns:a="http://schemas.openxmlformats.org/drawingml/2006/main" r:embed="R9f4402e73daf4b6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2A2CD30-06AD-464F-8C62-5D3D2ADBEED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3   CLASE 06   24/24</a:t>
            </a:r>
          </a:p>
        </p:txBody>
      </p:sp>
      <p:sp>
        <p:nvSpPr>
          <p:cNvPr id="4" name="">
            <a:extLst xmlns:a="http://schemas.openxmlformats.org/drawingml/2006/main">
              <a:ext uri="{FF2B5EF4-FFF2-40B4-BE49-F238E27FC236}">
                <a16:creationId xmlns:a16="http://schemas.microsoft.com/office/drawing/2014/main" id="{ECCB44FC-79A9-4D24-81E7-AFAA8BF07EF7}"/>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Mapa de interfaces y registro de valor, unidad, tiempo y estado.</a:t>
            </a:r>
          </a:p>
        </p:txBody>
      </p:sp>
      <p:sp>
        <p:nvSpPr>
          <p:cNvPr id="5" name="">
            <a:extLst xmlns:a="http://schemas.openxmlformats.org/drawingml/2006/main">
              <a:ext uri="{FF2B5EF4-FFF2-40B4-BE49-F238E27FC236}">
                <a16:creationId xmlns:a16="http://schemas.microsoft.com/office/drawing/2014/main" id="{E8542360-A635-46AF-B31B-E5ED7866E372}"/>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8781804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2026-10-22T20:12:54.8840000Z</dcterms:created>
  <dcterms:modified xsi:type="dcterms:W3CDTF">2026-10-22T20:12:54.8840000Z</dcterms:modified>
</coreProperties>
</file>