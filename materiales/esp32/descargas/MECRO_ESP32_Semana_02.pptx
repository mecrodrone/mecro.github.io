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9ce7594bce45bd" /><Relationship Type="http://schemas.openxmlformats.org/officeDocument/2006/relationships/extended-properties" Target="/docProps/app.xml" Id="Rb78e7a1143744904" /><Relationship Type="http://schemas.openxmlformats.org/officeDocument/2006/relationships/officeDocument" Target="/ppt/presentation.xml" Id="R3cf876e1e69f4630" /></Relationships>
</file>

<file path=ppt/presentation.xml><?xml version="1.0" encoding="utf-8"?>
<p:presentation xmlns:p="http://schemas.openxmlformats.org/presentationml/2006/main">
  <p:sldMasterIdLst>
    <p:sldMasterId xmlns:r="http://schemas.openxmlformats.org/officeDocument/2006/relationships" id="2147483648" r:id="Rc6d2150402e04b28"/>
  </p:sldMasterIdLst>
  <p:notesMasterIdLst>
    <p:notesMasterId xmlns:r="http://schemas.openxmlformats.org/officeDocument/2006/relationships" r:id="Rc7f87d34ad5948c6"/>
  </p:notesMasterIdLst>
  <p:sldIdLst>
    <p:sldId xmlns:r="http://schemas.openxmlformats.org/officeDocument/2006/relationships" id="256" r:id="Rf01c37168c1840bb"/>
    <p:sldId xmlns:r="http://schemas.openxmlformats.org/officeDocument/2006/relationships" id="257" r:id="Rb64d7626eec041ee"/>
    <p:sldId xmlns:r="http://schemas.openxmlformats.org/officeDocument/2006/relationships" id="258" r:id="Rff7247506a6f453d"/>
    <p:sldId xmlns:r="http://schemas.openxmlformats.org/officeDocument/2006/relationships" id="259" r:id="Rb6b74fd893414e3a"/>
    <p:sldId xmlns:r="http://schemas.openxmlformats.org/officeDocument/2006/relationships" id="260" r:id="Rf794f144741f4943"/>
    <p:sldId xmlns:r="http://schemas.openxmlformats.org/officeDocument/2006/relationships" id="261" r:id="R32d5ab1b97644f39"/>
    <p:sldId xmlns:r="http://schemas.openxmlformats.org/officeDocument/2006/relationships" id="262" r:id="R295e92ed8d1947d0"/>
    <p:sldId xmlns:r="http://schemas.openxmlformats.org/officeDocument/2006/relationships" id="263" r:id="Rf020ce30c7f74d74"/>
    <p:sldId xmlns:r="http://schemas.openxmlformats.org/officeDocument/2006/relationships" id="264" r:id="R25cc00693998400c"/>
    <p:sldId xmlns:r="http://schemas.openxmlformats.org/officeDocument/2006/relationships" id="265" r:id="R2cb85f2228a74f2e"/>
    <p:sldId xmlns:r="http://schemas.openxmlformats.org/officeDocument/2006/relationships" id="266" r:id="Re55144302eda4c40"/>
    <p:sldId xmlns:r="http://schemas.openxmlformats.org/officeDocument/2006/relationships" id="267" r:id="R9e4d2c5db2bf4b58"/>
    <p:sldId xmlns:r="http://schemas.openxmlformats.org/officeDocument/2006/relationships" id="268" r:id="R57c6480aac4e48cf"/>
    <p:sldId xmlns:r="http://schemas.openxmlformats.org/officeDocument/2006/relationships" id="269" r:id="R1e2d4f85a7ec4c05"/>
    <p:sldId xmlns:r="http://schemas.openxmlformats.org/officeDocument/2006/relationships" id="270" r:id="R5451deac70ec47ab"/>
    <p:sldId xmlns:r="http://schemas.openxmlformats.org/officeDocument/2006/relationships" id="271" r:id="R531bc6295425457c"/>
    <p:sldId xmlns:r="http://schemas.openxmlformats.org/officeDocument/2006/relationships" id="272" r:id="R90e85aaf7a714f64"/>
    <p:sldId xmlns:r="http://schemas.openxmlformats.org/officeDocument/2006/relationships" id="273" r:id="R9a3c6791d587458f"/>
    <p:sldId xmlns:r="http://schemas.openxmlformats.org/officeDocument/2006/relationships" id="274" r:id="Rbf98beebf203440f"/>
    <p:sldId xmlns:r="http://schemas.openxmlformats.org/officeDocument/2006/relationships" id="275" r:id="R1c1cda93f9f846a1"/>
    <p:sldId xmlns:r="http://schemas.openxmlformats.org/officeDocument/2006/relationships" id="276" r:id="R63ad08d3c98e4130"/>
    <p:sldId xmlns:r="http://schemas.openxmlformats.org/officeDocument/2006/relationships" id="277" r:id="R0c518d0127954010"/>
    <p:sldId xmlns:r="http://schemas.openxmlformats.org/officeDocument/2006/relationships" id="278" r:id="R7f20f292634d4f07"/>
    <p:sldId xmlns:r="http://schemas.openxmlformats.org/officeDocument/2006/relationships" id="279" r:id="R2c5a0996b62f4ab5"/>
    <p:sldId xmlns:r="http://schemas.openxmlformats.org/officeDocument/2006/relationships" id="280" r:id="Rfbfbfb72a6a747cd"/>
    <p:sldId xmlns:r="http://schemas.openxmlformats.org/officeDocument/2006/relationships" id="281" r:id="R20bb0a7a9ee44b5d"/>
    <p:sldId xmlns:r="http://schemas.openxmlformats.org/officeDocument/2006/relationships" id="282" r:id="Rbb083bc685b4427d"/>
    <p:sldId xmlns:r="http://schemas.openxmlformats.org/officeDocument/2006/relationships" id="283" r:id="Rc8b99ed6635a4648"/>
    <p:sldId xmlns:r="http://schemas.openxmlformats.org/officeDocument/2006/relationships" id="284" r:id="R5f43857308484a57"/>
    <p:sldId xmlns:r="http://schemas.openxmlformats.org/officeDocument/2006/relationships" id="285" r:id="Rcf56ecc29f954d25"/>
    <p:sldId xmlns:r="http://schemas.openxmlformats.org/officeDocument/2006/relationships" id="286" r:id="R193e433187dd474a"/>
    <p:sldId xmlns:r="http://schemas.openxmlformats.org/officeDocument/2006/relationships" id="287" r:id="R7ec4a0b65f5345c7"/>
    <p:sldId xmlns:r="http://schemas.openxmlformats.org/officeDocument/2006/relationships" id="288" r:id="R9db5cd52a8274bf3"/>
    <p:sldId xmlns:r="http://schemas.openxmlformats.org/officeDocument/2006/relationships" id="289" r:id="R7a04160ae7ed4a06"/>
    <p:sldId xmlns:r="http://schemas.openxmlformats.org/officeDocument/2006/relationships" id="290" r:id="R201459b72ad14d1e"/>
    <p:sldId xmlns:r="http://schemas.openxmlformats.org/officeDocument/2006/relationships" id="291" r:id="R189bd533169d4ae1"/>
    <p:sldId xmlns:r="http://schemas.openxmlformats.org/officeDocument/2006/relationships" id="292" r:id="R13ef1fb2510046f5"/>
    <p:sldId xmlns:r="http://schemas.openxmlformats.org/officeDocument/2006/relationships" id="293" r:id="R488d4a60d6d54d28"/>
    <p:sldId xmlns:r="http://schemas.openxmlformats.org/officeDocument/2006/relationships" id="294" r:id="R7901f0493d7c48ef"/>
    <p:sldId xmlns:r="http://schemas.openxmlformats.org/officeDocument/2006/relationships" id="295" r:id="R316867771c3144a2"/>
    <p:sldId xmlns:r="http://schemas.openxmlformats.org/officeDocument/2006/relationships" id="296" r:id="R860890dc8a1e4738"/>
    <p:sldId xmlns:r="http://schemas.openxmlformats.org/officeDocument/2006/relationships" id="297" r:id="R3063f947f25b4853"/>
    <p:sldId xmlns:r="http://schemas.openxmlformats.org/officeDocument/2006/relationships" id="298" r:id="R64b20fb9e6f443d2"/>
    <p:sldId xmlns:r="http://schemas.openxmlformats.org/officeDocument/2006/relationships" id="299" r:id="Rc8b8ba3a62c74b11"/>
    <p:sldId xmlns:r="http://schemas.openxmlformats.org/officeDocument/2006/relationships" id="300" r:id="R160da008e3034c8e"/>
    <p:sldId xmlns:r="http://schemas.openxmlformats.org/officeDocument/2006/relationships" id="301" r:id="Rc5b466424bb745d5"/>
    <p:sldId xmlns:r="http://schemas.openxmlformats.org/officeDocument/2006/relationships" id="302" r:id="R8e5f744e4f5e4cb7"/>
    <p:sldId xmlns:r="http://schemas.openxmlformats.org/officeDocument/2006/relationships" id="303" r:id="Rb40a6d2b1adb4e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2efc76962d42c0" /><Relationship Type="http://schemas.openxmlformats.org/officeDocument/2006/relationships/slideMaster" Target="/ppt/slideMasters/slideMaster1.xml" Id="Rc6d2150402e04b28" /><Relationship Type="http://schemas.openxmlformats.org/officeDocument/2006/relationships/notesMaster" Target="/ppt/notesMasters/notesMaster1.xml" Id="Rc7f87d34ad5948c6" /><Relationship Type="http://schemas.openxmlformats.org/officeDocument/2006/relationships/presProps" Target="/ppt/presProps.xml" Id="R6000a85a92924611" /><Relationship Type="http://schemas.openxmlformats.org/officeDocument/2006/relationships/tableStyles" Target="/ppt/tableStyles.xml" Id="Rc9160dc4922f4927" /><Relationship Type="http://schemas.openxmlformats.org/officeDocument/2006/relationships/slide" Target="/ppt/slides/slide1.xml" Id="Rf01c37168c1840bb" /><Relationship Type="http://schemas.openxmlformats.org/officeDocument/2006/relationships/slide" Target="/ppt/slides/slide2.xml" Id="Rb64d7626eec041ee" /><Relationship Type="http://schemas.openxmlformats.org/officeDocument/2006/relationships/slide" Target="/ppt/slides/slide3.xml" Id="Rff7247506a6f453d" /><Relationship Type="http://schemas.openxmlformats.org/officeDocument/2006/relationships/slide" Target="/ppt/slides/slide4.xml" Id="Rb6b74fd893414e3a" /><Relationship Type="http://schemas.openxmlformats.org/officeDocument/2006/relationships/slide" Target="/ppt/slides/slide5.xml" Id="Rf794f144741f4943" /><Relationship Type="http://schemas.openxmlformats.org/officeDocument/2006/relationships/slide" Target="/ppt/slides/slide6.xml" Id="R32d5ab1b97644f39" /><Relationship Type="http://schemas.openxmlformats.org/officeDocument/2006/relationships/slide" Target="/ppt/slides/slide7.xml" Id="R295e92ed8d1947d0" /><Relationship Type="http://schemas.openxmlformats.org/officeDocument/2006/relationships/slide" Target="/ppt/slides/slide8.xml" Id="Rf020ce30c7f74d74" /><Relationship Type="http://schemas.openxmlformats.org/officeDocument/2006/relationships/slide" Target="/ppt/slides/slide9.xml" Id="R25cc00693998400c" /><Relationship Type="http://schemas.openxmlformats.org/officeDocument/2006/relationships/slide" Target="/ppt/slides/slide10.xml" Id="R2cb85f2228a74f2e" /><Relationship Type="http://schemas.openxmlformats.org/officeDocument/2006/relationships/slide" Target="/ppt/slides/slide11.xml" Id="Re55144302eda4c40" /><Relationship Type="http://schemas.openxmlformats.org/officeDocument/2006/relationships/slide" Target="/ppt/slides/slide12.xml" Id="R9e4d2c5db2bf4b58" /><Relationship Type="http://schemas.openxmlformats.org/officeDocument/2006/relationships/slide" Target="/ppt/slides/slide13.xml" Id="R57c6480aac4e48cf" /><Relationship Type="http://schemas.openxmlformats.org/officeDocument/2006/relationships/slide" Target="/ppt/slides/slide14.xml" Id="R1e2d4f85a7ec4c05" /><Relationship Type="http://schemas.openxmlformats.org/officeDocument/2006/relationships/slide" Target="/ppt/slides/slide15.xml" Id="R5451deac70ec47ab" /><Relationship Type="http://schemas.openxmlformats.org/officeDocument/2006/relationships/slide" Target="/ppt/slides/slide16.xml" Id="R531bc6295425457c" /><Relationship Type="http://schemas.openxmlformats.org/officeDocument/2006/relationships/slide" Target="/ppt/slides/slide17.xml" Id="R90e85aaf7a714f64" /><Relationship Type="http://schemas.openxmlformats.org/officeDocument/2006/relationships/slide" Target="/ppt/slides/slide18.xml" Id="R9a3c6791d587458f" /><Relationship Type="http://schemas.openxmlformats.org/officeDocument/2006/relationships/slide" Target="/ppt/slides/slide19.xml" Id="Rbf98beebf203440f" /><Relationship Type="http://schemas.openxmlformats.org/officeDocument/2006/relationships/slide" Target="/ppt/slides/slide20.xml" Id="R1c1cda93f9f846a1" /><Relationship Type="http://schemas.openxmlformats.org/officeDocument/2006/relationships/slide" Target="/ppt/slides/slide21.xml" Id="R63ad08d3c98e4130" /><Relationship Type="http://schemas.openxmlformats.org/officeDocument/2006/relationships/slide" Target="/ppt/slides/slide22.xml" Id="R0c518d0127954010" /><Relationship Type="http://schemas.openxmlformats.org/officeDocument/2006/relationships/slide" Target="/ppt/slides/slide23.xml" Id="R7f20f292634d4f07" /><Relationship Type="http://schemas.openxmlformats.org/officeDocument/2006/relationships/slide" Target="/ppt/slides/slide24.xml" Id="R2c5a0996b62f4ab5" /><Relationship Type="http://schemas.openxmlformats.org/officeDocument/2006/relationships/slide" Target="/ppt/slides/slide25.xml" Id="Rfbfbfb72a6a747cd" /><Relationship Type="http://schemas.openxmlformats.org/officeDocument/2006/relationships/slide" Target="/ppt/slides/slide26.xml" Id="R20bb0a7a9ee44b5d" /><Relationship Type="http://schemas.openxmlformats.org/officeDocument/2006/relationships/slide" Target="/ppt/slides/slide27.xml" Id="Rbb083bc685b4427d" /><Relationship Type="http://schemas.openxmlformats.org/officeDocument/2006/relationships/slide" Target="/ppt/slides/slide28.xml" Id="Rc8b99ed6635a4648" /><Relationship Type="http://schemas.openxmlformats.org/officeDocument/2006/relationships/slide" Target="/ppt/slides/slide29.xml" Id="R5f43857308484a57" /><Relationship Type="http://schemas.openxmlformats.org/officeDocument/2006/relationships/slide" Target="/ppt/slides/slide30.xml" Id="Rcf56ecc29f954d25" /><Relationship Type="http://schemas.openxmlformats.org/officeDocument/2006/relationships/slide" Target="/ppt/slides/slide31.xml" Id="R193e433187dd474a" /><Relationship Type="http://schemas.openxmlformats.org/officeDocument/2006/relationships/slide" Target="/ppt/slides/slide32.xml" Id="R7ec4a0b65f5345c7" /><Relationship Type="http://schemas.openxmlformats.org/officeDocument/2006/relationships/slide" Target="/ppt/slides/slide33.xml" Id="R9db5cd52a8274bf3" /><Relationship Type="http://schemas.openxmlformats.org/officeDocument/2006/relationships/slide" Target="/ppt/slides/slide34.xml" Id="R7a04160ae7ed4a06" /><Relationship Type="http://schemas.openxmlformats.org/officeDocument/2006/relationships/slide" Target="/ppt/slides/slide35.xml" Id="R201459b72ad14d1e" /><Relationship Type="http://schemas.openxmlformats.org/officeDocument/2006/relationships/slide" Target="/ppt/slides/slide36.xml" Id="R189bd533169d4ae1" /><Relationship Type="http://schemas.openxmlformats.org/officeDocument/2006/relationships/slide" Target="/ppt/slides/slide37.xml" Id="R13ef1fb2510046f5" /><Relationship Type="http://schemas.openxmlformats.org/officeDocument/2006/relationships/slide" Target="/ppt/slides/slide38.xml" Id="R488d4a60d6d54d28" /><Relationship Type="http://schemas.openxmlformats.org/officeDocument/2006/relationships/slide" Target="/ppt/slides/slide39.xml" Id="R7901f0493d7c48ef" /><Relationship Type="http://schemas.openxmlformats.org/officeDocument/2006/relationships/slide" Target="/ppt/slides/slide40.xml" Id="R316867771c3144a2" /><Relationship Type="http://schemas.openxmlformats.org/officeDocument/2006/relationships/slide" Target="/ppt/slides/slide41.xml" Id="R860890dc8a1e4738" /><Relationship Type="http://schemas.openxmlformats.org/officeDocument/2006/relationships/slide" Target="/ppt/slides/slide42.xml" Id="R3063f947f25b4853" /><Relationship Type="http://schemas.openxmlformats.org/officeDocument/2006/relationships/slide" Target="/ppt/slides/slide43.xml" Id="R64b20fb9e6f443d2" /><Relationship Type="http://schemas.openxmlformats.org/officeDocument/2006/relationships/slide" Target="/ppt/slides/slide44.xml" Id="Rc8b8ba3a62c74b11" /><Relationship Type="http://schemas.openxmlformats.org/officeDocument/2006/relationships/slide" Target="/ppt/slides/slide45.xml" Id="R160da008e3034c8e" /><Relationship Type="http://schemas.openxmlformats.org/officeDocument/2006/relationships/slide" Target="/ppt/slides/slide46.xml" Id="Rc5b466424bb745d5" /><Relationship Type="http://schemas.openxmlformats.org/officeDocument/2006/relationships/slide" Target="/ppt/slides/slide47.xml" Id="R8e5f744e4f5e4cb7" /><Relationship Type="http://schemas.openxmlformats.org/officeDocument/2006/relationships/slide" Target="/ppt/slides/slide48.xml" Id="Rb40a6d2b1adb4e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de55c5125d45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f6b1415dd4f0c" /><Relationship Type="http://schemas.openxmlformats.org/officeDocument/2006/relationships/notesMaster" Target="/ppt/notesMasters/notesMaster1.xml" Id="R5bcc0647805d48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dbe0719b254d24" /><Relationship Type="http://schemas.openxmlformats.org/officeDocument/2006/relationships/notesMaster" Target="/ppt/notesMasters/notesMaster1.xml" Id="R725c90c7e0904c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b2479ff49b419c" /><Relationship Type="http://schemas.openxmlformats.org/officeDocument/2006/relationships/notesMaster" Target="/ppt/notesMasters/notesMaster1.xml" Id="Rf0c13195007648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0d95877524db4" /><Relationship Type="http://schemas.openxmlformats.org/officeDocument/2006/relationships/notesMaster" Target="/ppt/notesMasters/notesMaster1.xml" Id="R9b406648f2714f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5ae1d7e7941bf" /><Relationship Type="http://schemas.openxmlformats.org/officeDocument/2006/relationships/notesMaster" Target="/ppt/notesMasters/notesMaster1.xml" Id="R107d6438013f41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f32a07df15474c" /><Relationship Type="http://schemas.openxmlformats.org/officeDocument/2006/relationships/notesMaster" Target="/ppt/notesMasters/notesMaster1.xml" Id="Rf4d380d321a24e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8452ac4c594347" /><Relationship Type="http://schemas.openxmlformats.org/officeDocument/2006/relationships/notesMaster" Target="/ppt/notesMasters/notesMaster1.xml" Id="R4454b939102641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fd5efbf29b42f7" /><Relationship Type="http://schemas.openxmlformats.org/officeDocument/2006/relationships/notesMaster" Target="/ppt/notesMasters/notesMaster1.xml" Id="Re6eedb083dee46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8122a13f3c446d" /><Relationship Type="http://schemas.openxmlformats.org/officeDocument/2006/relationships/notesMaster" Target="/ppt/notesMasters/notesMaster1.xml" Id="R18890fa5daff46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beff160c344349" /><Relationship Type="http://schemas.openxmlformats.org/officeDocument/2006/relationships/notesMaster" Target="/ppt/notesMasters/notesMaster1.xml" Id="R6789d09e952a45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dd5c640c1549d4" /><Relationship Type="http://schemas.openxmlformats.org/officeDocument/2006/relationships/notesMaster" Target="/ppt/notesMasters/notesMaster1.xml" Id="R0fbe282d654442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e8f25a5b1440c1" /><Relationship Type="http://schemas.openxmlformats.org/officeDocument/2006/relationships/notesMaster" Target="/ppt/notesMasters/notesMaster1.xml" Id="R39ee1e07c65c41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5193e1d5254cc8" /><Relationship Type="http://schemas.openxmlformats.org/officeDocument/2006/relationships/notesMaster" Target="/ppt/notesMasters/notesMaster1.xml" Id="Rdde188eb75364e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09eff4b8124636" /><Relationship Type="http://schemas.openxmlformats.org/officeDocument/2006/relationships/notesMaster" Target="/ppt/notesMasters/notesMaster1.xml" Id="R35939984e91749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96e457ba914ab2" /><Relationship Type="http://schemas.openxmlformats.org/officeDocument/2006/relationships/notesMaster" Target="/ppt/notesMasters/notesMaster1.xml" Id="Rdf1f0d6124b74f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19876cec14415d" /><Relationship Type="http://schemas.openxmlformats.org/officeDocument/2006/relationships/notesMaster" Target="/ppt/notesMasters/notesMaster1.xml" Id="Re3b30aa35e5743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63c40f60df484a" /><Relationship Type="http://schemas.openxmlformats.org/officeDocument/2006/relationships/notesMaster" Target="/ppt/notesMasters/notesMaster1.xml" Id="R2c91778a1dda4f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00ab9395bc45c4" /><Relationship Type="http://schemas.openxmlformats.org/officeDocument/2006/relationships/notesMaster" Target="/ppt/notesMasters/notesMaster1.xml" Id="Rbdd33e0d34ff40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7aa7529d414a80" /><Relationship Type="http://schemas.openxmlformats.org/officeDocument/2006/relationships/notesMaster" Target="/ppt/notesMasters/notesMaster1.xml" Id="R8cec08359a7a47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b1ea34639c467b" /><Relationship Type="http://schemas.openxmlformats.org/officeDocument/2006/relationships/notesMaster" Target="/ppt/notesMasters/notesMaster1.xml" Id="R32f076368b0745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b66113b70348c6" /><Relationship Type="http://schemas.openxmlformats.org/officeDocument/2006/relationships/notesMaster" Target="/ppt/notesMasters/notesMaster1.xml" Id="R5ca6f7157cc147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307267db1641fe" /><Relationship Type="http://schemas.openxmlformats.org/officeDocument/2006/relationships/notesMaster" Target="/ppt/notesMasters/notesMaster1.xml" Id="Re90803024e5548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ea3c9191d94749" /><Relationship Type="http://schemas.openxmlformats.org/officeDocument/2006/relationships/notesMaster" Target="/ppt/notesMasters/notesMaster1.xml" Id="R9f0fec0cb37047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2feb47bdea24884" /><Relationship Type="http://schemas.openxmlformats.org/officeDocument/2006/relationships/notesMaster" Target="/ppt/notesMasters/notesMaster1.xml" Id="R9eb23463d2a04fa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cb90cc41f447db" /><Relationship Type="http://schemas.openxmlformats.org/officeDocument/2006/relationships/notesMaster" Target="/ppt/notesMasters/notesMaster1.xml" Id="R020a4b27332242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249be107844f69" /><Relationship Type="http://schemas.openxmlformats.org/officeDocument/2006/relationships/notesMaster" Target="/ppt/notesMasters/notesMaster1.xml" Id="R40a31bd8454b47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a75322173804ce8" /><Relationship Type="http://schemas.openxmlformats.org/officeDocument/2006/relationships/notesMaster" Target="/ppt/notesMasters/notesMaster1.xml" Id="R26379af6e2aa47c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beec95086140e5" /><Relationship Type="http://schemas.openxmlformats.org/officeDocument/2006/relationships/notesMaster" Target="/ppt/notesMasters/notesMaster1.xml" Id="R757dfcd958e04c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58532443d614fa5" /><Relationship Type="http://schemas.openxmlformats.org/officeDocument/2006/relationships/notesMaster" Target="/ppt/notesMasters/notesMaster1.xml" Id="R01f1d8ab89c54d5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047172e0a242ed" /><Relationship Type="http://schemas.openxmlformats.org/officeDocument/2006/relationships/notesMaster" Target="/ppt/notesMasters/notesMaster1.xml" Id="R0ef5e4415dd4452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dbf1baa29074b73" /><Relationship Type="http://schemas.openxmlformats.org/officeDocument/2006/relationships/notesMaster" Target="/ppt/notesMasters/notesMaster1.xml" Id="R88f485f3d67d44a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afdc64a43247fc" /><Relationship Type="http://schemas.openxmlformats.org/officeDocument/2006/relationships/notesMaster" Target="/ppt/notesMasters/notesMaster1.xml" Id="R552242c6792749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4e0ddf5fab7486c" /><Relationship Type="http://schemas.openxmlformats.org/officeDocument/2006/relationships/notesMaster" Target="/ppt/notesMasters/notesMaster1.xml" Id="R316ee8b932824f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b9a023d876b4968" /><Relationship Type="http://schemas.openxmlformats.org/officeDocument/2006/relationships/notesMaster" Target="/ppt/notesMasters/notesMaster1.xml" Id="R060e61cb027d4b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b4e2a5ffad5453e" /><Relationship Type="http://schemas.openxmlformats.org/officeDocument/2006/relationships/notesMaster" Target="/ppt/notesMasters/notesMaster1.xml" Id="Rf4a48f7c3ae441a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abbf16fba04625" /><Relationship Type="http://schemas.openxmlformats.org/officeDocument/2006/relationships/notesMaster" Target="/ppt/notesMasters/notesMaster1.xml" Id="R5be4ae9cc2d047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ba8154ba3df40ab" /><Relationship Type="http://schemas.openxmlformats.org/officeDocument/2006/relationships/notesMaster" Target="/ppt/notesMasters/notesMaster1.xml" Id="R56d9905a4151459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bb5280c16564a7a" /><Relationship Type="http://schemas.openxmlformats.org/officeDocument/2006/relationships/notesMaster" Target="/ppt/notesMasters/notesMaster1.xml" Id="R8b4a68f08eba4e2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a93658f086944f2" /><Relationship Type="http://schemas.openxmlformats.org/officeDocument/2006/relationships/notesMaster" Target="/ppt/notesMasters/notesMaster1.xml" Id="R95c62d22d26f44d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f21673e716242b5" /><Relationship Type="http://schemas.openxmlformats.org/officeDocument/2006/relationships/notesMaster" Target="/ppt/notesMasters/notesMaster1.xml" Id="R2099fb8fdbd3407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0abdbbbdaf64314" /><Relationship Type="http://schemas.openxmlformats.org/officeDocument/2006/relationships/notesMaster" Target="/ppt/notesMasters/notesMaster1.xml" Id="Rebf8e5c186f54f8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75ed133ba2640f1" /><Relationship Type="http://schemas.openxmlformats.org/officeDocument/2006/relationships/notesMaster" Target="/ppt/notesMasters/notesMaster1.xml" Id="R08ca589529f349d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b9d40b96e1d4aff" /><Relationship Type="http://schemas.openxmlformats.org/officeDocument/2006/relationships/notesMaster" Target="/ppt/notesMasters/notesMaster1.xml" Id="R5c557818795c495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71c3548625e4cab" /><Relationship Type="http://schemas.openxmlformats.org/officeDocument/2006/relationships/notesMaster" Target="/ppt/notesMasters/notesMaster1.xml" Id="R338976474096438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b6499cd7b4342e6" /><Relationship Type="http://schemas.openxmlformats.org/officeDocument/2006/relationships/notesMaster" Target="/ppt/notesMasters/notesMaster1.xml" Id="R4c23e5b63d96486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dcfdefde39d4f67" /><Relationship Type="http://schemas.openxmlformats.org/officeDocument/2006/relationships/notesMaster" Target="/ppt/notesMasters/notesMaster1.xml" Id="R507ac2534ad7472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4d1077d4d54798" /><Relationship Type="http://schemas.openxmlformats.org/officeDocument/2006/relationships/notesMaster" Target="/ppt/notesMasters/notesMaster1.xml" Id="Ra406adcb899e47b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ad756dde517460c" /><Relationship Type="http://schemas.openxmlformats.org/officeDocument/2006/relationships/notesMaster" Target="/ppt/notesMasters/notesMaster1.xml" Id="R3bdd030cc7974a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3 minutos en esta diapositiva.</a:t>
            </a:r>
          </a:p>
          <a:p xmlns:a="http://schemas.openxmlformats.org/drawingml/2006/main">
            <a:r>
              <a:t/>
            </a:r>
          </a:p>
          <a:p xmlns:a="http://schemas.openxmlformats.org/drawingml/2006/main">
            <a:r>
              <a:t>Plantear una solicitud que ocurra en mitad de una secuencia.</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delay() expresa una espera cómoda cuando solo importa una secuencia. Mientras esa función bloquea el recorrido principal, no se ejecutan las otras instrucciones de loop(). Algunos periféricos e interrupciones pueden seguir funcionando, pero la lógica que dejaste después de la espera debe aguardar. Si un aviso requiere observar el botón durante una secuencia de tres segundos, una espera larga puede retrasar esa observación. El problema se descubre definiendo una tarea adicional, no prohibiendo una función por su nombre.</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semáforo del laboratorio ya usa millis() y switch. Lo conservamos y explicamos antes de aumentar su complejidad. Caja fuerte, detector de intrusos y ascensor ofrecen variantes de eventos y estados. En una misma clase no construiremos cuatro mecanismos: compararemos sus lógicas y cada equipo implementará una sola variación. Lo aprendido debe transferirse a un nuevo caso en lugar de convertirse en una lista de programas copiados.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delay() expresa una espera cómoda cuando solo importa una secuencia. Mientras esa función bloquea el recorrido principal, no se ejecutan las otras instrucciones de loop(). Algunos periféricos e interrupciones pueden seguir funcionando, pero la lógica que dejaste después de la espera debe aguardar. Si un aviso requiere observar el botón durante una secuencia de tres segundos, una espera larga puede retrasar esa observación. El problema se descubre definiendo una tarea adicional, no prohibiendo una función por su nombre.</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semáforo del laboratorio ya usa millis() y switch. Lo conservamos y explicamos antes de aumentar su complejidad. Caja fuerte, detector de intrusos y ascensor ofrecen variantes de eventos y estados. En una misma clase no construiremos cuatro mecanismos: compararemos sus lógicas y cada equipo implementará una sola variación. Lo aprendido debe transferirse a un nuevo caso en lugar de convertirse en una lista de programas copiados.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delay() expresa una espera cómoda cuando solo importa una secuencia. Mientras esa función bloquea el recorrido principal, no se ejecutan las otras instrucciones de loop(). Algunos periféricos e interrupciones pueden seguir funcionando, pero la lógica que dejaste después de la espera debe aguardar. Si un aviso requiere observar el botón durante una secuencia de tres segundos, una espera larga puede retrasar esa observación. El problema se descubre definiendo una tarea adicional, no prohibiendo una función por su nombre.</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semáforo del laboratorio ya usa millis() y switch. Lo conservamos y explicamos antes de aumentar su complejidad. Caja fuerte, detector de intrusos y ascensor ofrecen variantes de eventos y estados. En una misma clase no construiremos cuatro mecanismos: compararemos sus lógicas y cada equipo implementará una sola variación. Lo aprendido debe transferirse a un nuevo caso en lugar de convertirse en una lista de programas copiados.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millis() informa un contador de milisegundos desde el inicio. Para decidir si venció un intervalo, calculamos la resta entre el valor actual y el guardado. Con un tipo sin signo de 32 bits, esa resta permite tratar correctamente un retorno del contador para los intervalos cortos del curso. La comparación directa contra un instante futuro calculado con suma puede comportarse mal al atravesar ese retorno. No se trata de memorizar una frase: se puede comprobar con números pequeños y después con valores cercanos al límite.</a:t>
            </a:r>
          </a:p>
          <a:p xmlns:a="http://schemas.openxmlformats.org/drawingml/2006/main">
            <a:r>
              <a:t/>
            </a:r>
          </a:p>
          <a:p xmlns:a="http://schemas.openxmlformats.org/drawingml/2006/main">
            <a:r>
              <a:t>Todos los tiempos de esta comparación usan el mismo tipo y la misma unidad.</a:t>
            </a:r>
          </a:p>
          <a:p xmlns:a="http://schemas.openxmlformats.org/drawingml/2006/main">
            <a:r>
              <a:t/>
            </a:r>
          </a:p>
          <a:p xmlns:a="http://schemas.openxmlformats.org/drawingml/2006/main">
            <a:r>
              <a:t>uint32_t now = millis();</a:t>
            </a:r>
          </a:p>
          <a:p xmlns:a="http://schemas.openxmlformats.org/drawingml/2006/main">
            <a:r>
              <a:t>if (uint32_t(now-last) &gt;= interval_ms) {</a:t>
            </a:r>
          </a:p>
          <a:p xmlns:a="http://schemas.openxmlformats.org/drawingml/2006/main">
            <a:r>
              <a:t>  last = now;</a:t>
            </a:r>
          </a:p>
          <a:p xmlns:a="http://schemas.openxmlformats.org/drawingml/2006/main">
            <a:r>
              <a:t>  actualizarTarea();</a:t>
            </a:r>
          </a:p>
          <a:p xmlns:a="http://schemas.openxmlformats.org/drawingml/2006/main">
            <a:r>
              <a:t>}</a:t>
            </a:r>
          </a:p>
          <a:p xmlns:a="http://schemas.openxmlformats.org/drawingml/2006/main">
            <a:r>
              <a:t/>
            </a:r>
          </a:p>
          <a:p xmlns:a="http://schemas.openxmlformats.org/drawingml/2006/main">
            <a:r>
              <a:t>Guardar last = now evita intentar recuperar todas las ejecuciones perdidas después de una demora. Actualizar last += interval_ms responde a otra política de agenda. Primero elegiremos una tarea y una política explícitas. Para medir RPM más adelante, usaremos el tiempo realmente transcurrido; para un modelo matemático de paso fijo, el tiempo del modelo tendrá su propio significado. Dos relojes con la misma unidad pueden representar referencias distintas.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uint32_t now = millis();</a:t>
            </a:r>
          </a:p>
          <a:p xmlns:a="http://schemas.openxmlformats.org/drawingml/2006/main">
            <a:r>
              <a:t>if (uint32_t(now-last) &gt;= interval_ms) {</a:t>
            </a:r>
          </a:p>
          <a:p xmlns:a="http://schemas.openxmlformats.org/drawingml/2006/main">
            <a:r>
              <a:t>  last = now;</a:t>
            </a:r>
          </a:p>
          <a:p xmlns:a="http://schemas.openxmlformats.org/drawingml/2006/main">
            <a:r>
              <a:t>  actualizarTarea();</a:t>
            </a:r>
          </a:p>
          <a:p xmlns:a="http://schemas.openxmlformats.org/drawingml/2006/main">
            <a:r>
              <a:t>}</a:t>
            </a:r>
          </a:p>
          <a:p xmlns:a="http://schemas.openxmlformats.org/drawingml/2006/main">
            <a:r>
              <a:t>Explicar entrada, estado, salida y momento de actualización.</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millis() informa un contador de milisegundos desde el inicio. Para decidir si venció un intervalo, calculamos la resta entre el valor actual y el guardado. Con un tipo sin signo de 32 bits, esa resta permite tratar correctamente un retorno del contador para los intervalos cortos del curso. La comparación directa contra un instante futuro calculado con suma puede comportarse mal al atravesar ese retorno. No se trata de memorizar una frase: se puede comprobar con números pequeños y después con valores cercanos al límite.</a:t>
            </a:r>
          </a:p>
          <a:p xmlns:a="http://schemas.openxmlformats.org/drawingml/2006/main">
            <a:r>
              <a:t/>
            </a:r>
          </a:p>
          <a:p xmlns:a="http://schemas.openxmlformats.org/drawingml/2006/main">
            <a:r>
              <a:t>Todos los tiempos de esta comparación usan el mismo tipo y la misma unidad.</a:t>
            </a:r>
          </a:p>
          <a:p xmlns:a="http://schemas.openxmlformats.org/drawingml/2006/main">
            <a:r>
              <a:t/>
            </a:r>
          </a:p>
          <a:p xmlns:a="http://schemas.openxmlformats.org/drawingml/2006/main">
            <a:r>
              <a:t>uint32_t now = millis();</a:t>
            </a:r>
          </a:p>
          <a:p xmlns:a="http://schemas.openxmlformats.org/drawingml/2006/main">
            <a:r>
              <a:t>if (uint32_t(now-last) &gt;= interval_ms) {</a:t>
            </a:r>
          </a:p>
          <a:p xmlns:a="http://schemas.openxmlformats.org/drawingml/2006/main">
            <a:r>
              <a:t>  last = now;</a:t>
            </a:r>
          </a:p>
          <a:p xmlns:a="http://schemas.openxmlformats.org/drawingml/2006/main">
            <a:r>
              <a:t>  actualizarTarea();</a:t>
            </a:r>
          </a:p>
          <a:p xmlns:a="http://schemas.openxmlformats.org/drawingml/2006/main">
            <a:r>
              <a:t>}</a:t>
            </a:r>
          </a:p>
          <a:p xmlns:a="http://schemas.openxmlformats.org/drawingml/2006/main">
            <a:r>
              <a:t/>
            </a:r>
          </a:p>
          <a:p xmlns:a="http://schemas.openxmlformats.org/drawingml/2006/main">
            <a:r>
              <a:t>Guardar last = now evita intentar recuperar todas las ejecuciones perdidas después de una demora. Actualizar last += interval_ms responde a otra política de agenda. Primero elegiremos una tarea y una política explícitas. Para medir RPM más adelante, usaremos el tiempo realmente transcurrido; para un modelo matemático de paso fijo, el tiempo del modelo tendrá su propio significado. Dos relojes con la misma unidad pueden representar referencias distintas.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Un estado conserva qué situación del sistema está activa. Un evento señala algo que ocurrió o una condición que acaba de cumplirse. La transición define a qué estado se pasa y qué acciones se ejecutan. En el semáforo, ROJO, VERDE y AMARILLO son estados. “Han transcurrido tres segundos” es una condición de transición. Una solicitud peatonal puede quedar guardada para atenderse cuando corresponda. Separar estas ideas permite dibujar la lógica antes de escribir switch.</a:t>
            </a:r>
          </a:p>
          <a:p xmlns:a="http://schemas.openxmlformats.org/drawingml/2006/main">
            <a:r>
              <a:t/>
            </a:r>
          </a:p>
          <a:p xmlns:a="http://schemas.openxmlformats.org/drawingml/2006/main">
            <a:r>
              <a:t>Estado / Condición / Siguiente estado</a:t>
            </a:r>
          </a:p>
          <a:p xmlns:a="http://schemas.openxmlformats.org/drawingml/2006/main">
            <a:r>
              <a:t>ROJO / 3 s transcurridos / VERDE</a:t>
            </a:r>
          </a:p>
          <a:p xmlns:a="http://schemas.openxmlformats.org/drawingml/2006/main">
            <a:r>
              <a:t>VERDE / 3 s transcurridos / AMARILLO</a:t>
            </a:r>
          </a:p>
          <a:p xmlns:a="http://schemas.openxmlformats.org/drawingml/2006/main">
            <a:r>
              <a:t>AMARILLO / 1 s transcurrido / ROJO</a:t>
            </a:r>
          </a:p>
          <a:p xmlns:a="http://schemas.openxmlformats.org/drawingml/2006/main">
            <a:r>
              <a:t/>
            </a:r>
          </a:p>
          <a:p xmlns:a="http://schemas.openxmlformats.org/drawingml/2006/main">
            <a:r>
              <a:t>Se pulsa el botón durante verde. ¿Dónde conservas la solicitud hasta llegar a rojo?</a:t>
            </a:r>
          </a:p>
          <a:p xmlns:a="http://schemas.openxmlformats.org/drawingml/2006/main">
            <a:r>
              <a:t>En una variable de solicitud persistente. El evento no se conserva si solo se pregunta por el nivel instantáneo al llegar a rojo. La variable se limpia después de atender la condición definida.</a:t>
            </a:r>
          </a:p>
          <a:p xmlns:a="http://schemas.openxmlformats.org/drawingml/2006/main">
            <a:r>
              <a:t/>
            </a:r>
          </a:p>
          <a:p xmlns:a="http://schemas.openxmlformats.org/drawingml/2006/main">
            <a:r>
              <a:t>Una variable posicionActual en un ascensor de pasos puede guardar la posición ordenada sin haber medido el movimiento. Su nombre no confirma que una cabina haya llegado. En el curso usamos esa diferencia para distinguir estado de software y observación del objeto. La variante de ascensor queda como estudio de lógica; un montaje real necesitaría resolver referencia inicial, driver, sensores y límites del mecanismo.</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Estado / Condición / Siguiente estado</a:t>
            </a:r>
          </a:p>
          <a:p xmlns:a="http://schemas.openxmlformats.org/drawingml/2006/main">
            <a:r>
              <a:t>ROJO / 3 s transcurridos / VERDE</a:t>
            </a:r>
          </a:p>
          <a:p xmlns:a="http://schemas.openxmlformats.org/drawingml/2006/main">
            <a:r>
              <a:t>VERDE / 3 s transcurridos / AMARILLO</a:t>
            </a:r>
          </a:p>
          <a:p xmlns:a="http://schemas.openxmlformats.org/drawingml/2006/main">
            <a:r>
              <a:t>AMARILLO / 1 s transcurrido / ROJO</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Se pulsa el botón durante verde. ¿Dónde conservas la solicitud hasta llegar a rojo?</a:t>
            </a:r>
          </a:p>
          <a:p xmlns:a="http://schemas.openxmlformats.org/drawingml/2006/main">
            <a:r>
              <a:t>En una variable de solicitud persistente. El evento no se conserva si solo se pregunta por el nivel instantáneo al llegar a rojo. La variable se limpia después de atender la condición definida.</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if (digitalRead(BTN) == LOW) request = true;</a:t>
            </a:r>
          </a:p>
          <a:p xmlns:a="http://schemas.openxmlformats.org/drawingml/2006/main">
            <a:r>
              <a:t>if (state == State::GREEN</a:t>
            </a:r>
          </a:p>
          <a:p xmlns:a="http://schemas.openxmlformats.org/drawingml/2006/main">
            <a:r>
              <a:t>    &amp;&amp; uint32_t(now-since) &gt;= 3000) {</a:t>
            </a:r>
          </a:p>
          <a:p xmlns:a="http://schemas.openxmlformats.org/drawingml/2006/main">
            <a:r>
              <a:t>  enter(State::YELLOW, now);</a:t>
            </a:r>
          </a:p>
          <a:p xmlns:a="http://schemas.openxmlformats.org/drawingml/2006/main">
            <a:r>
              <a:t>}</a:t>
            </a:r>
          </a:p>
          <a:p xmlns:a="http://schemas.openxmlformats.org/drawingml/2006/main">
            <a:r>
              <a:t/>
            </a:r>
          </a:p>
          <a:p xmlns:a="http://schemas.openxmlformats.org/drawingml/2006/main">
            <a:r>
              <a:t>La función enter() centraliza la asignación del estado, la referencia temporal y las salidas. Así no quedan luces con valores heredados de otra rama. El programa de referencia registra la solicitud y no obliga a que el usuario siga pulsando hasta el momento de atención. En una interfaz real se puede añadir el antirrebote de la clase anterior. Ambas funciones tienen propósitos distintos: una define la secuencia y la otra interpreta el contacto.</a:t>
            </a:r>
          </a:p>
          <a:p xmlns:a="http://schemas.openxmlformats.org/drawingml/2006/main">
            <a:r>
              <a:t/>
            </a:r>
          </a:p>
          <a:p xmlns:a="http://schemas.openxmlformats.org/drawingml/2006/main">
            <a:r>
              <a:t>Para depurar, construye una tabla con tiempo, estado, entrada y acción. No es necesario imprimir miles de mensajes por segundo. Registra transiciones y hechos importantes para que el monitor permita reconstruir la secuencia. Si cada recorrido de loop() emite una línea, la propia comunicación puede ocupar una parte importante del tiempo y esconder lo que intentabas observar. Un registro útil se diseña alrededor de preguntas concretas.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if (digitalRead(BTN) == LOW) request = true;</a:t>
            </a:r>
          </a:p>
          <a:p xmlns:a="http://schemas.openxmlformats.org/drawingml/2006/main">
            <a:r>
              <a:t>if (state == State::GREEN</a:t>
            </a:r>
          </a:p>
          <a:p xmlns:a="http://schemas.openxmlformats.org/drawingml/2006/main">
            <a:r>
              <a:t>    &amp;&amp; uint32_t(now-since) &gt;= 3000) {</a:t>
            </a:r>
          </a:p>
          <a:p xmlns:a="http://schemas.openxmlformats.org/drawingml/2006/main">
            <a:r>
              <a:t>  enter(State::YELLOW, now);</a:t>
            </a:r>
          </a:p>
          <a:p xmlns:a="http://schemas.openxmlformats.org/drawingml/2006/main">
            <a:r>
              <a:t>}</a:t>
            </a:r>
          </a:p>
          <a:p xmlns:a="http://schemas.openxmlformats.org/drawingml/2006/main">
            <a:r>
              <a:t>Explicar entrada, estado, salida y momento de actualización.</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if (digitalRead(BTN) == LOW) request = true;</a:t>
            </a:r>
          </a:p>
          <a:p xmlns:a="http://schemas.openxmlformats.org/drawingml/2006/main">
            <a:r>
              <a:t>if (state == State::GREEN</a:t>
            </a:r>
          </a:p>
          <a:p xmlns:a="http://schemas.openxmlformats.org/drawingml/2006/main">
            <a:r>
              <a:t>    &amp;&amp; uint32_t(now-since) &gt;= 3000) {</a:t>
            </a:r>
          </a:p>
          <a:p xmlns:a="http://schemas.openxmlformats.org/drawingml/2006/main">
            <a:r>
              <a:t>  enter(State::YELLOW, now);</a:t>
            </a:r>
          </a:p>
          <a:p xmlns:a="http://schemas.openxmlformats.org/drawingml/2006/main">
            <a:r>
              <a:t>}</a:t>
            </a:r>
          </a:p>
          <a:p xmlns:a="http://schemas.openxmlformats.org/drawingml/2006/main">
            <a:r>
              <a:t/>
            </a:r>
          </a:p>
          <a:p xmlns:a="http://schemas.openxmlformats.org/drawingml/2006/main">
            <a:r>
              <a:t>La función enter() centraliza la asignación del estado, la referencia temporal y las salidas. Así no quedan luces con valores heredados de otra rama. El programa de referencia registra la solicitud y no obliga a que el usuario siga pulsando hasta el momento de atención. En una interfaz real se puede añadir el antirrebote de la clase anterior. Ambas funciones tienen propósitos distintos: una define la secuencia y la otra interpreta el contacto.</a:t>
            </a:r>
          </a:p>
          <a:p xmlns:a="http://schemas.openxmlformats.org/drawingml/2006/main">
            <a:r>
              <a:t/>
            </a:r>
          </a:p>
          <a:p xmlns:a="http://schemas.openxmlformats.org/drawingml/2006/main">
            <a:r>
              <a:t>Para depurar, construye una tabla con tiempo, estado, entrada y acción. No es necesario imprimir miles de mensajes por segundo. Registra transiciones y hechos importantes para que el monitor permita reconstruir la secuencia. Si cada recorrido de loop() emite una línea, la propia comunicación puede ocupar una parte importante del tiempo y esconder lo que intentabas observar. Un registro útil se diseña alrededor de preguntas concretas.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Dibuja la tabla de transiciones y señala qué variables deben conservarse.</a:t>
            </a:r>
          </a:p>
          <a:p xmlns:a="http://schemas.openxmlformats.org/drawingml/2006/main">
            <a:r>
              <a:t>Ejecuta el semáforo y pulsa en cada uno de sus tres estados.</a:t>
            </a:r>
          </a:p>
          <a:p xmlns:a="http://schemas.openxmlformats.org/drawingml/2006/main">
            <a:r>
              <a:t>Añade un contador de solicitudes atendidas sin detener la secuencia.</a:t>
            </a:r>
          </a:p>
          <a:p xmlns:a="http://schemas.openxmlformats.org/drawingml/2006/main">
            <a:r>
              <a:t>Compara una versión con delay(3000) y otra por tiempo transcurrido.</a:t>
            </a:r>
          </a:p>
          <a:p xmlns:a="http://schemas.openxmlformats.org/drawingml/2006/main">
            <a:r>
              <a:t>Introduce una acción de parpadeo independiente para mostrar dos agendas.</a:t>
            </a:r>
          </a:p>
          <a:p xmlns:a="http://schemas.openxmlformats.org/drawingml/2006/main">
            <a:r>
              <a:t>Elige caja fuerte o PIR como variante y describe su estado inicial y su transición de retorno.</a:t>
            </a:r>
          </a:p>
          <a:p xmlns:a="http://schemas.openxmlformats.org/drawingml/2006/main">
            <a:r>
              <a:t>Conserva un registro de eventos que permita explicar una prueba completa.</a:t>
            </a:r>
          </a:p>
          <a:p xmlns:a="http://schemas.openxmlformats.org/drawingml/2006/main">
            <a:r>
              <a:t/>
            </a:r>
          </a:p>
          <a:p xmlns:a="http://schemas.openxmlformats.org/drawingml/2006/main">
            <a:r>
              <a:t>Tiempo / ms / Estado / Evento / acción</a:t>
            </a:r>
          </a:p>
          <a:p xmlns:a="http://schemas.openxmlformats.org/drawingml/2006/main">
            <a:r>
              <a:t>Inicio / Por registrar / Estado inicial</a:t>
            </a:r>
          </a:p>
          <a:p xmlns:a="http://schemas.openxmlformats.org/drawingml/2006/main">
            <a:r>
              <a:t>Solicitud / Por registrar / Entrada observada</a:t>
            </a:r>
          </a:p>
          <a:p xmlns:a="http://schemas.openxmlformats.org/drawingml/2006/main">
            <a:r>
              <a:t>Transición / Por registrar / Cambio de salidas</a:t>
            </a:r>
          </a:p>
          <a:p xmlns:a="http://schemas.openxmlformats.org/drawingml/2006/main">
            <a:r>
              <a:t>Atención / Por registrar / Solicitud consumida</a:t>
            </a:r>
          </a:p>
          <a:p xmlns:a="http://schemas.openxmlformats.org/drawingml/2006/main">
            <a:r>
              <a:t/>
            </a:r>
          </a:p>
          <a:p xmlns:a="http://schemas.openxmlformats.org/drawingml/2006/main">
            <a:r>
              <a:t>La prueba busca una diferencia de comportamiento: por ejemplo, qué sucede con una solicitud breve que aparece durante una espera. Observar solo que las luces completan el ciclo no responde esa pregunta. Si el equipo afirma que la respuesta es “inmediata”, debe decir cómo la observó y qué demora podría no detectar con ese método. En esta etapa basta demostrar que el evento se conserva y se atiende según una regla.</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Tiempo / ms / Estado / Evento / acción</a:t>
            </a:r>
          </a:p>
          <a:p xmlns:a="http://schemas.openxmlformats.org/drawingml/2006/main">
            <a:r>
              <a:t>Inicio / Por registrar / Estado inicial</a:t>
            </a:r>
          </a:p>
          <a:p xmlns:a="http://schemas.openxmlformats.org/drawingml/2006/main">
            <a:r>
              <a:t>Solicitud / Por registrar / Entrada observada</a:t>
            </a:r>
          </a:p>
          <a:p xmlns:a="http://schemas.openxmlformats.org/drawingml/2006/main">
            <a:r>
              <a:t>Transición / Por registrar / Cambio de salidas</a:t>
            </a:r>
          </a:p>
          <a:p xmlns:a="http://schemas.openxmlformats.org/drawingml/2006/main">
            <a:r>
              <a:t>Atención / Por registrar / Solicitud consumida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Dibuja la tabla de transiciones y señala qué variables deben conservarse.</a:t>
            </a:r>
          </a:p>
          <a:p xmlns:a="http://schemas.openxmlformats.org/drawingml/2006/main">
            <a:r>
              <a:t>Ejecuta el semáforo y pulsa en cada uno de sus tres estados.</a:t>
            </a:r>
          </a:p>
          <a:p xmlns:a="http://schemas.openxmlformats.org/drawingml/2006/main">
            <a:r>
              <a:t>Añade un contador de solicitudes atendidas sin detener la secuencia.</a:t>
            </a:r>
          </a:p>
          <a:p xmlns:a="http://schemas.openxmlformats.org/drawingml/2006/main">
            <a:r>
              <a:t>Compara una versión con delay(3000) y otra por tiempo transcurrido.</a:t>
            </a:r>
          </a:p>
          <a:p xmlns:a="http://schemas.openxmlformats.org/drawingml/2006/main">
            <a:r>
              <a:t>Introduce una acción de parpadeo independiente para mostrar dos agendas.</a:t>
            </a:r>
          </a:p>
          <a:p xmlns:a="http://schemas.openxmlformats.org/drawingml/2006/main">
            <a:r>
              <a:t>Elige caja fuerte o PIR como variante y describe su estado inicial y su transición de retorno.</a:t>
            </a:r>
          </a:p>
          <a:p xmlns:a="http://schemas.openxmlformats.org/drawingml/2006/main">
            <a:r>
              <a:t>Conserva un registro de eventos que permita explicar una prueba completa.</a:t>
            </a:r>
          </a:p>
          <a:p xmlns:a="http://schemas.openxmlformats.org/drawingml/2006/main">
            <a:r>
              <a:t>Verificar un paso antes de seguir.</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aplicación cercana al mercado UAV puede usar INICIO, LISTO y FALLO. En INICIO se preparan los periféricos; en LISTO se adquieren y muestran datos; en FALLO se informa una condición que impide tratarlos como recientes. El estado describe el sistema, mientras un LED u OLED lo presenta. La misma estructura permitirá que la clase final detecte un sensor ausente sin seguir mostrando una lectura antigua como si fuera nueva.</a:t>
            </a:r>
          </a:p>
          <a:p xmlns:a="http://schemas.openxmlformats.org/drawingml/2006/main">
            <a:r>
              <a:t/>
            </a:r>
          </a:p>
          <a:p xmlns:a="http://schemas.openxmlformats.org/drawingml/2006/main">
            <a:r>
              <a:t>Proyecto / Evento / Qué se conserva</a:t>
            </a:r>
          </a:p>
          <a:p xmlns:a="http://schemas.openxmlformats.org/drawingml/2006/main">
            <a:r>
              <a:t>Caja fuerte / Clave aceptada / Estado de acceso</a:t>
            </a:r>
          </a:p>
          <a:p xmlns:a="http://schemas.openxmlformats.org/drawingml/2006/main">
            <a:r>
              <a:t>PIR / Cambio de movimiento / Estado de aviso</a:t>
            </a:r>
          </a:p>
          <a:p xmlns:a="http://schemas.openxmlformats.org/drawingml/2006/main">
            <a:r>
              <a:t>Banco UAV / Lectura vencida / Estado de datos</a:t>
            </a:r>
          </a:p>
          <a:p xmlns:a="http://schemas.openxmlformats.org/drawingml/2006/main">
            <a:r>
              <a:t/>
            </a:r>
          </a:p>
          <a:p xmlns:a="http://schemas.openxmlformats.org/drawingml/2006/main">
            <a:r>
              <a:t>Investiga en una biblioteca si sus funciones esperan a terminar una operación. Una interfaz aparentemente sencilla puede ocultar una espera. Identifica el comportamiento de motor.step() en la variante del ascensor y de pulseIn() en el sensor ultrasónico. Una arquitectura sin delay() todavía puede bloquear en otras llamadas. La habilidad es reconocer la duración y el lugar de la espera, no buscar una palabra prohibida.</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4 minutos en esta diapositiva.</a:t>
            </a:r>
          </a:p>
          <a:p xmlns:a="http://schemas.openxmlformats.org/drawingml/2006/main">
            <a:r>
              <a:t/>
            </a:r>
          </a:p>
          <a:p xmlns:a="http://schemas.openxmlformats.org/drawingml/2006/main">
            <a:r>
              <a:t>Proyecto / Evento / Qué se conserva</a:t>
            </a:r>
          </a:p>
          <a:p xmlns:a="http://schemas.openxmlformats.org/drawingml/2006/main">
            <a:r>
              <a:t>Caja fuerte / Clave aceptada / Estado de acceso</a:t>
            </a:r>
          </a:p>
          <a:p xmlns:a="http://schemas.openxmlformats.org/drawingml/2006/main">
            <a:r>
              <a:t>PIR / Cambio de movimiento / Estado de aviso</a:t>
            </a:r>
          </a:p>
          <a:p xmlns:a="http://schemas.openxmlformats.org/drawingml/2006/main">
            <a:r>
              <a:t>Banco UAV / Lectura vencida / Estado de datos</a:t>
            </a:r>
          </a:p>
          <a:p xmlns:a="http://schemas.openxmlformats.org/drawingml/2006/main">
            <a:r>
              <a:t>Comparar filas y explicar una condición que cambie la decisión.</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Una aplicación cercana al mercado UAV puede usar INICIO, LISTO y FALLO. En INICIO se preparan los periféricos; en LISTO se adquieren y muestran datos; en FALLO se informa una condición que impide tratarlos como recientes. El estado describe el sistema, mientras un LED u OLED lo presenta. La misma estructura permitirá que la clase final detecte un sensor ausente sin seguir mostrando una lectura antigua como si fuera nueva.</a:t>
            </a:r>
          </a:p>
          <a:p xmlns:a="http://schemas.openxmlformats.org/drawingml/2006/main">
            <a:r>
              <a:t/>
            </a:r>
          </a:p>
          <a:p xmlns:a="http://schemas.openxmlformats.org/drawingml/2006/main">
            <a:r>
              <a:t>Proyecto / Evento / Qué se conserva</a:t>
            </a:r>
          </a:p>
          <a:p xmlns:a="http://schemas.openxmlformats.org/drawingml/2006/main">
            <a:r>
              <a:t>Caja fuerte / Clave aceptada / Estado de acceso</a:t>
            </a:r>
          </a:p>
          <a:p xmlns:a="http://schemas.openxmlformats.org/drawingml/2006/main">
            <a:r>
              <a:t>PIR / Cambio de movimiento / Estado de aviso</a:t>
            </a:r>
          </a:p>
          <a:p xmlns:a="http://schemas.openxmlformats.org/drawingml/2006/main">
            <a:r>
              <a:t>Banco UAV / Lectura vencida / Estado de datos</a:t>
            </a:r>
          </a:p>
          <a:p xmlns:a="http://schemas.openxmlformats.org/drawingml/2006/main">
            <a:r>
              <a:t/>
            </a:r>
          </a:p>
          <a:p xmlns:a="http://schemas.openxmlformats.org/drawingml/2006/main">
            <a:r>
              <a:t>Investiga en una biblioteca si sus funciones esperan a terminar una operación. Una interfaz aparentemente sencilla puede ocultar una espera. Identifica el comportamiento de motor.step() en la variante del ascensor y de pulseIn() en el sensor ultrasónico. Una arquitectura sin delay() todavía puede bloquear en otras llamadas. La habilidad es reconocer la duración y el lugar de la espera, no buscar una palabra prohibida.</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12 minutos en esta diapositiva.</a:t>
            </a:r>
          </a:p>
          <a:p xmlns:a="http://schemas.openxmlformats.org/drawingml/2006/main">
            <a:r>
              <a:t/>
            </a:r>
          </a:p>
          <a:p xmlns:a="http://schemas.openxmlformats.org/drawingml/2006/main">
            <a:r>
              <a:t>Plantear una solicitud que ocurra en mitad de una secuencia.</a:t>
            </a:r>
          </a:p>
          <a:p xmlns:a="http://schemas.openxmlformats.org/drawingml/2006/main">
            <a:r>
              <a:t>Describir la tabla de estados antes de ejecutar el programa.</a:t>
            </a:r>
          </a:p>
          <a:p xmlns:a="http://schemas.openxmlformats.org/drawingml/2006/main">
            <a:r>
              <a:t>Comparar las dos políticas de temporización con c03_estados.</a:t>
            </a:r>
          </a:p>
          <a:p xmlns:a="http://schemas.openxmlformats.org/drawingml/2006/main">
            <a:r>
              <a:t>Transferir la misma lógica a INICIO, LISTO y FALLO.</a:t>
            </a:r>
          </a:p>
          <a:p xmlns:a="http://schemas.openxmlformats.org/drawingml/2006/main">
            <a:r>
              <a:t>Rotar código, medida y registro.</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adquisición de sensores, los avisos y la interfaz de un banco UAV necesitan convivir sin esperas largas.</a:t>
            </a:r>
          </a:p>
          <a:p xmlns:a="http://schemas.openxmlformats.org/drawingml/2006/main">
            <a:r>
              <a:t>Tabla de estados, variante temporal y registro de atención de eventos.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Temporización y máquinas de estados: atender más de una tarea.</a:t>
            </a:r>
          </a:p>
          <a:p xmlns:a="http://schemas.openxmlformats.org/drawingml/2006/main">
            <a:r>
              <a:t>En línea, 2 horas. Núcleo de explicación: 5 minutos en esta diapositiva.</a:t>
            </a:r>
          </a:p>
          <a:p xmlns:a="http://schemas.openxmlformats.org/drawingml/2006/main">
            <a:r>
              <a:t/>
            </a:r>
          </a:p>
          <a:p xmlns:a="http://schemas.openxmlformats.org/drawingml/2006/main">
            <a:r>
              <a:t>Tabla de estados, variante temporal y registro de atención de eventos.</a:t>
            </a:r>
          </a:p>
          <a:p xmlns:a="http://schemas.openxmlformats.org/drawingml/2006/main">
            <a:r>
              <a:t/>
            </a:r>
          </a:p>
          <a:p xmlns:a="http://schemas.openxmlformats.org/drawingml/2006/main">
            <a:r>
              <a:t>Objetivo: Construir una secuencia que siga atendiendo eventos mientras transcurre un intervalo.</a:t>
            </a:r>
          </a:p>
          <a:p xmlns:a="http://schemas.openxmlformats.org/drawingml/2006/main">
            <a:r>
              <a:t>Aplicación: La adquisición de sensores, los avisos y la interfaz de un banco UAV necesitan convivir sin esperas largas.</a:t>
            </a:r>
          </a:p>
          <a:p xmlns:a="http://schemas.openxmlformats.org/drawingml/2006/main">
            <a:r>
              <a:t>Entrega: Tabla de estados, variante temporal y registro de atención de eventos.</a:t>
            </a:r>
          </a:p>
          <a:p xmlns:a="http://schemas.openxmlformats.org/drawingml/2006/main">
            <a:r>
              <a:t/>
            </a:r>
          </a:p>
          <a:p xmlns:a="http://schemas.openxmlformats.org/drawingml/2006/main">
            <a:r>
              <a:t>Preguntas y respuestas</a:t>
            </a:r>
          </a:p>
          <a:p xmlns:a="http://schemas.openxmlformats.org/drawingml/2006/main">
            <a:r>
              <a:t>¿Quitar delay() garantiza un programa no bloqueante?</a:t>
            </a:r>
          </a:p>
          <a:p xmlns:a="http://schemas.openxmlformats.org/drawingml/2006/main">
            <a:r>
              <a:t>No; otras llamadas también pueden esperar. Hay que estudiar su duración y su efecto.</a:t>
            </a:r>
          </a:p>
          <a:p xmlns:a="http://schemas.openxmlformats.org/drawingml/2006/main">
            <a:r>
              <a:t/>
            </a:r>
          </a:p>
          <a:p xmlns:a="http://schemas.openxmlformats.org/drawingml/2006/main">
            <a:r>
              <a:t>¿Qué guarda la solicitud?</a:t>
            </a:r>
          </a:p>
          <a:p xmlns:a="http://schemas.openxmlformats.org/drawingml/2006/main">
            <a:r>
              <a:t>Una variable persistente que se limpia al atenderla según la regla.</a:t>
            </a:r>
          </a:p>
          <a:p xmlns:a="http://schemas.openxmlformats.org/drawingml/2006/main">
            <a:r>
              <a:t/>
            </a:r>
          </a:p>
          <a:p xmlns:a="http://schemas.openxmlformats.org/drawingml/2006/main">
            <a:r>
              <a:t>¿posicionActual demuestra posición física?</a:t>
            </a:r>
          </a:p>
          <a:p xmlns:a="http://schemas.openxmlformats.org/drawingml/2006/main">
            <a:r>
              <a:t>Solo si existe una medición que la respalde; un conteo de pasos ordenados puede ser únicamente una estimación.</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Arduino. Referencia del lenguaje: millis. https://docs.arduino.cc/language-reference/en/functions/time/millis/</a:t>
            </a:r>
          </a:p>
          <a:p xmlns:a="http://schemas.openxmlformats.org/drawingml/2006/main">
            <a:r>
              <a:t>Espressif Systems. Arduino-ESP32: Serial/UART. https://docs.espressif.com/projects/arduino-esp32/en/latest/api/serial.html</a:t>
            </a:r>
          </a:p>
          <a:p xmlns:a="http://schemas.openxmlformats.org/drawingml/2006/main">
            <a:r>
              <a:t>Lectura MECRO_ESP32_Clase_03.pdf.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que invertir el divisor invierte la tendencia de la lectura.</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 sensor analógico representa una condición mediante una tensión. El convertidor analógico a digital devuelve un número que depende de esa tensión y de la configuración. En una lectura de 12 bits existen 4096 códigos posibles, numerados de 0 a 4095. Esa cantidad describe resolución de código; no demuestra exactitud ni una relación perfectamente lineal en toda la entrada. El ESP32 clásico ofrece varios canales y restricciones que hay que relacionar con el pin elegido.</a:t>
            </a:r>
          </a:p>
          <a:p xmlns:a="http://schemas.openxmlformats.org/drawingml/2006/main">
            <a:r>
              <a:t/>
            </a:r>
          </a:p>
          <a:p xmlns:a="http://schemas.openxmlformats.org/drawingml/2006/main">
            <a:r>
              <a:t>MECRO, proyecto 03.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GPIO34 pertenece a ADC1 y es una entrada sin pull-up interno. En nuestro banco se conecta a un potenciómetro o a la salida analógica de un divisor de luz que respete el rango del pin. Elegimos ADC1 para que la práctica se pueda conservar cuando añadamos Wi-Fi. La elección no convierte el pin en tolerante a 5 V. La configuración de atenuación y el rango útil se consultan para la variante real.</a:t>
            </a:r>
          </a:p>
          <a:p xmlns:a="http://schemas.openxmlformats.org/drawingml/2006/main">
            <a:r>
              <a:t/>
            </a:r>
          </a:p>
          <a:p xmlns:a="http://schemas.openxmlformats.org/drawingml/2006/main">
            <a:r>
              <a:t>La LDR cambia su resistencia con la iluminación. El divisor la transforma en tensión. Si se intercambia la posición de la LDR y del resistor fijo, se invierte la tendencia de la lectura. Por eso no se enseña que oscuridad equivale siempre a un número pequeño. Se sigue el circuito y se mide la tendencia. Ese razonamiento también sirve al interpretar un joystick o cualquier sensor con salida analógica.</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03. Esquema original del laboratorio para reconocer la arquitectura en Wokwi. Para montaje físico se aplica la tabla y las correcciones de esta lectura.</a:t>
            </a:r>
          </a:p>
          <a:p xmlns:a="http://schemas.openxmlformats.org/drawingml/2006/main">
            <a:r>
              <a:t>Un sensor analógico representa una condición mediante una tensión. El convertidor analógico a digital devuelve un número que depende de esa tensión y de la configuración. En una lectura de 12 bits existen 4096 códigos posibles, numerados de 0 a 4095. Esa cantidad describe resolución de código; no demuestra exactitud ni una relación perfectamente lineal en toda la entrada. El ESP32 clásico ofrece varios canales y restricciones que hay que relacionar con el pin elegido.</a:t>
            </a:r>
          </a:p>
          <a:p xmlns:a="http://schemas.openxmlformats.org/drawingml/2006/main">
            <a:r>
              <a:t/>
            </a:r>
          </a:p>
          <a:p xmlns:a="http://schemas.openxmlformats.org/drawingml/2006/main">
            <a:r>
              <a:t>MECRO, proyecto 03.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GPIO34 pertenece a ADC1 y es una entrada sin pull-up interno. En nuestro banco se conecta a un potenciómetro o a la salida analógica de un divisor de luz que respete el rango del pin. Elegimos ADC1 para que la práctica se pueda conservar cuando añadamos Wi-Fi. La elección no convierte el pin en tolerante a 5 V. La configuración de atenuación y el rango útil se consultan para la variante real.</a:t>
            </a:r>
          </a:p>
          <a:p xmlns:a="http://schemas.openxmlformats.org/drawingml/2006/main">
            <a:r>
              <a:t/>
            </a:r>
          </a:p>
          <a:p xmlns:a="http://schemas.openxmlformats.org/drawingml/2006/main">
            <a:r>
              <a:t>La LDR cambia su resistencia con la iluminación. El divisor la transforma en tensión. Si se intercambia la posición de la LDR y del resistor fijo, se invierte la tendencia de la lectura. Por eso no se enseña que oscuridad equivale siempre a un número pequeño. Se sigue el circuito y se mide la tendencia. Ese razonamiento también sirve al interpretar un joystick o cualquier sensor con salida analógica.</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Un sensor analógico representa una condición mediante una tensión. El convertidor analógico a digital devuelve un número que depende de esa tensión y de la configuración. En una lectura de 12 bits existen 4096 códigos posibles, numerados de 0 a 4095. Esa cantidad describe resolución de código; no demuestra exactitud ni una relación perfectamente lineal en toda la entrada. El ESP32 clásico ofrece varios canales y restricciones que hay que relacionar con el pin elegido.</a:t>
            </a:r>
          </a:p>
          <a:p xmlns:a="http://schemas.openxmlformats.org/drawingml/2006/main">
            <a:r>
              <a:t/>
            </a:r>
          </a:p>
          <a:p xmlns:a="http://schemas.openxmlformats.org/drawingml/2006/main">
            <a:r>
              <a:t>MECRO, proyecto 03.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GPIO34 pertenece a ADC1 y es una entrada sin pull-up interno. En nuestro banco se conecta a un potenciómetro o a la salida analógica de un divisor de luz que respete el rango del pin. Elegimos ADC1 para que la práctica se pueda conservar cuando añadamos Wi-Fi. La elección no convierte el pin en tolerante a 5 V. La configuración de atenuación y el rango útil se consultan para la variante real.</a:t>
            </a:r>
          </a:p>
          <a:p xmlns:a="http://schemas.openxmlformats.org/drawingml/2006/main">
            <a:r>
              <a:t/>
            </a:r>
          </a:p>
          <a:p xmlns:a="http://schemas.openxmlformats.org/drawingml/2006/main">
            <a:r>
              <a:t>La LDR cambia su resistencia con la iluminación. El divisor la transforma en tensión. Si se intercambia la posición de la LDR y del resistor fijo, se invierte la tendencia de la lectura. Por eso no se enseña que oscuridad equivale siempre a un número pequeño. Se sigue el circuito y se mide la tendencia. Ese razonamiento también sirve al interpretar un joystick o cualquier sensor con salida analógica.</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Esta relación describe un ADC ideal con escala VFS definida. No declara el rango real ni la exactitud del ESP32.</a:t>
            </a:r>
          </a:p>
          <a:p xmlns:a="http://schemas.openxmlformats.org/drawingml/2006/main">
            <a:r>
              <a:t/>
            </a:r>
          </a:p>
          <a:p xmlns:a="http://schemas.openxmlformats.org/drawingml/2006/main">
            <a:r>
              <a:t>En un modelo ideal con escala completa de 3,0 V, el código 2048 representa aproximadamente 1,50 V. En hardware comparamos esa idea con una medición y con la API calibrada disponible. analogRead() devuelve código bruto y analogReadMilliVolts() ofrece una conversión calibrada según el soporte de la plataforma. Una variable llamada voltaje no queda calibrada por recibir ese nombre. El alumno conserva el método de obtención junto al dato.</a:t>
            </a:r>
          </a:p>
          <a:p xmlns:a="http://schemas.openxmlformats.org/drawingml/2006/main">
            <a:r>
              <a:t/>
            </a:r>
          </a:p>
          <a:p xmlns:a="http://schemas.openxmlformats.org/drawingml/2006/main">
            <a:r>
              <a:t>Concepto / Qué describe / Ejemplo de comprobación</a:t>
            </a:r>
          </a:p>
          <a:p xmlns:a="http://schemas.openxmlformats.org/drawingml/2006/main">
            <a:r>
              <a:t>Resolución / Cantidad de códigos / 12 bits: 4096 códigos</a:t>
            </a:r>
          </a:p>
          <a:p xmlns:a="http://schemas.openxmlformats.org/drawingml/2006/main">
            <a:r>
              <a:t>Exactitud / Cercanía a referencia / Comparar con instrumento</a:t>
            </a:r>
          </a:p>
          <a:p xmlns:a="http://schemas.openxmlformats.org/drawingml/2006/main">
            <a:r>
              <a:t>Repetibilidad / Dispersión al repetir / Varias lecturas iguales</a:t>
            </a:r>
          </a:p>
          <a:p xmlns:a="http://schemas.openxmlformats.org/drawingml/2006/main">
            <a:r>
              <a:t>Saturación / Extremo de conversión / Más entrada, mismo código</a:t>
            </a:r>
          </a:p>
          <a:p xmlns:a="http://schemas.openxmlformats.org/drawingml/2006/main">
            <a:r>
              <a:t/>
            </a:r>
          </a:p>
          <a:p xmlns:a="http://schemas.openxmlformats.org/drawingml/2006/main">
            <a:r>
              <a:t>Para construir una escala de trabajo, observa dos condiciones reproducibles. En la LDR pueden ser dos niveles de iluminación del banco; en un joystick, centro y recorridos permitidos. Los valores se guardan como datos de ese montaje. No se presentan como propiedades universales del componente. Conviene evitar las zonas donde la lectura se satura y perdería capacidad para distinguir cambios.</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Concepto / Qué describe / Ejemplo de comprobación</a:t>
            </a:r>
          </a:p>
          <a:p xmlns:a="http://schemas.openxmlformats.org/drawingml/2006/main">
            <a:r>
              <a:t>Resolución / Cantidad de códigos / 12 bits: 4096 códigos</a:t>
            </a:r>
          </a:p>
          <a:p xmlns:a="http://schemas.openxmlformats.org/drawingml/2006/main">
            <a:r>
              <a:t>Exactitud / Cercanía a referencia / Comparar con instrumento</a:t>
            </a:r>
          </a:p>
          <a:p xmlns:a="http://schemas.openxmlformats.org/drawingml/2006/main">
            <a:r>
              <a:t>Repetibilidad / Dispersión al repetir / Varias lecturas iguales</a:t>
            </a:r>
          </a:p>
          <a:p xmlns:a="http://schemas.openxmlformats.org/drawingml/2006/main">
            <a:r>
              <a:t>Saturación / Extremo de conversión / Más entrada, mismo código</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Esta relación describe un ADC ideal con escala VFS definida. No declara el rango real ni la exactitud del ESP32.</a:t>
            </a:r>
          </a:p>
          <a:p xmlns:a="http://schemas.openxmlformats.org/drawingml/2006/main">
            <a:r>
              <a:t/>
            </a:r>
          </a:p>
          <a:p xmlns:a="http://schemas.openxmlformats.org/drawingml/2006/main">
            <a:r>
              <a:t>En un modelo ideal con escala completa de 3,0 V, el código 2048 representa aproximadamente 1,50 V. En hardware comparamos esa idea con una medición y con la API calibrada disponible. analogRead() devuelve código bruto y analogReadMilliVolts() ofrece una conversión calibrada según el soporte de la plataforma. Una variable llamada voltaje no queda calibrada por recibir ese nombre. El alumno conserva el método de obtención junto al dato.</a:t>
            </a:r>
          </a:p>
          <a:p xmlns:a="http://schemas.openxmlformats.org/drawingml/2006/main">
            <a:r>
              <a:t/>
            </a:r>
          </a:p>
          <a:p xmlns:a="http://schemas.openxmlformats.org/drawingml/2006/main">
            <a:r>
              <a:t>Concepto / Qué describe / Ejemplo de comprobación</a:t>
            </a:r>
          </a:p>
          <a:p xmlns:a="http://schemas.openxmlformats.org/drawingml/2006/main">
            <a:r>
              <a:t>Resolución / Cantidad de códigos / 12 bits: 4096 códigos</a:t>
            </a:r>
          </a:p>
          <a:p xmlns:a="http://schemas.openxmlformats.org/drawingml/2006/main">
            <a:r>
              <a:t>Exactitud / Cercanía a referencia / Comparar con instrumento</a:t>
            </a:r>
          </a:p>
          <a:p xmlns:a="http://schemas.openxmlformats.org/drawingml/2006/main">
            <a:r>
              <a:t>Repetibilidad / Dispersión al repetir / Varias lecturas iguales</a:t>
            </a:r>
          </a:p>
          <a:p xmlns:a="http://schemas.openxmlformats.org/drawingml/2006/main">
            <a:r>
              <a:t>Saturación / Extremo de conversión / Más entrada, mismo código</a:t>
            </a:r>
          </a:p>
          <a:p xmlns:a="http://schemas.openxmlformats.org/drawingml/2006/main">
            <a:r>
              <a:t/>
            </a:r>
          </a:p>
          <a:p xmlns:a="http://schemas.openxmlformats.org/drawingml/2006/main">
            <a:r>
              <a:t>Para construir una escala de trabajo, observa dos condiciones reproducibles. En la LDR pueden ser dos niveles de iluminación del banco; en un joystick, centro y recorridos permitidos. Los valores se guardan como datos de ese montaje. No se presentan como propiedades universales del componente. Conviene evitar las zonas donde la lectura se satura y perdería capacidad para distinguir cambios.</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lectura real puede fluctuar aunque el objeto parezca quieto. Un promedio reduce algunas variaciones rápidas, pero también retrasa cambios y no corrige un sesgo de calibración. La histéresis usa dos límites para evitar que una salida cambie repetidamente cuando la entrada oscila cerca de una frontera. Si el sistema ya está encendido, requiere superar el umbral de apagado para cambiar de estado; entre ambos conserva su decisión.</a:t>
            </a:r>
          </a:p>
          <a:p xmlns:a="http://schemas.openxmlformats.org/drawingml/2006/main">
            <a:r>
              <a:t/>
            </a:r>
          </a:p>
          <a:p xmlns:a="http://schemas.openxmlformats.org/drawingml/2006/main">
            <a:r>
              <a:t>La secuencia es 1490, 1510, 1495, 1505, 1820. El sistema inicia apagado, enciende por debajo de 1500 y apaga por encima de 1800. ¿Qué estados aparecen?</a:t>
            </a:r>
          </a:p>
          <a:p xmlns:a="http://schemas.openxmlformats.org/drawingml/2006/main">
            <a:r>
              <a:t>Enciende con 1490; mantiene encendido con 1510, 1495 y 1505; apaga con 1820. El intervalo intermedio conserva memoria del estado.</a:t>
            </a:r>
          </a:p>
          <a:p xmlns:a="http://schemas.openxmlformats.org/drawingml/2006/main">
            <a:r>
              <a:t/>
            </a:r>
          </a:p>
          <a:p xmlns:a="http://schemas.openxmlformats.org/drawingml/2006/main">
            <a:r>
              <a:t>Operación / Ayuda a / No resuelve por sí sola</a:t>
            </a:r>
          </a:p>
          <a:p xmlns:a="http://schemas.openxmlformats.org/drawingml/2006/main">
            <a:r>
              <a:t>Promedio / Atenuar fluctuación / Calibración absoluta</a:t>
            </a:r>
          </a:p>
          <a:p xmlns:a="http://schemas.openxmlformats.org/drawingml/2006/main">
            <a:r>
              <a:t>Histéresis / Evitar conmutación repetida / Cambiar polaridad del divisor</a:t>
            </a:r>
          </a:p>
          <a:p xmlns:a="http://schemas.openxmlformats.org/drawingml/2006/main">
            <a:r>
              <a:t>Límite de rango / Detectar o recortar extremos / Recuperar información saturada</a:t>
            </a:r>
          </a:p>
          <a:p xmlns:a="http://schemas.openxmlformats.org/drawingml/2006/main">
            <a:r>
              <a:t/>
            </a:r>
          </a:p>
          <a:p xmlns:a="http://schemas.openxmlformats.org/drawingml/2006/main">
            <a:r>
              <a:t>Antes de filtrar, busca si la variación corresponde al objeto o al montaje. Mover un cable defectuoso no produce el mismo problema que una señal física cambiante. En el registro se conservan lectura bruta y resultado procesado. Si solo guardas el promedio, será difícil investigar qué sucedió con la entrada original.</a:t>
            </a:r>
          </a:p>
          <a:p xmlns:a="http://schemas.openxmlformats.org/drawingml/2006/main">
            <a:r>
              <a:t/>
            </a:r>
          </a:p>
          <a:p xmlns:a="http://schemas.openxmlformats.org/drawingml/2006/main">
            <a:r>
              <a:t>Modelo ideal para aprender la escala. No representa calibración ni exactitud del ADC físico.</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Operación / Ayuda a / No resuelve por sí sola</a:t>
            </a:r>
          </a:p>
          <a:p xmlns:a="http://schemas.openxmlformats.org/drawingml/2006/main">
            <a:r>
              <a:t>Promedio / Atenuar fluctuación / Calibración absoluta</a:t>
            </a:r>
          </a:p>
          <a:p xmlns:a="http://schemas.openxmlformats.org/drawingml/2006/main">
            <a:r>
              <a:t>Histéresis / Evitar conmutación repetida / Cambiar polaridad del divisor</a:t>
            </a:r>
          </a:p>
          <a:p xmlns:a="http://schemas.openxmlformats.org/drawingml/2006/main">
            <a:r>
              <a:t>Límite de rango / Detectar o recortar extremos / Recuperar información saturada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Modelo ideal para aprender la escala. No representa calibración ni exactitud del ADC físico.</a:t>
            </a:r>
          </a:p>
          <a:p xmlns:a="http://schemas.openxmlformats.org/drawingml/2006/main">
            <a:r>
              <a:t>Una lectura real puede fluctuar aunque el objeto parezca quieto. Un promedio reduce algunas variaciones rápidas, pero también retrasa cambios y no corrige un sesgo de calibración. La histéresis usa dos límites para evitar que una salida cambie repetidamente cuando la entrada oscila cerca de una frontera. Si el sistema ya está encendido, requiere superar el umbral de apagado para cambiar de estado; entre ambos conserva su decisión.</a:t>
            </a:r>
          </a:p>
          <a:p xmlns:a="http://schemas.openxmlformats.org/drawingml/2006/main">
            <a:r>
              <a:t/>
            </a:r>
          </a:p>
          <a:p xmlns:a="http://schemas.openxmlformats.org/drawingml/2006/main">
            <a:r>
              <a:t>La secuencia es 1490, 1510, 1495, 1505, 1820. El sistema inicia apagado, enciende por debajo de 1500 y apaga por encima de 1800. ¿Qué estados aparecen?</a:t>
            </a:r>
          </a:p>
          <a:p xmlns:a="http://schemas.openxmlformats.org/drawingml/2006/main">
            <a:r>
              <a:t>Enciende con 1490; mantiene encendido con 1510, 1495 y 1505; apaga con 1820. El intervalo intermedio conserva memoria del estado.</a:t>
            </a:r>
          </a:p>
          <a:p xmlns:a="http://schemas.openxmlformats.org/drawingml/2006/main">
            <a:r>
              <a:t/>
            </a:r>
          </a:p>
          <a:p xmlns:a="http://schemas.openxmlformats.org/drawingml/2006/main">
            <a:r>
              <a:t>Operación / Ayuda a / No resuelve por sí sola</a:t>
            </a:r>
          </a:p>
          <a:p xmlns:a="http://schemas.openxmlformats.org/drawingml/2006/main">
            <a:r>
              <a:t>Promedio / Atenuar fluctuación / Calibración absoluta</a:t>
            </a:r>
          </a:p>
          <a:p xmlns:a="http://schemas.openxmlformats.org/drawingml/2006/main">
            <a:r>
              <a:t>Histéresis / Evitar conmutación repetida / Cambiar polaridad del divisor</a:t>
            </a:r>
          </a:p>
          <a:p xmlns:a="http://schemas.openxmlformats.org/drawingml/2006/main">
            <a:r>
              <a:t>Límite de rango / Detectar o recortar extremos / Recuperar información saturada</a:t>
            </a:r>
          </a:p>
          <a:p xmlns:a="http://schemas.openxmlformats.org/drawingml/2006/main">
            <a:r>
              <a:t/>
            </a:r>
          </a:p>
          <a:p xmlns:a="http://schemas.openxmlformats.org/drawingml/2006/main">
            <a:r>
              <a:t>Antes de filtrar, busca si la variación corresponde al objeto o al montaje. Mover un cable defectuoso no produce el mismo problema que una señal física cambiante. En el registro se conservan lectura bruta y resultado procesado. Si solo guardas el promedio, será difícil investigar qué sucedió con la entrada original.</a:t>
            </a:r>
          </a:p>
          <a:p xmlns:a="http://schemas.openxmlformats.org/drawingml/2006/main">
            <a:r>
              <a:t/>
            </a:r>
          </a:p>
          <a:p xmlns:a="http://schemas.openxmlformats.org/drawingml/2006/main">
            <a:r>
              <a:t>Modelo ideal para aprender la escala. No representa calibración ni exactitud del ADC físico.</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int raw = analogRead(34);</a:t>
            </a:r>
          </a:p>
          <a:p xmlns:a="http://schemas.openxmlformats.org/drawingml/2006/main">
            <a:r>
              <a:t>if (raw &lt; 1500) on = true;</a:t>
            </a:r>
          </a:p>
          <a:p xmlns:a="http://schemas.openxmlformats.org/drawingml/2006/main">
            <a:r>
              <a:t>else if (raw &gt; 1800) on = false;</a:t>
            </a:r>
          </a:p>
          <a:p xmlns:a="http://schemas.openxmlformats.org/drawingml/2006/main">
            <a:r>
              <a:t>digitalWrite(23, on);</a:t>
            </a:r>
          </a:p>
          <a:p xmlns:a="http://schemas.openxmlformats.org/drawingml/2006/main">
            <a:r>
              <a:t/>
            </a:r>
          </a:p>
          <a:p xmlns:a="http://schemas.openxmlformats.org/drawingml/2006/main">
            <a:r>
              <a:t>Entre ambos umbrales no se asigna un valor nuevo a on. Esa ausencia es deliberada: la variable mantiene el estado anterior. Cambiar else if por otra regla independiente puede modificar el comportamiento si las condiciones se solapan. La versión completa configura resolución y atenuación y registra tiempo, código y estado. El periodo de 50 ms se declara para que los datos puedan compararse.</a:t>
            </a:r>
          </a:p>
          <a:p xmlns:a="http://schemas.openxmlformats.org/drawingml/2006/main">
            <a:r>
              <a:t/>
            </a:r>
          </a:p>
          <a:p xmlns:a="http://schemas.openxmlformats.org/drawingml/2006/main">
            <a:r>
              <a:t>map() realiza una transformación de escala con aritmética entera y no limita automáticamente la salida. Si un valor excede los extremos de entrada, el resultado puede exceder los extremos deseados. Cuando el proyecto necesita recortar, se hace explícitamente y se conserva el hecho de que la entrada salió del rango. Una escala de porcentaje es una convención de trabajo; no equivale automáticamente a una medida física certificada de iluminación o humedad.</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int raw = analogRead(34);</a:t>
            </a:r>
          </a:p>
          <a:p xmlns:a="http://schemas.openxmlformats.org/drawingml/2006/main">
            <a:r>
              <a:t>if (raw &lt; 1500) on = true;</a:t>
            </a:r>
          </a:p>
          <a:p xmlns:a="http://schemas.openxmlformats.org/drawingml/2006/main">
            <a:r>
              <a:t>else if (raw &gt; 1800) on = false;</a:t>
            </a:r>
          </a:p>
          <a:p xmlns:a="http://schemas.openxmlformats.org/drawingml/2006/main">
            <a:r>
              <a:t>digitalWrite(23, on);</a:t>
            </a:r>
          </a:p>
          <a:p xmlns:a="http://schemas.openxmlformats.org/drawingml/2006/main">
            <a:r>
              <a:t>Explicar entrada, estado, salida y momento de actualización.</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int raw = analogRead(34);</a:t>
            </a:r>
          </a:p>
          <a:p xmlns:a="http://schemas.openxmlformats.org/drawingml/2006/main">
            <a:r>
              <a:t>if (raw &lt; 1500) on = true;</a:t>
            </a:r>
          </a:p>
          <a:p xmlns:a="http://schemas.openxmlformats.org/drawingml/2006/main">
            <a:r>
              <a:t>else if (raw &gt; 1800) on = false;</a:t>
            </a:r>
          </a:p>
          <a:p xmlns:a="http://schemas.openxmlformats.org/drawingml/2006/main">
            <a:r>
              <a:t>digitalWrite(23, on);</a:t>
            </a:r>
          </a:p>
          <a:p xmlns:a="http://schemas.openxmlformats.org/drawingml/2006/main">
            <a:r>
              <a:t/>
            </a:r>
          </a:p>
          <a:p xmlns:a="http://schemas.openxmlformats.org/drawingml/2006/main">
            <a:r>
              <a:t>Entre ambos umbrales no se asigna un valor nuevo a on. Esa ausencia es deliberada: la variable mantiene el estado anterior. Cambiar else if por otra regla independiente puede modificar el comportamiento si las condiciones se solapan. La versión completa configura resolución y atenuación y registra tiempo, código y estado. El periodo de 50 ms se declara para que los datos puedan compararse.</a:t>
            </a:r>
          </a:p>
          <a:p xmlns:a="http://schemas.openxmlformats.org/drawingml/2006/main">
            <a:r>
              <a:t/>
            </a:r>
          </a:p>
          <a:p xmlns:a="http://schemas.openxmlformats.org/drawingml/2006/main">
            <a:r>
              <a:t>map() realiza una transformación de escala con aritmética entera y no limita automáticamente la salida. Si un valor excede los extremos de entrada, el resultado puede exceder los extremos deseados. Cuando el proyecto necesita recortar, se hace explícitamente y se conserva el hecho de que la entrada salió del rango. Una escala de porcentaje es una convención de trabajo; no equivale automáticamente a una medida física certificada de iluminación o humedad.</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Verifica la alimentación y la referencia del divisor o potenciómetro.</a:t>
            </a:r>
          </a:p>
          <a:p xmlns:a="http://schemas.openxmlformats.org/drawingml/2006/main">
            <a:r>
              <a:t>Registra diez lecturas con la entrada quieta y anota mínimo, máximo y contexto.</a:t>
            </a:r>
          </a:p>
          <a:p xmlns:a="http://schemas.openxmlformats.org/drawingml/2006/main">
            <a:r>
              <a:t>Repite en dos condiciones distintas y determina el sentido de la respuesta.</a:t>
            </a:r>
          </a:p>
          <a:p xmlns:a="http://schemas.openxmlformats.org/drawingml/2006/main">
            <a:r>
              <a:t>Ejecuta c04_adc y sustituye los umbrales de ejercicio por una propuesta de tu montaje.</a:t>
            </a:r>
          </a:p>
          <a:p xmlns:a="http://schemas.openxmlformats.org/drawingml/2006/main">
            <a:r>
              <a:t>Introduce cambios lentos alrededor de la frontera y compara uno y dos umbrales.</a:t>
            </a:r>
          </a:p>
          <a:p xmlns:a="http://schemas.openxmlformats.org/drawingml/2006/main">
            <a:r>
              <a:t>Conserva los datos brutos junto a la salida; comprueba qué sucede al desconectar una entrada de forma controlada.</a:t>
            </a:r>
          </a:p>
          <a:p xmlns:a="http://schemas.openxmlformats.org/drawingml/2006/main">
            <a:r>
              <a:t>Explica una limitación del modelo de Wokwi frente al circuito físico.</a:t>
            </a:r>
          </a:p>
          <a:p xmlns:a="http://schemas.openxmlformats.org/drawingml/2006/main">
            <a:r>
              <a:t/>
            </a:r>
          </a:p>
          <a:p xmlns:a="http://schemas.openxmlformats.org/drawingml/2006/main">
            <a:r>
              <a:t>La simulación permite controlar una entrada y estudiar la lógica del programa. El comportamiento analógico del mundo real añade dispersión, impedancias, alimentación y límites que el modelo no reproduce completamente. Una práctica de calibración física requiere una referencia y condiciones conservadas. El alumnado sin kit puede resolver la parte lógica y analizar un conjunto de datos identificado, mientras el docente demuestra la medición real.</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Verifica la alimentación y la referencia del divisor o potenciómetro.</a:t>
            </a:r>
          </a:p>
          <a:p xmlns:a="http://schemas.openxmlformats.org/drawingml/2006/main">
            <a:r>
              <a:t>Registra diez lecturas con la entrada quieta y anota mínimo, máximo y contexto.</a:t>
            </a:r>
          </a:p>
          <a:p xmlns:a="http://schemas.openxmlformats.org/drawingml/2006/main">
            <a:r>
              <a:t>Repite en dos condiciones distintas y determina el sentido de la respuesta.</a:t>
            </a:r>
          </a:p>
          <a:p xmlns:a="http://schemas.openxmlformats.org/drawingml/2006/main">
            <a:r>
              <a:t>Ejecuta c04_adc y sustituye los umbrales de ejercicio por una propuesta de tu montaje.</a:t>
            </a:r>
          </a:p>
          <a:p xmlns:a="http://schemas.openxmlformats.org/drawingml/2006/main">
            <a:r>
              <a:t>Introduce cambios lentos alrededor de la frontera y compara uno y dos umbrales.</a:t>
            </a:r>
          </a:p>
          <a:p xmlns:a="http://schemas.openxmlformats.org/drawingml/2006/main">
            <a:r>
              <a:t>Conserva los datos brutos junto a la salida; comprueba qué sucede al desconectar una entrada de forma controlada.</a:t>
            </a:r>
          </a:p>
          <a:p xmlns:a="http://schemas.openxmlformats.org/drawingml/2006/main">
            <a:r>
              <a:t>Explica una limitación del modelo de Wokwi frente al circuito físico.</a:t>
            </a:r>
          </a:p>
          <a:p xmlns:a="http://schemas.openxmlformats.org/drawingml/2006/main">
            <a:r>
              <a:t/>
            </a:r>
          </a:p>
          <a:p xmlns:a="http://schemas.openxmlformats.org/drawingml/2006/main">
            <a:r>
              <a:t>La simulación permite controlar una entrada y estudiar la lógica del programa. El comportamiento analógico del mundo real añade dispersión, impedancias, alimentación y límites que el modelo no reproduce completamente. Una práctica de calibración física requiere una referencia y condiciones conservadas. El alumnado sin kit puede resolver la parte lógica y analizar un conjunto de datos identificado, mientras el docente demuestra la medición real.</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Verifica la alimentación y la referencia del divisor o potenciómetro.</a:t>
            </a:r>
          </a:p>
          <a:p xmlns:a="http://schemas.openxmlformats.org/drawingml/2006/main">
            <a:r>
              <a:t>Registra diez lecturas con la entrada quieta y anota mínimo, máximo y contexto.</a:t>
            </a:r>
          </a:p>
          <a:p xmlns:a="http://schemas.openxmlformats.org/drawingml/2006/main">
            <a:r>
              <a:t>Repite en dos condiciones distintas y determina el sentido de la respuesta.</a:t>
            </a:r>
          </a:p>
          <a:p xmlns:a="http://schemas.openxmlformats.org/drawingml/2006/main">
            <a:r>
              <a:t>Ejecuta c04_adc y sustituye los umbrales de ejercicio por una propuesta de tu montaje.</a:t>
            </a:r>
          </a:p>
          <a:p xmlns:a="http://schemas.openxmlformats.org/drawingml/2006/main">
            <a:r>
              <a:t>Introduce cambios lentos alrededor de la frontera y compara uno y dos umbrales.</a:t>
            </a:r>
          </a:p>
          <a:p xmlns:a="http://schemas.openxmlformats.org/drawingml/2006/main">
            <a:r>
              <a:t>Conserva los datos brutos junto a la salida; comprueba qué sucede al desconectar una entrada de forma controlada.</a:t>
            </a:r>
          </a:p>
          <a:p xmlns:a="http://schemas.openxmlformats.org/drawingml/2006/main">
            <a:r>
              <a:t>Explica una limitación del modelo de Wokwi frente al circuito físico.</a:t>
            </a:r>
          </a:p>
          <a:p xmlns:a="http://schemas.openxmlformats.org/drawingml/2006/main">
            <a:r>
              <a:t>Verificar un paso antes de seguir.</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El principio de un divisor permite reducir una tensión para observarla, pero una batería real de dron exige un diseño de entrada completo y conocer sus límites. En este bloque practicamos con una fuente de baja tensión o un potenciómetro. El equipo puede dibujar una cadena conceptual de observación de batería: magnitud, acondicionamiento, ADC, calibración y umbral. El aprendizaje transferible consiste en justificar cada transformación y detectar qué falta por comprobar.</a:t>
            </a:r>
          </a:p>
          <a:p xmlns:a="http://schemas.openxmlformats.org/drawingml/2006/main">
            <a:r>
              <a:t/>
            </a:r>
          </a:p>
          <a:p xmlns:a="http://schemas.openxmlformats.org/drawingml/2006/main">
            <a:r>
              <a:t>Los extremos pertenecen a una calibración declarada; si coinciden, la transformación es inválida.</a:t>
            </a:r>
          </a:p>
          <a:p xmlns:a="http://schemas.openxmlformats.org/drawingml/2006/main">
            <a:r>
              <a:t/>
            </a:r>
          </a:p>
          <a:p xmlns:a="http://schemas.openxmlformats.org/drawingml/2006/main">
            <a:r>
              <a:t>Investiga qué ocurre con ADC2 del ESP32 clásico al usar Wi-Fi y por qué elegimos GPIO34. Localiza además qué expresa la atenuación. Presenta una lectura de la API en milivoltios con el método que la produjo, sin confundir el valor de alimentación de la placa con la escala exacta del convertidor. La conclusión de clase debe diferenciar una medida, una conversión ideal y una decisión de software.</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El principio de un divisor permite reducir una tensión para observarla, pero una batería real de dron exige un diseño de entrada completo y conocer sus límites. En este bloque practicamos con una fuente de baja tensión o un potenciómetro. El equipo puede dibujar una cadena conceptual de observación de batería: magnitud, acondicionamiento, ADC, calibración y umbral. El aprendizaje transferible consiste en justificar cada transformación y detectar qué falta por comprobar.</a:t>
            </a:r>
          </a:p>
          <a:p xmlns:a="http://schemas.openxmlformats.org/drawingml/2006/main">
            <a:r>
              <a:t/>
            </a:r>
          </a:p>
          <a:p xmlns:a="http://schemas.openxmlformats.org/drawingml/2006/main">
            <a:r>
              <a:t>Los extremos pertenecen a una calibración declarada; si coinciden, la transformación es inválida.</a:t>
            </a:r>
          </a:p>
          <a:p xmlns:a="http://schemas.openxmlformats.org/drawingml/2006/main">
            <a:r>
              <a:t/>
            </a:r>
          </a:p>
          <a:p xmlns:a="http://schemas.openxmlformats.org/drawingml/2006/main">
            <a:r>
              <a:t>Investiga qué ocurre con ADC2 del ESP32 clásico al usar Wi-Fi y por qué elegimos GPIO34. Localiza además qué expresa la atenuación. Presenta una lectura de la API en milivoltios con el método que la produjo, sin confundir el valor de alimentación de la placa con la escala exacta del convertidor. La conclusión de clase debe diferenciar una medida, una conversión ideal y una decisión de software.</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El principio de un divisor permite reducir una tensión para observarla, pero una batería real de dron exige un diseño de entrada completo y conocer sus límites. En este bloque practicamos con una fuente de baja tensión o un potenciómetro. El equipo puede dibujar una cadena conceptual de observación de batería: magnitud, acondicionamiento, ADC, calibración y umbral. El aprendizaje transferible consiste en justificar cada transformación y detectar qué falta por comprobar.</a:t>
            </a:r>
          </a:p>
          <a:p xmlns:a="http://schemas.openxmlformats.org/drawingml/2006/main">
            <a:r>
              <a:t/>
            </a:r>
          </a:p>
          <a:p xmlns:a="http://schemas.openxmlformats.org/drawingml/2006/main">
            <a:r>
              <a:t>Los extremos pertenecen a una calibración declarada; si coinciden, la transformación es inválida.</a:t>
            </a:r>
          </a:p>
          <a:p xmlns:a="http://schemas.openxmlformats.org/drawingml/2006/main">
            <a:r>
              <a:t/>
            </a:r>
          </a:p>
          <a:p xmlns:a="http://schemas.openxmlformats.org/drawingml/2006/main">
            <a:r>
              <a:t>Investiga qué ocurre con ADC2 del ESP32 clásico al usar Wi-Fi y por qué elegimos GPIO34. Localiza además qué expresa la atenuación. Presenta una lectura de la API en milivoltios con el método que la produjo, sin confundir el valor de alimentación de la placa con la escala exacta del convertidor. La conclusión de clase debe diferenciar una medida, una conversión ideal y una decisión de software.</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que invertir el divisor invierte la tendencia de la lectura.</a:t>
            </a:r>
          </a:p>
          <a:p xmlns:a="http://schemas.openxmlformats.org/drawingml/2006/main">
            <a:r>
              <a:t>Distinguir códigos, voltios y porcentaje con un caso numérico.</a:t>
            </a:r>
          </a:p>
          <a:p xmlns:a="http://schemas.openxmlformats.org/drawingml/2006/main">
            <a:r>
              <a:t>Comprobar histéresis con la secuencia de cinco lecturas.</a:t>
            </a:r>
          </a:p>
          <a:p xmlns:a="http://schemas.openxmlformats.org/drawingml/2006/main">
            <a:r>
              <a:t>Registrar una calibración pequeña y justificar dos umbrales.</a:t>
            </a:r>
          </a:p>
          <a:p xmlns:a="http://schemas.openxmlformats.org/drawingml/2006/main">
            <a:r>
              <a:t>Rotar código, medida y registro.</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10 minutos en esta diapositiva.</a:t>
            </a:r>
          </a:p>
          <a:p xmlns:a="http://schemas.openxmlformats.org/drawingml/2006/main">
            <a:r>
              <a:t/>
            </a:r>
          </a:p>
          <a:p xmlns:a="http://schemas.openxmlformats.org/drawingml/2006/main">
            <a:r>
              <a:t>Un sensor de batería, luz o posición en un sistema UAV requiere distinguir lectura digital, magnitud física y validez del dato.</a:t>
            </a:r>
          </a:p>
          <a:p xmlns:a="http://schemas.openxmlformats.org/drawingml/2006/main">
            <a:r>
              <a:t>CSV de lecturas, sentido del divisor y justificación de umbrales.</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ADC y calibración: de una lectura a una decisión.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CSV de lecturas, sentido del divisor y justificación de umbrales.</a:t>
            </a:r>
          </a:p>
          <a:p xmlns:a="http://schemas.openxmlformats.org/drawingml/2006/main">
            <a:r>
              <a:t/>
            </a:r>
          </a:p>
          <a:p xmlns:a="http://schemas.openxmlformats.org/drawingml/2006/main">
            <a:r>
              <a:t>Objetivo: Interpretar lecturas analógicas, construir una escala de trabajo y justificar dos umbrales de histéresis.</a:t>
            </a:r>
          </a:p>
          <a:p xmlns:a="http://schemas.openxmlformats.org/drawingml/2006/main">
            <a:r>
              <a:t>Aplicación: Un sensor de batería, luz o posición en un sistema UAV requiere distinguir lectura digital, magnitud física y validez del dato.</a:t>
            </a:r>
          </a:p>
          <a:p xmlns:a="http://schemas.openxmlformats.org/drawingml/2006/main">
            <a:r>
              <a:t>Entrega: CSV de lecturas, sentido del divisor y justificación de umbrales.</a:t>
            </a:r>
          </a:p>
          <a:p xmlns:a="http://schemas.openxmlformats.org/drawingml/2006/main">
            <a:r>
              <a:t/>
            </a:r>
          </a:p>
          <a:p xmlns:a="http://schemas.openxmlformats.org/drawingml/2006/main">
            <a:r>
              <a:t>Preguntas y respuestas</a:t>
            </a:r>
          </a:p>
          <a:p xmlns:a="http://schemas.openxmlformats.org/drawingml/2006/main">
            <a:r>
              <a:t>¿12 bits significan 12 bits de exactitud?</a:t>
            </a:r>
          </a:p>
          <a:p xmlns:a="http://schemas.openxmlformats.org/drawingml/2006/main">
            <a:r>
              <a:t>No. Describen códigos; la exactitud depende del sistema y de su calibración.</a:t>
            </a:r>
          </a:p>
          <a:p xmlns:a="http://schemas.openxmlformats.org/drawingml/2006/main">
            <a:r>
              <a:t/>
            </a:r>
          </a:p>
          <a:p xmlns:a="http://schemas.openxmlformats.org/drawingml/2006/main">
            <a:r>
              <a:t>¿map() limita la salida?</a:t>
            </a:r>
          </a:p>
          <a:p xmlns:a="http://schemas.openxmlformats.org/drawingml/2006/main">
            <a:r>
              <a:t>No; si el proyecto lo necesita, se limita explícitamente y se trata el fuera de rango.</a:t>
            </a:r>
          </a:p>
          <a:p xmlns:a="http://schemas.openxmlformats.org/drawingml/2006/main">
            <a:r>
              <a:t/>
            </a:r>
          </a:p>
          <a:p xmlns:a="http://schemas.openxmlformats.org/drawingml/2006/main">
            <a:r>
              <a:t>¿Qué hace la histéresis entre límites?</a:t>
            </a:r>
          </a:p>
          <a:p xmlns:a="http://schemas.openxmlformats.org/drawingml/2006/main">
            <a:r>
              <a:t>Conserva la decisión anterior.</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Arduino-ESP32: ADC. https://docs.espressif.com/projects/arduino-esp32/en/latest/api/adc.html</a:t>
            </a:r>
          </a:p>
          <a:p xmlns:a="http://schemas.openxmlformats.org/drawingml/2006/main">
            <a:r>
              <a:t>Espressif Systems. GPIO y restricciones de ESP32 clásico. https://docs.espressif.com/projects/esp-idf/en/stable/esp32/api-reference/peripherals/gpio.html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b215dfb3304d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177356532048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139fb4766e4e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c1853a13434f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e36c1eb3ec47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bbf7eaa1c444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E6CA13-691D-48E4-8FB3-2CD68F6240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59BEE3-034B-4854-8C0A-60704516D5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C38544-1DBD-475A-AF27-3BC83F83C2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3167FE-B871-4D5C-929D-F1CB305554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694735-204D-48EC-B2BE-2BF3281D44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2E8553-804C-4FE6-9B44-A1BE243C49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1434BC-E2FD-4D61-B8A4-3423E4849E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736A8C-5448-4E3B-B42B-A0F3CDDE82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464DFD-5FA4-456D-8F1F-C8B4C41DBE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D18A48-888C-4725-9BC4-6A1CC9FD62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3780aac45432d" /><Relationship Type="http://schemas.openxmlformats.org/officeDocument/2006/relationships/slideLayout" Target="/ppt/slideLayouts/slideLayout1.xml" Id="Rc8b75199f82a427b" /><Relationship Type="http://schemas.openxmlformats.org/officeDocument/2006/relationships/slideLayout" Target="/ppt/slideLayouts/slideLayout2.xml" Id="R727d3e23abfa4f61" /><Relationship Type="http://schemas.openxmlformats.org/officeDocument/2006/relationships/slideLayout" Target="/ppt/slideLayouts/slideLayout3.xml" Id="R29b9a6cf290c4899" /><Relationship Type="http://schemas.openxmlformats.org/officeDocument/2006/relationships/slideLayout" Target="/ppt/slideLayouts/slideLayout4.xml" Id="R5ce50819a5e24049" /><Relationship Type="http://schemas.openxmlformats.org/officeDocument/2006/relationships/slideLayout" Target="/ppt/slideLayouts/slideLayout5.xml" Id="Rd3ff72d1cad346f2" /><Relationship Type="http://schemas.openxmlformats.org/officeDocument/2006/relationships/slideLayout" Target="/ppt/slideLayouts/slideLayout6.xml" Id="R80a47b58794e48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b75199f82a427b"/>
    <p:sldLayoutId xmlns:r="http://schemas.openxmlformats.org/officeDocument/2006/relationships" id="2147483650" r:id="R727d3e23abfa4f61"/>
    <p:sldLayoutId xmlns:r="http://schemas.openxmlformats.org/officeDocument/2006/relationships" id="2147483651" r:id="R29b9a6cf290c4899"/>
    <p:sldLayoutId xmlns:r="http://schemas.openxmlformats.org/officeDocument/2006/relationships" id="2147483652" r:id="R5ce50819a5e24049"/>
    <p:sldLayoutId xmlns:r="http://schemas.openxmlformats.org/officeDocument/2006/relationships" id="2147483653" r:id="Rd3ff72d1cad346f2"/>
    <p:sldLayoutId xmlns:r="http://schemas.openxmlformats.org/officeDocument/2006/relationships" id="2147483654" r:id="R80a47b58794e48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82cd93a4744066" /><Relationship Type="http://schemas.openxmlformats.org/officeDocument/2006/relationships/image" Target="/ppt/media/image.png" Id="R4736f2f4f9094363" /><Relationship Type="http://schemas.openxmlformats.org/officeDocument/2006/relationships/notesSlide" Target="/ppt/notesSlides/notesSlide1.xml" Id="R23f904969d23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69a435957e41e5" /><Relationship Type="http://schemas.openxmlformats.org/officeDocument/2006/relationships/image" Target="/ppt/media/image2.png" Id="R9f742fb8d3e24645" /><Relationship Type="http://schemas.openxmlformats.org/officeDocument/2006/relationships/notesSlide" Target="/ppt/notesSlides/notesSlide2.xml" Id="R02723d9049fc47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7a69ee28004116" /><Relationship Type="http://schemas.openxmlformats.org/officeDocument/2006/relationships/image" Target="/ppt/media/image3.png" Id="R709dc935b1734772" /><Relationship Type="http://schemas.openxmlformats.org/officeDocument/2006/relationships/image" Target="/ppt/media/image4.png" Id="R34b35b18424e4579" /><Relationship Type="http://schemas.openxmlformats.org/officeDocument/2006/relationships/notesSlide" Target="/ppt/notesSlides/notesSlide3.xml" Id="Re54ad1d792a545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3c4edbdfc44bce" /><Relationship Type="http://schemas.openxmlformats.org/officeDocument/2006/relationships/image" Target="/ppt/media/image5.png" Id="R7c57ca36bf624fa2" /><Relationship Type="http://schemas.openxmlformats.org/officeDocument/2006/relationships/notesSlide" Target="/ppt/notesSlides/notesSlide4.xml" Id="Rd3839011f2d642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3f602f89054ec5" /><Relationship Type="http://schemas.openxmlformats.org/officeDocument/2006/relationships/image" Target="/ppt/media/image6.png" Id="R92fe8f559b1941c3" /><Relationship Type="http://schemas.openxmlformats.org/officeDocument/2006/relationships/notesSlide" Target="/ppt/notesSlides/notesSlide5.xml" Id="R22442258104445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050fcc4bea4b70" /><Relationship Type="http://schemas.openxmlformats.org/officeDocument/2006/relationships/image" Target="/ppt/media/image7.png" Id="Rf9679741f489465c" /><Relationship Type="http://schemas.openxmlformats.org/officeDocument/2006/relationships/notesSlide" Target="/ppt/notesSlides/notesSlide6.xml" Id="Ra63ad6dec7b446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bc47cb49d14334" /><Relationship Type="http://schemas.openxmlformats.org/officeDocument/2006/relationships/image" Target="/ppt/media/image8.png" Id="Rbbc0df3099214572" /><Relationship Type="http://schemas.openxmlformats.org/officeDocument/2006/relationships/image" Target="/ppt/media/image9.png" Id="Rc207ff195dc74f2d" /><Relationship Type="http://schemas.openxmlformats.org/officeDocument/2006/relationships/notesSlide" Target="/ppt/notesSlides/notesSlide7.xml" Id="R391c389e6ed141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c768691e514e2c" /><Relationship Type="http://schemas.openxmlformats.org/officeDocument/2006/relationships/image" Target="/ppt/media/image10.png" Id="R972deb75bb54482b" /><Relationship Type="http://schemas.openxmlformats.org/officeDocument/2006/relationships/notesSlide" Target="/ppt/notesSlides/notesSlide8.xml" Id="Rde9d767d62c34d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44a795a3e84867" /><Relationship Type="http://schemas.openxmlformats.org/officeDocument/2006/relationships/image" Target="/ppt/media/image11.png" Id="Rd0f4c884dd754ffe" /><Relationship Type="http://schemas.openxmlformats.org/officeDocument/2006/relationships/notesSlide" Target="/ppt/notesSlides/notesSlide9.xml" Id="R7ef2adc6d0ec47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fced14c9fd4761" /><Relationship Type="http://schemas.openxmlformats.org/officeDocument/2006/relationships/image" Target="/ppt/media/image12.png" Id="Re484a7a00b184ff4" /><Relationship Type="http://schemas.openxmlformats.org/officeDocument/2006/relationships/notesSlide" Target="/ppt/notesSlides/notesSlide10.xml" Id="R76e4457f0f7147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74ff59509d49e3" /><Relationship Type="http://schemas.openxmlformats.org/officeDocument/2006/relationships/image" Target="/ppt/media/image13.png" Id="Rc59e4fe04c574ef4" /><Relationship Type="http://schemas.openxmlformats.org/officeDocument/2006/relationships/notesSlide" Target="/ppt/notesSlides/notesSlide11.xml" Id="R1f491fa38e3341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a84cb0a9a24b27" /><Relationship Type="http://schemas.openxmlformats.org/officeDocument/2006/relationships/image" Target="/ppt/media/image14.png" Id="R085398b4395b4907" /><Relationship Type="http://schemas.openxmlformats.org/officeDocument/2006/relationships/notesSlide" Target="/ppt/notesSlides/notesSlide12.xml" Id="Rc3b256541a944e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efbfa402304325" /><Relationship Type="http://schemas.openxmlformats.org/officeDocument/2006/relationships/image" Target="/ppt/media/image15.png" Id="R7ddfd81997c54a16" /><Relationship Type="http://schemas.openxmlformats.org/officeDocument/2006/relationships/notesSlide" Target="/ppt/notesSlides/notesSlide13.xml" Id="Rb7de8c8b66eb49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6118397cfa44b21" /><Relationship Type="http://schemas.openxmlformats.org/officeDocument/2006/relationships/image" Target="/ppt/media/image16.png" Id="R274d24903f5c4494" /><Relationship Type="http://schemas.openxmlformats.org/officeDocument/2006/relationships/notesSlide" Target="/ppt/notesSlides/notesSlide14.xml" Id="R483bf00838c346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4b31e5c50b4b7b" /><Relationship Type="http://schemas.openxmlformats.org/officeDocument/2006/relationships/image" Target="/ppt/media/image17.png" Id="Refe0803b2f214486" /><Relationship Type="http://schemas.openxmlformats.org/officeDocument/2006/relationships/notesSlide" Target="/ppt/notesSlides/notesSlide15.xml" Id="Ra73f6e5d07f44e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326582a93924201" /><Relationship Type="http://schemas.openxmlformats.org/officeDocument/2006/relationships/image" Target="/ppt/media/image18.png" Id="R8bbea26ed14a4227" /><Relationship Type="http://schemas.openxmlformats.org/officeDocument/2006/relationships/notesSlide" Target="/ppt/notesSlides/notesSlide16.xml" Id="R068589cd1e7946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255211ce3e4426e" /><Relationship Type="http://schemas.openxmlformats.org/officeDocument/2006/relationships/image" Target="/ppt/media/image19.png" Id="R79dc21af3500485e" /><Relationship Type="http://schemas.openxmlformats.org/officeDocument/2006/relationships/notesSlide" Target="/ppt/notesSlides/notesSlide17.xml" Id="Ra45c7279e87547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91efe4bfe474407" /><Relationship Type="http://schemas.openxmlformats.org/officeDocument/2006/relationships/image" Target="/ppt/media/image20.png" Id="R1b766075c97f4a31" /><Relationship Type="http://schemas.openxmlformats.org/officeDocument/2006/relationships/notesSlide" Target="/ppt/notesSlides/notesSlide18.xml" Id="Ra28ddcc23ed74a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48c9ac2c0354f65" /><Relationship Type="http://schemas.openxmlformats.org/officeDocument/2006/relationships/image" Target="/ppt/media/image21.png" Id="R6b7a9bc579ba4161" /><Relationship Type="http://schemas.openxmlformats.org/officeDocument/2006/relationships/notesSlide" Target="/ppt/notesSlides/notesSlide19.xml" Id="R763cac723efe4e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64a8865924422e" /><Relationship Type="http://schemas.openxmlformats.org/officeDocument/2006/relationships/image" Target="/ppt/media/image22.png" Id="R24d26374b69e471a" /><Relationship Type="http://schemas.openxmlformats.org/officeDocument/2006/relationships/notesSlide" Target="/ppt/notesSlides/notesSlide20.xml" Id="Rbb779fe76e8349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f9e102e34814edc" /><Relationship Type="http://schemas.openxmlformats.org/officeDocument/2006/relationships/image" Target="/ppt/media/image23.png" Id="Rc350511cf1ca4bdc" /><Relationship Type="http://schemas.openxmlformats.org/officeDocument/2006/relationships/notesSlide" Target="/ppt/notesSlides/notesSlide21.xml" Id="R1085396b65d347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291072c876848ca" /><Relationship Type="http://schemas.openxmlformats.org/officeDocument/2006/relationships/image" Target="/ppt/media/image24.png" Id="R9f3cdf5214fe4f6b" /><Relationship Type="http://schemas.openxmlformats.org/officeDocument/2006/relationships/notesSlide" Target="/ppt/notesSlides/notesSlide22.xml" Id="R27185af9e33d48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b2744843ed247b2" /><Relationship Type="http://schemas.openxmlformats.org/officeDocument/2006/relationships/image" Target="/ppt/media/image25.png" Id="R68efce0d12d949f5" /><Relationship Type="http://schemas.openxmlformats.org/officeDocument/2006/relationships/notesSlide" Target="/ppt/notesSlides/notesSlide23.xml" Id="R3deb24d0431d4c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8320c733684921" /><Relationship Type="http://schemas.openxmlformats.org/officeDocument/2006/relationships/image" Target="/ppt/media/image26.png" Id="R207f7e40bea5466b" /><Relationship Type="http://schemas.openxmlformats.org/officeDocument/2006/relationships/notesSlide" Target="/ppt/notesSlides/notesSlide24.xml" Id="R4bd75d526e3a4f9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dc298a4fc854828" /><Relationship Type="http://schemas.openxmlformats.org/officeDocument/2006/relationships/image" Target="/ppt/media/image27.png" Id="R0558614d22324407" /><Relationship Type="http://schemas.openxmlformats.org/officeDocument/2006/relationships/notesSlide" Target="/ppt/notesSlides/notesSlide25.xml" Id="R805ce47917e14fe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14591bc928a4d1b" /><Relationship Type="http://schemas.openxmlformats.org/officeDocument/2006/relationships/image" Target="/ppt/media/image28.png" Id="Rc3752730c9ee46a4" /><Relationship Type="http://schemas.openxmlformats.org/officeDocument/2006/relationships/notesSlide" Target="/ppt/notesSlides/notesSlide26.xml" Id="Rc860512475ca4a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1fac32decb14cd2" /><Relationship Type="http://schemas.openxmlformats.org/officeDocument/2006/relationships/image" Target="/ppt/media/image29.png" Id="Rf1db80dadc03472f" /><Relationship Type="http://schemas.openxmlformats.org/officeDocument/2006/relationships/image" Target="/ppt/media/image30.png" Id="R11a24c06ab1447a7" /><Relationship Type="http://schemas.openxmlformats.org/officeDocument/2006/relationships/notesSlide" Target="/ppt/notesSlides/notesSlide27.xml" Id="Rc096e6e0a97d4af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058e9eb241e4abe" /><Relationship Type="http://schemas.openxmlformats.org/officeDocument/2006/relationships/image" Target="/ppt/media/image31.png" Id="R52ffff05654d4575" /><Relationship Type="http://schemas.openxmlformats.org/officeDocument/2006/relationships/notesSlide" Target="/ppt/notesSlides/notesSlide28.xml" Id="Rc622b9f0311c416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f2b95d3f0154f99" /><Relationship Type="http://schemas.openxmlformats.org/officeDocument/2006/relationships/image" Target="/ppt/media/image32.png" Id="Rff86ba7afaa14057" /><Relationship Type="http://schemas.openxmlformats.org/officeDocument/2006/relationships/notesSlide" Target="/ppt/notesSlides/notesSlide29.xml" Id="R9ef082f6e8e14d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d463c4caf5849e2" /><Relationship Type="http://schemas.openxmlformats.org/officeDocument/2006/relationships/image" Target="/ppt/media/image33.png" Id="Rea0813c7552a4936" /><Relationship Type="http://schemas.openxmlformats.org/officeDocument/2006/relationships/notesSlide" Target="/ppt/notesSlides/notesSlide30.xml" Id="R9c3cc0bbfccd4da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5b0a20cdb764378" /><Relationship Type="http://schemas.openxmlformats.org/officeDocument/2006/relationships/image" Target="/ppt/media/image34.png" Id="R767ce3e4f0f64651" /><Relationship Type="http://schemas.openxmlformats.org/officeDocument/2006/relationships/image" Target="/ppt/media/image35.png" Id="R5b4b99677a174cc1" /><Relationship Type="http://schemas.openxmlformats.org/officeDocument/2006/relationships/notesSlide" Target="/ppt/notesSlides/notesSlide31.xml" Id="R2afc7ec2781547b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a9f71a05bd34793" /><Relationship Type="http://schemas.openxmlformats.org/officeDocument/2006/relationships/image" Target="/ppt/media/image36.png" Id="Rdffc3cab227e4843" /><Relationship Type="http://schemas.openxmlformats.org/officeDocument/2006/relationships/notesSlide" Target="/ppt/notesSlides/notesSlide32.xml" Id="R86ec04000b8444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2de50a81cfb4c00" /><Relationship Type="http://schemas.openxmlformats.org/officeDocument/2006/relationships/image" Target="/ppt/media/image37.png" Id="Ra1de06df263e4b4d" /><Relationship Type="http://schemas.openxmlformats.org/officeDocument/2006/relationships/notesSlide" Target="/ppt/notesSlides/notesSlide33.xml" Id="R99c99c04c3c141c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617d240e7be42f7" /><Relationship Type="http://schemas.openxmlformats.org/officeDocument/2006/relationships/image" Target="/ppt/media/image38.png" Id="R9885c48ea4964e72" /><Relationship Type="http://schemas.openxmlformats.org/officeDocument/2006/relationships/chart" Target="/ppt/slides/charts/chart1.xml" Id="Re754708985dd4aed" /><Relationship Type="http://schemas.openxmlformats.org/officeDocument/2006/relationships/notesSlide" Target="/ppt/notesSlides/notesSlide34.xml" Id="R2393e14843e646a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d9ea76523c740eb" /><Relationship Type="http://schemas.openxmlformats.org/officeDocument/2006/relationships/image" Target="/ppt/media/image39.png" Id="Re7231e6e4231414c" /><Relationship Type="http://schemas.openxmlformats.org/officeDocument/2006/relationships/notesSlide" Target="/ppt/notesSlides/notesSlide35.xml" Id="R46fb21fe3c8043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735b9f854f24217" /><Relationship Type="http://schemas.openxmlformats.org/officeDocument/2006/relationships/image" Target="/ppt/media/image40.png" Id="R161a0e5d58994f95" /><Relationship Type="http://schemas.openxmlformats.org/officeDocument/2006/relationships/notesSlide" Target="/ppt/notesSlides/notesSlide36.xml" Id="R6711adc80f11425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45c148697c1458e" /><Relationship Type="http://schemas.openxmlformats.org/officeDocument/2006/relationships/image" Target="/ppt/media/image41.png" Id="Rc8e68b90cf91453c" /><Relationship Type="http://schemas.openxmlformats.org/officeDocument/2006/relationships/notesSlide" Target="/ppt/notesSlides/notesSlide37.xml" Id="Rf73cab316c8b454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71506d11e35415f" /><Relationship Type="http://schemas.openxmlformats.org/officeDocument/2006/relationships/image" Target="/ppt/media/image42.png" Id="R115f4df0051e42a5" /><Relationship Type="http://schemas.openxmlformats.org/officeDocument/2006/relationships/notesSlide" Target="/ppt/notesSlides/notesSlide38.xml" Id="R3d90ada3249442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6a6e3c2657b4b1c" /><Relationship Type="http://schemas.openxmlformats.org/officeDocument/2006/relationships/image" Target="/ppt/media/image43.png" Id="Rc0451d04241d4767" /><Relationship Type="http://schemas.openxmlformats.org/officeDocument/2006/relationships/notesSlide" Target="/ppt/notesSlides/notesSlide39.xml" Id="R08e4fabf036d44d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01ee40a530f463a" /><Relationship Type="http://schemas.openxmlformats.org/officeDocument/2006/relationships/image" Target="/ppt/media/image44.png" Id="Rb66408851eca4042" /><Relationship Type="http://schemas.openxmlformats.org/officeDocument/2006/relationships/notesSlide" Target="/ppt/notesSlides/notesSlide40.xml" Id="R13408e5a13394a0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cd33cc1cbcc4176" /><Relationship Type="http://schemas.openxmlformats.org/officeDocument/2006/relationships/image" Target="/ppt/media/image45.png" Id="R8e71900c900d492c" /><Relationship Type="http://schemas.openxmlformats.org/officeDocument/2006/relationships/notesSlide" Target="/ppt/notesSlides/notesSlide41.xml" Id="Rf127d3f981a148c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bc7d48cae7140eb" /><Relationship Type="http://schemas.openxmlformats.org/officeDocument/2006/relationships/image" Target="/ppt/media/image46.png" Id="Ra5c9366ad0574251" /><Relationship Type="http://schemas.openxmlformats.org/officeDocument/2006/relationships/notesSlide" Target="/ppt/notesSlides/notesSlide42.xml" Id="Rbe5bc32ac607438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1a3b79e955047ec" /><Relationship Type="http://schemas.openxmlformats.org/officeDocument/2006/relationships/image" Target="/ppt/media/image47.png" Id="R612b29e4e67344d3" /><Relationship Type="http://schemas.openxmlformats.org/officeDocument/2006/relationships/image" Target="/ppt/media/image48.png" Id="Re6edd3853a8a4013" /><Relationship Type="http://schemas.openxmlformats.org/officeDocument/2006/relationships/notesSlide" Target="/ppt/notesSlides/notesSlide43.xml" Id="R3f94989b54434ae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293d309c29141c6" /><Relationship Type="http://schemas.openxmlformats.org/officeDocument/2006/relationships/image" Target="/ppt/media/image49.png" Id="R7283032dffe0433e" /><Relationship Type="http://schemas.openxmlformats.org/officeDocument/2006/relationships/notesSlide" Target="/ppt/notesSlides/notesSlide44.xml" Id="Raf0a1ed7a0814b8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6e3d5ff3c5604369" /><Relationship Type="http://schemas.openxmlformats.org/officeDocument/2006/relationships/image" Target="/ppt/media/image50.png" Id="Ra685f74bc8a54403" /><Relationship Type="http://schemas.openxmlformats.org/officeDocument/2006/relationships/notesSlide" Target="/ppt/notesSlides/notesSlide45.xml" Id="Rf3b1cd996ae048e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24f97895acf4650" /><Relationship Type="http://schemas.openxmlformats.org/officeDocument/2006/relationships/image" Target="/ppt/media/image51.png" Id="R7c913f745df74e02" /><Relationship Type="http://schemas.openxmlformats.org/officeDocument/2006/relationships/notesSlide" Target="/ppt/notesSlides/notesSlide46.xml" Id="Re8d9f308ca24442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96a083369934bda" /><Relationship Type="http://schemas.openxmlformats.org/officeDocument/2006/relationships/image" Target="/ppt/media/image52.png" Id="Rd1356235c0604232" /><Relationship Type="http://schemas.openxmlformats.org/officeDocument/2006/relationships/notesSlide" Target="/ppt/notesSlides/notesSlide47.xml" Id="R4525b5ca6c204c6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a0ad824d51f4235" /><Relationship Type="http://schemas.openxmlformats.org/officeDocument/2006/relationships/image" Target="/ppt/media/image53.png" Id="R8728b5a9b6cf4e60" /><Relationship Type="http://schemas.openxmlformats.org/officeDocument/2006/relationships/notesSlide" Target="/ppt/notesSlides/notesSlide48.xml" Id="R4810be54daa54d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Voltios ideales</c:v>
          </c:tx>
          <c:spPr>
            <a:solidFill xmlns:a="http://schemas.openxmlformats.org/drawingml/2006/main">
              <a:srgbClr val="244F3D"/>
            </a:solidFill>
            <a:ln xmlns:a="http://schemas.openxmlformats.org/drawingml/2006/main" w="28575">
              <a:solidFill>
                <a:srgbClr val="244F3D"/>
              </a:solidFill>
            </a:ln>
          </c:spPr>
          <c:marker>
            <c:symbol val="none"/>
          </c:marker>
          <c:cat>
            <c:numRef>
              <c:f>'Chart Data'!$A$2:$A$6</c:f>
              <c:numCache>
                <c:formatCode>General</c:formatCode>
                <c:ptCount val="5"/>
                <c:pt idx="0">
                  <c:v>0</c:v>
                </c:pt>
                <c:pt idx="1">
                  <c:v>1024</c:v>
                </c:pt>
                <c:pt idx="2">
                  <c:v>2048</c:v>
                </c:pt>
                <c:pt idx="3">
                  <c:v>3072</c:v>
                </c:pt>
                <c:pt idx="4">
                  <c:v>4095</c:v>
                </c:pt>
              </c:numCache>
            </c:numRef>
          </c:cat>
          <c:val>
            <c:numRef>
              <c:f>'Chart Data'!$B$2:$B$6</c:f>
              <c:numCache>
                <c:formatCode>0.0</c:formatCode>
                <c:ptCount val="5"/>
                <c:pt idx="0">
                  <c:v>0</c:v>
                </c:pt>
                <c:pt idx="1">
                  <c:v>0.75</c:v>
                </c:pt>
                <c:pt idx="2">
                  <c:v>1.5</c:v>
                </c:pt>
                <c:pt idx="3">
                  <c:v>2.25</c:v>
                </c:pt>
                <c:pt idx="4">
                  <c:v>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Voltios · VFS ideal = 3 V</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0.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975ED8-88D9-4FA3-885E-FB9E5103A82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Temporización y máquinas de estados: atender más de una tarea</a:t>
            </a:r>
          </a:p>
        </p:txBody>
      </p:sp>
      <p:pic>
        <p:nvPicPr>
          <p:cNvPr id="2" name="">
            <a:extLst xmlns:a="http://schemas.openxmlformats.org/drawingml/2006/main">
              <a:ext uri="{FF2B5EF4-FFF2-40B4-BE49-F238E27FC236}">
                <a16:creationId xmlns:a16="http://schemas.microsoft.com/office/drawing/2014/main" id="{ECDD2420-240D-4256-84D4-DC1C00A7491F}"/>
              </a:ext>
            </a:extLst>
          </p:cNvPr>
          <p:cNvPicPr>
            <a:picLocks xmlns:a="http://schemas.openxmlformats.org/drawingml/2006/main" noChangeAspect="1"/>
          </p:cNvPicPr>
          <p:nvPr/>
        </p:nvPicPr>
        <p:blipFill>
          <a:blip xmlns:r="http://schemas.openxmlformats.org/officeDocument/2006/relationships" xmlns:a="http://schemas.openxmlformats.org/drawingml/2006/main" r:embed="R4736f2f4f909436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5B5E28-1750-4D8E-BF4F-74AF7EF7C51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01/24</a:t>
            </a:r>
          </a:p>
        </p:txBody>
      </p:sp>
      <p:sp>
        <p:nvSpPr>
          <p:cNvPr id="4" name="">
            <a:extLst xmlns:a="http://schemas.openxmlformats.org/drawingml/2006/main">
              <a:ext uri="{FF2B5EF4-FFF2-40B4-BE49-F238E27FC236}">
                <a16:creationId xmlns:a16="http://schemas.microsoft.com/office/drawing/2014/main" id="{C13E41A9-5E96-4F64-8018-1A76EF22DA24}"/>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Construir una secuencia que siga atendiendo eventos mientras transcurre un intervalo.</a:t>
            </a:r>
          </a:p>
        </p:txBody>
      </p:sp>
      <p:sp>
        <p:nvSpPr>
          <p:cNvPr id="5" name="">
            <a:extLst xmlns:a="http://schemas.openxmlformats.org/drawingml/2006/main">
              <a:ext uri="{FF2B5EF4-FFF2-40B4-BE49-F238E27FC236}">
                <a16:creationId xmlns:a16="http://schemas.microsoft.com/office/drawing/2014/main" id="{9ED521D3-5F0C-44F0-B31F-185786BAA2C5}"/>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adquisición de sensores, los avisos y la interfaz de un banco UAV necesitan convivir sin esperas largas.</a:t>
            </a:r>
          </a:p>
        </p:txBody>
      </p:sp>
      <p:sp>
        <p:nvSpPr>
          <p:cNvPr id="6" name="">
            <a:extLst xmlns:a="http://schemas.openxmlformats.org/drawingml/2006/main">
              <a:ext uri="{FF2B5EF4-FFF2-40B4-BE49-F238E27FC236}">
                <a16:creationId xmlns:a16="http://schemas.microsoft.com/office/drawing/2014/main" id="{F4B1F00E-40F6-442B-B25E-C1C23E25680A}"/>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830838179"/>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9A8280-4765-4355-B564-B53D46DD9B0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un programa correcto puede responder tarde</a:t>
            </a:r>
          </a:p>
        </p:txBody>
      </p:sp>
      <p:pic>
        <p:nvPicPr>
          <p:cNvPr id="2" name="">
            <a:extLst xmlns:a="http://schemas.openxmlformats.org/drawingml/2006/main">
              <a:ext uri="{FF2B5EF4-FFF2-40B4-BE49-F238E27FC236}">
                <a16:creationId xmlns:a16="http://schemas.microsoft.com/office/drawing/2014/main" id="{1821B014-E15C-4E7D-821D-C9D928EF4F32}"/>
              </a:ext>
            </a:extLst>
          </p:cNvPr>
          <p:cNvPicPr>
            <a:picLocks xmlns:a="http://schemas.openxmlformats.org/drawingml/2006/main" noChangeAspect="1"/>
          </p:cNvPicPr>
          <p:nvPr/>
        </p:nvPicPr>
        <p:blipFill>
          <a:blip xmlns:r="http://schemas.openxmlformats.org/officeDocument/2006/relationships" xmlns:a="http://schemas.openxmlformats.org/drawingml/2006/main" r:embed="R9f742fb8d3e2464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D22159-76B0-43EA-B5B2-230DEC24772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02/24</a:t>
            </a:r>
          </a:p>
        </p:txBody>
      </p:sp>
      <p:sp>
        <p:nvSpPr>
          <p:cNvPr id="4" name="">
            <a:extLst xmlns:a="http://schemas.openxmlformats.org/drawingml/2006/main">
              <a:ext uri="{FF2B5EF4-FFF2-40B4-BE49-F238E27FC236}">
                <a16:creationId xmlns:a16="http://schemas.microsoft.com/office/drawing/2014/main" id="{9BB056E8-9FB2-4273-B427-DB5C2C525CD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delay() expresa una espera cómoda cuando solo importa una secuencia. Mientras esa función bloquea el recorrido principal, no se ejecutan las otras instrucciones de loop(). Algunos periféricos e interrupciones pueden seguir funcionando, pero la lógica que dejaste después de la espera debe aguardar. Si un aviso requiere observar el botón durante una secuencia de tres segundos, una espera larga puede retrasar esa observación. El problema se descubre definiendo una tarea adicional, no prohibiendo una función por su nombre.</a:t>
            </a:r>
          </a:p>
        </p:txBody>
      </p:sp>
    </p:spTree>
    <p:extLst>
      <p:ext uri="{BB962C8B-B14F-4D97-AF65-F5344CB8AC3E}">
        <p14:creationId xmlns:p14="http://schemas.microsoft.com/office/powerpoint/2010/main" val="1910930518"/>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7C387-12B6-4B45-93CF-2C5FE9182A9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un programa correcto puede responder tarde</a:t>
            </a:r>
          </a:p>
        </p:txBody>
      </p:sp>
      <p:pic>
        <p:nvPicPr>
          <p:cNvPr id="2" name="">
            <a:extLst xmlns:a="http://schemas.openxmlformats.org/drawingml/2006/main">
              <a:ext uri="{FF2B5EF4-FFF2-40B4-BE49-F238E27FC236}">
                <a16:creationId xmlns:a16="http://schemas.microsoft.com/office/drawing/2014/main" id="{ACF1757D-AE4C-41DE-BAB7-A4FEAD248C0A}"/>
              </a:ext>
            </a:extLst>
          </p:cNvPr>
          <p:cNvPicPr>
            <a:picLocks xmlns:a="http://schemas.openxmlformats.org/drawingml/2006/main" noChangeAspect="1"/>
          </p:cNvPicPr>
          <p:nvPr/>
        </p:nvPicPr>
        <p:blipFill>
          <a:blip xmlns:r="http://schemas.openxmlformats.org/officeDocument/2006/relationships" xmlns:a="http://schemas.openxmlformats.org/drawingml/2006/main" r:embed="R709dc935b173477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02976D-303A-41B7-B99C-B0109253364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03/24</a:t>
            </a:r>
          </a:p>
        </p:txBody>
      </p:sp>
      <p:pic>
        <p:nvPicPr>
          <p:cNvPr id="4" name="">
            <a:extLst xmlns:a="http://schemas.openxmlformats.org/drawingml/2006/main">
              <a:ext uri="{FF2B5EF4-FFF2-40B4-BE49-F238E27FC236}">
                <a16:creationId xmlns:a16="http://schemas.microsoft.com/office/drawing/2014/main" id="{3C9A14FF-7143-4C0B-9705-BB90641BE6E8}"/>
              </a:ext>
            </a:extLst>
          </p:cNvPr>
          <p:cNvPicPr>
            <a:picLocks xmlns:a="http://schemas.openxmlformats.org/drawingml/2006/main" noChangeAspect="1"/>
          </p:cNvPicPr>
          <p:nvPr/>
        </p:nvPicPr>
        <p:blipFill>
          <a:blip xmlns:r="http://schemas.openxmlformats.org/officeDocument/2006/relationships" xmlns:a="http://schemas.openxmlformats.org/drawingml/2006/main" r:embed="R34b35b18424e4579"/>
          <a:stretch xmlns:a="http://schemas.openxmlformats.org/drawingml/2006/main"/>
        </p:blipFill>
        <p:spPr>
          <a:xfrm xmlns:a="http://schemas.openxmlformats.org/drawingml/2006/main">
            <a:off x="1982176" y="1638300"/>
            <a:ext cx="462719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19460B6-0ABC-4642-8309-3E1DD7A69692}"/>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¿Qué condición cambia el estado? Localiza la entrada y la salida indicadora.</a:t>
            </a:r>
          </a:p>
        </p:txBody>
      </p:sp>
      <p:sp>
        <p:nvSpPr>
          <p:cNvPr id="6" name="">
            <a:extLst xmlns:a="http://schemas.openxmlformats.org/drawingml/2006/main">
              <a:ext uri="{FF2B5EF4-FFF2-40B4-BE49-F238E27FC236}">
                <a16:creationId xmlns:a16="http://schemas.microsoft.com/office/drawing/2014/main" id="{A87D492A-734E-4391-85BB-AFB62359E4E2}"/>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01.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607613128"/>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8A0420-5A53-4984-B1A2-9442740EE8D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Por qué un programa correcto puede responder tarde</a:t>
            </a:r>
          </a:p>
        </p:txBody>
      </p:sp>
      <p:pic>
        <p:nvPicPr>
          <p:cNvPr id="2" name="">
            <a:extLst xmlns:a="http://schemas.openxmlformats.org/drawingml/2006/main">
              <a:ext uri="{FF2B5EF4-FFF2-40B4-BE49-F238E27FC236}">
                <a16:creationId xmlns:a16="http://schemas.microsoft.com/office/drawing/2014/main" id="{24113E8B-7FB8-42DA-B417-8B09A7E3CDD6}"/>
              </a:ext>
            </a:extLst>
          </p:cNvPr>
          <p:cNvPicPr>
            <a:picLocks xmlns:a="http://schemas.openxmlformats.org/drawingml/2006/main" noChangeAspect="1"/>
          </p:cNvPicPr>
          <p:nvPr/>
        </p:nvPicPr>
        <p:blipFill>
          <a:blip xmlns:r="http://schemas.openxmlformats.org/officeDocument/2006/relationships" xmlns:a="http://schemas.openxmlformats.org/drawingml/2006/main" r:embed="R7c57ca36bf624fa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E5F3CD-D2A6-4493-BEA0-FAC64FA97AE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04/24</a:t>
            </a:r>
          </a:p>
        </p:txBody>
      </p:sp>
      <p:sp>
        <p:nvSpPr>
          <p:cNvPr id="4" name="">
            <a:extLst xmlns:a="http://schemas.openxmlformats.org/drawingml/2006/main">
              <a:ext uri="{FF2B5EF4-FFF2-40B4-BE49-F238E27FC236}">
                <a16:creationId xmlns:a16="http://schemas.microsoft.com/office/drawing/2014/main" id="{0B62F33A-76A3-4E74-8E4E-C29D21C4ACC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semáforo del laboratorio ya usa millis() y switch. Lo conservamos y explicamos antes de aumentar su complejidad. Caja fuerte, detector de intrusos y ascensor ofrecen variantes de eventos y estados. En una misma clase no construiremos cuatro mecanismos: compararemos sus lógicas y cada equipo implementará una sola variación. Lo aprendido debe transferirse a un nuevo caso en lugar de convertirse en una lista de programas copiados.</a:t>
            </a:r>
          </a:p>
        </p:txBody>
      </p:sp>
    </p:spTree>
    <p:extLst>
      <p:ext uri="{BB962C8B-B14F-4D97-AF65-F5344CB8AC3E}">
        <p14:creationId xmlns:p14="http://schemas.microsoft.com/office/powerpoint/2010/main" val="714192382"/>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A2C904-7B5F-4519-AE7A-EE1EDEF7732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Tiempo transcurrido y retorno del contador</a:t>
            </a:r>
          </a:p>
        </p:txBody>
      </p:sp>
      <p:pic>
        <p:nvPicPr>
          <p:cNvPr id="2" name="">
            <a:extLst xmlns:a="http://schemas.openxmlformats.org/drawingml/2006/main">
              <a:ext uri="{FF2B5EF4-FFF2-40B4-BE49-F238E27FC236}">
                <a16:creationId xmlns:a16="http://schemas.microsoft.com/office/drawing/2014/main" id="{B0091223-E1D8-438C-A66F-2D0C67AB31AF}"/>
              </a:ext>
            </a:extLst>
          </p:cNvPr>
          <p:cNvPicPr>
            <a:picLocks xmlns:a="http://schemas.openxmlformats.org/drawingml/2006/main" noChangeAspect="1"/>
          </p:cNvPicPr>
          <p:nvPr/>
        </p:nvPicPr>
        <p:blipFill>
          <a:blip xmlns:r="http://schemas.openxmlformats.org/officeDocument/2006/relationships" xmlns:a="http://schemas.openxmlformats.org/drawingml/2006/main" r:embed="R92fe8f559b1941c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6D9B1B-72D6-49A4-AA0F-382F87B8B05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05/24</a:t>
            </a:r>
          </a:p>
        </p:txBody>
      </p:sp>
      <p:sp>
        <p:nvSpPr>
          <p:cNvPr id="4" name="">
            <a:extLst xmlns:a="http://schemas.openxmlformats.org/drawingml/2006/main">
              <a:ext uri="{FF2B5EF4-FFF2-40B4-BE49-F238E27FC236}">
                <a16:creationId xmlns:a16="http://schemas.microsoft.com/office/drawing/2014/main" id="{86D4AFE3-31F9-4AF7-974F-52E5885E4DD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millis() informa un contador de milisegundos desde el inicio. Para decidir si venció un intervalo, calculamos la resta entre el valor actual y el guardado. Con un tipo sin signo de 32 bits, esa resta permite tratar correctamente un retorno del contador para los intervalos cortos del curso. La comparación directa contra un instante futuro calculado con suma puede comportarse mal al atravesar ese retorno. No se trata de memorizar una frase: se puede comprobar con números pequeños y después con valores cercanos al límite.</a:t>
            </a:r>
          </a:p>
        </p:txBody>
      </p:sp>
    </p:spTree>
    <p:extLst>
      <p:ext uri="{BB962C8B-B14F-4D97-AF65-F5344CB8AC3E}">
        <p14:creationId xmlns:p14="http://schemas.microsoft.com/office/powerpoint/2010/main" val="1401726393"/>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A6AC05-C3DB-487F-9606-8BBE4B06C1F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Patrón temporal</a:t>
            </a:r>
          </a:p>
        </p:txBody>
      </p:sp>
      <p:pic>
        <p:nvPicPr>
          <p:cNvPr id="2" name="">
            <a:extLst xmlns:a="http://schemas.openxmlformats.org/drawingml/2006/main">
              <a:ext uri="{FF2B5EF4-FFF2-40B4-BE49-F238E27FC236}">
                <a16:creationId xmlns:a16="http://schemas.microsoft.com/office/drawing/2014/main" id="{81909170-351F-455F-A8E6-6DC53116F80F}"/>
              </a:ext>
            </a:extLst>
          </p:cNvPr>
          <p:cNvPicPr>
            <a:picLocks xmlns:a="http://schemas.openxmlformats.org/drawingml/2006/main" noChangeAspect="1"/>
          </p:cNvPicPr>
          <p:nvPr/>
        </p:nvPicPr>
        <p:blipFill>
          <a:blip xmlns:r="http://schemas.openxmlformats.org/officeDocument/2006/relationships" xmlns:a="http://schemas.openxmlformats.org/drawingml/2006/main" r:embed="Rf9679741f48946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29C7F8-0ABF-497B-A49B-FDB90CB076F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06/24</a:t>
            </a:r>
          </a:p>
        </p:txBody>
      </p:sp>
      <p:sp>
        <p:nvSpPr>
          <p:cNvPr id="4" name="">
            <a:extLst xmlns:a="http://schemas.openxmlformats.org/drawingml/2006/main">
              <a:ext uri="{FF2B5EF4-FFF2-40B4-BE49-F238E27FC236}">
                <a16:creationId xmlns:a16="http://schemas.microsoft.com/office/drawing/2014/main" id="{AA8DEC2C-689E-484A-8342-069E9F0F9519}"/>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uint32_t now = millis();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(uint32_t(now-last) &gt;= interval_ms)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last = now;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actualizarTarea();</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3E9EBFD1-8551-4BF8-9C99-24231024167C}"/>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858995603"/>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1AF8E1-2974-43B5-9BB0-903A2818E6D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Tiempo transcurrido y retorno del contador</a:t>
            </a:r>
          </a:p>
        </p:txBody>
      </p:sp>
      <p:pic>
        <p:nvPicPr>
          <p:cNvPr id="2" name="">
            <a:extLst xmlns:a="http://schemas.openxmlformats.org/drawingml/2006/main">
              <a:ext uri="{FF2B5EF4-FFF2-40B4-BE49-F238E27FC236}">
                <a16:creationId xmlns:a16="http://schemas.microsoft.com/office/drawing/2014/main" id="{48AAF8E8-5D7B-442A-ADAC-BE0A0C991535}"/>
              </a:ext>
            </a:extLst>
          </p:cNvPr>
          <p:cNvPicPr>
            <a:picLocks xmlns:a="http://schemas.openxmlformats.org/drawingml/2006/main" noChangeAspect="1"/>
          </p:cNvPicPr>
          <p:nvPr/>
        </p:nvPicPr>
        <p:blipFill>
          <a:blip xmlns:r="http://schemas.openxmlformats.org/officeDocument/2006/relationships" xmlns:a="http://schemas.openxmlformats.org/drawingml/2006/main" r:embed="Rbbc0df309921457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1785BD-D97B-4B20-96B9-A7F644562FE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07/24</a:t>
            </a:r>
          </a:p>
        </p:txBody>
      </p:sp>
      <p:pic>
        <p:nvPicPr>
          <p:cNvPr id="4" name="">
            <a:extLst xmlns:a="http://schemas.openxmlformats.org/drawingml/2006/main">
              <a:ext uri="{FF2B5EF4-FFF2-40B4-BE49-F238E27FC236}">
                <a16:creationId xmlns:a16="http://schemas.microsoft.com/office/drawing/2014/main" id="{61C21149-F018-4753-8CC1-BAE36A9E8B49}"/>
              </a:ext>
            </a:extLst>
          </p:cNvPr>
          <p:cNvPicPr>
            <a:picLocks xmlns:a="http://schemas.openxmlformats.org/drawingml/2006/main" noChangeAspect="1"/>
          </p:cNvPicPr>
          <p:nvPr/>
        </p:nvPicPr>
        <p:blipFill>
          <a:blip xmlns:r="http://schemas.openxmlformats.org/officeDocument/2006/relationships" xmlns:a="http://schemas.openxmlformats.org/drawingml/2006/main" r:embed="Rc207ff195dc74f2d"/>
          <a:stretch xmlns:a="http://schemas.openxmlformats.org/drawingml/2006/main"/>
        </p:blipFill>
        <p:spPr>
          <a:xfrm xmlns:a="http://schemas.openxmlformats.org/drawingml/2006/main">
            <a:off x="2170906" y="1714500"/>
            <a:ext cx="7850188"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AFC5EE-A5A0-4370-AA99-6F6029EC0C12}"/>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Guardar last = now evita intentar recuperar todas las ejecuciones perdidas después de una demora. Actualizar last += interval_ms responde a otra política de agenda. Primero elegiremos una tarea y una política explícitas. Para medir RPM más adelante, usaremos el tiempo realmente transcurrido; para un modelo matemático de paso fijo, el tiempo del modelo tendrá su propio significado. Dos relojes con la misma unidad pueden representar referencias distintas.</a:t>
            </a:r>
          </a:p>
        </p:txBody>
      </p:sp>
      <p:sp>
        <p:nvSpPr>
          <p:cNvPr id="6" name="">
            <a:extLst xmlns:a="http://schemas.openxmlformats.org/drawingml/2006/main">
              <a:ext uri="{FF2B5EF4-FFF2-40B4-BE49-F238E27FC236}">
                <a16:creationId xmlns:a16="http://schemas.microsoft.com/office/drawing/2014/main" id="{1D4D3117-47F8-43FB-A91C-3ED2407886ED}"/>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Todos los tiempos de esta comparación usan el mismo tipo y la misma unidad.</a:t>
            </a:r>
          </a:p>
        </p:txBody>
      </p:sp>
    </p:spTree>
    <p:extLst>
      <p:ext uri="{BB962C8B-B14F-4D97-AF65-F5344CB8AC3E}">
        <p14:creationId xmlns:p14="http://schemas.microsoft.com/office/powerpoint/2010/main" val="179529428"/>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A91FB8-9D82-4626-BD24-FC471AA5DEE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Estado, evento y transición</a:t>
            </a:r>
          </a:p>
        </p:txBody>
      </p:sp>
      <p:pic>
        <p:nvPicPr>
          <p:cNvPr id="2" name="">
            <a:extLst xmlns:a="http://schemas.openxmlformats.org/drawingml/2006/main">
              <a:ext uri="{FF2B5EF4-FFF2-40B4-BE49-F238E27FC236}">
                <a16:creationId xmlns:a16="http://schemas.microsoft.com/office/drawing/2014/main" id="{13F1BC00-95F3-4551-8630-747499B38602}"/>
              </a:ext>
            </a:extLst>
          </p:cNvPr>
          <p:cNvPicPr>
            <a:picLocks xmlns:a="http://schemas.openxmlformats.org/drawingml/2006/main" noChangeAspect="1"/>
          </p:cNvPicPr>
          <p:nvPr/>
        </p:nvPicPr>
        <p:blipFill>
          <a:blip xmlns:r="http://schemas.openxmlformats.org/officeDocument/2006/relationships" xmlns:a="http://schemas.openxmlformats.org/drawingml/2006/main" r:embed="R972deb75bb54482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3A60FD7-D9A4-4DCE-AE86-D3251DA3FB7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08/24</a:t>
            </a:r>
          </a:p>
        </p:txBody>
      </p:sp>
      <p:sp>
        <p:nvSpPr>
          <p:cNvPr id="4" name="">
            <a:extLst xmlns:a="http://schemas.openxmlformats.org/drawingml/2006/main">
              <a:ext uri="{FF2B5EF4-FFF2-40B4-BE49-F238E27FC236}">
                <a16:creationId xmlns:a16="http://schemas.microsoft.com/office/drawing/2014/main" id="{4E451CEC-1168-49B2-8367-F1DD3677076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estado conserva qué situación del sistema está activa. Un evento señala algo que ocurrió o una condición que acaba de cumplirse. La transición define a qué estado se pasa y qué acciones se ejecutan. En el semáforo, ROJO, VERDE y AMARILLO son estados. “Han transcurrido tres segundos” es una condición de transición. Una solicitud peatonal puede quedar guardada para atenderse cuando corresponda. Separar estas ideas permite dibujar la lógica antes de escribir switch.</a:t>
            </a:r>
          </a:p>
        </p:txBody>
      </p:sp>
    </p:spTree>
    <p:extLst>
      <p:ext uri="{BB962C8B-B14F-4D97-AF65-F5344CB8AC3E}">
        <p14:creationId xmlns:p14="http://schemas.microsoft.com/office/powerpoint/2010/main" val="1030418953"/>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D13609-67C4-42A0-A95C-CCC57A6EF33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Fragmento de la secuencia</a:t>
            </a:r>
          </a:p>
        </p:txBody>
      </p:sp>
      <p:pic>
        <p:nvPicPr>
          <p:cNvPr id="2" name="">
            <a:extLst xmlns:a="http://schemas.openxmlformats.org/drawingml/2006/main">
              <a:ext uri="{FF2B5EF4-FFF2-40B4-BE49-F238E27FC236}">
                <a16:creationId xmlns:a16="http://schemas.microsoft.com/office/drawing/2014/main" id="{92D150BE-3D57-4EF5-AA7A-7D364232C7C6}"/>
              </a:ext>
            </a:extLst>
          </p:cNvPr>
          <p:cNvPicPr>
            <a:picLocks xmlns:a="http://schemas.openxmlformats.org/drawingml/2006/main" noChangeAspect="1"/>
          </p:cNvPicPr>
          <p:nvPr/>
        </p:nvPicPr>
        <p:blipFill>
          <a:blip xmlns:r="http://schemas.openxmlformats.org/officeDocument/2006/relationships" xmlns:a="http://schemas.openxmlformats.org/drawingml/2006/main" r:embed="Rd0f4c884dd754ff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3BFE6E8-DDA0-4499-B9FE-225471825B5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09/24</a:t>
            </a:r>
          </a:p>
        </p:txBody>
      </p:sp>
      <p:graphicFrame>
        <p:nvGraphicFramePr>
          <p:cNvPr id="4" name="">
            <a:extLst xmlns:a="http://schemas.openxmlformats.org/drawingml/2006/main">
              <a:ext uri="{FF2B5EF4-FFF2-40B4-BE49-F238E27FC236}">
                <a16:creationId xmlns:a16="http://schemas.microsoft.com/office/drawing/2014/main" id="{BA475BEB-447B-4165-AE69-276E417CCC57}"/>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Estado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Condición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Siguiente estado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ROJO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 s transcurridos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VERDE</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VERDE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3 s transcurridos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AMARILLO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AMARILLO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 s transcurrido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ROJO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98646216"/>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6CAEC4-FA0C-479D-84D5-8B884E8DAD0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Solicitud durante verde</a:t>
            </a:r>
          </a:p>
        </p:txBody>
      </p:sp>
      <p:pic>
        <p:nvPicPr>
          <p:cNvPr id="2" name="">
            <a:extLst xmlns:a="http://schemas.openxmlformats.org/drawingml/2006/main">
              <a:ext uri="{FF2B5EF4-FFF2-40B4-BE49-F238E27FC236}">
                <a16:creationId xmlns:a16="http://schemas.microsoft.com/office/drawing/2014/main" id="{5B8B3F02-430B-49A3-B618-7693507A47D2}"/>
              </a:ext>
            </a:extLst>
          </p:cNvPr>
          <p:cNvPicPr>
            <a:picLocks xmlns:a="http://schemas.openxmlformats.org/drawingml/2006/main" noChangeAspect="1"/>
          </p:cNvPicPr>
          <p:nvPr/>
        </p:nvPicPr>
        <p:blipFill>
          <a:blip xmlns:r="http://schemas.openxmlformats.org/officeDocument/2006/relationships" xmlns:a="http://schemas.openxmlformats.org/drawingml/2006/main" r:embed="Re484a7a00b184ff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F6C905-AEB3-4687-8F0B-E83C0ED48E8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10/24</a:t>
            </a:r>
          </a:p>
        </p:txBody>
      </p:sp>
      <p:sp>
        <p:nvSpPr>
          <p:cNvPr id="4" name="">
            <a:extLst xmlns:a="http://schemas.openxmlformats.org/drawingml/2006/main">
              <a:ext uri="{FF2B5EF4-FFF2-40B4-BE49-F238E27FC236}">
                <a16:creationId xmlns:a16="http://schemas.microsoft.com/office/drawing/2014/main" id="{051819D5-F295-4DDE-87BE-5AD870ACE0FF}"/>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Se pulsa el botón durante verde. ¿Dónde conservas la solicitud hasta llegar a rojo?</a:t>
            </a:r>
          </a:p>
        </p:txBody>
      </p:sp>
      <p:sp>
        <p:nvSpPr>
          <p:cNvPr id="5" name="">
            <a:extLst xmlns:a="http://schemas.openxmlformats.org/drawingml/2006/main">
              <a:ext uri="{FF2B5EF4-FFF2-40B4-BE49-F238E27FC236}">
                <a16:creationId xmlns:a16="http://schemas.microsoft.com/office/drawing/2014/main" id="{C2B1528E-0198-489E-A685-43EAE63340B4}"/>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En una variable de solicitud persistente. El evento no se conserva si solo se pregunta por el nivel instantáneo al llegar a rojo. La variable se limpia después de atender la condición definida.</a:t>
            </a:r>
          </a:p>
        </p:txBody>
      </p:sp>
    </p:spTree>
    <p:extLst>
      <p:ext uri="{BB962C8B-B14F-4D97-AF65-F5344CB8AC3E}">
        <p14:creationId xmlns:p14="http://schemas.microsoft.com/office/powerpoint/2010/main" val="471850724"/>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89CFE0-4E61-4FD0-BE59-2C0C7B5FAD3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Lectura de una transición pequeña</a:t>
            </a:r>
          </a:p>
        </p:txBody>
      </p:sp>
      <p:pic>
        <p:nvPicPr>
          <p:cNvPr id="2" name="">
            <a:extLst xmlns:a="http://schemas.openxmlformats.org/drawingml/2006/main">
              <a:ext uri="{FF2B5EF4-FFF2-40B4-BE49-F238E27FC236}">
                <a16:creationId xmlns:a16="http://schemas.microsoft.com/office/drawing/2014/main" id="{4D273149-AFA7-47C8-940D-AF3827991070}"/>
              </a:ext>
            </a:extLst>
          </p:cNvPr>
          <p:cNvPicPr>
            <a:picLocks xmlns:a="http://schemas.openxmlformats.org/drawingml/2006/main" noChangeAspect="1"/>
          </p:cNvPicPr>
          <p:nvPr/>
        </p:nvPicPr>
        <p:blipFill>
          <a:blip xmlns:r="http://schemas.openxmlformats.org/officeDocument/2006/relationships" xmlns:a="http://schemas.openxmlformats.org/drawingml/2006/main" r:embed="Rc59e4fe04c574ef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951EB5-C5E5-434B-8C1C-5539D9E96BB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11/24</a:t>
            </a:r>
          </a:p>
        </p:txBody>
      </p:sp>
      <p:sp>
        <p:nvSpPr>
          <p:cNvPr id="4" name="">
            <a:extLst xmlns:a="http://schemas.openxmlformats.org/drawingml/2006/main">
              <a:ext uri="{FF2B5EF4-FFF2-40B4-BE49-F238E27FC236}">
                <a16:creationId xmlns:a16="http://schemas.microsoft.com/office/drawing/2014/main" id="{B81F620E-A799-4763-9343-A29B37CE2FA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función enter() centraliza la asignación del estado, la referencia temporal y las salidas. Así no quedan luces con valores heredados de otra rama. El programa de referencia registra la solicitud y no obliga a que el usuario siga pulsando hasta el momento de atención. En una interfaz real se puede añadir el antirrebote de la clase anterior. Ambas funciones tienen propósitos distintos: una define la secuencia y la otra interpreta el contacto.</a:t>
            </a:r>
          </a:p>
        </p:txBody>
      </p:sp>
    </p:spTree>
    <p:extLst>
      <p:ext uri="{BB962C8B-B14F-4D97-AF65-F5344CB8AC3E}">
        <p14:creationId xmlns:p14="http://schemas.microsoft.com/office/powerpoint/2010/main" val="169378235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63C6EC-0482-426B-B688-9199FF8C253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Núcleo de c03_estados</a:t>
            </a:r>
          </a:p>
        </p:txBody>
      </p:sp>
      <p:pic>
        <p:nvPicPr>
          <p:cNvPr id="2" name="">
            <a:extLst xmlns:a="http://schemas.openxmlformats.org/drawingml/2006/main">
              <a:ext uri="{FF2B5EF4-FFF2-40B4-BE49-F238E27FC236}">
                <a16:creationId xmlns:a16="http://schemas.microsoft.com/office/drawing/2014/main" id="{3C68A924-0918-4846-87E5-9D644F19823E}"/>
              </a:ext>
            </a:extLst>
          </p:cNvPr>
          <p:cNvPicPr>
            <a:picLocks xmlns:a="http://schemas.openxmlformats.org/drawingml/2006/main" noChangeAspect="1"/>
          </p:cNvPicPr>
          <p:nvPr/>
        </p:nvPicPr>
        <p:blipFill>
          <a:blip xmlns:r="http://schemas.openxmlformats.org/officeDocument/2006/relationships" xmlns:a="http://schemas.openxmlformats.org/drawingml/2006/main" r:embed="R085398b4395b490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081BC0-0AFC-4B43-92B5-8A94E2B5E89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12/24</a:t>
            </a:r>
          </a:p>
        </p:txBody>
      </p:sp>
      <p:sp>
        <p:nvSpPr>
          <p:cNvPr id="4" name="">
            <a:extLst xmlns:a="http://schemas.openxmlformats.org/drawingml/2006/main">
              <a:ext uri="{FF2B5EF4-FFF2-40B4-BE49-F238E27FC236}">
                <a16:creationId xmlns:a16="http://schemas.microsoft.com/office/drawing/2014/main" id="{B136034B-69CF-448F-91AD-299C5AC5CDEE}"/>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(digitalRead(BTN) == LOW) request = true;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(state == State::GREEN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&amp;&amp; uint32_t(now-since) &gt;= 3000)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enter(State::YELLOW, now);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4FE4BC34-F9F8-4513-8D41-7917D5AE80DF}"/>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380802524"/>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9A4FA9-A635-4515-B12D-EF13D6F010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Lectura de una transición pequeña</a:t>
            </a:r>
          </a:p>
        </p:txBody>
      </p:sp>
      <p:pic>
        <p:nvPicPr>
          <p:cNvPr id="2" name="">
            <a:extLst xmlns:a="http://schemas.openxmlformats.org/drawingml/2006/main">
              <a:ext uri="{FF2B5EF4-FFF2-40B4-BE49-F238E27FC236}">
                <a16:creationId xmlns:a16="http://schemas.microsoft.com/office/drawing/2014/main" id="{5DC4E954-D11B-4EAE-86B3-3F2083810D8E}"/>
              </a:ext>
            </a:extLst>
          </p:cNvPr>
          <p:cNvPicPr>
            <a:picLocks xmlns:a="http://schemas.openxmlformats.org/drawingml/2006/main" noChangeAspect="1"/>
          </p:cNvPicPr>
          <p:nvPr/>
        </p:nvPicPr>
        <p:blipFill>
          <a:blip xmlns:r="http://schemas.openxmlformats.org/officeDocument/2006/relationships" xmlns:a="http://schemas.openxmlformats.org/drawingml/2006/main" r:embed="R7ddfd81997c54a1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699BB6-2205-4A15-9B99-1E27488E488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13/24</a:t>
            </a:r>
          </a:p>
        </p:txBody>
      </p:sp>
      <p:sp>
        <p:nvSpPr>
          <p:cNvPr id="4" name="">
            <a:extLst xmlns:a="http://schemas.openxmlformats.org/drawingml/2006/main">
              <a:ext uri="{FF2B5EF4-FFF2-40B4-BE49-F238E27FC236}">
                <a16:creationId xmlns:a16="http://schemas.microsoft.com/office/drawing/2014/main" id="{16A3E431-428F-4354-B9A1-70C827A8CF2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Para depurar, construye una tabla con tiempo, estado, entrada y acción. No es necesario imprimir miles de mensajes por segundo. Registra transiciones y hechos importantes para que el monitor permita reconstruir la secuencia. Si cada recorrido de loop() emite una línea, la propia comunicación puede ocupar una parte importante del tiempo y esconder lo que intentabas observar. Un registro útil se diseña alrededor de preguntas concretas.</a:t>
            </a:r>
          </a:p>
        </p:txBody>
      </p:sp>
    </p:spTree>
    <p:extLst>
      <p:ext uri="{BB962C8B-B14F-4D97-AF65-F5344CB8AC3E}">
        <p14:creationId xmlns:p14="http://schemas.microsoft.com/office/powerpoint/2010/main" val="59067177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CB2F40-0950-405C-B0BB-5FDDA3CEF03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respuesta y variación</a:t>
            </a:r>
          </a:p>
        </p:txBody>
      </p:sp>
      <p:pic>
        <p:nvPicPr>
          <p:cNvPr id="2" name="">
            <a:extLst xmlns:a="http://schemas.openxmlformats.org/drawingml/2006/main">
              <a:ext uri="{FF2B5EF4-FFF2-40B4-BE49-F238E27FC236}">
                <a16:creationId xmlns:a16="http://schemas.microsoft.com/office/drawing/2014/main" id="{B2E68300-1325-4092-BC6C-762173334A02}"/>
              </a:ext>
            </a:extLst>
          </p:cNvPr>
          <p:cNvPicPr>
            <a:picLocks xmlns:a="http://schemas.openxmlformats.org/drawingml/2006/main" noChangeAspect="1"/>
          </p:cNvPicPr>
          <p:nvPr/>
        </p:nvPicPr>
        <p:blipFill>
          <a:blip xmlns:r="http://schemas.openxmlformats.org/officeDocument/2006/relationships" xmlns:a="http://schemas.openxmlformats.org/drawingml/2006/main" r:embed="R274d24903f5c449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50D51D-B082-4BAB-90B2-9AFD224FB0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14/24</a:t>
            </a:r>
          </a:p>
        </p:txBody>
      </p:sp>
      <p:sp>
        <p:nvSpPr>
          <p:cNvPr id="4" name="">
            <a:extLst xmlns:a="http://schemas.openxmlformats.org/drawingml/2006/main">
              <a:ext uri="{FF2B5EF4-FFF2-40B4-BE49-F238E27FC236}">
                <a16:creationId xmlns:a16="http://schemas.microsoft.com/office/drawing/2014/main" id="{99549775-C8E5-4694-87E4-B8BD67D5823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prueba busca una diferencia de comportamiento: por ejemplo, qué sucede con una solicitud breve que aparece durante una espera. Observar solo que las luces completan el ciclo no responde esa pregunta. Si el equipo afirma que la respuesta es “inmediata”, debe decir cómo la observó y qué demora podría no detectar con ese método. En esta etapa basta demostrar que el evento se conserva y se atiende según una regla.</a:t>
            </a:r>
          </a:p>
        </p:txBody>
      </p:sp>
    </p:spTree>
    <p:extLst>
      <p:ext uri="{BB962C8B-B14F-4D97-AF65-F5344CB8AC3E}">
        <p14:creationId xmlns:p14="http://schemas.microsoft.com/office/powerpoint/2010/main" val="643572775"/>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72B480-DE44-4D7A-AC87-97C304559A7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 prueba</a:t>
            </a:r>
          </a:p>
        </p:txBody>
      </p:sp>
      <p:pic>
        <p:nvPicPr>
          <p:cNvPr id="2" name="">
            <a:extLst xmlns:a="http://schemas.openxmlformats.org/drawingml/2006/main">
              <a:ext uri="{FF2B5EF4-FFF2-40B4-BE49-F238E27FC236}">
                <a16:creationId xmlns:a16="http://schemas.microsoft.com/office/drawing/2014/main" id="{C923A2E2-AE59-459E-A59C-64F21C49B68C}"/>
              </a:ext>
            </a:extLst>
          </p:cNvPr>
          <p:cNvPicPr>
            <a:picLocks xmlns:a="http://schemas.openxmlformats.org/drawingml/2006/main" noChangeAspect="1"/>
          </p:cNvPicPr>
          <p:nvPr/>
        </p:nvPicPr>
        <p:blipFill>
          <a:blip xmlns:r="http://schemas.openxmlformats.org/officeDocument/2006/relationships" xmlns:a="http://schemas.openxmlformats.org/drawingml/2006/main" r:embed="Refe0803b2f21448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4354F5-8B2F-458B-B2FA-24FD43B56CD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15/24</a:t>
            </a:r>
          </a:p>
        </p:txBody>
      </p:sp>
      <p:graphicFrame>
        <p:nvGraphicFramePr>
          <p:cNvPr id="4" name="">
            <a:extLst xmlns:a="http://schemas.openxmlformats.org/drawingml/2006/main">
              <a:ext uri="{FF2B5EF4-FFF2-40B4-BE49-F238E27FC236}">
                <a16:creationId xmlns:a16="http://schemas.microsoft.com/office/drawing/2014/main" id="{AC50DD56-FD6A-47D5-A6EF-B224BA6D4C7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Tiempo / ms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Estado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Evento / acción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Inicio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inicial</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Solicitud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Entrada observada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Transición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Cambio de salidas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Atención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Por registrar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Solicitud consumida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1380745"/>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40FB1A-339E-401D-8432-E2DEC4D9A97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respuesta y variación</a:t>
            </a:r>
          </a:p>
        </p:txBody>
      </p:sp>
      <p:pic>
        <p:nvPicPr>
          <p:cNvPr id="2" name="">
            <a:extLst xmlns:a="http://schemas.openxmlformats.org/drawingml/2006/main">
              <a:ext uri="{FF2B5EF4-FFF2-40B4-BE49-F238E27FC236}">
                <a16:creationId xmlns:a16="http://schemas.microsoft.com/office/drawing/2014/main" id="{7BB61C9D-C923-4D06-B692-8C708C129450}"/>
              </a:ext>
            </a:extLst>
          </p:cNvPr>
          <p:cNvPicPr>
            <a:picLocks xmlns:a="http://schemas.openxmlformats.org/drawingml/2006/main" noChangeAspect="1"/>
          </p:cNvPicPr>
          <p:nvPr/>
        </p:nvPicPr>
        <p:blipFill>
          <a:blip xmlns:r="http://schemas.openxmlformats.org/officeDocument/2006/relationships" xmlns:a="http://schemas.openxmlformats.org/drawingml/2006/main" r:embed="R8bbea26ed14a422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8A084B3-09EC-4B85-A33D-4F7E8922DC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16/24</a:t>
            </a:r>
          </a:p>
        </p:txBody>
      </p:sp>
      <p:sp>
        <p:nvSpPr>
          <p:cNvPr id="4" name="">
            <a:extLst xmlns:a="http://schemas.openxmlformats.org/drawingml/2006/main">
              <a:ext uri="{FF2B5EF4-FFF2-40B4-BE49-F238E27FC236}">
                <a16:creationId xmlns:a16="http://schemas.microsoft.com/office/drawing/2014/main" id="{95B99708-2C7E-4235-9667-99ED24E32E1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Dibuja la tabla de transiciones y señala qué variables deben conservarse.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Ejecuta el semáforo y pulsa en cada uno de sus tres estados.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Añade un contador de solicitudes atendidas sin detener la secuencia.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Compara una versión con delay(3000) y otra por tiempo transcurrido.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Introduce una acción de parpadeo independiente para mostrar dos agendas.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Elige caja fuerte o PIR como variante y describe su estado inicial y su transición de retorno.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Conserva un registro de eventos que permita explicar una prueba completa.</a:t>
            </a:r>
          </a:p>
        </p:txBody>
      </p:sp>
    </p:spTree>
    <p:extLst>
      <p:ext uri="{BB962C8B-B14F-4D97-AF65-F5344CB8AC3E}">
        <p14:creationId xmlns:p14="http://schemas.microsoft.com/office/powerpoint/2010/main" val="719092506"/>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343E2-1EF5-4F58-8F77-D354185FBC4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estados para un banco de sensores</a:t>
            </a:r>
          </a:p>
        </p:txBody>
      </p:sp>
      <p:pic>
        <p:nvPicPr>
          <p:cNvPr id="2" name="">
            <a:extLst xmlns:a="http://schemas.openxmlformats.org/drawingml/2006/main">
              <a:ext uri="{FF2B5EF4-FFF2-40B4-BE49-F238E27FC236}">
                <a16:creationId xmlns:a16="http://schemas.microsoft.com/office/drawing/2014/main" id="{C918B747-1978-4B3D-94F0-83C39340C539}"/>
              </a:ext>
            </a:extLst>
          </p:cNvPr>
          <p:cNvPicPr>
            <a:picLocks xmlns:a="http://schemas.openxmlformats.org/drawingml/2006/main" noChangeAspect="1"/>
          </p:cNvPicPr>
          <p:nvPr/>
        </p:nvPicPr>
        <p:blipFill>
          <a:blip xmlns:r="http://schemas.openxmlformats.org/officeDocument/2006/relationships" xmlns:a="http://schemas.openxmlformats.org/drawingml/2006/main" r:embed="R79dc21af350048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155833-DCFB-4A77-B185-91AB705BF7B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17/24</a:t>
            </a:r>
          </a:p>
        </p:txBody>
      </p:sp>
      <p:sp>
        <p:nvSpPr>
          <p:cNvPr id="4" name="">
            <a:extLst xmlns:a="http://schemas.openxmlformats.org/drawingml/2006/main">
              <a:ext uri="{FF2B5EF4-FFF2-40B4-BE49-F238E27FC236}">
                <a16:creationId xmlns:a16="http://schemas.microsoft.com/office/drawing/2014/main" id="{72F7CD15-CC74-4755-8E39-C3B3AE44018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aplicación cercana al mercado UAV puede usar INICIO, LISTO y FALLO. En INICIO se preparan los periféricos; en LISTO se adquieren y muestran datos; en FALLO se informa una condición que impide tratarlos como recientes. El estado describe el sistema, mientras un LED u OLED lo presenta. La misma estructura permitirá que la clase final detecte un sensor ausente sin seguir mostrando una lectura antigua como si fuera nueva.</a:t>
            </a:r>
          </a:p>
        </p:txBody>
      </p:sp>
    </p:spTree>
    <p:extLst>
      <p:ext uri="{BB962C8B-B14F-4D97-AF65-F5344CB8AC3E}">
        <p14:creationId xmlns:p14="http://schemas.microsoft.com/office/powerpoint/2010/main" val="865654576"/>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DB540D-14D9-403A-94BB-1CFE2C5A8F3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Transferencia de la lógica</a:t>
            </a:r>
          </a:p>
        </p:txBody>
      </p:sp>
      <p:pic>
        <p:nvPicPr>
          <p:cNvPr id="2" name="">
            <a:extLst xmlns:a="http://schemas.openxmlformats.org/drawingml/2006/main">
              <a:ext uri="{FF2B5EF4-FFF2-40B4-BE49-F238E27FC236}">
                <a16:creationId xmlns:a16="http://schemas.microsoft.com/office/drawing/2014/main" id="{13DFBE06-66C1-4845-B2BB-F2A006D17426}"/>
              </a:ext>
            </a:extLst>
          </p:cNvPr>
          <p:cNvPicPr>
            <a:picLocks xmlns:a="http://schemas.openxmlformats.org/drawingml/2006/main" noChangeAspect="1"/>
          </p:cNvPicPr>
          <p:nvPr/>
        </p:nvPicPr>
        <p:blipFill>
          <a:blip xmlns:r="http://schemas.openxmlformats.org/officeDocument/2006/relationships" xmlns:a="http://schemas.openxmlformats.org/drawingml/2006/main" r:embed="R1b766075c97f4a3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494A5E-E3A1-48C9-855C-7C108C90CF9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18/24</a:t>
            </a:r>
          </a:p>
        </p:txBody>
      </p:sp>
      <p:graphicFrame>
        <p:nvGraphicFramePr>
          <p:cNvPr id="4" name="">
            <a:extLst xmlns:a="http://schemas.openxmlformats.org/drawingml/2006/main">
              <a:ext uri="{FF2B5EF4-FFF2-40B4-BE49-F238E27FC236}">
                <a16:creationId xmlns:a16="http://schemas.microsoft.com/office/drawing/2014/main" id="{66ECC237-18F3-4887-A895-CA2116D9856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Proyecto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Evento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conserva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Caja fuerte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Clave aceptada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de acceso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PIR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Cambio de movimiento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de aviso</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Banco UAV</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Lectura vencida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de datos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54544752"/>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3B28FE-041D-440B-8B37-63071AEF590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Tres estados para un banco de sensores</a:t>
            </a:r>
          </a:p>
        </p:txBody>
      </p:sp>
      <p:pic>
        <p:nvPicPr>
          <p:cNvPr id="2" name="">
            <a:extLst xmlns:a="http://schemas.openxmlformats.org/drawingml/2006/main">
              <a:ext uri="{FF2B5EF4-FFF2-40B4-BE49-F238E27FC236}">
                <a16:creationId xmlns:a16="http://schemas.microsoft.com/office/drawing/2014/main" id="{000896FC-ECDA-430F-94B3-B08BC94F8C16}"/>
              </a:ext>
            </a:extLst>
          </p:cNvPr>
          <p:cNvPicPr>
            <a:picLocks xmlns:a="http://schemas.openxmlformats.org/drawingml/2006/main" noChangeAspect="1"/>
          </p:cNvPicPr>
          <p:nvPr/>
        </p:nvPicPr>
        <p:blipFill>
          <a:blip xmlns:r="http://schemas.openxmlformats.org/officeDocument/2006/relationships" xmlns:a="http://schemas.openxmlformats.org/drawingml/2006/main" r:embed="R6b7a9bc579ba41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6A6277F-F6B7-4772-A8C9-CFBB261EE20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19/24</a:t>
            </a:r>
          </a:p>
        </p:txBody>
      </p:sp>
      <p:sp>
        <p:nvSpPr>
          <p:cNvPr id="4" name="">
            <a:extLst xmlns:a="http://schemas.openxmlformats.org/drawingml/2006/main">
              <a:ext uri="{FF2B5EF4-FFF2-40B4-BE49-F238E27FC236}">
                <a16:creationId xmlns:a16="http://schemas.microsoft.com/office/drawing/2014/main" id="{09F81075-1053-409E-89BB-E76C0B256FB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en una biblioteca si sus funciones esperan a terminar una operación. Una interfaz aparentemente sencilla puede ocultar una espera. Identifica el comportamiento de motor.step() en la variante del ascensor y de pulseIn() en el sensor ultrasónico. Una arquitectura sin delay() todavía puede bloquear en otras llamadas. La habilidad es reconocer la duración y el lugar de la espera, no buscar una palabra prohibida.</a:t>
            </a:r>
          </a:p>
        </p:txBody>
      </p:sp>
    </p:spTree>
    <p:extLst>
      <p:ext uri="{BB962C8B-B14F-4D97-AF65-F5344CB8AC3E}">
        <p14:creationId xmlns:p14="http://schemas.microsoft.com/office/powerpoint/2010/main" val="836110150"/>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240D96-7876-4FF6-8E05-1DA46582031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19C59068-0B3A-4546-AF7A-C54E900E276C}"/>
              </a:ext>
            </a:extLst>
          </p:cNvPr>
          <p:cNvPicPr>
            <a:picLocks xmlns:a="http://schemas.openxmlformats.org/drawingml/2006/main" noChangeAspect="1"/>
          </p:cNvPicPr>
          <p:nvPr/>
        </p:nvPicPr>
        <p:blipFill>
          <a:blip xmlns:r="http://schemas.openxmlformats.org/officeDocument/2006/relationships" xmlns:a="http://schemas.openxmlformats.org/drawingml/2006/main" r:embed="R24d26374b69e471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D756F1-63F4-473D-B171-944D80869FA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20/24</a:t>
            </a:r>
          </a:p>
        </p:txBody>
      </p:sp>
      <p:sp>
        <p:nvSpPr>
          <p:cNvPr id="4" name="">
            <a:extLst xmlns:a="http://schemas.openxmlformats.org/drawingml/2006/main">
              <a:ext uri="{FF2B5EF4-FFF2-40B4-BE49-F238E27FC236}">
                <a16:creationId xmlns:a16="http://schemas.microsoft.com/office/drawing/2014/main" id="{CF80EA85-6E30-417C-9B58-0BF23697828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Plantear una solicitud que ocurra en mitad de una secuencia.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Describir la tabla de estados antes de ejecutar el programa.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Comparar las dos políticas de temporización con c03_estados.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Transferir la misma lógica a INICIO, LISTO y FALLO.</a:t>
            </a:r>
          </a:p>
        </p:txBody>
      </p:sp>
    </p:spTree>
    <p:extLst>
      <p:ext uri="{BB962C8B-B14F-4D97-AF65-F5344CB8AC3E}">
        <p14:creationId xmlns:p14="http://schemas.microsoft.com/office/powerpoint/2010/main" val="1634430434"/>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BF82C1-5D69-41FE-835F-4B3C7185B62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9D04D500-4BF2-4E58-9044-C263F281C900}"/>
              </a:ext>
            </a:extLst>
          </p:cNvPr>
          <p:cNvPicPr>
            <a:picLocks xmlns:a="http://schemas.openxmlformats.org/drawingml/2006/main" noChangeAspect="1"/>
          </p:cNvPicPr>
          <p:nvPr/>
        </p:nvPicPr>
        <p:blipFill>
          <a:blip xmlns:r="http://schemas.openxmlformats.org/officeDocument/2006/relationships" xmlns:a="http://schemas.openxmlformats.org/drawingml/2006/main" r:embed="Rc350511cf1ca4b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0EBFBC-FE11-4AC5-8B75-5A8EE883D7E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21/24</a:t>
            </a:r>
          </a:p>
        </p:txBody>
      </p:sp>
      <p:sp>
        <p:nvSpPr>
          <p:cNvPr id="4" name="">
            <a:extLst xmlns:a="http://schemas.openxmlformats.org/drawingml/2006/main">
              <a:ext uri="{FF2B5EF4-FFF2-40B4-BE49-F238E27FC236}">
                <a16:creationId xmlns:a16="http://schemas.microsoft.com/office/drawing/2014/main" id="{443F66F7-4EED-4009-BCEF-9A9F6A4C2484}"/>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adquisición de sensores, los avisos y la interfaz de un banco UAV necesitan convivir sin esperas largas.</a:t>
            </a:r>
          </a:p>
        </p:txBody>
      </p:sp>
      <p:sp>
        <p:nvSpPr>
          <p:cNvPr id="5" name="">
            <a:extLst xmlns:a="http://schemas.openxmlformats.org/drawingml/2006/main">
              <a:ext uri="{FF2B5EF4-FFF2-40B4-BE49-F238E27FC236}">
                <a16:creationId xmlns:a16="http://schemas.microsoft.com/office/drawing/2014/main" id="{01C1CA9E-CCBE-4A83-B9A3-D3D8601FC417}"/>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679494248"/>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5BD607-F78D-444F-AA89-140C60A6889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D0630EA7-E4FD-4339-A174-A7134644BAA6}"/>
              </a:ext>
            </a:extLst>
          </p:cNvPr>
          <p:cNvPicPr>
            <a:picLocks xmlns:a="http://schemas.openxmlformats.org/drawingml/2006/main" noChangeAspect="1"/>
          </p:cNvPicPr>
          <p:nvPr/>
        </p:nvPicPr>
        <p:blipFill>
          <a:blip xmlns:r="http://schemas.openxmlformats.org/officeDocument/2006/relationships" xmlns:a="http://schemas.openxmlformats.org/drawingml/2006/main" r:embed="R9f3cdf5214fe4f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92DBB0-736E-4276-807E-739581DDDD8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22/24</a:t>
            </a:r>
          </a:p>
        </p:txBody>
      </p:sp>
      <p:sp>
        <p:nvSpPr>
          <p:cNvPr id="4" name="">
            <a:extLst xmlns:a="http://schemas.openxmlformats.org/drawingml/2006/main">
              <a:ext uri="{FF2B5EF4-FFF2-40B4-BE49-F238E27FC236}">
                <a16:creationId xmlns:a16="http://schemas.microsoft.com/office/drawing/2014/main" id="{282F4F1E-F70A-4DDD-ACB5-BD1674EC4A3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¿Quitar delay() garantiza un programa no bloqueante?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¿Qué guarda la solicitud?</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¿posicionActual demuestra posición física?</a:t>
            </a:r>
          </a:p>
        </p:txBody>
      </p:sp>
    </p:spTree>
    <p:extLst>
      <p:ext uri="{BB962C8B-B14F-4D97-AF65-F5344CB8AC3E}">
        <p14:creationId xmlns:p14="http://schemas.microsoft.com/office/powerpoint/2010/main" val="711182941"/>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F91930-0B4F-4181-96AC-6E1E8481C5C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E75F646F-C6C4-4B6B-816F-EFF3BBE9C8D7}"/>
              </a:ext>
            </a:extLst>
          </p:cNvPr>
          <p:cNvPicPr>
            <a:picLocks xmlns:a="http://schemas.openxmlformats.org/drawingml/2006/main" noChangeAspect="1"/>
          </p:cNvPicPr>
          <p:nvPr/>
        </p:nvPicPr>
        <p:blipFill>
          <a:blip xmlns:r="http://schemas.openxmlformats.org/officeDocument/2006/relationships" xmlns:a="http://schemas.openxmlformats.org/drawingml/2006/main" r:embed="R68efce0d12d949f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E03563F-C34C-4135-9565-2CDB1A05200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23/24</a:t>
            </a:r>
          </a:p>
        </p:txBody>
      </p:sp>
      <p:sp>
        <p:nvSpPr>
          <p:cNvPr id="4" name="">
            <a:extLst xmlns:a="http://schemas.openxmlformats.org/drawingml/2006/main">
              <a:ext uri="{FF2B5EF4-FFF2-40B4-BE49-F238E27FC236}">
                <a16:creationId xmlns:a16="http://schemas.microsoft.com/office/drawing/2014/main" id="{6168ABA2-94C1-49FD-962B-888FDE814D7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otras llamadas también pueden esperar. Hay que estudiar su duración y su efecto.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Una variable persistente que se limpia al atenderla según la regla.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Solo si existe una medición que la respalde; un conteo de pasos ordenados puede ser únicamente una estimación.</a:t>
            </a:r>
          </a:p>
        </p:txBody>
      </p:sp>
    </p:spTree>
    <p:extLst>
      <p:ext uri="{BB962C8B-B14F-4D97-AF65-F5344CB8AC3E}">
        <p14:creationId xmlns:p14="http://schemas.microsoft.com/office/powerpoint/2010/main" val="614096853"/>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AF8A56-3117-4ED2-B93D-A73D8B6D217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6F232AED-A17F-4988-A737-00991CE20122}"/>
              </a:ext>
            </a:extLst>
          </p:cNvPr>
          <p:cNvPicPr>
            <a:picLocks xmlns:a="http://schemas.openxmlformats.org/drawingml/2006/main" noChangeAspect="1"/>
          </p:cNvPicPr>
          <p:nvPr/>
        </p:nvPicPr>
        <p:blipFill>
          <a:blip xmlns:r="http://schemas.openxmlformats.org/officeDocument/2006/relationships" xmlns:a="http://schemas.openxmlformats.org/drawingml/2006/main" r:embed="R207f7e40bea546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DCAE12-8F1D-43AD-B061-C89872C60B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24/24</a:t>
            </a:r>
          </a:p>
        </p:txBody>
      </p:sp>
      <p:sp>
        <p:nvSpPr>
          <p:cNvPr id="4" name="">
            <a:extLst xmlns:a="http://schemas.openxmlformats.org/drawingml/2006/main">
              <a:ext uri="{FF2B5EF4-FFF2-40B4-BE49-F238E27FC236}">
                <a16:creationId xmlns:a16="http://schemas.microsoft.com/office/drawing/2014/main" id="{417723AD-CC27-4D73-84F1-7E66C4B7B88B}"/>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Tabla de estados, variante temporal y registro de atención de eventos.</a:t>
            </a:r>
          </a:p>
        </p:txBody>
      </p:sp>
      <p:sp>
        <p:nvSpPr>
          <p:cNvPr id="5" name="">
            <a:extLst xmlns:a="http://schemas.openxmlformats.org/drawingml/2006/main">
              <a:ext uri="{FF2B5EF4-FFF2-40B4-BE49-F238E27FC236}">
                <a16:creationId xmlns:a16="http://schemas.microsoft.com/office/drawing/2014/main" id="{01E85413-0393-4B59-AC9D-1113B9F01E66}"/>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497430822"/>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EDDAA4-1ABA-46E4-82BF-FA3051FC1D1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ADC y calibración: de una lectura a una decisión</a:t>
            </a:r>
          </a:p>
        </p:txBody>
      </p:sp>
      <p:pic>
        <p:nvPicPr>
          <p:cNvPr id="2" name="">
            <a:extLst xmlns:a="http://schemas.openxmlformats.org/drawingml/2006/main">
              <a:ext uri="{FF2B5EF4-FFF2-40B4-BE49-F238E27FC236}">
                <a16:creationId xmlns:a16="http://schemas.microsoft.com/office/drawing/2014/main" id="{0E7E4D15-F439-4394-84C5-CFCEB275E623}"/>
              </a:ext>
            </a:extLst>
          </p:cNvPr>
          <p:cNvPicPr>
            <a:picLocks xmlns:a="http://schemas.openxmlformats.org/drawingml/2006/main" noChangeAspect="1"/>
          </p:cNvPicPr>
          <p:nvPr/>
        </p:nvPicPr>
        <p:blipFill>
          <a:blip xmlns:r="http://schemas.openxmlformats.org/officeDocument/2006/relationships" xmlns:a="http://schemas.openxmlformats.org/drawingml/2006/main" r:embed="R0558614d2232440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02497A-D5FF-4C4E-B79A-0B8BAA09EC2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01/24</a:t>
            </a:r>
          </a:p>
        </p:txBody>
      </p:sp>
      <p:sp>
        <p:nvSpPr>
          <p:cNvPr id="4" name="">
            <a:extLst xmlns:a="http://schemas.openxmlformats.org/drawingml/2006/main">
              <a:ext uri="{FF2B5EF4-FFF2-40B4-BE49-F238E27FC236}">
                <a16:creationId xmlns:a16="http://schemas.microsoft.com/office/drawing/2014/main" id="{BAA6118F-46E6-42F1-B98F-98739772896E}"/>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Interpretar lecturas analógicas, construir una escala de trabajo y justificar dos umbrales de histéresis.</a:t>
            </a:r>
          </a:p>
        </p:txBody>
      </p:sp>
      <p:sp>
        <p:nvSpPr>
          <p:cNvPr id="5" name="">
            <a:extLst xmlns:a="http://schemas.openxmlformats.org/drawingml/2006/main">
              <a:ext uri="{FF2B5EF4-FFF2-40B4-BE49-F238E27FC236}">
                <a16:creationId xmlns:a16="http://schemas.microsoft.com/office/drawing/2014/main" id="{D9F3ADDB-D7C6-4923-8948-DC781E212C20}"/>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 sensor de batería, luz o posición en un sistema UAV requiere distinguir lectura digital, magnitud física y validez del dato.</a:t>
            </a:r>
          </a:p>
        </p:txBody>
      </p:sp>
      <p:sp>
        <p:nvSpPr>
          <p:cNvPr id="6" name="">
            <a:extLst xmlns:a="http://schemas.openxmlformats.org/drawingml/2006/main">
              <a:ext uri="{FF2B5EF4-FFF2-40B4-BE49-F238E27FC236}">
                <a16:creationId xmlns:a16="http://schemas.microsoft.com/office/drawing/2014/main" id="{72178B68-65AC-4C32-9BD3-7590284C2805}"/>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567134663"/>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33E6E4-E990-430E-8216-AF5961C2A10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convierte un ADC</a:t>
            </a:r>
          </a:p>
        </p:txBody>
      </p:sp>
      <p:pic>
        <p:nvPicPr>
          <p:cNvPr id="2" name="">
            <a:extLst xmlns:a="http://schemas.openxmlformats.org/drawingml/2006/main">
              <a:ext uri="{FF2B5EF4-FFF2-40B4-BE49-F238E27FC236}">
                <a16:creationId xmlns:a16="http://schemas.microsoft.com/office/drawing/2014/main" id="{252AE680-51FC-4DAB-BEE5-30D0C30C07AD}"/>
              </a:ext>
            </a:extLst>
          </p:cNvPr>
          <p:cNvPicPr>
            <a:picLocks xmlns:a="http://schemas.openxmlformats.org/drawingml/2006/main" noChangeAspect="1"/>
          </p:cNvPicPr>
          <p:nvPr/>
        </p:nvPicPr>
        <p:blipFill>
          <a:blip xmlns:r="http://schemas.openxmlformats.org/officeDocument/2006/relationships" xmlns:a="http://schemas.openxmlformats.org/drawingml/2006/main" r:embed="Rc3752730c9ee46a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BBA703-FCF0-4CDA-9A60-3854D67E08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02/24</a:t>
            </a:r>
          </a:p>
        </p:txBody>
      </p:sp>
      <p:sp>
        <p:nvSpPr>
          <p:cNvPr id="4" name="">
            <a:extLst xmlns:a="http://schemas.openxmlformats.org/drawingml/2006/main">
              <a:ext uri="{FF2B5EF4-FFF2-40B4-BE49-F238E27FC236}">
                <a16:creationId xmlns:a16="http://schemas.microsoft.com/office/drawing/2014/main" id="{BAF4B7DB-753A-4E57-A051-B73756154B8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sensor analógico representa una condición mediante una tensión. El convertidor analógico a digital devuelve un número que depende de esa tensión y de la configuración. En una lectura de 12 bits existen 4096 códigos posibles, numerados de 0 a 4095. Esa cantidad describe resolución de código; no demuestra exactitud ni una relación perfectamente lineal en toda la entrada. El ESP32 clásico ofrece varios canales y restricciones que hay que relacionar con el pin elegido.</a:t>
            </a:r>
          </a:p>
        </p:txBody>
      </p:sp>
    </p:spTree>
    <p:extLst>
      <p:ext uri="{BB962C8B-B14F-4D97-AF65-F5344CB8AC3E}">
        <p14:creationId xmlns:p14="http://schemas.microsoft.com/office/powerpoint/2010/main" val="1340601629"/>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A6D316-CE3A-428E-BAB1-E306DFC15AC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convierte un ADC</a:t>
            </a:r>
          </a:p>
        </p:txBody>
      </p:sp>
      <p:pic>
        <p:nvPicPr>
          <p:cNvPr id="2" name="">
            <a:extLst xmlns:a="http://schemas.openxmlformats.org/drawingml/2006/main">
              <a:ext uri="{FF2B5EF4-FFF2-40B4-BE49-F238E27FC236}">
                <a16:creationId xmlns:a16="http://schemas.microsoft.com/office/drawing/2014/main" id="{72006A22-BE76-47E9-9F8A-176514EBCC6E}"/>
              </a:ext>
            </a:extLst>
          </p:cNvPr>
          <p:cNvPicPr>
            <a:picLocks xmlns:a="http://schemas.openxmlformats.org/drawingml/2006/main" noChangeAspect="1"/>
          </p:cNvPicPr>
          <p:nvPr/>
        </p:nvPicPr>
        <p:blipFill>
          <a:blip xmlns:r="http://schemas.openxmlformats.org/officeDocument/2006/relationships" xmlns:a="http://schemas.openxmlformats.org/drawingml/2006/main" r:embed="Rf1db80dadc0347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F7B7FF-B212-4805-B3EE-F4EDBD97962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03/24</a:t>
            </a:r>
          </a:p>
        </p:txBody>
      </p:sp>
      <p:pic>
        <p:nvPicPr>
          <p:cNvPr id="4" name="">
            <a:extLst xmlns:a="http://schemas.openxmlformats.org/drawingml/2006/main">
              <a:ext uri="{FF2B5EF4-FFF2-40B4-BE49-F238E27FC236}">
                <a16:creationId xmlns:a16="http://schemas.microsoft.com/office/drawing/2014/main" id="{7545BFE3-0547-4874-974D-75F3F001B3B0}"/>
              </a:ext>
            </a:extLst>
          </p:cNvPr>
          <p:cNvPicPr>
            <a:picLocks xmlns:a="http://schemas.openxmlformats.org/drawingml/2006/main" noChangeAspect="1"/>
          </p:cNvPicPr>
          <p:nvPr/>
        </p:nvPicPr>
        <p:blipFill>
          <a:blip xmlns:r="http://schemas.openxmlformats.org/officeDocument/2006/relationships" xmlns:a="http://schemas.openxmlformats.org/drawingml/2006/main" r:embed="R11a24c06ab1447a7"/>
          <a:stretch xmlns:a="http://schemas.openxmlformats.org/drawingml/2006/main"/>
        </p:blipFill>
        <p:spPr>
          <a:xfrm xmlns:a="http://schemas.openxmlformats.org/drawingml/2006/main">
            <a:off x="759830" y="1638300"/>
            <a:ext cx="707189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A16B21-3EC1-49E8-BA0A-F7341D9EDB87}"/>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¿Qué nodo entrega una señal analógica? Distingue alimentación y lectura.</a:t>
            </a:r>
          </a:p>
        </p:txBody>
      </p:sp>
      <p:sp>
        <p:nvSpPr>
          <p:cNvPr id="6" name="">
            <a:extLst xmlns:a="http://schemas.openxmlformats.org/drawingml/2006/main">
              <a:ext uri="{FF2B5EF4-FFF2-40B4-BE49-F238E27FC236}">
                <a16:creationId xmlns:a16="http://schemas.microsoft.com/office/drawing/2014/main" id="{F3D34BE8-164F-4911-83A3-7D763184E4D2}"/>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03.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1174202286"/>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7DE8DE-C1F4-4587-B804-E4C7877BBFB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convierte un ADC</a:t>
            </a:r>
          </a:p>
        </p:txBody>
      </p:sp>
      <p:pic>
        <p:nvPicPr>
          <p:cNvPr id="2" name="">
            <a:extLst xmlns:a="http://schemas.openxmlformats.org/drawingml/2006/main">
              <a:ext uri="{FF2B5EF4-FFF2-40B4-BE49-F238E27FC236}">
                <a16:creationId xmlns:a16="http://schemas.microsoft.com/office/drawing/2014/main" id="{79A253C0-3616-4807-8FEE-3BBE557ADE6B}"/>
              </a:ext>
            </a:extLst>
          </p:cNvPr>
          <p:cNvPicPr>
            <a:picLocks xmlns:a="http://schemas.openxmlformats.org/drawingml/2006/main" noChangeAspect="1"/>
          </p:cNvPicPr>
          <p:nvPr/>
        </p:nvPicPr>
        <p:blipFill>
          <a:blip xmlns:r="http://schemas.openxmlformats.org/officeDocument/2006/relationships" xmlns:a="http://schemas.openxmlformats.org/drawingml/2006/main" r:embed="R52ffff05654d457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2100113-404D-4907-87C6-6BCD10955EA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04/24</a:t>
            </a:r>
          </a:p>
        </p:txBody>
      </p:sp>
      <p:sp>
        <p:nvSpPr>
          <p:cNvPr id="4" name="">
            <a:extLst xmlns:a="http://schemas.openxmlformats.org/drawingml/2006/main">
              <a:ext uri="{FF2B5EF4-FFF2-40B4-BE49-F238E27FC236}">
                <a16:creationId xmlns:a16="http://schemas.microsoft.com/office/drawing/2014/main" id="{09D9239D-EABA-49D5-BE88-D8524233066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GPIO34 pertenece a ADC1 y es una entrada sin pull-up interno. En nuestro banco se conecta a un potenciómetro o a la salida analógica de un divisor de luz que respete el rango del pin. Elegimos ADC1 para que la práctica se pueda conservar cuando añadamos Wi-Fi. La elección no convierte el pin en tolerante a 5 V. La configuración de atenuación y el rango útil se consultan para la variante real.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LDR cambia su resistencia con la iluminación. El divisor la transforma en tensión. Si se intercambia la posición de la LDR y del resistor fijo, se invierte la tendencia de la lectura. Por eso no se enseña que oscuridad equivale siempre a un número pequeño. Se sigue el circuito y se mide la tendencia. Ese razonamiento también sirve al interpretar un joystick o cualquier sensor con salida analógica.</a:t>
            </a:r>
          </a:p>
        </p:txBody>
      </p:sp>
    </p:spTree>
    <p:extLst>
      <p:ext uri="{BB962C8B-B14F-4D97-AF65-F5344CB8AC3E}">
        <p14:creationId xmlns:p14="http://schemas.microsoft.com/office/powerpoint/2010/main" val="2029092836"/>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F7F5B1-0A9B-4827-9DEE-F3E4E6B9870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escala ideal y la escala calibrada</a:t>
            </a:r>
          </a:p>
        </p:txBody>
      </p:sp>
      <p:pic>
        <p:nvPicPr>
          <p:cNvPr id="2" name="">
            <a:extLst xmlns:a="http://schemas.openxmlformats.org/drawingml/2006/main">
              <a:ext uri="{FF2B5EF4-FFF2-40B4-BE49-F238E27FC236}">
                <a16:creationId xmlns:a16="http://schemas.microsoft.com/office/drawing/2014/main" id="{4A56CC00-6236-48EC-8299-8A0E5C08B805}"/>
              </a:ext>
            </a:extLst>
          </p:cNvPr>
          <p:cNvPicPr>
            <a:picLocks xmlns:a="http://schemas.openxmlformats.org/drawingml/2006/main" noChangeAspect="1"/>
          </p:cNvPicPr>
          <p:nvPr/>
        </p:nvPicPr>
        <p:blipFill>
          <a:blip xmlns:r="http://schemas.openxmlformats.org/officeDocument/2006/relationships" xmlns:a="http://schemas.openxmlformats.org/drawingml/2006/main" r:embed="Rff86ba7afaa140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EE9308-776E-4ED7-8E02-440A024D214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05/24</a:t>
            </a:r>
          </a:p>
        </p:txBody>
      </p:sp>
      <p:sp>
        <p:nvSpPr>
          <p:cNvPr id="4" name="">
            <a:extLst xmlns:a="http://schemas.openxmlformats.org/drawingml/2006/main">
              <a:ext uri="{FF2B5EF4-FFF2-40B4-BE49-F238E27FC236}">
                <a16:creationId xmlns:a16="http://schemas.microsoft.com/office/drawing/2014/main" id="{77FBEB14-21C0-400A-B0C5-87297244E98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 modelo ideal con escala completa de 3,0 V, el código 2048 representa aproximadamente 1,50 V. En hardware comparamos esa idea con una medición y con la API calibrada disponible. analogRead() devuelve código bruto y analogReadMilliVolts() ofrece una conversión calibrada según el soporte de la plataforma. Una variable llamada voltaje no queda calibrada por recibir ese nombre. El alumno conserva el método de obtención junto al dato.</a:t>
            </a:r>
          </a:p>
        </p:txBody>
      </p:sp>
    </p:spTree>
    <p:extLst>
      <p:ext uri="{BB962C8B-B14F-4D97-AF65-F5344CB8AC3E}">
        <p14:creationId xmlns:p14="http://schemas.microsoft.com/office/powerpoint/2010/main" val="1640734136"/>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259EFB-17A5-4E46-9117-DC389616480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conceptos distintos</a:t>
            </a:r>
          </a:p>
        </p:txBody>
      </p:sp>
      <p:pic>
        <p:nvPicPr>
          <p:cNvPr id="2" name="">
            <a:extLst xmlns:a="http://schemas.openxmlformats.org/drawingml/2006/main">
              <a:ext uri="{FF2B5EF4-FFF2-40B4-BE49-F238E27FC236}">
                <a16:creationId xmlns:a16="http://schemas.microsoft.com/office/drawing/2014/main" id="{9FCF22FC-8946-433F-8C47-5447373C3AA6}"/>
              </a:ext>
            </a:extLst>
          </p:cNvPr>
          <p:cNvPicPr>
            <a:picLocks xmlns:a="http://schemas.openxmlformats.org/drawingml/2006/main" noChangeAspect="1"/>
          </p:cNvPicPr>
          <p:nvPr/>
        </p:nvPicPr>
        <p:blipFill>
          <a:blip xmlns:r="http://schemas.openxmlformats.org/officeDocument/2006/relationships" xmlns:a="http://schemas.openxmlformats.org/drawingml/2006/main" r:embed="Rea0813c7552a493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717A09-6877-49DF-AFAF-7D57C44E092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06/24</a:t>
            </a:r>
          </a:p>
        </p:txBody>
      </p:sp>
      <p:graphicFrame>
        <p:nvGraphicFramePr>
          <p:cNvPr id="4" name="">
            <a:extLst xmlns:a="http://schemas.openxmlformats.org/drawingml/2006/main">
              <a:ext uri="{FF2B5EF4-FFF2-40B4-BE49-F238E27FC236}">
                <a16:creationId xmlns:a16="http://schemas.microsoft.com/office/drawing/2014/main" id="{ED4DFC41-F5B7-484F-8819-867E179339AA}"/>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Concepto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describe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 de 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Resolución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Cantidad de códigos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12 bits: 4096 códigos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Exactitud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Cercanía a referencia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Comparar con instrumento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Repetibilidad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Dispersión al repetir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Varias lecturas iguales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Saturación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Extremo de conversión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Más entrada, mismo código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340506650"/>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1FBB9E-1392-43F9-888D-2CA940F1DEB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escala ideal y la escala calibrada</a:t>
            </a:r>
          </a:p>
        </p:txBody>
      </p:sp>
      <p:pic>
        <p:nvPicPr>
          <p:cNvPr id="2" name="">
            <a:extLst xmlns:a="http://schemas.openxmlformats.org/drawingml/2006/main">
              <a:ext uri="{FF2B5EF4-FFF2-40B4-BE49-F238E27FC236}">
                <a16:creationId xmlns:a16="http://schemas.microsoft.com/office/drawing/2014/main" id="{63A1E64B-CA10-4E49-92C5-28DCFB62F982}"/>
              </a:ext>
            </a:extLst>
          </p:cNvPr>
          <p:cNvPicPr>
            <a:picLocks xmlns:a="http://schemas.openxmlformats.org/drawingml/2006/main" noChangeAspect="1"/>
          </p:cNvPicPr>
          <p:nvPr/>
        </p:nvPicPr>
        <p:blipFill>
          <a:blip xmlns:r="http://schemas.openxmlformats.org/officeDocument/2006/relationships" xmlns:a="http://schemas.openxmlformats.org/drawingml/2006/main" r:embed="R767ce3e4f0f646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94933B-E203-411C-84F6-404FA411420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07/24</a:t>
            </a:r>
          </a:p>
        </p:txBody>
      </p:sp>
      <p:pic>
        <p:nvPicPr>
          <p:cNvPr id="4" name="">
            <a:extLst xmlns:a="http://schemas.openxmlformats.org/drawingml/2006/main">
              <a:ext uri="{FF2B5EF4-FFF2-40B4-BE49-F238E27FC236}">
                <a16:creationId xmlns:a16="http://schemas.microsoft.com/office/drawing/2014/main" id="{46EDA885-BD78-4B66-96F4-F8230970D6EB}"/>
              </a:ext>
            </a:extLst>
          </p:cNvPr>
          <p:cNvPicPr>
            <a:picLocks xmlns:a="http://schemas.openxmlformats.org/drawingml/2006/main" noChangeAspect="1"/>
          </p:cNvPicPr>
          <p:nvPr/>
        </p:nvPicPr>
        <p:blipFill>
          <a:blip xmlns:r="http://schemas.openxmlformats.org/officeDocument/2006/relationships" xmlns:a="http://schemas.openxmlformats.org/drawingml/2006/main" r:embed="R5b4b99677a174cc1"/>
          <a:stretch xmlns:a="http://schemas.openxmlformats.org/drawingml/2006/main"/>
        </p:blipFill>
        <p:spPr>
          <a:xfrm xmlns:a="http://schemas.openxmlformats.org/drawingml/2006/main">
            <a:off x="4849359" y="1714500"/>
            <a:ext cx="2493282"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D810C4-D2EF-412D-8DB9-79A9EA13F921}"/>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Para construir una escala de trabajo, observa dos condiciones reproducibles. En la LDR pueden ser dos niveles de iluminación del banco; en un joystick, centro y recorridos permitidos. Los valores se guardan como datos de ese montaje. No se presentan como propiedades universales del componente. Conviene evitar las zonas donde la lectura se satura y perdería capacidad para distinguir cambios.</a:t>
            </a:r>
          </a:p>
        </p:txBody>
      </p:sp>
      <p:sp>
        <p:nvSpPr>
          <p:cNvPr id="6" name="">
            <a:extLst xmlns:a="http://schemas.openxmlformats.org/drawingml/2006/main">
              <a:ext uri="{FF2B5EF4-FFF2-40B4-BE49-F238E27FC236}">
                <a16:creationId xmlns:a16="http://schemas.microsoft.com/office/drawing/2014/main" id="{AE0D5228-1783-4D08-B3F9-5955094A656A}"/>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Esta relación describe un ADC ideal con escala VFS definida. No declara el rango real ni la exactitud del ESP32.</a:t>
            </a:r>
          </a:p>
        </p:txBody>
      </p:sp>
    </p:spTree>
    <p:extLst>
      <p:ext uri="{BB962C8B-B14F-4D97-AF65-F5344CB8AC3E}">
        <p14:creationId xmlns:p14="http://schemas.microsoft.com/office/powerpoint/2010/main" val="1569758287"/>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6C0956-30B7-479C-BCBB-41D5678EC3D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Ruido, promedio e histéresis</a:t>
            </a:r>
          </a:p>
        </p:txBody>
      </p:sp>
      <p:pic>
        <p:nvPicPr>
          <p:cNvPr id="2" name="">
            <a:extLst xmlns:a="http://schemas.openxmlformats.org/drawingml/2006/main">
              <a:ext uri="{FF2B5EF4-FFF2-40B4-BE49-F238E27FC236}">
                <a16:creationId xmlns:a16="http://schemas.microsoft.com/office/drawing/2014/main" id="{FD634150-444F-43DD-B800-C37D915A7408}"/>
              </a:ext>
            </a:extLst>
          </p:cNvPr>
          <p:cNvPicPr>
            <a:picLocks xmlns:a="http://schemas.openxmlformats.org/drawingml/2006/main" noChangeAspect="1"/>
          </p:cNvPicPr>
          <p:nvPr/>
        </p:nvPicPr>
        <p:blipFill>
          <a:blip xmlns:r="http://schemas.openxmlformats.org/officeDocument/2006/relationships" xmlns:a="http://schemas.openxmlformats.org/drawingml/2006/main" r:embed="Rdffc3cab227e484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7B9DA8-3B0A-47B2-B978-CC1F666DF87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08/24</a:t>
            </a:r>
          </a:p>
        </p:txBody>
      </p:sp>
      <p:sp>
        <p:nvSpPr>
          <p:cNvPr id="4" name="">
            <a:extLst xmlns:a="http://schemas.openxmlformats.org/drawingml/2006/main">
              <a:ext uri="{FF2B5EF4-FFF2-40B4-BE49-F238E27FC236}">
                <a16:creationId xmlns:a16="http://schemas.microsoft.com/office/drawing/2014/main" id="{D2D3FF58-24BE-4ABE-A18F-E71ECA5A544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lectura real puede fluctuar aunque el objeto parezca quieto. Un promedio reduce algunas variaciones rápidas, pero también retrasa cambios y no corrige un sesgo de calibración. La histéresis usa dos límites para evitar que una salida cambie repetidamente cuando la entrada oscila cerca de una frontera. Si el sistema ya está encendido, requiere superar el umbral de apagado para cambiar de estado; entre ambos conserva su decisión.</a:t>
            </a:r>
          </a:p>
        </p:txBody>
      </p:sp>
    </p:spTree>
    <p:extLst>
      <p:ext uri="{BB962C8B-B14F-4D97-AF65-F5344CB8AC3E}">
        <p14:creationId xmlns:p14="http://schemas.microsoft.com/office/powerpoint/2010/main" val="1601424497"/>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2357BF-5EB7-45CC-A808-E8000DBF374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Operaciones sobre la lectura</a:t>
            </a:r>
          </a:p>
        </p:txBody>
      </p:sp>
      <p:pic>
        <p:nvPicPr>
          <p:cNvPr id="2" name="">
            <a:extLst xmlns:a="http://schemas.openxmlformats.org/drawingml/2006/main">
              <a:ext uri="{FF2B5EF4-FFF2-40B4-BE49-F238E27FC236}">
                <a16:creationId xmlns:a16="http://schemas.microsoft.com/office/drawing/2014/main" id="{B7B56892-CD90-409D-B23B-69B2E215F8FB}"/>
              </a:ext>
            </a:extLst>
          </p:cNvPr>
          <p:cNvPicPr>
            <a:picLocks xmlns:a="http://schemas.openxmlformats.org/drawingml/2006/main" noChangeAspect="1"/>
          </p:cNvPicPr>
          <p:nvPr/>
        </p:nvPicPr>
        <p:blipFill>
          <a:blip xmlns:r="http://schemas.openxmlformats.org/officeDocument/2006/relationships" xmlns:a="http://schemas.openxmlformats.org/drawingml/2006/main" r:embed="Ra1de06df263e4b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F71067-B38C-4562-9472-B1961E38A95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09/24</a:t>
            </a:r>
          </a:p>
        </p:txBody>
      </p:sp>
      <p:graphicFrame>
        <p:nvGraphicFramePr>
          <p:cNvPr id="4" name="">
            <a:extLst xmlns:a="http://schemas.openxmlformats.org/drawingml/2006/main">
              <a:ext uri="{FF2B5EF4-FFF2-40B4-BE49-F238E27FC236}">
                <a16:creationId xmlns:a16="http://schemas.microsoft.com/office/drawing/2014/main" id="{2F8520DA-F196-4159-8314-2B01E7DAED5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Operación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Ayuda 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No resuelve por sí sola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Promedio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Atenuar fluctuación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Calibración absoluta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Histéresis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Evitar conmutación repetida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Cambiar polaridad del divisor</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Límite de rango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Detectar o recortar extremos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Recuperar información saturada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51803040"/>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9C3BED-E867-4CFF-8B07-78E6888DB33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Referencia ideal del ejercicio</a:t>
            </a:r>
          </a:p>
        </p:txBody>
      </p:sp>
      <p:pic>
        <p:nvPicPr>
          <p:cNvPr id="2" name="">
            <a:extLst xmlns:a="http://schemas.openxmlformats.org/drawingml/2006/main">
              <a:ext uri="{FF2B5EF4-FFF2-40B4-BE49-F238E27FC236}">
                <a16:creationId xmlns:a16="http://schemas.microsoft.com/office/drawing/2014/main" id="{CFC51338-BDB9-4B67-B8AF-A5520DC90676}"/>
              </a:ext>
            </a:extLst>
          </p:cNvPr>
          <p:cNvPicPr>
            <a:picLocks xmlns:a="http://schemas.openxmlformats.org/drawingml/2006/main" noChangeAspect="1"/>
          </p:cNvPicPr>
          <p:nvPr/>
        </p:nvPicPr>
        <p:blipFill>
          <a:blip xmlns:r="http://schemas.openxmlformats.org/officeDocument/2006/relationships" xmlns:a="http://schemas.openxmlformats.org/drawingml/2006/main" r:embed="R9885c48ea4964e7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09B154-C12A-4F33-91F2-86EE679CFC3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10/24</a:t>
            </a:r>
          </a:p>
        </p:txBody>
      </p:sp>
      <p:graphicFrame>
        <p:nvGraphicFramePr>
          <p:cNvPr id="4" name="Chart">
            <a:extLst xmlns:a="http://schemas.openxmlformats.org/drawingml/2006/main">
              <a:ext uri="{FF2B5EF4-FFF2-40B4-BE49-F238E27FC236}">
                <a16:creationId xmlns:a16="http://schemas.microsoft.com/office/drawing/2014/main" id="{43BE4B0B-472D-4240-A3D7-E557548AEAF9}"/>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e754708985dd4aed"/>
          </a:graphicData>
        </a:graphic>
      </p:graphicFrame>
      <p:sp>
        <p:nvSpPr>
          <p:cNvPr id="5" name="">
            <a:extLst xmlns:a="http://schemas.openxmlformats.org/drawingml/2006/main">
              <a:ext uri="{FF2B5EF4-FFF2-40B4-BE49-F238E27FC236}">
                <a16:creationId xmlns:a16="http://schemas.microsoft.com/office/drawing/2014/main" id="{0600CF10-175C-4F6E-9463-E43F534A7126}"/>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Modelo ideal para aprender la escala. No representa calibración ni exactitud del ADC físico.</a:t>
            </a:r>
          </a:p>
        </p:txBody>
      </p:sp>
    </p:spTree>
    <p:extLst>
      <p:ext uri="{BB962C8B-B14F-4D97-AF65-F5344CB8AC3E}">
        <p14:creationId xmlns:p14="http://schemas.microsoft.com/office/powerpoint/2010/main" val="1844004547"/>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C64B57-DD46-491A-A2CD-1525AEB059B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Código que conserva una decisión</a:t>
            </a:r>
          </a:p>
        </p:txBody>
      </p:sp>
      <p:pic>
        <p:nvPicPr>
          <p:cNvPr id="2" name="">
            <a:extLst xmlns:a="http://schemas.openxmlformats.org/drawingml/2006/main">
              <a:ext uri="{FF2B5EF4-FFF2-40B4-BE49-F238E27FC236}">
                <a16:creationId xmlns:a16="http://schemas.microsoft.com/office/drawing/2014/main" id="{B6E2D8F5-4A2E-43D5-B44D-12EC0E7799A2}"/>
              </a:ext>
            </a:extLst>
          </p:cNvPr>
          <p:cNvPicPr>
            <a:picLocks xmlns:a="http://schemas.openxmlformats.org/drawingml/2006/main" noChangeAspect="1"/>
          </p:cNvPicPr>
          <p:nvPr/>
        </p:nvPicPr>
        <p:blipFill>
          <a:blip xmlns:r="http://schemas.openxmlformats.org/officeDocument/2006/relationships" xmlns:a="http://schemas.openxmlformats.org/drawingml/2006/main" r:embed="Re7231e6e4231414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64854F-B236-4878-86D3-3215C302DB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11/24</a:t>
            </a:r>
          </a:p>
        </p:txBody>
      </p:sp>
      <p:sp>
        <p:nvSpPr>
          <p:cNvPr id="4" name="">
            <a:extLst xmlns:a="http://schemas.openxmlformats.org/drawingml/2006/main">
              <a:ext uri="{FF2B5EF4-FFF2-40B4-BE49-F238E27FC236}">
                <a16:creationId xmlns:a16="http://schemas.microsoft.com/office/drawing/2014/main" id="{866B643A-5AAD-44F3-A0DB-B212A9A5C89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Entre ambos umbrales no se asigna un valor nuevo a on. Esa ausencia es deliberada: la variable mantiene el estado anterior. Cambiar else if por otra regla independiente puede modificar el comportamiento si las condiciones se solapan. La versión completa configura resolución y atenuación y registra tiempo, código y estado. El periodo de 50 ms se declara para que los datos puedan compararse.</a:t>
            </a:r>
          </a:p>
        </p:txBody>
      </p:sp>
    </p:spTree>
    <p:extLst>
      <p:ext uri="{BB962C8B-B14F-4D97-AF65-F5344CB8AC3E}">
        <p14:creationId xmlns:p14="http://schemas.microsoft.com/office/powerpoint/2010/main" val="1472840916"/>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02998D-6BF6-42F7-92A4-67BBC6EB0F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Núcleo de c04_adc</a:t>
            </a:r>
          </a:p>
        </p:txBody>
      </p:sp>
      <p:pic>
        <p:nvPicPr>
          <p:cNvPr id="2" name="">
            <a:extLst xmlns:a="http://schemas.openxmlformats.org/drawingml/2006/main">
              <a:ext uri="{FF2B5EF4-FFF2-40B4-BE49-F238E27FC236}">
                <a16:creationId xmlns:a16="http://schemas.microsoft.com/office/drawing/2014/main" id="{4244910C-91BE-48F1-BC9B-61A6EF4BD40C}"/>
              </a:ext>
            </a:extLst>
          </p:cNvPr>
          <p:cNvPicPr>
            <a:picLocks xmlns:a="http://schemas.openxmlformats.org/drawingml/2006/main" noChangeAspect="1"/>
          </p:cNvPicPr>
          <p:nvPr/>
        </p:nvPicPr>
        <p:blipFill>
          <a:blip xmlns:r="http://schemas.openxmlformats.org/officeDocument/2006/relationships" xmlns:a="http://schemas.openxmlformats.org/drawingml/2006/main" r:embed="R161a0e5d58994f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1EEC04-9B61-4509-A083-88A3767B99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12/24</a:t>
            </a:r>
          </a:p>
        </p:txBody>
      </p:sp>
      <p:sp>
        <p:nvSpPr>
          <p:cNvPr id="4" name="">
            <a:extLst xmlns:a="http://schemas.openxmlformats.org/drawingml/2006/main">
              <a:ext uri="{FF2B5EF4-FFF2-40B4-BE49-F238E27FC236}">
                <a16:creationId xmlns:a16="http://schemas.microsoft.com/office/drawing/2014/main" id="{3D0A0E3F-8E27-498D-ABE9-FD8E8E91937E}"/>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int raw = analogRead(34);</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(raw &lt; 1500) on = true;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else if (raw &gt; 1800) on = false;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digitalWrite(23, on);</a:t>
            </a:r>
          </a:p>
        </p:txBody>
      </p:sp>
      <p:sp>
        <p:nvSpPr>
          <p:cNvPr id="5" name="">
            <a:extLst xmlns:a="http://schemas.openxmlformats.org/drawingml/2006/main">
              <a:ext uri="{FF2B5EF4-FFF2-40B4-BE49-F238E27FC236}">
                <a16:creationId xmlns:a16="http://schemas.microsoft.com/office/drawing/2014/main" id="{92CB7572-3937-4807-BB7B-C573C1E3C4FF}"/>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393597786"/>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D94730-7E74-4052-9BBC-8E841C2A4ED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Código que conserva una decisión</a:t>
            </a:r>
          </a:p>
        </p:txBody>
      </p:sp>
      <p:pic>
        <p:nvPicPr>
          <p:cNvPr id="2" name="">
            <a:extLst xmlns:a="http://schemas.openxmlformats.org/drawingml/2006/main">
              <a:ext uri="{FF2B5EF4-FFF2-40B4-BE49-F238E27FC236}">
                <a16:creationId xmlns:a16="http://schemas.microsoft.com/office/drawing/2014/main" id="{25248985-6AE9-46F6-BFC8-353FC0C6E10A}"/>
              </a:ext>
            </a:extLst>
          </p:cNvPr>
          <p:cNvPicPr>
            <a:picLocks xmlns:a="http://schemas.openxmlformats.org/drawingml/2006/main" noChangeAspect="1"/>
          </p:cNvPicPr>
          <p:nvPr/>
        </p:nvPicPr>
        <p:blipFill>
          <a:blip xmlns:r="http://schemas.openxmlformats.org/officeDocument/2006/relationships" xmlns:a="http://schemas.openxmlformats.org/drawingml/2006/main" r:embed="Rc8e68b90cf91453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A88214-B3E4-472C-8F36-9D2B402967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13/24</a:t>
            </a:r>
          </a:p>
        </p:txBody>
      </p:sp>
      <p:sp>
        <p:nvSpPr>
          <p:cNvPr id="4" name="">
            <a:extLst xmlns:a="http://schemas.openxmlformats.org/drawingml/2006/main">
              <a:ext uri="{FF2B5EF4-FFF2-40B4-BE49-F238E27FC236}">
                <a16:creationId xmlns:a16="http://schemas.microsoft.com/office/drawing/2014/main" id="{54684AF0-E6E8-404B-A8E2-5AECB2FC1A0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map() realiza una transformación de escala con aritmética entera y no limita automáticamente la salida. Si un valor excede los extremos de entrada, el resultado puede exceder los extremos deseados. Cuando el proyecto necesita recortar, se hace explícitamente y se conserva el hecho de que la entrada salió del rango. Una escala de porcentaje es una convención de trabajo; no equivale automáticamente a una medida física certificada de iluminación o humedad.</a:t>
            </a:r>
          </a:p>
        </p:txBody>
      </p:sp>
    </p:spTree>
    <p:extLst>
      <p:ext uri="{BB962C8B-B14F-4D97-AF65-F5344CB8AC3E}">
        <p14:creationId xmlns:p14="http://schemas.microsoft.com/office/powerpoint/2010/main" val="843737317"/>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D35A5D-BF33-4770-93AE-6228C9311D6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con una referencia visible</a:t>
            </a:r>
          </a:p>
        </p:txBody>
      </p:sp>
      <p:pic>
        <p:nvPicPr>
          <p:cNvPr id="2" name="">
            <a:extLst xmlns:a="http://schemas.openxmlformats.org/drawingml/2006/main">
              <a:ext uri="{FF2B5EF4-FFF2-40B4-BE49-F238E27FC236}">
                <a16:creationId xmlns:a16="http://schemas.microsoft.com/office/drawing/2014/main" id="{F6B0597A-042E-417E-B779-BD167CF8D4F9}"/>
              </a:ext>
            </a:extLst>
          </p:cNvPr>
          <p:cNvPicPr>
            <a:picLocks xmlns:a="http://schemas.openxmlformats.org/drawingml/2006/main" noChangeAspect="1"/>
          </p:cNvPicPr>
          <p:nvPr/>
        </p:nvPicPr>
        <p:blipFill>
          <a:blip xmlns:r="http://schemas.openxmlformats.org/officeDocument/2006/relationships" xmlns:a="http://schemas.openxmlformats.org/drawingml/2006/main" r:embed="R115f4df0051e42a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2E3C8F-1628-40AA-9D2F-240BF3E4DD0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14/24</a:t>
            </a:r>
          </a:p>
        </p:txBody>
      </p:sp>
      <p:sp>
        <p:nvSpPr>
          <p:cNvPr id="4" name="">
            <a:extLst xmlns:a="http://schemas.openxmlformats.org/drawingml/2006/main">
              <a:ext uri="{FF2B5EF4-FFF2-40B4-BE49-F238E27FC236}">
                <a16:creationId xmlns:a16="http://schemas.microsoft.com/office/drawing/2014/main" id="{078D7724-4E3D-4116-A606-C3F952FFFE6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simulación permite controlar una entrada y estudiar la lógica del programa. El comportamiento analógico del mundo real añade dispersión, impedancias, alimentación y límites que el modelo no reproduce completamente. Una práctica de calibración física requiere una referencia y condiciones conservadas. El alumnado sin kit puede resolver la parte lógica y analizar un conjunto de datos identificado, mientras el docente demuestra la medición real.</a:t>
            </a:r>
          </a:p>
        </p:txBody>
      </p:sp>
    </p:spTree>
    <p:extLst>
      <p:ext uri="{BB962C8B-B14F-4D97-AF65-F5344CB8AC3E}">
        <p14:creationId xmlns:p14="http://schemas.microsoft.com/office/powerpoint/2010/main" val="44547151"/>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25AE7D-FDBB-4C46-9898-6DE158DCD8C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34CC3B56-ADFF-4587-8E32-AB6F4E4CE363}"/>
              </a:ext>
            </a:extLst>
          </p:cNvPr>
          <p:cNvPicPr>
            <a:picLocks xmlns:a="http://schemas.openxmlformats.org/drawingml/2006/main" noChangeAspect="1"/>
          </p:cNvPicPr>
          <p:nvPr/>
        </p:nvPicPr>
        <p:blipFill>
          <a:blip xmlns:r="http://schemas.openxmlformats.org/officeDocument/2006/relationships" xmlns:a="http://schemas.openxmlformats.org/drawingml/2006/main" r:embed="Rc0451d04241d476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FBAFED-DB85-4406-9A84-2E8EA78FE44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15/24</a:t>
            </a:r>
          </a:p>
        </p:txBody>
      </p:sp>
      <p:sp>
        <p:nvSpPr>
          <p:cNvPr id="4" name="">
            <a:extLst xmlns:a="http://schemas.openxmlformats.org/drawingml/2006/main">
              <a:ext uri="{FF2B5EF4-FFF2-40B4-BE49-F238E27FC236}">
                <a16:creationId xmlns:a16="http://schemas.microsoft.com/office/drawing/2014/main" id="{BA271BAB-A5CF-49EA-BA27-EE5B6B0B3BA7}"/>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¿map() limita la salida?</a:t>
            </a:r>
          </a:p>
        </p:txBody>
      </p:sp>
      <p:sp>
        <p:nvSpPr>
          <p:cNvPr id="5" name="">
            <a:extLst xmlns:a="http://schemas.openxmlformats.org/drawingml/2006/main">
              <a:ext uri="{FF2B5EF4-FFF2-40B4-BE49-F238E27FC236}">
                <a16:creationId xmlns:a16="http://schemas.microsoft.com/office/drawing/2014/main" id="{9FC2F7E4-2F88-4A14-8701-94BA20A3EC77}"/>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Registrar una calibración pequeña y justificar dos umbrales.</a:t>
            </a:r>
          </a:p>
        </p:txBody>
      </p:sp>
    </p:spTree>
    <p:extLst>
      <p:ext uri="{BB962C8B-B14F-4D97-AF65-F5344CB8AC3E}">
        <p14:creationId xmlns:p14="http://schemas.microsoft.com/office/powerpoint/2010/main" val="559924771"/>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48B351-2E00-4CCC-BFBD-B5AD4B086D0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con una referencia visible</a:t>
            </a:r>
          </a:p>
        </p:txBody>
      </p:sp>
      <p:pic>
        <p:nvPicPr>
          <p:cNvPr id="2" name="">
            <a:extLst xmlns:a="http://schemas.openxmlformats.org/drawingml/2006/main">
              <a:ext uri="{FF2B5EF4-FFF2-40B4-BE49-F238E27FC236}">
                <a16:creationId xmlns:a16="http://schemas.microsoft.com/office/drawing/2014/main" id="{AD04873C-AAA5-4517-8884-C3A2403C9880}"/>
              </a:ext>
            </a:extLst>
          </p:cNvPr>
          <p:cNvPicPr>
            <a:picLocks xmlns:a="http://schemas.openxmlformats.org/drawingml/2006/main" noChangeAspect="1"/>
          </p:cNvPicPr>
          <p:nvPr/>
        </p:nvPicPr>
        <p:blipFill>
          <a:blip xmlns:r="http://schemas.openxmlformats.org/officeDocument/2006/relationships" xmlns:a="http://schemas.openxmlformats.org/drawingml/2006/main" r:embed="Rb66408851eca404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48AF83-A4E1-471C-86FE-EFC54A326A2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16/24</a:t>
            </a:r>
          </a:p>
        </p:txBody>
      </p:sp>
      <p:sp>
        <p:nvSpPr>
          <p:cNvPr id="4" name="">
            <a:extLst xmlns:a="http://schemas.openxmlformats.org/drawingml/2006/main">
              <a:ext uri="{FF2B5EF4-FFF2-40B4-BE49-F238E27FC236}">
                <a16:creationId xmlns:a16="http://schemas.microsoft.com/office/drawing/2014/main" id="{4C7FF1D9-264B-4BA5-92B5-F3136110B13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Verifica la alimentación y la referencia del divisor o potenciómetro.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Registra diez lecturas con la entrada quieta y anota mínimo, máximo y contexto.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Repite en dos condiciones distintas y determina el sentido de la respuesta.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Ejecuta c04_adc y sustituye los umbrales de ejercicio por una propuesta de tu montaje.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Introduce cambios lentos alrededor de la frontera y compara uno y dos umbrales.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Conserva los datos brutos junto a la salida; comprueba qué sucede al desconectar una entrada de forma controlada.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Explica una limitación del modelo de Wokwi frente al circuito físico.</a:t>
            </a:r>
          </a:p>
        </p:txBody>
      </p:sp>
    </p:spTree>
    <p:extLst>
      <p:ext uri="{BB962C8B-B14F-4D97-AF65-F5344CB8AC3E}">
        <p14:creationId xmlns:p14="http://schemas.microsoft.com/office/powerpoint/2010/main" val="1165421260"/>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61E2D8-B58E-42C5-9D0E-63B2CD73708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observar batería sin conectar una batería al ADC</a:t>
            </a:r>
          </a:p>
        </p:txBody>
      </p:sp>
      <p:pic>
        <p:nvPicPr>
          <p:cNvPr id="2" name="">
            <a:extLst xmlns:a="http://schemas.openxmlformats.org/drawingml/2006/main">
              <a:ext uri="{FF2B5EF4-FFF2-40B4-BE49-F238E27FC236}">
                <a16:creationId xmlns:a16="http://schemas.microsoft.com/office/drawing/2014/main" id="{1853B998-DD7B-4FDA-9AC8-A384F10612B1}"/>
              </a:ext>
            </a:extLst>
          </p:cNvPr>
          <p:cNvPicPr>
            <a:picLocks xmlns:a="http://schemas.openxmlformats.org/drawingml/2006/main" noChangeAspect="1"/>
          </p:cNvPicPr>
          <p:nvPr/>
        </p:nvPicPr>
        <p:blipFill>
          <a:blip xmlns:r="http://schemas.openxmlformats.org/officeDocument/2006/relationships" xmlns:a="http://schemas.openxmlformats.org/drawingml/2006/main" r:embed="R8e71900c900d492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220B7B-D624-419D-B3BD-D16EC9FCFC9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17/24</a:t>
            </a:r>
          </a:p>
        </p:txBody>
      </p:sp>
      <p:sp>
        <p:nvSpPr>
          <p:cNvPr id="4" name="">
            <a:extLst xmlns:a="http://schemas.openxmlformats.org/drawingml/2006/main">
              <a:ext uri="{FF2B5EF4-FFF2-40B4-BE49-F238E27FC236}">
                <a16:creationId xmlns:a16="http://schemas.microsoft.com/office/drawing/2014/main" id="{0AE2BBA0-28CA-43FB-B268-D2387DFD73E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principio de un divisor permite reducir una tensión para observarla, pero una batería real de dron exige un diseño de entrada completo y conocer sus límites. En este bloque practicamos con una fuente de baja tensión o un potenciómetro. El equipo puede dibujar una cadena conceptual de observación de batería: magnitud, acondicionamiento, ADC, calibración y umbral. El aprendizaje transferible consiste en justificar cada transformación y detectar qué falta por comprobar.</a:t>
            </a:r>
          </a:p>
        </p:txBody>
      </p:sp>
    </p:spTree>
    <p:extLst>
      <p:ext uri="{BB962C8B-B14F-4D97-AF65-F5344CB8AC3E}">
        <p14:creationId xmlns:p14="http://schemas.microsoft.com/office/powerpoint/2010/main" val="490222321"/>
      </p:ext>
    </p:extLst>
  </p:cSld>
</p:sld>
</file>

<file path=ppt/slides/slide4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840AD6-4319-4E8F-A0CA-A2F577FAC8E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B0CD3B69-64DD-4A4A-BCC8-2E35F97B85B7}"/>
              </a:ext>
            </a:extLst>
          </p:cNvPr>
          <p:cNvPicPr>
            <a:picLocks xmlns:a="http://schemas.openxmlformats.org/drawingml/2006/main" noChangeAspect="1"/>
          </p:cNvPicPr>
          <p:nvPr/>
        </p:nvPicPr>
        <p:blipFill>
          <a:blip xmlns:r="http://schemas.openxmlformats.org/officeDocument/2006/relationships" xmlns:a="http://schemas.openxmlformats.org/drawingml/2006/main" r:embed="Ra5c9366ad05742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3BA655-839D-481F-B29E-2225B47A229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18/24</a:t>
            </a:r>
          </a:p>
        </p:txBody>
      </p:sp>
      <p:sp>
        <p:nvSpPr>
          <p:cNvPr id="4" name="">
            <a:extLst xmlns:a="http://schemas.openxmlformats.org/drawingml/2006/main">
              <a:ext uri="{FF2B5EF4-FFF2-40B4-BE49-F238E27FC236}">
                <a16:creationId xmlns:a16="http://schemas.microsoft.com/office/drawing/2014/main" id="{54686F15-3AAA-4748-9035-4D05B5AFB4E8}"/>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¿Qué hace la histéresis entre límites?</a:t>
            </a:r>
          </a:p>
        </p:txBody>
      </p:sp>
      <p:sp>
        <p:nvSpPr>
          <p:cNvPr id="5" name="">
            <a:extLst xmlns:a="http://schemas.openxmlformats.org/drawingml/2006/main">
              <a:ext uri="{FF2B5EF4-FFF2-40B4-BE49-F238E27FC236}">
                <a16:creationId xmlns:a16="http://schemas.microsoft.com/office/drawing/2014/main" id="{4174552C-F1F3-4F02-893F-72FB42134715}"/>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Investiga qué ocurre con ADC2 del ESP32 clásico al usar Wi-Fi y por qué elegimos GPIO34. Localiza además qué expresa la atenuación. Presenta una lectura de la API en milivoltios con el método que la produjo, sin confundir el valor de alimentación de la placa con la escala exacta del convertidor. La conclusión de clase debe diferenciar una medida, una conversión ideal y una decisión de software.</a:t>
            </a:r>
          </a:p>
        </p:txBody>
      </p:sp>
    </p:spTree>
    <p:extLst>
      <p:ext uri="{BB962C8B-B14F-4D97-AF65-F5344CB8AC3E}">
        <p14:creationId xmlns:p14="http://schemas.microsoft.com/office/powerpoint/2010/main" val="1070799054"/>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B1B21A-042E-440C-96BF-0AD64AABC46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observar batería sin conectar una batería al ADC</a:t>
            </a:r>
          </a:p>
        </p:txBody>
      </p:sp>
      <p:pic>
        <p:nvPicPr>
          <p:cNvPr id="2" name="">
            <a:extLst xmlns:a="http://schemas.openxmlformats.org/drawingml/2006/main">
              <a:ext uri="{FF2B5EF4-FFF2-40B4-BE49-F238E27FC236}">
                <a16:creationId xmlns:a16="http://schemas.microsoft.com/office/drawing/2014/main" id="{F7275B28-1F11-45C2-90C2-8318934D9A17}"/>
              </a:ext>
            </a:extLst>
          </p:cNvPr>
          <p:cNvPicPr>
            <a:picLocks xmlns:a="http://schemas.openxmlformats.org/drawingml/2006/main" noChangeAspect="1"/>
          </p:cNvPicPr>
          <p:nvPr/>
        </p:nvPicPr>
        <p:blipFill>
          <a:blip xmlns:r="http://schemas.openxmlformats.org/officeDocument/2006/relationships" xmlns:a="http://schemas.openxmlformats.org/drawingml/2006/main" r:embed="R612b29e4e67344d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4EE935-4197-4199-881E-62E78E9D056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19/24</a:t>
            </a:r>
          </a:p>
        </p:txBody>
      </p:sp>
      <p:pic>
        <p:nvPicPr>
          <p:cNvPr id="4" name="">
            <a:extLst xmlns:a="http://schemas.openxmlformats.org/drawingml/2006/main">
              <a:ext uri="{FF2B5EF4-FFF2-40B4-BE49-F238E27FC236}">
                <a16:creationId xmlns:a16="http://schemas.microsoft.com/office/drawing/2014/main" id="{28149041-5F80-4F27-AAB1-F53CFDE09AB9}"/>
              </a:ext>
            </a:extLst>
          </p:cNvPr>
          <p:cNvPicPr>
            <a:picLocks xmlns:a="http://schemas.openxmlformats.org/drawingml/2006/main" noChangeAspect="1"/>
          </p:cNvPicPr>
          <p:nvPr/>
        </p:nvPicPr>
        <p:blipFill>
          <a:blip xmlns:r="http://schemas.openxmlformats.org/officeDocument/2006/relationships" xmlns:a="http://schemas.openxmlformats.org/drawingml/2006/main" r:embed="Re6edd3853a8a4013"/>
          <a:stretch xmlns:a="http://schemas.openxmlformats.org/drawingml/2006/main"/>
        </p:blipFill>
        <p:spPr>
          <a:xfrm xmlns:a="http://schemas.openxmlformats.org/drawingml/2006/main">
            <a:off x="4222050" y="1714500"/>
            <a:ext cx="3747901"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02D38EF-6D0F-4F36-9135-7B4B14FA5B81}"/>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Investiga qué ocurre con ADC2 del ESP32 clásico al usar Wi-Fi y por qué elegimos GPIO34. Localiza además qué expresa la atenuación. Presenta una lectura de la API en milivoltios con el método que la produjo, sin confundir el valor de alimentación de la placa con la escala exacta del convertidor. La conclusión de clase debe diferenciar una medida, una conversión ideal y una decisión de software.</a:t>
            </a:r>
          </a:p>
        </p:txBody>
      </p:sp>
      <p:sp>
        <p:nvSpPr>
          <p:cNvPr id="6" name="">
            <a:extLst xmlns:a="http://schemas.openxmlformats.org/drawingml/2006/main">
              <a:ext uri="{FF2B5EF4-FFF2-40B4-BE49-F238E27FC236}">
                <a16:creationId xmlns:a16="http://schemas.microsoft.com/office/drawing/2014/main" id="{51278218-213B-4E6A-B7E7-9777E44E37BC}"/>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Los extremos pertenecen a una calibración declarada; si coinciden, la transformación es inválida.</a:t>
            </a:r>
          </a:p>
        </p:txBody>
      </p:sp>
    </p:spTree>
    <p:extLst>
      <p:ext uri="{BB962C8B-B14F-4D97-AF65-F5344CB8AC3E}">
        <p14:creationId xmlns:p14="http://schemas.microsoft.com/office/powerpoint/2010/main" val="123791691"/>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E89DF1-1EBC-41F3-9690-D1A1D75D570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90D4E022-6E51-4CDE-A26E-933ECE5214A5}"/>
              </a:ext>
            </a:extLst>
          </p:cNvPr>
          <p:cNvPicPr>
            <a:picLocks xmlns:a="http://schemas.openxmlformats.org/drawingml/2006/main" noChangeAspect="1"/>
          </p:cNvPicPr>
          <p:nvPr/>
        </p:nvPicPr>
        <p:blipFill>
          <a:blip xmlns:r="http://schemas.openxmlformats.org/officeDocument/2006/relationships" xmlns:a="http://schemas.openxmlformats.org/drawingml/2006/main" r:embed="R7283032dffe0433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E830CB-43F8-4D56-86E2-0A0C3DB6F3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20/24</a:t>
            </a:r>
          </a:p>
        </p:txBody>
      </p:sp>
      <p:sp>
        <p:nvSpPr>
          <p:cNvPr id="4" name="">
            <a:extLst xmlns:a="http://schemas.openxmlformats.org/drawingml/2006/main">
              <a:ext uri="{FF2B5EF4-FFF2-40B4-BE49-F238E27FC236}">
                <a16:creationId xmlns:a16="http://schemas.microsoft.com/office/drawing/2014/main" id="{2FD74E88-A02C-4E76-954E-F3C7C9EE972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que invertir el divisor invierte la tendencia de la lectura.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Distinguir códigos, voltios y porcentaje con un caso numérico.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histéresis con la secuencia de cinco lecturas.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Registrar una calibración pequeña y justificar dos umbrales.</a:t>
            </a:r>
          </a:p>
        </p:txBody>
      </p:sp>
    </p:spTree>
    <p:extLst>
      <p:ext uri="{BB962C8B-B14F-4D97-AF65-F5344CB8AC3E}">
        <p14:creationId xmlns:p14="http://schemas.microsoft.com/office/powerpoint/2010/main" val="746395945"/>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8DB3AC-AC31-4699-9EAB-A9C5211D962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A259769D-0845-4088-A615-CB183D0E9FDC}"/>
              </a:ext>
            </a:extLst>
          </p:cNvPr>
          <p:cNvPicPr>
            <a:picLocks xmlns:a="http://schemas.openxmlformats.org/drawingml/2006/main" noChangeAspect="1"/>
          </p:cNvPicPr>
          <p:nvPr/>
        </p:nvPicPr>
        <p:blipFill>
          <a:blip xmlns:r="http://schemas.openxmlformats.org/officeDocument/2006/relationships" xmlns:a="http://schemas.openxmlformats.org/drawingml/2006/main" r:embed="Ra685f74bc8a5440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07B1BE-A27D-4EB0-B745-ECC77B491F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21/24</a:t>
            </a:r>
          </a:p>
        </p:txBody>
      </p:sp>
      <p:sp>
        <p:nvSpPr>
          <p:cNvPr id="4" name="">
            <a:extLst xmlns:a="http://schemas.openxmlformats.org/drawingml/2006/main">
              <a:ext uri="{FF2B5EF4-FFF2-40B4-BE49-F238E27FC236}">
                <a16:creationId xmlns:a16="http://schemas.microsoft.com/office/drawing/2014/main" id="{E517C5FE-6764-4DD3-A0AF-B76C4DA5AC31}"/>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sensor de batería, luz o posición en un sistema UAV requiere distinguir lectura digital, magnitud física y validez del dato.</a:t>
            </a:r>
          </a:p>
        </p:txBody>
      </p:sp>
      <p:sp>
        <p:nvSpPr>
          <p:cNvPr id="5" name="">
            <a:extLst xmlns:a="http://schemas.openxmlformats.org/drawingml/2006/main">
              <a:ext uri="{FF2B5EF4-FFF2-40B4-BE49-F238E27FC236}">
                <a16:creationId xmlns:a16="http://schemas.microsoft.com/office/drawing/2014/main" id="{70D4A78B-6846-4E8B-B92D-C509903D9C3C}"/>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513413089"/>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4FCB6B-3FB6-42D0-8CA1-3BA368AB696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A8E11662-3188-4175-80FC-E6DEADA4D65A}"/>
              </a:ext>
            </a:extLst>
          </p:cNvPr>
          <p:cNvPicPr>
            <a:picLocks xmlns:a="http://schemas.openxmlformats.org/drawingml/2006/main" noChangeAspect="1"/>
          </p:cNvPicPr>
          <p:nvPr/>
        </p:nvPicPr>
        <p:blipFill>
          <a:blip xmlns:r="http://schemas.openxmlformats.org/officeDocument/2006/relationships" xmlns:a="http://schemas.openxmlformats.org/drawingml/2006/main" r:embed="R7c913f745df74e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551B15-F0F4-457B-883C-6B36E944195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22/24</a:t>
            </a:r>
          </a:p>
        </p:txBody>
      </p:sp>
      <p:sp>
        <p:nvSpPr>
          <p:cNvPr id="4" name="">
            <a:extLst xmlns:a="http://schemas.openxmlformats.org/drawingml/2006/main">
              <a:ext uri="{FF2B5EF4-FFF2-40B4-BE49-F238E27FC236}">
                <a16:creationId xmlns:a16="http://schemas.microsoft.com/office/drawing/2014/main" id="{A21D9E53-11F8-411C-949A-DCC6925B24B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¿12 bits significan 12 bits de exactitud?</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¿map() limita la salida?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hace la histéresis entre límites?</a:t>
            </a:r>
          </a:p>
        </p:txBody>
      </p:sp>
    </p:spTree>
    <p:extLst>
      <p:ext uri="{BB962C8B-B14F-4D97-AF65-F5344CB8AC3E}">
        <p14:creationId xmlns:p14="http://schemas.microsoft.com/office/powerpoint/2010/main" val="1527608921"/>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890FBE-6409-4021-A26A-EA9B15544A9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9AA97D8F-734F-4366-9762-5F162A0DACBF}"/>
              </a:ext>
            </a:extLst>
          </p:cNvPr>
          <p:cNvPicPr>
            <a:picLocks xmlns:a="http://schemas.openxmlformats.org/drawingml/2006/main" noChangeAspect="1"/>
          </p:cNvPicPr>
          <p:nvPr/>
        </p:nvPicPr>
        <p:blipFill>
          <a:blip xmlns:r="http://schemas.openxmlformats.org/officeDocument/2006/relationships" xmlns:a="http://schemas.openxmlformats.org/drawingml/2006/main" r:embed="Rd1356235c060423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BCFE33-9D91-46BC-AC75-05EF20BBFA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23/24</a:t>
            </a:r>
          </a:p>
        </p:txBody>
      </p:sp>
      <p:sp>
        <p:nvSpPr>
          <p:cNvPr id="4" name="">
            <a:extLst xmlns:a="http://schemas.openxmlformats.org/drawingml/2006/main">
              <a:ext uri="{FF2B5EF4-FFF2-40B4-BE49-F238E27FC236}">
                <a16:creationId xmlns:a16="http://schemas.microsoft.com/office/drawing/2014/main" id="{0A1CF09B-2586-426D-999E-7CFFF1CAE33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Describen códigos; la exactitud depende del sistema y de su calibración.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si el proyecto lo necesita, se limita explícitamente y se trata el fuera de rango.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Conserva la decisión anterior.</a:t>
            </a:r>
          </a:p>
        </p:txBody>
      </p:sp>
    </p:spTree>
    <p:extLst>
      <p:ext uri="{BB962C8B-B14F-4D97-AF65-F5344CB8AC3E}">
        <p14:creationId xmlns:p14="http://schemas.microsoft.com/office/powerpoint/2010/main" val="1996750059"/>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589111-2FEA-46C1-AE19-02535056DBE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77DFE486-71AA-4068-A60A-DE782AB79699}"/>
              </a:ext>
            </a:extLst>
          </p:cNvPr>
          <p:cNvPicPr>
            <a:picLocks xmlns:a="http://schemas.openxmlformats.org/drawingml/2006/main" noChangeAspect="1"/>
          </p:cNvPicPr>
          <p:nvPr/>
        </p:nvPicPr>
        <p:blipFill>
          <a:blip xmlns:r="http://schemas.openxmlformats.org/officeDocument/2006/relationships" xmlns:a="http://schemas.openxmlformats.org/drawingml/2006/main" r:embed="R8728b5a9b6cf4e6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336B93B-2B42-464A-95D2-F259D38B009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24/24</a:t>
            </a:r>
          </a:p>
        </p:txBody>
      </p:sp>
      <p:sp>
        <p:nvSpPr>
          <p:cNvPr id="4" name="">
            <a:extLst xmlns:a="http://schemas.openxmlformats.org/drawingml/2006/main">
              <a:ext uri="{FF2B5EF4-FFF2-40B4-BE49-F238E27FC236}">
                <a16:creationId xmlns:a16="http://schemas.microsoft.com/office/drawing/2014/main" id="{02F5C5B9-C508-4E24-8FC0-95AFE8DB3DEC}"/>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CSV de lecturas, sentido del divisor y justificación de umbrales.</a:t>
            </a:r>
          </a:p>
        </p:txBody>
      </p:sp>
      <p:sp>
        <p:nvSpPr>
          <p:cNvPr id="5" name="">
            <a:extLst xmlns:a="http://schemas.openxmlformats.org/drawingml/2006/main">
              <a:ext uri="{FF2B5EF4-FFF2-40B4-BE49-F238E27FC236}">
                <a16:creationId xmlns:a16="http://schemas.microsoft.com/office/drawing/2014/main" id="{004CF443-E708-464A-BF9B-6FDDF53D394B}"/>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72635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2026-10-22T20:12:46.1630000Z</dcterms:created>
  <dcterms:modified xsi:type="dcterms:W3CDTF">2026-10-22T20:12:46.1630000Z</dcterms:modified>
</coreProperties>
</file>