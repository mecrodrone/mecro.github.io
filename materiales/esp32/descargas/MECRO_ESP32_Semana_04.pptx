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89f709f1c4f1b" /><Relationship Type="http://schemas.openxmlformats.org/officeDocument/2006/relationships/extended-properties" Target="/docProps/app.xml" Id="R64c1a282fa644dff" /><Relationship Type="http://schemas.openxmlformats.org/officeDocument/2006/relationships/officeDocument" Target="/ppt/presentation.xml" Id="Rf3a9323863d34963" /></Relationships>
</file>

<file path=ppt/presentation.xml><?xml version="1.0" encoding="utf-8"?>
<p:presentation xmlns:p="http://schemas.openxmlformats.org/presentationml/2006/main">
  <p:sldMasterIdLst>
    <p:sldMasterId xmlns:r="http://schemas.openxmlformats.org/officeDocument/2006/relationships" id="2147483648" r:id="R6d6df4f9ff274d83"/>
  </p:sldMasterIdLst>
  <p:notesMasterIdLst>
    <p:notesMasterId xmlns:r="http://schemas.openxmlformats.org/officeDocument/2006/relationships" r:id="Rf5cb4f7f48c14df4"/>
  </p:notesMasterIdLst>
  <p:sldIdLst>
    <p:sldId xmlns:r="http://schemas.openxmlformats.org/officeDocument/2006/relationships" id="256" r:id="R760763be9ebd4610"/>
    <p:sldId xmlns:r="http://schemas.openxmlformats.org/officeDocument/2006/relationships" id="257" r:id="R8239831224e74d01"/>
    <p:sldId xmlns:r="http://schemas.openxmlformats.org/officeDocument/2006/relationships" id="258" r:id="Rb618f2aa6e9649c0"/>
    <p:sldId xmlns:r="http://schemas.openxmlformats.org/officeDocument/2006/relationships" id="259" r:id="Rc06c794a9a1f445d"/>
    <p:sldId xmlns:r="http://schemas.openxmlformats.org/officeDocument/2006/relationships" id="260" r:id="Rf5b1c976ed5c4d9a"/>
    <p:sldId xmlns:r="http://schemas.openxmlformats.org/officeDocument/2006/relationships" id="261" r:id="R981ba76b7c0f4fc9"/>
    <p:sldId xmlns:r="http://schemas.openxmlformats.org/officeDocument/2006/relationships" id="262" r:id="R9e4fda86dbf94a50"/>
    <p:sldId xmlns:r="http://schemas.openxmlformats.org/officeDocument/2006/relationships" id="263" r:id="Rda36d546a56d4041"/>
    <p:sldId xmlns:r="http://schemas.openxmlformats.org/officeDocument/2006/relationships" id="264" r:id="R1f08dbaa5f7e4c00"/>
    <p:sldId xmlns:r="http://schemas.openxmlformats.org/officeDocument/2006/relationships" id="265" r:id="R69231b9c84a24bc9"/>
    <p:sldId xmlns:r="http://schemas.openxmlformats.org/officeDocument/2006/relationships" id="266" r:id="R48327bfdb4b74493"/>
    <p:sldId xmlns:r="http://schemas.openxmlformats.org/officeDocument/2006/relationships" id="267" r:id="R02f765cd16ec4684"/>
    <p:sldId xmlns:r="http://schemas.openxmlformats.org/officeDocument/2006/relationships" id="268" r:id="R782880f40c904e85"/>
    <p:sldId xmlns:r="http://schemas.openxmlformats.org/officeDocument/2006/relationships" id="269" r:id="R8c9a2cbc92ee4cdc"/>
    <p:sldId xmlns:r="http://schemas.openxmlformats.org/officeDocument/2006/relationships" id="270" r:id="R714c44c203cb4e18"/>
    <p:sldId xmlns:r="http://schemas.openxmlformats.org/officeDocument/2006/relationships" id="271" r:id="R448396deadba4456"/>
    <p:sldId xmlns:r="http://schemas.openxmlformats.org/officeDocument/2006/relationships" id="272" r:id="R0bb6dd51673e4049"/>
    <p:sldId xmlns:r="http://schemas.openxmlformats.org/officeDocument/2006/relationships" id="273" r:id="Rc4e84d4b90c94784"/>
    <p:sldId xmlns:r="http://schemas.openxmlformats.org/officeDocument/2006/relationships" id="274" r:id="Ref6a2f20c0ff4718"/>
    <p:sldId xmlns:r="http://schemas.openxmlformats.org/officeDocument/2006/relationships" id="275" r:id="R0dd7039bb38449f9"/>
    <p:sldId xmlns:r="http://schemas.openxmlformats.org/officeDocument/2006/relationships" id="276" r:id="Rcced716320eb4b91"/>
    <p:sldId xmlns:r="http://schemas.openxmlformats.org/officeDocument/2006/relationships" id="277" r:id="Ra7aa17ec66794222"/>
    <p:sldId xmlns:r="http://schemas.openxmlformats.org/officeDocument/2006/relationships" id="278" r:id="R0317532ef6f74793"/>
    <p:sldId xmlns:r="http://schemas.openxmlformats.org/officeDocument/2006/relationships" id="279" r:id="Rc95fc094d5004f05"/>
    <p:sldId xmlns:r="http://schemas.openxmlformats.org/officeDocument/2006/relationships" id="280" r:id="Rb174e2fc3ef14cb5"/>
    <p:sldId xmlns:r="http://schemas.openxmlformats.org/officeDocument/2006/relationships" id="281" r:id="R55eb3579f3da4fa7"/>
    <p:sldId xmlns:r="http://schemas.openxmlformats.org/officeDocument/2006/relationships" id="282" r:id="Re64037694d54457d"/>
    <p:sldId xmlns:r="http://schemas.openxmlformats.org/officeDocument/2006/relationships" id="283" r:id="Ra14ca82e9e4e4d12"/>
    <p:sldId xmlns:r="http://schemas.openxmlformats.org/officeDocument/2006/relationships" id="284" r:id="R1f0c09d93b37462d"/>
    <p:sldId xmlns:r="http://schemas.openxmlformats.org/officeDocument/2006/relationships" id="285" r:id="Rcb0dff4a87d84f78"/>
    <p:sldId xmlns:r="http://schemas.openxmlformats.org/officeDocument/2006/relationships" id="286" r:id="R1cf655268a8b4330"/>
    <p:sldId xmlns:r="http://schemas.openxmlformats.org/officeDocument/2006/relationships" id="287" r:id="Rd31c45fb55b141a9"/>
    <p:sldId xmlns:r="http://schemas.openxmlformats.org/officeDocument/2006/relationships" id="288" r:id="R5f833bcb00614ee2"/>
    <p:sldId xmlns:r="http://schemas.openxmlformats.org/officeDocument/2006/relationships" id="289" r:id="Rf3d9c66f904f4dd4"/>
    <p:sldId xmlns:r="http://schemas.openxmlformats.org/officeDocument/2006/relationships" id="290" r:id="R87653407b2974d21"/>
    <p:sldId xmlns:r="http://schemas.openxmlformats.org/officeDocument/2006/relationships" id="291" r:id="Ra62bfa2870434a8a"/>
    <p:sldId xmlns:r="http://schemas.openxmlformats.org/officeDocument/2006/relationships" id="292" r:id="R62bbd7894980470c"/>
    <p:sldId xmlns:r="http://schemas.openxmlformats.org/officeDocument/2006/relationships" id="293" r:id="R1c102de9b97e4ca8"/>
    <p:sldId xmlns:r="http://schemas.openxmlformats.org/officeDocument/2006/relationships" id="294" r:id="R360a6a32c1944eeb"/>
    <p:sldId xmlns:r="http://schemas.openxmlformats.org/officeDocument/2006/relationships" id="295" r:id="R791e7510a22a43f9"/>
    <p:sldId xmlns:r="http://schemas.openxmlformats.org/officeDocument/2006/relationships" id="296" r:id="R3b2b4ebe893945c5"/>
    <p:sldId xmlns:r="http://schemas.openxmlformats.org/officeDocument/2006/relationships" id="297" r:id="R9601ada62d4448da"/>
    <p:sldId xmlns:r="http://schemas.openxmlformats.org/officeDocument/2006/relationships" id="298" r:id="R85304e61c1304ff5"/>
    <p:sldId xmlns:r="http://schemas.openxmlformats.org/officeDocument/2006/relationships" id="299" r:id="Re0f1bc6b39ac412c"/>
    <p:sldId xmlns:r="http://schemas.openxmlformats.org/officeDocument/2006/relationships" id="300" r:id="Rad63159d6a7a4e86"/>
    <p:sldId xmlns:r="http://schemas.openxmlformats.org/officeDocument/2006/relationships" id="301" r:id="R1e1ab098cf9144d9"/>
    <p:sldId xmlns:r="http://schemas.openxmlformats.org/officeDocument/2006/relationships" id="302" r:id="Ra1c82fe7b8714c36"/>
    <p:sldId xmlns:r="http://schemas.openxmlformats.org/officeDocument/2006/relationships" id="303" r:id="Reb6df6f3083541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07064a5f864423" /><Relationship Type="http://schemas.openxmlformats.org/officeDocument/2006/relationships/slideMaster" Target="/ppt/slideMasters/slideMaster1.xml" Id="R6d6df4f9ff274d83" /><Relationship Type="http://schemas.openxmlformats.org/officeDocument/2006/relationships/notesMaster" Target="/ppt/notesMasters/notesMaster1.xml" Id="Rf5cb4f7f48c14df4" /><Relationship Type="http://schemas.openxmlformats.org/officeDocument/2006/relationships/presProps" Target="/ppt/presProps.xml" Id="Ra7b7f02359534304" /><Relationship Type="http://schemas.openxmlformats.org/officeDocument/2006/relationships/tableStyles" Target="/ppt/tableStyles.xml" Id="R0939f96d9c514d71" /><Relationship Type="http://schemas.openxmlformats.org/officeDocument/2006/relationships/slide" Target="/ppt/slides/slide1.xml" Id="R760763be9ebd4610" /><Relationship Type="http://schemas.openxmlformats.org/officeDocument/2006/relationships/slide" Target="/ppt/slides/slide2.xml" Id="R8239831224e74d01" /><Relationship Type="http://schemas.openxmlformats.org/officeDocument/2006/relationships/slide" Target="/ppt/slides/slide3.xml" Id="Rb618f2aa6e9649c0" /><Relationship Type="http://schemas.openxmlformats.org/officeDocument/2006/relationships/slide" Target="/ppt/slides/slide4.xml" Id="Rc06c794a9a1f445d" /><Relationship Type="http://schemas.openxmlformats.org/officeDocument/2006/relationships/slide" Target="/ppt/slides/slide5.xml" Id="Rf5b1c976ed5c4d9a" /><Relationship Type="http://schemas.openxmlformats.org/officeDocument/2006/relationships/slide" Target="/ppt/slides/slide6.xml" Id="R981ba76b7c0f4fc9" /><Relationship Type="http://schemas.openxmlformats.org/officeDocument/2006/relationships/slide" Target="/ppt/slides/slide7.xml" Id="R9e4fda86dbf94a50" /><Relationship Type="http://schemas.openxmlformats.org/officeDocument/2006/relationships/slide" Target="/ppt/slides/slide8.xml" Id="Rda36d546a56d4041" /><Relationship Type="http://schemas.openxmlformats.org/officeDocument/2006/relationships/slide" Target="/ppt/slides/slide9.xml" Id="R1f08dbaa5f7e4c00" /><Relationship Type="http://schemas.openxmlformats.org/officeDocument/2006/relationships/slide" Target="/ppt/slides/slide10.xml" Id="R69231b9c84a24bc9" /><Relationship Type="http://schemas.openxmlformats.org/officeDocument/2006/relationships/slide" Target="/ppt/slides/slide11.xml" Id="R48327bfdb4b74493" /><Relationship Type="http://schemas.openxmlformats.org/officeDocument/2006/relationships/slide" Target="/ppt/slides/slide12.xml" Id="R02f765cd16ec4684" /><Relationship Type="http://schemas.openxmlformats.org/officeDocument/2006/relationships/slide" Target="/ppt/slides/slide13.xml" Id="R782880f40c904e85" /><Relationship Type="http://schemas.openxmlformats.org/officeDocument/2006/relationships/slide" Target="/ppt/slides/slide14.xml" Id="R8c9a2cbc92ee4cdc" /><Relationship Type="http://schemas.openxmlformats.org/officeDocument/2006/relationships/slide" Target="/ppt/slides/slide15.xml" Id="R714c44c203cb4e18" /><Relationship Type="http://schemas.openxmlformats.org/officeDocument/2006/relationships/slide" Target="/ppt/slides/slide16.xml" Id="R448396deadba4456" /><Relationship Type="http://schemas.openxmlformats.org/officeDocument/2006/relationships/slide" Target="/ppt/slides/slide17.xml" Id="R0bb6dd51673e4049" /><Relationship Type="http://schemas.openxmlformats.org/officeDocument/2006/relationships/slide" Target="/ppt/slides/slide18.xml" Id="Rc4e84d4b90c94784" /><Relationship Type="http://schemas.openxmlformats.org/officeDocument/2006/relationships/slide" Target="/ppt/slides/slide19.xml" Id="Ref6a2f20c0ff4718" /><Relationship Type="http://schemas.openxmlformats.org/officeDocument/2006/relationships/slide" Target="/ppt/slides/slide20.xml" Id="R0dd7039bb38449f9" /><Relationship Type="http://schemas.openxmlformats.org/officeDocument/2006/relationships/slide" Target="/ppt/slides/slide21.xml" Id="Rcced716320eb4b91" /><Relationship Type="http://schemas.openxmlformats.org/officeDocument/2006/relationships/slide" Target="/ppt/slides/slide22.xml" Id="Ra7aa17ec66794222" /><Relationship Type="http://schemas.openxmlformats.org/officeDocument/2006/relationships/slide" Target="/ppt/slides/slide23.xml" Id="R0317532ef6f74793" /><Relationship Type="http://schemas.openxmlformats.org/officeDocument/2006/relationships/slide" Target="/ppt/slides/slide24.xml" Id="Rc95fc094d5004f05" /><Relationship Type="http://schemas.openxmlformats.org/officeDocument/2006/relationships/slide" Target="/ppt/slides/slide25.xml" Id="Rb174e2fc3ef14cb5" /><Relationship Type="http://schemas.openxmlformats.org/officeDocument/2006/relationships/slide" Target="/ppt/slides/slide26.xml" Id="R55eb3579f3da4fa7" /><Relationship Type="http://schemas.openxmlformats.org/officeDocument/2006/relationships/slide" Target="/ppt/slides/slide27.xml" Id="Re64037694d54457d" /><Relationship Type="http://schemas.openxmlformats.org/officeDocument/2006/relationships/slide" Target="/ppt/slides/slide28.xml" Id="Ra14ca82e9e4e4d12" /><Relationship Type="http://schemas.openxmlformats.org/officeDocument/2006/relationships/slide" Target="/ppt/slides/slide29.xml" Id="R1f0c09d93b37462d" /><Relationship Type="http://schemas.openxmlformats.org/officeDocument/2006/relationships/slide" Target="/ppt/slides/slide30.xml" Id="Rcb0dff4a87d84f78" /><Relationship Type="http://schemas.openxmlformats.org/officeDocument/2006/relationships/slide" Target="/ppt/slides/slide31.xml" Id="R1cf655268a8b4330" /><Relationship Type="http://schemas.openxmlformats.org/officeDocument/2006/relationships/slide" Target="/ppt/slides/slide32.xml" Id="Rd31c45fb55b141a9" /><Relationship Type="http://schemas.openxmlformats.org/officeDocument/2006/relationships/slide" Target="/ppt/slides/slide33.xml" Id="R5f833bcb00614ee2" /><Relationship Type="http://schemas.openxmlformats.org/officeDocument/2006/relationships/slide" Target="/ppt/slides/slide34.xml" Id="Rf3d9c66f904f4dd4" /><Relationship Type="http://schemas.openxmlformats.org/officeDocument/2006/relationships/slide" Target="/ppt/slides/slide35.xml" Id="R87653407b2974d21" /><Relationship Type="http://schemas.openxmlformats.org/officeDocument/2006/relationships/slide" Target="/ppt/slides/slide36.xml" Id="Ra62bfa2870434a8a" /><Relationship Type="http://schemas.openxmlformats.org/officeDocument/2006/relationships/slide" Target="/ppt/slides/slide37.xml" Id="R62bbd7894980470c" /><Relationship Type="http://schemas.openxmlformats.org/officeDocument/2006/relationships/slide" Target="/ppt/slides/slide38.xml" Id="R1c102de9b97e4ca8" /><Relationship Type="http://schemas.openxmlformats.org/officeDocument/2006/relationships/slide" Target="/ppt/slides/slide39.xml" Id="R360a6a32c1944eeb" /><Relationship Type="http://schemas.openxmlformats.org/officeDocument/2006/relationships/slide" Target="/ppt/slides/slide40.xml" Id="R791e7510a22a43f9" /><Relationship Type="http://schemas.openxmlformats.org/officeDocument/2006/relationships/slide" Target="/ppt/slides/slide41.xml" Id="R3b2b4ebe893945c5" /><Relationship Type="http://schemas.openxmlformats.org/officeDocument/2006/relationships/slide" Target="/ppt/slides/slide42.xml" Id="R9601ada62d4448da" /><Relationship Type="http://schemas.openxmlformats.org/officeDocument/2006/relationships/slide" Target="/ppt/slides/slide43.xml" Id="R85304e61c1304ff5" /><Relationship Type="http://schemas.openxmlformats.org/officeDocument/2006/relationships/slide" Target="/ppt/slides/slide44.xml" Id="Re0f1bc6b39ac412c" /><Relationship Type="http://schemas.openxmlformats.org/officeDocument/2006/relationships/slide" Target="/ppt/slides/slide45.xml" Id="Rad63159d6a7a4e86" /><Relationship Type="http://schemas.openxmlformats.org/officeDocument/2006/relationships/slide" Target="/ppt/slides/slide46.xml" Id="R1e1ab098cf9144d9" /><Relationship Type="http://schemas.openxmlformats.org/officeDocument/2006/relationships/slide" Target="/ppt/slides/slide47.xml" Id="Ra1c82fe7b8714c36" /><Relationship Type="http://schemas.openxmlformats.org/officeDocument/2006/relationships/slide" Target="/ppt/slides/slide48.xml" Id="Reb6df6f3083541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5d04e39de84c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aba008e03c484d" /><Relationship Type="http://schemas.openxmlformats.org/officeDocument/2006/relationships/notesMaster" Target="/ppt/notesMasters/notesMaster1.xml" Id="R1c4d60ff3f1c4e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6c5d7a8d8345a5" /><Relationship Type="http://schemas.openxmlformats.org/officeDocument/2006/relationships/notesMaster" Target="/ppt/notesMasters/notesMaster1.xml" Id="R991ac9b6db094e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6afd16cad3438a" /><Relationship Type="http://schemas.openxmlformats.org/officeDocument/2006/relationships/notesMaster" Target="/ppt/notesMasters/notesMaster1.xml" Id="Rc22a1e70b3f142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81c0b5e2da4060" /><Relationship Type="http://schemas.openxmlformats.org/officeDocument/2006/relationships/notesMaster" Target="/ppt/notesMasters/notesMaster1.xml" Id="R15294181a26046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c941c8b89f42e3" /><Relationship Type="http://schemas.openxmlformats.org/officeDocument/2006/relationships/notesMaster" Target="/ppt/notesMasters/notesMaster1.xml" Id="Rbc37f788d39c45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d909ec20224f1b" /><Relationship Type="http://schemas.openxmlformats.org/officeDocument/2006/relationships/notesMaster" Target="/ppt/notesMasters/notesMaster1.xml" Id="R5efcb889450446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dfbef1b09f4b4e" /><Relationship Type="http://schemas.openxmlformats.org/officeDocument/2006/relationships/notesMaster" Target="/ppt/notesMasters/notesMaster1.xml" Id="R0953c7b9c48145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471bf1f4d9492a" /><Relationship Type="http://schemas.openxmlformats.org/officeDocument/2006/relationships/notesMaster" Target="/ppt/notesMasters/notesMaster1.xml" Id="R8312d7306a5e46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6088d6b4b742dc" /><Relationship Type="http://schemas.openxmlformats.org/officeDocument/2006/relationships/notesMaster" Target="/ppt/notesMasters/notesMaster1.xml" Id="R455f07e7bad34a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bbc937a2de48ce" /><Relationship Type="http://schemas.openxmlformats.org/officeDocument/2006/relationships/notesMaster" Target="/ppt/notesMasters/notesMaster1.xml" Id="R273e158369db44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38af09928a4f00" /><Relationship Type="http://schemas.openxmlformats.org/officeDocument/2006/relationships/notesMaster" Target="/ppt/notesMasters/notesMaster1.xml" Id="R1e98c64a02b84d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755f05d1994da4" /><Relationship Type="http://schemas.openxmlformats.org/officeDocument/2006/relationships/notesMaster" Target="/ppt/notesMasters/notesMaster1.xml" Id="Ra3c23723a59b4b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fa5d336e0441ab" /><Relationship Type="http://schemas.openxmlformats.org/officeDocument/2006/relationships/notesMaster" Target="/ppt/notesMasters/notesMaster1.xml" Id="R50866be51bbe4b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f2c4f17e374c39" /><Relationship Type="http://schemas.openxmlformats.org/officeDocument/2006/relationships/notesMaster" Target="/ppt/notesMasters/notesMaster1.xml" Id="R64b00a293ff84d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9600e473c54456" /><Relationship Type="http://schemas.openxmlformats.org/officeDocument/2006/relationships/notesMaster" Target="/ppt/notesMasters/notesMaster1.xml" Id="Ra16fc0464d4f4e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37d59c01394e35" /><Relationship Type="http://schemas.openxmlformats.org/officeDocument/2006/relationships/notesMaster" Target="/ppt/notesMasters/notesMaster1.xml" Id="R92f688823ee14c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4f0ff2984546fe" /><Relationship Type="http://schemas.openxmlformats.org/officeDocument/2006/relationships/notesMaster" Target="/ppt/notesMasters/notesMaster1.xml" Id="R8010fb7a1c454b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c2e421c66248e2" /><Relationship Type="http://schemas.openxmlformats.org/officeDocument/2006/relationships/notesMaster" Target="/ppt/notesMasters/notesMaster1.xml" Id="Ra5ea8761a44745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457433e9924857" /><Relationship Type="http://schemas.openxmlformats.org/officeDocument/2006/relationships/notesMaster" Target="/ppt/notesMasters/notesMaster1.xml" Id="R6a4731e9574440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e1467c26b54104" /><Relationship Type="http://schemas.openxmlformats.org/officeDocument/2006/relationships/notesMaster" Target="/ppt/notesMasters/notesMaster1.xml" Id="R272e014014d54d3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7b2506b51dc4f8b" /><Relationship Type="http://schemas.openxmlformats.org/officeDocument/2006/relationships/notesMaster" Target="/ppt/notesMasters/notesMaster1.xml" Id="Rf243d6f0b0f248a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caf4a517684d06" /><Relationship Type="http://schemas.openxmlformats.org/officeDocument/2006/relationships/notesMaster" Target="/ppt/notesMasters/notesMaster1.xml" Id="R6910c18200b241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f48f1cd3dea43c5" /><Relationship Type="http://schemas.openxmlformats.org/officeDocument/2006/relationships/notesMaster" Target="/ppt/notesMasters/notesMaster1.xml" Id="R0f48bc3d2f0941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f43a3caf154779" /><Relationship Type="http://schemas.openxmlformats.org/officeDocument/2006/relationships/notesMaster" Target="/ppt/notesMasters/notesMaster1.xml" Id="Ra75e5d966b8c4b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e2bffa34634824" /><Relationship Type="http://schemas.openxmlformats.org/officeDocument/2006/relationships/notesMaster" Target="/ppt/notesMasters/notesMaster1.xml" Id="Rdc1dc6350a08440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3bff913b8be4da8" /><Relationship Type="http://schemas.openxmlformats.org/officeDocument/2006/relationships/notesMaster" Target="/ppt/notesMasters/notesMaster1.xml" Id="R59c78945a9cf49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91f1f626944a84" /><Relationship Type="http://schemas.openxmlformats.org/officeDocument/2006/relationships/notesMaster" Target="/ppt/notesMasters/notesMaster1.xml" Id="Rcb07d85928d04c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19547a3b96b4648" /><Relationship Type="http://schemas.openxmlformats.org/officeDocument/2006/relationships/notesMaster" Target="/ppt/notesMasters/notesMaster1.xml" Id="Rb52479b4f8b34f8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8ffc7818e244e24" /><Relationship Type="http://schemas.openxmlformats.org/officeDocument/2006/relationships/notesMaster" Target="/ppt/notesMasters/notesMaster1.xml" Id="R46bc9cc310a9440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c370c2f1a8e471f" /><Relationship Type="http://schemas.openxmlformats.org/officeDocument/2006/relationships/notesMaster" Target="/ppt/notesMasters/notesMaster1.xml" Id="R87a1633789b74d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83446b6e8bc4827" /><Relationship Type="http://schemas.openxmlformats.org/officeDocument/2006/relationships/notesMaster" Target="/ppt/notesMasters/notesMaster1.xml" Id="Rf6cee673c05349c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e66f9b215444f40" /><Relationship Type="http://schemas.openxmlformats.org/officeDocument/2006/relationships/notesMaster" Target="/ppt/notesMasters/notesMaster1.xml" Id="R8bfcbb2824c646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5493a91293c43c7" /><Relationship Type="http://schemas.openxmlformats.org/officeDocument/2006/relationships/notesMaster" Target="/ppt/notesMasters/notesMaster1.xml" Id="Rae655eb5e4df498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6d624351aed4a65" /><Relationship Type="http://schemas.openxmlformats.org/officeDocument/2006/relationships/notesMaster" Target="/ppt/notesMasters/notesMaster1.xml" Id="R8cf102873fc442b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1a7b0356c1d4330" /><Relationship Type="http://schemas.openxmlformats.org/officeDocument/2006/relationships/notesMaster" Target="/ppt/notesMasters/notesMaster1.xml" Id="R7613f599b18048a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6f62af55e34400a" /><Relationship Type="http://schemas.openxmlformats.org/officeDocument/2006/relationships/notesMaster" Target="/ppt/notesMasters/notesMaster1.xml" Id="R7fffd7a1fe614a7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946070bfa2d4c33" /><Relationship Type="http://schemas.openxmlformats.org/officeDocument/2006/relationships/notesMaster" Target="/ppt/notesMasters/notesMaster1.xml" Id="R1969155c9fa44c4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ba728d6eb664d13" /><Relationship Type="http://schemas.openxmlformats.org/officeDocument/2006/relationships/notesMaster" Target="/ppt/notesMasters/notesMaster1.xml" Id="R17050b569a46405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683e45eceaa49d3" /><Relationship Type="http://schemas.openxmlformats.org/officeDocument/2006/relationships/notesMaster" Target="/ppt/notesMasters/notesMaster1.xml" Id="R49abee84704e4e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c6b8d501194453c" /><Relationship Type="http://schemas.openxmlformats.org/officeDocument/2006/relationships/notesMaster" Target="/ppt/notesMasters/notesMaster1.xml" Id="R083e4ce7e0264a9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8a697a86d8b4700" /><Relationship Type="http://schemas.openxmlformats.org/officeDocument/2006/relationships/notesMaster" Target="/ppt/notesMasters/notesMaster1.xml" Id="R9006387d6c04494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c68bc98a2d640de" /><Relationship Type="http://schemas.openxmlformats.org/officeDocument/2006/relationships/notesMaster" Target="/ppt/notesMasters/notesMaster1.xml" Id="Rac50bed316684d9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57bfb026ebc4d46" /><Relationship Type="http://schemas.openxmlformats.org/officeDocument/2006/relationships/notesMaster" Target="/ppt/notesMasters/notesMaster1.xml" Id="R819f60e2778d47c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5851dada6c40fe" /><Relationship Type="http://schemas.openxmlformats.org/officeDocument/2006/relationships/notesMaster" Target="/ppt/notesMasters/notesMaster1.xml" Id="Rce62bfb729414d7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3ae33f76cbd4ccf" /><Relationship Type="http://schemas.openxmlformats.org/officeDocument/2006/relationships/notesMaster" Target="/ppt/notesMasters/notesMaster1.xml" Id="R335f73033ebc49c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7b996fd2bcf41e2" /><Relationship Type="http://schemas.openxmlformats.org/officeDocument/2006/relationships/notesMaster" Target="/ppt/notesMasters/notesMaster1.xml" Id="R5532e7e6c8da488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531c82fb35e4e90" /><Relationship Type="http://schemas.openxmlformats.org/officeDocument/2006/relationships/notesMaster" Target="/ppt/notesMasters/notesMaster1.xml" Id="R19e60511df4c442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3089717c5164988" /><Relationship Type="http://schemas.openxmlformats.org/officeDocument/2006/relationships/notesMaster" Target="/ppt/notesMasters/notesMaster1.xml" Id="R3e50a9d3268148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3 minutos en esta diapositiva.</a:t>
            </a:r>
          </a:p>
          <a:p xmlns:a="http://schemas.openxmlformats.org/drawingml/2006/main">
            <a:r>
              <a:t/>
            </a:r>
          </a:p>
          <a:p xmlns:a="http://schemas.openxmlformats.org/drawingml/2006/main">
            <a:r>
              <a:t>Relacionar ida y vuelta con una distancia observable.</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El HC-SR04 representa distancia mediante la duración de un pulso de eco asociado a una medición acústica. El sonido recorre la ida hasta el objeto y la vuelta al sensor. Esa doble trayectoria explica la división entre dos. No se está midiendo luz ni una distancia por imagen. El tamaño, orientación y superficie del objeto pueden cambiar el eco disponible en hardware.</a:t>
            </a:r>
          </a:p>
          <a:p xmlns:a="http://schemas.openxmlformats.org/drawingml/2006/main">
            <a:r>
              <a:t/>
            </a:r>
          </a:p>
          <a:p xmlns:a="http://schemas.openxmlformats.org/drawingml/2006/main">
            <a:r>
              <a:t>MECRO, proyecto 06.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Wokwi se puede seleccionar una distancia de entrada del modelo y observar qué informa el programa. Eso es útil para comprobar la conversión y el tratamiento de extremos. En el banco, la distancia se contrasta con una referencia física y un objeto definido. La simulación no sustituye las comprobaciones de alimentación, nivel de señal, montaje o respuesta ante superficies diferentes.</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06. Esquema original del laboratorio para reconocer la arquitectura en Wokwi. Para montaje físico se aplica la tabla y las correcciones de esta lectura.</a:t>
            </a:r>
          </a:p>
          <a:p xmlns:a="http://schemas.openxmlformats.org/drawingml/2006/main">
            <a:r>
              <a:t>El HC-SR04 representa distancia mediante la duración de un pulso de eco asociado a una medición acústica. El sonido recorre la ida hasta el objeto y la vuelta al sensor. Esa doble trayectoria explica la división entre dos. No se está midiendo luz ni una distancia por imagen. El tamaño, orientación y superficie del objeto pueden cambiar el eco disponible en hardware.</a:t>
            </a:r>
          </a:p>
          <a:p xmlns:a="http://schemas.openxmlformats.org/drawingml/2006/main">
            <a:r>
              <a:t/>
            </a:r>
          </a:p>
          <a:p xmlns:a="http://schemas.openxmlformats.org/drawingml/2006/main">
            <a:r>
              <a:t>MECRO, proyecto 06.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Wokwi se puede seleccionar una distancia de entrada del modelo y observar qué informa el programa. Eso es útil para comprobar la conversión y el tratamiento de extremos. En el banco, la distancia se contrasta con una referencia física y un objeto definido. La simulación no sustituye las comprobaciones de alimentación, nivel de señal, montaje o respuesta ante superficies diferentes.</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El HC-SR04 representa distancia mediante la duración de un pulso de eco asociado a una medición acústica. El sonido recorre la ida hasta el objeto y la vuelta al sensor. Esa doble trayectoria explica la división entre dos. No se está midiendo luz ni una distancia por imagen. El tamaño, orientación y superficie del objeto pueden cambiar el eco disponible en hardware.</a:t>
            </a:r>
          </a:p>
          <a:p xmlns:a="http://schemas.openxmlformats.org/drawingml/2006/main">
            <a:r>
              <a:t/>
            </a:r>
          </a:p>
          <a:p xmlns:a="http://schemas.openxmlformats.org/drawingml/2006/main">
            <a:r>
              <a:t>MECRO, proyecto 06.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Wokwi se puede seleccionar una distancia de entrada del modelo y observar qué informa el programa. Eso es útil para comprobar la conversión y el tratamiento de extremos. En el banco, la distancia se contrasta con una referencia física y un objeto definido. La simulación no sustituye las comprobaciones de alimentación, nivel de señal, montaje o respuesta ante superficies diferentes.</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Se usa c = 343 m/s como aproximación de aula. Las condiciones del aire afectan a esa aproximación.</a:t>
            </a:r>
          </a:p>
          <a:p xmlns:a="http://schemas.openxmlformats.org/drawingml/2006/main">
            <a:r>
              <a:t/>
            </a:r>
          </a:p>
          <a:p xmlns:a="http://schemas.openxmlformats.org/drawingml/2006/main">
            <a:r>
              <a:t>Con la velocidad de aula, ¿qué distancia representa un pulso de 1000 μs?</a:t>
            </a:r>
          </a:p>
          <a:p xmlns:a="http://schemas.openxmlformats.org/drawingml/2006/main">
            <a:r>
              <a:t>El recorrido total sería 34,3 cm. La distancia de ida es la mitad: 17,15 cm. Es una conversión del modelo, no una verificación de exactitud del módulo.</a:t>
            </a:r>
          </a:p>
          <a:p xmlns:a="http://schemas.openxmlformats.org/drawingml/2006/main">
            <a:r>
              <a:t/>
            </a:r>
          </a:p>
          <a:p xmlns:a="http://schemas.openxmlformats.org/drawingml/2006/main">
            <a:r>
              <a:t>Dato / Unidad / Qué debe acompañarlo</a:t>
            </a:r>
          </a:p>
          <a:p xmlns:a="http://schemas.openxmlformats.org/drawingml/2006/main">
            <a:r>
              <a:t>Duración del eco / microsegundos / Operación válida</a:t>
            </a:r>
          </a:p>
          <a:p xmlns:a="http://schemas.openxmlformats.org/drawingml/2006/main">
            <a:r>
              <a:t>Distancia calculada / cm / Conversión utilizada</a:t>
            </a:r>
          </a:p>
          <a:p xmlns:a="http://schemas.openxmlformats.org/drawingml/2006/main">
            <a:r>
              <a:t>Distancia de referencia / cm / Puntos físicos de medida</a:t>
            </a:r>
          </a:p>
          <a:p xmlns:a="http://schemas.openxmlformats.org/drawingml/2006/main">
            <a:r>
              <a:t/>
            </a:r>
          </a:p>
          <a:p xmlns:a="http://schemas.openxmlformats.org/drawingml/2006/main">
            <a:r>
              <a:t>Una comparación requiere definir desde dónde se mide. La cara del sensor y el borde de una caja no son la misma referencia. Para una primera práctica bastan tres posiciones separadas y una superficie que el docente haya comprobado. Repetir lecturas en la misma posición permite observar dispersión. Cambiar posición y superficie a la vez impediría atribuir con claridad una diferencia.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Dato / Unidad / Qué debe acompañarlo</a:t>
            </a:r>
          </a:p>
          <a:p xmlns:a="http://schemas.openxmlformats.org/drawingml/2006/main">
            <a:r>
              <a:t>Duración del eco / microsegundos / Operación válida</a:t>
            </a:r>
          </a:p>
          <a:p xmlns:a="http://schemas.openxmlformats.org/drawingml/2006/main">
            <a:r>
              <a:t>Distancia calculada / cm / Conversión utilizada</a:t>
            </a:r>
          </a:p>
          <a:p xmlns:a="http://schemas.openxmlformats.org/drawingml/2006/main">
            <a:r>
              <a:t>Distancia de referencia / cm / Puntos físicos de medida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Se usa c = 343 m/s como aproximación de aula. Las condiciones del aire afectan a esa aproximación.</a:t>
            </a:r>
          </a:p>
          <a:p xmlns:a="http://schemas.openxmlformats.org/drawingml/2006/main">
            <a:r>
              <a:t/>
            </a:r>
          </a:p>
          <a:p xmlns:a="http://schemas.openxmlformats.org/drawingml/2006/main">
            <a:r>
              <a:t>Con la velocidad de aula, ¿qué distancia representa un pulso de 1000 μs?</a:t>
            </a:r>
          </a:p>
          <a:p xmlns:a="http://schemas.openxmlformats.org/drawingml/2006/main">
            <a:r>
              <a:t>El recorrido total sería 34,3 cm. La distancia de ida es la mitad: 17,15 cm. Es una conversión del modelo, no una verificación de exactitud del módulo.</a:t>
            </a:r>
          </a:p>
          <a:p xmlns:a="http://schemas.openxmlformats.org/drawingml/2006/main">
            <a:r>
              <a:t/>
            </a:r>
          </a:p>
          <a:p xmlns:a="http://schemas.openxmlformats.org/drawingml/2006/main">
            <a:r>
              <a:t>Dato / Unidad / Qué debe acompañarlo</a:t>
            </a:r>
          </a:p>
          <a:p xmlns:a="http://schemas.openxmlformats.org/drawingml/2006/main">
            <a:r>
              <a:t>Duración del eco / microsegundos / Operación válida</a:t>
            </a:r>
          </a:p>
          <a:p xmlns:a="http://schemas.openxmlformats.org/drawingml/2006/main">
            <a:r>
              <a:t>Distancia calculada / cm / Conversión utilizada</a:t>
            </a:r>
          </a:p>
          <a:p xmlns:a="http://schemas.openxmlformats.org/drawingml/2006/main">
            <a:r>
              <a:t>Distancia de referencia / cm / Puntos físicos de medida</a:t>
            </a:r>
          </a:p>
          <a:p xmlns:a="http://schemas.openxmlformats.org/drawingml/2006/main">
            <a:r>
              <a:t/>
            </a:r>
          </a:p>
          <a:p xmlns:a="http://schemas.openxmlformats.org/drawingml/2006/main">
            <a:r>
              <a:t>Una comparación requiere definir desde dónde se mide. La cara del sensor y el borde de una caja no son la misma referencia. Para una primera práctica bastan tres posiciones separadas y una superficie que el docente haya comprobado. Repetir lecturas en la misma posición permite observar dispersión. Cambiar posición y superficie a la vez impediría atribuir con claridad una diferencia.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El esquema original del laboratorio representa la simulación. Para hardware, el nivel de ECHO debe adaptarse a la entrada del ESP32 cuando el módulo lo entrega a 5 V. No se supone que un GPIO de la placa tolere ese nivel. En un divisor resistivo, R1 se coloca entre la salida ECHO y el nodo de medida; R2 se coloca entre ese nodo y GND. La referencia común debe estar definida.</a:t>
            </a:r>
          </a:p>
          <a:p xmlns:a="http://schemas.openxmlformats.org/drawingml/2006/main">
            <a:r>
              <a:t/>
            </a:r>
          </a:p>
          <a:p xmlns:a="http://schemas.openxmlformats.org/drawingml/2006/main">
            <a:r>
              <a:t>Ejemplo de banco: R1 = 2,2 kohm y R2 = 3,3 kohm producen 3,0 V nominales desde 5,0 V. Se verifica el nivel con el montaje real.</a:t>
            </a:r>
          </a:p>
          <a:p xmlns:a="http://schemas.openxmlformats.org/drawingml/2006/main">
            <a:r>
              <a:t/>
            </a:r>
          </a:p>
          <a:p xmlns:a="http://schemas.openxmlformats.org/drawingml/2006/main">
            <a:r>
              <a:t>Conexión / Función / Revisión</a:t>
            </a:r>
          </a:p>
          <a:p xmlns:a="http://schemas.openxmlformats.org/drawingml/2006/main">
            <a:r>
              <a:t>VCC del sensor / Alimentación del módulo / Ficha del módulo</a:t>
            </a:r>
          </a:p>
          <a:p xmlns:a="http://schemas.openxmlformats.org/drawingml/2006/main">
            <a:r>
              <a:t>TRIG / Inicio de medición / Compatibilidad de entrada</a:t>
            </a:r>
          </a:p>
          <a:p xmlns:a="http://schemas.openxmlformats.org/drawingml/2006/main">
            <a:r>
              <a:t>ECHO adaptado / Señal al GPIO / Nivel medido</a:t>
            </a:r>
          </a:p>
          <a:p xmlns:a="http://schemas.openxmlformats.org/drawingml/2006/main">
            <a:r>
              <a:t>GND / Referencia común / Continuidad</a:t>
            </a:r>
          </a:p>
          <a:p xmlns:a="http://schemas.openxmlformats.org/drawingml/2006/main">
            <a:r>
              <a:t/>
            </a:r>
          </a:p>
          <a:p xmlns:a="http://schemas.openxmlformats.org/drawingml/2006/main">
            <a:r>
              <a:t>El divisor es parte de la interfaz, no una instrucción opcional que se omite porque la animación funciona. Un sensor de distancia compatible con lógica de 3,3 V puede utilizar otra interfaz, siempre que su documentación lo respalde. El docente conserva la referencia del componente físico: “HC-SR04 o equivalente” no hace idénticos todos sus módulos.</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Conexión / Función / Revisión</a:t>
            </a:r>
          </a:p>
          <a:p xmlns:a="http://schemas.openxmlformats.org/drawingml/2006/main">
            <a:r>
              <a:t>VCC del sensor / Alimentación del módulo / Ficha del módulo</a:t>
            </a:r>
          </a:p>
          <a:p xmlns:a="http://schemas.openxmlformats.org/drawingml/2006/main">
            <a:r>
              <a:t>TRIG / Inicio de medición / Compatibilidad de entrada</a:t>
            </a:r>
          </a:p>
          <a:p xmlns:a="http://schemas.openxmlformats.org/drawingml/2006/main">
            <a:r>
              <a:t>ECHO adaptado / Señal al GPIO / Nivel medido</a:t>
            </a:r>
          </a:p>
          <a:p xmlns:a="http://schemas.openxmlformats.org/drawingml/2006/main">
            <a:r>
              <a:t>GND / Referencia común / Continuidad</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El esquema original del laboratorio representa la simulación. Para hardware, el nivel de ECHO debe adaptarse a la entrada del ESP32 cuando el módulo lo entrega a 5 V. No se supone que un GPIO de la placa tolere ese nivel. En un divisor resistivo, R1 se coloca entre la salida ECHO y el nodo de medida; R2 se coloca entre ese nodo y GND. La referencia común debe estar definida.</a:t>
            </a:r>
          </a:p>
          <a:p xmlns:a="http://schemas.openxmlformats.org/drawingml/2006/main">
            <a:r>
              <a:t/>
            </a:r>
          </a:p>
          <a:p xmlns:a="http://schemas.openxmlformats.org/drawingml/2006/main">
            <a:r>
              <a:t>Ejemplo de banco: R1 = 2,2 kohm y R2 = 3,3 kohm producen 3,0 V nominales desde 5,0 V. Se verifica el nivel con el montaje real.</a:t>
            </a:r>
          </a:p>
          <a:p xmlns:a="http://schemas.openxmlformats.org/drawingml/2006/main">
            <a:r>
              <a:t/>
            </a:r>
          </a:p>
          <a:p xmlns:a="http://schemas.openxmlformats.org/drawingml/2006/main">
            <a:r>
              <a:t>Conexión / Función / Revisión</a:t>
            </a:r>
          </a:p>
          <a:p xmlns:a="http://schemas.openxmlformats.org/drawingml/2006/main">
            <a:r>
              <a:t>VCC del sensor / Alimentación del módulo / Ficha del módulo</a:t>
            </a:r>
          </a:p>
          <a:p xmlns:a="http://schemas.openxmlformats.org/drawingml/2006/main">
            <a:r>
              <a:t>TRIG / Inicio de medición / Compatibilidad de entrada</a:t>
            </a:r>
          </a:p>
          <a:p xmlns:a="http://schemas.openxmlformats.org/drawingml/2006/main">
            <a:r>
              <a:t>ECHO adaptado / Señal al GPIO / Nivel medido</a:t>
            </a:r>
          </a:p>
          <a:p xmlns:a="http://schemas.openxmlformats.org/drawingml/2006/main">
            <a:r>
              <a:t>GND / Referencia común / Continuidad</a:t>
            </a:r>
          </a:p>
          <a:p xmlns:a="http://schemas.openxmlformats.org/drawingml/2006/main">
            <a:r>
              <a:t/>
            </a:r>
          </a:p>
          <a:p xmlns:a="http://schemas.openxmlformats.org/drawingml/2006/main">
            <a:r>
              <a:t>El divisor es parte de la interfaz, no una instrucción opcional que se omite porque la animación funciona. Un sensor de distancia compatible con lógica de 3,3 V puede utilizar otra interfaz, siempre que su documentación lo respalde. El docente conserva la referencia del componente físico: “HC-SR04 o equivalente” no hace idénticos todos sus módulos.</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unsigned long us = pulseIn(ECHO, HIGH, 25000UL);</a:t>
            </a:r>
          </a:p>
          <a:p xmlns:a="http://schemas.openxmlformats.org/drawingml/2006/main">
            <a:r>
              <a:t>if (us == 0) {</a:t>
            </a:r>
          </a:p>
          <a:p xmlns:a="http://schemas.openxmlformats.org/drawingml/2006/main">
            <a:r>
              <a:t>  Serial.println("INVALID");</a:t>
            </a:r>
          </a:p>
          <a:p xmlns:a="http://schemas.openxmlformats.org/drawingml/2006/main">
            <a:r>
              <a:t>  return;</a:t>
            </a:r>
          </a:p>
          <a:p xmlns:a="http://schemas.openxmlformats.org/drawingml/2006/main">
            <a:r>
              <a:t>}</a:t>
            </a:r>
          </a:p>
          <a:p xmlns:a="http://schemas.openxmlformats.org/drawingml/2006/main">
            <a:r>
              <a:t>float distance_cm = us * 0.0343f / 2.0f;</a:t>
            </a:r>
          </a:p>
          <a:p xmlns:a="http://schemas.openxmlformats.org/drawingml/2006/main">
            <a:r>
              <a:t/>
            </a:r>
          </a:p>
          <a:p xmlns:a="http://schemas.openxmlformats.org/drawingml/2006/main">
            <a:r>
              <a:t>La llamada tiene un tiempo de espera explícito. Sigue siendo bloqueante, pero su duración máxima queda acotada para esta práctica. Devolver cero por no completar el pulso no significa que el objeto esté tocando el sensor. Primero se interpreta la condición de la operación y después se calcula distancia. Una pantalla que muestra 0 cm para cualquier error pierde esa distinción.</a:t>
            </a:r>
          </a:p>
          <a:p xmlns:a="http://schemas.openxmlformats.org/drawingml/2006/main">
            <a:r>
              <a:t/>
            </a:r>
          </a:p>
          <a:p xmlns:a="http://schemas.openxmlformats.org/drawingml/2006/main">
            <a:r>
              <a:t>El tiempo de la adquisición también ocupa parte de la agenda. Si después coordinamos un servo, habrá que considerar su movimiento, la espera del sensor y el momento de aceptar la lectura. La versión de clase es deliberadamente pequeña para que esa duración pueda verse antes de construir un explorador. Guardar tiempo de inicio y de fin permite comprobar cuánto estuvo ocupada cada operación.</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unsigned long us = pulseIn(ECHO, HIGH, 25000UL);</a:t>
            </a:r>
          </a:p>
          <a:p xmlns:a="http://schemas.openxmlformats.org/drawingml/2006/main">
            <a:r>
              <a:t>if (us == 0) {</a:t>
            </a:r>
          </a:p>
          <a:p xmlns:a="http://schemas.openxmlformats.org/drawingml/2006/main">
            <a:r>
              <a:t>  Serial.println("INVALID");</a:t>
            </a:r>
          </a:p>
          <a:p xmlns:a="http://schemas.openxmlformats.org/drawingml/2006/main">
            <a:r>
              <a:t>  return;</a:t>
            </a:r>
          </a:p>
          <a:p xmlns:a="http://schemas.openxmlformats.org/drawingml/2006/main">
            <a:r>
              <a:t>}</a:t>
            </a:r>
          </a:p>
          <a:p xmlns:a="http://schemas.openxmlformats.org/drawingml/2006/main">
            <a:r>
              <a:t>float distance_cm = us * 0.0343f / 2.0f;</a:t>
            </a:r>
          </a:p>
          <a:p xmlns:a="http://schemas.openxmlformats.org/drawingml/2006/main">
            <a:r>
              <a:t>Explicar entrada, estado, salida y momento de actualización.</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unsigned long us = pulseIn(ECHO, HIGH, 25000UL);</a:t>
            </a:r>
          </a:p>
          <a:p xmlns:a="http://schemas.openxmlformats.org/drawingml/2006/main">
            <a:r>
              <a:t>if (us == 0) {</a:t>
            </a:r>
          </a:p>
          <a:p xmlns:a="http://schemas.openxmlformats.org/drawingml/2006/main">
            <a:r>
              <a:t>  Serial.println("INVALID");</a:t>
            </a:r>
          </a:p>
          <a:p xmlns:a="http://schemas.openxmlformats.org/drawingml/2006/main">
            <a:r>
              <a:t>  return;</a:t>
            </a:r>
          </a:p>
          <a:p xmlns:a="http://schemas.openxmlformats.org/drawingml/2006/main">
            <a:r>
              <a:t>}</a:t>
            </a:r>
          </a:p>
          <a:p xmlns:a="http://schemas.openxmlformats.org/drawingml/2006/main">
            <a:r>
              <a:t>float distance_cm = us * 0.0343f / 2.0f;</a:t>
            </a:r>
          </a:p>
          <a:p xmlns:a="http://schemas.openxmlformats.org/drawingml/2006/main">
            <a:r>
              <a:t/>
            </a:r>
          </a:p>
          <a:p xmlns:a="http://schemas.openxmlformats.org/drawingml/2006/main">
            <a:r>
              <a:t>La llamada tiene un tiempo de espera explícito. Sigue siendo bloqueante, pero su duración máxima queda acotada para esta práctica. Devolver cero por no completar el pulso no significa que el objeto esté tocando el sensor. Primero se interpreta la condición de la operación y después se calcula distancia. Una pantalla que muestra 0 cm para cualquier error pierde esa distinción.</a:t>
            </a:r>
          </a:p>
          <a:p xmlns:a="http://schemas.openxmlformats.org/drawingml/2006/main">
            <a:r>
              <a:t/>
            </a:r>
          </a:p>
          <a:p xmlns:a="http://schemas.openxmlformats.org/drawingml/2006/main">
            <a:r>
              <a:t>El tiempo de la adquisición también ocupa parte de la agenda. Si después coordinamos un servo, habrá que considerar su movimiento, la espera del sensor y el momento de aceptar la lectura. La versión de clase es deliberadamente pequeña para que esa duración pueda verse antes de construir un explorador. Guardar tiempo de inicio y de fin permite comprobar cuánto estuvo ocupada cada operación.</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Revisa el esquema de simulación y la tabla de interfaz física.</a:t>
            </a:r>
          </a:p>
          <a:p xmlns:a="http://schemas.openxmlformats.org/drawingml/2006/main">
            <a:r>
              <a:t>Ejecuta c07_distancia y cambia tres distancias conocidas en Wokwi.</a:t>
            </a:r>
          </a:p>
          <a:p xmlns:a="http://schemas.openxmlformats.org/drawingml/2006/main">
            <a:r>
              <a:t>Calcula manualmente un caso a partir del tiempo de eco.</a:t>
            </a:r>
          </a:p>
          <a:p xmlns:a="http://schemas.openxmlformats.org/drawingml/2006/main">
            <a:r>
              <a:t>En banco, contrasta tres posiciones con regla y objeto definidos.</a:t>
            </a:r>
          </a:p>
          <a:p xmlns:a="http://schemas.openxmlformats.org/drawingml/2006/main">
            <a:r>
              <a:t>Retira el eco con el procedimiento del docente y observa INVALID.</a:t>
            </a:r>
          </a:p>
          <a:p xmlns:a="http://schemas.openxmlformats.org/drawingml/2006/main">
            <a:r>
              <a:t>Compara la conversión ideal y la referencia, sin inventar una corrección con un único punto.</a:t>
            </a:r>
          </a:p>
          <a:p xmlns:a="http://schemas.openxmlformats.org/drawingml/2006/main">
            <a:r>
              <a:t>Registra una condición en la que la lectura no deba usarse para decidir.</a:t>
            </a:r>
          </a:p>
          <a:p xmlns:a="http://schemas.openxmlformats.org/drawingml/2006/main">
            <a:r>
              <a:t/>
            </a:r>
          </a:p>
          <a:p xmlns:a="http://schemas.openxmlformats.org/drawingml/2006/main">
            <a:r>
              <a:t>Referencia / cm / Medida / cm / Estado / observación</a:t>
            </a:r>
          </a:p>
          <a:p xmlns:a="http://schemas.openxmlformats.org/drawingml/2006/main">
            <a:r>
              <a:t>Posición 1 / Por obtener / Objeto y montaje</a:t>
            </a:r>
          </a:p>
          <a:p xmlns:a="http://schemas.openxmlformats.org/drawingml/2006/main">
            <a:r>
              <a:t>Posición 2 / Por obtener / Misma referencia</a:t>
            </a:r>
          </a:p>
          <a:p xmlns:a="http://schemas.openxmlformats.org/drawingml/2006/main">
            <a:r>
              <a:t>Sin eco / Sin distancia válida / Tiempo de espera</a:t>
            </a:r>
          </a:p>
          <a:p xmlns:a="http://schemas.openxmlformats.org/drawingml/2006/main">
            <a:r>
              <a:t/>
            </a:r>
          </a:p>
          <a:p xmlns:a="http://schemas.openxmlformats.org/drawingml/2006/main">
            <a:r>
              <a:t>La diferencia entre referencia y medida se describe primero en centímetros. Un porcentaje puede resultar confuso cerca de cero. El propósito del ejercicio es encontrar si la conversión tiene sentido, si se conserva una referencia y si el programa trata la ausencia de eco. La calibración detallada de un sistema ultrasónico completo queda fuera de esta primera práctica.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Referencia / cm / Medida / cm / Estado / observación</a:t>
            </a:r>
          </a:p>
          <a:p xmlns:a="http://schemas.openxmlformats.org/drawingml/2006/main">
            <a:r>
              <a:t>Posición 1 / Por obtener / Objeto y montaje</a:t>
            </a:r>
          </a:p>
          <a:p xmlns:a="http://schemas.openxmlformats.org/drawingml/2006/main">
            <a:r>
              <a:t>Posición 2 / Por obtener / Misma referencia</a:t>
            </a:r>
          </a:p>
          <a:p xmlns:a="http://schemas.openxmlformats.org/drawingml/2006/main">
            <a:r>
              <a:t>Sin eco / Sin distancia válida / Tiempo de espera</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Revisa el esquema de simulación y la tabla de interfaz física.</a:t>
            </a:r>
          </a:p>
          <a:p xmlns:a="http://schemas.openxmlformats.org/drawingml/2006/main">
            <a:r>
              <a:t>Ejecuta c07_distancia y cambia tres distancias conocidas en Wokwi.</a:t>
            </a:r>
          </a:p>
          <a:p xmlns:a="http://schemas.openxmlformats.org/drawingml/2006/main">
            <a:r>
              <a:t>Calcula manualmente un caso a partir del tiempo de eco.</a:t>
            </a:r>
          </a:p>
          <a:p xmlns:a="http://schemas.openxmlformats.org/drawingml/2006/main">
            <a:r>
              <a:t>En banco, contrasta tres posiciones con regla y objeto definidos.</a:t>
            </a:r>
          </a:p>
          <a:p xmlns:a="http://schemas.openxmlformats.org/drawingml/2006/main">
            <a:r>
              <a:t>Retira el eco con el procedimiento del docente y observa INVALID.</a:t>
            </a:r>
          </a:p>
          <a:p xmlns:a="http://schemas.openxmlformats.org/drawingml/2006/main">
            <a:r>
              <a:t>Compara la conversión ideal y la referencia, sin inventar una corrección con un único punto.</a:t>
            </a:r>
          </a:p>
          <a:p xmlns:a="http://schemas.openxmlformats.org/drawingml/2006/main">
            <a:r>
              <a:t>Registra una condición en la que la lectura no deba usarse para decidir.</a:t>
            </a:r>
          </a:p>
          <a:p xmlns:a="http://schemas.openxmlformats.org/drawingml/2006/main">
            <a:r>
              <a:t>Verificar un paso antes de seguir.</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aplicación de apoyo a drones puede usar distancia para demostrar principios de proximidad o para un banco de exploración. La lectura de un módulo educativo no basta para prometer navegación o prevención de colisiones. La clase enseña a observar cobertura, tiempos y casos inválidos. Esa forma de trabajar permite después comparar otras tecnologías de sensado sin creer que todas fallan de la misma manera.</a:t>
            </a:r>
          </a:p>
          <a:p xmlns:a="http://schemas.openxmlformats.org/drawingml/2006/main">
            <a:r>
              <a:t/>
            </a:r>
          </a:p>
          <a:p xmlns:a="http://schemas.openxmlformats.org/drawingml/2006/main">
            <a:r>
              <a:t>La pantalla repite 25 cm durante un fallo. ¿Qué necesita saber la aplicación?</a:t>
            </a:r>
          </a:p>
          <a:p xmlns:a="http://schemas.openxmlformats.org/drawingml/2006/main">
            <a:r>
              <a:t>Si se obtuvo una lectura nueva, cuándo ocurrió y qué estado devolvió la adquisición. Repetir un valor almacenado no demuestra que el objeto permanezca a 25 cm.</a:t>
            </a:r>
          </a:p>
          <a:p xmlns:a="http://schemas.openxmlformats.org/drawingml/2006/main">
            <a:r>
              <a:t/>
            </a:r>
          </a:p>
          <a:p xmlns:a="http://schemas.openxmlformats.org/drawingml/2006/main">
            <a:r>
              <a:t>Investiga por qué una superficie inclinada puede cambiar el eco y por qué la velocidad del sonido no es una constante independiente del ambiente. Explica la consecuencia práctica sin resolver un modelo acústico avanzado. El reto de transferencia consiste en escribir una política para dato inválido: aviso, conservación con edad o suspensión de una decisión que dependía de esa lectura.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aplicación de apoyo a drones puede usar distancia para demostrar principios de proximidad o para un banco de exploración. La lectura de un módulo educativo no basta para prometer navegación o prevención de colisiones. La clase enseña a observar cobertura, tiempos y casos inválidos. Esa forma de trabajar permite después comparar otras tecnologías de sensado sin creer que todas fallan de la misma manera.</a:t>
            </a:r>
          </a:p>
          <a:p xmlns:a="http://schemas.openxmlformats.org/drawingml/2006/main">
            <a:r>
              <a:t/>
            </a:r>
          </a:p>
          <a:p xmlns:a="http://schemas.openxmlformats.org/drawingml/2006/main">
            <a:r>
              <a:t>La pantalla repite 25 cm durante un fallo. ¿Qué necesita saber la aplicación?</a:t>
            </a:r>
          </a:p>
          <a:p xmlns:a="http://schemas.openxmlformats.org/drawingml/2006/main">
            <a:r>
              <a:t>Si se obtuvo una lectura nueva, cuándo ocurrió y qué estado devolvió la adquisición. Repetir un valor almacenado no demuestra que el objeto permanezca a 25 cm.</a:t>
            </a:r>
          </a:p>
          <a:p xmlns:a="http://schemas.openxmlformats.org/drawingml/2006/main">
            <a:r>
              <a:t/>
            </a:r>
          </a:p>
          <a:p xmlns:a="http://schemas.openxmlformats.org/drawingml/2006/main">
            <a:r>
              <a:t>Investiga por qué una superficie inclinada puede cambiar el eco y por qué la velocidad del sonido no es una constante independiente del ambiente. Explica la consecuencia práctica sin resolver un modelo acústico avanzado. El reto de transferencia consiste en escribir una política para dato inválido: aviso, conservación con edad o suspensión de una decisión que dependía de esa lectura.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La pantalla repite 25 cm durante un fallo. ¿Qué necesita saber la aplicación?</a:t>
            </a:r>
          </a:p>
          <a:p xmlns:a="http://schemas.openxmlformats.org/drawingml/2006/main">
            <a:r>
              <a:t>Si se obtuvo una lectura nueva, cuándo ocurrió y qué estado devolvió la adquisición. Repetir un valor almacenado no demuestra que el objeto permanezca a 25 cm.</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12 minutos en esta diapositiva.</a:t>
            </a:r>
          </a:p>
          <a:p xmlns:a="http://schemas.openxmlformats.org/drawingml/2006/main">
            <a:r>
              <a:t/>
            </a:r>
          </a:p>
          <a:p xmlns:a="http://schemas.openxmlformats.org/drawingml/2006/main">
            <a:r>
              <a:t>Relacionar ida y vuelta con una distancia observable.</a:t>
            </a:r>
          </a:p>
          <a:p xmlns:a="http://schemas.openxmlformats.org/drawingml/2006/main">
            <a:r>
              <a:t>Resolver el ejemplo de 1000 μs y revisar unidades.</a:t>
            </a:r>
          </a:p>
          <a:p xmlns:a="http://schemas.openxmlformats.org/drawingml/2006/main">
            <a:r>
              <a:t>Comprobar c07_distancia con eco y sin eco.</a:t>
            </a:r>
          </a:p>
          <a:p xmlns:a="http://schemas.openxmlformats.org/drawingml/2006/main">
            <a:r>
              <a:t>Contrastar una referencia y explicar la adaptación de ECHO.</a:t>
            </a:r>
          </a:p>
          <a:p xmlns:a="http://schemas.openxmlformats.org/drawingml/2006/main">
            <a:r>
              <a:t>Rotar código, medida y registro.</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10 minutos en esta diapositiva.</a:t>
            </a:r>
          </a:p>
          <a:p xmlns:a="http://schemas.openxmlformats.org/drawingml/2006/main">
            <a:r>
              <a:t/>
            </a:r>
          </a:p>
          <a:p xmlns:a="http://schemas.openxmlformats.org/drawingml/2006/main">
            <a:r>
              <a:t>Un sensor de proximidad en un equipo UAV exige comprender qué mide y en qué situaciones puede dejar de informar.</a:t>
            </a:r>
          </a:p>
          <a:p xmlns:a="http://schemas.openxmlformats.org/drawingml/2006/main">
            <a:r>
              <a:t>Conversión explicada, tabla de contraste y tratamiento de lectura inválida.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Distancia: tiempo de vuelo, adaptación de nivel y lecturas inválidas.</a:t>
            </a:r>
          </a:p>
          <a:p xmlns:a="http://schemas.openxmlformats.org/drawingml/2006/main">
            <a:r>
              <a:t>En línea, 2 horas. Núcleo de explicación: 5 minutos en esta diapositiva.</a:t>
            </a:r>
          </a:p>
          <a:p xmlns:a="http://schemas.openxmlformats.org/drawingml/2006/main">
            <a:r>
              <a:t/>
            </a:r>
          </a:p>
          <a:p xmlns:a="http://schemas.openxmlformats.org/drawingml/2006/main">
            <a:r>
              <a:t>Conversión explicada, tabla de contraste y tratamiento de lectura inválida.</a:t>
            </a:r>
          </a:p>
          <a:p xmlns:a="http://schemas.openxmlformats.org/drawingml/2006/main">
            <a:r>
              <a:t/>
            </a:r>
          </a:p>
          <a:p xmlns:a="http://schemas.openxmlformats.org/drawingml/2006/main">
            <a:r>
              <a:t>Objetivo: Convertir un tiempo de eco en distancia y comprobar su coherencia sin confundir falta de eco con distancia cero.</a:t>
            </a:r>
          </a:p>
          <a:p xmlns:a="http://schemas.openxmlformats.org/drawingml/2006/main">
            <a:r>
              <a:t>Aplicación: Un sensor de proximidad en un equipo UAV exige comprender qué mide y en qué situaciones puede dejar de informar.</a:t>
            </a:r>
          </a:p>
          <a:p xmlns:a="http://schemas.openxmlformats.org/drawingml/2006/main">
            <a:r>
              <a:t>Entrega: Conversión explicada, tabla de contraste y tratamiento de lectura inválida.</a:t>
            </a:r>
          </a:p>
          <a:p xmlns:a="http://schemas.openxmlformats.org/drawingml/2006/main">
            <a:r>
              <a:t/>
            </a:r>
          </a:p>
          <a:p xmlns:a="http://schemas.openxmlformats.org/drawingml/2006/main">
            <a:r>
              <a:t>Preguntas y respuestas</a:t>
            </a:r>
          </a:p>
          <a:p xmlns:a="http://schemas.openxmlformats.org/drawingml/2006/main">
            <a:r>
              <a:t>¿Por qué se divide entre dos?</a:t>
            </a:r>
          </a:p>
          <a:p xmlns:a="http://schemas.openxmlformats.org/drawingml/2006/main">
            <a:r>
              <a:t>Porque el tiempo corresponde al recorrido de ida y vuelta.</a:t>
            </a:r>
          </a:p>
          <a:p xmlns:a="http://schemas.openxmlformats.org/drawingml/2006/main">
            <a:r>
              <a:t/>
            </a:r>
          </a:p>
          <a:p xmlns:a="http://schemas.openxmlformats.org/drawingml/2006/main">
            <a:r>
              <a:t>¿pulseIn con timeout deja de bloquear?</a:t>
            </a:r>
          </a:p>
          <a:p xmlns:a="http://schemas.openxmlformats.org/drawingml/2006/main">
            <a:r>
              <a:t>No. La espera queda acotada por el tiempo establecido.</a:t>
            </a:r>
          </a:p>
          <a:p xmlns:a="http://schemas.openxmlformats.org/drawingml/2006/main">
            <a:r>
              <a:t/>
            </a:r>
          </a:p>
          <a:p xmlns:a="http://schemas.openxmlformats.org/drawingml/2006/main">
            <a:r>
              <a:t>¿Un retorno cero es distancia cero?</a:t>
            </a:r>
          </a:p>
          <a:p xmlns:a="http://schemas.openxmlformats.org/drawingml/2006/main">
            <a:r>
              <a:t>No; en este uso representa que no se completó un pulso válido.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sensor HC-SR04. https://docs.wokwi.com/parts/wokwi-hc-sr04</a:t>
            </a:r>
          </a:p>
          <a:p xmlns:a="http://schemas.openxmlformats.org/drawingml/2006/main">
            <a:r>
              <a:t>Espressif Systems. GPIO y restricciones de ESP32 clásico. https://docs.espressif.com/projects/esp-idf/en/stable/esp32/api-reference/peripherals/gpio.html</a:t>
            </a:r>
          </a:p>
          <a:p xmlns:a="http://schemas.openxmlformats.org/drawingml/2006/main">
            <a:r>
              <a:t>Wokwi. ESP32 Simulation: periféricos y límites. https://docs.wokwi.com/guides/esp32</a:t>
            </a:r>
          </a:p>
          <a:p xmlns:a="http://schemas.openxmlformats.org/drawingml/2006/main">
            <a:r>
              <a:t>Lectura MECRO_ESP32_Clase_07.pdf.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3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Presentar el esquema completo y el intervalo mecánico antes de mover.</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proyecto de radar del laboratorio coordina un servo con un sensor ultrasónico. El nombre sirve para presentar el explorador, pero la medición es acústica. El programa puede ordenar un ángulo y dibujar una línea; eso no demuestra que el mecanismo ya alcanzó esa posición cuando se adquirió el dato. Nuestra primera tarea de integración es reconocer esa diferencia y guardar qué ocurrió en cada etapa.</a:t>
            </a:r>
          </a:p>
          <a:p xmlns:a="http://schemas.openxmlformats.org/drawingml/2006/main">
            <a:r>
              <a:t/>
            </a:r>
          </a:p>
          <a:p xmlns:a="http://schemas.openxmlformats.org/drawingml/2006/main">
            <a:r>
              <a:t>MECRO, proyecto 11.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una carga de sensor, la orientación del soporte forma parte del significado de la medida. Un registro útil puede contener orden, tiempo de orden, tiempo de adquisición, distancia y estado. Si no hay un sensor de posición independiente, se identifica la posición como ordenada o estimada. Esta precisión del lenguaje ayuda a tomar decisiones de montaje sin exigir instrumentación avanzada.</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MECRO, proyecto 11. Esquema original del laboratorio para reconocer la arquitectura en Wokwi. Para montaje físico se aplica la tabla y las correcciones de esta lectura.</a:t>
            </a:r>
          </a:p>
          <a:p xmlns:a="http://schemas.openxmlformats.org/drawingml/2006/main">
            <a:r>
              <a:t>El proyecto de radar del laboratorio coordina un servo con un sensor ultrasónico. El nombre sirve para presentar el explorador, pero la medición es acústica. El programa puede ordenar un ángulo y dibujar una línea; eso no demuestra que el mecanismo ya alcanzó esa posición cuando se adquirió el dato. Nuestra primera tarea de integración es reconocer esa diferencia y guardar qué ocurrió en cada etapa.</a:t>
            </a:r>
          </a:p>
          <a:p xmlns:a="http://schemas.openxmlformats.org/drawingml/2006/main">
            <a:r>
              <a:t/>
            </a:r>
          </a:p>
          <a:p xmlns:a="http://schemas.openxmlformats.org/drawingml/2006/main">
            <a:r>
              <a:t>MECRO, proyecto 11.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una carga de sensor, la orientación del soporte forma parte del significado de la medida. Un registro útil puede contener orden, tiempo de orden, tiempo de adquisición, distancia y estado. Si no hay un sensor de posición independiente, se identifica la posición como ordenada o estimada. Esta precisión del lenguaje ayuda a tomar decisiones de montaje sin exigir instrumentación avanzada.</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proyecto de radar del laboratorio coordina un servo con un sensor ultrasónico. El nombre sirve para presentar el explorador, pero la medición es acústica. El programa puede ordenar un ángulo y dibujar una línea; eso no demuestra que el mecanismo ya alcanzó esa posición cuando se adquirió el dato. Nuestra primera tarea de integración es reconocer esa diferencia y guardar qué ocurrió en cada etapa.</a:t>
            </a:r>
          </a:p>
          <a:p xmlns:a="http://schemas.openxmlformats.org/drawingml/2006/main">
            <a:r>
              <a:t/>
            </a:r>
          </a:p>
          <a:p xmlns:a="http://schemas.openxmlformats.org/drawingml/2006/main">
            <a:r>
              <a:t>MECRO, proyecto 11.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una carga de sensor, la orientación del soporte forma parte del significado de la medida. Un registro útil puede contener orden, tiempo de orden, tiempo de adquisición, distancia y estado. Si no hay un sensor de posición independiente, se identifica la posición como ordenada o estimada. Esta precisión del lenguaje ayuda a tomar decisiones de montaje sin exigir instrumentación avanzada.</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pulso de 1,5 ms es un ejemplo habitual de referencia central; el recorrido efectivo se verifica en el servo y el mecanismo reales.</a:t>
            </a:r>
          </a:p>
          <a:p xmlns:a="http://schemas.openxmlformats.org/drawingml/2006/main">
            <a:r>
              <a:t/>
            </a:r>
          </a:p>
          <a:p xmlns:a="http://schemas.openxmlformats.org/drawingml/2006/main">
            <a:r>
              <a:t>Un servo convencional interpreta el ancho de un pulso repetido según su interfaz. Los límites y el sentido dependen del modelo y del montaje. No se enseña que cualquier servo tenga exactamente 0° a 180° entre 1 y 2 ms. En la práctica se comienza en una posición sin interferencia y con un intervalo permitido por su documentación. El archivo c08_servo usa un margen de ejercicio que el docente debe contrastar con el dispositivo.</a:t>
            </a:r>
          </a:p>
          <a:p xmlns:a="http://schemas.openxmlformats.org/drawingml/2006/main">
            <a:r>
              <a:t/>
            </a:r>
          </a:p>
          <a:p xmlns:a="http://schemas.openxmlformats.org/drawingml/2006/main">
            <a:r>
              <a:t>Dato / Significado / Comprobación</a:t>
            </a:r>
          </a:p>
          <a:p xmlns:a="http://schemas.openxmlformats.org/drawingml/2006/main">
            <a:r>
              <a:t>Pulso / μs / Mando eléctrico / Señal observada</a:t>
            </a:r>
          </a:p>
          <a:p xmlns:a="http://schemas.openxmlformats.org/drawingml/2006/main">
            <a:r>
              <a:t>Ángulo solicitado / Convención del programa / Calibración del montaje</a:t>
            </a:r>
          </a:p>
          <a:p xmlns:a="http://schemas.openxmlformats.org/drawingml/2006/main">
            <a:r>
              <a:t>Posición real / Estado del mecanismo / Observación o sensor</a:t>
            </a:r>
          </a:p>
          <a:p xmlns:a="http://schemas.openxmlformats.org/drawingml/2006/main">
            <a:r>
              <a:t/>
            </a:r>
          </a:p>
          <a:p xmlns:a="http://schemas.openxmlformats.org/drawingml/2006/main">
            <a:r>
              <a:t>La cuenta de duty depende de la resolución configurada. Con 16 bits y periodo de 20000 μs, un pulso de 1500 μs corresponde aproximadamente a 4915 cuentas. No se copia ese código a una configuración de 8 bits. La misma fracción exige otro número porque cambió la representación digital.</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Dato / Significado / Comprobación</a:t>
            </a:r>
          </a:p>
          <a:p xmlns:a="http://schemas.openxmlformats.org/drawingml/2006/main">
            <a:r>
              <a:t>Pulso / μs / Mando eléctrico / Señal observada</a:t>
            </a:r>
          </a:p>
          <a:p xmlns:a="http://schemas.openxmlformats.org/drawingml/2006/main">
            <a:r>
              <a:t>Ángulo solicitado / Convención del programa / Calibración del montaje</a:t>
            </a:r>
          </a:p>
          <a:p xmlns:a="http://schemas.openxmlformats.org/drawingml/2006/main">
            <a:r>
              <a:t>Posición real / Estado del mecanismo / Observación o sensor</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pulso de 1,5 ms es un ejemplo habitual de referencia central; el recorrido efectivo se verifica en el servo y el mecanismo reales.</a:t>
            </a:r>
          </a:p>
          <a:p xmlns:a="http://schemas.openxmlformats.org/drawingml/2006/main">
            <a:r>
              <a:t/>
            </a:r>
          </a:p>
          <a:p xmlns:a="http://schemas.openxmlformats.org/drawingml/2006/main">
            <a:r>
              <a:t>Un servo convencional interpreta el ancho de un pulso repetido según su interfaz. Los límites y el sentido dependen del modelo y del montaje. No se enseña que cualquier servo tenga exactamente 0° a 180° entre 1 y 2 ms. En la práctica se comienza en una posición sin interferencia y con un intervalo permitido por su documentación. El archivo c08_servo usa un margen de ejercicio que el docente debe contrastar con el dispositivo.</a:t>
            </a:r>
          </a:p>
          <a:p xmlns:a="http://schemas.openxmlformats.org/drawingml/2006/main">
            <a:r>
              <a:t/>
            </a:r>
          </a:p>
          <a:p xmlns:a="http://schemas.openxmlformats.org/drawingml/2006/main">
            <a:r>
              <a:t>Dato / Significado / Comprobación</a:t>
            </a:r>
          </a:p>
          <a:p xmlns:a="http://schemas.openxmlformats.org/drawingml/2006/main">
            <a:r>
              <a:t>Pulso / μs / Mando eléctrico / Señal observada</a:t>
            </a:r>
          </a:p>
          <a:p xmlns:a="http://schemas.openxmlformats.org/drawingml/2006/main">
            <a:r>
              <a:t>Ángulo solicitado / Convención del programa / Calibración del montaje</a:t>
            </a:r>
          </a:p>
          <a:p xmlns:a="http://schemas.openxmlformats.org/drawingml/2006/main">
            <a:r>
              <a:t>Posición real / Estado del mecanismo / Observación o sensor</a:t>
            </a:r>
          </a:p>
          <a:p xmlns:a="http://schemas.openxmlformats.org/drawingml/2006/main">
            <a:r>
              <a:t/>
            </a:r>
          </a:p>
          <a:p xmlns:a="http://schemas.openxmlformats.org/drawingml/2006/main">
            <a:r>
              <a:t>La cuenta de duty depende de la resolución configurada. Con 16 bits y periodo de 20000 μs, un pulso de 1500 μs corresponde aproximadamente a 4915 cuentas. No se copia ese código a una configuración de 8 bits. La misma fracción exige otro número porque cambió la representación digital.</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 servo necesita energía para su motor interno y puede demandar corriente variable al arrancar o sostener carga. La señal del GPIO no aporta esa potencia. En el banco se prepara una fuente adecuada para el actuador y una referencia de señal compatible. El positivo de esa fuente no se une arbitrariamente con otras alimentaciones de la placa. El docente presenta el circuito completo antes de realizar movimientos.</a:t>
            </a:r>
          </a:p>
          <a:p xmlns:a="http://schemas.openxmlformats.org/drawingml/2006/main">
            <a:r>
              <a:t/>
            </a:r>
          </a:p>
          <a:p xmlns:a="http://schemas.openxmlformats.org/drawingml/2006/main">
            <a:r>
              <a:t>Elemento / Trabajo / Qué se comprueba</a:t>
            </a:r>
          </a:p>
          <a:p xmlns:a="http://schemas.openxmlformats.org/drawingml/2006/main">
            <a:r>
              <a:t>GPIO13 / Orden al servo / Nivel y pulso</a:t>
            </a:r>
          </a:p>
          <a:p xmlns:a="http://schemas.openxmlformats.org/drawingml/2006/main">
            <a:r>
              <a:t>Fuente del servo / Energía del actuador / Tensión y capacidad</a:t>
            </a:r>
          </a:p>
          <a:p xmlns:a="http://schemas.openxmlformats.org/drawingml/2006/main">
            <a:r>
              <a:t>GND de referencia / Interpretación de señal / Conexión definida</a:t>
            </a:r>
          </a:p>
          <a:p xmlns:a="http://schemas.openxmlformats.org/drawingml/2006/main">
            <a:r>
              <a:t>Soporte mecánico / Movimiento permitido / Sin interferencias</a:t>
            </a:r>
          </a:p>
          <a:p xmlns:a="http://schemas.openxmlformats.org/drawingml/2006/main">
            <a:r>
              <a:t/>
            </a:r>
          </a:p>
          <a:p xmlns:a="http://schemas.openxmlformats.org/drawingml/2006/main">
            <a:r>
              <a:t>El programa funciona quieto y la placa se reinicia cuando se mueve el servo. ¿Qué revisas antes de cambiar el algoritmo?</a:t>
            </a:r>
          </a:p>
          <a:p xmlns:a="http://schemas.openxmlformats.org/drawingml/2006/main">
            <a:r>
              <a:t>La alimentación, la demanda del actuador, las conexiones y la referencia del montaje. El síntoma puede pertenecer al suministro de energía; no se resuelve suponiendo que todo es un error de programación.</a:t>
            </a:r>
          </a:p>
          <a:p xmlns:a="http://schemas.openxmlformats.org/drawingml/2006/main">
            <a:r>
              <a:t/>
            </a:r>
          </a:p>
          <a:p xmlns:a="http://schemas.openxmlformats.org/drawingml/2006/main">
            <a:r>
              <a:t>Cada equipo identifica el recorrido que puede observar y los puntos donde el soporte podría interferir. No se fuerza un extremo para “calibrar” una pieza. El propósito es producir órdenes repetibles dentro de un intervalo comprobado y conservar la condición de alimentación del ensayo.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Elemento / Trabajo / Qué se comprueba</a:t>
            </a:r>
          </a:p>
          <a:p xmlns:a="http://schemas.openxmlformats.org/drawingml/2006/main">
            <a:r>
              <a:t>GPIO13 / Orden al servo / Nivel y pulso</a:t>
            </a:r>
          </a:p>
          <a:p xmlns:a="http://schemas.openxmlformats.org/drawingml/2006/main">
            <a:r>
              <a:t>Fuente del servo / Energía del actuador / Tensión y capacidad</a:t>
            </a:r>
          </a:p>
          <a:p xmlns:a="http://schemas.openxmlformats.org/drawingml/2006/main">
            <a:r>
              <a:t>GND de referencia / Interpretación de señal / Conexión definida</a:t>
            </a:r>
          </a:p>
          <a:p xmlns:a="http://schemas.openxmlformats.org/drawingml/2006/main">
            <a:r>
              <a:t>Soporte mecánico / Movimiento permitido / Sin interferencias</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El programa funciona quieto y la placa se reinicia cuando se mueve el servo. ¿Qué revisas antes de cambiar el algoritmo?</a:t>
            </a:r>
          </a:p>
          <a:p xmlns:a="http://schemas.openxmlformats.org/drawingml/2006/main">
            <a:r>
              <a:t>La alimentación, la demanda del actuador, las conexiones y la referencia del montaje. El síntoma puede pertenecer al suministro de energía; no se resuelve suponiendo que todo es un error de programación.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 Estado 1: ordenar una posicion permitida</a:t>
            </a:r>
          </a:p>
          <a:p xmlns:a="http://schemas.openxmlformats.org/drawingml/2006/main">
            <a:r>
              <a:t>commandServo(target);</a:t>
            </a:r>
          </a:p>
          <a:p xmlns:a="http://schemas.openxmlformats.org/drawingml/2006/main">
            <a:r>
              <a:t>// Estado 2: esperar la condicion de adquisicion</a:t>
            </a:r>
          </a:p>
          <a:p xmlns:a="http://schemas.openxmlformats.org/drawingml/2006/main">
            <a:r>
              <a:t>// Estado 3: adquirir y guardar el par coherente</a:t>
            </a:r>
          </a:p>
          <a:p xmlns:a="http://schemas.openxmlformats.org/drawingml/2006/main">
            <a:r>
              <a:t>record(target, sampleTime, distance, valid);</a:t>
            </a:r>
          </a:p>
          <a:p xmlns:a="http://schemas.openxmlformats.org/drawingml/2006/main">
            <a:r>
              <a:t/>
            </a:r>
          </a:p>
          <a:p xmlns:a="http://schemas.openxmlformats.org/drawingml/2006/main">
            <a:r>
              <a:t>El fragmento describe una secuencia; las funciones representan tareas que el equipo debe relacionar con su proyecto. No se presenta como un firmware completo listo para compilar. Primero se prueba el servo con c08_servo y el sensor con c07_distancia. Después se integra un pequeño conjunto de posiciones. La condición para adquirir se define según el montaje y la evidencia disponible.</a:t>
            </a:r>
          </a:p>
          <a:p xmlns:a="http://schemas.openxmlformats.org/drawingml/2006/main">
            <a:r>
              <a:t/>
            </a:r>
          </a:p>
          <a:p xmlns:a="http://schemas.openxmlformats.org/drawingml/2006/main">
            <a:r>
              <a:t>La práctica del brazo robótico sirve como variante de mando y filtrado del potenciómetro. Su señal se puede reutilizar para una base de cámara, pero no basta cambiar el dibujo del proyecto para conocer la orientación de una carga. El equipo explica qué variable mide realmente y qué movimiento solo ordena. Esta distinción se conservará cuando aparezcan motores con encoder.</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 Estado 1: ordenar una posicion permitida</a:t>
            </a:r>
          </a:p>
          <a:p xmlns:a="http://schemas.openxmlformats.org/drawingml/2006/main">
            <a:r>
              <a:t>commandServo(target);</a:t>
            </a:r>
          </a:p>
          <a:p xmlns:a="http://schemas.openxmlformats.org/drawingml/2006/main">
            <a:r>
              <a:t>// Estado 2: esperar la condicion de adquisicion</a:t>
            </a:r>
          </a:p>
          <a:p xmlns:a="http://schemas.openxmlformats.org/drawingml/2006/main">
            <a:r>
              <a:t>// Estado 3: adquirir y guardar el par coherente</a:t>
            </a:r>
          </a:p>
          <a:p xmlns:a="http://schemas.openxmlformats.org/drawingml/2006/main">
            <a:r>
              <a:t>record(target, sampleTime, distance, valid);</a:t>
            </a:r>
          </a:p>
          <a:p xmlns:a="http://schemas.openxmlformats.org/drawingml/2006/main">
            <a:r>
              <a:t>Explicar entrada, estado, salida y momento de actualización.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 Estado 1: ordenar una posicion permitida</a:t>
            </a:r>
          </a:p>
          <a:p xmlns:a="http://schemas.openxmlformats.org/drawingml/2006/main">
            <a:r>
              <a:t>commandServo(target);</a:t>
            </a:r>
          </a:p>
          <a:p xmlns:a="http://schemas.openxmlformats.org/drawingml/2006/main">
            <a:r>
              <a:t>// Estado 2: esperar la condicion de adquisicion</a:t>
            </a:r>
          </a:p>
          <a:p xmlns:a="http://schemas.openxmlformats.org/drawingml/2006/main">
            <a:r>
              <a:t>// Estado 3: adquirir y guardar el par coherente</a:t>
            </a:r>
          </a:p>
          <a:p xmlns:a="http://schemas.openxmlformats.org/drawingml/2006/main">
            <a:r>
              <a:t>record(target, sampleTime, distance, valid);</a:t>
            </a:r>
          </a:p>
          <a:p xmlns:a="http://schemas.openxmlformats.org/drawingml/2006/main">
            <a:r>
              <a:t/>
            </a:r>
          </a:p>
          <a:p xmlns:a="http://schemas.openxmlformats.org/drawingml/2006/main">
            <a:r>
              <a:t>El fragmento describe una secuencia; las funciones representan tareas que el equipo debe relacionar con su proyecto. No se presenta como un firmware completo listo para compilar. Primero se prueba el servo con c08_servo y el sensor con c07_distancia. Después se integra un pequeño conjunto de posiciones. La condición para adquirir se define según el montaje y la evidencia disponible.</a:t>
            </a:r>
          </a:p>
          <a:p xmlns:a="http://schemas.openxmlformats.org/drawingml/2006/main">
            <a:r>
              <a:t/>
            </a:r>
          </a:p>
          <a:p xmlns:a="http://schemas.openxmlformats.org/drawingml/2006/main">
            <a:r>
              <a:t>La práctica del brazo robótico sirve como variante de mando y filtrado del potenciómetro. Su señal se puede reutilizar para una base de cámara, pero no basta cambiar el dibujo del proyecto para conocer la orientación de una carga. El equipo explica qué variable mide realmente y qué movimiento solo ordena. Esta distinción se conservará cuando aparezcan motores con encoder.</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Trabajo / Producto</a:t>
            </a:r>
          </a:p>
          <a:p xmlns:a="http://schemas.openxmlformats.org/drawingml/2006/main">
            <a:r>
              <a:t>0–25 / Revisión de esquemas / Mapa del equipo</a:t>
            </a:r>
          </a:p>
          <a:p xmlns:a="http://schemas.openxmlformats.org/drawingml/2006/main">
            <a:r>
              <a:t>25–70 / Servo y señales / Intervalo comprobado</a:t>
            </a:r>
          </a:p>
          <a:p xmlns:a="http://schemas.openxmlformats.org/drawingml/2006/main">
            <a:r>
              <a:t>70–120 / Ultrasonido y nivel / Referencia de distancia</a:t>
            </a:r>
          </a:p>
          <a:p xmlns:a="http://schemas.openxmlformats.org/drawingml/2006/main">
            <a:r>
              <a:t>120–175 / Integración por estados / Registro coherente</a:t>
            </a:r>
          </a:p>
          <a:p xmlns:a="http://schemas.openxmlformats.org/drawingml/2006/main">
            <a:r>
              <a:t>175–215 / Pruebas y diagnóstico / Fallo explicado</a:t>
            </a:r>
          </a:p>
          <a:p xmlns:a="http://schemas.openxmlformats.org/drawingml/2006/main">
            <a:r>
              <a:t>215–240 / Demostración y cierre / Entrega del equipo</a:t>
            </a:r>
          </a:p>
          <a:p xmlns:a="http://schemas.openxmlformats.org/drawingml/2006/main">
            <a:r>
              <a:t/>
            </a:r>
          </a:p>
          <a:p xmlns:a="http://schemas.openxmlformats.org/drawingml/2006/main">
            <a:r>
              <a:t>Comprueba por separado cada subsistema antes de integrar.</a:t>
            </a:r>
          </a:p>
          <a:p xmlns:a="http://schemas.openxmlformats.org/drawingml/2006/main">
            <a:r>
              <a:t>Ordena tres posiciones permitidas y registra qué has observado.</a:t>
            </a:r>
          </a:p>
          <a:p xmlns:a="http://schemas.openxmlformats.org/drawingml/2006/main">
            <a:r>
              <a:t>Relaciona cada distancia con la orden y el instante que le corresponden.</a:t>
            </a:r>
          </a:p>
          <a:p xmlns:a="http://schemas.openxmlformats.org/drawingml/2006/main">
            <a:r>
              <a:t>Trata un caso sin eco y conserva el estado en lugar de inventar distancia.</a:t>
            </a:r>
          </a:p>
          <a:p xmlns:a="http://schemas.openxmlformats.org/drawingml/2006/main">
            <a:r>
              <a:t>Intercambia roles de cableado, programación, medida y registro.</a:t>
            </a:r>
          </a:p>
          <a:p xmlns:a="http://schemas.openxmlformats.org/drawingml/2006/main">
            <a:r>
              <a:t>Entrega una conclusión sobre alimentación y otra sobre sincronización.</a:t>
            </a:r>
          </a:p>
          <a:p xmlns:a="http://schemas.openxmlformats.org/drawingml/2006/main">
            <a:r>
              <a:t/>
            </a:r>
          </a:p>
          <a:p xmlns:a="http://schemas.openxmlformats.org/drawingml/2006/main">
            <a:r>
              <a:t>Los alumnos con kit trabajan con su material confirmado. Los demás usan el simulador y los bancos compartidos programados para el taller. En el registro se identifica qué comprobación se realizó físicamente y cuál pertenece a una ejecución de simulación. El resultado común del curso es la explicación del sistema y de su evidencia, con el modo de trabajo documentado.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Minutos / Trabajo / Producto</a:t>
            </a:r>
          </a:p>
          <a:p xmlns:a="http://schemas.openxmlformats.org/drawingml/2006/main">
            <a:r>
              <a:t>0–25 / Revisión de esquemas / Mapa del equipo</a:t>
            </a:r>
          </a:p>
          <a:p xmlns:a="http://schemas.openxmlformats.org/drawingml/2006/main">
            <a:r>
              <a:t>25–70 / Servo y señales / Intervalo comprobado</a:t>
            </a:r>
          </a:p>
          <a:p xmlns:a="http://schemas.openxmlformats.org/drawingml/2006/main">
            <a:r>
              <a:t>70–120 / Ultrasonido y nivel / Referencia de distancia</a:t>
            </a:r>
          </a:p>
          <a:p xmlns:a="http://schemas.openxmlformats.org/drawingml/2006/main">
            <a:r>
              <a:t>120–175 / Integración por estados / Registro coherente</a:t>
            </a:r>
          </a:p>
          <a:p xmlns:a="http://schemas.openxmlformats.org/drawingml/2006/main">
            <a:r>
              <a:t>175–215 / Pruebas y diagnóstico / Fallo explicado</a:t>
            </a:r>
          </a:p>
          <a:p xmlns:a="http://schemas.openxmlformats.org/drawingml/2006/main">
            <a:r>
              <a:t>215–240 / Demostración y cierre / Entrega del equipo</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Comprueba por separado cada subsistema antes de integrar.</a:t>
            </a:r>
          </a:p>
          <a:p xmlns:a="http://schemas.openxmlformats.org/drawingml/2006/main">
            <a:r>
              <a:t>Ordena tres posiciones permitidas y registra qué has observado.</a:t>
            </a:r>
          </a:p>
          <a:p xmlns:a="http://schemas.openxmlformats.org/drawingml/2006/main">
            <a:r>
              <a:t>Relaciona cada distancia con la orden y el instante que le corresponden.</a:t>
            </a:r>
          </a:p>
          <a:p xmlns:a="http://schemas.openxmlformats.org/drawingml/2006/main">
            <a:r>
              <a:t>Trata un caso sin eco y conserva el estado en lugar de inventar distancia.</a:t>
            </a:r>
          </a:p>
          <a:p xmlns:a="http://schemas.openxmlformats.org/drawingml/2006/main">
            <a:r>
              <a:t>Intercambia roles de cableado, programación, medida y registro.</a:t>
            </a:r>
          </a:p>
          <a:p xmlns:a="http://schemas.openxmlformats.org/drawingml/2006/main">
            <a:r>
              <a:t>Entrega una conclusión sobre alimentación y otra sobre sincronización.</a:t>
            </a:r>
          </a:p>
          <a:p xmlns:a="http://schemas.openxmlformats.org/drawingml/2006/main">
            <a:r>
              <a:t>Verificar un paso antes de seguir.</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entrega debe permitir que otra persona reconstruya el ensayo: esquema vigente, configuración de señal, intervalo permitido, código identificado y una tabla de posiciones y lecturas. Una animación atractiva no sustituye ese registro. Tampoco se exige una exploración de muchos puntos antes de resolver tres casos coherentes. La calidad se reconoce en que el equipo puede explicar de dónde salió cada dato y qué falta comprobar.</a:t>
            </a:r>
          </a:p>
          <a:p xmlns:a="http://schemas.openxmlformats.org/drawingml/2006/main">
            <a:r>
              <a:t/>
            </a:r>
          </a:p>
          <a:p xmlns:a="http://schemas.openxmlformats.org/drawingml/2006/main">
            <a:r>
              <a:t>Dos equipos dibujan el mismo barrido. Uno guarda solo distancias y el otro guarda orden, instante y estado. ¿Cuál permite investigar una lectura fuera de secuencia?</a:t>
            </a:r>
          </a:p>
          <a:p xmlns:a="http://schemas.openxmlformats.org/drawingml/2006/main">
            <a:r>
              <a:t>El segundo conserva las referencias necesarias. La figura por sí sola no permite saber cuándo se adquirió cada dato.</a:t>
            </a:r>
          </a:p>
          <a:p xmlns:a="http://schemas.openxmlformats.org/drawingml/2006/main">
            <a:r>
              <a:t/>
            </a:r>
          </a:p>
          <a:p xmlns:a="http://schemas.openxmlformats.org/drawingml/2006/main">
            <a:r>
              <a:t>Para investigar, compara el servo con el stepper del proyecto 13: señal de mando, energía, estado que se conoce y mecanismo de transmisión. Deja el stepper como ampliación hasta disponer de motor y driver coherentes. La siguiente parte del curso profundiza en potencia, medición de movimiento y realimentación, usando un banco DC de baja tensión.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4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La entrega debe permitir que otra persona reconstruya el ensayo: esquema vigente, configuración de señal, intervalo permitido, código identificado y una tabla de posiciones y lecturas. Una animación atractiva no sustituye ese registro. Tampoco se exige una exploración de muchos puntos antes de resolver tres casos coherentes. La calidad se reconoce en que el equipo puede explicar de dónde salió cada dato y qué falta comprobar.</a:t>
            </a:r>
          </a:p>
          <a:p xmlns:a="http://schemas.openxmlformats.org/drawingml/2006/main">
            <a:r>
              <a:t/>
            </a:r>
          </a:p>
          <a:p xmlns:a="http://schemas.openxmlformats.org/drawingml/2006/main">
            <a:r>
              <a:t>Dos equipos dibujan el mismo barrido. Uno guarda solo distancias y el otro guarda orden, instante y estado. ¿Cuál permite investigar una lectura fuera de secuencia?</a:t>
            </a:r>
          </a:p>
          <a:p xmlns:a="http://schemas.openxmlformats.org/drawingml/2006/main">
            <a:r>
              <a:t>El segundo conserva las referencias necesarias. La figura por sí sola no permite saber cuándo se adquirió cada dato.</a:t>
            </a:r>
          </a:p>
          <a:p xmlns:a="http://schemas.openxmlformats.org/drawingml/2006/main">
            <a:r>
              <a:t/>
            </a:r>
          </a:p>
          <a:p xmlns:a="http://schemas.openxmlformats.org/drawingml/2006/main">
            <a:r>
              <a:t>Para investigar, compara el servo con el stepper del proyecto 13: señal de mando, energía, estado que se conoce y mecanismo de transmisión. Deja el stepper como ampliación hasta disponer de motor y driver coherentes. La siguiente parte del curso profundiza en potencia, medición de movimiento y realimentación, usando un banco DC de baja tensión.</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Primero tapar la solución o pedir respuesta individual.</a:t>
            </a:r>
          </a:p>
          <a:p xmlns:a="http://schemas.openxmlformats.org/drawingml/2006/main">
            <a:r>
              <a:t>Dos equipos dibujan el mismo barrido. Uno guarda solo distancias y el otro guarda orden, instante y estado. ¿Cuál permite investigar una lectura fuera de secuencia?</a:t>
            </a:r>
          </a:p>
          <a:p xmlns:a="http://schemas.openxmlformats.org/drawingml/2006/main">
            <a:r>
              <a:t>El segundo conserva las referencias necesarias. La figura por sí sola no permite saber cuándo se adquirió cada dato.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12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Presentar el esquema completo y el intervalo mecánico antes de mover.</a:t>
            </a:r>
          </a:p>
          <a:p xmlns:a="http://schemas.openxmlformats.org/drawingml/2006/main">
            <a:r>
              <a:t>Verificar servo y sensor de manera independiente.</a:t>
            </a:r>
          </a:p>
          <a:p xmlns:a="http://schemas.openxmlformats.org/drawingml/2006/main">
            <a:r>
              <a:t>Integrar tres posiciones con tiempo y validez en el registro.</a:t>
            </a:r>
          </a:p>
          <a:p xmlns:a="http://schemas.openxmlformats.org/drawingml/2006/main">
            <a:r>
              <a:t>Demostrar un fallo y explicar la evidencia de cada equipo.</a:t>
            </a:r>
          </a:p>
          <a:p xmlns:a="http://schemas.openxmlformats.org/drawingml/2006/main">
            <a:r>
              <a:t>Rotar código, medida y registro.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10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Una base de sensor o cámara necesita relacionar posición ordenada, tiempo de movimiento y dato adquirido.</a:t>
            </a:r>
          </a:p>
          <a:p xmlns:a="http://schemas.openxmlformats.org/drawingml/2006/main">
            <a:r>
              <a:t>Esquema revisado, tres registros coherentes y diagnóstico de una condición de fallo.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7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Taller 1: servomotor y explorador ultrasónico.</a:t>
            </a:r>
          </a:p>
          <a:p xmlns:a="http://schemas.openxmlformats.org/drawingml/2006/main">
            <a:r>
              <a:t>Presencial, 4 horas. Núcleo de explicación: 5 minutos en esta diapositiva.</a:t>
            </a:r>
          </a:p>
          <a:p xmlns:a="http://schemas.openxmlformats.org/drawingml/2006/main">
            <a:r>
              <a:t>Aplicar la agenda de cuatro horas de la lectura: el núcleo de presentación se combina con trabajo de banco y rotaciones.</a:t>
            </a:r>
          </a:p>
          <a:p xmlns:a="http://schemas.openxmlformats.org/drawingml/2006/main">
            <a:r>
              <a:t/>
            </a:r>
          </a:p>
          <a:p xmlns:a="http://schemas.openxmlformats.org/drawingml/2006/main">
            <a:r>
              <a:t>Esquema revisado, tres registros coherentes y diagnóstico de una condición de fallo.</a:t>
            </a:r>
          </a:p>
          <a:p xmlns:a="http://schemas.openxmlformats.org/drawingml/2006/main">
            <a:r>
              <a:t/>
            </a:r>
          </a:p>
          <a:p xmlns:a="http://schemas.openxmlformats.org/drawingml/2006/main">
            <a:r>
              <a:t>Objetivo: Coordinar una orden de posición con una lectura de distancia y conservar un registro coherente.</a:t>
            </a:r>
          </a:p>
          <a:p xmlns:a="http://schemas.openxmlformats.org/drawingml/2006/main">
            <a:r>
              <a:t>Aplicación: Una base de sensor o cámara necesita relacionar posición ordenada, tiempo de movimiento y dato adquirido.</a:t>
            </a:r>
          </a:p>
          <a:p xmlns:a="http://schemas.openxmlformats.org/drawingml/2006/main">
            <a:r>
              <a:t>Entrega: Esquema revisado, tres registros coherentes y diagnóstico de una condición de fallo.</a:t>
            </a:r>
          </a:p>
          <a:p xmlns:a="http://schemas.openxmlformats.org/drawingml/2006/main">
            <a:r>
              <a:t/>
            </a:r>
          </a:p>
          <a:p xmlns:a="http://schemas.openxmlformats.org/drawingml/2006/main">
            <a:r>
              <a:t>Preguntas y respuestas</a:t>
            </a:r>
          </a:p>
          <a:p xmlns:a="http://schemas.openxmlformats.org/drawingml/2006/main">
            <a:r>
              <a:t>¿Ordenar 90° demuestra que el mecanismo llegó?</a:t>
            </a:r>
          </a:p>
          <a:p xmlns:a="http://schemas.openxmlformats.org/drawingml/2006/main">
            <a:r>
              <a:t>No. Se distingue la orden de una posición observada o medida.</a:t>
            </a:r>
          </a:p>
          <a:p xmlns:a="http://schemas.openxmlformats.org/drawingml/2006/main">
            <a:r>
              <a:t/>
            </a:r>
          </a:p>
          <a:p xmlns:a="http://schemas.openxmlformats.org/drawingml/2006/main">
            <a:r>
              <a:t>¿Por qué no usar el GPIO como alimentación?</a:t>
            </a:r>
          </a:p>
          <a:p xmlns:a="http://schemas.openxmlformats.org/drawingml/2006/main">
            <a:r>
              <a:t>El GPIO comunica la señal; la energía del actuador exige una etapa de alimentación adecuada.</a:t>
            </a:r>
          </a:p>
          <a:p xmlns:a="http://schemas.openxmlformats.org/drawingml/2006/main">
            <a:r>
              <a:t/>
            </a:r>
          </a:p>
          <a:p xmlns:a="http://schemas.openxmlformats.org/drawingml/2006/main">
            <a:r>
              <a:t>¿Qué debe acompañar una distancia del barrido?</a:t>
            </a:r>
          </a:p>
          <a:p xmlns:a="http://schemas.openxmlformats.org/drawingml/2006/main">
            <a:r>
              <a:t>La orden o posición de referencia, el instante y el estado de validez.</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Wokwi. Referencia del servomotor. https://docs.wokwi.com/parts/wokwi-servo</a:t>
            </a:r>
          </a:p>
          <a:p xmlns:a="http://schemas.openxmlformats.org/drawingml/2006/main">
            <a:r>
              <a:t>Wokwi. Referencia del sensor HC-SR04. https://docs.wokwi.com/parts/wokwi-hc-sr04</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Arduino-ESP32: LEDC. https://docs.espressif.com/projects/arduino-esp32/en/latest/api/ledc.html</a:t>
            </a:r>
          </a:p>
          <a:p xmlns:a="http://schemas.openxmlformats.org/drawingml/2006/main">
            <a:r>
              <a:t>Lectura MECRO_ESP32_Clase_08.pdf.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974559520d4f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21bea73a794e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72b5ac6a2b4e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710638c49345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e074c6106043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7c6395aea843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CDC2F3-2388-4FD9-B9B3-8BBAE410FAD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A8E7CE-A9F9-4790-9E3F-3E6C36AFC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CD58D5-AAFE-4373-911F-BF3477893E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632D49-C625-4547-996F-4BEF3ACE99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E932C9-1D98-4366-8BF3-8141911774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9A943B-BE3A-4C95-BB26-9911658DD3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84CD9D-D04A-443F-B2CE-286CDEFCBB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2AD921-8AEE-42FD-A077-D7E2CB2061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82D136-EA6C-4789-9B7D-6563F6682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0816A-B254-49CD-B2E9-AD373BC704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059926dd8c4dca" /><Relationship Type="http://schemas.openxmlformats.org/officeDocument/2006/relationships/slideLayout" Target="/ppt/slideLayouts/slideLayout1.xml" Id="R0f13f61931f84730" /><Relationship Type="http://schemas.openxmlformats.org/officeDocument/2006/relationships/slideLayout" Target="/ppt/slideLayouts/slideLayout2.xml" Id="R1dfddeffbf2b4aa7" /><Relationship Type="http://schemas.openxmlformats.org/officeDocument/2006/relationships/slideLayout" Target="/ppt/slideLayouts/slideLayout3.xml" Id="Rff5c1655f451493d" /><Relationship Type="http://schemas.openxmlformats.org/officeDocument/2006/relationships/slideLayout" Target="/ppt/slideLayouts/slideLayout4.xml" Id="R63e2c2a4c09341ae" /><Relationship Type="http://schemas.openxmlformats.org/officeDocument/2006/relationships/slideLayout" Target="/ppt/slideLayouts/slideLayout5.xml" Id="Rb209099ddd924ae0" /><Relationship Type="http://schemas.openxmlformats.org/officeDocument/2006/relationships/slideLayout" Target="/ppt/slideLayouts/slideLayout6.xml" Id="Rda758105117647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3f61931f84730"/>
    <p:sldLayoutId xmlns:r="http://schemas.openxmlformats.org/officeDocument/2006/relationships" id="2147483650" r:id="R1dfddeffbf2b4aa7"/>
    <p:sldLayoutId xmlns:r="http://schemas.openxmlformats.org/officeDocument/2006/relationships" id="2147483651" r:id="Rff5c1655f451493d"/>
    <p:sldLayoutId xmlns:r="http://schemas.openxmlformats.org/officeDocument/2006/relationships" id="2147483652" r:id="R63e2c2a4c09341ae"/>
    <p:sldLayoutId xmlns:r="http://schemas.openxmlformats.org/officeDocument/2006/relationships" id="2147483653" r:id="Rb209099ddd924ae0"/>
    <p:sldLayoutId xmlns:r="http://schemas.openxmlformats.org/officeDocument/2006/relationships" id="2147483654" r:id="Rda758105117647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9e519a8a0a429b" /><Relationship Type="http://schemas.openxmlformats.org/officeDocument/2006/relationships/image" Target="/ppt/media/image.png" Id="R3cb346ae7d854dfd" /><Relationship Type="http://schemas.openxmlformats.org/officeDocument/2006/relationships/notesSlide" Target="/ppt/notesSlides/notesSlide1.xml" Id="Rf5ad14c5f1cc46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470909e6f8479f" /><Relationship Type="http://schemas.openxmlformats.org/officeDocument/2006/relationships/image" Target="/ppt/media/image2.png" Id="R758f7a97a22d4c7f" /><Relationship Type="http://schemas.openxmlformats.org/officeDocument/2006/relationships/notesSlide" Target="/ppt/notesSlides/notesSlide2.xml" Id="R90f3df17a65a41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b4db19d0ee4860" /><Relationship Type="http://schemas.openxmlformats.org/officeDocument/2006/relationships/image" Target="/ppt/media/image3.png" Id="R92212c16d3c2494e" /><Relationship Type="http://schemas.openxmlformats.org/officeDocument/2006/relationships/image" Target="/ppt/media/image4.png" Id="Rd1838a3a9f1f471d" /><Relationship Type="http://schemas.openxmlformats.org/officeDocument/2006/relationships/notesSlide" Target="/ppt/notesSlides/notesSlide3.xml" Id="Ra8f83815f62d47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034c84467b43b0" /><Relationship Type="http://schemas.openxmlformats.org/officeDocument/2006/relationships/image" Target="/ppt/media/image5.png" Id="R1598865919724e38" /><Relationship Type="http://schemas.openxmlformats.org/officeDocument/2006/relationships/notesSlide" Target="/ppt/notesSlides/notesSlide4.xml" Id="Rf62c26fe73334f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042446c77a4cdf" /><Relationship Type="http://schemas.openxmlformats.org/officeDocument/2006/relationships/image" Target="/ppt/media/image6.png" Id="R8c87f7ad57e14dc6" /><Relationship Type="http://schemas.openxmlformats.org/officeDocument/2006/relationships/notesSlide" Target="/ppt/notesSlides/notesSlide5.xml" Id="R30a8a739a04e43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c2d1f4698a427b" /><Relationship Type="http://schemas.openxmlformats.org/officeDocument/2006/relationships/image" Target="/ppt/media/image7.png" Id="Rdd7abd5b056f4769" /><Relationship Type="http://schemas.openxmlformats.org/officeDocument/2006/relationships/notesSlide" Target="/ppt/notesSlides/notesSlide6.xml" Id="R8777f26e5d14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67c197bfea4eba" /><Relationship Type="http://schemas.openxmlformats.org/officeDocument/2006/relationships/image" Target="/ppt/media/image8.png" Id="Rb96e8652a0204151" /><Relationship Type="http://schemas.openxmlformats.org/officeDocument/2006/relationships/image" Target="/ppt/media/image9.png" Id="Rf4c64feafd104ed0" /><Relationship Type="http://schemas.openxmlformats.org/officeDocument/2006/relationships/notesSlide" Target="/ppt/notesSlides/notesSlide7.xml" Id="R55e646d328db46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f4b5844099478d" /><Relationship Type="http://schemas.openxmlformats.org/officeDocument/2006/relationships/image" Target="/ppt/media/image10.png" Id="Ra253c1db23b542ff" /><Relationship Type="http://schemas.openxmlformats.org/officeDocument/2006/relationships/notesSlide" Target="/ppt/notesSlides/notesSlide8.xml" Id="R8bcf452e8b324d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e16ef92c2e4151" /><Relationship Type="http://schemas.openxmlformats.org/officeDocument/2006/relationships/image" Target="/ppt/media/image11.png" Id="R085de2eccb2347c8" /><Relationship Type="http://schemas.openxmlformats.org/officeDocument/2006/relationships/notesSlide" Target="/ppt/notesSlides/notesSlide9.xml" Id="Rf9c895cd82c545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1df472b07c4b45" /><Relationship Type="http://schemas.openxmlformats.org/officeDocument/2006/relationships/image" Target="/ppt/media/image12.png" Id="R64dc12104f6c40a5" /><Relationship Type="http://schemas.openxmlformats.org/officeDocument/2006/relationships/image" Target="/ppt/media/image13.png" Id="R6e402f28144048d5" /><Relationship Type="http://schemas.openxmlformats.org/officeDocument/2006/relationships/notesSlide" Target="/ppt/notesSlides/notesSlide10.xml" Id="R23bb2164555849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ab4005c72c4292" /><Relationship Type="http://schemas.openxmlformats.org/officeDocument/2006/relationships/image" Target="/ppt/media/image14.png" Id="R1af3d4b8f7e14700" /><Relationship Type="http://schemas.openxmlformats.org/officeDocument/2006/relationships/notesSlide" Target="/ppt/notesSlides/notesSlide11.xml" Id="R43813b15c6c14b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7086db78e24d3e" /><Relationship Type="http://schemas.openxmlformats.org/officeDocument/2006/relationships/image" Target="/ppt/media/image15.png" Id="R6b08e6d9ce9c4142" /><Relationship Type="http://schemas.openxmlformats.org/officeDocument/2006/relationships/notesSlide" Target="/ppt/notesSlides/notesSlide12.xml" Id="R7878fe9a907340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a8d4eee96b4a4a" /><Relationship Type="http://schemas.openxmlformats.org/officeDocument/2006/relationships/image" Target="/ppt/media/image16.png" Id="Rda0790b3d4184cc7" /><Relationship Type="http://schemas.openxmlformats.org/officeDocument/2006/relationships/notesSlide" Target="/ppt/notesSlides/notesSlide13.xml" Id="R3828266ad0ca43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8dc28fb28a5450d" /><Relationship Type="http://schemas.openxmlformats.org/officeDocument/2006/relationships/image" Target="/ppt/media/image17.png" Id="R23ad0d5c7e154d33" /><Relationship Type="http://schemas.openxmlformats.org/officeDocument/2006/relationships/notesSlide" Target="/ppt/notesSlides/notesSlide14.xml" Id="R5383dc89500844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a8e6d8c3b974712" /><Relationship Type="http://schemas.openxmlformats.org/officeDocument/2006/relationships/image" Target="/ppt/media/image18.png" Id="Rd54fdc3b971648d5" /><Relationship Type="http://schemas.openxmlformats.org/officeDocument/2006/relationships/notesSlide" Target="/ppt/notesSlides/notesSlide15.xml" Id="R8ac837c9825a40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d25eac3bd4e4533" /><Relationship Type="http://schemas.openxmlformats.org/officeDocument/2006/relationships/image" Target="/ppt/media/image19.png" Id="R9aff91c618a94105" /><Relationship Type="http://schemas.openxmlformats.org/officeDocument/2006/relationships/notesSlide" Target="/ppt/notesSlides/notesSlide16.xml" Id="R198ed697430945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b2c382fcd143ea" /><Relationship Type="http://schemas.openxmlformats.org/officeDocument/2006/relationships/image" Target="/ppt/media/image20.png" Id="Rf82a956703574596" /><Relationship Type="http://schemas.openxmlformats.org/officeDocument/2006/relationships/notesSlide" Target="/ppt/notesSlides/notesSlide17.xml" Id="R12985dcf22474f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b00f418af5e4703" /><Relationship Type="http://schemas.openxmlformats.org/officeDocument/2006/relationships/image" Target="/ppt/media/image21.png" Id="R5c020c6119a149e4" /><Relationship Type="http://schemas.openxmlformats.org/officeDocument/2006/relationships/notesSlide" Target="/ppt/notesSlides/notesSlide18.xml" Id="Ra4d89daacc4147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47331db0db4dbe" /><Relationship Type="http://schemas.openxmlformats.org/officeDocument/2006/relationships/image" Target="/ppt/media/image22.png" Id="R6c7522fb8acd455a" /><Relationship Type="http://schemas.openxmlformats.org/officeDocument/2006/relationships/notesSlide" Target="/ppt/notesSlides/notesSlide19.xml" Id="Rc4d0dd5c22314d9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bb7847838d64f96" /><Relationship Type="http://schemas.openxmlformats.org/officeDocument/2006/relationships/image" Target="/ppt/media/image23.png" Id="Rf506392a5e4a400f" /><Relationship Type="http://schemas.openxmlformats.org/officeDocument/2006/relationships/notesSlide" Target="/ppt/notesSlides/notesSlide20.xml" Id="R32847903542d466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374bfb8d1fd4f1e" /><Relationship Type="http://schemas.openxmlformats.org/officeDocument/2006/relationships/image" Target="/ppt/media/image24.png" Id="Re6b6012e73c54382" /><Relationship Type="http://schemas.openxmlformats.org/officeDocument/2006/relationships/notesSlide" Target="/ppt/notesSlides/notesSlide21.xml" Id="R1b6b35974fed4b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c37350fb034906" /><Relationship Type="http://schemas.openxmlformats.org/officeDocument/2006/relationships/image" Target="/ppt/media/image25.png" Id="R1de641913b4a45d4" /><Relationship Type="http://schemas.openxmlformats.org/officeDocument/2006/relationships/notesSlide" Target="/ppt/notesSlides/notesSlide22.xml" Id="R82a6c5533a5a46b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9e62b9fcb1144a1" /><Relationship Type="http://schemas.openxmlformats.org/officeDocument/2006/relationships/image" Target="/ppt/media/image26.png" Id="R6054aa171c13416f" /><Relationship Type="http://schemas.openxmlformats.org/officeDocument/2006/relationships/notesSlide" Target="/ppt/notesSlides/notesSlide23.xml" Id="R2d2c0725e29746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463db71f31a4987" /><Relationship Type="http://schemas.openxmlformats.org/officeDocument/2006/relationships/image" Target="/ppt/media/image27.png" Id="R69b91d01a2b146c6" /><Relationship Type="http://schemas.openxmlformats.org/officeDocument/2006/relationships/notesSlide" Target="/ppt/notesSlides/notesSlide24.xml" Id="R7426530abd41432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82f304404ed4624" /><Relationship Type="http://schemas.openxmlformats.org/officeDocument/2006/relationships/image" Target="/ppt/media/image28.png" Id="R138c2d46a8d34f02" /><Relationship Type="http://schemas.openxmlformats.org/officeDocument/2006/relationships/notesSlide" Target="/ppt/notesSlides/notesSlide25.xml" Id="R95d00ed578dd45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089abf865ce4817" /><Relationship Type="http://schemas.openxmlformats.org/officeDocument/2006/relationships/image" Target="/ppt/media/image29.png" Id="R051590ad42bc4606" /><Relationship Type="http://schemas.openxmlformats.org/officeDocument/2006/relationships/notesSlide" Target="/ppt/notesSlides/notesSlide26.xml" Id="R91ff5dfdacbe4d8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4fcc10794cc4252" /><Relationship Type="http://schemas.openxmlformats.org/officeDocument/2006/relationships/image" Target="/ppt/media/image30.png" Id="Rd39b1960d5944ffa" /><Relationship Type="http://schemas.openxmlformats.org/officeDocument/2006/relationships/image" Target="/ppt/media/image31.png" Id="Rb8f71955fe9348da" /><Relationship Type="http://schemas.openxmlformats.org/officeDocument/2006/relationships/notesSlide" Target="/ppt/notesSlides/notesSlide27.xml" Id="R1477f680e8ee4a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849b16d91914f3f" /><Relationship Type="http://schemas.openxmlformats.org/officeDocument/2006/relationships/image" Target="/ppt/media/image32.png" Id="R9d05657438cf4cf6" /><Relationship Type="http://schemas.openxmlformats.org/officeDocument/2006/relationships/notesSlide" Target="/ppt/notesSlides/notesSlide28.xml" Id="Rbde3831ea0ad42c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344667d1e2349f7" /><Relationship Type="http://schemas.openxmlformats.org/officeDocument/2006/relationships/image" Target="/ppt/media/image33.png" Id="Rb86e6275f9694d23" /><Relationship Type="http://schemas.openxmlformats.org/officeDocument/2006/relationships/notesSlide" Target="/ppt/notesSlides/notesSlide29.xml" Id="R80e3289475b1427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0dd353a4e694e28" /><Relationship Type="http://schemas.openxmlformats.org/officeDocument/2006/relationships/image" Target="/ppt/media/image34.png" Id="R0be013cda78b463e" /><Relationship Type="http://schemas.openxmlformats.org/officeDocument/2006/relationships/notesSlide" Target="/ppt/notesSlides/notesSlide30.xml" Id="Rd7fdfc292ae544c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19101fc26d9471f" /><Relationship Type="http://schemas.openxmlformats.org/officeDocument/2006/relationships/image" Target="/ppt/media/image35.png" Id="R59a36a669ebd420f" /><Relationship Type="http://schemas.openxmlformats.org/officeDocument/2006/relationships/image" Target="/ppt/media/image36.png" Id="R984b425b52e442bd" /><Relationship Type="http://schemas.openxmlformats.org/officeDocument/2006/relationships/notesSlide" Target="/ppt/notesSlides/notesSlide31.xml" Id="Rd0c6026314eb480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3898464b5f8443c" /><Relationship Type="http://schemas.openxmlformats.org/officeDocument/2006/relationships/image" Target="/ppt/media/image37.png" Id="Rba5dba9ac2d444de" /><Relationship Type="http://schemas.openxmlformats.org/officeDocument/2006/relationships/notesSlide" Target="/ppt/notesSlides/notesSlide32.xml" Id="R761408c1bc0c40c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4cac46983a04aa3" /><Relationship Type="http://schemas.openxmlformats.org/officeDocument/2006/relationships/image" Target="/ppt/media/image38.png" Id="R01b26412c5ed4d41" /><Relationship Type="http://schemas.openxmlformats.org/officeDocument/2006/relationships/notesSlide" Target="/ppt/notesSlides/notesSlide33.xml" Id="R63808b294a624f0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5dff0dde0e44ff9" /><Relationship Type="http://schemas.openxmlformats.org/officeDocument/2006/relationships/image" Target="/ppt/media/image39.png" Id="Rb21125bc6cea4cba" /><Relationship Type="http://schemas.openxmlformats.org/officeDocument/2006/relationships/notesSlide" Target="/ppt/notesSlides/notesSlide34.xml" Id="R19627011f3e2480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f0fd80947fa40e7" /><Relationship Type="http://schemas.openxmlformats.org/officeDocument/2006/relationships/image" Target="/ppt/media/image40.png" Id="R72d54a439fc541bf" /><Relationship Type="http://schemas.openxmlformats.org/officeDocument/2006/relationships/notesSlide" Target="/ppt/notesSlides/notesSlide35.xml" Id="R0001176082c54aa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d24d6a1060a4ef5" /><Relationship Type="http://schemas.openxmlformats.org/officeDocument/2006/relationships/image" Target="/ppt/media/image41.png" Id="Rd472aa4fea07475f" /><Relationship Type="http://schemas.openxmlformats.org/officeDocument/2006/relationships/notesSlide" Target="/ppt/notesSlides/notesSlide36.xml" Id="R734bc13b467948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32036f601594529" /><Relationship Type="http://schemas.openxmlformats.org/officeDocument/2006/relationships/image" Target="/ppt/media/image42.png" Id="R85198329fc374afa" /><Relationship Type="http://schemas.openxmlformats.org/officeDocument/2006/relationships/notesSlide" Target="/ppt/notesSlides/notesSlide37.xml" Id="R39aea871f1c7423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0057adb758f4673" /><Relationship Type="http://schemas.openxmlformats.org/officeDocument/2006/relationships/image" Target="/ppt/media/image43.png" Id="R181e54576f444aa9" /><Relationship Type="http://schemas.openxmlformats.org/officeDocument/2006/relationships/notesSlide" Target="/ppt/notesSlides/notesSlide38.xml" Id="Rc926a3fc385a411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78ee513e4074dda" /><Relationship Type="http://schemas.openxmlformats.org/officeDocument/2006/relationships/image" Target="/ppt/media/image44.png" Id="R3b9af769389a4fb1" /><Relationship Type="http://schemas.openxmlformats.org/officeDocument/2006/relationships/notesSlide" Target="/ppt/notesSlides/notesSlide39.xml" Id="Rbf2e9cfbd9794b9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881a109ad3f4ddf" /><Relationship Type="http://schemas.openxmlformats.org/officeDocument/2006/relationships/image" Target="/ppt/media/image45.png" Id="R09053364f42c4f53" /><Relationship Type="http://schemas.openxmlformats.org/officeDocument/2006/relationships/notesSlide" Target="/ppt/notesSlides/notesSlide40.xml" Id="R2545d1272c7a43c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11d85592dc3419d" /><Relationship Type="http://schemas.openxmlformats.org/officeDocument/2006/relationships/image" Target="/ppt/media/image46.png" Id="R3ee3836b82e244e3" /><Relationship Type="http://schemas.openxmlformats.org/officeDocument/2006/relationships/notesSlide" Target="/ppt/notesSlides/notesSlide41.xml" Id="Rcf4b3b910f73463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d8715af5b734f53" /><Relationship Type="http://schemas.openxmlformats.org/officeDocument/2006/relationships/image" Target="/ppt/media/image47.png" Id="Refa2c35dd7ed4230" /><Relationship Type="http://schemas.openxmlformats.org/officeDocument/2006/relationships/notesSlide" Target="/ppt/notesSlides/notesSlide42.xml" Id="R8964086921a045e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2adc8cbcee54105" /><Relationship Type="http://schemas.openxmlformats.org/officeDocument/2006/relationships/image" Target="/ppt/media/image48.png" Id="R30171c5890cf4bf9" /><Relationship Type="http://schemas.openxmlformats.org/officeDocument/2006/relationships/notesSlide" Target="/ppt/notesSlides/notesSlide43.xml" Id="R38ab14fb21754e7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1c8890cfba4431f" /><Relationship Type="http://schemas.openxmlformats.org/officeDocument/2006/relationships/image" Target="/ppt/media/image49.png" Id="Rb1f225bb74014a35" /><Relationship Type="http://schemas.openxmlformats.org/officeDocument/2006/relationships/notesSlide" Target="/ppt/notesSlides/notesSlide44.xml" Id="Rf85d81d30b1d4e2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6e08f56e66fc4e2b" /><Relationship Type="http://schemas.openxmlformats.org/officeDocument/2006/relationships/image" Target="/ppt/media/image50.png" Id="R6dd7161851da4736" /><Relationship Type="http://schemas.openxmlformats.org/officeDocument/2006/relationships/notesSlide" Target="/ppt/notesSlides/notesSlide45.xml" Id="Rb2b38b5da150452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a0bfca196ff4f0b" /><Relationship Type="http://schemas.openxmlformats.org/officeDocument/2006/relationships/image" Target="/ppt/media/image51.png" Id="R5f7c0895fd324803" /><Relationship Type="http://schemas.openxmlformats.org/officeDocument/2006/relationships/notesSlide" Target="/ppt/notesSlides/notesSlide46.xml" Id="Re57320f083fd476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74ace08163d4a5f" /><Relationship Type="http://schemas.openxmlformats.org/officeDocument/2006/relationships/image" Target="/ppt/media/image52.png" Id="Rf6ff69511f0e4e99" /><Relationship Type="http://schemas.openxmlformats.org/officeDocument/2006/relationships/notesSlide" Target="/ppt/notesSlides/notesSlide47.xml" Id="R91d2753936494ac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046640852f34f9e" /><Relationship Type="http://schemas.openxmlformats.org/officeDocument/2006/relationships/image" Target="/ppt/media/image53.png" Id="Rf651873ed7b44bd9" /><Relationship Type="http://schemas.openxmlformats.org/officeDocument/2006/relationships/notesSlide" Target="/ppt/notesSlides/notesSlide48.xml" Id="R9df022924c5841dd"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37C347-D467-46F1-A2A5-D9B47046AF5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FCFCF8"/>
                </a:solidFill>
                <a:latin typeface="Arial Narrow"/>
                <a:ea typeface="Arial Narrow"/>
                <a:cs typeface="Arial Narrow"/>
              </a:defRPr>
            </a:defPPr>
            <a:lvl1pPr>
              <a:defRPr sz="2925" b="1">
                <a:solidFill>
                  <a:srgbClr val="FCFCF8"/>
                </a:solidFill>
                <a:latin typeface="Arial Narrow"/>
                <a:ea typeface="Arial Narrow"/>
                <a:cs typeface="Arial Narrow"/>
              </a:defRPr>
            </a:lvl1pPr>
            <a:lvl2pPr>
              <a:defRPr sz="2925" b="1">
                <a:solidFill>
                  <a:srgbClr val="FCFCF8"/>
                </a:solidFill>
                <a:latin typeface="Arial Narrow"/>
                <a:ea typeface="Arial Narrow"/>
                <a:cs typeface="Arial Narrow"/>
              </a:defRPr>
            </a:lvl2pPr>
            <a:lvl3pPr>
              <a:defRPr sz="2925" b="1">
                <a:solidFill>
                  <a:srgbClr val="FCFCF8"/>
                </a:solidFill>
                <a:latin typeface="Arial Narrow"/>
                <a:ea typeface="Arial Narrow"/>
                <a:cs typeface="Arial Narrow"/>
              </a:defRPr>
            </a:lvl3pPr>
            <a:lvl4pPr>
              <a:defRPr sz="2925" b="1">
                <a:solidFill>
                  <a:srgbClr val="FCFCF8"/>
                </a:solidFill>
                <a:latin typeface="Arial Narrow"/>
                <a:ea typeface="Arial Narrow"/>
                <a:cs typeface="Arial Narrow"/>
              </a:defRPr>
            </a:lvl4pPr>
            <a:lvl5pPr>
              <a:defRPr sz="2925" b="1">
                <a:solidFill>
                  <a:srgbClr val="FCFCF8"/>
                </a:solidFill>
                <a:latin typeface="Arial Narrow"/>
                <a:ea typeface="Arial Narrow"/>
                <a:cs typeface="Arial Narrow"/>
              </a:defRPr>
            </a:lvl5pPr>
            <a:lvl6pPr>
              <a:defRPr sz="2925" b="1">
                <a:solidFill>
                  <a:srgbClr val="FCFCF8"/>
                </a:solidFill>
                <a:latin typeface="Arial Narrow"/>
                <a:ea typeface="Arial Narrow"/>
                <a:cs typeface="Arial Narrow"/>
              </a:defRPr>
            </a:lvl6pPr>
            <a:lvl7pPr>
              <a:defRPr sz="2925" b="1">
                <a:solidFill>
                  <a:srgbClr val="FCFCF8"/>
                </a:solidFill>
                <a:latin typeface="Arial Narrow"/>
                <a:ea typeface="Arial Narrow"/>
                <a:cs typeface="Arial Narrow"/>
              </a:defRPr>
            </a:lvl7pPr>
            <a:lvl8pPr>
              <a:defRPr sz="2925" b="1">
                <a:solidFill>
                  <a:srgbClr val="FCFCF8"/>
                </a:solidFill>
                <a:latin typeface="Arial Narrow"/>
                <a:ea typeface="Arial Narrow"/>
                <a:cs typeface="Arial Narrow"/>
              </a:defRPr>
            </a:lvl8pPr>
            <a:lvl9pPr>
              <a:defRPr sz="2925" b="1">
                <a:solidFill>
                  <a:srgbClr val="FCFCF8"/>
                </a:solidFill>
                <a:latin typeface="Arial Narrow"/>
                <a:ea typeface="Arial Narrow"/>
                <a:cs typeface="Arial Narrow"/>
              </a:defRPr>
            </a:lvl9pPr>
          </a:lstStyle>
          <a:p xmlns:a="http://schemas.openxmlformats.org/drawingml/2006/main">
            <a:pPr>
              <a:defRPr sz="2925" b="1">
                <a:solidFill>
                  <a:srgbClr val="FCFCF8"/>
                </a:solidFill>
                <a:latin typeface="Arial Narrow"/>
                <a:ea typeface="Arial Narrow"/>
                <a:cs typeface="Arial Narrow"/>
              </a:defRPr>
            </a:pPr>
            <a:r>
              <a:rPr sz="2925" b="1">
                <a:solidFill>
                  <a:srgbClr val="FCFCF8"/>
                </a:solidFill>
                <a:latin typeface="Arial Narrow"/>
                <a:ea typeface="Arial Narrow"/>
                <a:cs typeface="Arial Narrow"/>
              </a:rPr>
              <a:t>Distancia: tiempo de vuelo, adaptación de nivel y lecturas inválidas</a:t>
            </a:r>
          </a:p>
        </p:txBody>
      </p:sp>
      <p:pic>
        <p:nvPicPr>
          <p:cNvPr id="2" name="">
            <a:extLst xmlns:a="http://schemas.openxmlformats.org/drawingml/2006/main">
              <a:ext uri="{FF2B5EF4-FFF2-40B4-BE49-F238E27FC236}">
                <a16:creationId xmlns:a16="http://schemas.microsoft.com/office/drawing/2014/main" id="{C3913F46-E52C-451C-9394-904F78D997BA}"/>
              </a:ext>
            </a:extLst>
          </p:cNvPr>
          <p:cNvPicPr>
            <a:picLocks xmlns:a="http://schemas.openxmlformats.org/drawingml/2006/main" noChangeAspect="1"/>
          </p:cNvPicPr>
          <p:nvPr/>
        </p:nvPicPr>
        <p:blipFill>
          <a:blip xmlns:r="http://schemas.openxmlformats.org/officeDocument/2006/relationships" xmlns:a="http://schemas.openxmlformats.org/drawingml/2006/main" r:embed="R3cb346ae7d854df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C7B8C7-816F-4F51-A1A6-2D591F4374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01/24</a:t>
            </a:r>
          </a:p>
        </p:txBody>
      </p:sp>
      <p:sp>
        <p:nvSpPr>
          <p:cNvPr id="4" name="">
            <a:extLst xmlns:a="http://schemas.openxmlformats.org/drawingml/2006/main">
              <a:ext uri="{FF2B5EF4-FFF2-40B4-BE49-F238E27FC236}">
                <a16:creationId xmlns:a16="http://schemas.microsoft.com/office/drawing/2014/main" id="{627BDD74-8D55-47A0-B7A5-3A8AD64F0C37}"/>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Convertir un tiempo de eco en distancia y comprobar su coherencia sin confundir falta de eco con distancia cero.</a:t>
            </a:r>
          </a:p>
        </p:txBody>
      </p:sp>
      <p:sp>
        <p:nvSpPr>
          <p:cNvPr id="5" name="">
            <a:extLst xmlns:a="http://schemas.openxmlformats.org/drawingml/2006/main">
              <a:ext uri="{FF2B5EF4-FFF2-40B4-BE49-F238E27FC236}">
                <a16:creationId xmlns:a16="http://schemas.microsoft.com/office/drawing/2014/main" id="{493CB831-4BAF-4618-9C45-398A3A637434}"/>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 sensor de proximidad en un equipo UAV exige comprender qué mide y en qué situaciones puede dejar de informar.</a:t>
            </a:r>
          </a:p>
        </p:txBody>
      </p:sp>
      <p:sp>
        <p:nvSpPr>
          <p:cNvPr id="6" name="">
            <a:extLst xmlns:a="http://schemas.openxmlformats.org/drawingml/2006/main">
              <a:ext uri="{FF2B5EF4-FFF2-40B4-BE49-F238E27FC236}">
                <a16:creationId xmlns:a16="http://schemas.microsoft.com/office/drawing/2014/main" id="{B63D3768-ED54-4655-96AC-29141A7534C3}"/>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514276578"/>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161086-93B3-4870-A587-CCC1755BBF2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observa el sensor ultrasónico</a:t>
            </a:r>
          </a:p>
        </p:txBody>
      </p:sp>
      <p:pic>
        <p:nvPicPr>
          <p:cNvPr id="2" name="">
            <a:extLst xmlns:a="http://schemas.openxmlformats.org/drawingml/2006/main">
              <a:ext uri="{FF2B5EF4-FFF2-40B4-BE49-F238E27FC236}">
                <a16:creationId xmlns:a16="http://schemas.microsoft.com/office/drawing/2014/main" id="{79BCB16B-8033-4875-A92F-71897B5F424F}"/>
              </a:ext>
            </a:extLst>
          </p:cNvPr>
          <p:cNvPicPr>
            <a:picLocks xmlns:a="http://schemas.openxmlformats.org/drawingml/2006/main" noChangeAspect="1"/>
          </p:cNvPicPr>
          <p:nvPr/>
        </p:nvPicPr>
        <p:blipFill>
          <a:blip xmlns:r="http://schemas.openxmlformats.org/officeDocument/2006/relationships" xmlns:a="http://schemas.openxmlformats.org/drawingml/2006/main" r:embed="R758f7a97a22d4c7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1308509-0172-432A-8275-2637E81BE03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02/24</a:t>
            </a:r>
          </a:p>
        </p:txBody>
      </p:sp>
      <p:sp>
        <p:nvSpPr>
          <p:cNvPr id="4" name="">
            <a:extLst xmlns:a="http://schemas.openxmlformats.org/drawingml/2006/main">
              <a:ext uri="{FF2B5EF4-FFF2-40B4-BE49-F238E27FC236}">
                <a16:creationId xmlns:a16="http://schemas.microsoft.com/office/drawing/2014/main" id="{ED64FED6-1565-43E2-911C-1BA90180468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HC-SR04 representa distancia mediante la duración de un pulso de eco asociado a una medición acústica. El sonido recorre la ida hasta el objeto y la vuelta al sensor. Esa doble trayectoria explica la división entre dos. No se está midiendo luz ni una distancia por imagen. El tamaño, orientación y superficie del objeto pueden cambiar el eco disponible en hardware.</a:t>
            </a:r>
          </a:p>
        </p:txBody>
      </p:sp>
    </p:spTree>
    <p:extLst>
      <p:ext uri="{BB962C8B-B14F-4D97-AF65-F5344CB8AC3E}">
        <p14:creationId xmlns:p14="http://schemas.microsoft.com/office/powerpoint/2010/main" val="1058926100"/>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12B887-B902-4114-99F1-F8F3A439DC5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observa el sensor ultrasónico</a:t>
            </a:r>
          </a:p>
        </p:txBody>
      </p:sp>
      <p:pic>
        <p:nvPicPr>
          <p:cNvPr id="2" name="">
            <a:extLst xmlns:a="http://schemas.openxmlformats.org/drawingml/2006/main">
              <a:ext uri="{FF2B5EF4-FFF2-40B4-BE49-F238E27FC236}">
                <a16:creationId xmlns:a16="http://schemas.microsoft.com/office/drawing/2014/main" id="{52941C7F-68E5-40C6-AD33-4D0E7BD2117B}"/>
              </a:ext>
            </a:extLst>
          </p:cNvPr>
          <p:cNvPicPr>
            <a:picLocks xmlns:a="http://schemas.openxmlformats.org/drawingml/2006/main" noChangeAspect="1"/>
          </p:cNvPicPr>
          <p:nvPr/>
        </p:nvPicPr>
        <p:blipFill>
          <a:blip xmlns:r="http://schemas.openxmlformats.org/officeDocument/2006/relationships" xmlns:a="http://schemas.openxmlformats.org/drawingml/2006/main" r:embed="R92212c16d3c2494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F9C2A8-C596-402A-8D9C-FBA91B74D9A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03/24</a:t>
            </a:r>
          </a:p>
        </p:txBody>
      </p:sp>
      <p:pic>
        <p:nvPicPr>
          <p:cNvPr id="4" name="">
            <a:extLst xmlns:a="http://schemas.openxmlformats.org/drawingml/2006/main">
              <a:ext uri="{FF2B5EF4-FFF2-40B4-BE49-F238E27FC236}">
                <a16:creationId xmlns:a16="http://schemas.microsoft.com/office/drawing/2014/main" id="{3D937951-FF9B-45B8-A3ED-2CF35AF2A027}"/>
              </a:ext>
            </a:extLst>
          </p:cNvPr>
          <p:cNvPicPr>
            <a:picLocks xmlns:a="http://schemas.openxmlformats.org/drawingml/2006/main" noChangeAspect="1"/>
          </p:cNvPicPr>
          <p:nvPr/>
        </p:nvPicPr>
        <p:blipFill>
          <a:blip xmlns:r="http://schemas.openxmlformats.org/officeDocument/2006/relationships" xmlns:a="http://schemas.openxmlformats.org/drawingml/2006/main" r:embed="Rd1838a3a9f1f471d"/>
          <a:stretch xmlns:a="http://schemas.openxmlformats.org/drawingml/2006/main"/>
        </p:blipFill>
        <p:spPr>
          <a:xfrm xmlns:a="http://schemas.openxmlformats.org/drawingml/2006/main">
            <a:off x="2518957" y="1638300"/>
            <a:ext cx="3553636"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CDFC9B8-6C99-4B04-A375-79C2DBECF57C}"/>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Localiza TRIG y ECHO. Antes del hardware, adapta la señal ECHO de 5 V.</a:t>
            </a:r>
          </a:p>
        </p:txBody>
      </p:sp>
      <p:sp>
        <p:nvSpPr>
          <p:cNvPr id="6" name="">
            <a:extLst xmlns:a="http://schemas.openxmlformats.org/drawingml/2006/main">
              <a:ext uri="{FF2B5EF4-FFF2-40B4-BE49-F238E27FC236}">
                <a16:creationId xmlns:a16="http://schemas.microsoft.com/office/drawing/2014/main" id="{DE636264-96A2-43E6-A2DE-5DE9EBC9851D}"/>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06.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392835556"/>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222353-2B2B-429C-9899-767510413DC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observa el sensor ultrasónico</a:t>
            </a:r>
          </a:p>
        </p:txBody>
      </p:sp>
      <p:pic>
        <p:nvPicPr>
          <p:cNvPr id="2" name="">
            <a:extLst xmlns:a="http://schemas.openxmlformats.org/drawingml/2006/main">
              <a:ext uri="{FF2B5EF4-FFF2-40B4-BE49-F238E27FC236}">
                <a16:creationId xmlns:a16="http://schemas.microsoft.com/office/drawing/2014/main" id="{12F85AC9-C161-404B-B70E-9E4499E4B484}"/>
              </a:ext>
            </a:extLst>
          </p:cNvPr>
          <p:cNvPicPr>
            <a:picLocks xmlns:a="http://schemas.openxmlformats.org/drawingml/2006/main" noChangeAspect="1"/>
          </p:cNvPicPr>
          <p:nvPr/>
        </p:nvPicPr>
        <p:blipFill>
          <a:blip xmlns:r="http://schemas.openxmlformats.org/officeDocument/2006/relationships" xmlns:a="http://schemas.openxmlformats.org/drawingml/2006/main" r:embed="R1598865919724e3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2A24B0-34F3-4F6C-930A-9054113E772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04/24</a:t>
            </a:r>
          </a:p>
        </p:txBody>
      </p:sp>
      <p:sp>
        <p:nvSpPr>
          <p:cNvPr id="4" name="">
            <a:extLst xmlns:a="http://schemas.openxmlformats.org/drawingml/2006/main">
              <a:ext uri="{FF2B5EF4-FFF2-40B4-BE49-F238E27FC236}">
                <a16:creationId xmlns:a16="http://schemas.microsoft.com/office/drawing/2014/main" id="{F2FF5E54-A7B2-4802-B407-BAA95E77194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En Wokwi se puede seleccionar una distancia de entrada del modelo y observar qué informa el programa. Eso es útil para comprobar la conversión y el tratamiento de extremos. En el banco, la distancia se contrasta con una referencia física y un objeto definido. La simulación no sustituye las comprobaciones de alimentación, nivel de señal, montaje o respuesta ante superficies diferentes.</a:t>
            </a:r>
          </a:p>
        </p:txBody>
      </p:sp>
    </p:spTree>
    <p:extLst>
      <p:ext uri="{BB962C8B-B14F-4D97-AF65-F5344CB8AC3E}">
        <p14:creationId xmlns:p14="http://schemas.microsoft.com/office/powerpoint/2010/main" val="868836663"/>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299F28-B549-44EB-AADC-C18DC9CCE65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fórmula con ida y vuelta</a:t>
            </a:r>
          </a:p>
        </p:txBody>
      </p:sp>
      <p:pic>
        <p:nvPicPr>
          <p:cNvPr id="2" name="">
            <a:extLst xmlns:a="http://schemas.openxmlformats.org/drawingml/2006/main">
              <a:ext uri="{FF2B5EF4-FFF2-40B4-BE49-F238E27FC236}">
                <a16:creationId xmlns:a16="http://schemas.microsoft.com/office/drawing/2014/main" id="{EAB62A32-7CA7-4A80-A2DD-49E3CA505AAC}"/>
              </a:ext>
            </a:extLst>
          </p:cNvPr>
          <p:cNvPicPr>
            <a:picLocks xmlns:a="http://schemas.openxmlformats.org/drawingml/2006/main" noChangeAspect="1"/>
          </p:cNvPicPr>
          <p:nvPr/>
        </p:nvPicPr>
        <p:blipFill>
          <a:blip xmlns:r="http://schemas.openxmlformats.org/officeDocument/2006/relationships" xmlns:a="http://schemas.openxmlformats.org/drawingml/2006/main" r:embed="R8c87f7ad57e14dc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2AC48D-7DC7-4E54-9164-67E94507CE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05/24</a:t>
            </a:r>
          </a:p>
        </p:txBody>
      </p:sp>
      <p:sp>
        <p:nvSpPr>
          <p:cNvPr id="4" name="">
            <a:extLst xmlns:a="http://schemas.openxmlformats.org/drawingml/2006/main">
              <a:ext uri="{FF2B5EF4-FFF2-40B4-BE49-F238E27FC236}">
                <a16:creationId xmlns:a16="http://schemas.microsoft.com/office/drawing/2014/main" id="{073CC9F7-8918-4E1A-8D58-FFD0E95E932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comparación requiere definir desde dónde se mide. La cara del sensor y el borde de una caja no son la misma referencia. Para una primera práctica bastan tres posiciones separadas y una superficie que el docente haya comprobado. Repetir lecturas en la misma posición permite observar dispersión. Cambiar posición y superficie a la vez impediría atribuir con claridad una diferencia.</a:t>
            </a:r>
          </a:p>
        </p:txBody>
      </p:sp>
    </p:spTree>
    <p:extLst>
      <p:ext uri="{BB962C8B-B14F-4D97-AF65-F5344CB8AC3E}">
        <p14:creationId xmlns:p14="http://schemas.microsoft.com/office/powerpoint/2010/main" val="1573121266"/>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8D2957-A7D9-4881-885C-8DFB869A257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Tiempo, cálculo y referencia</a:t>
            </a:r>
          </a:p>
        </p:txBody>
      </p:sp>
      <p:pic>
        <p:nvPicPr>
          <p:cNvPr id="2" name="">
            <a:extLst xmlns:a="http://schemas.openxmlformats.org/drawingml/2006/main">
              <a:ext uri="{FF2B5EF4-FFF2-40B4-BE49-F238E27FC236}">
                <a16:creationId xmlns:a16="http://schemas.microsoft.com/office/drawing/2014/main" id="{DD2A7E39-7315-439C-AB66-57399FA0E492}"/>
              </a:ext>
            </a:extLst>
          </p:cNvPr>
          <p:cNvPicPr>
            <a:picLocks xmlns:a="http://schemas.openxmlformats.org/drawingml/2006/main" noChangeAspect="1"/>
          </p:cNvPicPr>
          <p:nvPr/>
        </p:nvPicPr>
        <p:blipFill>
          <a:blip xmlns:r="http://schemas.openxmlformats.org/officeDocument/2006/relationships" xmlns:a="http://schemas.openxmlformats.org/drawingml/2006/main" r:embed="Rdd7abd5b056f476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9E49154-43CE-4AC0-BEC7-AADB778951D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06/24</a:t>
            </a:r>
          </a:p>
        </p:txBody>
      </p:sp>
      <p:graphicFrame>
        <p:nvGraphicFramePr>
          <p:cNvPr id="4" name="">
            <a:extLst xmlns:a="http://schemas.openxmlformats.org/drawingml/2006/main">
              <a:ext uri="{FF2B5EF4-FFF2-40B4-BE49-F238E27FC236}">
                <a16:creationId xmlns:a16="http://schemas.microsoft.com/office/drawing/2014/main" id="{C0E19EE1-FE32-4834-B8CE-DB769898701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Unidad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debe acompañarlo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Duración del eco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microsegundos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Operación válida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Distancia calculada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cm</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Conversión utilizada</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Distancia de referencia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Puntos físicos de medida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061955624"/>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82543E-2BC1-4DD1-B8A4-045BB20EE5B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Eco de 1000 microsegundos</a:t>
            </a:r>
          </a:p>
        </p:txBody>
      </p:sp>
      <p:pic>
        <p:nvPicPr>
          <p:cNvPr id="2" name="">
            <a:extLst xmlns:a="http://schemas.openxmlformats.org/drawingml/2006/main">
              <a:ext uri="{FF2B5EF4-FFF2-40B4-BE49-F238E27FC236}">
                <a16:creationId xmlns:a16="http://schemas.microsoft.com/office/drawing/2014/main" id="{0B2FDE98-02F3-4E9D-8AE8-48ABE5DB43A1}"/>
              </a:ext>
            </a:extLst>
          </p:cNvPr>
          <p:cNvPicPr>
            <a:picLocks xmlns:a="http://schemas.openxmlformats.org/drawingml/2006/main" noChangeAspect="1"/>
          </p:cNvPicPr>
          <p:nvPr/>
        </p:nvPicPr>
        <p:blipFill>
          <a:blip xmlns:r="http://schemas.openxmlformats.org/officeDocument/2006/relationships" xmlns:a="http://schemas.openxmlformats.org/drawingml/2006/main" r:embed="Rb96e8652a02041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922AB60-659E-4549-A3EC-142A480815F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07/24</a:t>
            </a:r>
          </a:p>
        </p:txBody>
      </p:sp>
      <p:pic>
        <p:nvPicPr>
          <p:cNvPr id="4" name="">
            <a:extLst xmlns:a="http://schemas.openxmlformats.org/drawingml/2006/main">
              <a:ext uri="{FF2B5EF4-FFF2-40B4-BE49-F238E27FC236}">
                <a16:creationId xmlns:a16="http://schemas.microsoft.com/office/drawing/2014/main" id="{2937E3D7-926D-4886-823C-BDAEA7CD9E5F}"/>
              </a:ext>
            </a:extLst>
          </p:cNvPr>
          <p:cNvPicPr>
            <a:picLocks xmlns:a="http://schemas.openxmlformats.org/drawingml/2006/main" noChangeAspect="1"/>
          </p:cNvPicPr>
          <p:nvPr/>
        </p:nvPicPr>
        <p:blipFill>
          <a:blip xmlns:r="http://schemas.openxmlformats.org/officeDocument/2006/relationships" xmlns:a="http://schemas.openxmlformats.org/drawingml/2006/main" r:embed="Rf4c64feafd104ed0"/>
          <a:stretch xmlns:a="http://schemas.openxmlformats.org/drawingml/2006/main"/>
        </p:blipFill>
        <p:spPr>
          <a:xfrm xmlns:a="http://schemas.openxmlformats.org/drawingml/2006/main">
            <a:off x="3615608" y="1714500"/>
            <a:ext cx="4960785"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3C3E1F-6E53-45ED-A90E-B4B5A650A2A8}"/>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El recorrido total sería 34,3 cm. La distancia de ida es la mitad: 17,15 cm. Es una conversión del modelo, no una verificación de exactitud del módulo.</a:t>
            </a:r>
          </a:p>
        </p:txBody>
      </p:sp>
      <p:sp>
        <p:nvSpPr>
          <p:cNvPr id="6" name="">
            <a:extLst xmlns:a="http://schemas.openxmlformats.org/drawingml/2006/main">
              <a:ext uri="{FF2B5EF4-FFF2-40B4-BE49-F238E27FC236}">
                <a16:creationId xmlns:a16="http://schemas.microsoft.com/office/drawing/2014/main" id="{722EEEE7-FBC7-4BED-84C9-305A371A847F}"/>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Se usa c = 343 m/s como aproximación de aula. Las condiciones del aire afectan a esa aproximación.</a:t>
            </a:r>
          </a:p>
        </p:txBody>
      </p:sp>
    </p:spTree>
    <p:extLst>
      <p:ext uri="{BB962C8B-B14F-4D97-AF65-F5344CB8AC3E}">
        <p14:creationId xmlns:p14="http://schemas.microsoft.com/office/powerpoint/2010/main" val="194396249"/>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735928-4777-4EAC-85E4-2E386280297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señal de 5 V y la entrada de 3,3 V</a:t>
            </a:r>
          </a:p>
        </p:txBody>
      </p:sp>
      <p:pic>
        <p:nvPicPr>
          <p:cNvPr id="2" name="">
            <a:extLst xmlns:a="http://schemas.openxmlformats.org/drawingml/2006/main">
              <a:ext uri="{FF2B5EF4-FFF2-40B4-BE49-F238E27FC236}">
                <a16:creationId xmlns:a16="http://schemas.microsoft.com/office/drawing/2014/main" id="{7ACAFDF0-2506-494E-9813-208CB0B04345}"/>
              </a:ext>
            </a:extLst>
          </p:cNvPr>
          <p:cNvPicPr>
            <a:picLocks xmlns:a="http://schemas.openxmlformats.org/drawingml/2006/main" noChangeAspect="1"/>
          </p:cNvPicPr>
          <p:nvPr/>
        </p:nvPicPr>
        <p:blipFill>
          <a:blip xmlns:r="http://schemas.openxmlformats.org/officeDocument/2006/relationships" xmlns:a="http://schemas.openxmlformats.org/drawingml/2006/main" r:embed="Ra253c1db23b542f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913DA6-B7DD-4900-B9FE-774C9D0748C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08/24</a:t>
            </a:r>
          </a:p>
        </p:txBody>
      </p:sp>
      <p:sp>
        <p:nvSpPr>
          <p:cNvPr id="4" name="">
            <a:extLst xmlns:a="http://schemas.openxmlformats.org/drawingml/2006/main">
              <a:ext uri="{FF2B5EF4-FFF2-40B4-BE49-F238E27FC236}">
                <a16:creationId xmlns:a16="http://schemas.microsoft.com/office/drawing/2014/main" id="{1A9600CB-9605-4F99-AB5B-5324E9A7321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esquema original del laboratorio representa la simulación. Para hardware, el nivel de ECHO debe adaptarse a la entrada del ESP32 cuando el módulo lo entrega a 5 V. No se supone que un GPIO de la placa tolere ese nivel. En un divisor resistivo, R1 se coloca entre la salida ECHO y el nodo de medida; R2 se coloca entre ese nodo y GND. La referencia común debe estar definida.</a:t>
            </a:r>
          </a:p>
        </p:txBody>
      </p:sp>
    </p:spTree>
    <p:extLst>
      <p:ext uri="{BB962C8B-B14F-4D97-AF65-F5344CB8AC3E}">
        <p14:creationId xmlns:p14="http://schemas.microsoft.com/office/powerpoint/2010/main" val="707981750"/>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72EB70-6B54-45DB-AFC3-CAF1F3371C5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Interfaz física que se comprueba</a:t>
            </a:r>
          </a:p>
        </p:txBody>
      </p:sp>
      <p:pic>
        <p:nvPicPr>
          <p:cNvPr id="2" name="">
            <a:extLst xmlns:a="http://schemas.openxmlformats.org/drawingml/2006/main">
              <a:ext uri="{FF2B5EF4-FFF2-40B4-BE49-F238E27FC236}">
                <a16:creationId xmlns:a16="http://schemas.microsoft.com/office/drawing/2014/main" id="{17EC163B-7D3D-4B4E-BC77-74BF8A8BA678}"/>
              </a:ext>
            </a:extLst>
          </p:cNvPr>
          <p:cNvPicPr>
            <a:picLocks xmlns:a="http://schemas.openxmlformats.org/drawingml/2006/main" noChangeAspect="1"/>
          </p:cNvPicPr>
          <p:nvPr/>
        </p:nvPicPr>
        <p:blipFill>
          <a:blip xmlns:r="http://schemas.openxmlformats.org/officeDocument/2006/relationships" xmlns:a="http://schemas.openxmlformats.org/drawingml/2006/main" r:embed="R085de2eccb2347c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A49170-3B68-4D3F-8397-7734673A376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09/24</a:t>
            </a:r>
          </a:p>
        </p:txBody>
      </p:sp>
      <p:graphicFrame>
        <p:nvGraphicFramePr>
          <p:cNvPr id="4" name="">
            <a:extLst xmlns:a="http://schemas.openxmlformats.org/drawingml/2006/main">
              <a:ext uri="{FF2B5EF4-FFF2-40B4-BE49-F238E27FC236}">
                <a16:creationId xmlns:a16="http://schemas.microsoft.com/office/drawing/2014/main" id="{4BA67192-21E6-4FA5-8CF9-344389F3FAFB}"/>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Conexión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Función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Revisión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VCC del sensor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Alimentación del módulo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Ficha del módulo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TRIG</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Inicio de medición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Compatibilidad de entrada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ECHO adaptado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Señal al GPIO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Nivel medido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GND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Referencia común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Continuidad</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146927803"/>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CFC65C-082E-48E9-A7E9-96FB0431FA1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señal de 5 V y la entrada de 3,3 V</a:t>
            </a:r>
          </a:p>
        </p:txBody>
      </p:sp>
      <p:pic>
        <p:nvPicPr>
          <p:cNvPr id="2" name="">
            <a:extLst xmlns:a="http://schemas.openxmlformats.org/drawingml/2006/main">
              <a:ext uri="{FF2B5EF4-FFF2-40B4-BE49-F238E27FC236}">
                <a16:creationId xmlns:a16="http://schemas.microsoft.com/office/drawing/2014/main" id="{0FBECB78-D815-481F-B6D4-0B7C04745F32}"/>
              </a:ext>
            </a:extLst>
          </p:cNvPr>
          <p:cNvPicPr>
            <a:picLocks xmlns:a="http://schemas.openxmlformats.org/drawingml/2006/main" noChangeAspect="1"/>
          </p:cNvPicPr>
          <p:nvPr/>
        </p:nvPicPr>
        <p:blipFill>
          <a:blip xmlns:r="http://schemas.openxmlformats.org/officeDocument/2006/relationships" xmlns:a="http://schemas.openxmlformats.org/drawingml/2006/main" r:embed="R64dc12104f6c40a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EEA857-C062-48D7-ACF0-91703230E3A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10/24</a:t>
            </a:r>
          </a:p>
        </p:txBody>
      </p:sp>
      <p:pic>
        <p:nvPicPr>
          <p:cNvPr id="4" name="">
            <a:extLst xmlns:a="http://schemas.openxmlformats.org/drawingml/2006/main">
              <a:ext uri="{FF2B5EF4-FFF2-40B4-BE49-F238E27FC236}">
                <a16:creationId xmlns:a16="http://schemas.microsoft.com/office/drawing/2014/main" id="{17B33CC2-E82F-4C99-8D9C-5ECB42B418C1}"/>
              </a:ext>
            </a:extLst>
          </p:cNvPr>
          <p:cNvPicPr>
            <a:picLocks xmlns:a="http://schemas.openxmlformats.org/drawingml/2006/main" noChangeAspect="1"/>
          </p:cNvPicPr>
          <p:nvPr/>
        </p:nvPicPr>
        <p:blipFill>
          <a:blip xmlns:r="http://schemas.openxmlformats.org/officeDocument/2006/relationships" xmlns:a="http://schemas.openxmlformats.org/drawingml/2006/main" r:embed="R6e402f28144048d5"/>
          <a:stretch xmlns:a="http://schemas.openxmlformats.org/drawingml/2006/main"/>
        </p:blipFill>
        <p:spPr>
          <a:xfrm xmlns:a="http://schemas.openxmlformats.org/drawingml/2006/main">
            <a:off x="4327321" y="1714500"/>
            <a:ext cx="3537358"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91158F-CF61-4A45-9581-5312DD1B1408}"/>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El divisor es parte de la interfaz, no una instrucción opcional que se omite porque la animación funciona. Un sensor de distancia compatible con lógica de 3,3 V puede utilizar otra interfaz, siempre que su documentación lo respalde. El docente conserva la referencia del componente físico: “HC-SR04 o equivalente” no hace idénticos todos sus módulos.</a:t>
            </a:r>
          </a:p>
        </p:txBody>
      </p:sp>
      <p:sp>
        <p:nvSpPr>
          <p:cNvPr id="6" name="">
            <a:extLst xmlns:a="http://schemas.openxmlformats.org/drawingml/2006/main">
              <a:ext uri="{FF2B5EF4-FFF2-40B4-BE49-F238E27FC236}">
                <a16:creationId xmlns:a16="http://schemas.microsoft.com/office/drawing/2014/main" id="{39F9C806-05F3-4A00-AF9F-042E521100AB}"/>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Ejemplo de banco: R1 = 2,2 kohm y R2 = 3,3 kohm producen 3,0 V nominales desde 5,0 V. Se verifica el nivel con el montaje real.</a:t>
            </a:r>
          </a:p>
        </p:txBody>
      </p:sp>
    </p:spTree>
    <p:extLst>
      <p:ext uri="{BB962C8B-B14F-4D97-AF65-F5344CB8AC3E}">
        <p14:creationId xmlns:p14="http://schemas.microsoft.com/office/powerpoint/2010/main" val="1881312330"/>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E7F246-C180-49F4-A014-77F4777EE69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Tiempo de espera y ausencia de dato</a:t>
            </a:r>
          </a:p>
        </p:txBody>
      </p:sp>
      <p:pic>
        <p:nvPicPr>
          <p:cNvPr id="2" name="">
            <a:extLst xmlns:a="http://schemas.openxmlformats.org/drawingml/2006/main">
              <a:ext uri="{FF2B5EF4-FFF2-40B4-BE49-F238E27FC236}">
                <a16:creationId xmlns:a16="http://schemas.microsoft.com/office/drawing/2014/main" id="{A1520F63-70D9-4373-9C8B-BBCEB1B8E145}"/>
              </a:ext>
            </a:extLst>
          </p:cNvPr>
          <p:cNvPicPr>
            <a:picLocks xmlns:a="http://schemas.openxmlformats.org/drawingml/2006/main" noChangeAspect="1"/>
          </p:cNvPicPr>
          <p:nvPr/>
        </p:nvPicPr>
        <p:blipFill>
          <a:blip xmlns:r="http://schemas.openxmlformats.org/officeDocument/2006/relationships" xmlns:a="http://schemas.openxmlformats.org/drawingml/2006/main" r:embed="R1af3d4b8f7e1470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D21E4E-5301-44A8-8EEF-E2D171F2521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11/24</a:t>
            </a:r>
          </a:p>
        </p:txBody>
      </p:sp>
      <p:sp>
        <p:nvSpPr>
          <p:cNvPr id="4" name="">
            <a:extLst xmlns:a="http://schemas.openxmlformats.org/drawingml/2006/main">
              <a:ext uri="{FF2B5EF4-FFF2-40B4-BE49-F238E27FC236}">
                <a16:creationId xmlns:a16="http://schemas.microsoft.com/office/drawing/2014/main" id="{3A6E32EC-144B-4845-A71B-3C707179340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llamada tiene un tiempo de espera explícito. Sigue siendo bloqueante, pero su duración máxima queda acotada para esta práctica. Devolver cero por no completar el pulso no significa que el objeto esté tocando el sensor. Primero se interpreta la condición de la operación y después se calcula distancia. Una pantalla que muestra 0 cm para cualquier error pierde esa distinción.</a:t>
            </a:r>
          </a:p>
        </p:txBody>
      </p:sp>
    </p:spTree>
    <p:extLst>
      <p:ext uri="{BB962C8B-B14F-4D97-AF65-F5344CB8AC3E}">
        <p14:creationId xmlns:p14="http://schemas.microsoft.com/office/powerpoint/2010/main" val="1825630405"/>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442B59-22C5-4F89-8010-1A48C558139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Núcleo de c07_distancia</a:t>
            </a:r>
          </a:p>
        </p:txBody>
      </p:sp>
      <p:pic>
        <p:nvPicPr>
          <p:cNvPr id="2" name="">
            <a:extLst xmlns:a="http://schemas.openxmlformats.org/drawingml/2006/main">
              <a:ext uri="{FF2B5EF4-FFF2-40B4-BE49-F238E27FC236}">
                <a16:creationId xmlns:a16="http://schemas.microsoft.com/office/drawing/2014/main" id="{182C6A76-8186-4843-A396-535186667A08}"/>
              </a:ext>
            </a:extLst>
          </p:cNvPr>
          <p:cNvPicPr>
            <a:picLocks xmlns:a="http://schemas.openxmlformats.org/drawingml/2006/main" noChangeAspect="1"/>
          </p:cNvPicPr>
          <p:nvPr/>
        </p:nvPicPr>
        <p:blipFill>
          <a:blip xmlns:r="http://schemas.openxmlformats.org/officeDocument/2006/relationships" xmlns:a="http://schemas.openxmlformats.org/drawingml/2006/main" r:embed="R6b08e6d9ce9c414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18058E-4C63-43D5-A164-8081599CCCF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12/24</a:t>
            </a:r>
          </a:p>
        </p:txBody>
      </p:sp>
      <p:sp>
        <p:nvSpPr>
          <p:cNvPr id="4" name="">
            <a:extLst xmlns:a="http://schemas.openxmlformats.org/drawingml/2006/main">
              <a:ext uri="{FF2B5EF4-FFF2-40B4-BE49-F238E27FC236}">
                <a16:creationId xmlns:a16="http://schemas.microsoft.com/office/drawing/2014/main" id="{9B37436A-FD75-4295-BF8B-F39AD203F7D0}"/>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unsigned long us = pulseIn(ECHO, HIGH, 25000UL);</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(us == 0)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Serial.println("INVALID");</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return;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float distance_cm = us * 0.0343f / 2.0f;</a:t>
            </a:r>
          </a:p>
        </p:txBody>
      </p:sp>
      <p:sp>
        <p:nvSpPr>
          <p:cNvPr id="5" name="">
            <a:extLst xmlns:a="http://schemas.openxmlformats.org/drawingml/2006/main">
              <a:ext uri="{FF2B5EF4-FFF2-40B4-BE49-F238E27FC236}">
                <a16:creationId xmlns:a16="http://schemas.microsoft.com/office/drawing/2014/main" id="{D274F088-D9E2-4289-BE60-C26CF393EF18}"/>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578680956"/>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7934DD-68E8-4AF9-B277-168B3F8C67F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Tiempo de espera y ausencia de dato</a:t>
            </a:r>
          </a:p>
        </p:txBody>
      </p:sp>
      <p:pic>
        <p:nvPicPr>
          <p:cNvPr id="2" name="">
            <a:extLst xmlns:a="http://schemas.openxmlformats.org/drawingml/2006/main">
              <a:ext uri="{FF2B5EF4-FFF2-40B4-BE49-F238E27FC236}">
                <a16:creationId xmlns:a16="http://schemas.microsoft.com/office/drawing/2014/main" id="{F55ADE6E-4D61-4891-876F-044FC9FBA85B}"/>
              </a:ext>
            </a:extLst>
          </p:cNvPr>
          <p:cNvPicPr>
            <a:picLocks xmlns:a="http://schemas.openxmlformats.org/drawingml/2006/main" noChangeAspect="1"/>
          </p:cNvPicPr>
          <p:nvPr/>
        </p:nvPicPr>
        <p:blipFill>
          <a:blip xmlns:r="http://schemas.openxmlformats.org/officeDocument/2006/relationships" xmlns:a="http://schemas.openxmlformats.org/drawingml/2006/main" r:embed="Rda0790b3d4184cc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BCDEB2C-4E21-4BED-A283-EE620882BD5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13/24</a:t>
            </a:r>
          </a:p>
        </p:txBody>
      </p:sp>
      <p:sp>
        <p:nvSpPr>
          <p:cNvPr id="4" name="">
            <a:extLst xmlns:a="http://schemas.openxmlformats.org/drawingml/2006/main">
              <a:ext uri="{FF2B5EF4-FFF2-40B4-BE49-F238E27FC236}">
                <a16:creationId xmlns:a16="http://schemas.microsoft.com/office/drawing/2014/main" id="{23F28D32-2768-494F-8BC1-45084B643D3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tiempo de la adquisición también ocupa parte de la agenda. Si después coordinamos un servo, habrá que considerar su movimiento, la espera del sensor y el momento de aceptar la lectura. La versión de clase es deliberadamente pequeña para que esa duración pueda verse antes de construir un explorador. Guardar tiempo de inicio y de fin permite comprobar cuánto estuvo ocupada cada operación.</a:t>
            </a:r>
          </a:p>
        </p:txBody>
      </p:sp>
    </p:spTree>
    <p:extLst>
      <p:ext uri="{BB962C8B-B14F-4D97-AF65-F5344CB8AC3E}">
        <p14:creationId xmlns:p14="http://schemas.microsoft.com/office/powerpoint/2010/main" val="862168315"/>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9FCA7B-ABC5-47B5-8D21-E352F9AB2A0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contraste y fallos</a:t>
            </a:r>
          </a:p>
        </p:txBody>
      </p:sp>
      <p:pic>
        <p:nvPicPr>
          <p:cNvPr id="2" name="">
            <a:extLst xmlns:a="http://schemas.openxmlformats.org/drawingml/2006/main">
              <a:ext uri="{FF2B5EF4-FFF2-40B4-BE49-F238E27FC236}">
                <a16:creationId xmlns:a16="http://schemas.microsoft.com/office/drawing/2014/main" id="{900CE304-F4D6-420F-B3E3-7DD5FB37E574}"/>
              </a:ext>
            </a:extLst>
          </p:cNvPr>
          <p:cNvPicPr>
            <a:picLocks xmlns:a="http://schemas.openxmlformats.org/drawingml/2006/main" noChangeAspect="1"/>
          </p:cNvPicPr>
          <p:nvPr/>
        </p:nvPicPr>
        <p:blipFill>
          <a:blip xmlns:r="http://schemas.openxmlformats.org/officeDocument/2006/relationships" xmlns:a="http://schemas.openxmlformats.org/drawingml/2006/main" r:embed="R23ad0d5c7e154d3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44FAD8-2CD7-41F3-B5B3-1E25E69D740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14/24</a:t>
            </a:r>
          </a:p>
        </p:txBody>
      </p:sp>
      <p:sp>
        <p:nvSpPr>
          <p:cNvPr id="4" name="">
            <a:extLst xmlns:a="http://schemas.openxmlformats.org/drawingml/2006/main">
              <a:ext uri="{FF2B5EF4-FFF2-40B4-BE49-F238E27FC236}">
                <a16:creationId xmlns:a16="http://schemas.microsoft.com/office/drawing/2014/main" id="{3B7BA1A2-3E78-4B81-BBD8-22BF3447C43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diferencia entre referencia y medida se describe primero en centímetros. Un porcentaje puede resultar confuso cerca de cero. El propósito del ejercicio es encontrar si la conversión tiene sentido, si se conserva una referencia y si el programa trata la ausencia de eco. La calibración detallada de un sistema ultrasónico completo queda fuera de esta primera práctica.</a:t>
            </a:r>
          </a:p>
        </p:txBody>
      </p:sp>
    </p:spTree>
    <p:extLst>
      <p:ext uri="{BB962C8B-B14F-4D97-AF65-F5344CB8AC3E}">
        <p14:creationId xmlns:p14="http://schemas.microsoft.com/office/powerpoint/2010/main" val="875118666"/>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0F349D-1010-4936-96FC-D38E63B0512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mínimo</a:t>
            </a:r>
          </a:p>
        </p:txBody>
      </p:sp>
      <p:pic>
        <p:nvPicPr>
          <p:cNvPr id="2" name="">
            <a:extLst xmlns:a="http://schemas.openxmlformats.org/drawingml/2006/main">
              <a:ext uri="{FF2B5EF4-FFF2-40B4-BE49-F238E27FC236}">
                <a16:creationId xmlns:a16="http://schemas.microsoft.com/office/drawing/2014/main" id="{154D8EA2-87AB-42AD-B936-A19CF86258A1}"/>
              </a:ext>
            </a:extLst>
          </p:cNvPr>
          <p:cNvPicPr>
            <a:picLocks xmlns:a="http://schemas.openxmlformats.org/drawingml/2006/main" noChangeAspect="1"/>
          </p:cNvPicPr>
          <p:nvPr/>
        </p:nvPicPr>
        <p:blipFill>
          <a:blip xmlns:r="http://schemas.openxmlformats.org/officeDocument/2006/relationships" xmlns:a="http://schemas.openxmlformats.org/drawingml/2006/main" r:embed="Rd54fdc3b971648d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D13FFB0-A13B-4364-B7A0-65CD7DD919F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15/24</a:t>
            </a:r>
          </a:p>
        </p:txBody>
      </p:sp>
      <p:graphicFrame>
        <p:nvGraphicFramePr>
          <p:cNvPr id="4" name="">
            <a:extLst xmlns:a="http://schemas.openxmlformats.org/drawingml/2006/main">
              <a:ext uri="{FF2B5EF4-FFF2-40B4-BE49-F238E27FC236}">
                <a16:creationId xmlns:a16="http://schemas.microsoft.com/office/drawing/2014/main" id="{1D42C95E-F2E6-4BD4-B62B-0F1860C1ABE7}"/>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Referencia / cm</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Medida / cm</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Estado / observación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Posición 1</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Por obtener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Objeto y montaje</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Posición 2</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Por obtener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Misma referencia</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Sin eco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Sin distancia válida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Tiempo de espera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381349411"/>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DB35A1-6A01-4AD3-97D4-7E9DA7C8E31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contraste y fallos</a:t>
            </a:r>
          </a:p>
        </p:txBody>
      </p:sp>
      <p:pic>
        <p:nvPicPr>
          <p:cNvPr id="2" name="">
            <a:extLst xmlns:a="http://schemas.openxmlformats.org/drawingml/2006/main">
              <a:ext uri="{FF2B5EF4-FFF2-40B4-BE49-F238E27FC236}">
                <a16:creationId xmlns:a16="http://schemas.microsoft.com/office/drawing/2014/main" id="{D9700265-54DB-42B1-8912-38347753DD93}"/>
              </a:ext>
            </a:extLst>
          </p:cNvPr>
          <p:cNvPicPr>
            <a:picLocks xmlns:a="http://schemas.openxmlformats.org/drawingml/2006/main" noChangeAspect="1"/>
          </p:cNvPicPr>
          <p:nvPr/>
        </p:nvPicPr>
        <p:blipFill>
          <a:blip xmlns:r="http://schemas.openxmlformats.org/officeDocument/2006/relationships" xmlns:a="http://schemas.openxmlformats.org/drawingml/2006/main" r:embed="R9aff91c618a9410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F37E78-C061-4068-A930-8579C443A6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16/24</a:t>
            </a:r>
          </a:p>
        </p:txBody>
      </p:sp>
      <p:sp>
        <p:nvSpPr>
          <p:cNvPr id="4" name="">
            <a:extLst xmlns:a="http://schemas.openxmlformats.org/drawingml/2006/main">
              <a:ext uri="{FF2B5EF4-FFF2-40B4-BE49-F238E27FC236}">
                <a16:creationId xmlns:a16="http://schemas.microsoft.com/office/drawing/2014/main" id="{0BA999B7-CBB6-4AEF-A282-CE3EB916DC0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Revisa el esquema de simulación y la tabla de interfaz física.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Ejecuta c07_distancia y cambia tres distancias conocidas en Wokwi.</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Calcula manualmente un caso a partir del tiempo de eco.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En banco, contrasta tres posiciones con regla y objeto definidos.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Retira el eco con el procedimiento del docente y observa INVALID.</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Compara la conversión ideal y la referencia, sin inventar una corrección con un único punto.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Registra una condición en la que la lectura no deba usarse para decidir.</a:t>
            </a:r>
          </a:p>
        </p:txBody>
      </p:sp>
    </p:spTree>
    <p:extLst>
      <p:ext uri="{BB962C8B-B14F-4D97-AF65-F5344CB8AC3E}">
        <p14:creationId xmlns:p14="http://schemas.microsoft.com/office/powerpoint/2010/main" val="1460295402"/>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794ACD-4A6F-4381-93F0-244382BAA53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Aplicación y límites de una medida de proximidad</a:t>
            </a:r>
          </a:p>
        </p:txBody>
      </p:sp>
      <p:pic>
        <p:nvPicPr>
          <p:cNvPr id="2" name="">
            <a:extLst xmlns:a="http://schemas.openxmlformats.org/drawingml/2006/main">
              <a:ext uri="{FF2B5EF4-FFF2-40B4-BE49-F238E27FC236}">
                <a16:creationId xmlns:a16="http://schemas.microsoft.com/office/drawing/2014/main" id="{3EF9B077-503A-4F33-B9E5-441D0F546B86}"/>
              </a:ext>
            </a:extLst>
          </p:cNvPr>
          <p:cNvPicPr>
            <a:picLocks xmlns:a="http://schemas.openxmlformats.org/drawingml/2006/main" noChangeAspect="1"/>
          </p:cNvPicPr>
          <p:nvPr/>
        </p:nvPicPr>
        <p:blipFill>
          <a:blip xmlns:r="http://schemas.openxmlformats.org/officeDocument/2006/relationships" xmlns:a="http://schemas.openxmlformats.org/drawingml/2006/main" r:embed="Rf82a95670357459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CF12534-22BE-4EE1-B380-8C39F87FEB0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17/24</a:t>
            </a:r>
          </a:p>
        </p:txBody>
      </p:sp>
      <p:sp>
        <p:nvSpPr>
          <p:cNvPr id="4" name="">
            <a:extLst xmlns:a="http://schemas.openxmlformats.org/drawingml/2006/main">
              <a:ext uri="{FF2B5EF4-FFF2-40B4-BE49-F238E27FC236}">
                <a16:creationId xmlns:a16="http://schemas.microsoft.com/office/drawing/2014/main" id="{383DF12E-BBF7-4B7A-8E7F-4CC58F204F0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aplicación de apoyo a drones puede usar distancia para demostrar principios de proximidad o para un banco de exploración. La lectura de un módulo educativo no basta para prometer navegación o prevención de colisiones. La clase enseña a observar cobertura, tiempos y casos inválidos. Esa forma de trabajar permite después comparar otras tecnologías de sensado sin creer que todas fallan de la misma manera.</a:t>
            </a:r>
          </a:p>
        </p:txBody>
      </p:sp>
    </p:spTree>
    <p:extLst>
      <p:ext uri="{BB962C8B-B14F-4D97-AF65-F5344CB8AC3E}">
        <p14:creationId xmlns:p14="http://schemas.microsoft.com/office/powerpoint/2010/main" val="2085933946"/>
      </p:ext>
    </p:extLst>
  </p:cSld>
</p:sld>
</file>

<file path=ppt/slides/slide1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53F90C-01B8-4C76-A82A-6ECCA23650F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FFA1F2BF-4291-4BD9-B888-DA769EE27E59}"/>
              </a:ext>
            </a:extLst>
          </p:cNvPr>
          <p:cNvPicPr>
            <a:picLocks xmlns:a="http://schemas.openxmlformats.org/drawingml/2006/main" noChangeAspect="1"/>
          </p:cNvPicPr>
          <p:nvPr/>
        </p:nvPicPr>
        <p:blipFill>
          <a:blip xmlns:r="http://schemas.openxmlformats.org/officeDocument/2006/relationships" xmlns:a="http://schemas.openxmlformats.org/drawingml/2006/main" r:embed="R5c020c6119a149e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9B8C58-96C1-4275-88A5-4F434E16B36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18/24</a:t>
            </a:r>
          </a:p>
        </p:txBody>
      </p:sp>
      <p:sp>
        <p:nvSpPr>
          <p:cNvPr id="4" name="">
            <a:extLst xmlns:a="http://schemas.openxmlformats.org/drawingml/2006/main">
              <a:ext uri="{FF2B5EF4-FFF2-40B4-BE49-F238E27FC236}">
                <a16:creationId xmlns:a16="http://schemas.microsoft.com/office/drawing/2014/main" id="{CBF149C7-5F66-4FD0-9B7C-62B1DDBD0AA0}"/>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pantalla repite 25 cm durante un fallo. ¿Qué necesita saber la aplicación?</a:t>
            </a:r>
          </a:p>
        </p:txBody>
      </p:sp>
      <p:sp>
        <p:nvSpPr>
          <p:cNvPr id="5" name="">
            <a:extLst xmlns:a="http://schemas.openxmlformats.org/drawingml/2006/main">
              <a:ext uri="{FF2B5EF4-FFF2-40B4-BE49-F238E27FC236}">
                <a16:creationId xmlns:a16="http://schemas.microsoft.com/office/drawing/2014/main" id="{F5559383-7013-410E-8D83-1A7C912E2332}"/>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Investiga por qué una superficie inclinada puede cambiar el eco y por qué la velocidad del sonido no es una constante independiente del ambiente. Explica la consecuencia práctica sin resolver un modelo acústico avanzado. El reto de transferencia consiste en escribir una política para dato inválido: aviso, conservación con edad o suspensión de una decisión que dependía de esa lectura.</a:t>
            </a:r>
          </a:p>
        </p:txBody>
      </p:sp>
    </p:spTree>
    <p:extLst>
      <p:ext uri="{BB962C8B-B14F-4D97-AF65-F5344CB8AC3E}">
        <p14:creationId xmlns:p14="http://schemas.microsoft.com/office/powerpoint/2010/main" val="1079083221"/>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5FEE5E-5DE9-44CC-9A4D-E43BAD4885C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Dato repetido</a:t>
            </a:r>
          </a:p>
        </p:txBody>
      </p:sp>
      <p:pic>
        <p:nvPicPr>
          <p:cNvPr id="2" name="">
            <a:extLst xmlns:a="http://schemas.openxmlformats.org/drawingml/2006/main">
              <a:ext uri="{FF2B5EF4-FFF2-40B4-BE49-F238E27FC236}">
                <a16:creationId xmlns:a16="http://schemas.microsoft.com/office/drawing/2014/main" id="{06D8D392-1576-4318-B0A7-8A135D6AFFAD}"/>
              </a:ext>
            </a:extLst>
          </p:cNvPr>
          <p:cNvPicPr>
            <a:picLocks xmlns:a="http://schemas.openxmlformats.org/drawingml/2006/main" noChangeAspect="1"/>
          </p:cNvPicPr>
          <p:nvPr/>
        </p:nvPicPr>
        <p:blipFill>
          <a:blip xmlns:r="http://schemas.openxmlformats.org/officeDocument/2006/relationships" xmlns:a="http://schemas.openxmlformats.org/drawingml/2006/main" r:embed="R6c7522fb8acd455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A04979-DB03-4BF6-B633-D575AD24B69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19/24</a:t>
            </a:r>
          </a:p>
        </p:txBody>
      </p:sp>
      <p:sp>
        <p:nvSpPr>
          <p:cNvPr id="4" name="">
            <a:extLst xmlns:a="http://schemas.openxmlformats.org/drawingml/2006/main">
              <a:ext uri="{FF2B5EF4-FFF2-40B4-BE49-F238E27FC236}">
                <a16:creationId xmlns:a16="http://schemas.microsoft.com/office/drawing/2014/main" id="{D0CC5952-64C7-49C3-978B-6B50E465461E}"/>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La pantalla repite 25 cm durante un fallo. ¿Qué necesita saber la aplicación?</a:t>
            </a:r>
          </a:p>
        </p:txBody>
      </p:sp>
      <p:sp>
        <p:nvSpPr>
          <p:cNvPr id="5" name="">
            <a:extLst xmlns:a="http://schemas.openxmlformats.org/drawingml/2006/main">
              <a:ext uri="{FF2B5EF4-FFF2-40B4-BE49-F238E27FC236}">
                <a16:creationId xmlns:a16="http://schemas.microsoft.com/office/drawing/2014/main" id="{0225C314-A4B8-42A2-97E8-365C3F3964DD}"/>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Si se obtuvo una lectura nueva, cuándo ocurrió y qué estado devolvió la adquisición. Repetir un valor almacenado no demuestra que el objeto permanezca a 25 cm.</a:t>
            </a:r>
          </a:p>
        </p:txBody>
      </p:sp>
    </p:spTree>
    <p:extLst>
      <p:ext uri="{BB962C8B-B14F-4D97-AF65-F5344CB8AC3E}">
        <p14:creationId xmlns:p14="http://schemas.microsoft.com/office/powerpoint/2010/main" val="1178692083"/>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333709-4A31-4E28-9F30-374CEFB5344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DFDA04F6-4348-4314-B900-00BC298D32D2}"/>
              </a:ext>
            </a:extLst>
          </p:cNvPr>
          <p:cNvPicPr>
            <a:picLocks xmlns:a="http://schemas.openxmlformats.org/drawingml/2006/main" noChangeAspect="1"/>
          </p:cNvPicPr>
          <p:nvPr/>
        </p:nvPicPr>
        <p:blipFill>
          <a:blip xmlns:r="http://schemas.openxmlformats.org/officeDocument/2006/relationships" xmlns:a="http://schemas.openxmlformats.org/drawingml/2006/main" r:embed="Rf506392a5e4a400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EDAE96-433E-41DE-A02C-BE1710EF013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20/24</a:t>
            </a:r>
          </a:p>
        </p:txBody>
      </p:sp>
      <p:sp>
        <p:nvSpPr>
          <p:cNvPr id="4" name="">
            <a:extLst xmlns:a="http://schemas.openxmlformats.org/drawingml/2006/main">
              <a:ext uri="{FF2B5EF4-FFF2-40B4-BE49-F238E27FC236}">
                <a16:creationId xmlns:a16="http://schemas.microsoft.com/office/drawing/2014/main" id="{25BC0DAE-1C74-4C70-940F-F947E6F82A9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Relacionar ida y vuelta con una distancia observable.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el ejemplo de 1000 μs y revisar unidades.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c07_distancia con eco y sin eco.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Contrastar una referencia y explicar la adaptación de ECHO.</a:t>
            </a:r>
          </a:p>
        </p:txBody>
      </p:sp>
    </p:spTree>
    <p:extLst>
      <p:ext uri="{BB962C8B-B14F-4D97-AF65-F5344CB8AC3E}">
        <p14:creationId xmlns:p14="http://schemas.microsoft.com/office/powerpoint/2010/main" val="875445604"/>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5C8EB7-D73A-41D4-B0DD-D57EC83FCAA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4E8AAC17-B1C5-47B6-8D6A-FD02BB18F39B}"/>
              </a:ext>
            </a:extLst>
          </p:cNvPr>
          <p:cNvPicPr>
            <a:picLocks xmlns:a="http://schemas.openxmlformats.org/drawingml/2006/main" noChangeAspect="1"/>
          </p:cNvPicPr>
          <p:nvPr/>
        </p:nvPicPr>
        <p:blipFill>
          <a:blip xmlns:r="http://schemas.openxmlformats.org/officeDocument/2006/relationships" xmlns:a="http://schemas.openxmlformats.org/drawingml/2006/main" r:embed="Re6b6012e73c5438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4BF0CA-315F-4015-A614-0EE69146ACD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21/24</a:t>
            </a:r>
          </a:p>
        </p:txBody>
      </p:sp>
      <p:sp>
        <p:nvSpPr>
          <p:cNvPr id="4" name="">
            <a:extLst xmlns:a="http://schemas.openxmlformats.org/drawingml/2006/main">
              <a:ext uri="{FF2B5EF4-FFF2-40B4-BE49-F238E27FC236}">
                <a16:creationId xmlns:a16="http://schemas.microsoft.com/office/drawing/2014/main" id="{11178F62-65FE-4963-B339-72E6DC5087E7}"/>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sensor de proximidad en un equipo UAV exige comprender qué mide y en qué situaciones puede dejar de informar.</a:t>
            </a:r>
          </a:p>
        </p:txBody>
      </p:sp>
      <p:sp>
        <p:nvSpPr>
          <p:cNvPr id="5" name="">
            <a:extLst xmlns:a="http://schemas.openxmlformats.org/drawingml/2006/main">
              <a:ext uri="{FF2B5EF4-FFF2-40B4-BE49-F238E27FC236}">
                <a16:creationId xmlns:a16="http://schemas.microsoft.com/office/drawing/2014/main" id="{0F5D3BF5-E472-4B3E-8F9F-5198BEDF8D14}"/>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845812607"/>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168111-4E34-4CEE-989E-7D1CFA64CC3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E24DD416-E259-4444-96D8-D4E4DDBD7BB8}"/>
              </a:ext>
            </a:extLst>
          </p:cNvPr>
          <p:cNvPicPr>
            <a:picLocks xmlns:a="http://schemas.openxmlformats.org/drawingml/2006/main" noChangeAspect="1"/>
          </p:cNvPicPr>
          <p:nvPr/>
        </p:nvPicPr>
        <p:blipFill>
          <a:blip xmlns:r="http://schemas.openxmlformats.org/officeDocument/2006/relationships" xmlns:a="http://schemas.openxmlformats.org/drawingml/2006/main" r:embed="R1de641913b4a45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DBEF99A-41C0-42EE-B220-CF789A70A5F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22/24</a:t>
            </a:r>
          </a:p>
        </p:txBody>
      </p:sp>
      <p:sp>
        <p:nvSpPr>
          <p:cNvPr id="4" name="">
            <a:extLst xmlns:a="http://schemas.openxmlformats.org/drawingml/2006/main">
              <a:ext uri="{FF2B5EF4-FFF2-40B4-BE49-F238E27FC236}">
                <a16:creationId xmlns:a16="http://schemas.microsoft.com/office/drawing/2014/main" id="{A3E9DED4-CE2F-4EEC-9A28-26B12225F63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¿Por qué se divide entre dos?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¿pulseIn con timeout deja de bloquear?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 retorno cero es distancia cero?</a:t>
            </a:r>
          </a:p>
        </p:txBody>
      </p:sp>
    </p:spTree>
    <p:extLst>
      <p:ext uri="{BB962C8B-B14F-4D97-AF65-F5344CB8AC3E}">
        <p14:creationId xmlns:p14="http://schemas.microsoft.com/office/powerpoint/2010/main" val="1056511088"/>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257637-3D8E-48B5-8D08-B1130E06D38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DD4A3CE9-CAB2-4CF4-8D5C-BCBB56C82504}"/>
              </a:ext>
            </a:extLst>
          </p:cNvPr>
          <p:cNvPicPr>
            <a:picLocks xmlns:a="http://schemas.openxmlformats.org/drawingml/2006/main" noChangeAspect="1"/>
          </p:cNvPicPr>
          <p:nvPr/>
        </p:nvPicPr>
        <p:blipFill>
          <a:blip xmlns:r="http://schemas.openxmlformats.org/officeDocument/2006/relationships" xmlns:a="http://schemas.openxmlformats.org/drawingml/2006/main" r:embed="R6054aa171c13416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31155D0-9133-4788-B686-DBDEBFD6FB2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23/24</a:t>
            </a:r>
          </a:p>
        </p:txBody>
      </p:sp>
      <p:sp>
        <p:nvSpPr>
          <p:cNvPr id="4" name="">
            <a:extLst xmlns:a="http://schemas.openxmlformats.org/drawingml/2006/main">
              <a:ext uri="{FF2B5EF4-FFF2-40B4-BE49-F238E27FC236}">
                <a16:creationId xmlns:a16="http://schemas.microsoft.com/office/drawing/2014/main" id="{58F6C19E-23BF-4FF7-ACF1-823C183C51D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Porque el tiempo corresponde al recorrido de ida y vuelta.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La espera queda acotada por el tiempo establecido.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en este uso representa que no se completó un pulso válido.</a:t>
            </a:r>
          </a:p>
        </p:txBody>
      </p:sp>
    </p:spTree>
    <p:extLst>
      <p:ext uri="{BB962C8B-B14F-4D97-AF65-F5344CB8AC3E}">
        <p14:creationId xmlns:p14="http://schemas.microsoft.com/office/powerpoint/2010/main" val="822086010"/>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F3B366-D51C-4A51-89C0-A721C08E30B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306F6D9C-3C7B-48F4-8F8A-21CC93E5C72E}"/>
              </a:ext>
            </a:extLst>
          </p:cNvPr>
          <p:cNvPicPr>
            <a:picLocks xmlns:a="http://schemas.openxmlformats.org/drawingml/2006/main" noChangeAspect="1"/>
          </p:cNvPicPr>
          <p:nvPr/>
        </p:nvPicPr>
        <p:blipFill>
          <a:blip xmlns:r="http://schemas.openxmlformats.org/officeDocument/2006/relationships" xmlns:a="http://schemas.openxmlformats.org/drawingml/2006/main" r:embed="R69b91d01a2b146c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77D411-3B17-4BAE-A716-78C1A57E748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24/24</a:t>
            </a:r>
          </a:p>
        </p:txBody>
      </p:sp>
      <p:sp>
        <p:nvSpPr>
          <p:cNvPr id="4" name="">
            <a:extLst xmlns:a="http://schemas.openxmlformats.org/drawingml/2006/main">
              <a:ext uri="{FF2B5EF4-FFF2-40B4-BE49-F238E27FC236}">
                <a16:creationId xmlns:a16="http://schemas.microsoft.com/office/drawing/2014/main" id="{5DBA5B3E-8940-4048-ACEB-216258E142E6}"/>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Conversión explicada, tabla de contraste y tratamiento de lectura inválida.</a:t>
            </a:r>
          </a:p>
        </p:txBody>
      </p:sp>
      <p:sp>
        <p:nvSpPr>
          <p:cNvPr id="5" name="">
            <a:extLst xmlns:a="http://schemas.openxmlformats.org/drawingml/2006/main">
              <a:ext uri="{FF2B5EF4-FFF2-40B4-BE49-F238E27FC236}">
                <a16:creationId xmlns:a16="http://schemas.microsoft.com/office/drawing/2014/main" id="{3D93F9F3-90C9-4B8A-9FA2-AD6E6F987EF7}"/>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215282694"/>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737078-3E68-4828-AFCA-431159E7B89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Taller 1: servomotor y explorador ultrasónico</a:t>
            </a:r>
          </a:p>
        </p:txBody>
      </p:sp>
      <p:pic>
        <p:nvPicPr>
          <p:cNvPr id="2" name="">
            <a:extLst xmlns:a="http://schemas.openxmlformats.org/drawingml/2006/main">
              <a:ext uri="{FF2B5EF4-FFF2-40B4-BE49-F238E27FC236}">
                <a16:creationId xmlns:a16="http://schemas.microsoft.com/office/drawing/2014/main" id="{25366B74-311A-49EB-A6FD-2737CE8AB1BE}"/>
              </a:ext>
            </a:extLst>
          </p:cNvPr>
          <p:cNvPicPr>
            <a:picLocks xmlns:a="http://schemas.openxmlformats.org/drawingml/2006/main" noChangeAspect="1"/>
          </p:cNvPicPr>
          <p:nvPr/>
        </p:nvPicPr>
        <p:blipFill>
          <a:blip xmlns:r="http://schemas.openxmlformats.org/officeDocument/2006/relationships" xmlns:a="http://schemas.openxmlformats.org/drawingml/2006/main" r:embed="R138c2d46a8d34f0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DF1F49-2C63-4AE5-A9D2-53581491047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01/24</a:t>
            </a:r>
          </a:p>
        </p:txBody>
      </p:sp>
      <p:sp>
        <p:nvSpPr>
          <p:cNvPr id="4" name="">
            <a:extLst xmlns:a="http://schemas.openxmlformats.org/drawingml/2006/main">
              <a:ext uri="{FF2B5EF4-FFF2-40B4-BE49-F238E27FC236}">
                <a16:creationId xmlns:a16="http://schemas.microsoft.com/office/drawing/2014/main" id="{0877A894-429D-429F-AB5E-DE8CC39E1619}"/>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Coordinar una orden de posición con una lectura de distancia y conservar un registro coherente.</a:t>
            </a:r>
          </a:p>
        </p:txBody>
      </p:sp>
      <p:sp>
        <p:nvSpPr>
          <p:cNvPr id="5" name="">
            <a:extLst xmlns:a="http://schemas.openxmlformats.org/drawingml/2006/main">
              <a:ext uri="{FF2B5EF4-FFF2-40B4-BE49-F238E27FC236}">
                <a16:creationId xmlns:a16="http://schemas.microsoft.com/office/drawing/2014/main" id="{06614C8F-AD21-4F92-8A51-88E1E8EDA488}"/>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Una base de sensor o cámara necesita relacionar posición ordenada, tiempo de movimiento y dato adquirido.</a:t>
            </a:r>
          </a:p>
        </p:txBody>
      </p:sp>
      <p:sp>
        <p:nvSpPr>
          <p:cNvPr id="6" name="">
            <a:extLst xmlns:a="http://schemas.openxmlformats.org/drawingml/2006/main">
              <a:ext uri="{FF2B5EF4-FFF2-40B4-BE49-F238E27FC236}">
                <a16:creationId xmlns:a16="http://schemas.microsoft.com/office/drawing/2014/main" id="{118313E4-437B-4470-A54C-0AF11AB0C790}"/>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PRESENCIAL   4 HORAS   ESP32 CLÁSICO</a:t>
            </a:r>
          </a:p>
        </p:txBody>
      </p:sp>
    </p:spTree>
    <p:extLst>
      <p:ext uri="{BB962C8B-B14F-4D97-AF65-F5344CB8AC3E}">
        <p14:creationId xmlns:p14="http://schemas.microsoft.com/office/powerpoint/2010/main" val="685497897"/>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EAFA07-94E3-4DEA-984B-0CC2A34036A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cosas diferentes: mando, posición y medida</a:t>
            </a:r>
          </a:p>
        </p:txBody>
      </p:sp>
      <p:pic>
        <p:nvPicPr>
          <p:cNvPr id="2" name="">
            <a:extLst xmlns:a="http://schemas.openxmlformats.org/drawingml/2006/main">
              <a:ext uri="{FF2B5EF4-FFF2-40B4-BE49-F238E27FC236}">
                <a16:creationId xmlns:a16="http://schemas.microsoft.com/office/drawing/2014/main" id="{05592DA4-765E-4E97-907C-6EF4FF2DB53C}"/>
              </a:ext>
            </a:extLst>
          </p:cNvPr>
          <p:cNvPicPr>
            <a:picLocks xmlns:a="http://schemas.openxmlformats.org/drawingml/2006/main" noChangeAspect="1"/>
          </p:cNvPicPr>
          <p:nvPr/>
        </p:nvPicPr>
        <p:blipFill>
          <a:blip xmlns:r="http://schemas.openxmlformats.org/officeDocument/2006/relationships" xmlns:a="http://schemas.openxmlformats.org/drawingml/2006/main" r:embed="R051590ad42bc460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B2F38CE-1899-4F12-AC79-8DAF7A73645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02/24</a:t>
            </a:r>
          </a:p>
        </p:txBody>
      </p:sp>
      <p:sp>
        <p:nvSpPr>
          <p:cNvPr id="4" name="">
            <a:extLst xmlns:a="http://schemas.openxmlformats.org/drawingml/2006/main">
              <a:ext uri="{FF2B5EF4-FFF2-40B4-BE49-F238E27FC236}">
                <a16:creationId xmlns:a16="http://schemas.microsoft.com/office/drawing/2014/main" id="{89915FC3-FE0F-441B-A8C5-63E26FF5F7B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proyecto de radar del laboratorio coordina un servo con un sensor ultrasónico. El nombre sirve para presentar el explorador, pero la medición es acústica. El programa puede ordenar un ángulo y dibujar una línea; eso no demuestra que el mecanismo ya alcanzó esa posición cuando se adquirió el dato. Nuestra primera tarea de integración es reconocer esa diferencia y guardar qué ocurrió en cada etapa.</a:t>
            </a:r>
          </a:p>
        </p:txBody>
      </p:sp>
    </p:spTree>
    <p:extLst>
      <p:ext uri="{BB962C8B-B14F-4D97-AF65-F5344CB8AC3E}">
        <p14:creationId xmlns:p14="http://schemas.microsoft.com/office/powerpoint/2010/main" val="1254594780"/>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461EE9-B867-4486-A5D8-A609B143FBB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cosas diferentes: mando, posición y medida</a:t>
            </a:r>
          </a:p>
        </p:txBody>
      </p:sp>
      <p:pic>
        <p:nvPicPr>
          <p:cNvPr id="2" name="">
            <a:extLst xmlns:a="http://schemas.openxmlformats.org/drawingml/2006/main">
              <a:ext uri="{FF2B5EF4-FFF2-40B4-BE49-F238E27FC236}">
                <a16:creationId xmlns:a16="http://schemas.microsoft.com/office/drawing/2014/main" id="{81CA37EA-0CBA-45E1-A9BD-AB2C6B755661}"/>
              </a:ext>
            </a:extLst>
          </p:cNvPr>
          <p:cNvPicPr>
            <a:picLocks xmlns:a="http://schemas.openxmlformats.org/drawingml/2006/main" noChangeAspect="1"/>
          </p:cNvPicPr>
          <p:nvPr/>
        </p:nvPicPr>
        <p:blipFill>
          <a:blip xmlns:r="http://schemas.openxmlformats.org/officeDocument/2006/relationships" xmlns:a="http://schemas.openxmlformats.org/drawingml/2006/main" r:embed="Rd39b1960d5944ff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E70919-88CB-4DDD-B833-0467A594509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03/24</a:t>
            </a:r>
          </a:p>
        </p:txBody>
      </p:sp>
      <p:pic>
        <p:nvPicPr>
          <p:cNvPr id="4" name="">
            <a:extLst xmlns:a="http://schemas.openxmlformats.org/drawingml/2006/main">
              <a:ext uri="{FF2B5EF4-FFF2-40B4-BE49-F238E27FC236}">
                <a16:creationId xmlns:a16="http://schemas.microsoft.com/office/drawing/2014/main" id="{34964A22-8C7B-42F1-8ADA-9CBBA86A8BBE}"/>
              </a:ext>
            </a:extLst>
          </p:cNvPr>
          <p:cNvPicPr>
            <a:picLocks xmlns:a="http://schemas.openxmlformats.org/drawingml/2006/main" noChangeAspect="1"/>
          </p:cNvPicPr>
          <p:nvPr/>
        </p:nvPicPr>
        <p:blipFill>
          <a:blip xmlns:r="http://schemas.openxmlformats.org/officeDocument/2006/relationships" xmlns:a="http://schemas.openxmlformats.org/drawingml/2006/main" r:embed="Rb8f71955fe9348da"/>
          <a:stretch xmlns:a="http://schemas.openxmlformats.org/drawingml/2006/main"/>
        </p:blipFill>
        <p:spPr>
          <a:xfrm xmlns:a="http://schemas.openxmlformats.org/drawingml/2006/main">
            <a:off x="1619765" y="1638300"/>
            <a:ext cx="535202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4A304BC-4E01-4D9C-948A-A34492DF1AF1}"/>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Distingue la energía del servo y la señal de control. Comprueba referencia común.</a:t>
            </a:r>
          </a:p>
        </p:txBody>
      </p:sp>
      <p:sp>
        <p:nvSpPr>
          <p:cNvPr id="6" name="">
            <a:extLst xmlns:a="http://schemas.openxmlformats.org/drawingml/2006/main">
              <a:ext uri="{FF2B5EF4-FFF2-40B4-BE49-F238E27FC236}">
                <a16:creationId xmlns:a16="http://schemas.microsoft.com/office/drawing/2014/main" id="{F70D2113-B545-45A4-9A21-0A6473AFF1B5}"/>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11.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1540252530"/>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D3BE25-C90A-457F-8754-E30A4C421D0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Tres cosas diferentes: mando, posición y medida</a:t>
            </a:r>
          </a:p>
        </p:txBody>
      </p:sp>
      <p:pic>
        <p:nvPicPr>
          <p:cNvPr id="2" name="">
            <a:extLst xmlns:a="http://schemas.openxmlformats.org/drawingml/2006/main">
              <a:ext uri="{FF2B5EF4-FFF2-40B4-BE49-F238E27FC236}">
                <a16:creationId xmlns:a16="http://schemas.microsoft.com/office/drawing/2014/main" id="{BF18626B-6F39-44A4-B43E-848B648376F1}"/>
              </a:ext>
            </a:extLst>
          </p:cNvPr>
          <p:cNvPicPr>
            <a:picLocks xmlns:a="http://schemas.openxmlformats.org/drawingml/2006/main" noChangeAspect="1"/>
          </p:cNvPicPr>
          <p:nvPr/>
        </p:nvPicPr>
        <p:blipFill>
          <a:blip xmlns:r="http://schemas.openxmlformats.org/officeDocument/2006/relationships" xmlns:a="http://schemas.openxmlformats.org/drawingml/2006/main" r:embed="R9d05657438cf4cf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981EE3-A1E1-4C49-BA1B-5BD77FA726F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04/24</a:t>
            </a:r>
          </a:p>
        </p:txBody>
      </p:sp>
      <p:sp>
        <p:nvSpPr>
          <p:cNvPr id="4" name="">
            <a:extLst xmlns:a="http://schemas.openxmlformats.org/drawingml/2006/main">
              <a:ext uri="{FF2B5EF4-FFF2-40B4-BE49-F238E27FC236}">
                <a16:creationId xmlns:a16="http://schemas.microsoft.com/office/drawing/2014/main" id="{32A9EEC5-C906-479F-9A8A-DDFD8F0F506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En una carga de sensor, la orientación del soporte forma parte del significado de la medida. Un registro útil puede contener orden, tiempo de orden, tiempo de adquisición, distancia y estado. Si no hay un sensor de posición independiente, se identifica la posición como ordenada o estimada. Esta precisión del lenguaje ayuda a tomar decisiones de montaje sin exigir instrumentación avanzada.</a:t>
            </a:r>
          </a:p>
        </p:txBody>
      </p:sp>
    </p:spTree>
    <p:extLst>
      <p:ext uri="{BB962C8B-B14F-4D97-AF65-F5344CB8AC3E}">
        <p14:creationId xmlns:p14="http://schemas.microsoft.com/office/powerpoint/2010/main" val="229524537"/>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EFBE96-B42A-4E6E-9E28-8FFF17F7264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Ancho de pulso y respuesta del servo</a:t>
            </a:r>
          </a:p>
        </p:txBody>
      </p:sp>
      <p:pic>
        <p:nvPicPr>
          <p:cNvPr id="2" name="">
            <a:extLst xmlns:a="http://schemas.openxmlformats.org/drawingml/2006/main">
              <a:ext uri="{FF2B5EF4-FFF2-40B4-BE49-F238E27FC236}">
                <a16:creationId xmlns:a16="http://schemas.microsoft.com/office/drawing/2014/main" id="{40234954-14E5-41E9-9072-45578C368701}"/>
              </a:ext>
            </a:extLst>
          </p:cNvPr>
          <p:cNvPicPr>
            <a:picLocks xmlns:a="http://schemas.openxmlformats.org/drawingml/2006/main" noChangeAspect="1"/>
          </p:cNvPicPr>
          <p:nvPr/>
        </p:nvPicPr>
        <p:blipFill>
          <a:blip xmlns:r="http://schemas.openxmlformats.org/officeDocument/2006/relationships" xmlns:a="http://schemas.openxmlformats.org/drawingml/2006/main" r:embed="Rb86e6275f9694d2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FBCBD18-DF64-46B7-97D1-CB4AA8D906F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05/24</a:t>
            </a:r>
          </a:p>
        </p:txBody>
      </p:sp>
      <p:sp>
        <p:nvSpPr>
          <p:cNvPr id="4" name="">
            <a:extLst xmlns:a="http://schemas.openxmlformats.org/drawingml/2006/main">
              <a:ext uri="{FF2B5EF4-FFF2-40B4-BE49-F238E27FC236}">
                <a16:creationId xmlns:a16="http://schemas.microsoft.com/office/drawing/2014/main" id="{FD756C00-56B2-45EC-B82B-E8BD9F22A03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servo convencional interpreta el ancho de un pulso repetido según su interfaz. Los límites y el sentido dependen del modelo y del montaje. No se enseña que cualquier servo tenga exactamente 0° a 180° entre 1 y 2 ms. En la práctica se comienza en una posición sin interferencia y con un intervalo permitido por su documentación. El archivo c08_servo usa un margen de ejercicio que el docente debe contrastar con el dispositivo.</a:t>
            </a:r>
          </a:p>
        </p:txBody>
      </p:sp>
    </p:spTree>
    <p:extLst>
      <p:ext uri="{BB962C8B-B14F-4D97-AF65-F5344CB8AC3E}">
        <p14:creationId xmlns:p14="http://schemas.microsoft.com/office/powerpoint/2010/main" val="1459771650"/>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E418FC-8D1F-4BEC-B6D5-1FF7A79F8BF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orden y lo que falta conocer</a:t>
            </a:r>
          </a:p>
        </p:txBody>
      </p:sp>
      <p:pic>
        <p:nvPicPr>
          <p:cNvPr id="2" name="">
            <a:extLst xmlns:a="http://schemas.openxmlformats.org/drawingml/2006/main">
              <a:ext uri="{FF2B5EF4-FFF2-40B4-BE49-F238E27FC236}">
                <a16:creationId xmlns:a16="http://schemas.microsoft.com/office/drawing/2014/main" id="{7753BFC3-5BFE-4DD0-90D9-D6E516310C44}"/>
              </a:ext>
            </a:extLst>
          </p:cNvPr>
          <p:cNvPicPr>
            <a:picLocks xmlns:a="http://schemas.openxmlformats.org/drawingml/2006/main" noChangeAspect="1"/>
          </p:cNvPicPr>
          <p:nvPr/>
        </p:nvPicPr>
        <p:blipFill>
          <a:blip xmlns:r="http://schemas.openxmlformats.org/officeDocument/2006/relationships" xmlns:a="http://schemas.openxmlformats.org/drawingml/2006/main" r:embed="R0be013cda78b463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7253A9-B51F-4A8B-B33D-E756F26D28A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06/24</a:t>
            </a:r>
          </a:p>
        </p:txBody>
      </p:sp>
      <p:graphicFrame>
        <p:nvGraphicFramePr>
          <p:cNvPr id="4" name="">
            <a:extLst xmlns:a="http://schemas.openxmlformats.org/drawingml/2006/main">
              <a:ext uri="{FF2B5EF4-FFF2-40B4-BE49-F238E27FC236}">
                <a16:creationId xmlns:a16="http://schemas.microsoft.com/office/drawing/2014/main" id="{C26F9747-114D-4A6E-B6FC-F48217CC612C}"/>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Significado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Pulso / μs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Mando eléctrico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Señal observada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Ángulo solicitado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Convención del programa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Calibración del montaje</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Posición real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del mecanismo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Observación o sensor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38566962"/>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7D95E5-5A7F-4C9C-8F29-EA5FEC93FD6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Ancho de pulso y respuesta del servo</a:t>
            </a:r>
          </a:p>
        </p:txBody>
      </p:sp>
      <p:pic>
        <p:nvPicPr>
          <p:cNvPr id="2" name="">
            <a:extLst xmlns:a="http://schemas.openxmlformats.org/drawingml/2006/main">
              <a:ext uri="{FF2B5EF4-FFF2-40B4-BE49-F238E27FC236}">
                <a16:creationId xmlns:a16="http://schemas.microsoft.com/office/drawing/2014/main" id="{86158F00-DC16-40E2-9071-77A682C6BFF8}"/>
              </a:ext>
            </a:extLst>
          </p:cNvPr>
          <p:cNvPicPr>
            <a:picLocks xmlns:a="http://schemas.openxmlformats.org/drawingml/2006/main" noChangeAspect="1"/>
          </p:cNvPicPr>
          <p:nvPr/>
        </p:nvPicPr>
        <p:blipFill>
          <a:blip xmlns:r="http://schemas.openxmlformats.org/officeDocument/2006/relationships" xmlns:a="http://schemas.openxmlformats.org/drawingml/2006/main" r:embed="R59a36a669ebd420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21146F-A00D-496D-A517-721391FA52D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07/24</a:t>
            </a:r>
          </a:p>
        </p:txBody>
      </p:sp>
      <p:pic>
        <p:nvPicPr>
          <p:cNvPr id="4" name="">
            <a:extLst xmlns:a="http://schemas.openxmlformats.org/drawingml/2006/main">
              <a:ext uri="{FF2B5EF4-FFF2-40B4-BE49-F238E27FC236}">
                <a16:creationId xmlns:a16="http://schemas.microsoft.com/office/drawing/2014/main" id="{C3B83591-5AEE-4615-96AB-933231C560C7}"/>
              </a:ext>
            </a:extLst>
          </p:cNvPr>
          <p:cNvPicPr>
            <a:picLocks xmlns:a="http://schemas.openxmlformats.org/drawingml/2006/main" noChangeAspect="1"/>
          </p:cNvPicPr>
          <p:nvPr/>
        </p:nvPicPr>
        <p:blipFill>
          <a:blip xmlns:r="http://schemas.openxmlformats.org/officeDocument/2006/relationships" xmlns:a="http://schemas.openxmlformats.org/drawingml/2006/main" r:embed="R984b425b52e442bd"/>
          <a:stretch xmlns:a="http://schemas.openxmlformats.org/drawingml/2006/main"/>
        </p:blipFill>
        <p:spPr>
          <a:xfrm xmlns:a="http://schemas.openxmlformats.org/drawingml/2006/main">
            <a:off x="2873070" y="1714500"/>
            <a:ext cx="6445861"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01D4994-94A7-4933-A348-99E98F7988FB}"/>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La cuenta de duty depende de la resolución configurada. Con 16 bits y periodo de 20000 μs, un pulso de 1500 μs corresponde aproximadamente a 4915 cuentas. No se copia ese código a una configuración de 8 bits. La misma fracción exige otro número porque cambió la representación digital.</a:t>
            </a:r>
          </a:p>
        </p:txBody>
      </p:sp>
      <p:sp>
        <p:nvSpPr>
          <p:cNvPr id="6" name="">
            <a:extLst xmlns:a="http://schemas.openxmlformats.org/drawingml/2006/main">
              <a:ext uri="{FF2B5EF4-FFF2-40B4-BE49-F238E27FC236}">
                <a16:creationId xmlns:a16="http://schemas.microsoft.com/office/drawing/2014/main" id="{088D924C-01F3-4310-9762-67C029A65823}"/>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El pulso de 1,5 ms es un ejemplo habitual de referencia central; el recorrido efectivo se verifica en el servo y el mecanismo reales.</a:t>
            </a:r>
          </a:p>
        </p:txBody>
      </p:sp>
    </p:spTree>
    <p:extLst>
      <p:ext uri="{BB962C8B-B14F-4D97-AF65-F5344CB8AC3E}">
        <p14:creationId xmlns:p14="http://schemas.microsoft.com/office/powerpoint/2010/main" val="901800257"/>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5C5420-B15E-4311-9C4B-0401E9D586B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Alimentación y montaje de banco</a:t>
            </a:r>
          </a:p>
        </p:txBody>
      </p:sp>
      <p:pic>
        <p:nvPicPr>
          <p:cNvPr id="2" name="">
            <a:extLst xmlns:a="http://schemas.openxmlformats.org/drawingml/2006/main">
              <a:ext uri="{FF2B5EF4-FFF2-40B4-BE49-F238E27FC236}">
                <a16:creationId xmlns:a16="http://schemas.microsoft.com/office/drawing/2014/main" id="{91AE1E0F-6627-412E-86DA-2C1BA9B1ABE3}"/>
              </a:ext>
            </a:extLst>
          </p:cNvPr>
          <p:cNvPicPr>
            <a:picLocks xmlns:a="http://schemas.openxmlformats.org/drawingml/2006/main" noChangeAspect="1"/>
          </p:cNvPicPr>
          <p:nvPr/>
        </p:nvPicPr>
        <p:blipFill>
          <a:blip xmlns:r="http://schemas.openxmlformats.org/officeDocument/2006/relationships" xmlns:a="http://schemas.openxmlformats.org/drawingml/2006/main" r:embed="Rba5dba9ac2d444d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0C4DC1-1DF9-4BAF-A7A6-59F82574C8A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08/24</a:t>
            </a:r>
          </a:p>
        </p:txBody>
      </p:sp>
      <p:sp>
        <p:nvSpPr>
          <p:cNvPr id="4" name="">
            <a:extLst xmlns:a="http://schemas.openxmlformats.org/drawingml/2006/main">
              <a:ext uri="{FF2B5EF4-FFF2-40B4-BE49-F238E27FC236}">
                <a16:creationId xmlns:a16="http://schemas.microsoft.com/office/drawing/2014/main" id="{0206C50A-951B-4C37-8CA3-74E61AAF308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servo necesita energía para su motor interno y puede demandar corriente variable al arrancar o sostener carga. La señal del GPIO no aporta esa potencia. En el banco se prepara una fuente adecuada para el actuador y una referencia de señal compatible. El positivo de esa fuente no se une arbitrariamente con otras alimentaciones de la placa. El docente presenta el circuito completo antes de realizar movimientos.</a:t>
            </a:r>
          </a:p>
        </p:txBody>
      </p:sp>
    </p:spTree>
    <p:extLst>
      <p:ext uri="{BB962C8B-B14F-4D97-AF65-F5344CB8AC3E}">
        <p14:creationId xmlns:p14="http://schemas.microsoft.com/office/powerpoint/2010/main" val="437333975"/>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5A3B8F-E114-4612-BE3B-599394C1312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Separación de funciones</a:t>
            </a:r>
          </a:p>
        </p:txBody>
      </p:sp>
      <p:pic>
        <p:nvPicPr>
          <p:cNvPr id="2" name="">
            <a:extLst xmlns:a="http://schemas.openxmlformats.org/drawingml/2006/main">
              <a:ext uri="{FF2B5EF4-FFF2-40B4-BE49-F238E27FC236}">
                <a16:creationId xmlns:a16="http://schemas.microsoft.com/office/drawing/2014/main" id="{FED5AB32-D8CE-4277-840B-812939E3E07D}"/>
              </a:ext>
            </a:extLst>
          </p:cNvPr>
          <p:cNvPicPr>
            <a:picLocks xmlns:a="http://schemas.openxmlformats.org/drawingml/2006/main" noChangeAspect="1"/>
          </p:cNvPicPr>
          <p:nvPr/>
        </p:nvPicPr>
        <p:blipFill>
          <a:blip xmlns:r="http://schemas.openxmlformats.org/officeDocument/2006/relationships" xmlns:a="http://schemas.openxmlformats.org/drawingml/2006/main" r:embed="R01b26412c5ed4d4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F36032C-EDF4-4626-B533-A6F344D31D0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09/24</a:t>
            </a:r>
          </a:p>
        </p:txBody>
      </p:sp>
      <p:graphicFrame>
        <p:nvGraphicFramePr>
          <p:cNvPr id="4" name="">
            <a:extLst xmlns:a="http://schemas.openxmlformats.org/drawingml/2006/main">
              <a:ext uri="{FF2B5EF4-FFF2-40B4-BE49-F238E27FC236}">
                <a16:creationId xmlns:a16="http://schemas.microsoft.com/office/drawing/2014/main" id="{AD8D1A54-6DB6-4617-995F-CDD4F40EB96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Trabajo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comprueba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GPIO13</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Orden al servo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Nivel y pulso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Fuente del servo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Energía del actuador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Tensión y capacidad</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GND de referencia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Interpretación de señal</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Conexión definida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Soporte mecánico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Movimiento permitido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Sin interferencias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985122346"/>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B82D13-59F4-42D6-878B-A161415F758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Reinicio al mover</a:t>
            </a:r>
          </a:p>
        </p:txBody>
      </p:sp>
      <p:pic>
        <p:nvPicPr>
          <p:cNvPr id="2" name="">
            <a:extLst xmlns:a="http://schemas.openxmlformats.org/drawingml/2006/main">
              <a:ext uri="{FF2B5EF4-FFF2-40B4-BE49-F238E27FC236}">
                <a16:creationId xmlns:a16="http://schemas.microsoft.com/office/drawing/2014/main" id="{37D20FD5-EADA-4E4B-A391-9262FE01C3C6}"/>
              </a:ext>
            </a:extLst>
          </p:cNvPr>
          <p:cNvPicPr>
            <a:picLocks xmlns:a="http://schemas.openxmlformats.org/drawingml/2006/main" noChangeAspect="1"/>
          </p:cNvPicPr>
          <p:nvPr/>
        </p:nvPicPr>
        <p:blipFill>
          <a:blip xmlns:r="http://schemas.openxmlformats.org/officeDocument/2006/relationships" xmlns:a="http://schemas.openxmlformats.org/drawingml/2006/main" r:embed="Rb21125bc6cea4cb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9E2A35-5092-48C2-BDF2-F1D7E171C4D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10/24</a:t>
            </a:r>
          </a:p>
        </p:txBody>
      </p:sp>
      <p:sp>
        <p:nvSpPr>
          <p:cNvPr id="4" name="">
            <a:extLst xmlns:a="http://schemas.openxmlformats.org/drawingml/2006/main">
              <a:ext uri="{FF2B5EF4-FFF2-40B4-BE49-F238E27FC236}">
                <a16:creationId xmlns:a16="http://schemas.microsoft.com/office/drawing/2014/main" id="{1054472E-DD25-4577-99DD-C4BB83C12C97}"/>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programa funciona quieto y la placa se reinicia cuando se mueve el servo. ¿Qué revisas antes de cambiar el algoritmo?</a:t>
            </a:r>
          </a:p>
        </p:txBody>
      </p:sp>
      <p:sp>
        <p:nvSpPr>
          <p:cNvPr id="5" name="">
            <a:extLst xmlns:a="http://schemas.openxmlformats.org/drawingml/2006/main">
              <a:ext uri="{FF2B5EF4-FFF2-40B4-BE49-F238E27FC236}">
                <a16:creationId xmlns:a16="http://schemas.microsoft.com/office/drawing/2014/main" id="{7B00FB45-59FF-4E49-8888-69A328387CEF}"/>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La alimentación, la demanda del actuador, las conexiones y la referencia del montaje. El síntoma puede pertenecer al suministro de energía; no se resuelve suponiendo que todo es un error de programación.</a:t>
            </a:r>
          </a:p>
        </p:txBody>
      </p:sp>
    </p:spTree>
    <p:extLst>
      <p:ext uri="{BB962C8B-B14F-4D97-AF65-F5344CB8AC3E}">
        <p14:creationId xmlns:p14="http://schemas.microsoft.com/office/powerpoint/2010/main" val="268134238"/>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923DFE-A62D-4488-BDBA-73887E20F85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Secuencia del explorador</a:t>
            </a:r>
          </a:p>
        </p:txBody>
      </p:sp>
      <p:pic>
        <p:nvPicPr>
          <p:cNvPr id="2" name="">
            <a:extLst xmlns:a="http://schemas.openxmlformats.org/drawingml/2006/main">
              <a:ext uri="{FF2B5EF4-FFF2-40B4-BE49-F238E27FC236}">
                <a16:creationId xmlns:a16="http://schemas.microsoft.com/office/drawing/2014/main" id="{3F3F28EA-9E9D-43C7-82D6-E6F1FE3E609F}"/>
              </a:ext>
            </a:extLst>
          </p:cNvPr>
          <p:cNvPicPr>
            <a:picLocks xmlns:a="http://schemas.openxmlformats.org/drawingml/2006/main" noChangeAspect="1"/>
          </p:cNvPicPr>
          <p:nvPr/>
        </p:nvPicPr>
        <p:blipFill>
          <a:blip xmlns:r="http://schemas.openxmlformats.org/officeDocument/2006/relationships" xmlns:a="http://schemas.openxmlformats.org/drawingml/2006/main" r:embed="R72d54a439fc541b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019FFD-04FF-4AA2-BB3F-CBA01885E2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11/24</a:t>
            </a:r>
          </a:p>
        </p:txBody>
      </p:sp>
      <p:sp>
        <p:nvSpPr>
          <p:cNvPr id="4" name="">
            <a:extLst xmlns:a="http://schemas.openxmlformats.org/drawingml/2006/main">
              <a:ext uri="{FF2B5EF4-FFF2-40B4-BE49-F238E27FC236}">
                <a16:creationId xmlns:a16="http://schemas.microsoft.com/office/drawing/2014/main" id="{D3DC9054-20A7-48F6-80AC-0A6C1AEB23C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fragmento describe una secuencia; las funciones representan tareas que el equipo debe relacionar con su proyecto. No se presenta como un firmware completo listo para compilar. Primero se prueba el servo con c08_servo y el sensor con c07_distancia. Después se integra un pequeño conjunto de posiciones. La condición para adquirir se define según el montaje y la evidencia disponible.</a:t>
            </a:r>
          </a:p>
        </p:txBody>
      </p:sp>
    </p:spTree>
    <p:extLst>
      <p:ext uri="{BB962C8B-B14F-4D97-AF65-F5344CB8AC3E}">
        <p14:creationId xmlns:p14="http://schemas.microsoft.com/office/powerpoint/2010/main" val="1163240159"/>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784501-0A18-4D21-AF69-F1A3C6DEBD6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momentos de una exploración</a:t>
            </a:r>
          </a:p>
        </p:txBody>
      </p:sp>
      <p:pic>
        <p:nvPicPr>
          <p:cNvPr id="2" name="">
            <a:extLst xmlns:a="http://schemas.openxmlformats.org/drawingml/2006/main">
              <a:ext uri="{FF2B5EF4-FFF2-40B4-BE49-F238E27FC236}">
                <a16:creationId xmlns:a16="http://schemas.microsoft.com/office/drawing/2014/main" id="{57B42CD4-520C-4433-A9B4-70E347A40E76}"/>
              </a:ext>
            </a:extLst>
          </p:cNvPr>
          <p:cNvPicPr>
            <a:picLocks xmlns:a="http://schemas.openxmlformats.org/drawingml/2006/main" noChangeAspect="1"/>
          </p:cNvPicPr>
          <p:nvPr/>
        </p:nvPicPr>
        <p:blipFill>
          <a:blip xmlns:r="http://schemas.openxmlformats.org/officeDocument/2006/relationships" xmlns:a="http://schemas.openxmlformats.org/drawingml/2006/main" r:embed="Rd472aa4fea07475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2323DEC-CA57-481C-AA9F-CAF74B883A8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12/24</a:t>
            </a:r>
          </a:p>
        </p:txBody>
      </p:sp>
      <p:sp>
        <p:nvSpPr>
          <p:cNvPr id="4" name="">
            <a:extLst xmlns:a="http://schemas.openxmlformats.org/drawingml/2006/main">
              <a:ext uri="{FF2B5EF4-FFF2-40B4-BE49-F238E27FC236}">
                <a16:creationId xmlns:a16="http://schemas.microsoft.com/office/drawing/2014/main" id="{8C254328-5E36-493A-A1E3-DA7BBDF5AC95}"/>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Estado 1: ordenar una posicion permitida</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commandServo(target);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Estado 2: esperar la condicion de adquisicion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Estado 3: adquirir y guardar el par coherente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record(target, sampleTime, distance, valid);</a:t>
            </a:r>
          </a:p>
        </p:txBody>
      </p:sp>
      <p:sp>
        <p:nvSpPr>
          <p:cNvPr id="5" name="">
            <a:extLst xmlns:a="http://schemas.openxmlformats.org/drawingml/2006/main">
              <a:ext uri="{FF2B5EF4-FFF2-40B4-BE49-F238E27FC236}">
                <a16:creationId xmlns:a16="http://schemas.microsoft.com/office/drawing/2014/main" id="{7C3DD722-C906-4073-AA94-63F8D074A2E9}"/>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834282319"/>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50AE87-2677-4D21-8550-DD03851D0C2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Secuencia del explorador</a:t>
            </a:r>
          </a:p>
        </p:txBody>
      </p:sp>
      <p:pic>
        <p:nvPicPr>
          <p:cNvPr id="2" name="">
            <a:extLst xmlns:a="http://schemas.openxmlformats.org/drawingml/2006/main">
              <a:ext uri="{FF2B5EF4-FFF2-40B4-BE49-F238E27FC236}">
                <a16:creationId xmlns:a16="http://schemas.microsoft.com/office/drawing/2014/main" id="{6213328E-0710-4AE7-B004-9B4B959172BF}"/>
              </a:ext>
            </a:extLst>
          </p:cNvPr>
          <p:cNvPicPr>
            <a:picLocks xmlns:a="http://schemas.openxmlformats.org/drawingml/2006/main" noChangeAspect="1"/>
          </p:cNvPicPr>
          <p:nvPr/>
        </p:nvPicPr>
        <p:blipFill>
          <a:blip xmlns:r="http://schemas.openxmlformats.org/officeDocument/2006/relationships" xmlns:a="http://schemas.openxmlformats.org/drawingml/2006/main" r:embed="R85198329fc374af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CF770D-169D-440A-8F6A-4BD7D8F6303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13/24</a:t>
            </a:r>
          </a:p>
        </p:txBody>
      </p:sp>
      <p:sp>
        <p:nvSpPr>
          <p:cNvPr id="4" name="">
            <a:extLst xmlns:a="http://schemas.openxmlformats.org/drawingml/2006/main">
              <a:ext uri="{FF2B5EF4-FFF2-40B4-BE49-F238E27FC236}">
                <a16:creationId xmlns:a16="http://schemas.microsoft.com/office/drawing/2014/main" id="{4C7ED84E-47A9-4FB5-B95D-4DEB42939B8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práctica del brazo robótico sirve como variante de mando y filtrado del potenciómetro. Su señal se puede reutilizar para una base de cámara, pero no basta cambiar el dibujo del proyecto para conocer la orientación de una carga. El equipo explica qué variable mide realmente y qué movimiento solo ordena. Esta distinción se conservará cuando aparezcan motores con encoder.</a:t>
            </a:r>
          </a:p>
        </p:txBody>
      </p:sp>
    </p:spTree>
    <p:extLst>
      <p:ext uri="{BB962C8B-B14F-4D97-AF65-F5344CB8AC3E}">
        <p14:creationId xmlns:p14="http://schemas.microsoft.com/office/powerpoint/2010/main" val="1650982804"/>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117C12-8455-4386-A4AC-D37ED4EFB8A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Agenda de cuatro horas y evidencias</a:t>
            </a:r>
          </a:p>
        </p:txBody>
      </p:sp>
      <p:pic>
        <p:nvPicPr>
          <p:cNvPr id="2" name="">
            <a:extLst xmlns:a="http://schemas.openxmlformats.org/drawingml/2006/main">
              <a:ext uri="{FF2B5EF4-FFF2-40B4-BE49-F238E27FC236}">
                <a16:creationId xmlns:a16="http://schemas.microsoft.com/office/drawing/2014/main" id="{254EC869-60FE-403E-9239-50BA0E7D6C08}"/>
              </a:ext>
            </a:extLst>
          </p:cNvPr>
          <p:cNvPicPr>
            <a:picLocks xmlns:a="http://schemas.openxmlformats.org/drawingml/2006/main" noChangeAspect="1"/>
          </p:cNvPicPr>
          <p:nvPr/>
        </p:nvPicPr>
        <p:blipFill>
          <a:blip xmlns:r="http://schemas.openxmlformats.org/officeDocument/2006/relationships" xmlns:a="http://schemas.openxmlformats.org/drawingml/2006/main" r:embed="R181e54576f444a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0D4D6AE-0A9D-4360-82C4-A5EC6933B35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14/24</a:t>
            </a:r>
          </a:p>
        </p:txBody>
      </p:sp>
      <p:sp>
        <p:nvSpPr>
          <p:cNvPr id="4" name="">
            <a:extLst xmlns:a="http://schemas.openxmlformats.org/drawingml/2006/main">
              <a:ext uri="{FF2B5EF4-FFF2-40B4-BE49-F238E27FC236}">
                <a16:creationId xmlns:a16="http://schemas.microsoft.com/office/drawing/2014/main" id="{5AE348B0-293D-4C6D-A7F1-8228526EDD8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Los alumnos con kit trabajan con su material confirmado. Los demás usan el simulador y los bancos compartidos programados para el taller. En el registro se identifica qué comprobación se realizó físicamente y cuál pertenece a una ejecución de simulación. El resultado común del curso es la explicación del sistema y de su evidencia, con el modo de trabajo documentado.</a:t>
            </a:r>
          </a:p>
        </p:txBody>
      </p:sp>
    </p:spTree>
    <p:extLst>
      <p:ext uri="{BB962C8B-B14F-4D97-AF65-F5344CB8AC3E}">
        <p14:creationId xmlns:p14="http://schemas.microsoft.com/office/powerpoint/2010/main" val="1442788788"/>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83754A-1355-48B8-9C30-E7E9C14BBF5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Taller presencial 1</a:t>
            </a:r>
          </a:p>
        </p:txBody>
      </p:sp>
      <p:pic>
        <p:nvPicPr>
          <p:cNvPr id="2" name="">
            <a:extLst xmlns:a="http://schemas.openxmlformats.org/drawingml/2006/main">
              <a:ext uri="{FF2B5EF4-FFF2-40B4-BE49-F238E27FC236}">
                <a16:creationId xmlns:a16="http://schemas.microsoft.com/office/drawing/2014/main" id="{275FB353-C627-4B9E-9601-C72070A695C5}"/>
              </a:ext>
            </a:extLst>
          </p:cNvPr>
          <p:cNvPicPr>
            <a:picLocks xmlns:a="http://schemas.openxmlformats.org/drawingml/2006/main" noChangeAspect="1"/>
          </p:cNvPicPr>
          <p:nvPr/>
        </p:nvPicPr>
        <p:blipFill>
          <a:blip xmlns:r="http://schemas.openxmlformats.org/officeDocument/2006/relationships" xmlns:a="http://schemas.openxmlformats.org/drawingml/2006/main" r:embed="R3b9af769389a4fb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DCA011-37E1-4E17-92BD-614C5F71A6B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15/24</a:t>
            </a:r>
          </a:p>
        </p:txBody>
      </p:sp>
      <p:graphicFrame>
        <p:nvGraphicFramePr>
          <p:cNvPr id="4" name="">
            <a:extLst xmlns:a="http://schemas.openxmlformats.org/drawingml/2006/main">
              <a:ext uri="{FF2B5EF4-FFF2-40B4-BE49-F238E27FC236}">
                <a16:creationId xmlns:a16="http://schemas.microsoft.com/office/drawing/2014/main" id="{7BC0EE13-56A7-47F0-BEFB-DC62610F954A}"/>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3238500"/>
                <a:gridCol w="3667125"/>
                <a:gridCol w="4105275"/>
              </a:tblGrid>
              <a:tr h="587829">
                <a:tc>
                  <a:txBody>
                    <a:bodyPr/>
                    <a:lstStyle/>
                    <a:p>
                      <a:r>
                        <a:rPr sz="17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Trabajo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725" b="1">
                          <a:solidFill>
                            <a:srgbClr val="FFFFFF"/>
                          </a:solidFill>
                          <a:latin typeface="Arial"/>
                          <a:ea typeface="Arial"/>
                          <a:cs typeface="Arial"/>
                        </a:rPr>
                        <a:t>Producto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587829">
                <a:tc>
                  <a:txBody>
                    <a:bodyPr/>
                    <a:lstStyle/>
                    <a:p>
                      <a:r>
                        <a:rPr sz="1725" b="0">
                          <a:solidFill>
                            <a:srgbClr val="14231E"/>
                          </a:solidFill>
                          <a:latin typeface="Arial"/>
                          <a:ea typeface="Arial"/>
                          <a:cs typeface="Arial"/>
                        </a:rPr>
                        <a:t>0–25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Revisión de esquemas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Mapa del equipo</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25–70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Servo y señales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Intervalo comprobado</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70–120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Ultrasonido y nivel</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Referencia de distancia</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120–175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Integración por estados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Registro coherente</a:t>
                      </a:r>
                    </a:p>
                  </a:txBody>
                  <a:tcPr marL="91440" marR="91440" marT="45720" marB="45720">
                    <a:lnR w="9525">
                      <a:solidFill>
                        <a:srgbClr val="BFCEC3"/>
                      </a:solidFill>
                      <a:prstDash val="solid"/>
                    </a:lnR>
                    <a:lnB w="9525">
                      <a:solidFill>
                        <a:srgbClr val="BFCEC3"/>
                      </a:solidFill>
                      <a:prstDash val="solid"/>
                    </a:lnB>
                    <a:solidFill>
                      <a:srgbClr val="FCFCF8"/>
                    </a:solidFill>
                  </a:tcPr>
                </a:tc>
              </a:tr>
              <a:tr h="587829">
                <a:tc>
                  <a:txBody>
                    <a:bodyPr/>
                    <a:lstStyle/>
                    <a:p>
                      <a:r>
                        <a:rPr sz="1725" b="0">
                          <a:solidFill>
                            <a:srgbClr val="14231E"/>
                          </a:solidFill>
                          <a:latin typeface="Arial"/>
                          <a:ea typeface="Arial"/>
                          <a:cs typeface="Arial"/>
                        </a:rPr>
                        <a:t>175–215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Pruebas y diagnóstico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725" b="0">
                          <a:solidFill>
                            <a:srgbClr val="14231E"/>
                          </a:solidFill>
                          <a:latin typeface="Arial"/>
                          <a:ea typeface="Arial"/>
                          <a:cs typeface="Arial"/>
                        </a:rPr>
                        <a:t>Fallo explicado</a:t>
                      </a:r>
                    </a:p>
                  </a:txBody>
                  <a:tcPr marL="91440" marR="91440" marT="45720" marB="45720">
                    <a:lnR w="9525">
                      <a:solidFill>
                        <a:srgbClr val="BFCEC3"/>
                      </a:solidFill>
                      <a:prstDash val="solid"/>
                    </a:lnR>
                    <a:lnB w="9525">
                      <a:solidFill>
                        <a:srgbClr val="BFCEC3"/>
                      </a:solidFill>
                      <a:prstDash val="solid"/>
                    </a:lnB>
                    <a:solidFill>
                      <a:srgbClr val="EAF3EC"/>
                    </a:solidFill>
                  </a:tcPr>
                </a:tc>
              </a:tr>
              <a:tr h="587829">
                <a:tc>
                  <a:txBody>
                    <a:bodyPr/>
                    <a:lstStyle/>
                    <a:p>
                      <a:r>
                        <a:rPr sz="1725" b="0">
                          <a:solidFill>
                            <a:srgbClr val="14231E"/>
                          </a:solidFill>
                          <a:latin typeface="Arial"/>
                          <a:ea typeface="Arial"/>
                          <a:cs typeface="Arial"/>
                        </a:rPr>
                        <a:t>215–240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Demostración y cierre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725" b="0">
                          <a:solidFill>
                            <a:srgbClr val="14231E"/>
                          </a:solidFill>
                          <a:latin typeface="Arial"/>
                          <a:ea typeface="Arial"/>
                          <a:cs typeface="Arial"/>
                        </a:rPr>
                        <a:t>Entrega del equipo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131209616"/>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3DF02D-8E9B-4E1E-9B63-E2DF798C371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Agenda de cuatro horas y evidencias</a:t>
            </a:r>
          </a:p>
        </p:txBody>
      </p:sp>
      <p:pic>
        <p:nvPicPr>
          <p:cNvPr id="2" name="">
            <a:extLst xmlns:a="http://schemas.openxmlformats.org/drawingml/2006/main">
              <a:ext uri="{FF2B5EF4-FFF2-40B4-BE49-F238E27FC236}">
                <a16:creationId xmlns:a16="http://schemas.microsoft.com/office/drawing/2014/main" id="{052AF130-DB9C-4A36-B4E3-47CA82A655A4}"/>
              </a:ext>
            </a:extLst>
          </p:cNvPr>
          <p:cNvPicPr>
            <a:picLocks xmlns:a="http://schemas.openxmlformats.org/drawingml/2006/main" noChangeAspect="1"/>
          </p:cNvPicPr>
          <p:nvPr/>
        </p:nvPicPr>
        <p:blipFill>
          <a:blip xmlns:r="http://schemas.openxmlformats.org/officeDocument/2006/relationships" xmlns:a="http://schemas.openxmlformats.org/drawingml/2006/main" r:embed="R09053364f42c4f5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CECA110-E167-4D84-872E-5E9784266B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16/24</a:t>
            </a:r>
          </a:p>
        </p:txBody>
      </p:sp>
      <p:sp>
        <p:nvSpPr>
          <p:cNvPr id="4" name="">
            <a:extLst xmlns:a="http://schemas.openxmlformats.org/drawingml/2006/main">
              <a:ext uri="{FF2B5EF4-FFF2-40B4-BE49-F238E27FC236}">
                <a16:creationId xmlns:a16="http://schemas.microsoft.com/office/drawing/2014/main" id="{7662618F-E311-4F64-92A5-B162CB9A5F4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Comprueba por separado cada subsistema antes de integrar.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Ordena tres posiciones permitidas y registra qué has observado.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Relaciona cada distancia con la orden y el instante que le corresponden.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Trata un caso sin eco y conserva el estado en lugar de inventar distancia.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Intercambia roles de cableado, programación, medida y registro.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Entrega una conclusión sobre alimentación y otra sobre sincronización.</a:t>
            </a:r>
          </a:p>
        </p:txBody>
      </p:sp>
    </p:spTree>
    <p:extLst>
      <p:ext uri="{BB962C8B-B14F-4D97-AF65-F5344CB8AC3E}">
        <p14:creationId xmlns:p14="http://schemas.microsoft.com/office/powerpoint/2010/main" val="1998779834"/>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C2E9F7-938E-4896-9EFD-CAB878F02A2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se acepta al cerrar el taller</a:t>
            </a:r>
          </a:p>
        </p:txBody>
      </p:sp>
      <p:pic>
        <p:nvPicPr>
          <p:cNvPr id="2" name="">
            <a:extLst xmlns:a="http://schemas.openxmlformats.org/drawingml/2006/main">
              <a:ext uri="{FF2B5EF4-FFF2-40B4-BE49-F238E27FC236}">
                <a16:creationId xmlns:a16="http://schemas.microsoft.com/office/drawing/2014/main" id="{F99BF245-6492-4EE9-BA6C-DAE40E4FA957}"/>
              </a:ext>
            </a:extLst>
          </p:cNvPr>
          <p:cNvPicPr>
            <a:picLocks xmlns:a="http://schemas.openxmlformats.org/drawingml/2006/main" noChangeAspect="1"/>
          </p:cNvPicPr>
          <p:nvPr/>
        </p:nvPicPr>
        <p:blipFill>
          <a:blip xmlns:r="http://schemas.openxmlformats.org/officeDocument/2006/relationships" xmlns:a="http://schemas.openxmlformats.org/drawingml/2006/main" r:embed="R3ee3836b82e244e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883AE4-14BA-40C7-937F-26F9509600F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17/24</a:t>
            </a:r>
          </a:p>
        </p:txBody>
      </p:sp>
      <p:sp>
        <p:nvSpPr>
          <p:cNvPr id="4" name="">
            <a:extLst xmlns:a="http://schemas.openxmlformats.org/drawingml/2006/main">
              <a:ext uri="{FF2B5EF4-FFF2-40B4-BE49-F238E27FC236}">
                <a16:creationId xmlns:a16="http://schemas.microsoft.com/office/drawing/2014/main" id="{0293E55E-99F3-41C9-AD70-A6340EDEA90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entrega debe permitir que otra persona reconstruya el ensayo: esquema vigente, configuración de señal, intervalo permitido, código identificado y una tabla de posiciones y lecturas. Una animación atractiva no sustituye ese registro. Tampoco se exige una exploración de muchos puntos antes de resolver tres casos coherentes. La calidad se reconoce en que el equipo puede explicar de dónde salió cada dato y qué falta comprobar.</a:t>
            </a:r>
          </a:p>
        </p:txBody>
      </p:sp>
    </p:spTree>
    <p:extLst>
      <p:ext uri="{BB962C8B-B14F-4D97-AF65-F5344CB8AC3E}">
        <p14:creationId xmlns:p14="http://schemas.microsoft.com/office/powerpoint/2010/main" val="906522491"/>
      </p:ext>
    </p:extLst>
  </p:cSld>
</p:sld>
</file>

<file path=ppt/slides/slide4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64E32C-27E1-4C0E-B372-E06A0EDE22B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EDBA4897-BFCD-49FD-8A42-2C6AEC863BBA}"/>
              </a:ext>
            </a:extLst>
          </p:cNvPr>
          <p:cNvPicPr>
            <a:picLocks xmlns:a="http://schemas.openxmlformats.org/drawingml/2006/main" noChangeAspect="1"/>
          </p:cNvPicPr>
          <p:nvPr/>
        </p:nvPicPr>
        <p:blipFill>
          <a:blip xmlns:r="http://schemas.openxmlformats.org/officeDocument/2006/relationships" xmlns:a="http://schemas.openxmlformats.org/drawingml/2006/main" r:embed="Refa2c35dd7ed423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2C0C92E-9FB1-448B-99F2-73EDE491128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18/24</a:t>
            </a:r>
          </a:p>
        </p:txBody>
      </p:sp>
      <p:sp>
        <p:nvSpPr>
          <p:cNvPr id="4" name="">
            <a:extLst xmlns:a="http://schemas.openxmlformats.org/drawingml/2006/main">
              <a:ext uri="{FF2B5EF4-FFF2-40B4-BE49-F238E27FC236}">
                <a16:creationId xmlns:a16="http://schemas.microsoft.com/office/drawing/2014/main" id="{4E8DBBDD-3F92-4802-A8D5-41A550174846}"/>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Dos equipos dibujan el mismo barrido. Uno guarda solo distancias y el otro guarda orden, instante y estado. ¿Cuál permite investigar una lectura fuera de secuencia?</a:t>
            </a:r>
          </a:p>
        </p:txBody>
      </p:sp>
      <p:sp>
        <p:nvSpPr>
          <p:cNvPr id="5" name="">
            <a:extLst xmlns:a="http://schemas.openxmlformats.org/drawingml/2006/main">
              <a:ext uri="{FF2B5EF4-FFF2-40B4-BE49-F238E27FC236}">
                <a16:creationId xmlns:a16="http://schemas.microsoft.com/office/drawing/2014/main" id="{4FCB8194-A4EC-4DF6-A78E-70A5F8A1B138}"/>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Para investigar, compara el servo con el stepper del proyecto 13: señal de mando, energía, estado que se conoce y mecanismo de transmisión. Deja el stepper como ampliación hasta disponer de motor y driver coherentes. La siguiente parte del curso profundiza en potencia, medición de movimiento y realimentación, usando un banco DC de baja tensión.</a:t>
            </a:r>
          </a:p>
        </p:txBody>
      </p:sp>
    </p:spTree>
    <p:extLst>
      <p:ext uri="{BB962C8B-B14F-4D97-AF65-F5344CB8AC3E}">
        <p14:creationId xmlns:p14="http://schemas.microsoft.com/office/powerpoint/2010/main" val="768756697"/>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4AA867-D986-4784-84AE-6455A761484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Misma figura, distinto registro</a:t>
            </a:r>
          </a:p>
        </p:txBody>
      </p:sp>
      <p:pic>
        <p:nvPicPr>
          <p:cNvPr id="2" name="">
            <a:extLst xmlns:a="http://schemas.openxmlformats.org/drawingml/2006/main">
              <a:ext uri="{FF2B5EF4-FFF2-40B4-BE49-F238E27FC236}">
                <a16:creationId xmlns:a16="http://schemas.microsoft.com/office/drawing/2014/main" id="{D29D4D2F-0A97-487A-B235-157B48912369}"/>
              </a:ext>
            </a:extLst>
          </p:cNvPr>
          <p:cNvPicPr>
            <a:picLocks xmlns:a="http://schemas.openxmlformats.org/drawingml/2006/main" noChangeAspect="1"/>
          </p:cNvPicPr>
          <p:nvPr/>
        </p:nvPicPr>
        <p:blipFill>
          <a:blip xmlns:r="http://schemas.openxmlformats.org/officeDocument/2006/relationships" xmlns:a="http://schemas.openxmlformats.org/drawingml/2006/main" r:embed="R30171c5890cf4b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7ABB0C-6F5A-4741-9D6C-7E7608B62CC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19/24</a:t>
            </a:r>
          </a:p>
        </p:txBody>
      </p:sp>
      <p:sp>
        <p:nvSpPr>
          <p:cNvPr id="4" name="">
            <a:extLst xmlns:a="http://schemas.openxmlformats.org/drawingml/2006/main">
              <a:ext uri="{FF2B5EF4-FFF2-40B4-BE49-F238E27FC236}">
                <a16:creationId xmlns:a16="http://schemas.microsoft.com/office/drawing/2014/main" id="{34F54A67-C330-4F16-AFDD-C5CBBBDEC1B8}"/>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Dos equipos dibujan el mismo barrido. Uno guarda solo distancias y el otro guarda orden, instante y estado. ¿Cuál permite investigar una lectura fuera de secuencia?</a:t>
            </a:r>
          </a:p>
        </p:txBody>
      </p:sp>
      <p:sp>
        <p:nvSpPr>
          <p:cNvPr id="5" name="">
            <a:extLst xmlns:a="http://schemas.openxmlformats.org/drawingml/2006/main">
              <a:ext uri="{FF2B5EF4-FFF2-40B4-BE49-F238E27FC236}">
                <a16:creationId xmlns:a16="http://schemas.microsoft.com/office/drawing/2014/main" id="{19FFA770-3B98-48C3-A891-3F72AC8F6FE1}"/>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El segundo conserva las referencias necesarias. La figura por sí sola no permite saber cuándo se adquirió cada dato.</a:t>
            </a:r>
          </a:p>
        </p:txBody>
      </p:sp>
    </p:spTree>
    <p:extLst>
      <p:ext uri="{BB962C8B-B14F-4D97-AF65-F5344CB8AC3E}">
        <p14:creationId xmlns:p14="http://schemas.microsoft.com/office/powerpoint/2010/main" val="292385301"/>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BFC62A-C6D5-4E43-81C3-8C6B2C0C0BE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34217C89-C8FB-4E17-AB49-56B77447619C}"/>
              </a:ext>
            </a:extLst>
          </p:cNvPr>
          <p:cNvPicPr>
            <a:picLocks xmlns:a="http://schemas.openxmlformats.org/drawingml/2006/main" noChangeAspect="1"/>
          </p:cNvPicPr>
          <p:nvPr/>
        </p:nvPicPr>
        <p:blipFill>
          <a:blip xmlns:r="http://schemas.openxmlformats.org/officeDocument/2006/relationships" xmlns:a="http://schemas.openxmlformats.org/drawingml/2006/main" r:embed="Rb1f225bb74014a3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43059A-204D-4ED9-8541-9CFF1AED96F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20/24</a:t>
            </a:r>
          </a:p>
        </p:txBody>
      </p:sp>
      <p:sp>
        <p:nvSpPr>
          <p:cNvPr id="4" name="">
            <a:extLst xmlns:a="http://schemas.openxmlformats.org/drawingml/2006/main">
              <a:ext uri="{FF2B5EF4-FFF2-40B4-BE49-F238E27FC236}">
                <a16:creationId xmlns:a16="http://schemas.microsoft.com/office/drawing/2014/main" id="{C8EA785D-6262-4B03-8D8A-45970185ADC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Presentar el esquema completo y el intervalo mecánico antes de mover.</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Verificar servo y sensor de manera independiente.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Integrar tres posiciones con tiempo y validez en el registro.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Demostrar un fallo y explicar la evidencia de cada equipo.</a:t>
            </a:r>
          </a:p>
        </p:txBody>
      </p:sp>
    </p:spTree>
    <p:extLst>
      <p:ext uri="{BB962C8B-B14F-4D97-AF65-F5344CB8AC3E}">
        <p14:creationId xmlns:p14="http://schemas.microsoft.com/office/powerpoint/2010/main" val="1418249935"/>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7B94A7-7FB0-4CD8-9A76-ED66ED0743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82B08127-A645-4DD7-B344-4170F79F6A9E}"/>
              </a:ext>
            </a:extLst>
          </p:cNvPr>
          <p:cNvPicPr>
            <a:picLocks xmlns:a="http://schemas.openxmlformats.org/drawingml/2006/main" noChangeAspect="1"/>
          </p:cNvPicPr>
          <p:nvPr/>
        </p:nvPicPr>
        <p:blipFill>
          <a:blip xmlns:r="http://schemas.openxmlformats.org/officeDocument/2006/relationships" xmlns:a="http://schemas.openxmlformats.org/drawingml/2006/main" r:embed="R6dd7161851da473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DC8654-E6D0-43B8-8A2B-66480C74729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21/24</a:t>
            </a:r>
          </a:p>
        </p:txBody>
      </p:sp>
      <p:sp>
        <p:nvSpPr>
          <p:cNvPr id="4" name="">
            <a:extLst xmlns:a="http://schemas.openxmlformats.org/drawingml/2006/main">
              <a:ext uri="{FF2B5EF4-FFF2-40B4-BE49-F238E27FC236}">
                <a16:creationId xmlns:a16="http://schemas.microsoft.com/office/drawing/2014/main" id="{A38AC4C5-361E-4689-B87A-D5BC75658D03}"/>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base de sensor o cámara necesita relacionar posición ordenada, tiempo de movimiento y dato adquirido.</a:t>
            </a:r>
          </a:p>
        </p:txBody>
      </p:sp>
      <p:sp>
        <p:nvSpPr>
          <p:cNvPr id="5" name="">
            <a:extLst xmlns:a="http://schemas.openxmlformats.org/drawingml/2006/main">
              <a:ext uri="{FF2B5EF4-FFF2-40B4-BE49-F238E27FC236}">
                <a16:creationId xmlns:a16="http://schemas.microsoft.com/office/drawing/2014/main" id="{1CC56521-63E9-4BCF-B946-42FC20142D3B}"/>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817402450"/>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F961DC-4FDA-4ABC-966F-250E4765653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C1D2F549-7D35-473E-9840-F417FC428C30}"/>
              </a:ext>
            </a:extLst>
          </p:cNvPr>
          <p:cNvPicPr>
            <a:picLocks xmlns:a="http://schemas.openxmlformats.org/drawingml/2006/main" noChangeAspect="1"/>
          </p:cNvPicPr>
          <p:nvPr/>
        </p:nvPicPr>
        <p:blipFill>
          <a:blip xmlns:r="http://schemas.openxmlformats.org/officeDocument/2006/relationships" xmlns:a="http://schemas.openxmlformats.org/drawingml/2006/main" r:embed="R5f7c0895fd32480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77D15F-CA5D-4088-94BB-7251FDAEA1D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22/24</a:t>
            </a:r>
          </a:p>
        </p:txBody>
      </p:sp>
      <p:sp>
        <p:nvSpPr>
          <p:cNvPr id="4" name="">
            <a:extLst xmlns:a="http://schemas.openxmlformats.org/drawingml/2006/main">
              <a:ext uri="{FF2B5EF4-FFF2-40B4-BE49-F238E27FC236}">
                <a16:creationId xmlns:a16="http://schemas.microsoft.com/office/drawing/2014/main" id="{5CF3F6D0-7DD6-4DF9-B708-DB0AD541B7A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¿Ordenar 90° demuestra que el mecanismo llegó?</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¿Por qué no usar el GPIO como alimentación?</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debe acompañar una distancia del barrido?</a:t>
            </a:r>
          </a:p>
        </p:txBody>
      </p:sp>
    </p:spTree>
    <p:extLst>
      <p:ext uri="{BB962C8B-B14F-4D97-AF65-F5344CB8AC3E}">
        <p14:creationId xmlns:p14="http://schemas.microsoft.com/office/powerpoint/2010/main" val="652622652"/>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089B04-1C86-40DE-8CB9-6066772EA70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615EEDEC-0097-499C-9CF8-F17D9AEFC177}"/>
              </a:ext>
            </a:extLst>
          </p:cNvPr>
          <p:cNvPicPr>
            <a:picLocks xmlns:a="http://schemas.openxmlformats.org/drawingml/2006/main" noChangeAspect="1"/>
          </p:cNvPicPr>
          <p:nvPr/>
        </p:nvPicPr>
        <p:blipFill>
          <a:blip xmlns:r="http://schemas.openxmlformats.org/officeDocument/2006/relationships" xmlns:a="http://schemas.openxmlformats.org/drawingml/2006/main" r:embed="Rf6ff69511f0e4e9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5E174B-54AB-47F6-8002-C01775EEC47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23/24</a:t>
            </a:r>
          </a:p>
        </p:txBody>
      </p:sp>
      <p:sp>
        <p:nvSpPr>
          <p:cNvPr id="4" name="">
            <a:extLst xmlns:a="http://schemas.openxmlformats.org/drawingml/2006/main">
              <a:ext uri="{FF2B5EF4-FFF2-40B4-BE49-F238E27FC236}">
                <a16:creationId xmlns:a16="http://schemas.microsoft.com/office/drawing/2014/main" id="{9CD52C45-E409-4BD8-B566-F0CF88EC8AB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Se distingue la orden de una posición observada o medida.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El GPIO comunica la señal; la energía del actuador exige una etapa de alimentación adecuada.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La orden o posición de referencia, el instante y el estado de validez.</a:t>
            </a:r>
          </a:p>
        </p:txBody>
      </p:sp>
    </p:spTree>
    <p:extLst>
      <p:ext uri="{BB962C8B-B14F-4D97-AF65-F5344CB8AC3E}">
        <p14:creationId xmlns:p14="http://schemas.microsoft.com/office/powerpoint/2010/main" val="984587743"/>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5C84DB-5C9A-4E23-91A5-4E3A0916930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EBC5C525-EA08-4C32-9DE7-63EB58E51C0C}"/>
              </a:ext>
            </a:extLst>
          </p:cNvPr>
          <p:cNvPicPr>
            <a:picLocks xmlns:a="http://schemas.openxmlformats.org/drawingml/2006/main" noChangeAspect="1"/>
          </p:cNvPicPr>
          <p:nvPr/>
        </p:nvPicPr>
        <p:blipFill>
          <a:blip xmlns:r="http://schemas.openxmlformats.org/officeDocument/2006/relationships" xmlns:a="http://schemas.openxmlformats.org/drawingml/2006/main" r:embed="Rf651873ed7b44bd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72FF52-D17C-4D0D-85EB-845819D53AF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24/24</a:t>
            </a:r>
          </a:p>
        </p:txBody>
      </p:sp>
      <p:sp>
        <p:nvSpPr>
          <p:cNvPr id="4" name="">
            <a:extLst xmlns:a="http://schemas.openxmlformats.org/drawingml/2006/main">
              <a:ext uri="{FF2B5EF4-FFF2-40B4-BE49-F238E27FC236}">
                <a16:creationId xmlns:a16="http://schemas.microsoft.com/office/drawing/2014/main" id="{1DF3F62B-1622-45B2-B505-538407521A49}"/>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Esquema revisado, tres registros coherentes y diagnóstico de una condición de fallo.</a:t>
            </a:r>
          </a:p>
        </p:txBody>
      </p:sp>
      <p:sp>
        <p:nvSpPr>
          <p:cNvPr id="5" name="">
            <a:extLst xmlns:a="http://schemas.openxmlformats.org/drawingml/2006/main">
              <a:ext uri="{FF2B5EF4-FFF2-40B4-BE49-F238E27FC236}">
                <a16:creationId xmlns:a16="http://schemas.microsoft.com/office/drawing/2014/main" id="{7A35767F-5DAC-4B7B-A72C-B8EB41A16BA0}"/>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974723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2026-10-22T20:13:01.5430000Z</dcterms:created>
  <dcterms:modified xsi:type="dcterms:W3CDTF">2026-10-22T20:13:01.5430000Z</dcterms:modified>
</coreProperties>
</file>