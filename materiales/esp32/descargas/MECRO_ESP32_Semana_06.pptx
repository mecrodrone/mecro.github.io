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2.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4ad68b8186045d6" /><Relationship Type="http://schemas.openxmlformats.org/officeDocument/2006/relationships/extended-properties" Target="/docProps/app.xml" Id="R94a0585ed69a413f" /><Relationship Type="http://schemas.openxmlformats.org/officeDocument/2006/relationships/officeDocument" Target="/ppt/presentation.xml" Id="R63dfbdffbf4c49ce" /></Relationships>
</file>

<file path=ppt/presentation.xml><?xml version="1.0" encoding="utf-8"?>
<p:presentation xmlns:p="http://schemas.openxmlformats.org/presentationml/2006/main">
  <p:sldMasterIdLst>
    <p:sldMasterId xmlns:r="http://schemas.openxmlformats.org/officeDocument/2006/relationships" id="2147483648" r:id="Rd74a1736254c4b82"/>
  </p:sldMasterIdLst>
  <p:notesMasterIdLst>
    <p:notesMasterId xmlns:r="http://schemas.openxmlformats.org/officeDocument/2006/relationships" r:id="R8427692db80547fe"/>
  </p:notesMasterIdLst>
  <p:sldIdLst>
    <p:sldId xmlns:r="http://schemas.openxmlformats.org/officeDocument/2006/relationships" id="256" r:id="R46a4ac0df37f44b6"/>
    <p:sldId xmlns:r="http://schemas.openxmlformats.org/officeDocument/2006/relationships" id="257" r:id="R39c53056b9d84422"/>
    <p:sldId xmlns:r="http://schemas.openxmlformats.org/officeDocument/2006/relationships" id="258" r:id="Rfb183dd362674828"/>
    <p:sldId xmlns:r="http://schemas.openxmlformats.org/officeDocument/2006/relationships" id="259" r:id="Rc8cadee3f69c4d9c"/>
    <p:sldId xmlns:r="http://schemas.openxmlformats.org/officeDocument/2006/relationships" id="260" r:id="R3c38d25c5e614980"/>
    <p:sldId xmlns:r="http://schemas.openxmlformats.org/officeDocument/2006/relationships" id="261" r:id="R631b5cebebde455f"/>
    <p:sldId xmlns:r="http://schemas.openxmlformats.org/officeDocument/2006/relationships" id="262" r:id="R3c8be3b46d234337"/>
    <p:sldId xmlns:r="http://schemas.openxmlformats.org/officeDocument/2006/relationships" id="263" r:id="R8f602a7972a648a3"/>
    <p:sldId xmlns:r="http://schemas.openxmlformats.org/officeDocument/2006/relationships" id="264" r:id="R9b35fe04be0c4313"/>
    <p:sldId xmlns:r="http://schemas.openxmlformats.org/officeDocument/2006/relationships" id="265" r:id="R701160608eeb469d"/>
    <p:sldId xmlns:r="http://schemas.openxmlformats.org/officeDocument/2006/relationships" id="266" r:id="R161df7d5fc794cd8"/>
    <p:sldId xmlns:r="http://schemas.openxmlformats.org/officeDocument/2006/relationships" id="267" r:id="R2a7dfe29a5484d7c"/>
    <p:sldId xmlns:r="http://schemas.openxmlformats.org/officeDocument/2006/relationships" id="268" r:id="R355b8fe733394de5"/>
    <p:sldId xmlns:r="http://schemas.openxmlformats.org/officeDocument/2006/relationships" id="269" r:id="R7ae1125aac9a47ad"/>
    <p:sldId xmlns:r="http://schemas.openxmlformats.org/officeDocument/2006/relationships" id="270" r:id="R4cf74e16656a4ce7"/>
    <p:sldId xmlns:r="http://schemas.openxmlformats.org/officeDocument/2006/relationships" id="271" r:id="Rb11662bee2a6421b"/>
    <p:sldId xmlns:r="http://schemas.openxmlformats.org/officeDocument/2006/relationships" id="272" r:id="R5d4b123f7e2644be"/>
    <p:sldId xmlns:r="http://schemas.openxmlformats.org/officeDocument/2006/relationships" id="273" r:id="Ra0886e9527f9411b"/>
    <p:sldId xmlns:r="http://schemas.openxmlformats.org/officeDocument/2006/relationships" id="274" r:id="R7318ff7afe58450d"/>
    <p:sldId xmlns:r="http://schemas.openxmlformats.org/officeDocument/2006/relationships" id="275" r:id="Rfb22474a7cbf4557"/>
    <p:sldId xmlns:r="http://schemas.openxmlformats.org/officeDocument/2006/relationships" id="276" r:id="Rab076cdf5a0e4558"/>
    <p:sldId xmlns:r="http://schemas.openxmlformats.org/officeDocument/2006/relationships" id="277" r:id="R79c9b19c98344607"/>
    <p:sldId xmlns:r="http://schemas.openxmlformats.org/officeDocument/2006/relationships" id="278" r:id="R7261e7f5e9a84fb6"/>
    <p:sldId xmlns:r="http://schemas.openxmlformats.org/officeDocument/2006/relationships" id="279" r:id="R20658093e1a346ec"/>
    <p:sldId xmlns:r="http://schemas.openxmlformats.org/officeDocument/2006/relationships" id="280" r:id="Rd4c894a8aa664207"/>
    <p:sldId xmlns:r="http://schemas.openxmlformats.org/officeDocument/2006/relationships" id="281" r:id="R8384a93824ef4af2"/>
    <p:sldId xmlns:r="http://schemas.openxmlformats.org/officeDocument/2006/relationships" id="282" r:id="R04e5936b24d94b61"/>
    <p:sldId xmlns:r="http://schemas.openxmlformats.org/officeDocument/2006/relationships" id="283" r:id="R99a70a08cac24bb7"/>
    <p:sldId xmlns:r="http://schemas.openxmlformats.org/officeDocument/2006/relationships" id="284" r:id="R477b7a8a5d6844f5"/>
    <p:sldId xmlns:r="http://schemas.openxmlformats.org/officeDocument/2006/relationships" id="285" r:id="R2d07f7ab82a74675"/>
    <p:sldId xmlns:r="http://schemas.openxmlformats.org/officeDocument/2006/relationships" id="286" r:id="R733e6ae65ebd47b6"/>
    <p:sldId xmlns:r="http://schemas.openxmlformats.org/officeDocument/2006/relationships" id="287" r:id="Rb25f879b9a7f46b1"/>
    <p:sldId xmlns:r="http://schemas.openxmlformats.org/officeDocument/2006/relationships" id="288" r:id="R28a03b97b8c24ff8"/>
    <p:sldId xmlns:r="http://schemas.openxmlformats.org/officeDocument/2006/relationships" id="289" r:id="Rf0f249cfa62f4056"/>
    <p:sldId xmlns:r="http://schemas.openxmlformats.org/officeDocument/2006/relationships" id="290" r:id="R1744f248e63741e0"/>
    <p:sldId xmlns:r="http://schemas.openxmlformats.org/officeDocument/2006/relationships" id="291" r:id="R85bf1f0fe3fc48ee"/>
    <p:sldId xmlns:r="http://schemas.openxmlformats.org/officeDocument/2006/relationships" id="292" r:id="R78775ac243934889"/>
    <p:sldId xmlns:r="http://schemas.openxmlformats.org/officeDocument/2006/relationships" id="293" r:id="R18c639c7309d43d2"/>
    <p:sldId xmlns:r="http://schemas.openxmlformats.org/officeDocument/2006/relationships" id="294" r:id="R799868902bf04347"/>
    <p:sldId xmlns:r="http://schemas.openxmlformats.org/officeDocument/2006/relationships" id="295" r:id="R446a85eb977a4294"/>
    <p:sldId xmlns:r="http://schemas.openxmlformats.org/officeDocument/2006/relationships" id="296" r:id="R6d45d963902f4415"/>
    <p:sldId xmlns:r="http://schemas.openxmlformats.org/officeDocument/2006/relationships" id="297" r:id="Rdd1ffc82b3474a7c"/>
    <p:sldId xmlns:r="http://schemas.openxmlformats.org/officeDocument/2006/relationships" id="298" r:id="Rbc57a88ffea94af5"/>
    <p:sldId xmlns:r="http://schemas.openxmlformats.org/officeDocument/2006/relationships" id="299" r:id="Rdf234f050dcc4ce0"/>
    <p:sldId xmlns:r="http://schemas.openxmlformats.org/officeDocument/2006/relationships" id="300" r:id="Rbb2b927905bf4931"/>
    <p:sldId xmlns:r="http://schemas.openxmlformats.org/officeDocument/2006/relationships" id="301" r:id="R6d445ad0f7c144ed"/>
    <p:sldId xmlns:r="http://schemas.openxmlformats.org/officeDocument/2006/relationships" id="302" r:id="R46527fa8b3eb4b3d"/>
    <p:sldId xmlns:r="http://schemas.openxmlformats.org/officeDocument/2006/relationships" id="303" r:id="R7165896e9bc047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ebc51d628847e8" /><Relationship Type="http://schemas.openxmlformats.org/officeDocument/2006/relationships/slideMaster" Target="/ppt/slideMasters/slideMaster1.xml" Id="Rd74a1736254c4b82" /><Relationship Type="http://schemas.openxmlformats.org/officeDocument/2006/relationships/notesMaster" Target="/ppt/notesMasters/notesMaster1.xml" Id="R8427692db80547fe" /><Relationship Type="http://schemas.openxmlformats.org/officeDocument/2006/relationships/presProps" Target="/ppt/presProps.xml" Id="R92ffa327fe7741ee" /><Relationship Type="http://schemas.openxmlformats.org/officeDocument/2006/relationships/tableStyles" Target="/ppt/tableStyles.xml" Id="R8406d082a8f94442" /><Relationship Type="http://schemas.openxmlformats.org/officeDocument/2006/relationships/slide" Target="/ppt/slides/slide1.xml" Id="R46a4ac0df37f44b6" /><Relationship Type="http://schemas.openxmlformats.org/officeDocument/2006/relationships/slide" Target="/ppt/slides/slide2.xml" Id="R39c53056b9d84422" /><Relationship Type="http://schemas.openxmlformats.org/officeDocument/2006/relationships/slide" Target="/ppt/slides/slide3.xml" Id="Rfb183dd362674828" /><Relationship Type="http://schemas.openxmlformats.org/officeDocument/2006/relationships/slide" Target="/ppt/slides/slide4.xml" Id="Rc8cadee3f69c4d9c" /><Relationship Type="http://schemas.openxmlformats.org/officeDocument/2006/relationships/slide" Target="/ppt/slides/slide5.xml" Id="R3c38d25c5e614980" /><Relationship Type="http://schemas.openxmlformats.org/officeDocument/2006/relationships/slide" Target="/ppt/slides/slide6.xml" Id="R631b5cebebde455f" /><Relationship Type="http://schemas.openxmlformats.org/officeDocument/2006/relationships/slide" Target="/ppt/slides/slide7.xml" Id="R3c8be3b46d234337" /><Relationship Type="http://schemas.openxmlformats.org/officeDocument/2006/relationships/slide" Target="/ppt/slides/slide8.xml" Id="R8f602a7972a648a3" /><Relationship Type="http://schemas.openxmlformats.org/officeDocument/2006/relationships/slide" Target="/ppt/slides/slide9.xml" Id="R9b35fe04be0c4313" /><Relationship Type="http://schemas.openxmlformats.org/officeDocument/2006/relationships/slide" Target="/ppt/slides/slide10.xml" Id="R701160608eeb469d" /><Relationship Type="http://schemas.openxmlformats.org/officeDocument/2006/relationships/slide" Target="/ppt/slides/slide11.xml" Id="R161df7d5fc794cd8" /><Relationship Type="http://schemas.openxmlformats.org/officeDocument/2006/relationships/slide" Target="/ppt/slides/slide12.xml" Id="R2a7dfe29a5484d7c" /><Relationship Type="http://schemas.openxmlformats.org/officeDocument/2006/relationships/slide" Target="/ppt/slides/slide13.xml" Id="R355b8fe733394de5" /><Relationship Type="http://schemas.openxmlformats.org/officeDocument/2006/relationships/slide" Target="/ppt/slides/slide14.xml" Id="R7ae1125aac9a47ad" /><Relationship Type="http://schemas.openxmlformats.org/officeDocument/2006/relationships/slide" Target="/ppt/slides/slide15.xml" Id="R4cf74e16656a4ce7" /><Relationship Type="http://schemas.openxmlformats.org/officeDocument/2006/relationships/slide" Target="/ppt/slides/slide16.xml" Id="Rb11662bee2a6421b" /><Relationship Type="http://schemas.openxmlformats.org/officeDocument/2006/relationships/slide" Target="/ppt/slides/slide17.xml" Id="R5d4b123f7e2644be" /><Relationship Type="http://schemas.openxmlformats.org/officeDocument/2006/relationships/slide" Target="/ppt/slides/slide18.xml" Id="Ra0886e9527f9411b" /><Relationship Type="http://schemas.openxmlformats.org/officeDocument/2006/relationships/slide" Target="/ppt/slides/slide19.xml" Id="R7318ff7afe58450d" /><Relationship Type="http://schemas.openxmlformats.org/officeDocument/2006/relationships/slide" Target="/ppt/slides/slide20.xml" Id="Rfb22474a7cbf4557" /><Relationship Type="http://schemas.openxmlformats.org/officeDocument/2006/relationships/slide" Target="/ppt/slides/slide21.xml" Id="Rab076cdf5a0e4558" /><Relationship Type="http://schemas.openxmlformats.org/officeDocument/2006/relationships/slide" Target="/ppt/slides/slide22.xml" Id="R79c9b19c98344607" /><Relationship Type="http://schemas.openxmlformats.org/officeDocument/2006/relationships/slide" Target="/ppt/slides/slide23.xml" Id="R7261e7f5e9a84fb6" /><Relationship Type="http://schemas.openxmlformats.org/officeDocument/2006/relationships/slide" Target="/ppt/slides/slide24.xml" Id="R20658093e1a346ec" /><Relationship Type="http://schemas.openxmlformats.org/officeDocument/2006/relationships/slide" Target="/ppt/slides/slide25.xml" Id="Rd4c894a8aa664207" /><Relationship Type="http://schemas.openxmlformats.org/officeDocument/2006/relationships/slide" Target="/ppt/slides/slide26.xml" Id="R8384a93824ef4af2" /><Relationship Type="http://schemas.openxmlformats.org/officeDocument/2006/relationships/slide" Target="/ppt/slides/slide27.xml" Id="R04e5936b24d94b61" /><Relationship Type="http://schemas.openxmlformats.org/officeDocument/2006/relationships/slide" Target="/ppt/slides/slide28.xml" Id="R99a70a08cac24bb7" /><Relationship Type="http://schemas.openxmlformats.org/officeDocument/2006/relationships/slide" Target="/ppt/slides/slide29.xml" Id="R477b7a8a5d6844f5" /><Relationship Type="http://schemas.openxmlformats.org/officeDocument/2006/relationships/slide" Target="/ppt/slides/slide30.xml" Id="R2d07f7ab82a74675" /><Relationship Type="http://schemas.openxmlformats.org/officeDocument/2006/relationships/slide" Target="/ppt/slides/slide31.xml" Id="R733e6ae65ebd47b6" /><Relationship Type="http://schemas.openxmlformats.org/officeDocument/2006/relationships/slide" Target="/ppt/slides/slide32.xml" Id="Rb25f879b9a7f46b1" /><Relationship Type="http://schemas.openxmlformats.org/officeDocument/2006/relationships/slide" Target="/ppt/slides/slide33.xml" Id="R28a03b97b8c24ff8" /><Relationship Type="http://schemas.openxmlformats.org/officeDocument/2006/relationships/slide" Target="/ppt/slides/slide34.xml" Id="Rf0f249cfa62f4056" /><Relationship Type="http://schemas.openxmlformats.org/officeDocument/2006/relationships/slide" Target="/ppt/slides/slide35.xml" Id="R1744f248e63741e0" /><Relationship Type="http://schemas.openxmlformats.org/officeDocument/2006/relationships/slide" Target="/ppt/slides/slide36.xml" Id="R85bf1f0fe3fc48ee" /><Relationship Type="http://schemas.openxmlformats.org/officeDocument/2006/relationships/slide" Target="/ppt/slides/slide37.xml" Id="R78775ac243934889" /><Relationship Type="http://schemas.openxmlformats.org/officeDocument/2006/relationships/slide" Target="/ppt/slides/slide38.xml" Id="R18c639c7309d43d2" /><Relationship Type="http://schemas.openxmlformats.org/officeDocument/2006/relationships/slide" Target="/ppt/slides/slide39.xml" Id="R799868902bf04347" /><Relationship Type="http://schemas.openxmlformats.org/officeDocument/2006/relationships/slide" Target="/ppt/slides/slide40.xml" Id="R446a85eb977a4294" /><Relationship Type="http://schemas.openxmlformats.org/officeDocument/2006/relationships/slide" Target="/ppt/slides/slide41.xml" Id="R6d45d963902f4415" /><Relationship Type="http://schemas.openxmlformats.org/officeDocument/2006/relationships/slide" Target="/ppt/slides/slide42.xml" Id="Rdd1ffc82b3474a7c" /><Relationship Type="http://schemas.openxmlformats.org/officeDocument/2006/relationships/slide" Target="/ppt/slides/slide43.xml" Id="Rbc57a88ffea94af5" /><Relationship Type="http://schemas.openxmlformats.org/officeDocument/2006/relationships/slide" Target="/ppt/slides/slide44.xml" Id="Rdf234f050dcc4ce0" /><Relationship Type="http://schemas.openxmlformats.org/officeDocument/2006/relationships/slide" Target="/ppt/slides/slide45.xml" Id="Rbb2b927905bf4931" /><Relationship Type="http://schemas.openxmlformats.org/officeDocument/2006/relationships/slide" Target="/ppt/slides/slide46.xml" Id="R6d445ad0f7c144ed" /><Relationship Type="http://schemas.openxmlformats.org/officeDocument/2006/relationships/slide" Target="/ppt/slides/slide47.xml" Id="R46527fa8b3eb4b3d" /><Relationship Type="http://schemas.openxmlformats.org/officeDocument/2006/relationships/slide" Target="/ppt/slides/slide48.xml" Id="R7165896e9bc047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ea2a28befd4b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6426c9dd434077" /><Relationship Type="http://schemas.openxmlformats.org/officeDocument/2006/relationships/notesMaster" Target="/ppt/notesMasters/notesMaster1.xml" Id="Re9abf60b527d4e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afa89aa9de42bb" /><Relationship Type="http://schemas.openxmlformats.org/officeDocument/2006/relationships/notesMaster" Target="/ppt/notesMasters/notesMaster1.xml" Id="R397117fc574a46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9dad82395d4828" /><Relationship Type="http://schemas.openxmlformats.org/officeDocument/2006/relationships/notesMaster" Target="/ppt/notesMasters/notesMaster1.xml" Id="Rfee76df26dc84a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92f4af04bf4505" /><Relationship Type="http://schemas.openxmlformats.org/officeDocument/2006/relationships/notesMaster" Target="/ppt/notesMasters/notesMaster1.xml" Id="Re8c18da74ee343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10decd5e1c43b5" /><Relationship Type="http://schemas.openxmlformats.org/officeDocument/2006/relationships/notesMaster" Target="/ppt/notesMasters/notesMaster1.xml" Id="Rb34d08a9f3c14a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20d1569fa04119" /><Relationship Type="http://schemas.openxmlformats.org/officeDocument/2006/relationships/notesMaster" Target="/ppt/notesMasters/notesMaster1.xml" Id="R935f94fddd3844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c76945e7414d08" /><Relationship Type="http://schemas.openxmlformats.org/officeDocument/2006/relationships/notesMaster" Target="/ppt/notesMasters/notesMaster1.xml" Id="Rdbf310e58d2f44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35731534414f77" /><Relationship Type="http://schemas.openxmlformats.org/officeDocument/2006/relationships/notesMaster" Target="/ppt/notesMasters/notesMaster1.xml" Id="Rb28baf2066dd41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a49ae23b394961" /><Relationship Type="http://schemas.openxmlformats.org/officeDocument/2006/relationships/notesMaster" Target="/ppt/notesMasters/notesMaster1.xml" Id="Rf113d04d7c2148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10dbcd7d7f47ad" /><Relationship Type="http://schemas.openxmlformats.org/officeDocument/2006/relationships/notesMaster" Target="/ppt/notesMasters/notesMaster1.xml" Id="Rb8812c9e09ef4b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9fd2372f344763" /><Relationship Type="http://schemas.openxmlformats.org/officeDocument/2006/relationships/notesMaster" Target="/ppt/notesMasters/notesMaster1.xml" Id="R6e08b0f4c0df4b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e6ebb3a42143f6" /><Relationship Type="http://schemas.openxmlformats.org/officeDocument/2006/relationships/notesMaster" Target="/ppt/notesMasters/notesMaster1.xml" Id="Rd8ad95cdaf0244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50eb6e3d2c40d0" /><Relationship Type="http://schemas.openxmlformats.org/officeDocument/2006/relationships/notesMaster" Target="/ppt/notesMasters/notesMaster1.xml" Id="Rb1092f86c5c146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491ef831b9458b" /><Relationship Type="http://schemas.openxmlformats.org/officeDocument/2006/relationships/notesMaster" Target="/ppt/notesMasters/notesMaster1.xml" Id="R9aaff48c286f45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6d77a522824cd9" /><Relationship Type="http://schemas.openxmlformats.org/officeDocument/2006/relationships/notesMaster" Target="/ppt/notesMasters/notesMaster1.xml" Id="Rd65a706f3b6a449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e12eca71a54504" /><Relationship Type="http://schemas.openxmlformats.org/officeDocument/2006/relationships/notesMaster" Target="/ppt/notesMasters/notesMaster1.xml" Id="R026a5b1984b740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41ef90a310434f" /><Relationship Type="http://schemas.openxmlformats.org/officeDocument/2006/relationships/notesMaster" Target="/ppt/notesMasters/notesMaster1.xml" Id="Ra0d20cee02954a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8525157bc1473e" /><Relationship Type="http://schemas.openxmlformats.org/officeDocument/2006/relationships/notesMaster" Target="/ppt/notesMasters/notesMaster1.xml" Id="Rcd2dd74e145049d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7bc713f7df4dd9" /><Relationship Type="http://schemas.openxmlformats.org/officeDocument/2006/relationships/notesMaster" Target="/ppt/notesMasters/notesMaster1.xml" Id="R2761211beaf4442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fcf20bd50fd4a2a" /><Relationship Type="http://schemas.openxmlformats.org/officeDocument/2006/relationships/notesMaster" Target="/ppt/notesMasters/notesMaster1.xml" Id="R63fd156e9f49490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1f5547f6aa4f4a" /><Relationship Type="http://schemas.openxmlformats.org/officeDocument/2006/relationships/notesMaster" Target="/ppt/notesMasters/notesMaster1.xml" Id="R44c0ec41cf4b4d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a8ad6479184d28" /><Relationship Type="http://schemas.openxmlformats.org/officeDocument/2006/relationships/notesMaster" Target="/ppt/notesMasters/notesMaster1.xml" Id="R3fad2ea3461f41a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a2e3c3b54d342bb" /><Relationship Type="http://schemas.openxmlformats.org/officeDocument/2006/relationships/notesMaster" Target="/ppt/notesMasters/notesMaster1.xml" Id="R877ddff5c40e43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d2a22fb4ad448d2" /><Relationship Type="http://schemas.openxmlformats.org/officeDocument/2006/relationships/notesMaster" Target="/ppt/notesMasters/notesMaster1.xml" Id="R41522caf76a840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680f83167354c72" /><Relationship Type="http://schemas.openxmlformats.org/officeDocument/2006/relationships/notesMaster" Target="/ppt/notesMasters/notesMaster1.xml" Id="Rd6b86ba8a3784a1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853a56eee64b7b" /><Relationship Type="http://schemas.openxmlformats.org/officeDocument/2006/relationships/notesMaster" Target="/ppt/notesMasters/notesMaster1.xml" Id="R105d94903477455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ec23a73027469b" /><Relationship Type="http://schemas.openxmlformats.org/officeDocument/2006/relationships/notesMaster" Target="/ppt/notesMasters/notesMaster1.xml" Id="Rf81b1767b7ae42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978e0ab06484483" /><Relationship Type="http://schemas.openxmlformats.org/officeDocument/2006/relationships/notesMaster" Target="/ppt/notesMasters/notesMaster1.xml" Id="Rd159d2892f6a4f7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3951e7fc80444d" /><Relationship Type="http://schemas.openxmlformats.org/officeDocument/2006/relationships/notesMaster" Target="/ppt/notesMasters/notesMaster1.xml" Id="R3aa9d6fd5ac142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2732e11f284877" /><Relationship Type="http://schemas.openxmlformats.org/officeDocument/2006/relationships/notesMaster" Target="/ppt/notesMasters/notesMaster1.xml" Id="Raae6937b7906472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722eac0c7bf449e" /><Relationship Type="http://schemas.openxmlformats.org/officeDocument/2006/relationships/notesMaster" Target="/ppt/notesMasters/notesMaster1.xml" Id="R7f5fb61a476c4bb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d2a1844d6c3468d" /><Relationship Type="http://schemas.openxmlformats.org/officeDocument/2006/relationships/notesMaster" Target="/ppt/notesMasters/notesMaster1.xml" Id="R3d34b8094fcf4d2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0d21c7c870a43a3" /><Relationship Type="http://schemas.openxmlformats.org/officeDocument/2006/relationships/notesMaster" Target="/ppt/notesMasters/notesMaster1.xml" Id="R9f47ad9dffec44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0e41e5865f8441a" /><Relationship Type="http://schemas.openxmlformats.org/officeDocument/2006/relationships/notesMaster" Target="/ppt/notesMasters/notesMaster1.xml" Id="R933f307d74de419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65699605cc34597" /><Relationship Type="http://schemas.openxmlformats.org/officeDocument/2006/relationships/notesMaster" Target="/ppt/notesMasters/notesMaster1.xml" Id="Rad11d0d8d51f4b9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9a1afb606e44085" /><Relationship Type="http://schemas.openxmlformats.org/officeDocument/2006/relationships/notesMaster" Target="/ppt/notesMasters/notesMaster1.xml" Id="Rf7e00980e6d24b8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56def5e7ec34da3" /><Relationship Type="http://schemas.openxmlformats.org/officeDocument/2006/relationships/notesMaster" Target="/ppt/notesMasters/notesMaster1.xml" Id="R8d0d168dfe2144c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126ebb05c8a4d97" /><Relationship Type="http://schemas.openxmlformats.org/officeDocument/2006/relationships/notesMaster" Target="/ppt/notesMasters/notesMaster1.xml" Id="R5206c80205da444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0c5b404ce184944" /><Relationship Type="http://schemas.openxmlformats.org/officeDocument/2006/relationships/notesMaster" Target="/ppt/notesMasters/notesMaster1.xml" Id="R271c1b00f4314d8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2d1e97c0e434fb6" /><Relationship Type="http://schemas.openxmlformats.org/officeDocument/2006/relationships/notesMaster" Target="/ppt/notesMasters/notesMaster1.xml" Id="R2277a64ecc1d418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435b95a15564b3a" /><Relationship Type="http://schemas.openxmlformats.org/officeDocument/2006/relationships/notesMaster" Target="/ppt/notesMasters/notesMaster1.xml" Id="R4aa86690a327405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4b4dd6d104440a9" /><Relationship Type="http://schemas.openxmlformats.org/officeDocument/2006/relationships/notesMaster" Target="/ppt/notesMasters/notesMaster1.xml" Id="R36fa4891e60a497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eb384733f7c449b" /><Relationship Type="http://schemas.openxmlformats.org/officeDocument/2006/relationships/notesMaster" Target="/ppt/notesMasters/notesMaster1.xml" Id="R94f10ad1a8fd4ca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21bdfb0de154f7a" /><Relationship Type="http://schemas.openxmlformats.org/officeDocument/2006/relationships/notesMaster" Target="/ppt/notesMasters/notesMaster1.xml" Id="R307cc5033af2414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6c854679d954f42" /><Relationship Type="http://schemas.openxmlformats.org/officeDocument/2006/relationships/notesMaster" Target="/ppt/notesMasters/notesMaster1.xml" Id="R1a644e0b6555479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76f9d0c257a45c4" /><Relationship Type="http://schemas.openxmlformats.org/officeDocument/2006/relationships/notesMaster" Target="/ppt/notesMasters/notesMaster1.xml" Id="Rc30db6f7bbf54e5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c8fd82a563843d8" /><Relationship Type="http://schemas.openxmlformats.org/officeDocument/2006/relationships/notesMaster" Target="/ppt/notesMasters/notesMaster1.xml" Id="R7539204dc70c458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901871211ad4d52" /><Relationship Type="http://schemas.openxmlformats.org/officeDocument/2006/relationships/notesMaster" Target="/ppt/notesMasters/notesMaster1.xml" Id="R6ec76d66a39e46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que el mismo PWM puede producir otra velocidad al cambiar la carga.</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En lazo abierto se fija un mando y se observa qué ocurre. En lazo cerrado se mide una salida, se compara con una referencia y se actualiza el mando usando esa diferencia. No se vuelve perfecto por añadir la palabra PID. El controlador trabaja con un sensor, un actuador, retardos y límites. Si la referencia es imposible para el conjunto, el algoritmo no puede crear capacidad física que el actuador no tiene.</a:t>
            </a:r>
          </a:p>
          <a:p xmlns:a="http://schemas.openxmlformats.org/drawingml/2006/main">
            <a:r>
              <a:t/>
            </a:r>
          </a:p>
          <a:p xmlns:a="http://schemas.openxmlformats.org/drawingml/2006/main">
            <a:r>
              <a:t>Elemento / Ejemplo / Qué representa</a:t>
            </a:r>
          </a:p>
          <a:p xmlns:a="http://schemas.openxmlformats.org/drawingml/2006/main">
            <a:r>
              <a:t>Referencia r / 500 RPM / Objetivo declarado</a:t>
            </a:r>
          </a:p>
          <a:p xmlns:a="http://schemas.openxmlformats.org/drawingml/2006/main">
            <a:r>
              <a:t>Medida y / RPM del encoder / Salida observada</a:t>
            </a:r>
          </a:p>
          <a:p xmlns:a="http://schemas.openxmlformats.org/drawingml/2006/main">
            <a:r>
              <a:t>Error e / r menos y / Diferencia de seguimiento</a:t>
            </a:r>
          </a:p>
          <a:p xmlns:a="http://schemas.openxmlformats.org/drawingml/2006/main">
            <a:r>
              <a:t>Mando u / Código PWM / Acción sobre el banco</a:t>
            </a:r>
          </a:p>
          <a:p xmlns:a="http://schemas.openxmlformats.org/drawingml/2006/main">
            <a:r>
              <a:t/>
            </a:r>
          </a:p>
          <a:p xmlns:a="http://schemas.openxmlformats.org/drawingml/2006/main">
            <a:r>
              <a:t>La práctica nueva usa primero una planta matemática de aula y luego el banco físico disponible. El modelo es de primer orden y declara su ganancia y su constante de tiempo. Sus respuestas no se presentan como medidas del kit MECRO. La ventaja didáctica consiste en poder introducir una perturbación conocida y repetir exactamente las condiciones.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Elemento / Ejemplo / Qué representa</a:t>
            </a:r>
          </a:p>
          <a:p xmlns:a="http://schemas.openxmlformats.org/drawingml/2006/main">
            <a:r>
              <a:t>Referencia r / 500 RPM / Objetivo declarado</a:t>
            </a:r>
          </a:p>
          <a:p xmlns:a="http://schemas.openxmlformats.org/drawingml/2006/main">
            <a:r>
              <a:t>Medida y / RPM del encoder / Salida observada</a:t>
            </a:r>
          </a:p>
          <a:p xmlns:a="http://schemas.openxmlformats.org/drawingml/2006/main">
            <a:r>
              <a:t>Error e / r menos y / Diferencia de seguimiento</a:t>
            </a:r>
          </a:p>
          <a:p xmlns:a="http://schemas.openxmlformats.org/drawingml/2006/main">
            <a:r>
              <a:t>Mando u / Código PWM / Acción sobre el banco</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5 minutos en esta diapositiva.</a:t>
            </a:r>
          </a:p>
          <a:p xmlns:a="http://schemas.openxmlformats.org/drawingml/2006/main">
            <a:r>
              <a:t/>
            </a:r>
          </a:p>
          <a:p xmlns:a="http://schemas.openxmlformats.org/drawingml/2006/main">
            <a:r>
              <a:t>En lazo abierto se fija un mando y se observa qué ocurre. En lazo cerrado se mide una salida, se compara con una referencia y se actualiza el mando usando esa diferencia. No se vuelve perfecto por añadir la palabra PID. El controlador trabaja con un sensor, un actuador, retardos y límites. Si la referencia es imposible para el conjunto, el algoritmo no puede crear capacidad física que el actuador no tiene.</a:t>
            </a:r>
          </a:p>
          <a:p xmlns:a="http://schemas.openxmlformats.org/drawingml/2006/main">
            <a:r>
              <a:t/>
            </a:r>
          </a:p>
          <a:p xmlns:a="http://schemas.openxmlformats.org/drawingml/2006/main">
            <a:r>
              <a:t>Elemento / Ejemplo / Qué representa</a:t>
            </a:r>
          </a:p>
          <a:p xmlns:a="http://schemas.openxmlformats.org/drawingml/2006/main">
            <a:r>
              <a:t>Referencia r / 500 RPM / Objetivo declarado</a:t>
            </a:r>
          </a:p>
          <a:p xmlns:a="http://schemas.openxmlformats.org/drawingml/2006/main">
            <a:r>
              <a:t>Medida y / RPM del encoder / Salida observada</a:t>
            </a:r>
          </a:p>
          <a:p xmlns:a="http://schemas.openxmlformats.org/drawingml/2006/main">
            <a:r>
              <a:t>Error e / r menos y / Diferencia de seguimiento</a:t>
            </a:r>
          </a:p>
          <a:p xmlns:a="http://schemas.openxmlformats.org/drawingml/2006/main">
            <a:r>
              <a:t>Mando u / Código PWM / Acción sobre el banco</a:t>
            </a:r>
          </a:p>
          <a:p xmlns:a="http://schemas.openxmlformats.org/drawingml/2006/main">
            <a:r>
              <a:t/>
            </a:r>
          </a:p>
          <a:p xmlns:a="http://schemas.openxmlformats.org/drawingml/2006/main">
            <a:r>
              <a:t>La práctica nueva usa primero una planta matemática de aula y luego el banco físico disponible. El modelo es de primer orden y declara su ganancia y su constante de tiempo. Sus respuestas no se presentan como medidas del kit MECRO. La ventaja didáctica consiste en poder introducir una perturbación conocida y repetir exactamente las condiciones.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Las ganancias tienen unidades que dependen de referencia, medida y mando. Conservar Δt evita cambiar el controlador sin querer al cambiar el periodo.</a:t>
            </a:r>
          </a:p>
          <a:p xmlns:a="http://schemas.openxmlformats.org/drawingml/2006/main">
            <a:r>
              <a:t/>
            </a:r>
          </a:p>
          <a:p xmlns:a="http://schemas.openxmlformats.org/drawingml/2006/main">
            <a:r>
              <a:t>Se muestra D sobre la medida como una convención posible. La implementación completa debe declarar su elección y su tratamiento de ruido.</a:t>
            </a:r>
          </a:p>
          <a:p xmlns:a="http://schemas.openxmlformats.org/drawingml/2006/main">
            <a:r>
              <a:t/>
            </a:r>
          </a:p>
          <a:p xmlns:a="http://schemas.openxmlformats.org/drawingml/2006/main">
            <a:r>
              <a:t>Acción / Qué relaciona / Qué hay que vigilar</a:t>
            </a:r>
          </a:p>
          <a:p xmlns:a="http://schemas.openxmlformats.org/drawingml/2006/main">
            <a:r>
              <a:t>P / Error actual y mando / Error persistente y ganancia</a:t>
            </a:r>
          </a:p>
          <a:p xmlns:a="http://schemas.openxmlformats.org/drawingml/2006/main">
            <a:r>
              <a:t>I / Acumulación temporal / Acumulación en saturación</a:t>
            </a:r>
          </a:p>
          <a:p xmlns:a="http://schemas.openxmlformats.org/drawingml/2006/main">
            <a:r>
              <a:t>D / Cambio de la medida / Ruido y diferencia temporal</a:t>
            </a:r>
          </a:p>
          <a:p xmlns:a="http://schemas.openxmlformats.org/drawingml/2006/main">
            <a:r>
              <a:t/>
            </a:r>
          </a:p>
          <a:p xmlns:a="http://schemas.openxmlformats.org/drawingml/2006/main">
            <a:r>
              <a:t>En un banco de velocidad puede bastar PI para el objetivo introductorio. PID nombra una familia, no la obligación de usar tres términos distintos de cero. La derivada se estudia con un caso de ruido para comprender su coste. El ajuste se hace sobre una configuración identificada y se conserva una curva por cambio.</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Acción / Qué relaciona / Qué hay que vigilar</a:t>
            </a:r>
          </a:p>
          <a:p xmlns:a="http://schemas.openxmlformats.org/drawingml/2006/main">
            <a:r>
              <a:t>P / Error actual y mando / Error persistente y ganancia</a:t>
            </a:r>
          </a:p>
          <a:p xmlns:a="http://schemas.openxmlformats.org/drawingml/2006/main">
            <a:r>
              <a:t>I / Acumulación temporal / Acumulación en saturación</a:t>
            </a:r>
          </a:p>
          <a:p xmlns:a="http://schemas.openxmlformats.org/drawingml/2006/main">
            <a:r>
              <a:t>D / Cambio de la medida / Ruido y diferencia temporal</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5 minutos en esta diapositiva.</a:t>
            </a:r>
          </a:p>
          <a:p xmlns:a="http://schemas.openxmlformats.org/drawingml/2006/main">
            <a:r>
              <a:t/>
            </a:r>
          </a:p>
          <a:p xmlns:a="http://schemas.openxmlformats.org/drawingml/2006/main">
            <a:r>
              <a:t>Las ganancias tienen unidades que dependen de referencia, medida y mando. Conservar Δt evita cambiar el controlador sin querer al cambiar el periodo.</a:t>
            </a:r>
          </a:p>
          <a:p xmlns:a="http://schemas.openxmlformats.org/drawingml/2006/main">
            <a:r>
              <a:t/>
            </a:r>
          </a:p>
          <a:p xmlns:a="http://schemas.openxmlformats.org/drawingml/2006/main">
            <a:r>
              <a:t>Se muestra D sobre la medida como una convención posible. La implementación completa debe declarar su elección y su tratamiento de ruido.</a:t>
            </a:r>
          </a:p>
          <a:p xmlns:a="http://schemas.openxmlformats.org/drawingml/2006/main">
            <a:r>
              <a:t/>
            </a:r>
          </a:p>
          <a:p xmlns:a="http://schemas.openxmlformats.org/drawingml/2006/main">
            <a:r>
              <a:t>Acción / Qué relaciona / Qué hay que vigilar</a:t>
            </a:r>
          </a:p>
          <a:p xmlns:a="http://schemas.openxmlformats.org/drawingml/2006/main">
            <a:r>
              <a:t>P / Error actual y mando / Error persistente y ganancia</a:t>
            </a:r>
          </a:p>
          <a:p xmlns:a="http://schemas.openxmlformats.org/drawingml/2006/main">
            <a:r>
              <a:t>I / Acumulación temporal / Acumulación en saturación</a:t>
            </a:r>
          </a:p>
          <a:p xmlns:a="http://schemas.openxmlformats.org/drawingml/2006/main">
            <a:r>
              <a:t>D / Cambio de la medida / Ruido y diferencia temporal</a:t>
            </a:r>
          </a:p>
          <a:p xmlns:a="http://schemas.openxmlformats.org/drawingml/2006/main">
            <a:r>
              <a:t/>
            </a:r>
          </a:p>
          <a:p xmlns:a="http://schemas.openxmlformats.org/drawingml/2006/main">
            <a:r>
              <a:t>En un banco de velocidad puede bastar PI para el objetivo introductorio. PID nombra una familia, no la obligación de usar tres términos distintos de cero. La derivada se estudia con un caso de ruido para comprender su coste. El ajuste se hace sobre una configuración identificada y se conserva una curva por cambio.</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Modelo sintético: y en RPM, u en cuentas de 0 a 255 y L como perturbación equivalente en RPM. No representa un motor identificado.</a:t>
            </a:r>
          </a:p>
          <a:p xmlns:a="http://schemas.openxmlformats.org/drawingml/2006/main">
            <a:r>
              <a:t/>
            </a:r>
          </a:p>
          <a:p xmlns:a="http://schemas.openxmlformats.org/drawingml/2006/main">
            <a:r>
              <a:t>La referencia del ejercicio pasa de cero a 500 RPM. Después se aplica una perturbación equivalente de 100 RPM. El mando base es r/4. La comparación incluye lazo abierto, P con ese mando base y PI. Como las entradas del modelo se conservan, una diferencia entre respuestas puede relacionarse con el controlador elegido. Las curvas y el CSV del curso se generan a partir de estas ecuaciones con paso declarado.</a:t>
            </a:r>
          </a:p>
          <a:p xmlns:a="http://schemas.openxmlformats.org/drawingml/2006/main">
            <a:r>
              <a:t/>
            </a:r>
          </a:p>
          <a:p xmlns:a="http://schemas.openxmlformats.org/drawingml/2006/main">
            <a:r>
              <a:t>Si el error es 50 RPM, Kp vale 0,12 cuentas/RPM, Ki vale 0,6 cuentas/(RPM·s) y Δt = 0,02 s, ¿qué contribuciones obtienes?</a:t>
            </a:r>
          </a:p>
          <a:p xmlns:a="http://schemas.openxmlformats.org/drawingml/2006/main">
            <a:r>
              <a:t>P aporta 6 cuentas. El incremento de I es 0,6 × 50 × 0,02 = 0,6 cuentas en ese paso. El acumulado I depende de los pasos anteriores.</a:t>
            </a:r>
          </a:p>
          <a:p xmlns:a="http://schemas.openxmlformats.org/drawingml/2006/main">
            <a:r>
              <a:t/>
            </a:r>
          </a:p>
          <a:p xmlns:a="http://schemas.openxmlformats.org/drawingml/2006/main">
            <a:r>
              <a:t>Sin integral, el modelo con mando base y P necesita un error persistente para compensar la perturbación. En régimen del caso, e = 100/(1 + 4 × 0,12), aproximadamente 67,6 RPM. La integral puede aportar la acción mantenida que reduce ese error si el sistema tiene capacidad y el ajuste resulta adecuado. La conclusión pertenece a este modelo y a esas condiciones.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Modelo sintético: y en RPM, u en cuentas de 0 a 255 y L como perturbación equivalente en RPM. No representa un motor identificado.</a:t>
            </a:r>
          </a:p>
          <a:p xmlns:a="http://schemas.openxmlformats.org/drawingml/2006/main">
            <a:r>
              <a:t/>
            </a:r>
          </a:p>
          <a:p xmlns:a="http://schemas.openxmlformats.org/drawingml/2006/main">
            <a:r>
              <a:t>La referencia del ejercicio pasa de cero a 500 RPM. Después se aplica una perturbación equivalente de 100 RPM. El mando base es r/4. La comparación incluye lazo abierto, P con ese mando base y PI. Como las entradas del modelo se conservan, una diferencia entre respuestas puede relacionarse con el controlador elegido. Las curvas y el CSV del curso se generan a partir de estas ecuaciones con paso declarado.</a:t>
            </a:r>
          </a:p>
          <a:p xmlns:a="http://schemas.openxmlformats.org/drawingml/2006/main">
            <a:r>
              <a:t/>
            </a:r>
          </a:p>
          <a:p xmlns:a="http://schemas.openxmlformats.org/drawingml/2006/main">
            <a:r>
              <a:t>Si el error es 50 RPM, Kp vale 0,12 cuentas/RPM, Ki vale 0,6 cuentas/(RPM·s) y Δt = 0,02 s, ¿qué contribuciones obtienes?</a:t>
            </a:r>
          </a:p>
          <a:p xmlns:a="http://schemas.openxmlformats.org/drawingml/2006/main">
            <a:r>
              <a:t>P aporta 6 cuentas. El incremento de I es 0,6 × 50 × 0,02 = 0,6 cuentas en ese paso. El acumulado I depende de los pasos anteriores.</a:t>
            </a:r>
          </a:p>
          <a:p xmlns:a="http://schemas.openxmlformats.org/drawingml/2006/main">
            <a:r>
              <a:t/>
            </a:r>
          </a:p>
          <a:p xmlns:a="http://schemas.openxmlformats.org/drawingml/2006/main">
            <a:r>
              <a:t>Sin integral, el modelo con mando base y P necesita un error persistente para compensar la perturbación. En régimen del caso, e = 100/(1 + 4 × 0,12), aproximadamente 67,6 RPM. La integral puede aportar la acción mantenida que reduce ese error si el sistema tiene capacidad y el ajuste resulta adecuado. La conclusión pertenece a este modelo y a esas condiciones.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5 minutos en esta diapositiva.</a:t>
            </a:r>
          </a:p>
          <a:p xmlns:a="http://schemas.openxmlformats.org/drawingml/2006/main">
            <a:r>
              <a:t/>
            </a:r>
          </a:p>
          <a:p xmlns:a="http://schemas.openxmlformats.org/drawingml/2006/main">
            <a:r>
              <a:t>Modelo sintético: y en RPM, u en cuentas de 0 a 255 y L como perturbación equivalente en RPM. No representa un motor identificado.</a:t>
            </a:r>
          </a:p>
          <a:p xmlns:a="http://schemas.openxmlformats.org/drawingml/2006/main">
            <a:r>
              <a:t/>
            </a:r>
          </a:p>
          <a:p xmlns:a="http://schemas.openxmlformats.org/drawingml/2006/main">
            <a:r>
              <a:t>La referencia del ejercicio pasa de cero a 500 RPM. Después se aplica una perturbación equivalente de 100 RPM. El mando base es r/4. La comparación incluye lazo abierto, P con ese mando base y PI. Como las entradas del modelo se conservan, una diferencia entre respuestas puede relacionarse con el controlador elegido. Las curvas y el CSV del curso se generan a partir de estas ecuaciones con paso declarado.</a:t>
            </a:r>
          </a:p>
          <a:p xmlns:a="http://schemas.openxmlformats.org/drawingml/2006/main">
            <a:r>
              <a:t/>
            </a:r>
          </a:p>
          <a:p xmlns:a="http://schemas.openxmlformats.org/drawingml/2006/main">
            <a:r>
              <a:t>Si el error es 50 RPM, Kp vale 0,12 cuentas/RPM, Ki vale 0,6 cuentas/(RPM·s) y Δt = 0,02 s, ¿qué contribuciones obtienes?</a:t>
            </a:r>
          </a:p>
          <a:p xmlns:a="http://schemas.openxmlformats.org/drawingml/2006/main">
            <a:r>
              <a:t>P aporta 6 cuentas. El incremento de I es 0,6 × 50 × 0,02 = 0,6 cuentas en ese paso. El acumulado I depende de los pasos anteriores.</a:t>
            </a:r>
          </a:p>
          <a:p xmlns:a="http://schemas.openxmlformats.org/drawingml/2006/main">
            <a:r>
              <a:t/>
            </a:r>
          </a:p>
          <a:p xmlns:a="http://schemas.openxmlformats.org/drawingml/2006/main">
            <a:r>
              <a:t>Sin integral, el modelo con mando base y P necesita un error persistente para compensar la perturbación. En régimen del caso, e = 100/(1 + 4 × 0,12), aproximadamente 67,6 RPM. La integral puede aportar la acción mantenida que reduce ese error si el sistema tiene capacidad y el ajuste resulta adecuado. La conclusión pertenece a este modelo y a esas condiciones.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float trial = integral + Ki * error * dt;</a:t>
            </a:r>
          </a:p>
          <a:p xmlns:a="http://schemas.openxmlformats.org/drawingml/2006/main">
            <a:r>
              <a:t>float unsat = base + Kp * error + trial;</a:t>
            </a:r>
          </a:p>
          <a:p xmlns:a="http://schemas.openxmlformats.org/drawingml/2006/main">
            <a:r>
              <a:t>bool inside = unsat &gt;= 0 &amp;&amp; unsat &lt;= 255;</a:t>
            </a:r>
          </a:p>
          <a:p xmlns:a="http://schemas.openxmlformats.org/drawingml/2006/main">
            <a:r>
              <a:t>bool returning = (unsat &gt; 255 &amp;&amp; error &lt; 0)</a:t>
            </a:r>
          </a:p>
          <a:p xmlns:a="http://schemas.openxmlformats.org/drawingml/2006/main">
            <a:r>
              <a:t>              || (unsat &lt; 0 &amp;&amp; error &gt; 0);</a:t>
            </a:r>
          </a:p>
          <a:p xmlns:a="http://schemas.openxmlformats.org/drawingml/2006/main">
            <a:r>
              <a:t>if (inside || returning) integral = trial;</a:t>
            </a:r>
          </a:p>
          <a:p xmlns:a="http://schemas.openxmlformats.org/drawingml/2006/main">
            <a:r>
              <a:t>float u = constrain(base + Kp*error + integral,</a:t>
            </a:r>
          </a:p>
          <a:p xmlns:a="http://schemas.openxmlformats.org/drawingml/2006/main">
            <a:r>
              <a:t>                    0.0f, 255.0f);</a:t>
            </a:r>
          </a:p>
          <a:p xmlns:a="http://schemas.openxmlformats.org/drawingml/2006/main">
            <a:r>
              <a:t/>
            </a:r>
          </a:p>
          <a:p xmlns:a="http://schemas.openxmlformats.org/drawingml/2006/main">
            <a:r>
              <a:t>El mando tiene un intervalo. Si se sigue acumulando integral mientras el actuador ya está en un extremo y el error exige avanzar todavía más, puede demorarse la recuperación al cambiar la situación. El fragmento conserva el incremento cuando la salida está dentro o cuando ayuda a regresar del límite. Es una estrategia introductoria que debe estudiarse con su definición exacta; no se llama anti-windup a cualquier recorte sin explicar qué ocurre con el estado integral.</a:t>
            </a:r>
          </a:p>
          <a:p xmlns:a="http://schemas.openxmlformats.org/drawingml/2006/main">
            <a:r>
              <a:t/>
            </a:r>
          </a:p>
          <a:p xmlns:a="http://schemas.openxmlformats.org/drawingml/2006/main">
            <a:r>
              <a:t>El firmware c11_pi_virtual ejecuta una planta de paso fijo y produce CSV. Ese tiempo pertenece al modelo. El banco real mide intervalos y respuesta del conjunto. Al pasar de uno a otro no se copian ganancias como garantía de funcionamiento. Se vuelve a identificar escala, límites, dirección de acción y condiciones de la medida.</a:t>
            </a:r>
          </a:p>
          <a:p xmlns:a="http://schemas.openxmlformats.org/drawingml/2006/main">
            <a:r>
              <a:t/>
            </a:r>
          </a:p>
          <a:p xmlns:a="http://schemas.openxmlformats.org/drawingml/2006/main">
            <a:r>
              <a:t>Modelo sintético: τ = 0,35 s, ganancia 4 RPM/cuenta, dt = 20 ms; carga de 100 RPM equivalentes desde 4 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float trial = integral + Ki * error * dt;</a:t>
            </a:r>
          </a:p>
          <a:p xmlns:a="http://schemas.openxmlformats.org/drawingml/2006/main">
            <a:r>
              <a:t>float unsat = base + Kp * error + trial;</a:t>
            </a:r>
          </a:p>
          <a:p xmlns:a="http://schemas.openxmlformats.org/drawingml/2006/main">
            <a:r>
              <a:t>bool inside = unsat &gt;= 0 &amp;&amp; unsat &lt;= 255;</a:t>
            </a:r>
          </a:p>
          <a:p xmlns:a="http://schemas.openxmlformats.org/drawingml/2006/main">
            <a:r>
              <a:t>bool returning = (unsat &gt; 255 &amp;&amp; error &lt; 0)</a:t>
            </a:r>
          </a:p>
          <a:p xmlns:a="http://schemas.openxmlformats.org/drawingml/2006/main">
            <a:r>
              <a:t>              || (unsat &lt; 0 &amp;&amp; error &gt; 0);</a:t>
            </a:r>
          </a:p>
          <a:p xmlns:a="http://schemas.openxmlformats.org/drawingml/2006/main">
            <a:r>
              <a:t>if (inside || returning) integral = trial;</a:t>
            </a:r>
          </a:p>
          <a:p xmlns:a="http://schemas.openxmlformats.org/drawingml/2006/main">
            <a:r>
              <a:t>float u = constrain(base + Kp*error + integral,</a:t>
            </a:r>
          </a:p>
          <a:p xmlns:a="http://schemas.openxmlformats.org/drawingml/2006/main">
            <a:r>
              <a:t>                    0.0f, 255.0f);</a:t>
            </a:r>
          </a:p>
          <a:p xmlns:a="http://schemas.openxmlformats.org/drawingml/2006/main">
            <a:r>
              <a:t>Explicar entrada, estado, salida y momento de actualización.</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5 minutos en esta diapositiva.</a:t>
            </a:r>
          </a:p>
          <a:p xmlns:a="http://schemas.openxmlformats.org/drawingml/2006/main">
            <a:r>
              <a:t/>
            </a:r>
          </a:p>
          <a:p xmlns:a="http://schemas.openxmlformats.org/drawingml/2006/main">
            <a:r>
              <a:t>Modelo sintético: τ = 0,35 s, ganancia 4 RPM/cuenta, dt = 20 ms; carga de 100 RPM equivalentes desde 4 s.</a:t>
            </a:r>
          </a:p>
          <a:p xmlns:a="http://schemas.openxmlformats.org/drawingml/2006/main">
            <a:r>
              <a:t>float trial = integral + Ki * error * dt;</a:t>
            </a:r>
          </a:p>
          <a:p xmlns:a="http://schemas.openxmlformats.org/drawingml/2006/main">
            <a:r>
              <a:t>float unsat = base + Kp * error + trial;</a:t>
            </a:r>
          </a:p>
          <a:p xmlns:a="http://schemas.openxmlformats.org/drawingml/2006/main">
            <a:r>
              <a:t>bool inside = unsat &gt;= 0 &amp;&amp; unsat &lt;= 255;</a:t>
            </a:r>
          </a:p>
          <a:p xmlns:a="http://schemas.openxmlformats.org/drawingml/2006/main">
            <a:r>
              <a:t>bool returning = (unsat &gt; 255 &amp;&amp; error &lt; 0)</a:t>
            </a:r>
          </a:p>
          <a:p xmlns:a="http://schemas.openxmlformats.org/drawingml/2006/main">
            <a:r>
              <a:t>              || (unsat &lt; 0 &amp;&amp; error &gt; 0);</a:t>
            </a:r>
          </a:p>
          <a:p xmlns:a="http://schemas.openxmlformats.org/drawingml/2006/main">
            <a:r>
              <a:t>if (inside || returning) integral = trial;</a:t>
            </a:r>
          </a:p>
          <a:p xmlns:a="http://schemas.openxmlformats.org/drawingml/2006/main">
            <a:r>
              <a:t>float u = constrain(base + Kp*error + integral,</a:t>
            </a:r>
          </a:p>
          <a:p xmlns:a="http://schemas.openxmlformats.org/drawingml/2006/main">
            <a:r>
              <a:t>                    0.0f, 255.0f);</a:t>
            </a:r>
          </a:p>
          <a:p xmlns:a="http://schemas.openxmlformats.org/drawingml/2006/main">
            <a:r>
              <a:t/>
            </a:r>
          </a:p>
          <a:p xmlns:a="http://schemas.openxmlformats.org/drawingml/2006/main">
            <a:r>
              <a:t>El mando tiene un intervalo. Si se sigue acumulando integral mientras el actuador ya está en un extremo y el error exige avanzar todavía más, puede demorarse la recuperación al cambiar la situación. El fragmento conserva el incremento cuando la salida está dentro o cuando ayuda a regresar del límite. Es una estrategia introductoria que debe estudiarse con su definición exacta; no se llama anti-windup a cualquier recorte sin explicar qué ocurre con el estado integral.</a:t>
            </a:r>
          </a:p>
          <a:p xmlns:a="http://schemas.openxmlformats.org/drawingml/2006/main">
            <a:r>
              <a:t/>
            </a:r>
          </a:p>
          <a:p xmlns:a="http://schemas.openxmlformats.org/drawingml/2006/main">
            <a:r>
              <a:t>El firmware c11_pi_virtual ejecuta una planta de paso fijo y produce CSV. Ese tiempo pertenece al modelo. El banco real mide intervalos y respuesta del conjunto. Al pasar de uno a otro no se copian ganancias como garantía de funcionamiento. Se vuelve a identificar escala, límites, dirección de acción y condiciones de la medida.</a:t>
            </a:r>
          </a:p>
          <a:p xmlns:a="http://schemas.openxmlformats.org/drawingml/2006/main">
            <a:r>
              <a:t/>
            </a:r>
          </a:p>
          <a:p xmlns:a="http://schemas.openxmlformats.org/drawingml/2006/main">
            <a:r>
              <a:t>Modelo sintético: τ = 0,35 s, ganancia 4 RPM/cuenta, dt = 20 ms; carga de 100 RPM equivalentes desde 4 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Dibuja referencia, controlador, planta, medida y perturbación.</a:t>
            </a:r>
          </a:p>
          <a:p xmlns:a="http://schemas.openxmlformats.org/drawingml/2006/main">
            <a:r>
              <a:t>Abre el CSV sintético y localiza el escalón de referencia y el cambio de carga.</a:t>
            </a:r>
          </a:p>
          <a:p xmlns:a="http://schemas.openxmlformats.org/drawingml/2006/main">
            <a:r>
              <a:t>Compara lazo abierto y P conservando el mando base y las mismas condiciones.</a:t>
            </a:r>
          </a:p>
          <a:p xmlns:a="http://schemas.openxmlformats.org/drawingml/2006/main">
            <a:r>
              <a:t>Compara P y PI; describe error persistente y evolución temporal.</a:t>
            </a:r>
          </a:p>
          <a:p xmlns:a="http://schemas.openxmlformats.org/drawingml/2006/main">
            <a:r>
              <a:t>Introduce un caso de saturación y observa el estado integral.</a:t>
            </a:r>
          </a:p>
          <a:p xmlns:a="http://schemas.openxmlformats.org/drawingml/2006/main">
            <a:r>
              <a:t>Estudia D con una medida que contiene una variación rápida; explica por qué puede amplificarla.</a:t>
            </a:r>
          </a:p>
          <a:p xmlns:a="http://schemas.openxmlformats.org/drawingml/2006/main">
            <a:r>
              <a:t>En el banco docente disponible, repite primero una prueba pequeña con referencia alcanzable.</a:t>
            </a:r>
          </a:p>
          <a:p xmlns:a="http://schemas.openxmlformats.org/drawingml/2006/main">
            <a:r>
              <a:t/>
            </a:r>
          </a:p>
          <a:p xmlns:a="http://schemas.openxmlformats.org/drawingml/2006/main">
            <a:r>
              <a:t>Pregunta / Dato que la apoya</a:t>
            </a:r>
          </a:p>
          <a:p xmlns:a="http://schemas.openxmlformats.org/drawingml/2006/main">
            <a:r>
              <a:t>¿Sigue la referencia? / Error y evolución</a:t>
            </a:r>
          </a:p>
          <a:p xmlns:a="http://schemas.openxmlformats.org/drawingml/2006/main">
            <a:r>
              <a:t>¿Compensa la perturbación? / Estado antes y después</a:t>
            </a:r>
          </a:p>
          <a:p xmlns:a="http://schemas.openxmlformats.org/drawingml/2006/main">
            <a:r>
              <a:t>¿Satura? / Mando y límites</a:t>
            </a:r>
          </a:p>
          <a:p xmlns:a="http://schemas.openxmlformats.org/drawingml/2006/main">
            <a:r>
              <a:t>¿El cambio es repetible? / Condiciones conservadas</a:t>
            </a:r>
          </a:p>
          <a:p xmlns:a="http://schemas.openxmlformats.org/drawingml/2006/main">
            <a:r>
              <a:t/>
            </a:r>
          </a:p>
          <a:p xmlns:a="http://schemas.openxmlformats.org/drawingml/2006/main">
            <a:r>
              <a:t>Las curvas se leen con ejes y unidades. Un cruce de la referencia puede ser sobrepaso; una respuesta rápida no es necesariamente la mejor si produce oscilación o exige mando saturado. El alumno escribe una conclusión que incluya una ventaja y una condición observada del caso, sin convertir una única cifra en un ranking universal.</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Pregunta / Dato que la apoya</a:t>
            </a:r>
          </a:p>
          <a:p xmlns:a="http://schemas.openxmlformats.org/drawingml/2006/main">
            <a:r>
              <a:t>¿Sigue la referencia? / Error y evolución</a:t>
            </a:r>
          </a:p>
          <a:p xmlns:a="http://schemas.openxmlformats.org/drawingml/2006/main">
            <a:r>
              <a:t>¿Compensa la perturbación? / Estado antes y después</a:t>
            </a:r>
          </a:p>
          <a:p xmlns:a="http://schemas.openxmlformats.org/drawingml/2006/main">
            <a:r>
              <a:t>¿Satura? / Mando y límites</a:t>
            </a:r>
          </a:p>
          <a:p xmlns:a="http://schemas.openxmlformats.org/drawingml/2006/main">
            <a:r>
              <a:t>¿El cambio es repetible? / Condiciones conservadas</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5 minutos en esta diapositiva.</a:t>
            </a:r>
          </a:p>
          <a:p xmlns:a="http://schemas.openxmlformats.org/drawingml/2006/main">
            <a:r>
              <a:t/>
            </a:r>
          </a:p>
          <a:p xmlns:a="http://schemas.openxmlformats.org/drawingml/2006/main">
            <a:r>
              <a:t>Dibuja referencia, controlador, planta, medida y perturbación.</a:t>
            </a:r>
          </a:p>
          <a:p xmlns:a="http://schemas.openxmlformats.org/drawingml/2006/main">
            <a:r>
              <a:t>Abre el CSV sintético y localiza el escalón de referencia y el cambio de carga.</a:t>
            </a:r>
          </a:p>
          <a:p xmlns:a="http://schemas.openxmlformats.org/drawingml/2006/main">
            <a:r>
              <a:t>Compara lazo abierto y P conservando el mando base y las mismas condiciones.</a:t>
            </a:r>
          </a:p>
          <a:p xmlns:a="http://schemas.openxmlformats.org/drawingml/2006/main">
            <a:r>
              <a:t>Compara P y PI; describe error persistente y evolución temporal.</a:t>
            </a:r>
          </a:p>
          <a:p xmlns:a="http://schemas.openxmlformats.org/drawingml/2006/main">
            <a:r>
              <a:t>Introduce un caso de saturación y observa el estado integral.</a:t>
            </a:r>
          </a:p>
          <a:p xmlns:a="http://schemas.openxmlformats.org/drawingml/2006/main">
            <a:r>
              <a:t>Estudia D con una medida que contiene una variación rápida; explica por qué puede amplificarla.</a:t>
            </a:r>
          </a:p>
          <a:p xmlns:a="http://schemas.openxmlformats.org/drawingml/2006/main">
            <a:r>
              <a:t>En el banco docente disponible, repite primero una prueba pequeña con referencia alcanzable.</a:t>
            </a:r>
          </a:p>
          <a:p xmlns:a="http://schemas.openxmlformats.org/drawingml/2006/main">
            <a:r>
              <a:t>Verificar un paso antes de seguir.</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En un UAV puede haber varios lazos y estimaciones entre el mando humano, la orientación y la actuación. El curso no los condensa en una receta de tres ganancias. Enseña las piezas conceptuales que permiten hacer mejores preguntas: qué variable se controla, qué sensor la informa, a qué frecuencia se actualiza y qué límites tiene la acción. El proyecto 17 se revisará como demostración de mando y control proporcional de banco, con su alcance corregido.</a:t>
            </a:r>
          </a:p>
          <a:p xmlns:a="http://schemas.openxmlformats.org/drawingml/2006/main">
            <a:r>
              <a:t/>
            </a:r>
          </a:p>
          <a:p xmlns:a="http://schemas.openxmlformats.org/drawingml/2006/main">
            <a:r>
              <a:t>Un programa calcula error × kp y guarda el resultado en pid_roll. ¿Qué acción implementa?</a:t>
            </a:r>
          </a:p>
          <a:p xmlns:a="http://schemas.openxmlformats.org/drawingml/2006/main">
            <a:r>
              <a:t>Una acción proporcional. El nombre de la variable no añade integral ni derivada.</a:t>
            </a:r>
          </a:p>
          <a:p xmlns:a="http://schemas.openxmlformats.org/drawingml/2006/main">
            <a:r>
              <a:t/>
            </a:r>
          </a:p>
          <a:p xmlns:a="http://schemas.openxmlformats.org/drawingml/2006/main">
            <a:r>
              <a:t>Para ampliar, consulta Feedback Systems de Åström y Murray en sus secciones de realimentación y PID. Lee el esquema de bloques junto a un caso del banco. La meta de esta primera aproximación es explicar por qué se produjo una respuesta y qué dato permitiría revisar una hipótesis. Las ganancias y las curvas forman parte de esa explicación, no un sustituto de ella.</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4 minutos en esta diapositiva.</a:t>
            </a:r>
          </a:p>
          <a:p xmlns:a="http://schemas.openxmlformats.org/drawingml/2006/main">
            <a:r>
              <a:t/>
            </a:r>
          </a:p>
          <a:p xmlns:a="http://schemas.openxmlformats.org/drawingml/2006/main">
            <a:r>
              <a:t>En un UAV puede haber varios lazos y estimaciones entre el mando humano, la orientación y la actuación. El curso no los condensa en una receta de tres ganancias. Enseña las piezas conceptuales que permiten hacer mejores preguntas: qué variable se controla, qué sensor la informa, a qué frecuencia se actualiza y qué límites tiene la acción. El proyecto 17 se revisará como demostración de mando y control proporcional de banco, con su alcance corregido.</a:t>
            </a:r>
          </a:p>
          <a:p xmlns:a="http://schemas.openxmlformats.org/drawingml/2006/main">
            <a:r>
              <a:t/>
            </a:r>
          </a:p>
          <a:p xmlns:a="http://schemas.openxmlformats.org/drawingml/2006/main">
            <a:r>
              <a:t>Un programa calcula error × kp y guarda el resultado en pid_roll. ¿Qué acción implementa?</a:t>
            </a:r>
          </a:p>
          <a:p xmlns:a="http://schemas.openxmlformats.org/drawingml/2006/main">
            <a:r>
              <a:t>Una acción proporcional. El nombre de la variable no añade integral ni derivada.</a:t>
            </a:r>
          </a:p>
          <a:p xmlns:a="http://schemas.openxmlformats.org/drawingml/2006/main">
            <a:r>
              <a:t/>
            </a:r>
          </a:p>
          <a:p xmlns:a="http://schemas.openxmlformats.org/drawingml/2006/main">
            <a:r>
              <a:t>Para ampliar, consulta Feedback Systems de Åström y Murray en sus secciones de realimentación y PID. Lee el esquema de bloques junto a un caso del banco. La meta de esta primera aproximación es explicar por qué se produjo una respuesta y qué dato permitiría revisar una hipótesis. Las ganancias y las curvas forman parte de esa explicación, no un sustituto de ella.</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Un programa calcula error × kp y guarda el resultado en pid_roll. ¿Qué acción implementa?</a:t>
            </a:r>
          </a:p>
          <a:p xmlns:a="http://schemas.openxmlformats.org/drawingml/2006/main">
            <a:r>
              <a:t>Una acción proporcional. El nombre de la variable no añade integral ni derivada.</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que el mismo PWM puede producir otra velocidad al cambiar la carga.</a:t>
            </a:r>
          </a:p>
          <a:p xmlns:a="http://schemas.openxmlformats.org/drawingml/2006/main">
            <a:r>
              <a:t>Resolver una contribución P y un incremento I con unidades.</a:t>
            </a:r>
          </a:p>
          <a:p xmlns:a="http://schemas.openxmlformats.org/drawingml/2006/main">
            <a:r>
              <a:t>Comparar el modelo de referencia en CSV con idénticas entradas.</a:t>
            </a:r>
          </a:p>
          <a:p xmlns:a="http://schemas.openxmlformats.org/drawingml/2006/main">
            <a:r>
              <a:t>Explicar límites y transferencia al banco físico.</a:t>
            </a:r>
          </a:p>
          <a:p xmlns:a="http://schemas.openxmlformats.org/drawingml/2006/main">
            <a:r>
              <a:t>Rotar código, medida y registro.</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10 minutos en esta diapositiva.</a:t>
            </a:r>
          </a:p>
          <a:p xmlns:a="http://schemas.openxmlformats.org/drawingml/2006/main">
            <a:r>
              <a:t/>
            </a:r>
          </a:p>
          <a:p xmlns:a="http://schemas.openxmlformats.org/drawingml/2006/main">
            <a:r>
              <a:t>La estabilización y el control de mecanismos UAV se apoyan en medidas, referencias y actuadores; el banco permite reconocer esas funciones.</a:t>
            </a:r>
          </a:p>
          <a:p xmlns:a="http://schemas.openxmlformats.org/drawingml/2006/main">
            <a:r>
              <a:t>Gráficas identificadas, caso P/I resuelto y comparación de dos respuestas.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11: Control realimentado: P, PI y una introducción a PID.</a:t>
            </a:r>
          </a:p>
          <a:p xmlns:a="http://schemas.openxmlformats.org/drawingml/2006/main">
            <a:r>
              <a:t>En línea, 2 horas. Núcleo de explicación: 5 minutos en esta diapositiva.</a:t>
            </a:r>
          </a:p>
          <a:p xmlns:a="http://schemas.openxmlformats.org/drawingml/2006/main">
            <a:r>
              <a:t/>
            </a:r>
          </a:p>
          <a:p xmlns:a="http://schemas.openxmlformats.org/drawingml/2006/main">
            <a:r>
              <a:t>Gráficas identificadas, caso P/I resuelto y comparación de dos respuestas.</a:t>
            </a:r>
          </a:p>
          <a:p xmlns:a="http://schemas.openxmlformats.org/drawingml/2006/main">
            <a:r>
              <a:t/>
            </a:r>
          </a:p>
          <a:p xmlns:a="http://schemas.openxmlformats.org/drawingml/2006/main">
            <a:r>
              <a:t>Objetivo: Comparar respuestas ante una perturbación y explicar el papel de P, I y D con tiempo de muestreo y saturación.</a:t>
            </a:r>
          </a:p>
          <a:p xmlns:a="http://schemas.openxmlformats.org/drawingml/2006/main">
            <a:r>
              <a:t>Aplicación: La estabilización y el control de mecanismos UAV se apoyan en medidas, referencias y actuadores; el banco permite reconocer esas funciones.</a:t>
            </a:r>
          </a:p>
          <a:p xmlns:a="http://schemas.openxmlformats.org/drawingml/2006/main">
            <a:r>
              <a:t>Entrega: Gráficas identificadas, caso P/I resuelto y comparación de dos respuestas.</a:t>
            </a:r>
          </a:p>
          <a:p xmlns:a="http://schemas.openxmlformats.org/drawingml/2006/main">
            <a:r>
              <a:t/>
            </a:r>
          </a:p>
          <a:p xmlns:a="http://schemas.openxmlformats.org/drawingml/2006/main">
            <a:r>
              <a:t>Preguntas y respuestas</a:t>
            </a:r>
          </a:p>
          <a:p xmlns:a="http://schemas.openxmlformats.org/drawingml/2006/main">
            <a:r>
              <a:t>¿error × kp es PID completo?</a:t>
            </a:r>
          </a:p>
          <a:p xmlns:a="http://schemas.openxmlformats.org/drawingml/2006/main">
            <a:r>
              <a:t>Es proporcional, aunque la variable se llame pid.</a:t>
            </a:r>
          </a:p>
          <a:p xmlns:a="http://schemas.openxmlformats.org/drawingml/2006/main">
            <a:r>
              <a:t/>
            </a:r>
          </a:p>
          <a:p xmlns:a="http://schemas.openxmlformats.org/drawingml/2006/main">
            <a:r>
              <a:t>¿Qué ocurre si se omite Δt en I?</a:t>
            </a:r>
          </a:p>
          <a:p xmlns:a="http://schemas.openxmlformats.org/drawingml/2006/main">
            <a:r>
              <a:t>La acumulación cambia al cambiar la frecuencia de ejecución.</a:t>
            </a:r>
          </a:p>
          <a:p xmlns:a="http://schemas.openxmlformats.org/drawingml/2006/main">
            <a:r>
              <a:t/>
            </a:r>
          </a:p>
          <a:p xmlns:a="http://schemas.openxmlformats.org/drawingml/2006/main">
            <a:r>
              <a:t>¿Una referencia imposible se resuelve subiendo ganancias?</a:t>
            </a:r>
          </a:p>
          <a:p xmlns:a="http://schemas.openxmlformats.org/drawingml/2006/main">
            <a:r>
              <a:t>No. Se revisan capacidad, saturación, medida y objetivo.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Espressif Systems. Arduino-ESP32: LEDC. https://docs.espressif.com/projects/arduino-esp32/en/latest/api/ledc.html</a:t>
            </a:r>
          </a:p>
          <a:p xmlns:a="http://schemas.openxmlformats.org/drawingml/2006/main">
            <a:r>
              <a:t>Espressif Systems. Arduino-ESP32: Serial/UART. https://docs.espressif.com/projects/arduino-esp32/en/latest/api/serial.html</a:t>
            </a:r>
          </a:p>
          <a:p xmlns:a="http://schemas.openxmlformats.org/drawingml/2006/main">
            <a:r>
              <a:t>Lectura MECRO_ESP32_Clase_11.pdf.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3 minutos en esta diapositiva.</a:t>
            </a:r>
          </a:p>
          <a:p xmlns:a="http://schemas.openxmlformats.org/drawingml/2006/main">
            <a:r>
              <a:t/>
            </a:r>
          </a:p>
          <a:p xmlns:a="http://schemas.openxmlformats.org/drawingml/2006/main">
            <a:r>
              <a:t>Presentar acelerómetro y giróscopo como magnitudes diferentes.</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La IMU del proyecto MPU6050 combina tres componentes de aceleración y tres de velocidad angular. Esos seis canales no equivalen a seis ángulos medidos directamente. El acelerómetro y el giróscopo responden a magnitudes distintas. Antes de interpretar un número se necesita un sistema de ejes ligado al montaje, una unidad y una configuración de rango.</a:t>
            </a:r>
          </a:p>
          <a:p xmlns:a="http://schemas.openxmlformats.org/drawingml/2006/main">
            <a:r>
              <a:t/>
            </a:r>
          </a:p>
          <a:p xmlns:a="http://schemas.openxmlformats.org/drawingml/2006/main">
            <a:r>
              <a:t>MECRO, proyecto 16.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reposo, la lectura del acelerómetro permite observar la dirección asociada a gravedad bajo las condiciones del banco. Durante movimiento se añaden otros efectos y esa lectura no se interpreta automáticamente como inclinación. El giróscopo aporta velocidad angular; al integrarla se obtiene una estimación de cambio angular que también acumula error por sesgo. Ambas observaciones pueden complementarse, pero ninguna se vuelve una orientación completa por cambiar el nombre de una variable.</a:t>
            </a:r>
          </a:p>
          <a:p xmlns:a="http://schemas.openxmlformats.org/drawingml/2006/main">
            <a:r>
              <a:t/>
            </a:r>
          </a:p>
          <a:p xmlns:a="http://schemas.openxmlformats.org/drawingml/2006/main">
            <a:r>
              <a:t>La clase separa los atributos del simulador de las unidades que devuelve una biblioteca. En Wokwi se pueden introducir valores en g y grados por segundo. La biblioteca Adafruit utilizada presenta aceleración en m/s² y giro en rad/s. Ese cambio de representación debe reconocerse antes de aplicar fórmulas o escalas.</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16. Esquema original del laboratorio para reconocer la arquitectura en Wokwi. Para montaje físico se aplica la tabla y las correcciones de esta lectura.</a:t>
            </a:r>
          </a:p>
          <a:p xmlns:a="http://schemas.openxmlformats.org/drawingml/2006/main">
            <a:r>
              <a:t>La IMU del proyecto MPU6050 combina tres componentes de aceleración y tres de velocidad angular. Esos seis canales no equivalen a seis ángulos medidos directamente. El acelerómetro y el giróscopo responden a magnitudes distintas. Antes de interpretar un número se necesita un sistema de ejes ligado al montaje, una unidad y una configuración de rango.</a:t>
            </a:r>
          </a:p>
          <a:p xmlns:a="http://schemas.openxmlformats.org/drawingml/2006/main">
            <a:r>
              <a:t/>
            </a:r>
          </a:p>
          <a:p xmlns:a="http://schemas.openxmlformats.org/drawingml/2006/main">
            <a:r>
              <a:t>MECRO, proyecto 16.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reposo, la lectura del acelerómetro permite observar la dirección asociada a gravedad bajo las condiciones del banco. Durante movimiento se añaden otros efectos y esa lectura no se interpreta automáticamente como inclinación. El giróscopo aporta velocidad angular; al integrarla se obtiene una estimación de cambio angular que también acumula error por sesgo. Ambas observaciones pueden complementarse, pero ninguna se vuelve una orientación completa por cambiar el nombre de una variable.</a:t>
            </a:r>
          </a:p>
          <a:p xmlns:a="http://schemas.openxmlformats.org/drawingml/2006/main">
            <a:r>
              <a:t/>
            </a:r>
          </a:p>
          <a:p xmlns:a="http://schemas.openxmlformats.org/drawingml/2006/main">
            <a:r>
              <a:t>La clase separa los atributos del simulador de las unidades que devuelve una biblioteca. En Wokwi se pueden introducir valores en g y grados por segundo. La biblioteca Adafruit utilizada presenta aceleración en m/s² y giro en rad/s. Ese cambio de representación debe reconocerse antes de aplicar fórmulas o escalas.</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5 minutos en esta diapositiva.</a:t>
            </a:r>
          </a:p>
          <a:p xmlns:a="http://schemas.openxmlformats.org/drawingml/2006/main">
            <a:r>
              <a:t/>
            </a:r>
          </a:p>
          <a:p xmlns:a="http://schemas.openxmlformats.org/drawingml/2006/main">
            <a:r>
              <a:t>La IMU del proyecto MPU6050 combina tres componentes de aceleración y tres de velocidad angular. Esos seis canales no equivalen a seis ángulos medidos directamente. El acelerómetro y el giróscopo responden a magnitudes distintas. Antes de interpretar un número se necesita un sistema de ejes ligado al montaje, una unidad y una configuración de rango.</a:t>
            </a:r>
          </a:p>
          <a:p xmlns:a="http://schemas.openxmlformats.org/drawingml/2006/main">
            <a:r>
              <a:t/>
            </a:r>
          </a:p>
          <a:p xmlns:a="http://schemas.openxmlformats.org/drawingml/2006/main">
            <a:r>
              <a:t>MECRO, proyecto 16.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En reposo, la lectura del acelerómetro permite observar la dirección asociada a gravedad bajo las condiciones del banco. Durante movimiento se añaden otros efectos y esa lectura no se interpreta automáticamente como inclinación. El giróscopo aporta velocidad angular; al integrarla se obtiene una estimación de cambio angular que también acumula error por sesgo. Ambas observaciones pueden complementarse, pero ninguna se vuelve una orientación completa por cambiar el nombre de una variable.</a:t>
            </a:r>
          </a:p>
          <a:p xmlns:a="http://schemas.openxmlformats.org/drawingml/2006/main">
            <a:r>
              <a:t/>
            </a:r>
          </a:p>
          <a:p xmlns:a="http://schemas.openxmlformats.org/drawingml/2006/main">
            <a:r>
              <a:t>La clase separa los atributos del simulador de las unidades que devuelve una biblioteca. En Wokwi se pueden introducir valores en g y grados por segundo. La biblioteca Adafruit utilizada presenta aceleración en m/s² y giro en rad/s. Ese cambio de representación debe reconocerse antes de aplicar fórmulas o escalas.</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Convención del ejemplo: los resultados de atan2 están en radianes; se convierten a grados si se van a presentar así. La orientación de ejes y el signo se comprueban en el montaje.</a:t>
            </a:r>
          </a:p>
          <a:p xmlns:a="http://schemas.openxmlformats.org/drawingml/2006/main">
            <a:r>
              <a:t/>
            </a:r>
          </a:p>
          <a:p xmlns:a="http://schemas.openxmlformats.org/drawingml/2006/main">
            <a:r>
              <a:t>Estas expresiones se usan en la práctica cuasiestática, con la referencia de ejes declarada. atan2 considera la relación entre componentes y su cuadrante. Multiplicar aceleración por una constante no representa en general esa geometría. Cerca de una inclinación pequeña puede parecer que dos curvas se parecen, pero la coincidencia local no demuestra una conversión universal.</a:t>
            </a:r>
          </a:p>
          <a:p xmlns:a="http://schemas.openxmlformats.org/drawingml/2006/main">
            <a:r>
              <a:t/>
            </a:r>
          </a:p>
          <a:p xmlns:a="http://schemas.openxmlformats.org/drawingml/2006/main">
            <a:r>
              <a:t>En un caso ideal estático, ay = 4,903 m/s² y az = 8,493 m/s². ¿Qué informa atan2(ay,az) en grados?</a:t>
            </a:r>
          </a:p>
          <a:p xmlns:a="http://schemas.openxmlformats.org/drawingml/2006/main">
            <a:r>
              <a:t>Aproximadamente 30°. Multiplicar ay por 5 produciría 24,5 sin una justificación general de unidades ni de geometría.</a:t>
            </a:r>
          </a:p>
          <a:p xmlns:a="http://schemas.openxmlformats.org/drawingml/2006/main">
            <a:r>
              <a:t/>
            </a:r>
          </a:p>
          <a:p xmlns:a="http://schemas.openxmlformats.org/drawingml/2006/main">
            <a:r>
              <a:t>Variable / Unidad / Interpretación</a:t>
            </a:r>
          </a:p>
          <a:p xmlns:a="http://schemas.openxmlformats.org/drawingml/2006/main">
            <a:r>
              <a:t>a.acceleration.x / m/s² / Componente del acelerómetro</a:t>
            </a:r>
          </a:p>
          <a:p xmlns:a="http://schemas.openxmlformats.org/drawingml/2006/main">
            <a:r>
              <a:t>g.gyro.x / rad/s / Velocidad angular</a:t>
            </a:r>
          </a:p>
          <a:p xmlns:a="http://schemas.openxmlformats.org/drawingml/2006/main">
            <a:r>
              <a:t>Ángulo calculado / rad o grados / Estimación bajo hipótesis</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Variable / Unidad / Interpretación</a:t>
            </a:r>
          </a:p>
          <a:p xmlns:a="http://schemas.openxmlformats.org/drawingml/2006/main">
            <a:r>
              <a:t>a.acceleration.x / m/s² / Componente del acelerómetro</a:t>
            </a:r>
          </a:p>
          <a:p xmlns:a="http://schemas.openxmlformats.org/drawingml/2006/main">
            <a:r>
              <a:t>g.gyro.x / rad/s / Velocidad angular</a:t>
            </a:r>
          </a:p>
          <a:p xmlns:a="http://schemas.openxmlformats.org/drawingml/2006/main">
            <a:r>
              <a:t>Ángulo calculado / rad o grados / Estimación bajo hipótesis</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5 minutos en esta diapositiva.</a:t>
            </a:r>
          </a:p>
          <a:p xmlns:a="http://schemas.openxmlformats.org/drawingml/2006/main">
            <a:r>
              <a:t/>
            </a:r>
          </a:p>
          <a:p xmlns:a="http://schemas.openxmlformats.org/drawingml/2006/main">
            <a:r>
              <a:t>Convención del ejemplo: los resultados de atan2 están en radianes; se convierten a grados si se van a presentar así. La orientación de ejes y el signo se comprueban en el montaje.</a:t>
            </a:r>
          </a:p>
          <a:p xmlns:a="http://schemas.openxmlformats.org/drawingml/2006/main">
            <a:r>
              <a:t/>
            </a:r>
          </a:p>
          <a:p xmlns:a="http://schemas.openxmlformats.org/drawingml/2006/main">
            <a:r>
              <a:t>Estas expresiones se usan en la práctica cuasiestática, con la referencia de ejes declarada. atan2 considera la relación entre componentes y su cuadrante. Multiplicar aceleración por una constante no representa en general esa geometría. Cerca de una inclinación pequeña puede parecer que dos curvas se parecen, pero la coincidencia local no demuestra una conversión universal.</a:t>
            </a:r>
          </a:p>
          <a:p xmlns:a="http://schemas.openxmlformats.org/drawingml/2006/main">
            <a:r>
              <a:t/>
            </a:r>
          </a:p>
          <a:p xmlns:a="http://schemas.openxmlformats.org/drawingml/2006/main">
            <a:r>
              <a:t>En un caso ideal estático, ay = 4,903 m/s² y az = 8,493 m/s². ¿Qué informa atan2(ay,az) en grados?</a:t>
            </a:r>
          </a:p>
          <a:p xmlns:a="http://schemas.openxmlformats.org/drawingml/2006/main">
            <a:r>
              <a:t>Aproximadamente 30°. Multiplicar ay por 5 produciría 24,5 sin una justificación general de unidades ni de geometría.</a:t>
            </a:r>
          </a:p>
          <a:p xmlns:a="http://schemas.openxmlformats.org/drawingml/2006/main">
            <a:r>
              <a:t/>
            </a:r>
          </a:p>
          <a:p xmlns:a="http://schemas.openxmlformats.org/drawingml/2006/main">
            <a:r>
              <a:t>Variable / Unidad / Interpretación</a:t>
            </a:r>
          </a:p>
          <a:p xmlns:a="http://schemas.openxmlformats.org/drawingml/2006/main">
            <a:r>
              <a:t>a.acceleration.x / m/s² / Componente del acelerómetro</a:t>
            </a:r>
          </a:p>
          <a:p xmlns:a="http://schemas.openxmlformats.org/drawingml/2006/main">
            <a:r>
              <a:t>g.gyro.x / rad/s / Velocidad angular</a:t>
            </a:r>
          </a:p>
          <a:p xmlns:a="http://schemas.openxmlformats.org/drawingml/2006/main">
            <a:r>
              <a:t>Ángulo calculado / rad o grados / Estimación bajo hipótesis</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El sesgo es una desviación sistemática de la lectura. Una lectura con variación pequeña puede conservar un sesgo grande: repetir bien no equivale a medir correctamente. En un ensayo de reposo se observan muestras y se explica qué referencia permite interpretar cada eje. Para el giróscopo, una media distinta de cero en un montaje realmente quieto puede orientar una estimación de sesgo bajo esas condiciones.</a:t>
            </a:r>
          </a:p>
          <a:p xmlns:a="http://schemas.openxmlformats.org/drawingml/2006/main">
            <a:r>
              <a:t/>
            </a:r>
          </a:p>
          <a:p xmlns:a="http://schemas.openxmlformats.org/drawingml/2006/main">
            <a:r>
              <a:t>Prueba / Qué observar / Qué no concluye sola</a:t>
            </a:r>
          </a:p>
          <a:p xmlns:a="http://schemas.openxmlformats.org/drawingml/2006/main">
            <a:r>
              <a:t>Reposo / Norma y giro medio / Exactitud completa</a:t>
            </a:r>
          </a:p>
          <a:p xmlns:a="http://schemas.openxmlformats.org/drawingml/2006/main">
            <a:r>
              <a:t>Inclinación lenta / Signo y orientación / Actitud dinámica de vuelo</a:t>
            </a:r>
          </a:p>
          <a:p xmlns:a="http://schemas.openxmlformats.org/drawingml/2006/main">
            <a:r>
              <a:t>Movimiento rápido / Cambios y dispersión / Separación perfecta de efectos</a:t>
            </a:r>
          </a:p>
          <a:p xmlns:a="http://schemas.openxmlformats.org/drawingml/2006/main">
            <a:r>
              <a:t/>
            </a:r>
          </a:p>
          <a:p xmlns:a="http://schemas.openxmlformats.org/drawingml/2006/main">
            <a:r>
              <a:t>El rango configurado y el filtrado del sensor influyen en lo que se obtiene. Un rango mayor permite representar magnitudes mayores, pero no significa más detalle para todos los cambios pequeños. Un filtro puede reducir componentes rápidas y añadir retardo. El docente conserva el rango y el filtro al comparar dos posiciones, y modifica una elección a la vez cuando estudia su efecto.</a:t>
            </a:r>
          </a:p>
          <a:p xmlns:a="http://schemas.openxmlformats.org/drawingml/2006/main">
            <a:r>
              <a:t/>
            </a:r>
          </a:p>
          <a:p xmlns:a="http://schemas.openxmlformats.org/drawingml/2006/main">
            <a:r>
              <a:t>El nivel de burbuja parece suave al mover el equipo rápidamente. ¿La suavidad demuestra que separó inclinación y aceleración dinámica?</a:t>
            </a:r>
          </a:p>
          <a:p xmlns:a="http://schemas.openxmlformats.org/drawingml/2006/main">
            <a:r>
              <a:t>No. Puede haber filtrado o una representación gráfica suavizada. Hace falta relacionar hipótesis, movimiento y medida.</a:t>
            </a:r>
          </a:p>
          <a:p xmlns:a="http://schemas.openxmlformats.org/drawingml/2006/main">
            <a:r>
              <a:t/>
            </a:r>
          </a:p>
          <a:p xmlns:a="http://schemas.openxmlformats.org/drawingml/2006/main">
            <a:r>
              <a:t>Caso estático ideal: ay = g sen(roll). atan2(ay, az) recupera el ángulo bajo las hipótesis de la lectura.</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Prueba / Qué observar / Qué no concluye sola</a:t>
            </a:r>
          </a:p>
          <a:p xmlns:a="http://schemas.openxmlformats.org/drawingml/2006/main">
            <a:r>
              <a:t>Reposo / Norma y giro medio / Exactitud completa</a:t>
            </a:r>
          </a:p>
          <a:p xmlns:a="http://schemas.openxmlformats.org/drawingml/2006/main">
            <a:r>
              <a:t>Inclinación lenta / Signo y orientación / Actitud dinámica de vuelo</a:t>
            </a:r>
          </a:p>
          <a:p xmlns:a="http://schemas.openxmlformats.org/drawingml/2006/main">
            <a:r>
              <a:t>Movimiento rápido / Cambios y dispersión / Separación perfecta de efectos</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5 minutos en esta diapositiva.</a:t>
            </a:r>
          </a:p>
          <a:p xmlns:a="http://schemas.openxmlformats.org/drawingml/2006/main">
            <a:r>
              <a:t/>
            </a:r>
          </a:p>
          <a:p xmlns:a="http://schemas.openxmlformats.org/drawingml/2006/main">
            <a:r>
              <a:t>Caso estático ideal: ay = g sen(roll). atan2(ay, az) recupera el ángulo bajo las hipótesis de la lectura.</a:t>
            </a:r>
          </a:p>
          <a:p xmlns:a="http://schemas.openxmlformats.org/drawingml/2006/main">
            <a:r>
              <a:t>El sesgo es una desviación sistemática de la lectura. Una lectura con variación pequeña puede conservar un sesgo grande: repetir bien no equivale a medir correctamente. En un ensayo de reposo se observan muestras y se explica qué referencia permite interpretar cada eje. Para el giróscopo, una media distinta de cero en un montaje realmente quieto puede orientar una estimación de sesgo bajo esas condiciones.</a:t>
            </a:r>
          </a:p>
          <a:p xmlns:a="http://schemas.openxmlformats.org/drawingml/2006/main">
            <a:r>
              <a:t/>
            </a:r>
          </a:p>
          <a:p xmlns:a="http://schemas.openxmlformats.org/drawingml/2006/main">
            <a:r>
              <a:t>Prueba / Qué observar / Qué no concluye sola</a:t>
            </a:r>
          </a:p>
          <a:p xmlns:a="http://schemas.openxmlformats.org/drawingml/2006/main">
            <a:r>
              <a:t>Reposo / Norma y giro medio / Exactitud completa</a:t>
            </a:r>
          </a:p>
          <a:p xmlns:a="http://schemas.openxmlformats.org/drawingml/2006/main">
            <a:r>
              <a:t>Inclinación lenta / Signo y orientación / Actitud dinámica de vuelo</a:t>
            </a:r>
          </a:p>
          <a:p xmlns:a="http://schemas.openxmlformats.org/drawingml/2006/main">
            <a:r>
              <a:t>Movimiento rápido / Cambios y dispersión / Separación perfecta de efectos</a:t>
            </a:r>
          </a:p>
          <a:p xmlns:a="http://schemas.openxmlformats.org/drawingml/2006/main">
            <a:r>
              <a:t/>
            </a:r>
          </a:p>
          <a:p xmlns:a="http://schemas.openxmlformats.org/drawingml/2006/main">
            <a:r>
              <a:t>El rango configurado y el filtrado del sensor influyen en lo que se obtiene. Un rango mayor permite representar magnitudes mayores, pero no significa más detalle para todos los cambios pequeños. Un filtro puede reducir componentes rápidas y añadir retardo. El docente conserva el rango y el filtro al comparar dos posiciones, y modifica una elección a la vez cuando estudia su efecto.</a:t>
            </a:r>
          </a:p>
          <a:p xmlns:a="http://schemas.openxmlformats.org/drawingml/2006/main">
            <a:r>
              <a:t/>
            </a:r>
          </a:p>
          <a:p xmlns:a="http://schemas.openxmlformats.org/drawingml/2006/main">
            <a:r>
              <a:t>El nivel de burbuja parece suave al mover el equipo rápidamente. ¿La suavidad demuestra que separó inclinación y aceleración dinámica?</a:t>
            </a:r>
          </a:p>
          <a:p xmlns:a="http://schemas.openxmlformats.org/drawingml/2006/main">
            <a:r>
              <a:t>No. Puede haber filtrado o una representación gráfica suavizada. Hace falta relacionar hipótesis, movimiento y medida.</a:t>
            </a:r>
          </a:p>
          <a:p xmlns:a="http://schemas.openxmlformats.org/drawingml/2006/main">
            <a:r>
              <a:t/>
            </a:r>
          </a:p>
          <a:p xmlns:a="http://schemas.openxmlformats.org/drawingml/2006/main">
            <a:r>
              <a:t>Caso estático ideal: ay = g sen(roll). atan2(ay, az) recupera el ángulo bajo las hipótesis de la lectura.</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sensors_event_t a, g, temp;</a:t>
            </a:r>
          </a:p>
          <a:p xmlns:a="http://schemas.openxmlformats.org/drawingml/2006/main">
            <a:r>
              <a:t>imu.getEvent(&amp;a, &amp;g, &amp;temp);</a:t>
            </a:r>
          </a:p>
          <a:p xmlns:a="http://schemas.openxmlformats.org/drawingml/2006/main">
            <a:r>
              <a:t>float roll = atan2f(a.acceleration.y,</a:t>
            </a:r>
          </a:p>
          <a:p xmlns:a="http://schemas.openxmlformats.org/drawingml/2006/main">
            <a:r>
              <a:t>                   a.acceleration.z) * 180.0f/PI;</a:t>
            </a:r>
          </a:p>
          <a:p xmlns:a="http://schemas.openxmlformats.org/drawingml/2006/main">
            <a:r>
              <a:t>float gx_rad_s = g.gyro.x;</a:t>
            </a:r>
          </a:p>
          <a:p xmlns:a="http://schemas.openxmlformats.org/drawingml/2006/main">
            <a:r>
              <a:t/>
            </a:r>
          </a:p>
          <a:p xmlns:a="http://schemas.openxmlformats.org/drawingml/2006/main">
            <a:r>
              <a:t>El archivo completo prepara I2C21/22, verifica inicialización, configura rangos y registra tiempo con los valores. El alumno identifica cuál de sus variables es una medida y cuál es una transformación. Cambiar la orientación física del módulo puede invertir signos o intercambiar ejes; la corrección se documenta como una convención del montaje, no como un ajuste secreto para que una pantalla parezca correcta.</a:t>
            </a:r>
          </a:p>
          <a:p xmlns:a="http://schemas.openxmlformats.org/drawingml/2006/main">
            <a:r>
              <a:t/>
            </a:r>
          </a:p>
          <a:p xmlns:a="http://schemas.openxmlformats.org/drawingml/2006/main">
            <a:r>
              <a:t>El proyecto de mouse aéreo aporta una aplicación de velocidad angular. Antes de probar BLE se puede observar cómo cambia gx_rad_s en serie. La radio Bluetooth no está implementada en el simulador ESP32 de Wokwi consultado; la experiencia de mouse requiere hardware y una biblioteca compatible. La existencia del enlace del proyecto no garantiza que ese perfil inalámbrico pueda demostrarse dentro de la simulación.</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sensors_event_t a, g, temp;</a:t>
            </a:r>
          </a:p>
          <a:p xmlns:a="http://schemas.openxmlformats.org/drawingml/2006/main">
            <a:r>
              <a:t>imu.getEvent(&amp;a, &amp;g, &amp;temp);</a:t>
            </a:r>
          </a:p>
          <a:p xmlns:a="http://schemas.openxmlformats.org/drawingml/2006/main">
            <a:r>
              <a:t>float roll = atan2f(a.acceleration.y,</a:t>
            </a:r>
          </a:p>
          <a:p xmlns:a="http://schemas.openxmlformats.org/drawingml/2006/main">
            <a:r>
              <a:t>                   a.acceleration.z) * 180.0f/PI;</a:t>
            </a:r>
          </a:p>
          <a:p xmlns:a="http://schemas.openxmlformats.org/drawingml/2006/main">
            <a:r>
              <a:t>float gx_rad_s = g.gyro.x;</a:t>
            </a:r>
          </a:p>
          <a:p xmlns:a="http://schemas.openxmlformats.org/drawingml/2006/main">
            <a:r>
              <a:t>Explicar entrada, estado, salida y momento de actualización.</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5 minutos en esta diapositiva.</a:t>
            </a:r>
          </a:p>
          <a:p xmlns:a="http://schemas.openxmlformats.org/drawingml/2006/main">
            <a:r>
              <a:t/>
            </a:r>
          </a:p>
          <a:p xmlns:a="http://schemas.openxmlformats.org/drawingml/2006/main">
            <a:r>
              <a:t>sensors_event_t a, g, temp;</a:t>
            </a:r>
          </a:p>
          <a:p xmlns:a="http://schemas.openxmlformats.org/drawingml/2006/main">
            <a:r>
              <a:t>imu.getEvent(&amp;a, &amp;g, &amp;temp);</a:t>
            </a:r>
          </a:p>
          <a:p xmlns:a="http://schemas.openxmlformats.org/drawingml/2006/main">
            <a:r>
              <a:t>float roll = atan2f(a.acceleration.y,</a:t>
            </a:r>
          </a:p>
          <a:p xmlns:a="http://schemas.openxmlformats.org/drawingml/2006/main">
            <a:r>
              <a:t>                   a.acceleration.z) * 180.0f/PI;</a:t>
            </a:r>
          </a:p>
          <a:p xmlns:a="http://schemas.openxmlformats.org/drawingml/2006/main">
            <a:r>
              <a:t>float gx_rad_s = g.gyro.x;</a:t>
            </a:r>
          </a:p>
          <a:p xmlns:a="http://schemas.openxmlformats.org/drawingml/2006/main">
            <a:r>
              <a:t/>
            </a:r>
          </a:p>
          <a:p xmlns:a="http://schemas.openxmlformats.org/drawingml/2006/main">
            <a:r>
              <a:t>El archivo completo prepara I2C21/22, verifica inicialización, configura rangos y registra tiempo con los valores. El alumno identifica cuál de sus variables es una medida y cuál es una transformación. Cambiar la orientación física del módulo puede invertir signos o intercambiar ejes; la corrección se documenta como una convención del montaje, no como un ajuste secreto para que una pantalla parezca correcta.</a:t>
            </a:r>
          </a:p>
          <a:p xmlns:a="http://schemas.openxmlformats.org/drawingml/2006/main">
            <a:r>
              <a:t/>
            </a:r>
          </a:p>
          <a:p xmlns:a="http://schemas.openxmlformats.org/drawingml/2006/main">
            <a:r>
              <a:t>El proyecto de mouse aéreo aporta una aplicación de velocidad angular. Antes de probar BLE se puede observar cómo cambia gx_rad_s en serie. La radio Bluetooth no está implementada en el simulador ESP32 de Wokwi consultado; la experiencia de mouse requiere hardware y una biblioteca compatible. La existencia del enlace del proyecto no garantiza que ese perfil inalámbrico pueda demostrarse dentro de la simulación.</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ejes, alimentación y conexiones del módulo utilizado.</a:t>
            </a:r>
          </a:p>
          <a:p xmlns:a="http://schemas.openxmlformats.org/drawingml/2006/main">
            <a:r>
              <a:t>En el simulador, reconoce las unidades de los atributos y compáralas con la biblioteca.</a:t>
            </a:r>
          </a:p>
          <a:p xmlns:a="http://schemas.openxmlformats.org/drawingml/2006/main">
            <a:r>
              <a:t>Ejecuta c12_imu y conserva un registro de reposo.</a:t>
            </a:r>
          </a:p>
          <a:p xmlns:a="http://schemas.openxmlformats.org/drawingml/2006/main">
            <a:r>
              <a:t>Realiza inclinaciones lentas de referencia y comprueba signo y tendencia.</a:t>
            </a:r>
          </a:p>
          <a:p xmlns:a="http://schemas.openxmlformats.org/drawingml/2006/main">
            <a:r>
              <a:t>Calcula un caso a mano con atan2 y conserva la convención.</a:t>
            </a:r>
          </a:p>
          <a:p xmlns:a="http://schemas.openxmlformats.org/drawingml/2006/main">
            <a:r>
              <a:t>Muestra un movimiento dinámico y explica por qué la interpretación cambia.</a:t>
            </a:r>
          </a:p>
          <a:p xmlns:a="http://schemas.openxmlformats.org/drawingml/2006/main">
            <a:r>
              <a:t>Distingue validez de la comunicación de validez de una estimación angular.</a:t>
            </a:r>
          </a:p>
          <a:p xmlns:a="http://schemas.openxmlformats.org/drawingml/2006/main">
            <a:r>
              <a:t/>
            </a:r>
          </a:p>
          <a:p xmlns:a="http://schemas.openxmlformats.org/drawingml/2006/main">
            <a:r>
              <a:t>El modelo de Wokwi permite explorar componentes y verificar conversiones conocidas. En el banco físico se describen el movimiento realizado y la referencia disponible. Una regla o soporte angular puede ayudar a contrastar un caso lento. No se inventa una medida de inclinación exacta cuando el método solo permitió observar el sentido y una variación aproximada.</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ejes, alimentación y conexiones del módulo utilizado.</a:t>
            </a:r>
          </a:p>
          <a:p xmlns:a="http://schemas.openxmlformats.org/drawingml/2006/main">
            <a:r>
              <a:t>En el simulador, reconoce las unidades de los atributos y compáralas con la biblioteca.</a:t>
            </a:r>
          </a:p>
          <a:p xmlns:a="http://schemas.openxmlformats.org/drawingml/2006/main">
            <a:r>
              <a:t>Ejecuta c12_imu y conserva un registro de reposo.</a:t>
            </a:r>
          </a:p>
          <a:p xmlns:a="http://schemas.openxmlformats.org/drawingml/2006/main">
            <a:r>
              <a:t>Realiza inclinaciones lentas de referencia y comprueba signo y tendencia.</a:t>
            </a:r>
          </a:p>
          <a:p xmlns:a="http://schemas.openxmlformats.org/drawingml/2006/main">
            <a:r>
              <a:t>Calcula un caso a mano con atan2 y conserva la convención.</a:t>
            </a:r>
          </a:p>
          <a:p xmlns:a="http://schemas.openxmlformats.org/drawingml/2006/main">
            <a:r>
              <a:t>Muestra un movimiento dinámico y explica por qué la interpretación cambia.</a:t>
            </a:r>
          </a:p>
          <a:p xmlns:a="http://schemas.openxmlformats.org/drawingml/2006/main">
            <a:r>
              <a:t>Distingue validez de la comunicación de validez de una estimación angular.</a:t>
            </a:r>
          </a:p>
          <a:p xmlns:a="http://schemas.openxmlformats.org/drawingml/2006/main">
            <a:r>
              <a:t/>
            </a:r>
          </a:p>
          <a:p xmlns:a="http://schemas.openxmlformats.org/drawingml/2006/main">
            <a:r>
              <a:t>El modelo de Wokwi permite explorar componentes y verificar conversiones conocidas. En el banco físico se describen el movimiento realizado y la referencia disponible. Una regla o soporte angular puede ayudar a contrastar un caso lento. No se inventa una medida de inclinación exacta cuando el método solo permitió observar el sentido y una variación aproximada.</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5 minutos en esta diapositiva.</a:t>
            </a:r>
          </a:p>
          <a:p xmlns:a="http://schemas.openxmlformats.org/drawingml/2006/main">
            <a:r>
              <a:t/>
            </a:r>
          </a:p>
          <a:p xmlns:a="http://schemas.openxmlformats.org/drawingml/2006/main">
            <a:r>
              <a:t>Identifica ejes, alimentación y conexiones del módulo utilizado.</a:t>
            </a:r>
          </a:p>
          <a:p xmlns:a="http://schemas.openxmlformats.org/drawingml/2006/main">
            <a:r>
              <a:t>En el simulador, reconoce las unidades de los atributos y compáralas con la biblioteca.</a:t>
            </a:r>
          </a:p>
          <a:p xmlns:a="http://schemas.openxmlformats.org/drawingml/2006/main">
            <a:r>
              <a:t>Ejecuta c12_imu y conserva un registro de reposo.</a:t>
            </a:r>
          </a:p>
          <a:p xmlns:a="http://schemas.openxmlformats.org/drawingml/2006/main">
            <a:r>
              <a:t>Realiza inclinaciones lentas de referencia y comprueba signo y tendencia.</a:t>
            </a:r>
          </a:p>
          <a:p xmlns:a="http://schemas.openxmlformats.org/drawingml/2006/main">
            <a:r>
              <a:t>Calcula un caso a mano con atan2 y conserva la convención.</a:t>
            </a:r>
          </a:p>
          <a:p xmlns:a="http://schemas.openxmlformats.org/drawingml/2006/main">
            <a:r>
              <a:t>Muestra un movimiento dinámico y explica por qué la interpretación cambia.</a:t>
            </a:r>
          </a:p>
          <a:p xmlns:a="http://schemas.openxmlformats.org/drawingml/2006/main">
            <a:r>
              <a:t>Distingue validez de la comunicación de validez de una estimación angular.</a:t>
            </a:r>
          </a:p>
          <a:p xmlns:a="http://schemas.openxmlformats.org/drawingml/2006/main">
            <a:r>
              <a:t>Verificar un paso antes de seguir.</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El controlador de la clase siguiente comparará una referencia y una estimación. Si ambas usan escalas o ejes distintos, el error numérico puede tener un significado falso aunque el programa compile. Por eso primero se aprende a leer la IMU. El estudiante debe poder señalar de dónde salió cada número antes de proponer una acción correctiva.</a:t>
            </a:r>
          </a:p>
          <a:p xmlns:a="http://schemas.openxmlformats.org/drawingml/2006/main">
            <a:r>
              <a:t/>
            </a:r>
          </a:p>
          <a:p xmlns:a="http://schemas.openxmlformats.org/drawingml/2006/main">
            <a:r>
              <a:t>Comparar la norma con una referencia gravitatoria en un ensayo de banco aporta contexto; no constituye por sí solo un detector universal de actitud válida.</a:t>
            </a:r>
          </a:p>
          <a:p xmlns:a="http://schemas.openxmlformats.org/drawingml/2006/main">
            <a:r>
              <a:t/>
            </a:r>
          </a:p>
          <a:p xmlns:a="http://schemas.openxmlformats.org/drawingml/2006/main">
            <a:r>
              <a:t>Investiga cómo se acumula un sesgo pequeño del giróscopo al integrar durante varios segundos. Como caso ideal, 0,5 grados/s sostenidos durante 10 s producen 5 grados de cambio estimado aunque el equipo no haya girado. Relaciona ese cálculo con la necesidad de referencias y calibración. El curso introduce el problema sin convertirlo en una implementación completa de estimación de vuelo.</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4 minutos en esta diapositiva.</a:t>
            </a:r>
          </a:p>
          <a:p xmlns:a="http://schemas.openxmlformats.org/drawingml/2006/main">
            <a:r>
              <a:t/>
            </a:r>
          </a:p>
          <a:p xmlns:a="http://schemas.openxmlformats.org/drawingml/2006/main">
            <a:r>
              <a:t>El controlador de la clase siguiente comparará una referencia y una estimación. Si ambas usan escalas o ejes distintos, el error numérico puede tener un significado falso aunque el programa compile. Por eso primero se aprende a leer la IMU. El estudiante debe poder señalar de dónde salió cada número antes de proponer una acción correctiva.</a:t>
            </a:r>
          </a:p>
          <a:p xmlns:a="http://schemas.openxmlformats.org/drawingml/2006/main">
            <a:r>
              <a:t/>
            </a:r>
          </a:p>
          <a:p xmlns:a="http://schemas.openxmlformats.org/drawingml/2006/main">
            <a:r>
              <a:t>Comparar la norma con una referencia gravitatoria en un ensayo de banco aporta contexto; no constituye por sí solo un detector universal de actitud válida.</a:t>
            </a:r>
          </a:p>
          <a:p xmlns:a="http://schemas.openxmlformats.org/drawingml/2006/main">
            <a:r>
              <a:t/>
            </a:r>
          </a:p>
          <a:p xmlns:a="http://schemas.openxmlformats.org/drawingml/2006/main">
            <a:r>
              <a:t>Investiga cómo se acumula un sesgo pequeño del giróscopo al integrar durante varios segundos. Como caso ideal, 0,5 grados/s sostenidos durante 10 s producen 5 grados de cambio estimado aunque el equipo no haya girado. Relaciona ese cálculo con la necesidad de referencias y calibración. El curso introduce el problema sin convertirlo en una implementación completa de estimación de vuelo.</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5 minutos en esta diapositiva.</a:t>
            </a:r>
          </a:p>
          <a:p xmlns:a="http://schemas.openxmlformats.org/drawingml/2006/main">
            <a:r>
              <a:t/>
            </a:r>
          </a:p>
          <a:p xmlns:a="http://schemas.openxmlformats.org/drawingml/2006/main">
            <a:r>
              <a:t>El controlador de la clase siguiente comparará una referencia y una estimación. Si ambas usan escalas o ejes distintos, el error numérico puede tener un significado falso aunque el programa compile. Por eso primero se aprende a leer la IMU. El estudiante debe poder señalar de dónde salió cada número antes de proponer una acción correctiva.</a:t>
            </a:r>
          </a:p>
          <a:p xmlns:a="http://schemas.openxmlformats.org/drawingml/2006/main">
            <a:r>
              <a:t/>
            </a:r>
          </a:p>
          <a:p xmlns:a="http://schemas.openxmlformats.org/drawingml/2006/main">
            <a:r>
              <a:t>Comparar la norma con una referencia gravitatoria en un ensayo de banco aporta contexto; no constituye por sí solo un detector universal de actitud válida.</a:t>
            </a:r>
          </a:p>
          <a:p xmlns:a="http://schemas.openxmlformats.org/drawingml/2006/main">
            <a:r>
              <a:t/>
            </a:r>
          </a:p>
          <a:p xmlns:a="http://schemas.openxmlformats.org/drawingml/2006/main">
            <a:r>
              <a:t>Investiga cómo se acumula un sesgo pequeño del giróscopo al integrar durante varios segundos. Como caso ideal, 0,5 grados/s sostenidos durante 10 s producen 5 grados de cambio estimado aunque el equipo no haya girado. Relaciona ese cálculo con la necesidad de referencias y calibración. El curso introduce el problema sin convertirlo en una implementación completa de estimación de vuelo.</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12 minutos en esta diapositiva.</a:t>
            </a:r>
          </a:p>
          <a:p xmlns:a="http://schemas.openxmlformats.org/drawingml/2006/main">
            <a:r>
              <a:t/>
            </a:r>
          </a:p>
          <a:p xmlns:a="http://schemas.openxmlformats.org/drawingml/2006/main">
            <a:r>
              <a:t>Presentar acelerómetro y giróscopo como magnitudes diferentes.</a:t>
            </a:r>
          </a:p>
          <a:p xmlns:a="http://schemas.openxmlformats.org/drawingml/2006/main">
            <a:r>
              <a:t>Resolver el caso estático de 30° con la convención de ejes.</a:t>
            </a:r>
          </a:p>
          <a:p xmlns:a="http://schemas.openxmlformats.org/drawingml/2006/main">
            <a:r>
              <a:t>Comprobar c12_imu y su registro de unidades.</a:t>
            </a:r>
          </a:p>
          <a:p xmlns:a="http://schemas.openxmlformats.org/drawingml/2006/main">
            <a:r>
              <a:t>Contrastar inclinación lenta, movimiento dinámico y aplicación de mouse.</a:t>
            </a:r>
          </a:p>
          <a:p xmlns:a="http://schemas.openxmlformats.org/drawingml/2006/main">
            <a:r>
              <a:t>Rotar código, medida y registro.</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10 minutos en esta diapositiva.</a:t>
            </a:r>
          </a:p>
          <a:p xmlns:a="http://schemas.openxmlformats.org/drawingml/2006/main">
            <a:r>
              <a:t/>
            </a:r>
          </a:p>
          <a:p xmlns:a="http://schemas.openxmlformats.org/drawingml/2006/main">
            <a:r>
              <a:t>La IMU es una entrada esencial para comprender cómo se observa el movimiento de un UAV.</a:t>
            </a:r>
          </a:p>
          <a:p xmlns:a="http://schemas.openxmlformats.org/drawingml/2006/main">
            <a:r>
              <a:t>Registro de reposo e inclinación, caso atan2 y convención de unidades.</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12: IMU y orientación de banco: medir antes de estabilizar.</a:t>
            </a:r>
          </a:p>
          <a:p xmlns:a="http://schemas.openxmlformats.org/drawingml/2006/main">
            <a:r>
              <a:t>En línea, 2 horas. Núcleo de explicación: 5 minutos en esta diapositiva.</a:t>
            </a:r>
          </a:p>
          <a:p xmlns:a="http://schemas.openxmlformats.org/drawingml/2006/main">
            <a:r>
              <a:t/>
            </a:r>
          </a:p>
          <a:p xmlns:a="http://schemas.openxmlformats.org/drawingml/2006/main">
            <a:r>
              <a:t>Registro de reposo e inclinación, caso atan2 y convención de unidades.</a:t>
            </a:r>
          </a:p>
          <a:p xmlns:a="http://schemas.openxmlformats.org/drawingml/2006/main">
            <a:r>
              <a:t/>
            </a:r>
          </a:p>
          <a:p xmlns:a="http://schemas.openxmlformats.org/drawingml/2006/main">
            <a:r>
              <a:t>Objetivo: Distinguir aceleración, velocidad angular e inclinación estimada y obtener un registro con unidades.</a:t>
            </a:r>
          </a:p>
          <a:p xmlns:a="http://schemas.openxmlformats.org/drawingml/2006/main">
            <a:r>
              <a:t>Aplicación: La IMU es una entrada esencial para comprender cómo se observa el movimiento de un UAV.</a:t>
            </a:r>
          </a:p>
          <a:p xmlns:a="http://schemas.openxmlformats.org/drawingml/2006/main">
            <a:r>
              <a:t>Entrega: Registro de reposo e inclinación, caso atan2 y convención de unidades.</a:t>
            </a:r>
          </a:p>
          <a:p xmlns:a="http://schemas.openxmlformats.org/drawingml/2006/main">
            <a:r>
              <a:t/>
            </a:r>
          </a:p>
          <a:p xmlns:a="http://schemas.openxmlformats.org/drawingml/2006/main">
            <a:r>
              <a:t>Preguntas y respuestas</a:t>
            </a:r>
          </a:p>
          <a:p xmlns:a="http://schemas.openxmlformats.org/drawingml/2006/main">
            <a:r>
              <a:t>¿Seis ejes equivalen a seis ángulos directos?</a:t>
            </a:r>
          </a:p>
          <a:p xmlns:a="http://schemas.openxmlformats.org/drawingml/2006/main">
            <a:r>
              <a:t>No. Son componentes de aceleración y velocidad angular.</a:t>
            </a:r>
          </a:p>
          <a:p xmlns:a="http://schemas.openxmlformats.org/drawingml/2006/main">
            <a:r>
              <a:t/>
            </a:r>
          </a:p>
          <a:p xmlns:a="http://schemas.openxmlformats.org/drawingml/2006/main">
            <a:r>
              <a:t>¿La biblioteca Adafruit devuelve giro en grados/s?</a:t>
            </a:r>
          </a:p>
          <a:p xmlns:a="http://schemas.openxmlformats.org/drawingml/2006/main">
            <a:r>
              <a:t>En el evento utilizado devuelve rad/s; se convierte explícitamente si hace falta otra unidad.</a:t>
            </a:r>
          </a:p>
          <a:p xmlns:a="http://schemas.openxmlformats.org/drawingml/2006/main">
            <a:r>
              <a:t/>
            </a:r>
          </a:p>
          <a:p xmlns:a="http://schemas.openxmlformats.org/drawingml/2006/main">
            <a:r>
              <a:t>¿Un gráfico suave prueba actitud correcta?</a:t>
            </a:r>
          </a:p>
          <a:p xmlns:a="http://schemas.openxmlformats.org/drawingml/2006/main">
            <a:r>
              <a:t>No. Hay que revisar hipótesis, ejes, movimiento y referencia.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Adafruit. MPU6050: biblioteca, cableado y lectura. https://learn.adafruit.com/mpu6050-6-dof-accelerometer-and-gyro/arduino</a:t>
            </a:r>
          </a:p>
          <a:p xmlns:a="http://schemas.openxmlformats.org/drawingml/2006/main">
            <a:r>
              <a:t>Wokwi. MPU6050: atributos del modelo. https://docs.wokwi.com/parts/wokwi-mpu6050</a:t>
            </a:r>
          </a:p>
          <a:p xmlns:a="http://schemas.openxmlformats.org/drawingml/2006/main">
            <a:r>
              <a:t>Espressif Systems. Arduino-ESP32: I2C. https://docs.espressif.com/projects/arduino-esp32/en/latest/api/i2c.html</a:t>
            </a:r>
          </a:p>
          <a:p xmlns:a="http://schemas.openxmlformats.org/drawingml/2006/main">
            <a:r>
              <a:t>Wokwi. ESP32 Simulation: periféricos y límites. https://docs.wokwi.com/guides/esp32</a:t>
            </a:r>
          </a:p>
          <a:p xmlns:a="http://schemas.openxmlformats.org/drawingml/2006/main">
            <a:r>
              <a:t>Lectura MECRO_ESP32_Clase_12.pdf.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562adbed0644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407a6822f54c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9450a24e4641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3fcd244c244b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ececc2b4e54a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f0d6250c804a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184CD6-66BC-4B53-A3F1-F40AB5F9A9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91B816B-8865-49EC-9A37-EA5E3AD1E2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A82DFB-A514-4D72-B9F3-3C9421103C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8A178D-CEE7-4A48-8CB3-DBD0DA37B0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7486B5-75C2-4948-A798-470203A982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F3E93B-197B-4ED5-B07A-164A98040A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B786DF-2A42-42F3-91F4-4DE68E4438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693BEA-3BDD-451A-95D0-D028127C26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BEF74D-5B4F-4F02-ABF3-0E901EF283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FB5C44-DA13-4E5E-8354-22A39B1510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6e77b482894952" /><Relationship Type="http://schemas.openxmlformats.org/officeDocument/2006/relationships/slideLayout" Target="/ppt/slideLayouts/slideLayout1.xml" Id="R24fde8b4df964bd5" /><Relationship Type="http://schemas.openxmlformats.org/officeDocument/2006/relationships/slideLayout" Target="/ppt/slideLayouts/slideLayout2.xml" Id="R8a430215824d4eb8" /><Relationship Type="http://schemas.openxmlformats.org/officeDocument/2006/relationships/slideLayout" Target="/ppt/slideLayouts/slideLayout3.xml" Id="Raac66225fd1047e2" /><Relationship Type="http://schemas.openxmlformats.org/officeDocument/2006/relationships/slideLayout" Target="/ppt/slideLayouts/slideLayout4.xml" Id="Rfc0a09986f0f46a2" /><Relationship Type="http://schemas.openxmlformats.org/officeDocument/2006/relationships/slideLayout" Target="/ppt/slideLayouts/slideLayout5.xml" Id="R2be6ad79bf044a64" /><Relationship Type="http://schemas.openxmlformats.org/officeDocument/2006/relationships/slideLayout" Target="/ppt/slideLayouts/slideLayout6.xml" Id="Re13de51fe4314a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fde8b4df964bd5"/>
    <p:sldLayoutId xmlns:r="http://schemas.openxmlformats.org/officeDocument/2006/relationships" id="2147483650" r:id="R8a430215824d4eb8"/>
    <p:sldLayoutId xmlns:r="http://schemas.openxmlformats.org/officeDocument/2006/relationships" id="2147483651" r:id="Raac66225fd1047e2"/>
    <p:sldLayoutId xmlns:r="http://schemas.openxmlformats.org/officeDocument/2006/relationships" id="2147483652" r:id="Rfc0a09986f0f46a2"/>
    <p:sldLayoutId xmlns:r="http://schemas.openxmlformats.org/officeDocument/2006/relationships" id="2147483653" r:id="R2be6ad79bf044a64"/>
    <p:sldLayoutId xmlns:r="http://schemas.openxmlformats.org/officeDocument/2006/relationships" id="2147483654" r:id="Re13de51fe4314a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16391db4a5440c" /><Relationship Type="http://schemas.openxmlformats.org/officeDocument/2006/relationships/image" Target="/ppt/media/image.png" Id="Rcc7de21b62b742d1" /><Relationship Type="http://schemas.openxmlformats.org/officeDocument/2006/relationships/notesSlide" Target="/ppt/notesSlides/notesSlide1.xml" Id="R2d78c546953140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951f264de94057" /><Relationship Type="http://schemas.openxmlformats.org/officeDocument/2006/relationships/image" Target="/ppt/media/image2.png" Id="R40beefab638b4da7" /><Relationship Type="http://schemas.openxmlformats.org/officeDocument/2006/relationships/notesSlide" Target="/ppt/notesSlides/notesSlide2.xml" Id="R7525b6b8dd3d46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c0045638da4bc5" /><Relationship Type="http://schemas.openxmlformats.org/officeDocument/2006/relationships/image" Target="/ppt/media/image3.png" Id="R19afea77f29e4c8d" /><Relationship Type="http://schemas.openxmlformats.org/officeDocument/2006/relationships/notesSlide" Target="/ppt/notesSlides/notesSlide3.xml" Id="R7a02abab98484f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b7e2fe782cd4885" /><Relationship Type="http://schemas.openxmlformats.org/officeDocument/2006/relationships/image" Target="/ppt/media/image4.png" Id="R13426c36f8164740" /><Relationship Type="http://schemas.openxmlformats.org/officeDocument/2006/relationships/notesSlide" Target="/ppt/notesSlides/notesSlide4.xml" Id="Rab895416339c46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9977ca2862439a" /><Relationship Type="http://schemas.openxmlformats.org/officeDocument/2006/relationships/image" Target="/ppt/media/image5.png" Id="Rf38fb486135b4d64" /><Relationship Type="http://schemas.openxmlformats.org/officeDocument/2006/relationships/notesSlide" Target="/ppt/notesSlides/notesSlide5.xml" Id="R0793ff906a1d4a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7b56c0053d24d6a" /><Relationship Type="http://schemas.openxmlformats.org/officeDocument/2006/relationships/image" Target="/ppt/media/image6.png" Id="Rce6cfcf7ddd84bd8" /><Relationship Type="http://schemas.openxmlformats.org/officeDocument/2006/relationships/notesSlide" Target="/ppt/notesSlides/notesSlide6.xml" Id="R5f2ed82a3e834b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fb40622a9045ad" /><Relationship Type="http://schemas.openxmlformats.org/officeDocument/2006/relationships/image" Target="/ppt/media/image7.png" Id="Rcb61f236c7854b95" /><Relationship Type="http://schemas.openxmlformats.org/officeDocument/2006/relationships/image" Target="/ppt/media/image8.png" Id="Rd76a094974824849" /><Relationship Type="http://schemas.openxmlformats.org/officeDocument/2006/relationships/notesSlide" Target="/ppt/notesSlides/notesSlide7.xml" Id="R17118342b53f48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d407442c704830" /><Relationship Type="http://schemas.openxmlformats.org/officeDocument/2006/relationships/image" Target="/ppt/media/image9.png" Id="Rbfa33b3fe17d48e7" /><Relationship Type="http://schemas.openxmlformats.org/officeDocument/2006/relationships/notesSlide" Target="/ppt/notesSlides/notesSlide8.xml" Id="R25313150def34e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8e571c7ccf48d2" /><Relationship Type="http://schemas.openxmlformats.org/officeDocument/2006/relationships/image" Target="/ppt/media/image10.png" Id="Rd9392630a8c94f0e" /><Relationship Type="http://schemas.openxmlformats.org/officeDocument/2006/relationships/notesSlide" Target="/ppt/notesSlides/notesSlide9.xml" Id="R4b6b740ba73544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61c7525c2a4569" /><Relationship Type="http://schemas.openxmlformats.org/officeDocument/2006/relationships/image" Target="/ppt/media/image11.png" Id="Rb594e61c841646a0" /><Relationship Type="http://schemas.openxmlformats.org/officeDocument/2006/relationships/image" Target="/ppt/media/image12.png" Id="Rf177f5bbd67e436e" /><Relationship Type="http://schemas.openxmlformats.org/officeDocument/2006/relationships/notesSlide" Target="/ppt/notesSlides/notesSlide10.xml" Id="R18a660f0dfba47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741457152604250" /><Relationship Type="http://schemas.openxmlformats.org/officeDocument/2006/relationships/image" Target="/ppt/media/image13.png" Id="R43adcff8acbf46a1" /><Relationship Type="http://schemas.openxmlformats.org/officeDocument/2006/relationships/notesSlide" Target="/ppt/notesSlides/notesSlide11.xml" Id="R6965d5a774f244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83fbb8cb914648" /><Relationship Type="http://schemas.openxmlformats.org/officeDocument/2006/relationships/image" Target="/ppt/media/image14.png" Id="R25c84e7da5c448cf" /><Relationship Type="http://schemas.openxmlformats.org/officeDocument/2006/relationships/notesSlide" Target="/ppt/notesSlides/notesSlide12.xml" Id="R55d75d296a8d40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d66449c0d034f35" /><Relationship Type="http://schemas.openxmlformats.org/officeDocument/2006/relationships/image" Target="/ppt/media/image15.png" Id="R189495b0f2af4843" /><Relationship Type="http://schemas.openxmlformats.org/officeDocument/2006/relationships/chart" Target="/ppt/slides/charts/chart1.xml" Id="R24b3db8aaf324e72" /><Relationship Type="http://schemas.openxmlformats.org/officeDocument/2006/relationships/notesSlide" Target="/ppt/notesSlides/notesSlide13.xml" Id="R6d49bcda460a4f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5bbb89a9e3649d0" /><Relationship Type="http://schemas.openxmlformats.org/officeDocument/2006/relationships/image" Target="/ppt/media/image16.png" Id="Rdec045bb380d486b" /><Relationship Type="http://schemas.openxmlformats.org/officeDocument/2006/relationships/notesSlide" Target="/ppt/notesSlides/notesSlide14.xml" Id="R53cc2d82fb0b47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2100934034e4ede" /><Relationship Type="http://schemas.openxmlformats.org/officeDocument/2006/relationships/image" Target="/ppt/media/image17.png" Id="Rd1872c591bbf4e2a" /><Relationship Type="http://schemas.openxmlformats.org/officeDocument/2006/relationships/notesSlide" Target="/ppt/notesSlides/notesSlide15.xml" Id="R58e31449cd7d46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7bc4709ae3643c8" /><Relationship Type="http://schemas.openxmlformats.org/officeDocument/2006/relationships/image" Target="/ppt/media/image18.png" Id="Rf8fb3e9c37ce4702" /><Relationship Type="http://schemas.openxmlformats.org/officeDocument/2006/relationships/notesSlide" Target="/ppt/notesSlides/notesSlide16.xml" Id="R970759fe6459473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7706699de4a49c8" /><Relationship Type="http://schemas.openxmlformats.org/officeDocument/2006/relationships/image" Target="/ppt/media/image19.png" Id="Rc8eff505c8b74175" /><Relationship Type="http://schemas.openxmlformats.org/officeDocument/2006/relationships/notesSlide" Target="/ppt/notesSlides/notesSlide17.xml" Id="R88da0d366d0644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a6e19212e3d4717" /><Relationship Type="http://schemas.openxmlformats.org/officeDocument/2006/relationships/image" Target="/ppt/media/image20.png" Id="R535d9cabdfb74463" /><Relationship Type="http://schemas.openxmlformats.org/officeDocument/2006/relationships/notesSlide" Target="/ppt/notesSlides/notesSlide18.xml" Id="Redf2d7fe93ca410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0c57e8179ef4b7c" /><Relationship Type="http://schemas.openxmlformats.org/officeDocument/2006/relationships/image" Target="/ppt/media/image21.png" Id="R583d06dc5c014da2" /><Relationship Type="http://schemas.openxmlformats.org/officeDocument/2006/relationships/notesSlide" Target="/ppt/notesSlides/notesSlide19.xml" Id="Rd6132274e9c64c1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a8ad685525b4a97" /><Relationship Type="http://schemas.openxmlformats.org/officeDocument/2006/relationships/image" Target="/ppt/media/image22.png" Id="R4b6b92b1959d4b1f" /><Relationship Type="http://schemas.openxmlformats.org/officeDocument/2006/relationships/notesSlide" Target="/ppt/notesSlides/notesSlide20.xml" Id="R247fb17560594f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dc39664130c41ec" /><Relationship Type="http://schemas.openxmlformats.org/officeDocument/2006/relationships/image" Target="/ppt/media/image23.png" Id="Refe22d2bb57e4071" /><Relationship Type="http://schemas.openxmlformats.org/officeDocument/2006/relationships/notesSlide" Target="/ppt/notesSlides/notesSlide21.xml" Id="Rc6421eb8a8904a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032a82c501648ba" /><Relationship Type="http://schemas.openxmlformats.org/officeDocument/2006/relationships/image" Target="/ppt/media/image24.png" Id="R577a6fc6347042ab" /><Relationship Type="http://schemas.openxmlformats.org/officeDocument/2006/relationships/notesSlide" Target="/ppt/notesSlides/notesSlide22.xml" Id="R0ce2bb5c7dfc45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eb49cd3cfe04b23" /><Relationship Type="http://schemas.openxmlformats.org/officeDocument/2006/relationships/image" Target="/ppt/media/image25.png" Id="R15f23724cafd4e6e" /><Relationship Type="http://schemas.openxmlformats.org/officeDocument/2006/relationships/notesSlide" Target="/ppt/notesSlides/notesSlide23.xml" Id="R917d9107499d4f3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0152508f54e4df1" /><Relationship Type="http://schemas.openxmlformats.org/officeDocument/2006/relationships/image" Target="/ppt/media/image26.png" Id="R2e41502eb7944261" /><Relationship Type="http://schemas.openxmlformats.org/officeDocument/2006/relationships/notesSlide" Target="/ppt/notesSlides/notesSlide24.xml" Id="R8a71f3c36907426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653671bd5f149de" /><Relationship Type="http://schemas.openxmlformats.org/officeDocument/2006/relationships/image" Target="/ppt/media/image27.png" Id="R8389f51139ee40d9" /><Relationship Type="http://schemas.openxmlformats.org/officeDocument/2006/relationships/notesSlide" Target="/ppt/notesSlides/notesSlide25.xml" Id="Ra7adadd2521c40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fdf5b7d4a6f4c49" /><Relationship Type="http://schemas.openxmlformats.org/officeDocument/2006/relationships/image" Target="/ppt/media/image28.png" Id="R9bfcc5b04dab4a95" /><Relationship Type="http://schemas.openxmlformats.org/officeDocument/2006/relationships/notesSlide" Target="/ppt/notesSlides/notesSlide26.xml" Id="Rc9bf4843b4ca45b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e0341c1d1334852" /><Relationship Type="http://schemas.openxmlformats.org/officeDocument/2006/relationships/image" Target="/ppt/media/image29.png" Id="Rf0b0faf66622486f" /><Relationship Type="http://schemas.openxmlformats.org/officeDocument/2006/relationships/image" Target="/ppt/media/image30.png" Id="R9a2ba6f4d22e4d7f" /><Relationship Type="http://schemas.openxmlformats.org/officeDocument/2006/relationships/notesSlide" Target="/ppt/notesSlides/notesSlide27.xml" Id="Rb4334ef6bec54a5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4f4baf52e784789" /><Relationship Type="http://schemas.openxmlformats.org/officeDocument/2006/relationships/image" Target="/ppt/media/image31.png" Id="R9f436eae953b4e35" /><Relationship Type="http://schemas.openxmlformats.org/officeDocument/2006/relationships/notesSlide" Target="/ppt/notesSlides/notesSlide28.xml" Id="R416ff537c64e4df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d5076020ba84cc5" /><Relationship Type="http://schemas.openxmlformats.org/officeDocument/2006/relationships/image" Target="/ppt/media/image32.png" Id="R557d1800d90748ab" /><Relationship Type="http://schemas.openxmlformats.org/officeDocument/2006/relationships/notesSlide" Target="/ppt/notesSlides/notesSlide29.xml" Id="R83cda54457e54db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cc2add3d45d4f33" /><Relationship Type="http://schemas.openxmlformats.org/officeDocument/2006/relationships/image" Target="/ppt/media/image33.png" Id="R2c830552488b4dd6" /><Relationship Type="http://schemas.openxmlformats.org/officeDocument/2006/relationships/notesSlide" Target="/ppt/notesSlides/notesSlide30.xml" Id="R3321f8e16c07420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867f86e54854980" /><Relationship Type="http://schemas.openxmlformats.org/officeDocument/2006/relationships/image" Target="/ppt/media/image34.png" Id="Rcad4c71867544c8f" /><Relationship Type="http://schemas.openxmlformats.org/officeDocument/2006/relationships/image" Target="/ppt/media/image35.png" Id="R5cb188a930044349" /><Relationship Type="http://schemas.openxmlformats.org/officeDocument/2006/relationships/notesSlide" Target="/ppt/notesSlides/notesSlide31.xml" Id="R764c22532a7d4d6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97a08e8a67e4711" /><Relationship Type="http://schemas.openxmlformats.org/officeDocument/2006/relationships/image" Target="/ppt/media/image36.png" Id="R2dde2ac4050b4f9d" /><Relationship Type="http://schemas.openxmlformats.org/officeDocument/2006/relationships/notesSlide" Target="/ppt/notesSlides/notesSlide32.xml" Id="R546f727e559c4de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258d0dcd4ab4f66" /><Relationship Type="http://schemas.openxmlformats.org/officeDocument/2006/relationships/image" Target="/ppt/media/image37.png" Id="Re3f7799e044349f5" /><Relationship Type="http://schemas.openxmlformats.org/officeDocument/2006/relationships/notesSlide" Target="/ppt/notesSlides/notesSlide33.xml" Id="R4ebf9cbcc732489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c892a581561422d" /><Relationship Type="http://schemas.openxmlformats.org/officeDocument/2006/relationships/image" Target="/ppt/media/image38.png" Id="Raee78390b8db4b8a" /><Relationship Type="http://schemas.openxmlformats.org/officeDocument/2006/relationships/chart" Target="/ppt/slides/charts/chart2.xml" Id="R0d64cc05029d4b8d" /><Relationship Type="http://schemas.openxmlformats.org/officeDocument/2006/relationships/notesSlide" Target="/ppt/notesSlides/notesSlide34.xml" Id="R474fc76723e14e0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5199a024e2b46e5" /><Relationship Type="http://schemas.openxmlformats.org/officeDocument/2006/relationships/image" Target="/ppt/media/image39.png" Id="Rc6146a1670214e5a" /><Relationship Type="http://schemas.openxmlformats.org/officeDocument/2006/relationships/notesSlide" Target="/ppt/notesSlides/notesSlide35.xml" Id="R1db898cd1c08409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435e42a22024ec5" /><Relationship Type="http://schemas.openxmlformats.org/officeDocument/2006/relationships/image" Target="/ppt/media/image40.png" Id="Rcc014130df834716" /><Relationship Type="http://schemas.openxmlformats.org/officeDocument/2006/relationships/notesSlide" Target="/ppt/notesSlides/notesSlide36.xml" Id="Rc3a4e542f7014e0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127224e58e24af9" /><Relationship Type="http://schemas.openxmlformats.org/officeDocument/2006/relationships/image" Target="/ppt/media/image41.png" Id="R026c7687b0de4830" /><Relationship Type="http://schemas.openxmlformats.org/officeDocument/2006/relationships/notesSlide" Target="/ppt/notesSlides/notesSlide37.xml" Id="R4f7a6724945a432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6f8490995194ac0" /><Relationship Type="http://schemas.openxmlformats.org/officeDocument/2006/relationships/image" Target="/ppt/media/image42.png" Id="R8352437add524bbf" /><Relationship Type="http://schemas.openxmlformats.org/officeDocument/2006/relationships/notesSlide" Target="/ppt/notesSlides/notesSlide38.xml" Id="Ref27f4e52dab46c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9f752b97ce349fb" /><Relationship Type="http://schemas.openxmlformats.org/officeDocument/2006/relationships/image" Target="/ppt/media/image43.png" Id="R69a873889a2349d1" /><Relationship Type="http://schemas.openxmlformats.org/officeDocument/2006/relationships/notesSlide" Target="/ppt/notesSlides/notesSlide39.xml" Id="Rbd80814ef62a475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2aca5d52faa482b" /><Relationship Type="http://schemas.openxmlformats.org/officeDocument/2006/relationships/image" Target="/ppt/media/image44.png" Id="Rfd699a23a934405e" /><Relationship Type="http://schemas.openxmlformats.org/officeDocument/2006/relationships/notesSlide" Target="/ppt/notesSlides/notesSlide40.xml" Id="R62006696f5c0409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1be229aa98c460a" /><Relationship Type="http://schemas.openxmlformats.org/officeDocument/2006/relationships/image" Target="/ppt/media/image45.png" Id="R865bc719d46346f6" /><Relationship Type="http://schemas.openxmlformats.org/officeDocument/2006/relationships/notesSlide" Target="/ppt/notesSlides/notesSlide41.xml" Id="R7ba5d91210b94bc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33867be8a8b46a9" /><Relationship Type="http://schemas.openxmlformats.org/officeDocument/2006/relationships/image" Target="/ppt/media/image46.png" Id="R8b0b45bef1014a39" /><Relationship Type="http://schemas.openxmlformats.org/officeDocument/2006/relationships/notesSlide" Target="/ppt/notesSlides/notesSlide42.xml" Id="Rb3ea50783cdf47a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8c674ca82ef4b4f" /><Relationship Type="http://schemas.openxmlformats.org/officeDocument/2006/relationships/image" Target="/ppt/media/image47.png" Id="R6e4148eba0e940af" /><Relationship Type="http://schemas.openxmlformats.org/officeDocument/2006/relationships/image" Target="/ppt/media/image48.png" Id="Rd46a7be35be54a6b" /><Relationship Type="http://schemas.openxmlformats.org/officeDocument/2006/relationships/notesSlide" Target="/ppt/notesSlides/notesSlide43.xml" Id="Rad782f015fb84e6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ac1c34022284653" /><Relationship Type="http://schemas.openxmlformats.org/officeDocument/2006/relationships/image" Target="/ppt/media/image49.png" Id="R12aa793c6da84548" /><Relationship Type="http://schemas.openxmlformats.org/officeDocument/2006/relationships/notesSlide" Target="/ppt/notesSlides/notesSlide44.xml" Id="R5ad95c1a012c4fd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2930e74cde940c5" /><Relationship Type="http://schemas.openxmlformats.org/officeDocument/2006/relationships/image" Target="/ppt/media/image50.png" Id="R3445fe489598417d" /><Relationship Type="http://schemas.openxmlformats.org/officeDocument/2006/relationships/notesSlide" Target="/ppt/notesSlides/notesSlide45.xml" Id="R15b9cda8a2d244a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df3d225e3ff471c" /><Relationship Type="http://schemas.openxmlformats.org/officeDocument/2006/relationships/image" Target="/ppt/media/image51.png" Id="R04a087d72c994d83" /><Relationship Type="http://schemas.openxmlformats.org/officeDocument/2006/relationships/notesSlide" Target="/ppt/notesSlides/notesSlide46.xml" Id="Rd8ee52df931d493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003800e97ad47e8" /><Relationship Type="http://schemas.openxmlformats.org/officeDocument/2006/relationships/image" Target="/ppt/media/image52.png" Id="R16bf2347fbf8448c" /><Relationship Type="http://schemas.openxmlformats.org/officeDocument/2006/relationships/notesSlide" Target="/ppt/notesSlides/notesSlide47.xml" Id="R878db2aa150f464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6d344fe291d448e" /><Relationship Type="http://schemas.openxmlformats.org/officeDocument/2006/relationships/image" Target="/ppt/media/image53.png" Id="R53ea842840414523" /><Relationship Type="http://schemas.openxmlformats.org/officeDocument/2006/relationships/notesSlide" Target="/ppt/notesSlides/notesSlide48.xml" Id="R8fd2491f86fd4ec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Referencia</c:v>
          </c:tx>
          <c:spPr>
            <a:solidFill xmlns:a="http://schemas.openxmlformats.org/drawingml/2006/main">
              <a:srgbClr val="244F3D"/>
            </a:solidFill>
            <a:ln xmlns:a="http://schemas.openxmlformats.org/drawingml/2006/main" w="28575">
              <a:solidFill>
                <a:srgbClr val="244F3D"/>
              </a:solidFill>
            </a:ln>
          </c:spPr>
          <c:marker>
            <c:symbol val="none"/>
          </c:marker>
          <c:cat>
            <c:numRef>
              <c:f>'Chart Data'!$A$2:$A$22</c:f>
              <c:numCache>
                <c:formatCode>General</c:formatCode>
                <c:ptCount val="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numCache>
            </c:numRef>
          </c:cat>
          <c:val>
            <c:numRef>
              <c:f>'Chart Data'!$B$2:$B$22</c:f>
              <c:numCache>
                <c:formatCode>0.0</c:formatCode>
                <c:ptCount val="21"/>
                <c:pt idx="0">
                  <c:v>0</c:v>
                </c:pt>
                <c:pt idx="1">
                  <c:v>0</c:v>
                </c:pt>
                <c:pt idx="2">
                  <c:v>0.5</c:v>
                </c:pt>
                <c:pt idx="3">
                  <c:v>0.5</c:v>
                </c:pt>
                <c:pt idx="4">
                  <c:v>0.5</c:v>
                </c:pt>
                <c:pt idx="5">
                  <c:v>0.5</c:v>
                </c:pt>
                <c:pt idx="6">
                  <c:v>0.5</c:v>
                </c:pt>
                <c:pt idx="7">
                  <c:v>0.5</c:v>
                </c:pt>
                <c:pt idx="8">
                  <c:v>0.5</c:v>
                </c:pt>
                <c:pt idx="9">
                  <c:v>0.5</c:v>
                </c:pt>
                <c:pt idx="10">
                  <c:v>0.5</c:v>
                </c:pt>
                <c:pt idx="11">
                  <c:v>0.5</c:v>
                </c:pt>
                <c:pt idx="12">
                  <c:v>0.5</c:v>
                </c:pt>
                <c:pt idx="13">
                  <c:v>0.5</c:v>
                </c:pt>
                <c:pt idx="14">
                  <c:v>0.5</c:v>
                </c:pt>
                <c:pt idx="15">
                  <c:v>0.5</c:v>
                </c:pt>
                <c:pt idx="16">
                  <c:v>0.5</c:v>
                </c:pt>
                <c:pt idx="17">
                  <c:v>0.5</c:v>
                </c:pt>
                <c:pt idx="18">
                  <c:v>0.5</c:v>
                </c:pt>
                <c:pt idx="19">
                  <c:v>0.5</c:v>
                </c:pt>
                <c:pt idx="20">
                  <c:v>0.5</c:v>
                </c:pt>
              </c:numCache>
            </c:numRef>
          </c:val>
        </c:ser>
        <c:ser>
          <c:idx val="1"/>
          <c:order val="1"/>
          <c:tx>
            <c:v>Abierto</c:v>
          </c:tx>
          <c:spPr>
            <a:solidFill xmlns:a="http://schemas.openxmlformats.org/drawingml/2006/main">
              <a:srgbClr val="618D78"/>
            </a:solidFill>
            <a:ln xmlns:a="http://schemas.openxmlformats.org/drawingml/2006/main" w="28575">
              <a:solidFill>
                <a:srgbClr val="618D78"/>
              </a:solidFill>
            </a:ln>
          </c:spPr>
          <c:marker>
            <c:symbol val="none"/>
          </c:marker>
          <c:cat>
            <c:numRef>
              <c:f>'Chart Data'!$C$2:$C$22</c:f>
              <c:numCache>
                <c:formatCode>General</c:formatCode>
                <c:ptCount val="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numCache>
            </c:numRef>
          </c:cat>
          <c:val>
            <c:numRef>
              <c:f>'Chart Data'!$D$2:$D$22</c:f>
              <c:numCache>
                <c:formatCode>0.0</c:formatCode>
                <c:ptCount val="21"/>
                <c:pt idx="0">
                  <c:v>0</c:v>
                </c:pt>
                <c:pt idx="1">
                  <c:v>0</c:v>
                </c:pt>
                <c:pt idx="2">
                  <c:v>0</c:v>
                </c:pt>
                <c:pt idx="3">
                  <c:v>0.385154</c:v>
                </c:pt>
                <c:pt idx="4">
                  <c:v>0.473621</c:v>
                </c:pt>
                <c:pt idx="5">
                  <c:v>0.493941</c:v>
                </c:pt>
                <c:pt idx="6">
                  <c:v>0.498608</c:v>
                </c:pt>
                <c:pt idx="7">
                  <c:v>0.49968</c:v>
                </c:pt>
                <c:pt idx="8">
                  <c:v>0.499927</c:v>
                </c:pt>
                <c:pt idx="9">
                  <c:v>0.422952</c:v>
                </c:pt>
                <c:pt idx="10">
                  <c:v>0.405272</c:v>
                </c:pt>
                <c:pt idx="11">
                  <c:v>0.401211</c:v>
                </c:pt>
                <c:pt idx="12">
                  <c:v>0.400278</c:v>
                </c:pt>
                <c:pt idx="13">
                  <c:v>0.400064</c:v>
                </c:pt>
                <c:pt idx="14">
                  <c:v>0.400015</c:v>
                </c:pt>
                <c:pt idx="15">
                  <c:v>0.400003</c:v>
                </c:pt>
                <c:pt idx="16">
                  <c:v>0.400001</c:v>
                </c:pt>
                <c:pt idx="17">
                  <c:v>0.4</c:v>
                </c:pt>
                <c:pt idx="18">
                  <c:v>0.4</c:v>
                </c:pt>
                <c:pt idx="19">
                  <c:v>0.4</c:v>
                </c:pt>
                <c:pt idx="20">
                  <c:v>0.4</c:v>
                </c:pt>
              </c:numCache>
            </c:numRef>
          </c:val>
        </c:ser>
        <c:ser>
          <c:idx val="2"/>
          <c:order val="2"/>
          <c:tx>
            <c:v>P</c:v>
          </c:tx>
          <c:spPr>
            <a:solidFill xmlns:a="http://schemas.openxmlformats.org/drawingml/2006/main">
              <a:srgbClr val="9C653C"/>
            </a:solidFill>
            <a:ln xmlns:a="http://schemas.openxmlformats.org/drawingml/2006/main" w="28575">
              <a:solidFill>
                <a:srgbClr val="9C653C"/>
              </a:solidFill>
            </a:ln>
          </c:spPr>
          <c:marker>
            <c:symbol val="none"/>
          </c:marker>
          <c:cat>
            <c:numRef>
              <c:f>'Chart Data'!$E$2:$E$22</c:f>
              <c:numCache>
                <c:formatCode>General</c:formatCode>
                <c:ptCount val="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numCache>
            </c:numRef>
          </c:cat>
          <c:val>
            <c:numRef>
              <c:f>'Chart Data'!$F$2:$F$22</c:f>
              <c:numCache>
                <c:formatCode>0.0</c:formatCode>
                <c:ptCount val="21"/>
                <c:pt idx="0">
                  <c:v>0</c:v>
                </c:pt>
                <c:pt idx="1">
                  <c:v>0</c:v>
                </c:pt>
                <c:pt idx="2">
                  <c:v>0</c:v>
                </c:pt>
                <c:pt idx="3">
                  <c:v>0.445099</c:v>
                </c:pt>
                <c:pt idx="4">
                  <c:v>0.493972</c:v>
                </c:pt>
                <c:pt idx="5">
                  <c:v>0.499338</c:v>
                </c:pt>
                <c:pt idx="6">
                  <c:v>0.499927</c:v>
                </c:pt>
                <c:pt idx="7">
                  <c:v>0.499992</c:v>
                </c:pt>
                <c:pt idx="8">
                  <c:v>0.499999</c:v>
                </c:pt>
                <c:pt idx="9">
                  <c:v>0.439851</c:v>
                </c:pt>
                <c:pt idx="10">
                  <c:v>0.433247</c:v>
                </c:pt>
                <c:pt idx="11">
                  <c:v>0.432522</c:v>
                </c:pt>
                <c:pt idx="12">
                  <c:v>0.432442</c:v>
                </c:pt>
                <c:pt idx="13">
                  <c:v>0.432433</c:v>
                </c:pt>
                <c:pt idx="14">
                  <c:v>0.432433</c:v>
                </c:pt>
                <c:pt idx="15">
                  <c:v>0.432432</c:v>
                </c:pt>
                <c:pt idx="16">
                  <c:v>0.432432</c:v>
                </c:pt>
                <c:pt idx="17">
                  <c:v>0.432432</c:v>
                </c:pt>
                <c:pt idx="18">
                  <c:v>0.432432</c:v>
                </c:pt>
                <c:pt idx="19">
                  <c:v>0.432432</c:v>
                </c:pt>
                <c:pt idx="20">
                  <c:v>0.432432</c:v>
                </c:pt>
              </c:numCache>
            </c:numRef>
          </c:val>
        </c:ser>
        <c:ser>
          <c:idx val="3"/>
          <c:order val="3"/>
          <c:tx>
            <c:v>PI</c:v>
          </c:tx>
          <c:spPr>
            <a:solidFill xmlns:a="http://schemas.openxmlformats.org/drawingml/2006/main">
              <a:srgbClr val="537597"/>
            </a:solidFill>
            <a:ln xmlns:a="http://schemas.openxmlformats.org/drawingml/2006/main" w="28575">
              <a:solidFill>
                <a:srgbClr val="537597"/>
              </a:solidFill>
            </a:ln>
          </c:spPr>
          <c:marker>
            <c:symbol val="none"/>
          </c:marker>
          <c:cat>
            <c:numRef>
              <c:f>'Chart Data'!$G$2:$G$22</c:f>
              <c:numCache>
                <c:formatCode>General</c:formatCode>
                <c:ptCount val="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numCache>
            </c:numRef>
          </c:cat>
          <c:val>
            <c:numRef>
              <c:f>'Chart Data'!$H$2:$H$22</c:f>
              <c:numCache>
                <c:formatCode>0.0</c:formatCode>
                <c:ptCount val="21"/>
                <c:pt idx="0">
                  <c:v>0</c:v>
                </c:pt>
                <c:pt idx="1">
                  <c:v>0</c:v>
                </c:pt>
                <c:pt idx="2">
                  <c:v>0</c:v>
                </c:pt>
                <c:pt idx="3">
                  <c:v>0.550982</c:v>
                </c:pt>
                <c:pt idx="4">
                  <c:v>0.579484</c:v>
                </c:pt>
                <c:pt idx="5">
                  <c:v>0.532728</c:v>
                </c:pt>
                <c:pt idx="6">
                  <c:v>0.507053</c:v>
                </c:pt>
                <c:pt idx="7">
                  <c:v>0.499807</c:v>
                </c:pt>
                <c:pt idx="8">
                  <c:v>0.499133</c:v>
                </c:pt>
                <c:pt idx="9">
                  <c:v>0.4547</c:v>
                </c:pt>
                <c:pt idx="10">
                  <c:v>0.478253</c:v>
                </c:pt>
                <c:pt idx="11">
                  <c:v>0.494488</c:v>
                </c:pt>
                <c:pt idx="12">
                  <c:v>0.49973</c:v>
                </c:pt>
                <c:pt idx="13">
                  <c:v>0.500475</c:v>
                </c:pt>
                <c:pt idx="14">
                  <c:v>0.500259</c:v>
                </c:pt>
                <c:pt idx="15">
                  <c:v>0.500073</c:v>
                </c:pt>
                <c:pt idx="16">
                  <c:v>0.500007</c:v>
                </c:pt>
                <c:pt idx="17">
                  <c:v>0.499995</c:v>
                </c:pt>
                <c:pt idx="18">
                  <c:v>0.499997</c:v>
                </c:pt>
                <c:pt idx="19">
                  <c:v>0.499999</c:v>
                </c:pt>
                <c:pt idx="20">
                  <c:v>0.5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4231E"/>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Velocidad / krpm · tiempo en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0.1"/>
      </c:valAx>
      <c:spPr>
        <a:solidFill xmlns:a="http://schemas.openxmlformats.org/drawingml/2006/main">
          <a:srgbClr val="FCFCF8"/>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4231E"/>
              </a:solidFill>
              <a:latin typeface="Arial"/>
              <a:ea typeface="Arial"/>
              <a:cs typeface="Arial"/>
            </a:defRPr>
          </a:pPr>
        </a:p>
      </c:txPr>
    </c:legend>
    <c:plotVisOnly val="1"/>
  </c:chart>
  <c:spPr>
    <a:solidFill xmlns:a="http://schemas.openxmlformats.org/drawingml/2006/main">
      <a:srgbClr val="FCFC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Ángulo geométrico / °</c:v>
          </c:tx>
          <c:spPr>
            <a:solidFill xmlns:a="http://schemas.openxmlformats.org/drawingml/2006/main">
              <a:srgbClr val="244F3D"/>
            </a:solidFill>
            <a:ln xmlns:a="http://schemas.openxmlformats.org/drawingml/2006/main" w="28575">
              <a:solidFill>
                <a:srgbClr val="244F3D"/>
              </a:solidFill>
            </a:ln>
          </c:spPr>
          <c:invertIfNegative val="0"/>
          <c:cat>
            <c:strRef>
              <c:f>'Chart Data'!$A$2:$A$4</c:f>
              <c:strCache>
                <c:ptCount val="3"/>
                <c:pt idx="0">
                  <c:v>10°</c:v>
                </c:pt>
                <c:pt idx="1">
                  <c:v>30°</c:v>
                </c:pt>
                <c:pt idx="2">
                  <c:v>60°</c:v>
                </c:pt>
              </c:strCache>
            </c:strRef>
          </c:cat>
          <c:val>
            <c:numRef>
              <c:f>'Chart Data'!$B$2:$B$4</c:f>
              <c:numCache>
                <c:formatCode>0</c:formatCode>
                <c:ptCount val="3"/>
                <c:pt idx="0">
                  <c:v>10</c:v>
                </c:pt>
                <c:pt idx="1">
                  <c:v>30</c:v>
                </c:pt>
                <c:pt idx="2">
                  <c:v>60</c:v>
                </c:pt>
              </c:numCache>
            </c:numRef>
          </c:val>
        </c:ser>
        <c:ser>
          <c:idx val="1"/>
          <c:order val="1"/>
          <c:tx>
            <c:v>5 ay: número sin equivalencia angular</c:v>
          </c:tx>
          <c:spPr>
            <a:solidFill xmlns:a="http://schemas.openxmlformats.org/drawingml/2006/main">
              <a:srgbClr val="618D78"/>
            </a:solidFill>
            <a:ln xmlns:a="http://schemas.openxmlformats.org/drawingml/2006/main" w="28575">
              <a:solidFill>
                <a:srgbClr val="618D78"/>
              </a:solidFill>
            </a:ln>
          </c:spPr>
          <c:invertIfNegative val="0"/>
          <c:cat>
            <c:strRef>
              <c:f>'Chart Data'!$C$2:$C$4</c:f>
              <c:strCache>
                <c:ptCount val="3"/>
                <c:pt idx="0">
                  <c:v>10°</c:v>
                </c:pt>
                <c:pt idx="1">
                  <c:v>30°</c:v>
                </c:pt>
                <c:pt idx="2">
                  <c:v>60°</c:v>
                </c:pt>
              </c:strCache>
            </c:strRef>
          </c:cat>
          <c:val>
            <c:numRef>
              <c:f>'Chart Data'!$D$2:$D$4</c:f>
              <c:numCache>
                <c:formatCode>0</c:formatCode>
                <c:ptCount val="3"/>
                <c:pt idx="0">
                  <c:v>8.51</c:v>
                </c:pt>
                <c:pt idx="1">
                  <c:v>24.52</c:v>
                </c:pt>
                <c:pt idx="2">
                  <c:v>42.46</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Comparación numérica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20"/>
      </c:valAx>
      <c:spPr>
        <a:solidFill xmlns:a="http://schemas.openxmlformats.org/drawingml/2006/main">
          <a:srgbClr val="FCFCF8"/>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4231E"/>
              </a:solidFill>
              <a:latin typeface="Arial"/>
              <a:ea typeface="Arial"/>
              <a:cs typeface="Arial"/>
            </a:defRPr>
          </a:pPr>
        </a:p>
      </c:txPr>
    </c:legend>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A886A2-B401-4D47-821E-9DEA0DAB915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Control realimentado: P, PI y una introducción a PID</a:t>
            </a:r>
          </a:p>
        </p:txBody>
      </p:sp>
      <p:pic>
        <p:nvPicPr>
          <p:cNvPr id="2" name="">
            <a:extLst xmlns:a="http://schemas.openxmlformats.org/drawingml/2006/main">
              <a:ext uri="{FF2B5EF4-FFF2-40B4-BE49-F238E27FC236}">
                <a16:creationId xmlns:a16="http://schemas.microsoft.com/office/drawing/2014/main" id="{14E5E6E0-F826-4B99-894F-3034DBFE7546}"/>
              </a:ext>
            </a:extLst>
          </p:cNvPr>
          <p:cNvPicPr>
            <a:picLocks xmlns:a="http://schemas.openxmlformats.org/drawingml/2006/main" noChangeAspect="1"/>
          </p:cNvPicPr>
          <p:nvPr/>
        </p:nvPicPr>
        <p:blipFill>
          <a:blip xmlns:r="http://schemas.openxmlformats.org/officeDocument/2006/relationships" xmlns:a="http://schemas.openxmlformats.org/drawingml/2006/main" r:embed="Rcc7de21b62b742d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C3046FE-74BD-4F38-8D7F-3EEE2A16DF8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01/24</a:t>
            </a:r>
          </a:p>
        </p:txBody>
      </p:sp>
      <p:sp>
        <p:nvSpPr>
          <p:cNvPr id="4" name="">
            <a:extLst xmlns:a="http://schemas.openxmlformats.org/drawingml/2006/main">
              <a:ext uri="{FF2B5EF4-FFF2-40B4-BE49-F238E27FC236}">
                <a16:creationId xmlns:a16="http://schemas.microsoft.com/office/drawing/2014/main" id="{6D5DD52E-3A04-4FF2-822F-7F69E21E483E}"/>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Comparar respuestas ante una perturbación y explicar el papel de P, I y D con tiempo de muestreo y saturación.</a:t>
            </a:r>
          </a:p>
        </p:txBody>
      </p:sp>
      <p:sp>
        <p:nvSpPr>
          <p:cNvPr id="5" name="">
            <a:extLst xmlns:a="http://schemas.openxmlformats.org/drawingml/2006/main">
              <a:ext uri="{FF2B5EF4-FFF2-40B4-BE49-F238E27FC236}">
                <a16:creationId xmlns:a16="http://schemas.microsoft.com/office/drawing/2014/main" id="{ABDC4D93-B3EA-470A-BFA0-3B6158F0FCD5}"/>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estabilización y el control de mecanismos UAV se apoyan en medidas, referencias y actuadores; el banco permite reconocer esas funciones.</a:t>
            </a:r>
          </a:p>
        </p:txBody>
      </p:sp>
      <p:sp>
        <p:nvSpPr>
          <p:cNvPr id="6" name="">
            <a:extLst xmlns:a="http://schemas.openxmlformats.org/drawingml/2006/main">
              <a:ext uri="{FF2B5EF4-FFF2-40B4-BE49-F238E27FC236}">
                <a16:creationId xmlns:a16="http://schemas.microsoft.com/office/drawing/2014/main" id="{A23460EB-2F0C-4610-8B77-A8DBE7CA9D39}"/>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13260743"/>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618ED4-FD88-4A11-AB89-C8FCBFEB78A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pregunta que abre el lazo cerrado</a:t>
            </a:r>
          </a:p>
        </p:txBody>
      </p:sp>
      <p:pic>
        <p:nvPicPr>
          <p:cNvPr id="2" name="">
            <a:extLst xmlns:a="http://schemas.openxmlformats.org/drawingml/2006/main">
              <a:ext uri="{FF2B5EF4-FFF2-40B4-BE49-F238E27FC236}">
                <a16:creationId xmlns:a16="http://schemas.microsoft.com/office/drawing/2014/main" id="{1459E9C1-CB98-4F6D-9025-50586D6F6ECD}"/>
              </a:ext>
            </a:extLst>
          </p:cNvPr>
          <p:cNvPicPr>
            <a:picLocks xmlns:a="http://schemas.openxmlformats.org/drawingml/2006/main" noChangeAspect="1"/>
          </p:cNvPicPr>
          <p:nvPr/>
        </p:nvPicPr>
        <p:blipFill>
          <a:blip xmlns:r="http://schemas.openxmlformats.org/officeDocument/2006/relationships" xmlns:a="http://schemas.openxmlformats.org/drawingml/2006/main" r:embed="R40beefab638b4da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2117E24-A62C-495A-B4D8-4999E82E820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02/24</a:t>
            </a:r>
          </a:p>
        </p:txBody>
      </p:sp>
      <p:sp>
        <p:nvSpPr>
          <p:cNvPr id="4" name="">
            <a:extLst xmlns:a="http://schemas.openxmlformats.org/drawingml/2006/main">
              <a:ext uri="{FF2B5EF4-FFF2-40B4-BE49-F238E27FC236}">
                <a16:creationId xmlns:a16="http://schemas.microsoft.com/office/drawing/2014/main" id="{18095930-D396-4666-A796-6F4B65F43D0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lazo abierto se fija un mando y se observa qué ocurre. En lazo cerrado se mide una salida, se compara con una referencia y se actualiza el mando usando esa diferencia. No se vuelve perfecto por añadir la palabra PID. El controlador trabaja con un sensor, un actuador, retardos y límites. Si la referencia es imposible para el conjunto, el algoritmo no puede crear capacidad física que el actuador no tiene.</a:t>
            </a:r>
          </a:p>
        </p:txBody>
      </p:sp>
    </p:spTree>
    <p:extLst>
      <p:ext uri="{BB962C8B-B14F-4D97-AF65-F5344CB8AC3E}">
        <p14:creationId xmlns:p14="http://schemas.microsoft.com/office/powerpoint/2010/main" val="1901889397"/>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D817BC-BF68-4A8B-9468-2C03BAF13AD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Elementos del banco</a:t>
            </a:r>
          </a:p>
        </p:txBody>
      </p:sp>
      <p:pic>
        <p:nvPicPr>
          <p:cNvPr id="2" name="">
            <a:extLst xmlns:a="http://schemas.openxmlformats.org/drawingml/2006/main">
              <a:ext uri="{FF2B5EF4-FFF2-40B4-BE49-F238E27FC236}">
                <a16:creationId xmlns:a16="http://schemas.microsoft.com/office/drawing/2014/main" id="{48E7EB47-99BF-4350-A6EC-6549429237AC}"/>
              </a:ext>
            </a:extLst>
          </p:cNvPr>
          <p:cNvPicPr>
            <a:picLocks xmlns:a="http://schemas.openxmlformats.org/drawingml/2006/main" noChangeAspect="1"/>
          </p:cNvPicPr>
          <p:nvPr/>
        </p:nvPicPr>
        <p:blipFill>
          <a:blip xmlns:r="http://schemas.openxmlformats.org/officeDocument/2006/relationships" xmlns:a="http://schemas.openxmlformats.org/drawingml/2006/main" r:embed="R19afea77f29e4c8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E594A8-908C-46F5-AD99-ACB9992DF7C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03/24</a:t>
            </a:r>
          </a:p>
        </p:txBody>
      </p:sp>
      <p:graphicFrame>
        <p:nvGraphicFramePr>
          <p:cNvPr id="4" name="">
            <a:extLst xmlns:a="http://schemas.openxmlformats.org/drawingml/2006/main">
              <a:ext uri="{FF2B5EF4-FFF2-40B4-BE49-F238E27FC236}">
                <a16:creationId xmlns:a16="http://schemas.microsoft.com/office/drawing/2014/main" id="{17D76E84-DA56-4ED3-B1D7-C118F2E55E24}"/>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Ejemplo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representa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Referencia 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500 RPM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Objetivo declarado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Medida y</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RPM del encoder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Salida observada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Error 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 menos y</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Diferencia de seguimiento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Mando u</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Código PWM</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Acción sobre el banco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029099281"/>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41C19C-AF1F-43DD-92F1-2C9752920EE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La pregunta que abre el lazo cerrado</a:t>
            </a:r>
          </a:p>
        </p:txBody>
      </p:sp>
      <p:pic>
        <p:nvPicPr>
          <p:cNvPr id="2" name="">
            <a:extLst xmlns:a="http://schemas.openxmlformats.org/drawingml/2006/main">
              <a:ext uri="{FF2B5EF4-FFF2-40B4-BE49-F238E27FC236}">
                <a16:creationId xmlns:a16="http://schemas.microsoft.com/office/drawing/2014/main" id="{DC9BB63D-4039-4D27-92C0-B4C4FC19C332}"/>
              </a:ext>
            </a:extLst>
          </p:cNvPr>
          <p:cNvPicPr>
            <a:picLocks xmlns:a="http://schemas.openxmlformats.org/drawingml/2006/main" noChangeAspect="1"/>
          </p:cNvPicPr>
          <p:nvPr/>
        </p:nvPicPr>
        <p:blipFill>
          <a:blip xmlns:r="http://schemas.openxmlformats.org/officeDocument/2006/relationships" xmlns:a="http://schemas.openxmlformats.org/drawingml/2006/main" r:embed="R13426c36f816474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D97BE42-B3C3-4453-99AC-B15D5809B4F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04/24</a:t>
            </a:r>
          </a:p>
        </p:txBody>
      </p:sp>
      <p:sp>
        <p:nvSpPr>
          <p:cNvPr id="4" name="">
            <a:extLst xmlns:a="http://schemas.openxmlformats.org/drawingml/2006/main">
              <a:ext uri="{FF2B5EF4-FFF2-40B4-BE49-F238E27FC236}">
                <a16:creationId xmlns:a16="http://schemas.microsoft.com/office/drawing/2014/main" id="{3B3178CD-E8A7-4A9B-BA36-F5F15E97EC7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práctica nueva usa primero una planta matemática de aula y luego el banco físico disponible. El modelo es de primer orden y declara su ganancia y su constante de tiempo. Sus respuestas no se presentan como medidas del kit MECRO. La ventaja didáctica consiste en poder introducir una perturbación conocida y repetir exactamente las condiciones.</a:t>
            </a:r>
          </a:p>
        </p:txBody>
      </p:sp>
    </p:spTree>
    <p:extLst>
      <p:ext uri="{BB962C8B-B14F-4D97-AF65-F5344CB8AC3E}">
        <p14:creationId xmlns:p14="http://schemas.microsoft.com/office/powerpoint/2010/main" val="1555745193"/>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7CE56F-CAE6-46B5-89B7-B49AB97E6CA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añade cada acción</a:t>
            </a:r>
          </a:p>
        </p:txBody>
      </p:sp>
      <p:pic>
        <p:nvPicPr>
          <p:cNvPr id="2" name="">
            <a:extLst xmlns:a="http://schemas.openxmlformats.org/drawingml/2006/main">
              <a:ext uri="{FF2B5EF4-FFF2-40B4-BE49-F238E27FC236}">
                <a16:creationId xmlns:a16="http://schemas.microsoft.com/office/drawing/2014/main" id="{44974570-1AF0-48DC-A3D2-DB37A685EFD3}"/>
              </a:ext>
            </a:extLst>
          </p:cNvPr>
          <p:cNvPicPr>
            <a:picLocks xmlns:a="http://schemas.openxmlformats.org/drawingml/2006/main" noChangeAspect="1"/>
          </p:cNvPicPr>
          <p:nvPr/>
        </p:nvPicPr>
        <p:blipFill>
          <a:blip xmlns:r="http://schemas.openxmlformats.org/officeDocument/2006/relationships" xmlns:a="http://schemas.openxmlformats.org/drawingml/2006/main" r:embed="Rf38fb486135b4d6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30BD2E0-11B8-4463-AF32-1C72A2E053A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05/24</a:t>
            </a:r>
          </a:p>
        </p:txBody>
      </p:sp>
      <p:sp>
        <p:nvSpPr>
          <p:cNvPr id="4" name="">
            <a:extLst xmlns:a="http://schemas.openxmlformats.org/drawingml/2006/main">
              <a:ext uri="{FF2B5EF4-FFF2-40B4-BE49-F238E27FC236}">
                <a16:creationId xmlns:a16="http://schemas.microsoft.com/office/drawing/2014/main" id="{A587B643-F9E8-465B-ACCF-2D9B88B2BCD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un banco de velocidad puede bastar PI para el objetivo introductorio. PID nombra una familia, no la obligación de usar tres términos distintos de cero. La derivada se estudia con un caso de ruido para comprender su coste. El ajuste se hace sobre una configuración identificada y se conserva una curva por cambio.</a:t>
            </a:r>
          </a:p>
        </p:txBody>
      </p:sp>
    </p:spTree>
    <p:extLst>
      <p:ext uri="{BB962C8B-B14F-4D97-AF65-F5344CB8AC3E}">
        <p14:creationId xmlns:p14="http://schemas.microsoft.com/office/powerpoint/2010/main" val="253098838"/>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13BCC6-759E-47A8-ACD8-1052145E16F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Acciones y observaciones</a:t>
            </a:r>
          </a:p>
        </p:txBody>
      </p:sp>
      <p:pic>
        <p:nvPicPr>
          <p:cNvPr id="2" name="">
            <a:extLst xmlns:a="http://schemas.openxmlformats.org/drawingml/2006/main">
              <a:ext uri="{FF2B5EF4-FFF2-40B4-BE49-F238E27FC236}">
                <a16:creationId xmlns:a16="http://schemas.microsoft.com/office/drawing/2014/main" id="{1F6B548C-12EA-4B0C-A582-AC67BFB02868}"/>
              </a:ext>
            </a:extLst>
          </p:cNvPr>
          <p:cNvPicPr>
            <a:picLocks xmlns:a="http://schemas.openxmlformats.org/drawingml/2006/main" noChangeAspect="1"/>
          </p:cNvPicPr>
          <p:nvPr/>
        </p:nvPicPr>
        <p:blipFill>
          <a:blip xmlns:r="http://schemas.openxmlformats.org/officeDocument/2006/relationships" xmlns:a="http://schemas.openxmlformats.org/drawingml/2006/main" r:embed="Rce6cfcf7ddd84bd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76F7885-758B-451F-AF88-50AB75F739C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06/24</a:t>
            </a:r>
          </a:p>
        </p:txBody>
      </p:sp>
      <p:graphicFrame>
        <p:nvGraphicFramePr>
          <p:cNvPr id="4" name="">
            <a:extLst xmlns:a="http://schemas.openxmlformats.org/drawingml/2006/main">
              <a:ext uri="{FF2B5EF4-FFF2-40B4-BE49-F238E27FC236}">
                <a16:creationId xmlns:a16="http://schemas.microsoft.com/office/drawing/2014/main" id="{FA9DCF20-91B6-4A35-A8D9-C8C146CB73B6}"/>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Acción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relaciona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hay que vigilar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P</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Error actual y mando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Error persistente y ganancia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I</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Acumulación temporal</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Acumulación en saturación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Cambio de la medida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Ruido y diferencia temporal</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75981998"/>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ED1A55-E967-4905-B882-EF632243CC1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añade cada acción</a:t>
            </a:r>
          </a:p>
        </p:txBody>
      </p:sp>
      <p:pic>
        <p:nvPicPr>
          <p:cNvPr id="2" name="">
            <a:extLst xmlns:a="http://schemas.openxmlformats.org/drawingml/2006/main">
              <a:ext uri="{FF2B5EF4-FFF2-40B4-BE49-F238E27FC236}">
                <a16:creationId xmlns:a16="http://schemas.microsoft.com/office/drawing/2014/main" id="{CB69D2F8-087A-49BB-8CFB-AF8B3BC0E8A5}"/>
              </a:ext>
            </a:extLst>
          </p:cNvPr>
          <p:cNvPicPr>
            <a:picLocks xmlns:a="http://schemas.openxmlformats.org/drawingml/2006/main" noChangeAspect="1"/>
          </p:cNvPicPr>
          <p:nvPr/>
        </p:nvPicPr>
        <p:blipFill>
          <a:blip xmlns:r="http://schemas.openxmlformats.org/officeDocument/2006/relationships" xmlns:a="http://schemas.openxmlformats.org/drawingml/2006/main" r:embed="Rcb61f236c7854b9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2CFE89C-5479-411B-8D5D-4B01936F614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07/24</a:t>
            </a:r>
          </a:p>
        </p:txBody>
      </p:sp>
      <p:pic>
        <p:nvPicPr>
          <p:cNvPr id="4" name="">
            <a:extLst xmlns:a="http://schemas.openxmlformats.org/drawingml/2006/main">
              <a:ext uri="{FF2B5EF4-FFF2-40B4-BE49-F238E27FC236}">
                <a16:creationId xmlns:a16="http://schemas.microsoft.com/office/drawing/2014/main" id="{E5FDFCD0-FEB3-441E-93FB-A455D9239D11}"/>
              </a:ext>
            </a:extLst>
          </p:cNvPr>
          <p:cNvPicPr>
            <a:picLocks xmlns:a="http://schemas.openxmlformats.org/drawingml/2006/main" noChangeAspect="1"/>
          </p:cNvPicPr>
          <p:nvPr/>
        </p:nvPicPr>
        <p:blipFill>
          <a:blip xmlns:r="http://schemas.openxmlformats.org/officeDocument/2006/relationships" xmlns:a="http://schemas.openxmlformats.org/drawingml/2006/main" r:embed="Rd76a094974824849"/>
          <a:stretch xmlns:a="http://schemas.openxmlformats.org/drawingml/2006/main"/>
        </p:blipFill>
        <p:spPr>
          <a:xfrm xmlns:a="http://schemas.openxmlformats.org/drawingml/2006/main">
            <a:off x="590550" y="1834706"/>
            <a:ext cx="11010900" cy="85496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3ED1C57-1FFC-4879-A0AB-8834FB195E34}"/>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Las ganancias tienen unidades que dependen de referencia, medida y mando. Conservar Δt evita cambiar el controlador sin querer al cambiar el periodo.</a:t>
            </a:r>
          </a:p>
        </p:txBody>
      </p:sp>
      <p:sp>
        <p:nvSpPr>
          <p:cNvPr id="6" name="">
            <a:extLst xmlns:a="http://schemas.openxmlformats.org/drawingml/2006/main">
              <a:ext uri="{FF2B5EF4-FFF2-40B4-BE49-F238E27FC236}">
                <a16:creationId xmlns:a16="http://schemas.microsoft.com/office/drawing/2014/main" id="{C453D102-1371-496F-A80A-88C8AE193D61}"/>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Las ganancias tienen unidades que dependen de referencia, medida y mando. Conservar Δt evita cambiar el controlador sin querer al cambiar el periodo.</a:t>
            </a:r>
          </a:p>
        </p:txBody>
      </p:sp>
    </p:spTree>
    <p:extLst>
      <p:ext uri="{BB962C8B-B14F-4D97-AF65-F5344CB8AC3E}">
        <p14:creationId xmlns:p14="http://schemas.microsoft.com/office/powerpoint/2010/main" val="1681005790"/>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87FAAB-138F-429A-B0D1-5D1E94F01BC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modelo transparente para comparar</a:t>
            </a:r>
          </a:p>
        </p:txBody>
      </p:sp>
      <p:pic>
        <p:nvPicPr>
          <p:cNvPr id="2" name="">
            <a:extLst xmlns:a="http://schemas.openxmlformats.org/drawingml/2006/main">
              <a:ext uri="{FF2B5EF4-FFF2-40B4-BE49-F238E27FC236}">
                <a16:creationId xmlns:a16="http://schemas.microsoft.com/office/drawing/2014/main" id="{16429843-CDAD-4A08-9839-EF1159A2F332}"/>
              </a:ext>
            </a:extLst>
          </p:cNvPr>
          <p:cNvPicPr>
            <a:picLocks xmlns:a="http://schemas.openxmlformats.org/drawingml/2006/main" noChangeAspect="1"/>
          </p:cNvPicPr>
          <p:nvPr/>
        </p:nvPicPr>
        <p:blipFill>
          <a:blip xmlns:r="http://schemas.openxmlformats.org/officeDocument/2006/relationships" xmlns:a="http://schemas.openxmlformats.org/drawingml/2006/main" r:embed="Rbfa33b3fe17d48e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B4C943-8DD1-4648-8375-50D92D21995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08/24</a:t>
            </a:r>
          </a:p>
        </p:txBody>
      </p:sp>
      <p:sp>
        <p:nvSpPr>
          <p:cNvPr id="4" name="">
            <a:extLst xmlns:a="http://schemas.openxmlformats.org/drawingml/2006/main">
              <a:ext uri="{FF2B5EF4-FFF2-40B4-BE49-F238E27FC236}">
                <a16:creationId xmlns:a16="http://schemas.microsoft.com/office/drawing/2014/main" id="{1BE9394F-CCFB-4C5D-8DC3-4B92C4A981A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referencia del ejercicio pasa de cero a 500 RPM. Después se aplica una perturbación equivalente de 100 RPM. El mando base es r/4. La comparación incluye lazo abierto, P con ese mando base y PI. Como las entradas del modelo se conservan, una diferencia entre respuestas puede relacionarse con el controlador elegido. Las curvas y el CSV del curso se generan a partir de estas ecuaciones con paso declarado.</a:t>
            </a:r>
          </a:p>
        </p:txBody>
      </p:sp>
    </p:spTree>
    <p:extLst>
      <p:ext uri="{BB962C8B-B14F-4D97-AF65-F5344CB8AC3E}">
        <p14:creationId xmlns:p14="http://schemas.microsoft.com/office/powerpoint/2010/main" val="1469398637"/>
      </p:ext>
    </p:extLst>
  </p:cSld>
</p:sld>
</file>

<file path=ppt/slides/slide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179712-1610-4831-BCBD-5866B3470B6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D644CED6-C2E1-47F8-B06D-0149040A446D}"/>
              </a:ext>
            </a:extLst>
          </p:cNvPr>
          <p:cNvPicPr>
            <a:picLocks xmlns:a="http://schemas.openxmlformats.org/drawingml/2006/main" noChangeAspect="1"/>
          </p:cNvPicPr>
          <p:nvPr/>
        </p:nvPicPr>
        <p:blipFill>
          <a:blip xmlns:r="http://schemas.openxmlformats.org/officeDocument/2006/relationships" xmlns:a="http://schemas.openxmlformats.org/drawingml/2006/main" r:embed="Rd9392630a8c94f0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64872E-F78D-4467-8019-584AF1BDA3D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09/24</a:t>
            </a:r>
          </a:p>
        </p:txBody>
      </p:sp>
      <p:sp>
        <p:nvSpPr>
          <p:cNvPr id="4" name="">
            <a:extLst xmlns:a="http://schemas.openxmlformats.org/drawingml/2006/main">
              <a:ext uri="{FF2B5EF4-FFF2-40B4-BE49-F238E27FC236}">
                <a16:creationId xmlns:a16="http://schemas.microsoft.com/office/drawing/2014/main" id="{9B8642AD-4941-45C6-9780-35C0E9AC3560}"/>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Si el error es 50 RPM, Kp vale 0,12 cuentas/RPM, Ki vale 0,6 cuentas/(RPM·s) y Δt = 0,02 s, ¿qué contribuciones obtienes?</a:t>
            </a:r>
          </a:p>
        </p:txBody>
      </p:sp>
      <p:sp>
        <p:nvSpPr>
          <p:cNvPr id="5" name="">
            <a:extLst xmlns:a="http://schemas.openxmlformats.org/drawingml/2006/main">
              <a:ext uri="{FF2B5EF4-FFF2-40B4-BE49-F238E27FC236}">
                <a16:creationId xmlns:a16="http://schemas.microsoft.com/office/drawing/2014/main" id="{0B7157F4-AF7B-4B3D-AE4F-3B5AEAE00C85}"/>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Sin integral, el modelo con mando base y P necesita un error persistente para compensar la perturbación. En régimen del caso, e = 100/(1 + 4 × 0,12), aproximadamente 67,6 RPM. La integral puede aportar la acción mantenida que reduce ese error si el sistema tiene capacidad y el ajuste resulta adecuado. La conclusión pertenece a este modelo y a esas condiciones.</a:t>
            </a:r>
          </a:p>
        </p:txBody>
      </p:sp>
    </p:spTree>
    <p:extLst>
      <p:ext uri="{BB962C8B-B14F-4D97-AF65-F5344CB8AC3E}">
        <p14:creationId xmlns:p14="http://schemas.microsoft.com/office/powerpoint/2010/main" val="1480716759"/>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CCE20E-E2D6-4BB5-B893-09D2F3B4B65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cuenta de controlador</a:t>
            </a:r>
          </a:p>
        </p:txBody>
      </p:sp>
      <p:pic>
        <p:nvPicPr>
          <p:cNvPr id="2" name="">
            <a:extLst xmlns:a="http://schemas.openxmlformats.org/drawingml/2006/main">
              <a:ext uri="{FF2B5EF4-FFF2-40B4-BE49-F238E27FC236}">
                <a16:creationId xmlns:a16="http://schemas.microsoft.com/office/drawing/2014/main" id="{CA0C4C9F-D7DA-418F-8624-EF505BB78F8B}"/>
              </a:ext>
            </a:extLst>
          </p:cNvPr>
          <p:cNvPicPr>
            <a:picLocks xmlns:a="http://schemas.openxmlformats.org/drawingml/2006/main" noChangeAspect="1"/>
          </p:cNvPicPr>
          <p:nvPr/>
        </p:nvPicPr>
        <p:blipFill>
          <a:blip xmlns:r="http://schemas.openxmlformats.org/officeDocument/2006/relationships" xmlns:a="http://schemas.openxmlformats.org/drawingml/2006/main" r:embed="Rb594e61c841646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D29B3EC-38E5-4C55-9A7F-F09B048426B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10/24</a:t>
            </a:r>
          </a:p>
        </p:txBody>
      </p:sp>
      <p:pic>
        <p:nvPicPr>
          <p:cNvPr id="4" name="">
            <a:extLst xmlns:a="http://schemas.openxmlformats.org/drawingml/2006/main">
              <a:ext uri="{FF2B5EF4-FFF2-40B4-BE49-F238E27FC236}">
                <a16:creationId xmlns:a16="http://schemas.microsoft.com/office/drawing/2014/main" id="{94C3090B-9F9C-4593-B7E9-E6D0468B7A45}"/>
              </a:ext>
            </a:extLst>
          </p:cNvPr>
          <p:cNvPicPr>
            <a:picLocks xmlns:a="http://schemas.openxmlformats.org/drawingml/2006/main" noChangeAspect="1"/>
          </p:cNvPicPr>
          <p:nvPr/>
        </p:nvPicPr>
        <p:blipFill>
          <a:blip xmlns:r="http://schemas.openxmlformats.org/officeDocument/2006/relationships" xmlns:a="http://schemas.openxmlformats.org/drawingml/2006/main" r:embed="Rf177f5bbd67e436e"/>
          <a:stretch xmlns:a="http://schemas.openxmlformats.org/drawingml/2006/main"/>
        </p:blipFill>
        <p:spPr>
          <a:xfrm xmlns:a="http://schemas.openxmlformats.org/drawingml/2006/main">
            <a:off x="4079282" y="1714500"/>
            <a:ext cx="4033437"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FE2F9D-39FA-4602-BA7C-59404B3F4A58}"/>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P aporta 6 cuentas. El incremento de I es 0,6 × 50 × 0,02 = 0,6 cuentas en ese paso. El acumulado I depende de los pasos anteriores.</a:t>
            </a:r>
          </a:p>
        </p:txBody>
      </p:sp>
      <p:sp>
        <p:nvSpPr>
          <p:cNvPr id="6" name="">
            <a:extLst xmlns:a="http://schemas.openxmlformats.org/drawingml/2006/main">
              <a:ext uri="{FF2B5EF4-FFF2-40B4-BE49-F238E27FC236}">
                <a16:creationId xmlns:a16="http://schemas.microsoft.com/office/drawing/2014/main" id="{D49A3B29-1A46-4042-8699-00E3FEB7AAFF}"/>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Modelo sintético: y en RPM, u en cuentas de 0 a 255 y L como perturbación equivalente en RPM. No representa un motor identificado.</a:t>
            </a:r>
          </a:p>
        </p:txBody>
      </p:sp>
    </p:spTree>
    <p:extLst>
      <p:ext uri="{BB962C8B-B14F-4D97-AF65-F5344CB8AC3E}">
        <p14:creationId xmlns:p14="http://schemas.microsoft.com/office/powerpoint/2010/main" val="1901526012"/>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663F53-EE0C-44BC-9DC5-BA3D027D261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Saturación y acumulación integral</a:t>
            </a:r>
          </a:p>
        </p:txBody>
      </p:sp>
      <p:pic>
        <p:nvPicPr>
          <p:cNvPr id="2" name="">
            <a:extLst xmlns:a="http://schemas.openxmlformats.org/drawingml/2006/main">
              <a:ext uri="{FF2B5EF4-FFF2-40B4-BE49-F238E27FC236}">
                <a16:creationId xmlns:a16="http://schemas.microsoft.com/office/drawing/2014/main" id="{50B106B9-7055-4CAD-AB70-573338098B09}"/>
              </a:ext>
            </a:extLst>
          </p:cNvPr>
          <p:cNvPicPr>
            <a:picLocks xmlns:a="http://schemas.openxmlformats.org/drawingml/2006/main" noChangeAspect="1"/>
          </p:cNvPicPr>
          <p:nvPr/>
        </p:nvPicPr>
        <p:blipFill>
          <a:blip xmlns:r="http://schemas.openxmlformats.org/officeDocument/2006/relationships" xmlns:a="http://schemas.openxmlformats.org/drawingml/2006/main" r:embed="R43adcff8acbf46a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88E34A-57B4-45FA-B018-297B4FAF059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11/24</a:t>
            </a:r>
          </a:p>
        </p:txBody>
      </p:sp>
      <p:sp>
        <p:nvSpPr>
          <p:cNvPr id="4" name="">
            <a:extLst xmlns:a="http://schemas.openxmlformats.org/drawingml/2006/main">
              <a:ext uri="{FF2B5EF4-FFF2-40B4-BE49-F238E27FC236}">
                <a16:creationId xmlns:a16="http://schemas.microsoft.com/office/drawing/2014/main" id="{4AD9479B-1D9A-4E9C-9BAB-58FBE8FDC48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mando tiene un intervalo. Si se sigue acumulando integral mientras el actuador ya está en un extremo y el error exige avanzar todavía más, puede demorarse la recuperación al cambiar la situación. El fragmento conserva el incremento cuando la salida está dentro o cuando ayuda a regresar del límite. Es una estrategia introductoria que debe estudiarse con su definición exacta; no se llama anti-windup a cualquier recorte sin explicar qué ocurre con el estado integral.</a:t>
            </a:r>
          </a:p>
        </p:txBody>
      </p:sp>
    </p:spTree>
    <p:extLst>
      <p:ext uri="{BB962C8B-B14F-4D97-AF65-F5344CB8AC3E}">
        <p14:creationId xmlns:p14="http://schemas.microsoft.com/office/powerpoint/2010/main" val="1711830941"/>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B8706E-492E-40B2-A3BC-8D9FAAEAB24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Acumulación condicionada del ejemplo</a:t>
            </a:r>
          </a:p>
        </p:txBody>
      </p:sp>
      <p:pic>
        <p:nvPicPr>
          <p:cNvPr id="2" name="">
            <a:extLst xmlns:a="http://schemas.openxmlformats.org/drawingml/2006/main">
              <a:ext uri="{FF2B5EF4-FFF2-40B4-BE49-F238E27FC236}">
                <a16:creationId xmlns:a16="http://schemas.microsoft.com/office/drawing/2014/main" id="{516A380A-55E8-47C7-AA78-89A001EE428D}"/>
              </a:ext>
            </a:extLst>
          </p:cNvPr>
          <p:cNvPicPr>
            <a:picLocks xmlns:a="http://schemas.openxmlformats.org/drawingml/2006/main" noChangeAspect="1"/>
          </p:cNvPicPr>
          <p:nvPr/>
        </p:nvPicPr>
        <p:blipFill>
          <a:blip xmlns:r="http://schemas.openxmlformats.org/officeDocument/2006/relationships" xmlns:a="http://schemas.openxmlformats.org/drawingml/2006/main" r:embed="R25c84e7da5c448c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A6C3A6A-E06C-458A-9F1A-591A675FB76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12/24</a:t>
            </a:r>
          </a:p>
        </p:txBody>
      </p:sp>
      <p:sp>
        <p:nvSpPr>
          <p:cNvPr id="4" name="">
            <a:extLst xmlns:a="http://schemas.openxmlformats.org/drawingml/2006/main">
              <a:ext uri="{FF2B5EF4-FFF2-40B4-BE49-F238E27FC236}">
                <a16:creationId xmlns:a16="http://schemas.microsoft.com/office/drawing/2014/main" id="{84B16D19-5B1E-4ADE-8822-80C6115E3FF5}"/>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float trial = integral + Ki * error * dt;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float unsat = base + Kp * error + trial;</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bool inside = unsat &gt;= 0 &amp;&amp; unsat &lt;= 255;</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bool returning = (unsat &gt; 255 &amp;&amp; error &lt; 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 (unsat &lt; 0 &amp;&amp; error &gt; 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(inside || returning) integral = trial;</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float u = constrain(base + Kp*error + integral,</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0.0f, 255.0f);</a:t>
            </a:r>
          </a:p>
        </p:txBody>
      </p:sp>
      <p:sp>
        <p:nvSpPr>
          <p:cNvPr id="5" name="">
            <a:extLst xmlns:a="http://schemas.openxmlformats.org/drawingml/2006/main">
              <a:ext uri="{FF2B5EF4-FFF2-40B4-BE49-F238E27FC236}">
                <a16:creationId xmlns:a16="http://schemas.microsoft.com/office/drawing/2014/main" id="{7EB613EC-13FD-46FA-911B-AA53141FB5CC}"/>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992345282"/>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4A990C-93C2-4D02-B92D-E1FF2FF496B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 de un modelo: abierto, P y PI</a:t>
            </a:r>
          </a:p>
        </p:txBody>
      </p:sp>
      <p:pic>
        <p:nvPicPr>
          <p:cNvPr id="2" name="">
            <a:extLst xmlns:a="http://schemas.openxmlformats.org/drawingml/2006/main">
              <a:ext uri="{FF2B5EF4-FFF2-40B4-BE49-F238E27FC236}">
                <a16:creationId xmlns:a16="http://schemas.microsoft.com/office/drawing/2014/main" id="{ADEFF20E-7B3E-4F52-B347-0E13DA70BBD3}"/>
              </a:ext>
            </a:extLst>
          </p:cNvPr>
          <p:cNvPicPr>
            <a:picLocks xmlns:a="http://schemas.openxmlformats.org/drawingml/2006/main" noChangeAspect="1"/>
          </p:cNvPicPr>
          <p:nvPr/>
        </p:nvPicPr>
        <p:blipFill>
          <a:blip xmlns:r="http://schemas.openxmlformats.org/officeDocument/2006/relationships" xmlns:a="http://schemas.openxmlformats.org/drawingml/2006/main" r:embed="R189495b0f2af484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78641EC-5475-454E-89B9-D41B1F6A5E6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13/24</a:t>
            </a:r>
          </a:p>
        </p:txBody>
      </p:sp>
      <p:graphicFrame>
        <p:nvGraphicFramePr>
          <p:cNvPr id="4" name="Chart">
            <a:extLst xmlns:a="http://schemas.openxmlformats.org/drawingml/2006/main">
              <a:ext uri="{FF2B5EF4-FFF2-40B4-BE49-F238E27FC236}">
                <a16:creationId xmlns:a16="http://schemas.microsoft.com/office/drawing/2014/main" id="{4A0D71CF-4C74-4EF3-B41F-A1CBC3D5A3C9}"/>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24b3db8aaf324e72"/>
          </a:graphicData>
        </a:graphic>
      </p:graphicFrame>
      <p:sp>
        <p:nvSpPr>
          <p:cNvPr id="5" name="">
            <a:extLst xmlns:a="http://schemas.openxmlformats.org/drawingml/2006/main">
              <a:ext uri="{FF2B5EF4-FFF2-40B4-BE49-F238E27FC236}">
                <a16:creationId xmlns:a16="http://schemas.microsoft.com/office/drawing/2014/main" id="{15EE70CE-5A9F-4395-A21E-968C7476FA89}"/>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Modelo sintético: τ = 0,35 s, ganancia 4 RPM/cuenta, dt = 20 ms; carga de 100 RPM equivalentes desde 4 s.</a:t>
            </a:r>
          </a:p>
        </p:txBody>
      </p:sp>
    </p:spTree>
    <p:extLst>
      <p:ext uri="{BB962C8B-B14F-4D97-AF65-F5344CB8AC3E}">
        <p14:creationId xmlns:p14="http://schemas.microsoft.com/office/powerpoint/2010/main" val="1772577010"/>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0BB8D5-CD23-4F13-9015-8D34C1FC9B4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comparación con una perturbación</a:t>
            </a:r>
          </a:p>
        </p:txBody>
      </p:sp>
      <p:pic>
        <p:nvPicPr>
          <p:cNvPr id="2" name="">
            <a:extLst xmlns:a="http://schemas.openxmlformats.org/drawingml/2006/main">
              <a:ext uri="{FF2B5EF4-FFF2-40B4-BE49-F238E27FC236}">
                <a16:creationId xmlns:a16="http://schemas.microsoft.com/office/drawing/2014/main" id="{BC62946C-C873-4051-856F-90CA3B61351B}"/>
              </a:ext>
            </a:extLst>
          </p:cNvPr>
          <p:cNvPicPr>
            <a:picLocks xmlns:a="http://schemas.openxmlformats.org/drawingml/2006/main" noChangeAspect="1"/>
          </p:cNvPicPr>
          <p:nvPr/>
        </p:nvPicPr>
        <p:blipFill>
          <a:blip xmlns:r="http://schemas.openxmlformats.org/officeDocument/2006/relationships" xmlns:a="http://schemas.openxmlformats.org/drawingml/2006/main" r:embed="Rdec045bb380d486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A85167-7DE7-4FDA-AA9A-67A95399BE3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14/24</a:t>
            </a:r>
          </a:p>
        </p:txBody>
      </p:sp>
      <p:sp>
        <p:nvSpPr>
          <p:cNvPr id="4" name="">
            <a:extLst xmlns:a="http://schemas.openxmlformats.org/drawingml/2006/main">
              <a:ext uri="{FF2B5EF4-FFF2-40B4-BE49-F238E27FC236}">
                <a16:creationId xmlns:a16="http://schemas.microsoft.com/office/drawing/2014/main" id="{A6820130-E922-4B5E-B7BF-B5052A14728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Las curvas se leen con ejes y unidades. Un cruce de la referencia puede ser sobrepaso; una respuesta rápida no es necesariamente la mejor si produce oscilación o exige mando saturado. El alumno escribe una conclusión que incluya una ventaja y una condición observada del caso, sin convertir una única cifra en un ranking universal.</a:t>
            </a:r>
          </a:p>
        </p:txBody>
      </p:sp>
    </p:spTree>
    <p:extLst>
      <p:ext uri="{BB962C8B-B14F-4D97-AF65-F5344CB8AC3E}">
        <p14:creationId xmlns:p14="http://schemas.microsoft.com/office/powerpoint/2010/main" val="937081681"/>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4F89FA-E6C7-4B35-A750-A492B3EB562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comparar en una respuesta</a:t>
            </a:r>
          </a:p>
        </p:txBody>
      </p:sp>
      <p:pic>
        <p:nvPicPr>
          <p:cNvPr id="2" name="">
            <a:extLst xmlns:a="http://schemas.openxmlformats.org/drawingml/2006/main">
              <a:ext uri="{FF2B5EF4-FFF2-40B4-BE49-F238E27FC236}">
                <a16:creationId xmlns:a16="http://schemas.microsoft.com/office/drawing/2014/main" id="{55239A6F-7896-405E-BA0D-46514B1A40B0}"/>
              </a:ext>
            </a:extLst>
          </p:cNvPr>
          <p:cNvPicPr>
            <a:picLocks xmlns:a="http://schemas.openxmlformats.org/drawingml/2006/main" noChangeAspect="1"/>
          </p:cNvPicPr>
          <p:nvPr/>
        </p:nvPicPr>
        <p:blipFill>
          <a:blip xmlns:r="http://schemas.openxmlformats.org/officeDocument/2006/relationships" xmlns:a="http://schemas.openxmlformats.org/drawingml/2006/main" r:embed="Rd1872c591bbf4e2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189B3D8-0FFC-431B-B026-38F7ADB91A5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15/24</a:t>
            </a:r>
          </a:p>
        </p:txBody>
      </p:sp>
      <p:graphicFrame>
        <p:nvGraphicFramePr>
          <p:cNvPr id="4" name="">
            <a:extLst xmlns:a="http://schemas.openxmlformats.org/drawingml/2006/main">
              <a:ext uri="{FF2B5EF4-FFF2-40B4-BE49-F238E27FC236}">
                <a16:creationId xmlns:a16="http://schemas.microsoft.com/office/drawing/2014/main" id="{172B5BF9-F533-4C03-81DC-3CACA1828FD9}"/>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Dato que la apoya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¿Sigue la referencia?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Error y evolución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¿Compensa la perturbación?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Estado antes y después</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¿Satura?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Mando y límites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¿El cambio es repetible?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Condiciones conservadas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966413519"/>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7AEAB8-3EE2-4D99-839F-01224C73002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comparación con una perturbación</a:t>
            </a:r>
          </a:p>
        </p:txBody>
      </p:sp>
      <p:pic>
        <p:nvPicPr>
          <p:cNvPr id="2" name="">
            <a:extLst xmlns:a="http://schemas.openxmlformats.org/drawingml/2006/main">
              <a:ext uri="{FF2B5EF4-FFF2-40B4-BE49-F238E27FC236}">
                <a16:creationId xmlns:a16="http://schemas.microsoft.com/office/drawing/2014/main" id="{5F731499-3491-4EDA-82CF-DB91CA0D6AC4}"/>
              </a:ext>
            </a:extLst>
          </p:cNvPr>
          <p:cNvPicPr>
            <a:picLocks xmlns:a="http://schemas.openxmlformats.org/drawingml/2006/main" noChangeAspect="1"/>
          </p:cNvPicPr>
          <p:nvPr/>
        </p:nvPicPr>
        <p:blipFill>
          <a:blip xmlns:r="http://schemas.openxmlformats.org/officeDocument/2006/relationships" xmlns:a="http://schemas.openxmlformats.org/drawingml/2006/main" r:embed="Rf8fb3e9c37ce470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F964409-1A6A-4058-9FFF-A93EE8FAA86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16/24</a:t>
            </a:r>
          </a:p>
        </p:txBody>
      </p:sp>
      <p:sp>
        <p:nvSpPr>
          <p:cNvPr id="4" name="">
            <a:extLst xmlns:a="http://schemas.openxmlformats.org/drawingml/2006/main">
              <a:ext uri="{FF2B5EF4-FFF2-40B4-BE49-F238E27FC236}">
                <a16:creationId xmlns:a16="http://schemas.microsoft.com/office/drawing/2014/main" id="{42B84A2F-B10B-4702-AFEA-CDD55EB7DA5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Dibuja referencia, controlador, planta, medida y perturbación.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Abre el CSV sintético y localiza el escalón de referencia y el cambio de carga.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Compara lazo abierto y P conservando el mando base y las mismas condiciones.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Compara P y PI; describe error persistente y evolución temporal.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Introduce un caso de saturación y observa el estado integral.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Estudia D con una medida que contiene una variación rápida; explica por qué puede amplificarla.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En el banco docente disponible, repite primero una prueba pequeña con referencia alcanzable.</a:t>
            </a:r>
          </a:p>
        </p:txBody>
      </p:sp>
    </p:spTree>
    <p:extLst>
      <p:ext uri="{BB962C8B-B14F-4D97-AF65-F5344CB8AC3E}">
        <p14:creationId xmlns:p14="http://schemas.microsoft.com/office/powerpoint/2010/main" val="1153114005"/>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7C1BC6-EC27-479B-A906-4ADF1E6D8DF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Relación con drones y siguiente paso</a:t>
            </a:r>
          </a:p>
        </p:txBody>
      </p:sp>
      <p:pic>
        <p:nvPicPr>
          <p:cNvPr id="2" name="">
            <a:extLst xmlns:a="http://schemas.openxmlformats.org/drawingml/2006/main">
              <a:ext uri="{FF2B5EF4-FFF2-40B4-BE49-F238E27FC236}">
                <a16:creationId xmlns:a16="http://schemas.microsoft.com/office/drawing/2014/main" id="{18304316-5C81-4D24-98EE-B5903D5814F7}"/>
              </a:ext>
            </a:extLst>
          </p:cNvPr>
          <p:cNvPicPr>
            <a:picLocks xmlns:a="http://schemas.openxmlformats.org/drawingml/2006/main" noChangeAspect="1"/>
          </p:cNvPicPr>
          <p:nvPr/>
        </p:nvPicPr>
        <p:blipFill>
          <a:blip xmlns:r="http://schemas.openxmlformats.org/officeDocument/2006/relationships" xmlns:a="http://schemas.openxmlformats.org/drawingml/2006/main" r:embed="Rc8eff505c8b7417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C438E3-5F60-4BE9-B3B5-0E2FE5E8C81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17/24</a:t>
            </a:r>
          </a:p>
        </p:txBody>
      </p:sp>
      <p:sp>
        <p:nvSpPr>
          <p:cNvPr id="4" name="">
            <a:extLst xmlns:a="http://schemas.openxmlformats.org/drawingml/2006/main">
              <a:ext uri="{FF2B5EF4-FFF2-40B4-BE49-F238E27FC236}">
                <a16:creationId xmlns:a16="http://schemas.microsoft.com/office/drawing/2014/main" id="{6F227370-D478-4E5A-AC32-B5889F70CC2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un UAV puede haber varios lazos y estimaciones entre el mando humano, la orientación y la actuación. El curso no los condensa en una receta de tres ganancias. Enseña las piezas conceptuales que permiten hacer mejores preguntas: qué variable se controla, qué sensor la informa, a qué frecuencia se actualiza y qué límites tiene la acción. El proyecto 17 se revisará como demostración de mando y control proporcional de banco, con su alcance corregido.</a:t>
            </a:r>
          </a:p>
        </p:txBody>
      </p:sp>
    </p:spTree>
    <p:extLst>
      <p:ext uri="{BB962C8B-B14F-4D97-AF65-F5344CB8AC3E}">
        <p14:creationId xmlns:p14="http://schemas.microsoft.com/office/powerpoint/2010/main" val="547614650"/>
      </p:ext>
    </p:extLst>
  </p:cSld>
</p:sld>
</file>

<file path=ppt/slides/slide1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1206A2-AA92-480A-B3E4-29A8529445E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AA18118B-EF96-4F18-ADE9-3A0901FB3612}"/>
              </a:ext>
            </a:extLst>
          </p:cNvPr>
          <p:cNvPicPr>
            <a:picLocks xmlns:a="http://schemas.openxmlformats.org/drawingml/2006/main" noChangeAspect="1"/>
          </p:cNvPicPr>
          <p:nvPr/>
        </p:nvPicPr>
        <p:blipFill>
          <a:blip xmlns:r="http://schemas.openxmlformats.org/officeDocument/2006/relationships" xmlns:a="http://schemas.openxmlformats.org/drawingml/2006/main" r:embed="R535d9cabdfb7446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72410A-F596-4472-A733-EE09CA5E4BB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18/24</a:t>
            </a:r>
          </a:p>
        </p:txBody>
      </p:sp>
      <p:sp>
        <p:nvSpPr>
          <p:cNvPr id="4" name="">
            <a:extLst xmlns:a="http://schemas.openxmlformats.org/drawingml/2006/main">
              <a:ext uri="{FF2B5EF4-FFF2-40B4-BE49-F238E27FC236}">
                <a16:creationId xmlns:a16="http://schemas.microsoft.com/office/drawing/2014/main" id="{43151EFC-910E-4E91-AA61-2A767396E21F}"/>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programa calcula error × kp y guarda el resultado en pid_roll. ¿Qué acción implementa?</a:t>
            </a:r>
          </a:p>
        </p:txBody>
      </p:sp>
      <p:sp>
        <p:nvSpPr>
          <p:cNvPr id="5" name="">
            <a:extLst xmlns:a="http://schemas.openxmlformats.org/drawingml/2006/main">
              <a:ext uri="{FF2B5EF4-FFF2-40B4-BE49-F238E27FC236}">
                <a16:creationId xmlns:a16="http://schemas.microsoft.com/office/drawing/2014/main" id="{AD05C876-D50E-4D63-8124-E7A25812F0CB}"/>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Para ampliar, consulta Feedback Systems de Åström y Murray en sus secciones de realimentación y PID. Lee el esquema de bloques junto a un caso del banco. La meta de esta primera aproximación es explicar por qué se produjo una respuesta y qué dato permitiría revisar una hipótesis. Las ganancias y las curvas forman parte de esa explicación, no un sustituto de ella.</a:t>
            </a:r>
          </a:p>
        </p:txBody>
      </p:sp>
    </p:spTree>
    <p:extLst>
      <p:ext uri="{BB962C8B-B14F-4D97-AF65-F5344CB8AC3E}">
        <p14:creationId xmlns:p14="http://schemas.microsoft.com/office/powerpoint/2010/main" val="2138011701"/>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40EB38-AFC7-4F95-8CA7-0F7BBA1B14F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 número llamado pid</a:t>
            </a:r>
          </a:p>
        </p:txBody>
      </p:sp>
      <p:pic>
        <p:nvPicPr>
          <p:cNvPr id="2" name="">
            <a:extLst xmlns:a="http://schemas.openxmlformats.org/drawingml/2006/main">
              <a:ext uri="{FF2B5EF4-FFF2-40B4-BE49-F238E27FC236}">
                <a16:creationId xmlns:a16="http://schemas.microsoft.com/office/drawing/2014/main" id="{4163AA4F-BACB-492F-8ED6-8AC2C7065797}"/>
              </a:ext>
            </a:extLst>
          </p:cNvPr>
          <p:cNvPicPr>
            <a:picLocks xmlns:a="http://schemas.openxmlformats.org/drawingml/2006/main" noChangeAspect="1"/>
          </p:cNvPicPr>
          <p:nvPr/>
        </p:nvPicPr>
        <p:blipFill>
          <a:blip xmlns:r="http://schemas.openxmlformats.org/officeDocument/2006/relationships" xmlns:a="http://schemas.openxmlformats.org/drawingml/2006/main" r:embed="R583d06dc5c014da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674D63-327C-4682-9232-FF9340F67A8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19/24</a:t>
            </a:r>
          </a:p>
        </p:txBody>
      </p:sp>
      <p:sp>
        <p:nvSpPr>
          <p:cNvPr id="4" name="">
            <a:extLst xmlns:a="http://schemas.openxmlformats.org/drawingml/2006/main">
              <a:ext uri="{FF2B5EF4-FFF2-40B4-BE49-F238E27FC236}">
                <a16:creationId xmlns:a16="http://schemas.microsoft.com/office/drawing/2014/main" id="{E8A07E6D-FB94-4E90-B154-7B0E55A02667}"/>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Un programa calcula error × kp y guarda el resultado en pid_roll. ¿Qué acción implementa?</a:t>
            </a:r>
          </a:p>
        </p:txBody>
      </p:sp>
      <p:sp>
        <p:nvSpPr>
          <p:cNvPr id="5" name="">
            <a:extLst xmlns:a="http://schemas.openxmlformats.org/drawingml/2006/main">
              <a:ext uri="{FF2B5EF4-FFF2-40B4-BE49-F238E27FC236}">
                <a16:creationId xmlns:a16="http://schemas.microsoft.com/office/drawing/2014/main" id="{89C5E641-9906-4B59-B145-90879D70551D}"/>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Una acción proporcional. El nombre de la variable no añade integral ni derivada.</a:t>
            </a:r>
          </a:p>
        </p:txBody>
      </p:sp>
    </p:spTree>
    <p:extLst>
      <p:ext uri="{BB962C8B-B14F-4D97-AF65-F5344CB8AC3E}">
        <p14:creationId xmlns:p14="http://schemas.microsoft.com/office/powerpoint/2010/main" val="1432285716"/>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788C25-1D23-47E8-99AF-4110658007C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70BBADA4-2C81-4142-94B4-5B0113D703E4}"/>
              </a:ext>
            </a:extLst>
          </p:cNvPr>
          <p:cNvPicPr>
            <a:picLocks xmlns:a="http://schemas.openxmlformats.org/drawingml/2006/main" noChangeAspect="1"/>
          </p:cNvPicPr>
          <p:nvPr/>
        </p:nvPicPr>
        <p:blipFill>
          <a:blip xmlns:r="http://schemas.openxmlformats.org/officeDocument/2006/relationships" xmlns:a="http://schemas.openxmlformats.org/drawingml/2006/main" r:embed="R4b6b92b1959d4b1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FCDA611-235D-433D-B744-65503D37B38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20/24</a:t>
            </a:r>
          </a:p>
        </p:txBody>
      </p:sp>
      <p:sp>
        <p:nvSpPr>
          <p:cNvPr id="4" name="">
            <a:extLst xmlns:a="http://schemas.openxmlformats.org/drawingml/2006/main">
              <a:ext uri="{FF2B5EF4-FFF2-40B4-BE49-F238E27FC236}">
                <a16:creationId xmlns:a16="http://schemas.microsoft.com/office/drawing/2014/main" id="{B2764F6A-470A-4F4F-9C59-A15C7DDE86A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que el mismo PWM puede producir otra velocidad al cambiar la carga.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Resolver una contribución P y un incremento I con unidades.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Comparar el modelo de referencia en CSV con idénticas entradas.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Explicar límites y transferencia al banco físico.</a:t>
            </a:r>
          </a:p>
        </p:txBody>
      </p:sp>
    </p:spTree>
    <p:extLst>
      <p:ext uri="{BB962C8B-B14F-4D97-AF65-F5344CB8AC3E}">
        <p14:creationId xmlns:p14="http://schemas.microsoft.com/office/powerpoint/2010/main" val="1757280900"/>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4581BC-ABF6-42C5-A3E8-D353D98955F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AC18A622-618A-4D21-B26A-823D6DE24709}"/>
              </a:ext>
            </a:extLst>
          </p:cNvPr>
          <p:cNvPicPr>
            <a:picLocks xmlns:a="http://schemas.openxmlformats.org/drawingml/2006/main" noChangeAspect="1"/>
          </p:cNvPicPr>
          <p:nvPr/>
        </p:nvPicPr>
        <p:blipFill>
          <a:blip xmlns:r="http://schemas.openxmlformats.org/officeDocument/2006/relationships" xmlns:a="http://schemas.openxmlformats.org/drawingml/2006/main" r:embed="Refe22d2bb57e407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267C162-94EE-4A26-AAC1-71B156EE28E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21/24</a:t>
            </a:r>
          </a:p>
        </p:txBody>
      </p:sp>
      <p:sp>
        <p:nvSpPr>
          <p:cNvPr id="4" name="">
            <a:extLst xmlns:a="http://schemas.openxmlformats.org/drawingml/2006/main">
              <a:ext uri="{FF2B5EF4-FFF2-40B4-BE49-F238E27FC236}">
                <a16:creationId xmlns:a16="http://schemas.microsoft.com/office/drawing/2014/main" id="{3B05D2A3-0CE0-447E-B20B-7077ECA7BB67}"/>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estabilización y el control de mecanismos UAV se apoyan en medidas, referencias y actuadores; el banco permite reconocer esas funciones.</a:t>
            </a:r>
          </a:p>
        </p:txBody>
      </p:sp>
      <p:sp>
        <p:nvSpPr>
          <p:cNvPr id="5" name="">
            <a:extLst xmlns:a="http://schemas.openxmlformats.org/drawingml/2006/main">
              <a:ext uri="{FF2B5EF4-FFF2-40B4-BE49-F238E27FC236}">
                <a16:creationId xmlns:a16="http://schemas.microsoft.com/office/drawing/2014/main" id="{C6D5DACA-E4B2-49FB-8BAE-7B510C75DCF0}"/>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048320006"/>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784079-08E3-4152-ADE5-9030739C7E5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45D66A18-C0B3-42A9-87D3-F6CAC7E447AE}"/>
              </a:ext>
            </a:extLst>
          </p:cNvPr>
          <p:cNvPicPr>
            <a:picLocks xmlns:a="http://schemas.openxmlformats.org/drawingml/2006/main" noChangeAspect="1"/>
          </p:cNvPicPr>
          <p:nvPr/>
        </p:nvPicPr>
        <p:blipFill>
          <a:blip xmlns:r="http://schemas.openxmlformats.org/officeDocument/2006/relationships" xmlns:a="http://schemas.openxmlformats.org/drawingml/2006/main" r:embed="R577a6fc6347042a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50D3D8-79FB-47D6-8A6D-580438412F4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22/24</a:t>
            </a:r>
          </a:p>
        </p:txBody>
      </p:sp>
      <p:sp>
        <p:nvSpPr>
          <p:cNvPr id="4" name="">
            <a:extLst xmlns:a="http://schemas.openxmlformats.org/drawingml/2006/main">
              <a:ext uri="{FF2B5EF4-FFF2-40B4-BE49-F238E27FC236}">
                <a16:creationId xmlns:a16="http://schemas.microsoft.com/office/drawing/2014/main" id="{B2347976-7B27-4B51-9C35-1DBDD9B769C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¿error × kp es PID completo?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¿Qué ocurre si se omite Δt en I?</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¿Una referencia imposible se resuelve subiendo ganancias?</a:t>
            </a:r>
          </a:p>
        </p:txBody>
      </p:sp>
    </p:spTree>
    <p:extLst>
      <p:ext uri="{BB962C8B-B14F-4D97-AF65-F5344CB8AC3E}">
        <p14:creationId xmlns:p14="http://schemas.microsoft.com/office/powerpoint/2010/main" val="1615780460"/>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07E153-7FF0-41B6-8146-CE82CA48146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55A994AF-5024-4E94-B786-10667BAD5D86}"/>
              </a:ext>
            </a:extLst>
          </p:cNvPr>
          <p:cNvPicPr>
            <a:picLocks xmlns:a="http://schemas.openxmlformats.org/drawingml/2006/main" noChangeAspect="1"/>
          </p:cNvPicPr>
          <p:nvPr/>
        </p:nvPicPr>
        <p:blipFill>
          <a:blip xmlns:r="http://schemas.openxmlformats.org/officeDocument/2006/relationships" xmlns:a="http://schemas.openxmlformats.org/drawingml/2006/main" r:embed="R15f23724cafd4e6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3CC504-3FE7-4C78-9FC6-8EC07A9CE93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11   23/24</a:t>
            </a:r>
          </a:p>
        </p:txBody>
      </p:sp>
      <p:sp>
        <p:nvSpPr>
          <p:cNvPr id="4" name="">
            <a:extLst xmlns:a="http://schemas.openxmlformats.org/drawingml/2006/main">
              <a:ext uri="{FF2B5EF4-FFF2-40B4-BE49-F238E27FC236}">
                <a16:creationId xmlns:a16="http://schemas.microsoft.com/office/drawing/2014/main" id="{04B308F0-C5D1-4EB1-B3D8-456645CAF7D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Es proporcional, aunque la variable se llame pid.</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La acumulación cambia al cambiar la frecuencia de ejecución.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Se revisan capacidad, saturación, medida y objetivo.</a:t>
            </a:r>
          </a:p>
        </p:txBody>
      </p:sp>
    </p:spTree>
    <p:extLst>
      <p:ext uri="{BB962C8B-B14F-4D97-AF65-F5344CB8AC3E}">
        <p14:creationId xmlns:p14="http://schemas.microsoft.com/office/powerpoint/2010/main" val="1536430346"/>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60AB6F-4F7D-473F-8367-417BA26FC46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4206D4CC-42A0-4A0B-AB36-C60441ADE8D2}"/>
              </a:ext>
            </a:extLst>
          </p:cNvPr>
          <p:cNvPicPr>
            <a:picLocks xmlns:a="http://schemas.openxmlformats.org/drawingml/2006/main" noChangeAspect="1"/>
          </p:cNvPicPr>
          <p:nvPr/>
        </p:nvPicPr>
        <p:blipFill>
          <a:blip xmlns:r="http://schemas.openxmlformats.org/officeDocument/2006/relationships" xmlns:a="http://schemas.openxmlformats.org/drawingml/2006/main" r:embed="R2e41502eb794426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17EA1F8-7DB9-4994-B49F-99B8C237F39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11   24/24</a:t>
            </a:r>
          </a:p>
        </p:txBody>
      </p:sp>
      <p:sp>
        <p:nvSpPr>
          <p:cNvPr id="4" name="">
            <a:extLst xmlns:a="http://schemas.openxmlformats.org/drawingml/2006/main">
              <a:ext uri="{FF2B5EF4-FFF2-40B4-BE49-F238E27FC236}">
                <a16:creationId xmlns:a16="http://schemas.microsoft.com/office/drawing/2014/main" id="{E195A9D3-5B67-433B-AA50-DCB887BDF462}"/>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Gráficas identificadas, caso P/I resuelto y comparación de dos respuestas.</a:t>
            </a:r>
          </a:p>
        </p:txBody>
      </p:sp>
      <p:sp>
        <p:nvSpPr>
          <p:cNvPr id="5" name="">
            <a:extLst xmlns:a="http://schemas.openxmlformats.org/drawingml/2006/main">
              <a:ext uri="{FF2B5EF4-FFF2-40B4-BE49-F238E27FC236}">
                <a16:creationId xmlns:a16="http://schemas.microsoft.com/office/drawing/2014/main" id="{72BD2BFF-D9CA-4D14-B01F-B412F0B61DC0}"/>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773299243"/>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D6F768-16EE-4978-B2F9-33389C9D67F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IMU y orientación de banco: medir antes de estabilizar</a:t>
            </a:r>
          </a:p>
        </p:txBody>
      </p:sp>
      <p:pic>
        <p:nvPicPr>
          <p:cNvPr id="2" name="">
            <a:extLst xmlns:a="http://schemas.openxmlformats.org/drawingml/2006/main">
              <a:ext uri="{FF2B5EF4-FFF2-40B4-BE49-F238E27FC236}">
                <a16:creationId xmlns:a16="http://schemas.microsoft.com/office/drawing/2014/main" id="{995852A8-2571-4C2E-9046-77B31FCAD014}"/>
              </a:ext>
            </a:extLst>
          </p:cNvPr>
          <p:cNvPicPr>
            <a:picLocks xmlns:a="http://schemas.openxmlformats.org/drawingml/2006/main" noChangeAspect="1"/>
          </p:cNvPicPr>
          <p:nvPr/>
        </p:nvPicPr>
        <p:blipFill>
          <a:blip xmlns:r="http://schemas.openxmlformats.org/officeDocument/2006/relationships" xmlns:a="http://schemas.openxmlformats.org/drawingml/2006/main" r:embed="R8389f51139ee40d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7A8F1C-B865-48E2-9CB6-1B642B6F6DF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01/24</a:t>
            </a:r>
          </a:p>
        </p:txBody>
      </p:sp>
      <p:sp>
        <p:nvSpPr>
          <p:cNvPr id="4" name="">
            <a:extLst xmlns:a="http://schemas.openxmlformats.org/drawingml/2006/main">
              <a:ext uri="{FF2B5EF4-FFF2-40B4-BE49-F238E27FC236}">
                <a16:creationId xmlns:a16="http://schemas.microsoft.com/office/drawing/2014/main" id="{7E19A66A-A314-4404-95E2-1A7B82AFE11B}"/>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Distinguir aceleración, velocidad angular e inclinación estimada y obtener un registro con unidades.</a:t>
            </a:r>
          </a:p>
        </p:txBody>
      </p:sp>
      <p:sp>
        <p:nvSpPr>
          <p:cNvPr id="5" name="">
            <a:extLst xmlns:a="http://schemas.openxmlformats.org/drawingml/2006/main">
              <a:ext uri="{FF2B5EF4-FFF2-40B4-BE49-F238E27FC236}">
                <a16:creationId xmlns:a16="http://schemas.microsoft.com/office/drawing/2014/main" id="{3868A825-561E-48F6-8379-691C1483ACE4}"/>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IMU es una entrada esencial para comprender cómo se observa el movimiento de un UAV.</a:t>
            </a:r>
          </a:p>
        </p:txBody>
      </p:sp>
      <p:sp>
        <p:nvSpPr>
          <p:cNvPr id="6" name="">
            <a:extLst xmlns:a="http://schemas.openxmlformats.org/drawingml/2006/main">
              <a:ext uri="{FF2B5EF4-FFF2-40B4-BE49-F238E27FC236}">
                <a16:creationId xmlns:a16="http://schemas.microsoft.com/office/drawing/2014/main" id="{FAE0D411-B117-459B-9F4C-A5CBC35AE135}"/>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2021042202"/>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4CEE45-C3AD-4F76-9871-3EBFFBE572B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significa seis ejes</a:t>
            </a:r>
          </a:p>
        </p:txBody>
      </p:sp>
      <p:pic>
        <p:nvPicPr>
          <p:cNvPr id="2" name="">
            <a:extLst xmlns:a="http://schemas.openxmlformats.org/drawingml/2006/main">
              <a:ext uri="{FF2B5EF4-FFF2-40B4-BE49-F238E27FC236}">
                <a16:creationId xmlns:a16="http://schemas.microsoft.com/office/drawing/2014/main" id="{3299B88F-E61F-48A0-BE34-3DB8C80E4254}"/>
              </a:ext>
            </a:extLst>
          </p:cNvPr>
          <p:cNvPicPr>
            <a:picLocks xmlns:a="http://schemas.openxmlformats.org/drawingml/2006/main" noChangeAspect="1"/>
          </p:cNvPicPr>
          <p:nvPr/>
        </p:nvPicPr>
        <p:blipFill>
          <a:blip xmlns:r="http://schemas.openxmlformats.org/officeDocument/2006/relationships" xmlns:a="http://schemas.openxmlformats.org/drawingml/2006/main" r:embed="R9bfcc5b04dab4a9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AC4B84C-6513-4236-956B-F785B79EF27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02/24</a:t>
            </a:r>
          </a:p>
        </p:txBody>
      </p:sp>
      <p:sp>
        <p:nvSpPr>
          <p:cNvPr id="4" name="">
            <a:extLst xmlns:a="http://schemas.openxmlformats.org/drawingml/2006/main">
              <a:ext uri="{FF2B5EF4-FFF2-40B4-BE49-F238E27FC236}">
                <a16:creationId xmlns:a16="http://schemas.microsoft.com/office/drawing/2014/main" id="{8FA33364-A793-4C26-9393-A224B11ED1A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IMU del proyecto MPU6050 combina tres componentes de aceleración y tres de velocidad angular. Esos seis canales no equivalen a seis ángulos medidos directamente. El acelerómetro y el giróscopo responden a magnitudes distintas. Antes de interpretar un número se necesita un sistema de ejes ligado al montaje, una unidad y una configuración de rango.</a:t>
            </a:r>
          </a:p>
        </p:txBody>
      </p:sp>
    </p:spTree>
    <p:extLst>
      <p:ext uri="{BB962C8B-B14F-4D97-AF65-F5344CB8AC3E}">
        <p14:creationId xmlns:p14="http://schemas.microsoft.com/office/powerpoint/2010/main" val="661469409"/>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B4DAA6-A275-4F12-869F-68268F013CD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significa seis ejes</a:t>
            </a:r>
          </a:p>
        </p:txBody>
      </p:sp>
      <p:pic>
        <p:nvPicPr>
          <p:cNvPr id="2" name="">
            <a:extLst xmlns:a="http://schemas.openxmlformats.org/drawingml/2006/main">
              <a:ext uri="{FF2B5EF4-FFF2-40B4-BE49-F238E27FC236}">
                <a16:creationId xmlns:a16="http://schemas.microsoft.com/office/drawing/2014/main" id="{9F4887EA-BE85-434A-92F0-252AB3A8939E}"/>
              </a:ext>
            </a:extLst>
          </p:cNvPr>
          <p:cNvPicPr>
            <a:picLocks xmlns:a="http://schemas.openxmlformats.org/drawingml/2006/main" noChangeAspect="1"/>
          </p:cNvPicPr>
          <p:nvPr/>
        </p:nvPicPr>
        <p:blipFill>
          <a:blip xmlns:r="http://schemas.openxmlformats.org/officeDocument/2006/relationships" xmlns:a="http://schemas.openxmlformats.org/drawingml/2006/main" r:embed="Rf0b0faf66622486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A688AE7-C261-4EF0-9993-5F48573E20A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03/24</a:t>
            </a:r>
          </a:p>
        </p:txBody>
      </p:sp>
      <p:pic>
        <p:nvPicPr>
          <p:cNvPr id="4" name="">
            <a:extLst xmlns:a="http://schemas.openxmlformats.org/drawingml/2006/main">
              <a:ext uri="{FF2B5EF4-FFF2-40B4-BE49-F238E27FC236}">
                <a16:creationId xmlns:a16="http://schemas.microsoft.com/office/drawing/2014/main" id="{1D34C8FD-49F1-4A16-AF5B-3790C1ED1D5D}"/>
              </a:ext>
            </a:extLst>
          </p:cNvPr>
          <p:cNvPicPr>
            <a:picLocks xmlns:a="http://schemas.openxmlformats.org/drawingml/2006/main" noChangeAspect="1"/>
          </p:cNvPicPr>
          <p:nvPr/>
        </p:nvPicPr>
        <p:blipFill>
          <a:blip xmlns:r="http://schemas.openxmlformats.org/officeDocument/2006/relationships" xmlns:a="http://schemas.openxmlformats.org/drawingml/2006/main" r:embed="R9a2ba6f4d22e4d7f"/>
          <a:stretch xmlns:a="http://schemas.openxmlformats.org/drawingml/2006/main"/>
        </p:blipFill>
        <p:spPr>
          <a:xfrm xmlns:a="http://schemas.openxmlformats.org/drawingml/2006/main">
            <a:off x="2380410" y="1638300"/>
            <a:ext cx="3830729"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7557951-8CFC-45E4-96A6-BBBE10B29271}"/>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Identifica los ejes de la IMU y las líneas SDA/SCL. ¿Qué unidad leerá el programa?</a:t>
            </a:r>
          </a:p>
        </p:txBody>
      </p:sp>
      <p:sp>
        <p:nvSpPr>
          <p:cNvPr id="6" name="">
            <a:extLst xmlns:a="http://schemas.openxmlformats.org/drawingml/2006/main">
              <a:ext uri="{FF2B5EF4-FFF2-40B4-BE49-F238E27FC236}">
                <a16:creationId xmlns:a16="http://schemas.microsoft.com/office/drawing/2014/main" id="{4A85A90E-CC0A-4076-ABA3-2A6A359B707E}"/>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16.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1474150160"/>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8D5DD7-3E89-46E0-9239-FE7F06FC5F0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significa seis ejes</a:t>
            </a:r>
          </a:p>
        </p:txBody>
      </p:sp>
      <p:pic>
        <p:nvPicPr>
          <p:cNvPr id="2" name="">
            <a:extLst xmlns:a="http://schemas.openxmlformats.org/drawingml/2006/main">
              <a:ext uri="{FF2B5EF4-FFF2-40B4-BE49-F238E27FC236}">
                <a16:creationId xmlns:a16="http://schemas.microsoft.com/office/drawing/2014/main" id="{7C5D45EB-F4F5-420C-8C6A-BD6343730E81}"/>
              </a:ext>
            </a:extLst>
          </p:cNvPr>
          <p:cNvPicPr>
            <a:picLocks xmlns:a="http://schemas.openxmlformats.org/drawingml/2006/main" noChangeAspect="1"/>
          </p:cNvPicPr>
          <p:nvPr/>
        </p:nvPicPr>
        <p:blipFill>
          <a:blip xmlns:r="http://schemas.openxmlformats.org/officeDocument/2006/relationships" xmlns:a="http://schemas.openxmlformats.org/drawingml/2006/main" r:embed="R9f436eae953b4e3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8C7E99-907E-473D-9436-6FA7004B695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04/24</a:t>
            </a:r>
          </a:p>
        </p:txBody>
      </p:sp>
      <p:sp>
        <p:nvSpPr>
          <p:cNvPr id="4" name="">
            <a:extLst xmlns:a="http://schemas.openxmlformats.org/drawingml/2006/main">
              <a:ext uri="{FF2B5EF4-FFF2-40B4-BE49-F238E27FC236}">
                <a16:creationId xmlns:a16="http://schemas.microsoft.com/office/drawing/2014/main" id="{C9AB5E7C-0E5C-4E2E-90D5-26D632FF300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En reposo, la lectura del acelerómetro permite observar la dirección asociada a gravedad bajo las condiciones del banco. Durante movimiento se añaden otros efectos y esa lectura no se interpreta automáticamente como inclinación. El giróscopo aporta velocidad angular; al integrarla se obtiene una estimación de cambio angular que también acumula error por sesgo. Ambas observaciones pueden complementarse, pero ninguna se vuelve una orientación completa por cambiar el nombre de una variable.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clase separa los atributos del simulador de las unidades que devuelve una biblioteca. En Wokwi se pueden introducir valores en g y grados por segundo. La biblioteca Adafruit utilizada presenta aceleración en m/s² y giro en rad/s. Ese cambio de representación debe reconocerse antes de aplicar fórmulas o escalas.</a:t>
            </a:r>
          </a:p>
        </p:txBody>
      </p:sp>
    </p:spTree>
    <p:extLst>
      <p:ext uri="{BB962C8B-B14F-4D97-AF65-F5344CB8AC3E}">
        <p14:creationId xmlns:p14="http://schemas.microsoft.com/office/powerpoint/2010/main" val="1365884995"/>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AC1145-8FB9-4DB5-A704-1AE08DF34EA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ángulo a partir de la gravedad del banco</a:t>
            </a:r>
          </a:p>
        </p:txBody>
      </p:sp>
      <p:pic>
        <p:nvPicPr>
          <p:cNvPr id="2" name="">
            <a:extLst xmlns:a="http://schemas.openxmlformats.org/drawingml/2006/main">
              <a:ext uri="{FF2B5EF4-FFF2-40B4-BE49-F238E27FC236}">
                <a16:creationId xmlns:a16="http://schemas.microsoft.com/office/drawing/2014/main" id="{3A97D936-CF0B-4F7B-BB4A-3A4F4E4FA7E9}"/>
              </a:ext>
            </a:extLst>
          </p:cNvPr>
          <p:cNvPicPr>
            <a:picLocks xmlns:a="http://schemas.openxmlformats.org/drawingml/2006/main" noChangeAspect="1"/>
          </p:cNvPicPr>
          <p:nvPr/>
        </p:nvPicPr>
        <p:blipFill>
          <a:blip xmlns:r="http://schemas.openxmlformats.org/officeDocument/2006/relationships" xmlns:a="http://schemas.openxmlformats.org/drawingml/2006/main" r:embed="R557d1800d90748a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1747BBB-D089-421B-9E65-402B8EC08AF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05/24</a:t>
            </a:r>
          </a:p>
        </p:txBody>
      </p:sp>
      <p:sp>
        <p:nvSpPr>
          <p:cNvPr id="4" name="">
            <a:extLst xmlns:a="http://schemas.openxmlformats.org/drawingml/2006/main">
              <a:ext uri="{FF2B5EF4-FFF2-40B4-BE49-F238E27FC236}">
                <a16:creationId xmlns:a16="http://schemas.microsoft.com/office/drawing/2014/main" id="{14BA13C1-1D88-4992-AC8F-1499345EE4B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Estas expresiones se usan en la práctica cuasiestática, con la referencia de ejes declarada. atan2 considera la relación entre componentes y su cuadrante. Multiplicar aceleración por una constante no representa en general esa geometría. Cerca de una inclinación pequeña puede parecer que dos curvas se parecen, pero la coincidencia local no demuestra una conversión universal.</a:t>
            </a:r>
          </a:p>
        </p:txBody>
      </p:sp>
    </p:spTree>
    <p:extLst>
      <p:ext uri="{BB962C8B-B14F-4D97-AF65-F5344CB8AC3E}">
        <p14:creationId xmlns:p14="http://schemas.microsoft.com/office/powerpoint/2010/main" val="1325956242"/>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A9415B-91D5-4E72-A2BC-4AF0069A9C1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Magnitud y unidad de la biblioteca</a:t>
            </a:r>
          </a:p>
        </p:txBody>
      </p:sp>
      <p:pic>
        <p:nvPicPr>
          <p:cNvPr id="2" name="">
            <a:extLst xmlns:a="http://schemas.openxmlformats.org/drawingml/2006/main">
              <a:ext uri="{FF2B5EF4-FFF2-40B4-BE49-F238E27FC236}">
                <a16:creationId xmlns:a16="http://schemas.microsoft.com/office/drawing/2014/main" id="{1147A1FF-1D39-43A6-B84F-D0CA43019749}"/>
              </a:ext>
            </a:extLst>
          </p:cNvPr>
          <p:cNvPicPr>
            <a:picLocks xmlns:a="http://schemas.openxmlformats.org/drawingml/2006/main" noChangeAspect="1"/>
          </p:cNvPicPr>
          <p:nvPr/>
        </p:nvPicPr>
        <p:blipFill>
          <a:blip xmlns:r="http://schemas.openxmlformats.org/officeDocument/2006/relationships" xmlns:a="http://schemas.openxmlformats.org/drawingml/2006/main" r:embed="R2c830552488b4dd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FDE36D1-1C20-4D25-B306-8A8144C734E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06/24</a:t>
            </a:r>
          </a:p>
        </p:txBody>
      </p:sp>
      <p:graphicFrame>
        <p:nvGraphicFramePr>
          <p:cNvPr id="4" name="">
            <a:extLst xmlns:a="http://schemas.openxmlformats.org/drawingml/2006/main">
              <a:ext uri="{FF2B5EF4-FFF2-40B4-BE49-F238E27FC236}">
                <a16:creationId xmlns:a16="http://schemas.microsoft.com/office/drawing/2014/main" id="{D7BD7E8D-2172-44BF-BABE-D9E1089816B1}"/>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Variable</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Unidad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Interpretación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a.acceleration.x</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m/s²</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Componente del acelerómetro</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g.gyro.x</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rad/s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Velocidad angular</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Ángulo calculado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rad o grados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Estimación bajo hipótesis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842085862"/>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0A1BDE-B96F-4638-AA64-E6ED90AED54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Inclinación de 30 grados</a:t>
            </a:r>
          </a:p>
        </p:txBody>
      </p:sp>
      <p:pic>
        <p:nvPicPr>
          <p:cNvPr id="2" name="">
            <a:extLst xmlns:a="http://schemas.openxmlformats.org/drawingml/2006/main">
              <a:ext uri="{FF2B5EF4-FFF2-40B4-BE49-F238E27FC236}">
                <a16:creationId xmlns:a16="http://schemas.microsoft.com/office/drawing/2014/main" id="{EF0C0BD4-2512-4551-B986-01B178EF402C}"/>
              </a:ext>
            </a:extLst>
          </p:cNvPr>
          <p:cNvPicPr>
            <a:picLocks xmlns:a="http://schemas.openxmlformats.org/drawingml/2006/main" noChangeAspect="1"/>
          </p:cNvPicPr>
          <p:nvPr/>
        </p:nvPicPr>
        <p:blipFill>
          <a:blip xmlns:r="http://schemas.openxmlformats.org/officeDocument/2006/relationships" xmlns:a="http://schemas.openxmlformats.org/drawingml/2006/main" r:embed="Rcad4c71867544c8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499A39-67B4-43D6-AD2E-8F13A4EE3F2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07/24</a:t>
            </a:r>
          </a:p>
        </p:txBody>
      </p:sp>
      <p:pic>
        <p:nvPicPr>
          <p:cNvPr id="4" name="">
            <a:extLst xmlns:a="http://schemas.openxmlformats.org/drawingml/2006/main">
              <a:ext uri="{FF2B5EF4-FFF2-40B4-BE49-F238E27FC236}">
                <a16:creationId xmlns:a16="http://schemas.microsoft.com/office/drawing/2014/main" id="{8E3D7935-7998-4475-9D96-736430EF9F8D}"/>
              </a:ext>
            </a:extLst>
          </p:cNvPr>
          <p:cNvPicPr>
            <a:picLocks xmlns:a="http://schemas.openxmlformats.org/drawingml/2006/main" noChangeAspect="1"/>
          </p:cNvPicPr>
          <p:nvPr/>
        </p:nvPicPr>
        <p:blipFill>
          <a:blip xmlns:r="http://schemas.openxmlformats.org/officeDocument/2006/relationships" xmlns:a="http://schemas.openxmlformats.org/drawingml/2006/main" r:embed="R5cb188a930044349"/>
          <a:stretch xmlns:a="http://schemas.openxmlformats.org/drawingml/2006/main"/>
        </p:blipFill>
        <p:spPr>
          <a:xfrm xmlns:a="http://schemas.openxmlformats.org/drawingml/2006/main">
            <a:off x="1050832" y="1714500"/>
            <a:ext cx="10090337"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066224-1DEF-4D1F-A470-EE08C8A84FB4}"/>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Aproximadamente 30°. Multiplicar ay por 5 produciría 24,5 sin una justificación general de unidades ni de geometría.</a:t>
            </a:r>
          </a:p>
        </p:txBody>
      </p:sp>
      <p:sp>
        <p:nvSpPr>
          <p:cNvPr id="6" name="">
            <a:extLst xmlns:a="http://schemas.openxmlformats.org/drawingml/2006/main">
              <a:ext uri="{FF2B5EF4-FFF2-40B4-BE49-F238E27FC236}">
                <a16:creationId xmlns:a16="http://schemas.microsoft.com/office/drawing/2014/main" id="{7B0C69DE-E101-4B52-8A4F-1DC3BC4417DA}"/>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Convención del ejemplo: los resultados de atan2 están en radianes; se convierten a grados si se van a presentar así. La orientación de ejes y el signo se comprueban en el montaje.</a:t>
            </a:r>
          </a:p>
        </p:txBody>
      </p:sp>
    </p:spTree>
    <p:extLst>
      <p:ext uri="{BB962C8B-B14F-4D97-AF65-F5344CB8AC3E}">
        <p14:creationId xmlns:p14="http://schemas.microsoft.com/office/powerpoint/2010/main" val="1153614539"/>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3D9CDD-D663-4927-9585-AC91938BEC9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Sesgo, ruido y configuración</a:t>
            </a:r>
          </a:p>
        </p:txBody>
      </p:sp>
      <p:pic>
        <p:nvPicPr>
          <p:cNvPr id="2" name="">
            <a:extLst xmlns:a="http://schemas.openxmlformats.org/drawingml/2006/main">
              <a:ext uri="{FF2B5EF4-FFF2-40B4-BE49-F238E27FC236}">
                <a16:creationId xmlns:a16="http://schemas.microsoft.com/office/drawing/2014/main" id="{CD2CA84E-CCA9-48C3-B41D-1405E3B9EC5B}"/>
              </a:ext>
            </a:extLst>
          </p:cNvPr>
          <p:cNvPicPr>
            <a:picLocks xmlns:a="http://schemas.openxmlformats.org/drawingml/2006/main" noChangeAspect="1"/>
          </p:cNvPicPr>
          <p:nvPr/>
        </p:nvPicPr>
        <p:blipFill>
          <a:blip xmlns:r="http://schemas.openxmlformats.org/officeDocument/2006/relationships" xmlns:a="http://schemas.openxmlformats.org/drawingml/2006/main" r:embed="R2dde2ac4050b4f9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B9DEAD7-9ABF-4147-907C-DA5A8497DDA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08/24</a:t>
            </a:r>
          </a:p>
        </p:txBody>
      </p:sp>
      <p:sp>
        <p:nvSpPr>
          <p:cNvPr id="4" name="">
            <a:extLst xmlns:a="http://schemas.openxmlformats.org/drawingml/2006/main">
              <a:ext uri="{FF2B5EF4-FFF2-40B4-BE49-F238E27FC236}">
                <a16:creationId xmlns:a16="http://schemas.microsoft.com/office/drawing/2014/main" id="{9947A649-879C-4245-83F3-AADCF5AFD13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sesgo es una desviación sistemática de la lectura. Una lectura con variación pequeña puede conservar un sesgo grande: repetir bien no equivale a medir correctamente. En un ensayo de reposo se observan muestras y se explica qué referencia permite interpretar cada eje. Para el giróscopo, una media distinta de cero en un montaje realmente quieto puede orientar una estimación de sesgo bajo esas condiciones.</a:t>
            </a:r>
          </a:p>
        </p:txBody>
      </p:sp>
    </p:spTree>
    <p:extLst>
      <p:ext uri="{BB962C8B-B14F-4D97-AF65-F5344CB8AC3E}">
        <p14:creationId xmlns:p14="http://schemas.microsoft.com/office/powerpoint/2010/main" val="1525697709"/>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952255-A8EA-4F7D-9A7E-4AF707B0050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comprobaciones iniciales</a:t>
            </a:r>
          </a:p>
        </p:txBody>
      </p:sp>
      <p:pic>
        <p:nvPicPr>
          <p:cNvPr id="2" name="">
            <a:extLst xmlns:a="http://schemas.openxmlformats.org/drawingml/2006/main">
              <a:ext uri="{FF2B5EF4-FFF2-40B4-BE49-F238E27FC236}">
                <a16:creationId xmlns:a16="http://schemas.microsoft.com/office/drawing/2014/main" id="{EED51C80-E0BB-437C-984A-1B0759F1DE88}"/>
              </a:ext>
            </a:extLst>
          </p:cNvPr>
          <p:cNvPicPr>
            <a:picLocks xmlns:a="http://schemas.openxmlformats.org/drawingml/2006/main" noChangeAspect="1"/>
          </p:cNvPicPr>
          <p:nvPr/>
        </p:nvPicPr>
        <p:blipFill>
          <a:blip xmlns:r="http://schemas.openxmlformats.org/officeDocument/2006/relationships" xmlns:a="http://schemas.openxmlformats.org/drawingml/2006/main" r:embed="Re3f7799e044349f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AA2A0C-49EC-4C23-BA00-85051AA1BA9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09/24</a:t>
            </a:r>
          </a:p>
        </p:txBody>
      </p:sp>
      <p:graphicFrame>
        <p:nvGraphicFramePr>
          <p:cNvPr id="4" name="">
            <a:extLst xmlns:a="http://schemas.openxmlformats.org/drawingml/2006/main">
              <a:ext uri="{FF2B5EF4-FFF2-40B4-BE49-F238E27FC236}">
                <a16:creationId xmlns:a16="http://schemas.microsoft.com/office/drawing/2014/main" id="{266F78A9-0BC0-4BA9-A1A6-F6B439E3B8A8}"/>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Prueba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observar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no concluye sola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Reposo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Norma y giro medio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Exactitud completa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Inclinación lenta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Signo y orientación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Actitud dinámica de vuelo</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Movimiento rápido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Cambios y dispersión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Separación perfecta de efectos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971451206"/>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EF195C-C62D-4902-A8B1-0BB77FC1E1D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Multiplicar aceleración por cinco no da el ángulo</a:t>
            </a:r>
          </a:p>
        </p:txBody>
      </p:sp>
      <p:pic>
        <p:nvPicPr>
          <p:cNvPr id="2" name="">
            <a:extLst xmlns:a="http://schemas.openxmlformats.org/drawingml/2006/main">
              <a:ext uri="{FF2B5EF4-FFF2-40B4-BE49-F238E27FC236}">
                <a16:creationId xmlns:a16="http://schemas.microsoft.com/office/drawing/2014/main" id="{C2897E38-5265-4909-B604-443E97D476B3}"/>
              </a:ext>
            </a:extLst>
          </p:cNvPr>
          <p:cNvPicPr>
            <a:picLocks xmlns:a="http://schemas.openxmlformats.org/drawingml/2006/main" noChangeAspect="1"/>
          </p:cNvPicPr>
          <p:nvPr/>
        </p:nvPicPr>
        <p:blipFill>
          <a:blip xmlns:r="http://schemas.openxmlformats.org/officeDocument/2006/relationships" xmlns:a="http://schemas.openxmlformats.org/drawingml/2006/main" r:embed="Raee78390b8db4b8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6BF6E8-0E35-44A0-A825-AEFDFC2DAFB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10/24</a:t>
            </a:r>
          </a:p>
        </p:txBody>
      </p:sp>
      <p:graphicFrame>
        <p:nvGraphicFramePr>
          <p:cNvPr id="4" name="Chart">
            <a:extLst xmlns:a="http://schemas.openxmlformats.org/drawingml/2006/main">
              <a:ext uri="{FF2B5EF4-FFF2-40B4-BE49-F238E27FC236}">
                <a16:creationId xmlns:a16="http://schemas.microsoft.com/office/drawing/2014/main" id="{2B3EB992-3057-4AB3-AF04-26E614B31E59}"/>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0d64cc05029d4b8d"/>
          </a:graphicData>
        </a:graphic>
      </p:graphicFrame>
      <p:sp>
        <p:nvSpPr>
          <p:cNvPr id="5" name="">
            <a:extLst xmlns:a="http://schemas.openxmlformats.org/drawingml/2006/main">
              <a:ext uri="{FF2B5EF4-FFF2-40B4-BE49-F238E27FC236}">
                <a16:creationId xmlns:a16="http://schemas.microsoft.com/office/drawing/2014/main" id="{062553A7-01B5-4F58-AE6D-A0C29A381391}"/>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Caso estático ideal: ay = g sen(roll). atan2(ay, az) recupera el ángulo bajo las hipótesis de la lectura.</a:t>
            </a:r>
          </a:p>
        </p:txBody>
      </p:sp>
    </p:spTree>
    <p:extLst>
      <p:ext uri="{BB962C8B-B14F-4D97-AF65-F5344CB8AC3E}">
        <p14:creationId xmlns:p14="http://schemas.microsoft.com/office/powerpoint/2010/main" val="1803270672"/>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C18430-A4CC-4E42-8828-39EF9B1CBC4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Lectura del firmware de IMU</a:t>
            </a:r>
          </a:p>
        </p:txBody>
      </p:sp>
      <p:pic>
        <p:nvPicPr>
          <p:cNvPr id="2" name="">
            <a:extLst xmlns:a="http://schemas.openxmlformats.org/drawingml/2006/main">
              <a:ext uri="{FF2B5EF4-FFF2-40B4-BE49-F238E27FC236}">
                <a16:creationId xmlns:a16="http://schemas.microsoft.com/office/drawing/2014/main" id="{821B20A6-CA5F-4276-BDF4-F8B5A7B5572F}"/>
              </a:ext>
            </a:extLst>
          </p:cNvPr>
          <p:cNvPicPr>
            <a:picLocks xmlns:a="http://schemas.openxmlformats.org/drawingml/2006/main" noChangeAspect="1"/>
          </p:cNvPicPr>
          <p:nvPr/>
        </p:nvPicPr>
        <p:blipFill>
          <a:blip xmlns:r="http://schemas.openxmlformats.org/officeDocument/2006/relationships" xmlns:a="http://schemas.openxmlformats.org/drawingml/2006/main" r:embed="Rc6146a1670214e5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4E0BDEF-2AC6-49BC-A85C-F87A7A7A269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11/24</a:t>
            </a:r>
          </a:p>
        </p:txBody>
      </p:sp>
      <p:sp>
        <p:nvSpPr>
          <p:cNvPr id="4" name="">
            <a:extLst xmlns:a="http://schemas.openxmlformats.org/drawingml/2006/main">
              <a:ext uri="{FF2B5EF4-FFF2-40B4-BE49-F238E27FC236}">
                <a16:creationId xmlns:a16="http://schemas.microsoft.com/office/drawing/2014/main" id="{23730778-A549-487A-9ED0-FE7C4A0B7DB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archivo completo prepara I2C21/22, verifica inicialización, configura rangos y registra tiempo con los valores. El alumno identifica cuál de sus variables es una medida y cuál es una transformación. Cambiar la orientación física del módulo puede invertir signos o intercambiar ejes; la corrección se documenta como una convención del montaje, no como un ajuste secreto para que una pantalla parezca correcta.</a:t>
            </a:r>
          </a:p>
        </p:txBody>
      </p:sp>
    </p:spTree>
    <p:extLst>
      <p:ext uri="{BB962C8B-B14F-4D97-AF65-F5344CB8AC3E}">
        <p14:creationId xmlns:p14="http://schemas.microsoft.com/office/powerpoint/2010/main" val="1258337842"/>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81A868-E685-4B23-841B-62F03FF36A3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Fragmento de c12_imu</a:t>
            </a:r>
          </a:p>
        </p:txBody>
      </p:sp>
      <p:pic>
        <p:nvPicPr>
          <p:cNvPr id="2" name="">
            <a:extLst xmlns:a="http://schemas.openxmlformats.org/drawingml/2006/main">
              <a:ext uri="{FF2B5EF4-FFF2-40B4-BE49-F238E27FC236}">
                <a16:creationId xmlns:a16="http://schemas.microsoft.com/office/drawing/2014/main" id="{6F44A2FE-D2FE-4751-B07E-83B5E063C303}"/>
              </a:ext>
            </a:extLst>
          </p:cNvPr>
          <p:cNvPicPr>
            <a:picLocks xmlns:a="http://schemas.openxmlformats.org/drawingml/2006/main" noChangeAspect="1"/>
          </p:cNvPicPr>
          <p:nvPr/>
        </p:nvPicPr>
        <p:blipFill>
          <a:blip xmlns:r="http://schemas.openxmlformats.org/officeDocument/2006/relationships" xmlns:a="http://schemas.openxmlformats.org/drawingml/2006/main" r:embed="Rcc014130df83471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8B7520-02AD-476C-8D59-084AD673128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12/24</a:t>
            </a:r>
          </a:p>
        </p:txBody>
      </p:sp>
      <p:sp>
        <p:nvSpPr>
          <p:cNvPr id="4" name="">
            <a:extLst xmlns:a="http://schemas.openxmlformats.org/drawingml/2006/main">
              <a:ext uri="{FF2B5EF4-FFF2-40B4-BE49-F238E27FC236}">
                <a16:creationId xmlns:a16="http://schemas.microsoft.com/office/drawing/2014/main" id="{961FEBA3-3E09-48BE-B1FD-738A5B059949}"/>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sensors_event_t a, g, temp;</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imu.getEvent(&amp;a, &amp;g, &amp;temp);</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float roll = atan2f(a.acceleration.y,</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a.acceleration.z) * 180.0f/PI;</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float gx_rad_s = g.gyro.x;</a:t>
            </a:r>
          </a:p>
        </p:txBody>
      </p:sp>
      <p:sp>
        <p:nvSpPr>
          <p:cNvPr id="5" name="">
            <a:extLst xmlns:a="http://schemas.openxmlformats.org/drawingml/2006/main">
              <a:ext uri="{FF2B5EF4-FFF2-40B4-BE49-F238E27FC236}">
                <a16:creationId xmlns:a16="http://schemas.microsoft.com/office/drawing/2014/main" id="{D122280B-656A-42B2-98E3-1333C88FC982}"/>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999006637"/>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84766F-B667-4620-8310-5BC5E5219F1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Lectura del firmware de IMU</a:t>
            </a:r>
          </a:p>
        </p:txBody>
      </p:sp>
      <p:pic>
        <p:nvPicPr>
          <p:cNvPr id="2" name="">
            <a:extLst xmlns:a="http://schemas.openxmlformats.org/drawingml/2006/main">
              <a:ext uri="{FF2B5EF4-FFF2-40B4-BE49-F238E27FC236}">
                <a16:creationId xmlns:a16="http://schemas.microsoft.com/office/drawing/2014/main" id="{C8E53640-D182-4AA6-8EFA-37FA0EACD362}"/>
              </a:ext>
            </a:extLst>
          </p:cNvPr>
          <p:cNvPicPr>
            <a:picLocks xmlns:a="http://schemas.openxmlformats.org/drawingml/2006/main" noChangeAspect="1"/>
          </p:cNvPicPr>
          <p:nvPr/>
        </p:nvPicPr>
        <p:blipFill>
          <a:blip xmlns:r="http://schemas.openxmlformats.org/officeDocument/2006/relationships" xmlns:a="http://schemas.openxmlformats.org/drawingml/2006/main" r:embed="R026c7687b0de483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6B80BA8-CF66-4FE4-B0D5-140C54326DF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13/24</a:t>
            </a:r>
          </a:p>
        </p:txBody>
      </p:sp>
      <p:sp>
        <p:nvSpPr>
          <p:cNvPr id="4" name="">
            <a:extLst xmlns:a="http://schemas.openxmlformats.org/drawingml/2006/main">
              <a:ext uri="{FF2B5EF4-FFF2-40B4-BE49-F238E27FC236}">
                <a16:creationId xmlns:a16="http://schemas.microsoft.com/office/drawing/2014/main" id="{8A2B43FC-70B9-4629-9130-46B16719CA3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proyecto de mouse aéreo aporta una aplicación de velocidad angular. Antes de probar BLE se puede observar cómo cambia gx_rad_s en serie. La radio Bluetooth no está implementada en el simulador ESP32 de Wokwi consultado; la experiencia de mouse requiere hardware y una biblioteca compatible. La existencia del enlace del proyecto no garantiza que ese perfil inalámbrico pueda demostrarse dentro de la simulación.</a:t>
            </a:r>
          </a:p>
        </p:txBody>
      </p:sp>
    </p:spTree>
    <p:extLst>
      <p:ext uri="{BB962C8B-B14F-4D97-AF65-F5344CB8AC3E}">
        <p14:creationId xmlns:p14="http://schemas.microsoft.com/office/powerpoint/2010/main" val="1662563261"/>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D8C3E3-02B5-47CB-94AF-0FC5D109AB9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orientación lenta</a:t>
            </a:r>
          </a:p>
        </p:txBody>
      </p:sp>
      <p:pic>
        <p:nvPicPr>
          <p:cNvPr id="2" name="">
            <a:extLst xmlns:a="http://schemas.openxmlformats.org/drawingml/2006/main">
              <a:ext uri="{FF2B5EF4-FFF2-40B4-BE49-F238E27FC236}">
                <a16:creationId xmlns:a16="http://schemas.microsoft.com/office/drawing/2014/main" id="{37E19E4C-C95F-492A-AD20-2ECAE2587051}"/>
              </a:ext>
            </a:extLst>
          </p:cNvPr>
          <p:cNvPicPr>
            <a:picLocks xmlns:a="http://schemas.openxmlformats.org/drawingml/2006/main" noChangeAspect="1"/>
          </p:cNvPicPr>
          <p:nvPr/>
        </p:nvPicPr>
        <p:blipFill>
          <a:blip xmlns:r="http://schemas.openxmlformats.org/officeDocument/2006/relationships" xmlns:a="http://schemas.openxmlformats.org/drawingml/2006/main" r:embed="R8352437add524bb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6B0D006-8D4C-4FF2-9E78-FC79FFDD474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14/24</a:t>
            </a:r>
          </a:p>
        </p:txBody>
      </p:sp>
      <p:sp>
        <p:nvSpPr>
          <p:cNvPr id="4" name="">
            <a:extLst xmlns:a="http://schemas.openxmlformats.org/drawingml/2006/main">
              <a:ext uri="{FF2B5EF4-FFF2-40B4-BE49-F238E27FC236}">
                <a16:creationId xmlns:a16="http://schemas.microsoft.com/office/drawing/2014/main" id="{23BB9FEF-CFA4-449E-9ED2-1D1EC7BFFD2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modelo de Wokwi permite explorar componentes y verificar conversiones conocidas. En el banco físico se describen el movimiento realizado y la referencia disponible. Una regla o soporte angular puede ayudar a contrastar un caso lento. No se inventa una medida de inclinación exacta cuando el método solo permitió observar el sentido y una variación aproximada.</a:t>
            </a:r>
          </a:p>
        </p:txBody>
      </p:sp>
    </p:spTree>
    <p:extLst>
      <p:ext uri="{BB962C8B-B14F-4D97-AF65-F5344CB8AC3E}">
        <p14:creationId xmlns:p14="http://schemas.microsoft.com/office/powerpoint/2010/main" val="250160693"/>
      </p:ext>
    </p:extLst>
  </p:cSld>
</p:sld>
</file>

<file path=ppt/slides/slide3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91B86F-0D29-46D4-8CE3-A85D4CF1870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390A0582-7D35-4C4A-9AF1-AA127C720010}"/>
              </a:ext>
            </a:extLst>
          </p:cNvPr>
          <p:cNvPicPr>
            <a:picLocks xmlns:a="http://schemas.openxmlformats.org/drawingml/2006/main" noChangeAspect="1"/>
          </p:cNvPicPr>
          <p:nvPr/>
        </p:nvPicPr>
        <p:blipFill>
          <a:blip xmlns:r="http://schemas.openxmlformats.org/officeDocument/2006/relationships" xmlns:a="http://schemas.openxmlformats.org/drawingml/2006/main" r:embed="R69a873889a2349d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0BD6ED-9A57-4AD6-AC95-215645874BA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15/24</a:t>
            </a:r>
          </a:p>
        </p:txBody>
      </p:sp>
      <p:sp>
        <p:nvSpPr>
          <p:cNvPr id="4" name="">
            <a:extLst xmlns:a="http://schemas.openxmlformats.org/drawingml/2006/main">
              <a:ext uri="{FF2B5EF4-FFF2-40B4-BE49-F238E27FC236}">
                <a16:creationId xmlns:a16="http://schemas.microsoft.com/office/drawing/2014/main" id="{1BA51DD3-9069-4471-9795-1771B63AD703}"/>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biblioteca Adafruit devuelve giro en grados/s?</a:t>
            </a:r>
          </a:p>
        </p:txBody>
      </p:sp>
      <p:sp>
        <p:nvSpPr>
          <p:cNvPr id="5" name="">
            <a:extLst xmlns:a="http://schemas.openxmlformats.org/drawingml/2006/main">
              <a:ext uri="{FF2B5EF4-FFF2-40B4-BE49-F238E27FC236}">
                <a16:creationId xmlns:a16="http://schemas.microsoft.com/office/drawing/2014/main" id="{F3B7F928-C066-4D32-8E3D-4F82289023E4}"/>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Contrastar inclinación lenta, movimiento dinámico y aplicación de mouse.</a:t>
            </a:r>
          </a:p>
        </p:txBody>
      </p:sp>
    </p:spTree>
    <p:extLst>
      <p:ext uri="{BB962C8B-B14F-4D97-AF65-F5344CB8AC3E}">
        <p14:creationId xmlns:p14="http://schemas.microsoft.com/office/powerpoint/2010/main" val="639655831"/>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73F600-8005-40D9-AED3-5CEAA34A6C8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orientación lenta</a:t>
            </a:r>
          </a:p>
        </p:txBody>
      </p:sp>
      <p:pic>
        <p:nvPicPr>
          <p:cNvPr id="2" name="">
            <a:extLst xmlns:a="http://schemas.openxmlformats.org/drawingml/2006/main">
              <a:ext uri="{FF2B5EF4-FFF2-40B4-BE49-F238E27FC236}">
                <a16:creationId xmlns:a16="http://schemas.microsoft.com/office/drawing/2014/main" id="{5CFEFD21-7741-4951-93E5-8B87AB347B3B}"/>
              </a:ext>
            </a:extLst>
          </p:cNvPr>
          <p:cNvPicPr>
            <a:picLocks xmlns:a="http://schemas.openxmlformats.org/drawingml/2006/main" noChangeAspect="1"/>
          </p:cNvPicPr>
          <p:nvPr/>
        </p:nvPicPr>
        <p:blipFill>
          <a:blip xmlns:r="http://schemas.openxmlformats.org/officeDocument/2006/relationships" xmlns:a="http://schemas.openxmlformats.org/drawingml/2006/main" r:embed="Rfd699a23a934405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CFABD92-3C36-4D1B-B9D8-D2D37630536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16/24</a:t>
            </a:r>
          </a:p>
        </p:txBody>
      </p:sp>
      <p:sp>
        <p:nvSpPr>
          <p:cNvPr id="4" name="">
            <a:extLst xmlns:a="http://schemas.openxmlformats.org/drawingml/2006/main">
              <a:ext uri="{FF2B5EF4-FFF2-40B4-BE49-F238E27FC236}">
                <a16:creationId xmlns:a16="http://schemas.microsoft.com/office/drawing/2014/main" id="{F601A632-1100-4182-B6B5-F4AA639B0DA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ejes, alimentación y conexiones del módulo utilizado.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En el simulador, reconoce las unidades de los atributos y compáralas con la biblioteca.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Ejecuta c12_imu y conserva un registro de reposo.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Realiza inclinaciones lentas de referencia y comprueba signo y tendencia.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Calcula un caso a mano con atan2 y conserva la convención.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Muestra un movimiento dinámico y explica por qué la interpretación cambia.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Distingue validez de la comunicación de validez de una estimación angular.</a:t>
            </a:r>
          </a:p>
        </p:txBody>
      </p:sp>
    </p:spTree>
    <p:extLst>
      <p:ext uri="{BB962C8B-B14F-4D97-AF65-F5344CB8AC3E}">
        <p14:creationId xmlns:p14="http://schemas.microsoft.com/office/powerpoint/2010/main" val="848887092"/>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31F19F-2D60-4113-B59F-10820629C71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Por qué este bloque precede al mando</a:t>
            </a:r>
          </a:p>
        </p:txBody>
      </p:sp>
      <p:pic>
        <p:nvPicPr>
          <p:cNvPr id="2" name="">
            <a:extLst xmlns:a="http://schemas.openxmlformats.org/drawingml/2006/main">
              <a:ext uri="{FF2B5EF4-FFF2-40B4-BE49-F238E27FC236}">
                <a16:creationId xmlns:a16="http://schemas.microsoft.com/office/drawing/2014/main" id="{B0ADEDCE-3E4D-4F98-B25B-13209DC2528D}"/>
              </a:ext>
            </a:extLst>
          </p:cNvPr>
          <p:cNvPicPr>
            <a:picLocks xmlns:a="http://schemas.openxmlformats.org/drawingml/2006/main" noChangeAspect="1"/>
          </p:cNvPicPr>
          <p:nvPr/>
        </p:nvPicPr>
        <p:blipFill>
          <a:blip xmlns:r="http://schemas.openxmlformats.org/officeDocument/2006/relationships" xmlns:a="http://schemas.openxmlformats.org/drawingml/2006/main" r:embed="R865bc719d46346f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C9F7D6E-D2BC-4135-BCC0-56C952FB186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17/24</a:t>
            </a:r>
          </a:p>
        </p:txBody>
      </p:sp>
      <p:sp>
        <p:nvSpPr>
          <p:cNvPr id="4" name="">
            <a:extLst xmlns:a="http://schemas.openxmlformats.org/drawingml/2006/main">
              <a:ext uri="{FF2B5EF4-FFF2-40B4-BE49-F238E27FC236}">
                <a16:creationId xmlns:a16="http://schemas.microsoft.com/office/drawing/2014/main" id="{4E28EAAF-3AD3-4DAA-8ABE-C59983E7DC8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controlador de la clase siguiente comparará una referencia y una estimación. Si ambas usan escalas o ejes distintos, el error numérico puede tener un significado falso aunque el programa compile. Por eso primero se aprende a leer la IMU. El estudiante debe poder señalar de dónde salió cada número antes de proponer una acción correctiva.</a:t>
            </a:r>
          </a:p>
        </p:txBody>
      </p:sp>
    </p:spTree>
    <p:extLst>
      <p:ext uri="{BB962C8B-B14F-4D97-AF65-F5344CB8AC3E}">
        <p14:creationId xmlns:p14="http://schemas.microsoft.com/office/powerpoint/2010/main" val="1310549940"/>
      </p:ext>
    </p:extLst>
  </p:cSld>
</p:sld>
</file>

<file path=ppt/slides/slide4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9F434B-61E2-4019-8AC7-D44C7DF8AD1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914D4856-540D-402C-8AA9-81BE2D49E163}"/>
              </a:ext>
            </a:extLst>
          </p:cNvPr>
          <p:cNvPicPr>
            <a:picLocks xmlns:a="http://schemas.openxmlformats.org/drawingml/2006/main" noChangeAspect="1"/>
          </p:cNvPicPr>
          <p:nvPr/>
        </p:nvPicPr>
        <p:blipFill>
          <a:blip xmlns:r="http://schemas.openxmlformats.org/officeDocument/2006/relationships" xmlns:a="http://schemas.openxmlformats.org/drawingml/2006/main" r:embed="R8b0b45bef1014a3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25AFB8-41A5-4DAE-8463-BC6620D0980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18/24</a:t>
            </a:r>
          </a:p>
        </p:txBody>
      </p:sp>
      <p:sp>
        <p:nvSpPr>
          <p:cNvPr id="4" name="">
            <a:extLst xmlns:a="http://schemas.openxmlformats.org/drawingml/2006/main">
              <a:ext uri="{FF2B5EF4-FFF2-40B4-BE49-F238E27FC236}">
                <a16:creationId xmlns:a16="http://schemas.microsoft.com/office/drawing/2014/main" id="{E034B4AE-3660-4DD0-9652-FF2BE2514472}"/>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gráfico suave prueba actitud correcta?</a:t>
            </a:r>
          </a:p>
        </p:txBody>
      </p:sp>
      <p:sp>
        <p:nvSpPr>
          <p:cNvPr id="5" name="">
            <a:extLst xmlns:a="http://schemas.openxmlformats.org/drawingml/2006/main">
              <a:ext uri="{FF2B5EF4-FFF2-40B4-BE49-F238E27FC236}">
                <a16:creationId xmlns:a16="http://schemas.microsoft.com/office/drawing/2014/main" id="{08F27CB6-4941-4B23-9E0D-C1605D3C117A}"/>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Investiga cómo se acumula un sesgo pequeño del giróscopo al integrar durante varios segundos. Como caso ideal, 0,5 grados/s sostenidos durante 10 s producen 5 grados de cambio estimado aunque el equipo no haya girado. Relaciona ese cálculo con la necesidad de referencias y calibración. El curso introduce el problema sin convertirlo en una implementación completa de estimación de vuelo.</a:t>
            </a:r>
          </a:p>
        </p:txBody>
      </p:sp>
    </p:spTree>
    <p:extLst>
      <p:ext uri="{BB962C8B-B14F-4D97-AF65-F5344CB8AC3E}">
        <p14:creationId xmlns:p14="http://schemas.microsoft.com/office/powerpoint/2010/main" val="648700852"/>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1BFB9F-EE72-4DB2-B95C-87465D77BF8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Por qué este bloque precede al mando</a:t>
            </a:r>
          </a:p>
        </p:txBody>
      </p:sp>
      <p:pic>
        <p:nvPicPr>
          <p:cNvPr id="2" name="">
            <a:extLst xmlns:a="http://schemas.openxmlformats.org/drawingml/2006/main">
              <a:ext uri="{FF2B5EF4-FFF2-40B4-BE49-F238E27FC236}">
                <a16:creationId xmlns:a16="http://schemas.microsoft.com/office/drawing/2014/main" id="{9C834A68-0EAA-4E21-B489-395F2E2B1AFC}"/>
              </a:ext>
            </a:extLst>
          </p:cNvPr>
          <p:cNvPicPr>
            <a:picLocks xmlns:a="http://schemas.openxmlformats.org/drawingml/2006/main" noChangeAspect="1"/>
          </p:cNvPicPr>
          <p:nvPr/>
        </p:nvPicPr>
        <p:blipFill>
          <a:blip xmlns:r="http://schemas.openxmlformats.org/officeDocument/2006/relationships" xmlns:a="http://schemas.openxmlformats.org/drawingml/2006/main" r:embed="R6e4148eba0e940a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81270B5-D2BD-4749-BDCE-84C0F246C6F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19/24</a:t>
            </a:r>
          </a:p>
        </p:txBody>
      </p:sp>
      <p:pic>
        <p:nvPicPr>
          <p:cNvPr id="4" name="">
            <a:extLst xmlns:a="http://schemas.openxmlformats.org/drawingml/2006/main">
              <a:ext uri="{FF2B5EF4-FFF2-40B4-BE49-F238E27FC236}">
                <a16:creationId xmlns:a16="http://schemas.microsoft.com/office/drawing/2014/main" id="{D9928164-79B3-47E5-9EA5-3C79109D043C}"/>
              </a:ext>
            </a:extLst>
          </p:cNvPr>
          <p:cNvPicPr>
            <a:picLocks xmlns:a="http://schemas.openxmlformats.org/drawingml/2006/main" noChangeAspect="1"/>
          </p:cNvPicPr>
          <p:nvPr/>
        </p:nvPicPr>
        <p:blipFill>
          <a:blip xmlns:r="http://schemas.openxmlformats.org/officeDocument/2006/relationships" xmlns:a="http://schemas.openxmlformats.org/drawingml/2006/main" r:embed="Rd46a7be35be54a6b"/>
          <a:stretch xmlns:a="http://schemas.openxmlformats.org/drawingml/2006/main"/>
        </p:blipFill>
        <p:spPr>
          <a:xfrm xmlns:a="http://schemas.openxmlformats.org/drawingml/2006/main">
            <a:off x="3866590" y="1714500"/>
            <a:ext cx="4458821"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9EF4EDD-1FFD-41C2-A9CC-406632BBF403}"/>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Investiga cómo se acumula un sesgo pequeño del giróscopo al integrar durante varios segundos. Como caso ideal, 0,5 grados/s sostenidos durante 10 s producen 5 grados de cambio estimado aunque el equipo no haya girado. Relaciona ese cálculo con la necesidad de referencias y calibración. El curso introduce el problema sin convertirlo en una implementación completa de estimación de vuelo.</a:t>
            </a:r>
          </a:p>
        </p:txBody>
      </p:sp>
      <p:sp>
        <p:nvSpPr>
          <p:cNvPr id="6" name="">
            <a:extLst xmlns:a="http://schemas.openxmlformats.org/drawingml/2006/main">
              <a:ext uri="{FF2B5EF4-FFF2-40B4-BE49-F238E27FC236}">
                <a16:creationId xmlns:a16="http://schemas.microsoft.com/office/drawing/2014/main" id="{4C03AF56-F7B0-4650-BFF2-149849A5CB2E}"/>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Comparar la norma con una referencia gravitatoria en un ensayo de banco aporta contexto; no constituye por sí solo un detector universal de actitud válida.</a:t>
            </a:r>
          </a:p>
        </p:txBody>
      </p:sp>
    </p:spTree>
    <p:extLst>
      <p:ext uri="{BB962C8B-B14F-4D97-AF65-F5344CB8AC3E}">
        <p14:creationId xmlns:p14="http://schemas.microsoft.com/office/powerpoint/2010/main" val="261628110"/>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1595BC-DCFE-4871-9459-98D7D21ACC2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02305C53-480A-4BEF-9181-24FBE69C7839}"/>
              </a:ext>
            </a:extLst>
          </p:cNvPr>
          <p:cNvPicPr>
            <a:picLocks xmlns:a="http://schemas.openxmlformats.org/drawingml/2006/main" noChangeAspect="1"/>
          </p:cNvPicPr>
          <p:nvPr/>
        </p:nvPicPr>
        <p:blipFill>
          <a:blip xmlns:r="http://schemas.openxmlformats.org/officeDocument/2006/relationships" xmlns:a="http://schemas.openxmlformats.org/drawingml/2006/main" r:embed="R12aa793c6da8454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8552FC-7B51-49DB-A822-3BE77CCB23D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20/24</a:t>
            </a:r>
          </a:p>
        </p:txBody>
      </p:sp>
      <p:sp>
        <p:nvSpPr>
          <p:cNvPr id="4" name="">
            <a:extLst xmlns:a="http://schemas.openxmlformats.org/drawingml/2006/main">
              <a:ext uri="{FF2B5EF4-FFF2-40B4-BE49-F238E27FC236}">
                <a16:creationId xmlns:a16="http://schemas.microsoft.com/office/drawing/2014/main" id="{187BCF7A-C2E2-44F4-A3DD-5FF1A00393B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Presentar acelerómetro y giróscopo como magnitudes diferentes.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Resolver el caso estático de 30° con la convención de ejes.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Comprobar c12_imu y su registro de unidades.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Contrastar inclinación lenta, movimiento dinámico y aplicación de mouse.</a:t>
            </a:r>
          </a:p>
        </p:txBody>
      </p:sp>
    </p:spTree>
    <p:extLst>
      <p:ext uri="{BB962C8B-B14F-4D97-AF65-F5344CB8AC3E}">
        <p14:creationId xmlns:p14="http://schemas.microsoft.com/office/powerpoint/2010/main" val="821443635"/>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3BF952-1574-4BEA-96D8-01A02D382C0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116FD71F-70DE-469A-B7C8-B3B7C52C583F}"/>
              </a:ext>
            </a:extLst>
          </p:cNvPr>
          <p:cNvPicPr>
            <a:picLocks xmlns:a="http://schemas.openxmlformats.org/drawingml/2006/main" noChangeAspect="1"/>
          </p:cNvPicPr>
          <p:nvPr/>
        </p:nvPicPr>
        <p:blipFill>
          <a:blip xmlns:r="http://schemas.openxmlformats.org/officeDocument/2006/relationships" xmlns:a="http://schemas.openxmlformats.org/drawingml/2006/main" r:embed="R3445fe489598417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EF4D383-072D-41C5-BECB-3DCF0B465D9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21/24</a:t>
            </a:r>
          </a:p>
        </p:txBody>
      </p:sp>
      <p:sp>
        <p:nvSpPr>
          <p:cNvPr id="4" name="">
            <a:extLst xmlns:a="http://schemas.openxmlformats.org/drawingml/2006/main">
              <a:ext uri="{FF2B5EF4-FFF2-40B4-BE49-F238E27FC236}">
                <a16:creationId xmlns:a16="http://schemas.microsoft.com/office/drawing/2014/main" id="{55343664-8F0B-430B-8656-A97BDDF37909}"/>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IMU es una entrada esencial para comprender cómo se observa el movimiento de un UAV.</a:t>
            </a:r>
          </a:p>
        </p:txBody>
      </p:sp>
      <p:sp>
        <p:nvSpPr>
          <p:cNvPr id="5" name="">
            <a:extLst xmlns:a="http://schemas.openxmlformats.org/drawingml/2006/main">
              <a:ext uri="{FF2B5EF4-FFF2-40B4-BE49-F238E27FC236}">
                <a16:creationId xmlns:a16="http://schemas.microsoft.com/office/drawing/2014/main" id="{272CF2E5-0EFE-45E0-9CDC-09BF877213A6}"/>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627486259"/>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16D28D-1C9F-43CC-AE6E-9671C812760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4AE7B706-45CC-4A6C-A5E9-D330F6FBD4C9}"/>
              </a:ext>
            </a:extLst>
          </p:cNvPr>
          <p:cNvPicPr>
            <a:picLocks xmlns:a="http://schemas.openxmlformats.org/drawingml/2006/main" noChangeAspect="1"/>
          </p:cNvPicPr>
          <p:nvPr/>
        </p:nvPicPr>
        <p:blipFill>
          <a:blip xmlns:r="http://schemas.openxmlformats.org/officeDocument/2006/relationships" xmlns:a="http://schemas.openxmlformats.org/drawingml/2006/main" r:embed="R04a087d72c994d8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FA9A3D-4436-4C0A-BBA8-9642D6C334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22/24</a:t>
            </a:r>
          </a:p>
        </p:txBody>
      </p:sp>
      <p:sp>
        <p:nvSpPr>
          <p:cNvPr id="4" name="">
            <a:extLst xmlns:a="http://schemas.openxmlformats.org/drawingml/2006/main">
              <a:ext uri="{FF2B5EF4-FFF2-40B4-BE49-F238E27FC236}">
                <a16:creationId xmlns:a16="http://schemas.microsoft.com/office/drawing/2014/main" id="{20E58051-0796-476C-8743-D6676A5BAFF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¿Seis ejes equivalen a seis ángulos directos?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¿La biblioteca Adafruit devuelve giro en grados/s?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¿Un gráfico suave prueba actitud correcta?</a:t>
            </a:r>
          </a:p>
        </p:txBody>
      </p:sp>
    </p:spTree>
    <p:extLst>
      <p:ext uri="{BB962C8B-B14F-4D97-AF65-F5344CB8AC3E}">
        <p14:creationId xmlns:p14="http://schemas.microsoft.com/office/powerpoint/2010/main" val="348166658"/>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AF5A1F-31FA-4991-9373-5B011814FCB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C1CA15E3-229B-4738-9FC6-BB8544F44441}"/>
              </a:ext>
            </a:extLst>
          </p:cNvPr>
          <p:cNvPicPr>
            <a:picLocks xmlns:a="http://schemas.openxmlformats.org/drawingml/2006/main" noChangeAspect="1"/>
          </p:cNvPicPr>
          <p:nvPr/>
        </p:nvPicPr>
        <p:blipFill>
          <a:blip xmlns:r="http://schemas.openxmlformats.org/officeDocument/2006/relationships" xmlns:a="http://schemas.openxmlformats.org/drawingml/2006/main" r:embed="R16bf2347fbf8448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C3F590F-BA2A-4A44-90D2-C35DB23694B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6   CLASE 12   23/24</a:t>
            </a:r>
          </a:p>
        </p:txBody>
      </p:sp>
      <p:sp>
        <p:nvSpPr>
          <p:cNvPr id="4" name="">
            <a:extLst xmlns:a="http://schemas.openxmlformats.org/drawingml/2006/main">
              <a:ext uri="{FF2B5EF4-FFF2-40B4-BE49-F238E27FC236}">
                <a16:creationId xmlns:a16="http://schemas.microsoft.com/office/drawing/2014/main" id="{BDB9D4D4-7E5F-49FF-A0E7-6211E07469C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Son componentes de aceleración y velocidad angular.</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En el evento utilizado devuelve rad/s; se convierte explícitamente si hace falta otra unidad.</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Hay que revisar hipótesis, ejes, movimiento y referencia.</a:t>
            </a:r>
          </a:p>
        </p:txBody>
      </p:sp>
    </p:spTree>
    <p:extLst>
      <p:ext uri="{BB962C8B-B14F-4D97-AF65-F5344CB8AC3E}">
        <p14:creationId xmlns:p14="http://schemas.microsoft.com/office/powerpoint/2010/main" val="676161587"/>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D66E55-902C-4BAF-A291-2A0D55E3D60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0CB7F763-0AA5-4263-985D-9305320BD796}"/>
              </a:ext>
            </a:extLst>
          </p:cNvPr>
          <p:cNvPicPr>
            <a:picLocks xmlns:a="http://schemas.openxmlformats.org/drawingml/2006/main" noChangeAspect="1"/>
          </p:cNvPicPr>
          <p:nvPr/>
        </p:nvPicPr>
        <p:blipFill>
          <a:blip xmlns:r="http://schemas.openxmlformats.org/officeDocument/2006/relationships" xmlns:a="http://schemas.openxmlformats.org/drawingml/2006/main" r:embed="R53ea84284041452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634AC1B-AB3B-4CDA-ABD3-67A38B41061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6   CLASE 12   24/24</a:t>
            </a:r>
          </a:p>
        </p:txBody>
      </p:sp>
      <p:sp>
        <p:nvSpPr>
          <p:cNvPr id="4" name="">
            <a:extLst xmlns:a="http://schemas.openxmlformats.org/drawingml/2006/main">
              <a:ext uri="{FF2B5EF4-FFF2-40B4-BE49-F238E27FC236}">
                <a16:creationId xmlns:a16="http://schemas.microsoft.com/office/drawing/2014/main" id="{17225BD3-CC9C-4432-AB74-17FE0CDD58CB}"/>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Registro de reposo e inclinación, caso atan2 y convención de unidades.</a:t>
            </a:r>
          </a:p>
        </p:txBody>
      </p:sp>
      <p:sp>
        <p:nvSpPr>
          <p:cNvPr id="5" name="">
            <a:extLst xmlns:a="http://schemas.openxmlformats.org/drawingml/2006/main">
              <a:ext uri="{FF2B5EF4-FFF2-40B4-BE49-F238E27FC236}">
                <a16:creationId xmlns:a16="http://schemas.microsoft.com/office/drawing/2014/main" id="{3C9C1BBC-BC7D-483C-A9E3-F60207018711}"/>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9512284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2026-10-22T20:13:16.8880000Z</dcterms:created>
  <dcterms:modified xsi:type="dcterms:W3CDTF">2026-10-22T20:13:16.8880000Z</dcterms:modified>
</coreProperties>
</file>