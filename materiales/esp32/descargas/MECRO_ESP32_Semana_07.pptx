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3f59e4163d4edc" /><Relationship Type="http://schemas.openxmlformats.org/officeDocument/2006/relationships/extended-properties" Target="/docProps/app.xml" Id="R843a057f8d5646ef" /><Relationship Type="http://schemas.openxmlformats.org/officeDocument/2006/relationships/officeDocument" Target="/ppt/presentation.xml" Id="Ra6ae27c6ca4f47eb" /></Relationships>
</file>

<file path=ppt/presentation.xml><?xml version="1.0" encoding="utf-8"?>
<p:presentation xmlns:p="http://schemas.openxmlformats.org/presentationml/2006/main">
  <p:sldMasterIdLst>
    <p:sldMasterId xmlns:r="http://schemas.openxmlformats.org/officeDocument/2006/relationships" id="2147483648" r:id="R312932dab66e4b5f"/>
  </p:sldMasterIdLst>
  <p:notesMasterIdLst>
    <p:notesMasterId xmlns:r="http://schemas.openxmlformats.org/officeDocument/2006/relationships" r:id="R215d7f38230d44f8"/>
  </p:notesMasterIdLst>
  <p:sldIdLst>
    <p:sldId xmlns:r="http://schemas.openxmlformats.org/officeDocument/2006/relationships" id="256" r:id="R198d4cef51fc4047"/>
    <p:sldId xmlns:r="http://schemas.openxmlformats.org/officeDocument/2006/relationships" id="257" r:id="R5a6c3bd3fa814c66"/>
    <p:sldId xmlns:r="http://schemas.openxmlformats.org/officeDocument/2006/relationships" id="258" r:id="Re704fe1f392845d0"/>
    <p:sldId xmlns:r="http://schemas.openxmlformats.org/officeDocument/2006/relationships" id="259" r:id="Ra161d43a0f434524"/>
    <p:sldId xmlns:r="http://schemas.openxmlformats.org/officeDocument/2006/relationships" id="260" r:id="R1d3f3bc72e464264"/>
    <p:sldId xmlns:r="http://schemas.openxmlformats.org/officeDocument/2006/relationships" id="261" r:id="Rebec27a78f6a49f1"/>
    <p:sldId xmlns:r="http://schemas.openxmlformats.org/officeDocument/2006/relationships" id="262" r:id="Rdaa1d88d0b924b0e"/>
    <p:sldId xmlns:r="http://schemas.openxmlformats.org/officeDocument/2006/relationships" id="263" r:id="Rf77ee2d105824c82"/>
    <p:sldId xmlns:r="http://schemas.openxmlformats.org/officeDocument/2006/relationships" id="264" r:id="R7e8a2755786742cc"/>
    <p:sldId xmlns:r="http://schemas.openxmlformats.org/officeDocument/2006/relationships" id="265" r:id="R37f12a45b6444366"/>
    <p:sldId xmlns:r="http://schemas.openxmlformats.org/officeDocument/2006/relationships" id="266" r:id="Rdb7384aa8d154414"/>
    <p:sldId xmlns:r="http://schemas.openxmlformats.org/officeDocument/2006/relationships" id="267" r:id="R05855aedf2274bc3"/>
    <p:sldId xmlns:r="http://schemas.openxmlformats.org/officeDocument/2006/relationships" id="268" r:id="R55c72eb7b2144316"/>
    <p:sldId xmlns:r="http://schemas.openxmlformats.org/officeDocument/2006/relationships" id="269" r:id="Rcc1453cf19ec4e18"/>
    <p:sldId xmlns:r="http://schemas.openxmlformats.org/officeDocument/2006/relationships" id="270" r:id="R5bc4d6141f974829"/>
    <p:sldId xmlns:r="http://schemas.openxmlformats.org/officeDocument/2006/relationships" id="271" r:id="R24e02f8acc2e49da"/>
    <p:sldId xmlns:r="http://schemas.openxmlformats.org/officeDocument/2006/relationships" id="272" r:id="R32d70be6d5cc49e8"/>
    <p:sldId xmlns:r="http://schemas.openxmlformats.org/officeDocument/2006/relationships" id="273" r:id="R937451de5d58441c"/>
    <p:sldId xmlns:r="http://schemas.openxmlformats.org/officeDocument/2006/relationships" id="274" r:id="Rf7a3adc40fd04904"/>
    <p:sldId xmlns:r="http://schemas.openxmlformats.org/officeDocument/2006/relationships" id="275" r:id="R257ff4d7f5c3466e"/>
    <p:sldId xmlns:r="http://schemas.openxmlformats.org/officeDocument/2006/relationships" id="276" r:id="Rda77437b05244254"/>
    <p:sldId xmlns:r="http://schemas.openxmlformats.org/officeDocument/2006/relationships" id="277" r:id="R2fc4376995f24b3d"/>
    <p:sldId xmlns:r="http://schemas.openxmlformats.org/officeDocument/2006/relationships" id="278" r:id="Rc46de51a25fc445c"/>
    <p:sldId xmlns:r="http://schemas.openxmlformats.org/officeDocument/2006/relationships" id="279" r:id="R1c26632c47744031"/>
    <p:sldId xmlns:r="http://schemas.openxmlformats.org/officeDocument/2006/relationships" id="280" r:id="R8c16db6fbea34a2e"/>
    <p:sldId xmlns:r="http://schemas.openxmlformats.org/officeDocument/2006/relationships" id="281" r:id="R85814d74d65d40e0"/>
    <p:sldId xmlns:r="http://schemas.openxmlformats.org/officeDocument/2006/relationships" id="282" r:id="R8eaf0e121bdc4937"/>
    <p:sldId xmlns:r="http://schemas.openxmlformats.org/officeDocument/2006/relationships" id="283" r:id="R5572b08db2fe467b"/>
    <p:sldId xmlns:r="http://schemas.openxmlformats.org/officeDocument/2006/relationships" id="284" r:id="R92be71bff0144c3e"/>
    <p:sldId xmlns:r="http://schemas.openxmlformats.org/officeDocument/2006/relationships" id="285" r:id="R154e81f8787c43ee"/>
    <p:sldId xmlns:r="http://schemas.openxmlformats.org/officeDocument/2006/relationships" id="286" r:id="R22c33efe18184a58"/>
    <p:sldId xmlns:r="http://schemas.openxmlformats.org/officeDocument/2006/relationships" id="287" r:id="Rb7ce18f65b0245a4"/>
    <p:sldId xmlns:r="http://schemas.openxmlformats.org/officeDocument/2006/relationships" id="288" r:id="R27374c0b3de24627"/>
    <p:sldId xmlns:r="http://schemas.openxmlformats.org/officeDocument/2006/relationships" id="289" r:id="R6251e48bc00c48d2"/>
    <p:sldId xmlns:r="http://schemas.openxmlformats.org/officeDocument/2006/relationships" id="290" r:id="Re12741d8d9fd4107"/>
    <p:sldId xmlns:r="http://schemas.openxmlformats.org/officeDocument/2006/relationships" id="291" r:id="R091fa1f58fc54436"/>
    <p:sldId xmlns:r="http://schemas.openxmlformats.org/officeDocument/2006/relationships" id="292" r:id="R92da1ab5f7d240d0"/>
    <p:sldId xmlns:r="http://schemas.openxmlformats.org/officeDocument/2006/relationships" id="293" r:id="R46a75564dd104435"/>
    <p:sldId xmlns:r="http://schemas.openxmlformats.org/officeDocument/2006/relationships" id="294" r:id="Rcefa0468c8874b0a"/>
    <p:sldId xmlns:r="http://schemas.openxmlformats.org/officeDocument/2006/relationships" id="295" r:id="Rb7aee5e42d334988"/>
    <p:sldId xmlns:r="http://schemas.openxmlformats.org/officeDocument/2006/relationships" id="296" r:id="Rf5a483d64ccf47b2"/>
    <p:sldId xmlns:r="http://schemas.openxmlformats.org/officeDocument/2006/relationships" id="297" r:id="R5c10e5a009584fc3"/>
    <p:sldId xmlns:r="http://schemas.openxmlformats.org/officeDocument/2006/relationships" id="298" r:id="R0b5a98bfd97042db"/>
    <p:sldId xmlns:r="http://schemas.openxmlformats.org/officeDocument/2006/relationships" id="299" r:id="R39f1f6711893482e"/>
    <p:sldId xmlns:r="http://schemas.openxmlformats.org/officeDocument/2006/relationships" id="300" r:id="R200b8070e51b44dd"/>
    <p:sldId xmlns:r="http://schemas.openxmlformats.org/officeDocument/2006/relationships" id="301" r:id="R4508c9533d804659"/>
    <p:sldId xmlns:r="http://schemas.openxmlformats.org/officeDocument/2006/relationships" id="302" r:id="Rea6d766b09ba40b7"/>
    <p:sldId xmlns:r="http://schemas.openxmlformats.org/officeDocument/2006/relationships" id="303" r:id="R20dd7fe25e294f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08a0fbf43d47ac" /><Relationship Type="http://schemas.openxmlformats.org/officeDocument/2006/relationships/slideMaster" Target="/ppt/slideMasters/slideMaster1.xml" Id="R312932dab66e4b5f" /><Relationship Type="http://schemas.openxmlformats.org/officeDocument/2006/relationships/notesMaster" Target="/ppt/notesMasters/notesMaster1.xml" Id="R215d7f38230d44f8" /><Relationship Type="http://schemas.openxmlformats.org/officeDocument/2006/relationships/presProps" Target="/ppt/presProps.xml" Id="R7e36250573574b0b" /><Relationship Type="http://schemas.openxmlformats.org/officeDocument/2006/relationships/tableStyles" Target="/ppt/tableStyles.xml" Id="R9c4a7652de33425d" /><Relationship Type="http://schemas.openxmlformats.org/officeDocument/2006/relationships/slide" Target="/ppt/slides/slide1.xml" Id="R198d4cef51fc4047" /><Relationship Type="http://schemas.openxmlformats.org/officeDocument/2006/relationships/slide" Target="/ppt/slides/slide2.xml" Id="R5a6c3bd3fa814c66" /><Relationship Type="http://schemas.openxmlformats.org/officeDocument/2006/relationships/slide" Target="/ppt/slides/slide3.xml" Id="Re704fe1f392845d0" /><Relationship Type="http://schemas.openxmlformats.org/officeDocument/2006/relationships/slide" Target="/ppt/slides/slide4.xml" Id="Ra161d43a0f434524" /><Relationship Type="http://schemas.openxmlformats.org/officeDocument/2006/relationships/slide" Target="/ppt/slides/slide5.xml" Id="R1d3f3bc72e464264" /><Relationship Type="http://schemas.openxmlformats.org/officeDocument/2006/relationships/slide" Target="/ppt/slides/slide6.xml" Id="Rebec27a78f6a49f1" /><Relationship Type="http://schemas.openxmlformats.org/officeDocument/2006/relationships/slide" Target="/ppt/slides/slide7.xml" Id="Rdaa1d88d0b924b0e" /><Relationship Type="http://schemas.openxmlformats.org/officeDocument/2006/relationships/slide" Target="/ppt/slides/slide8.xml" Id="Rf77ee2d105824c82" /><Relationship Type="http://schemas.openxmlformats.org/officeDocument/2006/relationships/slide" Target="/ppt/slides/slide9.xml" Id="R7e8a2755786742cc" /><Relationship Type="http://schemas.openxmlformats.org/officeDocument/2006/relationships/slide" Target="/ppt/slides/slide10.xml" Id="R37f12a45b6444366" /><Relationship Type="http://schemas.openxmlformats.org/officeDocument/2006/relationships/slide" Target="/ppt/slides/slide11.xml" Id="Rdb7384aa8d154414" /><Relationship Type="http://schemas.openxmlformats.org/officeDocument/2006/relationships/slide" Target="/ppt/slides/slide12.xml" Id="R05855aedf2274bc3" /><Relationship Type="http://schemas.openxmlformats.org/officeDocument/2006/relationships/slide" Target="/ppt/slides/slide13.xml" Id="R55c72eb7b2144316" /><Relationship Type="http://schemas.openxmlformats.org/officeDocument/2006/relationships/slide" Target="/ppt/slides/slide14.xml" Id="Rcc1453cf19ec4e18" /><Relationship Type="http://schemas.openxmlformats.org/officeDocument/2006/relationships/slide" Target="/ppt/slides/slide15.xml" Id="R5bc4d6141f974829" /><Relationship Type="http://schemas.openxmlformats.org/officeDocument/2006/relationships/slide" Target="/ppt/slides/slide16.xml" Id="R24e02f8acc2e49da" /><Relationship Type="http://schemas.openxmlformats.org/officeDocument/2006/relationships/slide" Target="/ppt/slides/slide17.xml" Id="R32d70be6d5cc49e8" /><Relationship Type="http://schemas.openxmlformats.org/officeDocument/2006/relationships/slide" Target="/ppt/slides/slide18.xml" Id="R937451de5d58441c" /><Relationship Type="http://schemas.openxmlformats.org/officeDocument/2006/relationships/slide" Target="/ppt/slides/slide19.xml" Id="Rf7a3adc40fd04904" /><Relationship Type="http://schemas.openxmlformats.org/officeDocument/2006/relationships/slide" Target="/ppt/slides/slide20.xml" Id="R257ff4d7f5c3466e" /><Relationship Type="http://schemas.openxmlformats.org/officeDocument/2006/relationships/slide" Target="/ppt/slides/slide21.xml" Id="Rda77437b05244254" /><Relationship Type="http://schemas.openxmlformats.org/officeDocument/2006/relationships/slide" Target="/ppt/slides/slide22.xml" Id="R2fc4376995f24b3d" /><Relationship Type="http://schemas.openxmlformats.org/officeDocument/2006/relationships/slide" Target="/ppt/slides/slide23.xml" Id="Rc46de51a25fc445c" /><Relationship Type="http://schemas.openxmlformats.org/officeDocument/2006/relationships/slide" Target="/ppt/slides/slide24.xml" Id="R1c26632c47744031" /><Relationship Type="http://schemas.openxmlformats.org/officeDocument/2006/relationships/slide" Target="/ppt/slides/slide25.xml" Id="R8c16db6fbea34a2e" /><Relationship Type="http://schemas.openxmlformats.org/officeDocument/2006/relationships/slide" Target="/ppt/slides/slide26.xml" Id="R85814d74d65d40e0" /><Relationship Type="http://schemas.openxmlformats.org/officeDocument/2006/relationships/slide" Target="/ppt/slides/slide27.xml" Id="R8eaf0e121bdc4937" /><Relationship Type="http://schemas.openxmlformats.org/officeDocument/2006/relationships/slide" Target="/ppt/slides/slide28.xml" Id="R5572b08db2fe467b" /><Relationship Type="http://schemas.openxmlformats.org/officeDocument/2006/relationships/slide" Target="/ppt/slides/slide29.xml" Id="R92be71bff0144c3e" /><Relationship Type="http://schemas.openxmlformats.org/officeDocument/2006/relationships/slide" Target="/ppt/slides/slide30.xml" Id="R154e81f8787c43ee" /><Relationship Type="http://schemas.openxmlformats.org/officeDocument/2006/relationships/slide" Target="/ppt/slides/slide31.xml" Id="R22c33efe18184a58" /><Relationship Type="http://schemas.openxmlformats.org/officeDocument/2006/relationships/slide" Target="/ppt/slides/slide32.xml" Id="Rb7ce18f65b0245a4" /><Relationship Type="http://schemas.openxmlformats.org/officeDocument/2006/relationships/slide" Target="/ppt/slides/slide33.xml" Id="R27374c0b3de24627" /><Relationship Type="http://schemas.openxmlformats.org/officeDocument/2006/relationships/slide" Target="/ppt/slides/slide34.xml" Id="R6251e48bc00c48d2" /><Relationship Type="http://schemas.openxmlformats.org/officeDocument/2006/relationships/slide" Target="/ppt/slides/slide35.xml" Id="Re12741d8d9fd4107" /><Relationship Type="http://schemas.openxmlformats.org/officeDocument/2006/relationships/slide" Target="/ppt/slides/slide36.xml" Id="R091fa1f58fc54436" /><Relationship Type="http://schemas.openxmlformats.org/officeDocument/2006/relationships/slide" Target="/ppt/slides/slide37.xml" Id="R92da1ab5f7d240d0" /><Relationship Type="http://schemas.openxmlformats.org/officeDocument/2006/relationships/slide" Target="/ppt/slides/slide38.xml" Id="R46a75564dd104435" /><Relationship Type="http://schemas.openxmlformats.org/officeDocument/2006/relationships/slide" Target="/ppt/slides/slide39.xml" Id="Rcefa0468c8874b0a" /><Relationship Type="http://schemas.openxmlformats.org/officeDocument/2006/relationships/slide" Target="/ppt/slides/slide40.xml" Id="Rb7aee5e42d334988" /><Relationship Type="http://schemas.openxmlformats.org/officeDocument/2006/relationships/slide" Target="/ppt/slides/slide41.xml" Id="Rf5a483d64ccf47b2" /><Relationship Type="http://schemas.openxmlformats.org/officeDocument/2006/relationships/slide" Target="/ppt/slides/slide42.xml" Id="R5c10e5a009584fc3" /><Relationship Type="http://schemas.openxmlformats.org/officeDocument/2006/relationships/slide" Target="/ppt/slides/slide43.xml" Id="R0b5a98bfd97042db" /><Relationship Type="http://schemas.openxmlformats.org/officeDocument/2006/relationships/slide" Target="/ppt/slides/slide44.xml" Id="R39f1f6711893482e" /><Relationship Type="http://schemas.openxmlformats.org/officeDocument/2006/relationships/slide" Target="/ppt/slides/slide45.xml" Id="R200b8070e51b44dd" /><Relationship Type="http://schemas.openxmlformats.org/officeDocument/2006/relationships/slide" Target="/ppt/slides/slide46.xml" Id="R4508c9533d804659" /><Relationship Type="http://schemas.openxmlformats.org/officeDocument/2006/relationships/slide" Target="/ppt/slides/slide47.xml" Id="Rea6d766b09ba40b7" /><Relationship Type="http://schemas.openxmlformats.org/officeDocument/2006/relationships/slide" Target="/ppt/slides/slide48.xml" Id="R20dd7fe25e294f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2220a5bdee43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5890380aef4ab1" /><Relationship Type="http://schemas.openxmlformats.org/officeDocument/2006/relationships/notesMaster" Target="/ppt/notesMasters/notesMaster1.xml" Id="Rcdb60873252e46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4d34c8115a4c9b" /><Relationship Type="http://schemas.openxmlformats.org/officeDocument/2006/relationships/notesMaster" Target="/ppt/notesMasters/notesMaster1.xml" Id="R10abbc66875541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6df43ee0a546f8" /><Relationship Type="http://schemas.openxmlformats.org/officeDocument/2006/relationships/notesMaster" Target="/ppt/notesMasters/notesMaster1.xml" Id="Rdec69f0042a24f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6c6bc897674896" /><Relationship Type="http://schemas.openxmlformats.org/officeDocument/2006/relationships/notesMaster" Target="/ppt/notesMasters/notesMaster1.xml" Id="R7e9ff402327e45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1f913095b5443f" /><Relationship Type="http://schemas.openxmlformats.org/officeDocument/2006/relationships/notesMaster" Target="/ppt/notesMasters/notesMaster1.xml" Id="Rae223cc36e364d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52024eb63b4dc5" /><Relationship Type="http://schemas.openxmlformats.org/officeDocument/2006/relationships/notesMaster" Target="/ppt/notesMasters/notesMaster1.xml" Id="Ra6f4a2f4ef5842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6260cdf47d4a88" /><Relationship Type="http://schemas.openxmlformats.org/officeDocument/2006/relationships/notesMaster" Target="/ppt/notesMasters/notesMaster1.xml" Id="Rac13677461cf40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b58d7987f14c7e" /><Relationship Type="http://schemas.openxmlformats.org/officeDocument/2006/relationships/notesMaster" Target="/ppt/notesMasters/notesMaster1.xml" Id="R40f3fdd2b2aa42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4a5dae300f46a8" /><Relationship Type="http://schemas.openxmlformats.org/officeDocument/2006/relationships/notesMaster" Target="/ppt/notesMasters/notesMaster1.xml" Id="Rb22f7199785848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c84413064a4216" /><Relationship Type="http://schemas.openxmlformats.org/officeDocument/2006/relationships/notesMaster" Target="/ppt/notesMasters/notesMaster1.xml" Id="R54806e4b839e4f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c3d7946fb0489a" /><Relationship Type="http://schemas.openxmlformats.org/officeDocument/2006/relationships/notesMaster" Target="/ppt/notesMasters/notesMaster1.xml" Id="Rf0186ee80cdb4b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36fafcb3c54a6b" /><Relationship Type="http://schemas.openxmlformats.org/officeDocument/2006/relationships/notesMaster" Target="/ppt/notesMasters/notesMaster1.xml" Id="R477ed11d4df14d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b2686514cc444c" /><Relationship Type="http://schemas.openxmlformats.org/officeDocument/2006/relationships/notesMaster" Target="/ppt/notesMasters/notesMaster1.xml" Id="R94781f22bfaf47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8edb5fdc3748b2" /><Relationship Type="http://schemas.openxmlformats.org/officeDocument/2006/relationships/notesMaster" Target="/ppt/notesMasters/notesMaster1.xml" Id="R89b6fd8423fd44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2b2e3fdba74cb7" /><Relationship Type="http://schemas.openxmlformats.org/officeDocument/2006/relationships/notesMaster" Target="/ppt/notesMasters/notesMaster1.xml" Id="R25733c2a8ae34f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226e9d683f4c94" /><Relationship Type="http://schemas.openxmlformats.org/officeDocument/2006/relationships/notesMaster" Target="/ppt/notesMasters/notesMaster1.xml" Id="R88cd3a1dfc334f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28d534abbd4b20" /><Relationship Type="http://schemas.openxmlformats.org/officeDocument/2006/relationships/notesMaster" Target="/ppt/notesMasters/notesMaster1.xml" Id="Rf5f801f960fb42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6f25b0ca7e4f4a" /><Relationship Type="http://schemas.openxmlformats.org/officeDocument/2006/relationships/notesMaster" Target="/ppt/notesMasters/notesMaster1.xml" Id="Rf87b9e71ea4947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9ec73eec47549a3" /><Relationship Type="http://schemas.openxmlformats.org/officeDocument/2006/relationships/notesMaster" Target="/ppt/notesMasters/notesMaster1.xml" Id="Rfe85d785139648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4c181315114bab" /><Relationship Type="http://schemas.openxmlformats.org/officeDocument/2006/relationships/notesMaster" Target="/ppt/notesMasters/notesMaster1.xml" Id="R8b06c6971e3c43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ffdaef708f4137" /><Relationship Type="http://schemas.openxmlformats.org/officeDocument/2006/relationships/notesMaster" Target="/ppt/notesMasters/notesMaster1.xml" Id="Rca443874c6ee4b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99bfc0ab704a3f" /><Relationship Type="http://schemas.openxmlformats.org/officeDocument/2006/relationships/notesMaster" Target="/ppt/notesMasters/notesMaster1.xml" Id="R13aba43eca7f4f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431bdeb5734104" /><Relationship Type="http://schemas.openxmlformats.org/officeDocument/2006/relationships/notesMaster" Target="/ppt/notesMasters/notesMaster1.xml" Id="R17964e9719ab4e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1ce5d0e40a4a4c" /><Relationship Type="http://schemas.openxmlformats.org/officeDocument/2006/relationships/notesMaster" Target="/ppt/notesMasters/notesMaster1.xml" Id="Rfb778e66849840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1edada1a964a5c" /><Relationship Type="http://schemas.openxmlformats.org/officeDocument/2006/relationships/notesMaster" Target="/ppt/notesMasters/notesMaster1.xml" Id="R17c7adf3892e43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ba51efad464b9a" /><Relationship Type="http://schemas.openxmlformats.org/officeDocument/2006/relationships/notesMaster" Target="/ppt/notesMasters/notesMaster1.xml" Id="R49d43fb5788040a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1bda3212684c7f" /><Relationship Type="http://schemas.openxmlformats.org/officeDocument/2006/relationships/notesMaster" Target="/ppt/notesMasters/notesMaster1.xml" Id="R6c903d84d7a3425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396b5170bc4485" /><Relationship Type="http://schemas.openxmlformats.org/officeDocument/2006/relationships/notesMaster" Target="/ppt/notesMasters/notesMaster1.xml" Id="Ra8e5fa76fd2f48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6e012c34804d56" /><Relationship Type="http://schemas.openxmlformats.org/officeDocument/2006/relationships/notesMaster" Target="/ppt/notesMasters/notesMaster1.xml" Id="Re8a5c73e57f74f5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9ea7dd2bd54e10" /><Relationship Type="http://schemas.openxmlformats.org/officeDocument/2006/relationships/notesMaster" Target="/ppt/notesMasters/notesMaster1.xml" Id="Rd8cbe8b68e4844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ee3690819ab470d" /><Relationship Type="http://schemas.openxmlformats.org/officeDocument/2006/relationships/notesMaster" Target="/ppt/notesMasters/notesMaster1.xml" Id="R3153b9c25ebc4a1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aa394458e84566" /><Relationship Type="http://schemas.openxmlformats.org/officeDocument/2006/relationships/notesMaster" Target="/ppt/notesMasters/notesMaster1.xml" Id="R10ad3822404245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95a226c65547f2" /><Relationship Type="http://schemas.openxmlformats.org/officeDocument/2006/relationships/notesMaster" Target="/ppt/notesMasters/notesMaster1.xml" Id="Rad0fe95b54ac4f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384f45306ae4397" /><Relationship Type="http://schemas.openxmlformats.org/officeDocument/2006/relationships/notesMaster" Target="/ppt/notesMasters/notesMaster1.xml" Id="R28e92e8da36c481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df336f19ae94a38" /><Relationship Type="http://schemas.openxmlformats.org/officeDocument/2006/relationships/notesMaster" Target="/ppt/notesMasters/notesMaster1.xml" Id="R0d7580cd1202496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51e9260ba3a4c8f" /><Relationship Type="http://schemas.openxmlformats.org/officeDocument/2006/relationships/notesMaster" Target="/ppt/notesMasters/notesMaster1.xml" Id="R8117121997ad49d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bae22dd7b42447d" /><Relationship Type="http://schemas.openxmlformats.org/officeDocument/2006/relationships/notesMaster" Target="/ppt/notesMasters/notesMaster1.xml" Id="R5d9722a8e1214a5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ac8ca2d5aea47db" /><Relationship Type="http://schemas.openxmlformats.org/officeDocument/2006/relationships/notesMaster" Target="/ppt/notesMasters/notesMaster1.xml" Id="R3f7d0eb18f294b9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2e374b4778b4bc3" /><Relationship Type="http://schemas.openxmlformats.org/officeDocument/2006/relationships/notesMaster" Target="/ppt/notesMasters/notesMaster1.xml" Id="R807e1213be41452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e9726486b04d8b" /><Relationship Type="http://schemas.openxmlformats.org/officeDocument/2006/relationships/notesMaster" Target="/ppt/notesMasters/notesMaster1.xml" Id="Ra6af043dbc9c427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c9b8cc318a544c2" /><Relationship Type="http://schemas.openxmlformats.org/officeDocument/2006/relationships/notesMaster" Target="/ppt/notesMasters/notesMaster1.xml" Id="R12815f23e79d400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1147c1c49cb4eba" /><Relationship Type="http://schemas.openxmlformats.org/officeDocument/2006/relationships/notesMaster" Target="/ppt/notesMasters/notesMaster1.xml" Id="Ree2283930fff42e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89575988621490e" /><Relationship Type="http://schemas.openxmlformats.org/officeDocument/2006/relationships/notesMaster" Target="/ppt/notesMasters/notesMaster1.xml" Id="Rb7a735c6561b4e5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cfa8fbf40e24e78" /><Relationship Type="http://schemas.openxmlformats.org/officeDocument/2006/relationships/notesMaster" Target="/ppt/notesMasters/notesMaster1.xml" Id="R227b9962b8984e2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57ce830dae242c8" /><Relationship Type="http://schemas.openxmlformats.org/officeDocument/2006/relationships/notesMaster" Target="/ppt/notesMasters/notesMaster1.xml" Id="R91b12ae6440e43c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eb10cf4bcf64875" /><Relationship Type="http://schemas.openxmlformats.org/officeDocument/2006/relationships/notesMaster" Target="/ppt/notesMasters/notesMaster1.xml" Id="R6fba71a7720041f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de9d562a62742f9" /><Relationship Type="http://schemas.openxmlformats.org/officeDocument/2006/relationships/notesMaster" Target="/ppt/notesMasters/notesMaster1.xml" Id="R671cb92b3deb403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091116b1f1e498d" /><Relationship Type="http://schemas.openxmlformats.org/officeDocument/2006/relationships/notesMaster" Target="/ppt/notesMasters/notesMaster1.xml" Id="Rbbc93dce18ab43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joystick e IMU como dos entradas con funciones distintas.</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El proyecto 17 del laboratorio lee joystick e IMU, calcula una corrección proporcional y muestra números en serie. Es una buena oportunidad para conectar varias ideas del curso, siempre que su nombre y su alcance se expliquen con precisión. La edición docente lo presenta como “Mando e IMU: demostración proporcional de banco”. Las variables impresas como salidas no son una prueba de actuación sobre motores ni una validación de vuelo.</a:t>
            </a:r>
          </a:p>
          <a:p xmlns:a="http://schemas.openxmlformats.org/drawingml/2006/main">
            <a:r>
              <a:t/>
            </a:r>
          </a:p>
          <a:p xmlns:a="http://schemas.openxmlformats.org/drawingml/2006/main">
            <a:r>
              <a:t>MECRO, proyecto 17.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Primero se separan tres bloques. El mando humano produce una referencia. La medición y su procesamiento producen una estimación. La comparación genera un error con unidad. Después se decide qué acción ilustrativa mostrar o aplicar al banco preparado. Si se mezclan esos bloques en una sola lista de números llamada “controlador”, cuesta detectar si el error proviene del joystick, del sensor, de la escala o del signo.</a:t>
            </a:r>
          </a:p>
          <a:p xmlns:a="http://schemas.openxmlformats.org/drawingml/2006/main">
            <a:r>
              <a:t/>
            </a:r>
          </a:p>
          <a:p xmlns:a="http://schemas.openxmlformats.org/drawingml/2006/main">
            <a:r>
              <a:t>La conexión con drones es conceptual y tangible a la vez: el alumno sostiene el mando y el módulo de sensores, observa sus cambios y explica cómo podría organizarse esa cadena en un sistema más completo. Mantener un propósito de banco permite ensayar hipótesis sin atribuir al ejercicio funciones que no se han desarrollado.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17. Esquema original del laboratorio para reconocer la arquitectura en Wokwi. Para montaje físico se aplica la tabla y las correcciones de esta lectura.</a:t>
            </a:r>
          </a:p>
          <a:p xmlns:a="http://schemas.openxmlformats.org/drawingml/2006/main">
            <a:r>
              <a:t>El proyecto 17 del laboratorio lee joystick e IMU, calcula una corrección proporcional y muestra números en serie. Es una buena oportunidad para conectar varias ideas del curso, siempre que su nombre y su alcance se expliquen con precisión. La edición docente lo presenta como “Mando e IMU: demostración proporcional de banco”. Las variables impresas como salidas no son una prueba de actuación sobre motores ni una validación de vuelo.</a:t>
            </a:r>
          </a:p>
          <a:p xmlns:a="http://schemas.openxmlformats.org/drawingml/2006/main">
            <a:r>
              <a:t/>
            </a:r>
          </a:p>
          <a:p xmlns:a="http://schemas.openxmlformats.org/drawingml/2006/main">
            <a:r>
              <a:t>MECRO, proyecto 17.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Primero se separan tres bloques. El mando humano produce una referencia. La medición y su procesamiento producen una estimación. La comparación genera un error con unidad. Después se decide qué acción ilustrativa mostrar o aplicar al banco preparado. Si se mezclan esos bloques en una sola lista de números llamada “controlador”, cuesta detectar si el error proviene del joystick, del sensor, de la escala o del signo.</a:t>
            </a:r>
          </a:p>
          <a:p xmlns:a="http://schemas.openxmlformats.org/drawingml/2006/main">
            <a:r>
              <a:t/>
            </a:r>
          </a:p>
          <a:p xmlns:a="http://schemas.openxmlformats.org/drawingml/2006/main">
            <a:r>
              <a:t>La conexión con drones es conceptual y tangible a la vez: el alumno sostiene el mando y el módulo de sensores, observa sus cambios y explica cómo podría organizarse esa cadena en un sistema más completo. Mantener un propósito de banco permite ensayar hipótesis sin atribuir al ejercicio funciones que no se han desarrollado.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El proyecto 17 del laboratorio lee joystick e IMU, calcula una corrección proporcional y muestra números en serie. Es una buena oportunidad para conectar varias ideas del curso, siempre que su nombre y su alcance se expliquen con precisión. La edición docente lo presenta como “Mando e IMU: demostración proporcional de banco”. Las variables impresas como salidas no son una prueba de actuación sobre motores ni una validación de vuelo.</a:t>
            </a:r>
          </a:p>
          <a:p xmlns:a="http://schemas.openxmlformats.org/drawingml/2006/main">
            <a:r>
              <a:t/>
            </a:r>
          </a:p>
          <a:p xmlns:a="http://schemas.openxmlformats.org/drawingml/2006/main">
            <a:r>
              <a:t>MECRO, proyecto 17.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Primero se separan tres bloques. El mando humano produce una referencia. La medición y su procesamiento producen una estimación. La comparación genera un error con unidad. Después se decide qué acción ilustrativa mostrar o aplicar al banco preparado. Si se mezclan esos bloques en una sola lista de números llamada “controlador”, cuesta detectar si el error proviene del joystick, del sensor, de la escala o del signo.</a:t>
            </a:r>
          </a:p>
          <a:p xmlns:a="http://schemas.openxmlformats.org/drawingml/2006/main">
            <a:r>
              <a:t/>
            </a:r>
          </a:p>
          <a:p xmlns:a="http://schemas.openxmlformats.org/drawingml/2006/main">
            <a:r>
              <a:t>La conexión con drones es conceptual y tangible a la vez: el alumno sostiene el mando y el módulo de sensores, observa sus cambios y explica cómo podría organizarse esa cadena en un sistema más completo. Mantener un propósito de banco permite ensayar hipótesis sin atribuir al ejercicio funciones que no se han desarrollado.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Un joystick analógico no siempre entrega exactamente 2048 al soltarlo ni recorre de forma simétrica hasta ambos extremos. Se registran centro y extremos útiles de cada eje. La normalización transforma esos valores a una convención, por ejemplo de −1 a 1. Una zona muerta conserva cero ante pequeñas variaciones alrededor del centro. Su tamaño se justifica con el comportamiento observado, no con el deseo de ocultar un montaje inestable.</a:t>
            </a:r>
          </a:p>
          <a:p xmlns:a="http://schemas.openxmlformats.org/drawingml/2006/main">
            <a:r>
              <a:t/>
            </a:r>
          </a:p>
          <a:p xmlns:a="http://schemas.openxmlformats.org/drawingml/2006/main">
            <a:r>
              <a:t>Se comprueba que los denominadores sean válidos y se limita el resultado al intervalo de mando previsto.</a:t>
            </a:r>
          </a:p>
          <a:p xmlns:a="http://schemas.openxmlformats.org/drawingml/2006/main">
            <a:r>
              <a:t/>
            </a:r>
          </a:p>
          <a:p xmlns:a="http://schemas.openxmlformats.org/drawingml/2006/main">
            <a:r>
              <a:t>Dato / Qué significa / Qué registrar</a:t>
            </a:r>
          </a:p>
          <a:p xmlns:a="http://schemas.openxmlformats.org/drawingml/2006/main">
            <a:r>
              <a:t>Centro c / Reposo observado / Valor y dispersión</a:t>
            </a:r>
          </a:p>
          <a:p xmlns:a="http://schemas.openxmlformats.org/drawingml/2006/main">
            <a:r>
              <a:t>Extremos / Recorrido útil / Mínimo y máximo</a:t>
            </a:r>
          </a:p>
          <a:p xmlns:a="http://schemas.openxmlformats.org/drawingml/2006/main">
            <a:r>
              <a:t>Zona muerta / Cambio ignorado / Criterio y amplitud</a:t>
            </a:r>
          </a:p>
          <a:p xmlns:a="http://schemas.openxmlformats.org/drawingml/2006/main">
            <a:r>
              <a:t>Signo / Sentido de la referencia / Convención de ejes</a:t>
            </a:r>
          </a:p>
          <a:p xmlns:a="http://schemas.openxmlformats.org/drawingml/2006/main">
            <a:r>
              <a:t/>
            </a:r>
          </a:p>
          <a:p xmlns:a="http://schemas.openxmlformats.org/drawingml/2006/main">
            <a:r>
              <a:t>Un eje queda en 2150 y la escala fija espera 2048. ¿El mando de referencia será necesariamente cero?</a:t>
            </a:r>
          </a:p>
          <a:p xmlns:a="http://schemas.openxmlformats.org/drawingml/2006/main">
            <a:r>
              <a:t>No. La calibración o la zona muerta deben representar el centro real y su criterio. No se arregla cambiando el sensor de orientación, porque el origen de esta diferencia está en el mando.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Dato / Qué significa / Qué registrar</a:t>
            </a:r>
          </a:p>
          <a:p xmlns:a="http://schemas.openxmlformats.org/drawingml/2006/main">
            <a:r>
              <a:t>Centro c / Reposo observado / Valor y dispersión</a:t>
            </a:r>
          </a:p>
          <a:p xmlns:a="http://schemas.openxmlformats.org/drawingml/2006/main">
            <a:r>
              <a:t>Extremos / Recorrido útil / Mínimo y máximo</a:t>
            </a:r>
          </a:p>
          <a:p xmlns:a="http://schemas.openxmlformats.org/drawingml/2006/main">
            <a:r>
              <a:t>Zona muerta / Cambio ignorado / Criterio y amplitud</a:t>
            </a:r>
          </a:p>
          <a:p xmlns:a="http://schemas.openxmlformats.org/drawingml/2006/main">
            <a:r>
              <a:t>Signo / Sentido de la referencia / Convención de ejes</a:t>
            </a:r>
          </a:p>
          <a:p xmlns:a="http://schemas.openxmlformats.org/drawingml/2006/main">
            <a:r>
              <a:t>Comparar filas y explicar una condición que cambie la decisión.</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Un joystick analógico no siempre entrega exactamente 2048 al soltarlo ni recorre de forma simétrica hasta ambos extremos. Se registran centro y extremos útiles de cada eje. La normalización transforma esos valores a una convención, por ejemplo de −1 a 1. Una zona muerta conserva cero ante pequeñas variaciones alrededor del centro. Su tamaño se justifica con el comportamiento observado, no con el deseo de ocultar un montaje inestable.</a:t>
            </a:r>
          </a:p>
          <a:p xmlns:a="http://schemas.openxmlformats.org/drawingml/2006/main">
            <a:r>
              <a:t/>
            </a:r>
          </a:p>
          <a:p xmlns:a="http://schemas.openxmlformats.org/drawingml/2006/main">
            <a:r>
              <a:t>Se comprueba que los denominadores sean válidos y se limita el resultado al intervalo de mando previsto.</a:t>
            </a:r>
          </a:p>
          <a:p xmlns:a="http://schemas.openxmlformats.org/drawingml/2006/main">
            <a:r>
              <a:t/>
            </a:r>
          </a:p>
          <a:p xmlns:a="http://schemas.openxmlformats.org/drawingml/2006/main">
            <a:r>
              <a:t>Dato / Qué significa / Qué registrar</a:t>
            </a:r>
          </a:p>
          <a:p xmlns:a="http://schemas.openxmlformats.org/drawingml/2006/main">
            <a:r>
              <a:t>Centro c / Reposo observado / Valor y dispersión</a:t>
            </a:r>
          </a:p>
          <a:p xmlns:a="http://schemas.openxmlformats.org/drawingml/2006/main">
            <a:r>
              <a:t>Extremos / Recorrido útil / Mínimo y máximo</a:t>
            </a:r>
          </a:p>
          <a:p xmlns:a="http://schemas.openxmlformats.org/drawingml/2006/main">
            <a:r>
              <a:t>Zona muerta / Cambio ignorado / Criterio y amplitud</a:t>
            </a:r>
          </a:p>
          <a:p xmlns:a="http://schemas.openxmlformats.org/drawingml/2006/main">
            <a:r>
              <a:t>Signo / Sentido de la referencia / Convención de ejes</a:t>
            </a:r>
          </a:p>
          <a:p xmlns:a="http://schemas.openxmlformats.org/drawingml/2006/main">
            <a:r>
              <a:t/>
            </a:r>
          </a:p>
          <a:p xmlns:a="http://schemas.openxmlformats.org/drawingml/2006/main">
            <a:r>
              <a:t>Un eje queda en 2150 y la escala fija espera 2048. ¿El mando de referencia será necesariamente cero?</a:t>
            </a:r>
          </a:p>
          <a:p xmlns:a="http://schemas.openxmlformats.org/drawingml/2006/main">
            <a:r>
              <a:t>No. La calibración o la zona muerta deben representar el centro real y su criterio. No se arregla cambiando el sensor de orientación, porque el origen de esta diferencia está en el mando.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Para calcular un error angular, referencia y estimación deben compartir unidad y convención. El proyecto original usa una multiplicación de aceleración como aproximación angular. En el curso se sustituye por la estimación cuasiestática explicada en la clase 12 o por un caso numérico de referencia identificado. El alumno señala el punto donde una medida pasa a ser una estimación y qué hipótesis permite interpretarla.</a:t>
            </a:r>
          </a:p>
          <a:p xmlns:a="http://schemas.openxmlformats.org/drawingml/2006/main">
            <a:r>
              <a:t/>
            </a:r>
          </a:p>
          <a:p xmlns:a="http://schemas.openxmlformats.org/drawingml/2006/main">
            <a:r>
              <a:t>La ganancia relaciona unidades de error y de salida. Aquí se observa una acción proporcional de banco.</a:t>
            </a:r>
          </a:p>
          <a:p xmlns:a="http://schemas.openxmlformats.org/drawingml/2006/main">
            <a:r>
              <a:t/>
            </a:r>
          </a:p>
          <a:p xmlns:a="http://schemas.openxmlformats.org/drawingml/2006/main">
            <a:r>
              <a:t>La referencia del caso es 10° y la estimación es 6°. Con Kp = 2 unidades/°, ¿qué acción proporcional resulta?</a:t>
            </a:r>
          </a:p>
          <a:p xmlns:a="http://schemas.openxmlformats.org/drawingml/2006/main">
            <a:r>
              <a:t>El error es 4° y la acción resulta 8 unidades del mando definido. El signo físico que corrige la desviación depende de la interfaz y del montaje; se comprueba antes de cerrar un lazo real.</a:t>
            </a:r>
          </a:p>
          <a:p xmlns:a="http://schemas.openxmlformats.org/drawingml/2006/main">
            <a:r>
              <a:t/>
            </a:r>
          </a:p>
          <a:p xmlns:a="http://schemas.openxmlformats.org/drawingml/2006/main">
            <a:r>
              <a:t>Un cambio de signo puede producir realimentación positiva si la acción agranda la desviación en lugar de reducirla. Por eso la primera comprobación del banco es pequeña y observable. Un nombre como “roll” no determina por sí solo qué dirección representa el eje. La convención queda dibujada o anotada junto a la pieza.</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Para calcular un error angular, referencia y estimación deben compartir unidad y convención. El proyecto original usa una multiplicación de aceleración como aproximación angular. En el curso se sustituye por la estimación cuasiestática explicada en la clase 12 o por un caso numérico de referencia identificado. El alumno señala el punto donde una medida pasa a ser una estimación y qué hipótesis permite interpretarla.</a:t>
            </a:r>
          </a:p>
          <a:p xmlns:a="http://schemas.openxmlformats.org/drawingml/2006/main">
            <a:r>
              <a:t/>
            </a:r>
          </a:p>
          <a:p xmlns:a="http://schemas.openxmlformats.org/drawingml/2006/main">
            <a:r>
              <a:t>La ganancia relaciona unidades de error y de salida. Aquí se observa una acción proporcional de banco.</a:t>
            </a:r>
          </a:p>
          <a:p xmlns:a="http://schemas.openxmlformats.org/drawingml/2006/main">
            <a:r>
              <a:t/>
            </a:r>
          </a:p>
          <a:p xmlns:a="http://schemas.openxmlformats.org/drawingml/2006/main">
            <a:r>
              <a:t>La referencia del caso es 10° y la estimación es 6°. Con Kp = 2 unidades/°, ¿qué acción proporcional resulta?</a:t>
            </a:r>
          </a:p>
          <a:p xmlns:a="http://schemas.openxmlformats.org/drawingml/2006/main">
            <a:r>
              <a:t>El error es 4° y la acción resulta 8 unidades del mando definido. El signo físico que corrige la desviación depende de la interfaz y del montaje; se comprueba antes de cerrar un lazo real.</a:t>
            </a:r>
          </a:p>
          <a:p xmlns:a="http://schemas.openxmlformats.org/drawingml/2006/main">
            <a:r>
              <a:t/>
            </a:r>
          </a:p>
          <a:p xmlns:a="http://schemas.openxmlformats.org/drawingml/2006/main">
            <a:r>
              <a:t>Un cambio de signo puede producir realimentación positiva si la acción agranda la desviación en lugar de reducirla. Por eso la primera comprobación del banco es pequeña y observable. Un nombre como “roll” no determina por sí solo qué dirección representa el eje. La convención queda dibujada o anotada junto a la pieza.</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Para calcular un error angular, referencia y estimación deben compartir unidad y convención. El proyecto original usa una multiplicación de aceleración como aproximación angular. En el curso se sustituye por la estimación cuasiestática explicada en la clase 12 o por un caso numérico de referencia identificado. El alumno señala el punto donde una medida pasa a ser una estimación y qué hipótesis permite interpretarla.</a:t>
            </a:r>
          </a:p>
          <a:p xmlns:a="http://schemas.openxmlformats.org/drawingml/2006/main">
            <a:r>
              <a:t/>
            </a:r>
          </a:p>
          <a:p xmlns:a="http://schemas.openxmlformats.org/drawingml/2006/main">
            <a:r>
              <a:t>La ganancia relaciona unidades de error y de salida. Aquí se observa una acción proporcional de banco.</a:t>
            </a:r>
          </a:p>
          <a:p xmlns:a="http://schemas.openxmlformats.org/drawingml/2006/main">
            <a:r>
              <a:t/>
            </a:r>
          </a:p>
          <a:p xmlns:a="http://schemas.openxmlformats.org/drawingml/2006/main">
            <a:r>
              <a:t>La referencia del caso es 10° y la estimación es 6°. Con Kp = 2 unidades/°, ¿qué acción proporcional resulta?</a:t>
            </a:r>
          </a:p>
          <a:p xmlns:a="http://schemas.openxmlformats.org/drawingml/2006/main">
            <a:r>
              <a:t>El error es 4° y la acción resulta 8 unidades del mando definido. El signo físico que corrige la desviación depende de la interfaz y del montaje; se comprueba antes de cerrar un lazo real.</a:t>
            </a:r>
          </a:p>
          <a:p xmlns:a="http://schemas.openxmlformats.org/drawingml/2006/main">
            <a:r>
              <a:t/>
            </a:r>
          </a:p>
          <a:p xmlns:a="http://schemas.openxmlformats.org/drawingml/2006/main">
            <a:r>
              <a:t>Un cambio de signo puede producir realimentación positiva si la acción agranda la desviación en lugar de reducirla. Por eso la primera comprobación del banco es pequeña y observable. Un nombre como “roll” no determina por sí solo qué dirección representa el eje. La convención queda dibujada o anotada junto a la pieza.</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readCommand();</a:t>
            </a:r>
          </a:p>
          <a:p xmlns:a="http://schemas.openxmlformats.org/drawingml/2006/main">
            <a:r>
              <a:t>readSensor();</a:t>
            </a:r>
          </a:p>
          <a:p xmlns:a="http://schemas.openxmlformats.org/drawingml/2006/main">
            <a:r>
              <a:t>checkFreshness();</a:t>
            </a:r>
          </a:p>
          <a:p xmlns:a="http://schemas.openxmlformats.org/drawingml/2006/main">
            <a:r>
              <a:t>if (commandValid &amp;&amp; sensorValid) {</a:t>
            </a:r>
          </a:p>
          <a:p xmlns:a="http://schemas.openxmlformats.org/drawingml/2006/main">
            <a:r>
              <a:t>  error = reference - estimate;</a:t>
            </a:r>
          </a:p>
          <a:p xmlns:a="http://schemas.openxmlformats.org/drawingml/2006/main">
            <a:r>
              <a:t>  correction = Kp * error;</a:t>
            </a:r>
          </a:p>
          <a:p xmlns:a="http://schemas.openxmlformats.org/drawingml/2006/main">
            <a:r>
              <a:t>} else {</a:t>
            </a:r>
          </a:p>
          <a:p xmlns:a="http://schemas.openxmlformats.org/drawingml/2006/main">
            <a:r>
              <a:t>  correction = 0;</a:t>
            </a:r>
          </a:p>
          <a:p xmlns:a="http://schemas.openxmlformats.org/drawingml/2006/main">
            <a:r>
              <a:t>}</a:t>
            </a:r>
          </a:p>
          <a:p xmlns:a="http://schemas.openxmlformats.org/drawingml/2006/main">
            <a:r>
              <a:t>logBenchState();</a:t>
            </a:r>
          </a:p>
          <a:p xmlns:a="http://schemas.openxmlformats.org/drawingml/2006/main">
            <a:r>
              <a:t/>
            </a:r>
          </a:p>
          <a:p xmlns:a="http://schemas.openxmlformats.org/drawingml/2006/main">
            <a:r>
              <a:t>Este fragmento es un esquema de organización, no un controlador de vuelo compilable. La referencia concreta c13_mando implementa la normalización y la zona muerta y produce un registro de serie sin salidas de motor. El código c12_imu aporta la lectura y la estimación de banco. El equipo relaciona ambas entradas en su portafolio y conserva las condiciones de validez.</a:t>
            </a:r>
          </a:p>
          <a:p xmlns:a="http://schemas.openxmlformats.org/drawingml/2006/main">
            <a:r>
              <a:t/>
            </a:r>
          </a:p>
          <a:p xmlns:a="http://schemas.openxmlformats.org/drawingml/2006/main">
            <a:r>
              <a:t>El orden del programa y su duración importan. delay(10) no demuestra un periodo exacto de 10 ms: también consumen tiempo las operaciones de adquisición y de registro. La afirmación del sitio sobre una frecuencia mínima universal que haría caer cualquier dron se retira del material docente. La respuesta de un sistema depende de dinámica, estimación, latencias, actuación y diseño del control, no de una única cifra de bucle.</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readCommand();</a:t>
            </a:r>
          </a:p>
          <a:p xmlns:a="http://schemas.openxmlformats.org/drawingml/2006/main">
            <a:r>
              <a:t>readSensor();</a:t>
            </a:r>
          </a:p>
          <a:p xmlns:a="http://schemas.openxmlformats.org/drawingml/2006/main">
            <a:r>
              <a:t>checkFreshness();</a:t>
            </a:r>
          </a:p>
          <a:p xmlns:a="http://schemas.openxmlformats.org/drawingml/2006/main">
            <a:r>
              <a:t>if (commandValid &amp;&amp; sensorValid) {</a:t>
            </a:r>
          </a:p>
          <a:p xmlns:a="http://schemas.openxmlformats.org/drawingml/2006/main">
            <a:r>
              <a:t>  error = reference - estimate;</a:t>
            </a:r>
          </a:p>
          <a:p xmlns:a="http://schemas.openxmlformats.org/drawingml/2006/main">
            <a:r>
              <a:t>  correction = Kp * error;</a:t>
            </a:r>
          </a:p>
          <a:p xmlns:a="http://schemas.openxmlformats.org/drawingml/2006/main">
            <a:r>
              <a:t>} else {</a:t>
            </a:r>
          </a:p>
          <a:p xmlns:a="http://schemas.openxmlformats.org/drawingml/2006/main">
            <a:r>
              <a:t>  correction = 0;</a:t>
            </a:r>
          </a:p>
          <a:p xmlns:a="http://schemas.openxmlformats.org/drawingml/2006/main">
            <a:r>
              <a:t>}</a:t>
            </a:r>
          </a:p>
          <a:p xmlns:a="http://schemas.openxmlformats.org/drawingml/2006/main">
            <a:r>
              <a:t>logBenchState();</a:t>
            </a:r>
          </a:p>
          <a:p xmlns:a="http://schemas.openxmlformats.org/drawingml/2006/main">
            <a:r>
              <a:t>Explicar entrada, estado, salida y momento de actualización.</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readCommand();</a:t>
            </a:r>
          </a:p>
          <a:p xmlns:a="http://schemas.openxmlformats.org/drawingml/2006/main">
            <a:r>
              <a:t>readSensor();</a:t>
            </a:r>
          </a:p>
          <a:p xmlns:a="http://schemas.openxmlformats.org/drawingml/2006/main">
            <a:r>
              <a:t>checkFreshness();</a:t>
            </a:r>
          </a:p>
          <a:p xmlns:a="http://schemas.openxmlformats.org/drawingml/2006/main">
            <a:r>
              <a:t>if (commandValid &amp;&amp; sensorValid) {</a:t>
            </a:r>
          </a:p>
          <a:p xmlns:a="http://schemas.openxmlformats.org/drawingml/2006/main">
            <a:r>
              <a:t>  error = reference - estimate;</a:t>
            </a:r>
          </a:p>
          <a:p xmlns:a="http://schemas.openxmlformats.org/drawingml/2006/main">
            <a:r>
              <a:t>  correction = Kp * error;</a:t>
            </a:r>
          </a:p>
          <a:p xmlns:a="http://schemas.openxmlformats.org/drawingml/2006/main">
            <a:r>
              <a:t>} else {</a:t>
            </a:r>
          </a:p>
          <a:p xmlns:a="http://schemas.openxmlformats.org/drawingml/2006/main">
            <a:r>
              <a:t>  correction = 0;</a:t>
            </a:r>
          </a:p>
          <a:p xmlns:a="http://schemas.openxmlformats.org/drawingml/2006/main">
            <a:r>
              <a:t>}</a:t>
            </a:r>
          </a:p>
          <a:p xmlns:a="http://schemas.openxmlformats.org/drawingml/2006/main">
            <a:r>
              <a:t>logBenchState();</a:t>
            </a:r>
          </a:p>
          <a:p xmlns:a="http://schemas.openxmlformats.org/drawingml/2006/main">
            <a:r>
              <a:t/>
            </a:r>
          </a:p>
          <a:p xmlns:a="http://schemas.openxmlformats.org/drawingml/2006/main">
            <a:r>
              <a:t>Este fragmento es un esquema de organización, no un controlador de vuelo compilable. La referencia concreta c13_mando implementa la normalización y la zona muerta y produce un registro de serie sin salidas de motor. El código c12_imu aporta la lectura y la estimación de banco. El equipo relaciona ambas entradas en su portafolio y conserva las condiciones de validez.</a:t>
            </a:r>
          </a:p>
          <a:p xmlns:a="http://schemas.openxmlformats.org/drawingml/2006/main">
            <a:r>
              <a:t/>
            </a:r>
          </a:p>
          <a:p xmlns:a="http://schemas.openxmlformats.org/drawingml/2006/main">
            <a:r>
              <a:t>El orden del programa y su duración importan. delay(10) no demuestra un periodo exacto de 10 ms: también consumen tiempo las operaciones de adquisición y de registro. La afirmación del sitio sobre una frecuencia mínima universal que haría caer cualquier dron se retira del material docente. La respuesta de un sistema depende de dinámica, estimación, latencias, actuación y diseño del control, no de una única cifra de bucle.</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Ejecuta c13_mando y conserva un registro del centro de cada eje.</a:t>
            </a:r>
          </a:p>
          <a:p xmlns:a="http://schemas.openxmlformats.org/drawingml/2006/main">
            <a:r>
              <a:t>Modifica un extremo de calibración y observa el efecto en la referencia.</a:t>
            </a:r>
          </a:p>
          <a:p xmlns:a="http://schemas.openxmlformats.org/drawingml/2006/main">
            <a:r>
              <a:t>Comprueba la zona muerta con reposo y movimientos pequeños.</a:t>
            </a:r>
          </a:p>
          <a:p xmlns:a="http://schemas.openxmlformats.org/drawingml/2006/main">
            <a:r>
              <a:t>Relaciona el eje de mando con la convención del módulo IMU.</a:t>
            </a:r>
          </a:p>
          <a:p xmlns:a="http://schemas.openxmlformats.org/drawingml/2006/main">
            <a:r>
              <a:t>Resuelve el error y la corrección de tres casos de banco.</a:t>
            </a:r>
          </a:p>
          <a:p xmlns:a="http://schemas.openxmlformats.org/drawingml/2006/main">
            <a:r>
              <a:t>Invalida una entrada por software y explica la salida prevista.</a:t>
            </a:r>
          </a:p>
          <a:p xmlns:a="http://schemas.openxmlformats.org/drawingml/2006/main">
            <a:r>
              <a:t>Presenta un diagrama de bloques con unidades, tiempos y estados.</a:t>
            </a:r>
          </a:p>
          <a:p xmlns:a="http://schemas.openxmlformats.org/drawingml/2006/main">
            <a:r>
              <a:t/>
            </a:r>
          </a:p>
          <a:p xmlns:a="http://schemas.openxmlformats.org/drawingml/2006/main">
            <a:r>
              <a:t>Referencia / Estimación / Error</a:t>
            </a:r>
          </a:p>
          <a:p xmlns:a="http://schemas.openxmlformats.org/drawingml/2006/main">
            <a:r>
              <a:t>10° / 6° / 4°</a:t>
            </a:r>
          </a:p>
          <a:p xmlns:a="http://schemas.openxmlformats.org/drawingml/2006/main">
            <a:r>
              <a:t>0° / −3° / 3°</a:t>
            </a:r>
          </a:p>
          <a:p xmlns:a="http://schemas.openxmlformats.org/drawingml/2006/main">
            <a:r>
              <a:t>−5° / −5° / 0°</a:t>
            </a:r>
          </a:p>
          <a:p xmlns:a="http://schemas.openxmlformats.org/drawingml/2006/main">
            <a:r>
              <a:t/>
            </a:r>
          </a:p>
          <a:p xmlns:a="http://schemas.openxmlformats.org/drawingml/2006/main">
            <a:r>
              <a:t>Los casos numéricos permiten comprobar signos y unidades antes de integrar hardware. En la demostración docente se conserva una entrada y se mueve la otra para que el grupo identifique su efecto. Si ambas cambian simultáneamente, un principiante puede atribuir la corrección a la causa equivocada. Al terminar, el alumno debe poder señalar qué dato cambió y qué parte del programa lo utilizó.</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 Estimación / Error</a:t>
            </a:r>
          </a:p>
          <a:p xmlns:a="http://schemas.openxmlformats.org/drawingml/2006/main">
            <a:r>
              <a:t>10° / 6° / 4°</a:t>
            </a:r>
          </a:p>
          <a:p xmlns:a="http://schemas.openxmlformats.org/drawingml/2006/main">
            <a:r>
              <a:t>0° / −3° / 3°</a:t>
            </a:r>
          </a:p>
          <a:p xmlns:a="http://schemas.openxmlformats.org/drawingml/2006/main">
            <a:r>
              <a:t>−5° / −5° / 0°</a:t>
            </a:r>
          </a:p>
          <a:p xmlns:a="http://schemas.openxmlformats.org/drawingml/2006/main">
            <a:r>
              <a:t>Comparar filas y explicar una condición que cambie la decisión.</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Ejecuta c13_mando y conserva un registro del centro de cada eje.</a:t>
            </a:r>
          </a:p>
          <a:p xmlns:a="http://schemas.openxmlformats.org/drawingml/2006/main">
            <a:r>
              <a:t>Modifica un extremo de calibración y observa el efecto en la referencia.</a:t>
            </a:r>
          </a:p>
          <a:p xmlns:a="http://schemas.openxmlformats.org/drawingml/2006/main">
            <a:r>
              <a:t>Comprueba la zona muerta con reposo y movimientos pequeños.</a:t>
            </a:r>
          </a:p>
          <a:p xmlns:a="http://schemas.openxmlformats.org/drawingml/2006/main">
            <a:r>
              <a:t>Relaciona el eje de mando con la convención del módulo IMU.</a:t>
            </a:r>
          </a:p>
          <a:p xmlns:a="http://schemas.openxmlformats.org/drawingml/2006/main">
            <a:r>
              <a:t>Resuelve el error y la corrección de tres casos de banco.</a:t>
            </a:r>
          </a:p>
          <a:p xmlns:a="http://schemas.openxmlformats.org/drawingml/2006/main">
            <a:r>
              <a:t>Invalida una entrada por software y explica la salida prevista.</a:t>
            </a:r>
          </a:p>
          <a:p xmlns:a="http://schemas.openxmlformats.org/drawingml/2006/main">
            <a:r>
              <a:t>Presenta un diagrama de bloques con unidades, tiempos y estados.</a:t>
            </a:r>
          </a:p>
          <a:p xmlns:a="http://schemas.openxmlformats.org/drawingml/2006/main">
            <a:r>
              <a:t>Verificar un paso antes de seguir.</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El banco demuestra adquisición, transformación y comparación bajo sus condiciones. Un sistema de vuelo añade muchas otras funciones y validaciones. Para una primera ruta MECRO, el valor está en construir una base comprensible que permita leer después documentación de control y aviónica con mejores preguntas. El alumno conserva su ejemplo como un instrumento de aprendizaje y diagnóstico, con un título que describa la función efectivamente implementada.</a:t>
            </a:r>
          </a:p>
          <a:p xmlns:a="http://schemas.openxmlformats.org/drawingml/2006/main">
            <a:r>
              <a:t/>
            </a:r>
          </a:p>
          <a:p xmlns:a="http://schemas.openxmlformats.org/drawingml/2006/main">
            <a:r>
              <a:t>Resultado / Cómo se presenta</a:t>
            </a:r>
          </a:p>
          <a:p xmlns:a="http://schemas.openxmlformats.org/drawingml/2006/main">
            <a:r>
              <a:t>Referencia normalizada / Mando de banco</a:t>
            </a:r>
          </a:p>
          <a:p xmlns:a="http://schemas.openxmlformats.org/drawingml/2006/main">
            <a:r>
              <a:t>Ángulo de acelerómetro / Estimación cuasiestática</a:t>
            </a:r>
          </a:p>
          <a:p xmlns:a="http://schemas.openxmlformats.org/drawingml/2006/main">
            <a:r>
              <a:t>error × Kp / Acción proporcional</a:t>
            </a:r>
          </a:p>
          <a:p xmlns:a="http://schemas.openxmlformats.org/drawingml/2006/main">
            <a:r>
              <a:t>Valores de mezclador impresos / Ejercicio numérico</a:t>
            </a:r>
          </a:p>
          <a:p xmlns:a="http://schemas.openxmlformats.org/drawingml/2006/main">
            <a:r>
              <a:t/>
            </a:r>
          </a:p>
          <a:p xmlns:a="http://schemas.openxmlformats.org/drawingml/2006/main">
            <a:r>
              <a:t>Investiga por qué una estimación de orientación puede necesitar varias fuentes y cómo un mando humano puede representar ángulo, velocidad angular u otra variable según el modo del sistema. No hace falta implementar esas arquitecturas para reconocer que la palabra “mando” oculta una decisión de interfaz. Describe una de esas posibilidades y qué unidad cambiaría en el error.</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4 minutos en esta diapositiva.</a:t>
            </a:r>
          </a:p>
          <a:p xmlns:a="http://schemas.openxmlformats.org/drawingml/2006/main">
            <a:r>
              <a:t/>
            </a:r>
          </a:p>
          <a:p xmlns:a="http://schemas.openxmlformats.org/drawingml/2006/main">
            <a:r>
              <a:t>Resultado / Cómo se presenta</a:t>
            </a:r>
          </a:p>
          <a:p xmlns:a="http://schemas.openxmlformats.org/drawingml/2006/main">
            <a:r>
              <a:t>Referencia normalizada / Mando de banco</a:t>
            </a:r>
          </a:p>
          <a:p xmlns:a="http://schemas.openxmlformats.org/drawingml/2006/main">
            <a:r>
              <a:t>Ángulo de acelerómetro / Estimación cuasiestática</a:t>
            </a:r>
          </a:p>
          <a:p xmlns:a="http://schemas.openxmlformats.org/drawingml/2006/main">
            <a:r>
              <a:t>error × Kp / Acción proporcional</a:t>
            </a:r>
          </a:p>
          <a:p xmlns:a="http://schemas.openxmlformats.org/drawingml/2006/main">
            <a:r>
              <a:t>Valores de mezclador impresos / Ejercicio numérico</a:t>
            </a:r>
          </a:p>
          <a:p xmlns:a="http://schemas.openxmlformats.org/drawingml/2006/main">
            <a:r>
              <a:t>Comparar filas y explicar una condición que cambie la decisión.</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El banco demuestra adquisición, transformación y comparación bajo sus condiciones. Un sistema de vuelo añade muchas otras funciones y validaciones. Para una primera ruta MECRO, el valor está en construir una base comprensible que permita leer después documentación de control y aviónica con mejores preguntas. El alumno conserva su ejemplo como un instrumento de aprendizaje y diagnóstico, con un título que describa la función efectivamente implementada.</a:t>
            </a:r>
          </a:p>
          <a:p xmlns:a="http://schemas.openxmlformats.org/drawingml/2006/main">
            <a:r>
              <a:t/>
            </a:r>
          </a:p>
          <a:p xmlns:a="http://schemas.openxmlformats.org/drawingml/2006/main">
            <a:r>
              <a:t>Resultado / Cómo se presenta</a:t>
            </a:r>
          </a:p>
          <a:p xmlns:a="http://schemas.openxmlformats.org/drawingml/2006/main">
            <a:r>
              <a:t>Referencia normalizada / Mando de banco</a:t>
            </a:r>
          </a:p>
          <a:p xmlns:a="http://schemas.openxmlformats.org/drawingml/2006/main">
            <a:r>
              <a:t>Ángulo de acelerómetro / Estimación cuasiestática</a:t>
            </a:r>
          </a:p>
          <a:p xmlns:a="http://schemas.openxmlformats.org/drawingml/2006/main">
            <a:r>
              <a:t>error × Kp / Acción proporcional</a:t>
            </a:r>
          </a:p>
          <a:p xmlns:a="http://schemas.openxmlformats.org/drawingml/2006/main">
            <a:r>
              <a:t>Valores de mezclador impresos / Ejercicio numérico</a:t>
            </a:r>
          </a:p>
          <a:p xmlns:a="http://schemas.openxmlformats.org/drawingml/2006/main">
            <a:r>
              <a:t/>
            </a:r>
          </a:p>
          <a:p xmlns:a="http://schemas.openxmlformats.org/drawingml/2006/main">
            <a:r>
              <a:t>Investiga por qué una estimación de orientación puede necesitar varias fuentes y cómo un mando humano puede representar ángulo, velocidad angular u otra variable según el modo del sistema. No hace falta implementar esas arquitecturas para reconocer que la palabra “mando” oculta una decisión de interfaz. Describe una de esas posibilidades y qué unidad cambiaría en el error.</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joystick e IMU como dos entradas con funciones distintas.</a:t>
            </a:r>
          </a:p>
          <a:p xmlns:a="http://schemas.openxmlformats.org/drawingml/2006/main">
            <a:r>
              <a:t>Calibrar centro y observar c13_mando.</a:t>
            </a:r>
          </a:p>
          <a:p xmlns:a="http://schemas.openxmlformats.org/drawingml/2006/main">
            <a:r>
              <a:t>Resolver un error con unidad y signo declarados.</a:t>
            </a:r>
          </a:p>
          <a:p xmlns:a="http://schemas.openxmlformats.org/drawingml/2006/main">
            <a:r>
              <a:t>Presentar el proyecto 17 con el alcance corregido de banco.</a:t>
            </a:r>
          </a:p>
          <a:p xmlns:a="http://schemas.openxmlformats.org/drawingml/2006/main">
            <a:r>
              <a:t>Rotar código, medida y registro.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10 minutos en esta diapositiva.</a:t>
            </a:r>
          </a:p>
          <a:p xmlns:a="http://schemas.openxmlformats.org/drawingml/2006/main">
            <a:r>
              <a:t/>
            </a:r>
          </a:p>
          <a:p xmlns:a="http://schemas.openxmlformats.org/drawingml/2006/main">
            <a:r>
              <a:t>El flujo mando, estimación y corrección permite comprender la arquitectura de un UAV sin convertir un ejemplo numérico en un controlador de vuelo.</a:t>
            </a:r>
          </a:p>
          <a:p xmlns:a="http://schemas.openxmlformats.org/drawingml/2006/main">
            <a:r>
              <a:t>Calibración de mando, tres casos resueltos y diagrama de bloques del banco.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Mando y control de banco: interpretar el proyecto de vuelo.</a:t>
            </a:r>
          </a:p>
          <a:p xmlns:a="http://schemas.openxmlformats.org/drawingml/2006/main">
            <a:r>
              <a:t>En línea, 2 horas. Núcleo de explicación: 5 minutos en esta diapositiva.</a:t>
            </a:r>
          </a:p>
          <a:p xmlns:a="http://schemas.openxmlformats.org/drawingml/2006/main">
            <a:r>
              <a:t/>
            </a:r>
          </a:p>
          <a:p xmlns:a="http://schemas.openxmlformats.org/drawingml/2006/main">
            <a:r>
              <a:t>Calibración de mando, tres casos resueltos y diagrama de bloques del banco.</a:t>
            </a:r>
          </a:p>
          <a:p xmlns:a="http://schemas.openxmlformats.org/drawingml/2006/main">
            <a:r>
              <a:t/>
            </a:r>
          </a:p>
          <a:p xmlns:a="http://schemas.openxmlformats.org/drawingml/2006/main">
            <a:r>
              <a:t>Objetivo: Transformar un joystick a una referencia normalizada y relacionarla con una medida y una acción proporcional declaradas.</a:t>
            </a:r>
          </a:p>
          <a:p xmlns:a="http://schemas.openxmlformats.org/drawingml/2006/main">
            <a:r>
              <a:t>Aplicación: El flujo mando, estimación y corrección permite comprender la arquitectura de un UAV sin convertir un ejemplo numérico en un controlador de vuelo.</a:t>
            </a:r>
          </a:p>
          <a:p xmlns:a="http://schemas.openxmlformats.org/drawingml/2006/main">
            <a:r>
              <a:t>Entrega: Calibración de mando, tres casos resueltos y diagrama de bloques del banco.</a:t>
            </a:r>
          </a:p>
          <a:p xmlns:a="http://schemas.openxmlformats.org/drawingml/2006/main">
            <a:r>
              <a:t/>
            </a:r>
          </a:p>
          <a:p xmlns:a="http://schemas.openxmlformats.org/drawingml/2006/main">
            <a:r>
              <a:t>Preguntas y respuestas</a:t>
            </a:r>
          </a:p>
          <a:p xmlns:a="http://schemas.openxmlformats.org/drawingml/2006/main">
            <a:r>
              <a:t>¿2048 es el centro garantizado de cualquier joystick?</a:t>
            </a:r>
          </a:p>
          <a:p xmlns:a="http://schemas.openxmlformats.org/drawingml/2006/main">
            <a:r>
              <a:t>No. Se observa y registra el centro del componente y su montaje.</a:t>
            </a:r>
          </a:p>
          <a:p xmlns:a="http://schemas.openxmlformats.org/drawingml/2006/main">
            <a:r>
              <a:t/>
            </a:r>
          </a:p>
          <a:p xmlns:a="http://schemas.openxmlformats.org/drawingml/2006/main">
            <a:r>
              <a:t>¿delay(10) garantiza 100 Hz exactos?</a:t>
            </a:r>
          </a:p>
          <a:p xmlns:a="http://schemas.openxmlformats.org/drawingml/2006/main">
            <a:r>
              <a:t>No. La duración total incluye las demás operaciones y sus variaciones.</a:t>
            </a:r>
          </a:p>
          <a:p xmlns:a="http://schemas.openxmlformats.org/drawingml/2006/main">
            <a:r>
              <a:t/>
            </a:r>
          </a:p>
          <a:p xmlns:a="http://schemas.openxmlformats.org/drawingml/2006/main">
            <a:r>
              <a:t>¿Qué necesita un error bien definido?</a:t>
            </a:r>
          </a:p>
          <a:p xmlns:a="http://schemas.openxmlformats.org/drawingml/2006/main">
            <a:r>
              <a:t>Referencia y estimación con unidades y convenciones comparables.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Adafruit. MPU6050: biblioteca, cableado y lectura. https://learn.adafruit.com/mpu6050-6-dof-accelerometer-and-gyro/arduino</a:t>
            </a:r>
          </a:p>
          <a:p xmlns:a="http://schemas.openxmlformats.org/drawingml/2006/main">
            <a:r>
              <a:t>Arduino. Referencia del lenguaje: millis. https://docs.arduino.cc/language-reference/en/functions/time/millis/</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el mismo dato en local y en una respuesta remota.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La red permite transportar información entre programas. No mejora automáticamente la exactitud del sensor ni garantiza que todos los mensajes lleguen. El proyecto de riego aporta un servidor web; el reloj aporta una referencia de hora. En la ruta de drones reutilizamos esas ideas para observar datos de banco en tierra. La bomba y el agua no son necesarias para aprender la cadena de comunicación.</a:t>
            </a:r>
          </a:p>
          <a:p xmlns:a="http://schemas.openxmlformats.org/drawingml/2006/main">
            <a:r>
              <a:t/>
            </a:r>
          </a:p>
          <a:p xmlns:a="http://schemas.openxmlformats.org/drawingml/2006/main">
            <a:r>
              <a:t>MECRO, proyecto 19.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curso diferencia datos locales, mensajes enviados y registros recibidos. Una pantalla remota puede conservar la última respuesta aunque el dispositivo haya dejado de actualizar. Por eso se transportan identificador, tiempo y estado junto al valor. La conexión Wi-Fi es una condición del enlace; la validez de la medición pertenece a otra parte de la aplicación.</a:t>
            </a:r>
          </a:p>
          <a:p xmlns:a="http://schemas.openxmlformats.org/drawingml/2006/main">
            <a:r>
              <a:t/>
            </a:r>
          </a:p>
          <a:p xmlns:a="http://schemas.openxmlformats.org/drawingml/2006/main">
            <a:r>
              <a:t>La ruta principal enseña una conexión local y una respuesta HTTP sencilla. NTP se utiliza como ampliación guiada de referencia de tiempo. El mouse BLE queda como demostración opcional en hardware, porque el simulador consultado no implementa esa radio. Se conserva el enlace de ampliación sin convertir tres tecnologías de red en un supuesto dominio avanzado durante una sola sesión.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19. Esquema original del laboratorio para reconocer la arquitectura en Wokwi. Para montaje físico se aplica la tabla y las correcciones de esta lectura.</a:t>
            </a:r>
          </a:p>
          <a:p xmlns:a="http://schemas.openxmlformats.org/drawingml/2006/main">
            <a:r>
              <a:t>La red permite transportar información entre programas. No mejora automáticamente la exactitud del sensor ni garantiza que todos los mensajes lleguen. El proyecto de riego aporta un servidor web; el reloj aporta una referencia de hora. En la ruta de drones reutilizamos esas ideas para observar datos de banco en tierra. La bomba y el agua no son necesarias para aprender la cadena de comunicación.</a:t>
            </a:r>
          </a:p>
          <a:p xmlns:a="http://schemas.openxmlformats.org/drawingml/2006/main">
            <a:r>
              <a:t/>
            </a:r>
          </a:p>
          <a:p xmlns:a="http://schemas.openxmlformats.org/drawingml/2006/main">
            <a:r>
              <a:t>MECRO, proyecto 19.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curso diferencia datos locales, mensajes enviados y registros recibidos. Una pantalla remota puede conservar la última respuesta aunque el dispositivo haya dejado de actualizar. Por eso se transportan identificador, tiempo y estado junto al valor. La conexión Wi-Fi es una condición del enlace; la validez de la medición pertenece a otra parte de la aplicación.</a:t>
            </a:r>
          </a:p>
          <a:p xmlns:a="http://schemas.openxmlformats.org/drawingml/2006/main">
            <a:r>
              <a:t/>
            </a:r>
          </a:p>
          <a:p xmlns:a="http://schemas.openxmlformats.org/drawingml/2006/main">
            <a:r>
              <a:t>La ruta principal enseña una conexión local y una respuesta HTTP sencilla. NTP se utiliza como ampliación guiada de referencia de tiempo. El mouse BLE queda como demostración opcional en hardware, porque el simulador consultado no implementa esa radio. Se conserva el enlace de ampliación sin convertir tres tecnologías de red en un supuesto dominio avanzado durante una sola sesión.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La red permite transportar información entre programas. No mejora automáticamente la exactitud del sensor ni garantiza que todos los mensajes lleguen. El proyecto de riego aporta un servidor web; el reloj aporta una referencia de hora. En la ruta de drones reutilizamos esas ideas para observar datos de banco en tierra. La bomba y el agua no son necesarias para aprender la cadena de comunicación.</a:t>
            </a:r>
          </a:p>
          <a:p xmlns:a="http://schemas.openxmlformats.org/drawingml/2006/main">
            <a:r>
              <a:t/>
            </a:r>
          </a:p>
          <a:p xmlns:a="http://schemas.openxmlformats.org/drawingml/2006/main">
            <a:r>
              <a:t>MECRO, proyecto 19.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curso diferencia datos locales, mensajes enviados y registros recibidos. Una pantalla remota puede conservar la última respuesta aunque el dispositivo haya dejado de actualizar. Por eso se transportan identificador, tiempo y estado junto al valor. La conexión Wi-Fi es una condición del enlace; la validez de la medición pertenece a otra parte de la aplicación.</a:t>
            </a:r>
          </a:p>
          <a:p xmlns:a="http://schemas.openxmlformats.org/drawingml/2006/main">
            <a:r>
              <a:t/>
            </a:r>
          </a:p>
          <a:p xmlns:a="http://schemas.openxmlformats.org/drawingml/2006/main">
            <a:r>
              <a:t>La ruta principal enseña una conexión local y una respuesta HTTP sencilla. NTP se utiliza como ampliación guiada de referencia de tiempo. El mouse BLE queda como demostración opcional en hardware, porque el simulador consultado no implementa esa radio. Se conserva el enlace de ampliación sin convertir tres tecnologías de red en un supuesto dominio avanzado durante una sola sesión.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En modo estación, el ESP32 se conecta a una red que le asigna o permite usar una dirección. Un servidor atiende solicitudes sobre una interfaz; un cliente inicia una solicitud. HTTP organiza método, ruta y respuesta. Nuestro recurso /datos devuelve un objeto pequeño con nombres de campo. Una dirección IP mostrada por un simulador no tiene por qué ser accesible desde el navegador de la computadora del alumno.</a:t>
            </a:r>
          </a:p>
          <a:p xmlns:a="http://schemas.openxmlformats.org/drawingml/2006/main">
            <a:r>
              <a:t/>
            </a:r>
          </a:p>
          <a:p xmlns:a="http://schemas.openxmlformats.org/drawingml/2006/main">
            <a:r>
              <a:t>Término / Función / Ejemplo</a:t>
            </a:r>
          </a:p>
          <a:p xmlns:a="http://schemas.openxmlformats.org/drawingml/2006/main">
            <a:r>
              <a:t>SSID / Nombre de red / Red del laboratorio</a:t>
            </a:r>
          </a:p>
          <a:p xmlns:a="http://schemas.openxmlformats.org/drawingml/2006/main">
            <a:r>
              <a:t>IP / Dirección del equipo / Observar la asignada</a:t>
            </a:r>
          </a:p>
          <a:p xmlns:a="http://schemas.openxmlformats.org/drawingml/2006/main">
            <a:r>
              <a:t>Ruta / Recurso solicitado / /datos</a:t>
            </a:r>
          </a:p>
          <a:p xmlns:a="http://schemas.openxmlformats.org/drawingml/2006/main">
            <a:r>
              <a:t>Respuesta / Contenido y estado / JSON de lecturas</a:t>
            </a:r>
          </a:p>
          <a:p xmlns:a="http://schemas.openxmlformats.org/drawingml/2006/main">
            <a:r>
              <a:t/>
            </a:r>
          </a:p>
          <a:p xmlns:a="http://schemas.openxmlformats.org/drawingml/2006/main">
            <a:r>
              <a:t>Wokwi ofrece conexión saliente a internet mediante su gateway. El acceso entrante a un servidor simulado requiere una configuración de gateway compatible y puede depender del servicio disponible. La práctica gratuita puede observar conexión, datos de serie y consultas salientes; el servidor HTTP local se demuestra con la placa del docente o con el gateway habilitado. El curso no promete abrir la IP simulada desde cualquier celular sin esa condición.</a:t>
            </a:r>
          </a:p>
          <a:p xmlns:a="http://schemas.openxmlformats.org/drawingml/2006/main">
            <a:r>
              <a:t/>
            </a:r>
          </a:p>
          <a:p xmlns:a="http://schemas.openxmlformats.org/drawingml/2006/main">
            <a:r>
              <a:t>El estado Wi-Fi indica conectado, pero /datos muestra una lectura antigua. ¿Qué parte falta revisar?</a:t>
            </a:r>
          </a:p>
          <a:p xmlns:a="http://schemas.openxmlformats.org/drawingml/2006/main">
            <a:r>
              <a:t>La adquisición, su marca de tiempo y la generación de la respuesta. Tener enlace no demuestra que exista una medida nueva.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Término / Función / Ejemplo</a:t>
            </a:r>
          </a:p>
          <a:p xmlns:a="http://schemas.openxmlformats.org/drawingml/2006/main">
            <a:r>
              <a:t>SSID / Nombre de red / Red del laboratorio</a:t>
            </a:r>
          </a:p>
          <a:p xmlns:a="http://schemas.openxmlformats.org/drawingml/2006/main">
            <a:r>
              <a:t>IP / Dirección del equipo / Observar la asignada</a:t>
            </a:r>
          </a:p>
          <a:p xmlns:a="http://schemas.openxmlformats.org/drawingml/2006/main">
            <a:r>
              <a:t>Ruta / Recurso solicitado / /datos</a:t>
            </a:r>
          </a:p>
          <a:p xmlns:a="http://schemas.openxmlformats.org/drawingml/2006/main">
            <a:r>
              <a:t>Respuesta / Contenido y estado / JSON de lecturas</a:t>
            </a:r>
          </a:p>
          <a:p xmlns:a="http://schemas.openxmlformats.org/drawingml/2006/main">
            <a:r>
              <a:t>Comparar filas y explicar una condición que cambie la decisión.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El estado Wi-Fi indica conectado, pero /datos muestra una lectura antigua. ¿Qué parte falta revisar?</a:t>
            </a:r>
          </a:p>
          <a:p xmlns:a="http://schemas.openxmlformats.org/drawingml/2006/main">
            <a:r>
              <a:t>La adquisición, su marca de tiempo y la generación de la respuesta. Tener enlace no demuestra que exista una medida nueva.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millis() permite ordenar intervalos desde el inicio del equipo. La hora UTC sirve para relacionar registros con una referencia de calendario cuando se obtuvo una sincronización válida. NTP intercambia información temporal a través de la red; no convierte al ESP32 en un reloj atómico ni elimina los errores de latencia y de oscilador. Una lectura previa a la sincronización no se trata como hora correcta por estar escrita en una columna llamada fecha.</a:t>
            </a:r>
          </a:p>
          <a:p xmlns:a="http://schemas.openxmlformats.org/drawingml/2006/main">
            <a:r>
              <a:t/>
            </a:r>
          </a:p>
          <a:p xmlns:a="http://schemas.openxmlformats.org/drawingml/2006/main">
            <a:r>
              <a:t>Referencia / Útil para / Qué verificar</a:t>
            </a:r>
          </a:p>
          <a:p xmlns:a="http://schemas.openxmlformats.org/drawingml/2006/main">
            <a:r>
              <a:t>Tiempo desde inicio / Intervalos locales / Reinicio y retorno</a:t>
            </a:r>
          </a:p>
          <a:p xmlns:a="http://schemas.openxmlformats.org/drawingml/2006/main">
            <a:r>
              <a:t>Hora UTC / Relacionar registros / Origen y sincronización</a:t>
            </a:r>
          </a:p>
          <a:p xmlns:a="http://schemas.openxmlformats.org/drawingml/2006/main">
            <a:r>
              <a:t>Hora presentada / Lectura humana / Zona y formato</a:t>
            </a:r>
          </a:p>
          <a:p xmlns:a="http://schemas.openxmlformats.org/drawingml/2006/main">
            <a:r>
              <a:t/>
            </a:r>
          </a:p>
          <a:p xmlns:a="http://schemas.openxmlformats.org/drawingml/2006/main">
            <a:r>
              <a:t>Dos placas informan millis() = 5000. ¿Se demuestra que midieron en el mismo instante global?</a:t>
            </a:r>
          </a:p>
          <a:p xmlns:a="http://schemas.openxmlformats.org/drawingml/2006/main">
            <a:r>
              <a:t>No. Cada contador parte del inicio de su equipo. Se necesita una relación entre referencias si se quieren alinear registros.</a:t>
            </a:r>
          </a:p>
          <a:p xmlns:a="http://schemas.openxmlformats.org/drawingml/2006/main">
            <a:r>
              <a:t/>
            </a:r>
          </a:p>
          <a:p xmlns:a="http://schemas.openxmlformats.org/drawingml/2006/main">
            <a:r>
              <a:t>Para el proyecto final basta conservar una marca relativa coherente por dispositivo. Si el alumno añade UTC, registra también el estado de esa referencia. La precisión temporal necesaria depende de la pregunta: ordenar dos estados de una pantalla no exige lo mismo que relacionar mediciones rápidas de varios dispositivos. La elección se justifica por misión y evidencia.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 Útil para / Qué verificar</a:t>
            </a:r>
          </a:p>
          <a:p xmlns:a="http://schemas.openxmlformats.org/drawingml/2006/main">
            <a:r>
              <a:t>Tiempo desde inicio / Intervalos locales / Reinicio y retorno</a:t>
            </a:r>
          </a:p>
          <a:p xmlns:a="http://schemas.openxmlformats.org/drawingml/2006/main">
            <a:r>
              <a:t>Hora UTC / Relacionar registros / Origen y sincronización</a:t>
            </a:r>
          </a:p>
          <a:p xmlns:a="http://schemas.openxmlformats.org/drawingml/2006/main">
            <a:r>
              <a:t>Hora presentada / Lectura humana / Zona y formato</a:t>
            </a:r>
          </a:p>
          <a:p xmlns:a="http://schemas.openxmlformats.org/drawingml/2006/main">
            <a:r>
              <a:t>Comparar filas y explicar una condición que cambie la decisión.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Dos placas informan millis() = 5000. ¿Se demuestra que midieron en el mismo instante global?</a:t>
            </a:r>
          </a:p>
          <a:p xmlns:a="http://schemas.openxmlformats.org/drawingml/2006/main">
            <a:r>
              <a:t>No. Cada contador parte del inicio de su equipo. Se necesita una relación entre referencias si se quieren alinear registros.</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String payload = "{\"t_ms\":" + String(millis());</a:t>
            </a:r>
          </a:p>
          <a:p xmlns:a="http://schemas.openxmlformats.org/drawingml/2006/main">
            <a:r>
              <a:t>payload += ",\"adc\":" + String(analogRead(34)) + "}";</a:t>
            </a:r>
          </a:p>
          <a:p xmlns:a="http://schemas.openxmlformats.org/drawingml/2006/main">
            <a:r>
              <a:t>server.send(200, "application/json", payload);</a:t>
            </a:r>
          </a:p>
          <a:p xmlns:a="http://schemas.openxmlformats.org/drawingml/2006/main">
            <a:r>
              <a:t/>
            </a:r>
          </a:p>
          <a:p xmlns:a="http://schemas.openxmlformats.org/drawingml/2006/main">
            <a:r>
              <a:t>La versión completa adquiere el ADC en una agenda y atiende solicitudes en otra. Para hardware se configuran las credenciales de la red de laboratorio; las del simulador no corresponden automáticamente al aula física. Los ejemplos se comparten con valores de demostración, sin guardar contraseñas personales en la entrega pública. El docente muestra dónde se configura la conexión y conserva la práctica en un entorno local.</a:t>
            </a:r>
          </a:p>
          <a:p xmlns:a="http://schemas.openxmlformats.org/drawingml/2006/main">
            <a:r>
              <a:t/>
            </a:r>
          </a:p>
          <a:p xmlns:a="http://schemas.openxmlformats.org/drawingml/2006/main">
            <a:r>
              <a:t>La demostración puede ampliar el objeto con seq, valid y sample_ms. Esos campos permiten reconocer repetición, antigüedad y estado. El tiempo de la respuesta y el de la adquisición no son necesariamente iguales. El alumno explica cuál informa cada campo y evita actualizar sample_ms simplemente porque alguien pidió la página.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String payload = "{\"t_ms\":" + String(millis());</a:t>
            </a:r>
          </a:p>
          <a:p xmlns:a="http://schemas.openxmlformats.org/drawingml/2006/main">
            <a:r>
              <a:t>payload += ",\"adc\":" + String(analogRead(34)) + "}";</a:t>
            </a:r>
          </a:p>
          <a:p xmlns:a="http://schemas.openxmlformats.org/drawingml/2006/main">
            <a:r>
              <a:t>server.send(200, "application/json", payload);</a:t>
            </a:r>
          </a:p>
          <a:p xmlns:a="http://schemas.openxmlformats.org/drawingml/2006/main">
            <a:r>
              <a:t>Explicar entrada, estado, salida y momento de actualización.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String payload = "{\"t_ms\":" + String(millis());</a:t>
            </a:r>
          </a:p>
          <a:p xmlns:a="http://schemas.openxmlformats.org/drawingml/2006/main">
            <a:r>
              <a:t>payload += ",\"adc\":" + String(analogRead(34)) + "}";</a:t>
            </a:r>
          </a:p>
          <a:p xmlns:a="http://schemas.openxmlformats.org/drawingml/2006/main">
            <a:r>
              <a:t>server.send(200, "application/json", payload);</a:t>
            </a:r>
          </a:p>
          <a:p xmlns:a="http://schemas.openxmlformats.org/drawingml/2006/main">
            <a:r>
              <a:t/>
            </a:r>
          </a:p>
          <a:p xmlns:a="http://schemas.openxmlformats.org/drawingml/2006/main">
            <a:r>
              <a:t>La versión completa adquiere el ADC en una agenda y atiende solicitudes en otra. Para hardware se configuran las credenciales de la red de laboratorio; las del simulador no corresponden automáticamente al aula física. Los ejemplos se comparten con valores de demostración, sin guardar contraseñas personales en la entrega pública. El docente muestra dónde se configura la conexión y conserva la práctica en un entorno local.</a:t>
            </a:r>
          </a:p>
          <a:p xmlns:a="http://schemas.openxmlformats.org/drawingml/2006/main">
            <a:r>
              <a:t/>
            </a:r>
          </a:p>
          <a:p xmlns:a="http://schemas.openxmlformats.org/drawingml/2006/main">
            <a:r>
              <a:t>La demostración puede ampliar el objeto con seq, valid y sample_ms. Esos campos permiten reconocer repetición, antigüedad y estado. El tiempo de la respuesta y el de la adquisición no son necesariamente iguales. El alumno explica cuál informa cada campo y evita actualizar sample_ms simplemente porque alguien pidió la página.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Abre el proyecto 19 como referencia y sustituye la función de riego por observación de datos de banco.</a:t>
            </a:r>
          </a:p>
          <a:p xmlns:a="http://schemas.openxmlformats.org/drawingml/2006/main">
            <a:r>
              <a:t>Identifica qué programa actúa como cliente y cuál como servidor.</a:t>
            </a:r>
          </a:p>
          <a:p xmlns:a="http://schemas.openxmlformats.org/drawingml/2006/main">
            <a:r>
              <a:t>Ejecuta c14_wifi y observa conexión, marca local y lectura en serie.</a:t>
            </a:r>
          </a:p>
          <a:p xmlns:a="http://schemas.openxmlformats.org/drawingml/2006/main">
            <a:r>
              <a:t>En hardware o gateway habilitado, consulta /datos y compara respuesta y adquisición.</a:t>
            </a:r>
          </a:p>
          <a:p xmlns:a="http://schemas.openxmlformats.org/drawingml/2006/main">
            <a:r>
              <a:t>Estudia una pérdida de enlace o un valor que deja de actualizarse.</a:t>
            </a:r>
          </a:p>
          <a:p xmlns:a="http://schemas.openxmlformats.org/drawingml/2006/main">
            <a:r>
              <a:t>Añade estado y marca de adquisición al formato de un mensaje.</a:t>
            </a:r>
          </a:p>
          <a:p xmlns:a="http://schemas.openxmlformats.org/drawingml/2006/main">
            <a:r>
              <a:t>En la ampliación NTP, diferencia tiempo previo y posterior a una sincronización verificada.</a:t>
            </a:r>
          </a:p>
          <a:p xmlns:a="http://schemas.openxmlformats.org/drawingml/2006/main">
            <a:r>
              <a:t/>
            </a:r>
          </a:p>
          <a:p xmlns:a="http://schemas.openxmlformats.org/drawingml/2006/main">
            <a:r>
              <a:t>Campo / Qué aporta</a:t>
            </a:r>
          </a:p>
          <a:p xmlns:a="http://schemas.openxmlformats.org/drawingml/2006/main">
            <a:r>
              <a:t>equipo / seq / Origen y orden</a:t>
            </a:r>
          </a:p>
          <a:p xmlns:a="http://schemas.openxmlformats.org/drawingml/2006/main">
            <a:r>
              <a:t>sample_ms / Instante de adquisición</a:t>
            </a:r>
          </a:p>
          <a:p xmlns:a="http://schemas.openxmlformats.org/drawingml/2006/main">
            <a:r>
              <a:t>valor / unidad / Significado físico</a:t>
            </a:r>
          </a:p>
          <a:p xmlns:a="http://schemas.openxmlformats.org/drawingml/2006/main">
            <a:r>
              <a:t>valid / Estado del dato</a:t>
            </a:r>
          </a:p>
          <a:p xmlns:a="http://schemas.openxmlformats.org/drawingml/2006/main">
            <a:r>
              <a:t/>
            </a:r>
          </a:p>
          <a:p xmlns:a="http://schemas.openxmlformats.org/drawingml/2006/main">
            <a:r>
              <a:t>Si un alumno no dispone de un servidor accesible en el simulador, realiza la misma revisión sobre el registro local y sobre respuestas identificadas de la demostración docente. No se exige contratar un servicio adicional para demostrar comprensión del formato y de la antigüedad. La limitación de acceso se registra como condición del entorno, separada de un error del circuito.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Campo / Qué aporta</a:t>
            </a:r>
          </a:p>
          <a:p xmlns:a="http://schemas.openxmlformats.org/drawingml/2006/main">
            <a:r>
              <a:t>equipo / seq / Origen y orden</a:t>
            </a:r>
          </a:p>
          <a:p xmlns:a="http://schemas.openxmlformats.org/drawingml/2006/main">
            <a:r>
              <a:t>sample_ms / Instante de adquisición</a:t>
            </a:r>
          </a:p>
          <a:p xmlns:a="http://schemas.openxmlformats.org/drawingml/2006/main">
            <a:r>
              <a:t>valor / unidad / Significado físico</a:t>
            </a:r>
          </a:p>
          <a:p xmlns:a="http://schemas.openxmlformats.org/drawingml/2006/main">
            <a:r>
              <a:t>valid / Estado del dato</a:t>
            </a:r>
          </a:p>
          <a:p xmlns:a="http://schemas.openxmlformats.org/drawingml/2006/main">
            <a:r>
              <a:t>Comparar filas y explicar una condición que cambie la decisión.</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Abre el proyecto 19 como referencia y sustituye la función de riego por observación de datos de banco.</a:t>
            </a:r>
          </a:p>
          <a:p xmlns:a="http://schemas.openxmlformats.org/drawingml/2006/main">
            <a:r>
              <a:t>Identifica qué programa actúa como cliente y cuál como servidor.</a:t>
            </a:r>
          </a:p>
          <a:p xmlns:a="http://schemas.openxmlformats.org/drawingml/2006/main">
            <a:r>
              <a:t>Ejecuta c14_wifi y observa conexión, marca local y lectura en serie.</a:t>
            </a:r>
          </a:p>
          <a:p xmlns:a="http://schemas.openxmlformats.org/drawingml/2006/main">
            <a:r>
              <a:t>En hardware o gateway habilitado, consulta /datos y compara respuesta y adquisición.</a:t>
            </a:r>
          </a:p>
          <a:p xmlns:a="http://schemas.openxmlformats.org/drawingml/2006/main">
            <a:r>
              <a:t>Estudia una pérdida de enlace o un valor que deja de actualizarse.</a:t>
            </a:r>
          </a:p>
          <a:p xmlns:a="http://schemas.openxmlformats.org/drawingml/2006/main">
            <a:r>
              <a:t>Añade estado y marca de adquisición al formato de un mensaje.</a:t>
            </a:r>
          </a:p>
          <a:p xmlns:a="http://schemas.openxmlformats.org/drawingml/2006/main">
            <a:r>
              <a:t>En la ampliación NTP, diferencia tiempo previo y posterior a una sincronización verificada.</a:t>
            </a:r>
          </a:p>
          <a:p xmlns:a="http://schemas.openxmlformats.org/drawingml/2006/main">
            <a:r>
              <a:t>Verificar un paso antes de seguir.</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El mouse aéreo reutiliza velocidad angular, zona muerta e interfaz HID sobre BLE en hardware compatible. Es una ampliación útil, pero no reemplaza el estudio de ADC, medida y control. LoRa, registro MicroSD, MQTT, OTA y organización avanzada de tareas pertenecen a otra ruta de formación. La presente sesión ofrece un punto de entrada a datos en tierra y deja una base de registro útil para ese siguiente nivel.</a:t>
            </a:r>
          </a:p>
          <a:p xmlns:a="http://schemas.openxmlformats.org/drawingml/2006/main">
            <a:r>
              <a:t/>
            </a:r>
          </a:p>
          <a:p xmlns:a="http://schemas.openxmlformats.org/drawingml/2006/main">
            <a:r>
              <a:t>Se reciben dos respuestas que contienen la misma secuencia y el mismo instante de adquisición. ¿Hay dos muestras nuevas?</a:t>
            </a:r>
          </a:p>
          <a:p xmlns:a="http://schemas.openxmlformats.org/drawingml/2006/main">
            <a:r>
              <a:t>No necesariamente. Pueden ser dos transportes de una misma lectura. El identificador y el instante permiten reconocerlo.</a:t>
            </a:r>
          </a:p>
          <a:p xmlns:a="http://schemas.openxmlformats.org/drawingml/2006/main">
            <a:r>
              <a:t/>
            </a:r>
          </a:p>
          <a:p xmlns:a="http://schemas.openxmlformats.org/drawingml/2006/main">
            <a:r>
              <a:t>Investiga qué puede aportar NTP al ordenar datos y qué no demuestra acerca de la precisión de un sensor. Después compara BLE HID y HTTP por su función de aplicación: uno puede presentar un dispositivo de entrada y el otro intercambiar recursos. El estudiante debe poder elegir una interfaz por lo que necesita transportar, no solo por la presencia de radio en la placa.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4 minutos en esta diapositiva.</a:t>
            </a:r>
          </a:p>
          <a:p xmlns:a="http://schemas.openxmlformats.org/drawingml/2006/main">
            <a:r>
              <a:t/>
            </a:r>
          </a:p>
          <a:p xmlns:a="http://schemas.openxmlformats.org/drawingml/2006/main">
            <a:r>
              <a:t>El mouse aéreo reutiliza velocidad angular, zona muerta e interfaz HID sobre BLE en hardware compatible. Es una ampliación útil, pero no reemplaza el estudio de ADC, medida y control. LoRa, registro MicroSD, MQTT, OTA y organización avanzada de tareas pertenecen a otra ruta de formación. La presente sesión ofrece un punto de entrada a datos en tierra y deja una base de registro útil para ese siguiente nivel.</a:t>
            </a:r>
          </a:p>
          <a:p xmlns:a="http://schemas.openxmlformats.org/drawingml/2006/main">
            <a:r>
              <a:t/>
            </a:r>
          </a:p>
          <a:p xmlns:a="http://schemas.openxmlformats.org/drawingml/2006/main">
            <a:r>
              <a:t>Se reciben dos respuestas que contienen la misma secuencia y el mismo instante de adquisición. ¿Hay dos muestras nuevas?</a:t>
            </a:r>
          </a:p>
          <a:p xmlns:a="http://schemas.openxmlformats.org/drawingml/2006/main">
            <a:r>
              <a:t>No necesariamente. Pueden ser dos transportes de una misma lectura. El identificador y el instante permiten reconocerlo.</a:t>
            </a:r>
          </a:p>
          <a:p xmlns:a="http://schemas.openxmlformats.org/drawingml/2006/main">
            <a:r>
              <a:t/>
            </a:r>
          </a:p>
          <a:p xmlns:a="http://schemas.openxmlformats.org/drawingml/2006/main">
            <a:r>
              <a:t>Investiga qué puede aportar NTP al ordenar datos y qué no demuestra acerca de la precisión de un sensor. Después compara BLE HID y HTTP por su función de aplicación: uno puede presentar un dispositivo de entrada y el otro intercambiar recursos. El estudiante debe poder elegir una interfaz por lo que necesita transportar, no solo por la presencia de radio en la placa.</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Se reciben dos respuestas que contienen la misma secuencia y el mismo instante de adquisición. ¿Hay dos muestras nuevas?</a:t>
            </a:r>
          </a:p>
          <a:p xmlns:a="http://schemas.openxmlformats.org/drawingml/2006/main">
            <a:r>
              <a:t>No necesariamente. Pueden ser dos transportes de una misma lectura. El identificador y el instante permiten reconocerlo.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el mismo dato en local y en una respuesta remota.</a:t>
            </a:r>
          </a:p>
          <a:p xmlns:a="http://schemas.openxmlformats.org/drawingml/2006/main">
            <a:r>
              <a:t>Separar estado Wi-Fi, solicitud HTTP y validez de muestra.</a:t>
            </a:r>
          </a:p>
          <a:p xmlns:a="http://schemas.openxmlformats.org/drawingml/2006/main">
            <a:r>
              <a:t>Comprobar c14_wifi con la condición de entorno disponible.</a:t>
            </a:r>
          </a:p>
          <a:p xmlns:a="http://schemas.openxmlformats.org/drawingml/2006/main">
            <a:r>
              <a:t>Analizar tiempo relativo, UTC y duplicación de una lectura.</a:t>
            </a:r>
          </a:p>
          <a:p xmlns:a="http://schemas.openxmlformats.org/drawingml/2006/main">
            <a:r>
              <a:t>Rotar código, medida y registro.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10 minutos en esta diapositiva.</a:t>
            </a:r>
          </a:p>
          <a:p xmlns:a="http://schemas.openxmlformats.org/drawingml/2006/main">
            <a:r>
              <a:t/>
            </a:r>
          </a:p>
          <a:p xmlns:a="http://schemas.openxmlformats.org/drawingml/2006/main">
            <a:r>
              <a:t>Una estación de apoyo a drones necesita saber qué dato recibió y si corresponde al estado reciente del equipo.</a:t>
            </a:r>
          </a:p>
          <a:p xmlns:a="http://schemas.openxmlformats.org/drawingml/2006/main">
            <a:r>
              <a:t>Formato de datos, prueba de adquisición y transporte, y nota del entorno utilizado.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Datos en tierra: Wi-Fi, HTTP y marcas de tiempo.</a:t>
            </a:r>
          </a:p>
          <a:p xmlns:a="http://schemas.openxmlformats.org/drawingml/2006/main">
            <a:r>
              <a:t>En línea, 2 horas. Núcleo de explicación: 5 minutos en esta diapositiva.</a:t>
            </a:r>
          </a:p>
          <a:p xmlns:a="http://schemas.openxmlformats.org/drawingml/2006/main">
            <a:r>
              <a:t/>
            </a:r>
          </a:p>
          <a:p xmlns:a="http://schemas.openxmlformats.org/drawingml/2006/main">
            <a:r>
              <a:t>Formato de datos, prueba de adquisición y transporte, y nota del entorno utilizado.</a:t>
            </a:r>
          </a:p>
          <a:p xmlns:a="http://schemas.openxmlformats.org/drawingml/2006/main">
            <a:r>
              <a:t/>
            </a:r>
          </a:p>
          <a:p xmlns:a="http://schemas.openxmlformats.org/drawingml/2006/main">
            <a:r>
              <a:t>Objetivo: Publicar o registrar una lectura con su origen temporal y diferenciar conectividad, recepción y dato válido.</a:t>
            </a:r>
          </a:p>
          <a:p xmlns:a="http://schemas.openxmlformats.org/drawingml/2006/main">
            <a:r>
              <a:t>Aplicación: Una estación de apoyo a drones necesita saber qué dato recibió y si corresponde al estado reciente del equipo.</a:t>
            </a:r>
          </a:p>
          <a:p xmlns:a="http://schemas.openxmlformats.org/drawingml/2006/main">
            <a:r>
              <a:t>Entrega: Formato de datos, prueba de adquisición y transporte, y nota del entorno utilizado.</a:t>
            </a:r>
          </a:p>
          <a:p xmlns:a="http://schemas.openxmlformats.org/drawingml/2006/main">
            <a:r>
              <a:t/>
            </a:r>
          </a:p>
          <a:p xmlns:a="http://schemas.openxmlformats.org/drawingml/2006/main">
            <a:r>
              <a:t>Preguntas y respuestas</a:t>
            </a:r>
          </a:p>
          <a:p xmlns:a="http://schemas.openxmlformats.org/drawingml/2006/main">
            <a:r>
              <a:t>¿La IP de Wokwi se abre siempre desde el celular?</a:t>
            </a:r>
          </a:p>
          <a:p xmlns:a="http://schemas.openxmlformats.org/drawingml/2006/main">
            <a:r>
              <a:t>No. El acceso entrante depende de un gateway y de la configuración disponible.</a:t>
            </a:r>
          </a:p>
          <a:p xmlns:a="http://schemas.openxmlformats.org/drawingml/2006/main">
            <a:r>
              <a:t/>
            </a:r>
          </a:p>
          <a:p xmlns:a="http://schemas.openxmlformats.org/drawingml/2006/main">
            <a:r>
              <a:t>¿NTP vuelve atómico al reloj de la placa?</a:t>
            </a:r>
          </a:p>
          <a:p xmlns:a="http://schemas.openxmlformats.org/drawingml/2006/main">
            <a:r>
              <a:t>No. Aporta una referencia sincronizada con limitaciones de red y de reloj.</a:t>
            </a:r>
          </a:p>
          <a:p xmlns:a="http://schemas.openxmlformats.org/drawingml/2006/main">
            <a:r>
              <a:t/>
            </a:r>
          </a:p>
          <a:p xmlns:a="http://schemas.openxmlformats.org/drawingml/2006/main">
            <a:r>
              <a:t>¿Dos respuestas equivalen a dos muestras?</a:t>
            </a:r>
          </a:p>
          <a:p xmlns:a="http://schemas.openxmlformats.org/drawingml/2006/main">
            <a:r>
              <a:t>No si transportan la misma adquisición. Se revisan secuencia e instante.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Wi-Fi. https://docs.espressif.com/projects/arduino-esp32/en/latest/api/wifi.html</a:t>
            </a:r>
          </a:p>
          <a:p xmlns:a="http://schemas.openxmlformats.org/drawingml/2006/main">
            <a:r>
              <a:t>Wokwi. ESP32 WiFi: acceso entrante y saliente. https://docs.wokwi.com/guides/esp32-wifi</a:t>
            </a:r>
          </a:p>
          <a:p xmlns:a="http://schemas.openxmlformats.org/drawingml/2006/main">
            <a:r>
              <a:t>Wokwi. ESP32 Simulation: periféricos y límites. https://docs.wokwi.com/guides/esp32</a:t>
            </a:r>
          </a:p>
          <a:p xmlns:a="http://schemas.openxmlformats.org/drawingml/2006/main">
            <a:r>
              <a:t>Arduino. Referencia del lenguaje: millis. https://docs.arduino.cc/language-reference/en/functions/time/millis/</a:t>
            </a:r>
          </a:p>
          <a:p xmlns:a="http://schemas.openxmlformats.org/drawingml/2006/main">
            <a:r>
              <a:t>Lectura MECRO_ESP32_Clase_14.pdf.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3c79ae1c84b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ffd4fa4c0e4e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ba2487b49747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cdf9171f1f4e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f5199cf36f4d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2d472ba4c44d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89AE7B-4A5A-4A9F-AF2E-C8C145CC62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E49E7D-A677-4720-B7BE-C496710FEF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594307-7FD6-44C3-9332-0A433AD2E9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0E1D60-6374-4AF2-AD06-A5DC1865D1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BC397C-501E-478D-A1A9-E978406B81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A81D7D-B04A-4C94-9499-026B9CEDFE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27D718-2152-4EA2-9865-F4A8DA6440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6B7C91-52DE-453E-B604-FE65E3AF31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B44153-968B-48B4-8690-315D271748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D073A8-39E0-48B1-A271-7291FCC31E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54135a010445ca" /><Relationship Type="http://schemas.openxmlformats.org/officeDocument/2006/relationships/slideLayout" Target="/ppt/slideLayouts/slideLayout1.xml" Id="Re09b71ff129e42f2" /><Relationship Type="http://schemas.openxmlformats.org/officeDocument/2006/relationships/slideLayout" Target="/ppt/slideLayouts/slideLayout2.xml" Id="R556a4be140ee4e5f" /><Relationship Type="http://schemas.openxmlformats.org/officeDocument/2006/relationships/slideLayout" Target="/ppt/slideLayouts/slideLayout3.xml" Id="R0e677ebf4ac34d77" /><Relationship Type="http://schemas.openxmlformats.org/officeDocument/2006/relationships/slideLayout" Target="/ppt/slideLayouts/slideLayout4.xml" Id="R8e69d163c86c4810" /><Relationship Type="http://schemas.openxmlformats.org/officeDocument/2006/relationships/slideLayout" Target="/ppt/slideLayouts/slideLayout5.xml" Id="R53e28af8d66a4a31" /><Relationship Type="http://schemas.openxmlformats.org/officeDocument/2006/relationships/slideLayout" Target="/ppt/slideLayouts/slideLayout6.xml" Id="Rc4f9b3a64b80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9b71ff129e42f2"/>
    <p:sldLayoutId xmlns:r="http://schemas.openxmlformats.org/officeDocument/2006/relationships" id="2147483650" r:id="R556a4be140ee4e5f"/>
    <p:sldLayoutId xmlns:r="http://schemas.openxmlformats.org/officeDocument/2006/relationships" id="2147483651" r:id="R0e677ebf4ac34d77"/>
    <p:sldLayoutId xmlns:r="http://schemas.openxmlformats.org/officeDocument/2006/relationships" id="2147483652" r:id="R8e69d163c86c4810"/>
    <p:sldLayoutId xmlns:r="http://schemas.openxmlformats.org/officeDocument/2006/relationships" id="2147483653" r:id="R53e28af8d66a4a31"/>
    <p:sldLayoutId xmlns:r="http://schemas.openxmlformats.org/officeDocument/2006/relationships" id="2147483654" r:id="Rc4f9b3a64b80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48cfc684f64e33" /><Relationship Type="http://schemas.openxmlformats.org/officeDocument/2006/relationships/image" Target="/ppt/media/image.png" Id="R246cbe74387e4edd" /><Relationship Type="http://schemas.openxmlformats.org/officeDocument/2006/relationships/notesSlide" Target="/ppt/notesSlides/notesSlide1.xml" Id="R0ed91ee2e60b45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d01673c2314919" /><Relationship Type="http://schemas.openxmlformats.org/officeDocument/2006/relationships/image" Target="/ppt/media/image2.png" Id="Ra1c4e73e6be74164" /><Relationship Type="http://schemas.openxmlformats.org/officeDocument/2006/relationships/notesSlide" Target="/ppt/notesSlides/notesSlide2.xml" Id="R3764eb4bcbf042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4350668bee4bc9" /><Relationship Type="http://schemas.openxmlformats.org/officeDocument/2006/relationships/image" Target="/ppt/media/image3.png" Id="R3048f8fcaa194d13" /><Relationship Type="http://schemas.openxmlformats.org/officeDocument/2006/relationships/image" Target="/ppt/media/image4.png" Id="Rdd661cea124d4213" /><Relationship Type="http://schemas.openxmlformats.org/officeDocument/2006/relationships/notesSlide" Target="/ppt/notesSlides/notesSlide3.xml" Id="R29fdab97dbae46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18d36d084840aa" /><Relationship Type="http://schemas.openxmlformats.org/officeDocument/2006/relationships/image" Target="/ppt/media/image5.png" Id="R82f0302bc9464eb4" /><Relationship Type="http://schemas.openxmlformats.org/officeDocument/2006/relationships/notesSlide" Target="/ppt/notesSlides/notesSlide4.xml" Id="R36f202e1d0344c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dcc332cbfb4489" /><Relationship Type="http://schemas.openxmlformats.org/officeDocument/2006/relationships/image" Target="/ppt/media/image6.png" Id="Rf57906d6673e4951" /><Relationship Type="http://schemas.openxmlformats.org/officeDocument/2006/relationships/notesSlide" Target="/ppt/notesSlides/notesSlide5.xml" Id="R56de18db04d545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0c5a6b00f44756" /><Relationship Type="http://schemas.openxmlformats.org/officeDocument/2006/relationships/image" Target="/ppt/media/image7.png" Id="R7bd2c51a21d04f46" /><Relationship Type="http://schemas.openxmlformats.org/officeDocument/2006/relationships/notesSlide" Target="/ppt/notesSlides/notesSlide6.xml" Id="R1287ba670f114e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2c08d63dd84452" /><Relationship Type="http://schemas.openxmlformats.org/officeDocument/2006/relationships/image" Target="/ppt/media/image8.png" Id="Rced51b5b7c484a20" /><Relationship Type="http://schemas.openxmlformats.org/officeDocument/2006/relationships/image" Target="/ppt/media/image9.png" Id="R685b7cb4b0ab4f4c" /><Relationship Type="http://schemas.openxmlformats.org/officeDocument/2006/relationships/notesSlide" Target="/ppt/notesSlides/notesSlide7.xml" Id="Rc52c61158ba44c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e4d0bfface4029" /><Relationship Type="http://schemas.openxmlformats.org/officeDocument/2006/relationships/image" Target="/ppt/media/image10.png" Id="R2b0fb9e882384313" /><Relationship Type="http://schemas.openxmlformats.org/officeDocument/2006/relationships/notesSlide" Target="/ppt/notesSlides/notesSlide8.xml" Id="R542abbac1e4141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32c6fec06d4c8b" /><Relationship Type="http://schemas.openxmlformats.org/officeDocument/2006/relationships/image" Target="/ppt/media/image11.png" Id="R835cf9ab098d4cc8" /><Relationship Type="http://schemas.openxmlformats.org/officeDocument/2006/relationships/notesSlide" Target="/ppt/notesSlides/notesSlide9.xml" Id="R48aa147d1bcb4d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96a350436f4ae8" /><Relationship Type="http://schemas.openxmlformats.org/officeDocument/2006/relationships/image" Target="/ppt/media/image12.png" Id="R6186959d8cea472d" /><Relationship Type="http://schemas.openxmlformats.org/officeDocument/2006/relationships/image" Target="/ppt/media/image13.png" Id="Rbb032848f4fb46f9" /><Relationship Type="http://schemas.openxmlformats.org/officeDocument/2006/relationships/notesSlide" Target="/ppt/notesSlides/notesSlide10.xml" Id="Rbee1e30949904d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51c32501a04048" /><Relationship Type="http://schemas.openxmlformats.org/officeDocument/2006/relationships/image" Target="/ppt/media/image14.png" Id="R281d7d00620c41b5" /><Relationship Type="http://schemas.openxmlformats.org/officeDocument/2006/relationships/notesSlide" Target="/ppt/notesSlides/notesSlide11.xml" Id="R6db8d28fb98d46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2386e3ccbf4f60" /><Relationship Type="http://schemas.openxmlformats.org/officeDocument/2006/relationships/image" Target="/ppt/media/image15.png" Id="R3ae45b94da254457" /><Relationship Type="http://schemas.openxmlformats.org/officeDocument/2006/relationships/notesSlide" Target="/ppt/notesSlides/notesSlide12.xml" Id="Ra33eb7218b5f44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17eb220da245b5" /><Relationship Type="http://schemas.openxmlformats.org/officeDocument/2006/relationships/image" Target="/ppt/media/image16.png" Id="Rc3c59a4f3d7448b4" /><Relationship Type="http://schemas.openxmlformats.org/officeDocument/2006/relationships/notesSlide" Target="/ppt/notesSlides/notesSlide13.xml" Id="Rd22e294c5f9845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a8f1a4e3974d9e" /><Relationship Type="http://schemas.openxmlformats.org/officeDocument/2006/relationships/image" Target="/ppt/media/image17.png" Id="Rf06fb3bd581f4a79" /><Relationship Type="http://schemas.openxmlformats.org/officeDocument/2006/relationships/notesSlide" Target="/ppt/notesSlides/notesSlide14.xml" Id="R19df898e51d346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ae212c56d8d463d" /><Relationship Type="http://schemas.openxmlformats.org/officeDocument/2006/relationships/image" Target="/ppt/media/image18.png" Id="Rf5730f934f2249e5" /><Relationship Type="http://schemas.openxmlformats.org/officeDocument/2006/relationships/notesSlide" Target="/ppt/notesSlides/notesSlide15.xml" Id="R66340bd11abd48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1b9664fb924280" /><Relationship Type="http://schemas.openxmlformats.org/officeDocument/2006/relationships/image" Target="/ppt/media/image19.png" Id="Rc4232a402e2d4d76" /><Relationship Type="http://schemas.openxmlformats.org/officeDocument/2006/relationships/notesSlide" Target="/ppt/notesSlides/notesSlide16.xml" Id="R7f7d2d77f74f48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b2fc9f5193e4c42" /><Relationship Type="http://schemas.openxmlformats.org/officeDocument/2006/relationships/image" Target="/ppt/media/image20.png" Id="Rc8b817d375144415" /><Relationship Type="http://schemas.openxmlformats.org/officeDocument/2006/relationships/notesSlide" Target="/ppt/notesSlides/notesSlide17.xml" Id="Rde078822d2304c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dea84ab4634446c" /><Relationship Type="http://schemas.openxmlformats.org/officeDocument/2006/relationships/image" Target="/ppt/media/image21.png" Id="Rdb050b2520cd42eb" /><Relationship Type="http://schemas.openxmlformats.org/officeDocument/2006/relationships/notesSlide" Target="/ppt/notesSlides/notesSlide18.xml" Id="Rd4c144c7a89f43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0bc42d4e44c46ee" /><Relationship Type="http://schemas.openxmlformats.org/officeDocument/2006/relationships/image" Target="/ppt/media/image22.png" Id="R2a76beaf1dc84f81" /><Relationship Type="http://schemas.openxmlformats.org/officeDocument/2006/relationships/notesSlide" Target="/ppt/notesSlides/notesSlide19.xml" Id="Rab1b192491a046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57eaa0cc0a14a80" /><Relationship Type="http://schemas.openxmlformats.org/officeDocument/2006/relationships/image" Target="/ppt/media/image23.png" Id="R6760e73add2d4fa9" /><Relationship Type="http://schemas.openxmlformats.org/officeDocument/2006/relationships/notesSlide" Target="/ppt/notesSlides/notesSlide20.xml" Id="Rca0874efa5e841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19fcc88871247cb" /><Relationship Type="http://schemas.openxmlformats.org/officeDocument/2006/relationships/image" Target="/ppt/media/image24.png" Id="R6e39b8be84f646fc" /><Relationship Type="http://schemas.openxmlformats.org/officeDocument/2006/relationships/notesSlide" Target="/ppt/notesSlides/notesSlide21.xml" Id="R9ecd9a038c794f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f2df7ea6446493c" /><Relationship Type="http://schemas.openxmlformats.org/officeDocument/2006/relationships/image" Target="/ppt/media/image25.png" Id="Rbf0cac57298c484d" /><Relationship Type="http://schemas.openxmlformats.org/officeDocument/2006/relationships/notesSlide" Target="/ppt/notesSlides/notesSlide22.xml" Id="Rd7628b86bda54c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b67e36f1fb14ab7" /><Relationship Type="http://schemas.openxmlformats.org/officeDocument/2006/relationships/image" Target="/ppt/media/image26.png" Id="Rf8a2f8041ae94c86" /><Relationship Type="http://schemas.openxmlformats.org/officeDocument/2006/relationships/notesSlide" Target="/ppt/notesSlides/notesSlide23.xml" Id="R922cc07c10ed4e5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c52abc633214192" /><Relationship Type="http://schemas.openxmlformats.org/officeDocument/2006/relationships/image" Target="/ppt/media/image27.png" Id="R3e0f289977dc4ea1" /><Relationship Type="http://schemas.openxmlformats.org/officeDocument/2006/relationships/notesSlide" Target="/ppt/notesSlides/notesSlide24.xml" Id="R23b2eb55f0fd4f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799ce6cdcd4bca" /><Relationship Type="http://schemas.openxmlformats.org/officeDocument/2006/relationships/image" Target="/ppt/media/image28.png" Id="R3683ad3c62fe4aa3" /><Relationship Type="http://schemas.openxmlformats.org/officeDocument/2006/relationships/notesSlide" Target="/ppt/notesSlides/notesSlide25.xml" Id="Rb055f04842a247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ad31346d9c94545" /><Relationship Type="http://schemas.openxmlformats.org/officeDocument/2006/relationships/image" Target="/ppt/media/image29.png" Id="R562611e1b1a34f5b" /><Relationship Type="http://schemas.openxmlformats.org/officeDocument/2006/relationships/notesSlide" Target="/ppt/notesSlides/notesSlide26.xml" Id="Rc787f53f92f14b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9a8341d2d8a46f9" /><Relationship Type="http://schemas.openxmlformats.org/officeDocument/2006/relationships/image" Target="/ppt/media/image30.png" Id="R9f3287820d044f96" /><Relationship Type="http://schemas.openxmlformats.org/officeDocument/2006/relationships/image" Target="/ppt/media/image31.png" Id="R41ea3cf6f9db4cf5" /><Relationship Type="http://schemas.openxmlformats.org/officeDocument/2006/relationships/notesSlide" Target="/ppt/notesSlides/notesSlide27.xml" Id="R535e5b88e097422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1a0efdc87a249f1" /><Relationship Type="http://schemas.openxmlformats.org/officeDocument/2006/relationships/image" Target="/ppt/media/image32.png" Id="R48d7b8f1f57f46a8" /><Relationship Type="http://schemas.openxmlformats.org/officeDocument/2006/relationships/notesSlide" Target="/ppt/notesSlides/notesSlide28.xml" Id="R7f448d49fdf145a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163e7f808294dba" /><Relationship Type="http://schemas.openxmlformats.org/officeDocument/2006/relationships/image" Target="/ppt/media/image33.png" Id="R9c5ff04f94ca48f7" /><Relationship Type="http://schemas.openxmlformats.org/officeDocument/2006/relationships/notesSlide" Target="/ppt/notesSlides/notesSlide29.xml" Id="R6d3d811f0efe47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49325985f5d4cf8" /><Relationship Type="http://schemas.openxmlformats.org/officeDocument/2006/relationships/image" Target="/ppt/media/image34.png" Id="Rb5e339285f614f83" /><Relationship Type="http://schemas.openxmlformats.org/officeDocument/2006/relationships/notesSlide" Target="/ppt/notesSlides/notesSlide30.xml" Id="R471cabb715bf4e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839cd3183be4518" /><Relationship Type="http://schemas.openxmlformats.org/officeDocument/2006/relationships/image" Target="/ppt/media/image35.png" Id="R8ad59cc8ddb9461b" /><Relationship Type="http://schemas.openxmlformats.org/officeDocument/2006/relationships/notesSlide" Target="/ppt/notesSlides/notesSlide31.xml" Id="Rfbd11fe9a766471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b8b97eed2eb417b" /><Relationship Type="http://schemas.openxmlformats.org/officeDocument/2006/relationships/image" Target="/ppt/media/image36.png" Id="Rd60af3d2e4f24a7b" /><Relationship Type="http://schemas.openxmlformats.org/officeDocument/2006/relationships/notesSlide" Target="/ppt/notesSlides/notesSlide32.xml" Id="R764518616f3b43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c639caa793b4d3d" /><Relationship Type="http://schemas.openxmlformats.org/officeDocument/2006/relationships/image" Target="/ppt/media/image37.png" Id="R093c1f85416d49b9" /><Relationship Type="http://schemas.openxmlformats.org/officeDocument/2006/relationships/notesSlide" Target="/ppt/notesSlides/notesSlide33.xml" Id="Rebe134d3a6e642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9e41c59239c40a6" /><Relationship Type="http://schemas.openxmlformats.org/officeDocument/2006/relationships/image" Target="/ppt/media/image38.png" Id="Rdc5f0e38358f44be" /><Relationship Type="http://schemas.openxmlformats.org/officeDocument/2006/relationships/notesSlide" Target="/ppt/notesSlides/notesSlide34.xml" Id="R5ab2657781e442a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c98cf3abf7d4e08" /><Relationship Type="http://schemas.openxmlformats.org/officeDocument/2006/relationships/image" Target="/ppt/media/image39.png" Id="R9bed5e4df3134145" /><Relationship Type="http://schemas.openxmlformats.org/officeDocument/2006/relationships/notesSlide" Target="/ppt/notesSlides/notesSlide35.xml" Id="R15dccb24d8254a3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0fb950135ee4953" /><Relationship Type="http://schemas.openxmlformats.org/officeDocument/2006/relationships/image" Target="/ppt/media/image40.png" Id="R56b34058eab648b5" /><Relationship Type="http://schemas.openxmlformats.org/officeDocument/2006/relationships/notesSlide" Target="/ppt/notesSlides/notesSlide36.xml" Id="R016e7169ac9542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6611d110e544196" /><Relationship Type="http://schemas.openxmlformats.org/officeDocument/2006/relationships/image" Target="/ppt/media/image41.png" Id="Raf698dd68c174f49" /><Relationship Type="http://schemas.openxmlformats.org/officeDocument/2006/relationships/notesSlide" Target="/ppt/notesSlides/notesSlide37.xml" Id="R00613f9fd29043a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d4a1c97f08d44a9" /><Relationship Type="http://schemas.openxmlformats.org/officeDocument/2006/relationships/image" Target="/ppt/media/image42.png" Id="R54fbb294c4024af3" /><Relationship Type="http://schemas.openxmlformats.org/officeDocument/2006/relationships/notesSlide" Target="/ppt/notesSlides/notesSlide38.xml" Id="R92aac9b91b6f4a6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da70bab6dbc4d32" /><Relationship Type="http://schemas.openxmlformats.org/officeDocument/2006/relationships/image" Target="/ppt/media/image43.png" Id="Rcd21cc611c214610" /><Relationship Type="http://schemas.openxmlformats.org/officeDocument/2006/relationships/notesSlide" Target="/ppt/notesSlides/notesSlide39.xml" Id="R2c5132d8f4954f4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d66f9295a7742a7" /><Relationship Type="http://schemas.openxmlformats.org/officeDocument/2006/relationships/image" Target="/ppt/media/image44.png" Id="R1beb8ba846ad4e34" /><Relationship Type="http://schemas.openxmlformats.org/officeDocument/2006/relationships/notesSlide" Target="/ppt/notesSlides/notesSlide40.xml" Id="R879930dbafb2482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9ec512672334c2a" /><Relationship Type="http://schemas.openxmlformats.org/officeDocument/2006/relationships/image" Target="/ppt/media/image45.png" Id="Rfb93e7e2667d426b" /><Relationship Type="http://schemas.openxmlformats.org/officeDocument/2006/relationships/notesSlide" Target="/ppt/notesSlides/notesSlide41.xml" Id="R061cc8843ea742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72d1cc0c3fc4a0a" /><Relationship Type="http://schemas.openxmlformats.org/officeDocument/2006/relationships/image" Target="/ppt/media/image46.png" Id="R0ad74a50f94946e3" /><Relationship Type="http://schemas.openxmlformats.org/officeDocument/2006/relationships/notesSlide" Target="/ppt/notesSlides/notesSlide42.xml" Id="Re1a15b54f38b4c5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eb21a886fb74eb1" /><Relationship Type="http://schemas.openxmlformats.org/officeDocument/2006/relationships/image" Target="/ppt/media/image47.png" Id="Rfe8b527c24f343ba" /><Relationship Type="http://schemas.openxmlformats.org/officeDocument/2006/relationships/notesSlide" Target="/ppt/notesSlides/notesSlide43.xml" Id="Rcf2a2a469e53415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880510b1c3f4036" /><Relationship Type="http://schemas.openxmlformats.org/officeDocument/2006/relationships/image" Target="/ppt/media/image48.png" Id="Rb9a1749566e34946" /><Relationship Type="http://schemas.openxmlformats.org/officeDocument/2006/relationships/notesSlide" Target="/ppt/notesSlides/notesSlide44.xml" Id="Re3c35c61febc494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d6a0de5caee43ea" /><Relationship Type="http://schemas.openxmlformats.org/officeDocument/2006/relationships/image" Target="/ppt/media/image49.png" Id="Rd75383f7dac84f83" /><Relationship Type="http://schemas.openxmlformats.org/officeDocument/2006/relationships/notesSlide" Target="/ppt/notesSlides/notesSlide45.xml" Id="R484ee8f4ca5f402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85861749b694b44" /><Relationship Type="http://schemas.openxmlformats.org/officeDocument/2006/relationships/image" Target="/ppt/media/image50.png" Id="Ra25b838d4f9a4884" /><Relationship Type="http://schemas.openxmlformats.org/officeDocument/2006/relationships/notesSlide" Target="/ppt/notesSlides/notesSlide46.xml" Id="R6b94ddbb78c649a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03bdabc59784689" /><Relationship Type="http://schemas.openxmlformats.org/officeDocument/2006/relationships/image" Target="/ppt/media/image51.png" Id="Rbd522e84c4e54f56" /><Relationship Type="http://schemas.openxmlformats.org/officeDocument/2006/relationships/notesSlide" Target="/ppt/notesSlides/notesSlide47.xml" Id="Rd237a6ba56f14db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f7bcf905c3aa4620" /><Relationship Type="http://schemas.openxmlformats.org/officeDocument/2006/relationships/image" Target="/ppt/media/image52.png" Id="R65feb7a2fb2449f0" /><Relationship Type="http://schemas.openxmlformats.org/officeDocument/2006/relationships/notesSlide" Target="/ppt/notesSlides/notesSlide48.xml" Id="Ra416c0002e3444e5"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407F08-07E0-4485-BBFB-EEA3E37F03F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Mando y control de banco: interpretar el proyecto de vuelo</a:t>
            </a:r>
          </a:p>
        </p:txBody>
      </p:sp>
      <p:pic>
        <p:nvPicPr>
          <p:cNvPr id="2" name="">
            <a:extLst xmlns:a="http://schemas.openxmlformats.org/drawingml/2006/main">
              <a:ext uri="{FF2B5EF4-FFF2-40B4-BE49-F238E27FC236}">
                <a16:creationId xmlns:a16="http://schemas.microsoft.com/office/drawing/2014/main" id="{B169F143-E786-46D5-880A-C0F8C3CA5E2E}"/>
              </a:ext>
            </a:extLst>
          </p:cNvPr>
          <p:cNvPicPr>
            <a:picLocks xmlns:a="http://schemas.openxmlformats.org/drawingml/2006/main" noChangeAspect="1"/>
          </p:cNvPicPr>
          <p:nvPr/>
        </p:nvPicPr>
        <p:blipFill>
          <a:blip xmlns:r="http://schemas.openxmlformats.org/officeDocument/2006/relationships" xmlns:a="http://schemas.openxmlformats.org/drawingml/2006/main" r:embed="R246cbe74387e4ed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B97119-992B-4F19-A584-5B6B23FFEFD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01/24</a:t>
            </a:r>
          </a:p>
        </p:txBody>
      </p:sp>
      <p:sp>
        <p:nvSpPr>
          <p:cNvPr id="4" name="">
            <a:extLst xmlns:a="http://schemas.openxmlformats.org/drawingml/2006/main">
              <a:ext uri="{FF2B5EF4-FFF2-40B4-BE49-F238E27FC236}">
                <a16:creationId xmlns:a16="http://schemas.microsoft.com/office/drawing/2014/main" id="{214895F4-B4AB-4347-8E40-6F9762A73A87}"/>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Transformar un joystick a una referencia normalizada y relacionarla con una medida y una acción proporcional declaradas.</a:t>
            </a:r>
          </a:p>
        </p:txBody>
      </p:sp>
      <p:sp>
        <p:nvSpPr>
          <p:cNvPr id="5" name="">
            <a:extLst xmlns:a="http://schemas.openxmlformats.org/drawingml/2006/main">
              <a:ext uri="{FF2B5EF4-FFF2-40B4-BE49-F238E27FC236}">
                <a16:creationId xmlns:a16="http://schemas.microsoft.com/office/drawing/2014/main" id="{5BA02B00-F28C-473F-A496-2BD5F7AE6126}"/>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flujo mando, estimación y corrección permite comprender la arquitectura de un UAV sin convertir un ejemplo numérico en un controlador de vuelo.</a:t>
            </a:r>
          </a:p>
        </p:txBody>
      </p:sp>
      <p:sp>
        <p:nvSpPr>
          <p:cNvPr id="6" name="">
            <a:extLst xmlns:a="http://schemas.openxmlformats.org/drawingml/2006/main">
              <a:ext uri="{FF2B5EF4-FFF2-40B4-BE49-F238E27FC236}">
                <a16:creationId xmlns:a16="http://schemas.microsoft.com/office/drawing/2014/main" id="{E0C68589-0606-44C1-A4C7-8CF90A1561C3}"/>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688810355"/>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8BB098-3A37-414C-AE24-25F08124269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el proyecto y cómo lo vamos a usar</a:t>
            </a:r>
          </a:p>
        </p:txBody>
      </p:sp>
      <p:pic>
        <p:nvPicPr>
          <p:cNvPr id="2" name="">
            <a:extLst xmlns:a="http://schemas.openxmlformats.org/drawingml/2006/main">
              <a:ext uri="{FF2B5EF4-FFF2-40B4-BE49-F238E27FC236}">
                <a16:creationId xmlns:a16="http://schemas.microsoft.com/office/drawing/2014/main" id="{D717F7CF-8F76-4FC2-A3C0-5585148EE788}"/>
              </a:ext>
            </a:extLst>
          </p:cNvPr>
          <p:cNvPicPr>
            <a:picLocks xmlns:a="http://schemas.openxmlformats.org/drawingml/2006/main" noChangeAspect="1"/>
          </p:cNvPicPr>
          <p:nvPr/>
        </p:nvPicPr>
        <p:blipFill>
          <a:blip xmlns:r="http://schemas.openxmlformats.org/officeDocument/2006/relationships" xmlns:a="http://schemas.openxmlformats.org/drawingml/2006/main" r:embed="Ra1c4e73e6be7416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D75283-7AC3-4BD5-89CD-06699B360DF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02/24</a:t>
            </a:r>
          </a:p>
        </p:txBody>
      </p:sp>
      <p:sp>
        <p:nvSpPr>
          <p:cNvPr id="4" name="">
            <a:extLst xmlns:a="http://schemas.openxmlformats.org/drawingml/2006/main">
              <a:ext uri="{FF2B5EF4-FFF2-40B4-BE49-F238E27FC236}">
                <a16:creationId xmlns:a16="http://schemas.microsoft.com/office/drawing/2014/main" id="{B87AC3BB-2190-4473-9F4D-E0D60ECC1B6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proyecto 17 del laboratorio lee joystick e IMU, calcula una corrección proporcional y muestra números en serie. Es una buena oportunidad para conectar varias ideas del curso, siempre que su nombre y su alcance se expliquen con precisión. La edición docente lo presenta como “Mando e IMU: demostración proporcional de banco”. Las variables impresas como salidas no son una prueba de actuación sobre motores ni una validación de vuelo.</a:t>
            </a:r>
          </a:p>
        </p:txBody>
      </p:sp>
    </p:spTree>
    <p:extLst>
      <p:ext uri="{BB962C8B-B14F-4D97-AF65-F5344CB8AC3E}">
        <p14:creationId xmlns:p14="http://schemas.microsoft.com/office/powerpoint/2010/main" val="54008357"/>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4F1D38-6A54-4B78-A64D-9253674E68D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el proyecto y cómo lo vamos a usar</a:t>
            </a:r>
          </a:p>
        </p:txBody>
      </p:sp>
      <p:pic>
        <p:nvPicPr>
          <p:cNvPr id="2" name="">
            <a:extLst xmlns:a="http://schemas.openxmlformats.org/drawingml/2006/main">
              <a:ext uri="{FF2B5EF4-FFF2-40B4-BE49-F238E27FC236}">
                <a16:creationId xmlns:a16="http://schemas.microsoft.com/office/drawing/2014/main" id="{92142612-7F4C-4B9A-93F6-CF0F4BF11CA7}"/>
              </a:ext>
            </a:extLst>
          </p:cNvPr>
          <p:cNvPicPr>
            <a:picLocks xmlns:a="http://schemas.openxmlformats.org/drawingml/2006/main" noChangeAspect="1"/>
          </p:cNvPicPr>
          <p:nvPr/>
        </p:nvPicPr>
        <p:blipFill>
          <a:blip xmlns:r="http://schemas.openxmlformats.org/officeDocument/2006/relationships" xmlns:a="http://schemas.openxmlformats.org/drawingml/2006/main" r:embed="R3048f8fcaa194d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6AA5DE-C70D-4034-B422-D170E73E12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03/24</a:t>
            </a:r>
          </a:p>
        </p:txBody>
      </p:sp>
      <p:pic>
        <p:nvPicPr>
          <p:cNvPr id="4" name="">
            <a:extLst xmlns:a="http://schemas.openxmlformats.org/drawingml/2006/main">
              <a:ext uri="{FF2B5EF4-FFF2-40B4-BE49-F238E27FC236}">
                <a16:creationId xmlns:a16="http://schemas.microsoft.com/office/drawing/2014/main" id="{2B393E15-66AE-4E8E-A307-0376B753B502}"/>
              </a:ext>
            </a:extLst>
          </p:cNvPr>
          <p:cNvPicPr>
            <a:picLocks xmlns:a="http://schemas.openxmlformats.org/drawingml/2006/main" noChangeAspect="1"/>
          </p:cNvPicPr>
          <p:nvPr/>
        </p:nvPicPr>
        <p:blipFill>
          <a:blip xmlns:r="http://schemas.openxmlformats.org/officeDocument/2006/relationships" xmlns:a="http://schemas.openxmlformats.org/drawingml/2006/main" r:embed="Rdd661cea124d4213"/>
          <a:stretch xmlns:a="http://schemas.openxmlformats.org/drawingml/2006/main"/>
        </p:blipFill>
        <p:spPr>
          <a:xfrm xmlns:a="http://schemas.openxmlformats.org/drawingml/2006/main">
            <a:off x="2273447" y="1638300"/>
            <a:ext cx="4044656"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047E1E-DD28-4228-8B25-1BF848600DA1}"/>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Señala mando y sensor. Esta demostración muestra datos de banco.</a:t>
            </a:r>
          </a:p>
        </p:txBody>
      </p:sp>
      <p:sp>
        <p:nvSpPr>
          <p:cNvPr id="6" name="">
            <a:extLst xmlns:a="http://schemas.openxmlformats.org/drawingml/2006/main">
              <a:ext uri="{FF2B5EF4-FFF2-40B4-BE49-F238E27FC236}">
                <a16:creationId xmlns:a16="http://schemas.microsoft.com/office/drawing/2014/main" id="{835B79BF-EBE5-48AE-BD8A-88092C8C3192}"/>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17.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1435362558"/>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712ED7-2DAE-420C-8382-39B57039868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hace el proyecto y cómo lo vamos a usar</a:t>
            </a:r>
          </a:p>
        </p:txBody>
      </p:sp>
      <p:pic>
        <p:nvPicPr>
          <p:cNvPr id="2" name="">
            <a:extLst xmlns:a="http://schemas.openxmlformats.org/drawingml/2006/main">
              <a:ext uri="{FF2B5EF4-FFF2-40B4-BE49-F238E27FC236}">
                <a16:creationId xmlns:a16="http://schemas.microsoft.com/office/drawing/2014/main" id="{5057462D-9F0D-4D15-B229-3F945E1F6570}"/>
              </a:ext>
            </a:extLst>
          </p:cNvPr>
          <p:cNvPicPr>
            <a:picLocks xmlns:a="http://schemas.openxmlformats.org/drawingml/2006/main" noChangeAspect="1"/>
          </p:cNvPicPr>
          <p:nvPr/>
        </p:nvPicPr>
        <p:blipFill>
          <a:blip xmlns:r="http://schemas.openxmlformats.org/officeDocument/2006/relationships" xmlns:a="http://schemas.openxmlformats.org/drawingml/2006/main" r:embed="R82f0302bc9464eb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0141EC-DB05-47E2-9263-60417F12FA5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04/24</a:t>
            </a:r>
          </a:p>
        </p:txBody>
      </p:sp>
      <p:sp>
        <p:nvSpPr>
          <p:cNvPr id="4" name="">
            <a:extLst xmlns:a="http://schemas.openxmlformats.org/drawingml/2006/main">
              <a:ext uri="{FF2B5EF4-FFF2-40B4-BE49-F238E27FC236}">
                <a16:creationId xmlns:a16="http://schemas.microsoft.com/office/drawing/2014/main" id="{6D388D42-74D1-4BF9-B662-9FD458C4892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Primero se separan tres bloques. El mando humano produce una referencia. La medición y su procesamiento producen una estimación. La comparación genera un error con unidad. Después se decide qué acción ilustrativa mostrar o aplicar al banco preparado. Si se mezclan esos bloques en una sola lista de números llamada “controlador”, cuesta detectar si el error proviene del joystick, del sensor, de la escala o del signo.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conexión con drones es conceptual y tangible a la vez: el alumno sostiene el mando y el módulo de sensores, observa sus cambios y explica cómo podría organizarse esa cadena en un sistema más completo. Mantener un propósito de banco permite ensayar hipótesis sin atribuir al ejercicio funciones que no se han desarrollado.</a:t>
            </a:r>
          </a:p>
        </p:txBody>
      </p:sp>
    </p:spTree>
    <p:extLst>
      <p:ext uri="{BB962C8B-B14F-4D97-AF65-F5344CB8AC3E}">
        <p14:creationId xmlns:p14="http://schemas.microsoft.com/office/powerpoint/2010/main" val="1899162958"/>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8E4BBD-E895-4F0A-BC97-B425814C441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Centro, escala y zona muerta del joystick</a:t>
            </a:r>
          </a:p>
        </p:txBody>
      </p:sp>
      <p:pic>
        <p:nvPicPr>
          <p:cNvPr id="2" name="">
            <a:extLst xmlns:a="http://schemas.openxmlformats.org/drawingml/2006/main">
              <a:ext uri="{FF2B5EF4-FFF2-40B4-BE49-F238E27FC236}">
                <a16:creationId xmlns:a16="http://schemas.microsoft.com/office/drawing/2014/main" id="{AC61B8AF-F8E5-4682-B22B-5962993DE570}"/>
              </a:ext>
            </a:extLst>
          </p:cNvPr>
          <p:cNvPicPr>
            <a:picLocks xmlns:a="http://schemas.openxmlformats.org/drawingml/2006/main" noChangeAspect="1"/>
          </p:cNvPicPr>
          <p:nvPr/>
        </p:nvPicPr>
        <p:blipFill>
          <a:blip xmlns:r="http://schemas.openxmlformats.org/officeDocument/2006/relationships" xmlns:a="http://schemas.openxmlformats.org/drawingml/2006/main" r:embed="Rf57906d6673e49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980F7E-C2C2-4771-BC5E-FD8595B9F3C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05/24</a:t>
            </a:r>
          </a:p>
        </p:txBody>
      </p:sp>
      <p:sp>
        <p:nvSpPr>
          <p:cNvPr id="4" name="">
            <a:extLst xmlns:a="http://schemas.openxmlformats.org/drawingml/2006/main">
              <a:ext uri="{FF2B5EF4-FFF2-40B4-BE49-F238E27FC236}">
                <a16:creationId xmlns:a16="http://schemas.microsoft.com/office/drawing/2014/main" id="{E92A2E18-662A-4585-93FC-B5FD07EA452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joystick analógico no siempre entrega exactamente 2048 al soltarlo ni recorre de forma simétrica hasta ambos extremos. Se registran centro y extremos útiles de cada eje. La normalización transforma esos valores a una convención, por ejemplo de −1 a 1. Una zona muerta conserva cero ante pequeñas variaciones alrededor del centro. Su tamaño se justifica con el comportamiento observado, no con el deseo de ocultar un montaje inestable.</a:t>
            </a:r>
          </a:p>
        </p:txBody>
      </p:sp>
    </p:spTree>
    <p:extLst>
      <p:ext uri="{BB962C8B-B14F-4D97-AF65-F5344CB8AC3E}">
        <p14:creationId xmlns:p14="http://schemas.microsoft.com/office/powerpoint/2010/main" val="1255784668"/>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1DBC83-2369-445B-B289-16D0671971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para una calibración</a:t>
            </a:r>
          </a:p>
        </p:txBody>
      </p:sp>
      <p:pic>
        <p:nvPicPr>
          <p:cNvPr id="2" name="">
            <a:extLst xmlns:a="http://schemas.openxmlformats.org/drawingml/2006/main">
              <a:ext uri="{FF2B5EF4-FFF2-40B4-BE49-F238E27FC236}">
                <a16:creationId xmlns:a16="http://schemas.microsoft.com/office/drawing/2014/main" id="{4E4D18C4-C9C7-4205-ABA0-9BE696160AD2}"/>
              </a:ext>
            </a:extLst>
          </p:cNvPr>
          <p:cNvPicPr>
            <a:picLocks xmlns:a="http://schemas.openxmlformats.org/drawingml/2006/main" noChangeAspect="1"/>
          </p:cNvPicPr>
          <p:nvPr/>
        </p:nvPicPr>
        <p:blipFill>
          <a:blip xmlns:r="http://schemas.openxmlformats.org/officeDocument/2006/relationships" xmlns:a="http://schemas.openxmlformats.org/drawingml/2006/main" r:embed="R7bd2c51a21d04f4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00F7FC-D509-4DAA-B358-493E7130C3C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06/24</a:t>
            </a:r>
          </a:p>
        </p:txBody>
      </p:sp>
      <p:graphicFrame>
        <p:nvGraphicFramePr>
          <p:cNvPr id="4" name="">
            <a:extLst xmlns:a="http://schemas.openxmlformats.org/drawingml/2006/main">
              <a:ext uri="{FF2B5EF4-FFF2-40B4-BE49-F238E27FC236}">
                <a16:creationId xmlns:a16="http://schemas.microsoft.com/office/drawing/2014/main" id="{14E832EF-4647-4AA6-9C6A-8CBF0FCA8C5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significa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registrar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Centro 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Reposo observado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Valor y dispersión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Extremos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Recorrido útil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Mínimo y máximo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Zona muerta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Cambio ignorado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Criterio y amplitud</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Signo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Sentido de la referencia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Convención de ejes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797707424"/>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38B7DA-DAFB-4C81-A82E-F1C5D01732B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Centro desplazado</a:t>
            </a:r>
          </a:p>
        </p:txBody>
      </p:sp>
      <p:pic>
        <p:nvPicPr>
          <p:cNvPr id="2" name="">
            <a:extLst xmlns:a="http://schemas.openxmlformats.org/drawingml/2006/main">
              <a:ext uri="{FF2B5EF4-FFF2-40B4-BE49-F238E27FC236}">
                <a16:creationId xmlns:a16="http://schemas.microsoft.com/office/drawing/2014/main" id="{E24A0EF5-E62B-4FC4-9461-4952F0469129}"/>
              </a:ext>
            </a:extLst>
          </p:cNvPr>
          <p:cNvPicPr>
            <a:picLocks xmlns:a="http://schemas.openxmlformats.org/drawingml/2006/main" noChangeAspect="1"/>
          </p:cNvPicPr>
          <p:nvPr/>
        </p:nvPicPr>
        <p:blipFill>
          <a:blip xmlns:r="http://schemas.openxmlformats.org/officeDocument/2006/relationships" xmlns:a="http://schemas.openxmlformats.org/drawingml/2006/main" r:embed="Rced51b5b7c484a2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79B4E0-3760-4534-8664-1C0412502A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07/24</a:t>
            </a:r>
          </a:p>
        </p:txBody>
      </p:sp>
      <p:pic>
        <p:nvPicPr>
          <p:cNvPr id="4" name="">
            <a:extLst xmlns:a="http://schemas.openxmlformats.org/drawingml/2006/main">
              <a:ext uri="{FF2B5EF4-FFF2-40B4-BE49-F238E27FC236}">
                <a16:creationId xmlns:a16="http://schemas.microsoft.com/office/drawing/2014/main" id="{8BE05EFD-3148-4763-9360-BB827AD21B4A}"/>
              </a:ext>
            </a:extLst>
          </p:cNvPr>
          <p:cNvPicPr>
            <a:picLocks xmlns:a="http://schemas.openxmlformats.org/drawingml/2006/main" noChangeAspect="1"/>
          </p:cNvPicPr>
          <p:nvPr/>
        </p:nvPicPr>
        <p:blipFill>
          <a:blip xmlns:r="http://schemas.openxmlformats.org/officeDocument/2006/relationships" xmlns:a="http://schemas.openxmlformats.org/drawingml/2006/main" r:embed="R685b7cb4b0ab4f4c"/>
          <a:stretch xmlns:a="http://schemas.openxmlformats.org/drawingml/2006/main"/>
        </p:blipFill>
        <p:spPr>
          <a:xfrm xmlns:a="http://schemas.openxmlformats.org/drawingml/2006/main">
            <a:off x="4628837" y="1714500"/>
            <a:ext cx="2934326"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12CF005-A871-44D2-AFE4-E56A8DBFED76}"/>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No. La calibración o la zona muerta deben representar el centro real y su criterio. No se arregla cambiando el sensor de orientación, porque el origen de esta diferencia está en el mando.</a:t>
            </a:r>
          </a:p>
        </p:txBody>
      </p:sp>
      <p:sp>
        <p:nvSpPr>
          <p:cNvPr id="6" name="">
            <a:extLst xmlns:a="http://schemas.openxmlformats.org/drawingml/2006/main">
              <a:ext uri="{FF2B5EF4-FFF2-40B4-BE49-F238E27FC236}">
                <a16:creationId xmlns:a16="http://schemas.microsoft.com/office/drawing/2014/main" id="{164C6E1F-A3C3-4703-A3A9-4C25F3A16602}"/>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Se comprueba que los denominadores sean válidos y se limita el resultado al intervalo de mando previsto.</a:t>
            </a:r>
          </a:p>
        </p:txBody>
      </p:sp>
    </p:spTree>
    <p:extLst>
      <p:ext uri="{BB962C8B-B14F-4D97-AF65-F5344CB8AC3E}">
        <p14:creationId xmlns:p14="http://schemas.microsoft.com/office/powerpoint/2010/main" val="2037991344"/>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D55016-30FD-4E66-A045-181BA8BA451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referencia y una medida comparables</a:t>
            </a:r>
          </a:p>
        </p:txBody>
      </p:sp>
      <p:pic>
        <p:nvPicPr>
          <p:cNvPr id="2" name="">
            <a:extLst xmlns:a="http://schemas.openxmlformats.org/drawingml/2006/main">
              <a:ext uri="{FF2B5EF4-FFF2-40B4-BE49-F238E27FC236}">
                <a16:creationId xmlns:a16="http://schemas.microsoft.com/office/drawing/2014/main" id="{BBF74F63-F5EA-4F7E-8E9F-D42177692C7D}"/>
              </a:ext>
            </a:extLst>
          </p:cNvPr>
          <p:cNvPicPr>
            <a:picLocks xmlns:a="http://schemas.openxmlformats.org/drawingml/2006/main" noChangeAspect="1"/>
          </p:cNvPicPr>
          <p:nvPr/>
        </p:nvPicPr>
        <p:blipFill>
          <a:blip xmlns:r="http://schemas.openxmlformats.org/officeDocument/2006/relationships" xmlns:a="http://schemas.openxmlformats.org/drawingml/2006/main" r:embed="R2b0fb9e8823843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1F70D3B-FF9B-4F59-A73F-2115B31A19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08/24</a:t>
            </a:r>
          </a:p>
        </p:txBody>
      </p:sp>
      <p:sp>
        <p:nvSpPr>
          <p:cNvPr id="4" name="">
            <a:extLst xmlns:a="http://schemas.openxmlformats.org/drawingml/2006/main">
              <a:ext uri="{FF2B5EF4-FFF2-40B4-BE49-F238E27FC236}">
                <a16:creationId xmlns:a16="http://schemas.microsoft.com/office/drawing/2014/main" id="{4CD7BB89-56AC-4C6A-B7BE-2D3EE152E7E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calcular un error angular, referencia y estimación deben compartir unidad y convención. El proyecto original usa una multiplicación de aceleración como aproximación angular. En el curso se sustituye por la estimación cuasiestática explicada en la clase 12 o por un caso numérico de referencia identificado. El alumno señala el punto donde una medida pasa a ser una estimación y qué hipótesis permite interpretarla.</a:t>
            </a:r>
          </a:p>
        </p:txBody>
      </p:sp>
    </p:spTree>
    <p:extLst>
      <p:ext uri="{BB962C8B-B14F-4D97-AF65-F5344CB8AC3E}">
        <p14:creationId xmlns:p14="http://schemas.microsoft.com/office/powerpoint/2010/main" val="660553577"/>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AA0255-6F31-4D6E-90B2-9EC231E60D7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ADEA34FB-C06F-4DA8-925F-871AE6DF4A40}"/>
              </a:ext>
            </a:extLst>
          </p:cNvPr>
          <p:cNvPicPr>
            <a:picLocks xmlns:a="http://schemas.openxmlformats.org/drawingml/2006/main" noChangeAspect="1"/>
          </p:cNvPicPr>
          <p:nvPr/>
        </p:nvPicPr>
        <p:blipFill>
          <a:blip xmlns:r="http://schemas.openxmlformats.org/officeDocument/2006/relationships" xmlns:a="http://schemas.openxmlformats.org/drawingml/2006/main" r:embed="R835cf9ab098d4cc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BB4C45-5668-4423-8116-24E719C0C38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09/24</a:t>
            </a:r>
          </a:p>
        </p:txBody>
      </p:sp>
      <p:sp>
        <p:nvSpPr>
          <p:cNvPr id="4" name="">
            <a:extLst xmlns:a="http://schemas.openxmlformats.org/drawingml/2006/main">
              <a:ext uri="{FF2B5EF4-FFF2-40B4-BE49-F238E27FC236}">
                <a16:creationId xmlns:a16="http://schemas.microsoft.com/office/drawing/2014/main" id="{20D4BE4A-302B-4BE5-8F78-769B540C199B}"/>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referencia del caso es 10° y la estimación es 6°. Con Kp = 2 unidades/°, ¿qué acción proporcional resulta?</a:t>
            </a:r>
          </a:p>
        </p:txBody>
      </p:sp>
      <p:sp>
        <p:nvSpPr>
          <p:cNvPr id="5" name="">
            <a:extLst xmlns:a="http://schemas.openxmlformats.org/drawingml/2006/main">
              <a:ext uri="{FF2B5EF4-FFF2-40B4-BE49-F238E27FC236}">
                <a16:creationId xmlns:a16="http://schemas.microsoft.com/office/drawing/2014/main" id="{82FA1BAB-1C04-43F5-8718-D6B0797A4574}"/>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Un cambio de signo puede producir realimentación positiva si la acción agranda la desviación en lugar de reducirla. Por eso la primera comprobación del banco es pequeña y observable. Un nombre como “roll” no determina por sí solo qué dirección representa el eje. La convención queda dibujada o anotada junto a la pieza.</a:t>
            </a:r>
          </a:p>
        </p:txBody>
      </p:sp>
    </p:spTree>
    <p:extLst>
      <p:ext uri="{BB962C8B-B14F-4D97-AF65-F5344CB8AC3E}">
        <p14:creationId xmlns:p14="http://schemas.microsoft.com/office/powerpoint/2010/main" val="1195959858"/>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34D758-8F2E-41A9-A142-06346DB688F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Signo de la acción</a:t>
            </a:r>
          </a:p>
        </p:txBody>
      </p:sp>
      <p:pic>
        <p:nvPicPr>
          <p:cNvPr id="2" name="">
            <a:extLst xmlns:a="http://schemas.openxmlformats.org/drawingml/2006/main">
              <a:ext uri="{FF2B5EF4-FFF2-40B4-BE49-F238E27FC236}">
                <a16:creationId xmlns:a16="http://schemas.microsoft.com/office/drawing/2014/main" id="{A345F6E2-CB02-44EF-98E4-5752166DF518}"/>
              </a:ext>
            </a:extLst>
          </p:cNvPr>
          <p:cNvPicPr>
            <a:picLocks xmlns:a="http://schemas.openxmlformats.org/drawingml/2006/main" noChangeAspect="1"/>
          </p:cNvPicPr>
          <p:nvPr/>
        </p:nvPicPr>
        <p:blipFill>
          <a:blip xmlns:r="http://schemas.openxmlformats.org/officeDocument/2006/relationships" xmlns:a="http://schemas.openxmlformats.org/drawingml/2006/main" r:embed="R6186959d8cea47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03F723-2CA6-4C9F-A093-2EEF5D59B67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10/24</a:t>
            </a:r>
          </a:p>
        </p:txBody>
      </p:sp>
      <p:pic>
        <p:nvPicPr>
          <p:cNvPr id="4" name="">
            <a:extLst xmlns:a="http://schemas.openxmlformats.org/drawingml/2006/main">
              <a:ext uri="{FF2B5EF4-FFF2-40B4-BE49-F238E27FC236}">
                <a16:creationId xmlns:a16="http://schemas.microsoft.com/office/drawing/2014/main" id="{AD96F7A3-5C04-415A-BEA9-A24D24FF3AF6}"/>
              </a:ext>
            </a:extLst>
          </p:cNvPr>
          <p:cNvPicPr>
            <a:picLocks xmlns:a="http://schemas.openxmlformats.org/drawingml/2006/main" noChangeAspect="1"/>
          </p:cNvPicPr>
          <p:nvPr/>
        </p:nvPicPr>
        <p:blipFill>
          <a:blip xmlns:r="http://schemas.openxmlformats.org/officeDocument/2006/relationships" xmlns:a="http://schemas.openxmlformats.org/drawingml/2006/main" r:embed="Rbb032848f4fb46f9"/>
          <a:stretch xmlns:a="http://schemas.openxmlformats.org/drawingml/2006/main"/>
        </p:blipFill>
        <p:spPr>
          <a:xfrm xmlns:a="http://schemas.openxmlformats.org/drawingml/2006/main">
            <a:off x="2554288" y="1714500"/>
            <a:ext cx="7083425"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1BBF48-7508-460F-B20A-E7372F19491E}"/>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error es 4° y la acción resulta 8 unidades del mando definido. El signo físico que corrige la desviación depende de la interfaz y del montaje; se comprueba antes de cerrar un lazo real.</a:t>
            </a:r>
          </a:p>
        </p:txBody>
      </p:sp>
      <p:sp>
        <p:nvSpPr>
          <p:cNvPr id="6" name="">
            <a:extLst xmlns:a="http://schemas.openxmlformats.org/drawingml/2006/main">
              <a:ext uri="{FF2B5EF4-FFF2-40B4-BE49-F238E27FC236}">
                <a16:creationId xmlns:a16="http://schemas.microsoft.com/office/drawing/2014/main" id="{5ED15CD1-8A75-4F34-9F09-380DC71DFBC6}"/>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La ganancia relaciona unidades de error y de salida. Aquí se observa una acción proporcional de banco.</a:t>
            </a:r>
          </a:p>
        </p:txBody>
      </p:sp>
    </p:spTree>
    <p:extLst>
      <p:ext uri="{BB962C8B-B14F-4D97-AF65-F5344CB8AC3E}">
        <p14:creationId xmlns:p14="http://schemas.microsoft.com/office/powerpoint/2010/main" val="554021761"/>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346468-2EDD-49EE-B44D-62FD4CE2DFD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Ordenar el programa por bloques</a:t>
            </a:r>
          </a:p>
        </p:txBody>
      </p:sp>
      <p:pic>
        <p:nvPicPr>
          <p:cNvPr id="2" name="">
            <a:extLst xmlns:a="http://schemas.openxmlformats.org/drawingml/2006/main">
              <a:ext uri="{FF2B5EF4-FFF2-40B4-BE49-F238E27FC236}">
                <a16:creationId xmlns:a16="http://schemas.microsoft.com/office/drawing/2014/main" id="{A2CACB67-F2D4-4641-89BE-6F92E7785F92}"/>
              </a:ext>
            </a:extLst>
          </p:cNvPr>
          <p:cNvPicPr>
            <a:picLocks xmlns:a="http://schemas.openxmlformats.org/drawingml/2006/main" noChangeAspect="1"/>
          </p:cNvPicPr>
          <p:nvPr/>
        </p:nvPicPr>
        <p:blipFill>
          <a:blip xmlns:r="http://schemas.openxmlformats.org/officeDocument/2006/relationships" xmlns:a="http://schemas.openxmlformats.org/drawingml/2006/main" r:embed="R281d7d00620c41b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6FB400-06F6-4F47-9E37-708EED11DA1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11/24</a:t>
            </a:r>
          </a:p>
        </p:txBody>
      </p:sp>
      <p:sp>
        <p:nvSpPr>
          <p:cNvPr id="4" name="">
            <a:extLst xmlns:a="http://schemas.openxmlformats.org/drawingml/2006/main">
              <a:ext uri="{FF2B5EF4-FFF2-40B4-BE49-F238E27FC236}">
                <a16:creationId xmlns:a16="http://schemas.microsoft.com/office/drawing/2014/main" id="{123957DC-D514-4DD1-8672-F0C9B7B4171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Este fragmento es un esquema de organización, no un controlador de vuelo compilable. La referencia concreta c13_mando implementa la normalización y la zona muerta y produce un registro de serie sin salidas de motor. El código c12_imu aporta la lectura y la estimación de banco. El equipo relaciona ambas entradas en su portafolio y conserva las condiciones de validez.</a:t>
            </a:r>
          </a:p>
        </p:txBody>
      </p:sp>
    </p:spTree>
    <p:extLst>
      <p:ext uri="{BB962C8B-B14F-4D97-AF65-F5344CB8AC3E}">
        <p14:creationId xmlns:p14="http://schemas.microsoft.com/office/powerpoint/2010/main" val="1240284254"/>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050C7E-17CB-4D53-9E1F-D3885C8D268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Flujo de una iteración de banco</a:t>
            </a:r>
          </a:p>
        </p:txBody>
      </p:sp>
      <p:pic>
        <p:nvPicPr>
          <p:cNvPr id="2" name="">
            <a:extLst xmlns:a="http://schemas.openxmlformats.org/drawingml/2006/main">
              <a:ext uri="{FF2B5EF4-FFF2-40B4-BE49-F238E27FC236}">
                <a16:creationId xmlns:a16="http://schemas.microsoft.com/office/drawing/2014/main" id="{E6599646-A481-474F-B8F9-54B9781EB24F}"/>
              </a:ext>
            </a:extLst>
          </p:cNvPr>
          <p:cNvPicPr>
            <a:picLocks xmlns:a="http://schemas.openxmlformats.org/drawingml/2006/main" noChangeAspect="1"/>
          </p:cNvPicPr>
          <p:nvPr/>
        </p:nvPicPr>
        <p:blipFill>
          <a:blip xmlns:r="http://schemas.openxmlformats.org/officeDocument/2006/relationships" xmlns:a="http://schemas.openxmlformats.org/drawingml/2006/main" r:embed="R3ae45b94da2544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91594A-B8C2-4995-9D7B-33B64B9759A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12/24</a:t>
            </a:r>
          </a:p>
        </p:txBody>
      </p:sp>
      <p:sp>
        <p:nvSpPr>
          <p:cNvPr id="4" name="">
            <a:extLst xmlns:a="http://schemas.openxmlformats.org/drawingml/2006/main">
              <a:ext uri="{FF2B5EF4-FFF2-40B4-BE49-F238E27FC236}">
                <a16:creationId xmlns:a16="http://schemas.microsoft.com/office/drawing/2014/main" id="{2EDF73C1-13C4-4597-AC48-0C0119BA972F}"/>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readCommand();</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readSensor();</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checkFreshness();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(commandValid &amp;&amp; sensorValid)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error = reference - estimate;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correction = Kp * error;</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else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correction =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logBenchState();</a:t>
            </a:r>
          </a:p>
        </p:txBody>
      </p:sp>
      <p:sp>
        <p:nvSpPr>
          <p:cNvPr id="5" name="">
            <a:extLst xmlns:a="http://schemas.openxmlformats.org/drawingml/2006/main">
              <a:ext uri="{FF2B5EF4-FFF2-40B4-BE49-F238E27FC236}">
                <a16:creationId xmlns:a16="http://schemas.microsoft.com/office/drawing/2014/main" id="{E56ED9D8-68F9-4529-8D5C-E7651F372FC6}"/>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405082849"/>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6521AD-6F91-434D-B6D5-8E511FFFAD0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Ordenar el programa por bloques</a:t>
            </a:r>
          </a:p>
        </p:txBody>
      </p:sp>
      <p:pic>
        <p:nvPicPr>
          <p:cNvPr id="2" name="">
            <a:extLst xmlns:a="http://schemas.openxmlformats.org/drawingml/2006/main">
              <a:ext uri="{FF2B5EF4-FFF2-40B4-BE49-F238E27FC236}">
                <a16:creationId xmlns:a16="http://schemas.microsoft.com/office/drawing/2014/main" id="{060E0917-98AD-4ABD-9437-F0D24107694B}"/>
              </a:ext>
            </a:extLst>
          </p:cNvPr>
          <p:cNvPicPr>
            <a:picLocks xmlns:a="http://schemas.openxmlformats.org/drawingml/2006/main" noChangeAspect="1"/>
          </p:cNvPicPr>
          <p:nvPr/>
        </p:nvPicPr>
        <p:blipFill>
          <a:blip xmlns:r="http://schemas.openxmlformats.org/officeDocument/2006/relationships" xmlns:a="http://schemas.openxmlformats.org/drawingml/2006/main" r:embed="Rc3c59a4f3d7448b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7112F2-6AF1-4904-AACB-5721016AF9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13/24</a:t>
            </a:r>
          </a:p>
        </p:txBody>
      </p:sp>
      <p:sp>
        <p:nvSpPr>
          <p:cNvPr id="4" name="">
            <a:extLst xmlns:a="http://schemas.openxmlformats.org/drawingml/2006/main">
              <a:ext uri="{FF2B5EF4-FFF2-40B4-BE49-F238E27FC236}">
                <a16:creationId xmlns:a16="http://schemas.microsoft.com/office/drawing/2014/main" id="{B1627BA5-E370-4C6C-9582-C85ED873099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orden del programa y su duración importan. delay(10) no demuestra un periodo exacto de 10 ms: también consumen tiempo las operaciones de adquisición y de registro. La afirmación del sitio sobre una frecuencia mínima universal que haría caer cualquier dron se retira del material docente. La respuesta de un sistema depende de dinámica, estimación, latencias, actuación y diseño del control, no de una única cifra de bucle.</a:t>
            </a:r>
          </a:p>
        </p:txBody>
      </p:sp>
    </p:spTree>
    <p:extLst>
      <p:ext uri="{BB962C8B-B14F-4D97-AF65-F5344CB8AC3E}">
        <p14:creationId xmlns:p14="http://schemas.microsoft.com/office/powerpoint/2010/main" val="104956079"/>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AF643E-CF0A-46FB-89FB-F8C7C4DC337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mover una cosa cada vez</a:t>
            </a:r>
          </a:p>
        </p:txBody>
      </p:sp>
      <p:pic>
        <p:nvPicPr>
          <p:cNvPr id="2" name="">
            <a:extLst xmlns:a="http://schemas.openxmlformats.org/drawingml/2006/main">
              <a:ext uri="{FF2B5EF4-FFF2-40B4-BE49-F238E27FC236}">
                <a16:creationId xmlns:a16="http://schemas.microsoft.com/office/drawing/2014/main" id="{D8F2FE78-1C2B-43D8-AD25-FAB897F19953}"/>
              </a:ext>
            </a:extLst>
          </p:cNvPr>
          <p:cNvPicPr>
            <a:picLocks xmlns:a="http://schemas.openxmlformats.org/drawingml/2006/main" noChangeAspect="1"/>
          </p:cNvPicPr>
          <p:nvPr/>
        </p:nvPicPr>
        <p:blipFill>
          <a:blip xmlns:r="http://schemas.openxmlformats.org/officeDocument/2006/relationships" xmlns:a="http://schemas.openxmlformats.org/drawingml/2006/main" r:embed="Rf06fb3bd581f4a7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D50839-A722-4B1F-AF79-BB80621EB7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14/24</a:t>
            </a:r>
          </a:p>
        </p:txBody>
      </p:sp>
      <p:sp>
        <p:nvSpPr>
          <p:cNvPr id="4" name="">
            <a:extLst xmlns:a="http://schemas.openxmlformats.org/drawingml/2006/main">
              <a:ext uri="{FF2B5EF4-FFF2-40B4-BE49-F238E27FC236}">
                <a16:creationId xmlns:a16="http://schemas.microsoft.com/office/drawing/2014/main" id="{0A03A1A4-83E1-4B57-A09A-1ED37036FCE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Los casos numéricos permiten comprobar signos y unidades antes de integrar hardware. En la demostración docente se conserva una entrada y se mueve la otra para que el grupo identifique su efecto. Si ambas cambian simultáneamente, un principiante puede atribuir la corrección a la causa equivocada. Al terminar, el alumno debe poder señalar qué dato cambió y qué parte del programa lo utilizó.</a:t>
            </a:r>
          </a:p>
        </p:txBody>
      </p:sp>
    </p:spTree>
    <p:extLst>
      <p:ext uri="{BB962C8B-B14F-4D97-AF65-F5344CB8AC3E}">
        <p14:creationId xmlns:p14="http://schemas.microsoft.com/office/powerpoint/2010/main" val="1415806355"/>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FE3CFA-9495-4D1C-A516-E7B51153920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Caso de explicación</a:t>
            </a:r>
          </a:p>
        </p:txBody>
      </p:sp>
      <p:pic>
        <p:nvPicPr>
          <p:cNvPr id="2" name="">
            <a:extLst xmlns:a="http://schemas.openxmlformats.org/drawingml/2006/main">
              <a:ext uri="{FF2B5EF4-FFF2-40B4-BE49-F238E27FC236}">
                <a16:creationId xmlns:a16="http://schemas.microsoft.com/office/drawing/2014/main" id="{6B08553C-223A-46DD-ABC9-F4A755128A2E}"/>
              </a:ext>
            </a:extLst>
          </p:cNvPr>
          <p:cNvPicPr>
            <a:picLocks xmlns:a="http://schemas.openxmlformats.org/drawingml/2006/main" noChangeAspect="1"/>
          </p:cNvPicPr>
          <p:nvPr/>
        </p:nvPicPr>
        <p:blipFill>
          <a:blip xmlns:r="http://schemas.openxmlformats.org/officeDocument/2006/relationships" xmlns:a="http://schemas.openxmlformats.org/drawingml/2006/main" r:embed="Rf5730f934f2249e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EF341D-84E4-4099-9F58-92E9529564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15/24</a:t>
            </a:r>
          </a:p>
        </p:txBody>
      </p:sp>
      <p:graphicFrame>
        <p:nvGraphicFramePr>
          <p:cNvPr id="4" name="">
            <a:extLst xmlns:a="http://schemas.openxmlformats.org/drawingml/2006/main">
              <a:ext uri="{FF2B5EF4-FFF2-40B4-BE49-F238E27FC236}">
                <a16:creationId xmlns:a16="http://schemas.microsoft.com/office/drawing/2014/main" id="{CB106E66-580B-4849-8C77-CD4371E494C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Referencia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Estimación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Error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10°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6°</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4°</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−3°</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3°</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−5°</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0°</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952010828"/>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DA6EA2-32E6-48C3-976B-081DE5C6D8C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mover una cosa cada vez</a:t>
            </a:r>
          </a:p>
        </p:txBody>
      </p:sp>
      <p:pic>
        <p:nvPicPr>
          <p:cNvPr id="2" name="">
            <a:extLst xmlns:a="http://schemas.openxmlformats.org/drawingml/2006/main">
              <a:ext uri="{FF2B5EF4-FFF2-40B4-BE49-F238E27FC236}">
                <a16:creationId xmlns:a16="http://schemas.microsoft.com/office/drawing/2014/main" id="{9E66A32C-7C50-4122-9F99-4DB56BEAFFC3}"/>
              </a:ext>
            </a:extLst>
          </p:cNvPr>
          <p:cNvPicPr>
            <a:picLocks xmlns:a="http://schemas.openxmlformats.org/drawingml/2006/main" noChangeAspect="1"/>
          </p:cNvPicPr>
          <p:nvPr/>
        </p:nvPicPr>
        <p:blipFill>
          <a:blip xmlns:r="http://schemas.openxmlformats.org/officeDocument/2006/relationships" xmlns:a="http://schemas.openxmlformats.org/drawingml/2006/main" r:embed="Rc4232a402e2d4d7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8174D5-FB2C-463D-B889-97DFC9BDE9B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16/24</a:t>
            </a:r>
          </a:p>
        </p:txBody>
      </p:sp>
      <p:sp>
        <p:nvSpPr>
          <p:cNvPr id="4" name="">
            <a:extLst xmlns:a="http://schemas.openxmlformats.org/drawingml/2006/main">
              <a:ext uri="{FF2B5EF4-FFF2-40B4-BE49-F238E27FC236}">
                <a16:creationId xmlns:a16="http://schemas.microsoft.com/office/drawing/2014/main" id="{D8108E7F-9BDE-403A-A3FA-5F47C92E99D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Ejecuta c13_mando y conserva un registro del centro de cada eje.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Modifica un extremo de calibración y observa el efecto en la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Comprueba la zona muerta con reposo y movimientos pequeños.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Relaciona el eje de mando con la convención del módulo IMU.</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Resuelve el error y la corrección de tres casos de banco.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Invalida una entrada por software y explica la salida prevista.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Presenta un diagrama de bloques con unidades, tiempos y estados.</a:t>
            </a:r>
          </a:p>
        </p:txBody>
      </p:sp>
    </p:spTree>
    <p:extLst>
      <p:ext uri="{BB962C8B-B14F-4D97-AF65-F5344CB8AC3E}">
        <p14:creationId xmlns:p14="http://schemas.microsoft.com/office/powerpoint/2010/main" val="1002661175"/>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2ADB66-424D-4913-A9DA-6C94308B6B2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Lo que demuestra el banco y qué amplía la formación</a:t>
            </a:r>
          </a:p>
        </p:txBody>
      </p:sp>
      <p:pic>
        <p:nvPicPr>
          <p:cNvPr id="2" name="">
            <a:extLst xmlns:a="http://schemas.openxmlformats.org/drawingml/2006/main">
              <a:ext uri="{FF2B5EF4-FFF2-40B4-BE49-F238E27FC236}">
                <a16:creationId xmlns:a16="http://schemas.microsoft.com/office/drawing/2014/main" id="{3A36AC10-52FF-43A5-91D0-EC351621AD65}"/>
              </a:ext>
            </a:extLst>
          </p:cNvPr>
          <p:cNvPicPr>
            <a:picLocks xmlns:a="http://schemas.openxmlformats.org/drawingml/2006/main" noChangeAspect="1"/>
          </p:cNvPicPr>
          <p:nvPr/>
        </p:nvPicPr>
        <p:blipFill>
          <a:blip xmlns:r="http://schemas.openxmlformats.org/officeDocument/2006/relationships" xmlns:a="http://schemas.openxmlformats.org/drawingml/2006/main" r:embed="Rc8b817d37514441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FFA977-1320-4A7C-9EA2-1C1F6F1120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17/24</a:t>
            </a:r>
          </a:p>
        </p:txBody>
      </p:sp>
      <p:sp>
        <p:nvSpPr>
          <p:cNvPr id="4" name="">
            <a:extLst xmlns:a="http://schemas.openxmlformats.org/drawingml/2006/main">
              <a:ext uri="{FF2B5EF4-FFF2-40B4-BE49-F238E27FC236}">
                <a16:creationId xmlns:a16="http://schemas.microsoft.com/office/drawing/2014/main" id="{004B47D8-0C5F-438A-A34F-0C659B65CC6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banco demuestra adquisición, transformación y comparación bajo sus condiciones. Un sistema de vuelo añade muchas otras funciones y validaciones. Para una primera ruta MECRO, el valor está en construir una base comprensible que permita leer después documentación de control y aviónica con mejores preguntas. El alumno conserva su ejemplo como un instrumento de aprendizaje y diagnóstico, con un título que describa la función efectivamente implementada.</a:t>
            </a:r>
          </a:p>
        </p:txBody>
      </p:sp>
    </p:spTree>
    <p:extLst>
      <p:ext uri="{BB962C8B-B14F-4D97-AF65-F5344CB8AC3E}">
        <p14:creationId xmlns:p14="http://schemas.microsoft.com/office/powerpoint/2010/main" val="292638397"/>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F6EB58-7151-4303-9695-2D6B5C2A95E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Identidad de cada resultado</a:t>
            </a:r>
          </a:p>
        </p:txBody>
      </p:sp>
      <p:pic>
        <p:nvPicPr>
          <p:cNvPr id="2" name="">
            <a:extLst xmlns:a="http://schemas.openxmlformats.org/drawingml/2006/main">
              <a:ext uri="{FF2B5EF4-FFF2-40B4-BE49-F238E27FC236}">
                <a16:creationId xmlns:a16="http://schemas.microsoft.com/office/drawing/2014/main" id="{228DC253-9832-4063-9885-54DFB7548DD3}"/>
              </a:ext>
            </a:extLst>
          </p:cNvPr>
          <p:cNvPicPr>
            <a:picLocks xmlns:a="http://schemas.openxmlformats.org/drawingml/2006/main" noChangeAspect="1"/>
          </p:cNvPicPr>
          <p:nvPr/>
        </p:nvPicPr>
        <p:blipFill>
          <a:blip xmlns:r="http://schemas.openxmlformats.org/officeDocument/2006/relationships" xmlns:a="http://schemas.openxmlformats.org/drawingml/2006/main" r:embed="Rdb050b2520cd42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E248F33-3AF7-4098-A42B-30F3C3919A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18/24</a:t>
            </a:r>
          </a:p>
        </p:txBody>
      </p:sp>
      <p:graphicFrame>
        <p:nvGraphicFramePr>
          <p:cNvPr id="4" name="">
            <a:extLst xmlns:a="http://schemas.openxmlformats.org/drawingml/2006/main">
              <a:ext uri="{FF2B5EF4-FFF2-40B4-BE49-F238E27FC236}">
                <a16:creationId xmlns:a16="http://schemas.microsoft.com/office/drawing/2014/main" id="{642B0D5A-00D2-43E6-B1AA-DAC90170699F}"/>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Resultado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Cómo se presenta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Referencia normalizada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Mando de banco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Ángulo de acelerómetro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Estimación cuasiestática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error × Kp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Acción proporcional</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Valores de mezclador impresos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Ejercicio numérico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858703410"/>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C3417C-33CD-4A85-9AEC-B8020A6F222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4231E"/>
                </a:solidFill>
                <a:latin typeface="Arial Narrow"/>
                <a:ea typeface="Arial Narrow"/>
                <a:cs typeface="Arial Narrow"/>
              </a:defRPr>
            </a:defPPr>
            <a:lvl1pPr>
              <a:defRPr sz="2925" b="1">
                <a:solidFill>
                  <a:srgbClr val="14231E"/>
                </a:solidFill>
                <a:latin typeface="Arial Narrow"/>
                <a:ea typeface="Arial Narrow"/>
                <a:cs typeface="Arial Narrow"/>
              </a:defRPr>
            </a:lvl1pPr>
            <a:lvl2pPr>
              <a:defRPr sz="2925" b="1">
                <a:solidFill>
                  <a:srgbClr val="14231E"/>
                </a:solidFill>
                <a:latin typeface="Arial Narrow"/>
                <a:ea typeface="Arial Narrow"/>
                <a:cs typeface="Arial Narrow"/>
              </a:defRPr>
            </a:lvl2pPr>
            <a:lvl3pPr>
              <a:defRPr sz="2925" b="1">
                <a:solidFill>
                  <a:srgbClr val="14231E"/>
                </a:solidFill>
                <a:latin typeface="Arial Narrow"/>
                <a:ea typeface="Arial Narrow"/>
                <a:cs typeface="Arial Narrow"/>
              </a:defRPr>
            </a:lvl3pPr>
            <a:lvl4pPr>
              <a:defRPr sz="2925" b="1">
                <a:solidFill>
                  <a:srgbClr val="14231E"/>
                </a:solidFill>
                <a:latin typeface="Arial Narrow"/>
                <a:ea typeface="Arial Narrow"/>
                <a:cs typeface="Arial Narrow"/>
              </a:defRPr>
            </a:lvl4pPr>
            <a:lvl5pPr>
              <a:defRPr sz="2925" b="1">
                <a:solidFill>
                  <a:srgbClr val="14231E"/>
                </a:solidFill>
                <a:latin typeface="Arial Narrow"/>
                <a:ea typeface="Arial Narrow"/>
                <a:cs typeface="Arial Narrow"/>
              </a:defRPr>
            </a:lvl5pPr>
            <a:lvl6pPr>
              <a:defRPr sz="2925" b="1">
                <a:solidFill>
                  <a:srgbClr val="14231E"/>
                </a:solidFill>
                <a:latin typeface="Arial Narrow"/>
                <a:ea typeface="Arial Narrow"/>
                <a:cs typeface="Arial Narrow"/>
              </a:defRPr>
            </a:lvl6pPr>
            <a:lvl7pPr>
              <a:defRPr sz="2925" b="1">
                <a:solidFill>
                  <a:srgbClr val="14231E"/>
                </a:solidFill>
                <a:latin typeface="Arial Narrow"/>
                <a:ea typeface="Arial Narrow"/>
                <a:cs typeface="Arial Narrow"/>
              </a:defRPr>
            </a:lvl7pPr>
            <a:lvl8pPr>
              <a:defRPr sz="2925" b="1">
                <a:solidFill>
                  <a:srgbClr val="14231E"/>
                </a:solidFill>
                <a:latin typeface="Arial Narrow"/>
                <a:ea typeface="Arial Narrow"/>
                <a:cs typeface="Arial Narrow"/>
              </a:defRPr>
            </a:lvl8pPr>
            <a:lvl9pPr>
              <a:defRPr sz="2925" b="1">
                <a:solidFill>
                  <a:srgbClr val="14231E"/>
                </a:solidFill>
                <a:latin typeface="Arial Narrow"/>
                <a:ea typeface="Arial Narrow"/>
                <a:cs typeface="Arial Narrow"/>
              </a:defRPr>
            </a:lvl9pPr>
          </a:lstStyle>
          <a:p xmlns:a="http://schemas.openxmlformats.org/drawingml/2006/main">
            <a:pPr>
              <a:defRPr sz="2925" b="1">
                <a:solidFill>
                  <a:srgbClr val="14231E"/>
                </a:solidFill>
                <a:latin typeface="Arial Narrow"/>
                <a:ea typeface="Arial Narrow"/>
                <a:cs typeface="Arial Narrow"/>
              </a:defRPr>
            </a:pPr>
            <a:r>
              <a:rPr sz="2925" b="1">
                <a:solidFill>
                  <a:srgbClr val="14231E"/>
                </a:solidFill>
                <a:latin typeface="Arial Narrow"/>
                <a:ea typeface="Arial Narrow"/>
                <a:cs typeface="Arial Narrow"/>
              </a:rPr>
              <a:t>Interpretación · Lo que demuestra el banco y qué amplía la formación</a:t>
            </a:r>
          </a:p>
        </p:txBody>
      </p:sp>
      <p:pic>
        <p:nvPicPr>
          <p:cNvPr id="2" name="">
            <a:extLst xmlns:a="http://schemas.openxmlformats.org/drawingml/2006/main">
              <a:ext uri="{FF2B5EF4-FFF2-40B4-BE49-F238E27FC236}">
                <a16:creationId xmlns:a16="http://schemas.microsoft.com/office/drawing/2014/main" id="{5FDEA55C-6B26-4413-8421-EB3DE8E99023}"/>
              </a:ext>
            </a:extLst>
          </p:cNvPr>
          <p:cNvPicPr>
            <a:picLocks xmlns:a="http://schemas.openxmlformats.org/drawingml/2006/main" noChangeAspect="1"/>
          </p:cNvPicPr>
          <p:nvPr/>
        </p:nvPicPr>
        <p:blipFill>
          <a:blip xmlns:r="http://schemas.openxmlformats.org/officeDocument/2006/relationships" xmlns:a="http://schemas.openxmlformats.org/drawingml/2006/main" r:embed="R2a76beaf1dc84f8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D278E8-5AB7-4696-AA3F-1E460363BC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19/24</a:t>
            </a:r>
          </a:p>
        </p:txBody>
      </p:sp>
      <p:sp>
        <p:nvSpPr>
          <p:cNvPr id="4" name="">
            <a:extLst xmlns:a="http://schemas.openxmlformats.org/drawingml/2006/main">
              <a:ext uri="{FF2B5EF4-FFF2-40B4-BE49-F238E27FC236}">
                <a16:creationId xmlns:a16="http://schemas.microsoft.com/office/drawing/2014/main" id="{4C67E88E-8CAC-4604-B4E7-CB946B83BAC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por qué una estimación de orientación puede necesitar varias fuentes y cómo un mando humano puede representar ángulo, velocidad angular u otra variable según el modo del sistema. No hace falta implementar esas arquitecturas para reconocer que la palabra “mando” oculta una decisión de interfaz. Describe una de esas posibilidades y qué unidad cambiaría en el error.</a:t>
            </a:r>
          </a:p>
        </p:txBody>
      </p:sp>
    </p:spTree>
    <p:extLst>
      <p:ext uri="{BB962C8B-B14F-4D97-AF65-F5344CB8AC3E}">
        <p14:creationId xmlns:p14="http://schemas.microsoft.com/office/powerpoint/2010/main" val="1512566000"/>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82518E-C144-40E1-A42D-34B7D7235D6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851BF638-8908-4E49-BB9D-44D819F2ACE5}"/>
              </a:ext>
            </a:extLst>
          </p:cNvPr>
          <p:cNvPicPr>
            <a:picLocks xmlns:a="http://schemas.openxmlformats.org/drawingml/2006/main" noChangeAspect="1"/>
          </p:cNvPicPr>
          <p:nvPr/>
        </p:nvPicPr>
        <p:blipFill>
          <a:blip xmlns:r="http://schemas.openxmlformats.org/officeDocument/2006/relationships" xmlns:a="http://schemas.openxmlformats.org/drawingml/2006/main" r:embed="R6760e73add2d4f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8EB0D2-ABDC-44F7-9C86-88DF6B7A14C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20/24</a:t>
            </a:r>
          </a:p>
        </p:txBody>
      </p:sp>
      <p:sp>
        <p:nvSpPr>
          <p:cNvPr id="4" name="">
            <a:extLst xmlns:a="http://schemas.openxmlformats.org/drawingml/2006/main">
              <a:ext uri="{FF2B5EF4-FFF2-40B4-BE49-F238E27FC236}">
                <a16:creationId xmlns:a16="http://schemas.microsoft.com/office/drawing/2014/main" id="{B8E0209F-ED6C-41B6-BB9A-EC464FBB881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joystick e IMU como dos entradas con funciones distintas.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Calibrar centro y observar c13_mando.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Resolver un error con unidad y signo declarados.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Presentar el proyecto 17 con el alcance corregido de banco.</a:t>
            </a:r>
          </a:p>
        </p:txBody>
      </p:sp>
    </p:spTree>
    <p:extLst>
      <p:ext uri="{BB962C8B-B14F-4D97-AF65-F5344CB8AC3E}">
        <p14:creationId xmlns:p14="http://schemas.microsoft.com/office/powerpoint/2010/main" val="1807481348"/>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9A4830-67CB-4735-82D8-BFDCE7A15B1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E7B10DBA-75BC-4A73-860D-DD6560134ADD}"/>
              </a:ext>
            </a:extLst>
          </p:cNvPr>
          <p:cNvPicPr>
            <a:picLocks xmlns:a="http://schemas.openxmlformats.org/drawingml/2006/main" noChangeAspect="1"/>
          </p:cNvPicPr>
          <p:nvPr/>
        </p:nvPicPr>
        <p:blipFill>
          <a:blip xmlns:r="http://schemas.openxmlformats.org/officeDocument/2006/relationships" xmlns:a="http://schemas.openxmlformats.org/drawingml/2006/main" r:embed="R6e39b8be84f646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98F162-DAF4-48E3-A8CC-6E677612B3C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21/24</a:t>
            </a:r>
          </a:p>
        </p:txBody>
      </p:sp>
      <p:sp>
        <p:nvSpPr>
          <p:cNvPr id="4" name="">
            <a:extLst xmlns:a="http://schemas.openxmlformats.org/drawingml/2006/main">
              <a:ext uri="{FF2B5EF4-FFF2-40B4-BE49-F238E27FC236}">
                <a16:creationId xmlns:a16="http://schemas.microsoft.com/office/drawing/2014/main" id="{DFC62FA7-9232-4D3B-AB02-BA185B84DA58}"/>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flujo mando, estimación y corrección permite comprender la arquitectura de un UAV sin convertir un ejemplo numérico en un controlador de vuelo.</a:t>
            </a:r>
          </a:p>
        </p:txBody>
      </p:sp>
      <p:sp>
        <p:nvSpPr>
          <p:cNvPr id="5" name="">
            <a:extLst xmlns:a="http://schemas.openxmlformats.org/drawingml/2006/main">
              <a:ext uri="{FF2B5EF4-FFF2-40B4-BE49-F238E27FC236}">
                <a16:creationId xmlns:a16="http://schemas.microsoft.com/office/drawing/2014/main" id="{8C875A32-07F2-4F28-9ACB-1F4D3FACE91E}"/>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708102198"/>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6272BA-796D-4834-9890-DC3DC24DE3E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6D81A1F5-7F71-48A1-970B-E5ACD8604022}"/>
              </a:ext>
            </a:extLst>
          </p:cNvPr>
          <p:cNvPicPr>
            <a:picLocks xmlns:a="http://schemas.openxmlformats.org/drawingml/2006/main" noChangeAspect="1"/>
          </p:cNvPicPr>
          <p:nvPr/>
        </p:nvPicPr>
        <p:blipFill>
          <a:blip xmlns:r="http://schemas.openxmlformats.org/officeDocument/2006/relationships" xmlns:a="http://schemas.openxmlformats.org/drawingml/2006/main" r:embed="Rbf0cac57298c48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3F66C2-C967-4EBC-B275-D676DC2A008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22/24</a:t>
            </a:r>
          </a:p>
        </p:txBody>
      </p:sp>
      <p:sp>
        <p:nvSpPr>
          <p:cNvPr id="4" name="">
            <a:extLst xmlns:a="http://schemas.openxmlformats.org/drawingml/2006/main">
              <a:ext uri="{FF2B5EF4-FFF2-40B4-BE49-F238E27FC236}">
                <a16:creationId xmlns:a16="http://schemas.microsoft.com/office/drawing/2014/main" id="{C4BD27B7-A480-44C4-AAF9-DB31D3067B0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¿2048 es el centro garantizado de cualquier joystick?</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¿delay(10) garantiza 100 Hz exactos?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necesita un error bien definido?</a:t>
            </a:r>
          </a:p>
        </p:txBody>
      </p:sp>
    </p:spTree>
    <p:extLst>
      <p:ext uri="{BB962C8B-B14F-4D97-AF65-F5344CB8AC3E}">
        <p14:creationId xmlns:p14="http://schemas.microsoft.com/office/powerpoint/2010/main" val="2048956022"/>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AF8679-E0A0-497A-A678-EA76723BF0F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14DAC7B9-9009-4E5C-8258-84F70944652D}"/>
              </a:ext>
            </a:extLst>
          </p:cNvPr>
          <p:cNvPicPr>
            <a:picLocks xmlns:a="http://schemas.openxmlformats.org/drawingml/2006/main" noChangeAspect="1"/>
          </p:cNvPicPr>
          <p:nvPr/>
        </p:nvPicPr>
        <p:blipFill>
          <a:blip xmlns:r="http://schemas.openxmlformats.org/officeDocument/2006/relationships" xmlns:a="http://schemas.openxmlformats.org/drawingml/2006/main" r:embed="Rf8a2f8041ae94c8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9C2EBA-11AE-412E-BBA7-A0E05604B86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23/24</a:t>
            </a:r>
          </a:p>
        </p:txBody>
      </p:sp>
      <p:sp>
        <p:nvSpPr>
          <p:cNvPr id="4" name="">
            <a:extLst xmlns:a="http://schemas.openxmlformats.org/drawingml/2006/main">
              <a:ext uri="{FF2B5EF4-FFF2-40B4-BE49-F238E27FC236}">
                <a16:creationId xmlns:a16="http://schemas.microsoft.com/office/drawing/2014/main" id="{478E68F9-CC8F-43BA-8919-4903F9A9391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Se observa y registra el centro del componente y su montaje.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La duración total incluye las demás operaciones y sus variaciones.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Referencia y estimación con unidades y convenciones comparables.</a:t>
            </a:r>
          </a:p>
        </p:txBody>
      </p:sp>
    </p:spTree>
    <p:extLst>
      <p:ext uri="{BB962C8B-B14F-4D97-AF65-F5344CB8AC3E}">
        <p14:creationId xmlns:p14="http://schemas.microsoft.com/office/powerpoint/2010/main" val="1169109802"/>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407B98-9D21-4927-BE57-D243F7FA978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69206E83-141A-4AF1-A7C3-525BFC7BC2A8}"/>
              </a:ext>
            </a:extLst>
          </p:cNvPr>
          <p:cNvPicPr>
            <a:picLocks xmlns:a="http://schemas.openxmlformats.org/drawingml/2006/main" noChangeAspect="1"/>
          </p:cNvPicPr>
          <p:nvPr/>
        </p:nvPicPr>
        <p:blipFill>
          <a:blip xmlns:r="http://schemas.openxmlformats.org/officeDocument/2006/relationships" xmlns:a="http://schemas.openxmlformats.org/drawingml/2006/main" r:embed="R3e0f289977dc4e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2D8B33-25AB-4801-8737-27AB8F73BFB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24/24</a:t>
            </a:r>
          </a:p>
        </p:txBody>
      </p:sp>
      <p:sp>
        <p:nvSpPr>
          <p:cNvPr id="4" name="">
            <a:extLst xmlns:a="http://schemas.openxmlformats.org/drawingml/2006/main">
              <a:ext uri="{FF2B5EF4-FFF2-40B4-BE49-F238E27FC236}">
                <a16:creationId xmlns:a16="http://schemas.microsoft.com/office/drawing/2014/main" id="{5737CFF9-94C0-4182-A4E4-08BA85C221F4}"/>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Calibración de mando, tres casos resueltos y diagrama de bloques del banco.</a:t>
            </a:r>
          </a:p>
        </p:txBody>
      </p:sp>
      <p:sp>
        <p:nvSpPr>
          <p:cNvPr id="5" name="">
            <a:extLst xmlns:a="http://schemas.openxmlformats.org/drawingml/2006/main">
              <a:ext uri="{FF2B5EF4-FFF2-40B4-BE49-F238E27FC236}">
                <a16:creationId xmlns:a16="http://schemas.microsoft.com/office/drawing/2014/main" id="{DC3D0AA1-8B69-4BC4-A6D8-64E3717C3A45}"/>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615077310"/>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477739-68D5-474F-AC17-EDBC2829739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Datos en tierra: Wi-Fi, HTTP y marcas de tiempo</a:t>
            </a:r>
          </a:p>
        </p:txBody>
      </p:sp>
      <p:pic>
        <p:nvPicPr>
          <p:cNvPr id="2" name="">
            <a:extLst xmlns:a="http://schemas.openxmlformats.org/drawingml/2006/main">
              <a:ext uri="{FF2B5EF4-FFF2-40B4-BE49-F238E27FC236}">
                <a16:creationId xmlns:a16="http://schemas.microsoft.com/office/drawing/2014/main" id="{BAD727B3-9279-4A78-84E8-4CD0907303E0}"/>
              </a:ext>
            </a:extLst>
          </p:cNvPr>
          <p:cNvPicPr>
            <a:picLocks xmlns:a="http://schemas.openxmlformats.org/drawingml/2006/main" noChangeAspect="1"/>
          </p:cNvPicPr>
          <p:nvPr/>
        </p:nvPicPr>
        <p:blipFill>
          <a:blip xmlns:r="http://schemas.openxmlformats.org/officeDocument/2006/relationships" xmlns:a="http://schemas.openxmlformats.org/drawingml/2006/main" r:embed="R3683ad3c62fe4a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34C2DDC-8403-4435-B2DE-0F4C478CBC2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01/24</a:t>
            </a:r>
          </a:p>
        </p:txBody>
      </p:sp>
      <p:sp>
        <p:nvSpPr>
          <p:cNvPr id="4" name="">
            <a:extLst xmlns:a="http://schemas.openxmlformats.org/drawingml/2006/main">
              <a:ext uri="{FF2B5EF4-FFF2-40B4-BE49-F238E27FC236}">
                <a16:creationId xmlns:a16="http://schemas.microsoft.com/office/drawing/2014/main" id="{FAB3A6B8-B437-43D3-943F-E3DAEEBE2C81}"/>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Publicar o registrar una lectura con su origen temporal y diferenciar conectividad, recepción y dato válido.</a:t>
            </a:r>
          </a:p>
        </p:txBody>
      </p:sp>
      <p:sp>
        <p:nvSpPr>
          <p:cNvPr id="5" name="">
            <a:extLst xmlns:a="http://schemas.openxmlformats.org/drawingml/2006/main">
              <a:ext uri="{FF2B5EF4-FFF2-40B4-BE49-F238E27FC236}">
                <a16:creationId xmlns:a16="http://schemas.microsoft.com/office/drawing/2014/main" id="{6F7F789C-AA4C-4F48-ACB6-9BA97F5EFAB4}"/>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Una estación de apoyo a drones necesita saber qué dato recibió y si corresponde al estado reciente del equipo.</a:t>
            </a:r>
          </a:p>
        </p:txBody>
      </p:sp>
      <p:sp>
        <p:nvSpPr>
          <p:cNvPr id="6" name="">
            <a:extLst xmlns:a="http://schemas.openxmlformats.org/drawingml/2006/main">
              <a:ext uri="{FF2B5EF4-FFF2-40B4-BE49-F238E27FC236}">
                <a16:creationId xmlns:a16="http://schemas.microsoft.com/office/drawing/2014/main" id="{AFF65AD9-A841-4DBC-A43F-2FDE1F0BD433}"/>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78227702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345519-9B3E-482F-9048-89ED39E202D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añadimos al conectar el equipo</a:t>
            </a:r>
          </a:p>
        </p:txBody>
      </p:sp>
      <p:pic>
        <p:nvPicPr>
          <p:cNvPr id="2" name="">
            <a:extLst xmlns:a="http://schemas.openxmlformats.org/drawingml/2006/main">
              <a:ext uri="{FF2B5EF4-FFF2-40B4-BE49-F238E27FC236}">
                <a16:creationId xmlns:a16="http://schemas.microsoft.com/office/drawing/2014/main" id="{1EADACE3-272B-464E-886E-B2A8D5A91BBA}"/>
              </a:ext>
            </a:extLst>
          </p:cNvPr>
          <p:cNvPicPr>
            <a:picLocks xmlns:a="http://schemas.openxmlformats.org/drawingml/2006/main" noChangeAspect="1"/>
          </p:cNvPicPr>
          <p:nvPr/>
        </p:nvPicPr>
        <p:blipFill>
          <a:blip xmlns:r="http://schemas.openxmlformats.org/officeDocument/2006/relationships" xmlns:a="http://schemas.openxmlformats.org/drawingml/2006/main" r:embed="R562611e1b1a34f5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F0E4A8-DDD2-4A2E-B3F7-D7ECCB60AA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02/24</a:t>
            </a:r>
          </a:p>
        </p:txBody>
      </p:sp>
      <p:sp>
        <p:nvSpPr>
          <p:cNvPr id="4" name="">
            <a:extLst xmlns:a="http://schemas.openxmlformats.org/drawingml/2006/main">
              <a:ext uri="{FF2B5EF4-FFF2-40B4-BE49-F238E27FC236}">
                <a16:creationId xmlns:a16="http://schemas.microsoft.com/office/drawing/2014/main" id="{1B84A474-7061-4324-919B-BF579594902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red permite transportar información entre programas. No mejora automáticamente la exactitud del sensor ni garantiza que todos los mensajes lleguen. El proyecto de riego aporta un servidor web; el reloj aporta una referencia de hora. En la ruta de drones reutilizamos esas ideas para observar datos de banco en tierra. La bomba y el agua no son necesarias para aprender la cadena de comunicación.</a:t>
            </a:r>
          </a:p>
        </p:txBody>
      </p:sp>
    </p:spTree>
    <p:extLst>
      <p:ext uri="{BB962C8B-B14F-4D97-AF65-F5344CB8AC3E}">
        <p14:creationId xmlns:p14="http://schemas.microsoft.com/office/powerpoint/2010/main" val="2018594019"/>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2D500B-7A8D-46E0-8708-1D3BCFBAA47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añadimos al conectar el equipo</a:t>
            </a:r>
          </a:p>
        </p:txBody>
      </p:sp>
      <p:pic>
        <p:nvPicPr>
          <p:cNvPr id="2" name="">
            <a:extLst xmlns:a="http://schemas.openxmlformats.org/drawingml/2006/main">
              <a:ext uri="{FF2B5EF4-FFF2-40B4-BE49-F238E27FC236}">
                <a16:creationId xmlns:a16="http://schemas.microsoft.com/office/drawing/2014/main" id="{762FF749-E64B-4081-88E4-5D56B0E86B12}"/>
              </a:ext>
            </a:extLst>
          </p:cNvPr>
          <p:cNvPicPr>
            <a:picLocks xmlns:a="http://schemas.openxmlformats.org/drawingml/2006/main" noChangeAspect="1"/>
          </p:cNvPicPr>
          <p:nvPr/>
        </p:nvPicPr>
        <p:blipFill>
          <a:blip xmlns:r="http://schemas.openxmlformats.org/officeDocument/2006/relationships" xmlns:a="http://schemas.openxmlformats.org/drawingml/2006/main" r:embed="R9f3287820d044f9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FA20275-7458-4E94-BDC5-C6D13F3A26F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03/24</a:t>
            </a:r>
          </a:p>
        </p:txBody>
      </p:sp>
      <p:pic>
        <p:nvPicPr>
          <p:cNvPr id="4" name="">
            <a:extLst xmlns:a="http://schemas.openxmlformats.org/drawingml/2006/main">
              <a:ext uri="{FF2B5EF4-FFF2-40B4-BE49-F238E27FC236}">
                <a16:creationId xmlns:a16="http://schemas.microsoft.com/office/drawing/2014/main" id="{425A1862-EBF2-4D15-A71C-934E820C62DA}"/>
              </a:ext>
            </a:extLst>
          </p:cNvPr>
          <p:cNvPicPr>
            <a:picLocks xmlns:a="http://schemas.openxmlformats.org/drawingml/2006/main" noChangeAspect="1"/>
          </p:cNvPicPr>
          <p:nvPr/>
        </p:nvPicPr>
        <p:blipFill>
          <a:blip xmlns:r="http://schemas.openxmlformats.org/officeDocument/2006/relationships" xmlns:a="http://schemas.openxmlformats.org/drawingml/2006/main" r:embed="R41ea3cf6f9db4cf5"/>
          <a:stretch xmlns:a="http://schemas.openxmlformats.org/drawingml/2006/main"/>
        </p:blipFill>
        <p:spPr>
          <a:xfrm xmlns:a="http://schemas.openxmlformats.org/drawingml/2006/main">
            <a:off x="2244939" y="1638300"/>
            <a:ext cx="4101672"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BBDCFBB-7B84-4738-879A-B0C57BADC26C}"/>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Identifica qué dato se transmite y quién inicia la comunicación.</a:t>
            </a:r>
          </a:p>
        </p:txBody>
      </p:sp>
      <p:sp>
        <p:nvSpPr>
          <p:cNvPr id="6" name="">
            <a:extLst xmlns:a="http://schemas.openxmlformats.org/drawingml/2006/main">
              <a:ext uri="{FF2B5EF4-FFF2-40B4-BE49-F238E27FC236}">
                <a16:creationId xmlns:a16="http://schemas.microsoft.com/office/drawing/2014/main" id="{A871E687-012E-429E-B380-D1374EA9FF90}"/>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19.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1760302068"/>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83B2B8-135D-4746-949F-2A642AE49C7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añadimos al conectar el equipo</a:t>
            </a:r>
          </a:p>
        </p:txBody>
      </p:sp>
      <p:pic>
        <p:nvPicPr>
          <p:cNvPr id="2" name="">
            <a:extLst xmlns:a="http://schemas.openxmlformats.org/drawingml/2006/main">
              <a:ext uri="{FF2B5EF4-FFF2-40B4-BE49-F238E27FC236}">
                <a16:creationId xmlns:a16="http://schemas.microsoft.com/office/drawing/2014/main" id="{A8825917-F7D7-4E58-9D94-2FE4B792C26A}"/>
              </a:ext>
            </a:extLst>
          </p:cNvPr>
          <p:cNvPicPr>
            <a:picLocks xmlns:a="http://schemas.openxmlformats.org/drawingml/2006/main" noChangeAspect="1"/>
          </p:cNvPicPr>
          <p:nvPr/>
        </p:nvPicPr>
        <p:blipFill>
          <a:blip xmlns:r="http://schemas.openxmlformats.org/officeDocument/2006/relationships" xmlns:a="http://schemas.openxmlformats.org/drawingml/2006/main" r:embed="R48d7b8f1f57f46a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352CC9-30F9-40F1-A63E-F8DEECE1044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04/24</a:t>
            </a:r>
          </a:p>
        </p:txBody>
      </p:sp>
      <p:sp>
        <p:nvSpPr>
          <p:cNvPr id="4" name="">
            <a:extLst xmlns:a="http://schemas.openxmlformats.org/drawingml/2006/main">
              <a:ext uri="{FF2B5EF4-FFF2-40B4-BE49-F238E27FC236}">
                <a16:creationId xmlns:a16="http://schemas.microsoft.com/office/drawing/2014/main" id="{7A131E20-9077-4D04-9632-441391E65FF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curso diferencia datos locales, mensajes enviados y registros recibidos. Una pantalla remota puede conservar la última respuesta aunque el dispositivo haya dejado de actualizar. Por eso se transportan identificador, tiempo y estado junto al valor. La conexión Wi-Fi es una condición del enlace; la validez de la medición pertenece a otra parte de la aplicación.</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ruta principal enseña una conexión local y una respuesta HTTP sencilla. NTP se utiliza como ampliación guiada de referencia de tiempo. El mouse BLE queda como demostración opcional en hardware, porque el simulador consultado no implementa esa radio. Se conserva el enlace de ampliación sin convertir tres tecnologías de red en un supuesto dominio avanzado durante una sola sesión.</a:t>
            </a:r>
          </a:p>
        </p:txBody>
      </p:sp>
    </p:spTree>
    <p:extLst>
      <p:ext uri="{BB962C8B-B14F-4D97-AF65-F5344CB8AC3E}">
        <p14:creationId xmlns:p14="http://schemas.microsoft.com/office/powerpoint/2010/main" val="525271071"/>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3DA3C2-E918-49E0-8A2A-7266973031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Dirección, solicitud y respuesta</a:t>
            </a:r>
          </a:p>
        </p:txBody>
      </p:sp>
      <p:pic>
        <p:nvPicPr>
          <p:cNvPr id="2" name="">
            <a:extLst xmlns:a="http://schemas.openxmlformats.org/drawingml/2006/main">
              <a:ext uri="{FF2B5EF4-FFF2-40B4-BE49-F238E27FC236}">
                <a16:creationId xmlns:a16="http://schemas.microsoft.com/office/drawing/2014/main" id="{63F08F99-A06E-456B-8910-0E9B2BAB8D50}"/>
              </a:ext>
            </a:extLst>
          </p:cNvPr>
          <p:cNvPicPr>
            <a:picLocks xmlns:a="http://schemas.openxmlformats.org/drawingml/2006/main" noChangeAspect="1"/>
          </p:cNvPicPr>
          <p:nvPr/>
        </p:nvPicPr>
        <p:blipFill>
          <a:blip xmlns:r="http://schemas.openxmlformats.org/officeDocument/2006/relationships" xmlns:a="http://schemas.openxmlformats.org/drawingml/2006/main" r:embed="R9c5ff04f94ca48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B93558-5FDF-4E54-8AF8-18B2C0BDF9B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05/24</a:t>
            </a:r>
          </a:p>
        </p:txBody>
      </p:sp>
      <p:sp>
        <p:nvSpPr>
          <p:cNvPr id="4" name="">
            <a:extLst xmlns:a="http://schemas.openxmlformats.org/drawingml/2006/main">
              <a:ext uri="{FF2B5EF4-FFF2-40B4-BE49-F238E27FC236}">
                <a16:creationId xmlns:a16="http://schemas.microsoft.com/office/drawing/2014/main" id="{9964712A-9D87-4EEE-8F90-33B3A6B28C1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modo estación, el ESP32 se conecta a una red que le asigna o permite usar una dirección. Un servidor atiende solicitudes sobre una interfaz; un cliente inicia una solicitud. HTTP organiza método, ruta y respuesta. Nuestro recurso /datos devuelve un objeto pequeño con nombres de campo. Una dirección IP mostrada por un simulador no tiene por qué ser accesible desde el navegador de la computadora del alumno.</a:t>
            </a:r>
          </a:p>
        </p:txBody>
      </p:sp>
    </p:spTree>
    <p:extLst>
      <p:ext uri="{BB962C8B-B14F-4D97-AF65-F5344CB8AC3E}">
        <p14:creationId xmlns:p14="http://schemas.microsoft.com/office/powerpoint/2010/main" val="167798267"/>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97D065-CA8D-4AA9-B098-3C63A412BC0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Términos del ensayo</a:t>
            </a:r>
          </a:p>
        </p:txBody>
      </p:sp>
      <p:pic>
        <p:nvPicPr>
          <p:cNvPr id="2" name="">
            <a:extLst xmlns:a="http://schemas.openxmlformats.org/drawingml/2006/main">
              <a:ext uri="{FF2B5EF4-FFF2-40B4-BE49-F238E27FC236}">
                <a16:creationId xmlns:a16="http://schemas.microsoft.com/office/drawing/2014/main" id="{F212B209-84F1-42C7-A8F0-FFF3F4B127E6}"/>
              </a:ext>
            </a:extLst>
          </p:cNvPr>
          <p:cNvPicPr>
            <a:picLocks xmlns:a="http://schemas.openxmlformats.org/drawingml/2006/main" noChangeAspect="1"/>
          </p:cNvPicPr>
          <p:nvPr/>
        </p:nvPicPr>
        <p:blipFill>
          <a:blip xmlns:r="http://schemas.openxmlformats.org/officeDocument/2006/relationships" xmlns:a="http://schemas.openxmlformats.org/drawingml/2006/main" r:embed="Rb5e339285f614f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AD2E41-6274-4A4B-BE2A-83ED6A30C61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06/24</a:t>
            </a:r>
          </a:p>
        </p:txBody>
      </p:sp>
      <p:graphicFrame>
        <p:nvGraphicFramePr>
          <p:cNvPr id="4" name="">
            <a:extLst xmlns:a="http://schemas.openxmlformats.org/drawingml/2006/main">
              <a:ext uri="{FF2B5EF4-FFF2-40B4-BE49-F238E27FC236}">
                <a16:creationId xmlns:a16="http://schemas.microsoft.com/office/drawing/2014/main" id="{4FE85CCA-F337-4F21-AC0C-40902836368E}"/>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Término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SSID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Nombre de red</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Red del laboratorio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IP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Dirección del equipo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Observar la asignada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Ruta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Recurso solicitado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/datos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Respuesta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Contenido y estado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JSON de lecturas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510036246"/>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CD6684-4D34-4348-A388-C548BC9F0F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Conectado pero sin dato</a:t>
            </a:r>
          </a:p>
        </p:txBody>
      </p:sp>
      <p:pic>
        <p:nvPicPr>
          <p:cNvPr id="2" name="">
            <a:extLst xmlns:a="http://schemas.openxmlformats.org/drawingml/2006/main">
              <a:ext uri="{FF2B5EF4-FFF2-40B4-BE49-F238E27FC236}">
                <a16:creationId xmlns:a16="http://schemas.microsoft.com/office/drawing/2014/main" id="{C79BA2C3-16CB-45C3-8EAF-E4B5008D2C86}"/>
              </a:ext>
            </a:extLst>
          </p:cNvPr>
          <p:cNvPicPr>
            <a:picLocks xmlns:a="http://schemas.openxmlformats.org/drawingml/2006/main" noChangeAspect="1"/>
          </p:cNvPicPr>
          <p:nvPr/>
        </p:nvPicPr>
        <p:blipFill>
          <a:blip xmlns:r="http://schemas.openxmlformats.org/officeDocument/2006/relationships" xmlns:a="http://schemas.openxmlformats.org/drawingml/2006/main" r:embed="R8ad59cc8ddb946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37AA8E-153C-46B3-BF83-00F610A6DFA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07/24</a:t>
            </a:r>
          </a:p>
        </p:txBody>
      </p:sp>
      <p:sp>
        <p:nvSpPr>
          <p:cNvPr id="4" name="">
            <a:extLst xmlns:a="http://schemas.openxmlformats.org/drawingml/2006/main">
              <a:ext uri="{FF2B5EF4-FFF2-40B4-BE49-F238E27FC236}">
                <a16:creationId xmlns:a16="http://schemas.microsoft.com/office/drawing/2014/main" id="{D02CA1DA-70F8-4101-A2EA-40C08AFF8396}"/>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estado Wi-Fi indica conectado, pero /datos muestra una lectura antigua. ¿Qué parte falta revisar?</a:t>
            </a:r>
          </a:p>
        </p:txBody>
      </p:sp>
      <p:sp>
        <p:nvSpPr>
          <p:cNvPr id="5" name="">
            <a:extLst xmlns:a="http://schemas.openxmlformats.org/drawingml/2006/main">
              <a:ext uri="{FF2B5EF4-FFF2-40B4-BE49-F238E27FC236}">
                <a16:creationId xmlns:a16="http://schemas.microsoft.com/office/drawing/2014/main" id="{9525241E-2831-458C-B091-4E7B0D153DA9}"/>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La adquisición, su marca de tiempo y la generación de la respuesta. Tener enlace no demuestra que exista una medida nueva.</a:t>
            </a:r>
          </a:p>
        </p:txBody>
      </p:sp>
    </p:spTree>
    <p:extLst>
      <p:ext uri="{BB962C8B-B14F-4D97-AF65-F5344CB8AC3E}">
        <p14:creationId xmlns:p14="http://schemas.microsoft.com/office/powerpoint/2010/main" val="504941076"/>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EE1407-0D8B-4223-8D0E-9A253BBC64C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Tiempo relativo y hora UTC</a:t>
            </a:r>
          </a:p>
        </p:txBody>
      </p:sp>
      <p:pic>
        <p:nvPicPr>
          <p:cNvPr id="2" name="">
            <a:extLst xmlns:a="http://schemas.openxmlformats.org/drawingml/2006/main">
              <a:ext uri="{FF2B5EF4-FFF2-40B4-BE49-F238E27FC236}">
                <a16:creationId xmlns:a16="http://schemas.microsoft.com/office/drawing/2014/main" id="{DC458039-908D-4297-A7AB-6C8F703A4436}"/>
              </a:ext>
            </a:extLst>
          </p:cNvPr>
          <p:cNvPicPr>
            <a:picLocks xmlns:a="http://schemas.openxmlformats.org/drawingml/2006/main" noChangeAspect="1"/>
          </p:cNvPicPr>
          <p:nvPr/>
        </p:nvPicPr>
        <p:blipFill>
          <a:blip xmlns:r="http://schemas.openxmlformats.org/officeDocument/2006/relationships" xmlns:a="http://schemas.openxmlformats.org/drawingml/2006/main" r:embed="Rd60af3d2e4f24a7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BCAAE0-C837-42DC-AC47-56A23BF59B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08/24</a:t>
            </a:r>
          </a:p>
        </p:txBody>
      </p:sp>
      <p:sp>
        <p:nvSpPr>
          <p:cNvPr id="4" name="">
            <a:extLst xmlns:a="http://schemas.openxmlformats.org/drawingml/2006/main">
              <a:ext uri="{FF2B5EF4-FFF2-40B4-BE49-F238E27FC236}">
                <a16:creationId xmlns:a16="http://schemas.microsoft.com/office/drawing/2014/main" id="{9C968192-2601-48EC-8B0C-5F7B5D0DDF5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millis() permite ordenar intervalos desde el inicio del equipo. La hora UTC sirve para relacionar registros con una referencia de calendario cuando se obtuvo una sincronización válida. NTP intercambia información temporal a través de la red; no convierte al ESP32 en un reloj atómico ni elimina los errores de latencia y de oscilador. Una lectura previa a la sincronización no se trata como hora correcta por estar escrita en una columna llamada fecha.</a:t>
            </a:r>
          </a:p>
        </p:txBody>
      </p:sp>
    </p:spTree>
    <p:extLst>
      <p:ext uri="{BB962C8B-B14F-4D97-AF65-F5344CB8AC3E}">
        <p14:creationId xmlns:p14="http://schemas.microsoft.com/office/powerpoint/2010/main" val="810557023"/>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329B34-699F-451D-A0BC-12B148F9186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Dos referencias de tiempo</a:t>
            </a:r>
          </a:p>
        </p:txBody>
      </p:sp>
      <p:pic>
        <p:nvPicPr>
          <p:cNvPr id="2" name="">
            <a:extLst xmlns:a="http://schemas.openxmlformats.org/drawingml/2006/main">
              <a:ext uri="{FF2B5EF4-FFF2-40B4-BE49-F238E27FC236}">
                <a16:creationId xmlns:a16="http://schemas.microsoft.com/office/drawing/2014/main" id="{BBDF8F92-7DF1-4367-949F-639C96099948}"/>
              </a:ext>
            </a:extLst>
          </p:cNvPr>
          <p:cNvPicPr>
            <a:picLocks xmlns:a="http://schemas.openxmlformats.org/drawingml/2006/main" noChangeAspect="1"/>
          </p:cNvPicPr>
          <p:nvPr/>
        </p:nvPicPr>
        <p:blipFill>
          <a:blip xmlns:r="http://schemas.openxmlformats.org/officeDocument/2006/relationships" xmlns:a="http://schemas.openxmlformats.org/drawingml/2006/main" r:embed="R093c1f85416d49b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2C19E5-FAB7-4A34-97B2-9F0A9317CC2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09/24</a:t>
            </a:r>
          </a:p>
        </p:txBody>
      </p:sp>
      <p:graphicFrame>
        <p:nvGraphicFramePr>
          <p:cNvPr id="4" name="">
            <a:extLst xmlns:a="http://schemas.openxmlformats.org/drawingml/2006/main">
              <a:ext uri="{FF2B5EF4-FFF2-40B4-BE49-F238E27FC236}">
                <a16:creationId xmlns:a16="http://schemas.microsoft.com/office/drawing/2014/main" id="{9B800FA2-6BAD-495D-94C2-06AD2FA759D3}"/>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Referencia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Útil para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verificar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Tiempo desde inicio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Intervalos locales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Reinicio y retorno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Hora UTC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Relacionar registros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Origen y sincronización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Hora presentada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Lectura humana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Zona y formato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925189682"/>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50DD6D-4C87-4EE8-B384-C3F5C25FBAD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Mismo valor de tiempo</a:t>
            </a:r>
          </a:p>
        </p:txBody>
      </p:sp>
      <p:pic>
        <p:nvPicPr>
          <p:cNvPr id="2" name="">
            <a:extLst xmlns:a="http://schemas.openxmlformats.org/drawingml/2006/main">
              <a:ext uri="{FF2B5EF4-FFF2-40B4-BE49-F238E27FC236}">
                <a16:creationId xmlns:a16="http://schemas.microsoft.com/office/drawing/2014/main" id="{7A11FEEA-0EE3-4AF7-BE8B-5FA1619DC970}"/>
              </a:ext>
            </a:extLst>
          </p:cNvPr>
          <p:cNvPicPr>
            <a:picLocks xmlns:a="http://schemas.openxmlformats.org/drawingml/2006/main" noChangeAspect="1"/>
          </p:cNvPicPr>
          <p:nvPr/>
        </p:nvPicPr>
        <p:blipFill>
          <a:blip xmlns:r="http://schemas.openxmlformats.org/officeDocument/2006/relationships" xmlns:a="http://schemas.openxmlformats.org/drawingml/2006/main" r:embed="Rdc5f0e38358f44b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8D4331D-F055-444E-A492-16D2680F5D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10/24</a:t>
            </a:r>
          </a:p>
        </p:txBody>
      </p:sp>
      <p:sp>
        <p:nvSpPr>
          <p:cNvPr id="4" name="">
            <a:extLst xmlns:a="http://schemas.openxmlformats.org/drawingml/2006/main">
              <a:ext uri="{FF2B5EF4-FFF2-40B4-BE49-F238E27FC236}">
                <a16:creationId xmlns:a16="http://schemas.microsoft.com/office/drawing/2014/main" id="{F2B66867-F0F8-4132-80EA-D29AD55F060B}"/>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Dos placas informan millis() = 5000. ¿Se demuestra que midieron en el mismo instante global?</a:t>
            </a:r>
          </a:p>
        </p:txBody>
      </p:sp>
      <p:sp>
        <p:nvSpPr>
          <p:cNvPr id="5" name="">
            <a:extLst xmlns:a="http://schemas.openxmlformats.org/drawingml/2006/main">
              <a:ext uri="{FF2B5EF4-FFF2-40B4-BE49-F238E27FC236}">
                <a16:creationId xmlns:a16="http://schemas.microsoft.com/office/drawing/2014/main" id="{DCFA4498-CCBB-4769-B40A-6F03CA9D9973}"/>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Cada contador parte del inicio de su equipo. Se necesita una relación entre referencias si se quieren alinear registros.</a:t>
            </a:r>
          </a:p>
        </p:txBody>
      </p:sp>
    </p:spTree>
    <p:extLst>
      <p:ext uri="{BB962C8B-B14F-4D97-AF65-F5344CB8AC3E}">
        <p14:creationId xmlns:p14="http://schemas.microsoft.com/office/powerpoint/2010/main" val="820408942"/>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EE3157-1D3B-4468-AAF0-E15B296971A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respuesta pequeña que se puede inspeccionar</a:t>
            </a:r>
          </a:p>
        </p:txBody>
      </p:sp>
      <p:pic>
        <p:nvPicPr>
          <p:cNvPr id="2" name="">
            <a:extLst xmlns:a="http://schemas.openxmlformats.org/drawingml/2006/main">
              <a:ext uri="{FF2B5EF4-FFF2-40B4-BE49-F238E27FC236}">
                <a16:creationId xmlns:a16="http://schemas.microsoft.com/office/drawing/2014/main" id="{A7245641-D329-4F07-A78A-24BE04E79612}"/>
              </a:ext>
            </a:extLst>
          </p:cNvPr>
          <p:cNvPicPr>
            <a:picLocks xmlns:a="http://schemas.openxmlformats.org/drawingml/2006/main" noChangeAspect="1"/>
          </p:cNvPicPr>
          <p:nvPr/>
        </p:nvPicPr>
        <p:blipFill>
          <a:blip xmlns:r="http://schemas.openxmlformats.org/officeDocument/2006/relationships" xmlns:a="http://schemas.openxmlformats.org/drawingml/2006/main" r:embed="R9bed5e4df313414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2C5C1A-889A-4F7E-B67F-65471AD2E1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11/24</a:t>
            </a:r>
          </a:p>
        </p:txBody>
      </p:sp>
      <p:sp>
        <p:nvSpPr>
          <p:cNvPr id="4" name="">
            <a:extLst xmlns:a="http://schemas.openxmlformats.org/drawingml/2006/main">
              <a:ext uri="{FF2B5EF4-FFF2-40B4-BE49-F238E27FC236}">
                <a16:creationId xmlns:a16="http://schemas.microsoft.com/office/drawing/2014/main" id="{56F9BACD-3B2A-4FEE-8293-FD2C6127A3A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versión completa adquiere el ADC en una agenda y atiende solicitudes en otra. Para hardware se configuran las credenciales de la red de laboratorio; las del simulador no corresponden automáticamente al aula física. Los ejemplos se comparten con valores de demostración, sin guardar contraseñas personales en la entrega pública. El docente muestra dónde se configura la conexión y conserva la práctica en un entorno local.</a:t>
            </a:r>
          </a:p>
        </p:txBody>
      </p:sp>
    </p:spTree>
    <p:extLst>
      <p:ext uri="{BB962C8B-B14F-4D97-AF65-F5344CB8AC3E}">
        <p14:creationId xmlns:p14="http://schemas.microsoft.com/office/powerpoint/2010/main" val="10025230"/>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6F08E5-3B25-4FCE-AD54-AEE90FFB777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Esquema del recurso de c14_wifi</a:t>
            </a:r>
          </a:p>
        </p:txBody>
      </p:sp>
      <p:pic>
        <p:nvPicPr>
          <p:cNvPr id="2" name="">
            <a:extLst xmlns:a="http://schemas.openxmlformats.org/drawingml/2006/main">
              <a:ext uri="{FF2B5EF4-FFF2-40B4-BE49-F238E27FC236}">
                <a16:creationId xmlns:a16="http://schemas.microsoft.com/office/drawing/2014/main" id="{18E0CDD1-F0B7-4AA7-99FF-7B30495CACE8}"/>
              </a:ext>
            </a:extLst>
          </p:cNvPr>
          <p:cNvPicPr>
            <a:picLocks xmlns:a="http://schemas.openxmlformats.org/drawingml/2006/main" noChangeAspect="1"/>
          </p:cNvPicPr>
          <p:nvPr/>
        </p:nvPicPr>
        <p:blipFill>
          <a:blip xmlns:r="http://schemas.openxmlformats.org/officeDocument/2006/relationships" xmlns:a="http://schemas.openxmlformats.org/drawingml/2006/main" r:embed="R56b34058eab648b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817ED5-FFC5-494F-8A97-A5B3E76979D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12/24</a:t>
            </a:r>
          </a:p>
        </p:txBody>
      </p:sp>
      <p:sp>
        <p:nvSpPr>
          <p:cNvPr id="4" name="">
            <a:extLst xmlns:a="http://schemas.openxmlformats.org/drawingml/2006/main">
              <a:ext uri="{FF2B5EF4-FFF2-40B4-BE49-F238E27FC236}">
                <a16:creationId xmlns:a16="http://schemas.microsoft.com/office/drawing/2014/main" id="{98963C09-FB5B-4BF5-97DC-BB88EECB271B}"/>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String payload = "{\"t_ms\":" + String(millis());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payload += ",\"adc\":" + String(analogRead(34)) +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server.send(200, "application/json", payload);</a:t>
            </a:r>
          </a:p>
        </p:txBody>
      </p:sp>
      <p:sp>
        <p:nvSpPr>
          <p:cNvPr id="5" name="">
            <a:extLst xmlns:a="http://schemas.openxmlformats.org/drawingml/2006/main">
              <a:ext uri="{FF2B5EF4-FFF2-40B4-BE49-F238E27FC236}">
                <a16:creationId xmlns:a16="http://schemas.microsoft.com/office/drawing/2014/main" id="{5B838C93-7781-421E-8F85-BDACDB1F9D59}"/>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245175027"/>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A6E56D-5064-4A9C-ACFB-16120167DC8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Una respuesta pequeña que se puede inspeccionar</a:t>
            </a:r>
          </a:p>
        </p:txBody>
      </p:sp>
      <p:pic>
        <p:nvPicPr>
          <p:cNvPr id="2" name="">
            <a:extLst xmlns:a="http://schemas.openxmlformats.org/drawingml/2006/main">
              <a:ext uri="{FF2B5EF4-FFF2-40B4-BE49-F238E27FC236}">
                <a16:creationId xmlns:a16="http://schemas.microsoft.com/office/drawing/2014/main" id="{813634BB-75BA-4342-B120-C7EF5293A9FD}"/>
              </a:ext>
            </a:extLst>
          </p:cNvPr>
          <p:cNvPicPr>
            <a:picLocks xmlns:a="http://schemas.openxmlformats.org/drawingml/2006/main" noChangeAspect="1"/>
          </p:cNvPicPr>
          <p:nvPr/>
        </p:nvPicPr>
        <p:blipFill>
          <a:blip xmlns:r="http://schemas.openxmlformats.org/officeDocument/2006/relationships" xmlns:a="http://schemas.openxmlformats.org/drawingml/2006/main" r:embed="Raf698dd68c174f4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EA69513-6AD4-4EBD-A8E0-E5798F1EC5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13/24</a:t>
            </a:r>
          </a:p>
        </p:txBody>
      </p:sp>
      <p:sp>
        <p:nvSpPr>
          <p:cNvPr id="4" name="">
            <a:extLst xmlns:a="http://schemas.openxmlformats.org/drawingml/2006/main">
              <a:ext uri="{FF2B5EF4-FFF2-40B4-BE49-F238E27FC236}">
                <a16:creationId xmlns:a16="http://schemas.microsoft.com/office/drawing/2014/main" id="{E69F12B1-ABDD-45D2-8699-44A25020DC3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demostración puede ampliar el objeto con seq, valid y sample_ms. Esos campos permiten reconocer repetición, antigüedad y estado. El tiempo de la respuesta y el de la adquisición no son necesariamente iguales. El alumno explica cuál informa cada campo y evita actualizar sample_ms simplemente porque alguien pidió la página.</a:t>
            </a:r>
          </a:p>
        </p:txBody>
      </p:sp>
    </p:spTree>
    <p:extLst>
      <p:ext uri="{BB962C8B-B14F-4D97-AF65-F5344CB8AC3E}">
        <p14:creationId xmlns:p14="http://schemas.microsoft.com/office/powerpoint/2010/main" val="891622910"/>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F357F6-EF5E-4A85-AC34-1B8C81D1BCE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recepción y antigüedad</a:t>
            </a:r>
          </a:p>
        </p:txBody>
      </p:sp>
      <p:pic>
        <p:nvPicPr>
          <p:cNvPr id="2" name="">
            <a:extLst xmlns:a="http://schemas.openxmlformats.org/drawingml/2006/main">
              <a:ext uri="{FF2B5EF4-FFF2-40B4-BE49-F238E27FC236}">
                <a16:creationId xmlns:a16="http://schemas.microsoft.com/office/drawing/2014/main" id="{C798DD5C-70B9-48EF-AB7F-D610E1409B22}"/>
              </a:ext>
            </a:extLst>
          </p:cNvPr>
          <p:cNvPicPr>
            <a:picLocks xmlns:a="http://schemas.openxmlformats.org/drawingml/2006/main" noChangeAspect="1"/>
          </p:cNvPicPr>
          <p:nvPr/>
        </p:nvPicPr>
        <p:blipFill>
          <a:blip xmlns:r="http://schemas.openxmlformats.org/officeDocument/2006/relationships" xmlns:a="http://schemas.openxmlformats.org/drawingml/2006/main" r:embed="R54fbb294c4024af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5FE3C0-3218-4A03-9B5F-4BCEE520886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14/24</a:t>
            </a:r>
          </a:p>
        </p:txBody>
      </p:sp>
      <p:sp>
        <p:nvSpPr>
          <p:cNvPr id="4" name="">
            <a:extLst xmlns:a="http://schemas.openxmlformats.org/drawingml/2006/main">
              <a:ext uri="{FF2B5EF4-FFF2-40B4-BE49-F238E27FC236}">
                <a16:creationId xmlns:a16="http://schemas.microsoft.com/office/drawing/2014/main" id="{85F13FC0-021D-4EE8-88B0-BA4BAC28911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un alumno no dispone de un servidor accesible en el simulador, realiza la misma revisión sobre el registro local y sobre respuestas identificadas de la demostración docente. No se exige contratar un servicio adicional para demostrar comprensión del formato y de la antigüedad. La limitación de acceso se registra como condición del entorno, separada de un error del circuito.</a:t>
            </a:r>
          </a:p>
        </p:txBody>
      </p:sp>
    </p:spTree>
    <p:extLst>
      <p:ext uri="{BB962C8B-B14F-4D97-AF65-F5344CB8AC3E}">
        <p14:creationId xmlns:p14="http://schemas.microsoft.com/office/powerpoint/2010/main" val="1686580534"/>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684162-1DAA-4256-B190-3E36D9F73C8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mínimos para revisar un mensaje</a:t>
            </a:r>
          </a:p>
        </p:txBody>
      </p:sp>
      <p:pic>
        <p:nvPicPr>
          <p:cNvPr id="2" name="">
            <a:extLst xmlns:a="http://schemas.openxmlformats.org/drawingml/2006/main">
              <a:ext uri="{FF2B5EF4-FFF2-40B4-BE49-F238E27FC236}">
                <a16:creationId xmlns:a16="http://schemas.microsoft.com/office/drawing/2014/main" id="{D6BB1FCD-E468-4DC3-B47E-BA07B3B3FE85}"/>
              </a:ext>
            </a:extLst>
          </p:cNvPr>
          <p:cNvPicPr>
            <a:picLocks xmlns:a="http://schemas.openxmlformats.org/drawingml/2006/main" noChangeAspect="1"/>
          </p:cNvPicPr>
          <p:nvPr/>
        </p:nvPicPr>
        <p:blipFill>
          <a:blip xmlns:r="http://schemas.openxmlformats.org/officeDocument/2006/relationships" xmlns:a="http://schemas.openxmlformats.org/drawingml/2006/main" r:embed="Rcd21cc611c21461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C3858E-5AAB-4FC2-96CF-CF05AC4A794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15/24</a:t>
            </a:r>
          </a:p>
        </p:txBody>
      </p:sp>
      <p:graphicFrame>
        <p:nvGraphicFramePr>
          <p:cNvPr id="4" name="">
            <a:extLst xmlns:a="http://schemas.openxmlformats.org/drawingml/2006/main">
              <a:ext uri="{FF2B5EF4-FFF2-40B4-BE49-F238E27FC236}">
                <a16:creationId xmlns:a16="http://schemas.microsoft.com/office/drawing/2014/main" id="{E833A767-E62D-4E4A-B533-910516788DD7}"/>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Campo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aporta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equipo / seq</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Origen y orden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sample_ms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Instante de adquisición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valor / unidad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Significado físico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valid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del dato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084608858"/>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CB1736-3B0D-4BCE-99E9-C7434082AEA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recepción y antigüedad</a:t>
            </a:r>
          </a:p>
        </p:txBody>
      </p:sp>
      <p:pic>
        <p:nvPicPr>
          <p:cNvPr id="2" name="">
            <a:extLst xmlns:a="http://schemas.openxmlformats.org/drawingml/2006/main">
              <a:ext uri="{FF2B5EF4-FFF2-40B4-BE49-F238E27FC236}">
                <a16:creationId xmlns:a16="http://schemas.microsoft.com/office/drawing/2014/main" id="{C6991111-3C36-4075-93C5-4F874D0A0B83}"/>
              </a:ext>
            </a:extLst>
          </p:cNvPr>
          <p:cNvPicPr>
            <a:picLocks xmlns:a="http://schemas.openxmlformats.org/drawingml/2006/main" noChangeAspect="1"/>
          </p:cNvPicPr>
          <p:nvPr/>
        </p:nvPicPr>
        <p:blipFill>
          <a:blip xmlns:r="http://schemas.openxmlformats.org/officeDocument/2006/relationships" xmlns:a="http://schemas.openxmlformats.org/drawingml/2006/main" r:embed="R1beb8ba846ad4e3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9C4CBE-7732-4082-B924-259B19E0F5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16/24</a:t>
            </a:r>
          </a:p>
        </p:txBody>
      </p:sp>
      <p:sp>
        <p:nvSpPr>
          <p:cNvPr id="4" name="">
            <a:extLst xmlns:a="http://schemas.openxmlformats.org/drawingml/2006/main">
              <a:ext uri="{FF2B5EF4-FFF2-40B4-BE49-F238E27FC236}">
                <a16:creationId xmlns:a16="http://schemas.microsoft.com/office/drawing/2014/main" id="{5B35286E-049D-45A3-A1FF-67E78C2A762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el proyecto 19 como referencia y sustituye la función de riego por observación de datos de banco.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Identifica qué programa actúa como cliente y cuál como servidor.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Ejecuta c14_wifi y observa conexión, marca local y lectura en serie.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En hardware o gateway habilitado, consulta /datos y compara respuesta y adquisición.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Estudia una pérdida de enlace o un valor que deja de actualizarse.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Añade estado y marca de adquisición al formato de un mensaje.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En la ampliación NTP, diferencia tiempo previo y posterior a una sincronización verificada.</a:t>
            </a:r>
          </a:p>
        </p:txBody>
      </p:sp>
    </p:spTree>
    <p:extLst>
      <p:ext uri="{BB962C8B-B14F-4D97-AF65-F5344CB8AC3E}">
        <p14:creationId xmlns:p14="http://schemas.microsoft.com/office/powerpoint/2010/main" val="1354628496"/>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0EC186-C7CE-405E-BD3F-AF6E7A6578D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extensión BLE y el siguiente nivel</a:t>
            </a:r>
          </a:p>
        </p:txBody>
      </p:sp>
      <p:pic>
        <p:nvPicPr>
          <p:cNvPr id="2" name="">
            <a:extLst xmlns:a="http://schemas.openxmlformats.org/drawingml/2006/main">
              <a:ext uri="{FF2B5EF4-FFF2-40B4-BE49-F238E27FC236}">
                <a16:creationId xmlns:a16="http://schemas.microsoft.com/office/drawing/2014/main" id="{4CA215D0-3C76-4399-9049-582AE97D4B59}"/>
              </a:ext>
            </a:extLst>
          </p:cNvPr>
          <p:cNvPicPr>
            <a:picLocks xmlns:a="http://schemas.openxmlformats.org/drawingml/2006/main" noChangeAspect="1"/>
          </p:cNvPicPr>
          <p:nvPr/>
        </p:nvPicPr>
        <p:blipFill>
          <a:blip xmlns:r="http://schemas.openxmlformats.org/officeDocument/2006/relationships" xmlns:a="http://schemas.openxmlformats.org/drawingml/2006/main" r:embed="Rfb93e7e2667d42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3AC181-A65D-4B0D-87AB-F5747CA8CE9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17/24</a:t>
            </a:r>
          </a:p>
        </p:txBody>
      </p:sp>
      <p:sp>
        <p:nvSpPr>
          <p:cNvPr id="4" name="">
            <a:extLst xmlns:a="http://schemas.openxmlformats.org/drawingml/2006/main">
              <a:ext uri="{FF2B5EF4-FFF2-40B4-BE49-F238E27FC236}">
                <a16:creationId xmlns:a16="http://schemas.microsoft.com/office/drawing/2014/main" id="{ACEF7049-74E5-47CE-A74B-204E05C8000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mouse aéreo reutiliza velocidad angular, zona muerta e interfaz HID sobre BLE en hardware compatible. Es una ampliación útil, pero no reemplaza el estudio de ADC, medida y control. LoRa, registro MicroSD, MQTT, OTA y organización avanzada de tareas pertenecen a otra ruta de formación. La presente sesión ofrece un punto de entrada a datos en tierra y deja una base de registro útil para ese siguiente nivel.</a:t>
            </a:r>
          </a:p>
        </p:txBody>
      </p:sp>
    </p:spTree>
    <p:extLst>
      <p:ext uri="{BB962C8B-B14F-4D97-AF65-F5344CB8AC3E}">
        <p14:creationId xmlns:p14="http://schemas.microsoft.com/office/powerpoint/2010/main" val="2088078240"/>
      </p:ext>
    </p:extLst>
  </p:cSld>
</p:sld>
</file>

<file path=ppt/slides/slide4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760131-7260-4A24-9AB3-B6877456974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5A441E19-2369-4D4D-AAE1-E4D3EF822740}"/>
              </a:ext>
            </a:extLst>
          </p:cNvPr>
          <p:cNvPicPr>
            <a:picLocks xmlns:a="http://schemas.openxmlformats.org/drawingml/2006/main" noChangeAspect="1"/>
          </p:cNvPicPr>
          <p:nvPr/>
        </p:nvPicPr>
        <p:blipFill>
          <a:blip xmlns:r="http://schemas.openxmlformats.org/officeDocument/2006/relationships" xmlns:a="http://schemas.openxmlformats.org/drawingml/2006/main" r:embed="R0ad74a50f94946e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43F045-F6BE-42DA-A980-BB4EC72767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18/24</a:t>
            </a:r>
          </a:p>
        </p:txBody>
      </p:sp>
      <p:sp>
        <p:nvSpPr>
          <p:cNvPr id="4" name="">
            <a:extLst xmlns:a="http://schemas.openxmlformats.org/drawingml/2006/main">
              <a:ext uri="{FF2B5EF4-FFF2-40B4-BE49-F238E27FC236}">
                <a16:creationId xmlns:a16="http://schemas.microsoft.com/office/drawing/2014/main" id="{55AEF8A3-C63A-4C61-9EC3-883A061128A7}"/>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Se reciben dos respuestas que contienen la misma secuencia y el mismo instante de adquisición. ¿Hay dos muestras nuevas?</a:t>
            </a:r>
          </a:p>
        </p:txBody>
      </p:sp>
      <p:sp>
        <p:nvSpPr>
          <p:cNvPr id="5" name="">
            <a:extLst xmlns:a="http://schemas.openxmlformats.org/drawingml/2006/main">
              <a:ext uri="{FF2B5EF4-FFF2-40B4-BE49-F238E27FC236}">
                <a16:creationId xmlns:a16="http://schemas.microsoft.com/office/drawing/2014/main" id="{8D9F9A3C-DD7F-4F55-97B6-FAF886B41932}"/>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Investiga qué puede aportar NTP al ordenar datos y qué no demuestra acerca de la precisión de un sensor. Después compara BLE HID y HTTP por su función de aplicación: uno puede presentar un dispositivo de entrada y el otro intercambiar recursos. El estudiante debe poder elegir una interfaz por lo que necesita transportar, no solo por la presencia de radio en la placa.</a:t>
            </a:r>
          </a:p>
        </p:txBody>
      </p:sp>
    </p:spTree>
    <p:extLst>
      <p:ext uri="{BB962C8B-B14F-4D97-AF65-F5344CB8AC3E}">
        <p14:creationId xmlns:p14="http://schemas.microsoft.com/office/powerpoint/2010/main" val="713727756"/>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6AB980-3E15-4854-A7E9-3A9D68B67C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Mensaje y muestra</a:t>
            </a:r>
          </a:p>
        </p:txBody>
      </p:sp>
      <p:pic>
        <p:nvPicPr>
          <p:cNvPr id="2" name="">
            <a:extLst xmlns:a="http://schemas.openxmlformats.org/drawingml/2006/main">
              <a:ext uri="{FF2B5EF4-FFF2-40B4-BE49-F238E27FC236}">
                <a16:creationId xmlns:a16="http://schemas.microsoft.com/office/drawing/2014/main" id="{6997E59F-A37A-47F7-B341-D6C0B7EBDE9B}"/>
              </a:ext>
            </a:extLst>
          </p:cNvPr>
          <p:cNvPicPr>
            <a:picLocks xmlns:a="http://schemas.openxmlformats.org/drawingml/2006/main" noChangeAspect="1"/>
          </p:cNvPicPr>
          <p:nvPr/>
        </p:nvPicPr>
        <p:blipFill>
          <a:blip xmlns:r="http://schemas.openxmlformats.org/officeDocument/2006/relationships" xmlns:a="http://schemas.openxmlformats.org/drawingml/2006/main" r:embed="Rfe8b527c24f343b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84301A-4D09-4074-87F5-1257DA57372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19/24</a:t>
            </a:r>
          </a:p>
        </p:txBody>
      </p:sp>
      <p:sp>
        <p:nvSpPr>
          <p:cNvPr id="4" name="">
            <a:extLst xmlns:a="http://schemas.openxmlformats.org/drawingml/2006/main">
              <a:ext uri="{FF2B5EF4-FFF2-40B4-BE49-F238E27FC236}">
                <a16:creationId xmlns:a16="http://schemas.microsoft.com/office/drawing/2014/main" id="{6B525F7D-1324-445B-8AF2-79F4E6F44C69}"/>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Se reciben dos respuestas que contienen la misma secuencia y el mismo instante de adquisición. ¿Hay dos muestras nuevas?</a:t>
            </a:r>
          </a:p>
        </p:txBody>
      </p:sp>
      <p:sp>
        <p:nvSpPr>
          <p:cNvPr id="5" name="">
            <a:extLst xmlns:a="http://schemas.openxmlformats.org/drawingml/2006/main">
              <a:ext uri="{FF2B5EF4-FFF2-40B4-BE49-F238E27FC236}">
                <a16:creationId xmlns:a16="http://schemas.microsoft.com/office/drawing/2014/main" id="{FBE8A353-460D-4569-A8FB-8C72C12CCDC3}"/>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necesariamente. Pueden ser dos transportes de una misma lectura. El identificador y el instante permiten reconocerlo.</a:t>
            </a:r>
          </a:p>
        </p:txBody>
      </p:sp>
    </p:spTree>
    <p:extLst>
      <p:ext uri="{BB962C8B-B14F-4D97-AF65-F5344CB8AC3E}">
        <p14:creationId xmlns:p14="http://schemas.microsoft.com/office/powerpoint/2010/main" val="2083978836"/>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FFAE33-F6BD-4870-A436-88F093C0BC1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673D4D66-3591-40AF-A601-647FEA21E58E}"/>
              </a:ext>
            </a:extLst>
          </p:cNvPr>
          <p:cNvPicPr>
            <a:picLocks xmlns:a="http://schemas.openxmlformats.org/drawingml/2006/main" noChangeAspect="1"/>
          </p:cNvPicPr>
          <p:nvPr/>
        </p:nvPicPr>
        <p:blipFill>
          <a:blip xmlns:r="http://schemas.openxmlformats.org/officeDocument/2006/relationships" xmlns:a="http://schemas.openxmlformats.org/drawingml/2006/main" r:embed="Rb9a1749566e3494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174917-D77F-4A8D-8D45-333D8A9B2FE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20/24</a:t>
            </a:r>
          </a:p>
        </p:txBody>
      </p:sp>
      <p:sp>
        <p:nvSpPr>
          <p:cNvPr id="4" name="">
            <a:extLst xmlns:a="http://schemas.openxmlformats.org/drawingml/2006/main">
              <a:ext uri="{FF2B5EF4-FFF2-40B4-BE49-F238E27FC236}">
                <a16:creationId xmlns:a16="http://schemas.microsoft.com/office/drawing/2014/main" id="{F0E81664-C431-4998-96D3-B8D937A7735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el mismo dato en local y en una respuesta remota.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Separar estado Wi-Fi, solicitud HTTP y validez de muestra.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c14_wifi con la condición de entorno disponible.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Analizar tiempo relativo, UTC y duplicación de una lectura.</a:t>
            </a:r>
          </a:p>
        </p:txBody>
      </p:sp>
    </p:spTree>
    <p:extLst>
      <p:ext uri="{BB962C8B-B14F-4D97-AF65-F5344CB8AC3E}">
        <p14:creationId xmlns:p14="http://schemas.microsoft.com/office/powerpoint/2010/main" val="1570262293"/>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BA7DEB-5E73-4B64-81B6-87E78575BB6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22F0067D-0C62-478B-B9CD-7823649A946E}"/>
              </a:ext>
            </a:extLst>
          </p:cNvPr>
          <p:cNvPicPr>
            <a:picLocks xmlns:a="http://schemas.openxmlformats.org/drawingml/2006/main" noChangeAspect="1"/>
          </p:cNvPicPr>
          <p:nvPr/>
        </p:nvPicPr>
        <p:blipFill>
          <a:blip xmlns:r="http://schemas.openxmlformats.org/officeDocument/2006/relationships" xmlns:a="http://schemas.openxmlformats.org/drawingml/2006/main" r:embed="Rd75383f7dac84f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CF4E9A-DA78-4CB0-AE5C-5BE8CEDE645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21/24</a:t>
            </a:r>
          </a:p>
        </p:txBody>
      </p:sp>
      <p:sp>
        <p:nvSpPr>
          <p:cNvPr id="4" name="">
            <a:extLst xmlns:a="http://schemas.openxmlformats.org/drawingml/2006/main">
              <a:ext uri="{FF2B5EF4-FFF2-40B4-BE49-F238E27FC236}">
                <a16:creationId xmlns:a16="http://schemas.microsoft.com/office/drawing/2014/main" id="{0B7C6BC5-1D4C-460B-8072-1F24FA265788}"/>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estación de apoyo a drones necesita saber qué dato recibió y si corresponde al estado reciente del equipo.</a:t>
            </a:r>
          </a:p>
        </p:txBody>
      </p:sp>
      <p:sp>
        <p:nvSpPr>
          <p:cNvPr id="5" name="">
            <a:extLst xmlns:a="http://schemas.openxmlformats.org/drawingml/2006/main">
              <a:ext uri="{FF2B5EF4-FFF2-40B4-BE49-F238E27FC236}">
                <a16:creationId xmlns:a16="http://schemas.microsoft.com/office/drawing/2014/main" id="{ADF71539-0F50-42DC-A6DA-ECEC4AC7299C}"/>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219278425"/>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3DB9F1-F80B-4179-B4C0-20C72EDD8AE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6BE7498D-48B4-4D89-9404-52B399CDEECD}"/>
              </a:ext>
            </a:extLst>
          </p:cNvPr>
          <p:cNvPicPr>
            <a:picLocks xmlns:a="http://schemas.openxmlformats.org/drawingml/2006/main" noChangeAspect="1"/>
          </p:cNvPicPr>
          <p:nvPr/>
        </p:nvPicPr>
        <p:blipFill>
          <a:blip xmlns:r="http://schemas.openxmlformats.org/officeDocument/2006/relationships" xmlns:a="http://schemas.openxmlformats.org/drawingml/2006/main" r:embed="Ra25b838d4f9a488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1725D5-CA79-4120-A2E9-8BA9884385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22/24</a:t>
            </a:r>
          </a:p>
        </p:txBody>
      </p:sp>
      <p:sp>
        <p:nvSpPr>
          <p:cNvPr id="4" name="">
            <a:extLst xmlns:a="http://schemas.openxmlformats.org/drawingml/2006/main">
              <a:ext uri="{FF2B5EF4-FFF2-40B4-BE49-F238E27FC236}">
                <a16:creationId xmlns:a16="http://schemas.microsoft.com/office/drawing/2014/main" id="{4C2DA708-0EB0-4D83-8174-CAE55C9DA6F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¿La IP de Wokwi se abre siempre desde el celular?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¿NTP vuelve atómico al reloj de la placa?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¿Dos respuestas equivalen a dos muestras?</a:t>
            </a:r>
          </a:p>
        </p:txBody>
      </p:sp>
    </p:spTree>
    <p:extLst>
      <p:ext uri="{BB962C8B-B14F-4D97-AF65-F5344CB8AC3E}">
        <p14:creationId xmlns:p14="http://schemas.microsoft.com/office/powerpoint/2010/main" val="1845141114"/>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250256-C278-4067-9015-46F75027B8B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82C1DF09-E7D0-4B8C-A1BE-61C3071F372C}"/>
              </a:ext>
            </a:extLst>
          </p:cNvPr>
          <p:cNvPicPr>
            <a:picLocks xmlns:a="http://schemas.openxmlformats.org/drawingml/2006/main" noChangeAspect="1"/>
          </p:cNvPicPr>
          <p:nvPr/>
        </p:nvPicPr>
        <p:blipFill>
          <a:blip xmlns:r="http://schemas.openxmlformats.org/officeDocument/2006/relationships" xmlns:a="http://schemas.openxmlformats.org/drawingml/2006/main" r:embed="Rbd522e84c4e54f5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648F91-7B80-4B08-991B-420041AFF51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23/24</a:t>
            </a:r>
          </a:p>
        </p:txBody>
      </p:sp>
      <p:sp>
        <p:nvSpPr>
          <p:cNvPr id="4" name="">
            <a:extLst xmlns:a="http://schemas.openxmlformats.org/drawingml/2006/main">
              <a:ext uri="{FF2B5EF4-FFF2-40B4-BE49-F238E27FC236}">
                <a16:creationId xmlns:a16="http://schemas.microsoft.com/office/drawing/2014/main" id="{B3CB2CD8-21C9-4B82-B047-133EBB70025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El acceso entrante depende de un gateway y de la configuración disponible.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Aporta una referencia sincronizada con limitaciones de red y de reloj.</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si transportan la misma adquisición. Se revisan secuencia e instante.</a:t>
            </a:r>
          </a:p>
        </p:txBody>
      </p:sp>
    </p:spTree>
    <p:extLst>
      <p:ext uri="{BB962C8B-B14F-4D97-AF65-F5344CB8AC3E}">
        <p14:creationId xmlns:p14="http://schemas.microsoft.com/office/powerpoint/2010/main" val="1566702202"/>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CABF10-F531-46F6-9D3B-121F1F2E34D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C90167B7-2EB9-4C64-82CF-CD87E58DDE7A}"/>
              </a:ext>
            </a:extLst>
          </p:cNvPr>
          <p:cNvPicPr>
            <a:picLocks xmlns:a="http://schemas.openxmlformats.org/drawingml/2006/main" noChangeAspect="1"/>
          </p:cNvPicPr>
          <p:nvPr/>
        </p:nvPicPr>
        <p:blipFill>
          <a:blip xmlns:r="http://schemas.openxmlformats.org/officeDocument/2006/relationships" xmlns:a="http://schemas.openxmlformats.org/drawingml/2006/main" r:embed="R65feb7a2fb2449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460C4A4-FB4C-4DF7-9254-CE5358D1981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24/24</a:t>
            </a:r>
          </a:p>
        </p:txBody>
      </p:sp>
      <p:sp>
        <p:nvSpPr>
          <p:cNvPr id="4" name="">
            <a:extLst xmlns:a="http://schemas.openxmlformats.org/drawingml/2006/main">
              <a:ext uri="{FF2B5EF4-FFF2-40B4-BE49-F238E27FC236}">
                <a16:creationId xmlns:a16="http://schemas.microsoft.com/office/drawing/2014/main" id="{6493DD77-DBBB-441D-9776-CD0C16B046A8}"/>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Formato de datos, prueba de adquisición y transporte, y nota del entorno utilizado.</a:t>
            </a:r>
          </a:p>
        </p:txBody>
      </p:sp>
      <p:sp>
        <p:nvSpPr>
          <p:cNvPr id="5" name="">
            <a:extLst xmlns:a="http://schemas.openxmlformats.org/drawingml/2006/main">
              <a:ext uri="{FF2B5EF4-FFF2-40B4-BE49-F238E27FC236}">
                <a16:creationId xmlns:a16="http://schemas.microsoft.com/office/drawing/2014/main" id="{8B82CBED-C11C-4008-AFF4-39AB8890EE0E}"/>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283420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2026-10-22T20:13:25.2690000Z</dcterms:created>
  <dcterms:modified xsi:type="dcterms:W3CDTF">2026-10-22T20:13:25.2690000Z</dcterms:modified>
</coreProperties>
</file>